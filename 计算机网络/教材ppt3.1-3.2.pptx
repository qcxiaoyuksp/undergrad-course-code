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1809" r:id="rId2"/>
    <p:sldId id="1810" r:id="rId3"/>
    <p:sldId id="1811" r:id="rId4"/>
    <p:sldId id="1812" r:id="rId5"/>
    <p:sldId id="1813" r:id="rId6"/>
    <p:sldId id="1814" r:id="rId7"/>
    <p:sldId id="1815" r:id="rId8"/>
    <p:sldId id="1816" r:id="rId9"/>
    <p:sldId id="1817" r:id="rId10"/>
    <p:sldId id="1818" r:id="rId11"/>
    <p:sldId id="1819" r:id="rId12"/>
    <p:sldId id="1820" r:id="rId13"/>
    <p:sldId id="1821" r:id="rId14"/>
    <p:sldId id="1822" r:id="rId15"/>
    <p:sldId id="1823" r:id="rId16"/>
    <p:sldId id="1824" r:id="rId17"/>
    <p:sldId id="1825" r:id="rId18"/>
    <p:sldId id="1826" r:id="rId19"/>
    <p:sldId id="1827" r:id="rId20"/>
    <p:sldId id="1828" r:id="rId21"/>
    <p:sldId id="1829" r:id="rId22"/>
    <p:sldId id="1830" r:id="rId23"/>
    <p:sldId id="1831" r:id="rId24"/>
    <p:sldId id="1850" r:id="rId25"/>
    <p:sldId id="1832" r:id="rId26"/>
    <p:sldId id="1833" r:id="rId27"/>
    <p:sldId id="1834" r:id="rId28"/>
    <p:sldId id="1835" r:id="rId29"/>
    <p:sldId id="1836" r:id="rId30"/>
    <p:sldId id="1837" r:id="rId31"/>
    <p:sldId id="1838" r:id="rId32"/>
    <p:sldId id="1839" r:id="rId33"/>
    <p:sldId id="1840" r:id="rId34"/>
    <p:sldId id="1841" r:id="rId35"/>
    <p:sldId id="1842" r:id="rId36"/>
    <p:sldId id="1843" r:id="rId37"/>
    <p:sldId id="1844" r:id="rId38"/>
    <p:sldId id="1845" r:id="rId39"/>
    <p:sldId id="1846" r:id="rId40"/>
    <p:sldId id="1847" r:id="rId41"/>
    <p:sldId id="1848" r:id="rId42"/>
    <p:sldId id="1849" r:id="rId43"/>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extLst>
      <p:ext uri="{BB962C8B-B14F-4D97-AF65-F5344CB8AC3E}">
        <p14:creationId xmlns:p14="http://schemas.microsoft.com/office/powerpoint/2010/main" val="9883540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extLst>
      <p:ext uri="{BB962C8B-B14F-4D97-AF65-F5344CB8AC3E}">
        <p14:creationId xmlns:p14="http://schemas.microsoft.com/office/powerpoint/2010/main" val="329397423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136438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033126-61BD-4027-B610-E19704F956CC}"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421890" name="Rectangle 2"/>
          <p:cNvSpPr>
            <a:spLocks noGrp="1" noRot="1" noChangeAspect="1" noChangeArrowheads="1" noTextEdit="1"/>
          </p:cNvSpPr>
          <p:nvPr>
            <p:ph type="sldImg" idx="4294967295"/>
          </p:nvPr>
        </p:nvSpPr>
        <p:spPr>
          <a:ln/>
        </p:spPr>
      </p:sp>
      <p:sp>
        <p:nvSpPr>
          <p:cNvPr id="4218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25589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9E1837-0061-47BD-9054-D4EA803385DB}"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423938" name="Rectangle 2"/>
          <p:cNvSpPr>
            <a:spLocks noGrp="1" noRot="1" noChangeAspect="1" noChangeArrowheads="1" noTextEdit="1"/>
          </p:cNvSpPr>
          <p:nvPr>
            <p:ph type="sldImg" idx="4294967295"/>
          </p:nvPr>
        </p:nvSpPr>
        <p:spPr>
          <a:ln/>
        </p:spPr>
      </p:sp>
      <p:sp>
        <p:nvSpPr>
          <p:cNvPr id="4239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89222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E10C57-8A92-4D8E-98E0-D2FEB200E9E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425986" name="Rectangle 2"/>
          <p:cNvSpPr>
            <a:spLocks noGrp="1" noRot="1" noChangeAspect="1" noChangeArrowheads="1" noTextEdit="1"/>
          </p:cNvSpPr>
          <p:nvPr>
            <p:ph type="sldImg" idx="4294967295"/>
          </p:nvPr>
        </p:nvSpPr>
        <p:spPr>
          <a:ln/>
        </p:spPr>
      </p:sp>
      <p:sp>
        <p:nvSpPr>
          <p:cNvPr id="4259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673839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F85B47-8133-4F5D-87AF-E7998B42479D}"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429058" name="Rectangle 2"/>
          <p:cNvSpPr>
            <a:spLocks noGrp="1" noRot="1" noChangeAspect="1" noChangeArrowheads="1" noTextEdit="1"/>
          </p:cNvSpPr>
          <p:nvPr>
            <p:ph type="sldImg" idx="4294967295"/>
          </p:nvPr>
        </p:nvSpPr>
        <p:spPr>
          <a:ln/>
        </p:spPr>
      </p:sp>
      <p:sp>
        <p:nvSpPr>
          <p:cNvPr id="4290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522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548F81-5E43-42C0-9E1A-B813820A73B0}"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431106" name="Rectangle 2"/>
          <p:cNvSpPr>
            <a:spLocks noGrp="1" noRot="1" noChangeAspect="1" noChangeArrowheads="1" noTextEdit="1"/>
          </p:cNvSpPr>
          <p:nvPr>
            <p:ph type="sldImg" idx="4294967295"/>
          </p:nvPr>
        </p:nvSpPr>
        <p:spPr>
          <a:ln/>
        </p:spPr>
      </p:sp>
      <p:sp>
        <p:nvSpPr>
          <p:cNvPr id="4311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42711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66BB8E-AEC4-46F9-AF13-D87C422EC59F}"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433154" name="Rectangle 2"/>
          <p:cNvSpPr>
            <a:spLocks noGrp="1" noRot="1" noChangeAspect="1" noChangeArrowheads="1" noTextEdit="1"/>
          </p:cNvSpPr>
          <p:nvPr>
            <p:ph type="sldImg" idx="4294967295"/>
          </p:nvPr>
        </p:nvSpPr>
        <p:spPr>
          <a:ln/>
        </p:spPr>
      </p:sp>
      <p:sp>
        <p:nvSpPr>
          <p:cNvPr id="4331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917093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2C6A76-9985-498F-9FDE-7B26A3CA36AA}"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435202" name="Rectangle 2"/>
          <p:cNvSpPr>
            <a:spLocks noGrp="1" noRot="1" noChangeAspect="1" noChangeArrowheads="1" noTextEdit="1"/>
          </p:cNvSpPr>
          <p:nvPr>
            <p:ph type="sldImg" idx="4294967295"/>
          </p:nvPr>
        </p:nvSpPr>
        <p:spPr>
          <a:ln/>
        </p:spPr>
      </p:sp>
      <p:sp>
        <p:nvSpPr>
          <p:cNvPr id="4352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96406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D60D33-0EC8-4D0F-920A-133969E2D229}"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437250" name="Rectangle 2"/>
          <p:cNvSpPr>
            <a:spLocks noGrp="1" noRot="1" noChangeAspect="1" noChangeArrowheads="1" noTextEdit="1"/>
          </p:cNvSpPr>
          <p:nvPr>
            <p:ph type="sldImg" idx="4294967295"/>
          </p:nvPr>
        </p:nvSpPr>
        <p:spPr>
          <a:ln/>
        </p:spPr>
      </p:sp>
      <p:sp>
        <p:nvSpPr>
          <p:cNvPr id="4372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67831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A3B6B3-189B-4DB7-B634-2041B2369758}"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439298" name="Rectangle 2"/>
          <p:cNvSpPr>
            <a:spLocks noGrp="1" noRot="1" noChangeAspect="1" noChangeArrowheads="1" noTextEdit="1"/>
          </p:cNvSpPr>
          <p:nvPr>
            <p:ph type="sldImg" idx="4294967295"/>
          </p:nvPr>
        </p:nvSpPr>
        <p:spPr>
          <a:ln/>
        </p:spPr>
      </p:sp>
      <p:sp>
        <p:nvSpPr>
          <p:cNvPr id="43929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13482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047171-7F42-4F72-8679-EE665CE4B8D1}"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441346" name="Rectangle 2"/>
          <p:cNvSpPr>
            <a:spLocks noGrp="1" noRot="1" noChangeAspect="1" noChangeArrowheads="1" noTextEdit="1"/>
          </p:cNvSpPr>
          <p:nvPr>
            <p:ph type="sldImg" idx="4294967295"/>
          </p:nvPr>
        </p:nvSpPr>
        <p:spPr>
          <a:ln/>
        </p:spPr>
      </p:sp>
      <p:sp>
        <p:nvSpPr>
          <p:cNvPr id="4413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08738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706305-5DEE-4609-A233-5FBACF6FFB38}"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443394" name="Rectangle 2"/>
          <p:cNvSpPr>
            <a:spLocks noGrp="1" noRot="1" noChangeAspect="1" noChangeArrowheads="1" noTextEdit="1"/>
          </p:cNvSpPr>
          <p:nvPr>
            <p:ph type="sldImg" idx="4294967295"/>
          </p:nvPr>
        </p:nvSpPr>
        <p:spPr>
          <a:ln/>
        </p:spPr>
      </p:sp>
      <p:sp>
        <p:nvSpPr>
          <p:cNvPr id="4433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726213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30FC54-FBAF-45D8-ABC0-E861E01E8EC7}"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445442" name="Rectangle 2"/>
          <p:cNvSpPr>
            <a:spLocks noGrp="1" noRot="1" noChangeAspect="1" noChangeArrowheads="1" noTextEdit="1"/>
          </p:cNvSpPr>
          <p:nvPr>
            <p:ph type="sldImg" idx="4294967295"/>
          </p:nvPr>
        </p:nvSpPr>
        <p:spPr>
          <a:ln/>
        </p:spPr>
      </p:sp>
      <p:sp>
        <p:nvSpPr>
          <p:cNvPr id="4454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70599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897355-C380-4110-A627-3743C16AB362}"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447490" name="Rectangle 2"/>
          <p:cNvSpPr>
            <a:spLocks noGrp="1" noRot="1" noChangeAspect="1" noChangeArrowheads="1" noTextEdit="1"/>
          </p:cNvSpPr>
          <p:nvPr>
            <p:ph type="sldImg" idx="4294967295"/>
          </p:nvPr>
        </p:nvSpPr>
        <p:spPr>
          <a:ln/>
        </p:spPr>
      </p:sp>
      <p:sp>
        <p:nvSpPr>
          <p:cNvPr id="4474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17825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36D183-323F-49E6-8428-80E1481E07BC}"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449538" name="Rectangle 2"/>
          <p:cNvSpPr>
            <a:spLocks noGrp="1" noRot="1" noChangeAspect="1" noChangeArrowheads="1" noTextEdit="1"/>
          </p:cNvSpPr>
          <p:nvPr>
            <p:ph type="sldImg" idx="4294967295"/>
          </p:nvPr>
        </p:nvSpPr>
        <p:spPr>
          <a:ln/>
        </p:spPr>
      </p:sp>
      <p:sp>
        <p:nvSpPr>
          <p:cNvPr id="449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42292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C33C3D-B40E-483B-8649-F98F66ABDC47}"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451586" name="Rectangle 2"/>
          <p:cNvSpPr>
            <a:spLocks noGrp="1" noRot="1" noChangeAspect="1" noChangeArrowheads="1" noTextEdit="1"/>
          </p:cNvSpPr>
          <p:nvPr>
            <p:ph type="sldImg" idx="4294967295"/>
          </p:nvPr>
        </p:nvSpPr>
        <p:spPr>
          <a:ln/>
        </p:spPr>
      </p:sp>
      <p:sp>
        <p:nvSpPr>
          <p:cNvPr id="451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507905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F6CBC-537F-4124-8ECC-C5CF0DD910C2}"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453634" name="Rectangle 2"/>
          <p:cNvSpPr>
            <a:spLocks noGrp="1" noRot="1" noChangeAspect="1" noChangeArrowheads="1" noTextEdit="1"/>
          </p:cNvSpPr>
          <p:nvPr>
            <p:ph type="sldImg" idx="4294967295"/>
          </p:nvPr>
        </p:nvSpPr>
        <p:spPr>
          <a:ln/>
        </p:spPr>
      </p:sp>
      <p:sp>
        <p:nvSpPr>
          <p:cNvPr id="4536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913272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C20399-F82A-4B57-A0B3-072D8ED9E131}"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455682" name="Rectangle 2"/>
          <p:cNvSpPr>
            <a:spLocks noGrp="1" noRot="1" noChangeAspect="1" noChangeArrowheads="1" noTextEdit="1"/>
          </p:cNvSpPr>
          <p:nvPr>
            <p:ph type="sldImg" idx="4294967295"/>
          </p:nvPr>
        </p:nvSpPr>
        <p:spPr>
          <a:ln/>
        </p:spPr>
      </p:sp>
      <p:sp>
        <p:nvSpPr>
          <p:cNvPr id="4556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518339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93C81F-F4CB-4A5D-A045-5C5BB4DC9F73}"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457730" name="Rectangle 2"/>
          <p:cNvSpPr>
            <a:spLocks noGrp="1" noRot="1" noChangeAspect="1" noChangeArrowheads="1" noTextEdit="1"/>
          </p:cNvSpPr>
          <p:nvPr>
            <p:ph type="sldImg" idx="4294967295"/>
          </p:nvPr>
        </p:nvSpPr>
        <p:spPr>
          <a:ln/>
        </p:spPr>
      </p:sp>
      <p:sp>
        <p:nvSpPr>
          <p:cNvPr id="4577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67541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C9604D-AC79-4409-B945-7F3A4EC1B525}"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459778" name="Rectangle 2"/>
          <p:cNvSpPr>
            <a:spLocks noGrp="1" noRot="1" noChangeAspect="1" noChangeArrowheads="1" noTextEdit="1"/>
          </p:cNvSpPr>
          <p:nvPr>
            <p:ph type="sldImg" idx="4294967295"/>
          </p:nvPr>
        </p:nvSpPr>
        <p:spPr>
          <a:ln/>
        </p:spPr>
      </p:sp>
      <p:sp>
        <p:nvSpPr>
          <p:cNvPr id="4597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16624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4AB6C1-4A44-4D0D-819B-B1A34D8098C7}"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461826" name="Rectangle 2"/>
          <p:cNvSpPr>
            <a:spLocks noGrp="1" noRot="1" noChangeAspect="1" noChangeArrowheads="1" noTextEdit="1"/>
          </p:cNvSpPr>
          <p:nvPr>
            <p:ph type="sldImg" idx="4294967295"/>
          </p:nvPr>
        </p:nvSpPr>
        <p:spPr>
          <a:ln/>
        </p:spPr>
      </p:sp>
      <p:sp>
        <p:nvSpPr>
          <p:cNvPr id="4618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287529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84396B-C066-4404-B4D1-ABAE6F9EA7F3}"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463874" name="Rectangle 2"/>
          <p:cNvSpPr>
            <a:spLocks noGrp="1" noRot="1" noChangeAspect="1" noChangeArrowheads="1" noTextEdit="1"/>
          </p:cNvSpPr>
          <p:nvPr>
            <p:ph type="sldImg" idx="4294967295"/>
          </p:nvPr>
        </p:nvSpPr>
        <p:spPr>
          <a:ln/>
        </p:spPr>
      </p:sp>
      <p:sp>
        <p:nvSpPr>
          <p:cNvPr id="4638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52155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6BB97F-F630-4714-BB8E-F1DF7FDF5646}"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465922" name="Rectangle 2"/>
          <p:cNvSpPr>
            <a:spLocks noGrp="1" noRot="1" noChangeAspect="1" noChangeArrowheads="1" noTextEdit="1"/>
          </p:cNvSpPr>
          <p:nvPr>
            <p:ph type="sldImg" idx="4294967295"/>
          </p:nvPr>
        </p:nvSpPr>
        <p:spPr>
          <a:ln/>
        </p:spPr>
      </p:sp>
      <p:sp>
        <p:nvSpPr>
          <p:cNvPr id="4659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55010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B5E52B-ABB7-420B-B47B-C0ABE1953C55}"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468994" name="Rectangle 2"/>
          <p:cNvSpPr>
            <a:spLocks noGrp="1" noRot="1" noChangeAspect="1" noChangeArrowheads="1" noTextEdit="1"/>
          </p:cNvSpPr>
          <p:nvPr>
            <p:ph type="sldImg" idx="4294967295"/>
          </p:nvPr>
        </p:nvSpPr>
        <p:spPr>
          <a:ln/>
        </p:spPr>
      </p:sp>
      <p:sp>
        <p:nvSpPr>
          <p:cNvPr id="4689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296844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3AFA57-97F8-43CE-B742-D9BF96008A65}"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471042" name="Rectangle 2"/>
          <p:cNvSpPr>
            <a:spLocks noGrp="1" noRot="1" noChangeAspect="1" noChangeArrowheads="1" noTextEdit="1"/>
          </p:cNvSpPr>
          <p:nvPr>
            <p:ph type="sldImg" idx="4294967295"/>
          </p:nvPr>
        </p:nvSpPr>
        <p:spPr>
          <a:ln/>
        </p:spPr>
      </p:sp>
      <p:sp>
        <p:nvSpPr>
          <p:cNvPr id="4710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80683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41CA55-1A23-419F-AE64-2BFA4FFC4DDE}"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473090" name="Rectangle 2"/>
          <p:cNvSpPr>
            <a:spLocks noGrp="1" noRot="1" noChangeAspect="1" noChangeArrowheads="1" noTextEdit="1"/>
          </p:cNvSpPr>
          <p:nvPr>
            <p:ph type="sldImg" idx="4294967295"/>
          </p:nvPr>
        </p:nvSpPr>
        <p:spPr>
          <a:ln/>
        </p:spPr>
      </p:sp>
      <p:sp>
        <p:nvSpPr>
          <p:cNvPr id="4730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03234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ECE949-01CF-47A3-A1B6-795EB1C7CB14}"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475138" name="Rectangle 2"/>
          <p:cNvSpPr>
            <a:spLocks noGrp="1" noRot="1" noChangeAspect="1" noChangeArrowheads="1" noTextEdit="1"/>
          </p:cNvSpPr>
          <p:nvPr>
            <p:ph type="sldImg" idx="4294967295"/>
          </p:nvPr>
        </p:nvSpPr>
        <p:spPr>
          <a:ln/>
        </p:spPr>
      </p:sp>
      <p:sp>
        <p:nvSpPr>
          <p:cNvPr id="4751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474090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7CF027-C01E-4A38-9498-99B15E929A66}"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477186" name="Rectangle 2"/>
          <p:cNvSpPr>
            <a:spLocks noGrp="1" noRot="1" noChangeAspect="1" noChangeArrowheads="1" noTextEdit="1"/>
          </p:cNvSpPr>
          <p:nvPr>
            <p:ph type="sldImg" idx="4294967295"/>
          </p:nvPr>
        </p:nvSpPr>
        <p:spPr>
          <a:ln/>
        </p:spPr>
      </p:sp>
      <p:sp>
        <p:nvSpPr>
          <p:cNvPr id="4771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19158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D03690-4FB5-45F8-A84B-11EA17A27B7D}"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479234" name="Rectangle 2"/>
          <p:cNvSpPr>
            <a:spLocks noGrp="1" noRot="1" noChangeAspect="1" noChangeArrowheads="1" noTextEdit="1"/>
          </p:cNvSpPr>
          <p:nvPr>
            <p:ph type="sldImg" idx="4294967295"/>
          </p:nvPr>
        </p:nvSpPr>
        <p:spPr>
          <a:ln/>
        </p:spPr>
      </p:sp>
      <p:sp>
        <p:nvSpPr>
          <p:cNvPr id="4792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79703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58D52E-C90E-428D-ABBB-BDD0C912FC3D}"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481282" name="Rectangle 2"/>
          <p:cNvSpPr>
            <a:spLocks noGrp="1" noRot="1" noChangeAspect="1" noChangeArrowheads="1" noTextEdit="1"/>
          </p:cNvSpPr>
          <p:nvPr>
            <p:ph type="sldImg" idx="4294967295"/>
          </p:nvPr>
        </p:nvSpPr>
        <p:spPr>
          <a:ln/>
        </p:spPr>
      </p:sp>
      <p:sp>
        <p:nvSpPr>
          <p:cNvPr id="4812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88541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4C620A-763A-4008-8755-36FB8B14E6A2}"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483330" name="Rectangle 2"/>
          <p:cNvSpPr>
            <a:spLocks noGrp="1" noRot="1" noChangeAspect="1" noChangeArrowheads="1" noTextEdit="1"/>
          </p:cNvSpPr>
          <p:nvPr>
            <p:ph type="sldImg" idx="4294967295"/>
          </p:nvPr>
        </p:nvSpPr>
        <p:spPr>
          <a:ln/>
        </p:spPr>
      </p:sp>
      <p:sp>
        <p:nvSpPr>
          <p:cNvPr id="4833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134127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35700E-3414-4FF8-9B8F-61E012D51683}"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485378" name="Rectangle 2"/>
          <p:cNvSpPr>
            <a:spLocks noGrp="1" noRot="1" noChangeAspect="1" noChangeArrowheads="1" noTextEdit="1"/>
          </p:cNvSpPr>
          <p:nvPr>
            <p:ph type="sldImg" idx="4294967295"/>
          </p:nvPr>
        </p:nvSpPr>
        <p:spPr>
          <a:ln/>
        </p:spPr>
      </p:sp>
      <p:sp>
        <p:nvSpPr>
          <p:cNvPr id="4853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5016042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A33DFF-0A41-4158-A90F-A4D524DE8A2F}"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487426" name="Rectangle 2"/>
          <p:cNvSpPr>
            <a:spLocks noGrp="1" noRot="1" noChangeAspect="1" noChangeArrowheads="1" noTextEdit="1"/>
          </p:cNvSpPr>
          <p:nvPr>
            <p:ph type="sldImg" idx="4294967295"/>
          </p:nvPr>
        </p:nvSpPr>
        <p:spPr>
          <a:ln/>
        </p:spPr>
      </p:sp>
      <p:sp>
        <p:nvSpPr>
          <p:cNvPr id="4874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2031025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C75960-D115-4287-9D5B-F28C2932F51E}"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489474" name="Rectangle 2"/>
          <p:cNvSpPr>
            <a:spLocks noGrp="1" noRot="1" noChangeAspect="1" noChangeArrowheads="1" noTextEdit="1"/>
          </p:cNvSpPr>
          <p:nvPr>
            <p:ph type="sldImg" idx="4294967295"/>
          </p:nvPr>
        </p:nvSpPr>
        <p:spPr>
          <a:ln/>
        </p:spPr>
      </p:sp>
      <p:sp>
        <p:nvSpPr>
          <p:cNvPr id="4894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202648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5FEDC4-4E4C-475A-A2FF-926AFB49F929}"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492546" name="Rectangle 2"/>
          <p:cNvSpPr>
            <a:spLocks noGrp="1" noRot="1" noChangeAspect="1" noChangeArrowheads="1" noTextEdit="1"/>
          </p:cNvSpPr>
          <p:nvPr>
            <p:ph type="sldImg" idx="4294967295"/>
          </p:nvPr>
        </p:nvSpPr>
        <p:spPr>
          <a:ln/>
        </p:spPr>
      </p:sp>
      <p:sp>
        <p:nvSpPr>
          <p:cNvPr id="4925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330873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0A76C7C-2F12-4243-AD4B-0A55E23A174E}"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494594" name="Rectangle 2"/>
          <p:cNvSpPr>
            <a:spLocks noGrp="1" noRot="1" noChangeAspect="1" noChangeArrowheads="1" noTextEdit="1"/>
          </p:cNvSpPr>
          <p:nvPr>
            <p:ph type="sldImg" idx="4294967295"/>
          </p:nvPr>
        </p:nvSpPr>
        <p:spPr>
          <a:ln/>
        </p:spPr>
      </p:sp>
      <p:sp>
        <p:nvSpPr>
          <p:cNvPr id="4945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93320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6116422-A020-4070-AD3C-9D5386A3EC9E}" type="slidenum">
              <a:rPr lang="en-US" altLang="zh-CN" smtClean="0"/>
              <a:pPr/>
              <a:t>42</a:t>
            </a:fld>
            <a:endParaRPr lang="en-US" altLang="zh-CN" smtClean="0"/>
          </a:p>
        </p:txBody>
      </p:sp>
      <p:sp>
        <p:nvSpPr>
          <p:cNvPr id="496642" name="Rectangle 2"/>
          <p:cNvSpPr>
            <a:spLocks noGrp="1" noRot="1" noChangeAspect="1" noChangeArrowheads="1" noTextEdit="1"/>
          </p:cNvSpPr>
          <p:nvPr>
            <p:ph type="sldImg" idx="4294967295"/>
          </p:nvPr>
        </p:nvSpPr>
        <p:spPr>
          <a:ln/>
        </p:spPr>
      </p:sp>
      <p:sp>
        <p:nvSpPr>
          <p:cNvPr id="4966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683025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smtClean="0">
                <a:latin typeface="黑体" panose="02010609060101010101" pitchFamily="49" charset="-122"/>
                <a:ea typeface="宋体" panose="02010600030101010101" pitchFamily="2" charset="-122"/>
              </a:rPr>
              <a:t>3.1-3.2</a:t>
            </a:r>
            <a:endParaRPr lang="zh-CN" altLang="en-US"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3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数据链路层</a:t>
            </a:r>
            <a:endParaRPr lang="zh-CN" altLang="en-US" smtClean="0">
              <a:ea typeface="黑体" panose="02010609060101010101" pitchFamily="49" charset="-122"/>
            </a:endParaRPr>
          </a:p>
        </p:txBody>
      </p:sp>
      <p:sp>
        <p:nvSpPr>
          <p:cNvPr id="41984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3.1  </a:t>
            </a:r>
            <a:r>
              <a:rPr lang="zh-CN" altLang="zh-CN" dirty="0" smtClean="0">
                <a:ea typeface="黑体" panose="02010609060101010101" pitchFamily="49" charset="-122"/>
              </a:rPr>
              <a:t>使用点对点信道的数据链路层</a:t>
            </a:r>
          </a:p>
          <a:p>
            <a:r>
              <a:rPr lang="en-US" altLang="zh-CN" dirty="0" smtClean="0">
                <a:ea typeface="黑体" panose="02010609060101010101" pitchFamily="49" charset="-122"/>
              </a:rPr>
              <a:t>3.2  </a:t>
            </a:r>
            <a:r>
              <a:rPr lang="zh-CN" altLang="zh-CN" dirty="0" smtClean="0">
                <a:ea typeface="黑体" panose="02010609060101010101" pitchFamily="49" charset="-122"/>
              </a:rPr>
              <a:t>点对点协议</a:t>
            </a:r>
            <a:r>
              <a:rPr lang="en-US" altLang="zh-CN" dirty="0" smtClean="0">
                <a:ea typeface="黑体" panose="02010609060101010101" pitchFamily="49" charset="-122"/>
              </a:rPr>
              <a:t> PPP</a:t>
            </a:r>
            <a:endParaRPr lang="zh-CN" altLang="zh-CN" dirty="0" smtClean="0">
              <a:ea typeface="黑体" panose="02010609060101010101" pitchFamily="49" charset="-122"/>
            </a:endParaRPr>
          </a:p>
        </p:txBody>
      </p:sp>
      <p:sp>
        <p:nvSpPr>
          <p:cNvPr id="419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C2D96E-D724-421B-ABD3-F3FE8704E888}" type="slidenum">
              <a:rPr lang="zh-CN" altLang="en-US" smtClean="0"/>
              <a:pPr eaLnBrk="1" hangingPunct="1"/>
              <a:t>2</a:t>
            </a:fld>
            <a:endParaRPr lang="en-US" altLang="zh-CN" smtClean="0"/>
          </a:p>
        </p:txBody>
      </p:sp>
      <p:sp>
        <p:nvSpPr>
          <p:cNvPr id="419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数据链路层</a:t>
            </a:r>
            <a:r>
              <a:rPr lang="zh-CN" altLang="zh-CN" smtClean="0">
                <a:ea typeface="黑体" panose="02010609060101010101" pitchFamily="49" charset="-122"/>
              </a:rPr>
              <a:t>使用的信道</a:t>
            </a:r>
            <a:endParaRPr lang="zh-CN" altLang="en-US" smtClean="0">
              <a:ea typeface="黑体" panose="02010609060101010101" pitchFamily="49" charset="-122"/>
            </a:endParaRPr>
          </a:p>
        </p:txBody>
      </p:sp>
      <p:sp>
        <p:nvSpPr>
          <p:cNvPr id="280579" name="Rectangle 3"/>
          <p:cNvSpPr>
            <a:spLocks noGrp="1" noChangeArrowheads="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0363" indent="-360363">
              <a:buFont typeface="Wingdings" panose="05000000000000000000" pitchFamily="2" charset="2"/>
              <a:buNone/>
            </a:pPr>
            <a:r>
              <a:rPr lang="en-US" altLang="zh-CN" smtClean="0">
                <a:ea typeface="黑体" panose="02010609060101010101" pitchFamily="49" charset="-122"/>
              </a:rPr>
              <a:t>	</a:t>
            </a:r>
            <a:r>
              <a:rPr lang="zh-CN" altLang="en-US" smtClean="0">
                <a:ea typeface="黑体" panose="02010609060101010101" pitchFamily="49" charset="-122"/>
              </a:rPr>
              <a:t>数据链路层使用的信道主要有以下两种类型：</a:t>
            </a:r>
          </a:p>
          <a:p>
            <a:pPr marL="360363" indent="-360363"/>
            <a:r>
              <a:rPr lang="zh-CN" altLang="en-US" smtClean="0">
                <a:solidFill>
                  <a:srgbClr val="FF0000"/>
                </a:solidFill>
                <a:ea typeface="黑体" panose="02010609060101010101" pitchFamily="49" charset="-122"/>
              </a:rPr>
              <a:t>点对点信道。</a:t>
            </a:r>
            <a:r>
              <a:rPr lang="zh-CN" altLang="en-US" smtClean="0">
                <a:ea typeface="黑体" panose="02010609060101010101" pitchFamily="49" charset="-122"/>
              </a:rPr>
              <a:t>这种信道使用</a:t>
            </a:r>
            <a:r>
              <a:rPr lang="zh-CN" altLang="en-US" smtClean="0">
                <a:solidFill>
                  <a:srgbClr val="FF0000"/>
                </a:solidFill>
                <a:ea typeface="黑体" panose="02010609060101010101" pitchFamily="49" charset="-122"/>
              </a:rPr>
              <a:t>一对一的点对点通信</a:t>
            </a:r>
            <a:r>
              <a:rPr lang="zh-CN" altLang="en-US" smtClean="0">
                <a:ea typeface="黑体" panose="02010609060101010101" pitchFamily="49" charset="-122"/>
              </a:rPr>
              <a:t>方式。</a:t>
            </a:r>
          </a:p>
          <a:p>
            <a:pPr marL="360363" indent="-360363"/>
            <a:r>
              <a:rPr lang="zh-CN" altLang="en-US" smtClean="0">
                <a:solidFill>
                  <a:srgbClr val="FF0000"/>
                </a:solidFill>
                <a:ea typeface="黑体" panose="02010609060101010101" pitchFamily="49" charset="-122"/>
              </a:rPr>
              <a:t>广播信道。</a:t>
            </a:r>
            <a:r>
              <a:rPr lang="zh-CN" altLang="en-US" smtClean="0">
                <a:ea typeface="黑体" panose="02010609060101010101" pitchFamily="49" charset="-122"/>
              </a:rPr>
              <a:t>这种信道使用</a:t>
            </a:r>
            <a:r>
              <a:rPr lang="zh-CN" altLang="en-US" smtClean="0">
                <a:solidFill>
                  <a:srgbClr val="FF0000"/>
                </a:solidFill>
                <a:ea typeface="黑体" panose="02010609060101010101" pitchFamily="49" charset="-122"/>
              </a:rPr>
              <a:t>一对多的广播通信</a:t>
            </a:r>
            <a:r>
              <a:rPr lang="zh-CN" altLang="en-US" smtClean="0">
                <a:ea typeface="黑体" panose="02010609060101010101" pitchFamily="49" charset="-122"/>
              </a:rPr>
              <a:t>方式，因此过程比较复杂。广播信道上连接的主机很多，因此必须使用专用的共享信道协议来协调这些主机的数据发送。 </a:t>
            </a:r>
          </a:p>
        </p:txBody>
      </p:sp>
      <p:sp>
        <p:nvSpPr>
          <p:cNvPr id="420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931609-0DE4-4AEF-B57B-46EF2C567B9A}" type="slidenum">
              <a:rPr lang="zh-CN" altLang="en-US" smtClean="0"/>
              <a:pPr eaLnBrk="1" hangingPunct="1"/>
              <a:t>3</a:t>
            </a:fld>
            <a:endParaRPr lang="en-US" altLang="zh-CN" smtClean="0"/>
          </a:p>
        </p:txBody>
      </p:sp>
      <p:sp>
        <p:nvSpPr>
          <p:cNvPr id="420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3" name="Rectangle 2"/>
          <p:cNvSpPr>
            <a:spLocks noGrp="1" noChangeArrowheads="1"/>
          </p:cNvSpPr>
          <p:nvPr>
            <p:ph type="title"/>
          </p:nvPr>
        </p:nvSpPr>
        <p:spPr/>
        <p:txBody>
          <a:bodyPr/>
          <a:lstStyle/>
          <a:p>
            <a:pPr algn="ctr"/>
            <a:r>
              <a:rPr lang="zh-CN" altLang="en-US" smtClean="0">
                <a:latin typeface="黑体" panose="02010609060101010101" pitchFamily="49" charset="-122"/>
                <a:ea typeface="黑体" panose="02010609060101010101" pitchFamily="49" charset="-122"/>
              </a:rPr>
              <a:t>数据链路层的简单模型</a:t>
            </a:r>
          </a:p>
        </p:txBody>
      </p:sp>
      <p:sp>
        <p:nvSpPr>
          <p:cNvPr id="422914" name="Line 3"/>
          <p:cNvSpPr>
            <a:spLocks noChangeShapeType="1"/>
          </p:cNvSpPr>
          <p:nvPr/>
        </p:nvSpPr>
        <p:spPr bwMode="auto">
          <a:xfrm flipH="1" flipV="1">
            <a:off x="8539163" y="2720975"/>
            <a:ext cx="728662" cy="635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5" name="Line 4"/>
          <p:cNvSpPr>
            <a:spLocks noChangeShapeType="1"/>
          </p:cNvSpPr>
          <p:nvPr/>
        </p:nvSpPr>
        <p:spPr bwMode="auto">
          <a:xfrm flipH="1" flipV="1">
            <a:off x="7356475" y="2416175"/>
            <a:ext cx="687388" cy="215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6" name="Line 5"/>
          <p:cNvSpPr>
            <a:spLocks noChangeShapeType="1"/>
          </p:cNvSpPr>
          <p:nvPr/>
        </p:nvSpPr>
        <p:spPr bwMode="auto">
          <a:xfrm flipV="1">
            <a:off x="6392863" y="2403475"/>
            <a:ext cx="825500" cy="15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7" name="Line 6"/>
          <p:cNvSpPr>
            <a:spLocks noChangeShapeType="1"/>
          </p:cNvSpPr>
          <p:nvPr/>
        </p:nvSpPr>
        <p:spPr bwMode="auto">
          <a:xfrm flipV="1">
            <a:off x="5237163" y="2479675"/>
            <a:ext cx="990600" cy="76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8" name="Line 7"/>
          <p:cNvSpPr>
            <a:spLocks noChangeShapeType="1"/>
          </p:cNvSpPr>
          <p:nvPr/>
        </p:nvSpPr>
        <p:spPr bwMode="auto">
          <a:xfrm>
            <a:off x="4081463" y="2555875"/>
            <a:ext cx="990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9" name="Line 8"/>
          <p:cNvSpPr>
            <a:spLocks noChangeShapeType="1"/>
          </p:cNvSpPr>
          <p:nvPr/>
        </p:nvSpPr>
        <p:spPr bwMode="auto">
          <a:xfrm>
            <a:off x="2843213" y="2327275"/>
            <a:ext cx="990600" cy="228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20" name="Freeform 9"/>
          <p:cNvSpPr>
            <a:spLocks noChangeArrowheads="1"/>
          </p:cNvSpPr>
          <p:nvPr/>
        </p:nvSpPr>
        <p:spPr bwMode="auto">
          <a:xfrm>
            <a:off x="889000" y="2365375"/>
            <a:ext cx="1898650" cy="508000"/>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422921" name="Group 10"/>
          <p:cNvGrpSpPr>
            <a:grpSpLocks/>
          </p:cNvGrpSpPr>
          <p:nvPr/>
        </p:nvGrpSpPr>
        <p:grpSpPr bwMode="auto">
          <a:xfrm>
            <a:off x="1274763" y="2174875"/>
            <a:ext cx="1222375" cy="781050"/>
            <a:chOff x="1680" y="240"/>
            <a:chExt cx="2529" cy="1270"/>
          </a:xfrm>
        </p:grpSpPr>
        <p:sp>
          <p:nvSpPr>
            <p:cNvPr id="422922" name="Oval 1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3" name="Oval 1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4" name="Oval 1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5" name="Oval 1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6" name="Oval 1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7" name="Oval 1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8" name="Oval 1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9" name="Oval 1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0" name="Oval 1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31" name="Group 20"/>
          <p:cNvGrpSpPr>
            <a:grpSpLocks/>
          </p:cNvGrpSpPr>
          <p:nvPr/>
        </p:nvGrpSpPr>
        <p:grpSpPr bwMode="auto">
          <a:xfrm>
            <a:off x="3338513" y="2174875"/>
            <a:ext cx="1222375" cy="781050"/>
            <a:chOff x="1680" y="240"/>
            <a:chExt cx="2529" cy="1270"/>
          </a:xfrm>
        </p:grpSpPr>
        <p:sp>
          <p:nvSpPr>
            <p:cNvPr id="422932" name="Oval 2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3" name="Oval 2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4" name="Oval 2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5" name="Oval 2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6" name="Oval 2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7" name="Oval 2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8" name="Oval 2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9" name="Oval 2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40" name="Oval 2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2941" name="Text Box 30"/>
          <p:cNvSpPr txBox="1">
            <a:spLocks noChangeArrowheads="1"/>
          </p:cNvSpPr>
          <p:nvPr/>
        </p:nvSpPr>
        <p:spPr bwMode="auto">
          <a:xfrm>
            <a:off x="3544888" y="23637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pic>
        <p:nvPicPr>
          <p:cNvPr id="422942"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7313" y="220662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43"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6963" y="240347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44"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1913" y="2466975"/>
            <a:ext cx="5778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45"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3263" y="2254250"/>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2946" name="Group 35"/>
          <p:cNvGrpSpPr>
            <a:grpSpLocks/>
          </p:cNvGrpSpPr>
          <p:nvPr/>
        </p:nvGrpSpPr>
        <p:grpSpPr bwMode="auto">
          <a:xfrm>
            <a:off x="5649913" y="2174875"/>
            <a:ext cx="1222375" cy="781050"/>
            <a:chOff x="1680" y="240"/>
            <a:chExt cx="2529" cy="1270"/>
          </a:xfrm>
        </p:grpSpPr>
        <p:sp>
          <p:nvSpPr>
            <p:cNvPr id="422947" name="Oval 36"/>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48" name="Oval 37"/>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49" name="Oval 38"/>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0" name="Oval 39"/>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1" name="Oval 40"/>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2" name="Oval 41"/>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3" name="Oval 42"/>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4" name="Oval 43"/>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5" name="Oval 44"/>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2956" name="Text Box 45"/>
          <p:cNvSpPr txBox="1">
            <a:spLocks noChangeArrowheads="1"/>
          </p:cNvSpPr>
          <p:nvPr/>
        </p:nvSpPr>
        <p:spPr bwMode="auto">
          <a:xfrm>
            <a:off x="5829300" y="236378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广域网</a:t>
            </a:r>
          </a:p>
        </p:txBody>
      </p:sp>
      <p:sp>
        <p:nvSpPr>
          <p:cNvPr id="422957" name="Text Box 46"/>
          <p:cNvSpPr txBox="1">
            <a:spLocks noChangeArrowheads="1"/>
          </p:cNvSpPr>
          <p:nvPr/>
        </p:nvSpPr>
        <p:spPr bwMode="auto">
          <a:xfrm>
            <a:off x="395288" y="2028825"/>
            <a:ext cx="947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2958" name="Text Box 47"/>
          <p:cNvSpPr txBox="1">
            <a:spLocks noChangeArrowheads="1"/>
          </p:cNvSpPr>
          <p:nvPr/>
        </p:nvSpPr>
        <p:spPr bwMode="auto">
          <a:xfrm>
            <a:off x="8743950" y="2147888"/>
            <a:ext cx="94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422959" name="Text Box 48"/>
          <p:cNvSpPr txBox="1">
            <a:spLocks noChangeArrowheads="1"/>
          </p:cNvSpPr>
          <p:nvPr/>
        </p:nvSpPr>
        <p:spPr bwMode="auto">
          <a:xfrm>
            <a:off x="2268538" y="1844675"/>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2960" name="Text Box 49"/>
          <p:cNvSpPr txBox="1">
            <a:spLocks noChangeArrowheads="1"/>
          </p:cNvSpPr>
          <p:nvPr/>
        </p:nvSpPr>
        <p:spPr bwMode="auto">
          <a:xfrm>
            <a:off x="4608513" y="2041525"/>
            <a:ext cx="11604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2961" name="Text Box 50"/>
          <p:cNvSpPr txBox="1">
            <a:spLocks noChangeArrowheads="1"/>
          </p:cNvSpPr>
          <p:nvPr/>
        </p:nvSpPr>
        <p:spPr bwMode="auto">
          <a:xfrm>
            <a:off x="6715125" y="1901825"/>
            <a:ext cx="1160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2962" name="Text Box 51"/>
          <p:cNvSpPr txBox="1">
            <a:spLocks noChangeArrowheads="1"/>
          </p:cNvSpPr>
          <p:nvPr/>
        </p:nvSpPr>
        <p:spPr bwMode="auto">
          <a:xfrm>
            <a:off x="1439863" y="23764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电话网</a:t>
            </a:r>
          </a:p>
        </p:txBody>
      </p:sp>
      <p:grpSp>
        <p:nvGrpSpPr>
          <p:cNvPr id="422963" name="Group 53"/>
          <p:cNvGrpSpPr>
            <a:grpSpLocks/>
          </p:cNvGrpSpPr>
          <p:nvPr/>
        </p:nvGrpSpPr>
        <p:grpSpPr bwMode="auto">
          <a:xfrm>
            <a:off x="449263" y="2403475"/>
            <a:ext cx="720725" cy="546100"/>
            <a:chOff x="624" y="2968"/>
            <a:chExt cx="1331" cy="920"/>
          </a:xfrm>
        </p:grpSpPr>
        <p:sp>
          <p:nvSpPr>
            <p:cNvPr id="422964" name="Freeform 5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65" name="Freeform 5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6" name="Freeform 5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7" name="Freeform 5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8" name="Freeform 5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9" name="Freeform 5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0" name="Freeform 6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1" name="Freeform 6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2" name="Freeform 6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3" name="Freeform 6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4" name="Freeform 6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5" name="Freeform 6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2976" name="Group 66"/>
            <p:cNvGrpSpPr>
              <a:grpSpLocks/>
            </p:cNvGrpSpPr>
            <p:nvPr/>
          </p:nvGrpSpPr>
          <p:grpSpPr bwMode="auto">
            <a:xfrm>
              <a:off x="700" y="3526"/>
              <a:ext cx="515" cy="270"/>
              <a:chOff x="700" y="3526"/>
              <a:chExt cx="515" cy="270"/>
            </a:xfrm>
          </p:grpSpPr>
          <p:grpSp>
            <p:nvGrpSpPr>
              <p:cNvPr id="422977" name="Group 67"/>
              <p:cNvGrpSpPr>
                <a:grpSpLocks/>
              </p:cNvGrpSpPr>
              <p:nvPr/>
            </p:nvGrpSpPr>
            <p:grpSpPr bwMode="auto">
              <a:xfrm>
                <a:off x="737" y="3534"/>
                <a:ext cx="49" cy="23"/>
                <a:chOff x="737" y="3534"/>
                <a:chExt cx="49" cy="23"/>
              </a:xfrm>
            </p:grpSpPr>
            <p:sp>
              <p:nvSpPr>
                <p:cNvPr id="422978" name="Freeform 6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9" name="Freeform 6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0" name="Freeform 7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81" name="Group 71"/>
              <p:cNvGrpSpPr>
                <a:grpSpLocks/>
              </p:cNvGrpSpPr>
              <p:nvPr/>
            </p:nvGrpSpPr>
            <p:grpSpPr bwMode="auto">
              <a:xfrm>
                <a:off x="748" y="3547"/>
                <a:ext cx="50" cy="23"/>
                <a:chOff x="748" y="3547"/>
                <a:chExt cx="50" cy="23"/>
              </a:xfrm>
            </p:grpSpPr>
            <p:sp>
              <p:nvSpPr>
                <p:cNvPr id="422982" name="Freeform 7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3" name="Freeform 7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4" name="Freeform 7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2985" name="Freeform 7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6" name="Freeform 7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7" name="Freeform 7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8" name="Freeform 7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2989" name="Group 79"/>
              <p:cNvGrpSpPr>
                <a:grpSpLocks/>
              </p:cNvGrpSpPr>
              <p:nvPr/>
            </p:nvGrpSpPr>
            <p:grpSpPr bwMode="auto">
              <a:xfrm>
                <a:off x="872" y="3547"/>
                <a:ext cx="50" cy="23"/>
                <a:chOff x="872" y="3547"/>
                <a:chExt cx="50" cy="23"/>
              </a:xfrm>
            </p:grpSpPr>
            <p:sp>
              <p:nvSpPr>
                <p:cNvPr id="422990" name="Freeform 8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1" name="Freeform 8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2" name="Freeform 8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93" name="Group 83"/>
              <p:cNvGrpSpPr>
                <a:grpSpLocks/>
              </p:cNvGrpSpPr>
              <p:nvPr/>
            </p:nvGrpSpPr>
            <p:grpSpPr bwMode="auto">
              <a:xfrm>
                <a:off x="885" y="3559"/>
                <a:ext cx="50" cy="23"/>
                <a:chOff x="885" y="3559"/>
                <a:chExt cx="50" cy="23"/>
              </a:xfrm>
            </p:grpSpPr>
            <p:sp>
              <p:nvSpPr>
                <p:cNvPr id="422994" name="Freeform 8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5" name="Freeform 8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6" name="Freeform 8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97" name="Group 87"/>
              <p:cNvGrpSpPr>
                <a:grpSpLocks/>
              </p:cNvGrpSpPr>
              <p:nvPr/>
            </p:nvGrpSpPr>
            <p:grpSpPr bwMode="auto">
              <a:xfrm>
                <a:off x="898" y="3571"/>
                <a:ext cx="49" cy="23"/>
                <a:chOff x="898" y="3571"/>
                <a:chExt cx="49" cy="23"/>
              </a:xfrm>
            </p:grpSpPr>
            <p:sp>
              <p:nvSpPr>
                <p:cNvPr id="422998" name="Freeform 8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9" name="Freeform 8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0" name="Freeform 9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01" name="Group 91"/>
              <p:cNvGrpSpPr>
                <a:grpSpLocks/>
              </p:cNvGrpSpPr>
              <p:nvPr/>
            </p:nvGrpSpPr>
            <p:grpSpPr bwMode="auto">
              <a:xfrm>
                <a:off x="911" y="3585"/>
                <a:ext cx="49" cy="23"/>
                <a:chOff x="911" y="3585"/>
                <a:chExt cx="49" cy="23"/>
              </a:xfrm>
            </p:grpSpPr>
            <p:sp>
              <p:nvSpPr>
                <p:cNvPr id="423002" name="Freeform 9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3" name="Freeform 9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4" name="Freeform 9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05" name="Group 95"/>
              <p:cNvGrpSpPr>
                <a:grpSpLocks/>
              </p:cNvGrpSpPr>
              <p:nvPr/>
            </p:nvGrpSpPr>
            <p:grpSpPr bwMode="auto">
              <a:xfrm>
                <a:off x="923" y="3600"/>
                <a:ext cx="99" cy="73"/>
                <a:chOff x="923" y="3600"/>
                <a:chExt cx="99" cy="73"/>
              </a:xfrm>
            </p:grpSpPr>
            <p:grpSp>
              <p:nvGrpSpPr>
                <p:cNvPr id="423006" name="Group 96"/>
                <p:cNvGrpSpPr>
                  <a:grpSpLocks/>
                </p:cNvGrpSpPr>
                <p:nvPr/>
              </p:nvGrpSpPr>
              <p:grpSpPr bwMode="auto">
                <a:xfrm>
                  <a:off x="923" y="3600"/>
                  <a:ext cx="49" cy="23"/>
                  <a:chOff x="923" y="3600"/>
                  <a:chExt cx="49" cy="23"/>
                </a:xfrm>
              </p:grpSpPr>
              <p:sp>
                <p:nvSpPr>
                  <p:cNvPr id="423007" name="Freeform 9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8" name="Freeform 9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9" name="Freeform 9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10" name="Group 100"/>
                <p:cNvGrpSpPr>
                  <a:grpSpLocks/>
                </p:cNvGrpSpPr>
                <p:nvPr/>
              </p:nvGrpSpPr>
              <p:grpSpPr bwMode="auto">
                <a:xfrm>
                  <a:off x="935" y="3612"/>
                  <a:ext cx="48" cy="23"/>
                  <a:chOff x="935" y="3612"/>
                  <a:chExt cx="48" cy="23"/>
                </a:xfrm>
              </p:grpSpPr>
              <p:sp>
                <p:nvSpPr>
                  <p:cNvPr id="423011" name="Freeform 10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2" name="Freeform 10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3" name="Freeform 10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14" name="Group 104"/>
                <p:cNvGrpSpPr>
                  <a:grpSpLocks/>
                </p:cNvGrpSpPr>
                <p:nvPr/>
              </p:nvGrpSpPr>
              <p:grpSpPr bwMode="auto">
                <a:xfrm>
                  <a:off x="947" y="3625"/>
                  <a:ext cx="50" cy="22"/>
                  <a:chOff x="947" y="3625"/>
                  <a:chExt cx="50" cy="22"/>
                </a:xfrm>
              </p:grpSpPr>
              <p:sp>
                <p:nvSpPr>
                  <p:cNvPr id="423015" name="Freeform 10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6" name="Freeform 10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7" name="Freeform 10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18" name="Group 108"/>
                <p:cNvGrpSpPr>
                  <a:grpSpLocks/>
                </p:cNvGrpSpPr>
                <p:nvPr/>
              </p:nvGrpSpPr>
              <p:grpSpPr bwMode="auto">
                <a:xfrm>
                  <a:off x="960" y="3637"/>
                  <a:ext cx="50" cy="23"/>
                  <a:chOff x="960" y="3637"/>
                  <a:chExt cx="50" cy="23"/>
                </a:xfrm>
              </p:grpSpPr>
              <p:sp>
                <p:nvSpPr>
                  <p:cNvPr id="423019" name="Freeform 10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0" name="Freeform 11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1" name="Freeform 11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22" name="Group 112"/>
                <p:cNvGrpSpPr>
                  <a:grpSpLocks/>
                </p:cNvGrpSpPr>
                <p:nvPr/>
              </p:nvGrpSpPr>
              <p:grpSpPr bwMode="auto">
                <a:xfrm>
                  <a:off x="973" y="3650"/>
                  <a:ext cx="49" cy="23"/>
                  <a:chOff x="973" y="3650"/>
                  <a:chExt cx="49" cy="23"/>
                </a:xfrm>
              </p:grpSpPr>
              <p:sp>
                <p:nvSpPr>
                  <p:cNvPr id="423023" name="Freeform 11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4" name="Freeform 11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5" name="Freeform 11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026" name="Group 116"/>
              <p:cNvGrpSpPr>
                <a:grpSpLocks/>
              </p:cNvGrpSpPr>
              <p:nvPr/>
            </p:nvGrpSpPr>
            <p:grpSpPr bwMode="auto">
              <a:xfrm>
                <a:off x="985" y="3665"/>
                <a:ext cx="100" cy="73"/>
                <a:chOff x="985" y="3665"/>
                <a:chExt cx="100" cy="73"/>
              </a:xfrm>
            </p:grpSpPr>
            <p:grpSp>
              <p:nvGrpSpPr>
                <p:cNvPr id="423027" name="Group 117"/>
                <p:cNvGrpSpPr>
                  <a:grpSpLocks/>
                </p:cNvGrpSpPr>
                <p:nvPr/>
              </p:nvGrpSpPr>
              <p:grpSpPr bwMode="auto">
                <a:xfrm>
                  <a:off x="985" y="3665"/>
                  <a:ext cx="50" cy="23"/>
                  <a:chOff x="985" y="3665"/>
                  <a:chExt cx="50" cy="23"/>
                </a:xfrm>
              </p:grpSpPr>
              <p:sp>
                <p:nvSpPr>
                  <p:cNvPr id="423028" name="Freeform 11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9" name="Freeform 11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0" name="Freeform 12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31" name="Group 121"/>
                <p:cNvGrpSpPr>
                  <a:grpSpLocks/>
                </p:cNvGrpSpPr>
                <p:nvPr/>
              </p:nvGrpSpPr>
              <p:grpSpPr bwMode="auto">
                <a:xfrm>
                  <a:off x="997" y="3677"/>
                  <a:ext cx="49" cy="23"/>
                  <a:chOff x="997" y="3677"/>
                  <a:chExt cx="49" cy="23"/>
                </a:xfrm>
              </p:grpSpPr>
              <p:sp>
                <p:nvSpPr>
                  <p:cNvPr id="423032" name="Freeform 12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3" name="Freeform 12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4" name="Freeform 12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35" name="Group 125"/>
                <p:cNvGrpSpPr>
                  <a:grpSpLocks/>
                </p:cNvGrpSpPr>
                <p:nvPr/>
              </p:nvGrpSpPr>
              <p:grpSpPr bwMode="auto">
                <a:xfrm>
                  <a:off x="1010" y="3690"/>
                  <a:ext cx="48" cy="23"/>
                  <a:chOff x="1010" y="3690"/>
                  <a:chExt cx="48" cy="23"/>
                </a:xfrm>
              </p:grpSpPr>
              <p:sp>
                <p:nvSpPr>
                  <p:cNvPr id="423036" name="Freeform 12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7" name="Freeform 12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8" name="Freeform 12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39" name="Group 129"/>
                <p:cNvGrpSpPr>
                  <a:grpSpLocks/>
                </p:cNvGrpSpPr>
                <p:nvPr/>
              </p:nvGrpSpPr>
              <p:grpSpPr bwMode="auto">
                <a:xfrm>
                  <a:off x="1023" y="3703"/>
                  <a:ext cx="49" cy="22"/>
                  <a:chOff x="1023" y="3703"/>
                  <a:chExt cx="49" cy="22"/>
                </a:xfrm>
              </p:grpSpPr>
              <p:sp>
                <p:nvSpPr>
                  <p:cNvPr id="423040" name="Freeform 13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1" name="Freeform 13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2" name="Freeform 13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43" name="Group 133"/>
                <p:cNvGrpSpPr>
                  <a:grpSpLocks/>
                </p:cNvGrpSpPr>
                <p:nvPr/>
              </p:nvGrpSpPr>
              <p:grpSpPr bwMode="auto">
                <a:xfrm>
                  <a:off x="1036" y="3716"/>
                  <a:ext cx="49" cy="22"/>
                  <a:chOff x="1036" y="3716"/>
                  <a:chExt cx="49" cy="22"/>
                </a:xfrm>
              </p:grpSpPr>
              <p:sp>
                <p:nvSpPr>
                  <p:cNvPr id="423044" name="Freeform 13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5" name="Freeform 13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6" name="Freeform 13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047" name="Group 137"/>
              <p:cNvGrpSpPr>
                <a:grpSpLocks/>
              </p:cNvGrpSpPr>
              <p:nvPr/>
            </p:nvGrpSpPr>
            <p:grpSpPr bwMode="auto">
              <a:xfrm>
                <a:off x="1046" y="3727"/>
                <a:ext cx="49" cy="23"/>
                <a:chOff x="1046" y="3727"/>
                <a:chExt cx="49" cy="23"/>
              </a:xfrm>
            </p:grpSpPr>
            <p:sp>
              <p:nvSpPr>
                <p:cNvPr id="423048" name="Freeform 13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9" name="Freeform 13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0" name="Freeform 14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51" name="Group 141"/>
              <p:cNvGrpSpPr>
                <a:grpSpLocks/>
              </p:cNvGrpSpPr>
              <p:nvPr/>
            </p:nvGrpSpPr>
            <p:grpSpPr bwMode="auto">
              <a:xfrm>
                <a:off x="1058" y="3739"/>
                <a:ext cx="50" cy="23"/>
                <a:chOff x="1058" y="3739"/>
                <a:chExt cx="50" cy="23"/>
              </a:xfrm>
            </p:grpSpPr>
            <p:sp>
              <p:nvSpPr>
                <p:cNvPr id="423052" name="Freeform 14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3" name="Freeform 14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4" name="Freeform 14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55" name="Group 145"/>
              <p:cNvGrpSpPr>
                <a:grpSpLocks/>
              </p:cNvGrpSpPr>
              <p:nvPr/>
            </p:nvGrpSpPr>
            <p:grpSpPr bwMode="auto">
              <a:xfrm>
                <a:off x="1072" y="3753"/>
                <a:ext cx="48" cy="22"/>
                <a:chOff x="1072" y="3753"/>
                <a:chExt cx="48" cy="22"/>
              </a:xfrm>
            </p:grpSpPr>
            <p:sp>
              <p:nvSpPr>
                <p:cNvPr id="423056" name="Freeform 14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7" name="Freeform 14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8" name="Freeform 14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059" name="Freeform 14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0" name="Freeform 15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1" name="Freeform 15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3062" name="Group 152"/>
              <p:cNvGrpSpPr>
                <a:grpSpLocks/>
              </p:cNvGrpSpPr>
              <p:nvPr/>
            </p:nvGrpSpPr>
            <p:grpSpPr bwMode="auto">
              <a:xfrm>
                <a:off x="832" y="3547"/>
                <a:ext cx="49" cy="23"/>
                <a:chOff x="832" y="3547"/>
                <a:chExt cx="49" cy="23"/>
              </a:xfrm>
            </p:grpSpPr>
            <p:sp>
              <p:nvSpPr>
                <p:cNvPr id="423063" name="Freeform 15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4" name="Freeform 15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5" name="Freeform 15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66" name="Group 156"/>
              <p:cNvGrpSpPr>
                <a:grpSpLocks/>
              </p:cNvGrpSpPr>
              <p:nvPr/>
            </p:nvGrpSpPr>
            <p:grpSpPr bwMode="auto">
              <a:xfrm>
                <a:off x="844" y="3560"/>
                <a:ext cx="49" cy="22"/>
                <a:chOff x="844" y="3560"/>
                <a:chExt cx="49" cy="22"/>
              </a:xfrm>
            </p:grpSpPr>
            <p:sp>
              <p:nvSpPr>
                <p:cNvPr id="423067" name="Freeform 15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8" name="Freeform 15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9" name="Freeform 15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70" name="Group 160"/>
              <p:cNvGrpSpPr>
                <a:grpSpLocks/>
              </p:cNvGrpSpPr>
              <p:nvPr/>
            </p:nvGrpSpPr>
            <p:grpSpPr bwMode="auto">
              <a:xfrm>
                <a:off x="857" y="3572"/>
                <a:ext cx="50" cy="23"/>
                <a:chOff x="857" y="3572"/>
                <a:chExt cx="50" cy="23"/>
              </a:xfrm>
            </p:grpSpPr>
            <p:sp>
              <p:nvSpPr>
                <p:cNvPr id="423071" name="Freeform 16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2" name="Freeform 16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3" name="Freeform 16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74" name="Group 164"/>
              <p:cNvGrpSpPr>
                <a:grpSpLocks/>
              </p:cNvGrpSpPr>
              <p:nvPr/>
            </p:nvGrpSpPr>
            <p:grpSpPr bwMode="auto">
              <a:xfrm>
                <a:off x="870" y="3585"/>
                <a:ext cx="48" cy="23"/>
                <a:chOff x="870" y="3585"/>
                <a:chExt cx="48" cy="23"/>
              </a:xfrm>
            </p:grpSpPr>
            <p:sp>
              <p:nvSpPr>
                <p:cNvPr id="423075" name="Freeform 16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6" name="Freeform 16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7" name="Freeform 16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78" name="Group 168"/>
              <p:cNvGrpSpPr>
                <a:grpSpLocks/>
              </p:cNvGrpSpPr>
              <p:nvPr/>
            </p:nvGrpSpPr>
            <p:grpSpPr bwMode="auto">
              <a:xfrm>
                <a:off x="882" y="3600"/>
                <a:ext cx="100" cy="73"/>
                <a:chOff x="882" y="3600"/>
                <a:chExt cx="100" cy="73"/>
              </a:xfrm>
            </p:grpSpPr>
            <p:grpSp>
              <p:nvGrpSpPr>
                <p:cNvPr id="423079" name="Group 169"/>
                <p:cNvGrpSpPr>
                  <a:grpSpLocks/>
                </p:cNvGrpSpPr>
                <p:nvPr/>
              </p:nvGrpSpPr>
              <p:grpSpPr bwMode="auto">
                <a:xfrm>
                  <a:off x="882" y="3600"/>
                  <a:ext cx="49" cy="23"/>
                  <a:chOff x="882" y="3600"/>
                  <a:chExt cx="49" cy="23"/>
                </a:xfrm>
              </p:grpSpPr>
              <p:sp>
                <p:nvSpPr>
                  <p:cNvPr id="423080" name="Freeform 17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1" name="Freeform 17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2" name="Freeform 17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83" name="Group 173"/>
                <p:cNvGrpSpPr>
                  <a:grpSpLocks/>
                </p:cNvGrpSpPr>
                <p:nvPr/>
              </p:nvGrpSpPr>
              <p:grpSpPr bwMode="auto">
                <a:xfrm>
                  <a:off x="894" y="3612"/>
                  <a:ext cx="49" cy="23"/>
                  <a:chOff x="894" y="3612"/>
                  <a:chExt cx="49" cy="23"/>
                </a:xfrm>
              </p:grpSpPr>
              <p:sp>
                <p:nvSpPr>
                  <p:cNvPr id="423084" name="Freeform 17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5" name="Freeform 17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6" name="Freeform 17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87" name="Group 177"/>
                <p:cNvGrpSpPr>
                  <a:grpSpLocks/>
                </p:cNvGrpSpPr>
                <p:nvPr/>
              </p:nvGrpSpPr>
              <p:grpSpPr bwMode="auto">
                <a:xfrm>
                  <a:off x="907" y="3625"/>
                  <a:ext cx="49" cy="23"/>
                  <a:chOff x="907" y="3625"/>
                  <a:chExt cx="49" cy="23"/>
                </a:xfrm>
              </p:grpSpPr>
              <p:sp>
                <p:nvSpPr>
                  <p:cNvPr id="423088" name="Freeform 17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9" name="Freeform 17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0" name="Freeform 18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91" name="Group 181"/>
                <p:cNvGrpSpPr>
                  <a:grpSpLocks/>
                </p:cNvGrpSpPr>
                <p:nvPr/>
              </p:nvGrpSpPr>
              <p:grpSpPr bwMode="auto">
                <a:xfrm>
                  <a:off x="919" y="3638"/>
                  <a:ext cx="49" cy="22"/>
                  <a:chOff x="919" y="3638"/>
                  <a:chExt cx="49" cy="22"/>
                </a:xfrm>
              </p:grpSpPr>
              <p:sp>
                <p:nvSpPr>
                  <p:cNvPr id="423092" name="Freeform 18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3" name="Freeform 18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4" name="Freeform 18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95" name="Group 185"/>
                <p:cNvGrpSpPr>
                  <a:grpSpLocks/>
                </p:cNvGrpSpPr>
                <p:nvPr/>
              </p:nvGrpSpPr>
              <p:grpSpPr bwMode="auto">
                <a:xfrm>
                  <a:off x="932" y="3651"/>
                  <a:ext cx="50" cy="22"/>
                  <a:chOff x="932" y="3651"/>
                  <a:chExt cx="50" cy="22"/>
                </a:xfrm>
              </p:grpSpPr>
              <p:sp>
                <p:nvSpPr>
                  <p:cNvPr id="423096" name="Freeform 18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7" name="Freeform 18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8" name="Freeform 18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099" name="Group 189"/>
              <p:cNvGrpSpPr>
                <a:grpSpLocks/>
              </p:cNvGrpSpPr>
              <p:nvPr/>
            </p:nvGrpSpPr>
            <p:grpSpPr bwMode="auto">
              <a:xfrm>
                <a:off x="944" y="3665"/>
                <a:ext cx="99" cy="74"/>
                <a:chOff x="944" y="3665"/>
                <a:chExt cx="99" cy="74"/>
              </a:xfrm>
            </p:grpSpPr>
            <p:grpSp>
              <p:nvGrpSpPr>
                <p:cNvPr id="423100" name="Group 190"/>
                <p:cNvGrpSpPr>
                  <a:grpSpLocks/>
                </p:cNvGrpSpPr>
                <p:nvPr/>
              </p:nvGrpSpPr>
              <p:grpSpPr bwMode="auto">
                <a:xfrm>
                  <a:off x="944" y="3665"/>
                  <a:ext cx="49" cy="23"/>
                  <a:chOff x="944" y="3665"/>
                  <a:chExt cx="49" cy="23"/>
                </a:xfrm>
              </p:grpSpPr>
              <p:sp>
                <p:nvSpPr>
                  <p:cNvPr id="423101" name="Freeform 19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2" name="Freeform 19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3" name="Freeform 19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04" name="Group 194"/>
                <p:cNvGrpSpPr>
                  <a:grpSpLocks/>
                </p:cNvGrpSpPr>
                <p:nvPr/>
              </p:nvGrpSpPr>
              <p:grpSpPr bwMode="auto">
                <a:xfrm>
                  <a:off x="957" y="3678"/>
                  <a:ext cx="48" cy="23"/>
                  <a:chOff x="957" y="3678"/>
                  <a:chExt cx="48" cy="23"/>
                </a:xfrm>
              </p:grpSpPr>
              <p:sp>
                <p:nvSpPr>
                  <p:cNvPr id="423105" name="Freeform 19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6" name="Freeform 19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7" name="Freeform 19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08" name="Group 198"/>
                <p:cNvGrpSpPr>
                  <a:grpSpLocks/>
                </p:cNvGrpSpPr>
                <p:nvPr/>
              </p:nvGrpSpPr>
              <p:grpSpPr bwMode="auto">
                <a:xfrm>
                  <a:off x="969" y="3690"/>
                  <a:ext cx="49" cy="23"/>
                  <a:chOff x="969" y="3690"/>
                  <a:chExt cx="49" cy="23"/>
                </a:xfrm>
              </p:grpSpPr>
              <p:sp>
                <p:nvSpPr>
                  <p:cNvPr id="423109" name="Freeform 19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0" name="Freeform 20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1" name="Freeform 20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12" name="Group 202"/>
                <p:cNvGrpSpPr>
                  <a:grpSpLocks/>
                </p:cNvGrpSpPr>
                <p:nvPr/>
              </p:nvGrpSpPr>
              <p:grpSpPr bwMode="auto">
                <a:xfrm>
                  <a:off x="982" y="3703"/>
                  <a:ext cx="49" cy="23"/>
                  <a:chOff x="982" y="3703"/>
                  <a:chExt cx="49" cy="23"/>
                </a:xfrm>
              </p:grpSpPr>
              <p:sp>
                <p:nvSpPr>
                  <p:cNvPr id="423113" name="Freeform 20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4" name="Freeform 20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5" name="Freeform 20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16" name="Group 206"/>
                <p:cNvGrpSpPr>
                  <a:grpSpLocks/>
                </p:cNvGrpSpPr>
                <p:nvPr/>
              </p:nvGrpSpPr>
              <p:grpSpPr bwMode="auto">
                <a:xfrm>
                  <a:off x="995" y="3716"/>
                  <a:ext cx="48" cy="23"/>
                  <a:chOff x="995" y="3716"/>
                  <a:chExt cx="48" cy="23"/>
                </a:xfrm>
              </p:grpSpPr>
              <p:sp>
                <p:nvSpPr>
                  <p:cNvPr id="423117" name="Freeform 20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8" name="Freeform 20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9" name="Freeform 20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120" name="Group 210"/>
              <p:cNvGrpSpPr>
                <a:grpSpLocks/>
              </p:cNvGrpSpPr>
              <p:nvPr/>
            </p:nvGrpSpPr>
            <p:grpSpPr bwMode="auto">
              <a:xfrm>
                <a:off x="1005" y="3727"/>
                <a:ext cx="49" cy="23"/>
                <a:chOff x="1005" y="3727"/>
                <a:chExt cx="49" cy="23"/>
              </a:xfrm>
            </p:grpSpPr>
            <p:sp>
              <p:nvSpPr>
                <p:cNvPr id="423121" name="Freeform 21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2" name="Freeform 21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3" name="Freeform 21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24" name="Group 214"/>
              <p:cNvGrpSpPr>
                <a:grpSpLocks/>
              </p:cNvGrpSpPr>
              <p:nvPr/>
            </p:nvGrpSpPr>
            <p:grpSpPr bwMode="auto">
              <a:xfrm>
                <a:off x="1018" y="3740"/>
                <a:ext cx="49" cy="22"/>
                <a:chOff x="1018" y="3740"/>
                <a:chExt cx="49" cy="22"/>
              </a:xfrm>
            </p:grpSpPr>
            <p:sp>
              <p:nvSpPr>
                <p:cNvPr id="423125" name="Freeform 21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6" name="Freeform 21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7" name="Freeform 21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28" name="Group 218"/>
              <p:cNvGrpSpPr>
                <a:grpSpLocks/>
              </p:cNvGrpSpPr>
              <p:nvPr/>
            </p:nvGrpSpPr>
            <p:grpSpPr bwMode="auto">
              <a:xfrm>
                <a:off x="1030" y="3753"/>
                <a:ext cx="49" cy="23"/>
                <a:chOff x="1030" y="3753"/>
                <a:chExt cx="49" cy="23"/>
              </a:xfrm>
            </p:grpSpPr>
            <p:sp>
              <p:nvSpPr>
                <p:cNvPr id="423129" name="Freeform 21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0" name="Freeform 22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1" name="Freeform 22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132" name="Freeform 22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3" name="Freeform 22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4" name="Freeform 22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3135" name="Group 225"/>
              <p:cNvGrpSpPr>
                <a:grpSpLocks/>
              </p:cNvGrpSpPr>
              <p:nvPr/>
            </p:nvGrpSpPr>
            <p:grpSpPr bwMode="auto">
              <a:xfrm>
                <a:off x="790" y="3547"/>
                <a:ext cx="49" cy="23"/>
                <a:chOff x="790" y="3547"/>
                <a:chExt cx="49" cy="23"/>
              </a:xfrm>
            </p:grpSpPr>
            <p:sp>
              <p:nvSpPr>
                <p:cNvPr id="423136" name="Freeform 22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7" name="Freeform 22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8" name="Freeform 22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39" name="Group 229"/>
              <p:cNvGrpSpPr>
                <a:grpSpLocks/>
              </p:cNvGrpSpPr>
              <p:nvPr/>
            </p:nvGrpSpPr>
            <p:grpSpPr bwMode="auto">
              <a:xfrm>
                <a:off x="803" y="3560"/>
                <a:ext cx="49" cy="22"/>
                <a:chOff x="803" y="3560"/>
                <a:chExt cx="49" cy="22"/>
              </a:xfrm>
            </p:grpSpPr>
            <p:sp>
              <p:nvSpPr>
                <p:cNvPr id="423140" name="Freeform 23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1" name="Freeform 23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2" name="Freeform 23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43" name="Group 233"/>
              <p:cNvGrpSpPr>
                <a:grpSpLocks/>
              </p:cNvGrpSpPr>
              <p:nvPr/>
            </p:nvGrpSpPr>
            <p:grpSpPr bwMode="auto">
              <a:xfrm>
                <a:off x="815" y="3572"/>
                <a:ext cx="50" cy="23"/>
                <a:chOff x="815" y="3572"/>
                <a:chExt cx="50" cy="23"/>
              </a:xfrm>
            </p:grpSpPr>
            <p:sp>
              <p:nvSpPr>
                <p:cNvPr id="423144" name="Freeform 23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5" name="Freeform 23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6" name="Freeform 23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47" name="Group 237"/>
              <p:cNvGrpSpPr>
                <a:grpSpLocks/>
              </p:cNvGrpSpPr>
              <p:nvPr/>
            </p:nvGrpSpPr>
            <p:grpSpPr bwMode="auto">
              <a:xfrm>
                <a:off x="828" y="3585"/>
                <a:ext cx="49" cy="23"/>
                <a:chOff x="828" y="3585"/>
                <a:chExt cx="49" cy="23"/>
              </a:xfrm>
            </p:grpSpPr>
            <p:sp>
              <p:nvSpPr>
                <p:cNvPr id="423148" name="Freeform 23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9" name="Freeform 23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0" name="Freeform 24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51" name="Group 241"/>
              <p:cNvGrpSpPr>
                <a:grpSpLocks/>
              </p:cNvGrpSpPr>
              <p:nvPr/>
            </p:nvGrpSpPr>
            <p:grpSpPr bwMode="auto">
              <a:xfrm>
                <a:off x="840" y="3600"/>
                <a:ext cx="100" cy="73"/>
                <a:chOff x="840" y="3600"/>
                <a:chExt cx="100" cy="73"/>
              </a:xfrm>
            </p:grpSpPr>
            <p:grpSp>
              <p:nvGrpSpPr>
                <p:cNvPr id="423152" name="Group 242"/>
                <p:cNvGrpSpPr>
                  <a:grpSpLocks/>
                </p:cNvGrpSpPr>
                <p:nvPr/>
              </p:nvGrpSpPr>
              <p:grpSpPr bwMode="auto">
                <a:xfrm>
                  <a:off x="840" y="3600"/>
                  <a:ext cx="49" cy="23"/>
                  <a:chOff x="840" y="3600"/>
                  <a:chExt cx="49" cy="23"/>
                </a:xfrm>
              </p:grpSpPr>
              <p:sp>
                <p:nvSpPr>
                  <p:cNvPr id="423153" name="Freeform 24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4" name="Freeform 24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5" name="Freeform 24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56" name="Group 246"/>
                <p:cNvGrpSpPr>
                  <a:grpSpLocks/>
                </p:cNvGrpSpPr>
                <p:nvPr/>
              </p:nvGrpSpPr>
              <p:grpSpPr bwMode="auto">
                <a:xfrm>
                  <a:off x="853" y="3612"/>
                  <a:ext cx="48" cy="23"/>
                  <a:chOff x="853" y="3612"/>
                  <a:chExt cx="48" cy="23"/>
                </a:xfrm>
              </p:grpSpPr>
              <p:sp>
                <p:nvSpPr>
                  <p:cNvPr id="423157" name="Freeform 24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8" name="Freeform 24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9" name="Freeform 24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60" name="Group 250"/>
                <p:cNvGrpSpPr>
                  <a:grpSpLocks/>
                </p:cNvGrpSpPr>
                <p:nvPr/>
              </p:nvGrpSpPr>
              <p:grpSpPr bwMode="auto">
                <a:xfrm>
                  <a:off x="865" y="3625"/>
                  <a:ext cx="49" cy="23"/>
                  <a:chOff x="865" y="3625"/>
                  <a:chExt cx="49" cy="23"/>
                </a:xfrm>
              </p:grpSpPr>
              <p:sp>
                <p:nvSpPr>
                  <p:cNvPr id="423161" name="Freeform 25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2" name="Freeform 25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3" name="Freeform 25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64" name="Group 254"/>
                <p:cNvGrpSpPr>
                  <a:grpSpLocks/>
                </p:cNvGrpSpPr>
                <p:nvPr/>
              </p:nvGrpSpPr>
              <p:grpSpPr bwMode="auto">
                <a:xfrm>
                  <a:off x="878" y="3638"/>
                  <a:ext cx="49" cy="22"/>
                  <a:chOff x="878" y="3638"/>
                  <a:chExt cx="49" cy="22"/>
                </a:xfrm>
              </p:grpSpPr>
              <p:sp>
                <p:nvSpPr>
                  <p:cNvPr id="423165" name="Freeform 25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6" name="Freeform 25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7" name="Freeform 25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68" name="Group 258"/>
                <p:cNvGrpSpPr>
                  <a:grpSpLocks/>
                </p:cNvGrpSpPr>
                <p:nvPr/>
              </p:nvGrpSpPr>
              <p:grpSpPr bwMode="auto">
                <a:xfrm>
                  <a:off x="890" y="3651"/>
                  <a:ext cx="50" cy="22"/>
                  <a:chOff x="890" y="3651"/>
                  <a:chExt cx="50" cy="22"/>
                </a:xfrm>
              </p:grpSpPr>
              <p:sp>
                <p:nvSpPr>
                  <p:cNvPr id="423169" name="Freeform 25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0" name="Freeform 26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1" name="Freeform 26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172" name="Group 262"/>
              <p:cNvGrpSpPr>
                <a:grpSpLocks/>
              </p:cNvGrpSpPr>
              <p:nvPr/>
            </p:nvGrpSpPr>
            <p:grpSpPr bwMode="auto">
              <a:xfrm>
                <a:off x="903" y="3665"/>
                <a:ext cx="99" cy="74"/>
                <a:chOff x="903" y="3665"/>
                <a:chExt cx="99" cy="74"/>
              </a:xfrm>
            </p:grpSpPr>
            <p:grpSp>
              <p:nvGrpSpPr>
                <p:cNvPr id="423173" name="Group 263"/>
                <p:cNvGrpSpPr>
                  <a:grpSpLocks/>
                </p:cNvGrpSpPr>
                <p:nvPr/>
              </p:nvGrpSpPr>
              <p:grpSpPr bwMode="auto">
                <a:xfrm>
                  <a:off x="903" y="3665"/>
                  <a:ext cx="49" cy="23"/>
                  <a:chOff x="903" y="3665"/>
                  <a:chExt cx="49" cy="23"/>
                </a:xfrm>
              </p:grpSpPr>
              <p:sp>
                <p:nvSpPr>
                  <p:cNvPr id="423174" name="Freeform 26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5" name="Freeform 26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6" name="Freeform 26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77" name="Group 267"/>
                <p:cNvGrpSpPr>
                  <a:grpSpLocks/>
                </p:cNvGrpSpPr>
                <p:nvPr/>
              </p:nvGrpSpPr>
              <p:grpSpPr bwMode="auto">
                <a:xfrm>
                  <a:off x="914" y="3678"/>
                  <a:ext cx="49" cy="23"/>
                  <a:chOff x="914" y="3678"/>
                  <a:chExt cx="49" cy="23"/>
                </a:xfrm>
              </p:grpSpPr>
              <p:sp>
                <p:nvSpPr>
                  <p:cNvPr id="423178" name="Freeform 26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9" name="Freeform 26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0" name="Freeform 27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81" name="Group 271"/>
                <p:cNvGrpSpPr>
                  <a:grpSpLocks/>
                </p:cNvGrpSpPr>
                <p:nvPr/>
              </p:nvGrpSpPr>
              <p:grpSpPr bwMode="auto">
                <a:xfrm>
                  <a:off x="928" y="3690"/>
                  <a:ext cx="48" cy="23"/>
                  <a:chOff x="928" y="3690"/>
                  <a:chExt cx="48" cy="23"/>
                </a:xfrm>
              </p:grpSpPr>
              <p:sp>
                <p:nvSpPr>
                  <p:cNvPr id="423182" name="Freeform 27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3" name="Freeform 27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4" name="Freeform 27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85" name="Group 275"/>
                <p:cNvGrpSpPr>
                  <a:grpSpLocks/>
                </p:cNvGrpSpPr>
                <p:nvPr/>
              </p:nvGrpSpPr>
              <p:grpSpPr bwMode="auto">
                <a:xfrm>
                  <a:off x="940" y="3703"/>
                  <a:ext cx="49" cy="23"/>
                  <a:chOff x="940" y="3703"/>
                  <a:chExt cx="49" cy="23"/>
                </a:xfrm>
              </p:grpSpPr>
              <p:sp>
                <p:nvSpPr>
                  <p:cNvPr id="423186" name="Freeform 27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7" name="Freeform 27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8" name="Freeform 27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89" name="Group 279"/>
                <p:cNvGrpSpPr>
                  <a:grpSpLocks/>
                </p:cNvGrpSpPr>
                <p:nvPr/>
              </p:nvGrpSpPr>
              <p:grpSpPr bwMode="auto">
                <a:xfrm>
                  <a:off x="953" y="3716"/>
                  <a:ext cx="49" cy="23"/>
                  <a:chOff x="953" y="3716"/>
                  <a:chExt cx="49" cy="23"/>
                </a:xfrm>
              </p:grpSpPr>
              <p:sp>
                <p:nvSpPr>
                  <p:cNvPr id="423190" name="Freeform 28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1" name="Freeform 28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2" name="Freeform 28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193" name="Group 283"/>
              <p:cNvGrpSpPr>
                <a:grpSpLocks/>
              </p:cNvGrpSpPr>
              <p:nvPr/>
            </p:nvGrpSpPr>
            <p:grpSpPr bwMode="auto">
              <a:xfrm>
                <a:off x="963" y="3727"/>
                <a:ext cx="49" cy="23"/>
                <a:chOff x="963" y="3727"/>
                <a:chExt cx="49" cy="23"/>
              </a:xfrm>
            </p:grpSpPr>
            <p:sp>
              <p:nvSpPr>
                <p:cNvPr id="423194" name="Freeform 28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5" name="Freeform 28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6" name="Freeform 28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97" name="Group 287"/>
              <p:cNvGrpSpPr>
                <a:grpSpLocks/>
              </p:cNvGrpSpPr>
              <p:nvPr/>
            </p:nvGrpSpPr>
            <p:grpSpPr bwMode="auto">
              <a:xfrm>
                <a:off x="976" y="3740"/>
                <a:ext cx="50" cy="22"/>
                <a:chOff x="976" y="3740"/>
                <a:chExt cx="50" cy="22"/>
              </a:xfrm>
            </p:grpSpPr>
            <p:sp>
              <p:nvSpPr>
                <p:cNvPr id="423198" name="Freeform 28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9" name="Freeform 28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0" name="Freeform 29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01" name="Group 291"/>
              <p:cNvGrpSpPr>
                <a:grpSpLocks/>
              </p:cNvGrpSpPr>
              <p:nvPr/>
            </p:nvGrpSpPr>
            <p:grpSpPr bwMode="auto">
              <a:xfrm>
                <a:off x="761" y="3560"/>
                <a:ext cx="50" cy="22"/>
                <a:chOff x="761" y="3560"/>
                <a:chExt cx="50" cy="22"/>
              </a:xfrm>
            </p:grpSpPr>
            <p:sp>
              <p:nvSpPr>
                <p:cNvPr id="423202" name="Freeform 29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3" name="Freeform 29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4" name="Freeform 29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05" name="Group 295"/>
              <p:cNvGrpSpPr>
                <a:grpSpLocks/>
              </p:cNvGrpSpPr>
              <p:nvPr/>
            </p:nvGrpSpPr>
            <p:grpSpPr bwMode="auto">
              <a:xfrm>
                <a:off x="774" y="3572"/>
                <a:ext cx="49" cy="23"/>
                <a:chOff x="774" y="3572"/>
                <a:chExt cx="49" cy="23"/>
              </a:xfrm>
            </p:grpSpPr>
            <p:sp>
              <p:nvSpPr>
                <p:cNvPr id="423206" name="Freeform 29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7" name="Freeform 29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8" name="Freeform 29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09" name="Group 299"/>
              <p:cNvGrpSpPr>
                <a:grpSpLocks/>
              </p:cNvGrpSpPr>
              <p:nvPr/>
            </p:nvGrpSpPr>
            <p:grpSpPr bwMode="auto">
              <a:xfrm>
                <a:off x="787" y="3585"/>
                <a:ext cx="49" cy="23"/>
                <a:chOff x="787" y="3585"/>
                <a:chExt cx="49" cy="23"/>
              </a:xfrm>
            </p:grpSpPr>
            <p:sp>
              <p:nvSpPr>
                <p:cNvPr id="423210" name="Freeform 30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1" name="Freeform 30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2" name="Freeform 30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13" name="Group 303"/>
              <p:cNvGrpSpPr>
                <a:grpSpLocks/>
              </p:cNvGrpSpPr>
              <p:nvPr/>
            </p:nvGrpSpPr>
            <p:grpSpPr bwMode="auto">
              <a:xfrm>
                <a:off x="799" y="3600"/>
                <a:ext cx="99" cy="73"/>
                <a:chOff x="799" y="3600"/>
                <a:chExt cx="99" cy="73"/>
              </a:xfrm>
            </p:grpSpPr>
            <p:grpSp>
              <p:nvGrpSpPr>
                <p:cNvPr id="423214" name="Group 304"/>
                <p:cNvGrpSpPr>
                  <a:grpSpLocks/>
                </p:cNvGrpSpPr>
                <p:nvPr/>
              </p:nvGrpSpPr>
              <p:grpSpPr bwMode="auto">
                <a:xfrm>
                  <a:off x="799" y="3600"/>
                  <a:ext cx="48" cy="23"/>
                  <a:chOff x="799" y="3600"/>
                  <a:chExt cx="48" cy="23"/>
                </a:xfrm>
              </p:grpSpPr>
              <p:sp>
                <p:nvSpPr>
                  <p:cNvPr id="423215" name="Freeform 30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6" name="Freeform 30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7" name="Freeform 30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18" name="Group 308"/>
                <p:cNvGrpSpPr>
                  <a:grpSpLocks/>
                </p:cNvGrpSpPr>
                <p:nvPr/>
              </p:nvGrpSpPr>
              <p:grpSpPr bwMode="auto">
                <a:xfrm>
                  <a:off x="811" y="3612"/>
                  <a:ext cx="48" cy="23"/>
                  <a:chOff x="811" y="3612"/>
                  <a:chExt cx="48" cy="23"/>
                </a:xfrm>
              </p:grpSpPr>
              <p:sp>
                <p:nvSpPr>
                  <p:cNvPr id="423219" name="Freeform 30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0" name="Freeform 31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1" name="Freeform 31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22" name="Group 312"/>
                <p:cNvGrpSpPr>
                  <a:grpSpLocks/>
                </p:cNvGrpSpPr>
                <p:nvPr/>
              </p:nvGrpSpPr>
              <p:grpSpPr bwMode="auto">
                <a:xfrm>
                  <a:off x="823" y="3625"/>
                  <a:ext cx="49" cy="23"/>
                  <a:chOff x="823" y="3625"/>
                  <a:chExt cx="49" cy="23"/>
                </a:xfrm>
              </p:grpSpPr>
              <p:sp>
                <p:nvSpPr>
                  <p:cNvPr id="423223" name="Freeform 31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4" name="Freeform 31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5" name="Freeform 31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26" name="Group 316"/>
                <p:cNvGrpSpPr>
                  <a:grpSpLocks/>
                </p:cNvGrpSpPr>
                <p:nvPr/>
              </p:nvGrpSpPr>
              <p:grpSpPr bwMode="auto">
                <a:xfrm>
                  <a:off x="836" y="3638"/>
                  <a:ext cx="50" cy="22"/>
                  <a:chOff x="836" y="3638"/>
                  <a:chExt cx="50" cy="22"/>
                </a:xfrm>
              </p:grpSpPr>
              <p:sp>
                <p:nvSpPr>
                  <p:cNvPr id="423227" name="Freeform 31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8" name="Freeform 31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9" name="Freeform 31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30" name="Group 320"/>
                <p:cNvGrpSpPr>
                  <a:grpSpLocks/>
                </p:cNvGrpSpPr>
                <p:nvPr/>
              </p:nvGrpSpPr>
              <p:grpSpPr bwMode="auto">
                <a:xfrm>
                  <a:off x="849" y="3651"/>
                  <a:ext cx="49" cy="22"/>
                  <a:chOff x="849" y="3651"/>
                  <a:chExt cx="49" cy="22"/>
                </a:xfrm>
              </p:grpSpPr>
              <p:sp>
                <p:nvSpPr>
                  <p:cNvPr id="423231" name="Freeform 32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2" name="Freeform 32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3" name="Freeform 32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234" name="Group 324"/>
              <p:cNvGrpSpPr>
                <a:grpSpLocks/>
              </p:cNvGrpSpPr>
              <p:nvPr/>
            </p:nvGrpSpPr>
            <p:grpSpPr bwMode="auto">
              <a:xfrm>
                <a:off x="861" y="3665"/>
                <a:ext cx="99" cy="74"/>
                <a:chOff x="861" y="3665"/>
                <a:chExt cx="99" cy="74"/>
              </a:xfrm>
            </p:grpSpPr>
            <p:grpSp>
              <p:nvGrpSpPr>
                <p:cNvPr id="423235" name="Group 325"/>
                <p:cNvGrpSpPr>
                  <a:grpSpLocks/>
                </p:cNvGrpSpPr>
                <p:nvPr/>
              </p:nvGrpSpPr>
              <p:grpSpPr bwMode="auto">
                <a:xfrm>
                  <a:off x="861" y="3665"/>
                  <a:ext cx="50" cy="23"/>
                  <a:chOff x="861" y="3665"/>
                  <a:chExt cx="50" cy="23"/>
                </a:xfrm>
              </p:grpSpPr>
              <p:sp>
                <p:nvSpPr>
                  <p:cNvPr id="423236" name="Freeform 32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7" name="Freeform 32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8" name="Freeform 32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39" name="Group 329"/>
                <p:cNvGrpSpPr>
                  <a:grpSpLocks/>
                </p:cNvGrpSpPr>
                <p:nvPr/>
              </p:nvGrpSpPr>
              <p:grpSpPr bwMode="auto">
                <a:xfrm>
                  <a:off x="873" y="3678"/>
                  <a:ext cx="49" cy="23"/>
                  <a:chOff x="873" y="3678"/>
                  <a:chExt cx="49" cy="23"/>
                </a:xfrm>
              </p:grpSpPr>
              <p:sp>
                <p:nvSpPr>
                  <p:cNvPr id="423240" name="Freeform 33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1" name="Freeform 33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2" name="Freeform 33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43" name="Group 333"/>
                <p:cNvGrpSpPr>
                  <a:grpSpLocks/>
                </p:cNvGrpSpPr>
                <p:nvPr/>
              </p:nvGrpSpPr>
              <p:grpSpPr bwMode="auto">
                <a:xfrm>
                  <a:off x="886" y="3690"/>
                  <a:ext cx="49" cy="23"/>
                  <a:chOff x="886" y="3690"/>
                  <a:chExt cx="49" cy="23"/>
                </a:xfrm>
              </p:grpSpPr>
              <p:sp>
                <p:nvSpPr>
                  <p:cNvPr id="423244" name="Freeform 33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5" name="Freeform 33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6" name="Freeform 33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47" name="Group 337"/>
                <p:cNvGrpSpPr>
                  <a:grpSpLocks/>
                </p:cNvGrpSpPr>
                <p:nvPr/>
              </p:nvGrpSpPr>
              <p:grpSpPr bwMode="auto">
                <a:xfrm>
                  <a:off x="899" y="3703"/>
                  <a:ext cx="48" cy="23"/>
                  <a:chOff x="899" y="3703"/>
                  <a:chExt cx="48" cy="23"/>
                </a:xfrm>
              </p:grpSpPr>
              <p:sp>
                <p:nvSpPr>
                  <p:cNvPr id="423248" name="Freeform 33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9" name="Freeform 33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0" name="Freeform 34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51" name="Group 341"/>
                <p:cNvGrpSpPr>
                  <a:grpSpLocks/>
                </p:cNvGrpSpPr>
                <p:nvPr/>
              </p:nvGrpSpPr>
              <p:grpSpPr bwMode="auto">
                <a:xfrm>
                  <a:off x="912" y="3716"/>
                  <a:ext cx="48" cy="23"/>
                  <a:chOff x="912" y="3716"/>
                  <a:chExt cx="48" cy="23"/>
                </a:xfrm>
              </p:grpSpPr>
              <p:sp>
                <p:nvSpPr>
                  <p:cNvPr id="423252" name="Freeform 34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3" name="Freeform 34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4" name="Freeform 34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255" name="Group 345"/>
              <p:cNvGrpSpPr>
                <a:grpSpLocks/>
              </p:cNvGrpSpPr>
              <p:nvPr/>
            </p:nvGrpSpPr>
            <p:grpSpPr bwMode="auto">
              <a:xfrm>
                <a:off x="922" y="3727"/>
                <a:ext cx="49" cy="23"/>
                <a:chOff x="922" y="3727"/>
                <a:chExt cx="49" cy="23"/>
              </a:xfrm>
            </p:grpSpPr>
            <p:sp>
              <p:nvSpPr>
                <p:cNvPr id="423256" name="Freeform 34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7" name="Freeform 34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8" name="Freeform 34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59" name="Group 349"/>
              <p:cNvGrpSpPr>
                <a:grpSpLocks/>
              </p:cNvGrpSpPr>
              <p:nvPr/>
            </p:nvGrpSpPr>
            <p:grpSpPr bwMode="auto">
              <a:xfrm>
                <a:off x="895" y="3526"/>
                <a:ext cx="44" cy="23"/>
                <a:chOff x="895" y="3526"/>
                <a:chExt cx="44" cy="23"/>
              </a:xfrm>
            </p:grpSpPr>
            <p:sp>
              <p:nvSpPr>
                <p:cNvPr id="423260" name="Freeform 35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1" name="Freeform 35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2" name="Freeform 35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63" name="Group 353"/>
              <p:cNvGrpSpPr>
                <a:grpSpLocks/>
              </p:cNvGrpSpPr>
              <p:nvPr/>
            </p:nvGrpSpPr>
            <p:grpSpPr bwMode="auto">
              <a:xfrm>
                <a:off x="907" y="3540"/>
                <a:ext cx="45" cy="22"/>
                <a:chOff x="907" y="3540"/>
                <a:chExt cx="45" cy="22"/>
              </a:xfrm>
            </p:grpSpPr>
            <p:sp>
              <p:nvSpPr>
                <p:cNvPr id="423264" name="Freeform 35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5" name="Freeform 35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6" name="Freeform 35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67" name="Group 357"/>
              <p:cNvGrpSpPr>
                <a:grpSpLocks/>
              </p:cNvGrpSpPr>
              <p:nvPr/>
            </p:nvGrpSpPr>
            <p:grpSpPr bwMode="auto">
              <a:xfrm>
                <a:off x="920" y="3553"/>
                <a:ext cx="45" cy="23"/>
                <a:chOff x="920" y="3553"/>
                <a:chExt cx="45" cy="23"/>
              </a:xfrm>
            </p:grpSpPr>
            <p:sp>
              <p:nvSpPr>
                <p:cNvPr id="423268" name="Freeform 35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9" name="Freeform 35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0" name="Freeform 36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71" name="Group 361"/>
              <p:cNvGrpSpPr>
                <a:grpSpLocks/>
              </p:cNvGrpSpPr>
              <p:nvPr/>
            </p:nvGrpSpPr>
            <p:grpSpPr bwMode="auto">
              <a:xfrm>
                <a:off x="934" y="3566"/>
                <a:ext cx="44" cy="23"/>
                <a:chOff x="934" y="3566"/>
                <a:chExt cx="44" cy="23"/>
              </a:xfrm>
            </p:grpSpPr>
            <p:sp>
              <p:nvSpPr>
                <p:cNvPr id="423272" name="Freeform 36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3" name="Freeform 36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4" name="Freeform 36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75" name="Group 365"/>
              <p:cNvGrpSpPr>
                <a:grpSpLocks/>
              </p:cNvGrpSpPr>
              <p:nvPr/>
            </p:nvGrpSpPr>
            <p:grpSpPr bwMode="auto">
              <a:xfrm>
                <a:off x="949" y="3579"/>
                <a:ext cx="83" cy="63"/>
                <a:chOff x="949" y="3579"/>
                <a:chExt cx="83" cy="63"/>
              </a:xfrm>
            </p:grpSpPr>
            <p:grpSp>
              <p:nvGrpSpPr>
                <p:cNvPr id="423276" name="Group 366"/>
                <p:cNvGrpSpPr>
                  <a:grpSpLocks/>
                </p:cNvGrpSpPr>
                <p:nvPr/>
              </p:nvGrpSpPr>
              <p:grpSpPr bwMode="auto">
                <a:xfrm>
                  <a:off x="949" y="3579"/>
                  <a:ext cx="44" cy="23"/>
                  <a:chOff x="949" y="3579"/>
                  <a:chExt cx="44" cy="23"/>
                </a:xfrm>
              </p:grpSpPr>
              <p:sp>
                <p:nvSpPr>
                  <p:cNvPr id="423277" name="Freeform 36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8" name="Freeform 36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9" name="Freeform 36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80" name="Group 370"/>
                <p:cNvGrpSpPr>
                  <a:grpSpLocks/>
                </p:cNvGrpSpPr>
                <p:nvPr/>
              </p:nvGrpSpPr>
              <p:grpSpPr bwMode="auto">
                <a:xfrm>
                  <a:off x="961" y="3592"/>
                  <a:ext cx="45" cy="23"/>
                  <a:chOff x="961" y="3592"/>
                  <a:chExt cx="45" cy="23"/>
                </a:xfrm>
              </p:grpSpPr>
              <p:sp>
                <p:nvSpPr>
                  <p:cNvPr id="423281" name="Freeform 37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2" name="Freeform 37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3" name="Freeform 37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84" name="Group 374"/>
                <p:cNvGrpSpPr>
                  <a:grpSpLocks/>
                </p:cNvGrpSpPr>
                <p:nvPr/>
              </p:nvGrpSpPr>
              <p:grpSpPr bwMode="auto">
                <a:xfrm>
                  <a:off x="974" y="3606"/>
                  <a:ext cx="44" cy="23"/>
                  <a:chOff x="974" y="3606"/>
                  <a:chExt cx="44" cy="23"/>
                </a:xfrm>
              </p:grpSpPr>
              <p:sp>
                <p:nvSpPr>
                  <p:cNvPr id="423285" name="Freeform 37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6" name="Freeform 37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7" name="Freeform 37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88" name="Group 378"/>
                <p:cNvGrpSpPr>
                  <a:grpSpLocks/>
                </p:cNvGrpSpPr>
                <p:nvPr/>
              </p:nvGrpSpPr>
              <p:grpSpPr bwMode="auto">
                <a:xfrm>
                  <a:off x="987" y="3619"/>
                  <a:ext cx="45" cy="23"/>
                  <a:chOff x="987" y="3619"/>
                  <a:chExt cx="45" cy="23"/>
                </a:xfrm>
              </p:grpSpPr>
              <p:sp>
                <p:nvSpPr>
                  <p:cNvPr id="423289" name="Freeform 37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0" name="Freeform 38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1" name="Freeform 38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292" name="Group 382"/>
              <p:cNvGrpSpPr>
                <a:grpSpLocks/>
              </p:cNvGrpSpPr>
              <p:nvPr/>
            </p:nvGrpSpPr>
            <p:grpSpPr bwMode="auto">
              <a:xfrm>
                <a:off x="1002" y="3632"/>
                <a:ext cx="83" cy="63"/>
                <a:chOff x="1002" y="3632"/>
                <a:chExt cx="83" cy="63"/>
              </a:xfrm>
            </p:grpSpPr>
            <p:grpSp>
              <p:nvGrpSpPr>
                <p:cNvPr id="423293" name="Group 383"/>
                <p:cNvGrpSpPr>
                  <a:grpSpLocks/>
                </p:cNvGrpSpPr>
                <p:nvPr/>
              </p:nvGrpSpPr>
              <p:grpSpPr bwMode="auto">
                <a:xfrm>
                  <a:off x="1002" y="3632"/>
                  <a:ext cx="44" cy="22"/>
                  <a:chOff x="1002" y="3632"/>
                  <a:chExt cx="44" cy="22"/>
                </a:xfrm>
              </p:grpSpPr>
              <p:sp>
                <p:nvSpPr>
                  <p:cNvPr id="423294" name="Freeform 38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5" name="Freeform 38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6" name="Freeform 38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97" name="Group 387"/>
                <p:cNvGrpSpPr>
                  <a:grpSpLocks/>
                </p:cNvGrpSpPr>
                <p:nvPr/>
              </p:nvGrpSpPr>
              <p:grpSpPr bwMode="auto">
                <a:xfrm>
                  <a:off x="1014" y="3645"/>
                  <a:ext cx="44" cy="23"/>
                  <a:chOff x="1014" y="3645"/>
                  <a:chExt cx="44" cy="23"/>
                </a:xfrm>
              </p:grpSpPr>
              <p:sp>
                <p:nvSpPr>
                  <p:cNvPr id="423298" name="Freeform 38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9" name="Freeform 38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0" name="Freeform 39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01" name="Group 391"/>
                <p:cNvGrpSpPr>
                  <a:grpSpLocks/>
                </p:cNvGrpSpPr>
                <p:nvPr/>
              </p:nvGrpSpPr>
              <p:grpSpPr bwMode="auto">
                <a:xfrm>
                  <a:off x="1027" y="3659"/>
                  <a:ext cx="45" cy="23"/>
                  <a:chOff x="1027" y="3659"/>
                  <a:chExt cx="45" cy="23"/>
                </a:xfrm>
              </p:grpSpPr>
              <p:sp>
                <p:nvSpPr>
                  <p:cNvPr id="423302" name="Freeform 39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3" name="Freeform 39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4" name="Freeform 39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05" name="Group 395"/>
                <p:cNvGrpSpPr>
                  <a:grpSpLocks/>
                </p:cNvGrpSpPr>
                <p:nvPr/>
              </p:nvGrpSpPr>
              <p:grpSpPr bwMode="auto">
                <a:xfrm>
                  <a:off x="1040" y="3672"/>
                  <a:ext cx="45" cy="23"/>
                  <a:chOff x="1040" y="3672"/>
                  <a:chExt cx="45" cy="23"/>
                </a:xfrm>
              </p:grpSpPr>
              <p:sp>
                <p:nvSpPr>
                  <p:cNvPr id="423306" name="Freeform 39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7" name="Freeform 39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8" name="Freeform 39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309" name="Group 399"/>
              <p:cNvGrpSpPr>
                <a:grpSpLocks/>
              </p:cNvGrpSpPr>
              <p:nvPr/>
            </p:nvGrpSpPr>
            <p:grpSpPr bwMode="auto">
              <a:xfrm>
                <a:off x="1054" y="3685"/>
                <a:ext cx="45" cy="23"/>
                <a:chOff x="1054" y="3685"/>
                <a:chExt cx="45" cy="23"/>
              </a:xfrm>
            </p:grpSpPr>
            <p:sp>
              <p:nvSpPr>
                <p:cNvPr id="423310" name="Freeform 40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1" name="Freeform 40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2" name="Freeform 40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13" name="Group 403"/>
              <p:cNvGrpSpPr>
                <a:grpSpLocks/>
              </p:cNvGrpSpPr>
              <p:nvPr/>
            </p:nvGrpSpPr>
            <p:grpSpPr bwMode="auto">
              <a:xfrm>
                <a:off x="1067" y="3698"/>
                <a:ext cx="45" cy="23"/>
                <a:chOff x="1067" y="3698"/>
                <a:chExt cx="45" cy="23"/>
              </a:xfrm>
            </p:grpSpPr>
            <p:sp>
              <p:nvSpPr>
                <p:cNvPr id="423314" name="Freeform 40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5" name="Freeform 40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6" name="Freeform 40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17" name="Group 407"/>
              <p:cNvGrpSpPr>
                <a:grpSpLocks/>
              </p:cNvGrpSpPr>
              <p:nvPr/>
            </p:nvGrpSpPr>
            <p:grpSpPr bwMode="auto">
              <a:xfrm>
                <a:off x="1079" y="3712"/>
                <a:ext cx="44" cy="23"/>
                <a:chOff x="1079" y="3712"/>
                <a:chExt cx="44" cy="23"/>
              </a:xfrm>
            </p:grpSpPr>
            <p:sp>
              <p:nvSpPr>
                <p:cNvPr id="423318" name="Freeform 40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9" name="Freeform 40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0" name="Freeform 41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21" name="Group 411"/>
              <p:cNvGrpSpPr>
                <a:grpSpLocks/>
              </p:cNvGrpSpPr>
              <p:nvPr/>
            </p:nvGrpSpPr>
            <p:grpSpPr bwMode="auto">
              <a:xfrm>
                <a:off x="1093" y="3725"/>
                <a:ext cx="45" cy="23"/>
                <a:chOff x="1093" y="3725"/>
                <a:chExt cx="45" cy="23"/>
              </a:xfrm>
            </p:grpSpPr>
            <p:sp>
              <p:nvSpPr>
                <p:cNvPr id="423322" name="Freeform 41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3" name="Freeform 41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4" name="Freeform 41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25" name="Group 415"/>
              <p:cNvGrpSpPr>
                <a:grpSpLocks/>
              </p:cNvGrpSpPr>
              <p:nvPr/>
            </p:nvGrpSpPr>
            <p:grpSpPr bwMode="auto">
              <a:xfrm>
                <a:off x="1108" y="3739"/>
                <a:ext cx="44" cy="23"/>
                <a:chOff x="1108" y="3739"/>
                <a:chExt cx="44" cy="23"/>
              </a:xfrm>
            </p:grpSpPr>
            <p:sp>
              <p:nvSpPr>
                <p:cNvPr id="423326" name="Freeform 41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7" name="Freeform 41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8" name="Freeform 41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29" name="Group 419"/>
              <p:cNvGrpSpPr>
                <a:grpSpLocks/>
              </p:cNvGrpSpPr>
              <p:nvPr/>
            </p:nvGrpSpPr>
            <p:grpSpPr bwMode="auto">
              <a:xfrm>
                <a:off x="1121" y="3753"/>
                <a:ext cx="45" cy="23"/>
                <a:chOff x="1121" y="3753"/>
                <a:chExt cx="45" cy="23"/>
              </a:xfrm>
            </p:grpSpPr>
            <p:sp>
              <p:nvSpPr>
                <p:cNvPr id="423330" name="Freeform 42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1" name="Freeform 42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2" name="Freeform 42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33" name="Group 423"/>
              <p:cNvGrpSpPr>
                <a:grpSpLocks/>
              </p:cNvGrpSpPr>
              <p:nvPr/>
            </p:nvGrpSpPr>
            <p:grpSpPr bwMode="auto">
              <a:xfrm>
                <a:off x="1133" y="3767"/>
                <a:ext cx="44" cy="23"/>
                <a:chOff x="1133" y="3767"/>
                <a:chExt cx="44" cy="23"/>
              </a:xfrm>
            </p:grpSpPr>
            <p:sp>
              <p:nvSpPr>
                <p:cNvPr id="423334" name="Freeform 42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5" name="Freeform 42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6" name="Freeform 42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337" name="Freeform 42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8" name="Freeform 42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9" name="Freeform 42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0" name="Freeform 43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1" name="Freeform 43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2" name="Freeform 43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3" name="Freeform 43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4" name="Freeform 43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5" name="Freeform 43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6" name="Freeform 43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7" name="Freeform 43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3348" name="Group 438"/>
              <p:cNvGrpSpPr>
                <a:grpSpLocks/>
              </p:cNvGrpSpPr>
              <p:nvPr/>
            </p:nvGrpSpPr>
            <p:grpSpPr bwMode="auto">
              <a:xfrm>
                <a:off x="700" y="3535"/>
                <a:ext cx="49" cy="24"/>
                <a:chOff x="700" y="3535"/>
                <a:chExt cx="49" cy="24"/>
              </a:xfrm>
            </p:grpSpPr>
            <p:sp>
              <p:nvSpPr>
                <p:cNvPr id="423349" name="Freeform 43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0" name="Freeform 44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1" name="Freeform 44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52" name="Group 442"/>
              <p:cNvGrpSpPr>
                <a:grpSpLocks/>
              </p:cNvGrpSpPr>
              <p:nvPr/>
            </p:nvGrpSpPr>
            <p:grpSpPr bwMode="auto">
              <a:xfrm>
                <a:off x="714" y="3551"/>
                <a:ext cx="49" cy="22"/>
                <a:chOff x="714" y="3551"/>
                <a:chExt cx="49" cy="22"/>
              </a:xfrm>
            </p:grpSpPr>
            <p:sp>
              <p:nvSpPr>
                <p:cNvPr id="423353" name="Freeform 44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4" name="Freeform 44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5" name="Freeform 44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56" name="Group 446"/>
              <p:cNvGrpSpPr>
                <a:grpSpLocks/>
              </p:cNvGrpSpPr>
              <p:nvPr/>
            </p:nvGrpSpPr>
            <p:grpSpPr bwMode="auto">
              <a:xfrm>
                <a:off x="728" y="3564"/>
                <a:ext cx="48" cy="23"/>
                <a:chOff x="728" y="3564"/>
                <a:chExt cx="48" cy="23"/>
              </a:xfrm>
            </p:grpSpPr>
            <p:sp>
              <p:nvSpPr>
                <p:cNvPr id="423357" name="Freeform 44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8" name="Freeform 44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9" name="Freeform 44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60" name="Group 450"/>
              <p:cNvGrpSpPr>
                <a:grpSpLocks/>
              </p:cNvGrpSpPr>
              <p:nvPr/>
            </p:nvGrpSpPr>
            <p:grpSpPr bwMode="auto">
              <a:xfrm>
                <a:off x="742" y="3582"/>
                <a:ext cx="49" cy="23"/>
                <a:chOff x="742" y="3582"/>
                <a:chExt cx="49" cy="23"/>
              </a:xfrm>
            </p:grpSpPr>
            <p:sp>
              <p:nvSpPr>
                <p:cNvPr id="423361" name="Freeform 45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2" name="Freeform 45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3" name="Freeform 45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64" name="Group 454"/>
              <p:cNvGrpSpPr>
                <a:grpSpLocks/>
              </p:cNvGrpSpPr>
              <p:nvPr/>
            </p:nvGrpSpPr>
            <p:grpSpPr bwMode="auto">
              <a:xfrm>
                <a:off x="752" y="3597"/>
                <a:ext cx="133" cy="106"/>
                <a:chOff x="752" y="3597"/>
                <a:chExt cx="133" cy="106"/>
              </a:xfrm>
            </p:grpSpPr>
            <p:sp>
              <p:nvSpPr>
                <p:cNvPr id="423365" name="Freeform 45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6" name="Freeform 45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7" name="Freeform 45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68" name="Group 458"/>
              <p:cNvGrpSpPr>
                <a:grpSpLocks/>
              </p:cNvGrpSpPr>
              <p:nvPr/>
            </p:nvGrpSpPr>
            <p:grpSpPr bwMode="auto">
              <a:xfrm>
                <a:off x="844" y="3694"/>
                <a:ext cx="48" cy="23"/>
                <a:chOff x="844" y="3694"/>
                <a:chExt cx="48" cy="23"/>
              </a:xfrm>
            </p:grpSpPr>
            <p:sp>
              <p:nvSpPr>
                <p:cNvPr id="423369" name="Freeform 45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0" name="Freeform 46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1" name="Freeform 46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72" name="Group 462"/>
              <p:cNvGrpSpPr>
                <a:grpSpLocks/>
              </p:cNvGrpSpPr>
              <p:nvPr/>
            </p:nvGrpSpPr>
            <p:grpSpPr bwMode="auto">
              <a:xfrm>
                <a:off x="857" y="3710"/>
                <a:ext cx="49" cy="22"/>
                <a:chOff x="857" y="3710"/>
                <a:chExt cx="49" cy="22"/>
              </a:xfrm>
            </p:grpSpPr>
            <p:sp>
              <p:nvSpPr>
                <p:cNvPr id="423373" name="Freeform 46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4" name="Freeform 46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5" name="Freeform 46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76" name="Group 466"/>
              <p:cNvGrpSpPr>
                <a:grpSpLocks/>
              </p:cNvGrpSpPr>
              <p:nvPr/>
            </p:nvGrpSpPr>
            <p:grpSpPr bwMode="auto">
              <a:xfrm>
                <a:off x="1086" y="3766"/>
                <a:ext cx="49" cy="23"/>
                <a:chOff x="1086" y="3766"/>
                <a:chExt cx="49" cy="23"/>
              </a:xfrm>
            </p:grpSpPr>
            <p:sp>
              <p:nvSpPr>
                <p:cNvPr id="423377" name="Freeform 46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8" name="Freeform 46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9" name="Freeform 46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80" name="Group 470"/>
              <p:cNvGrpSpPr>
                <a:grpSpLocks/>
              </p:cNvGrpSpPr>
              <p:nvPr/>
            </p:nvGrpSpPr>
            <p:grpSpPr bwMode="auto">
              <a:xfrm>
                <a:off x="934" y="3740"/>
                <a:ext cx="48" cy="23"/>
                <a:chOff x="934" y="3740"/>
                <a:chExt cx="48" cy="23"/>
              </a:xfrm>
            </p:grpSpPr>
            <p:sp>
              <p:nvSpPr>
                <p:cNvPr id="423381" name="Freeform 47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2" name="Freeform 47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3" name="Freeform 47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84" name="Group 474"/>
              <p:cNvGrpSpPr>
                <a:grpSpLocks/>
              </p:cNvGrpSpPr>
              <p:nvPr/>
            </p:nvGrpSpPr>
            <p:grpSpPr bwMode="auto">
              <a:xfrm>
                <a:off x="943" y="3754"/>
                <a:ext cx="49" cy="23"/>
                <a:chOff x="943" y="3754"/>
                <a:chExt cx="49" cy="23"/>
              </a:xfrm>
            </p:grpSpPr>
            <p:sp>
              <p:nvSpPr>
                <p:cNvPr id="423385" name="Freeform 47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6" name="Freeform 47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7" name="Freeform 47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388" name="Freeform 47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9" name="Freeform 47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0" name="Freeform 48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91" name="Group 481"/>
            <p:cNvGrpSpPr>
              <a:grpSpLocks/>
            </p:cNvGrpSpPr>
            <p:nvPr/>
          </p:nvGrpSpPr>
          <p:grpSpPr bwMode="auto">
            <a:xfrm>
              <a:off x="920" y="3821"/>
              <a:ext cx="413" cy="50"/>
              <a:chOff x="920" y="3821"/>
              <a:chExt cx="413" cy="50"/>
            </a:xfrm>
          </p:grpSpPr>
          <p:sp>
            <p:nvSpPr>
              <p:cNvPr id="423392" name="Freeform 48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393" name="Freeform 48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4" name="Rectangle 48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5" name="Rectangle 48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黑体" panose="02010609060101010101" pitchFamily="49" charset="-122"/>
                </a:endParaRPr>
              </a:p>
            </p:txBody>
          </p:sp>
        </p:grpSp>
        <p:grpSp>
          <p:nvGrpSpPr>
            <p:cNvPr id="423396" name="Group 486"/>
            <p:cNvGrpSpPr>
              <a:grpSpLocks/>
            </p:cNvGrpSpPr>
            <p:nvPr/>
          </p:nvGrpSpPr>
          <p:grpSpPr bwMode="auto">
            <a:xfrm>
              <a:off x="1227" y="3477"/>
              <a:ext cx="508" cy="321"/>
              <a:chOff x="1227" y="3477"/>
              <a:chExt cx="508" cy="321"/>
            </a:xfrm>
          </p:grpSpPr>
          <p:sp>
            <p:nvSpPr>
              <p:cNvPr id="423397" name="Freeform 48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398" name="Freeform 48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9" name="Freeform 48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0" name="Line 49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01" name="Freeform 49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2" name="Freeform 49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3" name="Freeform 49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4" name="Freeform 49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5" name="Freeform 49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6" name="Freeform 49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7" name="Freeform 49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8" name="Freeform 49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9" name="Freeform 49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10" name="Freeform 50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11" name="Oval 50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2" name="Oval 50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3" name="Freeform 50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4" name="Oval 50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5" name="Oval 50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416" name="Group 506"/>
          <p:cNvGrpSpPr>
            <a:grpSpLocks/>
          </p:cNvGrpSpPr>
          <p:nvPr/>
        </p:nvGrpSpPr>
        <p:grpSpPr bwMode="auto">
          <a:xfrm>
            <a:off x="7631113" y="2251075"/>
            <a:ext cx="1222375" cy="781050"/>
            <a:chOff x="1680" y="240"/>
            <a:chExt cx="2529" cy="1270"/>
          </a:xfrm>
        </p:grpSpPr>
        <p:sp>
          <p:nvSpPr>
            <p:cNvPr id="423417" name="Oval 507"/>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8" name="Oval 508"/>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9" name="Oval 509"/>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0" name="Oval 510"/>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1" name="Oval 511"/>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2" name="Oval 512"/>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3" name="Oval 513"/>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4" name="Oval 514"/>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5" name="Oval 515"/>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426" name="Text Box 516"/>
          <p:cNvSpPr txBox="1">
            <a:spLocks noChangeArrowheads="1"/>
          </p:cNvSpPr>
          <p:nvPr/>
        </p:nvSpPr>
        <p:spPr bwMode="auto">
          <a:xfrm>
            <a:off x="7878763" y="24399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sp>
        <p:nvSpPr>
          <p:cNvPr id="138757" name="Line 517"/>
          <p:cNvSpPr>
            <a:spLocks noChangeShapeType="1"/>
          </p:cNvSpPr>
          <p:nvPr/>
        </p:nvSpPr>
        <p:spPr bwMode="auto">
          <a:xfrm flipV="1">
            <a:off x="1176338" y="2317750"/>
            <a:ext cx="1327150" cy="360363"/>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58" name="Line 518"/>
          <p:cNvSpPr>
            <a:spLocks noChangeShapeType="1"/>
          </p:cNvSpPr>
          <p:nvPr/>
        </p:nvSpPr>
        <p:spPr bwMode="auto">
          <a:xfrm flipV="1">
            <a:off x="5435600" y="2330450"/>
            <a:ext cx="1522413" cy="115888"/>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59" name="Line 519"/>
          <p:cNvSpPr>
            <a:spLocks noChangeShapeType="1"/>
          </p:cNvSpPr>
          <p:nvPr/>
        </p:nvSpPr>
        <p:spPr bwMode="auto">
          <a:xfrm>
            <a:off x="7608888" y="2376488"/>
            <a:ext cx="1719262" cy="261937"/>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60" name="Line 520"/>
          <p:cNvSpPr>
            <a:spLocks noChangeShapeType="1"/>
          </p:cNvSpPr>
          <p:nvPr/>
        </p:nvSpPr>
        <p:spPr bwMode="auto">
          <a:xfrm>
            <a:off x="3198813" y="2287588"/>
            <a:ext cx="1671637" cy="142875"/>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61" name="Text Box 521"/>
          <p:cNvSpPr txBox="1">
            <a:spLocks noChangeArrowheads="1"/>
          </p:cNvSpPr>
          <p:nvPr/>
        </p:nvSpPr>
        <p:spPr bwMode="auto">
          <a:xfrm>
            <a:off x="2752725" y="1196975"/>
            <a:ext cx="4211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主机</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向</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2</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发送数据</a:t>
            </a:r>
            <a:endParaRPr lang="zh-CN" altLang="en-US" sz="3200" b="1" baseline="-25000">
              <a:solidFill>
                <a:srgbClr val="000099"/>
              </a:solidFill>
              <a:ea typeface="黑体" panose="02010609060101010101" pitchFamily="49" charset="-122"/>
            </a:endParaRPr>
          </a:p>
        </p:txBody>
      </p:sp>
      <p:grpSp>
        <p:nvGrpSpPr>
          <p:cNvPr id="138827" name="Group 587"/>
          <p:cNvGrpSpPr>
            <a:grpSpLocks/>
          </p:cNvGrpSpPr>
          <p:nvPr/>
        </p:nvGrpSpPr>
        <p:grpSpPr bwMode="auto">
          <a:xfrm>
            <a:off x="322263" y="3386138"/>
            <a:ext cx="9455150" cy="2419350"/>
            <a:chOff x="158" y="2405"/>
            <a:chExt cx="5498" cy="1524"/>
          </a:xfrm>
        </p:grpSpPr>
        <p:sp>
          <p:nvSpPr>
            <p:cNvPr id="423433"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4" name="Freeform 525"/>
            <p:cNvSpPr>
              <a:spLocks noChangeArrowheads="1"/>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5" name="Freeform 528"/>
            <p:cNvSpPr>
              <a:spLocks noChangeArrowheads="1"/>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6" name="Freeform 526"/>
            <p:cNvSpPr>
              <a:spLocks noChangeArrowheads="1"/>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7" name="Freeform 527"/>
            <p:cNvSpPr>
              <a:spLocks noChangeArrowheads="1"/>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8" name="Rectangle 529"/>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9" name="Text Box 530"/>
            <p:cNvSpPr txBox="1">
              <a:spLocks noChangeArrowheads="1"/>
            </p:cNvSpPr>
            <p:nvPr/>
          </p:nvSpPr>
          <p:spPr bwMode="auto">
            <a:xfrm>
              <a:off x="15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40" name="Text Box 531"/>
            <p:cNvSpPr txBox="1">
              <a:spLocks noChangeArrowheads="1"/>
            </p:cNvSpPr>
            <p:nvPr/>
          </p:nvSpPr>
          <p:spPr bwMode="auto">
            <a:xfrm>
              <a:off x="160"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3441" name="Text Box 532"/>
            <p:cNvSpPr txBox="1">
              <a:spLocks noChangeArrowheads="1"/>
            </p:cNvSpPr>
            <p:nvPr/>
          </p:nvSpPr>
          <p:spPr bwMode="auto">
            <a:xfrm>
              <a:off x="158"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3442" name="Text Box 533"/>
            <p:cNvSpPr txBox="1">
              <a:spLocks noChangeArrowheads="1"/>
            </p:cNvSpPr>
            <p:nvPr/>
          </p:nvSpPr>
          <p:spPr bwMode="auto">
            <a:xfrm>
              <a:off x="15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43" name="Text Box 534"/>
            <p:cNvSpPr txBox="1">
              <a:spLocks noChangeArrowheads="1"/>
            </p:cNvSpPr>
            <p:nvPr/>
          </p:nvSpPr>
          <p:spPr bwMode="auto">
            <a:xfrm>
              <a:off x="15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44"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5" name="Freeform 537"/>
            <p:cNvSpPr>
              <a:spLocks noChangeArrowheads="1"/>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6" name="Freeform 538"/>
            <p:cNvSpPr>
              <a:spLocks noChangeArrowheads="1"/>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7" name="Freeform 539"/>
            <p:cNvSpPr>
              <a:spLocks noChangeArrowheads="1"/>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8" name="Freeform 540"/>
            <p:cNvSpPr>
              <a:spLocks noChangeArrowheads="1"/>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9" name="Rectangle 541"/>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0" name="Text Box 542"/>
            <p:cNvSpPr txBox="1">
              <a:spLocks noChangeArrowheads="1"/>
            </p:cNvSpPr>
            <p:nvPr/>
          </p:nvSpPr>
          <p:spPr bwMode="auto">
            <a:xfrm>
              <a:off x="5057" y="3339"/>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黑体" panose="02010609060101010101" pitchFamily="49" charset="-122"/>
                </a:rPr>
                <a:t>链路层</a:t>
              </a:r>
            </a:p>
          </p:txBody>
        </p:sp>
        <p:sp>
          <p:nvSpPr>
            <p:cNvPr id="423451" name="Text Box 543"/>
            <p:cNvSpPr txBox="1">
              <a:spLocks noChangeArrowheads="1"/>
            </p:cNvSpPr>
            <p:nvPr/>
          </p:nvSpPr>
          <p:spPr bwMode="auto">
            <a:xfrm>
              <a:off x="5059"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3452" name="Text Box 544"/>
            <p:cNvSpPr txBox="1">
              <a:spLocks noChangeArrowheads="1"/>
            </p:cNvSpPr>
            <p:nvPr/>
          </p:nvSpPr>
          <p:spPr bwMode="auto">
            <a:xfrm>
              <a:off x="5057"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3453" name="Text Box 545"/>
            <p:cNvSpPr txBox="1">
              <a:spLocks noChangeArrowheads="1"/>
            </p:cNvSpPr>
            <p:nvPr/>
          </p:nvSpPr>
          <p:spPr bwMode="auto">
            <a:xfrm>
              <a:off x="5057"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54" name="Text Box 546"/>
            <p:cNvSpPr txBox="1">
              <a:spLocks noChangeArrowheads="1"/>
            </p:cNvSpPr>
            <p:nvPr/>
          </p:nvSpPr>
          <p:spPr bwMode="auto">
            <a:xfrm>
              <a:off x="5057"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55"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6" name="Freeform 548"/>
            <p:cNvSpPr>
              <a:spLocks noChangeArrowheads="1"/>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7" name="Rectangle 549"/>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8" name="Freeform 550"/>
            <p:cNvSpPr>
              <a:spLocks noChangeArrowheads="1"/>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9" name="Text Box 551"/>
            <p:cNvSpPr txBox="1">
              <a:spLocks noChangeArrowheads="1"/>
            </p:cNvSpPr>
            <p:nvPr/>
          </p:nvSpPr>
          <p:spPr bwMode="auto">
            <a:xfrm>
              <a:off x="137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60" name="Text Box 552"/>
            <p:cNvSpPr txBox="1">
              <a:spLocks noChangeArrowheads="1"/>
            </p:cNvSpPr>
            <p:nvPr/>
          </p:nvSpPr>
          <p:spPr bwMode="auto">
            <a:xfrm>
              <a:off x="137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61" name="Text Box 553"/>
            <p:cNvSpPr txBox="1">
              <a:spLocks noChangeArrowheads="1"/>
            </p:cNvSpPr>
            <p:nvPr/>
          </p:nvSpPr>
          <p:spPr bwMode="auto">
            <a:xfrm>
              <a:off x="137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62"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3" name="Freeform 555"/>
            <p:cNvSpPr>
              <a:spLocks noChangeArrowheads="1"/>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4" name="Rectangle 556"/>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5" name="Freeform 557"/>
            <p:cNvSpPr>
              <a:spLocks noChangeArrowheads="1"/>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6" name="Text Box 558"/>
            <p:cNvSpPr txBox="1">
              <a:spLocks noChangeArrowheads="1"/>
            </p:cNvSpPr>
            <p:nvPr/>
          </p:nvSpPr>
          <p:spPr bwMode="auto">
            <a:xfrm>
              <a:off x="269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67" name="Text Box 559"/>
            <p:cNvSpPr txBox="1">
              <a:spLocks noChangeArrowheads="1"/>
            </p:cNvSpPr>
            <p:nvPr/>
          </p:nvSpPr>
          <p:spPr bwMode="auto">
            <a:xfrm>
              <a:off x="269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68" name="Text Box 560"/>
            <p:cNvSpPr txBox="1">
              <a:spLocks noChangeArrowheads="1"/>
            </p:cNvSpPr>
            <p:nvPr/>
          </p:nvSpPr>
          <p:spPr bwMode="auto">
            <a:xfrm>
              <a:off x="269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69"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0" name="Freeform 562"/>
            <p:cNvSpPr>
              <a:spLocks noChangeArrowheads="1"/>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1" name="Rectangle 563"/>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2" name="Freeform 564"/>
            <p:cNvSpPr>
              <a:spLocks noChangeArrowheads="1"/>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3" name="Text Box 565"/>
            <p:cNvSpPr txBox="1">
              <a:spLocks noChangeArrowheads="1"/>
            </p:cNvSpPr>
            <p:nvPr/>
          </p:nvSpPr>
          <p:spPr bwMode="auto">
            <a:xfrm>
              <a:off x="387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74" name="Text Box 566"/>
            <p:cNvSpPr txBox="1">
              <a:spLocks noChangeArrowheads="1"/>
            </p:cNvSpPr>
            <p:nvPr/>
          </p:nvSpPr>
          <p:spPr bwMode="auto">
            <a:xfrm>
              <a:off x="387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75" name="Text Box 567"/>
            <p:cNvSpPr txBox="1">
              <a:spLocks noChangeArrowheads="1"/>
            </p:cNvSpPr>
            <p:nvPr/>
          </p:nvSpPr>
          <p:spPr bwMode="auto">
            <a:xfrm>
              <a:off x="387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76" name="Freeform 572"/>
            <p:cNvSpPr>
              <a:spLocks noChangeArrowheads="1"/>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77" name="Freeform 573"/>
            <p:cNvSpPr>
              <a:spLocks noChangeArrowheads="1"/>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78" name="Freeform 574"/>
            <p:cNvSpPr>
              <a:spLocks noChangeArrowheads="1"/>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79" name="Freeform 575"/>
            <p:cNvSpPr>
              <a:spLocks noChangeArrowheads="1"/>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80" name="Text Box 576"/>
            <p:cNvSpPr txBox="1">
              <a:spLocks noChangeArrowheads="1"/>
            </p:cNvSpPr>
            <p:nvPr/>
          </p:nvSpPr>
          <p:spPr bwMode="auto">
            <a:xfrm>
              <a:off x="1531"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3481" name="Text Box 577"/>
            <p:cNvSpPr txBox="1">
              <a:spLocks noChangeArrowheads="1"/>
            </p:cNvSpPr>
            <p:nvPr/>
          </p:nvSpPr>
          <p:spPr bwMode="auto">
            <a:xfrm>
              <a:off x="2872"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3482" name="Text Box 578"/>
            <p:cNvSpPr txBox="1">
              <a:spLocks noChangeArrowheads="1"/>
            </p:cNvSpPr>
            <p:nvPr/>
          </p:nvSpPr>
          <p:spPr bwMode="auto">
            <a:xfrm>
              <a:off x="4067"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3483" name="Text Box 579"/>
            <p:cNvSpPr txBox="1">
              <a:spLocks noChangeArrowheads="1"/>
            </p:cNvSpPr>
            <p:nvPr/>
          </p:nvSpPr>
          <p:spPr bwMode="auto">
            <a:xfrm>
              <a:off x="326"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3484" name="Text Box 580"/>
            <p:cNvSpPr txBox="1">
              <a:spLocks noChangeArrowheads="1"/>
            </p:cNvSpPr>
            <p:nvPr/>
          </p:nvSpPr>
          <p:spPr bwMode="auto">
            <a:xfrm>
              <a:off x="5272"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grpSp>
      <p:sp>
        <p:nvSpPr>
          <p:cNvPr id="138822" name="Text Box 582"/>
          <p:cNvSpPr txBox="1">
            <a:spLocks noChangeArrowheads="1"/>
          </p:cNvSpPr>
          <p:nvPr/>
        </p:nvSpPr>
        <p:spPr bwMode="auto">
          <a:xfrm>
            <a:off x="2576513" y="3492500"/>
            <a:ext cx="47164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从层次上来看数据的流动</a:t>
            </a:r>
          </a:p>
        </p:txBody>
      </p:sp>
      <p:sp>
        <p:nvSpPr>
          <p:cNvPr id="138823" name="Freeform 583"/>
          <p:cNvSpPr>
            <a:spLocks noChangeArrowheads="1"/>
          </p:cNvSpPr>
          <p:nvPr/>
        </p:nvSpPr>
        <p:spPr bwMode="auto">
          <a:xfrm>
            <a:off x="1281113" y="3897313"/>
            <a:ext cx="7559675"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a:solidFill>
              <a:srgbClr val="FF0000"/>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423487" name="矩形 1"/>
          <p:cNvSpPr>
            <a:spLocks noChangeArrowheads="1"/>
          </p:cNvSpPr>
          <p:nvPr/>
        </p:nvSpPr>
        <p:spPr bwMode="auto">
          <a:xfrm>
            <a:off x="1893888" y="6092825"/>
            <a:ext cx="6423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数据链路层的地位</a:t>
            </a:r>
            <a:endParaRPr lang="zh-CN" altLang="en-US" sz="2400" b="1">
              <a:ea typeface="黑体" panose="02010609060101010101" pitchFamily="49" charset="-122"/>
            </a:endParaRPr>
          </a:p>
        </p:txBody>
      </p:sp>
      <p:sp>
        <p:nvSpPr>
          <p:cNvPr id="578" name="矩形 577"/>
          <p:cNvSpPr>
            <a:spLocks noChangeArrowheads="1"/>
          </p:cNvSpPr>
          <p:nvPr/>
        </p:nvSpPr>
        <p:spPr bwMode="auto">
          <a:xfrm>
            <a:off x="2989263" y="2998788"/>
            <a:ext cx="4338637" cy="400050"/>
          </a:xfrm>
          <a:prstGeom prst="rect">
            <a:avLst/>
          </a:prstGeom>
          <a:solidFill>
            <a:srgbClr val="000066"/>
          </a:solidFill>
          <a:ln w="9525">
            <a:solidFill>
              <a:srgbClr val="000066"/>
            </a:solidFill>
            <a:round/>
            <a:headEnd/>
            <a:tailEnd/>
          </a:ln>
        </p:spPr>
        <p:txBody>
          <a:bodyPr wrap="none">
            <a:spAutoFit/>
          </a:bodyPr>
          <a:lstStyle/>
          <a:p>
            <a:pPr eaLnBrk="0" hangingPunct="0"/>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1</a:t>
            </a:r>
            <a:r>
              <a:rPr lang="en-US" altLang="zh-CN" sz="2000" b="1">
                <a:solidFill>
                  <a:schemeClr val="bg1"/>
                </a:solidFill>
                <a:ea typeface="黑体" panose="02010609060101010101" pitchFamily="49" charset="-122"/>
              </a:rPr>
              <a:t> </a:t>
            </a:r>
            <a:r>
              <a:rPr lang="zh-CN" altLang="en-US" sz="2000" b="1">
                <a:solidFill>
                  <a:schemeClr val="bg1"/>
                </a:solidFill>
                <a:ea typeface="黑体" panose="02010609060101010101" pitchFamily="49" charset="-122"/>
              </a:rPr>
              <a:t>到</a:t>
            </a:r>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2</a:t>
            </a:r>
            <a:r>
              <a:rPr lang="en-US" altLang="zh-CN" sz="2000" b="1">
                <a:solidFill>
                  <a:schemeClr val="bg1"/>
                </a:solidFill>
                <a:ea typeface="黑体" panose="02010609060101010101" pitchFamily="49" charset="-122"/>
              </a:rPr>
              <a:t> </a:t>
            </a:r>
            <a:r>
              <a:rPr lang="zh-CN" altLang="zh-CN" sz="2000" b="1">
                <a:solidFill>
                  <a:schemeClr val="bg1"/>
                </a:solidFill>
                <a:ea typeface="黑体" panose="02010609060101010101" pitchFamily="49" charset="-122"/>
              </a:rPr>
              <a:t>所经过的网络可以是多种的</a:t>
            </a:r>
            <a:endParaRPr lang="zh-CN" altLang="en-US" sz="2000" b="1">
              <a:solidFill>
                <a:schemeClr val="bg1"/>
              </a:solidFill>
              <a:ea typeface="黑体" panose="02010609060101010101" pitchFamily="49" charset="-122"/>
            </a:endParaRPr>
          </a:p>
        </p:txBody>
      </p:sp>
      <p:sp>
        <p:nvSpPr>
          <p:cNvPr id="42348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58A2DC-42C6-462A-B516-E630F4103EF9}" type="slidenum">
              <a:rPr lang="zh-CN" altLang="en-US" smtClean="0"/>
              <a:pPr eaLnBrk="1" hangingPunct="1"/>
              <a:t>4</a:t>
            </a:fld>
            <a:endParaRPr lang="en-US" altLang="zh-CN" smtClean="0"/>
          </a:p>
        </p:txBody>
      </p:sp>
      <p:sp>
        <p:nvSpPr>
          <p:cNvPr id="42349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761"/>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8" fill="hold" grpId="0" nodeType="afterEffect">
                                  <p:stCondLst>
                                    <p:cond delay="500"/>
                                  </p:stCondLst>
                                  <p:childTnLst>
                                    <p:set>
                                      <p:cBhvr>
                                        <p:cTn id="9" dur="1" fill="hold">
                                          <p:stCondLst>
                                            <p:cond delay="0"/>
                                          </p:stCondLst>
                                        </p:cTn>
                                        <p:tgtEl>
                                          <p:spTgt spid="138757"/>
                                        </p:tgtEl>
                                        <p:attrNameLst>
                                          <p:attrName>style.visibility</p:attrName>
                                        </p:attrNameLst>
                                      </p:cBhvr>
                                      <p:to>
                                        <p:strVal val="visible"/>
                                      </p:to>
                                    </p:set>
                                    <p:animEffect transition="in" filter="wipe(left)">
                                      <p:cBhvr>
                                        <p:cTn id="10" dur="500"/>
                                        <p:tgtEl>
                                          <p:spTgt spid="138757"/>
                                        </p:tgtEl>
                                      </p:cBhvr>
                                    </p:animEffect>
                                  </p:childTnLst>
                                </p:cTn>
                              </p:par>
                            </p:childTnLst>
                          </p:cTn>
                        </p:par>
                        <p:par>
                          <p:cTn id="11" fill="hold" nodeType="afterGroup">
                            <p:stCondLst>
                              <p:cond delay="1001"/>
                            </p:stCondLst>
                            <p:childTnLst>
                              <p:par>
                                <p:cTn id="12" presetID="22" presetClass="entr" presetSubtype="8" fill="hold" grpId="0" nodeType="afterEffect">
                                  <p:stCondLst>
                                    <p:cond delay="500"/>
                                  </p:stCondLst>
                                  <p:childTnLst>
                                    <p:set>
                                      <p:cBhvr>
                                        <p:cTn id="13" dur="1" fill="hold">
                                          <p:stCondLst>
                                            <p:cond delay="0"/>
                                          </p:stCondLst>
                                        </p:cTn>
                                        <p:tgtEl>
                                          <p:spTgt spid="138760"/>
                                        </p:tgtEl>
                                        <p:attrNameLst>
                                          <p:attrName>style.visibility</p:attrName>
                                        </p:attrNameLst>
                                      </p:cBhvr>
                                      <p:to>
                                        <p:strVal val="visible"/>
                                      </p:to>
                                    </p:set>
                                    <p:animEffect transition="in" filter="wipe(left)">
                                      <p:cBhvr>
                                        <p:cTn id="14" dur="500"/>
                                        <p:tgtEl>
                                          <p:spTgt spid="138760"/>
                                        </p:tgtEl>
                                      </p:cBhvr>
                                    </p:animEffect>
                                  </p:childTnLst>
                                </p:cTn>
                              </p:par>
                            </p:childTnLst>
                          </p:cTn>
                        </p:par>
                        <p:par>
                          <p:cTn id="15" fill="hold" nodeType="afterGroup">
                            <p:stCondLst>
                              <p:cond delay="2001"/>
                            </p:stCondLst>
                            <p:childTnLst>
                              <p:par>
                                <p:cTn id="16" presetID="22" presetClass="entr" presetSubtype="8" fill="hold" grpId="0" nodeType="afterEffect">
                                  <p:stCondLst>
                                    <p:cond delay="500"/>
                                  </p:stCondLst>
                                  <p:childTnLst>
                                    <p:set>
                                      <p:cBhvr>
                                        <p:cTn id="17" dur="1" fill="hold">
                                          <p:stCondLst>
                                            <p:cond delay="0"/>
                                          </p:stCondLst>
                                        </p:cTn>
                                        <p:tgtEl>
                                          <p:spTgt spid="138758"/>
                                        </p:tgtEl>
                                        <p:attrNameLst>
                                          <p:attrName>style.visibility</p:attrName>
                                        </p:attrNameLst>
                                      </p:cBhvr>
                                      <p:to>
                                        <p:strVal val="visible"/>
                                      </p:to>
                                    </p:set>
                                    <p:animEffect transition="in" filter="wipe(left)">
                                      <p:cBhvr>
                                        <p:cTn id="18" dur="500"/>
                                        <p:tgtEl>
                                          <p:spTgt spid="138758"/>
                                        </p:tgtEl>
                                      </p:cBhvr>
                                    </p:animEffect>
                                  </p:childTnLst>
                                </p:cTn>
                              </p:par>
                            </p:childTnLst>
                          </p:cTn>
                        </p:par>
                        <p:par>
                          <p:cTn id="19" fill="hold" nodeType="afterGroup">
                            <p:stCondLst>
                              <p:cond delay="3001"/>
                            </p:stCondLst>
                            <p:childTnLst>
                              <p:par>
                                <p:cTn id="20" presetID="22" presetClass="entr" presetSubtype="8" fill="hold" grpId="0" nodeType="afterEffect">
                                  <p:stCondLst>
                                    <p:cond delay="500"/>
                                  </p:stCondLst>
                                  <p:childTnLst>
                                    <p:set>
                                      <p:cBhvr>
                                        <p:cTn id="21" dur="1" fill="hold">
                                          <p:stCondLst>
                                            <p:cond delay="0"/>
                                          </p:stCondLst>
                                        </p:cTn>
                                        <p:tgtEl>
                                          <p:spTgt spid="138759"/>
                                        </p:tgtEl>
                                        <p:attrNameLst>
                                          <p:attrName>style.visibility</p:attrName>
                                        </p:attrNameLst>
                                      </p:cBhvr>
                                      <p:to>
                                        <p:strVal val="visible"/>
                                      </p:to>
                                    </p:set>
                                    <p:animEffect transition="in" filter="wipe(left)">
                                      <p:cBhvr>
                                        <p:cTn id="22" dur="500"/>
                                        <p:tgtEl>
                                          <p:spTgt spid="138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822"/>
                                        </p:tgtEl>
                                        <p:attrNameLst>
                                          <p:attrName>style.visibility</p:attrName>
                                        </p:attrNameLst>
                                      </p:cBhvr>
                                      <p:to>
                                        <p:strVal val="visible"/>
                                      </p:to>
                                    </p:set>
                                  </p:childTnLst>
                                </p:cTn>
                              </p:par>
                            </p:childTnLst>
                          </p:cTn>
                        </p:par>
                        <p:par>
                          <p:cTn id="27" fill="hold" nodeType="afterGroup">
                            <p:stCondLst>
                              <p:cond delay="1"/>
                            </p:stCondLst>
                            <p:childTnLst>
                              <p:par>
                                <p:cTn id="28" presetID="1" presetClass="entr" presetSubtype="0" fill="hold" nodeType="afterEffect">
                                  <p:stCondLst>
                                    <p:cond delay="0"/>
                                  </p:stCondLst>
                                  <p:childTnLst>
                                    <p:set>
                                      <p:cBhvr>
                                        <p:cTn id="29" dur="1" fill="hold">
                                          <p:stCondLst>
                                            <p:cond delay="0"/>
                                          </p:stCondLst>
                                        </p:cTn>
                                        <p:tgtEl>
                                          <p:spTgt spid="138827"/>
                                        </p:tgtEl>
                                        <p:attrNameLst>
                                          <p:attrName>style.visibility</p:attrName>
                                        </p:attrNameLst>
                                      </p:cBhvr>
                                      <p:to>
                                        <p:strVal val="visible"/>
                                      </p:to>
                                    </p:set>
                                  </p:childTnLst>
                                </p:cTn>
                              </p:par>
                            </p:childTnLst>
                          </p:cTn>
                        </p:par>
                        <p:par>
                          <p:cTn id="30" fill="hold" nodeType="afterGroup">
                            <p:stCondLst>
                              <p:cond delay="2"/>
                            </p:stCondLst>
                            <p:childTnLst>
                              <p:par>
                                <p:cTn id="31" presetID="22" presetClass="entr" presetSubtype="8" fill="hold" grpId="0" nodeType="afterEffect">
                                  <p:stCondLst>
                                    <p:cond delay="500"/>
                                  </p:stCondLst>
                                  <p:childTnLst>
                                    <p:set>
                                      <p:cBhvr>
                                        <p:cTn id="32" dur="1" fill="hold">
                                          <p:stCondLst>
                                            <p:cond delay="0"/>
                                          </p:stCondLst>
                                        </p:cTn>
                                        <p:tgtEl>
                                          <p:spTgt spid="138823"/>
                                        </p:tgtEl>
                                        <p:attrNameLst>
                                          <p:attrName>style.visibility</p:attrName>
                                        </p:attrNameLst>
                                      </p:cBhvr>
                                      <p:to>
                                        <p:strVal val="visible"/>
                                      </p:to>
                                    </p:set>
                                    <p:animEffect transition="in" filter="wipe(left)">
                                      <p:cBhvr>
                                        <p:cTn id="33" dur="2000"/>
                                        <p:tgtEl>
                                          <p:spTgt spid="138823"/>
                                        </p:tgtEl>
                                      </p:cBhvr>
                                    </p:animEffect>
                                  </p:childTnLst>
                                </p:cTn>
                              </p:par>
                            </p:childTnLst>
                          </p:cTn>
                        </p:par>
                        <p:par>
                          <p:cTn id="34" fill="hold" nodeType="afterGroup">
                            <p:stCondLst>
                              <p:cond delay="2502"/>
                            </p:stCondLst>
                            <p:childTnLst>
                              <p:par>
                                <p:cTn id="35" presetID="1" presetClass="entr" presetSubtype="0" fill="hold" grpId="0" nodeType="afterEffect">
                                  <p:stCondLst>
                                    <p:cond delay="0"/>
                                  </p:stCondLst>
                                  <p:childTnLst>
                                    <p:set>
                                      <p:cBhvr>
                                        <p:cTn id="36"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7" grpId="0" animBg="1"/>
      <p:bldP spid="138758" grpId="0" animBg="1"/>
      <p:bldP spid="138759" grpId="0" animBg="1"/>
      <p:bldP spid="138760" grpId="0" animBg="1"/>
      <p:bldP spid="138761" grpId="0"/>
      <p:bldP spid="138822" grpId="0"/>
      <p:bldP spid="138823" grpId="0" animBg="1"/>
      <p:bldP spid="5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1" name="Rectangle 2"/>
          <p:cNvSpPr>
            <a:spLocks noGrp="1" noChangeArrowheads="1"/>
          </p:cNvSpPr>
          <p:nvPr>
            <p:ph type="title"/>
          </p:nvPr>
        </p:nvSpPr>
        <p:spPr/>
        <p:txBody>
          <a:bodyPr/>
          <a:lstStyle/>
          <a:p>
            <a:pPr algn="ctr"/>
            <a:r>
              <a:rPr lang="zh-CN" altLang="en-US" smtClean="0">
                <a:latin typeface="黑体" panose="02010609060101010101" pitchFamily="49" charset="-122"/>
                <a:ea typeface="黑体" panose="02010609060101010101" pitchFamily="49" charset="-122"/>
              </a:rPr>
              <a:t>数据链路层的简单模型</a:t>
            </a:r>
            <a:r>
              <a:rPr lang="en-US" altLang="zh-CN" smtClean="0">
                <a:latin typeface="黑体" panose="02010609060101010101" pitchFamily="49" charset="-122"/>
                <a:ea typeface="黑体" panose="02010609060101010101" pitchFamily="49" charset="-122"/>
              </a:rPr>
              <a:t>( </a:t>
            </a:r>
            <a:r>
              <a:rPr lang="zh-CN" altLang="en-US" smtClean="0">
                <a:latin typeface="黑体" panose="02010609060101010101" pitchFamily="49" charset="-122"/>
                <a:ea typeface="黑体" panose="02010609060101010101" pitchFamily="49" charset="-122"/>
              </a:rPr>
              <a:t>续）</a:t>
            </a:r>
          </a:p>
        </p:txBody>
      </p:sp>
      <p:sp>
        <p:nvSpPr>
          <p:cNvPr id="424962" name="Line 4"/>
          <p:cNvSpPr>
            <a:spLocks noChangeShapeType="1"/>
          </p:cNvSpPr>
          <p:nvPr/>
        </p:nvSpPr>
        <p:spPr bwMode="auto">
          <a:xfrm flipH="1" flipV="1">
            <a:off x="8539163" y="2720975"/>
            <a:ext cx="728662" cy="635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3" name="Line 5"/>
          <p:cNvSpPr>
            <a:spLocks noChangeShapeType="1"/>
          </p:cNvSpPr>
          <p:nvPr/>
        </p:nvSpPr>
        <p:spPr bwMode="auto">
          <a:xfrm flipH="1" flipV="1">
            <a:off x="7356475" y="2416175"/>
            <a:ext cx="687388" cy="215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4" name="Line 6"/>
          <p:cNvSpPr>
            <a:spLocks noChangeShapeType="1"/>
          </p:cNvSpPr>
          <p:nvPr/>
        </p:nvSpPr>
        <p:spPr bwMode="auto">
          <a:xfrm flipV="1">
            <a:off x="6392863" y="2403475"/>
            <a:ext cx="825500" cy="15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5" name="Line 7"/>
          <p:cNvSpPr>
            <a:spLocks noChangeShapeType="1"/>
          </p:cNvSpPr>
          <p:nvPr/>
        </p:nvSpPr>
        <p:spPr bwMode="auto">
          <a:xfrm flipV="1">
            <a:off x="5237163" y="2479675"/>
            <a:ext cx="990600" cy="76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6" name="Line 8"/>
          <p:cNvSpPr>
            <a:spLocks noChangeShapeType="1"/>
          </p:cNvSpPr>
          <p:nvPr/>
        </p:nvSpPr>
        <p:spPr bwMode="auto">
          <a:xfrm>
            <a:off x="4081463" y="2555875"/>
            <a:ext cx="990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7" name="Line 9"/>
          <p:cNvSpPr>
            <a:spLocks noChangeShapeType="1"/>
          </p:cNvSpPr>
          <p:nvPr/>
        </p:nvSpPr>
        <p:spPr bwMode="auto">
          <a:xfrm>
            <a:off x="2843213" y="2327275"/>
            <a:ext cx="990600" cy="228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8" name="Freeform 10"/>
          <p:cNvSpPr>
            <a:spLocks noChangeArrowheads="1"/>
          </p:cNvSpPr>
          <p:nvPr/>
        </p:nvSpPr>
        <p:spPr bwMode="auto">
          <a:xfrm>
            <a:off x="889000" y="2365375"/>
            <a:ext cx="1898650" cy="508000"/>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424969" name="Group 11"/>
          <p:cNvGrpSpPr>
            <a:grpSpLocks/>
          </p:cNvGrpSpPr>
          <p:nvPr/>
        </p:nvGrpSpPr>
        <p:grpSpPr bwMode="auto">
          <a:xfrm>
            <a:off x="1274763" y="2174875"/>
            <a:ext cx="1222375" cy="781050"/>
            <a:chOff x="1680" y="240"/>
            <a:chExt cx="2529" cy="1270"/>
          </a:xfrm>
        </p:grpSpPr>
        <p:sp>
          <p:nvSpPr>
            <p:cNvPr id="424970" name="Oval 12"/>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1" name="Oval 13"/>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2" name="Oval 14"/>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3" name="Oval 15"/>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4" name="Oval 16"/>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5" name="Oval 17"/>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6" name="Oval 18"/>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7" name="Oval 19"/>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8" name="Oval 20"/>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4979" name="Group 28"/>
          <p:cNvGrpSpPr>
            <a:grpSpLocks/>
          </p:cNvGrpSpPr>
          <p:nvPr/>
        </p:nvGrpSpPr>
        <p:grpSpPr bwMode="auto">
          <a:xfrm>
            <a:off x="3338513" y="2174875"/>
            <a:ext cx="1222375" cy="781050"/>
            <a:chOff x="1680" y="240"/>
            <a:chExt cx="2529" cy="1270"/>
          </a:xfrm>
        </p:grpSpPr>
        <p:sp>
          <p:nvSpPr>
            <p:cNvPr id="424980" name="Oval 29"/>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1" name="Oval 30"/>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2" name="Oval 31"/>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3" name="Oval 32"/>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4" name="Oval 33"/>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5" name="Oval 34"/>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6" name="Oval 35"/>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7" name="Oval 36"/>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8" name="Oval 37"/>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4989" name="Text Box 38"/>
          <p:cNvSpPr txBox="1">
            <a:spLocks noChangeArrowheads="1"/>
          </p:cNvSpPr>
          <p:nvPr/>
        </p:nvSpPr>
        <p:spPr bwMode="auto">
          <a:xfrm>
            <a:off x="3544888" y="23637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pic>
        <p:nvPicPr>
          <p:cNvPr id="424990"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7313" y="220662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91" name="Picture 8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6963" y="240347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92" name="Picture 8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1913" y="2466975"/>
            <a:ext cx="5778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93" name="Picture 8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3263" y="2254250"/>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4994" name="Group 90"/>
          <p:cNvGrpSpPr>
            <a:grpSpLocks/>
          </p:cNvGrpSpPr>
          <p:nvPr/>
        </p:nvGrpSpPr>
        <p:grpSpPr bwMode="auto">
          <a:xfrm>
            <a:off x="5649913" y="2174875"/>
            <a:ext cx="1222375" cy="781050"/>
            <a:chOff x="1680" y="240"/>
            <a:chExt cx="2529" cy="1270"/>
          </a:xfrm>
        </p:grpSpPr>
        <p:sp>
          <p:nvSpPr>
            <p:cNvPr id="424995" name="Oval 9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6" name="Oval 9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7" name="Oval 9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8" name="Oval 9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9" name="Oval 9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0" name="Oval 9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1" name="Oval 9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2" name="Oval 9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3" name="Oval 9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004" name="Text Box 100"/>
          <p:cNvSpPr txBox="1">
            <a:spLocks noChangeArrowheads="1"/>
          </p:cNvSpPr>
          <p:nvPr/>
        </p:nvSpPr>
        <p:spPr bwMode="auto">
          <a:xfrm>
            <a:off x="5829300" y="236378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广域网</a:t>
            </a:r>
          </a:p>
        </p:txBody>
      </p:sp>
      <p:sp>
        <p:nvSpPr>
          <p:cNvPr id="425005" name="Text Box 101"/>
          <p:cNvSpPr txBox="1">
            <a:spLocks noChangeArrowheads="1"/>
          </p:cNvSpPr>
          <p:nvPr/>
        </p:nvSpPr>
        <p:spPr bwMode="auto">
          <a:xfrm>
            <a:off x="395288" y="2028825"/>
            <a:ext cx="947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5006" name="Text Box 102"/>
          <p:cNvSpPr txBox="1">
            <a:spLocks noChangeArrowheads="1"/>
          </p:cNvSpPr>
          <p:nvPr/>
        </p:nvSpPr>
        <p:spPr bwMode="auto">
          <a:xfrm>
            <a:off x="8743950" y="2147888"/>
            <a:ext cx="94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425007" name="Text Box 103"/>
          <p:cNvSpPr txBox="1">
            <a:spLocks noChangeArrowheads="1"/>
          </p:cNvSpPr>
          <p:nvPr/>
        </p:nvSpPr>
        <p:spPr bwMode="auto">
          <a:xfrm>
            <a:off x="2268538" y="1844675"/>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5008" name="Text Box 104"/>
          <p:cNvSpPr txBox="1">
            <a:spLocks noChangeArrowheads="1"/>
          </p:cNvSpPr>
          <p:nvPr/>
        </p:nvSpPr>
        <p:spPr bwMode="auto">
          <a:xfrm>
            <a:off x="4608513" y="2041525"/>
            <a:ext cx="11604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5009" name="Text Box 105"/>
          <p:cNvSpPr txBox="1">
            <a:spLocks noChangeArrowheads="1"/>
          </p:cNvSpPr>
          <p:nvPr/>
        </p:nvSpPr>
        <p:spPr bwMode="auto">
          <a:xfrm>
            <a:off x="6715125" y="1901825"/>
            <a:ext cx="1160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5010" name="Text Box 106"/>
          <p:cNvSpPr txBox="1">
            <a:spLocks noChangeArrowheads="1"/>
          </p:cNvSpPr>
          <p:nvPr/>
        </p:nvSpPr>
        <p:spPr bwMode="auto">
          <a:xfrm>
            <a:off x="1439863" y="23764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电话网</a:t>
            </a:r>
          </a:p>
        </p:txBody>
      </p:sp>
      <p:grpSp>
        <p:nvGrpSpPr>
          <p:cNvPr id="425011" name="Group 114"/>
          <p:cNvGrpSpPr>
            <a:grpSpLocks/>
          </p:cNvGrpSpPr>
          <p:nvPr/>
        </p:nvGrpSpPr>
        <p:grpSpPr bwMode="auto">
          <a:xfrm>
            <a:off x="449263" y="2403475"/>
            <a:ext cx="720725" cy="546100"/>
            <a:chOff x="624" y="2968"/>
            <a:chExt cx="1331" cy="920"/>
          </a:xfrm>
        </p:grpSpPr>
        <p:sp>
          <p:nvSpPr>
            <p:cNvPr id="425012" name="Freeform 11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13" name="Freeform 11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4" name="Freeform 11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5" name="Freeform 11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6" name="Freeform 11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7" name="Freeform 12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18" name="Freeform 12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19" name="Freeform 12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0" name="Freeform 12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1" name="Freeform 12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2" name="Freeform 12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3" name="Freeform 12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024" name="Group 127"/>
            <p:cNvGrpSpPr>
              <a:grpSpLocks/>
            </p:cNvGrpSpPr>
            <p:nvPr/>
          </p:nvGrpSpPr>
          <p:grpSpPr bwMode="auto">
            <a:xfrm>
              <a:off x="700" y="3526"/>
              <a:ext cx="515" cy="270"/>
              <a:chOff x="700" y="3526"/>
              <a:chExt cx="515" cy="270"/>
            </a:xfrm>
          </p:grpSpPr>
          <p:grpSp>
            <p:nvGrpSpPr>
              <p:cNvPr id="425025" name="Group 128"/>
              <p:cNvGrpSpPr>
                <a:grpSpLocks/>
              </p:cNvGrpSpPr>
              <p:nvPr/>
            </p:nvGrpSpPr>
            <p:grpSpPr bwMode="auto">
              <a:xfrm>
                <a:off x="737" y="3534"/>
                <a:ext cx="49" cy="23"/>
                <a:chOff x="737" y="3534"/>
                <a:chExt cx="49" cy="23"/>
              </a:xfrm>
            </p:grpSpPr>
            <p:sp>
              <p:nvSpPr>
                <p:cNvPr id="425026" name="Freeform 12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7" name="Freeform 13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8" name="Freeform 13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29" name="Group 132"/>
              <p:cNvGrpSpPr>
                <a:grpSpLocks/>
              </p:cNvGrpSpPr>
              <p:nvPr/>
            </p:nvGrpSpPr>
            <p:grpSpPr bwMode="auto">
              <a:xfrm>
                <a:off x="748" y="3547"/>
                <a:ext cx="50" cy="23"/>
                <a:chOff x="748" y="3547"/>
                <a:chExt cx="50" cy="23"/>
              </a:xfrm>
            </p:grpSpPr>
            <p:sp>
              <p:nvSpPr>
                <p:cNvPr id="425030" name="Freeform 13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1" name="Freeform 13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2" name="Freeform 13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033" name="Freeform 13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4" name="Freeform 13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5" name="Freeform 13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6" name="Freeform 13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037" name="Group 140"/>
              <p:cNvGrpSpPr>
                <a:grpSpLocks/>
              </p:cNvGrpSpPr>
              <p:nvPr/>
            </p:nvGrpSpPr>
            <p:grpSpPr bwMode="auto">
              <a:xfrm>
                <a:off x="872" y="3547"/>
                <a:ext cx="50" cy="23"/>
                <a:chOff x="872" y="3547"/>
                <a:chExt cx="50" cy="23"/>
              </a:xfrm>
            </p:grpSpPr>
            <p:sp>
              <p:nvSpPr>
                <p:cNvPr id="425038" name="Freeform 14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9" name="Freeform 14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0" name="Freeform 14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41" name="Group 144"/>
              <p:cNvGrpSpPr>
                <a:grpSpLocks/>
              </p:cNvGrpSpPr>
              <p:nvPr/>
            </p:nvGrpSpPr>
            <p:grpSpPr bwMode="auto">
              <a:xfrm>
                <a:off x="885" y="3559"/>
                <a:ext cx="50" cy="23"/>
                <a:chOff x="885" y="3559"/>
                <a:chExt cx="50" cy="23"/>
              </a:xfrm>
            </p:grpSpPr>
            <p:sp>
              <p:nvSpPr>
                <p:cNvPr id="425042" name="Freeform 14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3" name="Freeform 14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4" name="Freeform 14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45" name="Group 148"/>
              <p:cNvGrpSpPr>
                <a:grpSpLocks/>
              </p:cNvGrpSpPr>
              <p:nvPr/>
            </p:nvGrpSpPr>
            <p:grpSpPr bwMode="auto">
              <a:xfrm>
                <a:off x="898" y="3571"/>
                <a:ext cx="49" cy="23"/>
                <a:chOff x="898" y="3571"/>
                <a:chExt cx="49" cy="23"/>
              </a:xfrm>
            </p:grpSpPr>
            <p:sp>
              <p:nvSpPr>
                <p:cNvPr id="425046" name="Freeform 14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7" name="Freeform 15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8" name="Freeform 15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49" name="Group 152"/>
              <p:cNvGrpSpPr>
                <a:grpSpLocks/>
              </p:cNvGrpSpPr>
              <p:nvPr/>
            </p:nvGrpSpPr>
            <p:grpSpPr bwMode="auto">
              <a:xfrm>
                <a:off x="911" y="3585"/>
                <a:ext cx="49" cy="23"/>
                <a:chOff x="911" y="3585"/>
                <a:chExt cx="49" cy="23"/>
              </a:xfrm>
            </p:grpSpPr>
            <p:sp>
              <p:nvSpPr>
                <p:cNvPr id="425050" name="Freeform 15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1" name="Freeform 15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2" name="Freeform 15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53" name="Group 156"/>
              <p:cNvGrpSpPr>
                <a:grpSpLocks/>
              </p:cNvGrpSpPr>
              <p:nvPr/>
            </p:nvGrpSpPr>
            <p:grpSpPr bwMode="auto">
              <a:xfrm>
                <a:off x="923" y="3600"/>
                <a:ext cx="99" cy="73"/>
                <a:chOff x="923" y="3600"/>
                <a:chExt cx="99" cy="73"/>
              </a:xfrm>
            </p:grpSpPr>
            <p:grpSp>
              <p:nvGrpSpPr>
                <p:cNvPr id="425054" name="Group 157"/>
                <p:cNvGrpSpPr>
                  <a:grpSpLocks/>
                </p:cNvGrpSpPr>
                <p:nvPr/>
              </p:nvGrpSpPr>
              <p:grpSpPr bwMode="auto">
                <a:xfrm>
                  <a:off x="923" y="3600"/>
                  <a:ext cx="49" cy="23"/>
                  <a:chOff x="923" y="3600"/>
                  <a:chExt cx="49" cy="23"/>
                </a:xfrm>
              </p:grpSpPr>
              <p:sp>
                <p:nvSpPr>
                  <p:cNvPr id="425055" name="Freeform 15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6" name="Freeform 15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7" name="Freeform 16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58" name="Group 161"/>
                <p:cNvGrpSpPr>
                  <a:grpSpLocks/>
                </p:cNvGrpSpPr>
                <p:nvPr/>
              </p:nvGrpSpPr>
              <p:grpSpPr bwMode="auto">
                <a:xfrm>
                  <a:off x="935" y="3612"/>
                  <a:ext cx="48" cy="23"/>
                  <a:chOff x="935" y="3612"/>
                  <a:chExt cx="48" cy="23"/>
                </a:xfrm>
              </p:grpSpPr>
              <p:sp>
                <p:nvSpPr>
                  <p:cNvPr id="425059" name="Freeform 16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0" name="Freeform 16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1" name="Freeform 16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62" name="Group 165"/>
                <p:cNvGrpSpPr>
                  <a:grpSpLocks/>
                </p:cNvGrpSpPr>
                <p:nvPr/>
              </p:nvGrpSpPr>
              <p:grpSpPr bwMode="auto">
                <a:xfrm>
                  <a:off x="947" y="3625"/>
                  <a:ext cx="50" cy="22"/>
                  <a:chOff x="947" y="3625"/>
                  <a:chExt cx="50" cy="22"/>
                </a:xfrm>
              </p:grpSpPr>
              <p:sp>
                <p:nvSpPr>
                  <p:cNvPr id="425063" name="Freeform 16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4" name="Freeform 16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5" name="Freeform 16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66" name="Group 169"/>
                <p:cNvGrpSpPr>
                  <a:grpSpLocks/>
                </p:cNvGrpSpPr>
                <p:nvPr/>
              </p:nvGrpSpPr>
              <p:grpSpPr bwMode="auto">
                <a:xfrm>
                  <a:off x="960" y="3637"/>
                  <a:ext cx="50" cy="23"/>
                  <a:chOff x="960" y="3637"/>
                  <a:chExt cx="50" cy="23"/>
                </a:xfrm>
              </p:grpSpPr>
              <p:sp>
                <p:nvSpPr>
                  <p:cNvPr id="425067" name="Freeform 17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8" name="Freeform 17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9" name="Freeform 17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70" name="Group 173"/>
                <p:cNvGrpSpPr>
                  <a:grpSpLocks/>
                </p:cNvGrpSpPr>
                <p:nvPr/>
              </p:nvGrpSpPr>
              <p:grpSpPr bwMode="auto">
                <a:xfrm>
                  <a:off x="973" y="3650"/>
                  <a:ext cx="49" cy="23"/>
                  <a:chOff x="973" y="3650"/>
                  <a:chExt cx="49" cy="23"/>
                </a:xfrm>
              </p:grpSpPr>
              <p:sp>
                <p:nvSpPr>
                  <p:cNvPr id="425071" name="Freeform 17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2" name="Freeform 17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3" name="Freeform 17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074" name="Group 177"/>
              <p:cNvGrpSpPr>
                <a:grpSpLocks/>
              </p:cNvGrpSpPr>
              <p:nvPr/>
            </p:nvGrpSpPr>
            <p:grpSpPr bwMode="auto">
              <a:xfrm>
                <a:off x="985" y="3665"/>
                <a:ext cx="100" cy="73"/>
                <a:chOff x="985" y="3665"/>
                <a:chExt cx="100" cy="73"/>
              </a:xfrm>
            </p:grpSpPr>
            <p:grpSp>
              <p:nvGrpSpPr>
                <p:cNvPr id="425075" name="Group 178"/>
                <p:cNvGrpSpPr>
                  <a:grpSpLocks/>
                </p:cNvGrpSpPr>
                <p:nvPr/>
              </p:nvGrpSpPr>
              <p:grpSpPr bwMode="auto">
                <a:xfrm>
                  <a:off x="985" y="3665"/>
                  <a:ext cx="50" cy="23"/>
                  <a:chOff x="985" y="3665"/>
                  <a:chExt cx="50" cy="23"/>
                </a:xfrm>
              </p:grpSpPr>
              <p:sp>
                <p:nvSpPr>
                  <p:cNvPr id="425076" name="Freeform 17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7" name="Freeform 18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8" name="Freeform 18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79" name="Group 182"/>
                <p:cNvGrpSpPr>
                  <a:grpSpLocks/>
                </p:cNvGrpSpPr>
                <p:nvPr/>
              </p:nvGrpSpPr>
              <p:grpSpPr bwMode="auto">
                <a:xfrm>
                  <a:off x="997" y="3677"/>
                  <a:ext cx="49" cy="23"/>
                  <a:chOff x="997" y="3677"/>
                  <a:chExt cx="49" cy="23"/>
                </a:xfrm>
              </p:grpSpPr>
              <p:sp>
                <p:nvSpPr>
                  <p:cNvPr id="425080" name="Freeform 18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1" name="Freeform 18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2" name="Freeform 18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83" name="Group 186"/>
                <p:cNvGrpSpPr>
                  <a:grpSpLocks/>
                </p:cNvGrpSpPr>
                <p:nvPr/>
              </p:nvGrpSpPr>
              <p:grpSpPr bwMode="auto">
                <a:xfrm>
                  <a:off x="1010" y="3690"/>
                  <a:ext cx="48" cy="23"/>
                  <a:chOff x="1010" y="3690"/>
                  <a:chExt cx="48" cy="23"/>
                </a:xfrm>
              </p:grpSpPr>
              <p:sp>
                <p:nvSpPr>
                  <p:cNvPr id="425084" name="Freeform 18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5" name="Freeform 18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6" name="Freeform 18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87" name="Group 190"/>
                <p:cNvGrpSpPr>
                  <a:grpSpLocks/>
                </p:cNvGrpSpPr>
                <p:nvPr/>
              </p:nvGrpSpPr>
              <p:grpSpPr bwMode="auto">
                <a:xfrm>
                  <a:off x="1023" y="3703"/>
                  <a:ext cx="49" cy="22"/>
                  <a:chOff x="1023" y="3703"/>
                  <a:chExt cx="49" cy="22"/>
                </a:xfrm>
              </p:grpSpPr>
              <p:sp>
                <p:nvSpPr>
                  <p:cNvPr id="425088" name="Freeform 19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9" name="Freeform 19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0" name="Freeform 19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91" name="Group 194"/>
                <p:cNvGrpSpPr>
                  <a:grpSpLocks/>
                </p:cNvGrpSpPr>
                <p:nvPr/>
              </p:nvGrpSpPr>
              <p:grpSpPr bwMode="auto">
                <a:xfrm>
                  <a:off x="1036" y="3716"/>
                  <a:ext cx="49" cy="22"/>
                  <a:chOff x="1036" y="3716"/>
                  <a:chExt cx="49" cy="22"/>
                </a:xfrm>
              </p:grpSpPr>
              <p:sp>
                <p:nvSpPr>
                  <p:cNvPr id="425092" name="Freeform 19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3" name="Freeform 19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4" name="Freeform 19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095" name="Group 198"/>
              <p:cNvGrpSpPr>
                <a:grpSpLocks/>
              </p:cNvGrpSpPr>
              <p:nvPr/>
            </p:nvGrpSpPr>
            <p:grpSpPr bwMode="auto">
              <a:xfrm>
                <a:off x="1046" y="3727"/>
                <a:ext cx="49" cy="23"/>
                <a:chOff x="1046" y="3727"/>
                <a:chExt cx="49" cy="23"/>
              </a:xfrm>
            </p:grpSpPr>
            <p:sp>
              <p:nvSpPr>
                <p:cNvPr id="425096" name="Freeform 19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7" name="Freeform 20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8" name="Freeform 20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99" name="Group 202"/>
              <p:cNvGrpSpPr>
                <a:grpSpLocks/>
              </p:cNvGrpSpPr>
              <p:nvPr/>
            </p:nvGrpSpPr>
            <p:grpSpPr bwMode="auto">
              <a:xfrm>
                <a:off x="1058" y="3739"/>
                <a:ext cx="50" cy="23"/>
                <a:chOff x="1058" y="3739"/>
                <a:chExt cx="50" cy="23"/>
              </a:xfrm>
            </p:grpSpPr>
            <p:sp>
              <p:nvSpPr>
                <p:cNvPr id="425100" name="Freeform 20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1" name="Freeform 20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2" name="Freeform 20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03" name="Group 206"/>
              <p:cNvGrpSpPr>
                <a:grpSpLocks/>
              </p:cNvGrpSpPr>
              <p:nvPr/>
            </p:nvGrpSpPr>
            <p:grpSpPr bwMode="auto">
              <a:xfrm>
                <a:off x="1072" y="3753"/>
                <a:ext cx="48" cy="22"/>
                <a:chOff x="1072" y="3753"/>
                <a:chExt cx="48" cy="22"/>
              </a:xfrm>
            </p:grpSpPr>
            <p:sp>
              <p:nvSpPr>
                <p:cNvPr id="425104" name="Freeform 20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5" name="Freeform 20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6" name="Freeform 20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107" name="Freeform 21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8" name="Freeform 21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9" name="Freeform 21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110" name="Group 213"/>
              <p:cNvGrpSpPr>
                <a:grpSpLocks/>
              </p:cNvGrpSpPr>
              <p:nvPr/>
            </p:nvGrpSpPr>
            <p:grpSpPr bwMode="auto">
              <a:xfrm>
                <a:off x="832" y="3547"/>
                <a:ext cx="49" cy="23"/>
                <a:chOff x="832" y="3547"/>
                <a:chExt cx="49" cy="23"/>
              </a:xfrm>
            </p:grpSpPr>
            <p:sp>
              <p:nvSpPr>
                <p:cNvPr id="425111" name="Freeform 21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2" name="Freeform 21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3" name="Freeform 21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14" name="Group 217"/>
              <p:cNvGrpSpPr>
                <a:grpSpLocks/>
              </p:cNvGrpSpPr>
              <p:nvPr/>
            </p:nvGrpSpPr>
            <p:grpSpPr bwMode="auto">
              <a:xfrm>
                <a:off x="844" y="3560"/>
                <a:ext cx="49" cy="22"/>
                <a:chOff x="844" y="3560"/>
                <a:chExt cx="49" cy="22"/>
              </a:xfrm>
            </p:grpSpPr>
            <p:sp>
              <p:nvSpPr>
                <p:cNvPr id="425115" name="Freeform 21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6" name="Freeform 21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7" name="Freeform 22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18" name="Group 221"/>
              <p:cNvGrpSpPr>
                <a:grpSpLocks/>
              </p:cNvGrpSpPr>
              <p:nvPr/>
            </p:nvGrpSpPr>
            <p:grpSpPr bwMode="auto">
              <a:xfrm>
                <a:off x="857" y="3572"/>
                <a:ext cx="50" cy="23"/>
                <a:chOff x="857" y="3572"/>
                <a:chExt cx="50" cy="23"/>
              </a:xfrm>
            </p:grpSpPr>
            <p:sp>
              <p:nvSpPr>
                <p:cNvPr id="425119" name="Freeform 22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0" name="Freeform 22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1" name="Freeform 22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22" name="Group 225"/>
              <p:cNvGrpSpPr>
                <a:grpSpLocks/>
              </p:cNvGrpSpPr>
              <p:nvPr/>
            </p:nvGrpSpPr>
            <p:grpSpPr bwMode="auto">
              <a:xfrm>
                <a:off x="870" y="3585"/>
                <a:ext cx="48" cy="23"/>
                <a:chOff x="870" y="3585"/>
                <a:chExt cx="48" cy="23"/>
              </a:xfrm>
            </p:grpSpPr>
            <p:sp>
              <p:nvSpPr>
                <p:cNvPr id="425123" name="Freeform 22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4" name="Freeform 22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5" name="Freeform 22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26" name="Group 229"/>
              <p:cNvGrpSpPr>
                <a:grpSpLocks/>
              </p:cNvGrpSpPr>
              <p:nvPr/>
            </p:nvGrpSpPr>
            <p:grpSpPr bwMode="auto">
              <a:xfrm>
                <a:off x="882" y="3600"/>
                <a:ext cx="100" cy="73"/>
                <a:chOff x="882" y="3600"/>
                <a:chExt cx="100" cy="73"/>
              </a:xfrm>
            </p:grpSpPr>
            <p:grpSp>
              <p:nvGrpSpPr>
                <p:cNvPr id="425127" name="Group 230"/>
                <p:cNvGrpSpPr>
                  <a:grpSpLocks/>
                </p:cNvGrpSpPr>
                <p:nvPr/>
              </p:nvGrpSpPr>
              <p:grpSpPr bwMode="auto">
                <a:xfrm>
                  <a:off x="882" y="3600"/>
                  <a:ext cx="49" cy="23"/>
                  <a:chOff x="882" y="3600"/>
                  <a:chExt cx="49" cy="23"/>
                </a:xfrm>
              </p:grpSpPr>
              <p:sp>
                <p:nvSpPr>
                  <p:cNvPr id="425128" name="Freeform 23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9" name="Freeform 23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0" name="Freeform 23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31" name="Group 234"/>
                <p:cNvGrpSpPr>
                  <a:grpSpLocks/>
                </p:cNvGrpSpPr>
                <p:nvPr/>
              </p:nvGrpSpPr>
              <p:grpSpPr bwMode="auto">
                <a:xfrm>
                  <a:off x="894" y="3612"/>
                  <a:ext cx="49" cy="23"/>
                  <a:chOff x="894" y="3612"/>
                  <a:chExt cx="49" cy="23"/>
                </a:xfrm>
              </p:grpSpPr>
              <p:sp>
                <p:nvSpPr>
                  <p:cNvPr id="425132" name="Freeform 23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3" name="Freeform 23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4" name="Freeform 23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35" name="Group 238"/>
                <p:cNvGrpSpPr>
                  <a:grpSpLocks/>
                </p:cNvGrpSpPr>
                <p:nvPr/>
              </p:nvGrpSpPr>
              <p:grpSpPr bwMode="auto">
                <a:xfrm>
                  <a:off x="907" y="3625"/>
                  <a:ext cx="49" cy="23"/>
                  <a:chOff x="907" y="3625"/>
                  <a:chExt cx="49" cy="23"/>
                </a:xfrm>
              </p:grpSpPr>
              <p:sp>
                <p:nvSpPr>
                  <p:cNvPr id="425136" name="Freeform 23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7" name="Freeform 24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8" name="Freeform 24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39" name="Group 242"/>
                <p:cNvGrpSpPr>
                  <a:grpSpLocks/>
                </p:cNvGrpSpPr>
                <p:nvPr/>
              </p:nvGrpSpPr>
              <p:grpSpPr bwMode="auto">
                <a:xfrm>
                  <a:off x="919" y="3638"/>
                  <a:ext cx="49" cy="22"/>
                  <a:chOff x="919" y="3638"/>
                  <a:chExt cx="49" cy="22"/>
                </a:xfrm>
              </p:grpSpPr>
              <p:sp>
                <p:nvSpPr>
                  <p:cNvPr id="425140" name="Freeform 24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1" name="Freeform 24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2" name="Freeform 24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43" name="Group 246"/>
                <p:cNvGrpSpPr>
                  <a:grpSpLocks/>
                </p:cNvGrpSpPr>
                <p:nvPr/>
              </p:nvGrpSpPr>
              <p:grpSpPr bwMode="auto">
                <a:xfrm>
                  <a:off x="932" y="3651"/>
                  <a:ext cx="50" cy="22"/>
                  <a:chOff x="932" y="3651"/>
                  <a:chExt cx="50" cy="22"/>
                </a:xfrm>
              </p:grpSpPr>
              <p:sp>
                <p:nvSpPr>
                  <p:cNvPr id="425144" name="Freeform 24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5" name="Freeform 24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6" name="Freeform 24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147" name="Group 250"/>
              <p:cNvGrpSpPr>
                <a:grpSpLocks/>
              </p:cNvGrpSpPr>
              <p:nvPr/>
            </p:nvGrpSpPr>
            <p:grpSpPr bwMode="auto">
              <a:xfrm>
                <a:off x="944" y="3665"/>
                <a:ext cx="99" cy="74"/>
                <a:chOff x="944" y="3665"/>
                <a:chExt cx="99" cy="74"/>
              </a:xfrm>
            </p:grpSpPr>
            <p:grpSp>
              <p:nvGrpSpPr>
                <p:cNvPr id="425148" name="Group 251"/>
                <p:cNvGrpSpPr>
                  <a:grpSpLocks/>
                </p:cNvGrpSpPr>
                <p:nvPr/>
              </p:nvGrpSpPr>
              <p:grpSpPr bwMode="auto">
                <a:xfrm>
                  <a:off x="944" y="3665"/>
                  <a:ext cx="49" cy="23"/>
                  <a:chOff x="944" y="3665"/>
                  <a:chExt cx="49" cy="23"/>
                </a:xfrm>
              </p:grpSpPr>
              <p:sp>
                <p:nvSpPr>
                  <p:cNvPr id="425149" name="Freeform 25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0" name="Freeform 25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1" name="Freeform 25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52" name="Group 255"/>
                <p:cNvGrpSpPr>
                  <a:grpSpLocks/>
                </p:cNvGrpSpPr>
                <p:nvPr/>
              </p:nvGrpSpPr>
              <p:grpSpPr bwMode="auto">
                <a:xfrm>
                  <a:off x="957" y="3678"/>
                  <a:ext cx="48" cy="23"/>
                  <a:chOff x="957" y="3678"/>
                  <a:chExt cx="48" cy="23"/>
                </a:xfrm>
              </p:grpSpPr>
              <p:sp>
                <p:nvSpPr>
                  <p:cNvPr id="425153" name="Freeform 25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4" name="Freeform 25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5" name="Freeform 25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56" name="Group 259"/>
                <p:cNvGrpSpPr>
                  <a:grpSpLocks/>
                </p:cNvGrpSpPr>
                <p:nvPr/>
              </p:nvGrpSpPr>
              <p:grpSpPr bwMode="auto">
                <a:xfrm>
                  <a:off x="969" y="3690"/>
                  <a:ext cx="49" cy="23"/>
                  <a:chOff x="969" y="3690"/>
                  <a:chExt cx="49" cy="23"/>
                </a:xfrm>
              </p:grpSpPr>
              <p:sp>
                <p:nvSpPr>
                  <p:cNvPr id="425157" name="Freeform 26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8" name="Freeform 26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9" name="Freeform 26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60" name="Group 263"/>
                <p:cNvGrpSpPr>
                  <a:grpSpLocks/>
                </p:cNvGrpSpPr>
                <p:nvPr/>
              </p:nvGrpSpPr>
              <p:grpSpPr bwMode="auto">
                <a:xfrm>
                  <a:off x="982" y="3703"/>
                  <a:ext cx="49" cy="23"/>
                  <a:chOff x="982" y="3703"/>
                  <a:chExt cx="49" cy="23"/>
                </a:xfrm>
              </p:grpSpPr>
              <p:sp>
                <p:nvSpPr>
                  <p:cNvPr id="425161" name="Freeform 26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2" name="Freeform 26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3" name="Freeform 26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64" name="Group 267"/>
                <p:cNvGrpSpPr>
                  <a:grpSpLocks/>
                </p:cNvGrpSpPr>
                <p:nvPr/>
              </p:nvGrpSpPr>
              <p:grpSpPr bwMode="auto">
                <a:xfrm>
                  <a:off x="995" y="3716"/>
                  <a:ext cx="48" cy="23"/>
                  <a:chOff x="995" y="3716"/>
                  <a:chExt cx="48" cy="23"/>
                </a:xfrm>
              </p:grpSpPr>
              <p:sp>
                <p:nvSpPr>
                  <p:cNvPr id="425165" name="Freeform 26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6" name="Freeform 26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7" name="Freeform 27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168" name="Group 271"/>
              <p:cNvGrpSpPr>
                <a:grpSpLocks/>
              </p:cNvGrpSpPr>
              <p:nvPr/>
            </p:nvGrpSpPr>
            <p:grpSpPr bwMode="auto">
              <a:xfrm>
                <a:off x="1005" y="3727"/>
                <a:ext cx="49" cy="23"/>
                <a:chOff x="1005" y="3727"/>
                <a:chExt cx="49" cy="23"/>
              </a:xfrm>
            </p:grpSpPr>
            <p:sp>
              <p:nvSpPr>
                <p:cNvPr id="425169" name="Freeform 27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0" name="Freeform 27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1" name="Freeform 27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72" name="Group 275"/>
              <p:cNvGrpSpPr>
                <a:grpSpLocks/>
              </p:cNvGrpSpPr>
              <p:nvPr/>
            </p:nvGrpSpPr>
            <p:grpSpPr bwMode="auto">
              <a:xfrm>
                <a:off x="1018" y="3740"/>
                <a:ext cx="49" cy="22"/>
                <a:chOff x="1018" y="3740"/>
                <a:chExt cx="49" cy="22"/>
              </a:xfrm>
            </p:grpSpPr>
            <p:sp>
              <p:nvSpPr>
                <p:cNvPr id="425173" name="Freeform 27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4" name="Freeform 27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5" name="Freeform 27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76" name="Group 279"/>
              <p:cNvGrpSpPr>
                <a:grpSpLocks/>
              </p:cNvGrpSpPr>
              <p:nvPr/>
            </p:nvGrpSpPr>
            <p:grpSpPr bwMode="auto">
              <a:xfrm>
                <a:off x="1030" y="3753"/>
                <a:ext cx="49" cy="23"/>
                <a:chOff x="1030" y="3753"/>
                <a:chExt cx="49" cy="23"/>
              </a:xfrm>
            </p:grpSpPr>
            <p:sp>
              <p:nvSpPr>
                <p:cNvPr id="425177" name="Freeform 28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8" name="Freeform 28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9" name="Freeform 28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180" name="Freeform 28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1" name="Freeform 28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2" name="Freeform 28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183" name="Group 286"/>
              <p:cNvGrpSpPr>
                <a:grpSpLocks/>
              </p:cNvGrpSpPr>
              <p:nvPr/>
            </p:nvGrpSpPr>
            <p:grpSpPr bwMode="auto">
              <a:xfrm>
                <a:off x="790" y="3547"/>
                <a:ext cx="49" cy="23"/>
                <a:chOff x="790" y="3547"/>
                <a:chExt cx="49" cy="23"/>
              </a:xfrm>
            </p:grpSpPr>
            <p:sp>
              <p:nvSpPr>
                <p:cNvPr id="425184" name="Freeform 28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5" name="Freeform 28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6" name="Freeform 28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87" name="Group 290"/>
              <p:cNvGrpSpPr>
                <a:grpSpLocks/>
              </p:cNvGrpSpPr>
              <p:nvPr/>
            </p:nvGrpSpPr>
            <p:grpSpPr bwMode="auto">
              <a:xfrm>
                <a:off x="803" y="3560"/>
                <a:ext cx="49" cy="22"/>
                <a:chOff x="803" y="3560"/>
                <a:chExt cx="49" cy="22"/>
              </a:xfrm>
            </p:grpSpPr>
            <p:sp>
              <p:nvSpPr>
                <p:cNvPr id="425188" name="Freeform 29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9" name="Freeform 29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0" name="Freeform 29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91" name="Group 294"/>
              <p:cNvGrpSpPr>
                <a:grpSpLocks/>
              </p:cNvGrpSpPr>
              <p:nvPr/>
            </p:nvGrpSpPr>
            <p:grpSpPr bwMode="auto">
              <a:xfrm>
                <a:off x="815" y="3572"/>
                <a:ext cx="50" cy="23"/>
                <a:chOff x="815" y="3572"/>
                <a:chExt cx="50" cy="23"/>
              </a:xfrm>
            </p:grpSpPr>
            <p:sp>
              <p:nvSpPr>
                <p:cNvPr id="425192" name="Freeform 29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3" name="Freeform 29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4" name="Freeform 29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95" name="Group 298"/>
              <p:cNvGrpSpPr>
                <a:grpSpLocks/>
              </p:cNvGrpSpPr>
              <p:nvPr/>
            </p:nvGrpSpPr>
            <p:grpSpPr bwMode="auto">
              <a:xfrm>
                <a:off x="828" y="3585"/>
                <a:ext cx="49" cy="23"/>
                <a:chOff x="828" y="3585"/>
                <a:chExt cx="49" cy="23"/>
              </a:xfrm>
            </p:grpSpPr>
            <p:sp>
              <p:nvSpPr>
                <p:cNvPr id="425196" name="Freeform 29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7" name="Freeform 30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8" name="Freeform 30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99" name="Group 302"/>
              <p:cNvGrpSpPr>
                <a:grpSpLocks/>
              </p:cNvGrpSpPr>
              <p:nvPr/>
            </p:nvGrpSpPr>
            <p:grpSpPr bwMode="auto">
              <a:xfrm>
                <a:off x="840" y="3600"/>
                <a:ext cx="100" cy="73"/>
                <a:chOff x="840" y="3600"/>
                <a:chExt cx="100" cy="73"/>
              </a:xfrm>
            </p:grpSpPr>
            <p:grpSp>
              <p:nvGrpSpPr>
                <p:cNvPr id="425200" name="Group 303"/>
                <p:cNvGrpSpPr>
                  <a:grpSpLocks/>
                </p:cNvGrpSpPr>
                <p:nvPr/>
              </p:nvGrpSpPr>
              <p:grpSpPr bwMode="auto">
                <a:xfrm>
                  <a:off x="840" y="3600"/>
                  <a:ext cx="49" cy="23"/>
                  <a:chOff x="840" y="3600"/>
                  <a:chExt cx="49" cy="23"/>
                </a:xfrm>
              </p:grpSpPr>
              <p:sp>
                <p:nvSpPr>
                  <p:cNvPr id="425201" name="Freeform 30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2" name="Freeform 30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3" name="Freeform 30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04" name="Group 307"/>
                <p:cNvGrpSpPr>
                  <a:grpSpLocks/>
                </p:cNvGrpSpPr>
                <p:nvPr/>
              </p:nvGrpSpPr>
              <p:grpSpPr bwMode="auto">
                <a:xfrm>
                  <a:off x="853" y="3612"/>
                  <a:ext cx="48" cy="23"/>
                  <a:chOff x="853" y="3612"/>
                  <a:chExt cx="48" cy="23"/>
                </a:xfrm>
              </p:grpSpPr>
              <p:sp>
                <p:nvSpPr>
                  <p:cNvPr id="425205" name="Freeform 30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6" name="Freeform 30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7" name="Freeform 31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08" name="Group 311"/>
                <p:cNvGrpSpPr>
                  <a:grpSpLocks/>
                </p:cNvGrpSpPr>
                <p:nvPr/>
              </p:nvGrpSpPr>
              <p:grpSpPr bwMode="auto">
                <a:xfrm>
                  <a:off x="865" y="3625"/>
                  <a:ext cx="49" cy="23"/>
                  <a:chOff x="865" y="3625"/>
                  <a:chExt cx="49" cy="23"/>
                </a:xfrm>
              </p:grpSpPr>
              <p:sp>
                <p:nvSpPr>
                  <p:cNvPr id="425209" name="Freeform 31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0" name="Freeform 31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1" name="Freeform 31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12" name="Group 315"/>
                <p:cNvGrpSpPr>
                  <a:grpSpLocks/>
                </p:cNvGrpSpPr>
                <p:nvPr/>
              </p:nvGrpSpPr>
              <p:grpSpPr bwMode="auto">
                <a:xfrm>
                  <a:off x="878" y="3638"/>
                  <a:ext cx="49" cy="22"/>
                  <a:chOff x="878" y="3638"/>
                  <a:chExt cx="49" cy="22"/>
                </a:xfrm>
              </p:grpSpPr>
              <p:sp>
                <p:nvSpPr>
                  <p:cNvPr id="425213" name="Freeform 31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4" name="Freeform 31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5" name="Freeform 31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16" name="Group 319"/>
                <p:cNvGrpSpPr>
                  <a:grpSpLocks/>
                </p:cNvGrpSpPr>
                <p:nvPr/>
              </p:nvGrpSpPr>
              <p:grpSpPr bwMode="auto">
                <a:xfrm>
                  <a:off x="890" y="3651"/>
                  <a:ext cx="50" cy="22"/>
                  <a:chOff x="890" y="3651"/>
                  <a:chExt cx="50" cy="22"/>
                </a:xfrm>
              </p:grpSpPr>
              <p:sp>
                <p:nvSpPr>
                  <p:cNvPr id="425217" name="Freeform 32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8" name="Freeform 32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9" name="Freeform 32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220" name="Group 323"/>
              <p:cNvGrpSpPr>
                <a:grpSpLocks/>
              </p:cNvGrpSpPr>
              <p:nvPr/>
            </p:nvGrpSpPr>
            <p:grpSpPr bwMode="auto">
              <a:xfrm>
                <a:off x="903" y="3665"/>
                <a:ext cx="99" cy="74"/>
                <a:chOff x="903" y="3665"/>
                <a:chExt cx="99" cy="74"/>
              </a:xfrm>
            </p:grpSpPr>
            <p:grpSp>
              <p:nvGrpSpPr>
                <p:cNvPr id="425221" name="Group 324"/>
                <p:cNvGrpSpPr>
                  <a:grpSpLocks/>
                </p:cNvGrpSpPr>
                <p:nvPr/>
              </p:nvGrpSpPr>
              <p:grpSpPr bwMode="auto">
                <a:xfrm>
                  <a:off x="903" y="3665"/>
                  <a:ext cx="49" cy="23"/>
                  <a:chOff x="903" y="3665"/>
                  <a:chExt cx="49" cy="23"/>
                </a:xfrm>
              </p:grpSpPr>
              <p:sp>
                <p:nvSpPr>
                  <p:cNvPr id="425222" name="Freeform 32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3" name="Freeform 32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4" name="Freeform 32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25" name="Group 328"/>
                <p:cNvGrpSpPr>
                  <a:grpSpLocks/>
                </p:cNvGrpSpPr>
                <p:nvPr/>
              </p:nvGrpSpPr>
              <p:grpSpPr bwMode="auto">
                <a:xfrm>
                  <a:off x="914" y="3678"/>
                  <a:ext cx="49" cy="23"/>
                  <a:chOff x="914" y="3678"/>
                  <a:chExt cx="49" cy="23"/>
                </a:xfrm>
              </p:grpSpPr>
              <p:sp>
                <p:nvSpPr>
                  <p:cNvPr id="425226" name="Freeform 32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7" name="Freeform 33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8" name="Freeform 33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29" name="Group 332"/>
                <p:cNvGrpSpPr>
                  <a:grpSpLocks/>
                </p:cNvGrpSpPr>
                <p:nvPr/>
              </p:nvGrpSpPr>
              <p:grpSpPr bwMode="auto">
                <a:xfrm>
                  <a:off x="928" y="3690"/>
                  <a:ext cx="48" cy="23"/>
                  <a:chOff x="928" y="3690"/>
                  <a:chExt cx="48" cy="23"/>
                </a:xfrm>
              </p:grpSpPr>
              <p:sp>
                <p:nvSpPr>
                  <p:cNvPr id="425230" name="Freeform 33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1" name="Freeform 33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2" name="Freeform 33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33" name="Group 336"/>
                <p:cNvGrpSpPr>
                  <a:grpSpLocks/>
                </p:cNvGrpSpPr>
                <p:nvPr/>
              </p:nvGrpSpPr>
              <p:grpSpPr bwMode="auto">
                <a:xfrm>
                  <a:off x="940" y="3703"/>
                  <a:ext cx="49" cy="23"/>
                  <a:chOff x="940" y="3703"/>
                  <a:chExt cx="49" cy="23"/>
                </a:xfrm>
              </p:grpSpPr>
              <p:sp>
                <p:nvSpPr>
                  <p:cNvPr id="425234" name="Freeform 33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5" name="Freeform 33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6" name="Freeform 33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37" name="Group 340"/>
                <p:cNvGrpSpPr>
                  <a:grpSpLocks/>
                </p:cNvGrpSpPr>
                <p:nvPr/>
              </p:nvGrpSpPr>
              <p:grpSpPr bwMode="auto">
                <a:xfrm>
                  <a:off x="953" y="3716"/>
                  <a:ext cx="49" cy="23"/>
                  <a:chOff x="953" y="3716"/>
                  <a:chExt cx="49" cy="23"/>
                </a:xfrm>
              </p:grpSpPr>
              <p:sp>
                <p:nvSpPr>
                  <p:cNvPr id="425238" name="Freeform 34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9" name="Freeform 34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0" name="Freeform 34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241" name="Group 344"/>
              <p:cNvGrpSpPr>
                <a:grpSpLocks/>
              </p:cNvGrpSpPr>
              <p:nvPr/>
            </p:nvGrpSpPr>
            <p:grpSpPr bwMode="auto">
              <a:xfrm>
                <a:off x="963" y="3727"/>
                <a:ext cx="49" cy="23"/>
                <a:chOff x="963" y="3727"/>
                <a:chExt cx="49" cy="23"/>
              </a:xfrm>
            </p:grpSpPr>
            <p:sp>
              <p:nvSpPr>
                <p:cNvPr id="425242" name="Freeform 34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3" name="Freeform 34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4" name="Freeform 34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45" name="Group 348"/>
              <p:cNvGrpSpPr>
                <a:grpSpLocks/>
              </p:cNvGrpSpPr>
              <p:nvPr/>
            </p:nvGrpSpPr>
            <p:grpSpPr bwMode="auto">
              <a:xfrm>
                <a:off x="976" y="3740"/>
                <a:ext cx="50" cy="22"/>
                <a:chOff x="976" y="3740"/>
                <a:chExt cx="50" cy="22"/>
              </a:xfrm>
            </p:grpSpPr>
            <p:sp>
              <p:nvSpPr>
                <p:cNvPr id="425246" name="Freeform 34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7" name="Freeform 35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8" name="Freeform 35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49" name="Group 352"/>
              <p:cNvGrpSpPr>
                <a:grpSpLocks/>
              </p:cNvGrpSpPr>
              <p:nvPr/>
            </p:nvGrpSpPr>
            <p:grpSpPr bwMode="auto">
              <a:xfrm>
                <a:off x="761" y="3560"/>
                <a:ext cx="50" cy="22"/>
                <a:chOff x="761" y="3560"/>
                <a:chExt cx="50" cy="22"/>
              </a:xfrm>
            </p:grpSpPr>
            <p:sp>
              <p:nvSpPr>
                <p:cNvPr id="425250" name="Freeform 35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1" name="Freeform 35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2" name="Freeform 35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53" name="Group 356"/>
              <p:cNvGrpSpPr>
                <a:grpSpLocks/>
              </p:cNvGrpSpPr>
              <p:nvPr/>
            </p:nvGrpSpPr>
            <p:grpSpPr bwMode="auto">
              <a:xfrm>
                <a:off x="774" y="3572"/>
                <a:ext cx="49" cy="23"/>
                <a:chOff x="774" y="3572"/>
                <a:chExt cx="49" cy="23"/>
              </a:xfrm>
            </p:grpSpPr>
            <p:sp>
              <p:nvSpPr>
                <p:cNvPr id="425254" name="Freeform 35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5" name="Freeform 35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6" name="Freeform 35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57" name="Group 360"/>
              <p:cNvGrpSpPr>
                <a:grpSpLocks/>
              </p:cNvGrpSpPr>
              <p:nvPr/>
            </p:nvGrpSpPr>
            <p:grpSpPr bwMode="auto">
              <a:xfrm>
                <a:off x="787" y="3585"/>
                <a:ext cx="49" cy="23"/>
                <a:chOff x="787" y="3585"/>
                <a:chExt cx="49" cy="23"/>
              </a:xfrm>
            </p:grpSpPr>
            <p:sp>
              <p:nvSpPr>
                <p:cNvPr id="425258" name="Freeform 36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9" name="Freeform 36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0" name="Freeform 36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61" name="Group 364"/>
              <p:cNvGrpSpPr>
                <a:grpSpLocks/>
              </p:cNvGrpSpPr>
              <p:nvPr/>
            </p:nvGrpSpPr>
            <p:grpSpPr bwMode="auto">
              <a:xfrm>
                <a:off x="799" y="3600"/>
                <a:ext cx="99" cy="73"/>
                <a:chOff x="799" y="3600"/>
                <a:chExt cx="99" cy="73"/>
              </a:xfrm>
            </p:grpSpPr>
            <p:grpSp>
              <p:nvGrpSpPr>
                <p:cNvPr id="425262" name="Group 365"/>
                <p:cNvGrpSpPr>
                  <a:grpSpLocks/>
                </p:cNvGrpSpPr>
                <p:nvPr/>
              </p:nvGrpSpPr>
              <p:grpSpPr bwMode="auto">
                <a:xfrm>
                  <a:off x="799" y="3600"/>
                  <a:ext cx="48" cy="23"/>
                  <a:chOff x="799" y="3600"/>
                  <a:chExt cx="48" cy="23"/>
                </a:xfrm>
              </p:grpSpPr>
              <p:sp>
                <p:nvSpPr>
                  <p:cNvPr id="425263" name="Freeform 36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4" name="Freeform 36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5" name="Freeform 36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66" name="Group 369"/>
                <p:cNvGrpSpPr>
                  <a:grpSpLocks/>
                </p:cNvGrpSpPr>
                <p:nvPr/>
              </p:nvGrpSpPr>
              <p:grpSpPr bwMode="auto">
                <a:xfrm>
                  <a:off x="811" y="3612"/>
                  <a:ext cx="48" cy="23"/>
                  <a:chOff x="811" y="3612"/>
                  <a:chExt cx="48" cy="23"/>
                </a:xfrm>
              </p:grpSpPr>
              <p:sp>
                <p:nvSpPr>
                  <p:cNvPr id="425267" name="Freeform 37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8" name="Freeform 37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9" name="Freeform 37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70" name="Group 373"/>
                <p:cNvGrpSpPr>
                  <a:grpSpLocks/>
                </p:cNvGrpSpPr>
                <p:nvPr/>
              </p:nvGrpSpPr>
              <p:grpSpPr bwMode="auto">
                <a:xfrm>
                  <a:off x="823" y="3625"/>
                  <a:ext cx="49" cy="23"/>
                  <a:chOff x="823" y="3625"/>
                  <a:chExt cx="49" cy="23"/>
                </a:xfrm>
              </p:grpSpPr>
              <p:sp>
                <p:nvSpPr>
                  <p:cNvPr id="425271" name="Freeform 37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2" name="Freeform 37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3" name="Freeform 37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74" name="Group 377"/>
                <p:cNvGrpSpPr>
                  <a:grpSpLocks/>
                </p:cNvGrpSpPr>
                <p:nvPr/>
              </p:nvGrpSpPr>
              <p:grpSpPr bwMode="auto">
                <a:xfrm>
                  <a:off x="836" y="3638"/>
                  <a:ext cx="50" cy="22"/>
                  <a:chOff x="836" y="3638"/>
                  <a:chExt cx="50" cy="22"/>
                </a:xfrm>
              </p:grpSpPr>
              <p:sp>
                <p:nvSpPr>
                  <p:cNvPr id="425275" name="Freeform 37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6" name="Freeform 37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7" name="Freeform 38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78" name="Group 381"/>
                <p:cNvGrpSpPr>
                  <a:grpSpLocks/>
                </p:cNvGrpSpPr>
                <p:nvPr/>
              </p:nvGrpSpPr>
              <p:grpSpPr bwMode="auto">
                <a:xfrm>
                  <a:off x="849" y="3651"/>
                  <a:ext cx="49" cy="22"/>
                  <a:chOff x="849" y="3651"/>
                  <a:chExt cx="49" cy="22"/>
                </a:xfrm>
              </p:grpSpPr>
              <p:sp>
                <p:nvSpPr>
                  <p:cNvPr id="425279" name="Freeform 38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0" name="Freeform 38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1" name="Freeform 38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282" name="Group 385"/>
              <p:cNvGrpSpPr>
                <a:grpSpLocks/>
              </p:cNvGrpSpPr>
              <p:nvPr/>
            </p:nvGrpSpPr>
            <p:grpSpPr bwMode="auto">
              <a:xfrm>
                <a:off x="861" y="3665"/>
                <a:ext cx="99" cy="74"/>
                <a:chOff x="861" y="3665"/>
                <a:chExt cx="99" cy="74"/>
              </a:xfrm>
            </p:grpSpPr>
            <p:grpSp>
              <p:nvGrpSpPr>
                <p:cNvPr id="425283" name="Group 386"/>
                <p:cNvGrpSpPr>
                  <a:grpSpLocks/>
                </p:cNvGrpSpPr>
                <p:nvPr/>
              </p:nvGrpSpPr>
              <p:grpSpPr bwMode="auto">
                <a:xfrm>
                  <a:off x="861" y="3665"/>
                  <a:ext cx="50" cy="23"/>
                  <a:chOff x="861" y="3665"/>
                  <a:chExt cx="50" cy="23"/>
                </a:xfrm>
              </p:grpSpPr>
              <p:sp>
                <p:nvSpPr>
                  <p:cNvPr id="425284" name="Freeform 38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5" name="Freeform 38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6" name="Freeform 38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87" name="Group 390"/>
                <p:cNvGrpSpPr>
                  <a:grpSpLocks/>
                </p:cNvGrpSpPr>
                <p:nvPr/>
              </p:nvGrpSpPr>
              <p:grpSpPr bwMode="auto">
                <a:xfrm>
                  <a:off x="873" y="3678"/>
                  <a:ext cx="49" cy="23"/>
                  <a:chOff x="873" y="3678"/>
                  <a:chExt cx="49" cy="23"/>
                </a:xfrm>
              </p:grpSpPr>
              <p:sp>
                <p:nvSpPr>
                  <p:cNvPr id="425288" name="Freeform 39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9" name="Freeform 39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0" name="Freeform 39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91" name="Group 394"/>
                <p:cNvGrpSpPr>
                  <a:grpSpLocks/>
                </p:cNvGrpSpPr>
                <p:nvPr/>
              </p:nvGrpSpPr>
              <p:grpSpPr bwMode="auto">
                <a:xfrm>
                  <a:off x="886" y="3690"/>
                  <a:ext cx="49" cy="23"/>
                  <a:chOff x="886" y="3690"/>
                  <a:chExt cx="49" cy="23"/>
                </a:xfrm>
              </p:grpSpPr>
              <p:sp>
                <p:nvSpPr>
                  <p:cNvPr id="425292" name="Freeform 39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3" name="Freeform 39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4" name="Freeform 39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95" name="Group 398"/>
                <p:cNvGrpSpPr>
                  <a:grpSpLocks/>
                </p:cNvGrpSpPr>
                <p:nvPr/>
              </p:nvGrpSpPr>
              <p:grpSpPr bwMode="auto">
                <a:xfrm>
                  <a:off x="899" y="3703"/>
                  <a:ext cx="48" cy="23"/>
                  <a:chOff x="899" y="3703"/>
                  <a:chExt cx="48" cy="23"/>
                </a:xfrm>
              </p:grpSpPr>
              <p:sp>
                <p:nvSpPr>
                  <p:cNvPr id="425296" name="Freeform 39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7" name="Freeform 40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8" name="Freeform 40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99" name="Group 402"/>
                <p:cNvGrpSpPr>
                  <a:grpSpLocks/>
                </p:cNvGrpSpPr>
                <p:nvPr/>
              </p:nvGrpSpPr>
              <p:grpSpPr bwMode="auto">
                <a:xfrm>
                  <a:off x="912" y="3716"/>
                  <a:ext cx="48" cy="23"/>
                  <a:chOff x="912" y="3716"/>
                  <a:chExt cx="48" cy="23"/>
                </a:xfrm>
              </p:grpSpPr>
              <p:sp>
                <p:nvSpPr>
                  <p:cNvPr id="425300" name="Freeform 40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1" name="Freeform 40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2" name="Freeform 40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303" name="Group 406"/>
              <p:cNvGrpSpPr>
                <a:grpSpLocks/>
              </p:cNvGrpSpPr>
              <p:nvPr/>
            </p:nvGrpSpPr>
            <p:grpSpPr bwMode="auto">
              <a:xfrm>
                <a:off x="922" y="3727"/>
                <a:ext cx="49" cy="23"/>
                <a:chOff x="922" y="3727"/>
                <a:chExt cx="49" cy="23"/>
              </a:xfrm>
            </p:grpSpPr>
            <p:sp>
              <p:nvSpPr>
                <p:cNvPr id="425304" name="Freeform 40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5" name="Freeform 40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6" name="Freeform 40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07" name="Group 410"/>
              <p:cNvGrpSpPr>
                <a:grpSpLocks/>
              </p:cNvGrpSpPr>
              <p:nvPr/>
            </p:nvGrpSpPr>
            <p:grpSpPr bwMode="auto">
              <a:xfrm>
                <a:off x="895" y="3526"/>
                <a:ext cx="44" cy="23"/>
                <a:chOff x="895" y="3526"/>
                <a:chExt cx="44" cy="23"/>
              </a:xfrm>
            </p:grpSpPr>
            <p:sp>
              <p:nvSpPr>
                <p:cNvPr id="425308" name="Freeform 41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9" name="Freeform 41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0" name="Freeform 41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11" name="Group 414"/>
              <p:cNvGrpSpPr>
                <a:grpSpLocks/>
              </p:cNvGrpSpPr>
              <p:nvPr/>
            </p:nvGrpSpPr>
            <p:grpSpPr bwMode="auto">
              <a:xfrm>
                <a:off x="907" y="3540"/>
                <a:ext cx="45" cy="22"/>
                <a:chOff x="907" y="3540"/>
                <a:chExt cx="45" cy="22"/>
              </a:xfrm>
            </p:grpSpPr>
            <p:sp>
              <p:nvSpPr>
                <p:cNvPr id="425312" name="Freeform 41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3" name="Freeform 41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4" name="Freeform 41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15" name="Group 418"/>
              <p:cNvGrpSpPr>
                <a:grpSpLocks/>
              </p:cNvGrpSpPr>
              <p:nvPr/>
            </p:nvGrpSpPr>
            <p:grpSpPr bwMode="auto">
              <a:xfrm>
                <a:off x="920" y="3553"/>
                <a:ext cx="45" cy="23"/>
                <a:chOff x="920" y="3553"/>
                <a:chExt cx="45" cy="23"/>
              </a:xfrm>
            </p:grpSpPr>
            <p:sp>
              <p:nvSpPr>
                <p:cNvPr id="425316" name="Freeform 41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7" name="Freeform 42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8" name="Freeform 42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19" name="Group 422"/>
              <p:cNvGrpSpPr>
                <a:grpSpLocks/>
              </p:cNvGrpSpPr>
              <p:nvPr/>
            </p:nvGrpSpPr>
            <p:grpSpPr bwMode="auto">
              <a:xfrm>
                <a:off x="934" y="3566"/>
                <a:ext cx="44" cy="23"/>
                <a:chOff x="934" y="3566"/>
                <a:chExt cx="44" cy="23"/>
              </a:xfrm>
            </p:grpSpPr>
            <p:sp>
              <p:nvSpPr>
                <p:cNvPr id="425320" name="Freeform 42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1" name="Freeform 42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2" name="Freeform 42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23" name="Group 426"/>
              <p:cNvGrpSpPr>
                <a:grpSpLocks/>
              </p:cNvGrpSpPr>
              <p:nvPr/>
            </p:nvGrpSpPr>
            <p:grpSpPr bwMode="auto">
              <a:xfrm>
                <a:off x="949" y="3579"/>
                <a:ext cx="83" cy="63"/>
                <a:chOff x="949" y="3579"/>
                <a:chExt cx="83" cy="63"/>
              </a:xfrm>
            </p:grpSpPr>
            <p:grpSp>
              <p:nvGrpSpPr>
                <p:cNvPr id="425324" name="Group 427"/>
                <p:cNvGrpSpPr>
                  <a:grpSpLocks/>
                </p:cNvGrpSpPr>
                <p:nvPr/>
              </p:nvGrpSpPr>
              <p:grpSpPr bwMode="auto">
                <a:xfrm>
                  <a:off x="949" y="3579"/>
                  <a:ext cx="44" cy="23"/>
                  <a:chOff x="949" y="3579"/>
                  <a:chExt cx="44" cy="23"/>
                </a:xfrm>
              </p:grpSpPr>
              <p:sp>
                <p:nvSpPr>
                  <p:cNvPr id="425325" name="Freeform 42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6" name="Freeform 42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7" name="Freeform 43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28" name="Group 431"/>
                <p:cNvGrpSpPr>
                  <a:grpSpLocks/>
                </p:cNvGrpSpPr>
                <p:nvPr/>
              </p:nvGrpSpPr>
              <p:grpSpPr bwMode="auto">
                <a:xfrm>
                  <a:off x="961" y="3592"/>
                  <a:ext cx="45" cy="23"/>
                  <a:chOff x="961" y="3592"/>
                  <a:chExt cx="45" cy="23"/>
                </a:xfrm>
              </p:grpSpPr>
              <p:sp>
                <p:nvSpPr>
                  <p:cNvPr id="425329" name="Freeform 43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0" name="Freeform 43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1" name="Freeform 43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32" name="Group 435"/>
                <p:cNvGrpSpPr>
                  <a:grpSpLocks/>
                </p:cNvGrpSpPr>
                <p:nvPr/>
              </p:nvGrpSpPr>
              <p:grpSpPr bwMode="auto">
                <a:xfrm>
                  <a:off x="974" y="3606"/>
                  <a:ext cx="44" cy="23"/>
                  <a:chOff x="974" y="3606"/>
                  <a:chExt cx="44" cy="23"/>
                </a:xfrm>
              </p:grpSpPr>
              <p:sp>
                <p:nvSpPr>
                  <p:cNvPr id="425333" name="Freeform 43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4" name="Freeform 43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5" name="Freeform 43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36" name="Group 439"/>
                <p:cNvGrpSpPr>
                  <a:grpSpLocks/>
                </p:cNvGrpSpPr>
                <p:nvPr/>
              </p:nvGrpSpPr>
              <p:grpSpPr bwMode="auto">
                <a:xfrm>
                  <a:off x="987" y="3619"/>
                  <a:ext cx="45" cy="23"/>
                  <a:chOff x="987" y="3619"/>
                  <a:chExt cx="45" cy="23"/>
                </a:xfrm>
              </p:grpSpPr>
              <p:sp>
                <p:nvSpPr>
                  <p:cNvPr id="425337" name="Freeform 44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8" name="Freeform 44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9" name="Freeform 44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340" name="Group 443"/>
              <p:cNvGrpSpPr>
                <a:grpSpLocks/>
              </p:cNvGrpSpPr>
              <p:nvPr/>
            </p:nvGrpSpPr>
            <p:grpSpPr bwMode="auto">
              <a:xfrm>
                <a:off x="1002" y="3632"/>
                <a:ext cx="83" cy="63"/>
                <a:chOff x="1002" y="3632"/>
                <a:chExt cx="83" cy="63"/>
              </a:xfrm>
            </p:grpSpPr>
            <p:grpSp>
              <p:nvGrpSpPr>
                <p:cNvPr id="425341" name="Group 444"/>
                <p:cNvGrpSpPr>
                  <a:grpSpLocks/>
                </p:cNvGrpSpPr>
                <p:nvPr/>
              </p:nvGrpSpPr>
              <p:grpSpPr bwMode="auto">
                <a:xfrm>
                  <a:off x="1002" y="3632"/>
                  <a:ext cx="44" cy="22"/>
                  <a:chOff x="1002" y="3632"/>
                  <a:chExt cx="44" cy="22"/>
                </a:xfrm>
              </p:grpSpPr>
              <p:sp>
                <p:nvSpPr>
                  <p:cNvPr id="425342" name="Freeform 44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3" name="Freeform 44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4" name="Freeform 44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45" name="Group 448"/>
                <p:cNvGrpSpPr>
                  <a:grpSpLocks/>
                </p:cNvGrpSpPr>
                <p:nvPr/>
              </p:nvGrpSpPr>
              <p:grpSpPr bwMode="auto">
                <a:xfrm>
                  <a:off x="1014" y="3645"/>
                  <a:ext cx="44" cy="23"/>
                  <a:chOff x="1014" y="3645"/>
                  <a:chExt cx="44" cy="23"/>
                </a:xfrm>
              </p:grpSpPr>
              <p:sp>
                <p:nvSpPr>
                  <p:cNvPr id="425346" name="Freeform 44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7" name="Freeform 45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8" name="Freeform 45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49" name="Group 452"/>
                <p:cNvGrpSpPr>
                  <a:grpSpLocks/>
                </p:cNvGrpSpPr>
                <p:nvPr/>
              </p:nvGrpSpPr>
              <p:grpSpPr bwMode="auto">
                <a:xfrm>
                  <a:off x="1027" y="3659"/>
                  <a:ext cx="45" cy="23"/>
                  <a:chOff x="1027" y="3659"/>
                  <a:chExt cx="45" cy="23"/>
                </a:xfrm>
              </p:grpSpPr>
              <p:sp>
                <p:nvSpPr>
                  <p:cNvPr id="425350" name="Freeform 45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1" name="Freeform 45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2" name="Freeform 45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53" name="Group 456"/>
                <p:cNvGrpSpPr>
                  <a:grpSpLocks/>
                </p:cNvGrpSpPr>
                <p:nvPr/>
              </p:nvGrpSpPr>
              <p:grpSpPr bwMode="auto">
                <a:xfrm>
                  <a:off x="1040" y="3672"/>
                  <a:ext cx="45" cy="23"/>
                  <a:chOff x="1040" y="3672"/>
                  <a:chExt cx="45" cy="23"/>
                </a:xfrm>
              </p:grpSpPr>
              <p:sp>
                <p:nvSpPr>
                  <p:cNvPr id="425354" name="Freeform 45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5" name="Freeform 45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6" name="Freeform 45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357" name="Group 460"/>
              <p:cNvGrpSpPr>
                <a:grpSpLocks/>
              </p:cNvGrpSpPr>
              <p:nvPr/>
            </p:nvGrpSpPr>
            <p:grpSpPr bwMode="auto">
              <a:xfrm>
                <a:off x="1054" y="3685"/>
                <a:ext cx="45" cy="23"/>
                <a:chOff x="1054" y="3685"/>
                <a:chExt cx="45" cy="23"/>
              </a:xfrm>
            </p:grpSpPr>
            <p:sp>
              <p:nvSpPr>
                <p:cNvPr id="425358" name="Freeform 46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9" name="Freeform 46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0" name="Freeform 46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61" name="Group 464"/>
              <p:cNvGrpSpPr>
                <a:grpSpLocks/>
              </p:cNvGrpSpPr>
              <p:nvPr/>
            </p:nvGrpSpPr>
            <p:grpSpPr bwMode="auto">
              <a:xfrm>
                <a:off x="1067" y="3698"/>
                <a:ext cx="45" cy="23"/>
                <a:chOff x="1067" y="3698"/>
                <a:chExt cx="45" cy="23"/>
              </a:xfrm>
            </p:grpSpPr>
            <p:sp>
              <p:nvSpPr>
                <p:cNvPr id="425362" name="Freeform 46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3" name="Freeform 46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4" name="Freeform 46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65" name="Group 468"/>
              <p:cNvGrpSpPr>
                <a:grpSpLocks/>
              </p:cNvGrpSpPr>
              <p:nvPr/>
            </p:nvGrpSpPr>
            <p:grpSpPr bwMode="auto">
              <a:xfrm>
                <a:off x="1079" y="3712"/>
                <a:ext cx="44" cy="23"/>
                <a:chOff x="1079" y="3712"/>
                <a:chExt cx="44" cy="23"/>
              </a:xfrm>
            </p:grpSpPr>
            <p:sp>
              <p:nvSpPr>
                <p:cNvPr id="425366" name="Freeform 46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7" name="Freeform 47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8" name="Freeform 47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69" name="Group 472"/>
              <p:cNvGrpSpPr>
                <a:grpSpLocks/>
              </p:cNvGrpSpPr>
              <p:nvPr/>
            </p:nvGrpSpPr>
            <p:grpSpPr bwMode="auto">
              <a:xfrm>
                <a:off x="1093" y="3725"/>
                <a:ext cx="45" cy="23"/>
                <a:chOff x="1093" y="3725"/>
                <a:chExt cx="45" cy="23"/>
              </a:xfrm>
            </p:grpSpPr>
            <p:sp>
              <p:nvSpPr>
                <p:cNvPr id="425370" name="Freeform 47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1" name="Freeform 47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2" name="Freeform 47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73" name="Group 476"/>
              <p:cNvGrpSpPr>
                <a:grpSpLocks/>
              </p:cNvGrpSpPr>
              <p:nvPr/>
            </p:nvGrpSpPr>
            <p:grpSpPr bwMode="auto">
              <a:xfrm>
                <a:off x="1108" y="3739"/>
                <a:ext cx="44" cy="23"/>
                <a:chOff x="1108" y="3739"/>
                <a:chExt cx="44" cy="23"/>
              </a:xfrm>
            </p:grpSpPr>
            <p:sp>
              <p:nvSpPr>
                <p:cNvPr id="425374" name="Freeform 47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5" name="Freeform 47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6" name="Freeform 47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77" name="Group 480"/>
              <p:cNvGrpSpPr>
                <a:grpSpLocks/>
              </p:cNvGrpSpPr>
              <p:nvPr/>
            </p:nvGrpSpPr>
            <p:grpSpPr bwMode="auto">
              <a:xfrm>
                <a:off x="1121" y="3753"/>
                <a:ext cx="45" cy="23"/>
                <a:chOff x="1121" y="3753"/>
                <a:chExt cx="45" cy="23"/>
              </a:xfrm>
            </p:grpSpPr>
            <p:sp>
              <p:nvSpPr>
                <p:cNvPr id="425378" name="Freeform 48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9" name="Freeform 48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0" name="Freeform 48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81" name="Group 484"/>
              <p:cNvGrpSpPr>
                <a:grpSpLocks/>
              </p:cNvGrpSpPr>
              <p:nvPr/>
            </p:nvGrpSpPr>
            <p:grpSpPr bwMode="auto">
              <a:xfrm>
                <a:off x="1133" y="3767"/>
                <a:ext cx="44" cy="23"/>
                <a:chOff x="1133" y="3767"/>
                <a:chExt cx="44" cy="23"/>
              </a:xfrm>
            </p:grpSpPr>
            <p:sp>
              <p:nvSpPr>
                <p:cNvPr id="425382" name="Freeform 48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3" name="Freeform 48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4" name="Freeform 48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385" name="Freeform 48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6" name="Freeform 48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7" name="Freeform 49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8" name="Freeform 49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9" name="Freeform 49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0" name="Freeform 49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1" name="Freeform 49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2" name="Freeform 49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3" name="Freeform 49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4" name="Freeform 49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5" name="Freeform 49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396" name="Group 499"/>
              <p:cNvGrpSpPr>
                <a:grpSpLocks/>
              </p:cNvGrpSpPr>
              <p:nvPr/>
            </p:nvGrpSpPr>
            <p:grpSpPr bwMode="auto">
              <a:xfrm>
                <a:off x="700" y="3535"/>
                <a:ext cx="49" cy="24"/>
                <a:chOff x="700" y="3535"/>
                <a:chExt cx="49" cy="24"/>
              </a:xfrm>
            </p:grpSpPr>
            <p:sp>
              <p:nvSpPr>
                <p:cNvPr id="425397" name="Freeform 50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8" name="Freeform 50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9" name="Freeform 50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00" name="Group 503"/>
              <p:cNvGrpSpPr>
                <a:grpSpLocks/>
              </p:cNvGrpSpPr>
              <p:nvPr/>
            </p:nvGrpSpPr>
            <p:grpSpPr bwMode="auto">
              <a:xfrm>
                <a:off x="714" y="3551"/>
                <a:ext cx="49" cy="22"/>
                <a:chOff x="714" y="3551"/>
                <a:chExt cx="49" cy="22"/>
              </a:xfrm>
            </p:grpSpPr>
            <p:sp>
              <p:nvSpPr>
                <p:cNvPr id="425401" name="Freeform 50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2" name="Freeform 50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3" name="Freeform 50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04" name="Group 507"/>
              <p:cNvGrpSpPr>
                <a:grpSpLocks/>
              </p:cNvGrpSpPr>
              <p:nvPr/>
            </p:nvGrpSpPr>
            <p:grpSpPr bwMode="auto">
              <a:xfrm>
                <a:off x="728" y="3564"/>
                <a:ext cx="48" cy="23"/>
                <a:chOff x="728" y="3564"/>
                <a:chExt cx="48" cy="23"/>
              </a:xfrm>
            </p:grpSpPr>
            <p:sp>
              <p:nvSpPr>
                <p:cNvPr id="425405" name="Freeform 50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6" name="Freeform 50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7" name="Freeform 51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08" name="Group 511"/>
              <p:cNvGrpSpPr>
                <a:grpSpLocks/>
              </p:cNvGrpSpPr>
              <p:nvPr/>
            </p:nvGrpSpPr>
            <p:grpSpPr bwMode="auto">
              <a:xfrm>
                <a:off x="742" y="3582"/>
                <a:ext cx="49" cy="23"/>
                <a:chOff x="742" y="3582"/>
                <a:chExt cx="49" cy="23"/>
              </a:xfrm>
            </p:grpSpPr>
            <p:sp>
              <p:nvSpPr>
                <p:cNvPr id="425409" name="Freeform 51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0" name="Freeform 51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1" name="Freeform 51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12" name="Group 515"/>
              <p:cNvGrpSpPr>
                <a:grpSpLocks/>
              </p:cNvGrpSpPr>
              <p:nvPr/>
            </p:nvGrpSpPr>
            <p:grpSpPr bwMode="auto">
              <a:xfrm>
                <a:off x="752" y="3597"/>
                <a:ext cx="133" cy="106"/>
                <a:chOff x="752" y="3597"/>
                <a:chExt cx="133" cy="106"/>
              </a:xfrm>
            </p:grpSpPr>
            <p:sp>
              <p:nvSpPr>
                <p:cNvPr id="425413" name="Freeform 51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4" name="Freeform 51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5" name="Freeform 51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16" name="Group 519"/>
              <p:cNvGrpSpPr>
                <a:grpSpLocks/>
              </p:cNvGrpSpPr>
              <p:nvPr/>
            </p:nvGrpSpPr>
            <p:grpSpPr bwMode="auto">
              <a:xfrm>
                <a:off x="844" y="3694"/>
                <a:ext cx="48" cy="23"/>
                <a:chOff x="844" y="3694"/>
                <a:chExt cx="48" cy="23"/>
              </a:xfrm>
            </p:grpSpPr>
            <p:sp>
              <p:nvSpPr>
                <p:cNvPr id="425417" name="Freeform 52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8" name="Freeform 52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9" name="Freeform 52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20" name="Group 523"/>
              <p:cNvGrpSpPr>
                <a:grpSpLocks/>
              </p:cNvGrpSpPr>
              <p:nvPr/>
            </p:nvGrpSpPr>
            <p:grpSpPr bwMode="auto">
              <a:xfrm>
                <a:off x="857" y="3710"/>
                <a:ext cx="49" cy="22"/>
                <a:chOff x="857" y="3710"/>
                <a:chExt cx="49" cy="22"/>
              </a:xfrm>
            </p:grpSpPr>
            <p:sp>
              <p:nvSpPr>
                <p:cNvPr id="425421" name="Freeform 52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2" name="Freeform 52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3" name="Freeform 52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24" name="Group 527"/>
              <p:cNvGrpSpPr>
                <a:grpSpLocks/>
              </p:cNvGrpSpPr>
              <p:nvPr/>
            </p:nvGrpSpPr>
            <p:grpSpPr bwMode="auto">
              <a:xfrm>
                <a:off x="1086" y="3766"/>
                <a:ext cx="49" cy="23"/>
                <a:chOff x="1086" y="3766"/>
                <a:chExt cx="49" cy="23"/>
              </a:xfrm>
            </p:grpSpPr>
            <p:sp>
              <p:nvSpPr>
                <p:cNvPr id="425425" name="Freeform 52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6" name="Freeform 52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7" name="Freeform 53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28" name="Group 531"/>
              <p:cNvGrpSpPr>
                <a:grpSpLocks/>
              </p:cNvGrpSpPr>
              <p:nvPr/>
            </p:nvGrpSpPr>
            <p:grpSpPr bwMode="auto">
              <a:xfrm>
                <a:off x="934" y="3740"/>
                <a:ext cx="48" cy="23"/>
                <a:chOff x="934" y="3740"/>
                <a:chExt cx="48" cy="23"/>
              </a:xfrm>
            </p:grpSpPr>
            <p:sp>
              <p:nvSpPr>
                <p:cNvPr id="425429" name="Freeform 53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0" name="Freeform 53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1" name="Freeform 53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32" name="Group 535"/>
              <p:cNvGrpSpPr>
                <a:grpSpLocks/>
              </p:cNvGrpSpPr>
              <p:nvPr/>
            </p:nvGrpSpPr>
            <p:grpSpPr bwMode="auto">
              <a:xfrm>
                <a:off x="943" y="3754"/>
                <a:ext cx="49" cy="23"/>
                <a:chOff x="943" y="3754"/>
                <a:chExt cx="49" cy="23"/>
              </a:xfrm>
            </p:grpSpPr>
            <p:sp>
              <p:nvSpPr>
                <p:cNvPr id="425433" name="Freeform 53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4" name="Freeform 53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5" name="Freeform 53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436" name="Freeform 53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7" name="Freeform 54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8" name="Freeform 54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39" name="Group 542"/>
            <p:cNvGrpSpPr>
              <a:grpSpLocks/>
            </p:cNvGrpSpPr>
            <p:nvPr/>
          </p:nvGrpSpPr>
          <p:grpSpPr bwMode="auto">
            <a:xfrm>
              <a:off x="920" y="3821"/>
              <a:ext cx="413" cy="50"/>
              <a:chOff x="920" y="3821"/>
              <a:chExt cx="413" cy="50"/>
            </a:xfrm>
          </p:grpSpPr>
          <p:sp>
            <p:nvSpPr>
              <p:cNvPr id="425440" name="Freeform 54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41" name="Freeform 54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42" name="Rectangle 54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43" name="Rectangle 54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黑体" panose="02010609060101010101" pitchFamily="49" charset="-122"/>
                </a:endParaRPr>
              </a:p>
            </p:txBody>
          </p:sp>
        </p:grpSp>
        <p:grpSp>
          <p:nvGrpSpPr>
            <p:cNvPr id="425444" name="Group 547"/>
            <p:cNvGrpSpPr>
              <a:grpSpLocks/>
            </p:cNvGrpSpPr>
            <p:nvPr/>
          </p:nvGrpSpPr>
          <p:grpSpPr bwMode="auto">
            <a:xfrm>
              <a:off x="1227" y="3477"/>
              <a:ext cx="508" cy="321"/>
              <a:chOff x="1227" y="3477"/>
              <a:chExt cx="508" cy="321"/>
            </a:xfrm>
          </p:grpSpPr>
          <p:sp>
            <p:nvSpPr>
              <p:cNvPr id="425445" name="Freeform 54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46" name="Freeform 54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47" name="Freeform 55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48" name="Line 55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49" name="Freeform 55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0" name="Freeform 55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1" name="Freeform 55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2" name="Freeform 55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3" name="Freeform 55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4" name="Freeform 55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5" name="Freeform 55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6" name="Freeform 55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7" name="Freeform 56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8" name="Freeform 56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9" name="Oval 56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0" name="Oval 56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1" name="Freeform 56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2" name="Oval 56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3" name="Oval 56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464" name="Group 567"/>
          <p:cNvGrpSpPr>
            <a:grpSpLocks/>
          </p:cNvGrpSpPr>
          <p:nvPr/>
        </p:nvGrpSpPr>
        <p:grpSpPr bwMode="auto">
          <a:xfrm>
            <a:off x="7631113" y="2251075"/>
            <a:ext cx="1222375" cy="781050"/>
            <a:chOff x="1680" y="240"/>
            <a:chExt cx="2529" cy="1270"/>
          </a:xfrm>
        </p:grpSpPr>
        <p:sp>
          <p:nvSpPr>
            <p:cNvPr id="425465" name="Oval 568"/>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6" name="Oval 569"/>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7" name="Oval 570"/>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8" name="Oval 571"/>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9" name="Oval 572"/>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0" name="Oval 573"/>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1" name="Oval 574"/>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2" name="Oval 575"/>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3" name="Oval 576"/>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474" name="Text Box 577"/>
          <p:cNvSpPr txBox="1">
            <a:spLocks noChangeArrowheads="1"/>
          </p:cNvSpPr>
          <p:nvPr/>
        </p:nvSpPr>
        <p:spPr bwMode="auto">
          <a:xfrm>
            <a:off x="7878763" y="24399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sp>
        <p:nvSpPr>
          <p:cNvPr id="425475" name="Line 578"/>
          <p:cNvSpPr>
            <a:spLocks noChangeShapeType="1"/>
          </p:cNvSpPr>
          <p:nvPr/>
        </p:nvSpPr>
        <p:spPr bwMode="auto">
          <a:xfrm flipV="1">
            <a:off x="1176338" y="2317750"/>
            <a:ext cx="1327150" cy="360363"/>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6" name="Line 579"/>
          <p:cNvSpPr>
            <a:spLocks noChangeShapeType="1"/>
          </p:cNvSpPr>
          <p:nvPr/>
        </p:nvSpPr>
        <p:spPr bwMode="auto">
          <a:xfrm flipV="1">
            <a:off x="5435600" y="2330450"/>
            <a:ext cx="1522413" cy="115888"/>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7" name="Line 580"/>
          <p:cNvSpPr>
            <a:spLocks noChangeShapeType="1"/>
          </p:cNvSpPr>
          <p:nvPr/>
        </p:nvSpPr>
        <p:spPr bwMode="auto">
          <a:xfrm>
            <a:off x="7608888" y="2376488"/>
            <a:ext cx="1719262" cy="261937"/>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8" name="Line 581"/>
          <p:cNvSpPr>
            <a:spLocks noChangeShapeType="1"/>
          </p:cNvSpPr>
          <p:nvPr/>
        </p:nvSpPr>
        <p:spPr bwMode="auto">
          <a:xfrm>
            <a:off x="3198813" y="2287588"/>
            <a:ext cx="1671637" cy="142875"/>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9" name="Text Box 583"/>
          <p:cNvSpPr txBox="1">
            <a:spLocks noChangeArrowheads="1"/>
          </p:cNvSpPr>
          <p:nvPr/>
        </p:nvSpPr>
        <p:spPr bwMode="auto">
          <a:xfrm>
            <a:off x="2752725" y="1196975"/>
            <a:ext cx="4211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主机</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向</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2</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发送数据</a:t>
            </a:r>
            <a:endParaRPr lang="zh-CN" altLang="en-US" sz="3200" b="1" baseline="-25000">
              <a:solidFill>
                <a:srgbClr val="000099"/>
              </a:solidFill>
              <a:ea typeface="黑体" panose="02010609060101010101" pitchFamily="49" charset="-122"/>
            </a:endParaRPr>
          </a:p>
        </p:txBody>
      </p:sp>
      <p:sp>
        <p:nvSpPr>
          <p:cNvPr id="119429" name="Text Box 645"/>
          <p:cNvSpPr txBox="1">
            <a:spLocks noChangeArrowheads="1"/>
          </p:cNvSpPr>
          <p:nvPr/>
        </p:nvSpPr>
        <p:spPr bwMode="auto">
          <a:xfrm>
            <a:off x="2508250" y="3492500"/>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C00000"/>
                </a:solidFill>
                <a:ea typeface="黑体" panose="02010609060101010101" pitchFamily="49" charset="-122"/>
              </a:rPr>
              <a:t>仅从数据链路层观察帧的流动</a:t>
            </a:r>
          </a:p>
        </p:txBody>
      </p:sp>
      <p:sp>
        <p:nvSpPr>
          <p:cNvPr id="425481" name="矩形 583"/>
          <p:cNvSpPr>
            <a:spLocks noChangeArrowheads="1"/>
          </p:cNvSpPr>
          <p:nvPr/>
        </p:nvSpPr>
        <p:spPr bwMode="auto">
          <a:xfrm>
            <a:off x="1985963" y="6351588"/>
            <a:ext cx="6423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只考虑数据在数据链路层的流动</a:t>
            </a:r>
            <a:endParaRPr lang="zh-CN" altLang="en-US" sz="2400" b="1">
              <a:ea typeface="黑体" panose="02010609060101010101" pitchFamily="49" charset="-122"/>
            </a:endParaRPr>
          </a:p>
        </p:txBody>
      </p:sp>
      <p:sp>
        <p:nvSpPr>
          <p:cNvPr id="2" name="矩形 1"/>
          <p:cNvSpPr>
            <a:spLocks noChangeArrowheads="1"/>
          </p:cNvSpPr>
          <p:nvPr/>
        </p:nvSpPr>
        <p:spPr bwMode="auto">
          <a:xfrm>
            <a:off x="2671763" y="5908675"/>
            <a:ext cx="5346700" cy="400050"/>
          </a:xfrm>
          <a:prstGeom prst="rect">
            <a:avLst/>
          </a:prstGeom>
          <a:solidFill>
            <a:srgbClr val="66FF66"/>
          </a:solidFill>
          <a:ln w="9525">
            <a:solidFill>
              <a:srgbClr val="0070C0"/>
            </a:solidFill>
            <a:round/>
            <a:headEnd/>
            <a:tailEnd/>
          </a:ln>
        </p:spPr>
        <p:txBody>
          <a:bodyPr wrap="none">
            <a:spAutoFit/>
          </a:bodyPr>
          <a:lstStyle/>
          <a:p>
            <a:pPr eaLnBrk="0" hangingPunct="0"/>
            <a:r>
              <a:rPr lang="zh-CN" altLang="zh-CN" sz="2000" b="1">
                <a:solidFill>
                  <a:srgbClr val="000066"/>
                </a:solidFill>
                <a:ea typeface="黑体" panose="02010609060101010101" pitchFamily="49" charset="-122"/>
              </a:rPr>
              <a:t>不同的链路层可能采用不同的数据链路层协议</a:t>
            </a:r>
            <a:endParaRPr lang="zh-CN" altLang="en-US" sz="2000" b="1">
              <a:solidFill>
                <a:srgbClr val="000066"/>
              </a:solidFill>
              <a:ea typeface="黑体" panose="02010609060101010101" pitchFamily="49" charset="-122"/>
            </a:endParaRPr>
          </a:p>
        </p:txBody>
      </p:sp>
      <p:grpSp>
        <p:nvGrpSpPr>
          <p:cNvPr id="425483" name="组合 2"/>
          <p:cNvGrpSpPr>
            <a:grpSpLocks/>
          </p:cNvGrpSpPr>
          <p:nvPr/>
        </p:nvGrpSpPr>
        <p:grpSpPr bwMode="auto">
          <a:xfrm>
            <a:off x="322263" y="3386138"/>
            <a:ext cx="9455150" cy="2419350"/>
            <a:chOff x="322121" y="3386039"/>
            <a:chExt cx="9455415" cy="2419350"/>
          </a:xfrm>
        </p:grpSpPr>
        <p:grpSp>
          <p:nvGrpSpPr>
            <p:cNvPr id="425484" name="Group 587"/>
            <p:cNvGrpSpPr>
              <a:grpSpLocks/>
            </p:cNvGrpSpPr>
            <p:nvPr/>
          </p:nvGrpSpPr>
          <p:grpSpPr bwMode="auto">
            <a:xfrm>
              <a:off x="322121" y="3386039"/>
              <a:ext cx="9455415" cy="2419350"/>
              <a:chOff x="158" y="2405"/>
              <a:chExt cx="5498" cy="1524"/>
            </a:xfrm>
          </p:grpSpPr>
          <p:sp>
            <p:nvSpPr>
              <p:cNvPr id="425485"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6" name="Freeform 525"/>
              <p:cNvSpPr>
                <a:spLocks noChangeArrowheads="1"/>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7" name="Freeform 528"/>
              <p:cNvSpPr>
                <a:spLocks noChangeArrowheads="1"/>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8" name="Freeform 526"/>
              <p:cNvSpPr>
                <a:spLocks noChangeArrowheads="1"/>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9" name="Freeform 527"/>
              <p:cNvSpPr>
                <a:spLocks noChangeArrowheads="1"/>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0" name="Rectangle 529"/>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1" name="Text Box 530"/>
              <p:cNvSpPr txBox="1">
                <a:spLocks noChangeArrowheads="1"/>
              </p:cNvSpPr>
              <p:nvPr/>
            </p:nvSpPr>
            <p:spPr bwMode="auto">
              <a:xfrm>
                <a:off x="15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492" name="Text Box 531"/>
              <p:cNvSpPr txBox="1">
                <a:spLocks noChangeArrowheads="1"/>
              </p:cNvSpPr>
              <p:nvPr/>
            </p:nvSpPr>
            <p:spPr bwMode="auto">
              <a:xfrm>
                <a:off x="160"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5493" name="Text Box 532"/>
              <p:cNvSpPr txBox="1">
                <a:spLocks noChangeArrowheads="1"/>
              </p:cNvSpPr>
              <p:nvPr/>
            </p:nvSpPr>
            <p:spPr bwMode="auto">
              <a:xfrm>
                <a:off x="158"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5494" name="Text Box 533"/>
              <p:cNvSpPr txBox="1">
                <a:spLocks noChangeArrowheads="1"/>
              </p:cNvSpPr>
              <p:nvPr/>
            </p:nvSpPr>
            <p:spPr bwMode="auto">
              <a:xfrm>
                <a:off x="15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495" name="Text Box 534"/>
              <p:cNvSpPr txBox="1">
                <a:spLocks noChangeArrowheads="1"/>
              </p:cNvSpPr>
              <p:nvPr/>
            </p:nvSpPr>
            <p:spPr bwMode="auto">
              <a:xfrm>
                <a:off x="15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496"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7" name="Freeform 537"/>
              <p:cNvSpPr>
                <a:spLocks noChangeArrowheads="1"/>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8" name="Freeform 538"/>
              <p:cNvSpPr>
                <a:spLocks noChangeArrowheads="1"/>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9" name="Freeform 539"/>
              <p:cNvSpPr>
                <a:spLocks noChangeArrowheads="1"/>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0" name="Freeform 540"/>
              <p:cNvSpPr>
                <a:spLocks noChangeArrowheads="1"/>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1" name="Rectangle 541"/>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2" name="Text Box 542"/>
              <p:cNvSpPr txBox="1">
                <a:spLocks noChangeArrowheads="1"/>
              </p:cNvSpPr>
              <p:nvPr/>
            </p:nvSpPr>
            <p:spPr bwMode="auto">
              <a:xfrm>
                <a:off x="5057" y="3339"/>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黑体" panose="02010609060101010101" pitchFamily="49" charset="-122"/>
                  </a:rPr>
                  <a:t>链路层</a:t>
                </a:r>
              </a:p>
            </p:txBody>
          </p:sp>
          <p:sp>
            <p:nvSpPr>
              <p:cNvPr id="425503" name="Text Box 543"/>
              <p:cNvSpPr txBox="1">
                <a:spLocks noChangeArrowheads="1"/>
              </p:cNvSpPr>
              <p:nvPr/>
            </p:nvSpPr>
            <p:spPr bwMode="auto">
              <a:xfrm>
                <a:off x="5059"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5504" name="Text Box 544"/>
              <p:cNvSpPr txBox="1">
                <a:spLocks noChangeArrowheads="1"/>
              </p:cNvSpPr>
              <p:nvPr/>
            </p:nvSpPr>
            <p:spPr bwMode="auto">
              <a:xfrm>
                <a:off x="5057"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5505" name="Text Box 545"/>
              <p:cNvSpPr txBox="1">
                <a:spLocks noChangeArrowheads="1"/>
              </p:cNvSpPr>
              <p:nvPr/>
            </p:nvSpPr>
            <p:spPr bwMode="auto">
              <a:xfrm>
                <a:off x="5057"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06" name="Text Box 546"/>
              <p:cNvSpPr txBox="1">
                <a:spLocks noChangeArrowheads="1"/>
              </p:cNvSpPr>
              <p:nvPr/>
            </p:nvSpPr>
            <p:spPr bwMode="auto">
              <a:xfrm>
                <a:off x="5057"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07"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8" name="Freeform 548"/>
              <p:cNvSpPr>
                <a:spLocks noChangeArrowheads="1"/>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9" name="Rectangle 549"/>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0" name="Freeform 550"/>
              <p:cNvSpPr>
                <a:spLocks noChangeArrowheads="1"/>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1" name="Text Box 551"/>
              <p:cNvSpPr txBox="1">
                <a:spLocks noChangeArrowheads="1"/>
              </p:cNvSpPr>
              <p:nvPr/>
            </p:nvSpPr>
            <p:spPr bwMode="auto">
              <a:xfrm>
                <a:off x="137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512" name="Text Box 552"/>
              <p:cNvSpPr txBox="1">
                <a:spLocks noChangeArrowheads="1"/>
              </p:cNvSpPr>
              <p:nvPr/>
            </p:nvSpPr>
            <p:spPr bwMode="auto">
              <a:xfrm>
                <a:off x="137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13" name="Text Box 553"/>
              <p:cNvSpPr txBox="1">
                <a:spLocks noChangeArrowheads="1"/>
              </p:cNvSpPr>
              <p:nvPr/>
            </p:nvSpPr>
            <p:spPr bwMode="auto">
              <a:xfrm>
                <a:off x="137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14"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5" name="Freeform 555"/>
              <p:cNvSpPr>
                <a:spLocks noChangeArrowheads="1"/>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6" name="Rectangle 556"/>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7" name="Freeform 557"/>
              <p:cNvSpPr>
                <a:spLocks noChangeArrowheads="1"/>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8" name="Text Box 558"/>
              <p:cNvSpPr txBox="1">
                <a:spLocks noChangeArrowheads="1"/>
              </p:cNvSpPr>
              <p:nvPr/>
            </p:nvSpPr>
            <p:spPr bwMode="auto">
              <a:xfrm>
                <a:off x="269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519" name="Text Box 559"/>
              <p:cNvSpPr txBox="1">
                <a:spLocks noChangeArrowheads="1"/>
              </p:cNvSpPr>
              <p:nvPr/>
            </p:nvSpPr>
            <p:spPr bwMode="auto">
              <a:xfrm>
                <a:off x="269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20" name="Text Box 560"/>
              <p:cNvSpPr txBox="1">
                <a:spLocks noChangeArrowheads="1"/>
              </p:cNvSpPr>
              <p:nvPr/>
            </p:nvSpPr>
            <p:spPr bwMode="auto">
              <a:xfrm>
                <a:off x="269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21"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2" name="Freeform 562"/>
              <p:cNvSpPr>
                <a:spLocks noChangeArrowheads="1"/>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3" name="Rectangle 563"/>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4" name="Freeform 564"/>
              <p:cNvSpPr>
                <a:spLocks noChangeArrowheads="1"/>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5" name="Text Box 565"/>
              <p:cNvSpPr txBox="1">
                <a:spLocks noChangeArrowheads="1"/>
              </p:cNvSpPr>
              <p:nvPr/>
            </p:nvSpPr>
            <p:spPr bwMode="auto">
              <a:xfrm>
                <a:off x="387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526" name="Text Box 566"/>
              <p:cNvSpPr txBox="1">
                <a:spLocks noChangeArrowheads="1"/>
              </p:cNvSpPr>
              <p:nvPr/>
            </p:nvSpPr>
            <p:spPr bwMode="auto">
              <a:xfrm>
                <a:off x="387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27" name="Text Box 567"/>
              <p:cNvSpPr txBox="1">
                <a:spLocks noChangeArrowheads="1"/>
              </p:cNvSpPr>
              <p:nvPr/>
            </p:nvSpPr>
            <p:spPr bwMode="auto">
              <a:xfrm>
                <a:off x="387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28" name="Freeform 572"/>
              <p:cNvSpPr>
                <a:spLocks noChangeArrowheads="1"/>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29" name="Freeform 573"/>
              <p:cNvSpPr>
                <a:spLocks noChangeArrowheads="1"/>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30" name="Freeform 574"/>
              <p:cNvSpPr>
                <a:spLocks noChangeArrowheads="1"/>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31" name="Freeform 575"/>
              <p:cNvSpPr>
                <a:spLocks noChangeArrowheads="1"/>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32" name="Text Box 576"/>
              <p:cNvSpPr txBox="1">
                <a:spLocks noChangeArrowheads="1"/>
              </p:cNvSpPr>
              <p:nvPr/>
            </p:nvSpPr>
            <p:spPr bwMode="auto">
              <a:xfrm>
                <a:off x="1531"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5533" name="Text Box 577"/>
              <p:cNvSpPr txBox="1">
                <a:spLocks noChangeArrowheads="1"/>
              </p:cNvSpPr>
              <p:nvPr/>
            </p:nvSpPr>
            <p:spPr bwMode="auto">
              <a:xfrm>
                <a:off x="2872"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5534" name="Text Box 578"/>
              <p:cNvSpPr txBox="1">
                <a:spLocks noChangeArrowheads="1"/>
              </p:cNvSpPr>
              <p:nvPr/>
            </p:nvSpPr>
            <p:spPr bwMode="auto">
              <a:xfrm>
                <a:off x="4067"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5535" name="Text Box 579"/>
              <p:cNvSpPr txBox="1">
                <a:spLocks noChangeArrowheads="1"/>
              </p:cNvSpPr>
              <p:nvPr/>
            </p:nvSpPr>
            <p:spPr bwMode="auto">
              <a:xfrm>
                <a:off x="326"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5536" name="Text Box 580"/>
              <p:cNvSpPr txBox="1">
                <a:spLocks noChangeArrowheads="1"/>
              </p:cNvSpPr>
              <p:nvPr/>
            </p:nvSpPr>
            <p:spPr bwMode="auto">
              <a:xfrm>
                <a:off x="5272"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grpSp>
        <p:sp>
          <p:nvSpPr>
            <p:cNvPr id="425537" name="Freeform 583"/>
            <p:cNvSpPr>
              <a:spLocks noChangeArrowheads="1"/>
            </p:cNvSpPr>
            <p:nvPr/>
          </p:nvSpPr>
          <p:spPr bwMode="auto">
            <a:xfrm>
              <a:off x="1280592" y="3897214"/>
              <a:ext cx="7560204"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a:solidFill>
                <a:srgbClr val="FF0000"/>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19428" name="Rectangle 644"/>
          <p:cNvSpPr>
            <a:spLocks noChangeArrowheads="1"/>
          </p:cNvSpPr>
          <p:nvPr/>
        </p:nvSpPr>
        <p:spPr bwMode="auto">
          <a:xfrm>
            <a:off x="322263" y="4905375"/>
            <a:ext cx="9359900" cy="323850"/>
          </a:xfrm>
          <a:prstGeom prst="rect">
            <a:avLst/>
          </a:prstGeom>
          <a:solidFill>
            <a:srgbClr val="C0C0C0">
              <a:alpha val="50000"/>
            </a:srgbClr>
          </a:solidFill>
          <a:ln w="9525">
            <a:solidFill>
              <a:srgbClr val="5F5F5F"/>
            </a:solidFill>
            <a:prstDash val="dash"/>
            <a:miter lim="800000"/>
            <a:headEnd/>
            <a:tailEnd/>
          </a:ln>
        </p:spPr>
        <p:txBody>
          <a:bodyPr wrap="none" anchor="ctr"/>
          <a:lstStyle/>
          <a:p>
            <a:pPr eaLnBrk="0" hangingPunct="0"/>
            <a:endParaRPr lang="zh-CN" altLang="en-US" b="1">
              <a:solidFill>
                <a:srgbClr val="333399"/>
              </a:solidFill>
              <a:ea typeface="黑体" panose="02010609060101010101" pitchFamily="49" charset="-122"/>
            </a:endParaRPr>
          </a:p>
        </p:txBody>
      </p:sp>
      <p:sp>
        <p:nvSpPr>
          <p:cNvPr id="119414" name="Line 630"/>
          <p:cNvSpPr>
            <a:spLocks noChangeShapeType="1"/>
          </p:cNvSpPr>
          <p:nvPr/>
        </p:nvSpPr>
        <p:spPr bwMode="auto">
          <a:xfrm>
            <a:off x="1398588"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119415" name="Line 631"/>
          <p:cNvSpPr>
            <a:spLocks noChangeShapeType="1"/>
          </p:cNvSpPr>
          <p:nvPr/>
        </p:nvSpPr>
        <p:spPr bwMode="auto">
          <a:xfrm>
            <a:off x="3503613"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119416" name="Line 632"/>
          <p:cNvSpPr>
            <a:spLocks noChangeShapeType="1"/>
          </p:cNvSpPr>
          <p:nvPr/>
        </p:nvSpPr>
        <p:spPr bwMode="auto">
          <a:xfrm>
            <a:off x="5567363"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119417" name="Line 633"/>
          <p:cNvSpPr>
            <a:spLocks noChangeShapeType="1"/>
          </p:cNvSpPr>
          <p:nvPr/>
        </p:nvSpPr>
        <p:spPr bwMode="auto">
          <a:xfrm>
            <a:off x="7631113"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640" name="矩形 639"/>
          <p:cNvSpPr>
            <a:spLocks noChangeArrowheads="1"/>
          </p:cNvSpPr>
          <p:nvPr/>
        </p:nvSpPr>
        <p:spPr bwMode="auto">
          <a:xfrm>
            <a:off x="2989263" y="2998788"/>
            <a:ext cx="4338637" cy="400050"/>
          </a:xfrm>
          <a:prstGeom prst="rect">
            <a:avLst/>
          </a:prstGeom>
          <a:solidFill>
            <a:srgbClr val="000066"/>
          </a:solidFill>
          <a:ln w="9525">
            <a:solidFill>
              <a:srgbClr val="000066"/>
            </a:solidFill>
            <a:round/>
            <a:headEnd/>
            <a:tailEnd/>
          </a:ln>
        </p:spPr>
        <p:txBody>
          <a:bodyPr wrap="none">
            <a:spAutoFit/>
          </a:bodyPr>
          <a:lstStyle/>
          <a:p>
            <a:pPr eaLnBrk="0" hangingPunct="0"/>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1</a:t>
            </a:r>
            <a:r>
              <a:rPr lang="en-US" altLang="zh-CN" sz="2000" b="1">
                <a:solidFill>
                  <a:schemeClr val="bg1"/>
                </a:solidFill>
                <a:ea typeface="黑体" panose="02010609060101010101" pitchFamily="49" charset="-122"/>
              </a:rPr>
              <a:t> </a:t>
            </a:r>
            <a:r>
              <a:rPr lang="zh-CN" altLang="en-US" sz="2000" b="1">
                <a:solidFill>
                  <a:schemeClr val="bg1"/>
                </a:solidFill>
                <a:ea typeface="黑体" panose="02010609060101010101" pitchFamily="49" charset="-122"/>
              </a:rPr>
              <a:t>到</a:t>
            </a:r>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2</a:t>
            </a:r>
            <a:r>
              <a:rPr lang="en-US" altLang="zh-CN" sz="2000" b="1">
                <a:solidFill>
                  <a:schemeClr val="bg1"/>
                </a:solidFill>
                <a:ea typeface="黑体" panose="02010609060101010101" pitchFamily="49" charset="-122"/>
              </a:rPr>
              <a:t> </a:t>
            </a:r>
            <a:r>
              <a:rPr lang="zh-CN" altLang="zh-CN" sz="2000" b="1">
                <a:solidFill>
                  <a:schemeClr val="bg1"/>
                </a:solidFill>
                <a:ea typeface="黑体" panose="02010609060101010101" pitchFamily="49" charset="-122"/>
              </a:rPr>
              <a:t>所经过的网络可以是多种的</a:t>
            </a:r>
            <a:endParaRPr lang="zh-CN" altLang="en-US" sz="2000" b="1">
              <a:solidFill>
                <a:schemeClr val="bg1"/>
              </a:solidFill>
              <a:ea typeface="黑体" panose="02010609060101010101" pitchFamily="49" charset="-122"/>
            </a:endParaRPr>
          </a:p>
        </p:txBody>
      </p:sp>
      <p:sp>
        <p:nvSpPr>
          <p:cNvPr id="42554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D14975-B1D6-4D5A-AF56-F20873AB5EEF}" type="slidenum">
              <a:rPr lang="zh-CN" altLang="en-US" smtClean="0"/>
              <a:pPr eaLnBrk="1" hangingPunct="1"/>
              <a:t>5</a:t>
            </a:fld>
            <a:endParaRPr lang="en-US" altLang="zh-CN" smtClean="0"/>
          </a:p>
        </p:txBody>
      </p:sp>
      <p:sp>
        <p:nvSpPr>
          <p:cNvPr id="42554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9429"/>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500"/>
                                  </p:stCondLst>
                                  <p:childTnLst>
                                    <p:set>
                                      <p:cBhvr>
                                        <p:cTn id="9" dur="1" fill="hold">
                                          <p:stCondLst>
                                            <p:cond delay="0"/>
                                          </p:stCondLst>
                                        </p:cTn>
                                        <p:tgtEl>
                                          <p:spTgt spid="119428"/>
                                        </p:tgtEl>
                                        <p:attrNameLst>
                                          <p:attrName>style.visibility</p:attrName>
                                        </p:attrNameLst>
                                      </p:cBhvr>
                                      <p:to>
                                        <p:strVal val="visible"/>
                                      </p:to>
                                    </p:set>
                                  </p:childTnLst>
                                </p:cTn>
                              </p:par>
                            </p:childTnLst>
                          </p:cTn>
                        </p:par>
                        <p:par>
                          <p:cTn id="10" fill="hold" nodeType="afterGroup">
                            <p:stCondLst>
                              <p:cond delay="502"/>
                            </p:stCondLst>
                            <p:childTnLst>
                              <p:par>
                                <p:cTn id="11" presetID="22" presetClass="entr" presetSubtype="8" fill="hold" grpId="0" nodeType="afterEffect">
                                  <p:stCondLst>
                                    <p:cond delay="500"/>
                                  </p:stCondLst>
                                  <p:childTnLst>
                                    <p:set>
                                      <p:cBhvr>
                                        <p:cTn id="12" dur="1" fill="hold">
                                          <p:stCondLst>
                                            <p:cond delay="0"/>
                                          </p:stCondLst>
                                        </p:cTn>
                                        <p:tgtEl>
                                          <p:spTgt spid="119414"/>
                                        </p:tgtEl>
                                        <p:attrNameLst>
                                          <p:attrName>style.visibility</p:attrName>
                                        </p:attrNameLst>
                                      </p:cBhvr>
                                      <p:to>
                                        <p:strVal val="visible"/>
                                      </p:to>
                                    </p:set>
                                    <p:animEffect transition="in" filter="wipe(left)">
                                      <p:cBhvr>
                                        <p:cTn id="13" dur="500"/>
                                        <p:tgtEl>
                                          <p:spTgt spid="119414"/>
                                        </p:tgtEl>
                                      </p:cBhvr>
                                    </p:animEffect>
                                  </p:childTnLst>
                                </p:cTn>
                              </p:par>
                            </p:childTnLst>
                          </p:cTn>
                        </p:par>
                        <p:par>
                          <p:cTn id="14" fill="hold" nodeType="afterGroup">
                            <p:stCondLst>
                              <p:cond delay="1502"/>
                            </p:stCondLst>
                            <p:childTnLst>
                              <p:par>
                                <p:cTn id="15" presetID="22" presetClass="entr" presetSubtype="8" fill="hold" grpId="0" nodeType="afterEffect">
                                  <p:stCondLst>
                                    <p:cond delay="500"/>
                                  </p:stCondLst>
                                  <p:childTnLst>
                                    <p:set>
                                      <p:cBhvr>
                                        <p:cTn id="16" dur="1" fill="hold">
                                          <p:stCondLst>
                                            <p:cond delay="0"/>
                                          </p:stCondLst>
                                        </p:cTn>
                                        <p:tgtEl>
                                          <p:spTgt spid="119415"/>
                                        </p:tgtEl>
                                        <p:attrNameLst>
                                          <p:attrName>style.visibility</p:attrName>
                                        </p:attrNameLst>
                                      </p:cBhvr>
                                      <p:to>
                                        <p:strVal val="visible"/>
                                      </p:to>
                                    </p:set>
                                    <p:animEffect transition="in" filter="wipe(left)">
                                      <p:cBhvr>
                                        <p:cTn id="17" dur="500"/>
                                        <p:tgtEl>
                                          <p:spTgt spid="119415"/>
                                        </p:tgtEl>
                                      </p:cBhvr>
                                    </p:animEffect>
                                  </p:childTnLst>
                                </p:cTn>
                              </p:par>
                            </p:childTnLst>
                          </p:cTn>
                        </p:par>
                        <p:par>
                          <p:cTn id="18" fill="hold" nodeType="afterGroup">
                            <p:stCondLst>
                              <p:cond delay="2502"/>
                            </p:stCondLst>
                            <p:childTnLst>
                              <p:par>
                                <p:cTn id="19" presetID="22" presetClass="entr" presetSubtype="8" fill="hold" grpId="0" nodeType="afterEffect">
                                  <p:stCondLst>
                                    <p:cond delay="500"/>
                                  </p:stCondLst>
                                  <p:childTnLst>
                                    <p:set>
                                      <p:cBhvr>
                                        <p:cTn id="20" dur="1" fill="hold">
                                          <p:stCondLst>
                                            <p:cond delay="0"/>
                                          </p:stCondLst>
                                        </p:cTn>
                                        <p:tgtEl>
                                          <p:spTgt spid="119416"/>
                                        </p:tgtEl>
                                        <p:attrNameLst>
                                          <p:attrName>style.visibility</p:attrName>
                                        </p:attrNameLst>
                                      </p:cBhvr>
                                      <p:to>
                                        <p:strVal val="visible"/>
                                      </p:to>
                                    </p:set>
                                    <p:animEffect transition="in" filter="wipe(left)">
                                      <p:cBhvr>
                                        <p:cTn id="21" dur="500"/>
                                        <p:tgtEl>
                                          <p:spTgt spid="119416"/>
                                        </p:tgtEl>
                                      </p:cBhvr>
                                    </p:animEffect>
                                  </p:childTnLst>
                                </p:cTn>
                              </p:par>
                            </p:childTnLst>
                          </p:cTn>
                        </p:par>
                        <p:par>
                          <p:cTn id="22" fill="hold" nodeType="afterGroup">
                            <p:stCondLst>
                              <p:cond delay="3502"/>
                            </p:stCondLst>
                            <p:childTnLst>
                              <p:par>
                                <p:cTn id="23" presetID="22" presetClass="entr" presetSubtype="8" fill="hold" grpId="0" nodeType="afterEffect">
                                  <p:stCondLst>
                                    <p:cond delay="500"/>
                                  </p:stCondLst>
                                  <p:childTnLst>
                                    <p:set>
                                      <p:cBhvr>
                                        <p:cTn id="24" dur="1" fill="hold">
                                          <p:stCondLst>
                                            <p:cond delay="0"/>
                                          </p:stCondLst>
                                        </p:cTn>
                                        <p:tgtEl>
                                          <p:spTgt spid="119417"/>
                                        </p:tgtEl>
                                        <p:attrNameLst>
                                          <p:attrName>style.visibility</p:attrName>
                                        </p:attrNameLst>
                                      </p:cBhvr>
                                      <p:to>
                                        <p:strVal val="visible"/>
                                      </p:to>
                                    </p:set>
                                    <p:animEffect transition="in" filter="wipe(left)">
                                      <p:cBhvr>
                                        <p:cTn id="25" dur="500"/>
                                        <p:tgtEl>
                                          <p:spTgt spid="119417"/>
                                        </p:tgtEl>
                                      </p:cBhvr>
                                    </p:animEffect>
                                  </p:childTnLst>
                                </p:cTn>
                              </p:par>
                              <p:par>
                                <p:cTn id="26" presetID="1" presetClass="entr" presetSubtype="0" fill="hold" grpId="0" nodeType="withEffect">
                                  <p:stCondLst>
                                    <p:cond delay="500"/>
                                  </p:stCondLst>
                                  <p:childTnLst>
                                    <p:set>
                                      <p:cBhvr>
                                        <p:cTn id="27" dur="1" fill="hold">
                                          <p:stCondLst>
                                            <p:cond delay="0"/>
                                          </p:stCondLst>
                                        </p:cTn>
                                        <p:tgtEl>
                                          <p:spTgt spid="2"/>
                                        </p:tgtEl>
                                        <p:attrNameLst>
                                          <p:attrName>style.visibility</p:attrName>
                                        </p:attrNameLst>
                                      </p:cBhvr>
                                      <p:to>
                                        <p:strVal val="visible"/>
                                      </p:to>
                                    </p:set>
                                  </p:childTnLst>
                                </p:cTn>
                              </p:par>
                            </p:childTnLst>
                          </p:cTn>
                        </p:par>
                        <p:par>
                          <p:cTn id="28" fill="hold" nodeType="afterGroup">
                            <p:stCondLst>
                              <p:cond delay="4502"/>
                            </p:stCondLst>
                            <p:childTnLst>
                              <p:par>
                                <p:cTn id="29" presetID="1" presetClass="entr" presetSubtype="0" fill="hold" grpId="0" nodeType="afterEffect">
                                  <p:stCondLst>
                                    <p:cond delay="0"/>
                                  </p:stCondLst>
                                  <p:childTnLst>
                                    <p:set>
                                      <p:cBhvr>
                                        <p:cTn id="30" dur="1" fill="hold">
                                          <p:stCondLst>
                                            <p:cond delay="0"/>
                                          </p:stCondLst>
                                        </p:cTn>
                                        <p:tgtEl>
                                          <p:spTgt spid="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429" grpId="0"/>
      <p:bldP spid="2" grpId="0" animBg="1"/>
      <p:bldP spid="119428" grpId="0" animBg="1"/>
      <p:bldP spid="119414" grpId="0" animBg="1"/>
      <p:bldP spid="119415" grpId="0" animBg="1"/>
      <p:bldP spid="119416" grpId="0" animBg="1"/>
      <p:bldP spid="119417" grpId="0" animBg="1"/>
      <p:bldP spid="6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09" name="标题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3.1  </a:t>
            </a:r>
            <a:r>
              <a:rPr lang="zh-CN" altLang="zh-CN" sz="4000" smtClean="0">
                <a:ea typeface="黑体" panose="02010609060101010101" pitchFamily="49" charset="-122"/>
              </a:rPr>
              <a:t>使用点对点信道的数据链路层</a:t>
            </a:r>
            <a:endParaRPr lang="zh-CN" altLang="en-US" sz="4000" smtClean="0">
              <a:ea typeface="黑体" panose="02010609060101010101" pitchFamily="49" charset="-122"/>
            </a:endParaRPr>
          </a:p>
        </p:txBody>
      </p:sp>
      <p:sp>
        <p:nvSpPr>
          <p:cNvPr id="427010" name="内容占位符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3.1.1  </a:t>
            </a:r>
            <a:r>
              <a:rPr lang="zh-CN" altLang="zh-CN" smtClean="0">
                <a:ea typeface="黑体" panose="02010609060101010101" pitchFamily="49" charset="-122"/>
              </a:rPr>
              <a:t>数据链路和帧</a:t>
            </a:r>
          </a:p>
          <a:p>
            <a:r>
              <a:rPr lang="en-US" altLang="zh-CN" smtClean="0">
                <a:ea typeface="黑体" panose="02010609060101010101" pitchFamily="49" charset="-122"/>
              </a:rPr>
              <a:t>3.1.2  </a:t>
            </a:r>
            <a:r>
              <a:rPr lang="zh-CN" altLang="zh-CN" smtClean="0">
                <a:ea typeface="黑体" panose="02010609060101010101" pitchFamily="49" charset="-122"/>
              </a:rPr>
              <a:t>三个基本问题</a:t>
            </a:r>
            <a:endParaRPr lang="zh-CN" altLang="en-US" smtClean="0">
              <a:ea typeface="黑体" panose="02010609060101010101" pitchFamily="49" charset="-122"/>
            </a:endParaRPr>
          </a:p>
        </p:txBody>
      </p:sp>
      <p:sp>
        <p:nvSpPr>
          <p:cNvPr id="427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71C17E-95AC-4CAB-B8BB-9B693E5DC428}" type="slidenum">
              <a:rPr lang="zh-CN" altLang="en-US" smtClean="0"/>
              <a:pPr eaLnBrk="1" hangingPunct="1"/>
              <a:t>6</a:t>
            </a:fld>
            <a:endParaRPr lang="en-US" altLang="zh-CN" smtClean="0"/>
          </a:p>
        </p:txBody>
      </p:sp>
      <p:sp>
        <p:nvSpPr>
          <p:cNvPr id="427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3.1.1  </a:t>
            </a:r>
            <a:r>
              <a:rPr lang="zh-CN" altLang="en-US" smtClean="0">
                <a:ea typeface="黑体" panose="02010609060101010101" pitchFamily="49" charset="-122"/>
              </a:rPr>
              <a:t>数据链路和帧  </a:t>
            </a:r>
          </a:p>
        </p:txBody>
      </p:sp>
      <p:sp>
        <p:nvSpPr>
          <p:cNvPr id="123907" name="Rectangle 3"/>
          <p:cNvSpPr>
            <a:spLocks noGrp="1" noChangeArrowheads="1"/>
          </p:cNvSpPr>
          <p:nvPr>
            <p:ph idx="1"/>
          </p:nvPr>
        </p:nvSpPr>
        <p:spPr>
          <a:xfrm>
            <a:off x="495300" y="1196975"/>
            <a:ext cx="9066213" cy="4933950"/>
          </a:xfrm>
        </p:spPr>
        <p:txBody>
          <a:bodyPr/>
          <a:lstStyle/>
          <a:p>
            <a:r>
              <a:rPr lang="zh-CN" altLang="en-US" sz="2800" smtClean="0">
                <a:solidFill>
                  <a:srgbClr val="FF0000"/>
                </a:solidFill>
                <a:ea typeface="黑体" panose="02010609060101010101" pitchFamily="49" charset="-122"/>
              </a:rPr>
              <a:t>链路 </a:t>
            </a:r>
            <a:r>
              <a:rPr lang="en-US" altLang="zh-CN" sz="2800" smtClean="0">
                <a:ea typeface="黑体" panose="02010609060101010101" pitchFamily="49" charset="-122"/>
              </a:rPr>
              <a:t>(link) </a:t>
            </a:r>
            <a:r>
              <a:rPr lang="zh-CN" altLang="en-US" sz="2800" smtClean="0">
                <a:ea typeface="黑体" panose="02010609060101010101" pitchFamily="49" charset="-122"/>
              </a:rPr>
              <a:t>是一条无源的点到点的物理线路段，中间没有任何其他的交换结点。</a:t>
            </a:r>
          </a:p>
          <a:p>
            <a:pPr lvl="1"/>
            <a:r>
              <a:rPr lang="zh-CN" altLang="en-US" sz="2400" smtClean="0">
                <a:solidFill>
                  <a:srgbClr val="0000CC"/>
                </a:solidFill>
                <a:ea typeface="黑体" panose="02010609060101010101" pitchFamily="49" charset="-122"/>
              </a:rPr>
              <a:t>一条链路只是一条通路的一个组成部分。</a:t>
            </a:r>
          </a:p>
          <a:p>
            <a:r>
              <a:rPr lang="zh-CN" altLang="en-US" sz="2800" smtClean="0">
                <a:solidFill>
                  <a:srgbClr val="FF0000"/>
                </a:solidFill>
                <a:ea typeface="黑体" panose="02010609060101010101" pitchFamily="49" charset="-122"/>
              </a:rPr>
              <a:t>数据链路 </a:t>
            </a:r>
            <a:r>
              <a:rPr lang="en-US" altLang="zh-CN" sz="2800" smtClean="0">
                <a:ea typeface="黑体" panose="02010609060101010101" pitchFamily="49" charset="-122"/>
              </a:rPr>
              <a:t>(data link) </a:t>
            </a:r>
            <a:r>
              <a:rPr lang="zh-CN" altLang="en-US" sz="2800" smtClean="0">
                <a:ea typeface="黑体" panose="02010609060101010101" pitchFamily="49" charset="-122"/>
              </a:rPr>
              <a:t>除了物理线路外，还必须有通信协议来控制这些数据的传输。若把实现这些协议的硬件和软件加到链路上，就构成了数据链路。</a:t>
            </a:r>
          </a:p>
          <a:p>
            <a:pPr lvl="1"/>
            <a:r>
              <a:rPr lang="zh-CN" altLang="en-US" sz="2400" smtClean="0">
                <a:ea typeface="黑体" panose="02010609060101010101" pitchFamily="49" charset="-122"/>
              </a:rPr>
              <a:t>现在最常用的方法是使用适配器（即网卡）来实现这些协议的硬件和软件。</a:t>
            </a:r>
          </a:p>
          <a:p>
            <a:pPr lvl="1"/>
            <a:r>
              <a:rPr lang="zh-CN" altLang="en-US" sz="2400" smtClean="0">
                <a:ea typeface="黑体" panose="02010609060101010101" pitchFamily="49" charset="-122"/>
              </a:rPr>
              <a:t>一般的适配器都包括了数据链路层和物理层这两层的功能。   </a:t>
            </a:r>
          </a:p>
        </p:txBody>
      </p:sp>
      <p:sp>
        <p:nvSpPr>
          <p:cNvPr id="428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3DF120-6207-4BB2-A458-E67B42F0C0A8}" type="slidenum">
              <a:rPr lang="zh-CN" altLang="en-US" smtClean="0"/>
              <a:pPr eaLnBrk="1" hangingPunct="1"/>
              <a:t>7</a:t>
            </a:fld>
            <a:endParaRPr lang="en-US" altLang="zh-CN" smtClean="0"/>
          </a:p>
        </p:txBody>
      </p:sp>
      <p:sp>
        <p:nvSpPr>
          <p:cNvPr id="428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3.1.1  </a:t>
            </a:r>
            <a:r>
              <a:rPr lang="zh-CN" altLang="en-US" smtClean="0">
                <a:ea typeface="黑体" panose="02010609060101010101" pitchFamily="49" charset="-122"/>
              </a:rPr>
              <a:t>数据链路和帧  </a:t>
            </a:r>
          </a:p>
        </p:txBody>
      </p:sp>
      <p:sp>
        <p:nvSpPr>
          <p:cNvPr id="430082"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也有人采用另外的术语。这就是把链路分为物理链路和逻辑链路。</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物理链路</a:t>
            </a:r>
            <a:r>
              <a:rPr lang="zh-CN" altLang="zh-CN" smtClean="0">
                <a:ea typeface="黑体" panose="02010609060101010101" pitchFamily="49" charset="-122"/>
              </a:rPr>
              <a:t>就是上面所说的链路</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逻辑链路</a:t>
            </a:r>
            <a:r>
              <a:rPr lang="zh-CN" altLang="zh-CN" smtClean="0">
                <a:ea typeface="黑体" panose="02010609060101010101" pitchFamily="49" charset="-122"/>
              </a:rPr>
              <a:t>就是上面的数据链路，是物理链路加上必要的通信协议。</a:t>
            </a:r>
          </a:p>
          <a:p>
            <a:r>
              <a:rPr lang="zh-CN" altLang="zh-CN" smtClean="0">
                <a:ea typeface="黑体" panose="02010609060101010101" pitchFamily="49" charset="-122"/>
              </a:rPr>
              <a:t>早期的数据通信协议曾</a:t>
            </a:r>
            <a:r>
              <a:rPr lang="zh-CN" altLang="en-US" smtClean="0">
                <a:ea typeface="黑体" panose="02010609060101010101" pitchFamily="49" charset="-122"/>
              </a:rPr>
              <a:t>叫做</a:t>
            </a:r>
            <a:r>
              <a:rPr lang="zh-CN" altLang="zh-CN" smtClean="0">
                <a:solidFill>
                  <a:srgbClr val="FF0000"/>
                </a:solidFill>
                <a:ea typeface="黑体" panose="02010609060101010101" pitchFamily="49" charset="-122"/>
              </a:rPr>
              <a:t>通信规程</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(procedure)</a:t>
            </a:r>
            <a:r>
              <a:rPr lang="zh-CN" altLang="zh-CN" smtClean="0">
                <a:ea typeface="黑体" panose="02010609060101010101" pitchFamily="49" charset="-122"/>
              </a:rPr>
              <a:t>。因此在数据链路层，规程和协议是同义语。</a:t>
            </a:r>
            <a:endParaRPr lang="zh-CN" altLang="en-US" smtClean="0">
              <a:solidFill>
                <a:srgbClr val="0000CC"/>
              </a:solidFill>
              <a:ea typeface="黑体" panose="02010609060101010101" pitchFamily="49" charset="-122"/>
            </a:endParaRPr>
          </a:p>
        </p:txBody>
      </p:sp>
      <p:sp>
        <p:nvSpPr>
          <p:cNvPr id="430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A45AEB-0F40-4CF0-8D09-40863A508A55}" type="slidenum">
              <a:rPr lang="zh-CN" altLang="en-US" smtClean="0"/>
              <a:pPr eaLnBrk="1" hangingPunct="1"/>
              <a:t>8</a:t>
            </a:fld>
            <a:endParaRPr lang="en-US" altLang="zh-CN" smtClean="0"/>
          </a:p>
        </p:txBody>
      </p:sp>
      <p:sp>
        <p:nvSpPr>
          <p:cNvPr id="430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2129" name="组合 4"/>
          <p:cNvGrpSpPr>
            <a:grpSpLocks/>
          </p:cNvGrpSpPr>
          <p:nvPr/>
        </p:nvGrpSpPr>
        <p:grpSpPr bwMode="auto">
          <a:xfrm>
            <a:off x="361950" y="4508500"/>
            <a:ext cx="9372600" cy="1873250"/>
            <a:chOff x="362070" y="4509120"/>
            <a:chExt cx="9372927" cy="1872208"/>
          </a:xfrm>
        </p:grpSpPr>
        <p:sp>
          <p:nvSpPr>
            <p:cNvPr id="432130" name="Freeform 19"/>
            <p:cNvSpPr>
              <a:spLocks noChangeArrowheads="1"/>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1" name="Rectangle 20"/>
            <p:cNvSpPr>
              <a:spLocks noChangeArrowheads="1"/>
            </p:cNvSpPr>
            <p:nvPr/>
          </p:nvSpPr>
          <p:spPr bwMode="auto">
            <a:xfrm>
              <a:off x="7556020" y="4971879"/>
              <a:ext cx="2178977"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2" name="Rectangle 47"/>
            <p:cNvSpPr>
              <a:spLocks noChangeArrowheads="1"/>
            </p:cNvSpPr>
            <p:nvPr/>
          </p:nvSpPr>
          <p:spPr bwMode="auto">
            <a:xfrm>
              <a:off x="362070" y="4948066"/>
              <a:ext cx="956994" cy="7053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数据</a:t>
              </a:r>
            </a:p>
            <a:p>
              <a:pPr algn="ctr"/>
              <a:r>
                <a:rPr lang="zh-CN" altLang="en-US" sz="2000" b="1">
                  <a:solidFill>
                    <a:srgbClr val="000099"/>
                  </a:solidFill>
                  <a:ea typeface="黑体" panose="02010609060101010101" pitchFamily="49" charset="-122"/>
                </a:rPr>
                <a:t>链路层</a:t>
              </a:r>
            </a:p>
          </p:txBody>
        </p:sp>
        <p:sp>
          <p:nvSpPr>
            <p:cNvPr id="432133" name="Rectangle 48"/>
            <p:cNvSpPr>
              <a:spLocks noChangeArrowheads="1"/>
            </p:cNvSpPr>
            <p:nvPr/>
          </p:nvSpPr>
          <p:spPr bwMode="auto">
            <a:xfrm>
              <a:off x="1344132" y="4971879"/>
              <a:ext cx="2178977"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4" name="Rectangle 49"/>
            <p:cNvSpPr>
              <a:spLocks noChangeArrowheads="1"/>
            </p:cNvSpPr>
            <p:nvPr/>
          </p:nvSpPr>
          <p:spPr bwMode="auto">
            <a:xfrm>
              <a:off x="1928664" y="4509120"/>
              <a:ext cx="109786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A</a:t>
              </a:r>
            </a:p>
          </p:txBody>
        </p:sp>
        <p:sp>
          <p:nvSpPr>
            <p:cNvPr id="432135" name="Rectangle 50"/>
            <p:cNvSpPr>
              <a:spLocks noChangeArrowheads="1"/>
            </p:cNvSpPr>
            <p:nvPr/>
          </p:nvSpPr>
          <p:spPr bwMode="auto">
            <a:xfrm>
              <a:off x="8121352" y="4509120"/>
              <a:ext cx="110927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B</a:t>
              </a:r>
            </a:p>
          </p:txBody>
        </p:sp>
        <p:grpSp>
          <p:nvGrpSpPr>
            <p:cNvPr id="432136" name="Group 51"/>
            <p:cNvGrpSpPr>
              <a:grpSpLocks/>
            </p:cNvGrpSpPr>
            <p:nvPr/>
          </p:nvGrpSpPr>
          <p:grpSpPr bwMode="auto">
            <a:xfrm>
              <a:off x="2948698" y="5165553"/>
              <a:ext cx="1059392" cy="369887"/>
              <a:chOff x="1701" y="2666"/>
              <a:chExt cx="616" cy="233"/>
            </a:xfrm>
          </p:grpSpPr>
          <p:grpSp>
            <p:nvGrpSpPr>
              <p:cNvPr id="432137" name="Group 52"/>
              <p:cNvGrpSpPr>
                <a:grpSpLocks/>
              </p:cNvGrpSpPr>
              <p:nvPr/>
            </p:nvGrpSpPr>
            <p:grpSpPr bwMode="auto">
              <a:xfrm>
                <a:off x="1701" y="2694"/>
                <a:ext cx="616" cy="192"/>
                <a:chOff x="1701" y="2694"/>
                <a:chExt cx="616" cy="192"/>
              </a:xfrm>
            </p:grpSpPr>
            <p:sp>
              <p:nvSpPr>
                <p:cNvPr id="432138" name="AutoShape 53"/>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9" name="Rectangle 54"/>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grpSp>
          <p:sp>
            <p:nvSpPr>
              <p:cNvPr id="432140" name="Text Box 55"/>
              <p:cNvSpPr txBox="1">
                <a:spLocks noChangeArrowheads="1"/>
              </p:cNvSpPr>
              <p:nvPr/>
            </p:nvSpPr>
            <p:spPr bwMode="auto">
              <a:xfrm>
                <a:off x="1784" y="2666"/>
                <a:ext cx="2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grpSp>
        <p:sp>
          <p:nvSpPr>
            <p:cNvPr id="432141" name="Rectangle 57"/>
            <p:cNvSpPr>
              <a:spLocks noChangeArrowheads="1"/>
            </p:cNvSpPr>
            <p:nvPr/>
          </p:nvSpPr>
          <p:spPr bwMode="auto">
            <a:xfrm>
              <a:off x="3728864" y="6014561"/>
              <a:ext cx="39043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只考虑数据链路层</a:t>
              </a:r>
              <a:endParaRPr lang="en-US" altLang="zh-CN" b="1">
                <a:solidFill>
                  <a:srgbClr val="000099"/>
                </a:solidFill>
                <a:ea typeface="黑体" panose="02010609060101010101" pitchFamily="49" charset="-122"/>
              </a:endParaRPr>
            </a:p>
          </p:txBody>
        </p:sp>
        <p:sp>
          <p:nvSpPr>
            <p:cNvPr id="432142" name="Rectangle 58"/>
            <p:cNvSpPr>
              <a:spLocks noChangeArrowheads="1"/>
            </p:cNvSpPr>
            <p:nvPr/>
          </p:nvSpPr>
          <p:spPr bwMode="auto">
            <a:xfrm>
              <a:off x="3572983" y="4867104"/>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发送</a:t>
              </a:r>
            </a:p>
          </p:txBody>
        </p:sp>
        <p:grpSp>
          <p:nvGrpSpPr>
            <p:cNvPr id="432143" name="Group 59"/>
            <p:cNvGrpSpPr>
              <a:grpSpLocks/>
            </p:cNvGrpSpPr>
            <p:nvPr/>
          </p:nvGrpSpPr>
          <p:grpSpPr bwMode="auto">
            <a:xfrm>
              <a:off x="7115753" y="5165553"/>
              <a:ext cx="1059392" cy="369887"/>
              <a:chOff x="1701" y="2666"/>
              <a:chExt cx="616" cy="233"/>
            </a:xfrm>
          </p:grpSpPr>
          <p:grpSp>
            <p:nvGrpSpPr>
              <p:cNvPr id="432144" name="Group 60"/>
              <p:cNvGrpSpPr>
                <a:grpSpLocks/>
              </p:cNvGrpSpPr>
              <p:nvPr/>
            </p:nvGrpSpPr>
            <p:grpSpPr bwMode="auto">
              <a:xfrm>
                <a:off x="1701" y="2694"/>
                <a:ext cx="616" cy="192"/>
                <a:chOff x="1701" y="2694"/>
                <a:chExt cx="616" cy="192"/>
              </a:xfrm>
            </p:grpSpPr>
            <p:sp>
              <p:nvSpPr>
                <p:cNvPr id="432145" name="AutoShape 61"/>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46" name="Rectangle 62"/>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grpSp>
          <p:sp>
            <p:nvSpPr>
              <p:cNvPr id="432147" name="Text Box 63"/>
              <p:cNvSpPr txBox="1">
                <a:spLocks noChangeArrowheads="1"/>
              </p:cNvSpPr>
              <p:nvPr/>
            </p:nvSpPr>
            <p:spPr bwMode="auto">
              <a:xfrm>
                <a:off x="1784" y="2666"/>
                <a:ext cx="2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grpSp>
        <p:sp>
          <p:nvSpPr>
            <p:cNvPr id="432148" name="Rectangle 64"/>
            <p:cNvSpPr>
              <a:spLocks noChangeArrowheads="1"/>
            </p:cNvSpPr>
            <p:nvPr/>
          </p:nvSpPr>
          <p:spPr bwMode="auto">
            <a:xfrm>
              <a:off x="6837147" y="4867104"/>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接收</a:t>
              </a:r>
            </a:p>
          </p:txBody>
        </p:sp>
        <p:sp>
          <p:nvSpPr>
            <p:cNvPr id="432149" name="Rectangle 65"/>
            <p:cNvSpPr>
              <a:spLocks noChangeArrowheads="1"/>
            </p:cNvSpPr>
            <p:nvPr/>
          </p:nvSpPr>
          <p:spPr bwMode="auto">
            <a:xfrm>
              <a:off x="5210224" y="5586240"/>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链路</a:t>
              </a:r>
            </a:p>
          </p:txBody>
        </p:sp>
      </p:grpSp>
      <p:grpSp>
        <p:nvGrpSpPr>
          <p:cNvPr id="432150" name="组合 3"/>
          <p:cNvGrpSpPr>
            <a:grpSpLocks/>
          </p:cNvGrpSpPr>
          <p:nvPr/>
        </p:nvGrpSpPr>
        <p:grpSpPr bwMode="auto">
          <a:xfrm>
            <a:off x="361950" y="1052513"/>
            <a:ext cx="9402763" cy="3463925"/>
            <a:chOff x="362070" y="1052736"/>
            <a:chExt cx="9402162" cy="3463111"/>
          </a:xfrm>
        </p:grpSpPr>
        <p:sp>
          <p:nvSpPr>
            <p:cNvPr id="432151" name="Rectangle 4"/>
            <p:cNvSpPr>
              <a:spLocks noChangeArrowheads="1"/>
            </p:cNvSpPr>
            <p:nvPr/>
          </p:nvSpPr>
          <p:spPr bwMode="auto">
            <a:xfrm>
              <a:off x="7585256" y="1498030"/>
              <a:ext cx="2178976"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2" name="Rectangle 5"/>
            <p:cNvSpPr>
              <a:spLocks noChangeArrowheads="1"/>
            </p:cNvSpPr>
            <p:nvPr/>
          </p:nvSpPr>
          <p:spPr bwMode="auto">
            <a:xfrm>
              <a:off x="7605894" y="2107630"/>
              <a:ext cx="2146300"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3" name="Line 6"/>
            <p:cNvSpPr>
              <a:spLocks noChangeShapeType="1"/>
            </p:cNvSpPr>
            <p:nvPr/>
          </p:nvSpPr>
          <p:spPr bwMode="auto">
            <a:xfrm>
              <a:off x="7585257" y="2106042"/>
              <a:ext cx="2175536"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4" name="Rectangle 7"/>
            <p:cNvSpPr>
              <a:spLocks noChangeArrowheads="1"/>
            </p:cNvSpPr>
            <p:nvPr/>
          </p:nvSpPr>
          <p:spPr bwMode="auto">
            <a:xfrm>
              <a:off x="7917176" y="2260030"/>
              <a:ext cx="1506538"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55" name="Line 8"/>
            <p:cNvSpPr>
              <a:spLocks noChangeShapeType="1"/>
            </p:cNvSpPr>
            <p:nvPr/>
          </p:nvSpPr>
          <p:spPr bwMode="auto">
            <a:xfrm>
              <a:off x="7585257" y="2715642"/>
              <a:ext cx="2175536"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6" name="Rectangle 9"/>
            <p:cNvSpPr>
              <a:spLocks noChangeArrowheads="1"/>
            </p:cNvSpPr>
            <p:nvPr/>
          </p:nvSpPr>
          <p:spPr bwMode="auto">
            <a:xfrm>
              <a:off x="8139029" y="1650430"/>
              <a:ext cx="107315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数据报</a:t>
              </a:r>
            </a:p>
          </p:txBody>
        </p:sp>
        <p:sp>
          <p:nvSpPr>
            <p:cNvPr id="432157"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58" name="Rectangle 11"/>
            <p:cNvSpPr>
              <a:spLocks noChangeArrowheads="1"/>
            </p:cNvSpPr>
            <p:nvPr/>
          </p:nvSpPr>
          <p:spPr bwMode="auto">
            <a:xfrm>
              <a:off x="7841505" y="2882330"/>
              <a:ext cx="1638270" cy="299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1600" b="1">
                  <a:solidFill>
                    <a:srgbClr val="000099"/>
                  </a:solidFill>
                  <a:ea typeface="黑体" panose="02010609060101010101" pitchFamily="49" charset="-122"/>
                </a:rPr>
                <a:t>1010…  …0110</a:t>
              </a:r>
            </a:p>
          </p:txBody>
        </p:sp>
        <p:sp>
          <p:nvSpPr>
            <p:cNvPr id="432159" name="AutoShape 12"/>
            <p:cNvSpPr>
              <a:spLocks noChangeArrowheads="1"/>
            </p:cNvSpPr>
            <p:nvPr/>
          </p:nvSpPr>
          <p:spPr bwMode="auto">
            <a:xfrm flipV="1">
              <a:off x="8529422" y="2612455"/>
              <a:ext cx="330200" cy="334962"/>
            </a:xfrm>
            <a:prstGeom prst="downArrow">
              <a:avLst>
                <a:gd name="adj1" fmla="val 50000"/>
                <a:gd name="adj2" fmla="val 43230"/>
              </a:avLst>
            </a:prstGeom>
            <a:solidFill>
              <a:schemeClr val="bg1"/>
            </a:solidFill>
            <a:ln w="12700">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160" name="Rectangle 13"/>
            <p:cNvSpPr>
              <a:spLocks noChangeArrowheads="1"/>
            </p:cNvSpPr>
            <p:nvPr/>
          </p:nvSpPr>
          <p:spPr bwMode="auto">
            <a:xfrm>
              <a:off x="8132150" y="2269556"/>
              <a:ext cx="1073150" cy="28098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61" name="AutoShape 14"/>
            <p:cNvSpPr>
              <a:spLocks noChangeArrowheads="1"/>
            </p:cNvSpPr>
            <p:nvPr/>
          </p:nvSpPr>
          <p:spPr bwMode="auto">
            <a:xfrm flipV="1">
              <a:off x="8128711" y="1901256"/>
              <a:ext cx="1073150" cy="369887"/>
            </a:xfrm>
            <a:prstGeom prst="downArrow">
              <a:avLst>
                <a:gd name="adj1" fmla="val 65398"/>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162" name="Text Box 15"/>
            <p:cNvSpPr txBox="1">
              <a:spLocks noChangeArrowheads="1"/>
            </p:cNvSpPr>
            <p:nvPr/>
          </p:nvSpPr>
          <p:spPr bwMode="auto">
            <a:xfrm>
              <a:off x="7550861" y="2213993"/>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sp>
          <p:nvSpPr>
            <p:cNvPr id="432163" name="Rectangle 16"/>
            <p:cNvSpPr>
              <a:spLocks noChangeArrowheads="1"/>
            </p:cNvSpPr>
            <p:nvPr/>
          </p:nvSpPr>
          <p:spPr bwMode="auto">
            <a:xfrm>
              <a:off x="8355724" y="1928242"/>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取出</a:t>
              </a:r>
            </a:p>
          </p:txBody>
        </p:sp>
        <p:sp>
          <p:nvSpPr>
            <p:cNvPr id="432164"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65"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66" name="Freeform 21"/>
            <p:cNvSpPr>
              <a:spLocks noChangeArrowheads="1"/>
            </p:cNvSpPr>
            <p:nvPr/>
          </p:nvSpPr>
          <p:spPr bwMode="auto">
            <a:xfrm>
              <a:off x="2417282"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67" name="Rectangle 22"/>
            <p:cNvSpPr>
              <a:spLocks noChangeArrowheads="1"/>
            </p:cNvSpPr>
            <p:nvPr/>
          </p:nvSpPr>
          <p:spPr bwMode="auto">
            <a:xfrm>
              <a:off x="362070" y="2029843"/>
              <a:ext cx="95699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数据</a:t>
              </a:r>
            </a:p>
            <a:p>
              <a:pPr algn="ctr"/>
              <a:r>
                <a:rPr lang="zh-CN" altLang="en-US" sz="2000" b="1">
                  <a:solidFill>
                    <a:srgbClr val="000099"/>
                  </a:solidFill>
                  <a:ea typeface="黑体" panose="02010609060101010101" pitchFamily="49" charset="-122"/>
                </a:rPr>
                <a:t>链路层</a:t>
              </a:r>
            </a:p>
          </p:txBody>
        </p:sp>
        <p:sp>
          <p:nvSpPr>
            <p:cNvPr id="432168" name="Rectangle 23"/>
            <p:cNvSpPr>
              <a:spLocks noChangeArrowheads="1"/>
            </p:cNvSpPr>
            <p:nvPr/>
          </p:nvSpPr>
          <p:spPr bwMode="auto">
            <a:xfrm>
              <a:off x="362070" y="1634555"/>
              <a:ext cx="956994" cy="35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2000" b="1">
                  <a:solidFill>
                    <a:srgbClr val="000099"/>
                  </a:solidFill>
                  <a:ea typeface="黑体" panose="02010609060101010101" pitchFamily="49" charset="-122"/>
                </a:rPr>
                <a:t>网络层</a:t>
              </a:r>
            </a:p>
          </p:txBody>
        </p:sp>
        <p:sp>
          <p:nvSpPr>
            <p:cNvPr id="432169" name="Rectangle 24"/>
            <p:cNvSpPr>
              <a:spLocks noChangeArrowheads="1"/>
            </p:cNvSpPr>
            <p:nvPr/>
          </p:nvSpPr>
          <p:spPr bwMode="auto">
            <a:xfrm>
              <a:off x="5141433" y="3768156"/>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链路</a:t>
              </a:r>
            </a:p>
          </p:txBody>
        </p:sp>
        <p:sp>
          <p:nvSpPr>
            <p:cNvPr id="432170" name="Rectangle 25"/>
            <p:cNvSpPr>
              <a:spLocks noChangeArrowheads="1"/>
            </p:cNvSpPr>
            <p:nvPr/>
          </p:nvSpPr>
          <p:spPr bwMode="auto">
            <a:xfrm>
              <a:off x="1928664" y="1052736"/>
              <a:ext cx="109786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A</a:t>
              </a:r>
            </a:p>
          </p:txBody>
        </p:sp>
        <p:sp>
          <p:nvSpPr>
            <p:cNvPr id="432171" name="Rectangle 26"/>
            <p:cNvSpPr>
              <a:spLocks noChangeArrowheads="1"/>
            </p:cNvSpPr>
            <p:nvPr/>
          </p:nvSpPr>
          <p:spPr bwMode="auto">
            <a:xfrm>
              <a:off x="8121352" y="1052736"/>
              <a:ext cx="110927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B</a:t>
              </a:r>
            </a:p>
          </p:txBody>
        </p:sp>
        <p:sp>
          <p:nvSpPr>
            <p:cNvPr id="432172" name="Rectangle 27"/>
            <p:cNvSpPr>
              <a:spLocks noChangeArrowheads="1"/>
            </p:cNvSpPr>
            <p:nvPr/>
          </p:nvSpPr>
          <p:spPr bwMode="auto">
            <a:xfrm>
              <a:off x="362070" y="2853755"/>
              <a:ext cx="956994" cy="35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2000" b="1">
                  <a:solidFill>
                    <a:srgbClr val="000099"/>
                  </a:solidFill>
                  <a:ea typeface="黑体" panose="02010609060101010101" pitchFamily="49" charset="-122"/>
                </a:rPr>
                <a:t>物理层</a:t>
              </a:r>
            </a:p>
          </p:txBody>
        </p:sp>
        <p:sp>
          <p:nvSpPr>
            <p:cNvPr id="432173" name="Rectangle 28"/>
            <p:cNvSpPr>
              <a:spLocks noChangeArrowheads="1"/>
            </p:cNvSpPr>
            <p:nvPr/>
          </p:nvSpPr>
          <p:spPr bwMode="auto">
            <a:xfrm>
              <a:off x="24998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4" name="Rectangle 29"/>
            <p:cNvSpPr>
              <a:spLocks noChangeArrowheads="1"/>
            </p:cNvSpPr>
            <p:nvPr/>
          </p:nvSpPr>
          <p:spPr bwMode="auto">
            <a:xfrm>
              <a:off x="26649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5" name="Rectangle 30"/>
            <p:cNvSpPr>
              <a:spLocks noChangeArrowheads="1"/>
            </p:cNvSpPr>
            <p:nvPr/>
          </p:nvSpPr>
          <p:spPr bwMode="auto">
            <a:xfrm>
              <a:off x="41508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6" name="Rectangle 31"/>
            <p:cNvSpPr>
              <a:spLocks noChangeArrowheads="1"/>
            </p:cNvSpPr>
            <p:nvPr/>
          </p:nvSpPr>
          <p:spPr bwMode="auto">
            <a:xfrm>
              <a:off x="43159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7" name="Rectangle 32"/>
            <p:cNvSpPr>
              <a:spLocks noChangeArrowheads="1"/>
            </p:cNvSpPr>
            <p:nvPr/>
          </p:nvSpPr>
          <p:spPr bwMode="auto">
            <a:xfrm>
              <a:off x="62145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8" name="Rectangle 33"/>
            <p:cNvSpPr>
              <a:spLocks noChangeArrowheads="1"/>
            </p:cNvSpPr>
            <p:nvPr/>
          </p:nvSpPr>
          <p:spPr bwMode="auto">
            <a:xfrm>
              <a:off x="63796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9" name="Rectangle 34"/>
            <p:cNvSpPr>
              <a:spLocks noChangeArrowheads="1"/>
            </p:cNvSpPr>
            <p:nvPr/>
          </p:nvSpPr>
          <p:spPr bwMode="auto">
            <a:xfrm>
              <a:off x="80306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0" name="Rectangle 35"/>
            <p:cNvSpPr>
              <a:spLocks noChangeArrowheads="1"/>
            </p:cNvSpPr>
            <p:nvPr/>
          </p:nvSpPr>
          <p:spPr bwMode="auto">
            <a:xfrm>
              <a:off x="81957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1" name="Rectangle 36"/>
            <p:cNvSpPr>
              <a:spLocks noChangeArrowheads="1"/>
            </p:cNvSpPr>
            <p:nvPr/>
          </p:nvSpPr>
          <p:spPr bwMode="auto">
            <a:xfrm>
              <a:off x="83608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2" name="Rectangle 37"/>
            <p:cNvSpPr>
              <a:spLocks noChangeArrowheads="1"/>
            </p:cNvSpPr>
            <p:nvPr/>
          </p:nvSpPr>
          <p:spPr bwMode="auto">
            <a:xfrm>
              <a:off x="85259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3"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84"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85"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284713" name="Group 41"/>
            <p:cNvGrpSpPr/>
            <p:nvPr/>
          </p:nvGrpSpPr>
          <p:grpSpPr bwMode="auto">
            <a:xfrm>
              <a:off x="2830032" y="3539555"/>
              <a:ext cx="1155700" cy="152400"/>
              <a:chOff x="1344" y="912"/>
              <a:chExt cx="672" cy="96"/>
            </a:xfrm>
            <a:solidFill>
              <a:srgbClr val="FFC000"/>
            </a:solidFill>
          </p:grpSpPr>
          <p:sp>
            <p:nvSpPr>
              <p:cNvPr id="284714"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sp>
            <p:nvSpPr>
              <p:cNvPr id="284715" name="Freeform 43"/>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grpSp>
        <p:grpSp>
          <p:nvGrpSpPr>
            <p:cNvPr id="284716" name="Group 44"/>
            <p:cNvGrpSpPr/>
            <p:nvPr/>
          </p:nvGrpSpPr>
          <p:grpSpPr bwMode="auto">
            <a:xfrm>
              <a:off x="6627332" y="3539555"/>
              <a:ext cx="1155700" cy="157162"/>
              <a:chOff x="4080" y="3676"/>
              <a:chExt cx="672" cy="99"/>
            </a:xfrm>
            <a:solidFill>
              <a:srgbClr val="FFC000"/>
            </a:solidFill>
          </p:grpSpPr>
          <p:sp>
            <p:nvSpPr>
              <p:cNvPr id="28471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sp>
            <p:nvSpPr>
              <p:cNvPr id="284718" name="Freeform 46"/>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grpSp>
        <p:sp>
          <p:nvSpPr>
            <p:cNvPr id="432188" name="Rectangle 56"/>
            <p:cNvSpPr>
              <a:spLocks noChangeArrowheads="1"/>
            </p:cNvSpPr>
            <p:nvPr/>
          </p:nvSpPr>
          <p:spPr bwMode="auto">
            <a:xfrm>
              <a:off x="3774198" y="4149080"/>
              <a:ext cx="359501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三层的简化模型</a:t>
              </a:r>
              <a:endParaRPr lang="en-US" altLang="zh-CN" b="1">
                <a:solidFill>
                  <a:srgbClr val="000099"/>
                </a:solidFill>
                <a:ea typeface="黑体" panose="02010609060101010101" pitchFamily="49" charset="-122"/>
              </a:endParaRPr>
            </a:p>
          </p:txBody>
        </p:sp>
        <p:sp>
          <p:nvSpPr>
            <p:cNvPr id="432189" name="Rectangle 67"/>
            <p:cNvSpPr>
              <a:spLocks noChangeArrowheads="1"/>
            </p:cNvSpPr>
            <p:nvPr/>
          </p:nvSpPr>
          <p:spPr bwMode="auto">
            <a:xfrm>
              <a:off x="1344132" y="1482155"/>
              <a:ext cx="2178977"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0" name="Rectangle 68"/>
            <p:cNvSpPr>
              <a:spLocks noChangeArrowheads="1"/>
            </p:cNvSpPr>
            <p:nvPr/>
          </p:nvSpPr>
          <p:spPr bwMode="auto">
            <a:xfrm>
              <a:off x="1364770" y="2091755"/>
              <a:ext cx="2146300"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1" name="Line 69"/>
            <p:cNvSpPr>
              <a:spLocks noChangeShapeType="1"/>
            </p:cNvSpPr>
            <p:nvPr/>
          </p:nvSpPr>
          <p:spPr bwMode="auto">
            <a:xfrm>
              <a:off x="1344132" y="2090167"/>
              <a:ext cx="2175537"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2" name="Rectangle 70"/>
            <p:cNvSpPr>
              <a:spLocks noChangeArrowheads="1"/>
            </p:cNvSpPr>
            <p:nvPr/>
          </p:nvSpPr>
          <p:spPr bwMode="auto">
            <a:xfrm>
              <a:off x="1676052" y="2244155"/>
              <a:ext cx="1506538"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93" name="Line 71"/>
            <p:cNvSpPr>
              <a:spLocks noChangeShapeType="1"/>
            </p:cNvSpPr>
            <p:nvPr/>
          </p:nvSpPr>
          <p:spPr bwMode="auto">
            <a:xfrm>
              <a:off x="1344132" y="2699767"/>
              <a:ext cx="2175537"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4" name="Rectangle 72"/>
            <p:cNvSpPr>
              <a:spLocks noChangeArrowheads="1"/>
            </p:cNvSpPr>
            <p:nvPr/>
          </p:nvSpPr>
          <p:spPr bwMode="auto">
            <a:xfrm>
              <a:off x="1897905" y="1634555"/>
              <a:ext cx="107315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数据报</a:t>
              </a:r>
            </a:p>
          </p:txBody>
        </p:sp>
        <p:sp>
          <p:nvSpPr>
            <p:cNvPr id="432195" name="Rectangle 73"/>
            <p:cNvSpPr>
              <a:spLocks noChangeArrowheads="1"/>
            </p:cNvSpPr>
            <p:nvPr/>
          </p:nvSpPr>
          <p:spPr bwMode="auto">
            <a:xfrm>
              <a:off x="1669173" y="2853755"/>
              <a:ext cx="1520296"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96" name="Rectangle 74"/>
            <p:cNvSpPr>
              <a:spLocks noChangeArrowheads="1"/>
            </p:cNvSpPr>
            <p:nvPr/>
          </p:nvSpPr>
          <p:spPr bwMode="auto">
            <a:xfrm>
              <a:off x="1600382" y="2866455"/>
              <a:ext cx="1638270" cy="299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1600" b="1">
                  <a:solidFill>
                    <a:srgbClr val="000099"/>
                  </a:solidFill>
                  <a:ea typeface="黑体" panose="02010609060101010101" pitchFamily="49" charset="-122"/>
                </a:rPr>
                <a:t>1010…  …0110</a:t>
              </a:r>
            </a:p>
          </p:txBody>
        </p:sp>
        <p:sp>
          <p:nvSpPr>
            <p:cNvPr id="432197" name="AutoShape 75"/>
            <p:cNvSpPr>
              <a:spLocks noChangeArrowheads="1"/>
            </p:cNvSpPr>
            <p:nvPr/>
          </p:nvSpPr>
          <p:spPr bwMode="auto">
            <a:xfrm>
              <a:off x="2267661" y="2701355"/>
              <a:ext cx="330200" cy="334962"/>
            </a:xfrm>
            <a:prstGeom prst="downArrow">
              <a:avLst>
                <a:gd name="adj1" fmla="val 50000"/>
                <a:gd name="adj2" fmla="val 43230"/>
              </a:avLst>
            </a:prstGeom>
            <a:solidFill>
              <a:schemeClr val="bg1"/>
            </a:solidFill>
            <a:ln w="12700">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198" name="Rectangle 76"/>
            <p:cNvSpPr>
              <a:spLocks noChangeArrowheads="1"/>
            </p:cNvSpPr>
            <p:nvPr/>
          </p:nvSpPr>
          <p:spPr bwMode="auto">
            <a:xfrm>
              <a:off x="1891026" y="2253681"/>
              <a:ext cx="1073150" cy="28098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9" name="AutoShape 77"/>
            <p:cNvSpPr>
              <a:spLocks noChangeArrowheads="1"/>
            </p:cNvSpPr>
            <p:nvPr/>
          </p:nvSpPr>
          <p:spPr bwMode="auto">
            <a:xfrm>
              <a:off x="1897905" y="1948881"/>
              <a:ext cx="1073150" cy="369887"/>
            </a:xfrm>
            <a:prstGeom prst="downArrow">
              <a:avLst>
                <a:gd name="adj1" fmla="val 65398"/>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200" name="Text Box 78"/>
            <p:cNvSpPr txBox="1">
              <a:spLocks noChangeArrowheads="1"/>
            </p:cNvSpPr>
            <p:nvPr/>
          </p:nvSpPr>
          <p:spPr bwMode="auto">
            <a:xfrm>
              <a:off x="1309736" y="2198118"/>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sp>
          <p:nvSpPr>
            <p:cNvPr id="432201" name="Rectangle 79"/>
            <p:cNvSpPr>
              <a:spLocks noChangeArrowheads="1"/>
            </p:cNvSpPr>
            <p:nvPr/>
          </p:nvSpPr>
          <p:spPr bwMode="auto">
            <a:xfrm>
              <a:off x="2114599" y="1912367"/>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装入</a:t>
              </a:r>
            </a:p>
          </p:txBody>
        </p:sp>
        <p:sp>
          <p:nvSpPr>
            <p:cNvPr id="432202"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203"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32204" name="标题 2"/>
          <p:cNvSpPr>
            <a:spLocks noGrp="1" noChangeArrowheads="1"/>
          </p:cNvSpPr>
          <p:nvPr>
            <p:ph type="title"/>
          </p:nvPr>
        </p:nvSpPr>
        <p:spPr/>
        <p:txBody>
          <a:bodyPr/>
          <a:lstStyle/>
          <a:p>
            <a:pPr algn="ctr"/>
            <a:r>
              <a:rPr lang="zh-CN" altLang="en-US" smtClean="0">
                <a:ea typeface="黑体" panose="02010609060101010101" pitchFamily="49" charset="-122"/>
              </a:rPr>
              <a:t>数据链路层传送的是帧</a:t>
            </a:r>
          </a:p>
        </p:txBody>
      </p:sp>
      <p:sp>
        <p:nvSpPr>
          <p:cNvPr id="432205" name="矩形 5"/>
          <p:cNvSpPr>
            <a:spLocks noChangeArrowheads="1"/>
          </p:cNvSpPr>
          <p:nvPr/>
        </p:nvSpPr>
        <p:spPr bwMode="auto">
          <a:xfrm>
            <a:off x="2114550" y="6381750"/>
            <a:ext cx="6580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使用点对点信道的数据链路层</a:t>
            </a:r>
            <a:endParaRPr lang="zh-CN" altLang="en-US" sz="2400" b="1">
              <a:ea typeface="黑体" panose="02010609060101010101" pitchFamily="49" charset="-122"/>
            </a:endParaRPr>
          </a:p>
        </p:txBody>
      </p:sp>
      <p:sp>
        <p:nvSpPr>
          <p:cNvPr id="432206"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CC2E95-E937-49FD-95E6-354D766B8D9E}" type="slidenum">
              <a:rPr lang="zh-CN" altLang="en-US" smtClean="0"/>
              <a:pPr eaLnBrk="1" hangingPunct="1"/>
              <a:t>9</a:t>
            </a:fld>
            <a:endParaRPr lang="en-US" altLang="zh-CN" smtClean="0"/>
          </a:p>
        </p:txBody>
      </p:sp>
      <p:sp>
        <p:nvSpPr>
          <p:cNvPr id="432207"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数据链路层像个数字管道 </a:t>
            </a:r>
          </a:p>
        </p:txBody>
      </p:sp>
      <p:sp>
        <p:nvSpPr>
          <p:cNvPr id="126979"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常常在两个对等的数据链路层之间画出一个数字管道，而在这条数字管道上传输的数据单位是帧。</a:t>
            </a:r>
          </a:p>
          <a:p>
            <a:endParaRPr lang="zh-CN" altLang="en-US" dirty="0" smtClean="0">
              <a:ea typeface="黑体" panose="02010609060101010101" pitchFamily="49" charset="-122"/>
            </a:endParaRPr>
          </a:p>
          <a:p>
            <a:endParaRPr lang="zh-CN" altLang="en-US" dirty="0" smtClean="0">
              <a:ea typeface="黑体" panose="02010609060101010101" pitchFamily="49" charset="-122"/>
            </a:endParaRPr>
          </a:p>
          <a:p>
            <a:r>
              <a:rPr lang="zh-CN" altLang="zh-CN" dirty="0" smtClean="0">
                <a:solidFill>
                  <a:srgbClr val="0000CC"/>
                </a:solidFill>
                <a:ea typeface="黑体" panose="02010609060101010101" pitchFamily="49" charset="-122"/>
              </a:rPr>
              <a:t>数据链路层不必考虑物理层如何实现比特传输的细节</a:t>
            </a:r>
            <a:r>
              <a:rPr lang="zh-CN" altLang="zh-CN" dirty="0" smtClean="0">
                <a:ea typeface="黑体" panose="02010609060101010101" pitchFamily="49" charset="-122"/>
              </a:rPr>
              <a:t>。甚至还可以更简单地设想好像是沿着两个数据链路层之间的水平方向把帧直接发送到对方</a:t>
            </a:r>
            <a:r>
              <a:rPr lang="zh-CN" altLang="en-US" dirty="0" smtClean="0">
                <a:ea typeface="黑体" panose="02010609060101010101" pitchFamily="49" charset="-122"/>
              </a:rPr>
              <a:t>。</a:t>
            </a:r>
          </a:p>
        </p:txBody>
      </p:sp>
      <p:grpSp>
        <p:nvGrpSpPr>
          <p:cNvPr id="126991" name="Group 15"/>
          <p:cNvGrpSpPr>
            <a:grpSpLocks/>
          </p:cNvGrpSpPr>
          <p:nvPr/>
        </p:nvGrpSpPr>
        <p:grpSpPr bwMode="auto">
          <a:xfrm>
            <a:off x="974725" y="2997200"/>
            <a:ext cx="8269288" cy="863600"/>
            <a:chOff x="567" y="2251"/>
            <a:chExt cx="4808" cy="544"/>
          </a:xfrm>
        </p:grpSpPr>
        <p:sp>
          <p:nvSpPr>
            <p:cNvPr id="434180" name="Oval 4"/>
            <p:cNvSpPr>
              <a:spLocks noChangeArrowheads="1"/>
            </p:cNvSpPr>
            <p:nvPr/>
          </p:nvSpPr>
          <p:spPr bwMode="auto">
            <a:xfrm>
              <a:off x="567" y="2251"/>
              <a:ext cx="499" cy="499"/>
            </a:xfrm>
            <a:prstGeom prst="ellipse">
              <a:avLst/>
            </a:prstGeom>
            <a:solidFill>
              <a:srgbClr val="FFFF00"/>
            </a:solidFill>
            <a:ln w="9525">
              <a:solidFill>
                <a:srgbClr val="333399"/>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结点</a:t>
              </a:r>
            </a:p>
          </p:txBody>
        </p:sp>
        <p:sp>
          <p:nvSpPr>
            <p:cNvPr id="434181" name="Oval 6"/>
            <p:cNvSpPr>
              <a:spLocks noChangeArrowheads="1"/>
            </p:cNvSpPr>
            <p:nvPr/>
          </p:nvSpPr>
          <p:spPr bwMode="auto">
            <a:xfrm>
              <a:off x="4876" y="2251"/>
              <a:ext cx="499" cy="499"/>
            </a:xfrm>
            <a:prstGeom prst="ellipse">
              <a:avLst/>
            </a:prstGeom>
            <a:solidFill>
              <a:srgbClr val="FFFF00"/>
            </a:solidFill>
            <a:ln w="9525">
              <a:solidFill>
                <a:srgbClr val="333399"/>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结点</a:t>
              </a:r>
            </a:p>
          </p:txBody>
        </p:sp>
        <p:sp>
          <p:nvSpPr>
            <p:cNvPr id="434182" name="Line 8"/>
            <p:cNvSpPr>
              <a:spLocks noChangeShapeType="1"/>
            </p:cNvSpPr>
            <p:nvPr/>
          </p:nvSpPr>
          <p:spPr bwMode="auto">
            <a:xfrm>
              <a:off x="1066" y="2523"/>
              <a:ext cx="381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434183" name="AutoShape 7"/>
            <p:cNvSpPr>
              <a:spLocks noChangeArrowheads="1"/>
            </p:cNvSpPr>
            <p:nvPr/>
          </p:nvSpPr>
          <p:spPr bwMode="auto">
            <a:xfrm rot="-5400000">
              <a:off x="2676" y="686"/>
              <a:ext cx="544" cy="3674"/>
            </a:xfrm>
            <a:prstGeom prst="can">
              <a:avLst>
                <a:gd name="adj" fmla="val 22418"/>
              </a:avLst>
            </a:prstGeom>
            <a:gradFill rotWithShape="1">
              <a:gsLst>
                <a:gs pos="0">
                  <a:srgbClr val="5E6D76"/>
                </a:gs>
                <a:gs pos="50000">
                  <a:srgbClr val="CCECFF"/>
                </a:gs>
                <a:gs pos="100000">
                  <a:srgbClr val="5E6D76"/>
                </a:gs>
              </a:gsLst>
              <a:lin ang="0" scaled="1"/>
            </a:gradFill>
            <a:ln w="9525">
              <a:solidFill>
                <a:schemeClr val="tx1"/>
              </a:solidFill>
              <a:round/>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434184" name="Rectangle 9"/>
            <p:cNvSpPr>
              <a:spLocks noChangeArrowheads="1"/>
            </p:cNvSpPr>
            <p:nvPr/>
          </p:nvSpPr>
          <p:spPr bwMode="auto">
            <a:xfrm>
              <a:off x="1383" y="2387"/>
              <a:ext cx="1043" cy="272"/>
            </a:xfrm>
            <a:prstGeom prst="rect">
              <a:avLst/>
            </a:prstGeom>
            <a:solidFill>
              <a:srgbClr val="FF66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帧</a:t>
              </a:r>
            </a:p>
          </p:txBody>
        </p:sp>
        <p:sp>
          <p:nvSpPr>
            <p:cNvPr id="434185" name="Line 10"/>
            <p:cNvSpPr>
              <a:spLocks noChangeShapeType="1"/>
            </p:cNvSpPr>
            <p:nvPr/>
          </p:nvSpPr>
          <p:spPr bwMode="auto">
            <a:xfrm>
              <a:off x="1066" y="2523"/>
              <a:ext cx="117"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434186" name="Rectangle 12"/>
            <p:cNvSpPr>
              <a:spLocks noChangeArrowheads="1"/>
            </p:cNvSpPr>
            <p:nvPr/>
          </p:nvSpPr>
          <p:spPr bwMode="auto">
            <a:xfrm>
              <a:off x="3243" y="2387"/>
              <a:ext cx="1043" cy="272"/>
            </a:xfrm>
            <a:prstGeom prst="rect">
              <a:avLst/>
            </a:prstGeom>
            <a:solidFill>
              <a:srgbClr val="FF66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帧</a:t>
              </a:r>
            </a:p>
          </p:txBody>
        </p:sp>
        <p:sp>
          <p:nvSpPr>
            <p:cNvPr id="434187" name="Line 13"/>
            <p:cNvSpPr>
              <a:spLocks noChangeShapeType="1"/>
            </p:cNvSpPr>
            <p:nvPr/>
          </p:nvSpPr>
          <p:spPr bwMode="auto">
            <a:xfrm>
              <a:off x="2426" y="2523"/>
              <a:ext cx="273" cy="0"/>
            </a:xfrm>
            <a:prstGeom prst="line">
              <a:avLst/>
            </a:prstGeom>
            <a:noFill/>
            <a:ln w="762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434188" name="Line 14"/>
            <p:cNvSpPr>
              <a:spLocks noChangeShapeType="1"/>
            </p:cNvSpPr>
            <p:nvPr/>
          </p:nvSpPr>
          <p:spPr bwMode="auto">
            <a:xfrm>
              <a:off x="4285" y="2523"/>
              <a:ext cx="273" cy="0"/>
            </a:xfrm>
            <a:prstGeom prst="line">
              <a:avLst/>
            </a:prstGeom>
            <a:noFill/>
            <a:ln w="762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sp>
        <p:nvSpPr>
          <p:cNvPr id="43418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83B288-4CB6-4900-A307-64F1D88E9709}" type="slidenum">
              <a:rPr lang="zh-CN" altLang="en-US" smtClean="0"/>
              <a:pPr eaLnBrk="1" hangingPunct="1"/>
              <a:t>10</a:t>
            </a:fld>
            <a:endParaRPr lang="en-US" altLang="zh-CN" smtClean="0"/>
          </a:p>
        </p:txBody>
      </p:sp>
      <p:sp>
        <p:nvSpPr>
          <p:cNvPr id="43419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3.1.2  </a:t>
            </a:r>
            <a:r>
              <a:rPr lang="zh-CN" altLang="en-US" smtClean="0">
                <a:ea typeface="黑体" panose="02010609060101010101" pitchFamily="49" charset="-122"/>
              </a:rPr>
              <a:t>三个基本问题 </a:t>
            </a:r>
          </a:p>
        </p:txBody>
      </p:sp>
      <p:sp>
        <p:nvSpPr>
          <p:cNvPr id="436226"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数据链路层协议有许多种，但有三个基本问题则是共同的。这三个基本问题是</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a:buFont typeface="Wingdings" panose="05000000000000000000" pitchFamily="2" charset="2"/>
              <a:buNone/>
            </a:pPr>
            <a:r>
              <a:rPr lang="en-US" altLang="zh-CN" dirty="0" smtClean="0">
                <a:ea typeface="黑体" panose="02010609060101010101" pitchFamily="49" charset="-122"/>
              </a:rPr>
              <a:t>1. </a:t>
            </a:r>
            <a:r>
              <a:rPr lang="zh-CN" altLang="en-US" dirty="0" smtClean="0">
                <a:solidFill>
                  <a:srgbClr val="0000CC"/>
                </a:solidFill>
                <a:ea typeface="黑体" panose="02010609060101010101" pitchFamily="49" charset="-122"/>
              </a:rPr>
              <a:t>封装成帧</a:t>
            </a:r>
          </a:p>
          <a:p>
            <a:pPr>
              <a:buFont typeface="Wingdings" panose="05000000000000000000" pitchFamily="2" charset="2"/>
              <a:buNone/>
            </a:pPr>
            <a:r>
              <a:rPr lang="en-US" altLang="zh-CN" dirty="0" smtClean="0">
                <a:ea typeface="黑体" panose="02010609060101010101" pitchFamily="49" charset="-122"/>
              </a:rPr>
              <a:t>2. </a:t>
            </a:r>
            <a:r>
              <a:rPr lang="zh-CN" altLang="en-US" dirty="0" smtClean="0">
                <a:solidFill>
                  <a:srgbClr val="0000CC"/>
                </a:solidFill>
                <a:ea typeface="黑体" panose="02010609060101010101" pitchFamily="49" charset="-122"/>
              </a:rPr>
              <a:t>透明传输</a:t>
            </a:r>
          </a:p>
          <a:p>
            <a:pPr>
              <a:buFont typeface="Wingdings" panose="05000000000000000000" pitchFamily="2" charset="2"/>
              <a:buNone/>
            </a:pPr>
            <a:r>
              <a:rPr lang="en-US" altLang="zh-CN" dirty="0" smtClean="0">
                <a:ea typeface="黑体" panose="02010609060101010101" pitchFamily="49" charset="-122"/>
              </a:rPr>
              <a:t>3. </a:t>
            </a:r>
            <a:r>
              <a:rPr lang="zh-CN" altLang="en-US" dirty="0" smtClean="0">
                <a:solidFill>
                  <a:srgbClr val="0000CC"/>
                </a:solidFill>
                <a:ea typeface="黑体" panose="02010609060101010101" pitchFamily="49" charset="-122"/>
              </a:rPr>
              <a:t>差错控制</a:t>
            </a:r>
            <a:r>
              <a:rPr lang="zh-CN" altLang="en-US" dirty="0" smtClean="0">
                <a:ea typeface="黑体" panose="02010609060101010101" pitchFamily="49" charset="-122"/>
              </a:rPr>
              <a:t> </a:t>
            </a:r>
          </a:p>
          <a:p>
            <a:pPr>
              <a:buFont typeface="Wingdings" panose="05000000000000000000" pitchFamily="2" charset="2"/>
              <a:buNone/>
            </a:pPr>
            <a:endParaRPr lang="en-US" altLang="zh-CN" dirty="0" smtClean="0">
              <a:ea typeface="黑体" panose="02010609060101010101" pitchFamily="49" charset="-122"/>
            </a:endParaRPr>
          </a:p>
        </p:txBody>
      </p:sp>
      <p:sp>
        <p:nvSpPr>
          <p:cNvPr id="436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137E96-00A0-4BAB-BE92-CE575AEE9C12}" type="slidenum">
              <a:rPr lang="zh-CN" altLang="en-US" smtClean="0"/>
              <a:pPr eaLnBrk="1" hangingPunct="1"/>
              <a:t>11</a:t>
            </a:fld>
            <a:endParaRPr lang="en-US" altLang="zh-CN" smtClean="0"/>
          </a:p>
        </p:txBody>
      </p:sp>
      <p:sp>
        <p:nvSpPr>
          <p:cNvPr id="436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封装成帧</a:t>
            </a:r>
          </a:p>
        </p:txBody>
      </p:sp>
      <p:sp>
        <p:nvSpPr>
          <p:cNvPr id="438274" name="Rectangle 3"/>
          <p:cNvSpPr>
            <a:spLocks noGrp="1" noChangeArrowheads="1"/>
          </p:cNvSpPr>
          <p:nvPr>
            <p:ph idx="1"/>
          </p:nvPr>
        </p:nvSpPr>
        <p:spPr>
          <a:xfrm>
            <a:off x="495300" y="1196975"/>
            <a:ext cx="9066213" cy="4933950"/>
          </a:xfrm>
        </p:spPr>
        <p:txBody>
          <a:bodyPr/>
          <a:lstStyle/>
          <a:p>
            <a:pPr algn="just"/>
            <a:r>
              <a:rPr lang="zh-CN" altLang="en-US" sz="2800" dirty="0" smtClean="0">
                <a:solidFill>
                  <a:srgbClr val="FF0000"/>
                </a:solidFill>
                <a:ea typeface="黑体" panose="02010609060101010101" pitchFamily="49" charset="-122"/>
              </a:rPr>
              <a:t>封装成帧 </a:t>
            </a:r>
            <a:r>
              <a:rPr lang="en-US" altLang="zh-CN" sz="2800" dirty="0" smtClean="0">
                <a:ea typeface="黑体" panose="02010609060101010101" pitchFamily="49" charset="-122"/>
              </a:rPr>
              <a:t>(framing) </a:t>
            </a:r>
            <a:r>
              <a:rPr lang="zh-CN" altLang="en-US" sz="2800" dirty="0" smtClean="0">
                <a:ea typeface="黑体" panose="02010609060101010101" pitchFamily="49" charset="-122"/>
              </a:rPr>
              <a:t>就是在一段数据的前后分别添加首部和尾部，然后就构成了一个帧。</a:t>
            </a:r>
            <a:r>
              <a:rPr lang="zh-CN" altLang="en-US" sz="2800" dirty="0" smtClean="0">
                <a:solidFill>
                  <a:srgbClr val="0000CC"/>
                </a:solidFill>
                <a:ea typeface="黑体" panose="02010609060101010101" pitchFamily="49" charset="-122"/>
              </a:rPr>
              <a:t>确定帧的界限</a:t>
            </a:r>
            <a:r>
              <a:rPr lang="zh-CN" altLang="en-US" sz="2800" dirty="0" smtClean="0">
                <a:ea typeface="黑体" panose="02010609060101010101" pitchFamily="49" charset="-122"/>
              </a:rPr>
              <a:t>。</a:t>
            </a:r>
          </a:p>
          <a:p>
            <a:pPr algn="just"/>
            <a:r>
              <a:rPr lang="zh-CN" altLang="en-US" sz="2800" dirty="0" smtClean="0">
                <a:ea typeface="黑体" panose="02010609060101010101" pitchFamily="49" charset="-122"/>
              </a:rPr>
              <a:t>首部和尾部的一个重要作用就是进行</a:t>
            </a:r>
            <a:r>
              <a:rPr lang="zh-CN" altLang="en-US" sz="2800" dirty="0" smtClean="0">
                <a:solidFill>
                  <a:srgbClr val="FF0000"/>
                </a:solidFill>
                <a:ea typeface="黑体" panose="02010609060101010101" pitchFamily="49" charset="-122"/>
              </a:rPr>
              <a:t>帧定界。</a:t>
            </a:r>
            <a:r>
              <a:rPr lang="zh-CN" altLang="en-US" dirty="0" smtClean="0">
                <a:ea typeface="黑体" panose="02010609060101010101" pitchFamily="49" charset="-122"/>
              </a:rPr>
              <a:t>  </a:t>
            </a:r>
          </a:p>
        </p:txBody>
      </p:sp>
      <p:sp>
        <p:nvSpPr>
          <p:cNvPr id="438275" name="Text Box 4"/>
          <p:cNvSpPr txBox="1">
            <a:spLocks noChangeArrowheads="1"/>
          </p:cNvSpPr>
          <p:nvPr/>
        </p:nvSpPr>
        <p:spPr bwMode="auto">
          <a:xfrm>
            <a:off x="8453438" y="3105150"/>
            <a:ext cx="110807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帧结束</a:t>
            </a:r>
          </a:p>
        </p:txBody>
      </p:sp>
      <p:sp>
        <p:nvSpPr>
          <p:cNvPr id="438276" name="Rectangle 5"/>
          <p:cNvSpPr>
            <a:spLocks noChangeArrowheads="1"/>
          </p:cNvSpPr>
          <p:nvPr/>
        </p:nvSpPr>
        <p:spPr bwMode="auto">
          <a:xfrm>
            <a:off x="1822450" y="4054475"/>
            <a:ext cx="1292225"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帧首部</a:t>
            </a:r>
          </a:p>
        </p:txBody>
      </p:sp>
      <p:sp>
        <p:nvSpPr>
          <p:cNvPr id="438277" name="Rectangle 6"/>
          <p:cNvSpPr>
            <a:spLocks noChangeArrowheads="1"/>
          </p:cNvSpPr>
          <p:nvPr/>
        </p:nvSpPr>
        <p:spPr bwMode="auto">
          <a:xfrm>
            <a:off x="3114675" y="2981325"/>
            <a:ext cx="4635500"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数据报</a:t>
            </a:r>
          </a:p>
        </p:txBody>
      </p:sp>
      <p:sp>
        <p:nvSpPr>
          <p:cNvPr id="438278" name="Rectangle 7"/>
          <p:cNvSpPr>
            <a:spLocks noChangeArrowheads="1"/>
          </p:cNvSpPr>
          <p:nvPr/>
        </p:nvSpPr>
        <p:spPr bwMode="auto">
          <a:xfrm>
            <a:off x="3114675" y="4054475"/>
            <a:ext cx="4635500"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帧的数据部分</a:t>
            </a:r>
          </a:p>
        </p:txBody>
      </p:sp>
      <p:sp>
        <p:nvSpPr>
          <p:cNvPr id="438279" name="Rectangle 8"/>
          <p:cNvSpPr>
            <a:spLocks noChangeArrowheads="1"/>
          </p:cNvSpPr>
          <p:nvPr/>
        </p:nvSpPr>
        <p:spPr bwMode="auto">
          <a:xfrm>
            <a:off x="7750175" y="4054475"/>
            <a:ext cx="1293813"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帧尾部</a:t>
            </a:r>
          </a:p>
        </p:txBody>
      </p:sp>
      <p:sp>
        <p:nvSpPr>
          <p:cNvPr id="438280" name="Line 9"/>
          <p:cNvSpPr>
            <a:spLocks noChangeShapeType="1"/>
          </p:cNvSpPr>
          <p:nvPr/>
        </p:nvSpPr>
        <p:spPr bwMode="auto">
          <a:xfrm>
            <a:off x="3114675" y="5008563"/>
            <a:ext cx="46355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1" name="Line 10"/>
          <p:cNvSpPr>
            <a:spLocks noChangeShapeType="1"/>
          </p:cNvSpPr>
          <p:nvPr/>
        </p:nvSpPr>
        <p:spPr bwMode="auto">
          <a:xfrm>
            <a:off x="1822450" y="5486400"/>
            <a:ext cx="722153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2" name="Line 11"/>
          <p:cNvSpPr>
            <a:spLocks noChangeShapeType="1"/>
          </p:cNvSpPr>
          <p:nvPr/>
        </p:nvSpPr>
        <p:spPr bwMode="auto">
          <a:xfrm>
            <a:off x="1822450" y="4724400"/>
            <a:ext cx="0" cy="1073150"/>
          </a:xfrm>
          <a:prstGeom prst="line">
            <a:avLst/>
          </a:prstGeom>
          <a:noFill/>
          <a:ln w="57150">
            <a:solidFill>
              <a:srgbClr val="C00000"/>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3" name="Line 12"/>
          <p:cNvSpPr>
            <a:spLocks noChangeShapeType="1"/>
          </p:cNvSpPr>
          <p:nvPr/>
        </p:nvSpPr>
        <p:spPr bwMode="auto">
          <a:xfrm>
            <a:off x="9043988" y="4770438"/>
            <a:ext cx="0" cy="1073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4" name="Line 13"/>
          <p:cNvSpPr>
            <a:spLocks noChangeShapeType="1"/>
          </p:cNvSpPr>
          <p:nvPr/>
        </p:nvSpPr>
        <p:spPr bwMode="auto">
          <a:xfrm>
            <a:off x="3114675" y="4770438"/>
            <a:ext cx="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5" name="Line 14"/>
          <p:cNvSpPr>
            <a:spLocks noChangeShapeType="1"/>
          </p:cNvSpPr>
          <p:nvPr/>
        </p:nvSpPr>
        <p:spPr bwMode="auto">
          <a:xfrm>
            <a:off x="7750175" y="4770438"/>
            <a:ext cx="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6" name="Text Box 15"/>
          <p:cNvSpPr txBox="1">
            <a:spLocks noChangeArrowheads="1"/>
          </p:cNvSpPr>
          <p:nvPr/>
        </p:nvSpPr>
        <p:spPr bwMode="auto">
          <a:xfrm>
            <a:off x="4840288" y="4762500"/>
            <a:ext cx="110490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sym typeface="Symbol" panose="05050102010706020507" pitchFamily="18" charset="2"/>
              </a:rPr>
              <a:t> </a:t>
            </a:r>
            <a:r>
              <a:rPr lang="en-US" altLang="zh-CN" sz="2400" b="1">
                <a:solidFill>
                  <a:srgbClr val="000099"/>
                </a:solidFill>
                <a:ea typeface="黑体" panose="02010609060101010101" pitchFamily="49" charset="-122"/>
              </a:rPr>
              <a:t>MTU</a:t>
            </a:r>
          </a:p>
        </p:txBody>
      </p:sp>
      <p:sp>
        <p:nvSpPr>
          <p:cNvPr id="438287" name="Text Box 16"/>
          <p:cNvSpPr txBox="1">
            <a:spLocks noChangeArrowheads="1"/>
          </p:cNvSpPr>
          <p:nvPr/>
        </p:nvSpPr>
        <p:spPr bwMode="auto">
          <a:xfrm>
            <a:off x="4152900" y="5265738"/>
            <a:ext cx="2646363"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数据链路层的帧长</a:t>
            </a:r>
          </a:p>
        </p:txBody>
      </p:sp>
      <p:sp>
        <p:nvSpPr>
          <p:cNvPr id="438288" name="AutoShape 17"/>
          <p:cNvSpPr>
            <a:spLocks noChangeArrowheads="1"/>
          </p:cNvSpPr>
          <p:nvPr/>
        </p:nvSpPr>
        <p:spPr bwMode="auto">
          <a:xfrm>
            <a:off x="5054600" y="3578225"/>
            <a:ext cx="755650" cy="595313"/>
          </a:xfrm>
          <a:prstGeom prst="downArrow">
            <a:avLst>
              <a:gd name="adj1" fmla="val 50000"/>
              <a:gd name="adj2" fmla="val 25000"/>
            </a:avLst>
          </a:prstGeom>
          <a:solidFill>
            <a:srgbClr val="66FF33"/>
          </a:solidFill>
          <a:ln w="9525">
            <a:solidFill>
              <a:schemeClr val="tx1"/>
            </a:solidFill>
            <a:miter lim="800000"/>
            <a:headEnd/>
            <a:tailEnd/>
          </a:ln>
          <a:effectLst>
            <a:outerShdw dist="35921" dir="2700000" algn="ctr" rotWithShape="0">
              <a:schemeClr val="bg2"/>
            </a:outerShdw>
          </a:effectLst>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8289" name="Text Box 18"/>
          <p:cNvSpPr txBox="1">
            <a:spLocks noChangeArrowheads="1"/>
          </p:cNvSpPr>
          <p:nvPr/>
        </p:nvSpPr>
        <p:spPr bwMode="auto">
          <a:xfrm>
            <a:off x="538163" y="5732463"/>
            <a:ext cx="2592387"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rgbClr val="000099"/>
                </a:solidFill>
                <a:ea typeface="黑体" panose="02010609060101010101" pitchFamily="49" charset="-122"/>
              </a:rPr>
              <a:t>从这里开始发送</a:t>
            </a:r>
          </a:p>
        </p:txBody>
      </p:sp>
      <p:sp>
        <p:nvSpPr>
          <p:cNvPr id="438290" name="Line 19"/>
          <p:cNvSpPr>
            <a:spLocks noChangeShapeType="1"/>
          </p:cNvSpPr>
          <p:nvPr/>
        </p:nvSpPr>
        <p:spPr bwMode="auto">
          <a:xfrm flipV="1">
            <a:off x="1830388" y="3597275"/>
            <a:ext cx="0" cy="396875"/>
          </a:xfrm>
          <a:prstGeom prst="line">
            <a:avLst/>
          </a:prstGeom>
          <a:noFill/>
          <a:ln w="38100">
            <a:solidFill>
              <a:srgbClr val="C00000"/>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91" name="Line 20"/>
          <p:cNvSpPr>
            <a:spLocks noChangeShapeType="1"/>
          </p:cNvSpPr>
          <p:nvPr/>
        </p:nvSpPr>
        <p:spPr bwMode="auto">
          <a:xfrm flipV="1">
            <a:off x="9036050" y="3597275"/>
            <a:ext cx="0" cy="396875"/>
          </a:xfrm>
          <a:prstGeom prst="line">
            <a:avLst/>
          </a:prstGeom>
          <a:noFill/>
          <a:ln w="38100">
            <a:solidFill>
              <a:srgbClr val="C00000"/>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92" name="Text Box 21"/>
          <p:cNvSpPr txBox="1">
            <a:spLocks noChangeArrowheads="1"/>
          </p:cNvSpPr>
          <p:nvPr/>
        </p:nvSpPr>
        <p:spPr bwMode="auto">
          <a:xfrm>
            <a:off x="1304925" y="3105150"/>
            <a:ext cx="110807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帧开始</a:t>
            </a:r>
          </a:p>
        </p:txBody>
      </p:sp>
      <p:sp>
        <p:nvSpPr>
          <p:cNvPr id="438293" name="Line 11"/>
          <p:cNvSpPr>
            <a:spLocks noChangeShapeType="1"/>
          </p:cNvSpPr>
          <p:nvPr/>
        </p:nvSpPr>
        <p:spPr bwMode="auto">
          <a:xfrm rot="-5400000">
            <a:off x="1316832" y="3898106"/>
            <a:ext cx="0" cy="935037"/>
          </a:xfrm>
          <a:prstGeom prst="line">
            <a:avLst/>
          </a:prstGeom>
          <a:noFill/>
          <a:ln w="57150">
            <a:solidFill>
              <a:srgbClr val="000099"/>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94" name="Text Box 18"/>
          <p:cNvSpPr txBox="1">
            <a:spLocks noChangeArrowheads="1"/>
          </p:cNvSpPr>
          <p:nvPr/>
        </p:nvSpPr>
        <p:spPr bwMode="auto">
          <a:xfrm>
            <a:off x="560388" y="3830638"/>
            <a:ext cx="971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rgbClr val="000099"/>
                </a:solidFill>
                <a:ea typeface="黑体" panose="02010609060101010101" pitchFamily="49" charset="-122"/>
              </a:rPr>
              <a:t>发送</a:t>
            </a:r>
          </a:p>
        </p:txBody>
      </p:sp>
      <p:sp>
        <p:nvSpPr>
          <p:cNvPr id="438295" name="矩形 1"/>
          <p:cNvSpPr>
            <a:spLocks noChangeArrowheads="1"/>
          </p:cNvSpPr>
          <p:nvPr/>
        </p:nvSpPr>
        <p:spPr bwMode="auto">
          <a:xfrm>
            <a:off x="2468563" y="6135688"/>
            <a:ext cx="5724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用帧首部和帧尾部封装成帧</a:t>
            </a:r>
            <a:endParaRPr lang="zh-CN" altLang="en-US" sz="2400" b="1">
              <a:ea typeface="黑体" panose="02010609060101010101" pitchFamily="49" charset="-122"/>
            </a:endParaRPr>
          </a:p>
        </p:txBody>
      </p:sp>
      <p:sp>
        <p:nvSpPr>
          <p:cNvPr id="4382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57443-A715-4426-9E6A-248FFA027C8E}" type="slidenum">
              <a:rPr lang="zh-CN" altLang="en-US" smtClean="0"/>
              <a:pPr eaLnBrk="1" hangingPunct="1"/>
              <a:t>12</a:t>
            </a:fld>
            <a:endParaRPr lang="en-US" altLang="zh-CN" smtClean="0"/>
          </a:p>
        </p:txBody>
      </p:sp>
      <p:sp>
        <p:nvSpPr>
          <p:cNvPr id="4382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1"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用</a:t>
            </a:r>
            <a:r>
              <a:rPr lang="zh-CN" altLang="en-US" sz="4000" smtClean="0">
                <a:solidFill>
                  <a:srgbClr val="FF0000"/>
                </a:solidFill>
                <a:ea typeface="黑体" panose="02010609060101010101" pitchFamily="49" charset="-122"/>
              </a:rPr>
              <a:t>控制字符</a:t>
            </a:r>
            <a:r>
              <a:rPr lang="zh-CN" altLang="en-US" sz="4000" smtClean="0">
                <a:ea typeface="黑体" panose="02010609060101010101" pitchFamily="49" charset="-122"/>
              </a:rPr>
              <a:t>进行帧定界的方法举例 </a:t>
            </a:r>
          </a:p>
        </p:txBody>
      </p:sp>
      <p:sp>
        <p:nvSpPr>
          <p:cNvPr id="440322" name="内容占位符 3"/>
          <p:cNvSpPr>
            <a:spLocks noGrp="1" noChangeArrowheads="1"/>
          </p:cNvSpPr>
          <p:nvPr>
            <p:ph idx="1"/>
          </p:nvPr>
        </p:nvSpPr>
        <p:spPr>
          <a:xfrm>
            <a:off x="495300" y="1196975"/>
            <a:ext cx="9066213" cy="4933950"/>
          </a:xfrm>
        </p:spPr>
        <p:txBody>
          <a:bodyPr/>
          <a:lstStyle/>
          <a:p>
            <a:pPr algn="just"/>
            <a:r>
              <a:rPr lang="zh-CN" altLang="zh-CN" sz="2800" dirty="0" smtClean="0">
                <a:ea typeface="黑体" panose="02010609060101010101" pitchFamily="49" charset="-122"/>
              </a:rPr>
              <a:t>当数据是由可打印的</a:t>
            </a:r>
            <a:r>
              <a:rPr lang="en-US" altLang="zh-CN" sz="2800" dirty="0" smtClean="0">
                <a:ea typeface="黑体" panose="02010609060101010101" pitchFamily="49" charset="-122"/>
              </a:rPr>
              <a:t> ASCII </a:t>
            </a:r>
            <a:r>
              <a:rPr lang="zh-CN" altLang="zh-CN" sz="2800" dirty="0" smtClean="0">
                <a:ea typeface="黑体" panose="02010609060101010101" pitchFamily="49" charset="-122"/>
              </a:rPr>
              <a:t>码组成的文本文件时，帧定界可以使用特殊的</a:t>
            </a:r>
            <a:r>
              <a:rPr lang="zh-CN" altLang="zh-CN" sz="2800" dirty="0" smtClean="0">
                <a:solidFill>
                  <a:srgbClr val="FF0000"/>
                </a:solidFill>
                <a:ea typeface="黑体" panose="02010609060101010101" pitchFamily="49" charset="-122"/>
              </a:rPr>
              <a:t>帧定界符。</a:t>
            </a:r>
            <a:endParaRPr lang="en-US" altLang="zh-CN" sz="2800" dirty="0" smtClean="0">
              <a:solidFill>
                <a:srgbClr val="FF0000"/>
              </a:solidFill>
              <a:ea typeface="黑体" panose="02010609060101010101" pitchFamily="49" charset="-122"/>
            </a:endParaRPr>
          </a:p>
          <a:p>
            <a:pPr algn="just"/>
            <a:r>
              <a:rPr lang="zh-CN" altLang="zh-CN" sz="2800" dirty="0" smtClean="0">
                <a:ea typeface="黑体" panose="02010609060101010101" pitchFamily="49" charset="-122"/>
              </a:rPr>
              <a:t>控制字符</a:t>
            </a:r>
            <a:r>
              <a:rPr lang="en-US" altLang="zh-CN" sz="2800" dirty="0" smtClean="0">
                <a:ea typeface="黑体" panose="02010609060101010101" pitchFamily="49" charset="-122"/>
              </a:rPr>
              <a:t> </a:t>
            </a:r>
            <a:r>
              <a:rPr lang="en-US" altLang="zh-CN" sz="2800" dirty="0" smtClean="0">
                <a:solidFill>
                  <a:srgbClr val="0000CC"/>
                </a:solidFill>
                <a:ea typeface="黑体" panose="02010609060101010101" pitchFamily="49" charset="-122"/>
              </a:rPr>
              <a:t>SOH (Start Of Header)</a:t>
            </a:r>
            <a:r>
              <a:rPr lang="en-US" altLang="zh-CN" sz="2800" dirty="0" smtClean="0">
                <a:ea typeface="黑体" panose="02010609060101010101" pitchFamily="49" charset="-122"/>
              </a:rPr>
              <a:t> </a:t>
            </a:r>
            <a:r>
              <a:rPr lang="zh-CN" altLang="zh-CN" sz="2800" dirty="0" smtClean="0">
                <a:ea typeface="黑体" panose="02010609060101010101" pitchFamily="49" charset="-122"/>
              </a:rPr>
              <a:t>放在一帧的最前面，表示帧的首部开始。另一个控制字符</a:t>
            </a:r>
            <a:r>
              <a:rPr lang="en-US" altLang="zh-CN" sz="2800" dirty="0" smtClean="0">
                <a:solidFill>
                  <a:srgbClr val="0000CC"/>
                </a:solidFill>
                <a:ea typeface="黑体" panose="02010609060101010101" pitchFamily="49" charset="-122"/>
              </a:rPr>
              <a:t> EOT (End Of Transmission)</a:t>
            </a:r>
            <a:r>
              <a:rPr lang="en-US" altLang="zh-CN" sz="2800" dirty="0" smtClean="0">
                <a:ea typeface="黑体" panose="02010609060101010101" pitchFamily="49" charset="-122"/>
              </a:rPr>
              <a:t> </a:t>
            </a:r>
            <a:r>
              <a:rPr lang="zh-CN" altLang="zh-CN" sz="2800" dirty="0" smtClean="0">
                <a:ea typeface="黑体" panose="02010609060101010101" pitchFamily="49" charset="-122"/>
              </a:rPr>
              <a:t>表示帧的结束。</a:t>
            </a:r>
            <a:endParaRPr lang="zh-CN" altLang="en-US" sz="2800" dirty="0" smtClean="0">
              <a:ea typeface="黑体" panose="02010609060101010101" pitchFamily="49" charset="-122"/>
            </a:endParaRPr>
          </a:p>
          <a:p>
            <a:pPr algn="just"/>
            <a:endParaRPr lang="zh-CN" altLang="en-US" sz="2800" dirty="0" smtClean="0">
              <a:ea typeface="黑体" panose="02010609060101010101" pitchFamily="49" charset="-122"/>
            </a:endParaRPr>
          </a:p>
        </p:txBody>
      </p:sp>
      <p:sp>
        <p:nvSpPr>
          <p:cNvPr id="440323" name="Rectangle 4"/>
          <p:cNvSpPr>
            <a:spLocks noChangeArrowheads="1"/>
          </p:cNvSpPr>
          <p:nvPr/>
        </p:nvSpPr>
        <p:spPr bwMode="auto">
          <a:xfrm>
            <a:off x="1035050" y="4589463"/>
            <a:ext cx="536575"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0324" name="Rectangle 5"/>
          <p:cNvSpPr>
            <a:spLocks noChangeArrowheads="1"/>
          </p:cNvSpPr>
          <p:nvPr/>
        </p:nvSpPr>
        <p:spPr bwMode="auto">
          <a:xfrm>
            <a:off x="1571625" y="4589463"/>
            <a:ext cx="7072313" cy="5492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装在帧中的数据部分</a:t>
            </a:r>
          </a:p>
        </p:txBody>
      </p:sp>
      <p:sp>
        <p:nvSpPr>
          <p:cNvPr id="440325" name="Line 6"/>
          <p:cNvSpPr>
            <a:spLocks noChangeShapeType="1"/>
          </p:cNvSpPr>
          <p:nvPr/>
        </p:nvSpPr>
        <p:spPr bwMode="auto">
          <a:xfrm>
            <a:off x="1035050" y="5505450"/>
            <a:ext cx="81470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26" name="Text Box 7"/>
          <p:cNvSpPr txBox="1">
            <a:spLocks noChangeArrowheads="1"/>
          </p:cNvSpPr>
          <p:nvPr/>
        </p:nvSpPr>
        <p:spPr bwMode="auto">
          <a:xfrm>
            <a:off x="4884738" y="5270500"/>
            <a:ext cx="492125"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a:t>
            </a:r>
          </a:p>
        </p:txBody>
      </p:sp>
      <p:sp>
        <p:nvSpPr>
          <p:cNvPr id="440327" name="Line 8"/>
          <p:cNvSpPr>
            <a:spLocks noChangeShapeType="1"/>
          </p:cNvSpPr>
          <p:nvPr/>
        </p:nvSpPr>
        <p:spPr bwMode="auto">
          <a:xfrm>
            <a:off x="1303338" y="4224338"/>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28" name="Text Box 9"/>
          <p:cNvSpPr txBox="1">
            <a:spLocks noChangeArrowheads="1"/>
          </p:cNvSpPr>
          <p:nvPr/>
        </p:nvSpPr>
        <p:spPr bwMode="auto">
          <a:xfrm>
            <a:off x="763588" y="37528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帧开始符</a:t>
            </a:r>
          </a:p>
        </p:txBody>
      </p:sp>
      <p:sp>
        <p:nvSpPr>
          <p:cNvPr id="440329" name="Text Box 10"/>
          <p:cNvSpPr txBox="1">
            <a:spLocks noChangeArrowheads="1"/>
          </p:cNvSpPr>
          <p:nvPr/>
        </p:nvSpPr>
        <p:spPr bwMode="auto">
          <a:xfrm>
            <a:off x="8307388" y="3752850"/>
            <a:ext cx="1414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帧结束符</a:t>
            </a:r>
          </a:p>
        </p:txBody>
      </p:sp>
      <p:sp>
        <p:nvSpPr>
          <p:cNvPr id="440330" name="Line 11"/>
          <p:cNvSpPr>
            <a:spLocks noChangeShapeType="1"/>
          </p:cNvSpPr>
          <p:nvPr/>
        </p:nvSpPr>
        <p:spPr bwMode="auto">
          <a:xfrm>
            <a:off x="8913813" y="4224338"/>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31" name="Line 12"/>
          <p:cNvSpPr>
            <a:spLocks noChangeShapeType="1"/>
          </p:cNvSpPr>
          <p:nvPr/>
        </p:nvSpPr>
        <p:spPr bwMode="auto">
          <a:xfrm flipV="1">
            <a:off x="1035050" y="5138738"/>
            <a:ext cx="0" cy="549275"/>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32" name="Text Box 13"/>
          <p:cNvSpPr txBox="1">
            <a:spLocks noChangeArrowheads="1"/>
          </p:cNvSpPr>
          <p:nvPr/>
        </p:nvSpPr>
        <p:spPr bwMode="auto">
          <a:xfrm>
            <a:off x="271463" y="56308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发送在前</a:t>
            </a:r>
          </a:p>
        </p:txBody>
      </p:sp>
      <p:sp>
        <p:nvSpPr>
          <p:cNvPr id="440333" name="Rectangle 14"/>
          <p:cNvSpPr>
            <a:spLocks noChangeArrowheads="1"/>
          </p:cNvSpPr>
          <p:nvPr/>
        </p:nvSpPr>
        <p:spPr bwMode="auto">
          <a:xfrm>
            <a:off x="8620125" y="4589463"/>
            <a:ext cx="538163"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0334" name="矩形 4"/>
          <p:cNvSpPr>
            <a:spLocks noChangeArrowheads="1"/>
          </p:cNvSpPr>
          <p:nvPr/>
        </p:nvSpPr>
        <p:spPr bwMode="auto">
          <a:xfrm>
            <a:off x="2111375" y="5956300"/>
            <a:ext cx="5865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用控制字符进行帧定界的方法举例</a:t>
            </a:r>
            <a:endParaRPr lang="zh-CN" altLang="en-US" sz="2400" b="1">
              <a:ea typeface="黑体" panose="02010609060101010101" pitchFamily="49" charset="-122"/>
            </a:endParaRPr>
          </a:p>
        </p:txBody>
      </p:sp>
      <p:sp>
        <p:nvSpPr>
          <p:cNvPr id="4403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8CB2693-7C30-4120-8DCB-352003BA9FAB}" type="slidenum">
              <a:rPr lang="zh-CN" altLang="en-US" smtClean="0"/>
              <a:pPr eaLnBrk="1" hangingPunct="1"/>
              <a:t>13</a:t>
            </a:fld>
            <a:endParaRPr lang="en-US" altLang="zh-CN" smtClean="0"/>
          </a:p>
        </p:txBody>
      </p:sp>
      <p:sp>
        <p:nvSpPr>
          <p:cNvPr id="4403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透明传输</a:t>
            </a:r>
          </a:p>
        </p:txBody>
      </p:sp>
      <p:sp>
        <p:nvSpPr>
          <p:cNvPr id="442370" name="内容占位符 1"/>
          <p:cNvSpPr>
            <a:spLocks noGrp="1" noChangeArrowheads="1"/>
          </p:cNvSpPr>
          <p:nvPr>
            <p:ph idx="1"/>
          </p:nvPr>
        </p:nvSpPr>
        <p:spPr>
          <a:xfrm>
            <a:off x="495300" y="1196975"/>
            <a:ext cx="9066213" cy="4933950"/>
          </a:xfrm>
        </p:spPr>
        <p:txBody>
          <a:bodyPr/>
          <a:lstStyle/>
          <a:p>
            <a:r>
              <a:rPr lang="zh-CN" altLang="zh-CN" sz="2800" smtClean="0">
                <a:ea typeface="黑体" panose="02010609060101010101" pitchFamily="49" charset="-122"/>
              </a:rPr>
              <a:t>如果数据中的某个字节的二进制代码恰好和</a:t>
            </a:r>
            <a:r>
              <a:rPr lang="en-US" altLang="zh-CN" sz="2800" smtClean="0">
                <a:ea typeface="黑体" panose="02010609060101010101" pitchFamily="49" charset="-122"/>
              </a:rPr>
              <a:t> SOH </a:t>
            </a:r>
            <a:r>
              <a:rPr lang="zh-CN" altLang="zh-CN" sz="2800" smtClean="0">
                <a:ea typeface="黑体" panose="02010609060101010101" pitchFamily="49" charset="-122"/>
              </a:rPr>
              <a:t>或</a:t>
            </a:r>
            <a:r>
              <a:rPr lang="en-US" altLang="zh-CN" sz="2800" smtClean="0">
                <a:ea typeface="黑体" panose="02010609060101010101" pitchFamily="49" charset="-122"/>
              </a:rPr>
              <a:t> EOT </a:t>
            </a:r>
            <a:r>
              <a:rPr lang="zh-CN" altLang="zh-CN" sz="2800" smtClean="0">
                <a:ea typeface="黑体" panose="02010609060101010101" pitchFamily="49" charset="-122"/>
              </a:rPr>
              <a:t>一样，数据链路层就会错误地“找到帧的边界”</a:t>
            </a:r>
            <a:r>
              <a:rPr lang="zh-CN" altLang="en-US" sz="2800" smtClean="0">
                <a:ea typeface="黑体" panose="02010609060101010101" pitchFamily="49" charset="-122"/>
              </a:rPr>
              <a:t>。</a:t>
            </a:r>
          </a:p>
        </p:txBody>
      </p:sp>
      <p:sp>
        <p:nvSpPr>
          <p:cNvPr id="442371" name="Line 22"/>
          <p:cNvSpPr>
            <a:spLocks noChangeShapeType="1"/>
          </p:cNvSpPr>
          <p:nvPr/>
        </p:nvSpPr>
        <p:spPr bwMode="auto">
          <a:xfrm rot="16200000" flipV="1">
            <a:off x="968375" y="3590926"/>
            <a:ext cx="14287" cy="1154112"/>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72" name="Rectangle 4"/>
          <p:cNvSpPr>
            <a:spLocks noChangeArrowheads="1"/>
          </p:cNvSpPr>
          <p:nvPr/>
        </p:nvSpPr>
        <p:spPr bwMode="auto">
          <a:xfrm>
            <a:off x="1236663" y="3840163"/>
            <a:ext cx="627062" cy="61118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黑体" panose="02010609060101010101" pitchFamily="49" charset="-122"/>
              </a:rPr>
              <a:t>SOH</a:t>
            </a:r>
          </a:p>
        </p:txBody>
      </p:sp>
      <p:sp>
        <p:nvSpPr>
          <p:cNvPr id="442373" name="Rectangle 5"/>
          <p:cNvSpPr>
            <a:spLocks noChangeArrowheads="1"/>
          </p:cNvSpPr>
          <p:nvPr/>
        </p:nvSpPr>
        <p:spPr bwMode="auto">
          <a:xfrm>
            <a:off x="1847850" y="3840163"/>
            <a:ext cx="7527925" cy="611187"/>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2374" name="Rectangle 6"/>
          <p:cNvSpPr>
            <a:spLocks noChangeArrowheads="1"/>
          </p:cNvSpPr>
          <p:nvPr/>
        </p:nvSpPr>
        <p:spPr bwMode="auto">
          <a:xfrm>
            <a:off x="3621088" y="3840163"/>
            <a:ext cx="566737" cy="611187"/>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EOT</a:t>
            </a:r>
          </a:p>
        </p:txBody>
      </p:sp>
      <p:sp>
        <p:nvSpPr>
          <p:cNvPr id="442375" name="Line 7"/>
          <p:cNvSpPr>
            <a:spLocks noChangeShapeType="1"/>
          </p:cNvSpPr>
          <p:nvPr/>
        </p:nvSpPr>
        <p:spPr bwMode="auto">
          <a:xfrm>
            <a:off x="3649663" y="2808288"/>
            <a:ext cx="254000" cy="10318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76" name="Text Box 8"/>
          <p:cNvSpPr txBox="1">
            <a:spLocks noChangeArrowheads="1"/>
          </p:cNvSpPr>
          <p:nvPr/>
        </p:nvSpPr>
        <p:spPr bwMode="auto">
          <a:xfrm>
            <a:off x="2519363" y="2349500"/>
            <a:ext cx="2206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出现了“</a:t>
            </a:r>
            <a:r>
              <a:rPr lang="en-US" altLang="zh-CN" sz="2400" b="1">
                <a:solidFill>
                  <a:srgbClr val="000099"/>
                </a:solidFill>
                <a:ea typeface="黑体" panose="02010609060101010101" pitchFamily="49" charset="-122"/>
              </a:rPr>
              <a:t>EOT”</a:t>
            </a:r>
          </a:p>
        </p:txBody>
      </p:sp>
      <p:sp>
        <p:nvSpPr>
          <p:cNvPr id="442377" name="AutoShape 9"/>
          <p:cNvSpPr>
            <a:spLocks/>
          </p:cNvSpPr>
          <p:nvPr/>
        </p:nvSpPr>
        <p:spPr bwMode="auto">
          <a:xfrm rot="-5400000">
            <a:off x="6855619" y="1894681"/>
            <a:ext cx="327025" cy="5605463"/>
          </a:xfrm>
          <a:prstGeom prst="leftBrace">
            <a:avLst>
              <a:gd name="adj1" fmla="val 13180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2378" name="Text Box 10"/>
          <p:cNvSpPr txBox="1">
            <a:spLocks noChangeArrowheads="1"/>
          </p:cNvSpPr>
          <p:nvPr/>
        </p:nvSpPr>
        <p:spPr bwMode="auto">
          <a:xfrm>
            <a:off x="5429250" y="4764088"/>
            <a:ext cx="3897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0" hangingPunct="0"/>
            <a:r>
              <a:rPr lang="zh-CN" altLang="en-US" sz="2400" b="1">
                <a:solidFill>
                  <a:srgbClr val="000099"/>
                </a:solidFill>
                <a:ea typeface="黑体" panose="02010609060101010101" pitchFamily="49" charset="-122"/>
              </a:rPr>
              <a:t>被接收端当作无效帧而丢弃</a:t>
            </a:r>
          </a:p>
        </p:txBody>
      </p:sp>
      <p:sp>
        <p:nvSpPr>
          <p:cNvPr id="442379" name="AutoShape 11"/>
          <p:cNvSpPr>
            <a:spLocks/>
          </p:cNvSpPr>
          <p:nvPr/>
        </p:nvSpPr>
        <p:spPr bwMode="auto">
          <a:xfrm rot="-5400000">
            <a:off x="2557463" y="3211512"/>
            <a:ext cx="304800" cy="2911475"/>
          </a:xfrm>
          <a:prstGeom prst="leftBrace">
            <a:avLst>
              <a:gd name="adj1" fmla="val 7345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2380" name="Text Box 12"/>
          <p:cNvSpPr txBox="1">
            <a:spLocks noChangeArrowheads="1"/>
          </p:cNvSpPr>
          <p:nvPr/>
        </p:nvSpPr>
        <p:spPr bwMode="auto">
          <a:xfrm>
            <a:off x="1554163" y="4757738"/>
            <a:ext cx="23510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FF0000"/>
                </a:solidFill>
                <a:ea typeface="黑体" panose="02010609060101010101" pitchFamily="49" charset="-122"/>
              </a:rPr>
              <a:t>被接收端</a:t>
            </a:r>
          </a:p>
          <a:p>
            <a:pPr algn="ctr" eaLnBrk="0" hangingPunct="0"/>
            <a:r>
              <a:rPr lang="zh-CN" altLang="en-US" sz="2400" b="1">
                <a:solidFill>
                  <a:srgbClr val="FF0000"/>
                </a:solidFill>
                <a:ea typeface="黑体" panose="02010609060101010101" pitchFamily="49" charset="-122"/>
              </a:rPr>
              <a:t>误认为是一个帧</a:t>
            </a:r>
          </a:p>
        </p:txBody>
      </p:sp>
      <p:sp>
        <p:nvSpPr>
          <p:cNvPr id="442381" name="Line 13"/>
          <p:cNvSpPr>
            <a:spLocks noChangeShapeType="1"/>
          </p:cNvSpPr>
          <p:nvPr/>
        </p:nvSpPr>
        <p:spPr bwMode="auto">
          <a:xfrm>
            <a:off x="1863725" y="3578225"/>
            <a:ext cx="73342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2" name="Text Box 14"/>
          <p:cNvSpPr txBox="1">
            <a:spLocks noChangeArrowheads="1"/>
          </p:cNvSpPr>
          <p:nvPr/>
        </p:nvSpPr>
        <p:spPr bwMode="auto">
          <a:xfrm>
            <a:off x="4854575" y="3321050"/>
            <a:ext cx="142240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数据部分</a:t>
            </a:r>
          </a:p>
        </p:txBody>
      </p:sp>
      <p:sp>
        <p:nvSpPr>
          <p:cNvPr id="442383" name="Rectangle 15"/>
          <p:cNvSpPr>
            <a:spLocks noChangeArrowheads="1"/>
          </p:cNvSpPr>
          <p:nvPr/>
        </p:nvSpPr>
        <p:spPr bwMode="auto">
          <a:xfrm>
            <a:off x="9197975" y="3840163"/>
            <a:ext cx="623888" cy="61118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黑体" panose="02010609060101010101" pitchFamily="49" charset="-122"/>
              </a:rPr>
              <a:t>EOT</a:t>
            </a:r>
          </a:p>
        </p:txBody>
      </p:sp>
      <p:sp>
        <p:nvSpPr>
          <p:cNvPr id="442384" name="Line 16"/>
          <p:cNvSpPr>
            <a:spLocks noChangeShapeType="1"/>
          </p:cNvSpPr>
          <p:nvPr/>
        </p:nvSpPr>
        <p:spPr bwMode="auto">
          <a:xfrm>
            <a:off x="1236663" y="3095625"/>
            <a:ext cx="85852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5" name="Text Box 17"/>
          <p:cNvSpPr txBox="1">
            <a:spLocks noChangeArrowheads="1"/>
          </p:cNvSpPr>
          <p:nvPr/>
        </p:nvSpPr>
        <p:spPr bwMode="auto">
          <a:xfrm>
            <a:off x="4454525" y="2817813"/>
            <a:ext cx="14224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完整的帧</a:t>
            </a:r>
          </a:p>
        </p:txBody>
      </p:sp>
      <p:sp>
        <p:nvSpPr>
          <p:cNvPr id="442386" name="Line 18"/>
          <p:cNvSpPr>
            <a:spLocks noChangeShapeType="1"/>
          </p:cNvSpPr>
          <p:nvPr/>
        </p:nvSpPr>
        <p:spPr bwMode="auto">
          <a:xfrm>
            <a:off x="1236663" y="2998788"/>
            <a:ext cx="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7" name="Line 19"/>
          <p:cNvSpPr>
            <a:spLocks noChangeShapeType="1"/>
          </p:cNvSpPr>
          <p:nvPr/>
        </p:nvSpPr>
        <p:spPr bwMode="auto">
          <a:xfrm>
            <a:off x="9821863" y="2998788"/>
            <a:ext cx="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8" name="Line 20"/>
          <p:cNvSpPr>
            <a:spLocks noChangeShapeType="1"/>
          </p:cNvSpPr>
          <p:nvPr/>
        </p:nvSpPr>
        <p:spPr bwMode="auto">
          <a:xfrm>
            <a:off x="1863725" y="338455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9" name="Line 21"/>
          <p:cNvSpPr>
            <a:spLocks noChangeShapeType="1"/>
          </p:cNvSpPr>
          <p:nvPr/>
        </p:nvSpPr>
        <p:spPr bwMode="auto">
          <a:xfrm>
            <a:off x="9197975" y="338455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90" name="Text Box 23"/>
          <p:cNvSpPr txBox="1">
            <a:spLocks noChangeArrowheads="1"/>
          </p:cNvSpPr>
          <p:nvPr/>
        </p:nvSpPr>
        <p:spPr bwMode="auto">
          <a:xfrm>
            <a:off x="344488" y="3340100"/>
            <a:ext cx="8032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发送</a:t>
            </a:r>
          </a:p>
          <a:p>
            <a:pPr eaLnBrk="0" hangingPunct="0"/>
            <a:r>
              <a:rPr lang="zh-CN" altLang="en-US" sz="2400" b="1">
                <a:solidFill>
                  <a:srgbClr val="000099"/>
                </a:solidFill>
                <a:ea typeface="黑体" panose="02010609060101010101" pitchFamily="49" charset="-122"/>
              </a:rPr>
              <a:t>在前</a:t>
            </a:r>
          </a:p>
        </p:txBody>
      </p:sp>
      <p:sp>
        <p:nvSpPr>
          <p:cNvPr id="442391" name="矩形 2"/>
          <p:cNvSpPr>
            <a:spLocks noChangeArrowheads="1"/>
          </p:cNvSpPr>
          <p:nvPr/>
        </p:nvSpPr>
        <p:spPr bwMode="auto">
          <a:xfrm>
            <a:off x="1790700" y="5630863"/>
            <a:ext cx="6402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数据部分恰好出现与</a:t>
            </a:r>
            <a:r>
              <a:rPr lang="en-US" altLang="zh-CN" sz="2400" b="1">
                <a:ea typeface="黑体" panose="02010609060101010101" pitchFamily="49" charset="-122"/>
              </a:rPr>
              <a:t> EOT </a:t>
            </a:r>
            <a:r>
              <a:rPr lang="zh-CN" altLang="zh-CN" sz="2400" b="1">
                <a:ea typeface="黑体" panose="02010609060101010101" pitchFamily="49" charset="-122"/>
              </a:rPr>
              <a:t>一样的代码</a:t>
            </a:r>
            <a:endParaRPr lang="zh-CN" altLang="en-US" sz="2400" b="1">
              <a:ea typeface="黑体" panose="02010609060101010101" pitchFamily="49" charset="-122"/>
            </a:endParaRPr>
          </a:p>
        </p:txBody>
      </p:sp>
      <p:sp>
        <p:nvSpPr>
          <p:cNvPr id="442392"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DC06A0-8638-4CF8-A565-84AA44A1AFAE}" type="slidenum">
              <a:rPr lang="zh-CN" altLang="en-US" smtClean="0"/>
              <a:pPr eaLnBrk="1" hangingPunct="1"/>
              <a:t>14</a:t>
            </a:fld>
            <a:endParaRPr lang="en-US" altLang="zh-CN" smtClean="0"/>
          </a:p>
        </p:txBody>
      </p:sp>
      <p:sp>
        <p:nvSpPr>
          <p:cNvPr id="442393"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解决透明传输问题</a:t>
            </a:r>
          </a:p>
        </p:txBody>
      </p:sp>
      <p:sp>
        <p:nvSpPr>
          <p:cNvPr id="444418" name="Rectangle 3"/>
          <p:cNvSpPr>
            <a:spLocks noGrp="1" noChangeArrowheads="1"/>
          </p:cNvSpPr>
          <p:nvPr>
            <p:ph idx="1"/>
          </p:nvPr>
        </p:nvSpPr>
        <p:spPr>
          <a:xfrm>
            <a:off x="495300" y="1196975"/>
            <a:ext cx="9066213" cy="4933950"/>
          </a:xfrm>
        </p:spPr>
        <p:txBody>
          <a:bodyPr/>
          <a:lstStyle/>
          <a:p>
            <a:r>
              <a:rPr lang="zh-CN" altLang="en-US" sz="2800" smtClean="0">
                <a:solidFill>
                  <a:srgbClr val="0000FF"/>
                </a:solidFill>
                <a:ea typeface="黑体" panose="02010609060101010101" pitchFamily="49" charset="-122"/>
              </a:rPr>
              <a:t>解决方法：</a:t>
            </a:r>
            <a:r>
              <a:rPr lang="zh-CN" altLang="en-US" sz="2800" smtClean="0">
                <a:solidFill>
                  <a:srgbClr val="FF0000"/>
                </a:solidFill>
                <a:ea typeface="黑体" panose="02010609060101010101" pitchFamily="49" charset="-122"/>
              </a:rPr>
              <a:t>字节填充 </a:t>
            </a:r>
            <a:r>
              <a:rPr lang="en-US" altLang="zh-CN" sz="2800" smtClean="0">
                <a:ea typeface="黑体" panose="02010609060101010101" pitchFamily="49" charset="-122"/>
              </a:rPr>
              <a:t>(byte stuffing) </a:t>
            </a:r>
            <a:r>
              <a:rPr lang="zh-CN" altLang="en-US" sz="2800" smtClean="0">
                <a:ea typeface="黑体" panose="02010609060101010101" pitchFamily="49" charset="-122"/>
              </a:rPr>
              <a:t>或</a:t>
            </a:r>
            <a:r>
              <a:rPr lang="zh-CN" altLang="en-US" sz="2800" smtClean="0">
                <a:solidFill>
                  <a:srgbClr val="FF0000"/>
                </a:solidFill>
                <a:ea typeface="黑体" panose="02010609060101010101" pitchFamily="49" charset="-122"/>
              </a:rPr>
              <a:t>字符填充 </a:t>
            </a:r>
            <a:r>
              <a:rPr lang="en-US" altLang="zh-CN" sz="2800" smtClean="0">
                <a:ea typeface="黑体" panose="02010609060101010101" pitchFamily="49" charset="-122"/>
              </a:rPr>
              <a:t>(character stuffing)</a:t>
            </a:r>
            <a:r>
              <a:rPr lang="zh-CN" altLang="en-US" sz="2800" smtClean="0">
                <a:ea typeface="黑体" panose="02010609060101010101" pitchFamily="49" charset="-122"/>
              </a:rPr>
              <a:t>。</a:t>
            </a:r>
            <a:endParaRPr lang="en-US" altLang="zh-CN" sz="2800" smtClean="0">
              <a:ea typeface="黑体" panose="02010609060101010101" pitchFamily="49" charset="-122"/>
            </a:endParaRPr>
          </a:p>
          <a:p>
            <a:r>
              <a:rPr lang="zh-CN" altLang="en-US" sz="2800" smtClean="0">
                <a:ea typeface="黑体" panose="02010609060101010101" pitchFamily="49" charset="-122"/>
              </a:rPr>
              <a:t>发送端的数据链路层在数据中出现控制字符“</a:t>
            </a:r>
            <a:r>
              <a:rPr lang="en-US" altLang="zh-CN" sz="2800" smtClean="0">
                <a:ea typeface="黑体" panose="02010609060101010101" pitchFamily="49" charset="-122"/>
              </a:rPr>
              <a:t>SOH”</a:t>
            </a:r>
            <a:r>
              <a:rPr lang="zh-CN" altLang="en-US" sz="2800" smtClean="0">
                <a:ea typeface="黑体" panose="02010609060101010101" pitchFamily="49" charset="-122"/>
              </a:rPr>
              <a:t>或“</a:t>
            </a:r>
            <a:r>
              <a:rPr lang="en-US" altLang="zh-CN" sz="2800" smtClean="0">
                <a:ea typeface="黑体" panose="02010609060101010101" pitchFamily="49" charset="-122"/>
              </a:rPr>
              <a:t>EOT”</a:t>
            </a:r>
            <a:r>
              <a:rPr lang="zh-CN" altLang="en-US" sz="2800" smtClean="0">
                <a:ea typeface="黑体" panose="02010609060101010101" pitchFamily="49" charset="-122"/>
              </a:rPr>
              <a:t>的前面</a:t>
            </a:r>
            <a:r>
              <a:rPr lang="zh-CN" altLang="en-US" sz="2800" smtClean="0">
                <a:solidFill>
                  <a:srgbClr val="FF0000"/>
                </a:solidFill>
                <a:ea typeface="黑体" panose="02010609060101010101" pitchFamily="49" charset="-122"/>
              </a:rPr>
              <a:t>插入一个转义字符“</a:t>
            </a:r>
            <a:r>
              <a:rPr lang="en-US" altLang="zh-CN" sz="2800" smtClean="0">
                <a:solidFill>
                  <a:srgbClr val="FF0000"/>
                </a:solidFill>
                <a:ea typeface="黑体" panose="02010609060101010101" pitchFamily="49" charset="-122"/>
              </a:rPr>
              <a:t>ESC” </a:t>
            </a:r>
            <a:r>
              <a:rPr lang="en-US" altLang="zh-CN" sz="2800" smtClean="0">
                <a:ea typeface="黑体" panose="02010609060101010101" pitchFamily="49" charset="-122"/>
              </a:rPr>
              <a:t>(</a:t>
            </a:r>
            <a:r>
              <a:rPr lang="zh-CN" altLang="en-US" sz="2800" smtClean="0">
                <a:ea typeface="黑体" panose="02010609060101010101" pitchFamily="49" charset="-122"/>
              </a:rPr>
              <a:t>其十六进制编码是 </a:t>
            </a:r>
            <a:r>
              <a:rPr lang="en-US" altLang="zh-CN" sz="2800" smtClean="0">
                <a:ea typeface="黑体" panose="02010609060101010101" pitchFamily="49" charset="-122"/>
              </a:rPr>
              <a:t>1B)</a:t>
            </a:r>
            <a:r>
              <a:rPr lang="zh-CN" altLang="en-US" sz="2800" smtClean="0">
                <a:ea typeface="黑体" panose="02010609060101010101" pitchFamily="49" charset="-122"/>
              </a:rPr>
              <a:t>。</a:t>
            </a:r>
          </a:p>
          <a:p>
            <a:r>
              <a:rPr lang="zh-CN" altLang="en-US" sz="2800" smtClean="0">
                <a:ea typeface="黑体" panose="02010609060101010101" pitchFamily="49" charset="-122"/>
              </a:rPr>
              <a:t>接收端的数据链路层在将数据送往网络层之前删除插入的转义字符。</a:t>
            </a:r>
          </a:p>
          <a:p>
            <a:r>
              <a:rPr lang="zh-CN" altLang="en-US" sz="2800" smtClean="0">
                <a:ea typeface="黑体" panose="02010609060101010101" pitchFamily="49" charset="-122"/>
              </a:rPr>
              <a:t>如果转义字符也出现在数据当中，那么应在转义字符前面插入一个转义字符 </a:t>
            </a:r>
            <a:r>
              <a:rPr lang="en-US" altLang="zh-CN" sz="2800" smtClean="0">
                <a:ea typeface="黑体" panose="02010609060101010101" pitchFamily="49" charset="-122"/>
              </a:rPr>
              <a:t>ESC</a:t>
            </a:r>
            <a:r>
              <a:rPr lang="zh-CN" altLang="en-US" sz="2800" smtClean="0">
                <a:ea typeface="黑体" panose="02010609060101010101" pitchFamily="49" charset="-122"/>
              </a:rPr>
              <a:t>。当接收端收到连续的两个转义字符时，就删除其中前面的一个。 </a:t>
            </a:r>
          </a:p>
        </p:txBody>
      </p:sp>
      <p:sp>
        <p:nvSpPr>
          <p:cNvPr id="444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67E69E-E973-4F38-84D4-7F1649987BD0}" type="slidenum">
              <a:rPr lang="zh-CN" altLang="en-US" smtClean="0"/>
              <a:pPr eaLnBrk="1" hangingPunct="1"/>
              <a:t>15</a:t>
            </a:fld>
            <a:endParaRPr lang="en-US" altLang="zh-CN" smtClean="0"/>
          </a:p>
        </p:txBody>
      </p:sp>
      <p:sp>
        <p:nvSpPr>
          <p:cNvPr id="444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5" name="Rectangle 55"/>
          <p:cNvSpPr>
            <a:spLocks noGrp="1" noChangeArrowheads="1"/>
          </p:cNvSpPr>
          <p:nvPr>
            <p:ph type="title"/>
          </p:nvPr>
        </p:nvSpPr>
        <p:spPr/>
        <p:txBody>
          <a:bodyPr/>
          <a:lstStyle/>
          <a:p>
            <a:pPr algn="ctr"/>
            <a:r>
              <a:rPr lang="zh-CN" altLang="en-US" sz="4000" smtClean="0">
                <a:ea typeface="黑体" panose="02010609060101010101" pitchFamily="49" charset="-122"/>
              </a:rPr>
              <a:t>用字节填充法解决透明传输的问题 </a:t>
            </a:r>
          </a:p>
        </p:txBody>
      </p:sp>
      <p:sp>
        <p:nvSpPr>
          <p:cNvPr id="446466" name="Rectangle 4"/>
          <p:cNvSpPr>
            <a:spLocks noChangeArrowheads="1"/>
          </p:cNvSpPr>
          <p:nvPr/>
        </p:nvSpPr>
        <p:spPr bwMode="auto">
          <a:xfrm>
            <a:off x="355600" y="39084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67" name="Freeform 5"/>
          <p:cNvSpPr>
            <a:spLocks noChangeArrowheads="1"/>
          </p:cNvSpPr>
          <p:nvPr/>
        </p:nvSpPr>
        <p:spPr bwMode="auto">
          <a:xfrm>
            <a:off x="6959600" y="2917825"/>
            <a:ext cx="1651000" cy="990600"/>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68" name="Freeform 6"/>
          <p:cNvSpPr>
            <a:spLocks noChangeArrowheads="1"/>
          </p:cNvSpPr>
          <p:nvPr/>
        </p:nvSpPr>
        <p:spPr bwMode="auto">
          <a:xfrm>
            <a:off x="5546725" y="2917825"/>
            <a:ext cx="1165225" cy="1000125"/>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69" name="Freeform 7"/>
          <p:cNvSpPr>
            <a:spLocks noChangeArrowheads="1"/>
          </p:cNvSpPr>
          <p:nvPr/>
        </p:nvSpPr>
        <p:spPr bwMode="auto">
          <a:xfrm>
            <a:off x="3905250" y="2917825"/>
            <a:ext cx="650875" cy="990600"/>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70" name="Freeform 8"/>
          <p:cNvSpPr>
            <a:spLocks noChangeArrowheads="1"/>
          </p:cNvSpPr>
          <p:nvPr/>
        </p:nvSpPr>
        <p:spPr bwMode="auto">
          <a:xfrm>
            <a:off x="2087563" y="2917825"/>
            <a:ext cx="827087" cy="990600"/>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71" name="Rectangle 9"/>
          <p:cNvSpPr>
            <a:spLocks noChangeArrowheads="1"/>
          </p:cNvSpPr>
          <p:nvPr/>
        </p:nvSpPr>
        <p:spPr bwMode="auto">
          <a:xfrm>
            <a:off x="1181100" y="24606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72" name="Rectangle 10"/>
          <p:cNvSpPr>
            <a:spLocks noChangeArrowheads="1"/>
          </p:cNvSpPr>
          <p:nvPr/>
        </p:nvSpPr>
        <p:spPr bwMode="auto">
          <a:xfrm>
            <a:off x="1676400" y="2460625"/>
            <a:ext cx="652145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473" name="Rectangle 11"/>
          <p:cNvSpPr>
            <a:spLocks noChangeArrowheads="1"/>
          </p:cNvSpPr>
          <p:nvPr/>
        </p:nvSpPr>
        <p:spPr bwMode="auto">
          <a:xfrm>
            <a:off x="2419350" y="2460625"/>
            <a:ext cx="495300" cy="457200"/>
          </a:xfrm>
          <a:prstGeom prst="rect">
            <a:avLst/>
          </a:prstGeom>
          <a:solidFill>
            <a:srgbClr val="99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74" name="Rectangle 12"/>
          <p:cNvSpPr>
            <a:spLocks noChangeArrowheads="1"/>
          </p:cNvSpPr>
          <p:nvPr/>
        </p:nvSpPr>
        <p:spPr bwMode="auto">
          <a:xfrm>
            <a:off x="6959600" y="24606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75" name="Rectangle 14"/>
          <p:cNvSpPr>
            <a:spLocks noChangeArrowheads="1"/>
          </p:cNvSpPr>
          <p:nvPr/>
        </p:nvSpPr>
        <p:spPr bwMode="auto">
          <a:xfrm>
            <a:off x="5556250" y="24606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76" name="Rectangle 15"/>
          <p:cNvSpPr>
            <a:spLocks noChangeArrowheads="1"/>
          </p:cNvSpPr>
          <p:nvPr/>
        </p:nvSpPr>
        <p:spPr bwMode="auto">
          <a:xfrm>
            <a:off x="850900" y="3908425"/>
            <a:ext cx="850265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477" name="Rectangle 16"/>
          <p:cNvSpPr>
            <a:spLocks noChangeArrowheads="1"/>
          </p:cNvSpPr>
          <p:nvPr/>
        </p:nvSpPr>
        <p:spPr bwMode="auto">
          <a:xfrm>
            <a:off x="15938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78" name="Rectangle 17"/>
          <p:cNvSpPr>
            <a:spLocks noChangeArrowheads="1"/>
          </p:cNvSpPr>
          <p:nvPr/>
        </p:nvSpPr>
        <p:spPr bwMode="auto">
          <a:xfrm>
            <a:off x="2089150" y="3908425"/>
            <a:ext cx="495300" cy="457200"/>
          </a:xfrm>
          <a:prstGeom prst="rect">
            <a:avLst/>
          </a:prstGeom>
          <a:solidFill>
            <a:srgbClr val="99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79" name="Rectangle 18"/>
          <p:cNvSpPr>
            <a:spLocks noChangeArrowheads="1"/>
          </p:cNvSpPr>
          <p:nvPr/>
        </p:nvSpPr>
        <p:spPr bwMode="auto">
          <a:xfrm>
            <a:off x="35750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0" name="Rectangle 19"/>
          <p:cNvSpPr>
            <a:spLocks noChangeArrowheads="1"/>
          </p:cNvSpPr>
          <p:nvPr/>
        </p:nvSpPr>
        <p:spPr bwMode="auto">
          <a:xfrm>
            <a:off x="4070350" y="3908425"/>
            <a:ext cx="495300" cy="457200"/>
          </a:xfrm>
          <a:prstGeom prst="rect">
            <a:avLst/>
          </a:prstGeom>
          <a:solidFill>
            <a:srgbClr val="CCFF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81" name="Rectangle 20"/>
          <p:cNvSpPr>
            <a:spLocks noChangeArrowheads="1"/>
          </p:cNvSpPr>
          <p:nvPr/>
        </p:nvSpPr>
        <p:spPr bwMode="auto">
          <a:xfrm>
            <a:off x="57213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2" name="Rectangle 21"/>
          <p:cNvSpPr>
            <a:spLocks noChangeArrowheads="1"/>
          </p:cNvSpPr>
          <p:nvPr/>
        </p:nvSpPr>
        <p:spPr bwMode="auto">
          <a:xfrm>
            <a:off x="62166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3" name="Rectangle 22"/>
          <p:cNvSpPr>
            <a:spLocks noChangeArrowheads="1"/>
          </p:cNvSpPr>
          <p:nvPr/>
        </p:nvSpPr>
        <p:spPr bwMode="auto">
          <a:xfrm>
            <a:off x="762000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4" name="Rectangle 23"/>
          <p:cNvSpPr>
            <a:spLocks noChangeArrowheads="1"/>
          </p:cNvSpPr>
          <p:nvPr/>
        </p:nvSpPr>
        <p:spPr bwMode="auto">
          <a:xfrm>
            <a:off x="8115300" y="39084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85" name="Freeform 24"/>
          <p:cNvSpPr>
            <a:spLocks noChangeArrowheads="1"/>
          </p:cNvSpPr>
          <p:nvPr/>
        </p:nvSpPr>
        <p:spPr bwMode="auto">
          <a:xfrm>
            <a:off x="2087563" y="2917825"/>
            <a:ext cx="331787" cy="995363"/>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6" name="Line 25"/>
          <p:cNvSpPr>
            <a:spLocks noChangeShapeType="1"/>
          </p:cNvSpPr>
          <p:nvPr/>
        </p:nvSpPr>
        <p:spPr bwMode="auto">
          <a:xfrm flipH="1">
            <a:off x="2584450" y="2917825"/>
            <a:ext cx="3302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7" name="Line 26"/>
          <p:cNvSpPr>
            <a:spLocks noChangeShapeType="1"/>
          </p:cNvSpPr>
          <p:nvPr/>
        </p:nvSpPr>
        <p:spPr bwMode="auto">
          <a:xfrm>
            <a:off x="3905250" y="2917825"/>
            <a:ext cx="155575"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8" name="Line 27"/>
          <p:cNvSpPr>
            <a:spLocks noChangeShapeType="1"/>
          </p:cNvSpPr>
          <p:nvPr/>
        </p:nvSpPr>
        <p:spPr bwMode="auto">
          <a:xfrm>
            <a:off x="4400550" y="2917825"/>
            <a:ext cx="1651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9" name="Freeform 28"/>
          <p:cNvSpPr>
            <a:spLocks noChangeArrowheads="1"/>
          </p:cNvSpPr>
          <p:nvPr/>
        </p:nvSpPr>
        <p:spPr bwMode="auto">
          <a:xfrm>
            <a:off x="5556250" y="2917825"/>
            <a:ext cx="654050" cy="995363"/>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0" name="Line 29"/>
          <p:cNvSpPr>
            <a:spLocks noChangeShapeType="1"/>
          </p:cNvSpPr>
          <p:nvPr/>
        </p:nvSpPr>
        <p:spPr bwMode="auto">
          <a:xfrm>
            <a:off x="6051550" y="2917825"/>
            <a:ext cx="6604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1" name="Freeform 30"/>
          <p:cNvSpPr>
            <a:spLocks noChangeArrowheads="1"/>
          </p:cNvSpPr>
          <p:nvPr/>
        </p:nvSpPr>
        <p:spPr bwMode="auto">
          <a:xfrm>
            <a:off x="6959600" y="2917825"/>
            <a:ext cx="1149350" cy="9858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2" name="Line 31"/>
          <p:cNvSpPr>
            <a:spLocks noChangeShapeType="1"/>
          </p:cNvSpPr>
          <p:nvPr/>
        </p:nvSpPr>
        <p:spPr bwMode="auto">
          <a:xfrm>
            <a:off x="7454900" y="2917825"/>
            <a:ext cx="11557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3" name="Line 32"/>
          <p:cNvSpPr>
            <a:spLocks noChangeShapeType="1"/>
          </p:cNvSpPr>
          <p:nvPr/>
        </p:nvSpPr>
        <p:spPr bwMode="auto">
          <a:xfrm>
            <a:off x="1676400" y="2232025"/>
            <a:ext cx="65214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4" name="Text Box 33"/>
          <p:cNvSpPr txBox="1">
            <a:spLocks noChangeArrowheads="1"/>
          </p:cNvSpPr>
          <p:nvPr/>
        </p:nvSpPr>
        <p:spPr bwMode="auto">
          <a:xfrm>
            <a:off x="4235450" y="1998663"/>
            <a:ext cx="11080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原始数据</a:t>
            </a:r>
          </a:p>
        </p:txBody>
      </p:sp>
      <p:sp>
        <p:nvSpPr>
          <p:cNvPr id="446495" name="Line 34"/>
          <p:cNvSpPr>
            <a:spLocks noChangeShapeType="1"/>
          </p:cNvSpPr>
          <p:nvPr/>
        </p:nvSpPr>
        <p:spPr bwMode="auto">
          <a:xfrm>
            <a:off x="850900" y="4670425"/>
            <a:ext cx="85026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6" name="Rectangle 35"/>
          <p:cNvSpPr>
            <a:spLocks noChangeArrowheads="1"/>
          </p:cNvSpPr>
          <p:nvPr/>
        </p:nvSpPr>
        <p:spPr bwMode="auto">
          <a:xfrm>
            <a:off x="9353550" y="39084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97" name="Rectangle 36"/>
          <p:cNvSpPr>
            <a:spLocks noChangeArrowheads="1"/>
          </p:cNvSpPr>
          <p:nvPr/>
        </p:nvSpPr>
        <p:spPr bwMode="auto">
          <a:xfrm>
            <a:off x="8197850" y="24606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98" name="Text Box 37"/>
          <p:cNvSpPr txBox="1">
            <a:spLocks noChangeArrowheads="1"/>
          </p:cNvSpPr>
          <p:nvPr/>
        </p:nvSpPr>
        <p:spPr bwMode="auto">
          <a:xfrm>
            <a:off x="3662363" y="4433888"/>
            <a:ext cx="2954337"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经过字节填充后发送的数据</a:t>
            </a:r>
          </a:p>
        </p:txBody>
      </p:sp>
      <p:sp>
        <p:nvSpPr>
          <p:cNvPr id="446499" name="Text Box 38"/>
          <p:cNvSpPr txBox="1">
            <a:spLocks noChangeArrowheads="1"/>
          </p:cNvSpPr>
          <p:nvPr/>
        </p:nvSpPr>
        <p:spPr bwMode="auto">
          <a:xfrm>
            <a:off x="7366000"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0" name="Text Box 39"/>
          <p:cNvSpPr txBox="1">
            <a:spLocks noChangeArrowheads="1"/>
          </p:cNvSpPr>
          <p:nvPr/>
        </p:nvSpPr>
        <p:spPr bwMode="auto">
          <a:xfrm>
            <a:off x="5324475"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1" name="Text Box 40"/>
          <p:cNvSpPr txBox="1">
            <a:spLocks noChangeArrowheads="1"/>
          </p:cNvSpPr>
          <p:nvPr/>
        </p:nvSpPr>
        <p:spPr bwMode="auto">
          <a:xfrm>
            <a:off x="3219450"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2" name="Text Box 41"/>
          <p:cNvSpPr txBox="1">
            <a:spLocks noChangeArrowheads="1"/>
          </p:cNvSpPr>
          <p:nvPr/>
        </p:nvSpPr>
        <p:spPr bwMode="auto">
          <a:xfrm>
            <a:off x="1346200"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3" name="Line 42"/>
          <p:cNvSpPr>
            <a:spLocks noChangeShapeType="1"/>
          </p:cNvSpPr>
          <p:nvPr/>
        </p:nvSpPr>
        <p:spPr bwMode="auto">
          <a:xfrm flipV="1">
            <a:off x="385763" y="4378325"/>
            <a:ext cx="0" cy="35560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504" name="Text Box 43"/>
          <p:cNvSpPr txBox="1">
            <a:spLocks noChangeArrowheads="1"/>
          </p:cNvSpPr>
          <p:nvPr/>
        </p:nvSpPr>
        <p:spPr bwMode="auto">
          <a:xfrm>
            <a:off x="201613" y="4724400"/>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发送</a:t>
            </a:r>
          </a:p>
          <a:p>
            <a:pPr eaLnBrk="0" hangingPunct="0"/>
            <a:r>
              <a:rPr lang="zh-CN" altLang="en-US" b="1">
                <a:solidFill>
                  <a:srgbClr val="000099"/>
                </a:solidFill>
                <a:ea typeface="黑体" panose="02010609060101010101" pitchFamily="49" charset="-122"/>
              </a:rPr>
              <a:t>在前</a:t>
            </a:r>
          </a:p>
        </p:txBody>
      </p:sp>
      <p:sp>
        <p:nvSpPr>
          <p:cNvPr id="446505" name="Line 44"/>
          <p:cNvSpPr>
            <a:spLocks noChangeShapeType="1"/>
          </p:cNvSpPr>
          <p:nvPr/>
        </p:nvSpPr>
        <p:spPr bwMode="auto">
          <a:xfrm>
            <a:off x="1454150" y="2130425"/>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506" name="Text Box 45"/>
          <p:cNvSpPr txBox="1">
            <a:spLocks noChangeArrowheads="1"/>
          </p:cNvSpPr>
          <p:nvPr/>
        </p:nvSpPr>
        <p:spPr bwMode="auto">
          <a:xfrm>
            <a:off x="957263" y="1773238"/>
            <a:ext cx="1106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帧开始符</a:t>
            </a:r>
          </a:p>
        </p:txBody>
      </p:sp>
      <p:sp>
        <p:nvSpPr>
          <p:cNvPr id="446507" name="Text Box 46"/>
          <p:cNvSpPr txBox="1">
            <a:spLocks noChangeArrowheads="1"/>
          </p:cNvSpPr>
          <p:nvPr/>
        </p:nvSpPr>
        <p:spPr bwMode="auto">
          <a:xfrm>
            <a:off x="7912100" y="1773238"/>
            <a:ext cx="1106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帧结束符</a:t>
            </a:r>
          </a:p>
        </p:txBody>
      </p:sp>
      <p:sp>
        <p:nvSpPr>
          <p:cNvPr id="446508" name="Line 47"/>
          <p:cNvSpPr>
            <a:spLocks noChangeShapeType="1"/>
          </p:cNvSpPr>
          <p:nvPr/>
        </p:nvSpPr>
        <p:spPr bwMode="auto">
          <a:xfrm>
            <a:off x="8470900" y="2130425"/>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509" name="AutoShape 48"/>
          <p:cNvSpPr>
            <a:spLocks noChangeArrowheads="1"/>
          </p:cNvSpPr>
          <p:nvPr/>
        </p:nvSpPr>
        <p:spPr bwMode="auto">
          <a:xfrm>
            <a:off x="1736725"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0" name="AutoShape 49"/>
          <p:cNvSpPr>
            <a:spLocks noChangeArrowheads="1"/>
          </p:cNvSpPr>
          <p:nvPr/>
        </p:nvSpPr>
        <p:spPr bwMode="auto">
          <a:xfrm>
            <a:off x="3676650"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1" name="AutoShape 50"/>
          <p:cNvSpPr>
            <a:spLocks noChangeArrowheads="1"/>
          </p:cNvSpPr>
          <p:nvPr/>
        </p:nvSpPr>
        <p:spPr bwMode="auto">
          <a:xfrm>
            <a:off x="5861050"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2" name="AutoShape 51"/>
          <p:cNvSpPr>
            <a:spLocks noChangeArrowheads="1"/>
          </p:cNvSpPr>
          <p:nvPr/>
        </p:nvSpPr>
        <p:spPr bwMode="auto">
          <a:xfrm>
            <a:off x="7743825"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3" name="Rectangle 13"/>
          <p:cNvSpPr>
            <a:spLocks noChangeArrowheads="1"/>
          </p:cNvSpPr>
          <p:nvPr/>
        </p:nvSpPr>
        <p:spPr bwMode="auto">
          <a:xfrm>
            <a:off x="3905250" y="2460625"/>
            <a:ext cx="495300" cy="457200"/>
          </a:xfrm>
          <a:prstGeom prst="rect">
            <a:avLst/>
          </a:prstGeom>
          <a:solidFill>
            <a:srgbClr val="CCFF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514" name="矩形 1"/>
          <p:cNvSpPr>
            <a:spLocks noChangeArrowheads="1"/>
          </p:cNvSpPr>
          <p:nvPr/>
        </p:nvSpPr>
        <p:spPr bwMode="auto">
          <a:xfrm>
            <a:off x="2095500" y="5372100"/>
            <a:ext cx="5751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用字节填充法解决透明传输的问题</a:t>
            </a:r>
            <a:endParaRPr lang="zh-CN" altLang="en-US" sz="2400" b="1">
              <a:ea typeface="黑体" panose="02010609060101010101" pitchFamily="49" charset="-122"/>
            </a:endParaRPr>
          </a:p>
        </p:txBody>
      </p:sp>
      <p:sp>
        <p:nvSpPr>
          <p:cNvPr id="44651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5A462F-DE13-4067-8F81-B61054BDDB58}" type="slidenum">
              <a:rPr lang="zh-CN" altLang="en-US" smtClean="0"/>
              <a:pPr eaLnBrk="1" hangingPunct="1"/>
              <a:t>16</a:t>
            </a:fld>
            <a:endParaRPr lang="en-US" altLang="zh-CN" smtClean="0"/>
          </a:p>
        </p:txBody>
      </p:sp>
      <p:sp>
        <p:nvSpPr>
          <p:cNvPr id="44651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差错检测</a:t>
            </a:r>
          </a:p>
        </p:txBody>
      </p:sp>
      <p:sp>
        <p:nvSpPr>
          <p:cNvPr id="44851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在传输过程中可能会产生</a:t>
            </a:r>
            <a:r>
              <a:rPr lang="zh-CN" altLang="en-US" dirty="0" smtClean="0">
                <a:solidFill>
                  <a:srgbClr val="FF0000"/>
                </a:solidFill>
                <a:ea typeface="黑体" panose="02010609060101010101" pitchFamily="49" charset="-122"/>
              </a:rPr>
              <a:t>比特差错：</a:t>
            </a:r>
            <a:r>
              <a:rPr lang="en-US" altLang="zh-CN" dirty="0" smtClean="0">
                <a:ea typeface="黑体" panose="02010609060101010101" pitchFamily="49" charset="-122"/>
              </a:rPr>
              <a:t>1 </a:t>
            </a:r>
            <a:r>
              <a:rPr lang="zh-CN" altLang="en-US" dirty="0" smtClean="0">
                <a:ea typeface="黑体" panose="02010609060101010101" pitchFamily="49" charset="-122"/>
              </a:rPr>
              <a:t>可能会变成 </a:t>
            </a:r>
            <a:r>
              <a:rPr lang="en-US" altLang="zh-CN" dirty="0" smtClean="0">
                <a:ea typeface="黑体" panose="02010609060101010101" pitchFamily="49" charset="-122"/>
              </a:rPr>
              <a:t>0 </a:t>
            </a:r>
            <a:r>
              <a:rPr lang="zh-CN" altLang="en-US" dirty="0" smtClean="0">
                <a:ea typeface="黑体" panose="02010609060101010101" pitchFamily="49" charset="-122"/>
              </a:rPr>
              <a:t>而 </a:t>
            </a:r>
            <a:r>
              <a:rPr lang="en-US" altLang="zh-CN" dirty="0" smtClean="0">
                <a:ea typeface="黑体" panose="02010609060101010101" pitchFamily="49" charset="-122"/>
              </a:rPr>
              <a:t>0 </a:t>
            </a:r>
            <a:r>
              <a:rPr lang="zh-CN" altLang="en-US" dirty="0" smtClean="0">
                <a:ea typeface="黑体" panose="02010609060101010101" pitchFamily="49" charset="-122"/>
              </a:rPr>
              <a:t>也可能变成 </a:t>
            </a:r>
            <a:r>
              <a:rPr lang="en-US" altLang="zh-CN" dirty="0" smtClean="0">
                <a:ea typeface="黑体" panose="02010609060101010101" pitchFamily="49" charset="-122"/>
              </a:rPr>
              <a:t>1</a:t>
            </a:r>
            <a:r>
              <a:rPr lang="zh-CN" altLang="en-US" dirty="0" smtClean="0">
                <a:ea typeface="黑体" panose="02010609060101010101" pitchFamily="49" charset="-122"/>
              </a:rPr>
              <a:t>。</a:t>
            </a:r>
          </a:p>
          <a:p>
            <a:r>
              <a:rPr lang="zh-CN" altLang="en-US" dirty="0" smtClean="0">
                <a:ea typeface="黑体" panose="02010609060101010101" pitchFamily="49" charset="-122"/>
              </a:rPr>
              <a:t>在一段时间内，传输错误的比特占所传输比特总数的比率称为</a:t>
            </a:r>
            <a:r>
              <a:rPr lang="zh-CN" altLang="en-US" u="sng" dirty="0" smtClean="0">
                <a:solidFill>
                  <a:srgbClr val="FF0000"/>
                </a:solidFill>
                <a:ea typeface="黑体" panose="02010609060101010101" pitchFamily="49" charset="-122"/>
              </a:rPr>
              <a:t>误码率 </a:t>
            </a:r>
            <a:r>
              <a:rPr lang="en-US" altLang="zh-CN" u="sng" dirty="0" smtClean="0">
                <a:solidFill>
                  <a:srgbClr val="FF0000"/>
                </a:solidFill>
                <a:ea typeface="黑体" panose="02010609060101010101" pitchFamily="49" charset="-122"/>
              </a:rPr>
              <a:t>BER (Bit Error Rate)</a:t>
            </a:r>
            <a:r>
              <a:rPr lang="zh-CN" altLang="en-US" dirty="0" smtClean="0">
                <a:ea typeface="黑体" panose="02010609060101010101" pitchFamily="49" charset="-122"/>
              </a:rPr>
              <a:t>。</a:t>
            </a:r>
          </a:p>
          <a:p>
            <a:r>
              <a:rPr lang="zh-CN" altLang="en-US" dirty="0" smtClean="0">
                <a:ea typeface="黑体" panose="02010609060101010101" pitchFamily="49" charset="-122"/>
              </a:rPr>
              <a:t>误码率与信噪比有很大的关系。</a:t>
            </a:r>
          </a:p>
          <a:p>
            <a:r>
              <a:rPr lang="zh-CN" altLang="en-US" dirty="0" smtClean="0">
                <a:ea typeface="黑体" panose="02010609060101010101" pitchFamily="49" charset="-122"/>
              </a:rPr>
              <a:t>为了保证数据传输的可靠性，在计算机网络传输数据时，必须采用各种差错检测措施。 </a:t>
            </a:r>
          </a:p>
        </p:txBody>
      </p:sp>
      <p:sp>
        <p:nvSpPr>
          <p:cNvPr id="4485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71C24E-6EA8-49E2-88B1-DFD8AA932193}" type="slidenum">
              <a:rPr lang="zh-CN" altLang="en-US" smtClean="0"/>
              <a:pPr eaLnBrk="1" hangingPunct="1"/>
              <a:t>17</a:t>
            </a:fld>
            <a:endParaRPr lang="en-US" altLang="zh-CN" smtClean="0"/>
          </a:p>
        </p:txBody>
      </p:sp>
      <p:sp>
        <p:nvSpPr>
          <p:cNvPr id="4485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循环冗余检验的原理 </a:t>
            </a:r>
          </a:p>
        </p:txBody>
      </p:sp>
      <p:sp>
        <p:nvSpPr>
          <p:cNvPr id="14438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在数据链路层传送的帧中，广泛使用了</a:t>
            </a:r>
            <a:r>
              <a:rPr lang="zh-CN" altLang="en-US" u="sng" dirty="0" smtClean="0">
                <a:solidFill>
                  <a:srgbClr val="FF0000"/>
                </a:solidFill>
                <a:ea typeface="黑体" panose="02010609060101010101" pitchFamily="49" charset="-122"/>
              </a:rPr>
              <a:t>循环冗余检验 </a:t>
            </a:r>
            <a:r>
              <a:rPr lang="en-US" altLang="zh-CN" u="sng" dirty="0" smtClean="0">
                <a:solidFill>
                  <a:srgbClr val="FF0000"/>
                </a:solidFill>
                <a:ea typeface="黑体" panose="02010609060101010101" pitchFamily="49" charset="-122"/>
              </a:rPr>
              <a:t>CRC</a:t>
            </a:r>
            <a:r>
              <a:rPr lang="zh-CN" altLang="en-US"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Cyclic Redundancy Check</a:t>
            </a:r>
            <a:r>
              <a:rPr lang="zh-CN" altLang="en-US"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 </a:t>
            </a:r>
            <a:r>
              <a:rPr lang="zh-CN" altLang="en-US" dirty="0" smtClean="0">
                <a:ea typeface="黑体" panose="02010609060101010101" pitchFamily="49" charset="-122"/>
              </a:rPr>
              <a:t>的检错技术。</a:t>
            </a:r>
          </a:p>
          <a:p>
            <a:pPr lvl="1"/>
            <a:r>
              <a:rPr lang="zh-CN" altLang="en-US" sz="3200" dirty="0" smtClean="0">
                <a:ea typeface="黑体" panose="02010609060101010101" pitchFamily="49" charset="-122"/>
              </a:rPr>
              <a:t>在发送端，先把数据划</a:t>
            </a:r>
            <a:r>
              <a:rPr lang="zh-CN" altLang="en-US" sz="3200" dirty="0" smtClean="0">
                <a:solidFill>
                  <a:srgbClr val="0000CC"/>
                </a:solidFill>
                <a:ea typeface="黑体" panose="02010609060101010101" pitchFamily="49" charset="-122"/>
              </a:rPr>
              <a:t>分</a:t>
            </a:r>
            <a:r>
              <a:rPr lang="zh-CN" altLang="en-US" sz="3200" dirty="0" smtClean="0">
                <a:ea typeface="黑体" panose="02010609060101010101" pitchFamily="49" charset="-122"/>
              </a:rPr>
              <a:t>为</a:t>
            </a:r>
            <a:r>
              <a:rPr lang="zh-CN" altLang="en-US" sz="3200" dirty="0" smtClean="0">
                <a:solidFill>
                  <a:srgbClr val="0000CC"/>
                </a:solidFill>
                <a:ea typeface="黑体" panose="02010609060101010101" pitchFamily="49" charset="-122"/>
              </a:rPr>
              <a:t>组</a:t>
            </a:r>
            <a:r>
              <a:rPr lang="zh-CN" altLang="en-US" sz="3200" dirty="0" smtClean="0">
                <a:ea typeface="黑体" panose="02010609060101010101" pitchFamily="49" charset="-122"/>
              </a:rPr>
              <a:t>。假定每组 </a:t>
            </a:r>
            <a:r>
              <a:rPr lang="en-US" altLang="zh-CN" sz="3200" i="1" dirty="0" smtClean="0">
                <a:ea typeface="黑体" panose="02010609060101010101" pitchFamily="49" charset="-122"/>
              </a:rPr>
              <a:t>k </a:t>
            </a:r>
            <a:r>
              <a:rPr lang="zh-CN" altLang="en-US" sz="3200" dirty="0" smtClean="0">
                <a:ea typeface="黑体" panose="02010609060101010101" pitchFamily="49" charset="-122"/>
              </a:rPr>
              <a:t>个比特。 </a:t>
            </a:r>
          </a:p>
          <a:p>
            <a:pPr lvl="1"/>
            <a:r>
              <a:rPr lang="zh-CN" altLang="en-US" sz="3200" dirty="0" smtClean="0">
                <a:ea typeface="黑体" panose="02010609060101010101" pitchFamily="49" charset="-122"/>
              </a:rPr>
              <a:t>假设待传送的一组数据 </a:t>
            </a:r>
            <a:r>
              <a:rPr lang="en-US" altLang="zh-CN" sz="3200" i="1" dirty="0" smtClean="0">
                <a:ea typeface="黑体" panose="02010609060101010101" pitchFamily="49" charset="-122"/>
              </a:rPr>
              <a:t>M</a:t>
            </a:r>
            <a:r>
              <a:rPr lang="en-US" altLang="zh-CN" sz="3200" dirty="0" smtClean="0">
                <a:ea typeface="黑体" panose="02010609060101010101" pitchFamily="49" charset="-122"/>
              </a:rPr>
              <a:t> = 101001</a:t>
            </a:r>
            <a:r>
              <a:rPr lang="zh-CN" altLang="en-US" sz="3200" dirty="0" smtClean="0">
                <a:ea typeface="黑体" panose="02010609060101010101" pitchFamily="49" charset="-122"/>
              </a:rPr>
              <a:t>（现在 </a:t>
            </a:r>
            <a:r>
              <a:rPr lang="en-US" altLang="zh-CN" sz="3200" i="1" dirty="0" smtClean="0">
                <a:ea typeface="黑体" panose="02010609060101010101" pitchFamily="49" charset="-122"/>
              </a:rPr>
              <a:t>k</a:t>
            </a:r>
            <a:r>
              <a:rPr lang="en-US" altLang="zh-CN" sz="3200" dirty="0" smtClean="0">
                <a:ea typeface="黑体" panose="02010609060101010101" pitchFamily="49" charset="-122"/>
              </a:rPr>
              <a:t> = 6</a:t>
            </a:r>
            <a:r>
              <a:rPr lang="zh-CN" altLang="en-US" sz="3200" dirty="0" smtClean="0">
                <a:ea typeface="黑体" panose="02010609060101010101" pitchFamily="49" charset="-122"/>
              </a:rPr>
              <a:t>）。我们在 </a:t>
            </a:r>
            <a:r>
              <a:rPr lang="en-US" altLang="zh-CN" sz="3200" i="1" dirty="0" smtClean="0">
                <a:ea typeface="黑体" panose="02010609060101010101" pitchFamily="49" charset="-122"/>
              </a:rPr>
              <a:t>M </a:t>
            </a:r>
            <a:r>
              <a:rPr lang="zh-CN" altLang="en-US" sz="3200" dirty="0" smtClean="0">
                <a:ea typeface="黑体" panose="02010609060101010101" pitchFamily="49" charset="-122"/>
              </a:rPr>
              <a:t>的后面再添加供差错检测用的 </a:t>
            </a:r>
            <a:r>
              <a:rPr lang="en-US" altLang="zh-CN" sz="3200" i="1" dirty="0" smtClean="0">
                <a:ea typeface="黑体" panose="02010609060101010101" pitchFamily="49" charset="-122"/>
              </a:rPr>
              <a:t>n</a:t>
            </a:r>
            <a:r>
              <a:rPr lang="en-US" altLang="zh-CN" sz="3200" dirty="0" smtClean="0">
                <a:ea typeface="黑体" panose="02010609060101010101" pitchFamily="49" charset="-122"/>
              </a:rPr>
              <a:t> </a:t>
            </a:r>
            <a:r>
              <a:rPr lang="zh-CN" altLang="en-US" sz="3200" dirty="0" smtClean="0">
                <a:ea typeface="黑体" panose="02010609060101010101" pitchFamily="49" charset="-122"/>
              </a:rPr>
              <a:t>位</a:t>
            </a:r>
            <a:r>
              <a:rPr lang="zh-CN" altLang="en-US" sz="3200" dirty="0" smtClean="0">
                <a:solidFill>
                  <a:srgbClr val="0000CC"/>
                </a:solidFill>
                <a:ea typeface="黑体" panose="02010609060101010101" pitchFamily="49" charset="-122"/>
              </a:rPr>
              <a:t>冗余码</a:t>
            </a:r>
            <a:r>
              <a:rPr lang="zh-CN" altLang="en-US" sz="3200" dirty="0" smtClean="0">
                <a:ea typeface="黑体" panose="02010609060101010101" pitchFamily="49" charset="-122"/>
              </a:rPr>
              <a:t>一起发送。  </a:t>
            </a:r>
          </a:p>
        </p:txBody>
      </p:sp>
      <p:sp>
        <p:nvSpPr>
          <p:cNvPr id="4505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F4625D-32F5-4938-8861-37E4696E0930}" type="slidenum">
              <a:rPr lang="zh-CN" altLang="en-US" smtClean="0"/>
              <a:pPr eaLnBrk="1" hangingPunct="1"/>
              <a:t>18</a:t>
            </a:fld>
            <a:endParaRPr lang="en-US" altLang="zh-CN" smtClean="0"/>
          </a:p>
        </p:txBody>
      </p:sp>
      <p:sp>
        <p:nvSpPr>
          <p:cNvPr id="4505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冗余码的计算 </a:t>
            </a:r>
          </a:p>
        </p:txBody>
      </p:sp>
      <p:sp>
        <p:nvSpPr>
          <p:cNvPr id="146435" name="Rectangle 3"/>
          <p:cNvSpPr>
            <a:spLocks noGrp="1" noChangeArrowheads="1"/>
          </p:cNvSpPr>
          <p:nvPr>
            <p:ph idx="1"/>
          </p:nvPr>
        </p:nvSpPr>
        <p:spPr>
          <a:xfrm>
            <a:off x="495300" y="1196975"/>
            <a:ext cx="9066213" cy="4933950"/>
          </a:xfrm>
        </p:spPr>
        <p:txBody>
          <a:bodyPr/>
          <a:lstStyle/>
          <a:p>
            <a:pPr lvl="1"/>
            <a:r>
              <a:rPr lang="zh-CN" altLang="en-US" sz="3200" dirty="0" smtClean="0">
                <a:ea typeface="黑体" panose="02010609060101010101" pitchFamily="49" charset="-122"/>
              </a:rPr>
              <a:t>用二进制的</a:t>
            </a:r>
            <a:r>
              <a:rPr lang="zh-CN" altLang="en-US" sz="3200" dirty="0" smtClean="0">
                <a:solidFill>
                  <a:srgbClr val="0000CC"/>
                </a:solidFill>
                <a:ea typeface="黑体" panose="02010609060101010101" pitchFamily="49" charset="-122"/>
              </a:rPr>
              <a:t>模 </a:t>
            </a:r>
            <a:r>
              <a:rPr lang="en-US" altLang="zh-CN" sz="3200" dirty="0" smtClean="0">
                <a:solidFill>
                  <a:srgbClr val="0000CC"/>
                </a:solidFill>
                <a:ea typeface="黑体" panose="02010609060101010101" pitchFamily="49" charset="-122"/>
              </a:rPr>
              <a:t>2 </a:t>
            </a:r>
            <a:r>
              <a:rPr lang="zh-CN" altLang="en-US" sz="3200" dirty="0" smtClean="0">
                <a:solidFill>
                  <a:srgbClr val="0000CC"/>
                </a:solidFill>
                <a:ea typeface="黑体" panose="02010609060101010101" pitchFamily="49" charset="-122"/>
              </a:rPr>
              <a:t>运算</a:t>
            </a:r>
            <a:r>
              <a:rPr lang="zh-CN" altLang="en-US" sz="3200" dirty="0" smtClean="0">
                <a:ea typeface="黑体" panose="02010609060101010101" pitchFamily="49" charset="-122"/>
              </a:rPr>
              <a:t>进行 </a:t>
            </a:r>
            <a:r>
              <a:rPr lang="en-US" altLang="zh-CN" sz="3200" dirty="0" smtClean="0">
                <a:ea typeface="黑体" panose="02010609060101010101" pitchFamily="49" charset="-122"/>
              </a:rPr>
              <a:t>2</a:t>
            </a:r>
            <a:r>
              <a:rPr lang="en-US" altLang="zh-CN" sz="3200" i="1" baseline="30000" dirty="0" smtClean="0">
                <a:ea typeface="黑体" panose="02010609060101010101" pitchFamily="49" charset="-122"/>
              </a:rPr>
              <a:t>n </a:t>
            </a:r>
            <a:r>
              <a:rPr lang="zh-CN" altLang="en-US" sz="3200" dirty="0" smtClean="0">
                <a:ea typeface="黑体" panose="02010609060101010101" pitchFamily="49" charset="-122"/>
              </a:rPr>
              <a:t>乘 </a:t>
            </a:r>
            <a:r>
              <a:rPr lang="en-US" altLang="zh-CN" sz="3200" i="1" dirty="0" smtClean="0">
                <a:ea typeface="黑体" panose="02010609060101010101" pitchFamily="49" charset="-122"/>
              </a:rPr>
              <a:t>M </a:t>
            </a:r>
            <a:r>
              <a:rPr lang="zh-CN" altLang="en-US" sz="3200" dirty="0" smtClean="0">
                <a:ea typeface="黑体" panose="02010609060101010101" pitchFamily="49" charset="-122"/>
              </a:rPr>
              <a:t>的运算，这相当于在 </a:t>
            </a:r>
            <a:r>
              <a:rPr lang="en-US" altLang="zh-CN" sz="3200" i="1" dirty="0" smtClean="0">
                <a:ea typeface="黑体" panose="02010609060101010101" pitchFamily="49" charset="-122"/>
              </a:rPr>
              <a:t>M </a:t>
            </a:r>
            <a:r>
              <a:rPr lang="zh-CN" altLang="en-US" sz="3200" dirty="0" smtClean="0">
                <a:ea typeface="黑体" panose="02010609060101010101" pitchFamily="49" charset="-122"/>
              </a:rPr>
              <a:t>后面添加 </a:t>
            </a:r>
            <a:r>
              <a:rPr lang="en-US" altLang="zh-CN" sz="3200" i="1" dirty="0" smtClean="0">
                <a:ea typeface="黑体" panose="02010609060101010101" pitchFamily="49" charset="-122"/>
              </a:rPr>
              <a:t>n </a:t>
            </a:r>
            <a:r>
              <a:rPr lang="zh-CN" altLang="en-US" sz="3200" dirty="0" smtClean="0">
                <a:ea typeface="黑体" panose="02010609060101010101" pitchFamily="49" charset="-122"/>
              </a:rPr>
              <a:t>个 </a:t>
            </a:r>
            <a:r>
              <a:rPr lang="en-US" altLang="zh-CN" sz="3200" dirty="0" smtClean="0">
                <a:ea typeface="黑体" panose="02010609060101010101" pitchFamily="49" charset="-122"/>
              </a:rPr>
              <a:t>0</a:t>
            </a:r>
            <a:r>
              <a:rPr lang="zh-CN" altLang="en-US" sz="3200" dirty="0" smtClean="0">
                <a:ea typeface="黑体" panose="02010609060101010101" pitchFamily="49" charset="-122"/>
              </a:rPr>
              <a:t>。</a:t>
            </a:r>
          </a:p>
          <a:p>
            <a:pPr lvl="1"/>
            <a:r>
              <a:rPr lang="zh-CN" altLang="en-US" sz="3200" dirty="0" smtClean="0">
                <a:ea typeface="黑体" panose="02010609060101010101" pitchFamily="49" charset="-122"/>
              </a:rPr>
              <a:t>得到的 </a:t>
            </a:r>
            <a:r>
              <a:rPr lang="en-US" altLang="zh-CN" sz="3200" dirty="0" smtClean="0">
                <a:ea typeface="黑体" panose="02010609060101010101" pitchFamily="49" charset="-122"/>
              </a:rPr>
              <a:t>(</a:t>
            </a:r>
            <a:r>
              <a:rPr lang="en-US" altLang="zh-CN" sz="3200" i="1" dirty="0" smtClean="0">
                <a:ea typeface="黑体" panose="02010609060101010101" pitchFamily="49" charset="-122"/>
              </a:rPr>
              <a:t>k</a:t>
            </a:r>
            <a:r>
              <a:rPr lang="en-US" altLang="zh-CN" sz="3200" dirty="0" smtClean="0">
                <a:ea typeface="黑体" panose="02010609060101010101" pitchFamily="49" charset="-122"/>
              </a:rPr>
              <a:t> + </a:t>
            </a:r>
            <a:r>
              <a:rPr lang="en-US" altLang="zh-CN" sz="3200" i="1" dirty="0" smtClean="0">
                <a:ea typeface="黑体" panose="02010609060101010101" pitchFamily="49" charset="-122"/>
              </a:rPr>
              <a:t>n</a:t>
            </a:r>
            <a:r>
              <a:rPr lang="en-US" altLang="zh-CN" sz="3200" dirty="0" smtClean="0">
                <a:ea typeface="黑体" panose="02010609060101010101" pitchFamily="49" charset="-122"/>
              </a:rPr>
              <a:t>) </a:t>
            </a:r>
            <a:r>
              <a:rPr lang="zh-CN" altLang="en-US" sz="3200" dirty="0" smtClean="0">
                <a:ea typeface="黑体" panose="02010609060101010101" pitchFamily="49" charset="-122"/>
              </a:rPr>
              <a:t>位的数除以事先选定好的长度为 </a:t>
            </a:r>
            <a:r>
              <a:rPr lang="en-US" altLang="zh-CN" sz="3200" dirty="0" smtClean="0">
                <a:ea typeface="黑体" panose="02010609060101010101" pitchFamily="49" charset="-122"/>
              </a:rPr>
              <a:t>(</a:t>
            </a:r>
            <a:r>
              <a:rPr lang="en-US" altLang="zh-CN" sz="3200" i="1" dirty="0" smtClean="0">
                <a:ea typeface="黑体" panose="02010609060101010101" pitchFamily="49" charset="-122"/>
              </a:rPr>
              <a:t>n</a:t>
            </a:r>
            <a:r>
              <a:rPr lang="en-US" altLang="zh-CN" sz="3200" dirty="0" smtClean="0">
                <a:ea typeface="黑体" panose="02010609060101010101" pitchFamily="49" charset="-122"/>
              </a:rPr>
              <a:t> + 1) </a:t>
            </a:r>
            <a:r>
              <a:rPr lang="zh-CN" altLang="en-US" sz="3200" dirty="0" smtClean="0">
                <a:ea typeface="黑体" panose="02010609060101010101" pitchFamily="49" charset="-122"/>
              </a:rPr>
              <a:t>位的</a:t>
            </a:r>
            <a:r>
              <a:rPr lang="zh-CN" altLang="en-US" sz="3200" dirty="0" smtClean="0">
                <a:solidFill>
                  <a:srgbClr val="0000CC"/>
                </a:solidFill>
                <a:ea typeface="黑体" panose="02010609060101010101" pitchFamily="49" charset="-122"/>
              </a:rPr>
              <a:t>除数 </a:t>
            </a:r>
            <a:r>
              <a:rPr lang="en-US" altLang="zh-CN" sz="3200" i="1" dirty="0" smtClean="0">
                <a:solidFill>
                  <a:srgbClr val="0000CC"/>
                </a:solidFill>
                <a:ea typeface="黑体" panose="02010609060101010101" pitchFamily="49" charset="-122"/>
              </a:rPr>
              <a:t>P</a:t>
            </a:r>
            <a:r>
              <a:rPr lang="zh-CN" altLang="en-US" sz="3200" dirty="0" smtClean="0">
                <a:ea typeface="黑体" panose="02010609060101010101" pitchFamily="49" charset="-122"/>
              </a:rPr>
              <a:t>，得出</a:t>
            </a:r>
            <a:r>
              <a:rPr lang="zh-CN" altLang="en-US" sz="3200" dirty="0" smtClean="0">
                <a:solidFill>
                  <a:srgbClr val="0000CC"/>
                </a:solidFill>
                <a:ea typeface="黑体" panose="02010609060101010101" pitchFamily="49" charset="-122"/>
              </a:rPr>
              <a:t>商</a:t>
            </a:r>
            <a:r>
              <a:rPr lang="zh-CN" altLang="en-US" sz="3200" dirty="0" smtClean="0">
                <a:ea typeface="黑体" panose="02010609060101010101" pitchFamily="49" charset="-122"/>
              </a:rPr>
              <a:t>是 </a:t>
            </a:r>
            <a:r>
              <a:rPr lang="en-US" altLang="zh-CN" sz="3200" i="1" dirty="0" smtClean="0">
                <a:ea typeface="黑体" panose="02010609060101010101" pitchFamily="49" charset="-122"/>
              </a:rPr>
              <a:t>Q </a:t>
            </a:r>
            <a:r>
              <a:rPr lang="zh-CN" altLang="en-US" sz="3200" dirty="0" smtClean="0">
                <a:ea typeface="黑体" panose="02010609060101010101" pitchFamily="49" charset="-122"/>
              </a:rPr>
              <a:t>而</a:t>
            </a:r>
            <a:r>
              <a:rPr lang="zh-CN" altLang="en-US" sz="3200" dirty="0" smtClean="0">
                <a:solidFill>
                  <a:srgbClr val="0000CC"/>
                </a:solidFill>
                <a:ea typeface="黑体" panose="02010609060101010101" pitchFamily="49" charset="-122"/>
              </a:rPr>
              <a:t>余数</a:t>
            </a:r>
            <a:r>
              <a:rPr lang="zh-CN" altLang="en-US" sz="3200" dirty="0" smtClean="0">
                <a:ea typeface="黑体" panose="02010609060101010101" pitchFamily="49" charset="-122"/>
              </a:rPr>
              <a:t>是 </a:t>
            </a:r>
            <a:r>
              <a:rPr lang="en-US" altLang="zh-CN" sz="3200" i="1" dirty="0" smtClean="0">
                <a:ea typeface="黑体" panose="02010609060101010101" pitchFamily="49" charset="-122"/>
              </a:rPr>
              <a:t>R</a:t>
            </a:r>
            <a:r>
              <a:rPr lang="zh-CN" altLang="en-US" sz="3200" dirty="0" smtClean="0">
                <a:ea typeface="黑体" panose="02010609060101010101" pitchFamily="49" charset="-122"/>
              </a:rPr>
              <a:t>，余数 </a:t>
            </a:r>
            <a:r>
              <a:rPr lang="en-US" altLang="zh-CN" sz="3200" i="1" dirty="0" smtClean="0">
                <a:ea typeface="黑体" panose="02010609060101010101" pitchFamily="49" charset="-122"/>
              </a:rPr>
              <a:t>R </a:t>
            </a:r>
            <a:r>
              <a:rPr lang="zh-CN" altLang="en-US" sz="3200" dirty="0" smtClean="0">
                <a:ea typeface="黑体" panose="02010609060101010101" pitchFamily="49" charset="-122"/>
              </a:rPr>
              <a:t>比除数 </a:t>
            </a:r>
            <a:r>
              <a:rPr lang="en-US" altLang="zh-CN" sz="3200" i="1" dirty="0" smtClean="0">
                <a:ea typeface="黑体" panose="02010609060101010101" pitchFamily="49" charset="-122"/>
              </a:rPr>
              <a:t>P </a:t>
            </a:r>
            <a:r>
              <a:rPr lang="zh-CN" altLang="en-US" sz="3200" dirty="0" smtClean="0">
                <a:ea typeface="黑体" panose="02010609060101010101" pitchFamily="49" charset="-122"/>
              </a:rPr>
              <a:t>少 </a:t>
            </a:r>
            <a:r>
              <a:rPr lang="en-US" altLang="zh-CN" sz="3200" dirty="0" smtClean="0">
                <a:ea typeface="黑体" panose="02010609060101010101" pitchFamily="49" charset="-122"/>
              </a:rPr>
              <a:t>1 </a:t>
            </a:r>
            <a:r>
              <a:rPr lang="zh-CN" altLang="en-US" sz="3200" dirty="0" smtClean="0">
                <a:ea typeface="黑体" panose="02010609060101010101" pitchFamily="49" charset="-122"/>
              </a:rPr>
              <a:t>位，即 </a:t>
            </a:r>
            <a:r>
              <a:rPr lang="en-US" altLang="zh-CN" sz="3200" i="1" dirty="0" smtClean="0">
                <a:ea typeface="黑体" panose="02010609060101010101" pitchFamily="49" charset="-122"/>
              </a:rPr>
              <a:t>R </a:t>
            </a:r>
            <a:r>
              <a:rPr lang="zh-CN" altLang="en-US" sz="3200" dirty="0" smtClean="0">
                <a:ea typeface="黑体" panose="02010609060101010101" pitchFamily="49" charset="-122"/>
              </a:rPr>
              <a:t>是 </a:t>
            </a:r>
            <a:r>
              <a:rPr lang="en-US" altLang="zh-CN" sz="3200" i="1" dirty="0" smtClean="0">
                <a:ea typeface="黑体" panose="02010609060101010101" pitchFamily="49" charset="-122"/>
              </a:rPr>
              <a:t>n</a:t>
            </a:r>
            <a:r>
              <a:rPr lang="en-US" altLang="zh-CN" sz="3200" dirty="0" smtClean="0">
                <a:ea typeface="黑体" panose="02010609060101010101" pitchFamily="49" charset="-122"/>
              </a:rPr>
              <a:t> </a:t>
            </a:r>
            <a:r>
              <a:rPr lang="zh-CN" altLang="en-US" sz="3200" dirty="0" smtClean="0">
                <a:ea typeface="黑体" panose="02010609060101010101" pitchFamily="49" charset="-122"/>
              </a:rPr>
              <a:t>位。 </a:t>
            </a:r>
            <a:endParaRPr lang="en-US" altLang="zh-CN" sz="3200" dirty="0" smtClean="0">
              <a:ea typeface="黑体" panose="02010609060101010101" pitchFamily="49" charset="-122"/>
            </a:endParaRPr>
          </a:p>
          <a:p>
            <a:pPr lvl="1"/>
            <a:r>
              <a:rPr lang="zh-CN" altLang="en-US" sz="3200" dirty="0" smtClean="0">
                <a:ea typeface="黑体" panose="02010609060101010101" pitchFamily="49" charset="-122"/>
              </a:rPr>
              <a:t>将</a:t>
            </a:r>
            <a:r>
              <a:rPr lang="zh-CN" altLang="zh-CN" sz="3200" dirty="0" smtClean="0">
                <a:solidFill>
                  <a:srgbClr val="0000CC"/>
                </a:solidFill>
                <a:ea typeface="黑体" panose="02010609060101010101" pitchFamily="49" charset="-122"/>
              </a:rPr>
              <a:t>余数</a:t>
            </a:r>
            <a:r>
              <a:rPr lang="en-US" altLang="zh-CN" sz="3200" dirty="0" smtClean="0">
                <a:ea typeface="黑体" panose="02010609060101010101" pitchFamily="49" charset="-122"/>
              </a:rPr>
              <a:t> </a:t>
            </a:r>
            <a:r>
              <a:rPr lang="en-US" altLang="zh-CN" sz="3200" i="1" dirty="0" smtClean="0">
                <a:ea typeface="黑体" panose="02010609060101010101" pitchFamily="49" charset="-122"/>
              </a:rPr>
              <a:t>R </a:t>
            </a:r>
            <a:r>
              <a:rPr lang="zh-CN" altLang="zh-CN" sz="3200" dirty="0" smtClean="0">
                <a:ea typeface="黑体" panose="02010609060101010101" pitchFamily="49" charset="-122"/>
              </a:rPr>
              <a:t>作为冗余码拼接在数据</a:t>
            </a:r>
            <a:r>
              <a:rPr lang="en-US" altLang="zh-CN" sz="3200" dirty="0" smtClean="0">
                <a:ea typeface="黑体" panose="02010609060101010101" pitchFamily="49" charset="-122"/>
              </a:rPr>
              <a:t> </a:t>
            </a:r>
            <a:r>
              <a:rPr lang="en-US" altLang="zh-CN" sz="3200" i="1" dirty="0" smtClean="0">
                <a:ea typeface="黑体" panose="02010609060101010101" pitchFamily="49" charset="-122"/>
              </a:rPr>
              <a:t>M </a:t>
            </a:r>
            <a:r>
              <a:rPr lang="zh-CN" altLang="zh-CN" sz="3200" dirty="0" smtClean="0">
                <a:ea typeface="黑体" panose="02010609060101010101" pitchFamily="49" charset="-122"/>
              </a:rPr>
              <a:t>后面发送出去</a:t>
            </a:r>
            <a:r>
              <a:rPr lang="zh-CN" altLang="en-US" dirty="0" smtClean="0">
                <a:ea typeface="黑体" panose="02010609060101010101" pitchFamily="49" charset="-122"/>
              </a:rPr>
              <a:t>。</a:t>
            </a:r>
          </a:p>
        </p:txBody>
      </p:sp>
      <p:sp>
        <p:nvSpPr>
          <p:cNvPr id="452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4CFBCF-8BEC-49C5-A97C-26A71DDD7317}" type="slidenum">
              <a:rPr lang="zh-CN" altLang="en-US" smtClean="0"/>
              <a:pPr eaLnBrk="1" hangingPunct="1"/>
              <a:t>19</a:t>
            </a:fld>
            <a:endParaRPr lang="en-US" altLang="zh-CN" smtClean="0"/>
          </a:p>
        </p:txBody>
      </p:sp>
      <p:sp>
        <p:nvSpPr>
          <p:cNvPr id="452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4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6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冗余码的计算举例 </a:t>
            </a:r>
          </a:p>
        </p:txBody>
      </p:sp>
      <p:sp>
        <p:nvSpPr>
          <p:cNvPr id="145411"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现在</a:t>
            </a:r>
            <a:r>
              <a:rPr lang="zh-CN" altLang="en-US" sz="2800" i="1" dirty="0" smtClean="0">
                <a:ea typeface="黑体" panose="02010609060101010101" pitchFamily="49" charset="-122"/>
              </a:rPr>
              <a:t> </a:t>
            </a:r>
            <a:r>
              <a:rPr lang="en-US" altLang="zh-CN" sz="2800" i="1" dirty="0" smtClean="0">
                <a:ea typeface="黑体" panose="02010609060101010101" pitchFamily="49" charset="-122"/>
              </a:rPr>
              <a:t>k</a:t>
            </a:r>
            <a:r>
              <a:rPr lang="en-US" altLang="zh-CN" sz="2800" dirty="0" smtClean="0">
                <a:ea typeface="黑体" panose="02010609060101010101" pitchFamily="49" charset="-122"/>
              </a:rPr>
              <a:t> = 6, </a:t>
            </a:r>
            <a:r>
              <a:rPr lang="en-US" altLang="zh-CN" sz="2800" i="1" dirty="0" smtClean="0">
                <a:ea typeface="黑体" panose="02010609060101010101" pitchFamily="49" charset="-122"/>
              </a:rPr>
              <a:t>M</a:t>
            </a:r>
            <a:r>
              <a:rPr lang="en-US" altLang="zh-CN" sz="2800" dirty="0" smtClean="0">
                <a:ea typeface="黑体" panose="02010609060101010101" pitchFamily="49" charset="-122"/>
              </a:rPr>
              <a:t> = 101001</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设</a:t>
            </a:r>
            <a:r>
              <a:rPr lang="zh-CN" altLang="en-US" sz="2800" i="1" dirty="0" smtClean="0">
                <a:ea typeface="黑体" panose="02010609060101010101" pitchFamily="49" charset="-122"/>
              </a:rPr>
              <a:t> </a:t>
            </a:r>
            <a:r>
              <a:rPr lang="en-US" altLang="zh-CN" sz="2800" i="1" dirty="0" smtClean="0">
                <a:ea typeface="黑体" panose="02010609060101010101" pitchFamily="49" charset="-122"/>
              </a:rPr>
              <a:t>n</a:t>
            </a:r>
            <a:r>
              <a:rPr lang="en-US" altLang="zh-CN" sz="2800" dirty="0" smtClean="0">
                <a:ea typeface="黑体" panose="02010609060101010101" pitchFamily="49" charset="-122"/>
              </a:rPr>
              <a:t> = 3, </a:t>
            </a:r>
            <a:r>
              <a:rPr lang="zh-CN" altLang="en-US" sz="2800" dirty="0" smtClean="0">
                <a:solidFill>
                  <a:srgbClr val="FF0000"/>
                </a:solidFill>
                <a:ea typeface="黑体" panose="02010609060101010101" pitchFamily="49" charset="-122"/>
              </a:rPr>
              <a:t>除数</a:t>
            </a:r>
            <a:r>
              <a:rPr lang="zh-CN" altLang="en-US" sz="2800" dirty="0" smtClean="0">
                <a:ea typeface="黑体" panose="02010609060101010101" pitchFamily="49" charset="-122"/>
              </a:rPr>
              <a:t> </a:t>
            </a:r>
            <a:r>
              <a:rPr lang="en-US" altLang="zh-CN" sz="2800" i="1" dirty="0" smtClean="0">
                <a:ea typeface="黑体" panose="02010609060101010101" pitchFamily="49" charset="-122"/>
              </a:rPr>
              <a:t>P</a:t>
            </a:r>
            <a:r>
              <a:rPr lang="en-US" altLang="zh-CN" sz="2800" dirty="0" smtClean="0">
                <a:ea typeface="黑体" panose="02010609060101010101" pitchFamily="49" charset="-122"/>
              </a:rPr>
              <a:t> = 1101</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被除数是 </a:t>
            </a:r>
            <a:r>
              <a:rPr lang="en-US" altLang="zh-CN" sz="2800" dirty="0" smtClean="0">
                <a:ea typeface="黑体" panose="02010609060101010101" pitchFamily="49" charset="-122"/>
              </a:rPr>
              <a:t>2</a:t>
            </a:r>
            <a:r>
              <a:rPr lang="en-US" altLang="zh-CN" sz="2800" i="1" baseline="30000" dirty="0" smtClean="0">
                <a:ea typeface="黑体" panose="02010609060101010101" pitchFamily="49" charset="-122"/>
              </a:rPr>
              <a:t>n</a:t>
            </a:r>
            <a:r>
              <a:rPr lang="en-US" altLang="zh-CN" sz="2800" i="1" dirty="0" smtClean="0">
                <a:ea typeface="黑体" panose="02010609060101010101" pitchFamily="49" charset="-122"/>
              </a:rPr>
              <a:t>M</a:t>
            </a:r>
            <a:r>
              <a:rPr lang="en-US" altLang="zh-CN" sz="2800" dirty="0" smtClean="0">
                <a:ea typeface="黑体" panose="02010609060101010101" pitchFamily="49" charset="-122"/>
              </a:rPr>
              <a:t> = 101001000</a:t>
            </a:r>
            <a:r>
              <a:rPr lang="zh-CN" altLang="en-US" sz="2800" dirty="0" smtClean="0">
                <a:ea typeface="黑体" panose="02010609060101010101" pitchFamily="49" charset="-122"/>
              </a:rPr>
              <a:t>。 </a:t>
            </a:r>
          </a:p>
          <a:p>
            <a:r>
              <a:rPr lang="zh-CN" altLang="en-US" sz="2800" dirty="0" smtClean="0">
                <a:ea typeface="黑体" panose="02010609060101010101" pitchFamily="49" charset="-122"/>
              </a:rPr>
              <a:t>模 </a:t>
            </a:r>
            <a:r>
              <a:rPr lang="en-US" altLang="zh-CN" sz="2800" dirty="0" smtClean="0">
                <a:ea typeface="黑体" panose="02010609060101010101" pitchFamily="49" charset="-122"/>
              </a:rPr>
              <a:t>2 </a:t>
            </a:r>
            <a:r>
              <a:rPr lang="zh-CN" altLang="en-US" sz="2800" dirty="0" smtClean="0">
                <a:ea typeface="黑体" panose="02010609060101010101" pitchFamily="49" charset="-122"/>
              </a:rPr>
              <a:t>运算的结果是：</a:t>
            </a:r>
            <a:r>
              <a:rPr lang="zh-CN" altLang="en-US" sz="2800" dirty="0" smtClean="0">
                <a:solidFill>
                  <a:srgbClr val="FF0000"/>
                </a:solidFill>
                <a:ea typeface="黑体" panose="02010609060101010101" pitchFamily="49" charset="-122"/>
              </a:rPr>
              <a:t>商</a:t>
            </a:r>
            <a:r>
              <a:rPr lang="zh-CN" altLang="en-US" sz="2800" dirty="0" smtClean="0">
                <a:ea typeface="黑体" panose="02010609060101010101" pitchFamily="49" charset="-122"/>
              </a:rPr>
              <a:t> </a:t>
            </a:r>
            <a:r>
              <a:rPr lang="en-US" altLang="zh-CN" sz="2800" i="1" dirty="0" smtClean="0">
                <a:ea typeface="黑体" panose="02010609060101010101" pitchFamily="49" charset="-122"/>
              </a:rPr>
              <a:t>Q</a:t>
            </a:r>
            <a:r>
              <a:rPr lang="en-US" altLang="zh-CN" sz="2800" dirty="0" smtClean="0">
                <a:ea typeface="黑体" panose="02010609060101010101" pitchFamily="49" charset="-122"/>
              </a:rPr>
              <a:t> = 110101</a:t>
            </a:r>
            <a:r>
              <a:rPr lang="zh-CN" altLang="en-US" sz="2800" dirty="0" smtClean="0">
                <a:ea typeface="黑体" panose="02010609060101010101" pitchFamily="49" charset="-122"/>
              </a:rPr>
              <a:t>，</a:t>
            </a:r>
          </a:p>
          <a:p>
            <a:pPr>
              <a:buFont typeface="Wingdings" panose="05000000000000000000" pitchFamily="2" charset="2"/>
              <a:buNone/>
            </a:pPr>
            <a:r>
              <a:rPr lang="zh-CN" altLang="en-US" sz="2800" dirty="0" smtClean="0">
                <a:ea typeface="黑体" panose="02010609060101010101" pitchFamily="49" charset="-122"/>
              </a:rPr>
              <a:t>           </a:t>
            </a:r>
            <a:r>
              <a:rPr lang="zh-CN" altLang="en-US" sz="2800" dirty="0" smtClean="0">
                <a:solidFill>
                  <a:srgbClr val="FF0000"/>
                </a:solidFill>
                <a:ea typeface="黑体" panose="02010609060101010101" pitchFamily="49" charset="-122"/>
              </a:rPr>
              <a:t>余数</a:t>
            </a:r>
            <a:r>
              <a:rPr lang="zh-CN" altLang="en-US" sz="2800" dirty="0" smtClean="0">
                <a:ea typeface="黑体" panose="02010609060101010101" pitchFamily="49" charset="-122"/>
              </a:rPr>
              <a:t> </a:t>
            </a:r>
            <a:r>
              <a:rPr lang="en-US" altLang="zh-CN" sz="2800" i="1" dirty="0" smtClean="0">
                <a:ea typeface="黑体" panose="02010609060101010101" pitchFamily="49" charset="-122"/>
              </a:rPr>
              <a:t>R</a:t>
            </a:r>
            <a:r>
              <a:rPr lang="en-US" altLang="zh-CN" sz="2800" dirty="0" smtClean="0">
                <a:ea typeface="黑体" panose="02010609060101010101" pitchFamily="49" charset="-122"/>
              </a:rPr>
              <a:t> = 001</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把余数 </a:t>
            </a:r>
            <a:r>
              <a:rPr lang="en-US" altLang="zh-CN" sz="2800" i="1" dirty="0" smtClean="0">
                <a:ea typeface="黑体" panose="02010609060101010101" pitchFamily="49" charset="-122"/>
              </a:rPr>
              <a:t>R </a:t>
            </a:r>
            <a:r>
              <a:rPr lang="zh-CN" altLang="en-US" sz="2800" dirty="0" smtClean="0">
                <a:ea typeface="黑体" panose="02010609060101010101" pitchFamily="49" charset="-122"/>
              </a:rPr>
              <a:t>作为</a:t>
            </a:r>
            <a:r>
              <a:rPr lang="zh-CN" altLang="en-US" sz="2800" dirty="0" smtClean="0">
                <a:solidFill>
                  <a:srgbClr val="FF0000"/>
                </a:solidFill>
                <a:ea typeface="黑体" panose="02010609060101010101" pitchFamily="49" charset="-122"/>
              </a:rPr>
              <a:t>冗余码</a:t>
            </a:r>
            <a:r>
              <a:rPr lang="zh-CN" altLang="en-US" sz="2800" dirty="0" smtClean="0">
                <a:ea typeface="黑体" panose="02010609060101010101" pitchFamily="49" charset="-122"/>
              </a:rPr>
              <a:t>添加在数据 </a:t>
            </a:r>
            <a:r>
              <a:rPr lang="en-US" altLang="zh-CN" sz="2800" i="1" dirty="0" smtClean="0">
                <a:ea typeface="黑体" panose="02010609060101010101" pitchFamily="49" charset="-122"/>
              </a:rPr>
              <a:t>M </a:t>
            </a:r>
            <a:r>
              <a:rPr lang="zh-CN" altLang="en-US" sz="2800" dirty="0" smtClean="0">
                <a:ea typeface="黑体" panose="02010609060101010101" pitchFamily="49" charset="-122"/>
              </a:rPr>
              <a:t>的后面发送出去。发送的数据是：</a:t>
            </a:r>
            <a:r>
              <a:rPr lang="en-US" altLang="zh-CN" sz="2800" dirty="0" smtClean="0">
                <a:ea typeface="黑体" panose="02010609060101010101" pitchFamily="49" charset="-122"/>
              </a:rPr>
              <a:t>2</a:t>
            </a:r>
            <a:r>
              <a:rPr lang="en-US" altLang="zh-CN" sz="2800" i="1" baseline="30000" dirty="0" smtClean="0">
                <a:ea typeface="黑体" panose="02010609060101010101" pitchFamily="49" charset="-122"/>
              </a:rPr>
              <a:t>n</a:t>
            </a:r>
            <a:r>
              <a:rPr lang="en-US" altLang="zh-CN" sz="2800" i="1" dirty="0" smtClean="0">
                <a:ea typeface="黑体" panose="02010609060101010101" pitchFamily="49" charset="-122"/>
              </a:rPr>
              <a:t>M</a:t>
            </a:r>
            <a:r>
              <a:rPr lang="en-US" altLang="zh-CN" sz="2800" dirty="0" smtClean="0">
                <a:ea typeface="黑体" panose="02010609060101010101" pitchFamily="49" charset="-122"/>
              </a:rPr>
              <a:t> + </a:t>
            </a:r>
            <a:r>
              <a:rPr lang="en-US" altLang="zh-CN" sz="2800" i="1" dirty="0" smtClean="0">
                <a:ea typeface="黑体" panose="02010609060101010101" pitchFamily="49" charset="-122"/>
              </a:rPr>
              <a:t>R</a:t>
            </a:r>
            <a:r>
              <a:rPr lang="en-US" altLang="zh-CN" sz="2800" dirty="0" smtClean="0">
                <a:ea typeface="黑体" panose="02010609060101010101" pitchFamily="49" charset="-122"/>
              </a:rPr>
              <a:t> </a:t>
            </a:r>
          </a:p>
          <a:p>
            <a:pPr>
              <a:buFont typeface="Wingdings" panose="05000000000000000000" pitchFamily="2" charset="2"/>
              <a:buNone/>
            </a:pPr>
            <a:r>
              <a:rPr lang="en-US" altLang="zh-CN" sz="2800" dirty="0" smtClean="0">
                <a:ea typeface="黑体" panose="02010609060101010101" pitchFamily="49" charset="-122"/>
              </a:rPr>
              <a:t>   </a:t>
            </a:r>
            <a:r>
              <a:rPr lang="zh-CN" altLang="en-US" sz="2800" dirty="0" smtClean="0">
                <a:ea typeface="黑体" panose="02010609060101010101" pitchFamily="49" charset="-122"/>
              </a:rPr>
              <a:t>即：</a:t>
            </a:r>
            <a:r>
              <a:rPr lang="en-US" altLang="zh-CN" sz="2800" dirty="0" smtClean="0">
                <a:ea typeface="黑体" panose="02010609060101010101" pitchFamily="49" charset="-122"/>
              </a:rPr>
              <a:t>101001001</a:t>
            </a:r>
            <a:r>
              <a:rPr lang="zh-CN" altLang="en-US" sz="2800" dirty="0" smtClean="0">
                <a:ea typeface="黑体" panose="02010609060101010101" pitchFamily="49" charset="-122"/>
              </a:rPr>
              <a:t>，共 </a:t>
            </a:r>
            <a:r>
              <a:rPr lang="en-US" altLang="zh-CN" sz="2800" dirty="0" smtClean="0">
                <a:ea typeface="黑体" panose="02010609060101010101" pitchFamily="49" charset="-122"/>
              </a:rPr>
              <a:t>(</a:t>
            </a:r>
            <a:r>
              <a:rPr lang="en-US" altLang="zh-CN" sz="2800" i="1" dirty="0" smtClean="0">
                <a:ea typeface="黑体" panose="02010609060101010101" pitchFamily="49" charset="-122"/>
              </a:rPr>
              <a:t>k</a:t>
            </a:r>
            <a:r>
              <a:rPr lang="en-US" altLang="zh-CN" sz="2800" dirty="0" smtClean="0">
                <a:ea typeface="黑体" panose="02010609060101010101" pitchFamily="49" charset="-122"/>
              </a:rPr>
              <a:t> + </a:t>
            </a:r>
            <a:r>
              <a:rPr lang="en-US" altLang="zh-CN" sz="2800" i="1" dirty="0" smtClean="0">
                <a:ea typeface="黑体" panose="02010609060101010101" pitchFamily="49" charset="-122"/>
              </a:rPr>
              <a:t>n</a:t>
            </a:r>
            <a:r>
              <a:rPr lang="en-US" altLang="zh-CN" sz="2800" dirty="0" smtClean="0">
                <a:ea typeface="黑体" panose="02010609060101010101" pitchFamily="49" charset="-122"/>
              </a:rPr>
              <a:t>) </a:t>
            </a:r>
            <a:r>
              <a:rPr lang="zh-CN" altLang="en-US" sz="2800" dirty="0" smtClean="0">
                <a:ea typeface="黑体" panose="02010609060101010101" pitchFamily="49" charset="-122"/>
              </a:rPr>
              <a:t>位。 </a:t>
            </a:r>
          </a:p>
        </p:txBody>
      </p:sp>
      <p:sp>
        <p:nvSpPr>
          <p:cNvPr id="454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47DD36-73D3-4CE9-900D-71895ED55922}" type="slidenum">
              <a:rPr lang="zh-CN" altLang="en-US" smtClean="0"/>
              <a:pPr eaLnBrk="1" hangingPunct="1"/>
              <a:t>20</a:t>
            </a:fld>
            <a:endParaRPr lang="en-US" altLang="zh-CN" smtClean="0"/>
          </a:p>
        </p:txBody>
      </p:sp>
      <p:sp>
        <p:nvSpPr>
          <p:cNvPr id="454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循环冗余检验的原理说明 </a:t>
            </a:r>
          </a:p>
        </p:txBody>
      </p:sp>
      <p:grpSp>
        <p:nvGrpSpPr>
          <p:cNvPr id="456706" name="组合 2"/>
          <p:cNvGrpSpPr>
            <a:grpSpLocks/>
          </p:cNvGrpSpPr>
          <p:nvPr/>
        </p:nvGrpSpPr>
        <p:grpSpPr bwMode="auto">
          <a:xfrm>
            <a:off x="814388" y="1169988"/>
            <a:ext cx="8561387" cy="4851400"/>
            <a:chOff x="669696" y="1204869"/>
            <a:chExt cx="8778542" cy="5127200"/>
          </a:xfrm>
        </p:grpSpPr>
        <p:sp>
          <p:nvSpPr>
            <p:cNvPr id="456707" name="Rectangle 4"/>
            <p:cNvSpPr>
              <a:spLocks noChangeArrowheads="1"/>
            </p:cNvSpPr>
            <p:nvPr/>
          </p:nvSpPr>
          <p:spPr bwMode="auto">
            <a:xfrm>
              <a:off x="669696" y="1645620"/>
              <a:ext cx="1142412"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400" b="1" i="1">
                  <a:ea typeface="宋体" panose="02010600030101010101" pitchFamily="2" charset="-122"/>
                </a:rPr>
                <a:t>P</a:t>
              </a:r>
              <a:r>
                <a:rPr lang="en-US" altLang="zh-CN" sz="2400" b="1">
                  <a:ea typeface="宋体" panose="02010600030101010101" pitchFamily="2" charset="-122"/>
                </a:rPr>
                <a:t> (</a:t>
              </a:r>
              <a:r>
                <a:rPr lang="zh-CN" altLang="en-US" sz="2400" b="1">
                  <a:ea typeface="宋体" panose="02010600030101010101" pitchFamily="2" charset="-122"/>
                </a:rPr>
                <a:t>除数</a:t>
              </a:r>
              <a:r>
                <a:rPr lang="en-US" altLang="zh-CN" sz="2400" b="1">
                  <a:ea typeface="宋体" panose="02010600030101010101" pitchFamily="2" charset="-122"/>
                </a:rPr>
                <a:t>)</a:t>
              </a:r>
              <a:endParaRPr lang="zh-CN" altLang="en-US" sz="2400" b="1">
                <a:latin typeface="Times New Roman" panose="02020603050405020304" pitchFamily="18" charset="0"/>
                <a:ea typeface="宋体" panose="02010600030101010101" pitchFamily="2" charset="-122"/>
              </a:endParaRPr>
            </a:p>
          </p:txBody>
        </p:sp>
        <p:sp>
          <p:nvSpPr>
            <p:cNvPr id="456708" name="Rectangle 5"/>
            <p:cNvSpPr>
              <a:spLocks noChangeArrowheads="1"/>
            </p:cNvSpPr>
            <p:nvPr/>
          </p:nvSpPr>
          <p:spPr bwMode="auto">
            <a:xfrm>
              <a:off x="2351435" y="164442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09" name="Rectangle 6"/>
            <p:cNvSpPr>
              <a:spLocks noChangeArrowheads="1"/>
            </p:cNvSpPr>
            <p:nvPr/>
          </p:nvSpPr>
          <p:spPr bwMode="auto">
            <a:xfrm>
              <a:off x="4067523" y="1206277"/>
              <a:ext cx="1421988"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800" b="1">
                  <a:ea typeface="宋体" panose="02010600030101010101" pitchFamily="2" charset="-122"/>
                </a:rPr>
                <a:t>110100</a:t>
              </a:r>
              <a:endParaRPr lang="en-US" altLang="zh-CN" sz="2800" b="1">
                <a:latin typeface="Times New Roman" panose="02020603050405020304" pitchFamily="18" charset="0"/>
                <a:ea typeface="宋体" panose="02010600030101010101" pitchFamily="2" charset="-122"/>
              </a:endParaRPr>
            </a:p>
          </p:txBody>
        </p:sp>
        <p:sp>
          <p:nvSpPr>
            <p:cNvPr id="456710" name="Rectangle 7"/>
            <p:cNvSpPr>
              <a:spLocks noChangeArrowheads="1"/>
            </p:cNvSpPr>
            <p:nvPr/>
          </p:nvSpPr>
          <p:spPr bwMode="auto">
            <a:xfrm>
              <a:off x="3483322" y="1641252"/>
              <a:ext cx="2386013"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800" b="1">
                  <a:ea typeface="宋体" panose="02010600030101010101" pitchFamily="2" charset="-122"/>
                </a:rPr>
                <a:t>101001</a:t>
              </a:r>
              <a:r>
                <a:rPr lang="en-US" altLang="zh-CN" sz="2800" b="1">
                  <a:solidFill>
                    <a:srgbClr val="FF0000"/>
                  </a:solidFill>
                  <a:ea typeface="宋体" panose="02010600030101010101" pitchFamily="2" charset="-122"/>
                </a:rPr>
                <a:t>000</a:t>
              </a:r>
              <a:endParaRPr lang="en-US" altLang="zh-CN" sz="2800" b="1">
                <a:solidFill>
                  <a:srgbClr val="FF0000"/>
                </a:solidFill>
                <a:latin typeface="Times New Roman" panose="02020603050405020304" pitchFamily="18" charset="0"/>
                <a:ea typeface="宋体" panose="02010600030101010101" pitchFamily="2" charset="-122"/>
              </a:endParaRPr>
            </a:p>
          </p:txBody>
        </p:sp>
        <p:sp>
          <p:nvSpPr>
            <p:cNvPr id="456711" name="Rectangle 8"/>
            <p:cNvSpPr>
              <a:spLocks noChangeArrowheads="1"/>
            </p:cNvSpPr>
            <p:nvPr/>
          </p:nvSpPr>
          <p:spPr bwMode="auto">
            <a:xfrm>
              <a:off x="5993009" y="1664374"/>
              <a:ext cx="2316906"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400" b="1">
                  <a:ea typeface="宋体" panose="02010600030101010101" pitchFamily="2" charset="-122"/>
                </a:rPr>
                <a:t>2</a:t>
              </a:r>
              <a:r>
                <a:rPr lang="en-US" altLang="zh-CN" sz="2400" b="1" i="1" baseline="30000">
                  <a:ea typeface="宋体" panose="02010600030101010101" pitchFamily="2" charset="-122"/>
                </a:rPr>
                <a:t>n</a:t>
              </a:r>
              <a:r>
                <a:rPr lang="en-US" altLang="zh-CN" sz="2400" b="1" i="1">
                  <a:ea typeface="宋体" panose="02010600030101010101" pitchFamily="2" charset="-122"/>
                </a:rPr>
                <a:t>M </a:t>
              </a:r>
              <a:r>
                <a:rPr lang="en-US" altLang="zh-CN" sz="2400" b="1">
                  <a:ea typeface="宋体" panose="02010600030101010101" pitchFamily="2" charset="-122"/>
                </a:rPr>
                <a:t>(</a:t>
              </a:r>
              <a:r>
                <a:rPr lang="zh-CN" altLang="en-US" sz="2400" b="1">
                  <a:ea typeface="宋体" panose="02010600030101010101" pitchFamily="2" charset="-122"/>
                </a:rPr>
                <a:t>被除数</a:t>
              </a:r>
              <a:r>
                <a:rPr lang="en-US" altLang="zh-CN" sz="2400" b="1">
                  <a:ea typeface="宋体" panose="02010600030101010101" pitchFamily="2" charset="-122"/>
                </a:rPr>
                <a:t>)</a:t>
              </a:r>
              <a:endParaRPr lang="en-US" altLang="zh-CN" sz="2400" b="1">
                <a:latin typeface="Courier New" panose="02070309020205020404" pitchFamily="49" charset="0"/>
                <a:ea typeface="宋体" panose="02010600030101010101" pitchFamily="2" charset="-122"/>
              </a:endParaRPr>
            </a:p>
          </p:txBody>
        </p:sp>
        <p:sp>
          <p:nvSpPr>
            <p:cNvPr id="456712" name="Rectangle 9"/>
            <p:cNvSpPr>
              <a:spLocks noChangeArrowheads="1"/>
            </p:cNvSpPr>
            <p:nvPr/>
          </p:nvSpPr>
          <p:spPr bwMode="auto">
            <a:xfrm>
              <a:off x="3483322" y="199367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13" name="Rectangle 10"/>
            <p:cNvSpPr>
              <a:spLocks noChangeArrowheads="1"/>
            </p:cNvSpPr>
            <p:nvPr/>
          </p:nvSpPr>
          <p:spPr bwMode="auto">
            <a:xfrm>
              <a:off x="3691285" y="2395314"/>
              <a:ext cx="781245"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1110</a:t>
              </a:r>
              <a:endParaRPr lang="en-US" altLang="zh-CN" sz="2800" b="1">
                <a:latin typeface="Times New Roman" panose="02020603050405020304" pitchFamily="18" charset="0"/>
                <a:ea typeface="宋体" panose="02010600030101010101" pitchFamily="2" charset="-122"/>
              </a:endParaRPr>
            </a:p>
          </p:txBody>
        </p:sp>
        <p:sp>
          <p:nvSpPr>
            <p:cNvPr id="456714" name="Rectangle 11"/>
            <p:cNvSpPr>
              <a:spLocks noChangeArrowheads="1"/>
            </p:cNvSpPr>
            <p:nvPr/>
          </p:nvSpPr>
          <p:spPr bwMode="auto">
            <a:xfrm>
              <a:off x="3688110" y="2706464"/>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15" name="Rectangle 12"/>
            <p:cNvSpPr>
              <a:spLocks noChangeArrowheads="1"/>
            </p:cNvSpPr>
            <p:nvPr/>
          </p:nvSpPr>
          <p:spPr bwMode="auto">
            <a:xfrm>
              <a:off x="3892897" y="3096989"/>
              <a:ext cx="781245"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0111</a:t>
              </a:r>
              <a:endParaRPr lang="en-US" altLang="zh-CN" sz="2800" b="1">
                <a:latin typeface="Times New Roman" panose="02020603050405020304" pitchFamily="18" charset="0"/>
                <a:ea typeface="宋体" panose="02010600030101010101" pitchFamily="2" charset="-122"/>
              </a:endParaRPr>
            </a:p>
          </p:txBody>
        </p:sp>
        <p:sp>
          <p:nvSpPr>
            <p:cNvPr id="456716" name="Rectangle 13"/>
            <p:cNvSpPr>
              <a:spLocks noChangeArrowheads="1"/>
            </p:cNvSpPr>
            <p:nvPr/>
          </p:nvSpPr>
          <p:spPr bwMode="auto">
            <a:xfrm>
              <a:off x="3892897" y="3401789"/>
              <a:ext cx="821878"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0000</a:t>
              </a:r>
              <a:endParaRPr lang="en-US" altLang="zh-CN" sz="2800" b="1">
                <a:latin typeface="Times New Roman" panose="02020603050405020304" pitchFamily="18" charset="0"/>
                <a:ea typeface="宋体" panose="02010600030101010101" pitchFamily="2" charset="-122"/>
              </a:endParaRPr>
            </a:p>
          </p:txBody>
        </p:sp>
        <p:sp>
          <p:nvSpPr>
            <p:cNvPr id="456717" name="Rectangle 14"/>
            <p:cNvSpPr>
              <a:spLocks noChangeArrowheads="1"/>
            </p:cNvSpPr>
            <p:nvPr/>
          </p:nvSpPr>
          <p:spPr bwMode="auto">
            <a:xfrm>
              <a:off x="4086572" y="3787552"/>
              <a:ext cx="781245"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1110</a:t>
              </a:r>
              <a:endParaRPr lang="en-US" altLang="zh-CN" sz="2800" b="1">
                <a:latin typeface="Times New Roman" panose="02020603050405020304" pitchFamily="18" charset="0"/>
                <a:ea typeface="宋体" panose="02010600030101010101" pitchFamily="2" charset="-122"/>
              </a:endParaRPr>
            </a:p>
          </p:txBody>
        </p:sp>
        <p:sp>
          <p:nvSpPr>
            <p:cNvPr id="456718" name="Rectangle 15"/>
            <p:cNvSpPr>
              <a:spLocks noChangeArrowheads="1"/>
            </p:cNvSpPr>
            <p:nvPr/>
          </p:nvSpPr>
          <p:spPr bwMode="auto">
            <a:xfrm>
              <a:off x="4083397" y="4116164"/>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19" name="Rectangle 16"/>
            <p:cNvSpPr>
              <a:spLocks noChangeArrowheads="1"/>
            </p:cNvSpPr>
            <p:nvPr/>
          </p:nvSpPr>
          <p:spPr bwMode="auto">
            <a:xfrm>
              <a:off x="4285010" y="446382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0110</a:t>
              </a:r>
              <a:endParaRPr lang="en-US" altLang="zh-CN" sz="2800" b="1">
                <a:latin typeface="Times New Roman" panose="02020603050405020304" pitchFamily="18" charset="0"/>
                <a:ea typeface="宋体" panose="02010600030101010101" pitchFamily="2" charset="-122"/>
              </a:endParaRPr>
            </a:p>
          </p:txBody>
        </p:sp>
        <p:sp>
          <p:nvSpPr>
            <p:cNvPr id="456720" name="Rectangle 17"/>
            <p:cNvSpPr>
              <a:spLocks noChangeArrowheads="1"/>
            </p:cNvSpPr>
            <p:nvPr/>
          </p:nvSpPr>
          <p:spPr bwMode="auto">
            <a:xfrm>
              <a:off x="4285010" y="4787677"/>
              <a:ext cx="821878"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0000</a:t>
              </a:r>
              <a:endParaRPr lang="en-US" altLang="zh-CN" sz="2800" b="1">
                <a:latin typeface="Times New Roman" panose="02020603050405020304" pitchFamily="18" charset="0"/>
                <a:ea typeface="宋体" panose="02010600030101010101" pitchFamily="2" charset="-122"/>
              </a:endParaRPr>
            </a:p>
          </p:txBody>
        </p:sp>
        <p:sp>
          <p:nvSpPr>
            <p:cNvPr id="456721" name="Rectangle 18"/>
            <p:cNvSpPr>
              <a:spLocks noChangeArrowheads="1"/>
            </p:cNvSpPr>
            <p:nvPr/>
          </p:nvSpPr>
          <p:spPr bwMode="auto">
            <a:xfrm>
              <a:off x="4493914" y="5140102"/>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1100</a:t>
              </a:r>
              <a:endParaRPr lang="en-US" altLang="zh-CN" sz="2800" b="1">
                <a:latin typeface="Times New Roman" panose="02020603050405020304" pitchFamily="18" charset="0"/>
                <a:ea typeface="宋体" panose="02010600030101010101" pitchFamily="2" charset="-122"/>
              </a:endParaRPr>
            </a:p>
          </p:txBody>
        </p:sp>
        <p:sp>
          <p:nvSpPr>
            <p:cNvPr id="456722" name="Rectangle 19"/>
            <p:cNvSpPr>
              <a:spLocks noChangeArrowheads="1"/>
            </p:cNvSpPr>
            <p:nvPr/>
          </p:nvSpPr>
          <p:spPr bwMode="auto">
            <a:xfrm>
              <a:off x="4490972" y="546712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23" name="Rectangle 20"/>
            <p:cNvSpPr>
              <a:spLocks noChangeArrowheads="1"/>
            </p:cNvSpPr>
            <p:nvPr/>
          </p:nvSpPr>
          <p:spPr bwMode="auto">
            <a:xfrm>
              <a:off x="4689410" y="5876703"/>
              <a:ext cx="616410"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001</a:t>
              </a:r>
              <a:endParaRPr lang="en-US" altLang="zh-CN" sz="2800" b="1">
                <a:latin typeface="Times New Roman" panose="02020603050405020304" pitchFamily="18" charset="0"/>
                <a:ea typeface="宋体" panose="02010600030101010101" pitchFamily="2" charset="-122"/>
              </a:endParaRPr>
            </a:p>
          </p:txBody>
        </p:sp>
        <p:sp>
          <p:nvSpPr>
            <p:cNvPr id="456724" name="Rectangle 21"/>
            <p:cNvSpPr>
              <a:spLocks noChangeArrowheads="1"/>
            </p:cNvSpPr>
            <p:nvPr/>
          </p:nvSpPr>
          <p:spPr bwMode="auto">
            <a:xfrm>
              <a:off x="6071115" y="5846472"/>
              <a:ext cx="3377123"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400" b="1" i="1">
                  <a:ea typeface="宋体" panose="02010600030101010101" pitchFamily="2" charset="-122"/>
                </a:rPr>
                <a:t>R</a:t>
              </a:r>
              <a:r>
                <a:rPr lang="en-US" altLang="zh-CN" sz="2400" b="1">
                  <a:ea typeface="宋体" panose="02010600030101010101" pitchFamily="2" charset="-122"/>
                </a:rPr>
                <a:t> (</a:t>
              </a:r>
              <a:r>
                <a:rPr lang="zh-CN" altLang="en-US" sz="2400" b="1">
                  <a:ea typeface="宋体" panose="02010600030101010101" pitchFamily="2" charset="-122"/>
                </a:rPr>
                <a:t>余数</a:t>
              </a:r>
              <a:r>
                <a:rPr lang="en-US" altLang="zh-CN" sz="2400" b="1">
                  <a:ea typeface="宋体" panose="02010600030101010101" pitchFamily="2" charset="-122"/>
                </a:rPr>
                <a:t>)</a:t>
              </a:r>
              <a:r>
                <a:rPr lang="zh-CN" altLang="en-US" sz="2400" b="1">
                  <a:ea typeface="宋体" panose="02010600030101010101" pitchFamily="2" charset="-122"/>
                </a:rPr>
                <a:t>，作为 </a:t>
              </a:r>
              <a:r>
                <a:rPr lang="en-US" altLang="zh-CN" sz="2400" b="1">
                  <a:ea typeface="宋体" panose="02010600030101010101" pitchFamily="2" charset="-122"/>
                </a:rPr>
                <a:t>FCS</a:t>
              </a:r>
              <a:endParaRPr lang="en-US" altLang="zh-CN" sz="2400" b="1">
                <a:latin typeface="Times New Roman" panose="02020603050405020304" pitchFamily="18" charset="0"/>
                <a:ea typeface="宋体" panose="02010600030101010101" pitchFamily="2" charset="-122"/>
              </a:endParaRPr>
            </a:p>
          </p:txBody>
        </p:sp>
        <p:sp>
          <p:nvSpPr>
            <p:cNvPr id="456725" name="Freeform 22"/>
            <p:cNvSpPr>
              <a:spLocks noChangeArrowheads="1"/>
            </p:cNvSpPr>
            <p:nvPr/>
          </p:nvSpPr>
          <p:spPr bwMode="auto">
            <a:xfrm>
              <a:off x="3199160" y="1626964"/>
              <a:ext cx="2600325" cy="454025"/>
            </a:xfrm>
            <a:custGeom>
              <a:avLst/>
              <a:gdLst>
                <a:gd name="T0" fmla="*/ 0 w 944"/>
                <a:gd name="T1" fmla="*/ 134 h 134"/>
                <a:gd name="T2" fmla="*/ 4 w 944"/>
                <a:gd name="T3" fmla="*/ 134 h 134"/>
                <a:gd name="T4" fmla="*/ 4 w 944"/>
                <a:gd name="T5" fmla="*/ 129 h 134"/>
                <a:gd name="T6" fmla="*/ 13 w 944"/>
                <a:gd name="T7" fmla="*/ 129 h 134"/>
                <a:gd name="T8" fmla="*/ 18 w 944"/>
                <a:gd name="T9" fmla="*/ 125 h 134"/>
                <a:gd name="T10" fmla="*/ 22 w 944"/>
                <a:gd name="T11" fmla="*/ 120 h 134"/>
                <a:gd name="T12" fmla="*/ 31 w 944"/>
                <a:gd name="T13" fmla="*/ 111 h 134"/>
                <a:gd name="T14" fmla="*/ 36 w 944"/>
                <a:gd name="T15" fmla="*/ 103 h 134"/>
                <a:gd name="T16" fmla="*/ 40 w 944"/>
                <a:gd name="T17" fmla="*/ 94 h 134"/>
                <a:gd name="T18" fmla="*/ 45 w 944"/>
                <a:gd name="T19" fmla="*/ 80 h 134"/>
                <a:gd name="T20" fmla="*/ 45 w 944"/>
                <a:gd name="T21" fmla="*/ 67 h 134"/>
                <a:gd name="T22" fmla="*/ 45 w 944"/>
                <a:gd name="T23" fmla="*/ 54 h 134"/>
                <a:gd name="T24" fmla="*/ 40 w 944"/>
                <a:gd name="T25" fmla="*/ 45 h 134"/>
                <a:gd name="T26" fmla="*/ 36 w 944"/>
                <a:gd name="T27" fmla="*/ 31 h 134"/>
                <a:gd name="T28" fmla="*/ 31 w 944"/>
                <a:gd name="T29" fmla="*/ 22 h 134"/>
                <a:gd name="T30" fmla="*/ 27 w 944"/>
                <a:gd name="T31" fmla="*/ 18 h 134"/>
                <a:gd name="T32" fmla="*/ 18 w 944"/>
                <a:gd name="T33" fmla="*/ 9 h 134"/>
                <a:gd name="T34" fmla="*/ 13 w 944"/>
                <a:gd name="T35" fmla="*/ 5 h 134"/>
                <a:gd name="T36" fmla="*/ 9 w 944"/>
                <a:gd name="T37" fmla="*/ 0 h 134"/>
                <a:gd name="T38" fmla="*/ 944 w 944"/>
                <a:gd name="T39"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56726" name="Line 23"/>
            <p:cNvSpPr>
              <a:spLocks noChangeShapeType="1"/>
            </p:cNvSpPr>
            <p:nvPr/>
          </p:nvSpPr>
          <p:spPr bwMode="auto">
            <a:xfrm>
              <a:off x="1937097" y="1836514"/>
              <a:ext cx="3444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27" name="Line 24"/>
            <p:cNvSpPr>
              <a:spLocks noChangeShapeType="1"/>
            </p:cNvSpPr>
            <p:nvPr/>
          </p:nvSpPr>
          <p:spPr bwMode="auto">
            <a:xfrm>
              <a:off x="4377085" y="2020664"/>
              <a:ext cx="19050" cy="43815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28" name="Line 25"/>
            <p:cNvSpPr>
              <a:spLocks noChangeShapeType="1"/>
            </p:cNvSpPr>
            <p:nvPr/>
          </p:nvSpPr>
          <p:spPr bwMode="auto">
            <a:xfrm>
              <a:off x="4561235" y="2007964"/>
              <a:ext cx="15875" cy="1141413"/>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29" name="Line 26"/>
            <p:cNvSpPr>
              <a:spLocks noChangeShapeType="1"/>
            </p:cNvSpPr>
            <p:nvPr/>
          </p:nvSpPr>
          <p:spPr bwMode="auto">
            <a:xfrm>
              <a:off x="4772372" y="2020664"/>
              <a:ext cx="25400" cy="17653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0" name="Line 27"/>
            <p:cNvSpPr>
              <a:spLocks noChangeShapeType="1"/>
            </p:cNvSpPr>
            <p:nvPr/>
          </p:nvSpPr>
          <p:spPr bwMode="auto">
            <a:xfrm>
              <a:off x="4958110" y="2020664"/>
              <a:ext cx="33337" cy="24399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1" name="Line 28"/>
            <p:cNvSpPr>
              <a:spLocks noChangeShapeType="1"/>
            </p:cNvSpPr>
            <p:nvPr/>
          </p:nvSpPr>
          <p:spPr bwMode="auto">
            <a:xfrm>
              <a:off x="3513485" y="2412777"/>
              <a:ext cx="757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2" name="Line 29"/>
            <p:cNvSpPr>
              <a:spLocks noChangeShapeType="1"/>
            </p:cNvSpPr>
            <p:nvPr/>
          </p:nvSpPr>
          <p:spPr bwMode="auto">
            <a:xfrm>
              <a:off x="3740497" y="3125564"/>
              <a:ext cx="7572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3" name="Line 30"/>
            <p:cNvSpPr>
              <a:spLocks noChangeShapeType="1"/>
            </p:cNvSpPr>
            <p:nvPr/>
          </p:nvSpPr>
          <p:spPr bwMode="auto">
            <a:xfrm>
              <a:off x="3902422" y="3812952"/>
              <a:ext cx="758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4" name="Line 31"/>
            <p:cNvSpPr>
              <a:spLocks noChangeShapeType="1"/>
            </p:cNvSpPr>
            <p:nvPr/>
          </p:nvSpPr>
          <p:spPr bwMode="auto">
            <a:xfrm>
              <a:off x="4107210" y="4500339"/>
              <a:ext cx="757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5" name="Line 32"/>
            <p:cNvSpPr>
              <a:spLocks noChangeShapeType="1"/>
            </p:cNvSpPr>
            <p:nvPr/>
          </p:nvSpPr>
          <p:spPr bwMode="auto">
            <a:xfrm>
              <a:off x="4308822" y="5175027"/>
              <a:ext cx="758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6" name="Line 33"/>
            <p:cNvSpPr>
              <a:spLocks noChangeShapeType="1"/>
            </p:cNvSpPr>
            <p:nvPr/>
          </p:nvSpPr>
          <p:spPr bwMode="auto">
            <a:xfrm>
              <a:off x="4519547" y="5860827"/>
              <a:ext cx="7572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7" name="Line 35"/>
            <p:cNvSpPr>
              <a:spLocks noChangeShapeType="1"/>
            </p:cNvSpPr>
            <p:nvPr/>
          </p:nvSpPr>
          <p:spPr bwMode="auto">
            <a:xfrm>
              <a:off x="5144327" y="2022252"/>
              <a:ext cx="39687" cy="3182937"/>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8" name="Line 38"/>
            <p:cNvSpPr>
              <a:spLocks noChangeShapeType="1"/>
            </p:cNvSpPr>
            <p:nvPr/>
          </p:nvSpPr>
          <p:spPr bwMode="auto">
            <a:xfrm flipH="1">
              <a:off x="5386636" y="1849214"/>
              <a:ext cx="5048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9" name="Line 39"/>
            <p:cNvSpPr>
              <a:spLocks noChangeShapeType="1"/>
            </p:cNvSpPr>
            <p:nvPr/>
          </p:nvSpPr>
          <p:spPr bwMode="auto">
            <a:xfrm flipH="1">
              <a:off x="5489510" y="6037039"/>
              <a:ext cx="50482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40" name="Rectangle 40"/>
            <p:cNvSpPr>
              <a:spLocks noChangeArrowheads="1"/>
            </p:cNvSpPr>
            <p:nvPr/>
          </p:nvSpPr>
          <p:spPr bwMode="auto">
            <a:xfrm>
              <a:off x="5978721" y="1204869"/>
              <a:ext cx="859686"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400" b="1" i="1">
                  <a:ea typeface="宋体" panose="02010600030101010101" pitchFamily="2" charset="-122"/>
                </a:rPr>
                <a:t>Q</a:t>
              </a:r>
              <a:r>
                <a:rPr lang="en-US" altLang="zh-CN" sz="2400" b="1">
                  <a:ea typeface="宋体" panose="02010600030101010101" pitchFamily="2" charset="-122"/>
                </a:rPr>
                <a:t> (</a:t>
              </a:r>
              <a:r>
                <a:rPr lang="zh-CN" altLang="en-US" sz="2400" b="1">
                  <a:ea typeface="宋体" panose="02010600030101010101" pitchFamily="2" charset="-122"/>
                </a:rPr>
                <a:t>商</a:t>
              </a:r>
              <a:r>
                <a:rPr lang="en-US" altLang="zh-CN" sz="2400" b="1">
                  <a:ea typeface="宋体" panose="02010600030101010101" pitchFamily="2" charset="-122"/>
                </a:rPr>
                <a:t>)</a:t>
              </a:r>
              <a:endParaRPr lang="zh-CN" altLang="en-US" sz="2400" b="1">
                <a:latin typeface="Times New Roman" panose="02020603050405020304" pitchFamily="18" charset="0"/>
                <a:ea typeface="宋体" panose="02010600030101010101" pitchFamily="2" charset="-122"/>
              </a:endParaRPr>
            </a:p>
          </p:txBody>
        </p:sp>
        <p:sp>
          <p:nvSpPr>
            <p:cNvPr id="456741" name="Line 41"/>
            <p:cNvSpPr>
              <a:spLocks noChangeShapeType="1"/>
            </p:cNvSpPr>
            <p:nvPr/>
          </p:nvSpPr>
          <p:spPr bwMode="auto">
            <a:xfrm flipH="1">
              <a:off x="5385048" y="1399952"/>
              <a:ext cx="5048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45674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E3A42E-5C27-46F3-8F6C-8B17E3881CDC}" type="slidenum">
              <a:rPr lang="zh-CN" altLang="en-US" smtClean="0"/>
              <a:pPr eaLnBrk="1" hangingPunct="1"/>
              <a:t>21</a:t>
            </a:fld>
            <a:endParaRPr lang="en-US" altLang="zh-CN" smtClean="0"/>
          </a:p>
        </p:txBody>
      </p:sp>
      <p:sp>
        <p:nvSpPr>
          <p:cNvPr id="45674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帧检验序列 </a:t>
            </a:r>
            <a:r>
              <a:rPr lang="en-US" altLang="zh-CN" smtClean="0">
                <a:ea typeface="黑体" panose="02010609060101010101" pitchFamily="49" charset="-122"/>
              </a:rPr>
              <a:t>FCS </a:t>
            </a:r>
          </a:p>
        </p:txBody>
      </p:sp>
      <p:sp>
        <p:nvSpPr>
          <p:cNvPr id="4710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在数据后面添加上的冗余码称为</a:t>
            </a:r>
            <a:r>
              <a:rPr lang="zh-CN" altLang="en-US" u="sng" dirty="0" smtClean="0">
                <a:solidFill>
                  <a:srgbClr val="FF0000"/>
                </a:solidFill>
                <a:ea typeface="黑体" panose="02010609060101010101" pitchFamily="49" charset="-122"/>
              </a:rPr>
              <a:t>帧检验序列 </a:t>
            </a:r>
            <a:r>
              <a:rPr lang="en-US" altLang="zh-CN" u="sng" dirty="0" smtClean="0">
                <a:solidFill>
                  <a:srgbClr val="FF0000"/>
                </a:solidFill>
                <a:ea typeface="黑体" panose="02010609060101010101" pitchFamily="49" charset="-122"/>
              </a:rPr>
              <a:t>FCS (Frame Check Sequence)</a:t>
            </a:r>
            <a:r>
              <a:rPr lang="zh-CN" altLang="en-US" u="sng" dirty="0" smtClean="0">
                <a:solidFill>
                  <a:srgbClr val="FF0000"/>
                </a:solidFill>
                <a:ea typeface="黑体" panose="02010609060101010101" pitchFamily="49" charset="-122"/>
              </a:rPr>
              <a:t>。</a:t>
            </a:r>
          </a:p>
          <a:p>
            <a:r>
              <a:rPr lang="zh-CN" altLang="en-US" dirty="0" smtClean="0">
                <a:ea typeface="黑体" panose="02010609060101010101" pitchFamily="49" charset="-122"/>
              </a:rPr>
              <a:t>循环冗余检验 </a:t>
            </a:r>
            <a:r>
              <a:rPr lang="en-US" altLang="zh-CN" dirty="0" smtClean="0">
                <a:ea typeface="黑体" panose="02010609060101010101" pitchFamily="49" charset="-122"/>
              </a:rPr>
              <a:t>CRC </a:t>
            </a:r>
            <a:r>
              <a:rPr lang="zh-CN" altLang="en-US" dirty="0" smtClean="0">
                <a:ea typeface="黑体" panose="02010609060101010101" pitchFamily="49" charset="-122"/>
              </a:rPr>
              <a:t>和帧检验序列 </a:t>
            </a:r>
            <a:r>
              <a:rPr lang="en-US" altLang="zh-CN" dirty="0" smtClean="0">
                <a:ea typeface="黑体" panose="02010609060101010101" pitchFamily="49" charset="-122"/>
              </a:rPr>
              <a:t>FCS </a:t>
            </a:r>
            <a:r>
              <a:rPr lang="zh-CN" altLang="en-US" dirty="0" smtClean="0">
                <a:ea typeface="黑体" panose="02010609060101010101" pitchFamily="49" charset="-122"/>
              </a:rPr>
              <a:t>并不等同。</a:t>
            </a:r>
          </a:p>
          <a:p>
            <a:pPr lvl="1"/>
            <a:r>
              <a:rPr lang="en-US" altLang="zh-CN" dirty="0" smtClean="0">
                <a:solidFill>
                  <a:srgbClr val="000099"/>
                </a:solidFill>
                <a:ea typeface="黑体" panose="02010609060101010101" pitchFamily="49" charset="-122"/>
              </a:rPr>
              <a:t>CRC </a:t>
            </a:r>
            <a:r>
              <a:rPr lang="zh-CN" altLang="en-US" dirty="0" smtClean="0">
                <a:solidFill>
                  <a:srgbClr val="000099"/>
                </a:solidFill>
                <a:ea typeface="黑体" panose="02010609060101010101" pitchFamily="49" charset="-122"/>
              </a:rPr>
              <a:t>是一种常用的检错方法，而 </a:t>
            </a:r>
            <a:r>
              <a:rPr lang="en-US" altLang="zh-CN" dirty="0" smtClean="0">
                <a:solidFill>
                  <a:srgbClr val="000099"/>
                </a:solidFill>
                <a:ea typeface="黑体" panose="02010609060101010101" pitchFamily="49" charset="-122"/>
              </a:rPr>
              <a:t>FCS </a:t>
            </a:r>
            <a:r>
              <a:rPr lang="zh-CN" altLang="en-US" dirty="0" smtClean="0">
                <a:solidFill>
                  <a:srgbClr val="000099"/>
                </a:solidFill>
                <a:ea typeface="黑体" panose="02010609060101010101" pitchFamily="49" charset="-122"/>
              </a:rPr>
              <a:t>是添加在数据后面的冗余码。</a:t>
            </a:r>
          </a:p>
          <a:p>
            <a:pPr lvl="1"/>
            <a:r>
              <a:rPr lang="en-US" altLang="zh-CN" dirty="0" smtClean="0">
                <a:solidFill>
                  <a:srgbClr val="000099"/>
                </a:solidFill>
                <a:ea typeface="黑体" panose="02010609060101010101" pitchFamily="49" charset="-122"/>
              </a:rPr>
              <a:t>FCS </a:t>
            </a:r>
            <a:r>
              <a:rPr lang="zh-CN" altLang="en-US" dirty="0" smtClean="0">
                <a:solidFill>
                  <a:srgbClr val="000099"/>
                </a:solidFill>
                <a:ea typeface="黑体" panose="02010609060101010101" pitchFamily="49" charset="-122"/>
              </a:rPr>
              <a:t>可以用 </a:t>
            </a:r>
            <a:r>
              <a:rPr lang="en-US" altLang="zh-CN" dirty="0" smtClean="0">
                <a:solidFill>
                  <a:srgbClr val="000099"/>
                </a:solidFill>
                <a:ea typeface="黑体" panose="02010609060101010101" pitchFamily="49" charset="-122"/>
              </a:rPr>
              <a:t>CRC </a:t>
            </a:r>
            <a:r>
              <a:rPr lang="zh-CN" altLang="en-US" dirty="0" smtClean="0">
                <a:solidFill>
                  <a:srgbClr val="000099"/>
                </a:solidFill>
                <a:ea typeface="黑体" panose="02010609060101010101" pitchFamily="49" charset="-122"/>
              </a:rPr>
              <a:t>这种方法得出，但 </a:t>
            </a:r>
            <a:r>
              <a:rPr lang="en-US" altLang="zh-CN" dirty="0" smtClean="0">
                <a:solidFill>
                  <a:srgbClr val="000099"/>
                </a:solidFill>
                <a:ea typeface="黑体" panose="02010609060101010101" pitchFamily="49" charset="-122"/>
              </a:rPr>
              <a:t>CRC </a:t>
            </a:r>
            <a:r>
              <a:rPr lang="zh-CN" altLang="en-US" dirty="0" smtClean="0">
                <a:solidFill>
                  <a:srgbClr val="000099"/>
                </a:solidFill>
                <a:ea typeface="黑体" panose="02010609060101010101" pitchFamily="49" charset="-122"/>
              </a:rPr>
              <a:t>并非用来获得 </a:t>
            </a:r>
            <a:r>
              <a:rPr lang="en-US" altLang="zh-CN" dirty="0" smtClean="0">
                <a:solidFill>
                  <a:srgbClr val="000099"/>
                </a:solidFill>
                <a:ea typeface="黑体" panose="02010609060101010101" pitchFamily="49" charset="-122"/>
              </a:rPr>
              <a:t>FCS </a:t>
            </a:r>
            <a:r>
              <a:rPr lang="zh-CN" altLang="en-US" dirty="0" smtClean="0">
                <a:solidFill>
                  <a:srgbClr val="000099"/>
                </a:solidFill>
                <a:ea typeface="黑体" panose="02010609060101010101" pitchFamily="49" charset="-122"/>
              </a:rPr>
              <a:t>的唯一方法。  </a:t>
            </a:r>
          </a:p>
        </p:txBody>
      </p:sp>
      <p:sp>
        <p:nvSpPr>
          <p:cNvPr id="4587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905689-93ED-4679-B034-FF48557D5ADE}" type="slidenum">
              <a:rPr lang="zh-CN" altLang="en-US" smtClean="0"/>
              <a:pPr eaLnBrk="1" hangingPunct="1"/>
              <a:t>22</a:t>
            </a:fld>
            <a:endParaRPr lang="en-US" altLang="zh-CN" smtClean="0"/>
          </a:p>
        </p:txBody>
      </p:sp>
      <p:sp>
        <p:nvSpPr>
          <p:cNvPr id="4587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1"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接收端对收到的每一帧进行 </a:t>
            </a:r>
            <a:r>
              <a:rPr lang="en-US" altLang="zh-CN" sz="3600" smtClean="0">
                <a:ea typeface="黑体" panose="02010609060101010101" pitchFamily="49" charset="-122"/>
              </a:rPr>
              <a:t>CRC </a:t>
            </a:r>
            <a:r>
              <a:rPr lang="zh-CN" altLang="en-US" sz="3600" smtClean="0">
                <a:ea typeface="黑体" panose="02010609060101010101" pitchFamily="49" charset="-122"/>
              </a:rPr>
              <a:t>检验 </a:t>
            </a:r>
          </a:p>
        </p:txBody>
      </p:sp>
      <p:sp>
        <p:nvSpPr>
          <p:cNvPr id="150531" name="Rectangle 3"/>
          <p:cNvSpPr>
            <a:spLocks noGrp="1" noChangeArrowheads="1"/>
          </p:cNvSpPr>
          <p:nvPr>
            <p:ph idx="1"/>
          </p:nvPr>
        </p:nvSpPr>
        <p:spPr>
          <a:xfrm>
            <a:off x="495300" y="1196975"/>
            <a:ext cx="9066213" cy="4933950"/>
          </a:xfrm>
        </p:spPr>
        <p:txBody>
          <a:bodyPr/>
          <a:lstStyle/>
          <a:p>
            <a:pPr marL="0" indent="0" algn="just">
              <a:lnSpc>
                <a:spcPct val="100000"/>
              </a:lnSpc>
              <a:buNone/>
            </a:pPr>
            <a:r>
              <a:rPr lang="en-US" altLang="zh-CN" dirty="0" smtClean="0">
                <a:ea typeface="黑体" panose="02010609060101010101" pitchFamily="49" charset="-122"/>
              </a:rPr>
              <a:t>(1) </a:t>
            </a:r>
            <a:r>
              <a:rPr lang="zh-CN" altLang="en-US" dirty="0" smtClean="0">
                <a:ea typeface="黑体" panose="02010609060101010101" pitchFamily="49" charset="-122"/>
              </a:rPr>
              <a:t>若得出的余数 </a:t>
            </a:r>
            <a:r>
              <a:rPr lang="en-US" altLang="zh-CN" i="1" dirty="0" smtClean="0">
                <a:ea typeface="黑体" panose="02010609060101010101" pitchFamily="49" charset="-122"/>
              </a:rPr>
              <a:t>R</a:t>
            </a:r>
            <a:r>
              <a:rPr lang="en-US" altLang="zh-CN" dirty="0" smtClean="0">
                <a:ea typeface="黑体" panose="02010609060101010101" pitchFamily="49" charset="-122"/>
              </a:rPr>
              <a:t> = 0</a:t>
            </a:r>
            <a:r>
              <a:rPr lang="zh-CN" altLang="en-US" dirty="0" smtClean="0">
                <a:ea typeface="黑体" panose="02010609060101010101" pitchFamily="49" charset="-122"/>
              </a:rPr>
              <a:t>，则判定这个帧没有差错，就</a:t>
            </a:r>
            <a:r>
              <a:rPr lang="zh-CN" altLang="en-US" dirty="0" smtClean="0">
                <a:solidFill>
                  <a:srgbClr val="FF0000"/>
                </a:solidFill>
                <a:ea typeface="黑体" panose="02010609060101010101" pitchFamily="49" charset="-122"/>
              </a:rPr>
              <a:t>接受 </a:t>
            </a:r>
            <a:r>
              <a:rPr lang="en-US" altLang="zh-CN" dirty="0" smtClean="0">
                <a:ea typeface="黑体" panose="02010609060101010101" pitchFamily="49" charset="-122"/>
              </a:rPr>
              <a:t>(accept)</a:t>
            </a:r>
            <a:r>
              <a:rPr lang="zh-CN" altLang="en-US" dirty="0" smtClean="0">
                <a:ea typeface="黑体" panose="02010609060101010101" pitchFamily="49" charset="-122"/>
              </a:rPr>
              <a:t>。</a:t>
            </a:r>
          </a:p>
          <a:p>
            <a:pPr marL="0" indent="0" algn="just">
              <a:lnSpc>
                <a:spcPct val="100000"/>
              </a:lnSpc>
              <a:buNone/>
            </a:pPr>
            <a:r>
              <a:rPr lang="en-US" altLang="zh-CN" dirty="0" smtClean="0">
                <a:ea typeface="黑体" panose="02010609060101010101" pitchFamily="49" charset="-122"/>
              </a:rPr>
              <a:t>(2) </a:t>
            </a:r>
            <a:r>
              <a:rPr lang="zh-CN" altLang="en-US" dirty="0" smtClean="0">
                <a:ea typeface="黑体" panose="02010609060101010101" pitchFamily="49" charset="-122"/>
              </a:rPr>
              <a:t>若余数 </a:t>
            </a:r>
            <a:r>
              <a:rPr lang="en-US" altLang="zh-CN" i="1" dirty="0" smtClean="0">
                <a:ea typeface="黑体" panose="02010609060101010101" pitchFamily="49" charset="-122"/>
              </a:rPr>
              <a:t>R</a:t>
            </a:r>
            <a:r>
              <a:rPr lang="en-US" altLang="zh-CN" dirty="0" smtClean="0">
                <a:ea typeface="黑体" panose="02010609060101010101" pitchFamily="49" charset="-122"/>
              </a:rPr>
              <a:t>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0</a:t>
            </a:r>
            <a:r>
              <a:rPr lang="zh-CN" altLang="en-US" dirty="0" smtClean="0">
                <a:ea typeface="黑体" panose="02010609060101010101" pitchFamily="49" charset="-122"/>
              </a:rPr>
              <a:t>，则判定这个帧有差错，就</a:t>
            </a:r>
            <a:r>
              <a:rPr lang="zh-CN" altLang="en-US" dirty="0" smtClean="0">
                <a:solidFill>
                  <a:srgbClr val="FF0000"/>
                </a:solidFill>
                <a:ea typeface="黑体" panose="02010609060101010101" pitchFamily="49" charset="-122"/>
              </a:rPr>
              <a:t>丢弃。</a:t>
            </a:r>
          </a:p>
          <a:p>
            <a:pPr algn="just">
              <a:lnSpc>
                <a:spcPct val="100000"/>
              </a:lnSpc>
            </a:pPr>
            <a:r>
              <a:rPr lang="zh-CN" altLang="en-US" dirty="0" smtClean="0">
                <a:ea typeface="黑体" panose="02010609060101010101" pitchFamily="49" charset="-122"/>
              </a:rPr>
              <a:t>但这种检测方法并不能确定究竟是哪一个或哪几个比特出现了差错。</a:t>
            </a:r>
          </a:p>
          <a:p>
            <a:pPr algn="just">
              <a:lnSpc>
                <a:spcPct val="100000"/>
              </a:lnSpc>
            </a:pPr>
            <a:r>
              <a:rPr lang="zh-CN" altLang="en-US" dirty="0" smtClean="0">
                <a:ea typeface="黑体" panose="02010609060101010101" pitchFamily="49" charset="-122"/>
              </a:rPr>
              <a:t>只要经过严格的挑选，并使用位数足够多的除数</a:t>
            </a:r>
            <a:r>
              <a:rPr lang="zh-CN" altLang="en-US" sz="1000" dirty="0" smtClean="0">
                <a:ea typeface="黑体" panose="02010609060101010101" pitchFamily="49" charset="-122"/>
              </a:rPr>
              <a:t> </a:t>
            </a:r>
            <a:r>
              <a:rPr lang="en-US" altLang="zh-CN" i="1" dirty="0" smtClean="0">
                <a:ea typeface="黑体" panose="02010609060101010101" pitchFamily="49" charset="-122"/>
              </a:rPr>
              <a:t>P</a:t>
            </a:r>
            <a:r>
              <a:rPr lang="zh-CN" altLang="en-US" dirty="0" smtClean="0">
                <a:ea typeface="黑体" panose="02010609060101010101" pitchFamily="49" charset="-122"/>
              </a:rPr>
              <a:t>，那么出现检测不到的差错的概率就很小很小。 </a:t>
            </a:r>
          </a:p>
        </p:txBody>
      </p:sp>
      <p:sp>
        <p:nvSpPr>
          <p:cNvPr id="460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F32E34-1BB6-41D6-937C-2BFE7D8F0812}" type="slidenum">
              <a:rPr lang="zh-CN" altLang="en-US" smtClean="0"/>
              <a:pPr eaLnBrk="1" hangingPunct="1"/>
              <a:t>23</a:t>
            </a:fld>
            <a:endParaRPr lang="en-US" altLang="zh-CN" smtClean="0"/>
          </a:p>
        </p:txBody>
      </p:sp>
      <p:sp>
        <p:nvSpPr>
          <p:cNvPr id="460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CRC</a:t>
            </a:r>
            <a:r>
              <a:rPr lang="zh-CN" altLang="en-US" dirty="0" smtClean="0"/>
              <a:t>中除数的多项式表示法</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P=1 1 0 1 P(X)=X</a:t>
            </a:r>
            <a:r>
              <a:rPr lang="en-US" altLang="zh-CN" baseline="30000" dirty="0" smtClean="0"/>
              <a:t>3</a:t>
            </a:r>
            <a:r>
              <a:rPr lang="en-US" altLang="zh-CN" dirty="0" smtClean="0"/>
              <a:t>+X</a:t>
            </a:r>
            <a:r>
              <a:rPr lang="en-US" altLang="zh-CN" baseline="30000" dirty="0" smtClean="0"/>
              <a:t>2</a:t>
            </a:r>
            <a:r>
              <a:rPr lang="en-US" altLang="zh-CN" dirty="0" smtClean="0"/>
              <a:t>+1</a:t>
            </a:r>
          </a:p>
          <a:p>
            <a:pPr marL="0" indent="0">
              <a:buNone/>
            </a:pPr>
            <a:r>
              <a:rPr lang="en-US" altLang="zh-CN" dirty="0"/>
              <a:t> </a:t>
            </a:r>
            <a:r>
              <a:rPr lang="en-US" altLang="zh-CN" dirty="0" smtClean="0"/>
              <a:t>    3 2 1 0  </a:t>
            </a:r>
            <a:r>
              <a:rPr lang="zh-CN" altLang="en-US" dirty="0" smtClean="0"/>
              <a:t>位对应为</a:t>
            </a:r>
            <a:r>
              <a:rPr lang="en-US" altLang="zh-CN" dirty="0" smtClean="0"/>
              <a:t>X</a:t>
            </a:r>
            <a:r>
              <a:rPr lang="zh-CN" altLang="en-US" dirty="0" smtClean="0"/>
              <a:t>的次幂</a:t>
            </a:r>
            <a:endParaRPr lang="en-US" altLang="zh-CN" dirty="0" smtClean="0"/>
          </a:p>
          <a:p>
            <a:pPr marL="0" indent="0">
              <a:buNone/>
            </a:pPr>
            <a:r>
              <a:rPr lang="zh-CN" altLang="en-US" dirty="0" smtClean="0"/>
              <a:t>例如：常用的多项式</a:t>
            </a:r>
            <a:endParaRPr lang="en-US" altLang="zh-CN" dirty="0" smtClean="0"/>
          </a:p>
          <a:p>
            <a:pPr marL="0" indent="0">
              <a:buNone/>
            </a:pPr>
            <a:r>
              <a:rPr lang="en-US" altLang="zh-CN" dirty="0" smtClean="0"/>
              <a:t>CRC-16=X</a:t>
            </a:r>
            <a:r>
              <a:rPr lang="en-US" altLang="zh-CN" baseline="30000" dirty="0"/>
              <a:t>16</a:t>
            </a:r>
            <a:r>
              <a:rPr lang="en-US" altLang="zh-CN" dirty="0" smtClean="0"/>
              <a:t>+X</a:t>
            </a:r>
            <a:r>
              <a:rPr lang="en-US" altLang="zh-CN" baseline="30000" dirty="0"/>
              <a:t>15</a:t>
            </a:r>
            <a:r>
              <a:rPr lang="en-US" altLang="zh-CN" dirty="0" smtClean="0"/>
              <a:t>+X</a:t>
            </a:r>
            <a:r>
              <a:rPr lang="en-US" altLang="zh-CN" baseline="30000" dirty="0"/>
              <a:t>2</a:t>
            </a:r>
            <a:r>
              <a:rPr lang="en-US" altLang="zh-CN" dirty="0" smtClean="0"/>
              <a:t>+1</a:t>
            </a:r>
          </a:p>
          <a:p>
            <a:pPr marL="0" indent="0">
              <a:buNone/>
            </a:pPr>
            <a:r>
              <a:rPr lang="en-US" altLang="zh-CN" dirty="0" smtClean="0"/>
              <a:t>CRC-CCITT=X</a:t>
            </a:r>
            <a:r>
              <a:rPr lang="en-US" altLang="zh-CN" baseline="30000" dirty="0"/>
              <a:t>16</a:t>
            </a:r>
            <a:r>
              <a:rPr lang="en-US" altLang="zh-CN" dirty="0" smtClean="0"/>
              <a:t>+X</a:t>
            </a:r>
            <a:r>
              <a:rPr lang="en-US" altLang="zh-CN" baseline="30000" dirty="0"/>
              <a:t>12</a:t>
            </a:r>
            <a:r>
              <a:rPr lang="en-US" altLang="zh-CN" dirty="0" smtClean="0"/>
              <a:t>+X</a:t>
            </a:r>
            <a:r>
              <a:rPr lang="en-US" altLang="zh-CN" baseline="30000" dirty="0"/>
              <a:t>5</a:t>
            </a:r>
            <a:r>
              <a:rPr lang="en-US" altLang="zh-CN" dirty="0" smtClean="0"/>
              <a:t>+1</a:t>
            </a:r>
          </a:p>
          <a:p>
            <a:pPr marL="0" indent="0">
              <a:buNone/>
            </a:pPr>
            <a:r>
              <a:rPr lang="en-US" altLang="zh-CN" dirty="0" smtClean="0"/>
              <a:t>CRC-32=X</a:t>
            </a:r>
            <a:r>
              <a:rPr lang="en-US" altLang="zh-CN" baseline="30000" dirty="0" smtClean="0"/>
              <a:t>32</a:t>
            </a:r>
            <a:r>
              <a:rPr lang="en-US" altLang="zh-CN" dirty="0" smtClean="0"/>
              <a:t>+X</a:t>
            </a:r>
            <a:r>
              <a:rPr lang="en-US" altLang="zh-CN" baseline="30000" dirty="0" smtClean="0"/>
              <a:t>26</a:t>
            </a:r>
            <a:r>
              <a:rPr lang="en-US" altLang="zh-CN" dirty="0" smtClean="0"/>
              <a:t>+X</a:t>
            </a:r>
            <a:r>
              <a:rPr lang="en-US" altLang="zh-CN" baseline="30000" dirty="0" smtClean="0"/>
              <a:t>23</a:t>
            </a:r>
            <a:r>
              <a:rPr lang="en-US" altLang="zh-CN" dirty="0" smtClean="0"/>
              <a:t>+X</a:t>
            </a:r>
            <a:r>
              <a:rPr lang="en-US" altLang="zh-CN" baseline="30000" dirty="0" smtClean="0"/>
              <a:t>22</a:t>
            </a:r>
            <a:r>
              <a:rPr lang="en-US" altLang="zh-CN" dirty="0" smtClean="0"/>
              <a:t>+X</a:t>
            </a:r>
            <a:r>
              <a:rPr lang="en-US" altLang="zh-CN" baseline="30000" dirty="0" smtClean="0"/>
              <a:t>16</a:t>
            </a:r>
            <a:r>
              <a:rPr lang="en-US" altLang="zh-CN" dirty="0" smtClean="0"/>
              <a:t>+X</a:t>
            </a:r>
            <a:r>
              <a:rPr lang="en-US" altLang="zh-CN" baseline="30000" dirty="0" smtClean="0"/>
              <a:t>12</a:t>
            </a:r>
            <a:r>
              <a:rPr lang="en-US" altLang="zh-CN" dirty="0" smtClean="0"/>
              <a:t>+X</a:t>
            </a:r>
            <a:r>
              <a:rPr lang="en-US" altLang="zh-CN" baseline="30000" dirty="0" smtClean="0"/>
              <a:t>11</a:t>
            </a:r>
            <a:r>
              <a:rPr lang="en-US" altLang="zh-CN" dirty="0" smtClean="0"/>
              <a:t>+X</a:t>
            </a:r>
            <a:r>
              <a:rPr lang="en-US" altLang="zh-CN" baseline="30000" dirty="0" smtClean="0"/>
              <a:t>10</a:t>
            </a:r>
            <a:r>
              <a:rPr lang="en-US" altLang="zh-CN" dirty="0" smtClean="0"/>
              <a:t>+X</a:t>
            </a:r>
            <a:r>
              <a:rPr lang="en-US" altLang="zh-CN" baseline="30000" dirty="0" smtClean="0"/>
              <a:t>8</a:t>
            </a:r>
            <a:r>
              <a:rPr lang="en-US" altLang="zh-CN" dirty="0" smtClean="0"/>
              <a:t>+X</a:t>
            </a:r>
            <a:r>
              <a:rPr lang="en-US" altLang="zh-CN" baseline="30000" dirty="0" smtClean="0"/>
              <a:t>7</a:t>
            </a:r>
            <a:r>
              <a:rPr lang="en-US" altLang="zh-CN" dirty="0" smtClean="0"/>
              <a:t>+X</a:t>
            </a:r>
            <a:r>
              <a:rPr lang="en-US" altLang="zh-CN" baseline="30000" dirty="0" smtClean="0"/>
              <a:t>6</a:t>
            </a:r>
            <a:r>
              <a:rPr lang="en-US" altLang="zh-CN" dirty="0" smtClean="0"/>
              <a:t>+X</a:t>
            </a:r>
            <a:r>
              <a:rPr lang="en-US" altLang="zh-CN" baseline="30000" dirty="0" smtClean="0"/>
              <a:t>4</a:t>
            </a:r>
            <a:r>
              <a:rPr lang="en-US" altLang="zh-CN" dirty="0" smtClean="0"/>
              <a:t>+X</a:t>
            </a:r>
            <a:r>
              <a:rPr lang="en-US" altLang="zh-CN" baseline="30000" dirty="0" smtClean="0"/>
              <a:t>2</a:t>
            </a:r>
            <a:r>
              <a:rPr lang="en-US" altLang="zh-CN" dirty="0" smtClean="0"/>
              <a:t>+X+1</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24</a:t>
            </a:fld>
            <a:endParaRPr lang="en-US" altLang="zh-CN"/>
          </a:p>
        </p:txBody>
      </p:sp>
    </p:spTree>
    <p:extLst>
      <p:ext uri="{BB962C8B-B14F-4D97-AF65-F5344CB8AC3E}">
        <p14:creationId xmlns:p14="http://schemas.microsoft.com/office/powerpoint/2010/main" val="13782828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应当注意 </a:t>
            </a:r>
          </a:p>
        </p:txBody>
      </p:sp>
      <p:sp>
        <p:nvSpPr>
          <p:cNvPr id="149507" name="Rectangle 3"/>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仅用循环冗余检验 </a:t>
            </a:r>
            <a:r>
              <a:rPr lang="en-US" altLang="zh-CN" sz="2800" smtClean="0">
                <a:ea typeface="黑体" panose="02010609060101010101" pitchFamily="49" charset="-122"/>
              </a:rPr>
              <a:t>CRC </a:t>
            </a:r>
            <a:r>
              <a:rPr lang="zh-CN" altLang="en-US" sz="2800" smtClean="0">
                <a:ea typeface="黑体" panose="02010609060101010101" pitchFamily="49" charset="-122"/>
              </a:rPr>
              <a:t>差错检测技术只能做到</a:t>
            </a:r>
            <a:r>
              <a:rPr lang="zh-CN" altLang="en-US" sz="2800" smtClean="0">
                <a:solidFill>
                  <a:srgbClr val="FF0000"/>
                </a:solidFill>
                <a:ea typeface="黑体" panose="02010609060101010101" pitchFamily="49" charset="-122"/>
              </a:rPr>
              <a:t>无差错接受 </a:t>
            </a:r>
            <a:r>
              <a:rPr lang="en-US" altLang="zh-CN" sz="2800" smtClean="0">
                <a:ea typeface="黑体" panose="02010609060101010101" pitchFamily="49" charset="-122"/>
              </a:rPr>
              <a:t>(accept)</a:t>
            </a:r>
            <a:r>
              <a:rPr lang="zh-CN" altLang="en-US" sz="2800" smtClean="0">
                <a:ea typeface="黑体" panose="02010609060101010101" pitchFamily="49" charset="-122"/>
              </a:rPr>
              <a:t>。</a:t>
            </a:r>
          </a:p>
          <a:p>
            <a:pPr algn="just"/>
            <a:r>
              <a:rPr lang="zh-CN" altLang="en-US" sz="2800" smtClean="0">
                <a:solidFill>
                  <a:srgbClr val="0000FF"/>
                </a:solidFill>
                <a:ea typeface="黑体" panose="02010609060101010101" pitchFamily="49" charset="-122"/>
              </a:rPr>
              <a:t>“无差错接受”是指：</a:t>
            </a:r>
            <a:r>
              <a:rPr lang="zh-CN" altLang="en-US" sz="2800" smtClean="0">
                <a:ea typeface="黑体" panose="02010609060101010101" pitchFamily="49" charset="-122"/>
              </a:rPr>
              <a:t>“凡是接受的帧（即不包括丢弃的帧），我们都能以非常接近于 </a:t>
            </a:r>
            <a:r>
              <a:rPr lang="en-US" altLang="zh-CN" sz="2800" smtClean="0">
                <a:ea typeface="黑体" panose="02010609060101010101" pitchFamily="49" charset="-122"/>
              </a:rPr>
              <a:t>1 </a:t>
            </a:r>
            <a:r>
              <a:rPr lang="zh-CN" altLang="en-US" sz="2800" smtClean="0">
                <a:ea typeface="黑体" panose="02010609060101010101" pitchFamily="49" charset="-122"/>
              </a:rPr>
              <a:t>的概率认为这些帧在传输过程中没有产生差错”。</a:t>
            </a:r>
          </a:p>
          <a:p>
            <a:pPr algn="just"/>
            <a:r>
              <a:rPr lang="zh-CN" altLang="en-US" sz="2800" smtClean="0">
                <a:ea typeface="黑体" panose="02010609060101010101" pitchFamily="49" charset="-122"/>
              </a:rPr>
              <a:t>也就是说：“凡是接收端数据链路层接受的帧都没有传输差错”（有差错的帧就丢弃而不接受）。</a:t>
            </a:r>
          </a:p>
          <a:p>
            <a:pPr algn="just"/>
            <a:r>
              <a:rPr lang="zh-CN" altLang="en-US" sz="2800" smtClean="0">
                <a:solidFill>
                  <a:srgbClr val="FF0000"/>
                </a:solidFill>
                <a:ea typeface="黑体" panose="02010609060101010101" pitchFamily="49" charset="-122"/>
              </a:rPr>
              <a:t>要做到“可靠传输”（即发送什么就收到什么）就必须再加上确认和重传机制。</a:t>
            </a:r>
            <a:r>
              <a:rPr lang="zh-CN" altLang="en-US" sz="2800" smtClean="0">
                <a:solidFill>
                  <a:srgbClr val="C00000"/>
                </a:solidFill>
                <a:ea typeface="黑体" panose="02010609060101010101" pitchFamily="49" charset="-122"/>
              </a:rPr>
              <a:t>  </a:t>
            </a:r>
          </a:p>
        </p:txBody>
      </p:sp>
      <p:sp>
        <p:nvSpPr>
          <p:cNvPr id="462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FCCFCF-EF95-44DA-A966-0EC5607877A1}" type="slidenum">
              <a:rPr lang="zh-CN" altLang="en-US" smtClean="0"/>
              <a:pPr eaLnBrk="1" hangingPunct="1"/>
              <a:t>25</a:t>
            </a:fld>
            <a:endParaRPr lang="en-US" altLang="zh-CN" smtClean="0"/>
          </a:p>
        </p:txBody>
      </p:sp>
      <p:sp>
        <p:nvSpPr>
          <p:cNvPr id="462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应当注意 </a:t>
            </a:r>
          </a:p>
        </p:txBody>
      </p:sp>
      <p:sp>
        <p:nvSpPr>
          <p:cNvPr id="464898" name="Rectangle 3"/>
          <p:cNvSpPr>
            <a:spLocks noGrp="1" noChangeArrowheads="1"/>
          </p:cNvSpPr>
          <p:nvPr>
            <p:ph idx="1"/>
          </p:nvPr>
        </p:nvSpPr>
        <p:spPr>
          <a:xfrm>
            <a:off x="495300" y="1196975"/>
            <a:ext cx="9066213" cy="4933950"/>
          </a:xfrm>
        </p:spPr>
        <p:txBody>
          <a:bodyPr/>
          <a:lstStyle/>
          <a:p>
            <a:pPr algn="just"/>
            <a:r>
              <a:rPr lang="zh-CN" altLang="zh-CN" dirty="0" smtClean="0">
                <a:ea typeface="黑体" panose="02010609060101010101" pitchFamily="49" charset="-122"/>
              </a:rPr>
              <a:t>应当明确，</a:t>
            </a:r>
            <a:r>
              <a:rPr lang="zh-CN" altLang="zh-CN" dirty="0" smtClean="0">
                <a:solidFill>
                  <a:srgbClr val="FF0000"/>
                </a:solidFill>
                <a:ea typeface="黑体" panose="02010609060101010101" pitchFamily="49" charset="-122"/>
              </a:rPr>
              <a:t>“无比特差错”与“无传输差错”</a:t>
            </a:r>
            <a:r>
              <a:rPr lang="zh-CN" altLang="en-US" dirty="0" smtClean="0">
                <a:solidFill>
                  <a:srgbClr val="FF0000"/>
                </a:solidFill>
                <a:ea typeface="黑体" panose="02010609060101010101" pitchFamily="49" charset="-122"/>
              </a:rPr>
              <a:t>是</a:t>
            </a:r>
            <a:r>
              <a:rPr lang="zh-CN" altLang="zh-CN" dirty="0" smtClean="0">
                <a:solidFill>
                  <a:srgbClr val="FF0000"/>
                </a:solidFill>
                <a:ea typeface="黑体" panose="02010609060101010101" pitchFamily="49" charset="-122"/>
              </a:rPr>
              <a:t>不</a:t>
            </a:r>
            <a:r>
              <a:rPr lang="zh-CN" altLang="en-US" dirty="0" smtClean="0">
                <a:solidFill>
                  <a:srgbClr val="FF0000"/>
                </a:solidFill>
                <a:ea typeface="黑体" panose="02010609060101010101" pitchFamily="49" charset="-122"/>
              </a:rPr>
              <a:t>同</a:t>
            </a:r>
            <a:r>
              <a:rPr lang="zh-CN" altLang="zh-CN" dirty="0" smtClean="0">
                <a:solidFill>
                  <a:srgbClr val="FF0000"/>
                </a:solidFill>
                <a:ea typeface="黑体" panose="02010609060101010101" pitchFamily="49" charset="-122"/>
              </a:rPr>
              <a:t>的概念。</a:t>
            </a:r>
            <a:endParaRPr lang="en-US" altLang="zh-CN" dirty="0" smtClean="0">
              <a:solidFill>
                <a:srgbClr val="FF0000"/>
              </a:solidFill>
              <a:ea typeface="黑体" panose="02010609060101010101" pitchFamily="49" charset="-122"/>
            </a:endParaRPr>
          </a:p>
          <a:p>
            <a:pPr algn="just"/>
            <a:r>
              <a:rPr lang="zh-CN" altLang="zh-CN" dirty="0" smtClean="0">
                <a:solidFill>
                  <a:srgbClr val="0000FF"/>
                </a:solidFill>
                <a:ea typeface="黑体" panose="02010609060101010101" pitchFamily="49" charset="-122"/>
              </a:rPr>
              <a:t>在数据链路层使用</a:t>
            </a:r>
            <a:r>
              <a:rPr lang="en-US" altLang="zh-CN" dirty="0" smtClean="0">
                <a:solidFill>
                  <a:srgbClr val="0000FF"/>
                </a:solidFill>
                <a:ea typeface="黑体" panose="02010609060101010101" pitchFamily="49" charset="-122"/>
              </a:rPr>
              <a:t> CRC </a:t>
            </a:r>
            <a:r>
              <a:rPr lang="zh-CN" altLang="zh-CN" dirty="0" smtClean="0">
                <a:solidFill>
                  <a:srgbClr val="0000FF"/>
                </a:solidFill>
                <a:ea typeface="黑体" panose="02010609060101010101" pitchFamily="49" charset="-122"/>
              </a:rPr>
              <a:t>检验，能够实现无比特差错的传输，但这还不是可靠传输。</a:t>
            </a:r>
            <a:r>
              <a:rPr lang="zh-CN" altLang="en-US" dirty="0" smtClean="0">
                <a:ea typeface="黑体" panose="02010609060101010101" pitchFamily="49" charset="-122"/>
              </a:rPr>
              <a:t>可靠传输需确认重传，交由上层协议解决。</a:t>
            </a:r>
            <a:endParaRPr lang="en-US" altLang="zh-CN" dirty="0" smtClean="0">
              <a:ea typeface="黑体" panose="02010609060101010101" pitchFamily="49" charset="-122"/>
            </a:endParaRPr>
          </a:p>
          <a:p>
            <a:pPr algn="just"/>
            <a:r>
              <a:rPr lang="zh-CN" altLang="en-US" dirty="0" smtClean="0">
                <a:ea typeface="黑体" panose="02010609060101010101" pitchFamily="49" charset="-122"/>
              </a:rPr>
              <a:t>以前常用可靠的</a:t>
            </a:r>
            <a:r>
              <a:rPr lang="en-US" altLang="zh-CN" dirty="0" smtClean="0">
                <a:solidFill>
                  <a:srgbClr val="0000CC"/>
                </a:solidFill>
                <a:ea typeface="黑体" panose="02010609060101010101" pitchFamily="49" charset="-122"/>
              </a:rPr>
              <a:t>HDLC</a:t>
            </a:r>
            <a:r>
              <a:rPr lang="zh-CN" altLang="en-US" dirty="0" smtClean="0">
                <a:solidFill>
                  <a:srgbClr val="0000CC"/>
                </a:solidFill>
                <a:ea typeface="黑体" panose="02010609060101010101" pitchFamily="49" charset="-122"/>
              </a:rPr>
              <a:t>（</a:t>
            </a:r>
            <a:r>
              <a:rPr lang="en-US" altLang="zh-CN" dirty="0" smtClean="0">
                <a:solidFill>
                  <a:srgbClr val="0000CC"/>
                </a:solidFill>
                <a:ea typeface="黑体" panose="02010609060101010101" pitchFamily="49" charset="-122"/>
              </a:rPr>
              <a:t>High-level Data Link Control</a:t>
            </a:r>
            <a:r>
              <a:rPr lang="zh-CN" altLang="en-US" dirty="0" smtClean="0">
                <a:solidFill>
                  <a:srgbClr val="0000CC"/>
                </a:solidFill>
                <a:ea typeface="黑体" panose="02010609060101010101" pitchFamily="49" charset="-122"/>
              </a:rPr>
              <a:t>）高级数据链路控制协议</a:t>
            </a:r>
            <a:r>
              <a:rPr lang="zh-CN" altLang="en-US" dirty="0" smtClean="0">
                <a:ea typeface="黑体" panose="02010609060101010101" pitchFamily="49" charset="-122"/>
              </a:rPr>
              <a:t>，现在常用</a:t>
            </a:r>
            <a:r>
              <a:rPr lang="zh-CN" altLang="zh-CN" dirty="0" smtClean="0">
                <a:ea typeface="黑体" panose="02010609060101010101" pitchFamily="49" charset="-122"/>
              </a:rPr>
              <a:t>本章介绍的</a:t>
            </a:r>
            <a:r>
              <a:rPr lang="zh-CN" altLang="en-US" dirty="0" smtClean="0">
                <a:ea typeface="黑体" panose="02010609060101010101" pitchFamily="49" charset="-122"/>
              </a:rPr>
              <a:t>简单高效的</a:t>
            </a:r>
            <a:r>
              <a:rPr lang="zh-CN" altLang="zh-CN" dirty="0" smtClean="0">
                <a:ea typeface="黑体" panose="02010609060101010101" pitchFamily="49" charset="-122"/>
              </a:rPr>
              <a:t>数据链路层协议</a:t>
            </a:r>
            <a:r>
              <a:rPr lang="zh-CN" altLang="en-US" dirty="0" smtClean="0">
                <a:ea typeface="黑体" panose="02010609060101010101" pitchFamily="49" charset="-122"/>
              </a:rPr>
              <a:t>，它们</a:t>
            </a:r>
            <a:r>
              <a:rPr lang="zh-CN" altLang="zh-CN" dirty="0" smtClean="0">
                <a:ea typeface="黑体" panose="02010609060101010101" pitchFamily="49" charset="-122"/>
              </a:rPr>
              <a:t>都不是可靠传输的协议。</a:t>
            </a:r>
            <a:endParaRPr lang="en-US" altLang="zh-CN" dirty="0" smtClean="0">
              <a:solidFill>
                <a:srgbClr val="0000FF"/>
              </a:solidFill>
              <a:ea typeface="黑体" panose="02010609060101010101" pitchFamily="49" charset="-122"/>
            </a:endParaRPr>
          </a:p>
          <a:p>
            <a:pPr algn="just"/>
            <a:endParaRPr lang="zh-CN" altLang="zh-CN" dirty="0" smtClean="0">
              <a:ea typeface="黑体" panose="02010609060101010101" pitchFamily="49" charset="-122"/>
            </a:endParaRPr>
          </a:p>
          <a:p>
            <a:pPr algn="just"/>
            <a:endParaRPr lang="zh-CN" altLang="en-US" dirty="0" smtClean="0">
              <a:solidFill>
                <a:srgbClr val="C00000"/>
              </a:solidFill>
              <a:ea typeface="黑体" panose="02010609060101010101" pitchFamily="49" charset="-122"/>
            </a:endParaRPr>
          </a:p>
        </p:txBody>
      </p:sp>
      <p:sp>
        <p:nvSpPr>
          <p:cNvPr id="464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7E3A0B-2A2C-4CCC-94B3-76A451797495}" type="slidenum">
              <a:rPr lang="zh-CN" altLang="en-US" smtClean="0"/>
              <a:pPr eaLnBrk="1" hangingPunct="1"/>
              <a:t>26</a:t>
            </a:fld>
            <a:endParaRPr lang="en-US" altLang="zh-CN" smtClean="0"/>
          </a:p>
        </p:txBody>
      </p:sp>
      <p:sp>
        <p:nvSpPr>
          <p:cNvPr id="464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3.2  </a:t>
            </a:r>
            <a:r>
              <a:rPr lang="zh-CN" altLang="zh-CN" smtClean="0">
                <a:ea typeface="黑体" panose="02010609060101010101" pitchFamily="49" charset="-122"/>
              </a:rPr>
              <a:t>点对点协议</a:t>
            </a:r>
            <a:r>
              <a:rPr lang="en-US" altLang="zh-CN" smtClean="0">
                <a:ea typeface="黑体" panose="02010609060101010101" pitchFamily="49" charset="-122"/>
              </a:rPr>
              <a:t> PPP</a:t>
            </a:r>
            <a:endParaRPr lang="zh-CN" altLang="en-US" smtClean="0">
              <a:ea typeface="黑体" panose="02010609060101010101" pitchFamily="49" charset="-122"/>
            </a:endParaRPr>
          </a:p>
        </p:txBody>
      </p:sp>
      <p:sp>
        <p:nvSpPr>
          <p:cNvPr id="46694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3.2.1  PPP </a:t>
            </a:r>
            <a:r>
              <a:rPr lang="zh-CN" altLang="zh-CN" smtClean="0">
                <a:ea typeface="黑体" panose="02010609060101010101" pitchFamily="49" charset="-122"/>
              </a:rPr>
              <a:t>协议的特点</a:t>
            </a:r>
          </a:p>
          <a:p>
            <a:r>
              <a:rPr lang="en-US" altLang="zh-CN" smtClean="0">
                <a:ea typeface="黑体" panose="02010609060101010101" pitchFamily="49" charset="-122"/>
              </a:rPr>
              <a:t>3.2.2  PPP </a:t>
            </a:r>
            <a:r>
              <a:rPr lang="zh-CN" altLang="zh-CN" smtClean="0">
                <a:ea typeface="黑体" panose="02010609060101010101" pitchFamily="49" charset="-122"/>
              </a:rPr>
              <a:t>协议的帧格式</a:t>
            </a:r>
          </a:p>
          <a:p>
            <a:r>
              <a:rPr lang="en-US" altLang="zh-CN" smtClean="0">
                <a:ea typeface="黑体" panose="02010609060101010101" pitchFamily="49" charset="-122"/>
              </a:rPr>
              <a:t>3.2.3  PPP </a:t>
            </a:r>
            <a:r>
              <a:rPr lang="zh-CN" altLang="zh-CN" smtClean="0">
                <a:ea typeface="黑体" panose="02010609060101010101" pitchFamily="49" charset="-122"/>
              </a:rPr>
              <a:t>协议的工作状态</a:t>
            </a:r>
          </a:p>
        </p:txBody>
      </p:sp>
      <p:sp>
        <p:nvSpPr>
          <p:cNvPr id="4669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1AF937-A639-4DFF-AC80-40959BEADB6B}" type="slidenum">
              <a:rPr lang="zh-CN" altLang="en-US" smtClean="0"/>
              <a:pPr eaLnBrk="1" hangingPunct="1"/>
              <a:t>27</a:t>
            </a:fld>
            <a:endParaRPr lang="en-US" altLang="zh-CN" smtClean="0"/>
          </a:p>
        </p:txBody>
      </p:sp>
      <p:sp>
        <p:nvSpPr>
          <p:cNvPr id="4669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3.2.1  PPP </a:t>
            </a:r>
            <a:r>
              <a:rPr lang="zh-CN" altLang="en-US" smtClean="0">
                <a:ea typeface="黑体" panose="02010609060101010101" pitchFamily="49" charset="-122"/>
              </a:rPr>
              <a:t>协议的特点 </a:t>
            </a:r>
          </a:p>
        </p:txBody>
      </p:sp>
      <p:sp>
        <p:nvSpPr>
          <p:cNvPr id="190467"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对于点对点的链路</a:t>
            </a:r>
            <a:r>
              <a:rPr lang="zh-CN" altLang="en-US" dirty="0" smtClean="0">
                <a:ea typeface="黑体" panose="02010609060101010101" pitchFamily="49" charset="-122"/>
              </a:rPr>
              <a:t>，</a:t>
            </a:r>
            <a:r>
              <a:rPr lang="zh-CN" altLang="zh-CN" dirty="0" smtClean="0">
                <a:ea typeface="黑体" panose="02010609060101010101" pitchFamily="49" charset="-122"/>
              </a:rPr>
              <a:t>目前使用得最广泛的数据链路层协议</a:t>
            </a:r>
            <a:r>
              <a:rPr lang="zh-CN" altLang="en-US" dirty="0" smtClean="0">
                <a:ea typeface="黑体" panose="02010609060101010101" pitchFamily="49" charset="-122"/>
              </a:rPr>
              <a:t>是</a:t>
            </a:r>
            <a:r>
              <a:rPr lang="zh-CN" altLang="en-US" u="sng" dirty="0" smtClean="0">
                <a:solidFill>
                  <a:srgbClr val="FF0000"/>
                </a:solidFill>
                <a:ea typeface="黑体" panose="02010609060101010101" pitchFamily="49" charset="-122"/>
              </a:rPr>
              <a:t>点对点协议 </a:t>
            </a:r>
            <a:r>
              <a:rPr lang="en-US" altLang="zh-CN" u="sng" dirty="0" smtClean="0">
                <a:solidFill>
                  <a:srgbClr val="FF0000"/>
                </a:solidFill>
                <a:ea typeface="黑体" panose="02010609060101010101" pitchFamily="49" charset="-122"/>
              </a:rPr>
              <a:t>PPP (Point-to-Point Protocol)</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用户使用拨号电话线接入互联网时，</a:t>
            </a:r>
            <a:r>
              <a:rPr lang="en-US" altLang="zh-CN" dirty="0" smtClean="0">
                <a:ea typeface="黑体" panose="02010609060101010101" pitchFamily="49" charset="-122"/>
              </a:rPr>
              <a:t> </a:t>
            </a:r>
            <a:r>
              <a:rPr lang="zh-CN" altLang="zh-CN" dirty="0" smtClean="0">
                <a:ea typeface="黑体" panose="02010609060101010101" pitchFamily="49" charset="-122"/>
              </a:rPr>
              <a:t>用户计算机和</a:t>
            </a:r>
            <a:r>
              <a:rPr lang="en-US" altLang="zh-CN" dirty="0" smtClean="0">
                <a:ea typeface="黑体" panose="02010609060101010101" pitchFamily="49" charset="-122"/>
              </a:rPr>
              <a:t> ISP </a:t>
            </a:r>
            <a:r>
              <a:rPr lang="zh-CN" altLang="zh-CN" dirty="0" smtClean="0">
                <a:ea typeface="黑体" panose="02010609060101010101" pitchFamily="49" charset="-122"/>
              </a:rPr>
              <a:t>进行通信时所使用的数据链路层协议就是</a:t>
            </a:r>
            <a:r>
              <a:rPr lang="en-US" altLang="zh-CN" dirty="0" smtClean="0">
                <a:ea typeface="黑体" panose="02010609060101010101" pitchFamily="49" charset="-122"/>
              </a:rPr>
              <a:t> PPP </a:t>
            </a:r>
            <a:r>
              <a:rPr lang="zh-CN" altLang="zh-CN" dirty="0" smtClean="0">
                <a:ea typeface="黑体" panose="02010609060101010101" pitchFamily="49" charset="-122"/>
              </a:rPr>
              <a:t>协议</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PPP </a:t>
            </a:r>
            <a:r>
              <a:rPr lang="zh-CN" altLang="zh-CN" dirty="0" smtClean="0">
                <a:ea typeface="黑体" panose="02010609060101010101" pitchFamily="49" charset="-122"/>
              </a:rPr>
              <a:t>协议在</a:t>
            </a:r>
            <a:r>
              <a:rPr lang="en-US" altLang="zh-CN" dirty="0" smtClean="0">
                <a:ea typeface="黑体" panose="02010609060101010101" pitchFamily="49" charset="-122"/>
              </a:rPr>
              <a:t>1994</a:t>
            </a:r>
            <a:r>
              <a:rPr lang="zh-CN" altLang="zh-CN" dirty="0" smtClean="0">
                <a:ea typeface="黑体" panose="02010609060101010101" pitchFamily="49" charset="-122"/>
              </a:rPr>
              <a:t>年就已成为互联网的正式标准</a:t>
            </a:r>
            <a:r>
              <a:rPr lang="zh-CN" altLang="en-US" dirty="0" smtClean="0">
                <a:ea typeface="黑体" panose="02010609060101010101" pitchFamily="49" charset="-122"/>
              </a:rPr>
              <a:t>。</a:t>
            </a:r>
            <a:endParaRPr lang="en-US" altLang="zh-CN" dirty="0" smtClean="0">
              <a:ea typeface="黑体" panose="02010609060101010101" pitchFamily="49" charset="-122"/>
            </a:endParaRPr>
          </a:p>
        </p:txBody>
      </p:sp>
      <p:sp>
        <p:nvSpPr>
          <p:cNvPr id="467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D946FB5-B530-464A-8549-903BEC037F2B}" type="slidenum">
              <a:rPr lang="zh-CN" altLang="en-US" smtClean="0"/>
              <a:pPr eaLnBrk="1" hangingPunct="1"/>
              <a:t>28</a:t>
            </a:fld>
            <a:endParaRPr lang="en-US" altLang="zh-CN" smtClean="0"/>
          </a:p>
        </p:txBody>
      </p:sp>
      <p:sp>
        <p:nvSpPr>
          <p:cNvPr id="467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0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7" name="Rectangle 2"/>
          <p:cNvSpPr>
            <a:spLocks noGrp="1" noChangeArrowheads="1"/>
          </p:cNvSpPr>
          <p:nvPr>
            <p:ph type="title"/>
          </p:nvPr>
        </p:nvSpPr>
        <p:spPr/>
        <p:txBody>
          <a:bodyPr/>
          <a:lstStyle/>
          <a:p>
            <a:pPr algn="ctr"/>
            <a:r>
              <a:rPr lang="zh-CN" altLang="en-US" sz="4000" smtClean="0">
                <a:ea typeface="黑体" panose="02010609060101010101" pitchFamily="49" charset="-122"/>
              </a:rPr>
              <a:t>用户到 </a:t>
            </a:r>
            <a:r>
              <a:rPr lang="en-US" altLang="zh-CN" sz="4000" smtClean="0">
                <a:ea typeface="黑体" panose="02010609060101010101" pitchFamily="49" charset="-122"/>
              </a:rPr>
              <a:t>ISP </a:t>
            </a:r>
            <a:r>
              <a:rPr lang="zh-CN" altLang="en-US" sz="4000" smtClean="0">
                <a:ea typeface="黑体" panose="02010609060101010101" pitchFamily="49" charset="-122"/>
              </a:rPr>
              <a:t>的链路使用 </a:t>
            </a:r>
            <a:r>
              <a:rPr lang="en-US" altLang="zh-CN" sz="4000" smtClean="0">
                <a:ea typeface="黑体" panose="02010609060101010101" pitchFamily="49" charset="-122"/>
              </a:rPr>
              <a:t>PPP </a:t>
            </a:r>
            <a:r>
              <a:rPr lang="zh-CN" altLang="en-US" sz="4000" smtClean="0">
                <a:ea typeface="黑体" panose="02010609060101010101" pitchFamily="49" charset="-122"/>
              </a:rPr>
              <a:t>协议 </a:t>
            </a:r>
          </a:p>
        </p:txBody>
      </p:sp>
      <p:grpSp>
        <p:nvGrpSpPr>
          <p:cNvPr id="470018" name="组合 1"/>
          <p:cNvGrpSpPr>
            <a:grpSpLocks/>
          </p:cNvGrpSpPr>
          <p:nvPr/>
        </p:nvGrpSpPr>
        <p:grpSpPr bwMode="auto">
          <a:xfrm>
            <a:off x="261938" y="1916113"/>
            <a:ext cx="9558337" cy="3065462"/>
            <a:chOff x="261778" y="1916832"/>
            <a:chExt cx="9558149" cy="3065165"/>
          </a:xfrm>
        </p:grpSpPr>
        <p:sp>
          <p:nvSpPr>
            <p:cNvPr id="470019" name="Line 53"/>
            <p:cNvSpPr>
              <a:spLocks noChangeShapeType="1"/>
            </p:cNvSpPr>
            <p:nvPr/>
          </p:nvSpPr>
          <p:spPr bwMode="auto">
            <a:xfrm>
              <a:off x="1052512" y="4725119"/>
              <a:ext cx="4368271"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20" name="Oval 54"/>
            <p:cNvSpPr>
              <a:spLocks noChangeArrowheads="1"/>
            </p:cNvSpPr>
            <p:nvPr/>
          </p:nvSpPr>
          <p:spPr bwMode="auto">
            <a:xfrm>
              <a:off x="2691475" y="1916832"/>
              <a:ext cx="1014677" cy="2520950"/>
            </a:xfrm>
            <a:prstGeom prst="ellipse">
              <a:avLst/>
            </a:prstGeom>
            <a:solidFill>
              <a:srgbClr val="CCFFFF">
                <a:alpha val="50000"/>
              </a:srgbClr>
            </a:soli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70021" name="Text Box 55"/>
            <p:cNvSpPr txBox="1">
              <a:spLocks noChangeArrowheads="1"/>
            </p:cNvSpPr>
            <p:nvPr/>
          </p:nvSpPr>
          <p:spPr bwMode="auto">
            <a:xfrm>
              <a:off x="261778" y="2721446"/>
              <a:ext cx="49404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用</a:t>
              </a:r>
            </a:p>
            <a:p>
              <a:pPr eaLnBrk="0" hangingPunct="0"/>
              <a:endParaRPr lang="zh-CN" altLang="en-US" sz="2400" b="1">
                <a:solidFill>
                  <a:srgbClr val="000099"/>
                </a:solidFill>
                <a:ea typeface="黑体" panose="02010609060101010101" pitchFamily="49" charset="-122"/>
              </a:endParaRPr>
            </a:p>
            <a:p>
              <a:pPr eaLnBrk="0" hangingPunct="0"/>
              <a:r>
                <a:rPr lang="zh-CN" altLang="en-US" sz="2400" b="1">
                  <a:solidFill>
                    <a:srgbClr val="000099"/>
                  </a:solidFill>
                  <a:ea typeface="黑体" panose="02010609060101010101" pitchFamily="49" charset="-122"/>
                </a:rPr>
                <a:t>户</a:t>
              </a:r>
            </a:p>
          </p:txBody>
        </p:sp>
        <p:sp>
          <p:nvSpPr>
            <p:cNvPr id="470022" name="Text Box 56"/>
            <p:cNvSpPr txBox="1">
              <a:spLocks noChangeArrowheads="1"/>
            </p:cNvSpPr>
            <p:nvPr/>
          </p:nvSpPr>
          <p:spPr bwMode="auto">
            <a:xfrm>
              <a:off x="8397743" y="2865462"/>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至互联网</a:t>
              </a:r>
              <a:endParaRPr lang="zh-CN" altLang="en-US" sz="2400" b="1">
                <a:solidFill>
                  <a:srgbClr val="00FF00"/>
                </a:solidFill>
                <a:ea typeface="黑体" panose="02010609060101010101" pitchFamily="49" charset="-122"/>
              </a:endParaRPr>
            </a:p>
          </p:txBody>
        </p:sp>
        <p:sp>
          <p:nvSpPr>
            <p:cNvPr id="470023" name="Rectangle 58"/>
            <p:cNvSpPr>
              <a:spLocks noChangeArrowheads="1"/>
            </p:cNvSpPr>
            <p:nvPr/>
          </p:nvSpPr>
          <p:spPr bwMode="auto">
            <a:xfrm>
              <a:off x="5453460" y="2134320"/>
              <a:ext cx="2385351" cy="2232025"/>
            </a:xfrm>
            <a:prstGeom prst="rect">
              <a:avLst/>
            </a:prstGeom>
            <a:solidFill>
              <a:srgbClr val="FF99FF"/>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70024" name="Text Box 59"/>
            <p:cNvSpPr txBox="1">
              <a:spLocks noChangeArrowheads="1"/>
            </p:cNvSpPr>
            <p:nvPr/>
          </p:nvSpPr>
          <p:spPr bwMode="auto">
            <a:xfrm>
              <a:off x="5385048" y="2174007"/>
              <a:ext cx="25074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已向互联网管理机构</a:t>
              </a:r>
            </a:p>
            <a:p>
              <a:pPr algn="ctr" eaLnBrk="0" hangingPunct="0"/>
              <a:r>
                <a:rPr lang="zh-CN" altLang="en-US" sz="2000" b="1">
                  <a:solidFill>
                    <a:srgbClr val="000099"/>
                  </a:solidFill>
                  <a:ea typeface="黑体" panose="02010609060101010101" pitchFamily="49" charset="-122"/>
                </a:rPr>
                <a:t>申请到一批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470025" name="Text Box 60"/>
            <p:cNvSpPr txBox="1">
              <a:spLocks noChangeArrowheads="1"/>
            </p:cNvSpPr>
            <p:nvPr/>
          </p:nvSpPr>
          <p:spPr bwMode="auto">
            <a:xfrm>
              <a:off x="6387306" y="3056657"/>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ISP</a:t>
              </a:r>
            </a:p>
          </p:txBody>
        </p:sp>
        <p:sp>
          <p:nvSpPr>
            <p:cNvPr id="470026" name="Freeform 61"/>
            <p:cNvSpPr>
              <a:spLocks noChangeArrowheads="1"/>
            </p:cNvSpPr>
            <p:nvPr/>
          </p:nvSpPr>
          <p:spPr bwMode="auto">
            <a:xfrm>
              <a:off x="7845690" y="3285257"/>
              <a:ext cx="1632083" cy="11430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70027" name="Line 66"/>
            <p:cNvSpPr>
              <a:spLocks noChangeShapeType="1"/>
            </p:cNvSpPr>
            <p:nvPr/>
          </p:nvSpPr>
          <p:spPr bwMode="auto">
            <a:xfrm>
              <a:off x="1052512" y="2277195"/>
              <a:ext cx="4368271"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28" name="Text Box 67"/>
            <p:cNvSpPr txBox="1">
              <a:spLocks noChangeArrowheads="1"/>
            </p:cNvSpPr>
            <p:nvPr/>
          </p:nvSpPr>
          <p:spPr bwMode="auto">
            <a:xfrm>
              <a:off x="2648744" y="2897907"/>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接入网</a:t>
              </a:r>
            </a:p>
          </p:txBody>
        </p:sp>
        <p:sp>
          <p:nvSpPr>
            <p:cNvPr id="470029" name="Line 68"/>
            <p:cNvSpPr>
              <a:spLocks noChangeShapeType="1"/>
            </p:cNvSpPr>
            <p:nvPr/>
          </p:nvSpPr>
          <p:spPr bwMode="auto">
            <a:xfrm>
              <a:off x="1052512" y="2782020"/>
              <a:ext cx="4368271" cy="1428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0" name="Line 69"/>
            <p:cNvSpPr>
              <a:spLocks noChangeShapeType="1"/>
            </p:cNvSpPr>
            <p:nvPr/>
          </p:nvSpPr>
          <p:spPr bwMode="auto">
            <a:xfrm>
              <a:off x="1052512" y="3285257"/>
              <a:ext cx="436827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1" name="Line 70"/>
            <p:cNvSpPr>
              <a:spLocks noChangeShapeType="1"/>
            </p:cNvSpPr>
            <p:nvPr/>
          </p:nvSpPr>
          <p:spPr bwMode="auto">
            <a:xfrm flipV="1">
              <a:off x="1052513" y="3577357"/>
              <a:ext cx="4387189" cy="139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2" name="Line 71"/>
            <p:cNvSpPr>
              <a:spLocks noChangeShapeType="1"/>
            </p:cNvSpPr>
            <p:nvPr/>
          </p:nvSpPr>
          <p:spPr bwMode="auto">
            <a:xfrm flipV="1">
              <a:off x="1052512" y="3932958"/>
              <a:ext cx="4368271"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3" name="Text Box 72"/>
            <p:cNvSpPr txBox="1">
              <a:spLocks noChangeArrowheads="1"/>
            </p:cNvSpPr>
            <p:nvPr/>
          </p:nvSpPr>
          <p:spPr bwMode="auto">
            <a:xfrm>
              <a:off x="2504728" y="4520332"/>
              <a:ext cx="1498359"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PPP </a:t>
              </a:r>
              <a:r>
                <a:rPr lang="zh-CN" altLang="en-US" sz="2400" b="1">
                  <a:solidFill>
                    <a:srgbClr val="000099"/>
                  </a:solidFill>
                  <a:ea typeface="黑体" panose="02010609060101010101" pitchFamily="49" charset="-122"/>
                </a:rPr>
                <a:t>协议</a:t>
              </a:r>
            </a:p>
          </p:txBody>
        </p:sp>
        <p:pic>
          <p:nvPicPr>
            <p:cNvPr id="47003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2061294"/>
              <a:ext cx="40759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5"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2535958"/>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6"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012207"/>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7"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488458"/>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8"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964708"/>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7003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60888C-1C01-4D37-B297-8315C1C6A1EC}" type="slidenum">
              <a:rPr lang="zh-CN" altLang="en-US" smtClean="0"/>
              <a:pPr eaLnBrk="1" hangingPunct="1"/>
              <a:t>29</a:t>
            </a:fld>
            <a:endParaRPr lang="en-US" altLang="zh-CN" smtClean="0"/>
          </a:p>
        </p:txBody>
      </p:sp>
      <p:sp>
        <p:nvSpPr>
          <p:cNvPr id="47004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PPP </a:t>
            </a:r>
            <a:r>
              <a:rPr lang="zh-CN" altLang="en-US" smtClean="0">
                <a:ea typeface="黑体" panose="02010609060101010101" pitchFamily="49" charset="-122"/>
              </a:rPr>
              <a:t>协议应满足的需求 </a:t>
            </a:r>
          </a:p>
        </p:txBody>
      </p:sp>
      <p:sp>
        <p:nvSpPr>
          <p:cNvPr id="472066"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简单 </a:t>
            </a:r>
            <a:r>
              <a:rPr lang="en-US" altLang="zh-CN" sz="2800" smtClean="0">
                <a:ea typeface="黑体" panose="02010609060101010101" pitchFamily="49" charset="-122"/>
              </a:rPr>
              <a:t>—— </a:t>
            </a:r>
            <a:r>
              <a:rPr lang="zh-CN" altLang="en-US" sz="2800" smtClean="0">
                <a:solidFill>
                  <a:srgbClr val="FF0000"/>
                </a:solidFill>
                <a:ea typeface="黑体" panose="02010609060101010101" pitchFamily="49" charset="-122"/>
              </a:rPr>
              <a:t>这是首要的要求。</a:t>
            </a:r>
          </a:p>
          <a:p>
            <a:r>
              <a:rPr lang="zh-CN" altLang="en-US" sz="2800" smtClean="0">
                <a:ea typeface="黑体" panose="02010609060101010101" pitchFamily="49" charset="-122"/>
              </a:rPr>
              <a:t>封装成帧 </a:t>
            </a:r>
            <a:r>
              <a:rPr lang="en-US" altLang="zh-CN" sz="2800" smtClean="0">
                <a:ea typeface="黑体" panose="02010609060101010101" pitchFamily="49" charset="-122"/>
              </a:rPr>
              <a:t>—— </a:t>
            </a:r>
            <a:r>
              <a:rPr lang="zh-CN" altLang="zh-CN" sz="2800" smtClean="0">
                <a:ea typeface="黑体" panose="02010609060101010101" pitchFamily="49" charset="-122"/>
              </a:rPr>
              <a:t>必须规定特殊的字符作为帧定界符</a:t>
            </a:r>
            <a:r>
              <a:rPr lang="zh-CN" altLang="en-US" sz="2800" smtClean="0">
                <a:ea typeface="黑体" panose="02010609060101010101" pitchFamily="49" charset="-122"/>
              </a:rPr>
              <a:t>。</a:t>
            </a:r>
          </a:p>
          <a:p>
            <a:r>
              <a:rPr lang="zh-CN" altLang="en-US" sz="2800" smtClean="0">
                <a:ea typeface="黑体" panose="02010609060101010101" pitchFamily="49" charset="-122"/>
              </a:rPr>
              <a:t>透明性 </a:t>
            </a:r>
            <a:r>
              <a:rPr lang="en-US" altLang="zh-CN" sz="2800" smtClean="0">
                <a:ea typeface="黑体" panose="02010609060101010101" pitchFamily="49" charset="-122"/>
              </a:rPr>
              <a:t>—— </a:t>
            </a:r>
            <a:r>
              <a:rPr lang="zh-CN" altLang="zh-CN" sz="2800" smtClean="0">
                <a:ea typeface="黑体" panose="02010609060101010101" pitchFamily="49" charset="-122"/>
              </a:rPr>
              <a:t>必须保证数据传输的透明性</a:t>
            </a:r>
            <a:r>
              <a:rPr lang="zh-CN" altLang="en-US" sz="2800" smtClean="0">
                <a:ea typeface="黑体" panose="02010609060101010101" pitchFamily="49" charset="-122"/>
              </a:rPr>
              <a:t>。</a:t>
            </a:r>
          </a:p>
          <a:p>
            <a:r>
              <a:rPr lang="zh-CN" altLang="en-US" sz="2800" smtClean="0">
                <a:ea typeface="黑体" panose="02010609060101010101" pitchFamily="49" charset="-122"/>
              </a:rPr>
              <a:t>多种网络层协议 </a:t>
            </a:r>
            <a:r>
              <a:rPr lang="en-US" altLang="zh-CN" sz="2800" smtClean="0">
                <a:ea typeface="黑体" panose="02010609060101010101" pitchFamily="49" charset="-122"/>
              </a:rPr>
              <a:t>—— </a:t>
            </a:r>
            <a:r>
              <a:rPr lang="zh-CN" altLang="zh-CN" sz="2800" smtClean="0">
                <a:ea typeface="黑体" panose="02010609060101010101" pitchFamily="49" charset="-122"/>
              </a:rPr>
              <a:t>能够在同一条物理链路上同时支持多种网络层协议</a:t>
            </a:r>
            <a:r>
              <a:rPr lang="zh-CN" altLang="en-US" sz="2800" smtClean="0">
                <a:ea typeface="黑体" panose="02010609060101010101" pitchFamily="49" charset="-122"/>
              </a:rPr>
              <a:t>。</a:t>
            </a:r>
          </a:p>
          <a:p>
            <a:r>
              <a:rPr lang="zh-CN" altLang="en-US" sz="2800" smtClean="0">
                <a:ea typeface="黑体" panose="02010609060101010101" pitchFamily="49" charset="-122"/>
              </a:rPr>
              <a:t>多种类型链路 </a:t>
            </a:r>
            <a:r>
              <a:rPr lang="en-US" altLang="zh-CN" sz="2800" smtClean="0">
                <a:ea typeface="黑体" panose="02010609060101010101" pitchFamily="49" charset="-122"/>
              </a:rPr>
              <a:t>—— </a:t>
            </a:r>
            <a:r>
              <a:rPr lang="zh-CN" altLang="zh-CN" sz="2800" smtClean="0">
                <a:ea typeface="黑体" panose="02010609060101010101" pitchFamily="49" charset="-122"/>
              </a:rPr>
              <a:t>能够在多种类型的链路上运行</a:t>
            </a:r>
            <a:r>
              <a:rPr lang="zh-CN" altLang="en-US" sz="2800" smtClean="0">
                <a:ea typeface="黑体" panose="02010609060101010101" pitchFamily="49" charset="-122"/>
              </a:rPr>
              <a:t>。</a:t>
            </a:r>
          </a:p>
          <a:p>
            <a:r>
              <a:rPr lang="zh-CN" altLang="en-US" sz="2800" smtClean="0">
                <a:ea typeface="黑体" panose="02010609060101010101" pitchFamily="49" charset="-122"/>
              </a:rPr>
              <a:t>差错检测 </a:t>
            </a:r>
            <a:r>
              <a:rPr lang="en-US" altLang="zh-CN" sz="2800" smtClean="0">
                <a:ea typeface="黑体" panose="02010609060101010101" pitchFamily="49" charset="-122"/>
              </a:rPr>
              <a:t>—— </a:t>
            </a:r>
            <a:r>
              <a:rPr lang="zh-CN" altLang="zh-CN" sz="2800" smtClean="0">
                <a:ea typeface="黑体" panose="02010609060101010101" pitchFamily="49" charset="-122"/>
              </a:rPr>
              <a:t>能够对接收端收到的帧进行检测，并立即丢弃有差错的帧</a:t>
            </a:r>
            <a:r>
              <a:rPr lang="zh-CN" altLang="en-US" sz="2800" smtClean="0">
                <a:ea typeface="黑体" panose="02010609060101010101" pitchFamily="49" charset="-122"/>
              </a:rPr>
              <a:t>。</a:t>
            </a:r>
          </a:p>
        </p:txBody>
      </p:sp>
      <p:sp>
        <p:nvSpPr>
          <p:cNvPr id="4720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8466B5-C057-4CFA-9A30-778269A460CB}" type="slidenum">
              <a:rPr lang="zh-CN" altLang="en-US" smtClean="0"/>
              <a:pPr eaLnBrk="1" hangingPunct="1"/>
              <a:t>30</a:t>
            </a:fld>
            <a:endParaRPr lang="en-US" altLang="zh-CN" smtClean="0"/>
          </a:p>
        </p:txBody>
      </p:sp>
      <p:sp>
        <p:nvSpPr>
          <p:cNvPr id="4720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PPP </a:t>
            </a:r>
            <a:r>
              <a:rPr lang="zh-CN" altLang="en-US" smtClean="0">
                <a:ea typeface="黑体" panose="02010609060101010101" pitchFamily="49" charset="-122"/>
              </a:rPr>
              <a:t>协议应满足的需求（续） </a:t>
            </a:r>
          </a:p>
        </p:txBody>
      </p:sp>
      <p:sp>
        <p:nvSpPr>
          <p:cNvPr id="474114"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检测连接状态 </a:t>
            </a:r>
            <a:r>
              <a:rPr lang="en-US" altLang="zh-CN" sz="2800" dirty="0" smtClean="0">
                <a:ea typeface="黑体" panose="02010609060101010101" pitchFamily="49" charset="-122"/>
              </a:rPr>
              <a:t>—— </a:t>
            </a:r>
            <a:r>
              <a:rPr lang="zh-CN" altLang="zh-CN" sz="2800" dirty="0" smtClean="0">
                <a:ea typeface="黑体" panose="02010609060101010101" pitchFamily="49" charset="-122"/>
              </a:rPr>
              <a:t>能够及时自动检测出链路是否处于正常工作状态</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最大传送单元 </a:t>
            </a:r>
            <a:r>
              <a:rPr lang="en-US" altLang="zh-CN" sz="2800" dirty="0" smtClean="0">
                <a:ea typeface="黑体" panose="02010609060101010101" pitchFamily="49" charset="-122"/>
              </a:rPr>
              <a:t>—— </a:t>
            </a:r>
            <a:r>
              <a:rPr lang="zh-CN" altLang="zh-CN" sz="2800" dirty="0" smtClean="0">
                <a:ea typeface="黑体" panose="02010609060101010101" pitchFamily="49" charset="-122"/>
              </a:rPr>
              <a:t>必须对每一种类型的点对点链路设置最大传送单元</a:t>
            </a:r>
            <a:r>
              <a:rPr lang="en-US" altLang="zh-CN" sz="2800" dirty="0" smtClean="0">
                <a:ea typeface="黑体" panose="02010609060101010101" pitchFamily="49" charset="-122"/>
              </a:rPr>
              <a:t>  MTU </a:t>
            </a:r>
            <a:r>
              <a:rPr lang="zh-CN" altLang="zh-CN" sz="2800" dirty="0" smtClean="0">
                <a:ea typeface="黑体" panose="02010609060101010101" pitchFamily="49" charset="-122"/>
              </a:rPr>
              <a:t>的标准默认值</a:t>
            </a:r>
            <a:r>
              <a:rPr lang="zh-CN" altLang="en-US" sz="2800" dirty="0" smtClean="0">
                <a:ea typeface="黑体" panose="02010609060101010101" pitchFamily="49" charset="-122"/>
              </a:rPr>
              <a:t>，</a:t>
            </a:r>
            <a:r>
              <a:rPr lang="zh-CN" altLang="zh-CN" sz="2800" dirty="0" smtClean="0">
                <a:ea typeface="黑体" panose="02010609060101010101" pitchFamily="49" charset="-122"/>
              </a:rPr>
              <a:t>促进各种实现之间的互操作性</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网络层地址协商 </a:t>
            </a:r>
            <a:r>
              <a:rPr lang="en-US" altLang="zh-CN" sz="2800" dirty="0" smtClean="0">
                <a:ea typeface="黑体" panose="02010609060101010101" pitchFamily="49" charset="-122"/>
              </a:rPr>
              <a:t>—— </a:t>
            </a:r>
            <a:r>
              <a:rPr lang="zh-CN" altLang="zh-CN" sz="2800" dirty="0" smtClean="0">
                <a:ea typeface="黑体" panose="02010609060101010101" pitchFamily="49" charset="-122"/>
              </a:rPr>
              <a:t>必须提供一种机制使通信的两个网络层实体能够通过协商知道或能够配置彼此的网络层地址</a:t>
            </a:r>
            <a:r>
              <a:rPr lang="zh-CN" altLang="en-US" sz="2800" dirty="0" smtClean="0">
                <a:ea typeface="黑体" panose="02010609060101010101" pitchFamily="49" charset="-122"/>
              </a:rPr>
              <a:t>。</a:t>
            </a:r>
            <a:r>
              <a:rPr lang="en-US" altLang="zh-CN" sz="2800" dirty="0" smtClean="0">
                <a:ea typeface="黑体" panose="02010609060101010101" pitchFamily="49" charset="-122"/>
              </a:rPr>
              <a:t>ADSL</a:t>
            </a:r>
            <a:endParaRPr lang="zh-CN" altLang="en-US" sz="2800" dirty="0" smtClean="0">
              <a:ea typeface="黑体" panose="02010609060101010101" pitchFamily="49" charset="-122"/>
            </a:endParaRPr>
          </a:p>
          <a:p>
            <a:r>
              <a:rPr lang="zh-CN" altLang="en-US" sz="2800" dirty="0" smtClean="0">
                <a:ea typeface="黑体" panose="02010609060101010101" pitchFamily="49" charset="-122"/>
              </a:rPr>
              <a:t>数据压缩协商 </a:t>
            </a:r>
            <a:r>
              <a:rPr lang="en-US" altLang="zh-CN" sz="2800" dirty="0" smtClean="0">
                <a:ea typeface="黑体" panose="02010609060101010101" pitchFamily="49" charset="-122"/>
              </a:rPr>
              <a:t>—— </a:t>
            </a:r>
            <a:r>
              <a:rPr lang="zh-CN" altLang="zh-CN" sz="2800" dirty="0" smtClean="0">
                <a:ea typeface="黑体" panose="02010609060101010101" pitchFamily="49" charset="-122"/>
              </a:rPr>
              <a:t>必须提供一种方法来协商使用数据压缩算法。</a:t>
            </a:r>
            <a:endParaRPr lang="zh-CN" altLang="en-US" sz="2800" dirty="0" smtClean="0">
              <a:ea typeface="黑体" panose="02010609060101010101" pitchFamily="49" charset="-122"/>
            </a:endParaRPr>
          </a:p>
        </p:txBody>
      </p:sp>
      <p:sp>
        <p:nvSpPr>
          <p:cNvPr id="4741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226DF9-3C37-4E7E-91CD-953D87B879FB}" type="slidenum">
              <a:rPr lang="zh-CN" altLang="en-US" smtClean="0"/>
              <a:pPr eaLnBrk="1" hangingPunct="1"/>
              <a:t>31</a:t>
            </a:fld>
            <a:endParaRPr lang="en-US" altLang="zh-CN" smtClean="0"/>
          </a:p>
        </p:txBody>
      </p:sp>
      <p:sp>
        <p:nvSpPr>
          <p:cNvPr id="4741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PPP </a:t>
            </a:r>
            <a:r>
              <a:rPr lang="zh-CN" altLang="en-US" smtClean="0">
                <a:ea typeface="黑体" panose="02010609060101010101" pitchFamily="49" charset="-122"/>
              </a:rPr>
              <a:t>协议不需要的功能</a:t>
            </a:r>
          </a:p>
        </p:txBody>
      </p:sp>
      <p:sp>
        <p:nvSpPr>
          <p:cNvPr id="47616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纠错 </a:t>
            </a:r>
          </a:p>
          <a:p>
            <a:r>
              <a:rPr lang="zh-CN" altLang="en-US" smtClean="0">
                <a:ea typeface="黑体" panose="02010609060101010101" pitchFamily="49" charset="-122"/>
              </a:rPr>
              <a:t>流量控制 </a:t>
            </a:r>
          </a:p>
          <a:p>
            <a:r>
              <a:rPr lang="zh-CN" altLang="en-US" smtClean="0">
                <a:ea typeface="黑体" panose="02010609060101010101" pitchFamily="49" charset="-122"/>
              </a:rPr>
              <a:t>序号 </a:t>
            </a:r>
          </a:p>
          <a:p>
            <a:r>
              <a:rPr lang="zh-CN" altLang="en-US" smtClean="0">
                <a:ea typeface="黑体" panose="02010609060101010101" pitchFamily="49" charset="-122"/>
              </a:rPr>
              <a:t>多点线路 </a:t>
            </a:r>
          </a:p>
          <a:p>
            <a:r>
              <a:rPr lang="zh-CN" altLang="en-US" smtClean="0">
                <a:ea typeface="黑体" panose="02010609060101010101" pitchFamily="49" charset="-122"/>
              </a:rPr>
              <a:t>半双工或单工链路 </a:t>
            </a:r>
          </a:p>
        </p:txBody>
      </p:sp>
      <p:sp>
        <p:nvSpPr>
          <p:cNvPr id="476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F1F221-F243-40DB-9055-3C757B3AE262}" type="slidenum">
              <a:rPr lang="zh-CN" altLang="en-US" smtClean="0"/>
              <a:pPr eaLnBrk="1" hangingPunct="1"/>
              <a:t>32</a:t>
            </a:fld>
            <a:endParaRPr lang="en-US" altLang="zh-CN" smtClean="0"/>
          </a:p>
        </p:txBody>
      </p:sp>
      <p:sp>
        <p:nvSpPr>
          <p:cNvPr id="476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0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PPP </a:t>
            </a:r>
            <a:r>
              <a:rPr lang="zh-CN" altLang="en-US" smtClean="0">
                <a:ea typeface="黑体" panose="02010609060101010101" pitchFamily="49" charset="-122"/>
              </a:rPr>
              <a:t>协议的组成 </a:t>
            </a:r>
          </a:p>
        </p:txBody>
      </p:sp>
      <p:sp>
        <p:nvSpPr>
          <p:cNvPr id="47821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PPP </a:t>
            </a:r>
            <a:r>
              <a:rPr lang="zh-CN" altLang="en-US" dirty="0" smtClean="0">
                <a:ea typeface="黑体" panose="02010609060101010101" pitchFamily="49" charset="-122"/>
              </a:rPr>
              <a:t>协议有三个组成部分：</a:t>
            </a:r>
          </a:p>
          <a:p>
            <a:pPr marL="457200" lvl="1" indent="0">
              <a:buNone/>
            </a:pPr>
            <a:r>
              <a:rPr lang="en-US" altLang="zh-CN" dirty="0" smtClean="0">
                <a:ea typeface="黑体" panose="02010609060101010101" pitchFamily="49" charset="-122"/>
              </a:rPr>
              <a:t>(1) </a:t>
            </a:r>
            <a:r>
              <a:rPr lang="zh-CN" altLang="en-US" dirty="0" smtClean="0">
                <a:ea typeface="黑体" panose="02010609060101010101" pitchFamily="49" charset="-122"/>
              </a:rPr>
              <a:t>一个将 </a:t>
            </a:r>
            <a:r>
              <a:rPr lang="en-US" altLang="zh-CN" dirty="0" smtClean="0">
                <a:ea typeface="黑体" panose="02010609060101010101" pitchFamily="49" charset="-122"/>
              </a:rPr>
              <a:t>IP </a:t>
            </a:r>
            <a:r>
              <a:rPr lang="zh-CN" altLang="en-US" dirty="0" smtClean="0">
                <a:ea typeface="黑体" panose="02010609060101010101" pitchFamily="49" charset="-122"/>
              </a:rPr>
              <a:t>数据报封装到串行链路的方法。</a:t>
            </a:r>
            <a:endParaRPr lang="en-US" altLang="zh-CN" dirty="0" smtClean="0">
              <a:ea typeface="黑体" panose="02010609060101010101" pitchFamily="49" charset="-122"/>
            </a:endParaRPr>
          </a:p>
          <a:p>
            <a:pPr marL="457200" lvl="1" indent="0">
              <a:buNone/>
            </a:pPr>
            <a:r>
              <a:rPr lang="zh-CN" altLang="en-US" dirty="0" smtClean="0">
                <a:solidFill>
                  <a:srgbClr val="FF0000"/>
                </a:solidFill>
                <a:ea typeface="黑体" panose="02010609060101010101" pitchFamily="49" charset="-122"/>
              </a:rPr>
              <a:t>    </a:t>
            </a:r>
            <a:r>
              <a:rPr lang="zh-CN" altLang="en-US" u="sng" dirty="0" smtClean="0">
                <a:solidFill>
                  <a:srgbClr val="FF0000"/>
                </a:solidFill>
                <a:ea typeface="黑体" panose="02010609060101010101" pitchFamily="49" charset="-122"/>
              </a:rPr>
              <a:t>最大</a:t>
            </a:r>
            <a:r>
              <a:rPr lang="zh-CN" altLang="en-US" u="sng" dirty="0">
                <a:solidFill>
                  <a:srgbClr val="FF0000"/>
                </a:solidFill>
                <a:ea typeface="黑体" panose="02010609060101010101" pitchFamily="49" charset="-122"/>
              </a:rPr>
              <a:t>传输</a:t>
            </a:r>
            <a:r>
              <a:rPr lang="zh-CN" altLang="en-US" u="sng" dirty="0" smtClean="0">
                <a:solidFill>
                  <a:srgbClr val="FF0000"/>
                </a:solidFill>
                <a:ea typeface="黑体" panose="02010609060101010101" pitchFamily="49" charset="-122"/>
              </a:rPr>
              <a:t>单元</a:t>
            </a:r>
            <a:r>
              <a:rPr lang="en-US" altLang="zh-CN" u="sng" dirty="0">
                <a:solidFill>
                  <a:srgbClr val="FF0000"/>
                </a:solidFill>
                <a:ea typeface="黑体" panose="02010609060101010101" pitchFamily="49" charset="-122"/>
              </a:rPr>
              <a:t>MTU</a:t>
            </a:r>
            <a:r>
              <a:rPr lang="en-US" altLang="zh-CN" u="sng" dirty="0" smtClean="0">
                <a:solidFill>
                  <a:srgbClr val="FF0000"/>
                </a:solidFill>
                <a:ea typeface="黑体" panose="02010609060101010101" pitchFamily="49" charset="-122"/>
              </a:rPr>
              <a:t>(Maximum </a:t>
            </a:r>
            <a:r>
              <a:rPr lang="en-US" altLang="zh-CN" u="sng" dirty="0">
                <a:solidFill>
                  <a:srgbClr val="FF0000"/>
                </a:solidFill>
                <a:ea typeface="黑体" panose="02010609060101010101" pitchFamily="49" charset="-122"/>
              </a:rPr>
              <a:t>Transmission </a:t>
            </a:r>
            <a:r>
              <a:rPr lang="en-US" altLang="zh-CN" u="sng" dirty="0" smtClean="0">
                <a:solidFill>
                  <a:srgbClr val="FF0000"/>
                </a:solidFill>
                <a:ea typeface="黑体" panose="02010609060101010101" pitchFamily="49" charset="-122"/>
              </a:rPr>
              <a:t>Unit)</a:t>
            </a:r>
          </a:p>
          <a:p>
            <a:pPr marL="457200" lvl="1" indent="0">
              <a:buNone/>
            </a:pPr>
            <a:r>
              <a:rPr lang="en-US" altLang="zh-CN" dirty="0" smtClean="0">
                <a:ea typeface="黑体" panose="02010609060101010101" pitchFamily="49" charset="-122"/>
              </a:rPr>
              <a:t>(2) </a:t>
            </a:r>
            <a:r>
              <a:rPr lang="zh-CN" altLang="en-US" u="sng" dirty="0" smtClean="0">
                <a:solidFill>
                  <a:srgbClr val="FF0000"/>
                </a:solidFill>
                <a:ea typeface="黑体" panose="02010609060101010101" pitchFamily="49" charset="-122"/>
              </a:rPr>
              <a:t>链路控制协议 </a:t>
            </a:r>
            <a:r>
              <a:rPr lang="en-US" altLang="zh-CN" u="sng" dirty="0" smtClean="0">
                <a:solidFill>
                  <a:srgbClr val="FF0000"/>
                </a:solidFill>
                <a:ea typeface="黑体" panose="02010609060101010101" pitchFamily="49" charset="-122"/>
              </a:rPr>
              <a:t>LCP (Link Control Protocol)</a:t>
            </a:r>
            <a:r>
              <a:rPr lang="zh-CN" altLang="en-US" dirty="0" smtClean="0">
                <a:ea typeface="黑体" panose="02010609060101010101" pitchFamily="49" charset="-122"/>
              </a:rPr>
              <a:t>。</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    </a:t>
            </a:r>
            <a:r>
              <a:rPr lang="zh-CN" altLang="en-US" dirty="0" smtClean="0">
                <a:ea typeface="黑体" panose="02010609060101010101" pitchFamily="49" charset="-122"/>
              </a:rPr>
              <a:t>通信双方协商</a:t>
            </a:r>
          </a:p>
          <a:p>
            <a:pPr marL="457200" lvl="1" indent="0">
              <a:buNone/>
            </a:pPr>
            <a:r>
              <a:rPr lang="en-US" altLang="zh-CN" dirty="0" smtClean="0">
                <a:ea typeface="黑体" panose="02010609060101010101" pitchFamily="49" charset="-122"/>
              </a:rPr>
              <a:t>(3) </a:t>
            </a:r>
            <a:r>
              <a:rPr lang="zh-CN" altLang="en-US" u="sng" dirty="0" smtClean="0">
                <a:solidFill>
                  <a:srgbClr val="FF0000"/>
                </a:solidFill>
                <a:ea typeface="黑体" panose="02010609060101010101" pitchFamily="49" charset="-122"/>
              </a:rPr>
              <a:t>网络控制协议 </a:t>
            </a:r>
            <a:r>
              <a:rPr lang="en-US" altLang="zh-CN" u="sng" dirty="0" smtClean="0">
                <a:solidFill>
                  <a:srgbClr val="FF0000"/>
                </a:solidFill>
                <a:ea typeface="黑体" panose="02010609060101010101" pitchFamily="49" charset="-122"/>
              </a:rPr>
              <a:t>NCP (Network Control Protocol)</a:t>
            </a:r>
            <a:r>
              <a:rPr lang="zh-CN" altLang="en-US" dirty="0" smtClean="0">
                <a:ea typeface="黑体" panose="02010609060101010101" pitchFamily="49" charset="-122"/>
              </a:rPr>
              <a:t>。</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    </a:t>
            </a:r>
            <a:r>
              <a:rPr lang="zh-CN" altLang="en-US" dirty="0" smtClean="0">
                <a:ea typeface="黑体" panose="02010609060101010101" pitchFamily="49" charset="-122"/>
              </a:rPr>
              <a:t>支持不同网络协议   </a:t>
            </a:r>
          </a:p>
        </p:txBody>
      </p:sp>
      <p:sp>
        <p:nvSpPr>
          <p:cNvPr id="478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3796AE-D359-4567-825A-763FC346A3B3}" type="slidenum">
              <a:rPr lang="zh-CN" altLang="en-US" smtClean="0"/>
              <a:pPr eaLnBrk="1" hangingPunct="1"/>
              <a:t>33</a:t>
            </a:fld>
            <a:endParaRPr lang="en-US" altLang="zh-CN" smtClean="0"/>
          </a:p>
        </p:txBody>
      </p:sp>
      <p:sp>
        <p:nvSpPr>
          <p:cNvPr id="478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3.2.2   PPP </a:t>
            </a:r>
            <a:r>
              <a:rPr lang="zh-CN" altLang="en-US" smtClean="0">
                <a:ea typeface="黑体" panose="02010609060101010101" pitchFamily="49" charset="-122"/>
              </a:rPr>
              <a:t>协议的帧格式</a:t>
            </a:r>
          </a:p>
        </p:txBody>
      </p:sp>
      <p:sp>
        <p:nvSpPr>
          <p:cNvPr id="195587"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PPP </a:t>
            </a:r>
            <a:r>
              <a:rPr lang="zh-CN" altLang="zh-CN" sz="2800" dirty="0" smtClean="0">
                <a:ea typeface="黑体" panose="02010609060101010101" pitchFamily="49" charset="-122"/>
              </a:rPr>
              <a:t>帧的</a:t>
            </a:r>
            <a:r>
              <a:rPr lang="zh-CN" altLang="zh-CN" sz="2800" dirty="0" smtClean="0">
                <a:solidFill>
                  <a:srgbClr val="0000CC"/>
                </a:solidFill>
                <a:ea typeface="黑体" panose="02010609060101010101" pitchFamily="49" charset="-122"/>
              </a:rPr>
              <a:t>首部</a:t>
            </a:r>
            <a:r>
              <a:rPr lang="zh-CN" altLang="zh-CN" sz="2800" dirty="0" smtClean="0">
                <a:ea typeface="黑体" panose="02010609060101010101" pitchFamily="49" charset="-122"/>
              </a:rPr>
              <a:t>和</a:t>
            </a:r>
            <a:r>
              <a:rPr lang="zh-CN" altLang="zh-CN" sz="2800" dirty="0" smtClean="0">
                <a:solidFill>
                  <a:srgbClr val="0000CC"/>
                </a:solidFill>
                <a:ea typeface="黑体" panose="02010609060101010101" pitchFamily="49" charset="-122"/>
              </a:rPr>
              <a:t>尾部</a:t>
            </a:r>
            <a:r>
              <a:rPr lang="zh-CN" altLang="zh-CN" sz="2800" dirty="0" smtClean="0">
                <a:ea typeface="黑体" panose="02010609060101010101" pitchFamily="49" charset="-122"/>
              </a:rPr>
              <a:t>分别为</a:t>
            </a:r>
            <a:r>
              <a:rPr lang="en-US" altLang="zh-CN" sz="2800" dirty="0" smtClean="0">
                <a:ea typeface="黑体" panose="02010609060101010101" pitchFamily="49" charset="-122"/>
              </a:rPr>
              <a:t> 4 </a:t>
            </a:r>
            <a:r>
              <a:rPr lang="zh-CN" altLang="zh-CN" sz="2800" dirty="0" smtClean="0">
                <a:ea typeface="黑体" panose="02010609060101010101" pitchFamily="49" charset="-122"/>
              </a:rPr>
              <a:t>个字段和</a:t>
            </a:r>
            <a:r>
              <a:rPr lang="en-US" altLang="zh-CN" sz="2800" dirty="0" smtClean="0">
                <a:ea typeface="黑体" panose="02010609060101010101" pitchFamily="49" charset="-122"/>
              </a:rPr>
              <a:t> 2 </a:t>
            </a:r>
            <a:r>
              <a:rPr lang="zh-CN" altLang="zh-CN" sz="2800" dirty="0" smtClean="0">
                <a:ea typeface="黑体" panose="02010609060101010101" pitchFamily="49" charset="-122"/>
              </a:rPr>
              <a:t>个字段。</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标志字段 </a:t>
            </a:r>
            <a:r>
              <a:rPr lang="en-US" altLang="zh-CN" sz="2800" dirty="0" smtClean="0">
                <a:solidFill>
                  <a:srgbClr val="0000CC"/>
                </a:solidFill>
                <a:ea typeface="黑体" panose="02010609060101010101" pitchFamily="49" charset="-122"/>
              </a:rPr>
              <a:t>F = 0x7E </a:t>
            </a:r>
            <a:r>
              <a:rPr lang="zh-CN" altLang="en-US" sz="2800" dirty="0" smtClean="0">
                <a:ea typeface="黑体" panose="02010609060101010101" pitchFamily="49" charset="-122"/>
              </a:rPr>
              <a:t>（符号“</a:t>
            </a:r>
            <a:r>
              <a:rPr lang="en-US" altLang="zh-CN" sz="2800" dirty="0" smtClean="0">
                <a:ea typeface="黑体" panose="02010609060101010101" pitchFamily="49" charset="-122"/>
              </a:rPr>
              <a:t>0x”</a:t>
            </a:r>
            <a:r>
              <a:rPr lang="zh-CN" altLang="en-US" sz="2800" dirty="0" smtClean="0">
                <a:ea typeface="黑体" panose="02010609060101010101" pitchFamily="49" charset="-122"/>
              </a:rPr>
              <a:t>表示后面的字符是用十六进制表示。十六进制的 </a:t>
            </a:r>
            <a:r>
              <a:rPr lang="en-US" altLang="zh-CN" sz="2800" dirty="0" smtClean="0">
                <a:ea typeface="黑体" panose="02010609060101010101" pitchFamily="49" charset="-122"/>
              </a:rPr>
              <a:t>7E </a:t>
            </a:r>
            <a:r>
              <a:rPr lang="zh-CN" altLang="en-US" sz="2800" dirty="0" smtClean="0">
                <a:ea typeface="黑体" panose="02010609060101010101" pitchFamily="49" charset="-122"/>
              </a:rPr>
              <a:t>的二进制表示是 </a:t>
            </a:r>
            <a:r>
              <a:rPr lang="en-US" altLang="zh-CN" sz="2800" dirty="0" smtClean="0">
                <a:ea typeface="黑体" panose="02010609060101010101" pitchFamily="49" charset="-122"/>
              </a:rPr>
              <a:t>01111110</a:t>
            </a:r>
            <a:r>
              <a:rPr lang="zh-CN" altLang="en-US" sz="2800" dirty="0" smtClean="0">
                <a:ea typeface="黑体" panose="02010609060101010101" pitchFamily="49" charset="-122"/>
              </a:rPr>
              <a:t>）。</a:t>
            </a:r>
            <a:r>
              <a:rPr lang="en-US" altLang="zh-CN" sz="2800" dirty="0" smtClean="0">
                <a:solidFill>
                  <a:srgbClr val="0000CC"/>
                </a:solidFill>
                <a:ea typeface="黑体" panose="02010609060101010101" pitchFamily="49" charset="-122"/>
              </a:rPr>
              <a:t>1</a:t>
            </a:r>
            <a:r>
              <a:rPr lang="zh-CN" altLang="en-US" sz="2800" dirty="0" smtClean="0">
                <a:solidFill>
                  <a:srgbClr val="0000CC"/>
                </a:solidFill>
                <a:ea typeface="黑体" panose="02010609060101010101" pitchFamily="49" charset="-122"/>
              </a:rPr>
              <a:t>字节帧首尾同步</a:t>
            </a:r>
            <a:endParaRPr lang="en-US" altLang="zh-CN" sz="2800" dirty="0" smtClean="0">
              <a:solidFill>
                <a:srgbClr val="0000CC"/>
              </a:solidFill>
              <a:ea typeface="黑体" panose="02010609060101010101" pitchFamily="49" charset="-122"/>
            </a:endParaRPr>
          </a:p>
          <a:p>
            <a:r>
              <a:rPr lang="zh-CN" altLang="en-US" sz="2800" dirty="0" smtClean="0">
                <a:solidFill>
                  <a:srgbClr val="0000CC"/>
                </a:solidFill>
                <a:ea typeface="黑体" panose="02010609060101010101" pitchFamily="49" charset="-122"/>
              </a:rPr>
              <a:t>地址字段 </a:t>
            </a:r>
            <a:r>
              <a:rPr lang="en-US" altLang="zh-CN" sz="2800" dirty="0" smtClean="0">
                <a:ea typeface="黑体" panose="02010609060101010101" pitchFamily="49" charset="-122"/>
              </a:rPr>
              <a:t>A </a:t>
            </a:r>
            <a:r>
              <a:rPr lang="zh-CN" altLang="en-US" sz="2800" dirty="0" smtClean="0">
                <a:ea typeface="黑体" panose="02010609060101010101" pitchFamily="49" charset="-122"/>
              </a:rPr>
              <a:t>只置为 </a:t>
            </a:r>
            <a:r>
              <a:rPr lang="en-US" altLang="zh-CN" sz="2800" dirty="0" smtClean="0">
                <a:ea typeface="黑体" panose="02010609060101010101" pitchFamily="49" charset="-122"/>
              </a:rPr>
              <a:t>0xFF</a:t>
            </a:r>
            <a:r>
              <a:rPr lang="zh-CN" altLang="en-US" sz="2800" dirty="0" smtClean="0">
                <a:ea typeface="黑体" panose="02010609060101010101" pitchFamily="49" charset="-122"/>
              </a:rPr>
              <a:t>。地址字段实际上并不起作用。</a:t>
            </a:r>
          </a:p>
          <a:p>
            <a:r>
              <a:rPr lang="zh-CN" altLang="en-US" sz="2800" dirty="0" smtClean="0">
                <a:solidFill>
                  <a:srgbClr val="0000CC"/>
                </a:solidFill>
                <a:ea typeface="黑体" panose="02010609060101010101" pitchFamily="49" charset="-122"/>
              </a:rPr>
              <a:t>控制字段</a:t>
            </a:r>
            <a:r>
              <a:rPr lang="zh-CN" altLang="en-US" sz="2800" dirty="0" smtClean="0">
                <a:ea typeface="黑体" panose="02010609060101010101" pitchFamily="49" charset="-122"/>
              </a:rPr>
              <a:t> </a:t>
            </a:r>
            <a:r>
              <a:rPr lang="en-US" altLang="zh-CN" sz="2800" dirty="0" smtClean="0">
                <a:ea typeface="黑体" panose="02010609060101010101" pitchFamily="49" charset="-122"/>
              </a:rPr>
              <a:t>C </a:t>
            </a:r>
            <a:r>
              <a:rPr lang="zh-CN" altLang="en-US" sz="2800" dirty="0" smtClean="0">
                <a:ea typeface="黑体" panose="02010609060101010101" pitchFamily="49" charset="-122"/>
              </a:rPr>
              <a:t>通常置为 </a:t>
            </a:r>
            <a:r>
              <a:rPr lang="en-US" altLang="zh-CN" sz="2800" dirty="0" smtClean="0">
                <a:ea typeface="黑体" panose="02010609060101010101" pitchFamily="49" charset="-122"/>
              </a:rPr>
              <a:t>0x03</a:t>
            </a:r>
            <a:r>
              <a:rPr lang="zh-CN" altLang="en-US" sz="2800" dirty="0" smtClean="0">
                <a:ea typeface="黑体" panose="02010609060101010101" pitchFamily="49" charset="-122"/>
              </a:rPr>
              <a:t>。</a:t>
            </a:r>
          </a:p>
          <a:p>
            <a:r>
              <a:rPr lang="en-US" altLang="zh-CN" sz="2800" dirty="0" smtClean="0">
                <a:solidFill>
                  <a:srgbClr val="FF0000"/>
                </a:solidFill>
                <a:ea typeface="黑体" panose="02010609060101010101" pitchFamily="49" charset="-122"/>
              </a:rPr>
              <a:t>PPP </a:t>
            </a:r>
            <a:r>
              <a:rPr lang="zh-CN" altLang="en-US" sz="2800" dirty="0" smtClean="0">
                <a:solidFill>
                  <a:srgbClr val="FF0000"/>
                </a:solidFill>
                <a:ea typeface="黑体" panose="02010609060101010101" pitchFamily="49" charset="-122"/>
              </a:rPr>
              <a:t>是面向字节的，所有的 </a:t>
            </a:r>
            <a:r>
              <a:rPr lang="en-US" altLang="zh-CN" sz="2800" dirty="0" smtClean="0">
                <a:solidFill>
                  <a:srgbClr val="FF0000"/>
                </a:solidFill>
                <a:ea typeface="黑体" panose="02010609060101010101" pitchFamily="49" charset="-122"/>
              </a:rPr>
              <a:t>PPP </a:t>
            </a:r>
            <a:r>
              <a:rPr lang="zh-CN" altLang="en-US" sz="2800" dirty="0" smtClean="0">
                <a:solidFill>
                  <a:srgbClr val="FF0000"/>
                </a:solidFill>
                <a:ea typeface="黑体" panose="02010609060101010101" pitchFamily="49" charset="-122"/>
              </a:rPr>
              <a:t>帧的长度都是整数字节。</a:t>
            </a:r>
          </a:p>
        </p:txBody>
      </p:sp>
      <p:sp>
        <p:nvSpPr>
          <p:cNvPr id="480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58D136-7FFE-4E41-961E-F58CCF99A18B}" type="slidenum">
              <a:rPr lang="zh-CN" altLang="en-US" smtClean="0"/>
              <a:pPr eaLnBrk="1" hangingPunct="1"/>
              <a:t>34</a:t>
            </a:fld>
            <a:endParaRPr lang="en-US" altLang="zh-CN" smtClean="0"/>
          </a:p>
        </p:txBody>
      </p:sp>
      <p:sp>
        <p:nvSpPr>
          <p:cNvPr id="480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5" name="Rectangle 2"/>
          <p:cNvSpPr>
            <a:spLocks noGrp="1" noChangeArrowheads="1"/>
          </p:cNvSpPr>
          <p:nvPr>
            <p:ph type="title"/>
          </p:nvPr>
        </p:nvSpPr>
        <p:spPr/>
        <p:txBody>
          <a:bodyPr/>
          <a:lstStyle/>
          <a:p>
            <a:pPr algn="ctr"/>
            <a:r>
              <a:rPr lang="en-US" altLang="zh-CN" smtClean="0">
                <a:ea typeface="黑体" panose="02010609060101010101" pitchFamily="49" charset="-122"/>
              </a:rPr>
              <a:t>PPP </a:t>
            </a:r>
            <a:r>
              <a:rPr lang="zh-CN" altLang="en-US" smtClean="0">
                <a:ea typeface="黑体" panose="02010609060101010101" pitchFamily="49" charset="-122"/>
              </a:rPr>
              <a:t>协议的帧格式</a:t>
            </a:r>
          </a:p>
        </p:txBody>
      </p:sp>
      <p:sp>
        <p:nvSpPr>
          <p:cNvPr id="482306" name="Rectangle 4"/>
          <p:cNvSpPr>
            <a:spLocks noChangeArrowheads="1"/>
          </p:cNvSpPr>
          <p:nvPr/>
        </p:nvSpPr>
        <p:spPr bwMode="auto">
          <a:xfrm>
            <a:off x="4368800" y="1497013"/>
            <a:ext cx="3140075" cy="465137"/>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数据报</a:t>
            </a:r>
          </a:p>
        </p:txBody>
      </p:sp>
      <p:sp>
        <p:nvSpPr>
          <p:cNvPr id="482307" name="Text Box 9"/>
          <p:cNvSpPr txBox="1">
            <a:spLocks noChangeArrowheads="1"/>
          </p:cNvSpPr>
          <p:nvPr/>
        </p:nvSpPr>
        <p:spPr bwMode="auto">
          <a:xfrm>
            <a:off x="1522413"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08" name="Text Box 10"/>
          <p:cNvSpPr txBox="1">
            <a:spLocks noChangeArrowheads="1"/>
          </p:cNvSpPr>
          <p:nvPr/>
        </p:nvSpPr>
        <p:spPr bwMode="auto">
          <a:xfrm>
            <a:off x="3683000" y="2932113"/>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2</a:t>
            </a:r>
          </a:p>
        </p:txBody>
      </p:sp>
      <p:sp>
        <p:nvSpPr>
          <p:cNvPr id="482309" name="Text Box 11"/>
          <p:cNvSpPr txBox="1">
            <a:spLocks noChangeArrowheads="1"/>
          </p:cNvSpPr>
          <p:nvPr/>
        </p:nvSpPr>
        <p:spPr bwMode="auto">
          <a:xfrm>
            <a:off x="2112963"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10" name="Text Box 12"/>
          <p:cNvSpPr txBox="1">
            <a:spLocks noChangeArrowheads="1"/>
          </p:cNvSpPr>
          <p:nvPr/>
        </p:nvSpPr>
        <p:spPr bwMode="auto">
          <a:xfrm>
            <a:off x="8882063"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11" name="Text Box 13"/>
          <p:cNvSpPr txBox="1">
            <a:spLocks noChangeArrowheads="1"/>
          </p:cNvSpPr>
          <p:nvPr/>
        </p:nvSpPr>
        <p:spPr bwMode="auto">
          <a:xfrm>
            <a:off x="639763" y="293211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a:t>
            </a:r>
          </a:p>
        </p:txBody>
      </p:sp>
      <p:sp>
        <p:nvSpPr>
          <p:cNvPr id="482312" name="Text Box 18"/>
          <p:cNvSpPr txBox="1">
            <a:spLocks noChangeArrowheads="1"/>
          </p:cNvSpPr>
          <p:nvPr/>
        </p:nvSpPr>
        <p:spPr bwMode="auto">
          <a:xfrm>
            <a:off x="2700338"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13" name="Text Box 23"/>
          <p:cNvSpPr txBox="1">
            <a:spLocks noChangeArrowheads="1"/>
          </p:cNvSpPr>
          <p:nvPr/>
        </p:nvSpPr>
        <p:spPr bwMode="auto">
          <a:xfrm>
            <a:off x="7900988"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2</a:t>
            </a:r>
          </a:p>
        </p:txBody>
      </p:sp>
      <p:sp>
        <p:nvSpPr>
          <p:cNvPr id="482314" name="Line 26"/>
          <p:cNvSpPr>
            <a:spLocks noChangeShapeType="1"/>
          </p:cNvSpPr>
          <p:nvPr/>
        </p:nvSpPr>
        <p:spPr bwMode="auto">
          <a:xfrm>
            <a:off x="4368800" y="1484313"/>
            <a:ext cx="19050" cy="9239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15" name="Line 27"/>
          <p:cNvSpPr>
            <a:spLocks noChangeShapeType="1"/>
          </p:cNvSpPr>
          <p:nvPr/>
        </p:nvSpPr>
        <p:spPr bwMode="auto">
          <a:xfrm>
            <a:off x="7508875" y="1484313"/>
            <a:ext cx="0" cy="889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16" name="Text Box 31"/>
          <p:cNvSpPr txBox="1">
            <a:spLocks noChangeArrowheads="1"/>
          </p:cNvSpPr>
          <p:nvPr/>
        </p:nvSpPr>
        <p:spPr bwMode="auto">
          <a:xfrm>
            <a:off x="4760913" y="2932113"/>
            <a:ext cx="204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不超过 </a:t>
            </a:r>
            <a:r>
              <a:rPr lang="en-US" altLang="zh-CN" b="1">
                <a:solidFill>
                  <a:srgbClr val="000099"/>
                </a:solidFill>
                <a:ea typeface="黑体" panose="02010609060101010101" pitchFamily="49" charset="-122"/>
              </a:rPr>
              <a:t>1500 </a:t>
            </a:r>
            <a:r>
              <a:rPr lang="zh-CN" altLang="en-US" b="1">
                <a:solidFill>
                  <a:srgbClr val="000099"/>
                </a:solidFill>
                <a:ea typeface="黑体" panose="02010609060101010101" pitchFamily="49" charset="-122"/>
              </a:rPr>
              <a:t>字节</a:t>
            </a:r>
          </a:p>
        </p:txBody>
      </p:sp>
      <p:sp>
        <p:nvSpPr>
          <p:cNvPr id="482317" name="Line 32"/>
          <p:cNvSpPr>
            <a:spLocks noChangeShapeType="1"/>
          </p:cNvSpPr>
          <p:nvPr/>
        </p:nvSpPr>
        <p:spPr bwMode="auto">
          <a:xfrm>
            <a:off x="1441450" y="3554413"/>
            <a:ext cx="794702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82318" name="Text Box 33"/>
          <p:cNvSpPr txBox="1">
            <a:spLocks noChangeArrowheads="1"/>
          </p:cNvSpPr>
          <p:nvPr/>
        </p:nvSpPr>
        <p:spPr bwMode="auto">
          <a:xfrm>
            <a:off x="4837113" y="3316288"/>
            <a:ext cx="102393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PPP </a:t>
            </a:r>
            <a:r>
              <a:rPr lang="zh-CN" altLang="en-US" sz="2000" b="1">
                <a:solidFill>
                  <a:srgbClr val="000099"/>
                </a:solidFill>
                <a:ea typeface="黑体" panose="02010609060101010101" pitchFamily="49" charset="-122"/>
              </a:rPr>
              <a:t>帧</a:t>
            </a:r>
          </a:p>
        </p:txBody>
      </p:sp>
      <p:sp>
        <p:nvSpPr>
          <p:cNvPr id="482319" name="Text Box 39"/>
          <p:cNvSpPr txBox="1">
            <a:spLocks noChangeArrowheads="1"/>
          </p:cNvSpPr>
          <p:nvPr/>
        </p:nvSpPr>
        <p:spPr bwMode="auto">
          <a:xfrm>
            <a:off x="415925" y="1746250"/>
            <a:ext cx="877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先发送</a:t>
            </a:r>
          </a:p>
        </p:txBody>
      </p:sp>
      <p:sp>
        <p:nvSpPr>
          <p:cNvPr id="482320" name="Rectangle 5"/>
          <p:cNvSpPr>
            <a:spLocks noChangeArrowheads="1"/>
          </p:cNvSpPr>
          <p:nvPr/>
        </p:nvSpPr>
        <p:spPr bwMode="auto">
          <a:xfrm>
            <a:off x="1423988" y="2332038"/>
            <a:ext cx="7947025" cy="566737"/>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0" hangingPunct="0"/>
            <a:endParaRPr lang="zh-CN" altLang="zh-CN" b="1">
              <a:solidFill>
                <a:srgbClr val="000099"/>
              </a:solidFill>
              <a:ea typeface="黑体" panose="02010609060101010101" pitchFamily="49" charset="-122"/>
            </a:endParaRPr>
          </a:p>
        </p:txBody>
      </p:sp>
      <p:sp>
        <p:nvSpPr>
          <p:cNvPr id="482321" name="Line 6"/>
          <p:cNvSpPr>
            <a:spLocks noChangeShapeType="1"/>
          </p:cNvSpPr>
          <p:nvPr/>
        </p:nvSpPr>
        <p:spPr bwMode="auto">
          <a:xfrm>
            <a:off x="2014538" y="2332038"/>
            <a:ext cx="0" cy="566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2" name="Line 7"/>
          <p:cNvSpPr>
            <a:spLocks noChangeShapeType="1"/>
          </p:cNvSpPr>
          <p:nvPr/>
        </p:nvSpPr>
        <p:spPr bwMode="auto">
          <a:xfrm>
            <a:off x="8685213" y="2343150"/>
            <a:ext cx="0" cy="555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3" name="Text Box 8"/>
          <p:cNvSpPr txBox="1">
            <a:spLocks noChangeArrowheads="1"/>
          </p:cNvSpPr>
          <p:nvPr/>
        </p:nvSpPr>
        <p:spPr bwMode="auto">
          <a:xfrm>
            <a:off x="1420813" y="25352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7E</a:t>
            </a:r>
          </a:p>
        </p:txBody>
      </p:sp>
      <p:sp>
        <p:nvSpPr>
          <p:cNvPr id="482324" name="Line 14"/>
          <p:cNvSpPr>
            <a:spLocks noChangeShapeType="1"/>
          </p:cNvSpPr>
          <p:nvPr/>
        </p:nvSpPr>
        <p:spPr bwMode="auto">
          <a:xfrm>
            <a:off x="2601913" y="2343150"/>
            <a:ext cx="0" cy="555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5" name="Line 15"/>
          <p:cNvSpPr>
            <a:spLocks noChangeShapeType="1"/>
          </p:cNvSpPr>
          <p:nvPr/>
        </p:nvSpPr>
        <p:spPr bwMode="auto">
          <a:xfrm>
            <a:off x="3190875" y="2332038"/>
            <a:ext cx="0" cy="566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6" name="Text Box 16"/>
          <p:cNvSpPr txBox="1">
            <a:spLocks noChangeArrowheads="1"/>
          </p:cNvSpPr>
          <p:nvPr/>
        </p:nvSpPr>
        <p:spPr bwMode="auto">
          <a:xfrm>
            <a:off x="2009775" y="25352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FF</a:t>
            </a:r>
          </a:p>
        </p:txBody>
      </p:sp>
      <p:sp>
        <p:nvSpPr>
          <p:cNvPr id="482327" name="Text Box 17"/>
          <p:cNvSpPr txBox="1">
            <a:spLocks noChangeArrowheads="1"/>
          </p:cNvSpPr>
          <p:nvPr/>
        </p:nvSpPr>
        <p:spPr bwMode="auto">
          <a:xfrm>
            <a:off x="2590800" y="2535238"/>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03</a:t>
            </a:r>
          </a:p>
        </p:txBody>
      </p:sp>
      <p:sp>
        <p:nvSpPr>
          <p:cNvPr id="482328" name="Text Box 19"/>
          <p:cNvSpPr txBox="1">
            <a:spLocks noChangeArrowheads="1"/>
          </p:cNvSpPr>
          <p:nvPr/>
        </p:nvSpPr>
        <p:spPr bwMode="auto">
          <a:xfrm>
            <a:off x="1503363" y="2298700"/>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a:t>
            </a:r>
          </a:p>
        </p:txBody>
      </p:sp>
      <p:sp>
        <p:nvSpPr>
          <p:cNvPr id="482329" name="Text Box 20"/>
          <p:cNvSpPr txBox="1">
            <a:spLocks noChangeArrowheads="1"/>
          </p:cNvSpPr>
          <p:nvPr/>
        </p:nvSpPr>
        <p:spPr bwMode="auto">
          <a:xfrm>
            <a:off x="2054225" y="2297113"/>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p>
        </p:txBody>
      </p:sp>
      <p:sp>
        <p:nvSpPr>
          <p:cNvPr id="482330" name="Text Box 21"/>
          <p:cNvSpPr txBox="1">
            <a:spLocks noChangeArrowheads="1"/>
          </p:cNvSpPr>
          <p:nvPr/>
        </p:nvSpPr>
        <p:spPr bwMode="auto">
          <a:xfrm>
            <a:off x="2605088" y="2298700"/>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p>
        </p:txBody>
      </p:sp>
      <p:sp>
        <p:nvSpPr>
          <p:cNvPr id="482331" name="Text Box 22"/>
          <p:cNvSpPr txBox="1">
            <a:spLocks noChangeArrowheads="1"/>
          </p:cNvSpPr>
          <p:nvPr/>
        </p:nvSpPr>
        <p:spPr bwMode="auto">
          <a:xfrm>
            <a:off x="7805738" y="2482850"/>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FCS</a:t>
            </a:r>
          </a:p>
        </p:txBody>
      </p:sp>
      <p:sp>
        <p:nvSpPr>
          <p:cNvPr id="482332" name="Text Box 24"/>
          <p:cNvSpPr txBox="1">
            <a:spLocks noChangeArrowheads="1"/>
          </p:cNvSpPr>
          <p:nvPr/>
        </p:nvSpPr>
        <p:spPr bwMode="auto">
          <a:xfrm>
            <a:off x="8812213" y="2319338"/>
            <a:ext cx="325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a:t>
            </a:r>
          </a:p>
        </p:txBody>
      </p:sp>
      <p:sp>
        <p:nvSpPr>
          <p:cNvPr id="482333" name="Text Box 25"/>
          <p:cNvSpPr txBox="1">
            <a:spLocks noChangeArrowheads="1"/>
          </p:cNvSpPr>
          <p:nvPr/>
        </p:nvSpPr>
        <p:spPr bwMode="auto">
          <a:xfrm>
            <a:off x="8747125" y="25352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7E</a:t>
            </a:r>
          </a:p>
        </p:txBody>
      </p:sp>
      <p:sp>
        <p:nvSpPr>
          <p:cNvPr id="482334" name="Rectangle 28"/>
          <p:cNvSpPr>
            <a:spLocks noChangeArrowheads="1"/>
          </p:cNvSpPr>
          <p:nvPr/>
        </p:nvSpPr>
        <p:spPr bwMode="auto">
          <a:xfrm>
            <a:off x="4368800" y="2359025"/>
            <a:ext cx="314007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35" name="Text Box 29"/>
          <p:cNvSpPr txBox="1">
            <a:spLocks noChangeArrowheads="1"/>
          </p:cNvSpPr>
          <p:nvPr/>
        </p:nvSpPr>
        <p:spPr bwMode="auto">
          <a:xfrm>
            <a:off x="3430588" y="2466975"/>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协议</a:t>
            </a:r>
          </a:p>
        </p:txBody>
      </p:sp>
      <p:sp>
        <p:nvSpPr>
          <p:cNvPr id="482336" name="Text Box 30"/>
          <p:cNvSpPr txBox="1">
            <a:spLocks noChangeArrowheads="1"/>
          </p:cNvSpPr>
          <p:nvPr/>
        </p:nvSpPr>
        <p:spPr bwMode="auto">
          <a:xfrm>
            <a:off x="4911725" y="2482850"/>
            <a:ext cx="1884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信    息    部    分</a:t>
            </a:r>
          </a:p>
        </p:txBody>
      </p:sp>
      <p:sp>
        <p:nvSpPr>
          <p:cNvPr id="482337" name="AutoShape 34"/>
          <p:cNvSpPr>
            <a:spLocks/>
          </p:cNvSpPr>
          <p:nvPr/>
        </p:nvSpPr>
        <p:spPr bwMode="auto">
          <a:xfrm rot="5400000">
            <a:off x="2808287" y="771526"/>
            <a:ext cx="176213" cy="2944812"/>
          </a:xfrm>
          <a:prstGeom prst="leftBrace">
            <a:avLst>
              <a:gd name="adj1" fmla="val 128510"/>
              <a:gd name="adj2" fmla="val 50069"/>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38" name="AutoShape 35"/>
          <p:cNvSpPr>
            <a:spLocks/>
          </p:cNvSpPr>
          <p:nvPr/>
        </p:nvSpPr>
        <p:spPr bwMode="auto">
          <a:xfrm rot="5400000">
            <a:off x="8358981" y="1320007"/>
            <a:ext cx="161925" cy="1862138"/>
          </a:xfrm>
          <a:prstGeom prst="leftBrace">
            <a:avLst>
              <a:gd name="adj1" fmla="val 8843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39" name="Text Box 36"/>
          <p:cNvSpPr txBox="1">
            <a:spLocks noChangeArrowheads="1"/>
          </p:cNvSpPr>
          <p:nvPr/>
        </p:nvSpPr>
        <p:spPr bwMode="auto">
          <a:xfrm>
            <a:off x="2543175" y="1773238"/>
            <a:ext cx="700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首部</a:t>
            </a:r>
          </a:p>
        </p:txBody>
      </p:sp>
      <p:sp>
        <p:nvSpPr>
          <p:cNvPr id="482340" name="Text Box 37"/>
          <p:cNvSpPr txBox="1">
            <a:spLocks noChangeArrowheads="1"/>
          </p:cNvSpPr>
          <p:nvPr/>
        </p:nvSpPr>
        <p:spPr bwMode="auto">
          <a:xfrm>
            <a:off x="8094663" y="177323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尾部</a:t>
            </a:r>
          </a:p>
        </p:txBody>
      </p:sp>
      <p:sp>
        <p:nvSpPr>
          <p:cNvPr id="482341" name="Line 38"/>
          <p:cNvSpPr>
            <a:spLocks noChangeShapeType="1"/>
          </p:cNvSpPr>
          <p:nvPr/>
        </p:nvSpPr>
        <p:spPr bwMode="auto">
          <a:xfrm>
            <a:off x="1423988" y="1763713"/>
            <a:ext cx="0" cy="485775"/>
          </a:xfrm>
          <a:prstGeom prst="line">
            <a:avLst/>
          </a:prstGeom>
          <a:noFill/>
          <a:ln w="28575">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82342" name="Line 40"/>
          <p:cNvSpPr>
            <a:spLocks noChangeShapeType="1"/>
          </p:cNvSpPr>
          <p:nvPr/>
        </p:nvSpPr>
        <p:spPr bwMode="auto">
          <a:xfrm>
            <a:off x="7508875" y="2303463"/>
            <a:ext cx="0" cy="595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43" name="Line 41"/>
          <p:cNvSpPr>
            <a:spLocks noChangeShapeType="1"/>
          </p:cNvSpPr>
          <p:nvPr/>
        </p:nvSpPr>
        <p:spPr bwMode="auto">
          <a:xfrm>
            <a:off x="4368800" y="2343150"/>
            <a:ext cx="0" cy="555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44" name="AutoShape 42"/>
          <p:cNvSpPr>
            <a:spLocks noChangeArrowheads="1"/>
          </p:cNvSpPr>
          <p:nvPr/>
        </p:nvSpPr>
        <p:spPr bwMode="auto">
          <a:xfrm>
            <a:off x="5741988" y="1900238"/>
            <a:ext cx="295275" cy="566737"/>
          </a:xfrm>
          <a:prstGeom prst="downArrow">
            <a:avLst>
              <a:gd name="adj1" fmla="val 50000"/>
              <a:gd name="adj2" fmla="val 77974"/>
            </a:avLst>
          </a:prstGeom>
          <a:solidFill>
            <a:schemeClr val="accent1"/>
          </a:solidFill>
          <a:ln w="19050">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2" name="矩形 1"/>
          <p:cNvSpPr/>
          <p:nvPr/>
        </p:nvSpPr>
        <p:spPr>
          <a:xfrm>
            <a:off x="1497013" y="4010025"/>
            <a:ext cx="7623175" cy="1939925"/>
          </a:xfrm>
          <a:prstGeom prst="rect">
            <a:avLst/>
          </a:prstGeom>
          <a:solidFill>
            <a:srgbClr val="66FF66"/>
          </a:solidFill>
          <a:ln>
            <a:solidFill>
              <a:schemeClr val="tx1"/>
            </a:solidFill>
          </a:ln>
        </p:spPr>
        <p:txBody>
          <a:bodyPr>
            <a:spAutoFit/>
          </a:bodyPr>
          <a:lstStyle/>
          <a:p>
            <a:pPr eaLnBrk="0" hangingPunct="0">
              <a:spcBef>
                <a:spcPts val="0"/>
              </a:spcBef>
            </a:pPr>
            <a:r>
              <a:rPr lang="en-US" altLang="zh-CN" sz="2400" b="1" noProof="1">
                <a:latin typeface="+mn-lt"/>
                <a:ea typeface="黑体" panose="02010609060101010101" pitchFamily="2" charset="-122"/>
              </a:rPr>
              <a:t>PPP </a:t>
            </a:r>
            <a:r>
              <a:rPr lang="zh-CN" altLang="en-US" sz="2400" b="1" noProof="1">
                <a:latin typeface="+mn-lt"/>
                <a:ea typeface="黑体" panose="02010609060101010101" pitchFamily="2" charset="-122"/>
              </a:rPr>
              <a:t>有一个 </a:t>
            </a:r>
            <a:r>
              <a:rPr lang="en-US" altLang="zh-CN" sz="2400" b="1" noProof="1">
                <a:solidFill>
                  <a:srgbClr val="0000CC"/>
                </a:solidFill>
                <a:latin typeface="+mn-lt"/>
                <a:ea typeface="黑体" panose="02010609060101010101" pitchFamily="2" charset="-122"/>
              </a:rPr>
              <a:t>2 </a:t>
            </a:r>
            <a:r>
              <a:rPr lang="zh-CN" altLang="en-US" sz="2400" b="1" noProof="1">
                <a:solidFill>
                  <a:srgbClr val="0000CC"/>
                </a:solidFill>
                <a:latin typeface="+mn-lt"/>
                <a:ea typeface="黑体" panose="02010609060101010101" pitchFamily="2" charset="-122"/>
              </a:rPr>
              <a:t>个字节的协议字段</a:t>
            </a:r>
            <a:r>
              <a:rPr lang="zh-CN" altLang="en-US" sz="2400" b="1" noProof="1">
                <a:latin typeface="+mn-lt"/>
                <a:ea typeface="黑体" panose="02010609060101010101" pitchFamily="2" charset="-122"/>
              </a:rPr>
              <a:t>。其值</a:t>
            </a:r>
          </a:p>
          <a:p>
            <a:pPr marL="360680" indent="-360680" eaLnBrk="0" hangingPunct="0">
              <a:spcBef>
                <a:spcPts val="0"/>
              </a:spcBef>
              <a:buSzPct val="80000"/>
              <a:buFont typeface="Wingdings" panose="05000000000000000000" pitchFamily="2" charset="2"/>
              <a:buChar char="l"/>
            </a:pPr>
            <a:r>
              <a:rPr lang="zh-CN" altLang="en-US" sz="2400" b="1" noProof="1">
                <a:latin typeface="+mn-lt"/>
                <a:ea typeface="黑体" panose="02010609060101010101" pitchFamily="2" charset="-122"/>
              </a:rPr>
              <a:t>若为 </a:t>
            </a:r>
            <a:r>
              <a:rPr lang="en-US" altLang="zh-CN" sz="2400" b="1" noProof="1">
                <a:latin typeface="+mn-lt"/>
                <a:ea typeface="黑体" panose="02010609060101010101" pitchFamily="2" charset="-122"/>
              </a:rPr>
              <a:t>0x0021</a:t>
            </a:r>
            <a:r>
              <a:rPr lang="zh-CN" altLang="en-US" sz="2400" b="1" noProof="1">
                <a:latin typeface="+mn-lt"/>
                <a:ea typeface="黑体" panose="02010609060101010101" pitchFamily="2" charset="-122"/>
              </a:rPr>
              <a:t>，则信息字段就是 </a:t>
            </a:r>
            <a:r>
              <a:rPr lang="en-US" altLang="zh-CN" sz="2400" b="1" noProof="1">
                <a:latin typeface="+mn-lt"/>
                <a:ea typeface="黑体" panose="02010609060101010101" pitchFamily="2" charset="-122"/>
              </a:rPr>
              <a:t>IP </a:t>
            </a:r>
            <a:r>
              <a:rPr lang="zh-CN" altLang="en-US" sz="2400" b="1" noProof="1">
                <a:latin typeface="+mn-lt"/>
                <a:ea typeface="黑体" panose="02010609060101010101" pitchFamily="2" charset="-122"/>
              </a:rPr>
              <a:t>数据报。</a:t>
            </a:r>
            <a:endParaRPr lang="en-US" altLang="zh-CN" sz="2400" b="1" noProof="1">
              <a:latin typeface="+mn-lt"/>
              <a:ea typeface="黑体" panose="02010609060101010101" pitchFamily="2" charset="-122"/>
            </a:endParaRPr>
          </a:p>
          <a:p>
            <a:pPr marL="360680" indent="-360680" eaLnBrk="0" hangingPunct="0">
              <a:spcBef>
                <a:spcPts val="0"/>
              </a:spcBef>
              <a:buSzPct val="80000"/>
              <a:buFont typeface="Wingdings" panose="05000000000000000000" pitchFamily="2" charset="2"/>
              <a:buChar char="l"/>
            </a:pPr>
            <a:r>
              <a:rPr lang="zh-CN" altLang="en-US" sz="2400" b="1" noProof="1">
                <a:ea typeface="黑体" panose="02010609060101010101" pitchFamily="2" charset="-122"/>
              </a:rPr>
              <a:t>若为 </a:t>
            </a:r>
            <a:r>
              <a:rPr lang="en-US" altLang="zh-CN" sz="2400" b="1" noProof="1">
                <a:ea typeface="黑体" panose="02010609060101010101" pitchFamily="2" charset="-122"/>
              </a:rPr>
              <a:t>0x8021</a:t>
            </a:r>
            <a:r>
              <a:rPr lang="zh-CN" altLang="en-US" sz="2400" b="1" noProof="1">
                <a:ea typeface="黑体" panose="02010609060101010101" pitchFamily="2" charset="-122"/>
              </a:rPr>
              <a:t>，则信息字段</a:t>
            </a:r>
            <a:r>
              <a:rPr lang="zh-CN" altLang="en-US" sz="2400" b="1" noProof="1" smtClean="0">
                <a:ea typeface="黑体" panose="02010609060101010101" pitchFamily="2" charset="-122"/>
              </a:rPr>
              <a:t>是</a:t>
            </a:r>
            <a:r>
              <a:rPr lang="en-US" altLang="zh-CN" sz="2400" b="1" noProof="1" smtClean="0">
                <a:ea typeface="黑体" panose="02010609060101010101" pitchFamily="2" charset="-122"/>
              </a:rPr>
              <a:t>NCP</a:t>
            </a:r>
            <a:r>
              <a:rPr lang="zh-CN" altLang="en-US" sz="2400" b="1" noProof="1" smtClean="0">
                <a:ea typeface="黑体" panose="02010609060101010101" pitchFamily="2" charset="-122"/>
              </a:rPr>
              <a:t>网络</a:t>
            </a:r>
            <a:r>
              <a:rPr lang="zh-CN" altLang="en-US" sz="2400" b="1" noProof="1">
                <a:ea typeface="黑体" panose="02010609060101010101" pitchFamily="2" charset="-122"/>
              </a:rPr>
              <a:t>控制数据。</a:t>
            </a:r>
            <a:endParaRPr lang="zh-CN" altLang="en-US" sz="2400" b="1" noProof="1">
              <a:latin typeface="+mn-lt"/>
              <a:ea typeface="黑体" panose="02010609060101010101" pitchFamily="2" charset="-122"/>
            </a:endParaRPr>
          </a:p>
          <a:p>
            <a:pPr marL="360680" indent="-360680" eaLnBrk="0" hangingPunct="0">
              <a:spcBef>
                <a:spcPts val="0"/>
              </a:spcBef>
              <a:buSzPct val="80000"/>
              <a:buFont typeface="Wingdings" panose="05000000000000000000" pitchFamily="2" charset="2"/>
              <a:buChar char="l"/>
            </a:pPr>
            <a:r>
              <a:rPr lang="zh-CN" altLang="en-US" sz="2400" b="1" noProof="1">
                <a:latin typeface="+mn-lt"/>
                <a:ea typeface="黑体" panose="02010609060101010101" pitchFamily="2" charset="-122"/>
              </a:rPr>
              <a:t>若为 </a:t>
            </a:r>
            <a:r>
              <a:rPr lang="en-US" altLang="zh-CN" sz="2400" b="1" noProof="1">
                <a:latin typeface="+mn-lt"/>
                <a:ea typeface="黑体" panose="02010609060101010101" pitchFamily="2" charset="-122"/>
              </a:rPr>
              <a:t>0xC021</a:t>
            </a:r>
            <a:r>
              <a:rPr lang="zh-CN" altLang="en-US" sz="2400" b="1" noProof="1">
                <a:latin typeface="+mn-lt"/>
                <a:ea typeface="黑体" panose="02010609060101010101" pitchFamily="2" charset="-122"/>
              </a:rPr>
              <a:t>，则信息字段是 </a:t>
            </a:r>
            <a:r>
              <a:rPr lang="en-US" altLang="zh-CN" sz="2400" b="1" noProof="1" smtClean="0">
                <a:latin typeface="+mn-lt"/>
                <a:ea typeface="黑体" panose="02010609060101010101" pitchFamily="2" charset="-122"/>
              </a:rPr>
              <a:t>LCP </a:t>
            </a:r>
            <a:r>
              <a:rPr lang="zh-CN" altLang="en-US" sz="2400" b="1" noProof="1">
                <a:latin typeface="+mn-lt"/>
                <a:ea typeface="黑体" panose="02010609060101010101" pitchFamily="2" charset="-122"/>
              </a:rPr>
              <a:t>链路控制数据。</a:t>
            </a:r>
          </a:p>
          <a:p>
            <a:pPr marL="360680" indent="-360680" eaLnBrk="0" hangingPunct="0">
              <a:spcBef>
                <a:spcPts val="0"/>
              </a:spcBef>
              <a:buSzPct val="80000"/>
              <a:buFont typeface="Wingdings" panose="05000000000000000000" pitchFamily="2" charset="2"/>
              <a:buChar char="l"/>
            </a:pPr>
            <a:r>
              <a:rPr lang="zh-CN" altLang="en-US" sz="2400" b="1" noProof="1">
                <a:ea typeface="黑体" panose="02010609060101010101" pitchFamily="2" charset="-122"/>
              </a:rPr>
              <a:t>若为 </a:t>
            </a:r>
            <a:r>
              <a:rPr lang="en-US" altLang="zh-CN" sz="2400" b="1" noProof="1">
                <a:ea typeface="黑体" panose="02010609060101010101" pitchFamily="2" charset="-122"/>
              </a:rPr>
              <a:t>0xC023</a:t>
            </a:r>
            <a:r>
              <a:rPr lang="zh-CN" altLang="en-US" sz="2400" b="1" noProof="1">
                <a:ea typeface="黑体" panose="02010609060101010101" pitchFamily="2" charset="-122"/>
              </a:rPr>
              <a:t>，则信息字段是鉴别数据。</a:t>
            </a:r>
            <a:endParaRPr lang="en-US" altLang="zh-CN" sz="2400" b="1" noProof="1">
              <a:ea typeface="黑体" panose="02010609060101010101" pitchFamily="2" charset="-122"/>
            </a:endParaRPr>
          </a:p>
        </p:txBody>
      </p:sp>
      <p:sp>
        <p:nvSpPr>
          <p:cNvPr id="48234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2B676B-663F-4576-B14E-A7AB0963919F}" type="slidenum">
              <a:rPr lang="zh-CN" altLang="en-US" smtClean="0"/>
              <a:pPr eaLnBrk="1" hangingPunct="1"/>
              <a:t>35</a:t>
            </a:fld>
            <a:endParaRPr lang="en-US" altLang="zh-CN" smtClean="0"/>
          </a:p>
        </p:txBody>
      </p:sp>
      <p:sp>
        <p:nvSpPr>
          <p:cNvPr id="48234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透明传输问题 </a:t>
            </a:r>
          </a:p>
        </p:txBody>
      </p:sp>
      <p:sp>
        <p:nvSpPr>
          <p:cNvPr id="19661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当 </a:t>
            </a:r>
            <a:r>
              <a:rPr lang="en-US" altLang="zh-CN" smtClean="0">
                <a:ea typeface="黑体" panose="02010609060101010101" pitchFamily="49" charset="-122"/>
              </a:rPr>
              <a:t>PPP </a:t>
            </a:r>
            <a:r>
              <a:rPr lang="zh-CN" altLang="en-US" smtClean="0">
                <a:ea typeface="黑体" panose="02010609060101010101" pitchFamily="49" charset="-122"/>
              </a:rPr>
              <a:t>用在同步传输链路时，协议规定采用硬件来完成</a:t>
            </a:r>
            <a:r>
              <a:rPr lang="zh-CN" altLang="en-US" smtClean="0">
                <a:solidFill>
                  <a:srgbClr val="FF0000"/>
                </a:solidFill>
                <a:ea typeface="黑体" panose="02010609060101010101" pitchFamily="49" charset="-122"/>
              </a:rPr>
              <a:t>比特填充</a:t>
            </a:r>
            <a:r>
              <a:rPr lang="zh-CN" altLang="en-US" smtClean="0">
                <a:ea typeface="黑体" panose="02010609060101010101" pitchFamily="49" charset="-122"/>
              </a:rPr>
              <a:t>（和 </a:t>
            </a:r>
            <a:r>
              <a:rPr lang="en-US" altLang="zh-CN" smtClean="0">
                <a:ea typeface="黑体" panose="02010609060101010101" pitchFamily="49" charset="-122"/>
              </a:rPr>
              <a:t>HDLC </a:t>
            </a:r>
            <a:r>
              <a:rPr lang="zh-CN" altLang="en-US" smtClean="0">
                <a:ea typeface="黑体" panose="02010609060101010101" pitchFamily="49" charset="-122"/>
              </a:rPr>
              <a:t>的做法一样）。 </a:t>
            </a:r>
            <a:endParaRPr lang="zh-CN" altLang="en-US" sz="3600" smtClean="0">
              <a:ea typeface="黑体" panose="02010609060101010101" pitchFamily="49" charset="-122"/>
            </a:endParaRPr>
          </a:p>
          <a:p>
            <a:r>
              <a:rPr lang="zh-CN" altLang="en-US" smtClean="0">
                <a:ea typeface="黑体" panose="02010609060101010101" pitchFamily="49" charset="-122"/>
              </a:rPr>
              <a:t>当 </a:t>
            </a:r>
            <a:r>
              <a:rPr lang="en-US" altLang="zh-CN" smtClean="0">
                <a:ea typeface="黑体" panose="02010609060101010101" pitchFamily="49" charset="-122"/>
              </a:rPr>
              <a:t>PPP </a:t>
            </a:r>
            <a:r>
              <a:rPr lang="zh-CN" altLang="en-US" smtClean="0">
                <a:ea typeface="黑体" panose="02010609060101010101" pitchFamily="49" charset="-122"/>
              </a:rPr>
              <a:t>用在异步传输时，就使用一种特殊的</a:t>
            </a:r>
            <a:r>
              <a:rPr lang="zh-CN" altLang="en-US" smtClean="0">
                <a:solidFill>
                  <a:srgbClr val="FF0000"/>
                </a:solidFill>
                <a:ea typeface="黑体" panose="02010609060101010101" pitchFamily="49" charset="-122"/>
              </a:rPr>
              <a:t>字符填充法。</a:t>
            </a:r>
            <a:r>
              <a:rPr lang="zh-CN" altLang="en-US" smtClean="0">
                <a:ea typeface="黑体" panose="02010609060101010101" pitchFamily="49" charset="-122"/>
              </a:rPr>
              <a:t> </a:t>
            </a:r>
          </a:p>
        </p:txBody>
      </p:sp>
      <p:sp>
        <p:nvSpPr>
          <p:cNvPr id="4843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2F69F5-854B-4799-AC69-EC133029DD27}" type="slidenum">
              <a:rPr lang="zh-CN" altLang="en-US" smtClean="0"/>
              <a:pPr eaLnBrk="1" hangingPunct="1"/>
              <a:t>36</a:t>
            </a:fld>
            <a:endParaRPr lang="en-US" altLang="zh-CN" smtClean="0"/>
          </a:p>
        </p:txBody>
      </p:sp>
      <p:sp>
        <p:nvSpPr>
          <p:cNvPr id="4843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字符填充 </a:t>
            </a:r>
          </a:p>
        </p:txBody>
      </p:sp>
      <p:sp>
        <p:nvSpPr>
          <p:cNvPr id="197635" name="Rectangle 3"/>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将信息字段中出现的每一个 </a:t>
            </a:r>
            <a:r>
              <a:rPr lang="en-US" altLang="zh-CN" dirty="0" smtClean="0">
                <a:ea typeface="黑体" panose="02010609060101010101" pitchFamily="49" charset="-122"/>
              </a:rPr>
              <a:t>0x7E </a:t>
            </a:r>
            <a:r>
              <a:rPr lang="zh-CN" altLang="en-US" dirty="0" smtClean="0">
                <a:ea typeface="黑体" panose="02010609060101010101" pitchFamily="49" charset="-122"/>
              </a:rPr>
              <a:t>字节转变成为 </a:t>
            </a:r>
            <a:r>
              <a:rPr lang="en-US" altLang="zh-CN" dirty="0" smtClean="0">
                <a:ea typeface="黑体" panose="02010609060101010101" pitchFamily="49" charset="-122"/>
              </a:rPr>
              <a:t>2 </a:t>
            </a:r>
            <a:r>
              <a:rPr lang="zh-CN" altLang="en-US" dirty="0" smtClean="0">
                <a:ea typeface="黑体" panose="02010609060101010101" pitchFamily="49" charset="-122"/>
              </a:rPr>
              <a:t>字节序列 </a:t>
            </a:r>
            <a:r>
              <a:rPr lang="en-US" altLang="zh-CN" dirty="0" smtClean="0">
                <a:ea typeface="黑体" panose="02010609060101010101" pitchFamily="49" charset="-122"/>
              </a:rPr>
              <a:t>(0x7D, 0x5E)</a:t>
            </a:r>
            <a:r>
              <a:rPr lang="zh-CN" altLang="en-US" dirty="0" smtClean="0">
                <a:ea typeface="黑体" panose="02010609060101010101" pitchFamily="49" charset="-122"/>
              </a:rPr>
              <a:t>。 </a:t>
            </a:r>
            <a:endParaRPr lang="zh-CN" altLang="en-US" sz="3600" dirty="0" smtClean="0">
              <a:ea typeface="黑体" panose="02010609060101010101" pitchFamily="49" charset="-122"/>
            </a:endParaRPr>
          </a:p>
          <a:p>
            <a:pPr>
              <a:spcBef>
                <a:spcPts val="1200"/>
              </a:spcBef>
            </a:pPr>
            <a:r>
              <a:rPr lang="zh-CN" altLang="en-US" dirty="0" smtClean="0">
                <a:ea typeface="黑体" panose="02010609060101010101" pitchFamily="49" charset="-122"/>
              </a:rPr>
              <a:t>若信息字段中出现一个 </a:t>
            </a:r>
            <a:r>
              <a:rPr lang="en-US" altLang="zh-CN" dirty="0" smtClean="0">
                <a:ea typeface="黑体" panose="02010609060101010101" pitchFamily="49" charset="-122"/>
              </a:rPr>
              <a:t>0x7D </a:t>
            </a:r>
            <a:r>
              <a:rPr lang="zh-CN" altLang="en-US" dirty="0" smtClean="0">
                <a:ea typeface="黑体" panose="02010609060101010101" pitchFamily="49" charset="-122"/>
              </a:rPr>
              <a:t>的字节</a:t>
            </a:r>
            <a:r>
              <a:rPr lang="en-US" altLang="zh-CN" dirty="0" smtClean="0">
                <a:ea typeface="黑体" panose="02010609060101010101" pitchFamily="49" charset="-122"/>
              </a:rPr>
              <a:t>, </a:t>
            </a:r>
            <a:r>
              <a:rPr lang="zh-CN" altLang="en-US" dirty="0" smtClean="0">
                <a:ea typeface="黑体" panose="02010609060101010101" pitchFamily="49" charset="-122"/>
              </a:rPr>
              <a:t>则将其转变成为 </a:t>
            </a:r>
            <a:r>
              <a:rPr lang="en-US" altLang="zh-CN" dirty="0" smtClean="0">
                <a:ea typeface="黑体" panose="02010609060101010101" pitchFamily="49" charset="-122"/>
              </a:rPr>
              <a:t>2 </a:t>
            </a:r>
            <a:r>
              <a:rPr lang="zh-CN" altLang="en-US" dirty="0" smtClean="0">
                <a:ea typeface="黑体" panose="02010609060101010101" pitchFamily="49" charset="-122"/>
              </a:rPr>
              <a:t>字节序列 </a:t>
            </a:r>
            <a:r>
              <a:rPr lang="en-US" altLang="zh-CN" dirty="0" smtClean="0">
                <a:ea typeface="黑体" panose="02010609060101010101" pitchFamily="49" charset="-122"/>
              </a:rPr>
              <a:t>(0x7D, 0x5D)</a:t>
            </a:r>
            <a:r>
              <a:rPr lang="zh-CN" altLang="en-US" dirty="0" smtClean="0">
                <a:ea typeface="黑体" panose="02010609060101010101" pitchFamily="49" charset="-122"/>
              </a:rPr>
              <a:t>。</a:t>
            </a:r>
          </a:p>
          <a:p>
            <a:pPr>
              <a:spcBef>
                <a:spcPts val="1200"/>
              </a:spcBef>
            </a:pPr>
            <a:r>
              <a:rPr lang="zh-CN" altLang="en-US" dirty="0" smtClean="0">
                <a:ea typeface="黑体" panose="02010609060101010101" pitchFamily="49" charset="-122"/>
              </a:rPr>
              <a:t>若信息字段中出现 </a:t>
            </a:r>
            <a:r>
              <a:rPr lang="en-US" altLang="zh-CN" dirty="0" smtClean="0">
                <a:ea typeface="黑体" panose="02010609060101010101" pitchFamily="49" charset="-122"/>
              </a:rPr>
              <a:t>ASCII </a:t>
            </a:r>
            <a:r>
              <a:rPr lang="zh-CN" altLang="en-US" dirty="0" smtClean="0">
                <a:ea typeface="黑体" panose="02010609060101010101" pitchFamily="49" charset="-122"/>
              </a:rPr>
              <a:t>码的控制字符（即数值小于 </a:t>
            </a:r>
            <a:r>
              <a:rPr lang="en-US" altLang="zh-CN" dirty="0" smtClean="0">
                <a:ea typeface="黑体" panose="02010609060101010101" pitchFamily="49" charset="-122"/>
              </a:rPr>
              <a:t>0x20 </a:t>
            </a:r>
            <a:r>
              <a:rPr lang="zh-CN" altLang="en-US" dirty="0" smtClean="0">
                <a:ea typeface="黑体" panose="02010609060101010101" pitchFamily="49" charset="-122"/>
              </a:rPr>
              <a:t>的字符），则在该字符前面要加入一个 </a:t>
            </a:r>
            <a:r>
              <a:rPr lang="en-US" altLang="zh-CN" dirty="0" smtClean="0">
                <a:ea typeface="黑体" panose="02010609060101010101" pitchFamily="49" charset="-122"/>
              </a:rPr>
              <a:t>0x7D </a:t>
            </a:r>
            <a:r>
              <a:rPr lang="zh-CN" altLang="en-US" dirty="0" smtClean="0">
                <a:ea typeface="黑体" panose="02010609060101010101" pitchFamily="49" charset="-122"/>
              </a:rPr>
              <a:t>字节，同时将该字符的编码加以改变。  </a:t>
            </a:r>
          </a:p>
        </p:txBody>
      </p:sp>
      <p:sp>
        <p:nvSpPr>
          <p:cNvPr id="4864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843F46-B87F-43A9-80F3-2087457853B7}" type="slidenum">
              <a:rPr lang="zh-CN" altLang="en-US" smtClean="0"/>
              <a:pPr eaLnBrk="1" hangingPunct="1"/>
              <a:t>37</a:t>
            </a:fld>
            <a:endParaRPr lang="en-US" altLang="zh-CN" smtClean="0"/>
          </a:p>
        </p:txBody>
      </p:sp>
      <p:sp>
        <p:nvSpPr>
          <p:cNvPr id="4864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零比特填充 </a:t>
            </a:r>
          </a:p>
        </p:txBody>
      </p:sp>
      <p:sp>
        <p:nvSpPr>
          <p:cNvPr id="48845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PPP </a:t>
            </a:r>
            <a:r>
              <a:rPr lang="zh-CN" altLang="en-US" dirty="0" smtClean="0">
                <a:ea typeface="黑体" panose="02010609060101010101" pitchFamily="49" charset="-122"/>
              </a:rPr>
              <a:t>协议用在 </a:t>
            </a:r>
            <a:r>
              <a:rPr lang="en-US" altLang="zh-CN" dirty="0" smtClean="0">
                <a:ea typeface="黑体" panose="02010609060101010101" pitchFamily="49" charset="-122"/>
              </a:rPr>
              <a:t>SONET/SDH </a:t>
            </a:r>
            <a:r>
              <a:rPr lang="zh-CN" altLang="en-US" dirty="0" smtClean="0">
                <a:ea typeface="黑体" panose="02010609060101010101" pitchFamily="49" charset="-122"/>
              </a:rPr>
              <a:t>链路时，使用同步传输（一连串的比特连续传送）。</a:t>
            </a:r>
            <a:r>
              <a:rPr lang="zh-CN" altLang="en-US" dirty="0" smtClean="0">
                <a:solidFill>
                  <a:srgbClr val="0000CC"/>
                </a:solidFill>
                <a:ea typeface="黑体" panose="02010609060101010101" pitchFamily="49" charset="-122"/>
              </a:rPr>
              <a:t>这时 </a:t>
            </a:r>
            <a:r>
              <a:rPr lang="en-US" altLang="zh-CN" dirty="0" smtClean="0">
                <a:solidFill>
                  <a:srgbClr val="0000CC"/>
                </a:solidFill>
                <a:ea typeface="黑体" panose="02010609060101010101" pitchFamily="49" charset="-122"/>
              </a:rPr>
              <a:t>PPP </a:t>
            </a:r>
            <a:r>
              <a:rPr lang="zh-CN" altLang="en-US" dirty="0" smtClean="0">
                <a:solidFill>
                  <a:srgbClr val="0000CC"/>
                </a:solidFill>
                <a:ea typeface="黑体" panose="02010609060101010101" pitchFamily="49" charset="-122"/>
              </a:rPr>
              <a:t>协议采用</a:t>
            </a:r>
            <a:r>
              <a:rPr lang="zh-CN" altLang="en-US" dirty="0" smtClean="0">
                <a:solidFill>
                  <a:srgbClr val="FF0000"/>
                </a:solidFill>
                <a:ea typeface="黑体" panose="02010609060101010101" pitchFamily="49" charset="-122"/>
              </a:rPr>
              <a:t>零比特填充</a:t>
            </a:r>
            <a:r>
              <a:rPr lang="zh-CN" altLang="en-US" dirty="0" smtClean="0">
                <a:solidFill>
                  <a:srgbClr val="0000CC"/>
                </a:solidFill>
                <a:ea typeface="黑体" panose="02010609060101010101" pitchFamily="49" charset="-122"/>
              </a:rPr>
              <a:t>方法来实现透明传输。</a:t>
            </a:r>
          </a:p>
          <a:p>
            <a:r>
              <a:rPr lang="zh-CN" altLang="en-US" dirty="0" smtClean="0">
                <a:ea typeface="黑体" panose="02010609060101010101" pitchFamily="49" charset="-122"/>
              </a:rPr>
              <a:t>在发送端，只要发现有 </a:t>
            </a:r>
            <a:r>
              <a:rPr lang="en-US" altLang="zh-CN" dirty="0" smtClean="0">
                <a:ea typeface="黑体" panose="02010609060101010101" pitchFamily="49" charset="-122"/>
              </a:rPr>
              <a:t>5 </a:t>
            </a:r>
            <a:r>
              <a:rPr lang="zh-CN" altLang="en-US" dirty="0" smtClean="0">
                <a:ea typeface="黑体" panose="02010609060101010101" pitchFamily="49" charset="-122"/>
              </a:rPr>
              <a:t>个连续 </a:t>
            </a:r>
            <a:r>
              <a:rPr lang="en-US" altLang="zh-CN" dirty="0" smtClean="0">
                <a:ea typeface="黑体" panose="02010609060101010101" pitchFamily="49" charset="-122"/>
              </a:rPr>
              <a:t>1</a:t>
            </a:r>
            <a:r>
              <a:rPr lang="zh-CN" altLang="en-US" dirty="0" smtClean="0">
                <a:ea typeface="黑体" panose="02010609060101010101" pitchFamily="49" charset="-122"/>
              </a:rPr>
              <a:t>，则立即填入一个 </a:t>
            </a:r>
            <a:r>
              <a:rPr lang="en-US" altLang="zh-CN" dirty="0" smtClean="0">
                <a:ea typeface="黑体" panose="02010609060101010101" pitchFamily="49" charset="-122"/>
              </a:rPr>
              <a:t>0</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接收端对帧中的比特流进行扫描。每当发现 </a:t>
            </a:r>
            <a:r>
              <a:rPr lang="en-US" altLang="zh-CN" dirty="0" smtClean="0">
                <a:ea typeface="黑体" panose="02010609060101010101" pitchFamily="49" charset="-122"/>
              </a:rPr>
              <a:t>5 </a:t>
            </a:r>
            <a:r>
              <a:rPr lang="zh-CN" altLang="en-US" dirty="0" smtClean="0">
                <a:ea typeface="黑体" panose="02010609060101010101" pitchFamily="49" charset="-122"/>
              </a:rPr>
              <a:t>个连续</a:t>
            </a:r>
            <a:r>
              <a:rPr lang="en-US" altLang="zh-CN" dirty="0" smtClean="0">
                <a:ea typeface="黑体" panose="02010609060101010101" pitchFamily="49" charset="-122"/>
              </a:rPr>
              <a:t>1</a:t>
            </a:r>
            <a:r>
              <a:rPr lang="zh-CN" altLang="en-US" dirty="0" smtClean="0">
                <a:ea typeface="黑体" panose="02010609060101010101" pitchFamily="49" charset="-122"/>
              </a:rPr>
              <a:t>时，就把这 </a:t>
            </a:r>
            <a:r>
              <a:rPr lang="en-US" altLang="zh-CN" dirty="0" smtClean="0">
                <a:ea typeface="黑体" panose="02010609060101010101" pitchFamily="49" charset="-122"/>
              </a:rPr>
              <a:t>5 </a:t>
            </a:r>
            <a:r>
              <a:rPr lang="zh-CN" altLang="en-US" dirty="0" smtClean="0">
                <a:ea typeface="黑体" panose="02010609060101010101" pitchFamily="49" charset="-122"/>
              </a:rPr>
              <a:t>个连续 </a:t>
            </a:r>
            <a:r>
              <a:rPr lang="en-US" altLang="zh-CN" dirty="0" smtClean="0">
                <a:ea typeface="黑体" panose="02010609060101010101" pitchFamily="49" charset="-122"/>
              </a:rPr>
              <a:t>1 </a:t>
            </a:r>
            <a:r>
              <a:rPr lang="zh-CN" altLang="en-US" dirty="0" smtClean="0">
                <a:ea typeface="黑体" panose="02010609060101010101" pitchFamily="49" charset="-122"/>
              </a:rPr>
              <a:t>后的一个 </a:t>
            </a:r>
            <a:r>
              <a:rPr lang="en-US" altLang="zh-CN" dirty="0" smtClean="0">
                <a:ea typeface="黑体" panose="02010609060101010101" pitchFamily="49" charset="-122"/>
              </a:rPr>
              <a:t>0 </a:t>
            </a:r>
            <a:r>
              <a:rPr lang="zh-CN" altLang="en-US" dirty="0" smtClean="0">
                <a:ea typeface="黑体" panose="02010609060101010101" pitchFamily="49" charset="-122"/>
              </a:rPr>
              <a:t>删除。</a:t>
            </a:r>
          </a:p>
        </p:txBody>
      </p:sp>
      <p:sp>
        <p:nvSpPr>
          <p:cNvPr id="4884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C64D4B-F2C1-4D0C-A915-E24D79ACA8A5}" type="slidenum">
              <a:rPr lang="zh-CN" altLang="en-US" smtClean="0"/>
              <a:pPr eaLnBrk="1" hangingPunct="1"/>
              <a:t>38</a:t>
            </a:fld>
            <a:endParaRPr lang="en-US" altLang="zh-CN" smtClean="0"/>
          </a:p>
        </p:txBody>
      </p:sp>
      <p:sp>
        <p:nvSpPr>
          <p:cNvPr id="4884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7" name="标题 5"/>
          <p:cNvSpPr>
            <a:spLocks noGrp="1" noChangeArrowheads="1"/>
          </p:cNvSpPr>
          <p:nvPr>
            <p:ph type="title"/>
          </p:nvPr>
        </p:nvSpPr>
        <p:spPr/>
        <p:txBody>
          <a:bodyPr/>
          <a:lstStyle/>
          <a:p>
            <a:pPr algn="ctr"/>
            <a:r>
              <a:rPr lang="zh-CN" altLang="en-US" smtClean="0">
                <a:ea typeface="黑体" panose="02010609060101010101" pitchFamily="49" charset="-122"/>
              </a:rPr>
              <a:t>零比特填充 </a:t>
            </a:r>
          </a:p>
        </p:txBody>
      </p:sp>
      <p:sp>
        <p:nvSpPr>
          <p:cNvPr id="490498" name="AutoShape 20"/>
          <p:cNvSpPr>
            <a:spLocks noChangeArrowheads="1"/>
          </p:cNvSpPr>
          <p:nvPr/>
        </p:nvSpPr>
        <p:spPr bwMode="auto">
          <a:xfrm>
            <a:off x="5600700" y="4584700"/>
            <a:ext cx="2497138" cy="522288"/>
          </a:xfrm>
          <a:prstGeom prst="roundRect">
            <a:avLst>
              <a:gd name="adj" fmla="val 16667"/>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499" name="AutoShape 5"/>
          <p:cNvSpPr>
            <a:spLocks noChangeArrowheads="1"/>
          </p:cNvSpPr>
          <p:nvPr/>
        </p:nvSpPr>
        <p:spPr bwMode="auto">
          <a:xfrm>
            <a:off x="7113588" y="4641850"/>
            <a:ext cx="276225" cy="439738"/>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0" name="Rectangle 17"/>
          <p:cNvSpPr>
            <a:spLocks noChangeArrowheads="1"/>
          </p:cNvSpPr>
          <p:nvPr/>
        </p:nvSpPr>
        <p:spPr bwMode="auto">
          <a:xfrm>
            <a:off x="4775200" y="4616450"/>
            <a:ext cx="47148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0 1 0 </a:t>
            </a:r>
            <a:r>
              <a:rPr lang="en-US" altLang="zh-CN" sz="2400" b="1">
                <a:solidFill>
                  <a:srgbClr val="C00000"/>
                </a:solidFill>
                <a:ea typeface="黑体" panose="02010609060101010101" pitchFamily="49" charset="-122"/>
              </a:rPr>
              <a:t>0 1 1 1 1 1 </a:t>
            </a:r>
            <a:r>
              <a:rPr lang="en-US" altLang="zh-CN" sz="2400" b="1">
                <a:solidFill>
                  <a:srgbClr val="000099"/>
                </a:solidFill>
                <a:ea typeface="黑体" panose="02010609060101010101" pitchFamily="49" charset="-122"/>
              </a:rPr>
              <a:t>0 </a:t>
            </a:r>
            <a:r>
              <a:rPr lang="en-US" altLang="zh-CN" sz="2400" b="1">
                <a:solidFill>
                  <a:srgbClr val="C00000"/>
                </a:solidFill>
                <a:ea typeface="黑体" panose="02010609060101010101" pitchFamily="49" charset="-122"/>
              </a:rPr>
              <a:t>1 0</a:t>
            </a:r>
            <a:r>
              <a:rPr lang="en-US" altLang="zh-CN" sz="2400" b="1">
                <a:solidFill>
                  <a:srgbClr val="000099"/>
                </a:solidFill>
                <a:ea typeface="黑体" panose="02010609060101010101" pitchFamily="49" charset="-122"/>
              </a:rPr>
              <a:t> 0 0 1 0 1 0</a:t>
            </a:r>
          </a:p>
        </p:txBody>
      </p:sp>
      <p:sp>
        <p:nvSpPr>
          <p:cNvPr id="490501" name="AutoShape 19"/>
          <p:cNvSpPr>
            <a:spLocks noChangeArrowheads="1"/>
          </p:cNvSpPr>
          <p:nvPr/>
        </p:nvSpPr>
        <p:spPr bwMode="auto">
          <a:xfrm>
            <a:off x="5554663" y="2962275"/>
            <a:ext cx="2497137" cy="538163"/>
          </a:xfrm>
          <a:prstGeom prst="roundRect">
            <a:avLst>
              <a:gd name="adj" fmla="val 16667"/>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2" name="AutoShape 6"/>
          <p:cNvSpPr>
            <a:spLocks noChangeArrowheads="1"/>
          </p:cNvSpPr>
          <p:nvPr/>
        </p:nvSpPr>
        <p:spPr bwMode="auto">
          <a:xfrm>
            <a:off x="5524500" y="1377950"/>
            <a:ext cx="2214563" cy="466725"/>
          </a:xfrm>
          <a:prstGeom prst="roundRect">
            <a:avLst>
              <a:gd name="adj" fmla="val 16667"/>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3" name="Rectangle 8"/>
          <p:cNvSpPr>
            <a:spLocks noChangeArrowheads="1"/>
          </p:cNvSpPr>
          <p:nvPr/>
        </p:nvSpPr>
        <p:spPr bwMode="auto">
          <a:xfrm>
            <a:off x="4672013" y="1376363"/>
            <a:ext cx="44577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0 1 0 </a:t>
            </a:r>
            <a:r>
              <a:rPr lang="en-US" altLang="zh-CN" sz="2400" b="1">
                <a:solidFill>
                  <a:srgbClr val="C00000"/>
                </a:solidFill>
                <a:ea typeface="黑体" panose="02010609060101010101" pitchFamily="49" charset="-122"/>
              </a:rPr>
              <a:t>0 1 1 1 1 1 1 0 </a:t>
            </a:r>
            <a:r>
              <a:rPr lang="en-US" altLang="zh-CN" sz="2400" b="1">
                <a:solidFill>
                  <a:srgbClr val="000099"/>
                </a:solidFill>
                <a:ea typeface="黑体" panose="02010609060101010101" pitchFamily="49" charset="-122"/>
              </a:rPr>
              <a:t>0 0 1 0 1 0</a:t>
            </a:r>
          </a:p>
        </p:txBody>
      </p:sp>
      <p:sp>
        <p:nvSpPr>
          <p:cNvPr id="490504" name="AutoShape 4"/>
          <p:cNvSpPr>
            <a:spLocks noChangeArrowheads="1"/>
          </p:cNvSpPr>
          <p:nvPr/>
        </p:nvSpPr>
        <p:spPr bwMode="auto">
          <a:xfrm>
            <a:off x="7035800" y="3009900"/>
            <a:ext cx="263525" cy="461963"/>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5" name="Rectangle 16"/>
          <p:cNvSpPr>
            <a:spLocks noChangeArrowheads="1"/>
          </p:cNvSpPr>
          <p:nvPr/>
        </p:nvSpPr>
        <p:spPr bwMode="auto">
          <a:xfrm>
            <a:off x="4710113" y="3027363"/>
            <a:ext cx="47132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dirty="0">
                <a:solidFill>
                  <a:srgbClr val="000099"/>
                </a:solidFill>
                <a:ea typeface="黑体" panose="02010609060101010101" pitchFamily="49" charset="-122"/>
              </a:rPr>
              <a:t>0 1 0 </a:t>
            </a:r>
            <a:r>
              <a:rPr lang="en-US" altLang="zh-CN" sz="2400" b="1" dirty="0">
                <a:solidFill>
                  <a:srgbClr val="C00000"/>
                </a:solidFill>
                <a:ea typeface="黑体" panose="02010609060101010101" pitchFamily="49" charset="-122"/>
              </a:rPr>
              <a:t>0 1 1 1 1 1 </a:t>
            </a:r>
            <a:r>
              <a:rPr lang="en-US" altLang="zh-CN" sz="2400" b="1" dirty="0">
                <a:solidFill>
                  <a:srgbClr val="000099"/>
                </a:solidFill>
                <a:ea typeface="黑体" panose="02010609060101010101" pitchFamily="49" charset="-122"/>
              </a:rPr>
              <a:t>0 </a:t>
            </a:r>
            <a:r>
              <a:rPr lang="en-US" altLang="zh-CN" sz="2400" b="1" dirty="0">
                <a:solidFill>
                  <a:srgbClr val="C00000"/>
                </a:solidFill>
                <a:ea typeface="黑体" panose="02010609060101010101" pitchFamily="49" charset="-122"/>
              </a:rPr>
              <a:t>1 0</a:t>
            </a:r>
            <a:r>
              <a:rPr lang="en-US" altLang="zh-CN" sz="2400" b="1" dirty="0">
                <a:solidFill>
                  <a:srgbClr val="000099"/>
                </a:solidFill>
                <a:ea typeface="黑体" panose="02010609060101010101" pitchFamily="49" charset="-122"/>
              </a:rPr>
              <a:t> 0 0 1 0 1 0</a:t>
            </a:r>
          </a:p>
        </p:txBody>
      </p:sp>
      <p:sp>
        <p:nvSpPr>
          <p:cNvPr id="490506" name="Rectangle 7"/>
          <p:cNvSpPr>
            <a:spLocks noChangeArrowheads="1"/>
          </p:cNvSpPr>
          <p:nvPr/>
        </p:nvSpPr>
        <p:spPr bwMode="auto">
          <a:xfrm>
            <a:off x="1252538" y="1268413"/>
            <a:ext cx="3124200"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信息字段中出现了和</a:t>
            </a:r>
          </a:p>
          <a:p>
            <a:pPr algn="ctr"/>
            <a:r>
              <a:rPr lang="zh-CN" altLang="en-US" sz="2400" b="1">
                <a:solidFill>
                  <a:srgbClr val="000099"/>
                </a:solidFill>
                <a:ea typeface="黑体" panose="02010609060101010101" pitchFamily="49" charset="-122"/>
              </a:rPr>
              <a:t>标志字段 </a:t>
            </a:r>
            <a:r>
              <a:rPr lang="en-US" altLang="zh-CN" sz="2400" b="1">
                <a:solidFill>
                  <a:srgbClr val="000099"/>
                </a:solidFill>
                <a:ea typeface="黑体" panose="02010609060101010101" pitchFamily="49" charset="-122"/>
              </a:rPr>
              <a:t>F </a:t>
            </a:r>
            <a:r>
              <a:rPr lang="zh-CN" altLang="en-US" sz="2400" b="1">
                <a:solidFill>
                  <a:srgbClr val="000099"/>
                </a:solidFill>
                <a:ea typeface="黑体" panose="02010609060101010101" pitchFamily="49" charset="-122"/>
              </a:rPr>
              <a:t>完全一样</a:t>
            </a:r>
          </a:p>
          <a:p>
            <a:pPr algn="ctr"/>
            <a:r>
              <a:rPr lang="zh-CN" altLang="en-US" sz="2400" b="1">
                <a:solidFill>
                  <a:srgbClr val="000099"/>
                </a:solidFill>
                <a:ea typeface="黑体" panose="02010609060101010101" pitchFamily="49" charset="-122"/>
              </a:rPr>
              <a:t>的 </a:t>
            </a:r>
            <a:r>
              <a:rPr lang="en-US" altLang="zh-CN" sz="2400" b="1">
                <a:solidFill>
                  <a:srgbClr val="000099"/>
                </a:solidFill>
                <a:ea typeface="黑体" panose="02010609060101010101" pitchFamily="49" charset="-122"/>
              </a:rPr>
              <a:t>8 </a:t>
            </a:r>
            <a:r>
              <a:rPr lang="zh-CN" altLang="en-US" sz="2400" b="1">
                <a:solidFill>
                  <a:srgbClr val="000099"/>
                </a:solidFill>
                <a:ea typeface="黑体" panose="02010609060101010101" pitchFamily="49" charset="-122"/>
              </a:rPr>
              <a:t>比特组合</a:t>
            </a:r>
          </a:p>
        </p:txBody>
      </p:sp>
      <p:sp>
        <p:nvSpPr>
          <p:cNvPr id="490507" name="Rectangle 9"/>
          <p:cNvSpPr>
            <a:spLocks noChangeArrowheads="1"/>
          </p:cNvSpPr>
          <p:nvPr/>
        </p:nvSpPr>
        <p:spPr bwMode="auto">
          <a:xfrm>
            <a:off x="1036638" y="3106738"/>
            <a:ext cx="33401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发送端在 </a:t>
            </a:r>
            <a:r>
              <a:rPr lang="en-US" altLang="zh-CN" sz="2400" b="1">
                <a:solidFill>
                  <a:srgbClr val="000099"/>
                </a:solidFill>
                <a:ea typeface="黑体" panose="02010609060101010101" pitchFamily="49" charset="-122"/>
              </a:rPr>
              <a:t>5 </a:t>
            </a:r>
            <a:r>
              <a:rPr lang="zh-CN" altLang="en-US" sz="2400" b="1">
                <a:solidFill>
                  <a:srgbClr val="000099"/>
                </a:solidFill>
                <a:ea typeface="黑体" panose="02010609060101010101" pitchFamily="49" charset="-122"/>
              </a:rPr>
              <a:t>个连 </a:t>
            </a:r>
            <a:r>
              <a:rPr lang="en-US" altLang="zh-CN" sz="2400" b="1">
                <a:solidFill>
                  <a:srgbClr val="000099"/>
                </a:solidFill>
                <a:ea typeface="黑体" panose="02010609060101010101" pitchFamily="49" charset="-122"/>
              </a:rPr>
              <a:t>1 </a:t>
            </a:r>
            <a:r>
              <a:rPr lang="zh-CN" altLang="en-US" sz="2400" b="1">
                <a:solidFill>
                  <a:srgbClr val="000099"/>
                </a:solidFill>
                <a:ea typeface="黑体" panose="02010609060101010101" pitchFamily="49" charset="-122"/>
              </a:rPr>
              <a:t>之后</a:t>
            </a:r>
          </a:p>
          <a:p>
            <a:r>
              <a:rPr lang="zh-CN" altLang="en-US" sz="2400" b="1">
                <a:solidFill>
                  <a:srgbClr val="000099"/>
                </a:solidFill>
                <a:ea typeface="黑体" panose="02010609060101010101" pitchFamily="49" charset="-122"/>
              </a:rPr>
              <a:t>填入 </a:t>
            </a:r>
            <a:r>
              <a:rPr lang="en-US" altLang="zh-CN" sz="2400" b="1">
                <a:solidFill>
                  <a:srgbClr val="000099"/>
                </a:solidFill>
                <a:ea typeface="黑体" panose="02010609060101010101" pitchFamily="49" charset="-122"/>
              </a:rPr>
              <a:t>0 </a:t>
            </a:r>
            <a:r>
              <a:rPr lang="zh-CN" altLang="en-US" sz="2400" b="1">
                <a:solidFill>
                  <a:srgbClr val="000099"/>
                </a:solidFill>
                <a:ea typeface="黑体" panose="02010609060101010101" pitchFamily="49" charset="-122"/>
              </a:rPr>
              <a:t>比特再发送出去</a:t>
            </a:r>
          </a:p>
        </p:txBody>
      </p:sp>
      <p:sp>
        <p:nvSpPr>
          <p:cNvPr id="490508" name="Rectangle 10"/>
          <p:cNvSpPr>
            <a:spLocks noChangeArrowheads="1"/>
          </p:cNvSpPr>
          <p:nvPr/>
        </p:nvSpPr>
        <p:spPr bwMode="auto">
          <a:xfrm>
            <a:off x="1687513" y="4760913"/>
            <a:ext cx="26892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接收端把 </a:t>
            </a:r>
            <a:r>
              <a:rPr lang="en-US" altLang="zh-CN" sz="2400" b="1">
                <a:solidFill>
                  <a:srgbClr val="000099"/>
                </a:solidFill>
                <a:ea typeface="黑体" panose="02010609060101010101" pitchFamily="49" charset="-122"/>
              </a:rPr>
              <a:t>5 </a:t>
            </a:r>
            <a:r>
              <a:rPr lang="zh-CN" altLang="en-US" sz="2400" b="1">
                <a:solidFill>
                  <a:srgbClr val="000099"/>
                </a:solidFill>
                <a:ea typeface="黑体" panose="02010609060101010101" pitchFamily="49" charset="-122"/>
              </a:rPr>
              <a:t>个连 </a:t>
            </a:r>
            <a:r>
              <a:rPr lang="en-US" altLang="zh-CN" sz="2400" b="1">
                <a:solidFill>
                  <a:srgbClr val="000099"/>
                </a:solidFill>
                <a:ea typeface="黑体" panose="02010609060101010101" pitchFamily="49" charset="-122"/>
              </a:rPr>
              <a:t>1</a:t>
            </a:r>
          </a:p>
          <a:p>
            <a:pPr algn="ctr"/>
            <a:r>
              <a:rPr lang="zh-CN" altLang="en-US" sz="2400" b="1">
                <a:solidFill>
                  <a:srgbClr val="000099"/>
                </a:solidFill>
                <a:ea typeface="黑体" panose="02010609060101010101" pitchFamily="49" charset="-122"/>
              </a:rPr>
              <a:t>之后的 </a:t>
            </a:r>
            <a:r>
              <a:rPr lang="en-US" altLang="zh-CN" sz="2400" b="1">
                <a:solidFill>
                  <a:srgbClr val="000099"/>
                </a:solidFill>
                <a:ea typeface="黑体" panose="02010609060101010101" pitchFamily="49" charset="-122"/>
              </a:rPr>
              <a:t>0 </a:t>
            </a:r>
            <a:r>
              <a:rPr lang="zh-CN" altLang="en-US" sz="2400" b="1">
                <a:solidFill>
                  <a:srgbClr val="000099"/>
                </a:solidFill>
                <a:ea typeface="黑体" panose="02010609060101010101" pitchFamily="49" charset="-122"/>
              </a:rPr>
              <a:t>比特删除</a:t>
            </a:r>
          </a:p>
        </p:txBody>
      </p:sp>
      <p:sp>
        <p:nvSpPr>
          <p:cNvPr id="490509" name="Rectangle 11"/>
          <p:cNvSpPr>
            <a:spLocks noChangeArrowheads="1"/>
          </p:cNvSpPr>
          <p:nvPr/>
        </p:nvSpPr>
        <p:spPr bwMode="auto">
          <a:xfrm>
            <a:off x="4948238" y="2146300"/>
            <a:ext cx="344645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dirty="0">
                <a:solidFill>
                  <a:srgbClr val="C00000"/>
                </a:solidFill>
                <a:ea typeface="黑体" panose="02010609060101010101" pitchFamily="49" charset="-122"/>
              </a:rPr>
              <a:t>会被误认为是标志</a:t>
            </a:r>
            <a:r>
              <a:rPr lang="zh-CN" altLang="en-US" sz="2400" b="1">
                <a:solidFill>
                  <a:srgbClr val="C00000"/>
                </a:solidFill>
                <a:ea typeface="黑体" panose="02010609060101010101" pitchFamily="49" charset="-122"/>
              </a:rPr>
              <a:t>字段 </a:t>
            </a:r>
            <a:r>
              <a:rPr lang="en-US" altLang="zh-CN" sz="2400" b="1" smtClean="0">
                <a:solidFill>
                  <a:srgbClr val="C00000"/>
                </a:solidFill>
                <a:ea typeface="黑体" panose="02010609060101010101" pitchFamily="49" charset="-122"/>
              </a:rPr>
              <a:t> </a:t>
            </a:r>
            <a:endParaRPr lang="en-US" altLang="zh-CN" sz="2400" b="1" dirty="0">
              <a:solidFill>
                <a:srgbClr val="C00000"/>
              </a:solidFill>
              <a:ea typeface="黑体" panose="02010609060101010101" pitchFamily="49" charset="-122"/>
            </a:endParaRPr>
          </a:p>
        </p:txBody>
      </p:sp>
      <p:sp>
        <p:nvSpPr>
          <p:cNvPr id="490510" name="AutoShape 12"/>
          <p:cNvSpPr>
            <a:spLocks noChangeArrowheads="1"/>
          </p:cNvSpPr>
          <p:nvPr/>
        </p:nvSpPr>
        <p:spPr bwMode="auto">
          <a:xfrm rot="-5400000">
            <a:off x="7000081" y="3540920"/>
            <a:ext cx="327025" cy="169862"/>
          </a:xfrm>
          <a:prstGeom prst="rightArrow">
            <a:avLst>
              <a:gd name="adj1" fmla="val 50000"/>
              <a:gd name="adj2" fmla="val 104293"/>
            </a:avLst>
          </a:prstGeom>
          <a:solidFill>
            <a:srgbClr val="C00000"/>
          </a:solidFill>
          <a:ln w="12700">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11" name="Rectangle 13"/>
          <p:cNvSpPr>
            <a:spLocks noChangeArrowheads="1"/>
          </p:cNvSpPr>
          <p:nvPr/>
        </p:nvSpPr>
        <p:spPr bwMode="auto">
          <a:xfrm>
            <a:off x="5575300" y="3762375"/>
            <a:ext cx="2690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发送端填入 </a:t>
            </a:r>
            <a:r>
              <a:rPr lang="en-US" altLang="zh-CN" sz="2400" b="1">
                <a:solidFill>
                  <a:srgbClr val="C00000"/>
                </a:solidFill>
                <a:ea typeface="黑体" panose="02010609060101010101" pitchFamily="49" charset="-122"/>
              </a:rPr>
              <a:t>0 </a:t>
            </a:r>
            <a:r>
              <a:rPr lang="zh-CN" altLang="en-US" sz="2400" b="1">
                <a:solidFill>
                  <a:srgbClr val="C00000"/>
                </a:solidFill>
                <a:ea typeface="黑体" panose="02010609060101010101" pitchFamily="49" charset="-122"/>
              </a:rPr>
              <a:t>比特</a:t>
            </a:r>
          </a:p>
        </p:txBody>
      </p:sp>
      <p:sp>
        <p:nvSpPr>
          <p:cNvPr id="490512" name="AutoShape 14"/>
          <p:cNvSpPr>
            <a:spLocks noChangeArrowheads="1"/>
          </p:cNvSpPr>
          <p:nvPr/>
        </p:nvSpPr>
        <p:spPr bwMode="auto">
          <a:xfrm rot="5400000" flipV="1">
            <a:off x="7069138" y="5178425"/>
            <a:ext cx="365125" cy="168275"/>
          </a:xfrm>
          <a:prstGeom prst="rightArrow">
            <a:avLst>
              <a:gd name="adj1" fmla="val 50000"/>
              <a:gd name="adj2" fmla="val 117541"/>
            </a:avLst>
          </a:prstGeom>
          <a:solidFill>
            <a:srgbClr val="C00000"/>
          </a:solidFill>
          <a:ln w="12700">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13" name="Rectangle 15"/>
          <p:cNvSpPr>
            <a:spLocks noChangeArrowheads="1"/>
          </p:cNvSpPr>
          <p:nvPr/>
        </p:nvSpPr>
        <p:spPr bwMode="auto">
          <a:xfrm>
            <a:off x="4953000" y="5418138"/>
            <a:ext cx="37433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接收端删除填入的 </a:t>
            </a:r>
            <a:r>
              <a:rPr lang="en-US" altLang="zh-CN" sz="2400" b="1">
                <a:solidFill>
                  <a:srgbClr val="C00000"/>
                </a:solidFill>
                <a:ea typeface="黑体" panose="02010609060101010101" pitchFamily="49" charset="-122"/>
              </a:rPr>
              <a:t>0 </a:t>
            </a:r>
            <a:r>
              <a:rPr lang="zh-CN" altLang="en-US" sz="2400" b="1">
                <a:solidFill>
                  <a:srgbClr val="C00000"/>
                </a:solidFill>
                <a:ea typeface="黑体" panose="02010609060101010101" pitchFamily="49" charset="-122"/>
              </a:rPr>
              <a:t>比特</a:t>
            </a:r>
          </a:p>
        </p:txBody>
      </p:sp>
      <p:sp>
        <p:nvSpPr>
          <p:cNvPr id="490514" name="AutoShape 18"/>
          <p:cNvSpPr>
            <a:spLocks/>
          </p:cNvSpPr>
          <p:nvPr/>
        </p:nvSpPr>
        <p:spPr bwMode="auto">
          <a:xfrm rot="-5400000">
            <a:off x="6365876" y="987425"/>
            <a:ext cx="296862" cy="1919287"/>
          </a:xfrm>
          <a:prstGeom prst="leftBrace">
            <a:avLst>
              <a:gd name="adj1" fmla="val 5456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15" name="矩形 23"/>
          <p:cNvSpPr>
            <a:spLocks noChangeArrowheads="1"/>
          </p:cNvSpPr>
          <p:nvPr/>
        </p:nvSpPr>
        <p:spPr bwMode="auto">
          <a:xfrm>
            <a:off x="2432050" y="6021388"/>
            <a:ext cx="4945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零比特的填充与删除</a:t>
            </a:r>
            <a:endParaRPr lang="zh-CN" altLang="en-US" sz="2400" b="1">
              <a:ea typeface="黑体" panose="02010609060101010101" pitchFamily="49" charset="-122"/>
            </a:endParaRPr>
          </a:p>
        </p:txBody>
      </p:sp>
      <p:sp>
        <p:nvSpPr>
          <p:cNvPr id="4905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835905-44A9-40BC-BE79-7267CC36FB2B}" type="slidenum">
              <a:rPr lang="zh-CN" altLang="en-US" smtClean="0"/>
              <a:pPr eaLnBrk="1" hangingPunct="1"/>
              <a:t>39</a:t>
            </a:fld>
            <a:endParaRPr lang="en-US" altLang="zh-CN" smtClean="0"/>
          </a:p>
        </p:txBody>
      </p:sp>
      <p:sp>
        <p:nvSpPr>
          <p:cNvPr id="4905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1"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 </a:t>
            </a:r>
            <a:r>
              <a:rPr lang="zh-CN" altLang="en-US" sz="4000" smtClean="0">
                <a:ea typeface="黑体" panose="02010609060101010101" pitchFamily="49" charset="-122"/>
              </a:rPr>
              <a:t>不提供使用序号和确认的可靠传输 </a:t>
            </a:r>
          </a:p>
        </p:txBody>
      </p:sp>
      <p:sp>
        <p:nvSpPr>
          <p:cNvPr id="199683"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PPP </a:t>
            </a:r>
            <a:r>
              <a:rPr lang="zh-CN" altLang="en-US" smtClean="0">
                <a:ea typeface="黑体" panose="02010609060101010101" pitchFamily="49" charset="-122"/>
              </a:rPr>
              <a:t>协议之所以不使用序号和确认机制是出于以下的考虑：</a:t>
            </a:r>
            <a:endParaRPr lang="zh-CN" altLang="en-US" sz="3600" smtClean="0">
              <a:ea typeface="黑体" panose="02010609060101010101" pitchFamily="49" charset="-122"/>
            </a:endParaRPr>
          </a:p>
          <a:p>
            <a:pPr lvl="1"/>
            <a:r>
              <a:rPr lang="zh-CN" altLang="en-US" smtClean="0">
                <a:solidFill>
                  <a:srgbClr val="0000CC"/>
                </a:solidFill>
                <a:ea typeface="黑体" panose="02010609060101010101" pitchFamily="49" charset="-122"/>
              </a:rPr>
              <a:t>在数据链路层出现差错的概率不大时，使用比较简单的 </a:t>
            </a:r>
            <a:r>
              <a:rPr lang="en-US" altLang="zh-CN" smtClean="0">
                <a:solidFill>
                  <a:srgbClr val="0000CC"/>
                </a:solidFill>
                <a:ea typeface="黑体" panose="02010609060101010101" pitchFamily="49" charset="-122"/>
              </a:rPr>
              <a:t>PPP </a:t>
            </a:r>
            <a:r>
              <a:rPr lang="zh-CN" altLang="en-US" smtClean="0">
                <a:solidFill>
                  <a:srgbClr val="0000CC"/>
                </a:solidFill>
                <a:ea typeface="黑体" panose="02010609060101010101" pitchFamily="49" charset="-122"/>
              </a:rPr>
              <a:t>协议较为合理。</a:t>
            </a:r>
          </a:p>
          <a:p>
            <a:pPr lvl="1"/>
            <a:r>
              <a:rPr lang="zh-CN" altLang="en-US" smtClean="0">
                <a:solidFill>
                  <a:srgbClr val="0000CC"/>
                </a:solidFill>
                <a:ea typeface="黑体" panose="02010609060101010101" pitchFamily="49" charset="-122"/>
              </a:rPr>
              <a:t>在因特网环境下，</a:t>
            </a:r>
            <a:r>
              <a:rPr lang="en-US" altLang="zh-CN" smtClean="0">
                <a:solidFill>
                  <a:srgbClr val="0000CC"/>
                </a:solidFill>
                <a:ea typeface="黑体" panose="02010609060101010101" pitchFamily="49" charset="-122"/>
              </a:rPr>
              <a:t>PPP </a:t>
            </a:r>
            <a:r>
              <a:rPr lang="zh-CN" altLang="en-US" smtClean="0">
                <a:solidFill>
                  <a:srgbClr val="0000CC"/>
                </a:solidFill>
                <a:ea typeface="黑体" panose="02010609060101010101" pitchFamily="49" charset="-122"/>
              </a:rPr>
              <a:t>的信息字段放入的数据是 </a:t>
            </a:r>
            <a:r>
              <a:rPr lang="en-US" altLang="zh-CN" smtClean="0">
                <a:solidFill>
                  <a:srgbClr val="0000CC"/>
                </a:solidFill>
                <a:ea typeface="黑体" panose="02010609060101010101" pitchFamily="49" charset="-122"/>
              </a:rPr>
              <a:t>IP  </a:t>
            </a:r>
            <a:r>
              <a:rPr lang="zh-CN" altLang="en-US" smtClean="0">
                <a:solidFill>
                  <a:srgbClr val="0000CC"/>
                </a:solidFill>
                <a:ea typeface="黑体" panose="02010609060101010101" pitchFamily="49" charset="-122"/>
              </a:rPr>
              <a:t>数据报。数据链路层的可靠传输并不能够保证网络层的传输也是可靠的。</a:t>
            </a:r>
          </a:p>
          <a:p>
            <a:pPr lvl="1"/>
            <a:r>
              <a:rPr lang="zh-CN" altLang="en-US" smtClean="0">
                <a:solidFill>
                  <a:srgbClr val="0000CC"/>
                </a:solidFill>
                <a:ea typeface="黑体" panose="02010609060101010101" pitchFamily="49" charset="-122"/>
              </a:rPr>
              <a:t>帧检验序列 </a:t>
            </a:r>
            <a:r>
              <a:rPr lang="en-US" altLang="zh-CN" smtClean="0">
                <a:solidFill>
                  <a:srgbClr val="0000CC"/>
                </a:solidFill>
                <a:ea typeface="黑体" panose="02010609060101010101" pitchFamily="49" charset="-122"/>
              </a:rPr>
              <a:t>FCS </a:t>
            </a:r>
            <a:r>
              <a:rPr lang="zh-CN" altLang="en-US" smtClean="0">
                <a:solidFill>
                  <a:srgbClr val="0000CC"/>
                </a:solidFill>
                <a:ea typeface="黑体" panose="02010609060101010101" pitchFamily="49" charset="-122"/>
              </a:rPr>
              <a:t>字段可保证无差错接受。</a:t>
            </a:r>
          </a:p>
          <a:p>
            <a:pPr lvl="1"/>
            <a:endParaRPr lang="en-US" altLang="zh-CN" smtClean="0">
              <a:ea typeface="黑体" panose="02010609060101010101" pitchFamily="49" charset="-122"/>
            </a:endParaRPr>
          </a:p>
        </p:txBody>
      </p:sp>
      <p:sp>
        <p:nvSpPr>
          <p:cNvPr id="4915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375644-6209-4A1C-9C5B-521453DD032D}" type="slidenum">
              <a:rPr lang="zh-CN" altLang="en-US" smtClean="0"/>
              <a:pPr eaLnBrk="1" hangingPunct="1"/>
              <a:t>40</a:t>
            </a:fld>
            <a:endParaRPr lang="en-US" altLang="zh-CN" smtClean="0"/>
          </a:p>
        </p:txBody>
      </p:sp>
      <p:sp>
        <p:nvSpPr>
          <p:cNvPr id="4915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 3.2.3   PPP </a:t>
            </a:r>
            <a:r>
              <a:rPr lang="zh-CN" altLang="en-US" smtClean="0">
                <a:ea typeface="黑体" panose="02010609060101010101" pitchFamily="49" charset="-122"/>
              </a:rPr>
              <a:t>协议的工作状态 </a:t>
            </a:r>
          </a:p>
        </p:txBody>
      </p:sp>
      <p:sp>
        <p:nvSpPr>
          <p:cNvPr id="198659" name="Rectangle 3"/>
          <p:cNvSpPr>
            <a:spLocks noGrp="1" noChangeArrowheads="1"/>
          </p:cNvSpPr>
          <p:nvPr>
            <p:ph idx="1"/>
          </p:nvPr>
        </p:nvSpPr>
        <p:spPr>
          <a:xfrm>
            <a:off x="495300" y="1196975"/>
            <a:ext cx="9066213" cy="4933950"/>
          </a:xfrm>
        </p:spPr>
        <p:txBody>
          <a:bodyPr/>
          <a:lstStyle/>
          <a:p>
            <a:r>
              <a:rPr lang="zh-CN" altLang="en-US" sz="2400" smtClean="0">
                <a:ea typeface="黑体" panose="02010609060101010101" pitchFamily="49" charset="-122"/>
              </a:rPr>
              <a:t>当用户拨号接入 </a:t>
            </a:r>
            <a:r>
              <a:rPr lang="en-US" altLang="zh-CN" sz="2400" smtClean="0">
                <a:ea typeface="黑体" panose="02010609060101010101" pitchFamily="49" charset="-122"/>
              </a:rPr>
              <a:t>ISP </a:t>
            </a:r>
            <a:r>
              <a:rPr lang="zh-CN" altLang="en-US" sz="2400" smtClean="0">
                <a:ea typeface="黑体" panose="02010609060101010101" pitchFamily="49" charset="-122"/>
              </a:rPr>
              <a:t>时，路由器的调制解调器对拨号做出确认，并建立一条物理连接。</a:t>
            </a:r>
          </a:p>
          <a:p>
            <a:r>
              <a:rPr lang="en-US" altLang="zh-CN" sz="2400" smtClean="0">
                <a:ea typeface="黑体" panose="02010609060101010101" pitchFamily="49" charset="-122"/>
              </a:rPr>
              <a:t>PC </a:t>
            </a:r>
            <a:r>
              <a:rPr lang="zh-CN" altLang="en-US" sz="2400" smtClean="0">
                <a:ea typeface="黑体" panose="02010609060101010101" pitchFamily="49" charset="-122"/>
              </a:rPr>
              <a:t>机向路由器发送一系列的 </a:t>
            </a:r>
            <a:r>
              <a:rPr lang="en-US" altLang="zh-CN" sz="2400" smtClean="0">
                <a:ea typeface="黑体" panose="02010609060101010101" pitchFamily="49" charset="-122"/>
              </a:rPr>
              <a:t>LCP </a:t>
            </a:r>
            <a:r>
              <a:rPr lang="zh-CN" altLang="en-US" sz="2400" smtClean="0">
                <a:ea typeface="黑体" panose="02010609060101010101" pitchFamily="49" charset="-122"/>
              </a:rPr>
              <a:t>分组（封装成多个 </a:t>
            </a:r>
            <a:r>
              <a:rPr lang="en-US" altLang="zh-CN" sz="2400" smtClean="0">
                <a:ea typeface="黑体" panose="02010609060101010101" pitchFamily="49" charset="-122"/>
              </a:rPr>
              <a:t>PPP </a:t>
            </a:r>
            <a:r>
              <a:rPr lang="zh-CN" altLang="en-US" sz="2400" smtClean="0">
                <a:ea typeface="黑体" panose="02010609060101010101" pitchFamily="49" charset="-122"/>
              </a:rPr>
              <a:t>帧）。</a:t>
            </a:r>
          </a:p>
          <a:p>
            <a:r>
              <a:rPr lang="zh-CN" altLang="en-US" sz="2400" smtClean="0">
                <a:ea typeface="黑体" panose="02010609060101010101" pitchFamily="49" charset="-122"/>
              </a:rPr>
              <a:t>这些分组及其响应选择一些 </a:t>
            </a:r>
            <a:r>
              <a:rPr lang="en-US" altLang="zh-CN" sz="2400" smtClean="0">
                <a:ea typeface="黑体" panose="02010609060101010101" pitchFamily="49" charset="-122"/>
              </a:rPr>
              <a:t>PPP </a:t>
            </a:r>
            <a:r>
              <a:rPr lang="zh-CN" altLang="en-US" sz="2400" smtClean="0">
                <a:ea typeface="黑体" panose="02010609060101010101" pitchFamily="49" charset="-122"/>
              </a:rPr>
              <a:t>参数，并进行网络层配置，</a:t>
            </a:r>
            <a:r>
              <a:rPr lang="en-US" altLang="zh-CN" sz="2400" smtClean="0">
                <a:ea typeface="黑体" panose="02010609060101010101" pitchFamily="49" charset="-122"/>
              </a:rPr>
              <a:t>NCP </a:t>
            </a:r>
            <a:r>
              <a:rPr lang="zh-CN" altLang="en-US" sz="2400" smtClean="0">
                <a:ea typeface="黑体" panose="02010609060101010101" pitchFamily="49" charset="-122"/>
              </a:rPr>
              <a:t>给新接入的 </a:t>
            </a:r>
            <a:r>
              <a:rPr lang="en-US" altLang="zh-CN" sz="2400" smtClean="0">
                <a:ea typeface="黑体" panose="02010609060101010101" pitchFamily="49" charset="-122"/>
              </a:rPr>
              <a:t>PC </a:t>
            </a:r>
            <a:r>
              <a:rPr lang="zh-CN" altLang="en-US" sz="2400" smtClean="0">
                <a:ea typeface="黑体" panose="02010609060101010101" pitchFamily="49" charset="-122"/>
              </a:rPr>
              <a:t>机分配一个临时的 </a:t>
            </a:r>
            <a:r>
              <a:rPr lang="en-US" altLang="zh-CN" sz="2400" smtClean="0">
                <a:ea typeface="黑体" panose="02010609060101010101" pitchFamily="49" charset="-122"/>
              </a:rPr>
              <a:t>IP </a:t>
            </a:r>
            <a:r>
              <a:rPr lang="zh-CN" altLang="en-US" sz="2400" smtClean="0">
                <a:ea typeface="黑体" panose="02010609060101010101" pitchFamily="49" charset="-122"/>
              </a:rPr>
              <a:t>地址，使 </a:t>
            </a:r>
            <a:r>
              <a:rPr lang="en-US" altLang="zh-CN" sz="2400" smtClean="0">
                <a:ea typeface="黑体" panose="02010609060101010101" pitchFamily="49" charset="-122"/>
              </a:rPr>
              <a:t>PC </a:t>
            </a:r>
            <a:r>
              <a:rPr lang="zh-CN" altLang="en-US" sz="2400" smtClean="0">
                <a:ea typeface="黑体" panose="02010609060101010101" pitchFamily="49" charset="-122"/>
              </a:rPr>
              <a:t>机成为因特网上的一个主机。</a:t>
            </a:r>
          </a:p>
          <a:p>
            <a:r>
              <a:rPr lang="zh-CN" altLang="en-US" sz="2400" smtClean="0">
                <a:ea typeface="黑体" panose="02010609060101010101" pitchFamily="49" charset="-122"/>
              </a:rPr>
              <a:t>通信完毕时，</a:t>
            </a:r>
            <a:r>
              <a:rPr lang="en-US" altLang="zh-CN" sz="2400" smtClean="0">
                <a:ea typeface="黑体" panose="02010609060101010101" pitchFamily="49" charset="-122"/>
              </a:rPr>
              <a:t>NCP </a:t>
            </a:r>
            <a:r>
              <a:rPr lang="zh-CN" altLang="en-US" sz="2400" smtClean="0">
                <a:ea typeface="黑体" panose="02010609060101010101" pitchFamily="49" charset="-122"/>
              </a:rPr>
              <a:t>释放网络层连接，收回原来分配出去的 </a:t>
            </a:r>
            <a:r>
              <a:rPr lang="en-US" altLang="zh-CN" sz="2400" smtClean="0">
                <a:ea typeface="黑体" panose="02010609060101010101" pitchFamily="49" charset="-122"/>
              </a:rPr>
              <a:t>IP </a:t>
            </a:r>
            <a:r>
              <a:rPr lang="zh-CN" altLang="en-US" sz="2400" smtClean="0">
                <a:ea typeface="黑体" panose="02010609060101010101" pitchFamily="49" charset="-122"/>
              </a:rPr>
              <a:t>地址。接着，</a:t>
            </a:r>
            <a:r>
              <a:rPr lang="en-US" altLang="zh-CN" sz="2400" smtClean="0">
                <a:ea typeface="黑体" panose="02010609060101010101" pitchFamily="49" charset="-122"/>
              </a:rPr>
              <a:t>LCP </a:t>
            </a:r>
            <a:r>
              <a:rPr lang="zh-CN" altLang="en-US" sz="2400" smtClean="0">
                <a:ea typeface="黑体" panose="02010609060101010101" pitchFamily="49" charset="-122"/>
              </a:rPr>
              <a:t>释放数据链路层连接。最后释放的是物理层的连接。</a:t>
            </a:r>
            <a:endParaRPr lang="en-US" altLang="zh-CN" sz="2400" smtClean="0">
              <a:ea typeface="黑体" panose="02010609060101010101" pitchFamily="49" charset="-122"/>
            </a:endParaRPr>
          </a:p>
          <a:p>
            <a:r>
              <a:rPr lang="zh-CN" altLang="en-US" sz="2400" smtClean="0">
                <a:solidFill>
                  <a:srgbClr val="FF0000"/>
                </a:solidFill>
                <a:ea typeface="黑体" panose="02010609060101010101" pitchFamily="49" charset="-122"/>
              </a:rPr>
              <a:t>可见，</a:t>
            </a:r>
            <a:r>
              <a:rPr lang="en-US" altLang="zh-CN" sz="2400" smtClean="0">
                <a:solidFill>
                  <a:srgbClr val="FF0000"/>
                </a:solidFill>
                <a:ea typeface="黑体" panose="02010609060101010101" pitchFamily="49" charset="-122"/>
              </a:rPr>
              <a:t>PPP </a:t>
            </a:r>
            <a:r>
              <a:rPr lang="zh-CN" altLang="zh-CN" sz="2400" smtClean="0">
                <a:solidFill>
                  <a:srgbClr val="FF0000"/>
                </a:solidFill>
                <a:ea typeface="黑体" panose="02010609060101010101" pitchFamily="49" charset="-122"/>
              </a:rPr>
              <a:t>协议已不是纯粹的数据链路层的协议，它还包含了物理层和网络层的内容</a:t>
            </a:r>
            <a:r>
              <a:rPr lang="zh-CN" altLang="en-US" sz="2400" smtClean="0">
                <a:solidFill>
                  <a:srgbClr val="FF0000"/>
                </a:solidFill>
                <a:ea typeface="黑体" panose="02010609060101010101" pitchFamily="49" charset="-122"/>
              </a:rPr>
              <a:t>。</a:t>
            </a:r>
          </a:p>
        </p:txBody>
      </p:sp>
      <p:sp>
        <p:nvSpPr>
          <p:cNvPr id="4935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17B5A2-BD74-49A0-8DAC-5ECA59E1B2F7}" type="slidenum">
              <a:rPr lang="zh-CN" altLang="en-US" smtClean="0"/>
              <a:pPr eaLnBrk="1" hangingPunct="1"/>
              <a:t>41</a:t>
            </a:fld>
            <a:endParaRPr lang="en-US" altLang="zh-CN" smtClean="0"/>
          </a:p>
        </p:txBody>
      </p:sp>
      <p:sp>
        <p:nvSpPr>
          <p:cNvPr id="4935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86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5617" name="组合 2"/>
          <p:cNvGrpSpPr>
            <a:grpSpLocks/>
          </p:cNvGrpSpPr>
          <p:nvPr/>
        </p:nvGrpSpPr>
        <p:grpSpPr bwMode="auto">
          <a:xfrm>
            <a:off x="263525" y="333375"/>
            <a:ext cx="9513888" cy="5616575"/>
            <a:chOff x="236604" y="476250"/>
            <a:chExt cx="9514615" cy="5616576"/>
          </a:xfrm>
        </p:grpSpPr>
        <p:sp>
          <p:nvSpPr>
            <p:cNvPr id="495618" name="Rectangle 10"/>
            <p:cNvSpPr>
              <a:spLocks noChangeArrowheads="1"/>
            </p:cNvSpPr>
            <p:nvPr/>
          </p:nvSpPr>
          <p:spPr bwMode="auto">
            <a:xfrm>
              <a:off x="6980636" y="476250"/>
              <a:ext cx="2418027" cy="469900"/>
            </a:xfrm>
            <a:prstGeom prst="rect">
              <a:avLst/>
            </a:prstGeom>
            <a:solidFill>
              <a:srgbClr val="FFFF66"/>
            </a:solidFill>
            <a:ln>
              <a:noFill/>
            </a:ln>
            <a:effectLst>
              <a:outerShdw dist="45791" dir="3378596"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设备之间无链路</a:t>
              </a:r>
            </a:p>
          </p:txBody>
        </p:sp>
        <p:sp>
          <p:nvSpPr>
            <p:cNvPr id="495619" name="Rectangle 4"/>
            <p:cNvSpPr>
              <a:spLocks noChangeArrowheads="1"/>
            </p:cNvSpPr>
            <p:nvPr/>
          </p:nvSpPr>
          <p:spPr bwMode="auto">
            <a:xfrm>
              <a:off x="4292600" y="476250"/>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链路静止</a:t>
              </a:r>
            </a:p>
          </p:txBody>
        </p:sp>
        <p:sp>
          <p:nvSpPr>
            <p:cNvPr id="495620" name="Rectangle 5"/>
            <p:cNvSpPr>
              <a:spLocks noChangeArrowheads="1"/>
            </p:cNvSpPr>
            <p:nvPr/>
          </p:nvSpPr>
          <p:spPr bwMode="auto">
            <a:xfrm>
              <a:off x="4292600" y="1698625"/>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链路建立</a:t>
              </a:r>
            </a:p>
          </p:txBody>
        </p:sp>
        <p:sp>
          <p:nvSpPr>
            <p:cNvPr id="495621" name="Rectangle 6"/>
            <p:cNvSpPr>
              <a:spLocks noChangeArrowheads="1"/>
            </p:cNvSpPr>
            <p:nvPr/>
          </p:nvSpPr>
          <p:spPr bwMode="auto">
            <a:xfrm>
              <a:off x="4292600" y="2921000"/>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鉴别</a:t>
              </a:r>
            </a:p>
          </p:txBody>
        </p:sp>
        <p:sp>
          <p:nvSpPr>
            <p:cNvPr id="495622" name="Rectangle 7"/>
            <p:cNvSpPr>
              <a:spLocks noChangeArrowheads="1"/>
            </p:cNvSpPr>
            <p:nvPr/>
          </p:nvSpPr>
          <p:spPr bwMode="auto">
            <a:xfrm>
              <a:off x="4292600" y="4143375"/>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网络层协议</a:t>
              </a:r>
            </a:p>
          </p:txBody>
        </p:sp>
        <p:sp>
          <p:nvSpPr>
            <p:cNvPr id="495623" name="Rectangle 8"/>
            <p:cNvSpPr>
              <a:spLocks noChangeArrowheads="1"/>
            </p:cNvSpPr>
            <p:nvPr/>
          </p:nvSpPr>
          <p:spPr bwMode="auto">
            <a:xfrm>
              <a:off x="4292600" y="5367338"/>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链路打开</a:t>
              </a:r>
            </a:p>
          </p:txBody>
        </p:sp>
        <p:sp>
          <p:nvSpPr>
            <p:cNvPr id="495624" name="Rectangle 9"/>
            <p:cNvSpPr>
              <a:spLocks noChangeArrowheads="1"/>
            </p:cNvSpPr>
            <p:nvPr/>
          </p:nvSpPr>
          <p:spPr bwMode="auto">
            <a:xfrm>
              <a:off x="271727" y="2921000"/>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链路终止</a:t>
              </a:r>
            </a:p>
          </p:txBody>
        </p:sp>
        <p:sp>
          <p:nvSpPr>
            <p:cNvPr id="495625" name="Rectangle 11"/>
            <p:cNvSpPr>
              <a:spLocks noChangeArrowheads="1"/>
            </p:cNvSpPr>
            <p:nvPr/>
          </p:nvSpPr>
          <p:spPr bwMode="auto">
            <a:xfrm>
              <a:off x="7162933" y="1698625"/>
              <a:ext cx="2105025" cy="469900"/>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物理链路</a:t>
              </a:r>
            </a:p>
          </p:txBody>
        </p:sp>
        <p:sp>
          <p:nvSpPr>
            <p:cNvPr id="495626" name="Rectangle 12"/>
            <p:cNvSpPr>
              <a:spLocks noChangeArrowheads="1"/>
            </p:cNvSpPr>
            <p:nvPr/>
          </p:nvSpPr>
          <p:spPr bwMode="auto">
            <a:xfrm>
              <a:off x="7162933" y="2921000"/>
              <a:ext cx="2105025" cy="471488"/>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p:txBody>
        </p:sp>
        <p:sp>
          <p:nvSpPr>
            <p:cNvPr id="495627" name="Rectangle 13"/>
            <p:cNvSpPr>
              <a:spLocks noChangeArrowheads="1"/>
            </p:cNvSpPr>
            <p:nvPr/>
          </p:nvSpPr>
          <p:spPr bwMode="auto">
            <a:xfrm>
              <a:off x="6746743" y="4143375"/>
              <a:ext cx="2887530" cy="471488"/>
            </a:xfrm>
            <a:prstGeom prst="rect">
              <a:avLst/>
            </a:prstGeom>
            <a:solidFill>
              <a:srgbClr val="FFFF66"/>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已鉴别的 </a:t>
              </a: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p:txBody>
        </p:sp>
        <p:sp>
          <p:nvSpPr>
            <p:cNvPr id="495628" name="Rectangle 14"/>
            <p:cNvSpPr>
              <a:spLocks noChangeArrowheads="1"/>
            </p:cNvSpPr>
            <p:nvPr/>
          </p:nvSpPr>
          <p:spPr bwMode="auto">
            <a:xfrm>
              <a:off x="6591962" y="5246689"/>
              <a:ext cx="3159257" cy="846137"/>
            </a:xfrm>
            <a:prstGeom prst="rect">
              <a:avLst/>
            </a:prstGeom>
            <a:solidFill>
              <a:srgbClr val="FFFF66"/>
            </a:solidFill>
            <a:ln>
              <a:noFill/>
            </a:ln>
            <a:effectLst>
              <a:outerShdw dist="45791" dir="2021404"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已鉴别的 </a:t>
              </a: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a:p>
              <a:pPr algn="ctr" eaLnBrk="0" hangingPunct="0"/>
              <a:r>
                <a:rPr lang="zh-CN" altLang="en-US" sz="2400" b="1">
                  <a:solidFill>
                    <a:srgbClr val="000099"/>
                  </a:solidFill>
                  <a:ea typeface="黑体" panose="02010609060101010101" pitchFamily="49" charset="-122"/>
                </a:rPr>
                <a:t>和 </a:t>
              </a:r>
              <a:r>
                <a:rPr lang="en-US" altLang="zh-CN" sz="2400" b="1">
                  <a:solidFill>
                    <a:srgbClr val="000099"/>
                  </a:solidFill>
                  <a:ea typeface="黑体" panose="02010609060101010101" pitchFamily="49" charset="-122"/>
                </a:rPr>
                <a:t>NCP </a:t>
              </a:r>
              <a:r>
                <a:rPr lang="zh-CN" altLang="en-US" sz="2400" b="1">
                  <a:solidFill>
                    <a:srgbClr val="000099"/>
                  </a:solidFill>
                  <a:ea typeface="黑体" panose="02010609060101010101" pitchFamily="49" charset="-122"/>
                </a:rPr>
                <a:t>链路</a:t>
              </a:r>
            </a:p>
          </p:txBody>
        </p:sp>
        <p:sp>
          <p:nvSpPr>
            <p:cNvPr id="495629" name="Line 15"/>
            <p:cNvSpPr>
              <a:spLocks noChangeShapeType="1"/>
            </p:cNvSpPr>
            <p:nvPr/>
          </p:nvSpPr>
          <p:spPr bwMode="auto">
            <a:xfrm>
              <a:off x="8215445" y="946151"/>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0" name="Line 16"/>
            <p:cNvSpPr>
              <a:spLocks noChangeShapeType="1"/>
            </p:cNvSpPr>
            <p:nvPr/>
          </p:nvSpPr>
          <p:spPr bwMode="auto">
            <a:xfrm>
              <a:off x="8215445" y="2168526"/>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1" name="Line 17"/>
            <p:cNvSpPr>
              <a:spLocks noChangeShapeType="1"/>
            </p:cNvSpPr>
            <p:nvPr/>
          </p:nvSpPr>
          <p:spPr bwMode="auto">
            <a:xfrm>
              <a:off x="8215445" y="3392488"/>
              <a:ext cx="0" cy="7508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2" name="Freeform 18"/>
            <p:cNvSpPr>
              <a:spLocks noChangeArrowheads="1"/>
            </p:cNvSpPr>
            <p:nvPr/>
          </p:nvSpPr>
          <p:spPr bwMode="auto">
            <a:xfrm>
              <a:off x="8213725" y="4614864"/>
              <a:ext cx="1720" cy="706437"/>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3" name="Line 19"/>
            <p:cNvSpPr>
              <a:spLocks noChangeShapeType="1"/>
            </p:cNvSpPr>
            <p:nvPr/>
          </p:nvSpPr>
          <p:spPr bwMode="auto">
            <a:xfrm>
              <a:off x="5154216" y="946151"/>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4" name="Line 20"/>
            <p:cNvSpPr>
              <a:spLocks noChangeShapeType="1"/>
            </p:cNvSpPr>
            <p:nvPr/>
          </p:nvSpPr>
          <p:spPr bwMode="auto">
            <a:xfrm>
              <a:off x="5154216" y="2168526"/>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5" name="Line 21"/>
            <p:cNvSpPr>
              <a:spLocks noChangeShapeType="1"/>
            </p:cNvSpPr>
            <p:nvPr/>
          </p:nvSpPr>
          <p:spPr bwMode="auto">
            <a:xfrm>
              <a:off x="5154216" y="3392488"/>
              <a:ext cx="0" cy="7508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6" name="Line 22"/>
            <p:cNvSpPr>
              <a:spLocks noChangeShapeType="1"/>
            </p:cNvSpPr>
            <p:nvPr/>
          </p:nvSpPr>
          <p:spPr bwMode="auto">
            <a:xfrm>
              <a:off x="5154216" y="4614864"/>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7" name="Line 23"/>
            <p:cNvSpPr>
              <a:spLocks noChangeShapeType="1"/>
            </p:cNvSpPr>
            <p:nvPr/>
          </p:nvSpPr>
          <p:spPr bwMode="auto">
            <a:xfrm flipH="1">
              <a:off x="1994958" y="3155950"/>
              <a:ext cx="2297642" cy="158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8" name="Freeform 24"/>
            <p:cNvSpPr>
              <a:spLocks noChangeArrowheads="1"/>
            </p:cNvSpPr>
            <p:nvPr/>
          </p:nvSpPr>
          <p:spPr bwMode="auto">
            <a:xfrm>
              <a:off x="1135062" y="3402013"/>
              <a:ext cx="3157538" cy="2184400"/>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9" name="Freeform 25"/>
            <p:cNvSpPr>
              <a:spLocks noChangeArrowheads="1"/>
            </p:cNvSpPr>
            <p:nvPr/>
          </p:nvSpPr>
          <p:spPr bwMode="auto">
            <a:xfrm flipV="1">
              <a:off x="1135062" y="576264"/>
              <a:ext cx="3157538" cy="2365375"/>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a:solidFill>
                <a:schemeClr val="tx1"/>
              </a:solidFill>
              <a:round/>
              <a:headEnd type="triangle" w="med" len="lg"/>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40" name="Freeform 26"/>
            <p:cNvSpPr>
              <a:spLocks noChangeArrowheads="1"/>
            </p:cNvSpPr>
            <p:nvPr/>
          </p:nvSpPr>
          <p:spPr bwMode="auto">
            <a:xfrm>
              <a:off x="2663958" y="790575"/>
              <a:ext cx="1628642" cy="1157288"/>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41" name="Text Box 27"/>
            <p:cNvSpPr txBox="1">
              <a:spLocks noChangeArrowheads="1"/>
            </p:cNvSpPr>
            <p:nvPr/>
          </p:nvSpPr>
          <p:spPr bwMode="auto">
            <a:xfrm>
              <a:off x="5219568" y="1030288"/>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物理层连接建立</a:t>
              </a:r>
            </a:p>
          </p:txBody>
        </p:sp>
        <p:sp>
          <p:nvSpPr>
            <p:cNvPr id="495642" name="Text Box 28"/>
            <p:cNvSpPr txBox="1">
              <a:spLocks noChangeArrowheads="1"/>
            </p:cNvSpPr>
            <p:nvPr/>
          </p:nvSpPr>
          <p:spPr bwMode="auto">
            <a:xfrm>
              <a:off x="5219568" y="2273300"/>
              <a:ext cx="2117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配置协商</a:t>
              </a:r>
            </a:p>
          </p:txBody>
        </p:sp>
        <p:sp>
          <p:nvSpPr>
            <p:cNvPr id="495643" name="Text Box 29"/>
            <p:cNvSpPr txBox="1">
              <a:spLocks noChangeArrowheads="1"/>
            </p:cNvSpPr>
            <p:nvPr/>
          </p:nvSpPr>
          <p:spPr bwMode="auto">
            <a:xfrm>
              <a:off x="5109502" y="3457575"/>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鉴别成功或无需鉴别</a:t>
              </a:r>
            </a:p>
          </p:txBody>
        </p:sp>
        <p:sp>
          <p:nvSpPr>
            <p:cNvPr id="495644" name="Text Box 30"/>
            <p:cNvSpPr txBox="1">
              <a:spLocks noChangeArrowheads="1"/>
            </p:cNvSpPr>
            <p:nvPr/>
          </p:nvSpPr>
          <p:spPr bwMode="auto">
            <a:xfrm>
              <a:off x="5200650" y="4733925"/>
              <a:ext cx="21523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NCP </a:t>
              </a:r>
              <a:r>
                <a:rPr lang="zh-CN" altLang="en-US" sz="2400" b="1">
                  <a:solidFill>
                    <a:srgbClr val="000099"/>
                  </a:solidFill>
                  <a:ea typeface="黑体" panose="02010609060101010101" pitchFamily="49" charset="-122"/>
                </a:rPr>
                <a:t>配置协商</a:t>
              </a:r>
            </a:p>
          </p:txBody>
        </p:sp>
        <p:sp>
          <p:nvSpPr>
            <p:cNvPr id="495645" name="Text Box 31"/>
            <p:cNvSpPr txBox="1">
              <a:spLocks noChangeArrowheads="1"/>
            </p:cNvSpPr>
            <p:nvPr/>
          </p:nvSpPr>
          <p:spPr bwMode="auto">
            <a:xfrm>
              <a:off x="236604" y="3943351"/>
              <a:ext cx="1731564"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链路故障或</a:t>
              </a:r>
            </a:p>
            <a:p>
              <a:pPr algn="ctr" eaLnBrk="0" hangingPunct="0"/>
              <a:r>
                <a:rPr lang="zh-CN" altLang="en-US" sz="2400" b="1">
                  <a:solidFill>
                    <a:srgbClr val="000099"/>
                  </a:solidFill>
                  <a:ea typeface="黑体" panose="02010609060101010101" pitchFamily="49" charset="-122"/>
                </a:rPr>
                <a:t>关闭请求</a:t>
              </a:r>
            </a:p>
          </p:txBody>
        </p:sp>
        <p:sp>
          <p:nvSpPr>
            <p:cNvPr id="495646" name="Text Box 32"/>
            <p:cNvSpPr txBox="1">
              <a:spLocks noChangeArrowheads="1"/>
            </p:cNvSpPr>
            <p:nvPr/>
          </p:nvSpPr>
          <p:spPr bwMode="auto">
            <a:xfrm>
              <a:off x="381583" y="1377951"/>
              <a:ext cx="1498359" cy="6832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a:p>
              <a:pPr algn="ctr" eaLnBrk="0" hangingPunct="0">
                <a:lnSpc>
                  <a:spcPct val="80000"/>
                </a:lnSpc>
              </a:pPr>
              <a:r>
                <a:rPr lang="zh-CN" altLang="en-US" sz="2400" b="1">
                  <a:solidFill>
                    <a:srgbClr val="000099"/>
                  </a:solidFill>
                  <a:ea typeface="黑体" panose="02010609060101010101" pitchFamily="49" charset="-122"/>
                </a:rPr>
                <a:t>终止</a:t>
              </a:r>
            </a:p>
          </p:txBody>
        </p:sp>
        <p:sp>
          <p:nvSpPr>
            <p:cNvPr id="495647" name="Text Box 33"/>
            <p:cNvSpPr txBox="1">
              <a:spLocks noChangeArrowheads="1"/>
            </p:cNvSpPr>
            <p:nvPr/>
          </p:nvSpPr>
          <p:spPr bwMode="auto">
            <a:xfrm>
              <a:off x="2457583" y="268287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鉴别失败</a:t>
              </a:r>
            </a:p>
          </p:txBody>
        </p:sp>
        <p:sp>
          <p:nvSpPr>
            <p:cNvPr id="495648" name="Text Box 34"/>
            <p:cNvSpPr txBox="1">
              <a:spLocks noChangeArrowheads="1"/>
            </p:cNvSpPr>
            <p:nvPr/>
          </p:nvSpPr>
          <p:spPr bwMode="auto">
            <a:xfrm>
              <a:off x="1994959" y="1023939"/>
              <a:ext cx="1498359" cy="6832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配置</a:t>
              </a:r>
            </a:p>
            <a:p>
              <a:pPr eaLnBrk="0" hangingPunct="0">
                <a:lnSpc>
                  <a:spcPct val="80000"/>
                </a:lnSpc>
              </a:pPr>
              <a:r>
                <a:rPr lang="zh-CN" altLang="en-US" sz="2400" b="1">
                  <a:solidFill>
                    <a:srgbClr val="000099"/>
                  </a:solidFill>
                  <a:ea typeface="黑体" panose="02010609060101010101" pitchFamily="49" charset="-122"/>
                </a:rPr>
                <a:t>协商失败</a:t>
              </a:r>
            </a:p>
          </p:txBody>
        </p:sp>
      </p:grpSp>
      <p:sp>
        <p:nvSpPr>
          <p:cNvPr id="495649" name="矩形 1"/>
          <p:cNvSpPr>
            <a:spLocks noChangeArrowheads="1"/>
          </p:cNvSpPr>
          <p:nvPr/>
        </p:nvSpPr>
        <p:spPr bwMode="auto">
          <a:xfrm>
            <a:off x="3086100" y="6092825"/>
            <a:ext cx="3752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PPP </a:t>
            </a:r>
            <a:r>
              <a:rPr lang="zh-CN" altLang="zh-CN" sz="2400" b="1">
                <a:ea typeface="黑体" panose="02010609060101010101" pitchFamily="49" charset="-122"/>
              </a:rPr>
              <a:t>协议的状态图</a:t>
            </a:r>
            <a:endParaRPr lang="zh-CN" altLang="en-US" sz="2400" b="1">
              <a:ea typeface="黑体" panose="02010609060101010101" pitchFamily="49" charset="-122"/>
            </a:endParaRPr>
          </a:p>
        </p:txBody>
      </p:sp>
      <p:sp>
        <p:nvSpPr>
          <p:cNvPr id="49565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1253B57-0EC3-48D8-AC0E-868ADE4934F2}" type="slidenum">
              <a:rPr lang="zh-CN" altLang="en-US" smtClean="0"/>
              <a:pPr/>
              <a:t>42</a:t>
            </a:fld>
            <a:endParaRPr lang="en-US" altLang="zh-CN" smtClean="0"/>
          </a:p>
        </p:txBody>
      </p:sp>
      <p:sp>
        <p:nvSpPr>
          <p:cNvPr id="49565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475</TotalTime>
  <Words>3117</Words>
  <Application>Microsoft Office PowerPoint</Application>
  <PresentationFormat>A4 纸张(210x297 毫米)</PresentationFormat>
  <Paragraphs>541</Paragraphs>
  <Slides>42</Slides>
  <Notes>37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黑体</vt:lpstr>
      <vt:lpstr>宋体</vt:lpstr>
      <vt:lpstr>Arial</vt:lpstr>
      <vt:lpstr>Courier New</vt:lpstr>
      <vt:lpstr>Symbol</vt:lpstr>
      <vt:lpstr>Times New Roman</vt:lpstr>
      <vt:lpstr>Wingdings</vt:lpstr>
      <vt:lpstr>Presentation</vt:lpstr>
      <vt:lpstr>第 3 章  数据链路层</vt:lpstr>
      <vt:lpstr>第 3 章  数据链路层</vt:lpstr>
      <vt:lpstr>数据链路层使用的信道</vt:lpstr>
      <vt:lpstr>数据链路层的简单模型</vt:lpstr>
      <vt:lpstr>数据链路层的简单模型( 续）</vt:lpstr>
      <vt:lpstr>3.1  使用点对点信道的数据链路层</vt:lpstr>
      <vt:lpstr>3.1.1  数据链路和帧  </vt:lpstr>
      <vt:lpstr>3.1.1  数据链路和帧  </vt:lpstr>
      <vt:lpstr>数据链路层传送的是帧</vt:lpstr>
      <vt:lpstr>数据链路层像个数字管道 </vt:lpstr>
      <vt:lpstr>3.1.2  三个基本问题 </vt:lpstr>
      <vt:lpstr>1.  封装成帧</vt:lpstr>
      <vt:lpstr>用控制字符进行帧定界的方法举例 </vt:lpstr>
      <vt:lpstr>2.  透明传输</vt:lpstr>
      <vt:lpstr>解决透明传输问题</vt:lpstr>
      <vt:lpstr>用字节填充法解决透明传输的问题 </vt:lpstr>
      <vt:lpstr>3.  差错检测</vt:lpstr>
      <vt:lpstr>循环冗余检验的原理 </vt:lpstr>
      <vt:lpstr>冗余码的计算 </vt:lpstr>
      <vt:lpstr>冗余码的计算举例 </vt:lpstr>
      <vt:lpstr>循环冗余检验的原理说明 </vt:lpstr>
      <vt:lpstr>帧检验序列 FCS </vt:lpstr>
      <vt:lpstr>接收端对收到的每一帧进行 CRC 检验 </vt:lpstr>
      <vt:lpstr>CRC中除数的多项式表示法</vt:lpstr>
      <vt:lpstr>应当注意 </vt:lpstr>
      <vt:lpstr>应当注意 </vt:lpstr>
      <vt:lpstr>3.2  点对点协议 PPP</vt:lpstr>
      <vt:lpstr>3.2.1  PPP 协议的特点 </vt:lpstr>
      <vt:lpstr>用户到 ISP 的链路使用 PPP 协议 </vt:lpstr>
      <vt:lpstr>1. PPP 协议应满足的需求 </vt:lpstr>
      <vt:lpstr>1. PPP 协议应满足的需求（续） </vt:lpstr>
      <vt:lpstr>2. PPP 协议不需要的功能</vt:lpstr>
      <vt:lpstr>3. PPP 协议的组成 </vt:lpstr>
      <vt:lpstr>3.2.2   PPP 协议的帧格式</vt:lpstr>
      <vt:lpstr>PPP 协议的帧格式</vt:lpstr>
      <vt:lpstr>透明传输问题 </vt:lpstr>
      <vt:lpstr>字符填充 </vt:lpstr>
      <vt:lpstr>零比特填充 </vt:lpstr>
      <vt:lpstr>零比特填充 </vt:lpstr>
      <vt:lpstr> 不提供使用序号和确认的可靠传输 </vt:lpstr>
      <vt:lpstr> 3.2.3   PPP 协议的工作状态 </vt:lpstr>
      <vt:lpstr>PowerPoint 演示文稿</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81</cp:revision>
  <cp:lastPrinted>2020-03-13T06:59:27Z</cp:lastPrinted>
  <dcterms:created xsi:type="dcterms:W3CDTF">2016-10-01T05:27:00Z</dcterms:created>
  <dcterms:modified xsi:type="dcterms:W3CDTF">2024-03-13T12:25:02Z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
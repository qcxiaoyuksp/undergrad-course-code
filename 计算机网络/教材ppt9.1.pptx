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handoutMasterIdLst>
    <p:handoutMasterId r:id="rId62"/>
  </p:handoutMasterIdLst>
  <p:sldIdLst>
    <p:sldId id="1712" r:id="rId2"/>
    <p:sldId id="1713" r:id="rId3"/>
    <p:sldId id="1714" r:id="rId4"/>
    <p:sldId id="1715" r:id="rId5"/>
    <p:sldId id="1716" r:id="rId6"/>
    <p:sldId id="1717" r:id="rId7"/>
    <p:sldId id="1718" r:id="rId8"/>
    <p:sldId id="1719" r:id="rId9"/>
    <p:sldId id="1720" r:id="rId10"/>
    <p:sldId id="1721" r:id="rId11"/>
    <p:sldId id="1722" r:id="rId12"/>
    <p:sldId id="1723" r:id="rId13"/>
    <p:sldId id="1724" r:id="rId14"/>
    <p:sldId id="1725" r:id="rId15"/>
    <p:sldId id="1726" r:id="rId16"/>
    <p:sldId id="1727" r:id="rId17"/>
    <p:sldId id="1728" r:id="rId18"/>
    <p:sldId id="1729" r:id="rId19"/>
    <p:sldId id="1730" r:id="rId20"/>
    <p:sldId id="1731" r:id="rId21"/>
    <p:sldId id="1732" r:id="rId22"/>
    <p:sldId id="1733" r:id="rId23"/>
    <p:sldId id="1734" r:id="rId24"/>
    <p:sldId id="1735" r:id="rId25"/>
    <p:sldId id="1736" r:id="rId26"/>
    <p:sldId id="1737" r:id="rId27"/>
    <p:sldId id="1738" r:id="rId28"/>
    <p:sldId id="1739" r:id="rId29"/>
    <p:sldId id="1740" r:id="rId30"/>
    <p:sldId id="1741" r:id="rId31"/>
    <p:sldId id="1742" r:id="rId32"/>
    <p:sldId id="1743" r:id="rId33"/>
    <p:sldId id="1744" r:id="rId34"/>
    <p:sldId id="1745" r:id="rId35"/>
    <p:sldId id="1746" r:id="rId36"/>
    <p:sldId id="1747" r:id="rId37"/>
    <p:sldId id="1748" r:id="rId38"/>
    <p:sldId id="1749" r:id="rId39"/>
    <p:sldId id="1750" r:id="rId40"/>
    <p:sldId id="1751" r:id="rId41"/>
    <p:sldId id="1752" r:id="rId42"/>
    <p:sldId id="1753" r:id="rId43"/>
    <p:sldId id="1754" r:id="rId44"/>
    <p:sldId id="1755" r:id="rId45"/>
    <p:sldId id="1756" r:id="rId46"/>
    <p:sldId id="1757" r:id="rId47"/>
    <p:sldId id="1758" r:id="rId48"/>
    <p:sldId id="1759" r:id="rId49"/>
    <p:sldId id="1760" r:id="rId50"/>
    <p:sldId id="1761" r:id="rId51"/>
    <p:sldId id="1762" r:id="rId52"/>
    <p:sldId id="1771" r:id="rId53"/>
    <p:sldId id="1764" r:id="rId54"/>
    <p:sldId id="1765" r:id="rId55"/>
    <p:sldId id="1766" r:id="rId56"/>
    <p:sldId id="1767" r:id="rId57"/>
    <p:sldId id="1768" r:id="rId58"/>
    <p:sldId id="1769" r:id="rId59"/>
    <p:sldId id="1770" r:id="rId60"/>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1585" name="幻灯片图像占位符 1"/>
          <p:cNvSpPr>
            <a:spLocks noGrp="1" noRot="1" noChangeAspect="1" noChangeArrowheads="1"/>
          </p:cNvSpPr>
          <p:nvPr>
            <p:ph type="sldImg" idx="4294967295"/>
          </p:nvPr>
        </p:nvSpPr>
        <p:spPr>
          <a:ln/>
        </p:spPr>
      </p:sp>
      <p:sp>
        <p:nvSpPr>
          <p:cNvPr id="237158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15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F163EA-22C9-40E5-8D1D-38CF01319E88}" type="slidenum">
              <a:rPr lang="zh-CN" altLang="en-US" smtClean="0">
                <a:latin typeface="宋体" panose="02010600030101010101" pitchFamily="2" charset="-122"/>
              </a:rPr>
              <a:pPr eaLnBrk="1" hangingPunct="1"/>
              <a:t>4</a:t>
            </a:fld>
            <a:endParaRPr lang="zh-CN" altLang="en-US" smtClean="0">
              <a:latin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4657" name="幻灯片图像占位符 1"/>
          <p:cNvSpPr>
            <a:spLocks noGrp="1" noRot="1" noChangeAspect="1" noChangeArrowheads="1"/>
          </p:cNvSpPr>
          <p:nvPr>
            <p:ph type="sldImg" idx="4294967295"/>
          </p:nvPr>
        </p:nvSpPr>
        <p:spPr>
          <a:ln/>
        </p:spPr>
      </p:sp>
      <p:sp>
        <p:nvSpPr>
          <p:cNvPr id="237465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465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ADBEA9-6BA6-4937-9192-06B687FE58B4}" type="slidenum">
              <a:rPr lang="zh-CN" altLang="en-US" smtClean="0">
                <a:latin typeface="宋体" panose="02010600030101010101" pitchFamily="2" charset="-122"/>
              </a:rPr>
              <a:pPr eaLnBrk="1" hangingPunct="1"/>
              <a:t>6</a:t>
            </a:fld>
            <a:endParaRPr lang="zh-CN" altLang="en-US" smtClean="0">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6705" name="幻灯片图像占位符 1"/>
          <p:cNvSpPr>
            <a:spLocks noGrp="1" noRot="1" noChangeAspect="1" noChangeArrowheads="1"/>
          </p:cNvSpPr>
          <p:nvPr>
            <p:ph type="sldImg" idx="4294967295"/>
          </p:nvPr>
        </p:nvSpPr>
        <p:spPr>
          <a:ln/>
        </p:spPr>
      </p:sp>
      <p:sp>
        <p:nvSpPr>
          <p:cNvPr id="237670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670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8D65C2-203A-4AC8-A2BA-0973DB8B7C21}" type="slidenum">
              <a:rPr lang="zh-CN" altLang="en-US" smtClean="0">
                <a:latin typeface="宋体" panose="02010600030101010101" pitchFamily="2" charset="-122"/>
              </a:rPr>
              <a:pPr eaLnBrk="1" hangingPunct="1"/>
              <a:t>7</a:t>
            </a:fld>
            <a:endParaRPr lang="zh-CN" altLang="en-US" smtClean="0">
              <a:latin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8753" name="幻灯片图像占位符 1"/>
          <p:cNvSpPr>
            <a:spLocks noGrp="1" noRot="1" noChangeAspect="1" noChangeArrowheads="1"/>
          </p:cNvSpPr>
          <p:nvPr>
            <p:ph type="sldImg" idx="4294967295"/>
          </p:nvPr>
        </p:nvSpPr>
        <p:spPr>
          <a:ln/>
        </p:spPr>
      </p:sp>
      <p:sp>
        <p:nvSpPr>
          <p:cNvPr id="237875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7875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B7BF6F-FABA-45A6-AB34-41C2645C2A0F}" type="slidenum">
              <a:rPr lang="zh-CN" altLang="en-US" smtClean="0">
                <a:latin typeface="宋体" panose="02010600030101010101" pitchFamily="2" charset="-122"/>
              </a:rPr>
              <a:pPr eaLnBrk="1" hangingPunct="1"/>
              <a:t>8</a:t>
            </a:fld>
            <a:endParaRPr lang="zh-CN" altLang="en-US" smtClean="0">
              <a:latin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0801" name="幻灯片图像占位符 1"/>
          <p:cNvSpPr>
            <a:spLocks noGrp="1" noRot="1" noChangeAspect="1" noChangeArrowheads="1"/>
          </p:cNvSpPr>
          <p:nvPr>
            <p:ph type="sldImg" idx="4294967295"/>
          </p:nvPr>
        </p:nvSpPr>
        <p:spPr>
          <a:ln/>
        </p:spPr>
      </p:sp>
      <p:sp>
        <p:nvSpPr>
          <p:cNvPr id="238080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080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DD17C0-CD20-4829-9BE2-139F611BD3FD}" type="slidenum">
              <a:rPr lang="zh-CN" altLang="en-US" smtClean="0">
                <a:latin typeface="宋体" panose="02010600030101010101" pitchFamily="2" charset="-122"/>
              </a:rPr>
              <a:pPr eaLnBrk="1" hangingPunct="1"/>
              <a:t>9</a:t>
            </a:fld>
            <a:endParaRPr lang="zh-CN" altLang="en-US" smtClean="0">
              <a:latin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2849" name="幻灯片图像占位符 1"/>
          <p:cNvSpPr>
            <a:spLocks noGrp="1" noRot="1" noChangeAspect="1" noChangeArrowheads="1"/>
          </p:cNvSpPr>
          <p:nvPr>
            <p:ph type="sldImg" idx="4294967295"/>
          </p:nvPr>
        </p:nvSpPr>
        <p:spPr>
          <a:ln/>
        </p:spPr>
      </p:sp>
      <p:sp>
        <p:nvSpPr>
          <p:cNvPr id="238285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28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ADA73C-0A11-408E-A545-C1B50DE40CED}" type="slidenum">
              <a:rPr lang="zh-CN" altLang="en-US" smtClean="0">
                <a:latin typeface="宋体" panose="02010600030101010101" pitchFamily="2" charset="-122"/>
              </a:rPr>
              <a:pPr eaLnBrk="1" hangingPunct="1"/>
              <a:t>10</a:t>
            </a:fld>
            <a:endParaRPr lang="zh-CN" altLang="en-US" smtClean="0">
              <a:latin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4897" name="幻灯片图像占位符 1"/>
          <p:cNvSpPr>
            <a:spLocks noGrp="1" noRot="1" noChangeAspect="1" noChangeArrowheads="1"/>
          </p:cNvSpPr>
          <p:nvPr>
            <p:ph type="sldImg" idx="4294967295"/>
          </p:nvPr>
        </p:nvSpPr>
        <p:spPr>
          <a:ln/>
        </p:spPr>
      </p:sp>
      <p:sp>
        <p:nvSpPr>
          <p:cNvPr id="238489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848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383878-1F62-4DB0-9BEE-7B6B6FD308B7}" type="slidenum">
              <a:rPr lang="zh-CN" altLang="en-US" smtClean="0">
                <a:latin typeface="宋体" panose="02010600030101010101" pitchFamily="2" charset="-122"/>
              </a:rPr>
              <a:pPr eaLnBrk="1" hangingPunct="1"/>
              <a:t>11</a:t>
            </a:fld>
            <a:endParaRPr lang="zh-CN" altLang="en-US" smtClean="0">
              <a:latin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945" name="幻灯片图像占位符 1"/>
          <p:cNvSpPr>
            <a:spLocks noGrp="1" noRot="1" noChangeAspect="1" noChangeArrowheads="1"/>
          </p:cNvSpPr>
          <p:nvPr>
            <p:ph type="sldImg" idx="4294967295"/>
          </p:nvPr>
        </p:nvSpPr>
        <p:spPr>
          <a:ln/>
        </p:spPr>
      </p:sp>
      <p:sp>
        <p:nvSpPr>
          <p:cNvPr id="2386946"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38694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046696-3B8B-491D-9636-EDBB4F96902D}" type="slidenum">
              <a:rPr lang="zh-CN" altLang="en-US" smtClean="0">
                <a:latin typeface="宋体" panose="02010600030101010101" pitchFamily="2" charset="-122"/>
              </a:rPr>
              <a:pPr eaLnBrk="1" hangingPunct="1"/>
              <a:t>12</a:t>
            </a:fld>
            <a:endParaRPr lang="zh-CN" altLang="en-US" smtClean="0">
              <a:latin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8993" name="幻灯片图像占位符 1"/>
          <p:cNvSpPr>
            <a:spLocks noGrp="1" noRot="1" noChangeAspect="1" noChangeArrowheads="1"/>
          </p:cNvSpPr>
          <p:nvPr>
            <p:ph type="sldImg" idx="4294967295"/>
          </p:nvPr>
        </p:nvSpPr>
        <p:spPr>
          <a:ln/>
        </p:spPr>
      </p:sp>
      <p:sp>
        <p:nvSpPr>
          <p:cNvPr id="2388994"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3889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AAB65A-88B3-4E5D-B0AF-8C0D215A4F26}" type="slidenum">
              <a:rPr lang="zh-CN" altLang="en-US" smtClean="0">
                <a:latin typeface="宋体" panose="02010600030101010101" pitchFamily="2" charset="-122"/>
              </a:rPr>
              <a:pPr eaLnBrk="1" hangingPunct="1"/>
              <a:t>13</a:t>
            </a:fld>
            <a:endParaRPr lang="zh-CN" altLang="en-US" smtClean="0">
              <a:latin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1041" name="幻灯片图像占位符 1"/>
          <p:cNvSpPr>
            <a:spLocks noGrp="1" noRot="1" noChangeAspect="1" noChangeArrowheads="1"/>
          </p:cNvSpPr>
          <p:nvPr>
            <p:ph type="sldImg" idx="4294967295"/>
          </p:nvPr>
        </p:nvSpPr>
        <p:spPr>
          <a:ln/>
        </p:spPr>
      </p:sp>
      <p:sp>
        <p:nvSpPr>
          <p:cNvPr id="2391042" name="备注占位符 2"/>
          <p:cNvSpPr>
            <a:spLocks noGrp="1" noChangeArrowheads="1"/>
          </p:cNvSpPr>
          <p:nvPr>
            <p:ph type="body" idx="4294967295"/>
          </p:nvPr>
        </p:nvSpPr>
        <p:spPr/>
        <p:txBody>
          <a:bodyPr/>
          <a:lstStyle/>
          <a:p>
            <a:endParaRPr lang="zh-CN" altLang="en-US" smtClean="0"/>
          </a:p>
        </p:txBody>
      </p:sp>
      <p:sp>
        <p:nvSpPr>
          <p:cNvPr id="23910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91BABE-603A-464F-9B09-2DE3D251267C}" type="slidenum">
              <a:rPr lang="zh-CN" altLang="en-US" smtClean="0">
                <a:latin typeface="宋体" panose="02010600030101010101" pitchFamily="2" charset="-122"/>
              </a:rPr>
              <a:pPr eaLnBrk="1" hangingPunct="1"/>
              <a:t>14</a:t>
            </a:fld>
            <a:endParaRPr lang="zh-CN" altLang="en-US" smtClean="0">
              <a:latin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4113" name="幻灯片图像占位符 1"/>
          <p:cNvSpPr>
            <a:spLocks noGrp="1" noRot="1" noChangeAspect="1" noChangeArrowheads="1"/>
          </p:cNvSpPr>
          <p:nvPr>
            <p:ph type="sldImg" idx="4294967295"/>
          </p:nvPr>
        </p:nvSpPr>
        <p:spPr>
          <a:ln/>
        </p:spPr>
      </p:sp>
      <p:sp>
        <p:nvSpPr>
          <p:cNvPr id="239411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9411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87D9F3-1DCB-4319-993E-11DC770CD4FA}" type="slidenum">
              <a:rPr lang="zh-CN" altLang="en-US" smtClean="0">
                <a:latin typeface="宋体" panose="02010600030101010101" pitchFamily="2" charset="-122"/>
              </a:rPr>
              <a:pPr eaLnBrk="1" hangingPunct="1"/>
              <a:t>16</a:t>
            </a:fld>
            <a:endParaRPr lang="zh-CN" altLang="en-US" smtClean="0">
              <a:latin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9233" name="幻灯片图像占位符 1"/>
          <p:cNvSpPr>
            <a:spLocks noGrp="1" noRot="1" noChangeAspect="1" noChangeArrowheads="1"/>
          </p:cNvSpPr>
          <p:nvPr>
            <p:ph type="sldImg" idx="4294967295"/>
          </p:nvPr>
        </p:nvSpPr>
        <p:spPr>
          <a:ln/>
        </p:spPr>
      </p:sp>
      <p:sp>
        <p:nvSpPr>
          <p:cNvPr id="239923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399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B012E0-B0DC-4BE5-AD49-81E839158477}" type="slidenum">
              <a:rPr lang="zh-CN" altLang="en-US" smtClean="0">
                <a:latin typeface="宋体" panose="02010600030101010101" pitchFamily="2" charset="-122"/>
              </a:rPr>
              <a:pPr eaLnBrk="1" hangingPunct="1"/>
              <a:t>20</a:t>
            </a:fld>
            <a:endParaRPr lang="zh-CN" altLang="en-US" smtClean="0">
              <a:latin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4353" name="幻灯片图像占位符 1"/>
          <p:cNvSpPr>
            <a:spLocks noGrp="1" noRot="1" noChangeAspect="1" noChangeArrowheads="1"/>
          </p:cNvSpPr>
          <p:nvPr>
            <p:ph type="sldImg" idx="4294967295"/>
          </p:nvPr>
        </p:nvSpPr>
        <p:spPr>
          <a:ln/>
        </p:spPr>
      </p:sp>
      <p:sp>
        <p:nvSpPr>
          <p:cNvPr id="240435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435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C4C267-7EB3-4729-86C0-00D953899206}" type="slidenum">
              <a:rPr lang="zh-CN" altLang="en-US" smtClean="0">
                <a:latin typeface="宋体" panose="02010600030101010101" pitchFamily="2" charset="-122"/>
              </a:rPr>
              <a:pPr eaLnBrk="1" hangingPunct="1"/>
              <a:t>24</a:t>
            </a:fld>
            <a:endParaRPr lang="zh-CN" altLang="en-US" smtClean="0">
              <a:latin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7425" name="幻灯片图像占位符 1"/>
          <p:cNvSpPr>
            <a:spLocks noGrp="1" noRot="1" noChangeAspect="1" noChangeArrowheads="1"/>
          </p:cNvSpPr>
          <p:nvPr>
            <p:ph type="sldImg" idx="4294967295"/>
          </p:nvPr>
        </p:nvSpPr>
        <p:spPr>
          <a:ln/>
        </p:spPr>
      </p:sp>
      <p:sp>
        <p:nvSpPr>
          <p:cNvPr id="240742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742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91A4A9-1597-41C1-AEFF-FC1F02A3494B}" type="slidenum">
              <a:rPr lang="zh-CN" altLang="en-US" smtClean="0">
                <a:latin typeface="宋体" panose="02010600030101010101" pitchFamily="2" charset="-122"/>
              </a:rPr>
              <a:pPr eaLnBrk="1" hangingPunct="1"/>
              <a:t>26</a:t>
            </a:fld>
            <a:endParaRPr lang="zh-CN" altLang="en-US" smtClean="0">
              <a:latin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9473" name="幻灯片图像占位符 1"/>
          <p:cNvSpPr>
            <a:spLocks noGrp="1" noRot="1" noChangeAspect="1" noChangeArrowheads="1"/>
          </p:cNvSpPr>
          <p:nvPr>
            <p:ph type="sldImg" idx="4294967295"/>
          </p:nvPr>
        </p:nvSpPr>
        <p:spPr>
          <a:ln/>
        </p:spPr>
      </p:sp>
      <p:sp>
        <p:nvSpPr>
          <p:cNvPr id="240947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0947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5B388C-A09D-4CAA-B632-DFDA4D5D0B12}" type="slidenum">
              <a:rPr lang="zh-CN" altLang="en-US" smtClean="0">
                <a:latin typeface="宋体" panose="02010600030101010101" pitchFamily="2" charset="-122"/>
              </a:rPr>
              <a:pPr eaLnBrk="1" hangingPunct="1"/>
              <a:t>27</a:t>
            </a:fld>
            <a:endParaRPr lang="zh-CN" altLang="en-US" smtClean="0">
              <a:latin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7665" name="幻灯片图像占位符 1"/>
          <p:cNvSpPr>
            <a:spLocks noGrp="1" noRot="1" noChangeAspect="1" noChangeArrowheads="1"/>
          </p:cNvSpPr>
          <p:nvPr>
            <p:ph type="sldImg" idx="4294967295"/>
          </p:nvPr>
        </p:nvSpPr>
        <p:spPr>
          <a:ln/>
        </p:spPr>
      </p:sp>
      <p:sp>
        <p:nvSpPr>
          <p:cNvPr id="241766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1766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3ADF92-B02A-41C0-989D-93F66035014D}" type="slidenum">
              <a:rPr lang="zh-CN" altLang="en-US" smtClean="0">
                <a:latin typeface="宋体" panose="02010600030101010101" pitchFamily="2" charset="-122"/>
              </a:rPr>
              <a:pPr eaLnBrk="1" hangingPunct="1"/>
              <a:t>34</a:t>
            </a:fld>
            <a:endParaRPr lang="zh-CN" altLang="en-US" smtClean="0">
              <a:latin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81" name="幻灯片图像占位符 1"/>
          <p:cNvSpPr>
            <a:spLocks noGrp="1" noRot="1" noChangeAspect="1" noChangeArrowheads="1"/>
          </p:cNvSpPr>
          <p:nvPr>
            <p:ph type="sldImg" idx="4294967295"/>
          </p:nvPr>
        </p:nvSpPr>
        <p:spPr>
          <a:ln/>
        </p:spPr>
      </p:sp>
      <p:sp>
        <p:nvSpPr>
          <p:cNvPr id="242688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268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E32462-1304-4154-922D-F7DBB6EEF31A}" type="slidenum">
              <a:rPr lang="zh-CN" altLang="en-US" smtClean="0">
                <a:latin typeface="宋体" panose="02010600030101010101" pitchFamily="2" charset="-122"/>
              </a:rPr>
              <a:pPr eaLnBrk="1" hangingPunct="1"/>
              <a:t>42</a:t>
            </a:fld>
            <a:endParaRPr lang="zh-CN" altLang="en-US" smtClean="0">
              <a:latin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8929" name="幻灯片图像占位符 1"/>
          <p:cNvSpPr>
            <a:spLocks noGrp="1" noRot="1" noChangeAspect="1" noChangeArrowheads="1"/>
          </p:cNvSpPr>
          <p:nvPr>
            <p:ph type="sldImg" idx="4294967295"/>
          </p:nvPr>
        </p:nvSpPr>
        <p:spPr>
          <a:ln/>
        </p:spPr>
      </p:sp>
      <p:sp>
        <p:nvSpPr>
          <p:cNvPr id="242893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2893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1DF47-163E-4C93-AC41-175B1DA77E33}" type="slidenum">
              <a:rPr lang="zh-CN" altLang="en-US" smtClean="0">
                <a:latin typeface="宋体" panose="02010600030101010101" pitchFamily="2" charset="-122"/>
              </a:rPr>
              <a:pPr eaLnBrk="1" hangingPunct="1"/>
              <a:t>43</a:t>
            </a:fld>
            <a:endParaRPr lang="zh-CN" altLang="en-US" smtClean="0">
              <a:latin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0977" name="幻灯片图像占位符 1"/>
          <p:cNvSpPr>
            <a:spLocks noGrp="1" noRot="1" noChangeAspect="1" noChangeArrowheads="1"/>
          </p:cNvSpPr>
          <p:nvPr>
            <p:ph type="sldImg" idx="4294967295"/>
          </p:nvPr>
        </p:nvSpPr>
        <p:spPr>
          <a:ln/>
        </p:spPr>
      </p:sp>
      <p:sp>
        <p:nvSpPr>
          <p:cNvPr id="243097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097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DEFF96-200C-4AF4-A6F8-2185943B2DBF}" type="slidenum">
              <a:rPr lang="zh-CN" altLang="en-US" smtClean="0">
                <a:latin typeface="宋体" panose="02010600030101010101" pitchFamily="2" charset="-122"/>
              </a:rPr>
              <a:pPr eaLnBrk="1" hangingPunct="1"/>
              <a:t>44</a:t>
            </a:fld>
            <a:endParaRPr lang="zh-CN" altLang="en-US" smtClean="0">
              <a:latin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4049" name="幻灯片图像占位符 1"/>
          <p:cNvSpPr>
            <a:spLocks noGrp="1" noRot="1" noChangeAspect="1" noChangeArrowheads="1"/>
          </p:cNvSpPr>
          <p:nvPr>
            <p:ph type="sldImg" idx="4294967295"/>
          </p:nvPr>
        </p:nvSpPr>
        <p:spPr>
          <a:ln/>
        </p:spPr>
      </p:sp>
      <p:sp>
        <p:nvSpPr>
          <p:cNvPr id="243405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40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9EF864-2412-42FF-ACE3-3234787FA770}" type="slidenum">
              <a:rPr lang="zh-CN" altLang="en-US" smtClean="0">
                <a:latin typeface="宋体" panose="02010600030101010101" pitchFamily="2" charset="-122"/>
              </a:rPr>
              <a:pPr eaLnBrk="1" hangingPunct="1"/>
              <a:t>46</a:t>
            </a:fld>
            <a:endParaRPr lang="zh-CN" altLang="en-US" smtClean="0">
              <a:latin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6097" name="幻灯片图像占位符 1"/>
          <p:cNvSpPr>
            <a:spLocks noGrp="1" noRot="1" noChangeAspect="1" noChangeArrowheads="1"/>
          </p:cNvSpPr>
          <p:nvPr>
            <p:ph type="sldImg" idx="4294967295"/>
          </p:nvPr>
        </p:nvSpPr>
        <p:spPr>
          <a:ln/>
        </p:spPr>
      </p:sp>
      <p:sp>
        <p:nvSpPr>
          <p:cNvPr id="243609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60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A679C4-1AB0-4E87-BDC0-264F7BDA8740}" type="slidenum">
              <a:rPr lang="zh-CN" altLang="en-US" smtClean="0">
                <a:latin typeface="宋体" panose="02010600030101010101" pitchFamily="2" charset="-122"/>
              </a:rPr>
              <a:pPr eaLnBrk="1" hangingPunct="1"/>
              <a:t>47</a:t>
            </a:fld>
            <a:endParaRPr lang="zh-CN" altLang="en-US" smtClean="0">
              <a:latin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8145" name="幻灯片图像占位符 1"/>
          <p:cNvSpPr>
            <a:spLocks noGrp="1" noRot="1" noChangeAspect="1" noChangeArrowheads="1"/>
          </p:cNvSpPr>
          <p:nvPr>
            <p:ph type="sldImg" idx="4294967295"/>
          </p:nvPr>
        </p:nvSpPr>
        <p:spPr>
          <a:ln/>
        </p:spPr>
      </p:sp>
      <p:sp>
        <p:nvSpPr>
          <p:cNvPr id="2438146"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3814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768784-F576-4E1D-8708-E58F4019E9B6}" type="slidenum">
              <a:rPr lang="zh-CN" altLang="en-US" smtClean="0">
                <a:latin typeface="宋体" panose="02010600030101010101" pitchFamily="2" charset="-122"/>
              </a:rPr>
              <a:pPr eaLnBrk="1" hangingPunct="1"/>
              <a:t>48</a:t>
            </a:fld>
            <a:endParaRPr lang="zh-CN" altLang="en-US" smtClean="0">
              <a:latin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0193" name="幻灯片图像占位符 1"/>
          <p:cNvSpPr>
            <a:spLocks noGrp="1" noRot="1" noChangeAspect="1" noChangeArrowheads="1"/>
          </p:cNvSpPr>
          <p:nvPr>
            <p:ph type="sldImg" idx="4294967295"/>
          </p:nvPr>
        </p:nvSpPr>
        <p:spPr>
          <a:ln/>
        </p:spPr>
      </p:sp>
      <p:sp>
        <p:nvSpPr>
          <p:cNvPr id="244019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01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5DE7FB-E071-4617-8526-A0872BFD0954}" type="slidenum">
              <a:rPr lang="zh-CN" altLang="en-US" smtClean="0">
                <a:latin typeface="宋体" panose="02010600030101010101" pitchFamily="2" charset="-122"/>
              </a:rPr>
              <a:pPr eaLnBrk="1" hangingPunct="1"/>
              <a:t>49</a:t>
            </a:fld>
            <a:endParaRPr lang="zh-CN" altLang="en-US" smtClean="0">
              <a:latin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2241" name="幻灯片图像占位符 1"/>
          <p:cNvSpPr>
            <a:spLocks noGrp="1" noRot="1" noChangeAspect="1" noChangeArrowheads="1"/>
          </p:cNvSpPr>
          <p:nvPr>
            <p:ph type="sldImg" idx="4294967295"/>
          </p:nvPr>
        </p:nvSpPr>
        <p:spPr>
          <a:ln/>
        </p:spPr>
      </p:sp>
      <p:sp>
        <p:nvSpPr>
          <p:cNvPr id="2442242"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22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6E9FB8-AAD0-4CA1-B147-9E8FF009CB46}" type="slidenum">
              <a:rPr lang="zh-CN" altLang="en-US" smtClean="0">
                <a:latin typeface="宋体" panose="02010600030101010101" pitchFamily="2" charset="-122"/>
              </a:rPr>
              <a:pPr eaLnBrk="1" hangingPunct="1"/>
              <a:t>50</a:t>
            </a:fld>
            <a:endParaRPr lang="zh-CN" altLang="en-US" smtClean="0">
              <a:latin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9409" name="幻灯片图像占位符 1"/>
          <p:cNvSpPr>
            <a:spLocks noGrp="1" noRot="1" noChangeAspect="1" noChangeArrowheads="1"/>
          </p:cNvSpPr>
          <p:nvPr>
            <p:ph type="sldImg" idx="4294967295"/>
          </p:nvPr>
        </p:nvSpPr>
        <p:spPr>
          <a:ln/>
        </p:spPr>
      </p:sp>
      <p:sp>
        <p:nvSpPr>
          <p:cNvPr id="2449410" name="备注占位符 2"/>
          <p:cNvSpPr>
            <a:spLocks noGrp="1" noChangeArrowheads="1"/>
          </p:cNvSpPr>
          <p:nvPr>
            <p:ph type="body" idx="4294967295"/>
          </p:nvPr>
        </p:nvSpPr>
        <p:spPr/>
        <p:txBody>
          <a:bodyPr/>
          <a:lstStyle/>
          <a:p>
            <a:r>
              <a:rPr lang="en-US" altLang="zh-CN" smtClean="0"/>
              <a:t>e</a:t>
            </a:r>
            <a:endParaRPr lang="zh-CN" altLang="en-US" smtClean="0"/>
          </a:p>
        </p:txBody>
      </p:sp>
      <p:sp>
        <p:nvSpPr>
          <p:cNvPr id="244941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B6841D-27CC-4C71-9361-3926D04120BA}" type="slidenum">
              <a:rPr lang="zh-CN" altLang="en-US" smtClean="0"/>
              <a:pPr/>
              <a:t>55</a:t>
            </a:fld>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1457" name="幻灯片图像占位符 1"/>
          <p:cNvSpPr>
            <a:spLocks noGrp="1" noRot="1" noChangeAspect="1" noChangeArrowheads="1"/>
          </p:cNvSpPr>
          <p:nvPr>
            <p:ph type="sldImg" idx="4294967295"/>
          </p:nvPr>
        </p:nvSpPr>
        <p:spPr>
          <a:ln/>
        </p:spPr>
      </p:sp>
      <p:sp>
        <p:nvSpPr>
          <p:cNvPr id="2451458"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5145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C96B57-5E15-4E73-A275-9AADCE1ED8E8}" type="slidenum">
              <a:rPr lang="zh-CN" altLang="en-US" smtClean="0">
                <a:latin typeface="宋体" panose="02010600030101010101" pitchFamily="2" charset="-122"/>
              </a:rPr>
              <a:pPr eaLnBrk="1" hangingPunct="1"/>
              <a:t>56</a:t>
            </a:fld>
            <a:endParaRPr lang="zh-CN" altLang="en-US" smtClean="0">
              <a:latin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4529" name="幻灯片图像占位符 1"/>
          <p:cNvSpPr>
            <a:spLocks noGrp="1" noRot="1" noChangeAspect="1" noChangeArrowheads="1"/>
          </p:cNvSpPr>
          <p:nvPr>
            <p:ph type="sldImg" idx="4294967295"/>
          </p:nvPr>
        </p:nvSpPr>
        <p:spPr>
          <a:ln/>
        </p:spPr>
      </p:sp>
      <p:sp>
        <p:nvSpPr>
          <p:cNvPr id="2454530"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5453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02DA34-8E4E-46E9-B10A-DBE917AD20AF}" type="slidenum">
              <a:rPr lang="zh-CN" altLang="en-US" smtClean="0">
                <a:latin typeface="宋体" panose="02010600030101010101" pitchFamily="2" charset="-122"/>
              </a:rPr>
              <a:pPr eaLnBrk="1" hangingPunct="1"/>
              <a:t>58</a:t>
            </a:fld>
            <a:endParaRPr lang="zh-CN" altLang="en-US" smtClean="0">
              <a:latin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5313" name="幻灯片图像占位符 1"/>
          <p:cNvSpPr>
            <a:spLocks noGrp="1" noRot="1" noChangeAspect="1" noChangeArrowheads="1"/>
          </p:cNvSpPr>
          <p:nvPr>
            <p:ph type="sldImg" idx="4294967295"/>
          </p:nvPr>
        </p:nvSpPr>
        <p:spPr>
          <a:ln/>
        </p:spPr>
      </p:sp>
      <p:sp>
        <p:nvSpPr>
          <p:cNvPr id="2445314" name="备注占位符 2"/>
          <p:cNvSpPr>
            <a:spLocks noGrp="1" noChangeArrowheads="1"/>
          </p:cNvSpPr>
          <p:nvPr>
            <p:ph type="body" idx="4294967295"/>
          </p:nvPr>
        </p:nvSpPr>
        <p:spPr/>
        <p:txBody>
          <a:bodyPr/>
          <a:lstStyle/>
          <a:p>
            <a:r>
              <a:rPr lang="en-US" altLang="zh-CN" smtClean="0"/>
              <a:t>n</a:t>
            </a:r>
            <a:endParaRPr lang="zh-CN" altLang="en-US" smtClean="0"/>
          </a:p>
        </p:txBody>
      </p:sp>
      <p:sp>
        <p:nvSpPr>
          <p:cNvPr id="244531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8BC420-2EA6-4A01-BBAC-283956FDCF06}" type="slidenum">
              <a:rPr lang="zh-CN" altLang="en-US" smtClean="0">
                <a:latin typeface="宋体" panose="02010600030101010101" pitchFamily="2" charset="-122"/>
              </a:rPr>
              <a:pPr eaLnBrk="1" hangingPunct="1"/>
              <a:t>59</a:t>
            </a:fld>
            <a:endParaRPr lang="zh-CN" altLang="en-US" smtClean="0">
              <a:latin typeface="宋体" panose="02010600030101010101" pitchFamily="2" charset="-122"/>
            </a:endParaRPr>
          </a:p>
        </p:txBody>
      </p:sp>
    </p:spTree>
    <p:extLst>
      <p:ext uri="{BB962C8B-B14F-4D97-AF65-F5344CB8AC3E}">
        <p14:creationId xmlns:p14="http://schemas.microsoft.com/office/powerpoint/2010/main" val="221581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46850" y="214314"/>
            <a:ext cx="8442457" cy="146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29904" y="1773238"/>
            <a:ext cx="41275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422504" y="1773238"/>
            <a:ext cx="41275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a:xfrm>
            <a:off x="1258888" y="6243638"/>
            <a:ext cx="206375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6769100" y="6237288"/>
            <a:ext cx="3136900" cy="457200"/>
          </a:xfrm>
        </p:spPr>
        <p:txBody>
          <a:bodyPr/>
          <a:lstStyle>
            <a:lvl1pPr>
              <a:defRPr/>
            </a:lvl1pPr>
          </a:lstStyle>
          <a:p>
            <a:r>
              <a:rPr lang="zh-CN" altLang="en-US"/>
              <a:t>ppt课件</a:t>
            </a:r>
          </a:p>
        </p:txBody>
      </p:sp>
      <p:sp>
        <p:nvSpPr>
          <p:cNvPr id="7" name="灯片编号占位符 6"/>
          <p:cNvSpPr>
            <a:spLocks noGrp="1"/>
          </p:cNvSpPr>
          <p:nvPr>
            <p:ph type="sldNum" sz="quarter" idx="12"/>
          </p:nvPr>
        </p:nvSpPr>
        <p:spPr>
          <a:xfrm>
            <a:off x="7629525" y="6243638"/>
            <a:ext cx="2063750" cy="457200"/>
          </a:xfrm>
        </p:spPr>
        <p:txBody>
          <a:bodyPr/>
          <a:lstStyle>
            <a:lvl1pPr>
              <a:defRPr/>
            </a:lvl1pPr>
          </a:lstStyle>
          <a:p>
            <a:fld id="{B256188C-913A-4088-BDC0-BBC9EF739214}" type="slidenum">
              <a:rPr lang="en-US" altLang="zh-CN"/>
              <a:pPr/>
              <a:t>‹#›</a:t>
            </a:fld>
            <a:endParaRPr lang="en-US" altLang="zh-CN"/>
          </a:p>
        </p:txBody>
      </p:sp>
    </p:spTree>
    <p:extLst>
      <p:ext uri="{BB962C8B-B14F-4D97-AF65-F5344CB8AC3E}">
        <p14:creationId xmlns:p14="http://schemas.microsoft.com/office/powerpoint/2010/main" val="265999669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 id="2147483678" r:id="rId15"/>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2.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3.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4.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5.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6.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7.xml"/><Relationship Id="rId7" Type="http://schemas.openxmlformats.org/officeDocument/2006/relationships/image" Target="../media/image2.wmf"/><Relationship Id="rId2" Type="http://schemas.openxmlformats.org/officeDocument/2006/relationships/slideLayout" Target="../slideLayouts/slideLayout15.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image" Target="../media/image4.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25.xml"/><Relationship Id="rId7" Type="http://schemas.openxmlformats.org/officeDocument/2006/relationships/image" Target="../media/image2.wmf"/><Relationship Id="rId2" Type="http://schemas.openxmlformats.org/officeDocument/2006/relationships/slideLayout" Target="../slideLayouts/slideLayout8.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image" Target="../media/image10.png"/><Relationship Id="rId4" Type="http://schemas.openxmlformats.org/officeDocument/2006/relationships/image" Target="../media/image3.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7489" name="标题 4"/>
          <p:cNvSpPr>
            <a:spLocks noGrp="1" noChangeArrowheads="1"/>
          </p:cNvSpPr>
          <p:nvPr>
            <p:ph type="ctrTitle"/>
          </p:nvPr>
        </p:nvSpPr>
        <p:spPr/>
        <p:txBody>
          <a:bodyPr/>
          <a:lstStyle/>
          <a:p>
            <a:r>
              <a:rPr lang="zh-CN" altLang="en-US" dirty="0" smtClean="0">
                <a:latin typeface="黑体" panose="02010609060101010101" pitchFamily="49" charset="-122"/>
                <a:ea typeface="黑体" panose="02010609060101010101" pitchFamily="49" charset="-122"/>
              </a:rPr>
              <a:t>第 </a:t>
            </a:r>
            <a:r>
              <a:rPr lang="en-US" altLang="zh-CN" dirty="0" smtClean="0">
                <a:latin typeface="黑体" panose="02010609060101010101" pitchFamily="49" charset="-122"/>
                <a:ea typeface="黑体" panose="02010609060101010101" pitchFamily="49" charset="-122"/>
              </a:rPr>
              <a:t>9 </a:t>
            </a:r>
            <a:r>
              <a:rPr lang="zh-CN" altLang="en-US" dirty="0" smtClean="0">
                <a:latin typeface="黑体" panose="02010609060101010101" pitchFamily="49" charset="-122"/>
                <a:ea typeface="黑体" panose="02010609060101010101" pitchFamily="49" charset="-122"/>
              </a:rPr>
              <a:t>章  </a:t>
            </a:r>
            <a:r>
              <a:rPr lang="en-US" altLang="zh-CN" dirty="0" smtClean="0">
                <a:latin typeface="黑体" panose="02010609060101010101" pitchFamily="49" charset="-122"/>
                <a:ea typeface="黑体" panose="02010609060101010101" pitchFamily="49" charset="-122"/>
              </a:rPr>
              <a:t/>
            </a:r>
            <a:br>
              <a:rPr lang="en-US" altLang="zh-CN" dirty="0" smtClean="0">
                <a:latin typeface="黑体" panose="02010609060101010101" pitchFamily="49" charset="-122"/>
                <a:ea typeface="黑体" panose="02010609060101010101" pitchFamily="49" charset="-122"/>
              </a:rPr>
            </a:br>
            <a:r>
              <a:rPr lang="zh-CN" altLang="zh-CN" dirty="0" smtClean="0">
                <a:latin typeface="黑体" panose="02010609060101010101" pitchFamily="49" charset="-122"/>
                <a:ea typeface="黑体" panose="02010609060101010101" pitchFamily="49" charset="-122"/>
              </a:rPr>
              <a:t>无线网络和移动网络</a:t>
            </a:r>
            <a:endParaRPr lang="zh-CN" altLang="en-US" dirty="0" smtClean="0">
              <a:latin typeface="黑体" panose="02010609060101010101" pitchFamily="49" charset="-122"/>
              <a:ea typeface="黑体" panose="02010609060101010101" pitchFamily="49" charset="-122"/>
            </a:endParaRPr>
          </a:p>
        </p:txBody>
      </p:sp>
      <p:sp>
        <p:nvSpPr>
          <p:cNvPr id="2367490" name="副标题 5"/>
          <p:cNvSpPr>
            <a:spLocks noGrp="1" noChangeArrowheads="1"/>
          </p:cNvSpPr>
          <p:nvPr>
            <p:ph type="subTitle" idx="1"/>
          </p:nvPr>
        </p:nvSpPr>
        <p:spPr/>
        <p:txBody>
          <a:bodyPr/>
          <a:lstStyle/>
          <a:p>
            <a:endParaRPr lang="zh-CN" altLang="en-US" smtClean="0">
              <a:latin typeface="黑体" panose="02010609060101010101" pitchFamily="49" charset="-122"/>
              <a:ea typeface="黑体" panose="02010609060101010101" pitchFamily="49" charset="-122"/>
            </a:endParaRPr>
          </a:p>
        </p:txBody>
      </p:sp>
      <p:sp>
        <p:nvSpPr>
          <p:cNvPr id="23674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DB921E-6EE2-4764-8959-F5FE27A2864C}" type="slidenum">
              <a:rPr lang="zh-CN" altLang="en-US" smtClean="0"/>
              <a:pPr eaLnBrk="1" hangingPunct="1"/>
              <a:t>1</a:t>
            </a:fld>
            <a:endParaRPr lang="en-US" altLang="zh-CN" smtClean="0"/>
          </a:p>
        </p:txBody>
      </p:sp>
      <p:sp>
        <p:nvSpPr>
          <p:cNvPr id="236749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8513"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9 </a:t>
            </a:r>
            <a:r>
              <a:rPr lang="zh-CN" altLang="en-US" smtClean="0">
                <a:ea typeface="黑体" panose="02010609060101010101" pitchFamily="49" charset="-122"/>
              </a:rPr>
              <a:t>章  </a:t>
            </a:r>
            <a:r>
              <a:rPr lang="zh-CN" altLang="zh-CN" smtClean="0">
                <a:ea typeface="黑体" panose="02010609060101010101" pitchFamily="49" charset="-122"/>
              </a:rPr>
              <a:t>无线网络和移动网络</a:t>
            </a:r>
            <a:endParaRPr lang="zh-CN" altLang="en-US" smtClean="0">
              <a:ea typeface="黑体" panose="02010609060101010101" pitchFamily="49" charset="-122"/>
            </a:endParaRPr>
          </a:p>
        </p:txBody>
      </p:sp>
      <p:sp>
        <p:nvSpPr>
          <p:cNvPr id="2368514" name="内容占位符 1"/>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9.1  </a:t>
            </a:r>
            <a:r>
              <a:rPr lang="zh-CN" altLang="zh-CN" dirty="0" smtClean="0">
                <a:ea typeface="黑体" panose="02010609060101010101" pitchFamily="49" charset="-122"/>
              </a:rPr>
              <a:t>无线局域网</a:t>
            </a:r>
            <a:r>
              <a:rPr lang="en-US" altLang="zh-CN" dirty="0" smtClean="0">
                <a:ea typeface="黑体" panose="02010609060101010101" pitchFamily="49" charset="-122"/>
              </a:rPr>
              <a:t> WLAN</a:t>
            </a:r>
            <a:endParaRPr lang="zh-CN" altLang="zh-CN" dirty="0" smtClean="0">
              <a:ea typeface="黑体" panose="02010609060101010101" pitchFamily="49" charset="-122"/>
            </a:endParaRPr>
          </a:p>
        </p:txBody>
      </p:sp>
      <p:sp>
        <p:nvSpPr>
          <p:cNvPr id="23685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7C1FA8-195E-4F7F-AC39-D8C3552CB8D6}" type="slidenum">
              <a:rPr lang="zh-CN" altLang="en-US" smtClean="0"/>
              <a:pPr eaLnBrk="1" hangingPunct="1"/>
              <a:t>2</a:t>
            </a:fld>
            <a:endParaRPr lang="en-US" altLang="zh-CN" smtClean="0"/>
          </a:p>
        </p:txBody>
      </p:sp>
      <p:sp>
        <p:nvSpPr>
          <p:cNvPr id="23685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953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  </a:t>
            </a:r>
            <a:r>
              <a:rPr lang="zh-CN" altLang="zh-CN" smtClean="0">
                <a:ea typeface="黑体" panose="02010609060101010101" pitchFamily="49" charset="-122"/>
              </a:rPr>
              <a:t>无线局域网</a:t>
            </a:r>
            <a:r>
              <a:rPr lang="en-US" altLang="zh-CN" smtClean="0">
                <a:ea typeface="黑体" panose="02010609060101010101" pitchFamily="49" charset="-122"/>
              </a:rPr>
              <a:t> WLAN</a:t>
            </a:r>
            <a:endParaRPr lang="zh-CN" altLang="en-US" smtClean="0">
              <a:ea typeface="黑体" panose="02010609060101010101" pitchFamily="49" charset="-122"/>
            </a:endParaRPr>
          </a:p>
        </p:txBody>
      </p:sp>
      <p:sp>
        <p:nvSpPr>
          <p:cNvPr id="2369538" name="内容占位符 1"/>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9.1.1  </a:t>
            </a:r>
            <a:r>
              <a:rPr lang="zh-CN" altLang="zh-CN" smtClean="0">
                <a:ea typeface="黑体" panose="02010609060101010101" pitchFamily="49" charset="-122"/>
              </a:rPr>
              <a:t>无线局域网的组成</a:t>
            </a:r>
          </a:p>
          <a:p>
            <a:r>
              <a:rPr lang="en-US" altLang="zh-CN" smtClean="0">
                <a:ea typeface="黑体" panose="02010609060101010101" pitchFamily="49" charset="-122"/>
              </a:rPr>
              <a:t>9.1.2  802.11 </a:t>
            </a:r>
            <a:r>
              <a:rPr lang="zh-CN" altLang="zh-CN" smtClean="0">
                <a:ea typeface="黑体" panose="02010609060101010101" pitchFamily="49" charset="-122"/>
              </a:rPr>
              <a:t>局域网的物理层</a:t>
            </a:r>
          </a:p>
          <a:p>
            <a:r>
              <a:rPr lang="en-US" altLang="zh-CN" smtClean="0">
                <a:ea typeface="黑体" panose="02010609060101010101" pitchFamily="49" charset="-122"/>
              </a:rPr>
              <a:t>9.1.3  802.11 </a:t>
            </a:r>
            <a:r>
              <a:rPr lang="zh-CN" altLang="zh-CN" smtClean="0">
                <a:ea typeface="黑体" panose="02010609060101010101" pitchFamily="49" charset="-122"/>
              </a:rPr>
              <a:t>局域网的</a:t>
            </a:r>
            <a:r>
              <a:rPr lang="en-US" altLang="zh-CN" smtClean="0">
                <a:ea typeface="黑体" panose="02010609060101010101" pitchFamily="49" charset="-122"/>
              </a:rPr>
              <a:t> MAC </a:t>
            </a:r>
            <a:r>
              <a:rPr lang="zh-CN" altLang="zh-CN" smtClean="0">
                <a:ea typeface="黑体" panose="02010609060101010101" pitchFamily="49" charset="-122"/>
              </a:rPr>
              <a:t>层协议</a:t>
            </a:r>
          </a:p>
          <a:p>
            <a:r>
              <a:rPr lang="en-US" altLang="zh-CN" smtClean="0">
                <a:ea typeface="黑体" panose="02010609060101010101" pitchFamily="49" charset="-122"/>
              </a:rPr>
              <a:t>9.1.4  802.11 </a:t>
            </a:r>
            <a:r>
              <a:rPr lang="zh-CN" altLang="zh-CN" smtClean="0">
                <a:ea typeface="黑体" panose="02010609060101010101" pitchFamily="49" charset="-122"/>
              </a:rPr>
              <a:t>局域网的</a:t>
            </a:r>
            <a:r>
              <a:rPr lang="en-US" altLang="zh-CN" smtClean="0">
                <a:ea typeface="黑体" panose="02010609060101010101" pitchFamily="49" charset="-122"/>
              </a:rPr>
              <a:t> MAC </a:t>
            </a:r>
            <a:r>
              <a:rPr lang="zh-CN" altLang="zh-CN" smtClean="0">
                <a:ea typeface="黑体" panose="02010609060101010101" pitchFamily="49" charset="-122"/>
              </a:rPr>
              <a:t>帧</a:t>
            </a:r>
            <a:endParaRPr lang="zh-CN" altLang="en-US" smtClean="0">
              <a:ea typeface="黑体" panose="02010609060101010101" pitchFamily="49" charset="-122"/>
            </a:endParaRPr>
          </a:p>
        </p:txBody>
      </p:sp>
      <p:sp>
        <p:nvSpPr>
          <p:cNvPr id="236953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4D0CE9-C75A-4E53-A539-88FF5AC85C98}" type="slidenum">
              <a:rPr lang="zh-CN" altLang="en-US" smtClean="0"/>
              <a:pPr eaLnBrk="1" hangingPunct="1"/>
              <a:t>3</a:t>
            </a:fld>
            <a:endParaRPr lang="en-US" altLang="zh-CN" smtClean="0"/>
          </a:p>
        </p:txBody>
      </p:sp>
      <p:sp>
        <p:nvSpPr>
          <p:cNvPr id="236954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0561"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9.1.1  </a:t>
            </a:r>
            <a:r>
              <a:rPr lang="zh-CN" altLang="en-US" smtClean="0">
                <a:ea typeface="黑体" panose="02010609060101010101" pitchFamily="49" charset="-122"/>
              </a:rPr>
              <a:t>无线局域网的组成</a:t>
            </a:r>
          </a:p>
        </p:txBody>
      </p:sp>
      <p:sp>
        <p:nvSpPr>
          <p:cNvPr id="2370562" name="内容占位符 2"/>
          <p:cNvSpPr>
            <a:spLocks noGrp="1" noChangeArrowheads="1"/>
          </p:cNvSpPr>
          <p:nvPr>
            <p:ph idx="1"/>
          </p:nvPr>
        </p:nvSpPr>
        <p:spPr>
          <a:xfrm>
            <a:off x="495300" y="1196975"/>
            <a:ext cx="9066213" cy="4933950"/>
          </a:xfrm>
        </p:spPr>
        <p:txBody>
          <a:bodyPr/>
          <a:lstStyle/>
          <a:p>
            <a:r>
              <a:rPr lang="zh-CN" altLang="zh-CN" u="sng" dirty="0" smtClean="0">
                <a:solidFill>
                  <a:srgbClr val="FF0000"/>
                </a:solidFill>
                <a:ea typeface="黑体" panose="02010609060101010101" pitchFamily="49" charset="-122"/>
              </a:rPr>
              <a:t>无线局域网</a:t>
            </a:r>
            <a:r>
              <a:rPr lang="en-US" altLang="zh-CN" u="sng" dirty="0" smtClean="0">
                <a:solidFill>
                  <a:srgbClr val="FF0000"/>
                </a:solidFill>
                <a:ea typeface="黑体" panose="02010609060101010101" pitchFamily="49" charset="-122"/>
              </a:rPr>
              <a:t> WLAN</a:t>
            </a:r>
            <a:r>
              <a:rPr lang="en-US" altLang="zh-CN" u="sng" dirty="0" smtClean="0">
                <a:ea typeface="黑体" panose="02010609060101010101" pitchFamily="49" charset="-122"/>
              </a:rPr>
              <a:t> (Wireless Local Area Network) </a:t>
            </a:r>
            <a:r>
              <a:rPr lang="zh-CN" altLang="zh-CN" dirty="0" smtClean="0">
                <a:ea typeface="黑体" panose="02010609060101010101" pitchFamily="49" charset="-122"/>
              </a:rPr>
              <a:t>可分为两大类</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zh-CN" dirty="0" smtClean="0">
                <a:ea typeface="黑体" panose="02010609060101010101" pitchFamily="49" charset="-122"/>
              </a:rPr>
              <a:t>有固定基础设施的</a:t>
            </a:r>
            <a:r>
              <a:rPr lang="en-US" altLang="zh-CN" dirty="0" smtClean="0">
                <a:ea typeface="黑体" panose="02010609060101010101" pitchFamily="49" charset="-122"/>
              </a:rPr>
              <a:t> WLAN</a:t>
            </a:r>
          </a:p>
          <a:p>
            <a:pPr lvl="1"/>
            <a:r>
              <a:rPr lang="zh-CN" altLang="zh-CN" dirty="0" smtClean="0">
                <a:ea typeface="黑体" panose="02010609060101010101" pitchFamily="49" charset="-122"/>
              </a:rPr>
              <a:t>无固定基础设施的</a:t>
            </a:r>
            <a:r>
              <a:rPr lang="en-US" altLang="zh-CN" dirty="0" smtClean="0">
                <a:ea typeface="黑体" panose="02010609060101010101" pitchFamily="49" charset="-122"/>
              </a:rPr>
              <a:t> WLAN</a:t>
            </a:r>
          </a:p>
          <a:p>
            <a:r>
              <a:rPr lang="zh-CN" altLang="zh-CN" dirty="0" smtClean="0">
                <a:ea typeface="黑体" panose="02010609060101010101" pitchFamily="49" charset="-122"/>
              </a:rPr>
              <a:t>所谓“</a:t>
            </a:r>
            <a:r>
              <a:rPr lang="zh-CN" altLang="zh-CN" dirty="0" smtClean="0">
                <a:solidFill>
                  <a:srgbClr val="0000FF"/>
                </a:solidFill>
                <a:ea typeface="黑体" panose="02010609060101010101" pitchFamily="49" charset="-122"/>
              </a:rPr>
              <a:t>固定基础设施</a:t>
            </a:r>
            <a:r>
              <a:rPr lang="zh-CN" altLang="zh-CN" dirty="0" smtClean="0">
                <a:ea typeface="黑体" panose="02010609060101010101" pitchFamily="49" charset="-122"/>
              </a:rPr>
              <a:t>”是指预先建立起来的、能够覆盖一定地理范围的一批</a:t>
            </a:r>
            <a:r>
              <a:rPr lang="zh-CN" altLang="zh-CN" dirty="0" smtClean="0">
                <a:solidFill>
                  <a:srgbClr val="0000FF"/>
                </a:solidFill>
                <a:ea typeface="黑体" panose="02010609060101010101" pitchFamily="49" charset="-122"/>
              </a:rPr>
              <a:t>固定基站</a:t>
            </a:r>
            <a:r>
              <a:rPr lang="zh-CN" altLang="zh-CN" dirty="0" smtClean="0">
                <a:ea typeface="黑体" panose="02010609060101010101" pitchFamily="49" charset="-122"/>
              </a:rPr>
              <a:t>。</a:t>
            </a:r>
            <a:endParaRPr lang="zh-CN" altLang="en-US" dirty="0" smtClean="0">
              <a:ea typeface="黑体" panose="02010609060101010101" pitchFamily="49" charset="-122"/>
            </a:endParaRPr>
          </a:p>
        </p:txBody>
      </p:sp>
      <p:sp>
        <p:nvSpPr>
          <p:cNvPr id="23705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5EBBEE-B913-487A-B1F1-59097E2DD91B}" type="slidenum">
              <a:rPr lang="zh-CN" altLang="en-US" smtClean="0"/>
              <a:pPr eaLnBrk="1" hangingPunct="1"/>
              <a:t>4</a:t>
            </a:fld>
            <a:endParaRPr lang="en-US" altLang="zh-CN" smtClean="0"/>
          </a:p>
        </p:txBody>
      </p:sp>
      <p:sp>
        <p:nvSpPr>
          <p:cNvPr id="23705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2609" name="Rectangle 6"/>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1. IEEE 802.11</a:t>
            </a:r>
            <a:endParaRPr lang="zh-CN" altLang="en-US" dirty="0" smtClean="0">
              <a:ea typeface="黑体" panose="02010609060101010101" pitchFamily="49" charset="-122"/>
            </a:endParaRPr>
          </a:p>
        </p:txBody>
      </p:sp>
      <p:sp>
        <p:nvSpPr>
          <p:cNvPr id="2372610" name="内容占位符 1"/>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802.11 </a:t>
            </a:r>
            <a:r>
              <a:rPr lang="zh-CN" altLang="en-US" dirty="0" smtClean="0">
                <a:ea typeface="黑体" panose="02010609060101010101" pitchFamily="49" charset="-122"/>
              </a:rPr>
              <a:t>是一个</a:t>
            </a:r>
            <a:r>
              <a:rPr lang="zh-CN" altLang="zh-CN" dirty="0" smtClean="0">
                <a:ea typeface="黑体" panose="02010609060101010101" pitchFamily="49" charset="-122"/>
              </a:rPr>
              <a:t>有固定基础设施的无线局域网</a:t>
            </a:r>
            <a:r>
              <a:rPr lang="zh-CN" altLang="en-US" dirty="0" smtClean="0">
                <a:ea typeface="黑体" panose="02010609060101010101" pitchFamily="49" charset="-122"/>
              </a:rPr>
              <a:t>的国际标准。</a:t>
            </a:r>
            <a:endParaRPr lang="en-US" altLang="zh-CN" dirty="0" smtClean="0">
              <a:ea typeface="黑体" panose="02010609060101010101" pitchFamily="49" charset="-122"/>
            </a:endParaRPr>
          </a:p>
          <a:p>
            <a:r>
              <a:rPr lang="en-US" altLang="zh-CN" dirty="0" smtClean="0">
                <a:ea typeface="黑体" panose="02010609060101010101" pitchFamily="49" charset="-122"/>
              </a:rPr>
              <a:t>IEEE 802.11 </a:t>
            </a:r>
            <a:r>
              <a:rPr lang="zh-CN" altLang="zh-CN" dirty="0" smtClean="0">
                <a:ea typeface="黑体" panose="02010609060101010101" pitchFamily="49" charset="-122"/>
              </a:rPr>
              <a:t>是个相当复杂的标准。但简单地说，</a:t>
            </a:r>
            <a:r>
              <a:rPr lang="en-US" altLang="zh-CN" dirty="0" smtClean="0">
                <a:solidFill>
                  <a:srgbClr val="0000FF"/>
                </a:solidFill>
                <a:ea typeface="黑体" panose="02010609060101010101" pitchFamily="49" charset="-122"/>
              </a:rPr>
              <a:t>802.11 </a:t>
            </a:r>
            <a:r>
              <a:rPr lang="zh-CN" altLang="zh-CN" dirty="0" smtClean="0">
                <a:solidFill>
                  <a:srgbClr val="0000FF"/>
                </a:solidFill>
                <a:ea typeface="黑体" panose="02010609060101010101" pitchFamily="49" charset="-122"/>
              </a:rPr>
              <a:t>就是无线以太网的标准</a:t>
            </a:r>
            <a:r>
              <a:rPr lang="zh-CN" altLang="en-US" dirty="0" smtClean="0">
                <a:solidFill>
                  <a:srgbClr val="0000FF"/>
                </a:solidFill>
                <a:ea typeface="黑体" panose="02010609060101010101" pitchFamily="49" charset="-122"/>
              </a:rPr>
              <a:t>：</a:t>
            </a:r>
            <a:endParaRPr lang="en-US" altLang="zh-CN" dirty="0" smtClean="0">
              <a:solidFill>
                <a:srgbClr val="0000FF"/>
              </a:solidFill>
              <a:ea typeface="黑体" panose="02010609060101010101" pitchFamily="49" charset="-122"/>
            </a:endParaRPr>
          </a:p>
          <a:p>
            <a:pPr lvl="1"/>
            <a:r>
              <a:rPr lang="zh-CN" altLang="zh-CN" dirty="0" smtClean="0">
                <a:ea typeface="黑体" panose="02010609060101010101" pitchFamily="49" charset="-122"/>
              </a:rPr>
              <a:t>它使用星形拓扑，其中心叫做</a:t>
            </a:r>
            <a:r>
              <a:rPr lang="zh-CN" altLang="zh-CN" u="sng" dirty="0" smtClean="0">
                <a:solidFill>
                  <a:srgbClr val="FF0000"/>
                </a:solidFill>
                <a:ea typeface="黑体" panose="02010609060101010101" pitchFamily="49" charset="-122"/>
              </a:rPr>
              <a:t>接入点</a:t>
            </a:r>
            <a:r>
              <a:rPr lang="en-US" altLang="zh-CN" u="sng" dirty="0" smtClean="0">
                <a:solidFill>
                  <a:srgbClr val="FF0000"/>
                </a:solidFill>
                <a:ea typeface="黑体" panose="02010609060101010101" pitchFamily="49" charset="-122"/>
              </a:rPr>
              <a:t> </a:t>
            </a:r>
            <a:r>
              <a:rPr lang="en-US" altLang="zh-CN" u="sng" dirty="0" smtClean="0">
                <a:ea typeface="黑体" panose="02010609060101010101" pitchFamily="49" charset="-122"/>
              </a:rPr>
              <a:t>AP (Access Point)</a:t>
            </a:r>
          </a:p>
          <a:p>
            <a:pPr lvl="1"/>
            <a:r>
              <a:rPr lang="zh-CN" altLang="zh-CN" dirty="0" smtClean="0">
                <a:ea typeface="黑体" panose="02010609060101010101" pitchFamily="49" charset="-122"/>
              </a:rPr>
              <a:t>在</a:t>
            </a:r>
            <a:r>
              <a:rPr lang="en-US" altLang="zh-CN" dirty="0" smtClean="0">
                <a:ea typeface="黑体" panose="02010609060101010101" pitchFamily="49" charset="-122"/>
              </a:rPr>
              <a:t>MAC</a:t>
            </a:r>
            <a:r>
              <a:rPr lang="zh-CN" altLang="zh-CN" dirty="0" smtClean="0">
                <a:ea typeface="黑体" panose="02010609060101010101" pitchFamily="49" charset="-122"/>
              </a:rPr>
              <a:t>层使用</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CSMA/CA </a:t>
            </a:r>
            <a:r>
              <a:rPr lang="zh-CN" altLang="zh-CN" dirty="0" smtClean="0">
                <a:ea typeface="黑体" panose="02010609060101010101" pitchFamily="49" charset="-122"/>
              </a:rPr>
              <a:t>协议</a:t>
            </a:r>
            <a:endParaRPr lang="en-US" altLang="zh-CN" dirty="0" smtClean="0">
              <a:ea typeface="黑体" panose="02010609060101010101" pitchFamily="49" charset="-122"/>
            </a:endParaRPr>
          </a:p>
          <a:p>
            <a:r>
              <a:rPr lang="zh-CN" altLang="zh-CN" dirty="0" smtClean="0">
                <a:ea typeface="黑体" panose="02010609060101010101" pitchFamily="49" charset="-122"/>
              </a:rPr>
              <a:t>凡使用</a:t>
            </a:r>
            <a:r>
              <a:rPr lang="en-US" altLang="zh-CN" dirty="0" smtClean="0">
                <a:ea typeface="黑体" panose="02010609060101010101" pitchFamily="49" charset="-122"/>
              </a:rPr>
              <a:t> 802.11 </a:t>
            </a:r>
            <a:r>
              <a:rPr lang="zh-CN" altLang="zh-CN" dirty="0" smtClean="0">
                <a:ea typeface="黑体" panose="02010609060101010101" pitchFamily="49" charset="-122"/>
              </a:rPr>
              <a:t>系列协议的局域网又称为</a:t>
            </a:r>
            <a:r>
              <a:rPr lang="en-US" altLang="zh-CN" dirty="0" smtClean="0">
                <a:ea typeface="黑体" panose="02010609060101010101" pitchFamily="49" charset="-122"/>
              </a:rPr>
              <a:t> </a:t>
            </a:r>
            <a:r>
              <a:rPr lang="en-US" altLang="zh-CN" u="sng" dirty="0" smtClean="0">
                <a:solidFill>
                  <a:srgbClr val="FF0000"/>
                </a:solidFill>
                <a:ea typeface="黑体" panose="02010609060101010101" pitchFamily="49" charset="-122"/>
              </a:rPr>
              <a:t>Wi-Fi</a:t>
            </a:r>
            <a:r>
              <a:rPr lang="en-US" altLang="zh-CN" u="sng" dirty="0" smtClean="0">
                <a:ea typeface="黑体" panose="02010609060101010101" pitchFamily="49" charset="-122"/>
              </a:rPr>
              <a:t> (Wireless-Fidelity</a:t>
            </a:r>
            <a:r>
              <a:rPr lang="zh-CN" altLang="zh-CN" u="sng" dirty="0" smtClean="0">
                <a:ea typeface="黑体" panose="02010609060101010101" pitchFamily="49" charset="-122"/>
              </a:rPr>
              <a:t>，意思是“无线保真度”</a:t>
            </a:r>
            <a:r>
              <a:rPr lang="zh-CN" altLang="en-US" dirty="0" smtClean="0">
                <a:ea typeface="黑体" panose="02010609060101010101" pitchFamily="49" charset="-122"/>
              </a:rPr>
              <a:t>。</a:t>
            </a:r>
          </a:p>
        </p:txBody>
      </p:sp>
      <p:sp>
        <p:nvSpPr>
          <p:cNvPr id="23726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31F5182-B39A-4699-9D39-1A021515293E}" type="slidenum">
              <a:rPr lang="zh-CN" altLang="en-US" smtClean="0"/>
              <a:pPr eaLnBrk="1" hangingPunct="1"/>
              <a:t>5</a:t>
            </a:fld>
            <a:endParaRPr lang="en-US" altLang="zh-CN" smtClean="0"/>
          </a:p>
        </p:txBody>
      </p:sp>
      <p:sp>
        <p:nvSpPr>
          <p:cNvPr id="23726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3633" name="Rectangle 6"/>
          <p:cNvSpPr>
            <a:spLocks noGrp="1" noChangeArrowheads="1"/>
          </p:cNvSpPr>
          <p:nvPr>
            <p:ph type="title"/>
          </p:nvPr>
        </p:nvSpPr>
        <p:spPr/>
        <p:txBody>
          <a:bodyPr/>
          <a:lstStyle/>
          <a:p>
            <a:r>
              <a:rPr lang="en-US" altLang="zh-CN" smtClean="0">
                <a:ea typeface="黑体" panose="02010609060101010101" pitchFamily="49" charset="-122"/>
              </a:rPr>
              <a:t>1. IEEE 802.11</a:t>
            </a:r>
            <a:endParaRPr lang="zh-CN" altLang="en-US" smtClean="0">
              <a:ea typeface="黑体" panose="02010609060101010101" pitchFamily="49" charset="-122"/>
            </a:endParaRPr>
          </a:p>
        </p:txBody>
      </p:sp>
      <p:grpSp>
        <p:nvGrpSpPr>
          <p:cNvPr id="2373634" name="组合 1"/>
          <p:cNvGrpSpPr>
            <a:grpSpLocks/>
          </p:cNvGrpSpPr>
          <p:nvPr/>
        </p:nvGrpSpPr>
        <p:grpSpPr bwMode="auto">
          <a:xfrm>
            <a:off x="344488" y="1866900"/>
            <a:ext cx="9504362" cy="4010025"/>
            <a:chOff x="344487" y="1484784"/>
            <a:chExt cx="9505057" cy="4009836"/>
          </a:xfrm>
        </p:grpSpPr>
        <p:sp>
          <p:nvSpPr>
            <p:cNvPr id="2373635"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36"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3637"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38"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3639" name="Group 425"/>
            <p:cNvGrpSpPr>
              <a:grpSpLocks/>
            </p:cNvGrpSpPr>
            <p:nvPr/>
          </p:nvGrpSpPr>
          <p:grpSpPr bwMode="auto">
            <a:xfrm>
              <a:off x="941756" y="3721205"/>
              <a:ext cx="710422" cy="589759"/>
              <a:chOff x="762" y="2391"/>
              <a:chExt cx="423" cy="312"/>
            </a:xfrm>
          </p:grpSpPr>
          <p:grpSp>
            <p:nvGrpSpPr>
              <p:cNvPr id="2373640" name="Group 316"/>
              <p:cNvGrpSpPr>
                <a:grpSpLocks/>
              </p:cNvGrpSpPr>
              <p:nvPr/>
            </p:nvGrpSpPr>
            <p:grpSpPr bwMode="auto">
              <a:xfrm>
                <a:off x="867" y="2432"/>
                <a:ext cx="318" cy="271"/>
                <a:chOff x="657" y="1570"/>
                <a:chExt cx="318" cy="311"/>
              </a:xfrm>
            </p:grpSpPr>
            <p:sp>
              <p:nvSpPr>
                <p:cNvPr id="2373641"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42"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43" name="Group 424"/>
              <p:cNvGrpSpPr>
                <a:grpSpLocks/>
              </p:cNvGrpSpPr>
              <p:nvPr/>
            </p:nvGrpSpPr>
            <p:grpSpPr bwMode="auto">
              <a:xfrm>
                <a:off x="762" y="2391"/>
                <a:ext cx="306" cy="90"/>
                <a:chOff x="748" y="2251"/>
                <a:chExt cx="306" cy="90"/>
              </a:xfrm>
            </p:grpSpPr>
            <p:sp>
              <p:nvSpPr>
                <p:cNvPr id="2373644"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5"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6"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7"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8"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49"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3650" name="Text Box 45"/>
            <p:cNvSpPr txBox="1">
              <a:spLocks noChangeArrowheads="1"/>
            </p:cNvSpPr>
            <p:nvPr/>
          </p:nvSpPr>
          <p:spPr bwMode="auto">
            <a:xfrm>
              <a:off x="7282725" y="3230770"/>
              <a:ext cx="14750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3651" name="Text Box 46"/>
            <p:cNvSpPr txBox="1">
              <a:spLocks noChangeArrowheads="1"/>
            </p:cNvSpPr>
            <p:nvPr/>
          </p:nvSpPr>
          <p:spPr bwMode="auto">
            <a:xfrm>
              <a:off x="589095" y="2408739"/>
              <a:ext cx="17331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3652"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3653"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3654"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55"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3656" name="Text Box 178"/>
            <p:cNvSpPr txBox="1">
              <a:spLocks noChangeArrowheads="1"/>
            </p:cNvSpPr>
            <p:nvPr/>
          </p:nvSpPr>
          <p:spPr bwMode="auto">
            <a:xfrm>
              <a:off x="4664968" y="4908816"/>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3657"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58"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3659"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0"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1"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2"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3663"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3836"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3664"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65"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3666"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67"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3668"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69"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0"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1"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3672" name="Text Box 305"/>
            <p:cNvSpPr txBox="1">
              <a:spLocks noChangeArrowheads="1"/>
            </p:cNvSpPr>
            <p:nvPr/>
          </p:nvSpPr>
          <p:spPr bwMode="auto">
            <a:xfrm>
              <a:off x="4651742" y="1628622"/>
              <a:ext cx="16450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3673"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3674"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5"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6"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7"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8"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79"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0"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1"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2"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683"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3684" name="Group 426"/>
            <p:cNvGrpSpPr>
              <a:grpSpLocks/>
            </p:cNvGrpSpPr>
            <p:nvPr/>
          </p:nvGrpSpPr>
          <p:grpSpPr bwMode="auto">
            <a:xfrm>
              <a:off x="1930973" y="4331756"/>
              <a:ext cx="710423" cy="589759"/>
              <a:chOff x="762" y="2391"/>
              <a:chExt cx="423" cy="312"/>
            </a:xfrm>
          </p:grpSpPr>
          <p:grpSp>
            <p:nvGrpSpPr>
              <p:cNvPr id="2373685" name="Group 427"/>
              <p:cNvGrpSpPr>
                <a:grpSpLocks/>
              </p:cNvGrpSpPr>
              <p:nvPr/>
            </p:nvGrpSpPr>
            <p:grpSpPr bwMode="auto">
              <a:xfrm>
                <a:off x="867" y="2432"/>
                <a:ext cx="318" cy="271"/>
                <a:chOff x="657" y="1570"/>
                <a:chExt cx="318" cy="311"/>
              </a:xfrm>
            </p:grpSpPr>
            <p:sp>
              <p:nvSpPr>
                <p:cNvPr id="2373686"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87"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88" name="Group 430"/>
              <p:cNvGrpSpPr>
                <a:grpSpLocks/>
              </p:cNvGrpSpPr>
              <p:nvPr/>
            </p:nvGrpSpPr>
            <p:grpSpPr bwMode="auto">
              <a:xfrm>
                <a:off x="762" y="2391"/>
                <a:ext cx="306" cy="90"/>
                <a:chOff x="748" y="2251"/>
                <a:chExt cx="306" cy="90"/>
              </a:xfrm>
            </p:grpSpPr>
            <p:sp>
              <p:nvSpPr>
                <p:cNvPr id="2373689"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0"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1"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2"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3"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694"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695" name="Group 437"/>
            <p:cNvGrpSpPr>
              <a:grpSpLocks/>
            </p:cNvGrpSpPr>
            <p:nvPr/>
          </p:nvGrpSpPr>
          <p:grpSpPr bwMode="auto">
            <a:xfrm>
              <a:off x="5283229" y="3207056"/>
              <a:ext cx="710423" cy="589759"/>
              <a:chOff x="762" y="2391"/>
              <a:chExt cx="423" cy="312"/>
            </a:xfrm>
          </p:grpSpPr>
          <p:grpSp>
            <p:nvGrpSpPr>
              <p:cNvPr id="2373696" name="Group 438"/>
              <p:cNvGrpSpPr>
                <a:grpSpLocks/>
              </p:cNvGrpSpPr>
              <p:nvPr/>
            </p:nvGrpSpPr>
            <p:grpSpPr bwMode="auto">
              <a:xfrm>
                <a:off x="867" y="2432"/>
                <a:ext cx="318" cy="271"/>
                <a:chOff x="657" y="1570"/>
                <a:chExt cx="318" cy="311"/>
              </a:xfrm>
            </p:grpSpPr>
            <p:sp>
              <p:nvSpPr>
                <p:cNvPr id="2373697"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698"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699" name="Group 441"/>
              <p:cNvGrpSpPr>
                <a:grpSpLocks/>
              </p:cNvGrpSpPr>
              <p:nvPr/>
            </p:nvGrpSpPr>
            <p:grpSpPr bwMode="auto">
              <a:xfrm>
                <a:off x="762" y="2391"/>
                <a:ext cx="306" cy="90"/>
                <a:chOff x="748" y="2251"/>
                <a:chExt cx="306" cy="90"/>
              </a:xfrm>
            </p:grpSpPr>
            <p:sp>
              <p:nvSpPr>
                <p:cNvPr id="2373700"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1"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2"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3"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4"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05"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06" name="Group 448"/>
            <p:cNvGrpSpPr>
              <a:grpSpLocks/>
            </p:cNvGrpSpPr>
            <p:nvPr/>
          </p:nvGrpSpPr>
          <p:grpSpPr bwMode="auto">
            <a:xfrm>
              <a:off x="2921871" y="4407367"/>
              <a:ext cx="710423" cy="589759"/>
              <a:chOff x="762" y="2391"/>
              <a:chExt cx="423" cy="312"/>
            </a:xfrm>
          </p:grpSpPr>
          <p:grpSp>
            <p:nvGrpSpPr>
              <p:cNvPr id="2373707" name="Group 449"/>
              <p:cNvGrpSpPr>
                <a:grpSpLocks/>
              </p:cNvGrpSpPr>
              <p:nvPr/>
            </p:nvGrpSpPr>
            <p:grpSpPr bwMode="auto">
              <a:xfrm>
                <a:off x="867" y="2432"/>
                <a:ext cx="318" cy="271"/>
                <a:chOff x="657" y="1570"/>
                <a:chExt cx="318" cy="311"/>
              </a:xfrm>
            </p:grpSpPr>
            <p:sp>
              <p:nvSpPr>
                <p:cNvPr id="2373708"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09"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10" name="Group 452"/>
              <p:cNvGrpSpPr>
                <a:grpSpLocks/>
              </p:cNvGrpSpPr>
              <p:nvPr/>
            </p:nvGrpSpPr>
            <p:grpSpPr bwMode="auto">
              <a:xfrm>
                <a:off x="762" y="2391"/>
                <a:ext cx="306" cy="90"/>
                <a:chOff x="748" y="2251"/>
                <a:chExt cx="306" cy="90"/>
              </a:xfrm>
            </p:grpSpPr>
            <p:sp>
              <p:nvSpPr>
                <p:cNvPr id="2373711"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2"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3"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4"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5"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16"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17" name="Group 459"/>
            <p:cNvGrpSpPr>
              <a:grpSpLocks/>
            </p:cNvGrpSpPr>
            <p:nvPr/>
          </p:nvGrpSpPr>
          <p:grpSpPr bwMode="auto">
            <a:xfrm>
              <a:off x="4520742" y="3292116"/>
              <a:ext cx="710423" cy="589759"/>
              <a:chOff x="762" y="2391"/>
              <a:chExt cx="423" cy="312"/>
            </a:xfrm>
          </p:grpSpPr>
          <p:grpSp>
            <p:nvGrpSpPr>
              <p:cNvPr id="2373718" name="Group 460"/>
              <p:cNvGrpSpPr>
                <a:grpSpLocks/>
              </p:cNvGrpSpPr>
              <p:nvPr/>
            </p:nvGrpSpPr>
            <p:grpSpPr bwMode="auto">
              <a:xfrm>
                <a:off x="867" y="2432"/>
                <a:ext cx="318" cy="271"/>
                <a:chOff x="657" y="1570"/>
                <a:chExt cx="318" cy="311"/>
              </a:xfrm>
            </p:grpSpPr>
            <p:sp>
              <p:nvSpPr>
                <p:cNvPr id="2373719"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20"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21" name="Group 463"/>
              <p:cNvGrpSpPr>
                <a:grpSpLocks/>
              </p:cNvGrpSpPr>
              <p:nvPr/>
            </p:nvGrpSpPr>
            <p:grpSpPr bwMode="auto">
              <a:xfrm>
                <a:off x="762" y="2391"/>
                <a:ext cx="306" cy="90"/>
                <a:chOff x="748" y="2251"/>
                <a:chExt cx="306" cy="90"/>
              </a:xfrm>
            </p:grpSpPr>
            <p:sp>
              <p:nvSpPr>
                <p:cNvPr id="2373722"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3"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4"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5"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6"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27"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28" name="Group 470"/>
            <p:cNvGrpSpPr>
              <a:grpSpLocks/>
            </p:cNvGrpSpPr>
            <p:nvPr/>
          </p:nvGrpSpPr>
          <p:grpSpPr bwMode="auto">
            <a:xfrm>
              <a:off x="6653690" y="4492429"/>
              <a:ext cx="710423" cy="589759"/>
              <a:chOff x="762" y="2391"/>
              <a:chExt cx="423" cy="312"/>
            </a:xfrm>
          </p:grpSpPr>
          <p:grpSp>
            <p:nvGrpSpPr>
              <p:cNvPr id="2373729" name="Group 471"/>
              <p:cNvGrpSpPr>
                <a:grpSpLocks/>
              </p:cNvGrpSpPr>
              <p:nvPr/>
            </p:nvGrpSpPr>
            <p:grpSpPr bwMode="auto">
              <a:xfrm>
                <a:off x="867" y="2432"/>
                <a:ext cx="318" cy="271"/>
                <a:chOff x="657" y="1570"/>
                <a:chExt cx="318" cy="311"/>
              </a:xfrm>
            </p:grpSpPr>
            <p:sp>
              <p:nvSpPr>
                <p:cNvPr id="2373730"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31"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32" name="Group 474"/>
              <p:cNvGrpSpPr>
                <a:grpSpLocks/>
              </p:cNvGrpSpPr>
              <p:nvPr/>
            </p:nvGrpSpPr>
            <p:grpSpPr bwMode="auto">
              <a:xfrm>
                <a:off x="762" y="2391"/>
                <a:ext cx="306" cy="90"/>
                <a:chOff x="748" y="2251"/>
                <a:chExt cx="306" cy="90"/>
              </a:xfrm>
            </p:grpSpPr>
            <p:sp>
              <p:nvSpPr>
                <p:cNvPr id="2373733"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4"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5"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6"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7"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38"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39" name="Group 481"/>
            <p:cNvGrpSpPr>
              <a:grpSpLocks/>
            </p:cNvGrpSpPr>
            <p:nvPr/>
          </p:nvGrpSpPr>
          <p:grpSpPr bwMode="auto">
            <a:xfrm>
              <a:off x="5740050" y="3978279"/>
              <a:ext cx="710423" cy="589759"/>
              <a:chOff x="762" y="2391"/>
              <a:chExt cx="423" cy="312"/>
            </a:xfrm>
          </p:grpSpPr>
          <p:grpSp>
            <p:nvGrpSpPr>
              <p:cNvPr id="2373740" name="Group 482"/>
              <p:cNvGrpSpPr>
                <a:grpSpLocks/>
              </p:cNvGrpSpPr>
              <p:nvPr/>
            </p:nvGrpSpPr>
            <p:grpSpPr bwMode="auto">
              <a:xfrm>
                <a:off x="867" y="2432"/>
                <a:ext cx="318" cy="271"/>
                <a:chOff x="657" y="1570"/>
                <a:chExt cx="318" cy="311"/>
              </a:xfrm>
            </p:grpSpPr>
            <p:sp>
              <p:nvSpPr>
                <p:cNvPr id="2373741"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42"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43" name="Group 485"/>
              <p:cNvGrpSpPr>
                <a:grpSpLocks/>
              </p:cNvGrpSpPr>
              <p:nvPr/>
            </p:nvGrpSpPr>
            <p:grpSpPr bwMode="auto">
              <a:xfrm>
                <a:off x="762" y="2391"/>
                <a:ext cx="306" cy="90"/>
                <a:chOff x="748" y="2251"/>
                <a:chExt cx="306" cy="90"/>
              </a:xfrm>
            </p:grpSpPr>
            <p:sp>
              <p:nvSpPr>
                <p:cNvPr id="2373744"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5"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6"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7"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8"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49"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50" name="Group 492"/>
            <p:cNvGrpSpPr>
              <a:grpSpLocks/>
            </p:cNvGrpSpPr>
            <p:nvPr/>
          </p:nvGrpSpPr>
          <p:grpSpPr bwMode="auto">
            <a:xfrm>
              <a:off x="7263345" y="4150292"/>
              <a:ext cx="710422" cy="589759"/>
              <a:chOff x="762" y="2391"/>
              <a:chExt cx="423" cy="312"/>
            </a:xfrm>
          </p:grpSpPr>
          <p:grpSp>
            <p:nvGrpSpPr>
              <p:cNvPr id="2373751" name="Group 493"/>
              <p:cNvGrpSpPr>
                <a:grpSpLocks/>
              </p:cNvGrpSpPr>
              <p:nvPr/>
            </p:nvGrpSpPr>
            <p:grpSpPr bwMode="auto">
              <a:xfrm>
                <a:off x="867" y="2432"/>
                <a:ext cx="318" cy="271"/>
                <a:chOff x="657" y="1570"/>
                <a:chExt cx="318" cy="311"/>
              </a:xfrm>
            </p:grpSpPr>
            <p:sp>
              <p:nvSpPr>
                <p:cNvPr id="2373752"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53"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54" name="Group 496"/>
              <p:cNvGrpSpPr>
                <a:grpSpLocks/>
              </p:cNvGrpSpPr>
              <p:nvPr/>
            </p:nvGrpSpPr>
            <p:grpSpPr bwMode="auto">
              <a:xfrm>
                <a:off x="762" y="2391"/>
                <a:ext cx="306" cy="90"/>
                <a:chOff x="748" y="2251"/>
                <a:chExt cx="306" cy="90"/>
              </a:xfrm>
            </p:grpSpPr>
            <p:sp>
              <p:nvSpPr>
                <p:cNvPr id="2373755"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6"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7"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8"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59"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0"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3761" name="Group 503"/>
            <p:cNvGrpSpPr>
              <a:grpSpLocks/>
            </p:cNvGrpSpPr>
            <p:nvPr/>
          </p:nvGrpSpPr>
          <p:grpSpPr bwMode="auto">
            <a:xfrm>
              <a:off x="8000639" y="3987730"/>
              <a:ext cx="710423" cy="589759"/>
              <a:chOff x="762" y="2391"/>
              <a:chExt cx="423" cy="312"/>
            </a:xfrm>
          </p:grpSpPr>
          <p:grpSp>
            <p:nvGrpSpPr>
              <p:cNvPr id="2373762" name="Group 504"/>
              <p:cNvGrpSpPr>
                <a:grpSpLocks/>
              </p:cNvGrpSpPr>
              <p:nvPr/>
            </p:nvGrpSpPr>
            <p:grpSpPr bwMode="auto">
              <a:xfrm>
                <a:off x="867" y="2432"/>
                <a:ext cx="318" cy="271"/>
                <a:chOff x="657" y="1570"/>
                <a:chExt cx="318" cy="311"/>
              </a:xfrm>
            </p:grpSpPr>
            <p:sp>
              <p:nvSpPr>
                <p:cNvPr id="2373763"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3764"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3765" name="Group 507"/>
              <p:cNvGrpSpPr>
                <a:grpSpLocks/>
              </p:cNvGrpSpPr>
              <p:nvPr/>
            </p:nvGrpSpPr>
            <p:grpSpPr bwMode="auto">
              <a:xfrm>
                <a:off x="762" y="2391"/>
                <a:ext cx="306" cy="90"/>
                <a:chOff x="748" y="2251"/>
                <a:chExt cx="306" cy="90"/>
              </a:xfrm>
            </p:grpSpPr>
            <p:sp>
              <p:nvSpPr>
                <p:cNvPr id="2373766"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7"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8"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69"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0"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1"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3772"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3773" name="Text Box 44"/>
            <p:cNvSpPr txBox="1">
              <a:spLocks noChangeArrowheads="1"/>
            </p:cNvSpPr>
            <p:nvPr/>
          </p:nvSpPr>
          <p:spPr bwMode="auto">
            <a:xfrm>
              <a:off x="1474153" y="3116323"/>
              <a:ext cx="14750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3774"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3775"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3776" name="Text Box 518"/>
            <p:cNvSpPr txBox="1">
              <a:spLocks noChangeArrowheads="1"/>
            </p:cNvSpPr>
            <p:nvPr/>
          </p:nvSpPr>
          <p:spPr bwMode="auto">
            <a:xfrm>
              <a:off x="495081" y="1628800"/>
              <a:ext cx="16706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2373777" name="矩形 2"/>
          <p:cNvSpPr>
            <a:spLocks noChangeArrowheads="1"/>
          </p:cNvSpPr>
          <p:nvPr/>
        </p:nvSpPr>
        <p:spPr bwMode="auto">
          <a:xfrm>
            <a:off x="776288" y="1177925"/>
            <a:ext cx="8569325" cy="523875"/>
          </a:xfrm>
          <a:prstGeom prst="rect">
            <a:avLst/>
          </a:prstGeom>
          <a:solidFill>
            <a:srgbClr val="66FF66"/>
          </a:solidFill>
          <a:ln w="9525">
            <a:solidFill>
              <a:srgbClr val="000099"/>
            </a:solidFill>
            <a:round/>
            <a:headEnd/>
            <a:tailEnd/>
          </a:ln>
        </p:spPr>
        <p:txBody>
          <a:bodyPr>
            <a:spAutoFit/>
          </a:bodyPr>
          <a:lstStyle/>
          <a:p>
            <a:pPr algn="ctr" eaLnBrk="0" hangingPunct="0"/>
            <a:r>
              <a:rPr lang="en-US" altLang="zh-CN" sz="2800" b="1" dirty="0">
                <a:solidFill>
                  <a:schemeClr val="tx2"/>
                </a:solidFill>
                <a:ea typeface="宋体" panose="02010600030101010101" pitchFamily="2" charset="-122"/>
              </a:rPr>
              <a:t>IEEE 802.11 </a:t>
            </a:r>
            <a:r>
              <a:rPr lang="zh-CN" altLang="zh-CN" sz="2800" b="1" dirty="0">
                <a:solidFill>
                  <a:schemeClr val="tx2"/>
                </a:solidFill>
                <a:ea typeface="宋体" panose="02010600030101010101" pitchFamily="2" charset="-122"/>
              </a:rPr>
              <a:t>的基本服务集</a:t>
            </a:r>
            <a:r>
              <a:rPr lang="en-US" altLang="zh-CN" sz="2800" b="1" dirty="0">
                <a:solidFill>
                  <a:schemeClr val="tx2"/>
                </a:solidFill>
                <a:ea typeface="宋体" panose="02010600030101010101" pitchFamily="2" charset="-122"/>
              </a:rPr>
              <a:t> BSS </a:t>
            </a:r>
            <a:r>
              <a:rPr lang="zh-CN" altLang="zh-CN" sz="2800" b="1" dirty="0">
                <a:solidFill>
                  <a:schemeClr val="tx2"/>
                </a:solidFill>
                <a:ea typeface="宋体" panose="02010600030101010101" pitchFamily="2" charset="-122"/>
              </a:rPr>
              <a:t>和扩展服务集</a:t>
            </a:r>
            <a:r>
              <a:rPr lang="en-US" altLang="zh-CN" sz="2800" b="1" dirty="0">
                <a:solidFill>
                  <a:schemeClr val="tx2"/>
                </a:solidFill>
                <a:ea typeface="宋体" panose="02010600030101010101" pitchFamily="2" charset="-122"/>
              </a:rPr>
              <a:t> ESS</a:t>
            </a:r>
            <a:endParaRPr lang="zh-CN" altLang="en-US" sz="2800" b="1" dirty="0">
              <a:solidFill>
                <a:schemeClr val="tx2"/>
              </a:solidFill>
              <a:ea typeface="宋体" panose="02010600030101010101" pitchFamily="2" charset="-122"/>
            </a:endParaRPr>
          </a:p>
        </p:txBody>
      </p:sp>
      <p:sp>
        <p:nvSpPr>
          <p:cNvPr id="2373778" name="灯片编号占位符 14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57CF97-6BD7-404A-88E1-05AFE350495B}" type="slidenum">
              <a:rPr lang="zh-CN" altLang="en-US" smtClean="0"/>
              <a:pPr eaLnBrk="1" hangingPunct="1"/>
              <a:t>6</a:t>
            </a:fld>
            <a:endParaRPr lang="en-US" altLang="zh-CN" smtClean="0"/>
          </a:p>
        </p:txBody>
      </p:sp>
      <p:sp>
        <p:nvSpPr>
          <p:cNvPr id="2373779" name="页脚占位符 14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81" name="Text Box 11"/>
          <p:cNvSpPr txBox="1">
            <a:spLocks noChangeArrowheads="1"/>
          </p:cNvSpPr>
          <p:nvPr/>
        </p:nvSpPr>
        <p:spPr bwMode="auto">
          <a:xfrm>
            <a:off x="848074" y="236489"/>
            <a:ext cx="8640762" cy="1815882"/>
          </a:xfrm>
          <a:prstGeom prst="rect">
            <a:avLst/>
          </a:prstGeom>
          <a:solidFill>
            <a:srgbClr val="66FF66"/>
          </a:solidFill>
          <a:ln w="9525">
            <a:solidFill>
              <a:srgbClr val="000099"/>
            </a:solidFill>
            <a:round/>
            <a:headEnd/>
            <a:tailEnd/>
          </a:ln>
        </p:spPr>
        <p:txBody>
          <a:bodyPr>
            <a:spAutoFit/>
          </a:bodyPr>
          <a:lstStyle/>
          <a:p>
            <a:pPr algn="just" eaLnBrk="0" hangingPunct="0"/>
            <a:r>
              <a:rPr lang="zh-CN" altLang="en-US" sz="2800" b="1" dirty="0">
                <a:solidFill>
                  <a:schemeClr val="tx2"/>
                </a:solidFill>
                <a:ea typeface="宋体" panose="02010600030101010101" pitchFamily="2" charset="-122"/>
              </a:rPr>
              <a:t>一个</a:t>
            </a:r>
            <a:r>
              <a:rPr lang="zh-CN" altLang="en-US" sz="2800" b="1" u="sng" dirty="0">
                <a:solidFill>
                  <a:srgbClr val="FF0000"/>
                </a:solidFill>
                <a:ea typeface="宋体" panose="02010600030101010101" pitchFamily="2" charset="-122"/>
              </a:rPr>
              <a:t>基本服务集 </a:t>
            </a:r>
            <a:r>
              <a:rPr lang="en-US" altLang="zh-CN" sz="2800" b="1" u="sng" dirty="0" smtClean="0">
                <a:solidFill>
                  <a:srgbClr val="FF0000"/>
                </a:solidFill>
                <a:ea typeface="宋体" panose="02010600030101010101" pitchFamily="2" charset="-122"/>
              </a:rPr>
              <a:t>BSS</a:t>
            </a:r>
            <a:r>
              <a:rPr lang="zh-CN" altLang="en-US" sz="2800" b="1" u="sng" dirty="0" smtClean="0">
                <a:solidFill>
                  <a:schemeClr val="tx2"/>
                </a:solidFill>
                <a:ea typeface="宋体" panose="02010600030101010101" pitchFamily="2" charset="-122"/>
              </a:rPr>
              <a:t>（</a:t>
            </a:r>
            <a:r>
              <a:rPr lang="en-US" altLang="zh-CN" sz="2800" b="1" u="sng" dirty="0" smtClean="0">
                <a:solidFill>
                  <a:schemeClr val="tx2"/>
                </a:solidFill>
                <a:ea typeface="宋体" panose="02010600030101010101" pitchFamily="2" charset="-122"/>
              </a:rPr>
              <a:t>Basic Service </a:t>
            </a:r>
            <a:r>
              <a:rPr lang="en-US" altLang="zh-CN" sz="2800" b="1" u="sng" dirty="0">
                <a:solidFill>
                  <a:schemeClr val="tx2"/>
                </a:solidFill>
                <a:ea typeface="宋体" panose="02010600030101010101" pitchFamily="2" charset="-122"/>
              </a:rPr>
              <a:t>Set</a:t>
            </a:r>
            <a:r>
              <a:rPr lang="zh-CN" altLang="en-US" sz="2800" b="1" u="sng" dirty="0" smtClean="0">
                <a:solidFill>
                  <a:schemeClr val="tx2"/>
                </a:solidFill>
                <a:ea typeface="宋体" panose="02010600030101010101" pitchFamily="2" charset="-122"/>
              </a:rPr>
              <a:t>）</a:t>
            </a:r>
            <a:r>
              <a:rPr lang="en-US" altLang="zh-CN" sz="2800" b="1" u="sng" dirty="0" smtClean="0">
                <a:solidFill>
                  <a:schemeClr val="tx2"/>
                </a:solidFill>
                <a:ea typeface="宋体" panose="02010600030101010101" pitchFamily="2" charset="-122"/>
              </a:rPr>
              <a:t> </a:t>
            </a:r>
            <a:r>
              <a:rPr lang="zh-CN" altLang="en-US" sz="2800" b="1" dirty="0">
                <a:solidFill>
                  <a:schemeClr val="tx2"/>
                </a:solidFill>
                <a:ea typeface="宋体" panose="02010600030101010101" pitchFamily="2" charset="-122"/>
              </a:rPr>
              <a:t>包括</a:t>
            </a:r>
            <a:r>
              <a:rPr lang="zh-CN" altLang="en-US" sz="2800" b="1" dirty="0">
                <a:ea typeface="宋体" panose="02010600030101010101" pitchFamily="2" charset="-122"/>
              </a:rPr>
              <a:t>一个基站</a:t>
            </a:r>
            <a:r>
              <a:rPr lang="zh-CN" altLang="en-US" sz="2800" b="1" dirty="0">
                <a:solidFill>
                  <a:schemeClr val="tx2"/>
                </a:solidFill>
                <a:ea typeface="宋体" panose="02010600030101010101" pitchFamily="2" charset="-122"/>
              </a:rPr>
              <a:t>和</a:t>
            </a:r>
            <a:r>
              <a:rPr lang="zh-CN" altLang="en-US" sz="2800" b="1" dirty="0">
                <a:ea typeface="宋体" panose="02010600030101010101" pitchFamily="2" charset="-122"/>
              </a:rPr>
              <a:t>若干个移动站</a:t>
            </a:r>
            <a:r>
              <a:rPr lang="zh-CN" altLang="en-US" sz="2800" b="1" dirty="0" smtClean="0">
                <a:solidFill>
                  <a:schemeClr val="tx2"/>
                </a:solidFill>
                <a:ea typeface="宋体" panose="02010600030101010101" pitchFamily="2" charset="-122"/>
              </a:rPr>
              <a:t>，所有</a:t>
            </a:r>
            <a:r>
              <a:rPr lang="zh-CN" altLang="en-US" sz="2800" b="1" dirty="0">
                <a:solidFill>
                  <a:schemeClr val="tx2"/>
                </a:solidFill>
                <a:ea typeface="宋体" panose="02010600030101010101" pitchFamily="2" charset="-122"/>
              </a:rPr>
              <a:t>的</a:t>
            </a:r>
            <a:r>
              <a:rPr lang="zh-CN" altLang="en-US" sz="2800" b="1" dirty="0" smtClean="0">
                <a:solidFill>
                  <a:schemeClr val="tx2"/>
                </a:solidFill>
                <a:ea typeface="宋体" panose="02010600030101010101" pitchFamily="2" charset="-122"/>
              </a:rPr>
              <a:t>站无论是在</a:t>
            </a:r>
            <a:r>
              <a:rPr lang="zh-CN" altLang="en-US" sz="2800" b="1" dirty="0">
                <a:solidFill>
                  <a:schemeClr val="tx2"/>
                </a:solidFill>
                <a:ea typeface="宋体" panose="02010600030101010101" pitchFamily="2" charset="-122"/>
              </a:rPr>
              <a:t>本 </a:t>
            </a:r>
            <a:r>
              <a:rPr lang="en-US" altLang="zh-CN" sz="2800" b="1" dirty="0">
                <a:solidFill>
                  <a:schemeClr val="tx2"/>
                </a:solidFill>
                <a:ea typeface="宋体" panose="02010600030101010101" pitchFamily="2" charset="-122"/>
              </a:rPr>
              <a:t>BSS </a:t>
            </a:r>
            <a:r>
              <a:rPr lang="zh-CN" altLang="en-US" sz="2800" b="1" dirty="0" smtClean="0">
                <a:solidFill>
                  <a:schemeClr val="tx2"/>
                </a:solidFill>
                <a:ea typeface="宋体" panose="02010600030101010101" pitchFamily="2" charset="-122"/>
              </a:rPr>
              <a:t>以内相互通信，还是和</a:t>
            </a:r>
            <a:r>
              <a:rPr lang="zh-CN" altLang="en-US" sz="2800" b="1" dirty="0">
                <a:solidFill>
                  <a:schemeClr val="tx2"/>
                </a:solidFill>
                <a:ea typeface="宋体" panose="02010600030101010101" pitchFamily="2" charset="-122"/>
              </a:rPr>
              <a:t>本 </a:t>
            </a:r>
            <a:r>
              <a:rPr lang="en-US" altLang="zh-CN" sz="2800" b="1" dirty="0">
                <a:solidFill>
                  <a:schemeClr val="tx2"/>
                </a:solidFill>
                <a:ea typeface="宋体" panose="02010600030101010101" pitchFamily="2" charset="-122"/>
              </a:rPr>
              <a:t>BSS </a:t>
            </a:r>
            <a:r>
              <a:rPr lang="zh-CN" altLang="en-US" sz="2800" b="1" dirty="0">
                <a:solidFill>
                  <a:schemeClr val="tx2"/>
                </a:solidFill>
                <a:ea typeface="宋体" panose="02010600030101010101" pitchFamily="2" charset="-122"/>
              </a:rPr>
              <a:t>以外的站通信时 </a:t>
            </a:r>
            <a:r>
              <a:rPr lang="zh-CN" altLang="en-US" sz="2800" b="1" dirty="0" smtClean="0">
                <a:solidFill>
                  <a:schemeClr val="tx2"/>
                </a:solidFill>
                <a:ea typeface="宋体" panose="02010600030101010101" pitchFamily="2" charset="-122"/>
              </a:rPr>
              <a:t>，都</a:t>
            </a:r>
            <a:r>
              <a:rPr lang="zh-CN" altLang="en-US" sz="2800" b="1" dirty="0">
                <a:solidFill>
                  <a:schemeClr val="tx2"/>
                </a:solidFill>
                <a:ea typeface="宋体" panose="02010600030101010101" pitchFamily="2" charset="-122"/>
              </a:rPr>
              <a:t>要通过本 </a:t>
            </a:r>
            <a:r>
              <a:rPr lang="en-US" altLang="zh-CN" sz="2800" b="1" dirty="0">
                <a:solidFill>
                  <a:schemeClr val="tx2"/>
                </a:solidFill>
                <a:ea typeface="宋体" panose="02010600030101010101" pitchFamily="2" charset="-122"/>
              </a:rPr>
              <a:t>BSS </a:t>
            </a:r>
            <a:r>
              <a:rPr lang="zh-CN" altLang="en-US" sz="2800" b="1" dirty="0">
                <a:solidFill>
                  <a:schemeClr val="tx2"/>
                </a:solidFill>
                <a:ea typeface="宋体" panose="02010600030101010101" pitchFamily="2" charset="-122"/>
              </a:rPr>
              <a:t>的基站。 </a:t>
            </a:r>
          </a:p>
        </p:txBody>
      </p:sp>
      <p:grpSp>
        <p:nvGrpSpPr>
          <p:cNvPr id="2375682" name="组合 15"/>
          <p:cNvGrpSpPr>
            <a:grpSpLocks/>
          </p:cNvGrpSpPr>
          <p:nvPr/>
        </p:nvGrpSpPr>
        <p:grpSpPr bwMode="auto">
          <a:xfrm>
            <a:off x="344488" y="2298700"/>
            <a:ext cx="9504362" cy="4010025"/>
            <a:chOff x="344487" y="1484784"/>
            <a:chExt cx="9505057" cy="4009836"/>
          </a:xfrm>
        </p:grpSpPr>
        <p:sp>
          <p:nvSpPr>
            <p:cNvPr id="2375683"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84"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5685"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686"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5687" name="Group 425"/>
            <p:cNvGrpSpPr>
              <a:grpSpLocks/>
            </p:cNvGrpSpPr>
            <p:nvPr/>
          </p:nvGrpSpPr>
          <p:grpSpPr bwMode="auto">
            <a:xfrm>
              <a:off x="941756" y="3721205"/>
              <a:ext cx="710422" cy="589759"/>
              <a:chOff x="762" y="2391"/>
              <a:chExt cx="423" cy="312"/>
            </a:xfrm>
          </p:grpSpPr>
          <p:grpSp>
            <p:nvGrpSpPr>
              <p:cNvPr id="2375688" name="Group 316"/>
              <p:cNvGrpSpPr>
                <a:grpSpLocks/>
              </p:cNvGrpSpPr>
              <p:nvPr/>
            </p:nvGrpSpPr>
            <p:grpSpPr bwMode="auto">
              <a:xfrm>
                <a:off x="867" y="2432"/>
                <a:ext cx="318" cy="271"/>
                <a:chOff x="657" y="1570"/>
                <a:chExt cx="318" cy="311"/>
              </a:xfrm>
            </p:grpSpPr>
            <p:sp>
              <p:nvSpPr>
                <p:cNvPr id="2375689"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690"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691" name="Group 424"/>
              <p:cNvGrpSpPr>
                <a:grpSpLocks/>
              </p:cNvGrpSpPr>
              <p:nvPr/>
            </p:nvGrpSpPr>
            <p:grpSpPr bwMode="auto">
              <a:xfrm>
                <a:off x="762" y="2391"/>
                <a:ext cx="306" cy="90"/>
                <a:chOff x="748" y="2251"/>
                <a:chExt cx="306" cy="90"/>
              </a:xfrm>
            </p:grpSpPr>
            <p:sp>
              <p:nvSpPr>
                <p:cNvPr id="2375692"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3"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4"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5"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6"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697"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5698"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5699"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5700"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5701"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5702"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03"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5704"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5705"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06"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5707"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08"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09"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0"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5711"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5885"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5712"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13"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5714"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15"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5716"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7"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8"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19"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5720"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5721"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22"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3"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4"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5"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6"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7"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8"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29"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30"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731"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5732" name="Group 426"/>
            <p:cNvGrpSpPr>
              <a:grpSpLocks/>
            </p:cNvGrpSpPr>
            <p:nvPr/>
          </p:nvGrpSpPr>
          <p:grpSpPr bwMode="auto">
            <a:xfrm>
              <a:off x="1930973" y="4331756"/>
              <a:ext cx="710423" cy="589759"/>
              <a:chOff x="762" y="2391"/>
              <a:chExt cx="423" cy="312"/>
            </a:xfrm>
          </p:grpSpPr>
          <p:grpSp>
            <p:nvGrpSpPr>
              <p:cNvPr id="2375733" name="Group 427"/>
              <p:cNvGrpSpPr>
                <a:grpSpLocks/>
              </p:cNvGrpSpPr>
              <p:nvPr/>
            </p:nvGrpSpPr>
            <p:grpSpPr bwMode="auto">
              <a:xfrm>
                <a:off x="867" y="2432"/>
                <a:ext cx="318" cy="271"/>
                <a:chOff x="657" y="1570"/>
                <a:chExt cx="318" cy="311"/>
              </a:xfrm>
            </p:grpSpPr>
            <p:sp>
              <p:nvSpPr>
                <p:cNvPr id="2375734"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35"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36" name="Group 430"/>
              <p:cNvGrpSpPr>
                <a:grpSpLocks/>
              </p:cNvGrpSpPr>
              <p:nvPr/>
            </p:nvGrpSpPr>
            <p:grpSpPr bwMode="auto">
              <a:xfrm>
                <a:off x="762" y="2391"/>
                <a:ext cx="306" cy="90"/>
                <a:chOff x="748" y="2251"/>
                <a:chExt cx="306" cy="90"/>
              </a:xfrm>
            </p:grpSpPr>
            <p:sp>
              <p:nvSpPr>
                <p:cNvPr id="2375737"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38"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39"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0"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1"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2"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43" name="Group 437"/>
            <p:cNvGrpSpPr>
              <a:grpSpLocks/>
            </p:cNvGrpSpPr>
            <p:nvPr/>
          </p:nvGrpSpPr>
          <p:grpSpPr bwMode="auto">
            <a:xfrm>
              <a:off x="5283229" y="3207056"/>
              <a:ext cx="710423" cy="589759"/>
              <a:chOff x="762" y="2391"/>
              <a:chExt cx="423" cy="312"/>
            </a:xfrm>
          </p:grpSpPr>
          <p:grpSp>
            <p:nvGrpSpPr>
              <p:cNvPr id="2375744" name="Group 438"/>
              <p:cNvGrpSpPr>
                <a:grpSpLocks/>
              </p:cNvGrpSpPr>
              <p:nvPr/>
            </p:nvGrpSpPr>
            <p:grpSpPr bwMode="auto">
              <a:xfrm>
                <a:off x="867" y="2432"/>
                <a:ext cx="318" cy="271"/>
                <a:chOff x="657" y="1570"/>
                <a:chExt cx="318" cy="311"/>
              </a:xfrm>
            </p:grpSpPr>
            <p:sp>
              <p:nvSpPr>
                <p:cNvPr id="2375745"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46"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47" name="Group 441"/>
              <p:cNvGrpSpPr>
                <a:grpSpLocks/>
              </p:cNvGrpSpPr>
              <p:nvPr/>
            </p:nvGrpSpPr>
            <p:grpSpPr bwMode="auto">
              <a:xfrm>
                <a:off x="762" y="2391"/>
                <a:ext cx="306" cy="90"/>
                <a:chOff x="748" y="2251"/>
                <a:chExt cx="306" cy="90"/>
              </a:xfrm>
            </p:grpSpPr>
            <p:sp>
              <p:nvSpPr>
                <p:cNvPr id="2375748"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49"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0"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1"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2"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53"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54" name="Group 448"/>
            <p:cNvGrpSpPr>
              <a:grpSpLocks/>
            </p:cNvGrpSpPr>
            <p:nvPr/>
          </p:nvGrpSpPr>
          <p:grpSpPr bwMode="auto">
            <a:xfrm>
              <a:off x="2921871" y="4407367"/>
              <a:ext cx="710423" cy="589759"/>
              <a:chOff x="762" y="2391"/>
              <a:chExt cx="423" cy="312"/>
            </a:xfrm>
          </p:grpSpPr>
          <p:grpSp>
            <p:nvGrpSpPr>
              <p:cNvPr id="2375755" name="Group 449"/>
              <p:cNvGrpSpPr>
                <a:grpSpLocks/>
              </p:cNvGrpSpPr>
              <p:nvPr/>
            </p:nvGrpSpPr>
            <p:grpSpPr bwMode="auto">
              <a:xfrm>
                <a:off x="867" y="2432"/>
                <a:ext cx="318" cy="271"/>
                <a:chOff x="657" y="1570"/>
                <a:chExt cx="318" cy="311"/>
              </a:xfrm>
            </p:grpSpPr>
            <p:sp>
              <p:nvSpPr>
                <p:cNvPr id="2375756"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57"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58" name="Group 452"/>
              <p:cNvGrpSpPr>
                <a:grpSpLocks/>
              </p:cNvGrpSpPr>
              <p:nvPr/>
            </p:nvGrpSpPr>
            <p:grpSpPr bwMode="auto">
              <a:xfrm>
                <a:off x="762" y="2391"/>
                <a:ext cx="306" cy="90"/>
                <a:chOff x="748" y="2251"/>
                <a:chExt cx="306" cy="90"/>
              </a:xfrm>
            </p:grpSpPr>
            <p:sp>
              <p:nvSpPr>
                <p:cNvPr id="2375759"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0"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1"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2"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3"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64"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65" name="Group 459"/>
            <p:cNvGrpSpPr>
              <a:grpSpLocks/>
            </p:cNvGrpSpPr>
            <p:nvPr/>
          </p:nvGrpSpPr>
          <p:grpSpPr bwMode="auto">
            <a:xfrm>
              <a:off x="4520742" y="3292116"/>
              <a:ext cx="710423" cy="589759"/>
              <a:chOff x="762" y="2391"/>
              <a:chExt cx="423" cy="312"/>
            </a:xfrm>
          </p:grpSpPr>
          <p:grpSp>
            <p:nvGrpSpPr>
              <p:cNvPr id="2375766" name="Group 460"/>
              <p:cNvGrpSpPr>
                <a:grpSpLocks/>
              </p:cNvGrpSpPr>
              <p:nvPr/>
            </p:nvGrpSpPr>
            <p:grpSpPr bwMode="auto">
              <a:xfrm>
                <a:off x="867" y="2432"/>
                <a:ext cx="318" cy="271"/>
                <a:chOff x="657" y="1570"/>
                <a:chExt cx="318" cy="311"/>
              </a:xfrm>
            </p:grpSpPr>
            <p:sp>
              <p:nvSpPr>
                <p:cNvPr id="2375767"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68"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69" name="Group 463"/>
              <p:cNvGrpSpPr>
                <a:grpSpLocks/>
              </p:cNvGrpSpPr>
              <p:nvPr/>
            </p:nvGrpSpPr>
            <p:grpSpPr bwMode="auto">
              <a:xfrm>
                <a:off x="762" y="2391"/>
                <a:ext cx="306" cy="90"/>
                <a:chOff x="748" y="2251"/>
                <a:chExt cx="306" cy="90"/>
              </a:xfrm>
            </p:grpSpPr>
            <p:sp>
              <p:nvSpPr>
                <p:cNvPr id="2375770"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1"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2"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3"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4"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75"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76" name="Group 470"/>
            <p:cNvGrpSpPr>
              <a:grpSpLocks/>
            </p:cNvGrpSpPr>
            <p:nvPr/>
          </p:nvGrpSpPr>
          <p:grpSpPr bwMode="auto">
            <a:xfrm>
              <a:off x="6653690" y="4492429"/>
              <a:ext cx="710423" cy="589759"/>
              <a:chOff x="762" y="2391"/>
              <a:chExt cx="423" cy="312"/>
            </a:xfrm>
          </p:grpSpPr>
          <p:grpSp>
            <p:nvGrpSpPr>
              <p:cNvPr id="2375777" name="Group 471"/>
              <p:cNvGrpSpPr>
                <a:grpSpLocks/>
              </p:cNvGrpSpPr>
              <p:nvPr/>
            </p:nvGrpSpPr>
            <p:grpSpPr bwMode="auto">
              <a:xfrm>
                <a:off x="867" y="2432"/>
                <a:ext cx="318" cy="271"/>
                <a:chOff x="657" y="1570"/>
                <a:chExt cx="318" cy="311"/>
              </a:xfrm>
            </p:grpSpPr>
            <p:sp>
              <p:nvSpPr>
                <p:cNvPr id="2375778"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79"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80" name="Group 474"/>
              <p:cNvGrpSpPr>
                <a:grpSpLocks/>
              </p:cNvGrpSpPr>
              <p:nvPr/>
            </p:nvGrpSpPr>
            <p:grpSpPr bwMode="auto">
              <a:xfrm>
                <a:off x="762" y="2391"/>
                <a:ext cx="306" cy="90"/>
                <a:chOff x="748" y="2251"/>
                <a:chExt cx="306" cy="90"/>
              </a:xfrm>
            </p:grpSpPr>
            <p:sp>
              <p:nvSpPr>
                <p:cNvPr id="2375781"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2"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3"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4"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5"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86"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87" name="Group 481"/>
            <p:cNvGrpSpPr>
              <a:grpSpLocks/>
            </p:cNvGrpSpPr>
            <p:nvPr/>
          </p:nvGrpSpPr>
          <p:grpSpPr bwMode="auto">
            <a:xfrm>
              <a:off x="5740050" y="3978279"/>
              <a:ext cx="710423" cy="589759"/>
              <a:chOff x="762" y="2391"/>
              <a:chExt cx="423" cy="312"/>
            </a:xfrm>
          </p:grpSpPr>
          <p:grpSp>
            <p:nvGrpSpPr>
              <p:cNvPr id="2375788" name="Group 482"/>
              <p:cNvGrpSpPr>
                <a:grpSpLocks/>
              </p:cNvGrpSpPr>
              <p:nvPr/>
            </p:nvGrpSpPr>
            <p:grpSpPr bwMode="auto">
              <a:xfrm>
                <a:off x="867" y="2432"/>
                <a:ext cx="318" cy="271"/>
                <a:chOff x="657" y="1570"/>
                <a:chExt cx="318" cy="311"/>
              </a:xfrm>
            </p:grpSpPr>
            <p:sp>
              <p:nvSpPr>
                <p:cNvPr id="2375789"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790"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791" name="Group 485"/>
              <p:cNvGrpSpPr>
                <a:grpSpLocks/>
              </p:cNvGrpSpPr>
              <p:nvPr/>
            </p:nvGrpSpPr>
            <p:grpSpPr bwMode="auto">
              <a:xfrm>
                <a:off x="762" y="2391"/>
                <a:ext cx="306" cy="90"/>
                <a:chOff x="748" y="2251"/>
                <a:chExt cx="306" cy="90"/>
              </a:xfrm>
            </p:grpSpPr>
            <p:sp>
              <p:nvSpPr>
                <p:cNvPr id="2375792"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3"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4"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5"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6"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797"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798" name="Group 492"/>
            <p:cNvGrpSpPr>
              <a:grpSpLocks/>
            </p:cNvGrpSpPr>
            <p:nvPr/>
          </p:nvGrpSpPr>
          <p:grpSpPr bwMode="auto">
            <a:xfrm>
              <a:off x="7263345" y="4150292"/>
              <a:ext cx="710422" cy="589759"/>
              <a:chOff x="762" y="2391"/>
              <a:chExt cx="423" cy="312"/>
            </a:xfrm>
          </p:grpSpPr>
          <p:grpSp>
            <p:nvGrpSpPr>
              <p:cNvPr id="2375799" name="Group 493"/>
              <p:cNvGrpSpPr>
                <a:grpSpLocks/>
              </p:cNvGrpSpPr>
              <p:nvPr/>
            </p:nvGrpSpPr>
            <p:grpSpPr bwMode="auto">
              <a:xfrm>
                <a:off x="867" y="2432"/>
                <a:ext cx="318" cy="271"/>
                <a:chOff x="657" y="1570"/>
                <a:chExt cx="318" cy="311"/>
              </a:xfrm>
            </p:grpSpPr>
            <p:sp>
              <p:nvSpPr>
                <p:cNvPr id="2375800"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801"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802" name="Group 496"/>
              <p:cNvGrpSpPr>
                <a:grpSpLocks/>
              </p:cNvGrpSpPr>
              <p:nvPr/>
            </p:nvGrpSpPr>
            <p:grpSpPr bwMode="auto">
              <a:xfrm>
                <a:off x="762" y="2391"/>
                <a:ext cx="306" cy="90"/>
                <a:chOff x="748" y="2251"/>
                <a:chExt cx="306" cy="90"/>
              </a:xfrm>
            </p:grpSpPr>
            <p:sp>
              <p:nvSpPr>
                <p:cNvPr id="2375803"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4"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5"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6"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7"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08"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5809" name="Group 503"/>
            <p:cNvGrpSpPr>
              <a:grpSpLocks/>
            </p:cNvGrpSpPr>
            <p:nvPr/>
          </p:nvGrpSpPr>
          <p:grpSpPr bwMode="auto">
            <a:xfrm>
              <a:off x="8000639" y="3987730"/>
              <a:ext cx="710423" cy="589759"/>
              <a:chOff x="762" y="2391"/>
              <a:chExt cx="423" cy="312"/>
            </a:xfrm>
          </p:grpSpPr>
          <p:grpSp>
            <p:nvGrpSpPr>
              <p:cNvPr id="2375810" name="Group 504"/>
              <p:cNvGrpSpPr>
                <a:grpSpLocks/>
              </p:cNvGrpSpPr>
              <p:nvPr/>
            </p:nvGrpSpPr>
            <p:grpSpPr bwMode="auto">
              <a:xfrm>
                <a:off x="867" y="2432"/>
                <a:ext cx="318" cy="271"/>
                <a:chOff x="657" y="1570"/>
                <a:chExt cx="318" cy="311"/>
              </a:xfrm>
            </p:grpSpPr>
            <p:sp>
              <p:nvSpPr>
                <p:cNvPr id="2375811"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5812"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5813" name="Group 507"/>
              <p:cNvGrpSpPr>
                <a:grpSpLocks/>
              </p:cNvGrpSpPr>
              <p:nvPr/>
            </p:nvGrpSpPr>
            <p:grpSpPr bwMode="auto">
              <a:xfrm>
                <a:off x="762" y="2391"/>
                <a:ext cx="306" cy="90"/>
                <a:chOff x="748" y="2251"/>
                <a:chExt cx="306" cy="90"/>
              </a:xfrm>
            </p:grpSpPr>
            <p:sp>
              <p:nvSpPr>
                <p:cNvPr id="2375814"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5"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6"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7"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8"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19"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5820"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5821"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5822"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5823"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5824"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8175" name="Rectangle 15"/>
          <p:cNvSpPr>
            <a:spLocks noChangeArrowheads="1"/>
          </p:cNvSpPr>
          <p:nvPr/>
        </p:nvSpPr>
        <p:spPr bwMode="auto">
          <a:xfrm>
            <a:off x="1409700" y="3860800"/>
            <a:ext cx="1598613" cy="622300"/>
          </a:xfrm>
          <a:prstGeom prst="rect">
            <a:avLst/>
          </a:prstGeom>
          <a:noFill/>
          <a:ln w="57150">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348176" name="Rectangle 16"/>
          <p:cNvSpPr>
            <a:spLocks noChangeArrowheads="1"/>
          </p:cNvSpPr>
          <p:nvPr/>
        </p:nvSpPr>
        <p:spPr bwMode="auto">
          <a:xfrm>
            <a:off x="7256463" y="3933825"/>
            <a:ext cx="1600200" cy="622300"/>
          </a:xfrm>
          <a:prstGeom prst="rect">
            <a:avLst/>
          </a:prstGeom>
          <a:noFill/>
          <a:ln w="57150">
            <a:solidFill>
              <a:schemeClr val="hlink"/>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758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2C894A-64EB-414B-AF0F-1A457340F4F7}" type="slidenum">
              <a:rPr lang="en-US" altLang="zh-CN" smtClean="0"/>
              <a:pPr eaLnBrk="1" hangingPunct="1"/>
              <a:t>7</a:t>
            </a:fld>
            <a:endParaRPr lang="en-US" altLang="zh-CN" smtClean="0"/>
          </a:p>
        </p:txBody>
      </p:sp>
      <p:sp>
        <p:nvSpPr>
          <p:cNvPr id="23758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grpId="0" nodeType="afterEffect">
                                  <p:stCondLst>
                                    <p:cond delay="1000"/>
                                  </p:stCondLst>
                                  <p:childTnLst>
                                    <p:set>
                                      <p:cBhvr>
                                        <p:cTn id="6" dur="1" fill="hold">
                                          <p:stCondLst>
                                            <p:cond delay="0"/>
                                          </p:stCondLst>
                                        </p:cTn>
                                        <p:tgtEl>
                                          <p:spTgt spid="348175"/>
                                        </p:tgtEl>
                                        <p:attrNameLst>
                                          <p:attrName>style.visibility</p:attrName>
                                        </p:attrNameLst>
                                      </p:cBhvr>
                                      <p:to>
                                        <p:strVal val="visible"/>
                                      </p:to>
                                    </p:set>
                                    <p:animEffect transition="in" filter="diamond(out)">
                                      <p:cBhvr>
                                        <p:cTn id="7" dur="2000"/>
                                        <p:tgtEl>
                                          <p:spTgt spid="348175"/>
                                        </p:tgtEl>
                                      </p:cBhvr>
                                    </p:animEffect>
                                  </p:childTnLst>
                                </p:cTn>
                              </p:par>
                            </p:childTnLst>
                          </p:cTn>
                        </p:par>
                        <p:par>
                          <p:cTn id="8" fill="hold" nodeType="afterGroup">
                            <p:stCondLst>
                              <p:cond delay="3000"/>
                            </p:stCondLst>
                            <p:childTnLst>
                              <p:par>
                                <p:cTn id="9" presetID="8" presetClass="entr" presetSubtype="32" fill="hold" grpId="0" nodeType="afterEffect">
                                  <p:stCondLst>
                                    <p:cond delay="500"/>
                                  </p:stCondLst>
                                  <p:childTnLst>
                                    <p:set>
                                      <p:cBhvr>
                                        <p:cTn id="10" dur="1" fill="hold">
                                          <p:stCondLst>
                                            <p:cond delay="0"/>
                                          </p:stCondLst>
                                        </p:cTn>
                                        <p:tgtEl>
                                          <p:spTgt spid="348176"/>
                                        </p:tgtEl>
                                        <p:attrNameLst>
                                          <p:attrName>style.visibility</p:attrName>
                                        </p:attrNameLst>
                                      </p:cBhvr>
                                      <p:to>
                                        <p:strVal val="visible"/>
                                      </p:to>
                                    </p:set>
                                    <p:animEffect transition="in" filter="diamond(out)">
                                      <p:cBhvr>
                                        <p:cTn id="11" dur="2000"/>
                                        <p:tgtEl>
                                          <p:spTgt spid="348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75" grpId="0" animBg="1"/>
      <p:bldP spid="34817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7729" name="Text Box 16"/>
          <p:cNvSpPr txBox="1">
            <a:spLocks noChangeArrowheads="1"/>
          </p:cNvSpPr>
          <p:nvPr/>
        </p:nvSpPr>
        <p:spPr bwMode="auto">
          <a:xfrm>
            <a:off x="716254" y="404100"/>
            <a:ext cx="8410575" cy="523220"/>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基本服务集内的基站叫做</a:t>
            </a:r>
            <a:r>
              <a:rPr lang="zh-CN" altLang="en-US" sz="2800" b="1" u="sng" dirty="0">
                <a:solidFill>
                  <a:srgbClr val="C00000"/>
                </a:solidFill>
                <a:ea typeface="宋体" panose="02010600030101010101" pitchFamily="2" charset="-122"/>
              </a:rPr>
              <a:t>接入点 </a:t>
            </a:r>
            <a:r>
              <a:rPr lang="en-US" altLang="zh-CN" sz="2800" b="1" u="sng" dirty="0">
                <a:solidFill>
                  <a:srgbClr val="C00000"/>
                </a:solidFill>
                <a:ea typeface="宋体" panose="02010600030101010101" pitchFamily="2" charset="-122"/>
              </a:rPr>
              <a:t>AP </a:t>
            </a:r>
            <a:r>
              <a:rPr lang="en-US" altLang="zh-CN" sz="2800" b="1" u="sng" dirty="0">
                <a:solidFill>
                  <a:schemeClr val="tx2"/>
                </a:solidFill>
                <a:ea typeface="宋体" panose="02010600030101010101" pitchFamily="2" charset="-122"/>
              </a:rPr>
              <a:t>(Access Point</a:t>
            </a:r>
            <a:r>
              <a:rPr lang="en-US" altLang="zh-CN" sz="2800" b="1" u="sng" dirty="0" smtClean="0">
                <a:solidFill>
                  <a:schemeClr val="tx2"/>
                </a:solidFill>
                <a:ea typeface="宋体" panose="02010600030101010101" pitchFamily="2" charset="-122"/>
              </a:rPr>
              <a:t>)</a:t>
            </a:r>
            <a:endParaRPr lang="en-US" altLang="zh-CN" sz="2800" b="1" u="sng" dirty="0">
              <a:solidFill>
                <a:schemeClr val="tx2"/>
              </a:solidFill>
              <a:ea typeface="宋体" panose="02010600030101010101" pitchFamily="2" charset="-122"/>
            </a:endParaRPr>
          </a:p>
        </p:txBody>
      </p:sp>
      <p:sp>
        <p:nvSpPr>
          <p:cNvPr id="339987" name="Text Box 19"/>
          <p:cNvSpPr txBox="1">
            <a:spLocks noChangeArrowheads="1"/>
          </p:cNvSpPr>
          <p:nvPr/>
        </p:nvSpPr>
        <p:spPr bwMode="auto">
          <a:xfrm>
            <a:off x="449263" y="1114425"/>
            <a:ext cx="9101137" cy="954088"/>
          </a:xfrm>
          <a:prstGeom prst="rect">
            <a:avLst/>
          </a:prstGeom>
          <a:solidFill>
            <a:srgbClr val="00FFFF"/>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当网络管理员安装 </a:t>
            </a:r>
            <a:r>
              <a:rPr lang="en-US" altLang="zh-CN" sz="2800" b="1" dirty="0">
                <a:solidFill>
                  <a:schemeClr val="tx2"/>
                </a:solidFill>
                <a:ea typeface="宋体" panose="02010600030101010101" pitchFamily="2" charset="-122"/>
              </a:rPr>
              <a:t>AP </a:t>
            </a:r>
            <a:r>
              <a:rPr lang="zh-CN" altLang="en-US" sz="2800" b="1" dirty="0">
                <a:solidFill>
                  <a:schemeClr val="tx2"/>
                </a:solidFill>
                <a:ea typeface="宋体" panose="02010600030101010101" pitchFamily="2" charset="-122"/>
              </a:rPr>
              <a:t>时，必须为该 </a:t>
            </a:r>
            <a:r>
              <a:rPr lang="en-US" altLang="zh-CN" sz="2800" b="1" dirty="0">
                <a:solidFill>
                  <a:schemeClr val="tx2"/>
                </a:solidFill>
                <a:ea typeface="宋体" panose="02010600030101010101" pitchFamily="2" charset="-122"/>
              </a:rPr>
              <a:t>AP </a:t>
            </a:r>
            <a:r>
              <a:rPr lang="zh-CN" altLang="en-US" sz="2800" b="1" dirty="0">
                <a:solidFill>
                  <a:schemeClr val="tx2"/>
                </a:solidFill>
                <a:ea typeface="宋体" panose="02010600030101010101" pitchFamily="2" charset="-122"/>
              </a:rPr>
              <a:t>分配</a:t>
            </a:r>
          </a:p>
          <a:p>
            <a:pPr algn="ctr" eaLnBrk="0" hangingPunct="0"/>
            <a:r>
              <a:rPr lang="zh-CN" altLang="en-US" sz="2800" b="1" dirty="0">
                <a:solidFill>
                  <a:schemeClr val="tx2"/>
                </a:solidFill>
                <a:ea typeface="宋体" panose="02010600030101010101" pitchFamily="2" charset="-122"/>
              </a:rPr>
              <a:t>一个不超过 </a:t>
            </a:r>
            <a:r>
              <a:rPr lang="en-US" altLang="zh-CN" sz="2800" b="1" dirty="0">
                <a:solidFill>
                  <a:schemeClr val="tx2"/>
                </a:solidFill>
                <a:ea typeface="宋体" panose="02010600030101010101" pitchFamily="2" charset="-122"/>
              </a:rPr>
              <a:t>32 </a:t>
            </a:r>
            <a:r>
              <a:rPr lang="zh-CN" altLang="en-US" sz="2800" b="1" dirty="0">
                <a:solidFill>
                  <a:schemeClr val="tx2"/>
                </a:solidFill>
                <a:ea typeface="宋体" panose="02010600030101010101" pitchFamily="2" charset="-122"/>
              </a:rPr>
              <a:t>字节的</a:t>
            </a:r>
            <a:r>
              <a:rPr lang="zh-CN" altLang="en-US" sz="2800" b="1" dirty="0">
                <a:ea typeface="宋体" panose="02010600030101010101" pitchFamily="2" charset="-122"/>
              </a:rPr>
              <a:t>服务集标识符 </a:t>
            </a:r>
            <a:r>
              <a:rPr lang="en-US" altLang="zh-CN" sz="2800" b="1" dirty="0">
                <a:ea typeface="宋体" panose="02010600030101010101" pitchFamily="2" charset="-122"/>
              </a:rPr>
              <a:t>SSID </a:t>
            </a:r>
            <a:r>
              <a:rPr lang="zh-CN" altLang="en-US" sz="2800" b="1" dirty="0">
                <a:solidFill>
                  <a:schemeClr val="tx2"/>
                </a:solidFill>
                <a:ea typeface="宋体" panose="02010600030101010101" pitchFamily="2" charset="-122"/>
              </a:rPr>
              <a:t>和</a:t>
            </a:r>
            <a:r>
              <a:rPr lang="zh-CN" altLang="en-US" sz="2800" b="1" dirty="0">
                <a:ea typeface="宋体" panose="02010600030101010101" pitchFamily="2" charset="-122"/>
              </a:rPr>
              <a:t>一个信道</a:t>
            </a:r>
            <a:r>
              <a:rPr lang="zh-CN" altLang="en-US" sz="2800" b="1" dirty="0">
                <a:solidFill>
                  <a:schemeClr val="tx2"/>
                </a:solidFill>
                <a:ea typeface="宋体" panose="02010600030101010101" pitchFamily="2" charset="-122"/>
              </a:rPr>
              <a:t>。 </a:t>
            </a:r>
          </a:p>
        </p:txBody>
      </p:sp>
      <p:grpSp>
        <p:nvGrpSpPr>
          <p:cNvPr id="2377731" name="组合 1"/>
          <p:cNvGrpSpPr>
            <a:grpSpLocks/>
          </p:cNvGrpSpPr>
          <p:nvPr/>
        </p:nvGrpSpPr>
        <p:grpSpPr bwMode="auto">
          <a:xfrm>
            <a:off x="344488" y="2298700"/>
            <a:ext cx="9504362" cy="4010025"/>
            <a:chOff x="344487" y="2299484"/>
            <a:chExt cx="9505057" cy="4009836"/>
          </a:xfrm>
        </p:grpSpPr>
        <p:sp>
          <p:nvSpPr>
            <p:cNvPr id="2377732" name="AutoShape 519"/>
            <p:cNvSpPr>
              <a:spLocks noChangeArrowheads="1"/>
            </p:cNvSpPr>
            <p:nvPr/>
          </p:nvSpPr>
          <p:spPr bwMode="auto">
            <a:xfrm>
              <a:off x="344487" y="32177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33" name="Oval 19"/>
            <p:cNvSpPr>
              <a:spLocks noChangeArrowheads="1"/>
            </p:cNvSpPr>
            <p:nvPr/>
          </p:nvSpPr>
          <p:spPr bwMode="auto">
            <a:xfrm>
              <a:off x="582272" y="37357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7734"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34206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35" name="Oval 21"/>
            <p:cNvSpPr>
              <a:spLocks noChangeArrowheads="1"/>
            </p:cNvSpPr>
            <p:nvPr/>
          </p:nvSpPr>
          <p:spPr bwMode="auto">
            <a:xfrm>
              <a:off x="5127036" y="37580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7736" name="Group 425"/>
            <p:cNvGrpSpPr>
              <a:grpSpLocks/>
            </p:cNvGrpSpPr>
            <p:nvPr/>
          </p:nvGrpSpPr>
          <p:grpSpPr bwMode="auto">
            <a:xfrm>
              <a:off x="941756" y="4535905"/>
              <a:ext cx="710422" cy="589759"/>
              <a:chOff x="762" y="2391"/>
              <a:chExt cx="423" cy="312"/>
            </a:xfrm>
          </p:grpSpPr>
          <p:grpSp>
            <p:nvGrpSpPr>
              <p:cNvPr id="2377737" name="Group 316"/>
              <p:cNvGrpSpPr>
                <a:grpSpLocks/>
              </p:cNvGrpSpPr>
              <p:nvPr/>
            </p:nvGrpSpPr>
            <p:grpSpPr bwMode="auto">
              <a:xfrm>
                <a:off x="867" y="2432"/>
                <a:ext cx="318" cy="271"/>
                <a:chOff x="657" y="1570"/>
                <a:chExt cx="318" cy="311"/>
              </a:xfrm>
            </p:grpSpPr>
            <p:sp>
              <p:nvSpPr>
                <p:cNvPr id="2377738"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39"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40" name="Group 424"/>
              <p:cNvGrpSpPr>
                <a:grpSpLocks/>
              </p:cNvGrpSpPr>
              <p:nvPr/>
            </p:nvGrpSpPr>
            <p:grpSpPr bwMode="auto">
              <a:xfrm>
                <a:off x="762" y="2391"/>
                <a:ext cx="306" cy="90"/>
                <a:chOff x="748" y="2251"/>
                <a:chExt cx="306" cy="90"/>
              </a:xfrm>
            </p:grpSpPr>
            <p:sp>
              <p:nvSpPr>
                <p:cNvPr id="2377741"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2"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3"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4"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5"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46"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7747" name="Text Box 45"/>
            <p:cNvSpPr txBox="1">
              <a:spLocks noChangeArrowheads="1"/>
            </p:cNvSpPr>
            <p:nvPr/>
          </p:nvSpPr>
          <p:spPr bwMode="auto">
            <a:xfrm>
              <a:off x="7282725" y="40454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7748" name="Text Box 46"/>
            <p:cNvSpPr txBox="1">
              <a:spLocks noChangeArrowheads="1"/>
            </p:cNvSpPr>
            <p:nvPr/>
          </p:nvSpPr>
          <p:spPr bwMode="auto">
            <a:xfrm>
              <a:off x="582272" y="32234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7749" name="Text Box 175"/>
            <p:cNvSpPr txBox="1">
              <a:spLocks noChangeArrowheads="1"/>
            </p:cNvSpPr>
            <p:nvPr/>
          </p:nvSpPr>
          <p:spPr bwMode="auto">
            <a:xfrm>
              <a:off x="776536" y="46493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7750" name="Text Box 176"/>
            <p:cNvSpPr txBox="1">
              <a:spLocks noChangeArrowheads="1"/>
            </p:cNvSpPr>
            <p:nvPr/>
          </p:nvSpPr>
          <p:spPr bwMode="auto">
            <a:xfrm>
              <a:off x="8450741" y="49063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7751" name="Line 177"/>
            <p:cNvSpPr>
              <a:spLocks noChangeShapeType="1"/>
            </p:cNvSpPr>
            <p:nvPr/>
          </p:nvSpPr>
          <p:spPr bwMode="auto">
            <a:xfrm>
              <a:off x="1398576" y="49649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52" name="AutoShape 180"/>
            <p:cNvSpPr>
              <a:spLocks noChangeArrowheads="1"/>
            </p:cNvSpPr>
            <p:nvPr/>
          </p:nvSpPr>
          <p:spPr bwMode="auto">
            <a:xfrm>
              <a:off x="4676934" y="57078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7753" name="Text Box 178"/>
            <p:cNvSpPr txBox="1">
              <a:spLocks noChangeArrowheads="1"/>
            </p:cNvSpPr>
            <p:nvPr/>
          </p:nvSpPr>
          <p:spPr bwMode="auto">
            <a:xfrm>
              <a:off x="4664968" y="57235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7754" name="Line 187"/>
            <p:cNvSpPr>
              <a:spLocks noChangeShapeType="1"/>
            </p:cNvSpPr>
            <p:nvPr/>
          </p:nvSpPr>
          <p:spPr bwMode="auto">
            <a:xfrm flipV="1">
              <a:off x="2844614" y="28440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55" name="Freeform 288"/>
            <p:cNvSpPr>
              <a:spLocks noChangeArrowheads="1"/>
            </p:cNvSpPr>
            <p:nvPr/>
          </p:nvSpPr>
          <p:spPr bwMode="auto">
            <a:xfrm>
              <a:off x="2846294" y="31635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6" name="Freeform 291"/>
            <p:cNvSpPr>
              <a:spLocks noChangeArrowheads="1"/>
            </p:cNvSpPr>
            <p:nvPr/>
          </p:nvSpPr>
          <p:spPr bwMode="auto">
            <a:xfrm>
              <a:off x="3607101" y="35926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7" name="Freeform 293"/>
            <p:cNvSpPr>
              <a:spLocks noChangeArrowheads="1"/>
            </p:cNvSpPr>
            <p:nvPr/>
          </p:nvSpPr>
          <p:spPr bwMode="auto">
            <a:xfrm>
              <a:off x="2846294" y="35794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58" name="Freeform 294"/>
            <p:cNvSpPr>
              <a:spLocks noChangeArrowheads="1"/>
            </p:cNvSpPr>
            <p:nvPr/>
          </p:nvSpPr>
          <p:spPr bwMode="auto">
            <a:xfrm>
              <a:off x="3607101" y="31635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7759" name="Object 295"/>
            <p:cNvGraphicFramePr>
              <a:graphicFrameLocks noChangeAspect="1"/>
            </p:cNvGraphicFramePr>
            <p:nvPr/>
          </p:nvGraphicFramePr>
          <p:xfrm>
            <a:off x="8405396" y="2299484"/>
            <a:ext cx="1444148" cy="847341"/>
          </p:xfrm>
          <a:graphic>
            <a:graphicData uri="http://schemas.openxmlformats.org/presentationml/2006/ole">
              <mc:AlternateContent xmlns:mc="http://schemas.openxmlformats.org/markup-compatibility/2006">
                <mc:Choice xmlns:v="urn:schemas-microsoft-com:vml" Requires="v">
                  <p:oleObj spid="_x0000_s2377932"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22994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7760"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35076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61" name="Line 49"/>
            <p:cNvSpPr>
              <a:spLocks noChangeShapeType="1"/>
            </p:cNvSpPr>
            <p:nvPr/>
          </p:nvSpPr>
          <p:spPr bwMode="auto">
            <a:xfrm flipV="1">
              <a:off x="6578114" y="28440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62" name="Text Box 190"/>
            <p:cNvSpPr txBox="1">
              <a:spLocks noChangeArrowheads="1"/>
            </p:cNvSpPr>
            <p:nvPr/>
          </p:nvSpPr>
          <p:spPr bwMode="auto">
            <a:xfrm>
              <a:off x="8553400" y="24858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7763" name="Freeform 301"/>
            <p:cNvSpPr>
              <a:spLocks noChangeArrowheads="1"/>
            </p:cNvSpPr>
            <p:nvPr/>
          </p:nvSpPr>
          <p:spPr bwMode="auto">
            <a:xfrm>
              <a:off x="6121294" y="32486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4" name="Freeform 302"/>
            <p:cNvSpPr>
              <a:spLocks noChangeArrowheads="1"/>
            </p:cNvSpPr>
            <p:nvPr/>
          </p:nvSpPr>
          <p:spPr bwMode="auto">
            <a:xfrm>
              <a:off x="6819960" y="35926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5" name="Freeform 303"/>
            <p:cNvSpPr>
              <a:spLocks noChangeArrowheads="1"/>
            </p:cNvSpPr>
            <p:nvPr/>
          </p:nvSpPr>
          <p:spPr bwMode="auto">
            <a:xfrm>
              <a:off x="6121294" y="36644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6" name="Freeform 304"/>
            <p:cNvSpPr>
              <a:spLocks noChangeArrowheads="1"/>
            </p:cNvSpPr>
            <p:nvPr/>
          </p:nvSpPr>
          <p:spPr bwMode="auto">
            <a:xfrm>
              <a:off x="6819960" y="31635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7767" name="Text Box 305"/>
            <p:cNvSpPr txBox="1">
              <a:spLocks noChangeArrowheads="1"/>
            </p:cNvSpPr>
            <p:nvPr/>
          </p:nvSpPr>
          <p:spPr bwMode="auto">
            <a:xfrm>
              <a:off x="4651742" y="24433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7768"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26852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7769" name="Line 403"/>
            <p:cNvSpPr>
              <a:spLocks noChangeShapeType="1"/>
            </p:cNvSpPr>
            <p:nvPr/>
          </p:nvSpPr>
          <p:spPr bwMode="auto">
            <a:xfrm flipV="1">
              <a:off x="1474153" y="41068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0" name="Line 404"/>
            <p:cNvSpPr>
              <a:spLocks noChangeShapeType="1"/>
            </p:cNvSpPr>
            <p:nvPr/>
          </p:nvSpPr>
          <p:spPr bwMode="auto">
            <a:xfrm flipV="1">
              <a:off x="2463371" y="41068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1" name="Line 405"/>
            <p:cNvSpPr>
              <a:spLocks noChangeShapeType="1"/>
            </p:cNvSpPr>
            <p:nvPr/>
          </p:nvSpPr>
          <p:spPr bwMode="auto">
            <a:xfrm flipV="1">
              <a:off x="5740050" y="40217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2" name="Line 406"/>
            <p:cNvSpPr>
              <a:spLocks noChangeShapeType="1"/>
            </p:cNvSpPr>
            <p:nvPr/>
          </p:nvSpPr>
          <p:spPr bwMode="auto">
            <a:xfrm>
              <a:off x="3607101" y="40217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3" name="Line 407"/>
            <p:cNvSpPr>
              <a:spLocks noChangeShapeType="1"/>
            </p:cNvSpPr>
            <p:nvPr/>
          </p:nvSpPr>
          <p:spPr bwMode="auto">
            <a:xfrm flipV="1">
              <a:off x="3454268" y="41068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4" name="Line 408"/>
            <p:cNvSpPr>
              <a:spLocks noChangeShapeType="1"/>
            </p:cNvSpPr>
            <p:nvPr/>
          </p:nvSpPr>
          <p:spPr bwMode="auto">
            <a:xfrm flipV="1">
              <a:off x="6272447" y="41068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5" name="Line 409"/>
            <p:cNvSpPr>
              <a:spLocks noChangeShapeType="1"/>
            </p:cNvSpPr>
            <p:nvPr/>
          </p:nvSpPr>
          <p:spPr bwMode="auto">
            <a:xfrm flipH="1" flipV="1">
              <a:off x="6883781" y="41068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6" name="Line 410"/>
            <p:cNvSpPr>
              <a:spLocks noChangeShapeType="1"/>
            </p:cNvSpPr>
            <p:nvPr/>
          </p:nvSpPr>
          <p:spPr bwMode="auto">
            <a:xfrm flipH="1" flipV="1">
              <a:off x="6729268" y="41068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7" name="Line 422"/>
            <p:cNvSpPr>
              <a:spLocks noChangeShapeType="1"/>
            </p:cNvSpPr>
            <p:nvPr/>
          </p:nvSpPr>
          <p:spPr bwMode="auto">
            <a:xfrm flipH="1" flipV="1">
              <a:off x="6653690" y="41068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778" name="Text Box 423"/>
            <p:cNvSpPr txBox="1">
              <a:spLocks noChangeArrowheads="1"/>
            </p:cNvSpPr>
            <p:nvPr/>
          </p:nvSpPr>
          <p:spPr bwMode="auto">
            <a:xfrm>
              <a:off x="7105473" y="53921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7779" name="Group 426"/>
            <p:cNvGrpSpPr>
              <a:grpSpLocks/>
            </p:cNvGrpSpPr>
            <p:nvPr/>
          </p:nvGrpSpPr>
          <p:grpSpPr bwMode="auto">
            <a:xfrm>
              <a:off x="1930973" y="5146456"/>
              <a:ext cx="710423" cy="589759"/>
              <a:chOff x="762" y="2391"/>
              <a:chExt cx="423" cy="312"/>
            </a:xfrm>
          </p:grpSpPr>
          <p:grpSp>
            <p:nvGrpSpPr>
              <p:cNvPr id="2377780" name="Group 427"/>
              <p:cNvGrpSpPr>
                <a:grpSpLocks/>
              </p:cNvGrpSpPr>
              <p:nvPr/>
            </p:nvGrpSpPr>
            <p:grpSpPr bwMode="auto">
              <a:xfrm>
                <a:off x="867" y="2432"/>
                <a:ext cx="318" cy="271"/>
                <a:chOff x="657" y="1570"/>
                <a:chExt cx="318" cy="311"/>
              </a:xfrm>
            </p:grpSpPr>
            <p:sp>
              <p:nvSpPr>
                <p:cNvPr id="2377781"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82"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83" name="Group 430"/>
              <p:cNvGrpSpPr>
                <a:grpSpLocks/>
              </p:cNvGrpSpPr>
              <p:nvPr/>
            </p:nvGrpSpPr>
            <p:grpSpPr bwMode="auto">
              <a:xfrm>
                <a:off x="762" y="2391"/>
                <a:ext cx="306" cy="90"/>
                <a:chOff x="748" y="2251"/>
                <a:chExt cx="306" cy="90"/>
              </a:xfrm>
            </p:grpSpPr>
            <p:sp>
              <p:nvSpPr>
                <p:cNvPr id="2377784"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5"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6"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7"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8"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89"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790" name="Group 437"/>
            <p:cNvGrpSpPr>
              <a:grpSpLocks/>
            </p:cNvGrpSpPr>
            <p:nvPr/>
          </p:nvGrpSpPr>
          <p:grpSpPr bwMode="auto">
            <a:xfrm>
              <a:off x="5283229" y="4021756"/>
              <a:ext cx="710423" cy="589759"/>
              <a:chOff x="762" y="2391"/>
              <a:chExt cx="423" cy="312"/>
            </a:xfrm>
          </p:grpSpPr>
          <p:grpSp>
            <p:nvGrpSpPr>
              <p:cNvPr id="2377791" name="Group 438"/>
              <p:cNvGrpSpPr>
                <a:grpSpLocks/>
              </p:cNvGrpSpPr>
              <p:nvPr/>
            </p:nvGrpSpPr>
            <p:grpSpPr bwMode="auto">
              <a:xfrm>
                <a:off x="867" y="2432"/>
                <a:ext cx="318" cy="271"/>
                <a:chOff x="657" y="1570"/>
                <a:chExt cx="318" cy="311"/>
              </a:xfrm>
            </p:grpSpPr>
            <p:sp>
              <p:nvSpPr>
                <p:cNvPr id="2377792"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793"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794" name="Group 441"/>
              <p:cNvGrpSpPr>
                <a:grpSpLocks/>
              </p:cNvGrpSpPr>
              <p:nvPr/>
            </p:nvGrpSpPr>
            <p:grpSpPr bwMode="auto">
              <a:xfrm>
                <a:off x="762" y="2391"/>
                <a:ext cx="306" cy="90"/>
                <a:chOff x="748" y="2251"/>
                <a:chExt cx="306" cy="90"/>
              </a:xfrm>
            </p:grpSpPr>
            <p:sp>
              <p:nvSpPr>
                <p:cNvPr id="2377795"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6"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7"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8"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799"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0"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01" name="Group 448"/>
            <p:cNvGrpSpPr>
              <a:grpSpLocks/>
            </p:cNvGrpSpPr>
            <p:nvPr/>
          </p:nvGrpSpPr>
          <p:grpSpPr bwMode="auto">
            <a:xfrm>
              <a:off x="2921871" y="5222067"/>
              <a:ext cx="710423" cy="589759"/>
              <a:chOff x="762" y="2391"/>
              <a:chExt cx="423" cy="312"/>
            </a:xfrm>
          </p:grpSpPr>
          <p:grpSp>
            <p:nvGrpSpPr>
              <p:cNvPr id="2377802" name="Group 449"/>
              <p:cNvGrpSpPr>
                <a:grpSpLocks/>
              </p:cNvGrpSpPr>
              <p:nvPr/>
            </p:nvGrpSpPr>
            <p:grpSpPr bwMode="auto">
              <a:xfrm>
                <a:off x="867" y="2432"/>
                <a:ext cx="318" cy="271"/>
                <a:chOff x="657" y="1570"/>
                <a:chExt cx="318" cy="311"/>
              </a:xfrm>
            </p:grpSpPr>
            <p:sp>
              <p:nvSpPr>
                <p:cNvPr id="2377803"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04"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05" name="Group 452"/>
              <p:cNvGrpSpPr>
                <a:grpSpLocks/>
              </p:cNvGrpSpPr>
              <p:nvPr/>
            </p:nvGrpSpPr>
            <p:grpSpPr bwMode="auto">
              <a:xfrm>
                <a:off x="762" y="2391"/>
                <a:ext cx="306" cy="90"/>
                <a:chOff x="748" y="2251"/>
                <a:chExt cx="306" cy="90"/>
              </a:xfrm>
            </p:grpSpPr>
            <p:sp>
              <p:nvSpPr>
                <p:cNvPr id="2377806"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7"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8"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09"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0"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1"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12" name="Group 459"/>
            <p:cNvGrpSpPr>
              <a:grpSpLocks/>
            </p:cNvGrpSpPr>
            <p:nvPr/>
          </p:nvGrpSpPr>
          <p:grpSpPr bwMode="auto">
            <a:xfrm>
              <a:off x="4520742" y="4106816"/>
              <a:ext cx="710423" cy="589759"/>
              <a:chOff x="762" y="2391"/>
              <a:chExt cx="423" cy="312"/>
            </a:xfrm>
          </p:grpSpPr>
          <p:grpSp>
            <p:nvGrpSpPr>
              <p:cNvPr id="2377813" name="Group 460"/>
              <p:cNvGrpSpPr>
                <a:grpSpLocks/>
              </p:cNvGrpSpPr>
              <p:nvPr/>
            </p:nvGrpSpPr>
            <p:grpSpPr bwMode="auto">
              <a:xfrm>
                <a:off x="867" y="2432"/>
                <a:ext cx="318" cy="271"/>
                <a:chOff x="657" y="1570"/>
                <a:chExt cx="318" cy="311"/>
              </a:xfrm>
            </p:grpSpPr>
            <p:sp>
              <p:nvSpPr>
                <p:cNvPr id="2377814"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15"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16" name="Group 463"/>
              <p:cNvGrpSpPr>
                <a:grpSpLocks/>
              </p:cNvGrpSpPr>
              <p:nvPr/>
            </p:nvGrpSpPr>
            <p:grpSpPr bwMode="auto">
              <a:xfrm>
                <a:off x="762" y="2391"/>
                <a:ext cx="306" cy="90"/>
                <a:chOff x="748" y="2251"/>
                <a:chExt cx="306" cy="90"/>
              </a:xfrm>
            </p:grpSpPr>
            <p:sp>
              <p:nvSpPr>
                <p:cNvPr id="2377817"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8"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19"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0"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1"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2"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23" name="Group 470"/>
            <p:cNvGrpSpPr>
              <a:grpSpLocks/>
            </p:cNvGrpSpPr>
            <p:nvPr/>
          </p:nvGrpSpPr>
          <p:grpSpPr bwMode="auto">
            <a:xfrm>
              <a:off x="6653690" y="5307129"/>
              <a:ext cx="710423" cy="589759"/>
              <a:chOff x="762" y="2391"/>
              <a:chExt cx="423" cy="312"/>
            </a:xfrm>
          </p:grpSpPr>
          <p:grpSp>
            <p:nvGrpSpPr>
              <p:cNvPr id="2377824" name="Group 471"/>
              <p:cNvGrpSpPr>
                <a:grpSpLocks/>
              </p:cNvGrpSpPr>
              <p:nvPr/>
            </p:nvGrpSpPr>
            <p:grpSpPr bwMode="auto">
              <a:xfrm>
                <a:off x="867" y="2432"/>
                <a:ext cx="318" cy="271"/>
                <a:chOff x="657" y="1570"/>
                <a:chExt cx="318" cy="311"/>
              </a:xfrm>
            </p:grpSpPr>
            <p:sp>
              <p:nvSpPr>
                <p:cNvPr id="2377825"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26"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27" name="Group 474"/>
              <p:cNvGrpSpPr>
                <a:grpSpLocks/>
              </p:cNvGrpSpPr>
              <p:nvPr/>
            </p:nvGrpSpPr>
            <p:grpSpPr bwMode="auto">
              <a:xfrm>
                <a:off x="762" y="2391"/>
                <a:ext cx="306" cy="90"/>
                <a:chOff x="748" y="2251"/>
                <a:chExt cx="306" cy="90"/>
              </a:xfrm>
            </p:grpSpPr>
            <p:sp>
              <p:nvSpPr>
                <p:cNvPr id="2377828"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29"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0"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1"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2"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33"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34" name="Group 481"/>
            <p:cNvGrpSpPr>
              <a:grpSpLocks/>
            </p:cNvGrpSpPr>
            <p:nvPr/>
          </p:nvGrpSpPr>
          <p:grpSpPr bwMode="auto">
            <a:xfrm>
              <a:off x="5740050" y="4792979"/>
              <a:ext cx="710423" cy="589759"/>
              <a:chOff x="762" y="2391"/>
              <a:chExt cx="423" cy="312"/>
            </a:xfrm>
          </p:grpSpPr>
          <p:grpSp>
            <p:nvGrpSpPr>
              <p:cNvPr id="2377835" name="Group 482"/>
              <p:cNvGrpSpPr>
                <a:grpSpLocks/>
              </p:cNvGrpSpPr>
              <p:nvPr/>
            </p:nvGrpSpPr>
            <p:grpSpPr bwMode="auto">
              <a:xfrm>
                <a:off x="867" y="2432"/>
                <a:ext cx="318" cy="271"/>
                <a:chOff x="657" y="1570"/>
                <a:chExt cx="318" cy="311"/>
              </a:xfrm>
            </p:grpSpPr>
            <p:sp>
              <p:nvSpPr>
                <p:cNvPr id="2377836"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37"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38" name="Group 485"/>
              <p:cNvGrpSpPr>
                <a:grpSpLocks/>
              </p:cNvGrpSpPr>
              <p:nvPr/>
            </p:nvGrpSpPr>
            <p:grpSpPr bwMode="auto">
              <a:xfrm>
                <a:off x="762" y="2391"/>
                <a:ext cx="306" cy="90"/>
                <a:chOff x="748" y="2251"/>
                <a:chExt cx="306" cy="90"/>
              </a:xfrm>
            </p:grpSpPr>
            <p:sp>
              <p:nvSpPr>
                <p:cNvPr id="2377839"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0"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1"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2"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3"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44"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45" name="Group 492"/>
            <p:cNvGrpSpPr>
              <a:grpSpLocks/>
            </p:cNvGrpSpPr>
            <p:nvPr/>
          </p:nvGrpSpPr>
          <p:grpSpPr bwMode="auto">
            <a:xfrm>
              <a:off x="7263345" y="4964992"/>
              <a:ext cx="710422" cy="589759"/>
              <a:chOff x="762" y="2391"/>
              <a:chExt cx="423" cy="312"/>
            </a:xfrm>
          </p:grpSpPr>
          <p:grpSp>
            <p:nvGrpSpPr>
              <p:cNvPr id="2377846" name="Group 493"/>
              <p:cNvGrpSpPr>
                <a:grpSpLocks/>
              </p:cNvGrpSpPr>
              <p:nvPr/>
            </p:nvGrpSpPr>
            <p:grpSpPr bwMode="auto">
              <a:xfrm>
                <a:off x="867" y="2432"/>
                <a:ext cx="318" cy="271"/>
                <a:chOff x="657" y="1570"/>
                <a:chExt cx="318" cy="311"/>
              </a:xfrm>
            </p:grpSpPr>
            <p:sp>
              <p:nvSpPr>
                <p:cNvPr id="2377847"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48"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49" name="Group 496"/>
              <p:cNvGrpSpPr>
                <a:grpSpLocks/>
              </p:cNvGrpSpPr>
              <p:nvPr/>
            </p:nvGrpSpPr>
            <p:grpSpPr bwMode="auto">
              <a:xfrm>
                <a:off x="762" y="2391"/>
                <a:ext cx="306" cy="90"/>
                <a:chOff x="748" y="2251"/>
                <a:chExt cx="306" cy="90"/>
              </a:xfrm>
            </p:grpSpPr>
            <p:sp>
              <p:nvSpPr>
                <p:cNvPr id="2377850"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1"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2"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3"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4"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55"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7856" name="Group 503"/>
            <p:cNvGrpSpPr>
              <a:grpSpLocks/>
            </p:cNvGrpSpPr>
            <p:nvPr/>
          </p:nvGrpSpPr>
          <p:grpSpPr bwMode="auto">
            <a:xfrm>
              <a:off x="8000639" y="4802430"/>
              <a:ext cx="710423" cy="589759"/>
              <a:chOff x="762" y="2391"/>
              <a:chExt cx="423" cy="312"/>
            </a:xfrm>
          </p:grpSpPr>
          <p:grpSp>
            <p:nvGrpSpPr>
              <p:cNvPr id="2377857" name="Group 504"/>
              <p:cNvGrpSpPr>
                <a:grpSpLocks/>
              </p:cNvGrpSpPr>
              <p:nvPr/>
            </p:nvGrpSpPr>
            <p:grpSpPr bwMode="auto">
              <a:xfrm>
                <a:off x="867" y="2432"/>
                <a:ext cx="318" cy="271"/>
                <a:chOff x="657" y="1570"/>
                <a:chExt cx="318" cy="311"/>
              </a:xfrm>
            </p:grpSpPr>
            <p:sp>
              <p:nvSpPr>
                <p:cNvPr id="2377858"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7859"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7860" name="Group 507"/>
              <p:cNvGrpSpPr>
                <a:grpSpLocks/>
              </p:cNvGrpSpPr>
              <p:nvPr/>
            </p:nvGrpSpPr>
            <p:grpSpPr bwMode="auto">
              <a:xfrm>
                <a:off x="762" y="2391"/>
                <a:ext cx="306" cy="90"/>
                <a:chOff x="748" y="2251"/>
                <a:chExt cx="306" cy="90"/>
              </a:xfrm>
            </p:grpSpPr>
            <p:sp>
              <p:nvSpPr>
                <p:cNvPr id="2377861"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2"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3"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4"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5"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66"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7867" name="Line 517"/>
            <p:cNvSpPr>
              <a:spLocks noChangeShapeType="1"/>
            </p:cNvSpPr>
            <p:nvPr/>
          </p:nvSpPr>
          <p:spPr bwMode="auto">
            <a:xfrm flipH="1">
              <a:off x="1930973" y="28035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7868" name="Text Box 44"/>
            <p:cNvSpPr txBox="1">
              <a:spLocks noChangeArrowheads="1"/>
            </p:cNvSpPr>
            <p:nvPr/>
          </p:nvSpPr>
          <p:spPr bwMode="auto">
            <a:xfrm>
              <a:off x="1474153" y="39310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7869" name="Line 48"/>
            <p:cNvSpPr>
              <a:spLocks noChangeShapeType="1"/>
            </p:cNvSpPr>
            <p:nvPr/>
          </p:nvSpPr>
          <p:spPr bwMode="auto">
            <a:xfrm flipH="1">
              <a:off x="3342582" y="28440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7870" name="Rectangle 515"/>
            <p:cNvSpPr>
              <a:spLocks noChangeArrowheads="1"/>
            </p:cNvSpPr>
            <p:nvPr/>
          </p:nvSpPr>
          <p:spPr bwMode="auto">
            <a:xfrm>
              <a:off x="2465050" y="26077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7871" name="Text Box 518"/>
            <p:cNvSpPr txBox="1">
              <a:spLocks noChangeArrowheads="1"/>
            </p:cNvSpPr>
            <p:nvPr/>
          </p:nvSpPr>
          <p:spPr bwMode="auto">
            <a:xfrm>
              <a:off x="488504" y="24435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39985" name="Text Box 17"/>
          <p:cNvSpPr txBox="1">
            <a:spLocks noChangeArrowheads="1"/>
          </p:cNvSpPr>
          <p:nvPr/>
        </p:nvSpPr>
        <p:spPr bwMode="auto">
          <a:xfrm>
            <a:off x="3800475" y="3500438"/>
            <a:ext cx="1520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AP1</a:t>
            </a:r>
          </a:p>
        </p:txBody>
      </p:sp>
      <p:sp>
        <p:nvSpPr>
          <p:cNvPr id="339986" name="Text Box 18"/>
          <p:cNvSpPr txBox="1">
            <a:spLocks noChangeArrowheads="1"/>
          </p:cNvSpPr>
          <p:nvPr/>
        </p:nvSpPr>
        <p:spPr bwMode="auto">
          <a:xfrm>
            <a:off x="7185025" y="3568700"/>
            <a:ext cx="15208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AP2</a:t>
            </a:r>
          </a:p>
        </p:txBody>
      </p:sp>
      <p:sp>
        <p:nvSpPr>
          <p:cNvPr id="237787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8399B1-B8D1-4047-B60D-4191573F9676}" type="slidenum">
              <a:rPr lang="en-US" altLang="zh-CN" smtClean="0"/>
              <a:pPr eaLnBrk="1" hangingPunct="1"/>
              <a:t>8</a:t>
            </a:fld>
            <a:endParaRPr lang="en-US" altLang="zh-CN" smtClean="0"/>
          </a:p>
        </p:txBody>
      </p:sp>
      <p:sp>
        <p:nvSpPr>
          <p:cNvPr id="237787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1" presetClass="entr" presetSubtype="0" fill="hold" grpId="0" nodeType="afterEffect">
                                  <p:stCondLst>
                                    <p:cond delay="500"/>
                                  </p:stCondLst>
                                  <p:childTnLst>
                                    <p:set>
                                      <p:cBhvr>
                                        <p:cTn id="6" dur="1000">
                                          <p:stCondLst>
                                            <p:cond delay="0"/>
                                          </p:stCondLst>
                                        </p:cTn>
                                        <p:tgtEl>
                                          <p:spTgt spid="339985"/>
                                        </p:tgtEl>
                                        <p:attrNameLst>
                                          <p:attrName>style.visibility</p:attrName>
                                        </p:attrNameLst>
                                      </p:cBhvr>
                                      <p:to>
                                        <p:strVal val="visible"/>
                                      </p:to>
                                    </p:set>
                                  </p:childTnLst>
                                </p:cTn>
                              </p:par>
                              <p:par>
                                <p:cTn id="7" presetID="11" presetClass="entr" presetSubtype="0" fill="hold" grpId="0" nodeType="withEffect">
                                  <p:stCondLst>
                                    <p:cond delay="500"/>
                                  </p:stCondLst>
                                  <p:childTnLst>
                                    <p:set>
                                      <p:cBhvr>
                                        <p:cTn id="8" dur="1000">
                                          <p:stCondLst>
                                            <p:cond delay="0"/>
                                          </p:stCondLst>
                                        </p:cTn>
                                        <p:tgtEl>
                                          <p:spTgt spid="339986"/>
                                        </p:tgtEl>
                                        <p:attrNameLst>
                                          <p:attrName>style.visibility</p:attrName>
                                        </p:attrNameLst>
                                      </p:cBhvr>
                                      <p:to>
                                        <p:strVal val="visible"/>
                                      </p:to>
                                    </p:set>
                                  </p:childTnLst>
                                </p:cTn>
                              </p:par>
                            </p:childTnLst>
                          </p:cTn>
                        </p:par>
                        <p:par>
                          <p:cTn id="9" fill="hold" nodeType="afterGroup">
                            <p:stCondLst>
                              <p:cond delay="1500"/>
                            </p:stCondLst>
                            <p:childTnLst>
                              <p:par>
                                <p:cTn id="10" presetID="1" presetClass="entr" presetSubtype="0" fill="hold" grpId="1" nodeType="afterEffect">
                                  <p:stCondLst>
                                    <p:cond delay="500"/>
                                  </p:stCondLst>
                                  <p:childTnLst>
                                    <p:set>
                                      <p:cBhvr>
                                        <p:cTn id="11" dur="1" fill="hold">
                                          <p:stCondLst>
                                            <p:cond delay="0"/>
                                          </p:stCondLst>
                                        </p:cTn>
                                        <p:tgtEl>
                                          <p:spTgt spid="339985"/>
                                        </p:tgtEl>
                                        <p:attrNameLst>
                                          <p:attrName>style.visibility</p:attrName>
                                        </p:attrNameLst>
                                      </p:cBhvr>
                                      <p:to>
                                        <p:strVal val="visible"/>
                                      </p:to>
                                    </p:set>
                                  </p:childTnLst>
                                </p:cTn>
                              </p:par>
                              <p:par>
                                <p:cTn id="12" presetID="1" presetClass="entr" presetSubtype="0" fill="hold" grpId="1" nodeType="withEffect">
                                  <p:stCondLst>
                                    <p:cond delay="500"/>
                                  </p:stCondLst>
                                  <p:childTnLst>
                                    <p:set>
                                      <p:cBhvr>
                                        <p:cTn id="13" dur="1" fill="hold">
                                          <p:stCondLst>
                                            <p:cond delay="0"/>
                                          </p:stCondLst>
                                        </p:cTn>
                                        <p:tgtEl>
                                          <p:spTgt spid="339986"/>
                                        </p:tgtEl>
                                        <p:attrNameLst>
                                          <p:attrName>style.visibility</p:attrName>
                                        </p:attrNameLst>
                                      </p:cBhvr>
                                      <p:to>
                                        <p:strVal val="visible"/>
                                      </p:to>
                                    </p:set>
                                  </p:childTnLst>
                                </p:cTn>
                              </p:par>
                            </p:childTnLst>
                          </p:cTn>
                        </p:par>
                        <p:par>
                          <p:cTn id="14" fill="hold" nodeType="afterGroup">
                            <p:stCondLst>
                              <p:cond delay="2001"/>
                            </p:stCondLst>
                            <p:childTnLst>
                              <p:par>
                                <p:cTn id="15" presetID="1" presetClass="entr" presetSubtype="0" fill="hold" grpId="0" nodeType="afterEffect">
                                  <p:stCondLst>
                                    <p:cond delay="500"/>
                                  </p:stCondLst>
                                  <p:childTnLst>
                                    <p:set>
                                      <p:cBhvr>
                                        <p:cTn id="16" dur="1" fill="hold">
                                          <p:stCondLst>
                                            <p:cond delay="0"/>
                                          </p:stCondLst>
                                        </p:cTn>
                                        <p:tgtEl>
                                          <p:spTgt spid="339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87" grpId="0" animBg="1"/>
      <p:bldP spid="339985" grpId="0"/>
      <p:bldP spid="339985" grpId="1"/>
      <p:bldP spid="339986" grpId="0"/>
      <p:bldP spid="339986"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9777" name="Text Box 14"/>
          <p:cNvSpPr txBox="1">
            <a:spLocks noChangeArrowheads="1"/>
          </p:cNvSpPr>
          <p:nvPr/>
        </p:nvSpPr>
        <p:spPr bwMode="auto">
          <a:xfrm>
            <a:off x="557213" y="260350"/>
            <a:ext cx="8845550" cy="1858963"/>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dirty="0">
                <a:solidFill>
                  <a:schemeClr val="tx2"/>
                </a:solidFill>
                <a:ea typeface="宋体" panose="02010600030101010101" pitchFamily="2" charset="-122"/>
              </a:rPr>
              <a:t>一个基本服务集可以是孤立的，也</a:t>
            </a:r>
            <a:r>
              <a:rPr lang="zh-CN" altLang="en-US" sz="2800" b="1" dirty="0">
                <a:ea typeface="宋体" panose="02010600030101010101" pitchFamily="2" charset="-122"/>
              </a:rPr>
              <a:t>可</a:t>
            </a:r>
            <a:r>
              <a:rPr lang="zh-CN" altLang="en-US" sz="2800" b="1" dirty="0">
                <a:solidFill>
                  <a:schemeClr val="tx2"/>
                </a:solidFill>
                <a:ea typeface="宋体" panose="02010600030101010101" pitchFamily="2" charset="-122"/>
              </a:rPr>
              <a:t>通过接入点 </a:t>
            </a:r>
            <a:r>
              <a:rPr lang="en-US" altLang="zh-CN" sz="2800" b="1" dirty="0">
                <a:solidFill>
                  <a:schemeClr val="tx2"/>
                </a:solidFill>
                <a:ea typeface="宋体" panose="02010600030101010101" pitchFamily="2" charset="-122"/>
              </a:rPr>
              <a:t>AP</a:t>
            </a:r>
          </a:p>
          <a:p>
            <a:pPr algn="ctr" eaLnBrk="0" hangingPunct="0"/>
            <a:r>
              <a:rPr lang="zh-CN" altLang="en-US" sz="2800" b="1" dirty="0">
                <a:ea typeface="宋体" panose="02010600030101010101" pitchFamily="2" charset="-122"/>
              </a:rPr>
              <a:t>连接</a:t>
            </a:r>
            <a:r>
              <a:rPr lang="zh-CN" altLang="en-US" sz="2800" b="1" dirty="0">
                <a:solidFill>
                  <a:schemeClr val="tx2"/>
                </a:solidFill>
                <a:ea typeface="宋体" panose="02010600030101010101" pitchFamily="2" charset="-122"/>
              </a:rPr>
              <a:t>到一个</a:t>
            </a:r>
            <a:r>
              <a:rPr lang="zh-CN" altLang="en-US" sz="2800" b="1" u="sng" dirty="0">
                <a:solidFill>
                  <a:srgbClr val="C00000"/>
                </a:solidFill>
                <a:ea typeface="宋体" panose="02010600030101010101" pitchFamily="2" charset="-122"/>
              </a:rPr>
              <a:t>主干分配系统 </a:t>
            </a:r>
            <a:r>
              <a:rPr lang="en-US" altLang="zh-CN" sz="2800" b="1" u="sng" dirty="0">
                <a:solidFill>
                  <a:srgbClr val="C00000"/>
                </a:solidFill>
                <a:ea typeface="宋体" panose="02010600030101010101" pitchFamily="2" charset="-122"/>
              </a:rPr>
              <a:t>DS </a:t>
            </a:r>
            <a:r>
              <a:rPr lang="en-US" altLang="zh-CN" sz="2800" b="1" u="sng" dirty="0">
                <a:solidFill>
                  <a:schemeClr val="tx2"/>
                </a:solidFill>
                <a:ea typeface="宋体" panose="02010600030101010101" pitchFamily="2" charset="-122"/>
              </a:rPr>
              <a:t>(Distribution System)</a:t>
            </a:r>
            <a:r>
              <a:rPr lang="zh-CN" altLang="en-US" sz="2800" b="1" dirty="0">
                <a:solidFill>
                  <a:schemeClr val="tx2"/>
                </a:solidFill>
                <a:ea typeface="宋体" panose="02010600030101010101" pitchFamily="2" charset="-122"/>
              </a:rPr>
              <a:t>，</a:t>
            </a:r>
          </a:p>
          <a:p>
            <a:pPr algn="ctr" eaLnBrk="0" hangingPunct="0"/>
            <a:r>
              <a:rPr lang="zh-CN" altLang="en-US" sz="2800" b="1" dirty="0">
                <a:solidFill>
                  <a:schemeClr val="tx2"/>
                </a:solidFill>
                <a:ea typeface="宋体" panose="02010600030101010101" pitchFamily="2" charset="-122"/>
              </a:rPr>
              <a:t>然后再</a:t>
            </a:r>
            <a:r>
              <a:rPr lang="zh-CN" altLang="en-US" sz="2800" b="1" dirty="0">
                <a:ea typeface="宋体" panose="02010600030101010101" pitchFamily="2" charset="-122"/>
              </a:rPr>
              <a:t>接入到另一个基本服务集</a:t>
            </a:r>
            <a:r>
              <a:rPr lang="zh-CN" altLang="en-US" sz="2800" b="1" dirty="0">
                <a:solidFill>
                  <a:schemeClr val="tx2"/>
                </a:solidFill>
                <a:ea typeface="宋体" panose="02010600030101010101" pitchFamily="2" charset="-122"/>
              </a:rPr>
              <a:t>，构成</a:t>
            </a:r>
          </a:p>
          <a:p>
            <a:pPr algn="ctr" eaLnBrk="0" hangingPunct="0"/>
            <a:r>
              <a:rPr lang="zh-CN" altLang="en-US" sz="2800" b="1" u="sng" dirty="0">
                <a:solidFill>
                  <a:srgbClr val="C00000"/>
                </a:solidFill>
                <a:ea typeface="宋体" panose="02010600030101010101" pitchFamily="2" charset="-122"/>
              </a:rPr>
              <a:t>扩展的服务集 </a:t>
            </a:r>
            <a:r>
              <a:rPr lang="en-US" altLang="zh-CN" sz="2800" b="1" u="sng" dirty="0">
                <a:solidFill>
                  <a:srgbClr val="C00000"/>
                </a:solidFill>
                <a:ea typeface="宋体" panose="02010600030101010101" pitchFamily="2" charset="-122"/>
              </a:rPr>
              <a:t>ESS </a:t>
            </a:r>
            <a:r>
              <a:rPr lang="en-US" altLang="zh-CN" sz="2800" b="1" u="sng" dirty="0">
                <a:solidFill>
                  <a:schemeClr val="tx2"/>
                </a:solidFill>
                <a:ea typeface="宋体" panose="02010600030101010101" pitchFamily="2" charset="-122"/>
              </a:rPr>
              <a:t>(Extended Service Set)</a:t>
            </a:r>
            <a:r>
              <a:rPr lang="zh-CN" altLang="en-US" sz="2800" b="1" dirty="0">
                <a:solidFill>
                  <a:schemeClr val="tx2"/>
                </a:solidFill>
                <a:ea typeface="宋体" panose="02010600030101010101" pitchFamily="2" charset="-122"/>
              </a:rPr>
              <a:t>。</a:t>
            </a:r>
          </a:p>
        </p:txBody>
      </p:sp>
      <p:grpSp>
        <p:nvGrpSpPr>
          <p:cNvPr id="2379778" name="组合 17"/>
          <p:cNvGrpSpPr>
            <a:grpSpLocks/>
          </p:cNvGrpSpPr>
          <p:nvPr/>
        </p:nvGrpSpPr>
        <p:grpSpPr bwMode="auto">
          <a:xfrm>
            <a:off x="344488" y="2298700"/>
            <a:ext cx="9504362" cy="4010025"/>
            <a:chOff x="344487" y="1484784"/>
            <a:chExt cx="9505057" cy="4009836"/>
          </a:xfrm>
        </p:grpSpPr>
        <p:sp>
          <p:nvSpPr>
            <p:cNvPr id="2379779"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80"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79781"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782"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79783" name="Group 425"/>
            <p:cNvGrpSpPr>
              <a:grpSpLocks/>
            </p:cNvGrpSpPr>
            <p:nvPr/>
          </p:nvGrpSpPr>
          <p:grpSpPr bwMode="auto">
            <a:xfrm>
              <a:off x="941756" y="3721205"/>
              <a:ext cx="710422" cy="589759"/>
              <a:chOff x="762" y="2391"/>
              <a:chExt cx="423" cy="312"/>
            </a:xfrm>
          </p:grpSpPr>
          <p:grpSp>
            <p:nvGrpSpPr>
              <p:cNvPr id="2379784" name="Group 316"/>
              <p:cNvGrpSpPr>
                <a:grpSpLocks/>
              </p:cNvGrpSpPr>
              <p:nvPr/>
            </p:nvGrpSpPr>
            <p:grpSpPr bwMode="auto">
              <a:xfrm>
                <a:off x="867" y="2432"/>
                <a:ext cx="318" cy="271"/>
                <a:chOff x="657" y="1570"/>
                <a:chExt cx="318" cy="311"/>
              </a:xfrm>
            </p:grpSpPr>
            <p:sp>
              <p:nvSpPr>
                <p:cNvPr id="2379785"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786"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787" name="Group 424"/>
              <p:cNvGrpSpPr>
                <a:grpSpLocks/>
              </p:cNvGrpSpPr>
              <p:nvPr/>
            </p:nvGrpSpPr>
            <p:grpSpPr bwMode="auto">
              <a:xfrm>
                <a:off x="762" y="2391"/>
                <a:ext cx="306" cy="90"/>
                <a:chOff x="748" y="2251"/>
                <a:chExt cx="306" cy="90"/>
              </a:xfrm>
            </p:grpSpPr>
            <p:sp>
              <p:nvSpPr>
                <p:cNvPr id="2379788"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89"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0"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1"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2"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793"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9794"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9795"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79796"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79797"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79798"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799"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79800"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79801"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02"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79803"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4"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5"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06"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79807"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79983"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79808"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809"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79810"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11"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79812"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3"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4"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5"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79816"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79817"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9818"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19"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0"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1"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2"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3"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4"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5"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6"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827"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79828" name="Group 426"/>
            <p:cNvGrpSpPr>
              <a:grpSpLocks/>
            </p:cNvGrpSpPr>
            <p:nvPr/>
          </p:nvGrpSpPr>
          <p:grpSpPr bwMode="auto">
            <a:xfrm>
              <a:off x="1930973" y="4331756"/>
              <a:ext cx="710423" cy="589759"/>
              <a:chOff x="762" y="2391"/>
              <a:chExt cx="423" cy="312"/>
            </a:xfrm>
          </p:grpSpPr>
          <p:grpSp>
            <p:nvGrpSpPr>
              <p:cNvPr id="2379829" name="Group 427"/>
              <p:cNvGrpSpPr>
                <a:grpSpLocks/>
              </p:cNvGrpSpPr>
              <p:nvPr/>
            </p:nvGrpSpPr>
            <p:grpSpPr bwMode="auto">
              <a:xfrm>
                <a:off x="867" y="2432"/>
                <a:ext cx="318" cy="271"/>
                <a:chOff x="657" y="1570"/>
                <a:chExt cx="318" cy="311"/>
              </a:xfrm>
            </p:grpSpPr>
            <p:sp>
              <p:nvSpPr>
                <p:cNvPr id="2379830"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31"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32" name="Group 430"/>
              <p:cNvGrpSpPr>
                <a:grpSpLocks/>
              </p:cNvGrpSpPr>
              <p:nvPr/>
            </p:nvGrpSpPr>
            <p:grpSpPr bwMode="auto">
              <a:xfrm>
                <a:off x="762" y="2391"/>
                <a:ext cx="306" cy="90"/>
                <a:chOff x="748" y="2251"/>
                <a:chExt cx="306" cy="90"/>
              </a:xfrm>
            </p:grpSpPr>
            <p:sp>
              <p:nvSpPr>
                <p:cNvPr id="2379833"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4"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5"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6"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7"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38"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39" name="Group 437"/>
            <p:cNvGrpSpPr>
              <a:grpSpLocks/>
            </p:cNvGrpSpPr>
            <p:nvPr/>
          </p:nvGrpSpPr>
          <p:grpSpPr bwMode="auto">
            <a:xfrm>
              <a:off x="5283229" y="3207056"/>
              <a:ext cx="710423" cy="589759"/>
              <a:chOff x="762" y="2391"/>
              <a:chExt cx="423" cy="312"/>
            </a:xfrm>
          </p:grpSpPr>
          <p:grpSp>
            <p:nvGrpSpPr>
              <p:cNvPr id="2379840" name="Group 438"/>
              <p:cNvGrpSpPr>
                <a:grpSpLocks/>
              </p:cNvGrpSpPr>
              <p:nvPr/>
            </p:nvGrpSpPr>
            <p:grpSpPr bwMode="auto">
              <a:xfrm>
                <a:off x="867" y="2432"/>
                <a:ext cx="318" cy="271"/>
                <a:chOff x="657" y="1570"/>
                <a:chExt cx="318" cy="311"/>
              </a:xfrm>
            </p:grpSpPr>
            <p:sp>
              <p:nvSpPr>
                <p:cNvPr id="2379841"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42"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43" name="Group 441"/>
              <p:cNvGrpSpPr>
                <a:grpSpLocks/>
              </p:cNvGrpSpPr>
              <p:nvPr/>
            </p:nvGrpSpPr>
            <p:grpSpPr bwMode="auto">
              <a:xfrm>
                <a:off x="762" y="2391"/>
                <a:ext cx="306" cy="90"/>
                <a:chOff x="748" y="2251"/>
                <a:chExt cx="306" cy="90"/>
              </a:xfrm>
            </p:grpSpPr>
            <p:sp>
              <p:nvSpPr>
                <p:cNvPr id="2379844"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5"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6"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7"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8"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49"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50" name="Group 448"/>
            <p:cNvGrpSpPr>
              <a:grpSpLocks/>
            </p:cNvGrpSpPr>
            <p:nvPr/>
          </p:nvGrpSpPr>
          <p:grpSpPr bwMode="auto">
            <a:xfrm>
              <a:off x="2921871" y="4407367"/>
              <a:ext cx="710423" cy="589759"/>
              <a:chOff x="762" y="2391"/>
              <a:chExt cx="423" cy="312"/>
            </a:xfrm>
          </p:grpSpPr>
          <p:grpSp>
            <p:nvGrpSpPr>
              <p:cNvPr id="2379851" name="Group 449"/>
              <p:cNvGrpSpPr>
                <a:grpSpLocks/>
              </p:cNvGrpSpPr>
              <p:nvPr/>
            </p:nvGrpSpPr>
            <p:grpSpPr bwMode="auto">
              <a:xfrm>
                <a:off x="867" y="2432"/>
                <a:ext cx="318" cy="271"/>
                <a:chOff x="657" y="1570"/>
                <a:chExt cx="318" cy="311"/>
              </a:xfrm>
            </p:grpSpPr>
            <p:sp>
              <p:nvSpPr>
                <p:cNvPr id="2379852"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53"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54" name="Group 452"/>
              <p:cNvGrpSpPr>
                <a:grpSpLocks/>
              </p:cNvGrpSpPr>
              <p:nvPr/>
            </p:nvGrpSpPr>
            <p:grpSpPr bwMode="auto">
              <a:xfrm>
                <a:off x="762" y="2391"/>
                <a:ext cx="306" cy="90"/>
                <a:chOff x="748" y="2251"/>
                <a:chExt cx="306" cy="90"/>
              </a:xfrm>
            </p:grpSpPr>
            <p:sp>
              <p:nvSpPr>
                <p:cNvPr id="2379855"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6"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7"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8"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59"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0"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61" name="Group 459"/>
            <p:cNvGrpSpPr>
              <a:grpSpLocks/>
            </p:cNvGrpSpPr>
            <p:nvPr/>
          </p:nvGrpSpPr>
          <p:grpSpPr bwMode="auto">
            <a:xfrm>
              <a:off x="4520742" y="3292116"/>
              <a:ext cx="710423" cy="589759"/>
              <a:chOff x="762" y="2391"/>
              <a:chExt cx="423" cy="312"/>
            </a:xfrm>
          </p:grpSpPr>
          <p:grpSp>
            <p:nvGrpSpPr>
              <p:cNvPr id="2379862" name="Group 460"/>
              <p:cNvGrpSpPr>
                <a:grpSpLocks/>
              </p:cNvGrpSpPr>
              <p:nvPr/>
            </p:nvGrpSpPr>
            <p:grpSpPr bwMode="auto">
              <a:xfrm>
                <a:off x="867" y="2432"/>
                <a:ext cx="318" cy="271"/>
                <a:chOff x="657" y="1570"/>
                <a:chExt cx="318" cy="311"/>
              </a:xfrm>
            </p:grpSpPr>
            <p:sp>
              <p:nvSpPr>
                <p:cNvPr id="2379863"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64"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65" name="Group 463"/>
              <p:cNvGrpSpPr>
                <a:grpSpLocks/>
              </p:cNvGrpSpPr>
              <p:nvPr/>
            </p:nvGrpSpPr>
            <p:grpSpPr bwMode="auto">
              <a:xfrm>
                <a:off x="762" y="2391"/>
                <a:ext cx="306" cy="90"/>
                <a:chOff x="748" y="2251"/>
                <a:chExt cx="306" cy="90"/>
              </a:xfrm>
            </p:grpSpPr>
            <p:sp>
              <p:nvSpPr>
                <p:cNvPr id="2379866"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7"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8"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69"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0"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1"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72" name="Group 470"/>
            <p:cNvGrpSpPr>
              <a:grpSpLocks/>
            </p:cNvGrpSpPr>
            <p:nvPr/>
          </p:nvGrpSpPr>
          <p:grpSpPr bwMode="auto">
            <a:xfrm>
              <a:off x="6653690" y="4492429"/>
              <a:ext cx="710423" cy="589759"/>
              <a:chOff x="762" y="2391"/>
              <a:chExt cx="423" cy="312"/>
            </a:xfrm>
          </p:grpSpPr>
          <p:grpSp>
            <p:nvGrpSpPr>
              <p:cNvPr id="2379873" name="Group 471"/>
              <p:cNvGrpSpPr>
                <a:grpSpLocks/>
              </p:cNvGrpSpPr>
              <p:nvPr/>
            </p:nvGrpSpPr>
            <p:grpSpPr bwMode="auto">
              <a:xfrm>
                <a:off x="867" y="2432"/>
                <a:ext cx="318" cy="271"/>
                <a:chOff x="657" y="1570"/>
                <a:chExt cx="318" cy="311"/>
              </a:xfrm>
            </p:grpSpPr>
            <p:sp>
              <p:nvSpPr>
                <p:cNvPr id="2379874"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75"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76" name="Group 474"/>
              <p:cNvGrpSpPr>
                <a:grpSpLocks/>
              </p:cNvGrpSpPr>
              <p:nvPr/>
            </p:nvGrpSpPr>
            <p:grpSpPr bwMode="auto">
              <a:xfrm>
                <a:off x="762" y="2391"/>
                <a:ext cx="306" cy="90"/>
                <a:chOff x="748" y="2251"/>
                <a:chExt cx="306" cy="90"/>
              </a:xfrm>
            </p:grpSpPr>
            <p:sp>
              <p:nvSpPr>
                <p:cNvPr id="2379877"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8"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79"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0"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1"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2"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83" name="Group 481"/>
            <p:cNvGrpSpPr>
              <a:grpSpLocks/>
            </p:cNvGrpSpPr>
            <p:nvPr/>
          </p:nvGrpSpPr>
          <p:grpSpPr bwMode="auto">
            <a:xfrm>
              <a:off x="5740050" y="3978279"/>
              <a:ext cx="710423" cy="589759"/>
              <a:chOff x="762" y="2391"/>
              <a:chExt cx="423" cy="312"/>
            </a:xfrm>
          </p:grpSpPr>
          <p:grpSp>
            <p:nvGrpSpPr>
              <p:cNvPr id="2379884" name="Group 482"/>
              <p:cNvGrpSpPr>
                <a:grpSpLocks/>
              </p:cNvGrpSpPr>
              <p:nvPr/>
            </p:nvGrpSpPr>
            <p:grpSpPr bwMode="auto">
              <a:xfrm>
                <a:off x="867" y="2432"/>
                <a:ext cx="318" cy="271"/>
                <a:chOff x="657" y="1570"/>
                <a:chExt cx="318" cy="311"/>
              </a:xfrm>
            </p:grpSpPr>
            <p:sp>
              <p:nvSpPr>
                <p:cNvPr id="2379885"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86"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87" name="Group 485"/>
              <p:cNvGrpSpPr>
                <a:grpSpLocks/>
              </p:cNvGrpSpPr>
              <p:nvPr/>
            </p:nvGrpSpPr>
            <p:grpSpPr bwMode="auto">
              <a:xfrm>
                <a:off x="762" y="2391"/>
                <a:ext cx="306" cy="90"/>
                <a:chOff x="748" y="2251"/>
                <a:chExt cx="306" cy="90"/>
              </a:xfrm>
            </p:grpSpPr>
            <p:sp>
              <p:nvSpPr>
                <p:cNvPr id="2379888"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89"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0"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1"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2"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893"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894" name="Group 492"/>
            <p:cNvGrpSpPr>
              <a:grpSpLocks/>
            </p:cNvGrpSpPr>
            <p:nvPr/>
          </p:nvGrpSpPr>
          <p:grpSpPr bwMode="auto">
            <a:xfrm>
              <a:off x="7263345" y="4150292"/>
              <a:ext cx="710422" cy="589759"/>
              <a:chOff x="762" y="2391"/>
              <a:chExt cx="423" cy="312"/>
            </a:xfrm>
          </p:grpSpPr>
          <p:grpSp>
            <p:nvGrpSpPr>
              <p:cNvPr id="2379895" name="Group 493"/>
              <p:cNvGrpSpPr>
                <a:grpSpLocks/>
              </p:cNvGrpSpPr>
              <p:nvPr/>
            </p:nvGrpSpPr>
            <p:grpSpPr bwMode="auto">
              <a:xfrm>
                <a:off x="867" y="2432"/>
                <a:ext cx="318" cy="271"/>
                <a:chOff x="657" y="1570"/>
                <a:chExt cx="318" cy="311"/>
              </a:xfrm>
            </p:grpSpPr>
            <p:sp>
              <p:nvSpPr>
                <p:cNvPr id="2379896"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897"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898" name="Group 496"/>
              <p:cNvGrpSpPr>
                <a:grpSpLocks/>
              </p:cNvGrpSpPr>
              <p:nvPr/>
            </p:nvGrpSpPr>
            <p:grpSpPr bwMode="auto">
              <a:xfrm>
                <a:off x="762" y="2391"/>
                <a:ext cx="306" cy="90"/>
                <a:chOff x="748" y="2251"/>
                <a:chExt cx="306" cy="90"/>
              </a:xfrm>
            </p:grpSpPr>
            <p:sp>
              <p:nvSpPr>
                <p:cNvPr id="2379899"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0"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1"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2"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3"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04"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79905" name="Group 503"/>
            <p:cNvGrpSpPr>
              <a:grpSpLocks/>
            </p:cNvGrpSpPr>
            <p:nvPr/>
          </p:nvGrpSpPr>
          <p:grpSpPr bwMode="auto">
            <a:xfrm>
              <a:off x="8000639" y="3987730"/>
              <a:ext cx="710423" cy="589759"/>
              <a:chOff x="762" y="2391"/>
              <a:chExt cx="423" cy="312"/>
            </a:xfrm>
          </p:grpSpPr>
          <p:grpSp>
            <p:nvGrpSpPr>
              <p:cNvPr id="2379906" name="Group 504"/>
              <p:cNvGrpSpPr>
                <a:grpSpLocks/>
              </p:cNvGrpSpPr>
              <p:nvPr/>
            </p:nvGrpSpPr>
            <p:grpSpPr bwMode="auto">
              <a:xfrm>
                <a:off x="867" y="2432"/>
                <a:ext cx="318" cy="271"/>
                <a:chOff x="657" y="1570"/>
                <a:chExt cx="318" cy="311"/>
              </a:xfrm>
            </p:grpSpPr>
            <p:sp>
              <p:nvSpPr>
                <p:cNvPr id="2379907"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79908"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79909" name="Group 507"/>
              <p:cNvGrpSpPr>
                <a:grpSpLocks/>
              </p:cNvGrpSpPr>
              <p:nvPr/>
            </p:nvGrpSpPr>
            <p:grpSpPr bwMode="auto">
              <a:xfrm>
                <a:off x="762" y="2391"/>
                <a:ext cx="306" cy="90"/>
                <a:chOff x="748" y="2251"/>
                <a:chExt cx="306" cy="90"/>
              </a:xfrm>
            </p:grpSpPr>
            <p:sp>
              <p:nvSpPr>
                <p:cNvPr id="2379910"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1"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2"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3"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4"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5"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79916"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79917"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79918"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79919"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79920"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5104" name="Line 16"/>
          <p:cNvSpPr>
            <a:spLocks noChangeShapeType="1"/>
          </p:cNvSpPr>
          <p:nvPr/>
        </p:nvSpPr>
        <p:spPr bwMode="auto">
          <a:xfrm flipV="1">
            <a:off x="3440113" y="2997200"/>
            <a:ext cx="0" cy="93662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5" name="Line 17"/>
          <p:cNvSpPr>
            <a:spLocks noChangeShapeType="1"/>
          </p:cNvSpPr>
          <p:nvPr/>
        </p:nvSpPr>
        <p:spPr bwMode="auto">
          <a:xfrm>
            <a:off x="3446463" y="2997200"/>
            <a:ext cx="3019425" cy="0"/>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6" name="Line 18"/>
          <p:cNvSpPr>
            <a:spLocks noChangeShapeType="1"/>
          </p:cNvSpPr>
          <p:nvPr/>
        </p:nvSpPr>
        <p:spPr bwMode="auto">
          <a:xfrm>
            <a:off x="6465888" y="2997200"/>
            <a:ext cx="0" cy="93662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5103" name="AutoShape 15"/>
          <p:cNvSpPr>
            <a:spLocks noChangeArrowheads="1"/>
          </p:cNvSpPr>
          <p:nvPr/>
        </p:nvSpPr>
        <p:spPr bwMode="auto">
          <a:xfrm>
            <a:off x="344488" y="3141663"/>
            <a:ext cx="9415462" cy="3311525"/>
          </a:xfrm>
          <a:prstGeom prst="roundRect">
            <a:avLst>
              <a:gd name="adj" fmla="val 9046"/>
            </a:avLst>
          </a:prstGeom>
          <a:noFill/>
          <a:ln w="57150">
            <a:solidFill>
              <a:schemeClr val="hlink"/>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799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B443CC-9E34-4616-85A3-6211E6DEB2F1}" type="slidenum">
              <a:rPr lang="en-US" altLang="zh-CN" smtClean="0"/>
              <a:pPr eaLnBrk="1" hangingPunct="1"/>
              <a:t>9</a:t>
            </a:fld>
            <a:endParaRPr lang="en-US" altLang="zh-CN" smtClean="0"/>
          </a:p>
        </p:txBody>
      </p:sp>
      <p:sp>
        <p:nvSpPr>
          <p:cNvPr id="23799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345104"/>
                                        </p:tgtEl>
                                        <p:attrNameLst>
                                          <p:attrName>style.visibility</p:attrName>
                                        </p:attrNameLst>
                                      </p:cBhvr>
                                      <p:to>
                                        <p:strVal val="visible"/>
                                      </p:to>
                                    </p:set>
                                    <p:animEffect transition="in" filter="wipe(down)">
                                      <p:cBhvr>
                                        <p:cTn id="7" dur="1000"/>
                                        <p:tgtEl>
                                          <p:spTgt spid="345104"/>
                                        </p:tgtEl>
                                      </p:cBhvr>
                                    </p:animEffect>
                                  </p:childTnLst>
                                </p:cTn>
                              </p:par>
                            </p:childTnLst>
                          </p:cTn>
                        </p:par>
                        <p:par>
                          <p:cTn id="8" fill="hold" nodeType="afterGroup">
                            <p:stCondLst>
                              <p:cond delay="1500"/>
                            </p:stCondLst>
                            <p:childTnLst>
                              <p:par>
                                <p:cTn id="9" presetID="22" presetClass="entr" presetSubtype="8" fill="hold" grpId="0" nodeType="afterEffect">
                                  <p:stCondLst>
                                    <p:cond delay="500"/>
                                  </p:stCondLst>
                                  <p:childTnLst>
                                    <p:set>
                                      <p:cBhvr>
                                        <p:cTn id="10" dur="1" fill="hold">
                                          <p:stCondLst>
                                            <p:cond delay="0"/>
                                          </p:stCondLst>
                                        </p:cTn>
                                        <p:tgtEl>
                                          <p:spTgt spid="345105"/>
                                        </p:tgtEl>
                                        <p:attrNameLst>
                                          <p:attrName>style.visibility</p:attrName>
                                        </p:attrNameLst>
                                      </p:cBhvr>
                                      <p:to>
                                        <p:strVal val="visible"/>
                                      </p:to>
                                    </p:set>
                                    <p:animEffect transition="in" filter="wipe(left)">
                                      <p:cBhvr>
                                        <p:cTn id="11" dur="1000"/>
                                        <p:tgtEl>
                                          <p:spTgt spid="345105"/>
                                        </p:tgtEl>
                                      </p:cBhvr>
                                    </p:animEffect>
                                  </p:childTnLst>
                                </p:cTn>
                              </p:par>
                            </p:childTnLst>
                          </p:cTn>
                        </p:par>
                        <p:par>
                          <p:cTn id="12" fill="hold" nodeType="afterGroup">
                            <p:stCondLst>
                              <p:cond delay="3000"/>
                            </p:stCondLst>
                            <p:childTnLst>
                              <p:par>
                                <p:cTn id="13" presetID="22" presetClass="entr" presetSubtype="1" fill="hold" grpId="0" nodeType="afterEffect">
                                  <p:stCondLst>
                                    <p:cond delay="500"/>
                                  </p:stCondLst>
                                  <p:childTnLst>
                                    <p:set>
                                      <p:cBhvr>
                                        <p:cTn id="14" dur="1" fill="hold">
                                          <p:stCondLst>
                                            <p:cond delay="0"/>
                                          </p:stCondLst>
                                        </p:cTn>
                                        <p:tgtEl>
                                          <p:spTgt spid="345106"/>
                                        </p:tgtEl>
                                        <p:attrNameLst>
                                          <p:attrName>style.visibility</p:attrName>
                                        </p:attrNameLst>
                                      </p:cBhvr>
                                      <p:to>
                                        <p:strVal val="visible"/>
                                      </p:to>
                                    </p:set>
                                    <p:animEffect transition="in" filter="wipe(up)">
                                      <p:cBhvr>
                                        <p:cTn id="15" dur="1000"/>
                                        <p:tgtEl>
                                          <p:spTgt spid="345106"/>
                                        </p:tgtEl>
                                      </p:cBhvr>
                                    </p:animEffect>
                                  </p:childTnLst>
                                </p:cTn>
                              </p:par>
                            </p:childTnLst>
                          </p:cTn>
                        </p:par>
                        <p:par>
                          <p:cTn id="16" fill="hold" nodeType="afterGroup">
                            <p:stCondLst>
                              <p:cond delay="4500"/>
                            </p:stCondLst>
                            <p:childTnLst>
                              <p:par>
                                <p:cTn id="17" presetID="8" presetClass="entr" presetSubtype="16" fill="hold" grpId="0" nodeType="afterEffect">
                                  <p:stCondLst>
                                    <p:cond delay="0"/>
                                  </p:stCondLst>
                                  <p:childTnLst>
                                    <p:set>
                                      <p:cBhvr>
                                        <p:cTn id="18" dur="1" fill="hold">
                                          <p:stCondLst>
                                            <p:cond delay="0"/>
                                          </p:stCondLst>
                                        </p:cTn>
                                        <p:tgtEl>
                                          <p:spTgt spid="345103"/>
                                        </p:tgtEl>
                                        <p:attrNameLst>
                                          <p:attrName>style.visibility</p:attrName>
                                        </p:attrNameLst>
                                      </p:cBhvr>
                                      <p:to>
                                        <p:strVal val="visible"/>
                                      </p:to>
                                    </p:set>
                                    <p:animEffect transition="in" filter="diamond(in)">
                                      <p:cBhvr>
                                        <p:cTn id="19" dur="3000"/>
                                        <p:tgtEl>
                                          <p:spTgt spid="345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04" grpId="0" animBg="1"/>
      <p:bldP spid="345105" grpId="0" animBg="1"/>
      <p:bldP spid="345106" grpId="0" animBg="1"/>
      <p:bldP spid="34510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1825" name="Text Box 13"/>
          <p:cNvSpPr txBox="1">
            <a:spLocks noChangeArrowheads="1"/>
          </p:cNvSpPr>
          <p:nvPr/>
        </p:nvSpPr>
        <p:spPr bwMode="auto">
          <a:xfrm>
            <a:off x="428625" y="260350"/>
            <a:ext cx="9086850" cy="1385888"/>
          </a:xfrm>
          <a:prstGeom prst="rect">
            <a:avLst/>
          </a:prstGeom>
          <a:solidFill>
            <a:srgbClr val="66FF66"/>
          </a:solidFill>
          <a:ln w="9525">
            <a:solidFill>
              <a:srgbClr val="000099"/>
            </a:solidFill>
            <a:round/>
            <a:headEnd/>
            <a:tailEnd/>
          </a:ln>
        </p:spPr>
        <p:txBody>
          <a:bodyPr>
            <a:spAutoFit/>
          </a:bodyPr>
          <a:lstStyle/>
          <a:p>
            <a:pPr algn="ctr" eaLnBrk="0" hangingPunct="0"/>
            <a:r>
              <a:rPr lang="en-US" altLang="zh-CN" sz="2800" b="1" dirty="0">
                <a:solidFill>
                  <a:schemeClr val="tx2"/>
                </a:solidFill>
                <a:ea typeface="宋体" panose="02010600030101010101" pitchFamily="2" charset="-122"/>
              </a:rPr>
              <a:t>ESS </a:t>
            </a:r>
            <a:r>
              <a:rPr lang="zh-CN" altLang="en-US" sz="2800" b="1" dirty="0">
                <a:solidFill>
                  <a:schemeClr val="tx2"/>
                </a:solidFill>
                <a:ea typeface="宋体" panose="02010600030101010101" pitchFamily="2" charset="-122"/>
              </a:rPr>
              <a:t>还可通过叫做</a:t>
            </a:r>
            <a:r>
              <a:rPr lang="zh-CN" altLang="en-US" sz="2800" b="1" dirty="0">
                <a:ea typeface="宋体" panose="02010600030101010101" pitchFamily="2" charset="-122"/>
              </a:rPr>
              <a:t>门户</a:t>
            </a:r>
            <a:r>
              <a:rPr lang="zh-CN" altLang="en-US" sz="2800" b="1" dirty="0">
                <a:solidFill>
                  <a:srgbClr val="C00000"/>
                </a:solidFill>
                <a:ea typeface="宋体" panose="02010600030101010101" pitchFamily="2" charset="-122"/>
              </a:rPr>
              <a:t> </a:t>
            </a:r>
            <a:r>
              <a:rPr lang="en-US" altLang="zh-CN" sz="2800" b="1" dirty="0">
                <a:solidFill>
                  <a:schemeClr val="tx2"/>
                </a:solidFill>
                <a:ea typeface="宋体" panose="02010600030101010101" pitchFamily="2" charset="-122"/>
              </a:rPr>
              <a:t>(portal) </a:t>
            </a:r>
            <a:r>
              <a:rPr lang="zh-CN" altLang="en-US" sz="2800" b="1" dirty="0">
                <a:solidFill>
                  <a:schemeClr val="tx2"/>
                </a:solidFill>
                <a:ea typeface="宋体" panose="02010600030101010101" pitchFamily="2" charset="-122"/>
              </a:rPr>
              <a:t>为无线用户提供</a:t>
            </a:r>
          </a:p>
          <a:p>
            <a:pPr algn="ctr" eaLnBrk="0" hangingPunct="0"/>
            <a:r>
              <a:rPr lang="zh-CN" altLang="en-US" sz="2800" b="1" dirty="0">
                <a:solidFill>
                  <a:schemeClr val="tx2"/>
                </a:solidFill>
                <a:ea typeface="宋体" panose="02010600030101010101" pitchFamily="2" charset="-122"/>
              </a:rPr>
              <a:t>到非 </a:t>
            </a:r>
            <a:r>
              <a:rPr lang="en-US" altLang="zh-CN" sz="2800" b="1" dirty="0">
                <a:solidFill>
                  <a:schemeClr val="tx2"/>
                </a:solidFill>
                <a:ea typeface="宋体" panose="02010600030101010101" pitchFamily="2" charset="-122"/>
              </a:rPr>
              <a:t>802.11 </a:t>
            </a:r>
            <a:r>
              <a:rPr lang="zh-CN" altLang="en-US" sz="2800" b="1" dirty="0">
                <a:solidFill>
                  <a:schemeClr val="tx2"/>
                </a:solidFill>
                <a:ea typeface="宋体" panose="02010600030101010101" pitchFamily="2" charset="-122"/>
              </a:rPr>
              <a:t>无线局域网（例如，到有线连接</a:t>
            </a:r>
          </a:p>
          <a:p>
            <a:pPr algn="ctr" eaLnBrk="0" hangingPunct="0"/>
            <a:r>
              <a:rPr lang="zh-CN" altLang="en-US" sz="2800" b="1" dirty="0">
                <a:solidFill>
                  <a:schemeClr val="tx2"/>
                </a:solidFill>
                <a:ea typeface="宋体" panose="02010600030101010101" pitchFamily="2" charset="-122"/>
              </a:rPr>
              <a:t>的互联网）的接入。</a:t>
            </a:r>
            <a:r>
              <a:rPr lang="zh-CN" altLang="en-US" sz="2800" b="1" dirty="0">
                <a:ea typeface="宋体" panose="02010600030101010101" pitchFamily="2" charset="-122"/>
              </a:rPr>
              <a:t>门户的作用就相当于一个网桥</a:t>
            </a:r>
            <a:r>
              <a:rPr lang="zh-CN" altLang="en-US" sz="2800" b="1" dirty="0">
                <a:solidFill>
                  <a:srgbClr val="C00000"/>
                </a:solidFill>
                <a:ea typeface="宋体" panose="02010600030101010101" pitchFamily="2" charset="-122"/>
              </a:rPr>
              <a:t>。</a:t>
            </a:r>
            <a:r>
              <a:rPr lang="zh-CN" altLang="en-US" sz="2800" b="1" dirty="0">
                <a:solidFill>
                  <a:schemeClr val="tx2"/>
                </a:solidFill>
                <a:ea typeface="宋体" panose="02010600030101010101" pitchFamily="2" charset="-122"/>
              </a:rPr>
              <a:t> </a:t>
            </a:r>
          </a:p>
        </p:txBody>
      </p:sp>
      <p:grpSp>
        <p:nvGrpSpPr>
          <p:cNvPr id="2381826" name="组合 14"/>
          <p:cNvGrpSpPr>
            <a:grpSpLocks/>
          </p:cNvGrpSpPr>
          <p:nvPr/>
        </p:nvGrpSpPr>
        <p:grpSpPr bwMode="auto">
          <a:xfrm>
            <a:off x="344488" y="2298700"/>
            <a:ext cx="9504362" cy="4010025"/>
            <a:chOff x="344487" y="1484784"/>
            <a:chExt cx="9505057" cy="4009836"/>
          </a:xfrm>
        </p:grpSpPr>
        <p:sp>
          <p:nvSpPr>
            <p:cNvPr id="2381827"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28"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81829"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30"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81831" name="Group 425"/>
            <p:cNvGrpSpPr>
              <a:grpSpLocks/>
            </p:cNvGrpSpPr>
            <p:nvPr/>
          </p:nvGrpSpPr>
          <p:grpSpPr bwMode="auto">
            <a:xfrm>
              <a:off x="941756" y="3721205"/>
              <a:ext cx="710422" cy="589759"/>
              <a:chOff x="762" y="2391"/>
              <a:chExt cx="423" cy="312"/>
            </a:xfrm>
          </p:grpSpPr>
          <p:grpSp>
            <p:nvGrpSpPr>
              <p:cNvPr id="2381832" name="Group 316"/>
              <p:cNvGrpSpPr>
                <a:grpSpLocks/>
              </p:cNvGrpSpPr>
              <p:nvPr/>
            </p:nvGrpSpPr>
            <p:grpSpPr bwMode="auto">
              <a:xfrm>
                <a:off x="867" y="2432"/>
                <a:ext cx="318" cy="271"/>
                <a:chOff x="657" y="1570"/>
                <a:chExt cx="318" cy="311"/>
              </a:xfrm>
            </p:grpSpPr>
            <p:sp>
              <p:nvSpPr>
                <p:cNvPr id="2381833"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34"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35" name="Group 424"/>
              <p:cNvGrpSpPr>
                <a:grpSpLocks/>
              </p:cNvGrpSpPr>
              <p:nvPr/>
            </p:nvGrpSpPr>
            <p:grpSpPr bwMode="auto">
              <a:xfrm>
                <a:off x="762" y="2391"/>
                <a:ext cx="306" cy="90"/>
                <a:chOff x="748" y="2251"/>
                <a:chExt cx="306" cy="90"/>
              </a:xfrm>
            </p:grpSpPr>
            <p:sp>
              <p:nvSpPr>
                <p:cNvPr id="2381836"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7"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8"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39"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40"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41"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1842"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1843"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81844"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81845"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81846"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47"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81848"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81849"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50"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81851"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2"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3"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54"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81855"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82028"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81856"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57"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81858"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59"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81860"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1"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2"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3"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1864"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81865"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1866"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7"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8"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69"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0"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1"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2"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3"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4"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875"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81876" name="Group 426"/>
            <p:cNvGrpSpPr>
              <a:grpSpLocks/>
            </p:cNvGrpSpPr>
            <p:nvPr/>
          </p:nvGrpSpPr>
          <p:grpSpPr bwMode="auto">
            <a:xfrm>
              <a:off x="1930973" y="4331756"/>
              <a:ext cx="710423" cy="589759"/>
              <a:chOff x="762" y="2391"/>
              <a:chExt cx="423" cy="312"/>
            </a:xfrm>
          </p:grpSpPr>
          <p:grpSp>
            <p:nvGrpSpPr>
              <p:cNvPr id="2381877" name="Group 427"/>
              <p:cNvGrpSpPr>
                <a:grpSpLocks/>
              </p:cNvGrpSpPr>
              <p:nvPr/>
            </p:nvGrpSpPr>
            <p:grpSpPr bwMode="auto">
              <a:xfrm>
                <a:off x="867" y="2432"/>
                <a:ext cx="318" cy="271"/>
                <a:chOff x="657" y="1570"/>
                <a:chExt cx="318" cy="311"/>
              </a:xfrm>
            </p:grpSpPr>
            <p:sp>
              <p:nvSpPr>
                <p:cNvPr id="2381878"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79"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80" name="Group 430"/>
              <p:cNvGrpSpPr>
                <a:grpSpLocks/>
              </p:cNvGrpSpPr>
              <p:nvPr/>
            </p:nvGrpSpPr>
            <p:grpSpPr bwMode="auto">
              <a:xfrm>
                <a:off x="762" y="2391"/>
                <a:ext cx="306" cy="90"/>
                <a:chOff x="748" y="2251"/>
                <a:chExt cx="306" cy="90"/>
              </a:xfrm>
            </p:grpSpPr>
            <p:sp>
              <p:nvSpPr>
                <p:cNvPr id="2381881"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2"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3"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4"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5"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86"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887" name="Group 437"/>
            <p:cNvGrpSpPr>
              <a:grpSpLocks/>
            </p:cNvGrpSpPr>
            <p:nvPr/>
          </p:nvGrpSpPr>
          <p:grpSpPr bwMode="auto">
            <a:xfrm>
              <a:off x="5283229" y="3207056"/>
              <a:ext cx="710423" cy="589759"/>
              <a:chOff x="762" y="2391"/>
              <a:chExt cx="423" cy="312"/>
            </a:xfrm>
          </p:grpSpPr>
          <p:grpSp>
            <p:nvGrpSpPr>
              <p:cNvPr id="2381888" name="Group 438"/>
              <p:cNvGrpSpPr>
                <a:grpSpLocks/>
              </p:cNvGrpSpPr>
              <p:nvPr/>
            </p:nvGrpSpPr>
            <p:grpSpPr bwMode="auto">
              <a:xfrm>
                <a:off x="867" y="2432"/>
                <a:ext cx="318" cy="271"/>
                <a:chOff x="657" y="1570"/>
                <a:chExt cx="318" cy="311"/>
              </a:xfrm>
            </p:grpSpPr>
            <p:sp>
              <p:nvSpPr>
                <p:cNvPr id="2381889"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890"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891" name="Group 441"/>
              <p:cNvGrpSpPr>
                <a:grpSpLocks/>
              </p:cNvGrpSpPr>
              <p:nvPr/>
            </p:nvGrpSpPr>
            <p:grpSpPr bwMode="auto">
              <a:xfrm>
                <a:off x="762" y="2391"/>
                <a:ext cx="306" cy="90"/>
                <a:chOff x="748" y="2251"/>
                <a:chExt cx="306" cy="90"/>
              </a:xfrm>
            </p:grpSpPr>
            <p:sp>
              <p:nvSpPr>
                <p:cNvPr id="2381892"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3"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4"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5"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6"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897"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898" name="Group 448"/>
            <p:cNvGrpSpPr>
              <a:grpSpLocks/>
            </p:cNvGrpSpPr>
            <p:nvPr/>
          </p:nvGrpSpPr>
          <p:grpSpPr bwMode="auto">
            <a:xfrm>
              <a:off x="2921871" y="4407367"/>
              <a:ext cx="710423" cy="589759"/>
              <a:chOff x="762" y="2391"/>
              <a:chExt cx="423" cy="312"/>
            </a:xfrm>
          </p:grpSpPr>
          <p:grpSp>
            <p:nvGrpSpPr>
              <p:cNvPr id="2381899" name="Group 449"/>
              <p:cNvGrpSpPr>
                <a:grpSpLocks/>
              </p:cNvGrpSpPr>
              <p:nvPr/>
            </p:nvGrpSpPr>
            <p:grpSpPr bwMode="auto">
              <a:xfrm>
                <a:off x="867" y="2432"/>
                <a:ext cx="318" cy="271"/>
                <a:chOff x="657" y="1570"/>
                <a:chExt cx="318" cy="311"/>
              </a:xfrm>
            </p:grpSpPr>
            <p:sp>
              <p:nvSpPr>
                <p:cNvPr id="2381900"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01"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02" name="Group 452"/>
              <p:cNvGrpSpPr>
                <a:grpSpLocks/>
              </p:cNvGrpSpPr>
              <p:nvPr/>
            </p:nvGrpSpPr>
            <p:grpSpPr bwMode="auto">
              <a:xfrm>
                <a:off x="762" y="2391"/>
                <a:ext cx="306" cy="90"/>
                <a:chOff x="748" y="2251"/>
                <a:chExt cx="306" cy="90"/>
              </a:xfrm>
            </p:grpSpPr>
            <p:sp>
              <p:nvSpPr>
                <p:cNvPr id="2381903"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4"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5"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6"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7"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08"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09" name="Group 459"/>
            <p:cNvGrpSpPr>
              <a:grpSpLocks/>
            </p:cNvGrpSpPr>
            <p:nvPr/>
          </p:nvGrpSpPr>
          <p:grpSpPr bwMode="auto">
            <a:xfrm>
              <a:off x="4520742" y="3292116"/>
              <a:ext cx="710423" cy="589759"/>
              <a:chOff x="762" y="2391"/>
              <a:chExt cx="423" cy="312"/>
            </a:xfrm>
          </p:grpSpPr>
          <p:grpSp>
            <p:nvGrpSpPr>
              <p:cNvPr id="2381910" name="Group 460"/>
              <p:cNvGrpSpPr>
                <a:grpSpLocks/>
              </p:cNvGrpSpPr>
              <p:nvPr/>
            </p:nvGrpSpPr>
            <p:grpSpPr bwMode="auto">
              <a:xfrm>
                <a:off x="867" y="2432"/>
                <a:ext cx="318" cy="271"/>
                <a:chOff x="657" y="1570"/>
                <a:chExt cx="318" cy="311"/>
              </a:xfrm>
            </p:grpSpPr>
            <p:sp>
              <p:nvSpPr>
                <p:cNvPr id="2381911"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12"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13" name="Group 463"/>
              <p:cNvGrpSpPr>
                <a:grpSpLocks/>
              </p:cNvGrpSpPr>
              <p:nvPr/>
            </p:nvGrpSpPr>
            <p:grpSpPr bwMode="auto">
              <a:xfrm>
                <a:off x="762" y="2391"/>
                <a:ext cx="306" cy="90"/>
                <a:chOff x="748" y="2251"/>
                <a:chExt cx="306" cy="90"/>
              </a:xfrm>
            </p:grpSpPr>
            <p:sp>
              <p:nvSpPr>
                <p:cNvPr id="2381914"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5"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6"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7"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8"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19"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20" name="Group 470"/>
            <p:cNvGrpSpPr>
              <a:grpSpLocks/>
            </p:cNvGrpSpPr>
            <p:nvPr/>
          </p:nvGrpSpPr>
          <p:grpSpPr bwMode="auto">
            <a:xfrm>
              <a:off x="6653690" y="4492429"/>
              <a:ext cx="710423" cy="589759"/>
              <a:chOff x="762" y="2391"/>
              <a:chExt cx="423" cy="312"/>
            </a:xfrm>
          </p:grpSpPr>
          <p:grpSp>
            <p:nvGrpSpPr>
              <p:cNvPr id="2381921" name="Group 471"/>
              <p:cNvGrpSpPr>
                <a:grpSpLocks/>
              </p:cNvGrpSpPr>
              <p:nvPr/>
            </p:nvGrpSpPr>
            <p:grpSpPr bwMode="auto">
              <a:xfrm>
                <a:off x="867" y="2432"/>
                <a:ext cx="318" cy="271"/>
                <a:chOff x="657" y="1570"/>
                <a:chExt cx="318" cy="311"/>
              </a:xfrm>
            </p:grpSpPr>
            <p:sp>
              <p:nvSpPr>
                <p:cNvPr id="2381922"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23"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24" name="Group 474"/>
              <p:cNvGrpSpPr>
                <a:grpSpLocks/>
              </p:cNvGrpSpPr>
              <p:nvPr/>
            </p:nvGrpSpPr>
            <p:grpSpPr bwMode="auto">
              <a:xfrm>
                <a:off x="762" y="2391"/>
                <a:ext cx="306" cy="90"/>
                <a:chOff x="748" y="2251"/>
                <a:chExt cx="306" cy="90"/>
              </a:xfrm>
            </p:grpSpPr>
            <p:sp>
              <p:nvSpPr>
                <p:cNvPr id="2381925"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6"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7"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8"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29"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0"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31" name="Group 481"/>
            <p:cNvGrpSpPr>
              <a:grpSpLocks/>
            </p:cNvGrpSpPr>
            <p:nvPr/>
          </p:nvGrpSpPr>
          <p:grpSpPr bwMode="auto">
            <a:xfrm>
              <a:off x="5740050" y="3978279"/>
              <a:ext cx="710423" cy="589759"/>
              <a:chOff x="762" y="2391"/>
              <a:chExt cx="423" cy="312"/>
            </a:xfrm>
          </p:grpSpPr>
          <p:grpSp>
            <p:nvGrpSpPr>
              <p:cNvPr id="2381932" name="Group 482"/>
              <p:cNvGrpSpPr>
                <a:grpSpLocks/>
              </p:cNvGrpSpPr>
              <p:nvPr/>
            </p:nvGrpSpPr>
            <p:grpSpPr bwMode="auto">
              <a:xfrm>
                <a:off x="867" y="2432"/>
                <a:ext cx="318" cy="271"/>
                <a:chOff x="657" y="1570"/>
                <a:chExt cx="318" cy="311"/>
              </a:xfrm>
            </p:grpSpPr>
            <p:sp>
              <p:nvSpPr>
                <p:cNvPr id="2381933"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34"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35" name="Group 485"/>
              <p:cNvGrpSpPr>
                <a:grpSpLocks/>
              </p:cNvGrpSpPr>
              <p:nvPr/>
            </p:nvGrpSpPr>
            <p:grpSpPr bwMode="auto">
              <a:xfrm>
                <a:off x="762" y="2391"/>
                <a:ext cx="306" cy="90"/>
                <a:chOff x="748" y="2251"/>
                <a:chExt cx="306" cy="90"/>
              </a:xfrm>
            </p:grpSpPr>
            <p:sp>
              <p:nvSpPr>
                <p:cNvPr id="2381936"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7"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8"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39"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0"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1"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42" name="Group 492"/>
            <p:cNvGrpSpPr>
              <a:grpSpLocks/>
            </p:cNvGrpSpPr>
            <p:nvPr/>
          </p:nvGrpSpPr>
          <p:grpSpPr bwMode="auto">
            <a:xfrm>
              <a:off x="7263345" y="4150292"/>
              <a:ext cx="710422" cy="589759"/>
              <a:chOff x="762" y="2391"/>
              <a:chExt cx="423" cy="312"/>
            </a:xfrm>
          </p:grpSpPr>
          <p:grpSp>
            <p:nvGrpSpPr>
              <p:cNvPr id="2381943" name="Group 493"/>
              <p:cNvGrpSpPr>
                <a:grpSpLocks/>
              </p:cNvGrpSpPr>
              <p:nvPr/>
            </p:nvGrpSpPr>
            <p:grpSpPr bwMode="auto">
              <a:xfrm>
                <a:off x="867" y="2432"/>
                <a:ext cx="318" cy="271"/>
                <a:chOff x="657" y="1570"/>
                <a:chExt cx="318" cy="311"/>
              </a:xfrm>
            </p:grpSpPr>
            <p:sp>
              <p:nvSpPr>
                <p:cNvPr id="2381944"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45"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46" name="Group 496"/>
              <p:cNvGrpSpPr>
                <a:grpSpLocks/>
              </p:cNvGrpSpPr>
              <p:nvPr/>
            </p:nvGrpSpPr>
            <p:grpSpPr bwMode="auto">
              <a:xfrm>
                <a:off x="762" y="2391"/>
                <a:ext cx="306" cy="90"/>
                <a:chOff x="748" y="2251"/>
                <a:chExt cx="306" cy="90"/>
              </a:xfrm>
            </p:grpSpPr>
            <p:sp>
              <p:nvSpPr>
                <p:cNvPr id="2381947"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8"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49"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0"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1"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2"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1953" name="Group 503"/>
            <p:cNvGrpSpPr>
              <a:grpSpLocks/>
            </p:cNvGrpSpPr>
            <p:nvPr/>
          </p:nvGrpSpPr>
          <p:grpSpPr bwMode="auto">
            <a:xfrm>
              <a:off x="8000639" y="3987730"/>
              <a:ext cx="710423" cy="589759"/>
              <a:chOff x="762" y="2391"/>
              <a:chExt cx="423" cy="312"/>
            </a:xfrm>
          </p:grpSpPr>
          <p:grpSp>
            <p:nvGrpSpPr>
              <p:cNvPr id="2381954" name="Group 504"/>
              <p:cNvGrpSpPr>
                <a:grpSpLocks/>
              </p:cNvGrpSpPr>
              <p:nvPr/>
            </p:nvGrpSpPr>
            <p:grpSpPr bwMode="auto">
              <a:xfrm>
                <a:off x="867" y="2432"/>
                <a:ext cx="318" cy="271"/>
                <a:chOff x="657" y="1570"/>
                <a:chExt cx="318" cy="311"/>
              </a:xfrm>
            </p:grpSpPr>
            <p:sp>
              <p:nvSpPr>
                <p:cNvPr id="2381955"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1956"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1957" name="Group 507"/>
              <p:cNvGrpSpPr>
                <a:grpSpLocks/>
              </p:cNvGrpSpPr>
              <p:nvPr/>
            </p:nvGrpSpPr>
            <p:grpSpPr bwMode="auto">
              <a:xfrm>
                <a:off x="762" y="2391"/>
                <a:ext cx="306" cy="90"/>
                <a:chOff x="748" y="2251"/>
                <a:chExt cx="306" cy="90"/>
              </a:xfrm>
            </p:grpSpPr>
            <p:sp>
              <p:nvSpPr>
                <p:cNvPr id="2381958"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59"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0"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1"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2"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3"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1964"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1965"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1966"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1967"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81968"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6126" name="Rectangle 14"/>
          <p:cNvSpPr>
            <a:spLocks noChangeArrowheads="1"/>
          </p:cNvSpPr>
          <p:nvPr/>
        </p:nvSpPr>
        <p:spPr bwMode="auto">
          <a:xfrm>
            <a:off x="2406650" y="2551113"/>
            <a:ext cx="758825" cy="539750"/>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238197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AED47E-68D1-47BC-809E-A913DD0419C9}" type="slidenum">
              <a:rPr lang="en-US" altLang="zh-CN" smtClean="0"/>
              <a:pPr eaLnBrk="1" hangingPunct="1"/>
              <a:t>10</a:t>
            </a:fld>
            <a:endParaRPr lang="en-US" altLang="zh-CN" smtClean="0"/>
          </a:p>
        </p:txBody>
      </p:sp>
      <p:sp>
        <p:nvSpPr>
          <p:cNvPr id="238197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500"/>
                                  </p:stCondLst>
                                  <p:childTnLst>
                                    <p:set>
                                      <p:cBhvr>
                                        <p:cTn id="6" dur="1" fill="hold">
                                          <p:stCondLst>
                                            <p:cond delay="0"/>
                                          </p:stCondLst>
                                        </p:cTn>
                                        <p:tgtEl>
                                          <p:spTgt spid="346126"/>
                                        </p:tgtEl>
                                        <p:attrNameLst>
                                          <p:attrName>style.visibility</p:attrName>
                                        </p:attrNameLst>
                                      </p:cBhvr>
                                      <p:to>
                                        <p:strVal val="visible"/>
                                      </p:to>
                                    </p:set>
                                    <p:animEffect transition="in" filter="checkerboard(across)">
                                      <p:cBhvr>
                                        <p:cTn id="7" dur="1000"/>
                                        <p:tgtEl>
                                          <p:spTgt spid="346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3873" name="Text Box 14"/>
          <p:cNvSpPr txBox="1">
            <a:spLocks noChangeArrowheads="1"/>
          </p:cNvSpPr>
          <p:nvPr/>
        </p:nvSpPr>
        <p:spPr bwMode="auto">
          <a:xfrm>
            <a:off x="962025" y="315913"/>
            <a:ext cx="8528050" cy="1384300"/>
          </a:xfrm>
          <a:prstGeom prst="rect">
            <a:avLst/>
          </a:prstGeom>
          <a:solidFill>
            <a:srgbClr val="66FF66"/>
          </a:solidFill>
          <a:ln w="9525">
            <a:solidFill>
              <a:srgbClr val="000099"/>
            </a:solidFill>
            <a:round/>
            <a:headEnd/>
            <a:tailEnd/>
          </a:ln>
        </p:spPr>
        <p:txBody>
          <a:bodyPr>
            <a:spAutoFit/>
          </a:bodyPr>
          <a:lstStyle/>
          <a:p>
            <a:pPr algn="ctr" eaLnBrk="0" hangingPunct="0"/>
            <a:r>
              <a:rPr lang="zh-CN" altLang="en-US" sz="2800" b="1">
                <a:solidFill>
                  <a:schemeClr val="tx2"/>
                </a:solidFill>
                <a:ea typeface="宋体" panose="02010600030101010101" pitchFamily="2" charset="-122"/>
              </a:rPr>
              <a:t>移动站 </a:t>
            </a:r>
            <a:r>
              <a:rPr lang="en-US" altLang="zh-CN" sz="2800" b="1">
                <a:solidFill>
                  <a:schemeClr val="tx2"/>
                </a:solidFill>
                <a:ea typeface="宋体" panose="02010600030101010101" pitchFamily="2" charset="-122"/>
              </a:rPr>
              <a:t>A </a:t>
            </a:r>
            <a:r>
              <a:rPr lang="zh-CN" altLang="en-US" sz="2800" b="1">
                <a:solidFill>
                  <a:schemeClr val="tx2"/>
                </a:solidFill>
                <a:ea typeface="宋体" panose="02010600030101010101" pitchFamily="2" charset="-122"/>
              </a:rPr>
              <a:t>从某一个基本服务集</a:t>
            </a:r>
            <a:r>
              <a:rPr lang="zh-CN" altLang="en-US" sz="2800" b="1">
                <a:solidFill>
                  <a:srgbClr val="C00000"/>
                </a:solidFill>
                <a:ea typeface="宋体" panose="02010600030101010101" pitchFamily="2" charset="-122"/>
              </a:rPr>
              <a:t>漫游</a:t>
            </a:r>
            <a:r>
              <a:rPr lang="zh-CN" altLang="en-US" sz="2800" b="1">
                <a:solidFill>
                  <a:schemeClr val="tx2"/>
                </a:solidFill>
                <a:ea typeface="宋体" panose="02010600030101010101" pitchFamily="2" charset="-122"/>
              </a:rPr>
              <a:t>到</a:t>
            </a:r>
          </a:p>
          <a:p>
            <a:pPr algn="ctr" eaLnBrk="0" hangingPunct="0"/>
            <a:r>
              <a:rPr lang="zh-CN" altLang="en-US" sz="2800" b="1">
                <a:solidFill>
                  <a:schemeClr val="tx2"/>
                </a:solidFill>
                <a:ea typeface="宋体" panose="02010600030101010101" pitchFamily="2" charset="-122"/>
              </a:rPr>
              <a:t>另一个基本服务集（到 </a:t>
            </a:r>
            <a:r>
              <a:rPr lang="en-US" altLang="zh-CN" sz="2800" b="1">
                <a:solidFill>
                  <a:schemeClr val="tx2"/>
                </a:solidFill>
                <a:ea typeface="宋体" panose="02010600030101010101" pitchFamily="2" charset="-122"/>
              </a:rPr>
              <a:t>A</a:t>
            </a:r>
            <a:r>
              <a:rPr lang="en-US" altLang="zh-CN" sz="2800" b="1">
                <a:solidFill>
                  <a:schemeClr val="tx2"/>
                </a:solidFill>
                <a:ea typeface="宋体" panose="02010600030101010101" pitchFamily="2" charset="-122"/>
                <a:sym typeface="Symbol" panose="05050102010706020507" pitchFamily="18" charset="2"/>
              </a:rPr>
              <a:t> </a:t>
            </a:r>
            <a:r>
              <a:rPr lang="zh-CN" altLang="en-US" sz="2800" b="1">
                <a:solidFill>
                  <a:schemeClr val="tx2"/>
                </a:solidFill>
                <a:ea typeface="宋体" panose="02010600030101010101" pitchFamily="2" charset="-122"/>
                <a:sym typeface="Symbol" panose="05050102010706020507" pitchFamily="18" charset="2"/>
              </a:rPr>
              <a:t>的位置）</a:t>
            </a:r>
            <a:r>
              <a:rPr lang="zh-CN" altLang="en-US" sz="2800" b="1">
                <a:solidFill>
                  <a:schemeClr val="tx2"/>
                </a:solidFill>
                <a:ea typeface="宋体" panose="02010600030101010101" pitchFamily="2" charset="-122"/>
              </a:rPr>
              <a:t>，</a:t>
            </a:r>
          </a:p>
          <a:p>
            <a:pPr algn="ctr" eaLnBrk="0" hangingPunct="0"/>
            <a:r>
              <a:rPr lang="zh-CN" altLang="en-US" sz="2800" b="1">
                <a:solidFill>
                  <a:schemeClr val="tx2"/>
                </a:solidFill>
                <a:ea typeface="宋体" panose="02010600030101010101" pitchFamily="2" charset="-122"/>
              </a:rPr>
              <a:t>仍可保持与另一个移动站 </a:t>
            </a:r>
            <a:r>
              <a:rPr lang="en-US" altLang="zh-CN" sz="2800" b="1">
                <a:solidFill>
                  <a:schemeClr val="tx2"/>
                </a:solidFill>
                <a:ea typeface="宋体" panose="02010600030101010101" pitchFamily="2" charset="-122"/>
              </a:rPr>
              <a:t>B </a:t>
            </a:r>
            <a:r>
              <a:rPr lang="zh-CN" altLang="en-US" sz="2800" b="1">
                <a:solidFill>
                  <a:schemeClr val="tx2"/>
                </a:solidFill>
                <a:ea typeface="宋体" panose="02010600030101010101" pitchFamily="2" charset="-122"/>
              </a:rPr>
              <a:t>进行通信。 </a:t>
            </a:r>
          </a:p>
        </p:txBody>
      </p:sp>
      <p:grpSp>
        <p:nvGrpSpPr>
          <p:cNvPr id="2383874" name="组合 16"/>
          <p:cNvGrpSpPr>
            <a:grpSpLocks/>
          </p:cNvGrpSpPr>
          <p:nvPr/>
        </p:nvGrpSpPr>
        <p:grpSpPr bwMode="auto">
          <a:xfrm>
            <a:off x="344488" y="2298700"/>
            <a:ext cx="9504362" cy="4010025"/>
            <a:chOff x="344487" y="1484784"/>
            <a:chExt cx="9505057" cy="4009836"/>
          </a:xfrm>
        </p:grpSpPr>
        <p:sp>
          <p:nvSpPr>
            <p:cNvPr id="2383875" name="AutoShape 519"/>
            <p:cNvSpPr>
              <a:spLocks noChangeArrowheads="1"/>
            </p:cNvSpPr>
            <p:nvPr/>
          </p:nvSpPr>
          <p:spPr bwMode="auto">
            <a:xfrm>
              <a:off x="344487" y="2403046"/>
              <a:ext cx="9321717" cy="3091574"/>
            </a:xfrm>
            <a:prstGeom prst="roundRect">
              <a:avLst>
                <a:gd name="adj" fmla="val 13255"/>
              </a:avLst>
            </a:prstGeom>
            <a:solidFill>
              <a:srgbClr val="FFFF66"/>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76" name="Oval 19"/>
            <p:cNvSpPr>
              <a:spLocks noChangeArrowheads="1"/>
            </p:cNvSpPr>
            <p:nvPr/>
          </p:nvSpPr>
          <p:spPr bwMode="auto">
            <a:xfrm>
              <a:off x="582272" y="2921003"/>
              <a:ext cx="4685842" cy="2325636"/>
            </a:xfrm>
            <a:prstGeom prst="ellipse">
              <a:avLst/>
            </a:prstGeom>
            <a:solidFill>
              <a:srgbClr val="66FF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pic>
          <p:nvPicPr>
            <p:cNvPr id="2383877" name="Picture 222"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4704" y="2605955"/>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878" name="Oval 21"/>
            <p:cNvSpPr>
              <a:spLocks noChangeArrowheads="1"/>
            </p:cNvSpPr>
            <p:nvPr/>
          </p:nvSpPr>
          <p:spPr bwMode="auto">
            <a:xfrm>
              <a:off x="5127036" y="2943364"/>
              <a:ext cx="4362468" cy="2303275"/>
            </a:xfrm>
            <a:prstGeom prst="ellipse">
              <a:avLst/>
            </a:prstGeom>
            <a:solidFill>
              <a:srgbClr val="FF99FF"/>
            </a:solidFill>
            <a:ln w="9525">
              <a:solidFill>
                <a:schemeClr val="tx1"/>
              </a:solidFill>
              <a:prstDash val="dash"/>
              <a:round/>
              <a:headEnd/>
              <a:tailEnd/>
            </a:ln>
          </p:spPr>
          <p:txBody>
            <a:bodyPr wrap="none" anchor="ctr"/>
            <a:lstStyle/>
            <a:p>
              <a:pPr eaLnBrk="0" hangingPunct="0"/>
              <a:endParaRPr lang="zh-CN" altLang="en-US" sz="3200" b="1">
                <a:solidFill>
                  <a:srgbClr val="000099"/>
                </a:solidFill>
                <a:ea typeface="宋体" panose="02010600030101010101" pitchFamily="2" charset="-122"/>
              </a:endParaRPr>
            </a:p>
          </p:txBody>
        </p:sp>
        <p:grpSp>
          <p:nvGrpSpPr>
            <p:cNvPr id="2383879" name="Group 425"/>
            <p:cNvGrpSpPr>
              <a:grpSpLocks/>
            </p:cNvGrpSpPr>
            <p:nvPr/>
          </p:nvGrpSpPr>
          <p:grpSpPr bwMode="auto">
            <a:xfrm>
              <a:off x="941756" y="3721205"/>
              <a:ext cx="710422" cy="589759"/>
              <a:chOff x="762" y="2391"/>
              <a:chExt cx="423" cy="312"/>
            </a:xfrm>
          </p:grpSpPr>
          <p:grpSp>
            <p:nvGrpSpPr>
              <p:cNvPr id="2383880" name="Group 316"/>
              <p:cNvGrpSpPr>
                <a:grpSpLocks/>
              </p:cNvGrpSpPr>
              <p:nvPr/>
            </p:nvGrpSpPr>
            <p:grpSpPr bwMode="auto">
              <a:xfrm>
                <a:off x="867" y="2432"/>
                <a:ext cx="318" cy="271"/>
                <a:chOff x="657" y="1570"/>
                <a:chExt cx="318" cy="311"/>
              </a:xfrm>
            </p:grpSpPr>
            <p:sp>
              <p:nvSpPr>
                <p:cNvPr id="2383881" name="Line 31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882" name="Picture 31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883" name="Group 424"/>
              <p:cNvGrpSpPr>
                <a:grpSpLocks/>
              </p:cNvGrpSpPr>
              <p:nvPr/>
            </p:nvGrpSpPr>
            <p:grpSpPr bwMode="auto">
              <a:xfrm>
                <a:off x="762" y="2391"/>
                <a:ext cx="306" cy="90"/>
                <a:chOff x="748" y="2251"/>
                <a:chExt cx="306" cy="90"/>
              </a:xfrm>
            </p:grpSpPr>
            <p:sp>
              <p:nvSpPr>
                <p:cNvPr id="2383884" name="AutoShape 31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5" name="AutoShape 31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6" name="AutoShape 31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7" name="AutoShape 32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8" name="AutoShape 32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89" name="AutoShape 32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3890" name="Text Box 45"/>
            <p:cNvSpPr txBox="1">
              <a:spLocks noChangeArrowheads="1"/>
            </p:cNvSpPr>
            <p:nvPr/>
          </p:nvSpPr>
          <p:spPr bwMode="auto">
            <a:xfrm>
              <a:off x="7282725" y="3230770"/>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3891" name="Text Box 46"/>
            <p:cNvSpPr txBox="1">
              <a:spLocks noChangeArrowheads="1"/>
            </p:cNvSpPr>
            <p:nvPr/>
          </p:nvSpPr>
          <p:spPr bwMode="auto">
            <a:xfrm>
              <a:off x="582272" y="2408739"/>
              <a:ext cx="1746814" cy="7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扩展的服务集</a:t>
              </a:r>
            </a:p>
            <a:p>
              <a:pPr algn="ctr"/>
              <a:r>
                <a:rPr lang="en-US" altLang="zh-CN" sz="2000" b="1">
                  <a:solidFill>
                    <a:srgbClr val="000099"/>
                  </a:solidFill>
                  <a:ea typeface="宋体" panose="02010600030101010101" pitchFamily="2" charset="-122"/>
                </a:rPr>
                <a:t>ESS</a:t>
              </a:r>
            </a:p>
          </p:txBody>
        </p:sp>
        <p:sp>
          <p:nvSpPr>
            <p:cNvPr id="2383892" name="Text Box 175"/>
            <p:cNvSpPr txBox="1">
              <a:spLocks noChangeArrowheads="1"/>
            </p:cNvSpPr>
            <p:nvPr/>
          </p:nvSpPr>
          <p:spPr bwMode="auto">
            <a:xfrm>
              <a:off x="776536" y="38346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sp>
          <p:nvSpPr>
            <p:cNvPr id="2383893" name="Text Box 176"/>
            <p:cNvSpPr txBox="1">
              <a:spLocks noChangeArrowheads="1"/>
            </p:cNvSpPr>
            <p:nvPr/>
          </p:nvSpPr>
          <p:spPr bwMode="auto">
            <a:xfrm>
              <a:off x="8450741" y="409169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B</a:t>
              </a:r>
            </a:p>
          </p:txBody>
        </p:sp>
        <p:sp>
          <p:nvSpPr>
            <p:cNvPr id="2383894" name="Line 177"/>
            <p:cNvSpPr>
              <a:spLocks noChangeShapeType="1"/>
            </p:cNvSpPr>
            <p:nvPr/>
          </p:nvSpPr>
          <p:spPr bwMode="auto">
            <a:xfrm>
              <a:off x="1398576" y="4150292"/>
              <a:ext cx="5330691" cy="599211"/>
            </a:xfrm>
            <a:prstGeom prst="line">
              <a:avLst/>
            </a:prstGeom>
            <a:noFill/>
            <a:ln w="76200">
              <a:solidFill>
                <a:srgbClr val="0000FF"/>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895" name="AutoShape 180"/>
            <p:cNvSpPr>
              <a:spLocks noChangeArrowheads="1"/>
            </p:cNvSpPr>
            <p:nvPr/>
          </p:nvSpPr>
          <p:spPr bwMode="auto">
            <a:xfrm>
              <a:off x="4676934" y="4893162"/>
              <a:ext cx="713783" cy="457442"/>
            </a:xfrm>
            <a:prstGeom prst="wedgeRoundRectCallout">
              <a:avLst>
                <a:gd name="adj1" fmla="val 131898"/>
                <a:gd name="adj2" fmla="val -108287"/>
                <a:gd name="adj3" fmla="val 16667"/>
              </a:avLst>
            </a:prstGeom>
            <a:solidFill>
              <a:srgbClr val="00FF99"/>
            </a:solidFill>
            <a:ln w="9525">
              <a:solidFill>
                <a:schemeClr val="tx1"/>
              </a:solidFill>
              <a:miter lim="800000"/>
              <a:headEnd/>
              <a:tailEnd/>
            </a:ln>
            <a:effectLst>
              <a:outerShdw dist="28398" dir="3806097" algn="ctr" rotWithShape="0">
                <a:schemeClr val="bg2"/>
              </a:outerShdw>
            </a:effectLst>
          </p:spPr>
          <p:txBody>
            <a:bodyPr/>
            <a:lstStyle/>
            <a:p>
              <a:pPr algn="ctr" eaLnBrk="0" hangingPunct="0"/>
              <a:endParaRPr lang="zh-CN" altLang="zh-CN" sz="2000" b="1">
                <a:solidFill>
                  <a:srgbClr val="000099"/>
                </a:solidFill>
                <a:ea typeface="宋体" panose="02010600030101010101" pitchFamily="2" charset="-122"/>
              </a:endParaRPr>
            </a:p>
          </p:txBody>
        </p:sp>
        <p:sp>
          <p:nvSpPr>
            <p:cNvPr id="2383896" name="Text Box 178"/>
            <p:cNvSpPr txBox="1">
              <a:spLocks noChangeArrowheads="1"/>
            </p:cNvSpPr>
            <p:nvPr/>
          </p:nvSpPr>
          <p:spPr bwMode="auto">
            <a:xfrm>
              <a:off x="4664968" y="4908816"/>
              <a:ext cx="706351"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漫游</a:t>
              </a:r>
            </a:p>
          </p:txBody>
        </p:sp>
        <p:sp>
          <p:nvSpPr>
            <p:cNvPr id="2383897" name="Line 187"/>
            <p:cNvSpPr>
              <a:spLocks noChangeShapeType="1"/>
            </p:cNvSpPr>
            <p:nvPr/>
          </p:nvSpPr>
          <p:spPr bwMode="auto">
            <a:xfrm flipV="1">
              <a:off x="2844614" y="2029356"/>
              <a:ext cx="5789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898" name="Text Box 50"/>
            <p:cNvSpPr txBox="1">
              <a:spLocks noChangeArrowheads="1"/>
            </p:cNvSpPr>
            <p:nvPr/>
          </p:nvSpPr>
          <p:spPr bwMode="auto">
            <a:xfrm>
              <a:off x="3607101" y="2520893"/>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1</a:t>
              </a:r>
            </a:p>
          </p:txBody>
        </p:sp>
        <p:sp>
          <p:nvSpPr>
            <p:cNvPr id="2383899" name="Freeform 288"/>
            <p:cNvSpPr>
              <a:spLocks noChangeArrowheads="1"/>
            </p:cNvSpPr>
            <p:nvPr/>
          </p:nvSpPr>
          <p:spPr bwMode="auto">
            <a:xfrm>
              <a:off x="2846294" y="2348880"/>
              <a:ext cx="214974" cy="357257"/>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0" name="Freeform 291"/>
            <p:cNvSpPr>
              <a:spLocks noChangeArrowheads="1"/>
            </p:cNvSpPr>
            <p:nvPr/>
          </p:nvSpPr>
          <p:spPr bwMode="auto">
            <a:xfrm>
              <a:off x="3607101"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1" name="Freeform 293"/>
            <p:cNvSpPr>
              <a:spLocks noChangeArrowheads="1"/>
            </p:cNvSpPr>
            <p:nvPr/>
          </p:nvSpPr>
          <p:spPr bwMode="auto">
            <a:xfrm>
              <a:off x="2846294" y="2764736"/>
              <a:ext cx="214974" cy="357257"/>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2" name="Freeform 294"/>
            <p:cNvSpPr>
              <a:spLocks noChangeArrowheads="1"/>
            </p:cNvSpPr>
            <p:nvPr/>
          </p:nvSpPr>
          <p:spPr bwMode="auto">
            <a:xfrm>
              <a:off x="3607101"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graphicFrame>
          <p:nvGraphicFramePr>
            <p:cNvPr id="2383903" name="Object 295"/>
            <p:cNvGraphicFramePr>
              <a:graphicFrameLocks noChangeAspect="1"/>
            </p:cNvGraphicFramePr>
            <p:nvPr/>
          </p:nvGraphicFramePr>
          <p:xfrm>
            <a:off x="8405396" y="1484784"/>
            <a:ext cx="1444148" cy="847341"/>
          </p:xfrm>
          <a:graphic>
            <a:graphicData uri="http://schemas.openxmlformats.org/presentationml/2006/ole">
              <mc:AlternateContent xmlns:mc="http://schemas.openxmlformats.org/markup-compatibility/2006">
                <mc:Choice xmlns:v="urn:schemas-microsoft-com:vml" Requires="v">
                  <p:oleObj spid="_x0000_s2384078" r:id="rId6" imgW="1687068" imgH="964692" progId="Visio.Drawing.6">
                    <p:embed/>
                  </p:oleObj>
                </mc:Choice>
                <mc:Fallback>
                  <p:oleObj r:id="rId6" imgW="1687068" imgH="964692" progId="Visio.Drawing.6">
                    <p:embed/>
                    <p:pic>
                      <p:nvPicPr>
                        <p:cNvPr id="0" name="Object 2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5396" y="1484784"/>
                          <a:ext cx="1444148" cy="84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83904" name="Picture 29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704" y="2692906"/>
              <a:ext cx="792718" cy="742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905" name="Text Box 300"/>
            <p:cNvSpPr txBox="1">
              <a:spLocks noChangeArrowheads="1"/>
            </p:cNvSpPr>
            <p:nvPr/>
          </p:nvSpPr>
          <p:spPr bwMode="auto">
            <a:xfrm>
              <a:off x="6873704" y="2542292"/>
              <a:ext cx="14720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宋体" panose="02010600030101010101" pitchFamily="2" charset="-122"/>
                </a:rPr>
                <a:t>接入点 </a:t>
              </a:r>
              <a:r>
                <a:rPr lang="en-US" altLang="zh-CN" sz="2000" b="1">
                  <a:solidFill>
                    <a:srgbClr val="FF0000"/>
                  </a:solidFill>
                  <a:ea typeface="宋体" panose="02010600030101010101" pitchFamily="2" charset="-122"/>
                </a:rPr>
                <a:t>AP</a:t>
              </a:r>
              <a:r>
                <a:rPr lang="en-US" altLang="zh-CN" sz="2000" b="1" baseline="-25000">
                  <a:solidFill>
                    <a:srgbClr val="FF0000"/>
                  </a:solidFill>
                  <a:ea typeface="宋体" panose="02010600030101010101" pitchFamily="2" charset="-122"/>
                </a:rPr>
                <a:t>2</a:t>
              </a:r>
            </a:p>
          </p:txBody>
        </p:sp>
        <p:sp>
          <p:nvSpPr>
            <p:cNvPr id="2383906" name="Line 49"/>
            <p:cNvSpPr>
              <a:spLocks noChangeShapeType="1"/>
            </p:cNvSpPr>
            <p:nvPr/>
          </p:nvSpPr>
          <p:spPr bwMode="auto">
            <a:xfrm flipV="1">
              <a:off x="6578114" y="2029356"/>
              <a:ext cx="0" cy="10349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07" name="Text Box 190"/>
            <p:cNvSpPr txBox="1">
              <a:spLocks noChangeArrowheads="1"/>
            </p:cNvSpPr>
            <p:nvPr/>
          </p:nvSpPr>
          <p:spPr bwMode="auto">
            <a:xfrm>
              <a:off x="8553400" y="167119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互联网</a:t>
              </a:r>
            </a:p>
          </p:txBody>
        </p:sp>
        <p:sp>
          <p:nvSpPr>
            <p:cNvPr id="2383908" name="Freeform 301"/>
            <p:cNvSpPr>
              <a:spLocks noChangeArrowheads="1"/>
            </p:cNvSpPr>
            <p:nvPr/>
          </p:nvSpPr>
          <p:spPr bwMode="auto">
            <a:xfrm>
              <a:off x="6121294" y="2433941"/>
              <a:ext cx="214974" cy="35725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09" name="Freeform 302"/>
            <p:cNvSpPr>
              <a:spLocks noChangeArrowheads="1"/>
            </p:cNvSpPr>
            <p:nvPr/>
          </p:nvSpPr>
          <p:spPr bwMode="auto">
            <a:xfrm>
              <a:off x="6819960" y="2777967"/>
              <a:ext cx="214974" cy="35725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0" name="Freeform 303"/>
            <p:cNvSpPr>
              <a:spLocks noChangeArrowheads="1"/>
            </p:cNvSpPr>
            <p:nvPr/>
          </p:nvSpPr>
          <p:spPr bwMode="auto">
            <a:xfrm>
              <a:off x="6121294" y="2849797"/>
              <a:ext cx="214974" cy="35725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1" name="Freeform 304"/>
            <p:cNvSpPr>
              <a:spLocks noChangeArrowheads="1"/>
            </p:cNvSpPr>
            <p:nvPr/>
          </p:nvSpPr>
          <p:spPr bwMode="auto">
            <a:xfrm>
              <a:off x="6819960" y="2348880"/>
              <a:ext cx="214974" cy="35725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sz="3200" b="1">
                <a:solidFill>
                  <a:srgbClr val="000099"/>
                </a:solidFill>
                <a:ea typeface="宋体" panose="02010600030101010101" pitchFamily="2" charset="-122"/>
              </a:endParaRPr>
            </a:p>
          </p:txBody>
        </p:sp>
        <p:sp>
          <p:nvSpPr>
            <p:cNvPr id="2383912" name="Text Box 305"/>
            <p:cNvSpPr txBox="1">
              <a:spLocks noChangeArrowheads="1"/>
            </p:cNvSpPr>
            <p:nvPr/>
          </p:nvSpPr>
          <p:spPr bwMode="auto">
            <a:xfrm>
              <a:off x="4651742" y="1628622"/>
              <a:ext cx="1657955" cy="4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分配系统 </a:t>
              </a:r>
              <a:r>
                <a:rPr lang="en-US" altLang="zh-CN" sz="2000" b="1">
                  <a:solidFill>
                    <a:srgbClr val="000099"/>
                  </a:solidFill>
                  <a:ea typeface="宋体" panose="02010600030101010101" pitchFamily="2" charset="-122"/>
                </a:rPr>
                <a:t>DS</a:t>
              </a:r>
            </a:p>
          </p:txBody>
        </p:sp>
        <p:pic>
          <p:nvPicPr>
            <p:cNvPr id="2383913" name="Picture 30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91755" y="1870574"/>
              <a:ext cx="634846" cy="32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3914" name="Line 403"/>
            <p:cNvSpPr>
              <a:spLocks noChangeShapeType="1"/>
            </p:cNvSpPr>
            <p:nvPr/>
          </p:nvSpPr>
          <p:spPr bwMode="auto">
            <a:xfrm flipV="1">
              <a:off x="1474153" y="3292116"/>
              <a:ext cx="1751705" cy="68616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5" name="Line 404"/>
            <p:cNvSpPr>
              <a:spLocks noChangeShapeType="1"/>
            </p:cNvSpPr>
            <p:nvPr/>
          </p:nvSpPr>
          <p:spPr bwMode="auto">
            <a:xfrm flipV="1">
              <a:off x="2463371" y="3292116"/>
              <a:ext cx="915320" cy="1372325"/>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6" name="Line 405"/>
            <p:cNvSpPr>
              <a:spLocks noChangeShapeType="1"/>
            </p:cNvSpPr>
            <p:nvPr/>
          </p:nvSpPr>
          <p:spPr bwMode="auto">
            <a:xfrm flipV="1">
              <a:off x="5740050" y="3207056"/>
              <a:ext cx="68523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7" name="Line 406"/>
            <p:cNvSpPr>
              <a:spLocks noChangeShapeType="1"/>
            </p:cNvSpPr>
            <p:nvPr/>
          </p:nvSpPr>
          <p:spPr bwMode="auto">
            <a:xfrm>
              <a:off x="3607101" y="3207056"/>
              <a:ext cx="1142051" cy="429087"/>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8" name="Line 407"/>
            <p:cNvSpPr>
              <a:spLocks noChangeShapeType="1"/>
            </p:cNvSpPr>
            <p:nvPr/>
          </p:nvSpPr>
          <p:spPr bwMode="auto">
            <a:xfrm flipV="1">
              <a:off x="3454268" y="3292116"/>
              <a:ext cx="77256" cy="154433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19" name="Line 408"/>
            <p:cNvSpPr>
              <a:spLocks noChangeShapeType="1"/>
            </p:cNvSpPr>
            <p:nvPr/>
          </p:nvSpPr>
          <p:spPr bwMode="auto">
            <a:xfrm flipV="1">
              <a:off x="6272447" y="3292116"/>
              <a:ext cx="305667" cy="1200312"/>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0" name="Line 409"/>
            <p:cNvSpPr>
              <a:spLocks noChangeShapeType="1"/>
            </p:cNvSpPr>
            <p:nvPr/>
          </p:nvSpPr>
          <p:spPr bwMode="auto">
            <a:xfrm flipH="1" flipV="1">
              <a:off x="6883781" y="3292116"/>
              <a:ext cx="1294884" cy="1028298"/>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1" name="Line 410"/>
            <p:cNvSpPr>
              <a:spLocks noChangeShapeType="1"/>
            </p:cNvSpPr>
            <p:nvPr/>
          </p:nvSpPr>
          <p:spPr bwMode="auto">
            <a:xfrm flipH="1" flipV="1">
              <a:off x="6729268" y="3292116"/>
              <a:ext cx="686910" cy="1115250"/>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2" name="Line 422"/>
            <p:cNvSpPr>
              <a:spLocks noChangeShapeType="1"/>
            </p:cNvSpPr>
            <p:nvPr/>
          </p:nvSpPr>
          <p:spPr bwMode="auto">
            <a:xfrm flipH="1" flipV="1">
              <a:off x="6653690" y="3292116"/>
              <a:ext cx="152834" cy="1285373"/>
            </a:xfrm>
            <a:prstGeom prst="line">
              <a:avLst/>
            </a:prstGeom>
            <a:noFill/>
            <a:ln w="38100" cap="rnd">
              <a:solidFill>
                <a:schemeClr val="tx1"/>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3923" name="Text Box 423"/>
            <p:cNvSpPr txBox="1">
              <a:spLocks noChangeArrowheads="1"/>
            </p:cNvSpPr>
            <p:nvPr/>
          </p:nvSpPr>
          <p:spPr bwMode="auto">
            <a:xfrm>
              <a:off x="7105473" y="4577489"/>
              <a:ext cx="431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FF0000"/>
                  </a:solidFill>
                  <a:ea typeface="宋体" panose="02010600030101010101" pitchFamily="2" charset="-122"/>
                </a:rPr>
                <a:t>A'</a:t>
              </a:r>
            </a:p>
          </p:txBody>
        </p:sp>
        <p:grpSp>
          <p:nvGrpSpPr>
            <p:cNvPr id="2383924" name="Group 426"/>
            <p:cNvGrpSpPr>
              <a:grpSpLocks/>
            </p:cNvGrpSpPr>
            <p:nvPr/>
          </p:nvGrpSpPr>
          <p:grpSpPr bwMode="auto">
            <a:xfrm>
              <a:off x="1930973" y="4331756"/>
              <a:ext cx="710423" cy="589759"/>
              <a:chOff x="762" y="2391"/>
              <a:chExt cx="423" cy="312"/>
            </a:xfrm>
          </p:grpSpPr>
          <p:grpSp>
            <p:nvGrpSpPr>
              <p:cNvPr id="2383925" name="Group 427"/>
              <p:cNvGrpSpPr>
                <a:grpSpLocks/>
              </p:cNvGrpSpPr>
              <p:nvPr/>
            </p:nvGrpSpPr>
            <p:grpSpPr bwMode="auto">
              <a:xfrm>
                <a:off x="867" y="2432"/>
                <a:ext cx="318" cy="271"/>
                <a:chOff x="657" y="1570"/>
                <a:chExt cx="318" cy="311"/>
              </a:xfrm>
            </p:grpSpPr>
            <p:sp>
              <p:nvSpPr>
                <p:cNvPr id="2383926" name="Line 4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27" name="Picture 429"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28" name="Group 430"/>
              <p:cNvGrpSpPr>
                <a:grpSpLocks/>
              </p:cNvGrpSpPr>
              <p:nvPr/>
            </p:nvGrpSpPr>
            <p:grpSpPr bwMode="auto">
              <a:xfrm>
                <a:off x="762" y="2391"/>
                <a:ext cx="306" cy="90"/>
                <a:chOff x="748" y="2251"/>
                <a:chExt cx="306" cy="90"/>
              </a:xfrm>
            </p:grpSpPr>
            <p:sp>
              <p:nvSpPr>
                <p:cNvPr id="2383929" name="AutoShape 4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0" name="AutoShape 4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1" name="AutoShape 4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2" name="AutoShape 4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3" name="AutoShape 4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34" name="AutoShape 4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35" name="Group 437"/>
            <p:cNvGrpSpPr>
              <a:grpSpLocks/>
            </p:cNvGrpSpPr>
            <p:nvPr/>
          </p:nvGrpSpPr>
          <p:grpSpPr bwMode="auto">
            <a:xfrm>
              <a:off x="5283229" y="3207056"/>
              <a:ext cx="710423" cy="589759"/>
              <a:chOff x="762" y="2391"/>
              <a:chExt cx="423" cy="312"/>
            </a:xfrm>
          </p:grpSpPr>
          <p:grpSp>
            <p:nvGrpSpPr>
              <p:cNvPr id="2383936" name="Group 438"/>
              <p:cNvGrpSpPr>
                <a:grpSpLocks/>
              </p:cNvGrpSpPr>
              <p:nvPr/>
            </p:nvGrpSpPr>
            <p:grpSpPr bwMode="auto">
              <a:xfrm>
                <a:off x="867" y="2432"/>
                <a:ext cx="318" cy="271"/>
                <a:chOff x="657" y="1570"/>
                <a:chExt cx="318" cy="311"/>
              </a:xfrm>
            </p:grpSpPr>
            <p:sp>
              <p:nvSpPr>
                <p:cNvPr id="2383937" name="Line 43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38" name="Picture 440"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39" name="Group 441"/>
              <p:cNvGrpSpPr>
                <a:grpSpLocks/>
              </p:cNvGrpSpPr>
              <p:nvPr/>
            </p:nvGrpSpPr>
            <p:grpSpPr bwMode="auto">
              <a:xfrm>
                <a:off x="762" y="2391"/>
                <a:ext cx="306" cy="90"/>
                <a:chOff x="748" y="2251"/>
                <a:chExt cx="306" cy="90"/>
              </a:xfrm>
            </p:grpSpPr>
            <p:sp>
              <p:nvSpPr>
                <p:cNvPr id="2383940" name="AutoShape 44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1" name="AutoShape 44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2" name="AutoShape 44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3" name="AutoShape 44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4" name="AutoShape 44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45" name="AutoShape 44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46" name="Group 448"/>
            <p:cNvGrpSpPr>
              <a:grpSpLocks/>
            </p:cNvGrpSpPr>
            <p:nvPr/>
          </p:nvGrpSpPr>
          <p:grpSpPr bwMode="auto">
            <a:xfrm>
              <a:off x="2921871" y="4407367"/>
              <a:ext cx="710423" cy="589759"/>
              <a:chOff x="762" y="2391"/>
              <a:chExt cx="423" cy="312"/>
            </a:xfrm>
          </p:grpSpPr>
          <p:grpSp>
            <p:nvGrpSpPr>
              <p:cNvPr id="2383947" name="Group 449"/>
              <p:cNvGrpSpPr>
                <a:grpSpLocks/>
              </p:cNvGrpSpPr>
              <p:nvPr/>
            </p:nvGrpSpPr>
            <p:grpSpPr bwMode="auto">
              <a:xfrm>
                <a:off x="867" y="2432"/>
                <a:ext cx="318" cy="271"/>
                <a:chOff x="657" y="1570"/>
                <a:chExt cx="318" cy="311"/>
              </a:xfrm>
            </p:grpSpPr>
            <p:sp>
              <p:nvSpPr>
                <p:cNvPr id="2383948" name="Line 450"/>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49" name="Picture 451"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50" name="Group 452"/>
              <p:cNvGrpSpPr>
                <a:grpSpLocks/>
              </p:cNvGrpSpPr>
              <p:nvPr/>
            </p:nvGrpSpPr>
            <p:grpSpPr bwMode="auto">
              <a:xfrm>
                <a:off x="762" y="2391"/>
                <a:ext cx="306" cy="90"/>
                <a:chOff x="748" y="2251"/>
                <a:chExt cx="306" cy="90"/>
              </a:xfrm>
            </p:grpSpPr>
            <p:sp>
              <p:nvSpPr>
                <p:cNvPr id="2383951" name="AutoShape 453"/>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2" name="AutoShape 454"/>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3" name="AutoShape 455"/>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4" name="AutoShape 456"/>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5" name="AutoShape 457"/>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56" name="AutoShape 458"/>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57" name="Group 459"/>
            <p:cNvGrpSpPr>
              <a:grpSpLocks/>
            </p:cNvGrpSpPr>
            <p:nvPr/>
          </p:nvGrpSpPr>
          <p:grpSpPr bwMode="auto">
            <a:xfrm>
              <a:off x="4520742" y="3292116"/>
              <a:ext cx="710423" cy="589759"/>
              <a:chOff x="762" y="2391"/>
              <a:chExt cx="423" cy="312"/>
            </a:xfrm>
          </p:grpSpPr>
          <p:grpSp>
            <p:nvGrpSpPr>
              <p:cNvPr id="2383958" name="Group 460"/>
              <p:cNvGrpSpPr>
                <a:grpSpLocks/>
              </p:cNvGrpSpPr>
              <p:nvPr/>
            </p:nvGrpSpPr>
            <p:grpSpPr bwMode="auto">
              <a:xfrm>
                <a:off x="867" y="2432"/>
                <a:ext cx="318" cy="271"/>
                <a:chOff x="657" y="1570"/>
                <a:chExt cx="318" cy="311"/>
              </a:xfrm>
            </p:grpSpPr>
            <p:sp>
              <p:nvSpPr>
                <p:cNvPr id="2383959" name="Line 461"/>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60" name="Picture 462"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61" name="Group 463"/>
              <p:cNvGrpSpPr>
                <a:grpSpLocks/>
              </p:cNvGrpSpPr>
              <p:nvPr/>
            </p:nvGrpSpPr>
            <p:grpSpPr bwMode="auto">
              <a:xfrm>
                <a:off x="762" y="2391"/>
                <a:ext cx="306" cy="90"/>
                <a:chOff x="748" y="2251"/>
                <a:chExt cx="306" cy="90"/>
              </a:xfrm>
            </p:grpSpPr>
            <p:sp>
              <p:nvSpPr>
                <p:cNvPr id="2383962" name="AutoShape 464"/>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3" name="AutoShape 465"/>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4" name="AutoShape 466"/>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5" name="AutoShape 467"/>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6" name="AutoShape 468"/>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67" name="AutoShape 469"/>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68" name="Group 470"/>
            <p:cNvGrpSpPr>
              <a:grpSpLocks/>
            </p:cNvGrpSpPr>
            <p:nvPr/>
          </p:nvGrpSpPr>
          <p:grpSpPr bwMode="auto">
            <a:xfrm>
              <a:off x="6653690" y="4492429"/>
              <a:ext cx="710423" cy="589759"/>
              <a:chOff x="762" y="2391"/>
              <a:chExt cx="423" cy="312"/>
            </a:xfrm>
          </p:grpSpPr>
          <p:grpSp>
            <p:nvGrpSpPr>
              <p:cNvPr id="2383969" name="Group 471"/>
              <p:cNvGrpSpPr>
                <a:grpSpLocks/>
              </p:cNvGrpSpPr>
              <p:nvPr/>
            </p:nvGrpSpPr>
            <p:grpSpPr bwMode="auto">
              <a:xfrm>
                <a:off x="867" y="2432"/>
                <a:ext cx="318" cy="271"/>
                <a:chOff x="657" y="1570"/>
                <a:chExt cx="318" cy="311"/>
              </a:xfrm>
            </p:grpSpPr>
            <p:sp>
              <p:nvSpPr>
                <p:cNvPr id="2383970" name="Line 47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71" name="Picture 47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72" name="Group 474"/>
              <p:cNvGrpSpPr>
                <a:grpSpLocks/>
              </p:cNvGrpSpPr>
              <p:nvPr/>
            </p:nvGrpSpPr>
            <p:grpSpPr bwMode="auto">
              <a:xfrm>
                <a:off x="762" y="2391"/>
                <a:ext cx="306" cy="90"/>
                <a:chOff x="748" y="2251"/>
                <a:chExt cx="306" cy="90"/>
              </a:xfrm>
            </p:grpSpPr>
            <p:sp>
              <p:nvSpPr>
                <p:cNvPr id="2383973" name="AutoShape 47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4" name="AutoShape 47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5" name="AutoShape 47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6" name="AutoShape 47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7" name="AutoShape 47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78" name="AutoShape 48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79" name="Group 481"/>
            <p:cNvGrpSpPr>
              <a:grpSpLocks/>
            </p:cNvGrpSpPr>
            <p:nvPr/>
          </p:nvGrpSpPr>
          <p:grpSpPr bwMode="auto">
            <a:xfrm>
              <a:off x="5740050" y="3978279"/>
              <a:ext cx="710423" cy="589759"/>
              <a:chOff x="762" y="2391"/>
              <a:chExt cx="423" cy="312"/>
            </a:xfrm>
          </p:grpSpPr>
          <p:grpSp>
            <p:nvGrpSpPr>
              <p:cNvPr id="2383980" name="Group 482"/>
              <p:cNvGrpSpPr>
                <a:grpSpLocks/>
              </p:cNvGrpSpPr>
              <p:nvPr/>
            </p:nvGrpSpPr>
            <p:grpSpPr bwMode="auto">
              <a:xfrm>
                <a:off x="867" y="2432"/>
                <a:ext cx="318" cy="271"/>
                <a:chOff x="657" y="1570"/>
                <a:chExt cx="318" cy="311"/>
              </a:xfrm>
            </p:grpSpPr>
            <p:sp>
              <p:nvSpPr>
                <p:cNvPr id="2383981" name="Line 48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82" name="Picture 4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83" name="Group 485"/>
              <p:cNvGrpSpPr>
                <a:grpSpLocks/>
              </p:cNvGrpSpPr>
              <p:nvPr/>
            </p:nvGrpSpPr>
            <p:grpSpPr bwMode="auto">
              <a:xfrm>
                <a:off x="762" y="2391"/>
                <a:ext cx="306" cy="90"/>
                <a:chOff x="748" y="2251"/>
                <a:chExt cx="306" cy="90"/>
              </a:xfrm>
            </p:grpSpPr>
            <p:sp>
              <p:nvSpPr>
                <p:cNvPr id="2383984" name="AutoShape 48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5" name="AutoShape 48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6" name="AutoShape 48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7" name="AutoShape 48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8" name="AutoShape 49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89" name="AutoShape 49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3990" name="Group 492"/>
            <p:cNvGrpSpPr>
              <a:grpSpLocks/>
            </p:cNvGrpSpPr>
            <p:nvPr/>
          </p:nvGrpSpPr>
          <p:grpSpPr bwMode="auto">
            <a:xfrm>
              <a:off x="7263345" y="4150292"/>
              <a:ext cx="710422" cy="589759"/>
              <a:chOff x="762" y="2391"/>
              <a:chExt cx="423" cy="312"/>
            </a:xfrm>
          </p:grpSpPr>
          <p:grpSp>
            <p:nvGrpSpPr>
              <p:cNvPr id="2383991" name="Group 493"/>
              <p:cNvGrpSpPr>
                <a:grpSpLocks/>
              </p:cNvGrpSpPr>
              <p:nvPr/>
            </p:nvGrpSpPr>
            <p:grpSpPr bwMode="auto">
              <a:xfrm>
                <a:off x="867" y="2432"/>
                <a:ext cx="318" cy="271"/>
                <a:chOff x="657" y="1570"/>
                <a:chExt cx="318" cy="311"/>
              </a:xfrm>
            </p:grpSpPr>
            <p:sp>
              <p:nvSpPr>
                <p:cNvPr id="2383992" name="Line 49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3993" name="Picture 4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3994" name="Group 496"/>
              <p:cNvGrpSpPr>
                <a:grpSpLocks/>
              </p:cNvGrpSpPr>
              <p:nvPr/>
            </p:nvGrpSpPr>
            <p:grpSpPr bwMode="auto">
              <a:xfrm>
                <a:off x="762" y="2391"/>
                <a:ext cx="306" cy="90"/>
                <a:chOff x="748" y="2251"/>
                <a:chExt cx="306" cy="90"/>
              </a:xfrm>
            </p:grpSpPr>
            <p:sp>
              <p:nvSpPr>
                <p:cNvPr id="2383995" name="AutoShape 49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6" name="AutoShape 49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7" name="AutoShape 49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8" name="AutoShape 50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3999" name="AutoShape 50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0" name="AutoShape 50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grpSp>
          <p:nvGrpSpPr>
            <p:cNvPr id="2384001" name="Group 503"/>
            <p:cNvGrpSpPr>
              <a:grpSpLocks/>
            </p:cNvGrpSpPr>
            <p:nvPr/>
          </p:nvGrpSpPr>
          <p:grpSpPr bwMode="auto">
            <a:xfrm>
              <a:off x="8000639" y="3987730"/>
              <a:ext cx="710423" cy="589759"/>
              <a:chOff x="762" y="2391"/>
              <a:chExt cx="423" cy="312"/>
            </a:xfrm>
          </p:grpSpPr>
          <p:grpSp>
            <p:nvGrpSpPr>
              <p:cNvPr id="2384002" name="Group 504"/>
              <p:cNvGrpSpPr>
                <a:grpSpLocks/>
              </p:cNvGrpSpPr>
              <p:nvPr/>
            </p:nvGrpSpPr>
            <p:grpSpPr bwMode="auto">
              <a:xfrm>
                <a:off x="867" y="2432"/>
                <a:ext cx="318" cy="271"/>
                <a:chOff x="657" y="1570"/>
                <a:chExt cx="318" cy="311"/>
              </a:xfrm>
            </p:grpSpPr>
            <p:sp>
              <p:nvSpPr>
                <p:cNvPr id="2384003" name="Line 50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pic>
              <p:nvPicPr>
                <p:cNvPr id="2384004" name="Picture 506"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84005" name="Group 507"/>
              <p:cNvGrpSpPr>
                <a:grpSpLocks/>
              </p:cNvGrpSpPr>
              <p:nvPr/>
            </p:nvGrpSpPr>
            <p:grpSpPr bwMode="auto">
              <a:xfrm>
                <a:off x="762" y="2391"/>
                <a:ext cx="306" cy="90"/>
                <a:chOff x="748" y="2251"/>
                <a:chExt cx="306" cy="90"/>
              </a:xfrm>
            </p:grpSpPr>
            <p:sp>
              <p:nvSpPr>
                <p:cNvPr id="2384006" name="AutoShape 50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7" name="AutoShape 50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8" name="AutoShape 51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09" name="AutoShape 51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0" name="AutoShape 51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1" name="AutoShape 51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3200" b="1">
                    <a:solidFill>
                      <a:srgbClr val="000099"/>
                    </a:solidFill>
                    <a:ea typeface="宋体" panose="02010600030101010101" pitchFamily="2" charset="-122"/>
                  </a:endParaRPr>
                </a:p>
              </p:txBody>
            </p:sp>
          </p:grpSp>
        </p:grpSp>
        <p:sp>
          <p:nvSpPr>
            <p:cNvPr id="2384012" name="Line 517"/>
            <p:cNvSpPr>
              <a:spLocks noChangeShapeType="1"/>
            </p:cNvSpPr>
            <p:nvPr/>
          </p:nvSpPr>
          <p:spPr bwMode="auto">
            <a:xfrm flipH="1">
              <a:off x="1930973" y="1988840"/>
              <a:ext cx="744013"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3200" b="1">
                <a:solidFill>
                  <a:srgbClr val="000099"/>
                </a:solidFill>
                <a:ea typeface="宋体" panose="02010600030101010101" pitchFamily="2" charset="-122"/>
              </a:endParaRPr>
            </a:p>
          </p:txBody>
        </p:sp>
        <p:sp>
          <p:nvSpPr>
            <p:cNvPr id="2384013" name="Text Box 44"/>
            <p:cNvSpPr txBox="1">
              <a:spLocks noChangeArrowheads="1"/>
            </p:cNvSpPr>
            <p:nvPr/>
          </p:nvSpPr>
          <p:spPr bwMode="auto">
            <a:xfrm>
              <a:off x="1474153" y="3116323"/>
              <a:ext cx="1486699"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5000"/>
                </a:lnSpc>
              </a:pPr>
              <a:r>
                <a:rPr lang="zh-CN" altLang="en-US" sz="2000" b="1">
                  <a:solidFill>
                    <a:srgbClr val="000099"/>
                  </a:solidFill>
                  <a:ea typeface="宋体" panose="02010600030101010101" pitchFamily="2" charset="-122"/>
                </a:rPr>
                <a:t>基本服务集</a:t>
              </a:r>
            </a:p>
            <a:p>
              <a:pPr>
                <a:lnSpc>
                  <a:spcPct val="85000"/>
                </a:lnSpc>
              </a:pPr>
              <a:r>
                <a:rPr lang="zh-CN" altLang="en-US" sz="2000" b="1">
                  <a:solidFill>
                    <a:srgbClr val="000099"/>
                  </a:solidFill>
                  <a:ea typeface="宋体" panose="02010600030101010101" pitchFamily="2" charset="-122"/>
                </a:rPr>
                <a:t>       </a:t>
              </a:r>
              <a:r>
                <a:rPr lang="en-US" altLang="zh-CN" sz="2000" b="1">
                  <a:solidFill>
                    <a:srgbClr val="000099"/>
                  </a:solidFill>
                  <a:ea typeface="宋体" panose="02010600030101010101" pitchFamily="2" charset="-122"/>
                </a:rPr>
                <a:t>BSS</a:t>
              </a:r>
            </a:p>
          </p:txBody>
        </p:sp>
        <p:sp>
          <p:nvSpPr>
            <p:cNvPr id="2384014" name="Line 48"/>
            <p:cNvSpPr>
              <a:spLocks noChangeShapeType="1"/>
            </p:cNvSpPr>
            <p:nvPr/>
          </p:nvSpPr>
          <p:spPr bwMode="auto">
            <a:xfrm flipH="1">
              <a:off x="3342582" y="2029356"/>
              <a:ext cx="0" cy="8916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3200" b="1">
                <a:solidFill>
                  <a:srgbClr val="000099"/>
                </a:solidFill>
                <a:ea typeface="宋体" panose="02010600030101010101" pitchFamily="2" charset="-122"/>
              </a:endParaRPr>
            </a:p>
          </p:txBody>
        </p:sp>
        <p:sp>
          <p:nvSpPr>
            <p:cNvPr id="2384015" name="Rectangle 515"/>
            <p:cNvSpPr>
              <a:spLocks noChangeArrowheads="1"/>
            </p:cNvSpPr>
            <p:nvPr/>
          </p:nvSpPr>
          <p:spPr bwMode="auto">
            <a:xfrm>
              <a:off x="2465050" y="1793019"/>
              <a:ext cx="607974" cy="406459"/>
            </a:xfrm>
            <a:prstGeom prst="rect">
              <a:avLst/>
            </a:prstGeom>
            <a:solidFill>
              <a:srgbClr val="66FF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宋体" panose="02010600030101010101" pitchFamily="2" charset="-122"/>
                </a:rPr>
                <a:t>门户</a:t>
              </a:r>
              <a:endParaRPr lang="en-US" altLang="zh-CN" sz="2000" b="1">
                <a:solidFill>
                  <a:srgbClr val="000099"/>
                </a:solidFill>
                <a:ea typeface="宋体" panose="02010600030101010101" pitchFamily="2" charset="-122"/>
              </a:endParaRPr>
            </a:p>
          </p:txBody>
        </p:sp>
        <p:sp>
          <p:nvSpPr>
            <p:cNvPr id="2384016" name="Text Box 518"/>
            <p:cNvSpPr txBox="1">
              <a:spLocks noChangeArrowheads="1"/>
            </p:cNvSpPr>
            <p:nvPr/>
          </p:nvSpPr>
          <p:spPr bwMode="auto">
            <a:xfrm>
              <a:off x="488504" y="1628800"/>
              <a:ext cx="1683804" cy="67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sz="2000" b="1">
                  <a:solidFill>
                    <a:srgbClr val="000099"/>
                  </a:solidFill>
                  <a:ea typeface="宋体" panose="02010600030101010101" pitchFamily="2" charset="-122"/>
                </a:rPr>
                <a:t>至其他 </a:t>
              </a:r>
              <a:r>
                <a:rPr lang="en-US" altLang="zh-CN" sz="2000" b="1">
                  <a:solidFill>
                    <a:srgbClr val="000099"/>
                  </a:solidFill>
                  <a:ea typeface="宋体" panose="02010600030101010101" pitchFamily="2" charset="-122"/>
                </a:rPr>
                <a:t>802.x</a:t>
              </a:r>
            </a:p>
            <a:p>
              <a:pPr algn="ctr">
                <a:lnSpc>
                  <a:spcPct val="85000"/>
                </a:lnSpc>
              </a:pPr>
              <a:r>
                <a:rPr lang="zh-CN" altLang="en-US" sz="2000" b="1">
                  <a:solidFill>
                    <a:srgbClr val="000099"/>
                  </a:solidFill>
                  <a:ea typeface="宋体" panose="02010600030101010101" pitchFamily="2" charset="-122"/>
                </a:rPr>
                <a:t>局域网</a:t>
              </a:r>
            </a:p>
          </p:txBody>
        </p:sp>
      </p:grpSp>
      <p:sp>
        <p:nvSpPr>
          <p:cNvPr id="347149" name="Line 13"/>
          <p:cNvSpPr>
            <a:spLocks noChangeShapeType="1"/>
          </p:cNvSpPr>
          <p:nvPr/>
        </p:nvSpPr>
        <p:spPr bwMode="auto">
          <a:xfrm>
            <a:off x="1131888" y="5286375"/>
            <a:ext cx="6086475" cy="63500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7152" name="Line 16"/>
          <p:cNvSpPr>
            <a:spLocks noChangeShapeType="1"/>
          </p:cNvSpPr>
          <p:nvPr/>
        </p:nvSpPr>
        <p:spPr bwMode="auto">
          <a:xfrm>
            <a:off x="1362075" y="5203825"/>
            <a:ext cx="7229475" cy="241300"/>
          </a:xfrm>
          <a:prstGeom prst="line">
            <a:avLst/>
          </a:prstGeom>
          <a:noFill/>
          <a:ln w="57150">
            <a:solidFill>
              <a:srgbClr val="FF6600"/>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47153" name="Line 17"/>
          <p:cNvSpPr>
            <a:spLocks noChangeShapeType="1"/>
          </p:cNvSpPr>
          <p:nvPr/>
        </p:nvSpPr>
        <p:spPr bwMode="auto">
          <a:xfrm flipV="1">
            <a:off x="7329488" y="5516563"/>
            <a:ext cx="1325562" cy="431800"/>
          </a:xfrm>
          <a:prstGeom prst="line">
            <a:avLst/>
          </a:prstGeom>
          <a:noFill/>
          <a:ln w="57150">
            <a:solidFill>
              <a:srgbClr val="FF6600"/>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38402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69727B-9522-42A0-9B2B-2443E367BBEF}" type="slidenum">
              <a:rPr lang="en-US" altLang="zh-CN" smtClean="0"/>
              <a:pPr eaLnBrk="1" hangingPunct="1"/>
              <a:t>11</a:t>
            </a:fld>
            <a:endParaRPr lang="en-US" altLang="zh-CN" smtClean="0"/>
          </a:p>
        </p:txBody>
      </p:sp>
      <p:sp>
        <p:nvSpPr>
          <p:cNvPr id="238402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347149"/>
                                        </p:tgtEl>
                                        <p:attrNameLst>
                                          <p:attrName>style.visibility</p:attrName>
                                        </p:attrNameLst>
                                      </p:cBhvr>
                                      <p:to>
                                        <p:strVal val="visible"/>
                                      </p:to>
                                    </p:set>
                                    <p:animEffect transition="in" filter="wipe(left)">
                                      <p:cBhvr>
                                        <p:cTn id="7" dur="3000"/>
                                        <p:tgtEl>
                                          <p:spTgt spid="347149"/>
                                        </p:tgtEl>
                                      </p:cBhvr>
                                    </p:animEffect>
                                  </p:childTnLst>
                                </p:cTn>
                              </p:par>
                              <p:par>
                                <p:cTn id="8" presetID="1" presetClass="entr" presetSubtype="0" fill="hold" grpId="0" nodeType="withEffect">
                                  <p:stCondLst>
                                    <p:cond delay="500"/>
                                  </p:stCondLst>
                                  <p:childTnLst>
                                    <p:set>
                                      <p:cBhvr>
                                        <p:cTn id="9" dur="1" fill="hold">
                                          <p:stCondLst>
                                            <p:cond delay="0"/>
                                          </p:stCondLst>
                                        </p:cTn>
                                        <p:tgtEl>
                                          <p:spTgt spid="347152"/>
                                        </p:tgtEl>
                                        <p:attrNameLst>
                                          <p:attrName>style.visibility</p:attrName>
                                        </p:attrNameLst>
                                      </p:cBhvr>
                                      <p:to>
                                        <p:strVal val="visible"/>
                                      </p:to>
                                    </p:set>
                                  </p:childTnLst>
                                </p:cTn>
                              </p:par>
                              <p:par>
                                <p:cTn id="10" presetID="1" presetClass="exit" presetSubtype="0" fill="hold" grpId="1" nodeType="withEffect">
                                  <p:stCondLst>
                                    <p:cond delay="2500"/>
                                  </p:stCondLst>
                                  <p:childTnLst>
                                    <p:set>
                                      <p:cBhvr>
                                        <p:cTn id="11" dur="1" fill="hold">
                                          <p:stCondLst>
                                            <p:cond delay="0"/>
                                          </p:stCondLst>
                                        </p:cTn>
                                        <p:tgtEl>
                                          <p:spTgt spid="347152"/>
                                        </p:tgtEl>
                                        <p:attrNameLst>
                                          <p:attrName>style.visibility</p:attrName>
                                        </p:attrNameLst>
                                      </p:cBhvr>
                                      <p:to>
                                        <p:strVal val="hidden"/>
                                      </p:to>
                                    </p:set>
                                  </p:childTnLst>
                                </p:cTn>
                              </p:par>
                              <p:par>
                                <p:cTn id="12" presetID="1" presetClass="entr" presetSubtype="0" fill="hold" grpId="0" nodeType="withEffect">
                                  <p:stCondLst>
                                    <p:cond delay="2500"/>
                                  </p:stCondLst>
                                  <p:childTnLst>
                                    <p:set>
                                      <p:cBhvr>
                                        <p:cTn id="13" dur="1" fill="hold">
                                          <p:stCondLst>
                                            <p:cond delay="0"/>
                                          </p:stCondLst>
                                        </p:cTn>
                                        <p:tgtEl>
                                          <p:spTgt spid="347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9" grpId="0" animBg="1"/>
      <p:bldP spid="347152" grpId="0" animBg="1"/>
      <p:bldP spid="347152" grpId="1" animBg="1"/>
      <p:bldP spid="3471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2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建立</a:t>
            </a:r>
            <a:r>
              <a:rPr lang="zh-CN" altLang="en-US" dirty="0" smtClean="0">
                <a:solidFill>
                  <a:srgbClr val="FF0000"/>
                </a:solidFill>
                <a:ea typeface="黑体" panose="02010609060101010101" pitchFamily="49" charset="-122"/>
              </a:rPr>
              <a:t>关联</a:t>
            </a:r>
            <a:r>
              <a:rPr lang="en-US" altLang="zh-CN" dirty="0" smtClean="0">
                <a:ea typeface="黑体" panose="02010609060101010101" pitchFamily="49" charset="-122"/>
              </a:rPr>
              <a:t>(association)</a:t>
            </a:r>
          </a:p>
        </p:txBody>
      </p:sp>
      <p:sp>
        <p:nvSpPr>
          <p:cNvPr id="2385922"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一个移动站若要加入到一个基本服务集 </a:t>
            </a:r>
            <a:r>
              <a:rPr lang="en-US" altLang="zh-CN" dirty="0" smtClean="0">
                <a:ea typeface="黑体" panose="02010609060101010101" pitchFamily="49" charset="-122"/>
              </a:rPr>
              <a:t>BSS</a:t>
            </a:r>
            <a:r>
              <a:rPr lang="zh-CN" altLang="en-US" dirty="0" smtClean="0">
                <a:ea typeface="黑体" panose="02010609060101010101" pitchFamily="49" charset="-122"/>
              </a:rPr>
              <a:t>，就必须先选择一个接入点 </a:t>
            </a:r>
            <a:r>
              <a:rPr lang="en-US" altLang="zh-CN" dirty="0" smtClean="0">
                <a:ea typeface="黑体" panose="02010609060101010101" pitchFamily="49" charset="-122"/>
              </a:rPr>
              <a:t>AP</a:t>
            </a:r>
            <a:r>
              <a:rPr lang="zh-CN" altLang="en-US" dirty="0" smtClean="0">
                <a:ea typeface="黑体" panose="02010609060101010101" pitchFamily="49" charset="-122"/>
              </a:rPr>
              <a:t>，并与此接入点</a:t>
            </a:r>
            <a:r>
              <a:rPr lang="zh-CN" altLang="en-US" dirty="0" smtClean="0">
                <a:solidFill>
                  <a:srgbClr val="FF0000"/>
                </a:solidFill>
                <a:ea typeface="黑体" panose="02010609060101010101" pitchFamily="49" charset="-122"/>
              </a:rPr>
              <a:t>建立关联 </a:t>
            </a:r>
            <a:r>
              <a:rPr lang="en-US" altLang="zh-CN" dirty="0" smtClean="0">
                <a:ea typeface="黑体" panose="02010609060101010101" pitchFamily="49" charset="-122"/>
              </a:rPr>
              <a:t>(association) </a:t>
            </a:r>
            <a:r>
              <a:rPr lang="zh-CN" altLang="en-US" dirty="0" smtClean="0">
                <a:ea typeface="黑体" panose="02010609060101010101" pitchFamily="49" charset="-122"/>
              </a:rPr>
              <a:t>。</a:t>
            </a:r>
          </a:p>
          <a:p>
            <a:r>
              <a:rPr lang="zh-CN" altLang="en-US" dirty="0" smtClean="0">
                <a:ea typeface="黑体" panose="02010609060101010101" pitchFamily="49" charset="-122"/>
              </a:rPr>
              <a:t>建立关联就表示这个移动站</a:t>
            </a:r>
            <a:r>
              <a:rPr lang="zh-CN" altLang="en-US" dirty="0" smtClean="0">
                <a:solidFill>
                  <a:srgbClr val="0000FF"/>
                </a:solidFill>
                <a:ea typeface="黑体" panose="02010609060101010101" pitchFamily="49" charset="-122"/>
              </a:rPr>
              <a:t>加入了选定的 </a:t>
            </a:r>
            <a:r>
              <a:rPr lang="en-US" altLang="zh-CN" dirty="0" smtClean="0">
                <a:solidFill>
                  <a:srgbClr val="0000FF"/>
                </a:solidFill>
                <a:ea typeface="黑体" panose="02010609060101010101" pitchFamily="49" charset="-122"/>
              </a:rPr>
              <a:t>AP </a:t>
            </a:r>
            <a:r>
              <a:rPr lang="zh-CN" altLang="en-US" dirty="0" smtClean="0">
                <a:solidFill>
                  <a:srgbClr val="0000FF"/>
                </a:solidFill>
                <a:ea typeface="黑体" panose="02010609060101010101" pitchFamily="49" charset="-122"/>
              </a:rPr>
              <a:t>所属的子网</a:t>
            </a:r>
            <a:r>
              <a:rPr lang="zh-CN" altLang="en-US" dirty="0" smtClean="0">
                <a:ea typeface="黑体" panose="02010609060101010101" pitchFamily="49" charset="-122"/>
              </a:rPr>
              <a:t>，并和这个 </a:t>
            </a:r>
            <a:r>
              <a:rPr lang="en-US" altLang="zh-CN" dirty="0" smtClean="0">
                <a:ea typeface="黑体" panose="02010609060101010101" pitchFamily="49" charset="-122"/>
              </a:rPr>
              <a:t>AP </a:t>
            </a:r>
            <a:r>
              <a:rPr lang="zh-CN" altLang="en-US" dirty="0" smtClean="0">
                <a:ea typeface="黑体" panose="02010609060101010101" pitchFamily="49" charset="-122"/>
              </a:rPr>
              <a:t>之间创建了一个虚拟线路。</a:t>
            </a:r>
          </a:p>
          <a:p>
            <a:r>
              <a:rPr lang="zh-CN" altLang="en-US" dirty="0" smtClean="0">
                <a:ea typeface="黑体" panose="02010609060101010101" pitchFamily="49" charset="-122"/>
              </a:rPr>
              <a:t>只有关联的 </a:t>
            </a:r>
            <a:r>
              <a:rPr lang="en-US" altLang="zh-CN" dirty="0" smtClean="0">
                <a:ea typeface="黑体" panose="02010609060101010101" pitchFamily="49" charset="-122"/>
              </a:rPr>
              <a:t>AP </a:t>
            </a:r>
            <a:r>
              <a:rPr lang="zh-CN" altLang="en-US" dirty="0" smtClean="0">
                <a:ea typeface="黑体" panose="02010609060101010101" pitchFamily="49" charset="-122"/>
              </a:rPr>
              <a:t>才向这个移动站发送数据帧，而这个移动站也只有通过关联的 </a:t>
            </a:r>
            <a:r>
              <a:rPr lang="en-US" altLang="zh-CN" dirty="0" smtClean="0">
                <a:ea typeface="黑体" panose="02010609060101010101" pitchFamily="49" charset="-122"/>
              </a:rPr>
              <a:t>AP </a:t>
            </a:r>
            <a:r>
              <a:rPr lang="zh-CN" altLang="en-US" dirty="0" smtClean="0">
                <a:ea typeface="黑体" panose="02010609060101010101" pitchFamily="49" charset="-122"/>
              </a:rPr>
              <a:t>才能向其他站点发送数据帧。</a:t>
            </a:r>
          </a:p>
        </p:txBody>
      </p:sp>
      <p:sp>
        <p:nvSpPr>
          <p:cNvPr id="2385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53CBC8-CC31-4212-8207-D70938AB018F}" type="slidenum">
              <a:rPr lang="zh-CN" altLang="en-US" smtClean="0"/>
              <a:pPr eaLnBrk="1" hangingPunct="1"/>
              <a:t>12</a:t>
            </a:fld>
            <a:endParaRPr lang="en-US" altLang="zh-CN" smtClean="0"/>
          </a:p>
        </p:txBody>
      </p:sp>
      <p:sp>
        <p:nvSpPr>
          <p:cNvPr id="2385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7969"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移动站与 </a:t>
            </a:r>
            <a:r>
              <a:rPr lang="en-US" altLang="zh-CN" dirty="0" smtClean="0">
                <a:ea typeface="黑体" panose="02010609060101010101" pitchFamily="49" charset="-122"/>
              </a:rPr>
              <a:t>AP </a:t>
            </a:r>
            <a:r>
              <a:rPr lang="zh-CN" altLang="en-US" dirty="0" smtClean="0">
                <a:ea typeface="黑体" panose="02010609060101010101" pitchFamily="49" charset="-122"/>
              </a:rPr>
              <a:t>建立关联的方法</a:t>
            </a:r>
          </a:p>
        </p:txBody>
      </p:sp>
      <p:sp>
        <p:nvSpPr>
          <p:cNvPr id="2387970" name="Rectangle 3"/>
          <p:cNvSpPr>
            <a:spLocks noGrp="1" noChangeArrowheads="1"/>
          </p:cNvSpPr>
          <p:nvPr>
            <p:ph type="body"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被动扫描</a:t>
            </a:r>
            <a:endParaRPr lang="en-US" altLang="zh-CN" dirty="0" smtClean="0">
              <a:solidFill>
                <a:srgbClr val="0000FF"/>
              </a:solidFill>
              <a:ea typeface="黑体" panose="02010609060101010101" pitchFamily="49" charset="-122"/>
            </a:endParaRPr>
          </a:p>
          <a:p>
            <a:pPr lvl="1"/>
            <a:r>
              <a:rPr lang="zh-CN" altLang="en-US" dirty="0" smtClean="0">
                <a:ea typeface="黑体" panose="02010609060101010101" pitchFamily="49" charset="-122"/>
              </a:rPr>
              <a:t>移动站等待接收接入站周期性发出的</a:t>
            </a:r>
            <a:r>
              <a:rPr lang="zh-CN" altLang="en-US" dirty="0" smtClean="0">
                <a:solidFill>
                  <a:srgbClr val="0000FF"/>
                </a:solidFill>
                <a:ea typeface="黑体" panose="02010609060101010101" pitchFamily="49" charset="-122"/>
              </a:rPr>
              <a:t>信标帧</a:t>
            </a:r>
            <a:r>
              <a:rPr lang="en-US" altLang="zh-CN" dirty="0" smtClean="0">
                <a:ea typeface="黑体" panose="02010609060101010101" pitchFamily="49" charset="-122"/>
              </a:rPr>
              <a:t>(beacon frame)</a:t>
            </a:r>
            <a:r>
              <a:rPr lang="zh-CN" altLang="en-US" dirty="0" smtClean="0">
                <a:ea typeface="黑体" panose="02010609060101010101" pitchFamily="49" charset="-122"/>
              </a:rPr>
              <a:t>。</a:t>
            </a:r>
          </a:p>
          <a:p>
            <a:pPr lvl="1"/>
            <a:r>
              <a:rPr lang="zh-CN" altLang="en-US" dirty="0" smtClean="0">
                <a:ea typeface="黑体" panose="02010609060101010101" pitchFamily="49" charset="-122"/>
              </a:rPr>
              <a:t>信标帧中包含有若干系统参数（如服务集标识符 </a:t>
            </a:r>
            <a:r>
              <a:rPr lang="en-US" altLang="zh-CN" dirty="0" smtClean="0">
                <a:ea typeface="黑体" panose="02010609060101010101" pitchFamily="49" charset="-122"/>
              </a:rPr>
              <a:t>SSID </a:t>
            </a:r>
            <a:r>
              <a:rPr lang="zh-CN" altLang="en-US" dirty="0" smtClean="0">
                <a:ea typeface="黑体" panose="02010609060101010101" pitchFamily="49" charset="-122"/>
              </a:rPr>
              <a:t>以及支持的速率等）。</a:t>
            </a:r>
          </a:p>
          <a:p>
            <a:r>
              <a:rPr lang="zh-CN" altLang="en-US" dirty="0" smtClean="0">
                <a:solidFill>
                  <a:srgbClr val="0000FF"/>
                </a:solidFill>
                <a:ea typeface="黑体" panose="02010609060101010101" pitchFamily="49" charset="-122"/>
              </a:rPr>
              <a:t>主动扫描</a:t>
            </a:r>
            <a:endParaRPr lang="en-US" altLang="zh-CN" dirty="0" smtClean="0">
              <a:solidFill>
                <a:srgbClr val="0000FF"/>
              </a:solidFill>
              <a:ea typeface="黑体" panose="02010609060101010101" pitchFamily="49" charset="-122"/>
            </a:endParaRPr>
          </a:p>
          <a:p>
            <a:pPr lvl="1"/>
            <a:r>
              <a:rPr lang="zh-CN" altLang="en-US" dirty="0" smtClean="0">
                <a:ea typeface="黑体" panose="02010609060101010101" pitchFamily="49" charset="-122"/>
              </a:rPr>
              <a:t>移动站主动发出</a:t>
            </a:r>
            <a:r>
              <a:rPr lang="zh-CN" altLang="en-US" dirty="0" smtClean="0">
                <a:solidFill>
                  <a:srgbClr val="0000FF"/>
                </a:solidFill>
                <a:ea typeface="黑体" panose="02010609060101010101" pitchFamily="49" charset="-122"/>
              </a:rPr>
              <a:t>探测请求帧</a:t>
            </a:r>
            <a:r>
              <a:rPr lang="en-US" altLang="zh-CN" dirty="0" smtClean="0">
                <a:ea typeface="黑体" panose="02010609060101010101" pitchFamily="49" charset="-122"/>
              </a:rPr>
              <a:t>(probe request frame)</a:t>
            </a:r>
            <a:r>
              <a:rPr lang="zh-CN" altLang="en-US" dirty="0" smtClean="0">
                <a:ea typeface="黑体" panose="02010609060101010101" pitchFamily="49" charset="-122"/>
              </a:rPr>
              <a:t>，然后等待从 </a:t>
            </a:r>
            <a:r>
              <a:rPr lang="en-US" altLang="zh-CN" dirty="0" smtClean="0">
                <a:ea typeface="黑体" panose="02010609060101010101" pitchFamily="49" charset="-122"/>
              </a:rPr>
              <a:t>AP </a:t>
            </a:r>
            <a:r>
              <a:rPr lang="zh-CN" altLang="en-US" dirty="0" smtClean="0">
                <a:ea typeface="黑体" panose="02010609060101010101" pitchFamily="49" charset="-122"/>
              </a:rPr>
              <a:t>发回的</a:t>
            </a:r>
            <a:r>
              <a:rPr lang="zh-CN" altLang="en-US" dirty="0" smtClean="0">
                <a:solidFill>
                  <a:srgbClr val="0000FF"/>
                </a:solidFill>
                <a:ea typeface="黑体" panose="02010609060101010101" pitchFamily="49" charset="-122"/>
              </a:rPr>
              <a:t>探测响应帧</a:t>
            </a:r>
            <a:r>
              <a:rPr lang="en-US" altLang="zh-CN" dirty="0" smtClean="0">
                <a:ea typeface="黑体" panose="02010609060101010101" pitchFamily="49" charset="-122"/>
              </a:rPr>
              <a:t>(probe response frame)</a:t>
            </a:r>
            <a:r>
              <a:rPr lang="zh-CN" altLang="en-US" dirty="0" smtClean="0">
                <a:ea typeface="黑体" panose="02010609060101010101" pitchFamily="49" charset="-122"/>
              </a:rPr>
              <a:t>。</a:t>
            </a:r>
          </a:p>
        </p:txBody>
      </p:sp>
      <p:sp>
        <p:nvSpPr>
          <p:cNvPr id="238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A99D71-62A0-43D8-8AF7-23E74F58933F}" type="slidenum">
              <a:rPr lang="zh-CN" altLang="en-US" smtClean="0"/>
              <a:pPr eaLnBrk="1" hangingPunct="1"/>
              <a:t>13</a:t>
            </a:fld>
            <a:endParaRPr lang="en-US" altLang="zh-CN" smtClean="0"/>
          </a:p>
        </p:txBody>
      </p:sp>
      <p:sp>
        <p:nvSpPr>
          <p:cNvPr id="238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001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热点 </a:t>
            </a:r>
            <a:r>
              <a:rPr lang="en-US" altLang="zh-CN" dirty="0" smtClean="0">
                <a:ea typeface="黑体" panose="02010609060101010101" pitchFamily="49" charset="-122"/>
              </a:rPr>
              <a:t>(hot spot)</a:t>
            </a:r>
          </a:p>
        </p:txBody>
      </p:sp>
      <p:sp>
        <p:nvSpPr>
          <p:cNvPr id="23900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现在许多地方，如办公室、机场、快餐店、旅馆、购物中心等都能够向公众提供有偿或无偿接入 </a:t>
            </a:r>
            <a:r>
              <a:rPr lang="en-US" altLang="zh-CN" dirty="0" smtClean="0">
                <a:ea typeface="黑体" panose="02010609060101010101" pitchFamily="49" charset="-122"/>
              </a:rPr>
              <a:t>Wi-Fi </a:t>
            </a:r>
            <a:r>
              <a:rPr lang="zh-CN" altLang="en-US" dirty="0" smtClean="0">
                <a:ea typeface="黑体" panose="02010609060101010101" pitchFamily="49" charset="-122"/>
              </a:rPr>
              <a:t>的服务。这样的地点就叫做</a:t>
            </a:r>
            <a:r>
              <a:rPr lang="zh-CN" altLang="en-US" dirty="0" smtClean="0">
                <a:solidFill>
                  <a:srgbClr val="FF0000"/>
                </a:solidFill>
                <a:ea typeface="黑体" panose="02010609060101010101" pitchFamily="49" charset="-122"/>
              </a:rPr>
              <a:t>热点</a:t>
            </a:r>
            <a:r>
              <a:rPr lang="zh-CN" altLang="en-US" dirty="0" smtClean="0">
                <a:ea typeface="黑体" panose="02010609060101010101" pitchFamily="49" charset="-122"/>
              </a:rPr>
              <a:t>。</a:t>
            </a:r>
          </a:p>
          <a:p>
            <a:r>
              <a:rPr lang="zh-CN" altLang="en-US" dirty="0" smtClean="0">
                <a:ea typeface="黑体" panose="02010609060101010101" pitchFamily="49" charset="-122"/>
              </a:rPr>
              <a:t>由许多热点和 </a:t>
            </a:r>
            <a:r>
              <a:rPr lang="en-US" altLang="zh-CN" dirty="0" smtClean="0">
                <a:ea typeface="黑体" panose="02010609060101010101" pitchFamily="49" charset="-122"/>
              </a:rPr>
              <a:t>AP </a:t>
            </a:r>
            <a:r>
              <a:rPr lang="zh-CN" altLang="en-US" dirty="0" smtClean="0">
                <a:ea typeface="黑体" panose="02010609060101010101" pitchFamily="49" charset="-122"/>
              </a:rPr>
              <a:t>连接起来的区域叫做</a:t>
            </a:r>
            <a:r>
              <a:rPr lang="zh-CN" altLang="en-US" dirty="0" smtClean="0">
                <a:solidFill>
                  <a:srgbClr val="FF0000"/>
                </a:solidFill>
                <a:ea typeface="黑体" panose="02010609060101010101" pitchFamily="49" charset="-122"/>
              </a:rPr>
              <a:t>热区 </a:t>
            </a:r>
            <a:r>
              <a:rPr lang="en-US" altLang="zh-CN" dirty="0" smtClean="0">
                <a:ea typeface="黑体" panose="02010609060101010101" pitchFamily="49" charset="-122"/>
              </a:rPr>
              <a:t>(hot zone)</a:t>
            </a:r>
            <a:r>
              <a:rPr lang="zh-CN" altLang="en-US" dirty="0" smtClean="0">
                <a:ea typeface="黑体" panose="02010609060101010101" pitchFamily="49" charset="-122"/>
              </a:rPr>
              <a:t>。热点也就是公众无线入网点。</a:t>
            </a:r>
          </a:p>
          <a:p>
            <a:r>
              <a:rPr lang="zh-CN" altLang="en-US" dirty="0" smtClean="0">
                <a:ea typeface="黑体" panose="02010609060101010101" pitchFamily="49" charset="-122"/>
              </a:rPr>
              <a:t>现在也出现</a:t>
            </a:r>
            <a:r>
              <a:rPr lang="zh-CN" altLang="en-US" u="sng" dirty="0" smtClean="0">
                <a:ea typeface="黑体" panose="02010609060101010101" pitchFamily="49" charset="-122"/>
              </a:rPr>
              <a:t>了</a:t>
            </a:r>
            <a:r>
              <a:rPr lang="zh-CN" altLang="en-US" u="sng" dirty="0" smtClean="0">
                <a:solidFill>
                  <a:srgbClr val="FF0000"/>
                </a:solidFill>
                <a:ea typeface="黑体" panose="02010609060101010101" pitchFamily="49" charset="-122"/>
              </a:rPr>
              <a:t>无线互联网服务提供者 </a:t>
            </a:r>
            <a:r>
              <a:rPr lang="en-US" altLang="zh-CN" u="sng" dirty="0" smtClean="0">
                <a:solidFill>
                  <a:srgbClr val="FF0000"/>
                </a:solidFill>
                <a:ea typeface="黑体" panose="02010609060101010101" pitchFamily="49" charset="-122"/>
              </a:rPr>
              <a:t>WISP </a:t>
            </a:r>
            <a:r>
              <a:rPr lang="en-US" altLang="zh-CN" u="sng" dirty="0" smtClean="0">
                <a:ea typeface="黑体" panose="02010609060101010101" pitchFamily="49" charset="-122"/>
              </a:rPr>
              <a:t>(Wireless Internet Service Provider) </a:t>
            </a:r>
            <a:r>
              <a:rPr lang="zh-CN" altLang="en-US" dirty="0" smtClean="0">
                <a:ea typeface="黑体" panose="02010609060101010101" pitchFamily="49" charset="-122"/>
              </a:rPr>
              <a:t>这一名词。用户可以通过无线信道接入到 </a:t>
            </a:r>
            <a:r>
              <a:rPr lang="en-US" altLang="zh-CN" dirty="0" smtClean="0">
                <a:ea typeface="黑体" panose="02010609060101010101" pitchFamily="49" charset="-122"/>
              </a:rPr>
              <a:t>WISP</a:t>
            </a:r>
            <a:r>
              <a:rPr lang="zh-CN" altLang="en-US" dirty="0" smtClean="0">
                <a:ea typeface="黑体" panose="02010609060101010101" pitchFamily="49" charset="-122"/>
              </a:rPr>
              <a:t>，然后再经过无线信道接入到互联网。</a:t>
            </a:r>
          </a:p>
        </p:txBody>
      </p:sp>
      <p:sp>
        <p:nvSpPr>
          <p:cNvPr id="2390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C1DBB9-EE46-4BE2-985B-619209FCB3CB}" type="slidenum">
              <a:rPr lang="zh-CN" altLang="en-US" smtClean="0"/>
              <a:pPr eaLnBrk="1" hangingPunct="1"/>
              <a:t>14</a:t>
            </a:fld>
            <a:endParaRPr lang="en-US" altLang="zh-CN" smtClean="0"/>
          </a:p>
        </p:txBody>
      </p:sp>
      <p:sp>
        <p:nvSpPr>
          <p:cNvPr id="2390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2065"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移动自组网络</a:t>
            </a:r>
            <a:endParaRPr lang="en-US" altLang="zh-CN" smtClean="0">
              <a:ea typeface="黑体" panose="02010609060101010101" pitchFamily="49" charset="-122"/>
            </a:endParaRPr>
          </a:p>
        </p:txBody>
      </p:sp>
      <p:sp>
        <p:nvSpPr>
          <p:cNvPr id="2392066" name="Rectangle 153"/>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移动自组网络又称为</a:t>
            </a:r>
            <a:r>
              <a:rPr lang="zh-CN" altLang="en-US" sz="3000" dirty="0" smtClean="0">
                <a:solidFill>
                  <a:srgbClr val="FF0000"/>
                </a:solidFill>
                <a:ea typeface="黑体" panose="02010609060101010101" pitchFamily="49" charset="-122"/>
              </a:rPr>
              <a:t>自组网络 </a:t>
            </a:r>
            <a:r>
              <a:rPr lang="en-US" altLang="zh-CN" sz="3000" dirty="0" smtClean="0">
                <a:ea typeface="黑体" panose="02010609060101010101" pitchFamily="49" charset="-122"/>
              </a:rPr>
              <a:t>(ad hoc network) </a:t>
            </a:r>
            <a:r>
              <a:rPr lang="zh-CN" altLang="en-US" sz="3000" dirty="0" smtClean="0">
                <a:ea typeface="黑体" panose="02010609060101010101" pitchFamily="49" charset="-122"/>
              </a:rPr>
              <a:t>。</a:t>
            </a:r>
            <a:endParaRPr lang="en-US" altLang="zh-CN" sz="3000" dirty="0" smtClean="0">
              <a:ea typeface="黑体" panose="02010609060101010101" pitchFamily="49" charset="-122"/>
            </a:endParaRPr>
          </a:p>
          <a:p>
            <a:r>
              <a:rPr lang="zh-CN" altLang="en-US" sz="3000" dirty="0" smtClean="0">
                <a:ea typeface="黑体" panose="02010609060101010101" pitchFamily="49" charset="-122"/>
              </a:rPr>
              <a:t>自组网络是没有固定基础设施（即没有 </a:t>
            </a:r>
            <a:r>
              <a:rPr lang="en-US" altLang="zh-CN" sz="3000" dirty="0" smtClean="0">
                <a:ea typeface="黑体" panose="02010609060101010101" pitchFamily="49" charset="-122"/>
              </a:rPr>
              <a:t>AP</a:t>
            </a:r>
            <a:r>
              <a:rPr lang="zh-CN" altLang="en-US" sz="3000" dirty="0" smtClean="0">
                <a:ea typeface="黑体" panose="02010609060101010101" pitchFamily="49" charset="-122"/>
              </a:rPr>
              <a:t>）的无线局域网。</a:t>
            </a:r>
            <a:endParaRPr lang="en-US" altLang="zh-CN" sz="3000" dirty="0" smtClean="0">
              <a:ea typeface="黑体" panose="02010609060101010101" pitchFamily="49" charset="-122"/>
            </a:endParaRPr>
          </a:p>
          <a:p>
            <a:r>
              <a:rPr lang="zh-CN" altLang="en-US" sz="3000" dirty="0" smtClean="0">
                <a:ea typeface="黑体" panose="02010609060101010101" pitchFamily="49" charset="-122"/>
              </a:rPr>
              <a:t>这种网络是由一些处于</a:t>
            </a:r>
            <a:r>
              <a:rPr lang="zh-CN" altLang="en-US" sz="3000" dirty="0" smtClean="0">
                <a:solidFill>
                  <a:srgbClr val="0000FF"/>
                </a:solidFill>
                <a:ea typeface="黑体" panose="02010609060101010101" pitchFamily="49" charset="-122"/>
              </a:rPr>
              <a:t>平等状态的移动站</a:t>
            </a:r>
            <a:r>
              <a:rPr lang="zh-CN" altLang="en-US" sz="3000" dirty="0" smtClean="0">
                <a:ea typeface="黑体" panose="02010609060101010101" pitchFamily="49" charset="-122"/>
              </a:rPr>
              <a:t>之间</a:t>
            </a:r>
            <a:r>
              <a:rPr lang="zh-CN" altLang="en-US" sz="3000" dirty="0" smtClean="0">
                <a:solidFill>
                  <a:srgbClr val="0000FF"/>
                </a:solidFill>
                <a:ea typeface="黑体" panose="02010609060101010101" pitchFamily="49" charset="-122"/>
              </a:rPr>
              <a:t>相互通信</a:t>
            </a:r>
            <a:r>
              <a:rPr lang="zh-CN" altLang="en-US" sz="3000" dirty="0" smtClean="0">
                <a:ea typeface="黑体" panose="02010609060101010101" pitchFamily="49" charset="-122"/>
              </a:rPr>
              <a:t>组成的临时网络。</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自组网络的服务</a:t>
            </a:r>
            <a:r>
              <a:rPr lang="zh-CN" altLang="zh-CN" sz="3000" dirty="0" smtClean="0">
                <a:solidFill>
                  <a:srgbClr val="0000FF"/>
                </a:solidFill>
                <a:ea typeface="黑体" panose="02010609060101010101" pitchFamily="49" charset="-122"/>
              </a:rPr>
              <a:t>范围</a:t>
            </a:r>
            <a:r>
              <a:rPr lang="zh-CN" altLang="zh-CN" sz="3000" dirty="0" smtClean="0">
                <a:ea typeface="黑体" panose="02010609060101010101" pitchFamily="49" charset="-122"/>
              </a:rPr>
              <a:t>通常是</a:t>
            </a:r>
            <a:r>
              <a:rPr lang="zh-CN" altLang="zh-CN" sz="3000" dirty="0" smtClean="0">
                <a:solidFill>
                  <a:srgbClr val="0000FF"/>
                </a:solidFill>
                <a:ea typeface="黑体" panose="02010609060101010101" pitchFamily="49" charset="-122"/>
              </a:rPr>
              <a:t>受限</a:t>
            </a:r>
            <a:r>
              <a:rPr lang="zh-CN" altLang="zh-CN" sz="3000" dirty="0" smtClean="0">
                <a:ea typeface="黑体" panose="02010609060101010101" pitchFamily="49" charset="-122"/>
              </a:rPr>
              <a:t>的，而且一般也</a:t>
            </a:r>
            <a:r>
              <a:rPr lang="zh-CN" altLang="zh-CN" sz="3000" dirty="0" smtClean="0">
                <a:solidFill>
                  <a:srgbClr val="0000FF"/>
                </a:solidFill>
                <a:ea typeface="黑体" panose="02010609060101010101" pitchFamily="49" charset="-122"/>
              </a:rPr>
              <a:t>不和外界</a:t>
            </a:r>
            <a:r>
              <a:rPr lang="zh-CN" altLang="zh-CN" sz="3000" dirty="0" smtClean="0">
                <a:ea typeface="黑体" panose="02010609060101010101" pitchFamily="49" charset="-122"/>
              </a:rPr>
              <a:t>的其他网络相</a:t>
            </a:r>
            <a:r>
              <a:rPr lang="zh-CN" altLang="zh-CN" sz="3000" dirty="0" smtClean="0">
                <a:solidFill>
                  <a:srgbClr val="0000FF"/>
                </a:solidFill>
                <a:ea typeface="黑体" panose="02010609060101010101" pitchFamily="49" charset="-122"/>
              </a:rPr>
              <a:t>连接</a:t>
            </a:r>
            <a:r>
              <a:rPr lang="zh-CN" altLang="zh-CN" sz="3000" dirty="0" smtClean="0">
                <a:ea typeface="黑体" panose="02010609060101010101" pitchFamily="49" charset="-122"/>
              </a:rPr>
              <a:t>。</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移动自组网络也就是</a:t>
            </a:r>
            <a:r>
              <a:rPr lang="zh-CN" altLang="zh-CN" sz="3000" dirty="0" smtClean="0">
                <a:solidFill>
                  <a:srgbClr val="FF0000"/>
                </a:solidFill>
                <a:ea typeface="黑体" panose="02010609060101010101" pitchFamily="49" charset="-122"/>
              </a:rPr>
              <a:t>移动分组无线网络。</a:t>
            </a:r>
            <a:endParaRPr lang="zh-CN" altLang="en-US" sz="3000" dirty="0" smtClean="0">
              <a:solidFill>
                <a:srgbClr val="FF0000"/>
              </a:solidFill>
              <a:ea typeface="黑体" panose="02010609060101010101" pitchFamily="49" charset="-122"/>
            </a:endParaRPr>
          </a:p>
        </p:txBody>
      </p:sp>
      <p:sp>
        <p:nvSpPr>
          <p:cNvPr id="2392067" name="Text Box 104"/>
          <p:cNvSpPr txBox="1">
            <a:spLocks noChangeArrowheads="1"/>
          </p:cNvSpPr>
          <p:nvPr/>
        </p:nvSpPr>
        <p:spPr bwMode="auto">
          <a:xfrm>
            <a:off x="8620125" y="17002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a:ea typeface="宋体" panose="02010600030101010101" pitchFamily="2" charset="-122"/>
            </a:endParaRPr>
          </a:p>
        </p:txBody>
      </p:sp>
      <p:sp>
        <p:nvSpPr>
          <p:cNvPr id="23920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665FBC-D889-49E5-88FD-806CB333EB09}" type="slidenum">
              <a:rPr lang="zh-CN" altLang="en-US" smtClean="0"/>
              <a:pPr eaLnBrk="1" hangingPunct="1"/>
              <a:t>15</a:t>
            </a:fld>
            <a:endParaRPr lang="en-US" altLang="zh-CN" smtClean="0"/>
          </a:p>
        </p:txBody>
      </p:sp>
      <p:sp>
        <p:nvSpPr>
          <p:cNvPr id="23920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3089" name="Rectangle 6"/>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移动自组网络</a:t>
            </a:r>
            <a:endParaRPr lang="en-US" altLang="zh-CN" smtClean="0">
              <a:ea typeface="黑体" panose="02010609060101010101" pitchFamily="49" charset="-122"/>
            </a:endParaRPr>
          </a:p>
        </p:txBody>
      </p:sp>
      <p:grpSp>
        <p:nvGrpSpPr>
          <p:cNvPr id="2393090" name="组合 2"/>
          <p:cNvGrpSpPr>
            <a:grpSpLocks/>
          </p:cNvGrpSpPr>
          <p:nvPr/>
        </p:nvGrpSpPr>
        <p:grpSpPr bwMode="auto">
          <a:xfrm>
            <a:off x="704850" y="1268413"/>
            <a:ext cx="8099425" cy="3127375"/>
            <a:chOff x="704528" y="1700214"/>
            <a:chExt cx="8099799" cy="3126373"/>
          </a:xfrm>
        </p:grpSpPr>
        <p:sp>
          <p:nvSpPr>
            <p:cNvPr id="2393091" name="Text Box 104"/>
            <p:cNvSpPr txBox="1">
              <a:spLocks noChangeArrowheads="1"/>
            </p:cNvSpPr>
            <p:nvPr/>
          </p:nvSpPr>
          <p:spPr bwMode="auto">
            <a:xfrm>
              <a:off x="8619596" y="1700214"/>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2393092" name="Oval 106"/>
            <p:cNvSpPr>
              <a:spLocks noChangeArrowheads="1"/>
            </p:cNvSpPr>
            <p:nvPr/>
          </p:nvSpPr>
          <p:spPr bwMode="auto">
            <a:xfrm>
              <a:off x="1814381" y="2319925"/>
              <a:ext cx="6507692" cy="2506662"/>
            </a:xfrm>
            <a:prstGeom prst="ellipse">
              <a:avLst/>
            </a:prstGeom>
            <a:solidFill>
              <a:srgbClr val="FF99FF"/>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3" name="Text Box 107"/>
            <p:cNvSpPr txBox="1">
              <a:spLocks noChangeArrowheads="1"/>
            </p:cNvSpPr>
            <p:nvPr/>
          </p:nvSpPr>
          <p:spPr bwMode="auto">
            <a:xfrm>
              <a:off x="4261735" y="3265820"/>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自组网络</a:t>
              </a:r>
            </a:p>
          </p:txBody>
        </p:sp>
        <p:sp>
          <p:nvSpPr>
            <p:cNvPr id="2393094" name="Freeform 108"/>
            <p:cNvSpPr>
              <a:spLocks noChangeArrowheads="1"/>
            </p:cNvSpPr>
            <p:nvPr/>
          </p:nvSpPr>
          <p:spPr bwMode="auto">
            <a:xfrm rot="-2939644">
              <a:off x="4482703" y="2261981"/>
              <a:ext cx="352425"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5" name="Freeform 109"/>
            <p:cNvSpPr>
              <a:spLocks noChangeArrowheads="1"/>
            </p:cNvSpPr>
            <p:nvPr/>
          </p:nvSpPr>
          <p:spPr bwMode="auto">
            <a:xfrm rot="-2939644">
              <a:off x="5677033" y="4123324"/>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6" name="Freeform 110"/>
            <p:cNvSpPr>
              <a:spLocks noChangeArrowheads="1"/>
            </p:cNvSpPr>
            <p:nvPr/>
          </p:nvSpPr>
          <p:spPr bwMode="auto">
            <a:xfrm rot="-2939644">
              <a:off x="2591726" y="2664412"/>
              <a:ext cx="350837"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7" name="Freeform 111"/>
            <p:cNvSpPr>
              <a:spLocks noChangeArrowheads="1"/>
            </p:cNvSpPr>
            <p:nvPr/>
          </p:nvSpPr>
          <p:spPr bwMode="auto">
            <a:xfrm rot="-2939644">
              <a:off x="3235789" y="3893865"/>
              <a:ext cx="350838" cy="6363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8" name="Freeform 112"/>
            <p:cNvSpPr>
              <a:spLocks noChangeArrowheads="1"/>
            </p:cNvSpPr>
            <p:nvPr/>
          </p:nvSpPr>
          <p:spPr bwMode="auto">
            <a:xfrm rot="2939644" flipH="1">
              <a:off x="2191874" y="2663552"/>
              <a:ext cx="350837" cy="6363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099" name="Freeform 113"/>
            <p:cNvSpPr>
              <a:spLocks noChangeArrowheads="1"/>
            </p:cNvSpPr>
            <p:nvPr/>
          </p:nvSpPr>
          <p:spPr bwMode="auto">
            <a:xfrm rot="2939644" flipH="1">
              <a:off x="4076766" y="2287448"/>
              <a:ext cx="350837"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00" name="Freeform 114"/>
            <p:cNvSpPr>
              <a:spLocks noChangeArrowheads="1"/>
            </p:cNvSpPr>
            <p:nvPr/>
          </p:nvSpPr>
          <p:spPr bwMode="auto">
            <a:xfrm rot="2939644" flipH="1">
              <a:off x="2910747" y="3882885"/>
              <a:ext cx="350838"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01" name="Freeform 115"/>
            <p:cNvSpPr>
              <a:spLocks noChangeArrowheads="1"/>
            </p:cNvSpPr>
            <p:nvPr/>
          </p:nvSpPr>
          <p:spPr bwMode="auto">
            <a:xfrm rot="2939644" flipH="1">
              <a:off x="5259123" y="4110624"/>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02" name="Group 116"/>
            <p:cNvGrpSpPr>
              <a:grpSpLocks/>
            </p:cNvGrpSpPr>
            <p:nvPr/>
          </p:nvGrpSpPr>
          <p:grpSpPr bwMode="auto">
            <a:xfrm>
              <a:off x="5248805" y="4145551"/>
              <a:ext cx="486702" cy="579437"/>
              <a:chOff x="2352" y="2061"/>
              <a:chExt cx="246" cy="237"/>
            </a:xfrm>
          </p:grpSpPr>
          <p:pic>
            <p:nvPicPr>
              <p:cNvPr id="2393103" name="Picture 117"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04" name="Line 118"/>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05" name="Group 119"/>
            <p:cNvGrpSpPr>
              <a:grpSpLocks/>
            </p:cNvGrpSpPr>
            <p:nvPr/>
          </p:nvGrpSpPr>
          <p:grpSpPr bwMode="auto">
            <a:xfrm>
              <a:off x="2858294" y="3945526"/>
              <a:ext cx="488421" cy="579437"/>
              <a:chOff x="2352" y="2061"/>
              <a:chExt cx="246" cy="237"/>
            </a:xfrm>
          </p:grpSpPr>
          <p:pic>
            <p:nvPicPr>
              <p:cNvPr id="2393106" name="Picture 120"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07" name="Line 121"/>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08" name="Group 122"/>
            <p:cNvGrpSpPr>
              <a:grpSpLocks/>
            </p:cNvGrpSpPr>
            <p:nvPr/>
          </p:nvGrpSpPr>
          <p:grpSpPr bwMode="auto">
            <a:xfrm>
              <a:off x="2302801" y="2799350"/>
              <a:ext cx="486701" cy="577850"/>
              <a:chOff x="2352" y="2061"/>
              <a:chExt cx="246" cy="237"/>
            </a:xfrm>
          </p:grpSpPr>
          <p:pic>
            <p:nvPicPr>
              <p:cNvPr id="2393109" name="Picture 123"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0" name="Line 124"/>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393111" name="Group 125"/>
            <p:cNvGrpSpPr>
              <a:grpSpLocks/>
            </p:cNvGrpSpPr>
            <p:nvPr/>
          </p:nvGrpSpPr>
          <p:grpSpPr bwMode="auto">
            <a:xfrm>
              <a:off x="4093104" y="2361201"/>
              <a:ext cx="488421" cy="579437"/>
              <a:chOff x="2352" y="2061"/>
              <a:chExt cx="246" cy="237"/>
            </a:xfrm>
          </p:grpSpPr>
          <p:pic>
            <p:nvPicPr>
              <p:cNvPr id="2393112" name="Picture 126"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3" name="Line 127"/>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14" name="Freeform 128"/>
            <p:cNvSpPr>
              <a:spLocks noChangeArrowheads="1"/>
            </p:cNvSpPr>
            <p:nvPr/>
          </p:nvSpPr>
          <p:spPr bwMode="auto">
            <a:xfrm rot="-2939644">
              <a:off x="6443199" y="2363648"/>
              <a:ext cx="350837" cy="60192"/>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15" name="Freeform 129"/>
            <p:cNvSpPr>
              <a:spLocks noChangeArrowheads="1"/>
            </p:cNvSpPr>
            <p:nvPr/>
          </p:nvSpPr>
          <p:spPr bwMode="auto">
            <a:xfrm rot="2939644" flipH="1">
              <a:off x="6036468" y="2388187"/>
              <a:ext cx="350837"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16" name="Group 130"/>
            <p:cNvGrpSpPr>
              <a:grpSpLocks/>
            </p:cNvGrpSpPr>
            <p:nvPr/>
          </p:nvGrpSpPr>
          <p:grpSpPr bwMode="auto">
            <a:xfrm>
              <a:off x="6051947" y="2459626"/>
              <a:ext cx="486701" cy="579437"/>
              <a:chOff x="2352" y="2061"/>
              <a:chExt cx="246" cy="237"/>
            </a:xfrm>
          </p:grpSpPr>
          <p:pic>
            <p:nvPicPr>
              <p:cNvPr id="2393117" name="Picture 131"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18" name="Line 132"/>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19" name="Freeform 133"/>
            <p:cNvSpPr>
              <a:spLocks noChangeArrowheads="1"/>
            </p:cNvSpPr>
            <p:nvPr/>
          </p:nvSpPr>
          <p:spPr bwMode="auto">
            <a:xfrm rot="-2939644">
              <a:off x="8116557" y="2965309"/>
              <a:ext cx="350838" cy="6019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3120" name="Freeform 134"/>
            <p:cNvSpPr>
              <a:spLocks noChangeArrowheads="1"/>
            </p:cNvSpPr>
            <p:nvPr/>
          </p:nvSpPr>
          <p:spPr bwMode="auto">
            <a:xfrm rot="2939644" flipH="1">
              <a:off x="7709826" y="2964449"/>
              <a:ext cx="350838" cy="61913"/>
            </a:xfrm>
            <a:custGeom>
              <a:avLst/>
              <a:gdLst>
                <a:gd name="T0" fmla="*/ 0 w 168"/>
                <a:gd name="T1" fmla="*/ 0 h 36"/>
                <a:gd name="T2" fmla="*/ 108 w 168"/>
                <a:gd name="T3" fmla="*/ 0 h 36"/>
                <a:gd name="T4" fmla="*/ 64 w 168"/>
                <a:gd name="T5" fmla="*/ 36 h 36"/>
                <a:gd name="T6" fmla="*/ 168 w 168"/>
                <a:gd name="T7" fmla="*/ 36 h 36"/>
              </a:gdLst>
              <a:ahLst/>
              <a:cxnLst>
                <a:cxn ang="0">
                  <a:pos x="T0" y="T1"/>
                </a:cxn>
                <a:cxn ang="0">
                  <a:pos x="T2" y="T3"/>
                </a:cxn>
                <a:cxn ang="0">
                  <a:pos x="T4" y="T5"/>
                </a:cxn>
                <a:cxn ang="0">
                  <a:pos x="T6" y="T7"/>
                </a:cxn>
              </a:cxnLst>
              <a:rect l="0" t="0" r="r" b="b"/>
              <a:pathLst>
                <a:path w="168" h="36">
                  <a:moveTo>
                    <a:pt x="0" y="0"/>
                  </a:moveTo>
                  <a:lnTo>
                    <a:pt x="108" y="0"/>
                  </a:lnTo>
                  <a:lnTo>
                    <a:pt x="64" y="36"/>
                  </a:lnTo>
                  <a:lnTo>
                    <a:pt x="168" y="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nvGrpSpPr>
            <p:cNvPr id="2393121" name="Group 135"/>
            <p:cNvGrpSpPr>
              <a:grpSpLocks/>
            </p:cNvGrpSpPr>
            <p:nvPr/>
          </p:nvGrpSpPr>
          <p:grpSpPr bwMode="auto">
            <a:xfrm>
              <a:off x="7671992" y="3070812"/>
              <a:ext cx="490140" cy="577850"/>
              <a:chOff x="2352" y="2061"/>
              <a:chExt cx="246" cy="237"/>
            </a:xfrm>
          </p:grpSpPr>
          <p:pic>
            <p:nvPicPr>
              <p:cNvPr id="2393122" name="Picture 136" descr="notebook"/>
              <p:cNvPicPr>
                <a:picLocks noChangeAspect="1" noChangeArrowheads="1"/>
              </p:cNvPicPr>
              <p:nvPr/>
            </p:nvPicPr>
            <p:blipFill>
              <a:blip r:embed="rId3">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3123" name="Line 137"/>
              <p:cNvSpPr>
                <a:spLocks noChangeShapeType="1"/>
              </p:cNvSpPr>
              <p:nvPr/>
            </p:nvSpPr>
            <p:spPr bwMode="auto">
              <a:xfrm flipH="1">
                <a:off x="2556" y="2061"/>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393124" name="Text Box 138"/>
            <p:cNvSpPr txBox="1">
              <a:spLocks noChangeArrowheads="1"/>
            </p:cNvSpPr>
            <p:nvPr/>
          </p:nvSpPr>
          <p:spPr bwMode="auto">
            <a:xfrm>
              <a:off x="2543573" y="4010613"/>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a:t>
              </a:r>
            </a:p>
          </p:txBody>
        </p:sp>
        <p:sp>
          <p:nvSpPr>
            <p:cNvPr id="2393125" name="Text Box 139"/>
            <p:cNvSpPr txBox="1">
              <a:spLocks noChangeArrowheads="1"/>
            </p:cNvSpPr>
            <p:nvPr/>
          </p:nvSpPr>
          <p:spPr bwMode="auto">
            <a:xfrm>
              <a:off x="7754541" y="3599450"/>
              <a:ext cx="389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E</a:t>
              </a:r>
            </a:p>
          </p:txBody>
        </p:sp>
        <p:sp>
          <p:nvSpPr>
            <p:cNvPr id="2393126" name="Text Box 140"/>
            <p:cNvSpPr txBox="1">
              <a:spLocks noChangeArrowheads="1"/>
            </p:cNvSpPr>
            <p:nvPr/>
          </p:nvSpPr>
          <p:spPr bwMode="auto">
            <a:xfrm>
              <a:off x="6079464" y="3002551"/>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a:t>
              </a:r>
            </a:p>
          </p:txBody>
        </p:sp>
        <p:sp>
          <p:nvSpPr>
            <p:cNvPr id="2393127" name="Text Box 141"/>
            <p:cNvSpPr txBox="1">
              <a:spLocks noChangeArrowheads="1"/>
            </p:cNvSpPr>
            <p:nvPr/>
          </p:nvSpPr>
          <p:spPr bwMode="auto">
            <a:xfrm>
              <a:off x="4093104" y="2931113"/>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C</a:t>
              </a:r>
            </a:p>
          </p:txBody>
        </p:sp>
        <p:sp>
          <p:nvSpPr>
            <p:cNvPr id="2393128" name="Text Box 142"/>
            <p:cNvSpPr txBox="1">
              <a:spLocks noChangeArrowheads="1"/>
            </p:cNvSpPr>
            <p:nvPr/>
          </p:nvSpPr>
          <p:spPr bwMode="auto">
            <a:xfrm>
              <a:off x="1988080" y="2929525"/>
              <a:ext cx="4074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B</a:t>
              </a:r>
            </a:p>
          </p:txBody>
        </p:sp>
        <p:sp>
          <p:nvSpPr>
            <p:cNvPr id="2393129" name="Text Box 143"/>
            <p:cNvSpPr txBox="1">
              <a:spLocks noChangeArrowheads="1"/>
            </p:cNvSpPr>
            <p:nvPr/>
          </p:nvSpPr>
          <p:spPr bwMode="auto">
            <a:xfrm>
              <a:off x="4920325" y="4185238"/>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F</a:t>
              </a:r>
            </a:p>
          </p:txBody>
        </p:sp>
        <p:sp>
          <p:nvSpPr>
            <p:cNvPr id="2393130" name="Text Box 150"/>
            <p:cNvSpPr txBox="1">
              <a:spLocks noChangeArrowheads="1"/>
            </p:cNvSpPr>
            <p:nvPr/>
          </p:nvSpPr>
          <p:spPr bwMode="auto">
            <a:xfrm>
              <a:off x="704528" y="2492896"/>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sp>
          <p:nvSpPr>
            <p:cNvPr id="2393131" name="Text Box 151"/>
            <p:cNvSpPr txBox="1">
              <a:spLocks noChangeArrowheads="1"/>
            </p:cNvSpPr>
            <p:nvPr/>
          </p:nvSpPr>
          <p:spPr bwMode="auto">
            <a:xfrm>
              <a:off x="3783541" y="170873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sp>
          <p:nvSpPr>
            <p:cNvPr id="2393132" name="Text Box 152"/>
            <p:cNvSpPr txBox="1">
              <a:spLocks noChangeArrowheads="1"/>
            </p:cNvSpPr>
            <p:nvPr/>
          </p:nvSpPr>
          <p:spPr bwMode="auto">
            <a:xfrm>
              <a:off x="5744104" y="1769063"/>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转发结点</a:t>
              </a:r>
            </a:p>
          </p:txBody>
        </p:sp>
      </p:grpSp>
      <p:sp>
        <p:nvSpPr>
          <p:cNvPr id="303248" name="AutoShape 144"/>
          <p:cNvSpPr>
            <a:spLocks noChangeArrowheads="1"/>
          </p:cNvSpPr>
          <p:nvPr/>
        </p:nvSpPr>
        <p:spPr bwMode="auto">
          <a:xfrm rot="114164">
            <a:off x="4562475" y="2176463"/>
            <a:ext cx="1476375" cy="207962"/>
          </a:xfrm>
          <a:prstGeom prst="rightArrow">
            <a:avLst>
              <a:gd name="adj1" fmla="val 50000"/>
              <a:gd name="adj2" fmla="val 134031"/>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49" name="AutoShape 145"/>
          <p:cNvSpPr>
            <a:spLocks noChangeArrowheads="1"/>
          </p:cNvSpPr>
          <p:nvPr/>
        </p:nvSpPr>
        <p:spPr bwMode="auto">
          <a:xfrm rot="1262345">
            <a:off x="6575425" y="2524125"/>
            <a:ext cx="1135063" cy="247650"/>
          </a:xfrm>
          <a:prstGeom prst="rightArrow">
            <a:avLst>
              <a:gd name="adj1" fmla="val 50000"/>
              <a:gd name="adj2" fmla="val 86532"/>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0" name="AutoShape 146"/>
          <p:cNvSpPr>
            <a:spLocks noChangeArrowheads="1"/>
          </p:cNvSpPr>
          <p:nvPr/>
        </p:nvSpPr>
        <p:spPr bwMode="auto">
          <a:xfrm rot="-692809">
            <a:off x="2822575" y="2314575"/>
            <a:ext cx="1250950" cy="241300"/>
          </a:xfrm>
          <a:prstGeom prst="rightArrow">
            <a:avLst>
              <a:gd name="adj1" fmla="val 50000"/>
              <a:gd name="adj2" fmla="val 97876"/>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1" name="AutoShape 147"/>
          <p:cNvSpPr>
            <a:spLocks noChangeArrowheads="1"/>
          </p:cNvSpPr>
          <p:nvPr/>
        </p:nvSpPr>
        <p:spPr bwMode="auto">
          <a:xfrm rot="-7231871">
            <a:off x="2378869" y="3148807"/>
            <a:ext cx="803275" cy="306387"/>
          </a:xfrm>
          <a:prstGeom prst="rightArrow">
            <a:avLst>
              <a:gd name="adj1" fmla="val 50000"/>
              <a:gd name="adj2" fmla="val 58092"/>
            </a:avLst>
          </a:prstGeom>
          <a:solidFill>
            <a:srgbClr val="00CC00"/>
          </a:solidFill>
          <a:ln w="9525">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303252" name="Text Box 148"/>
          <p:cNvSpPr txBox="1">
            <a:spLocks noChangeArrowheads="1"/>
          </p:cNvSpPr>
          <p:nvPr/>
        </p:nvSpPr>
        <p:spPr bwMode="auto">
          <a:xfrm>
            <a:off x="2546350" y="4156075"/>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C00000"/>
                </a:solidFill>
                <a:ea typeface="宋体" panose="02010600030101010101" pitchFamily="2" charset="-122"/>
              </a:rPr>
              <a:t>源结点</a:t>
            </a:r>
          </a:p>
        </p:txBody>
      </p:sp>
      <p:sp>
        <p:nvSpPr>
          <p:cNvPr id="303253" name="Text Box 149"/>
          <p:cNvSpPr txBox="1">
            <a:spLocks noChangeArrowheads="1"/>
          </p:cNvSpPr>
          <p:nvPr/>
        </p:nvSpPr>
        <p:spPr bwMode="auto">
          <a:xfrm>
            <a:off x="8258175" y="2790825"/>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C00000"/>
                </a:solidFill>
                <a:ea typeface="宋体" panose="02010600030101010101" pitchFamily="2" charset="-122"/>
              </a:rPr>
              <a:t>目的结点</a:t>
            </a:r>
          </a:p>
        </p:txBody>
      </p:sp>
      <p:sp>
        <p:nvSpPr>
          <p:cNvPr id="2393139" name="矩形 3"/>
          <p:cNvSpPr>
            <a:spLocks noChangeArrowheads="1"/>
          </p:cNvSpPr>
          <p:nvPr/>
        </p:nvSpPr>
        <p:spPr bwMode="auto">
          <a:xfrm>
            <a:off x="488950" y="4840288"/>
            <a:ext cx="9185275" cy="584200"/>
          </a:xfrm>
          <a:prstGeom prst="rect">
            <a:avLst/>
          </a:prstGeom>
          <a:solidFill>
            <a:srgbClr val="FFFF66"/>
          </a:solidFill>
          <a:ln w="9525">
            <a:solidFill>
              <a:srgbClr val="000099"/>
            </a:solidFill>
            <a:round/>
            <a:headEnd/>
            <a:tailEnd/>
          </a:ln>
        </p:spPr>
        <p:txBody>
          <a:bodyPr>
            <a:spAutoFit/>
          </a:bodyPr>
          <a:lstStyle/>
          <a:p>
            <a:pPr algn="ctr" eaLnBrk="0" hangingPunct="0"/>
            <a:r>
              <a:rPr lang="zh-CN" altLang="en-US" sz="3200" b="1" dirty="0">
                <a:solidFill>
                  <a:srgbClr val="000066"/>
                </a:solidFill>
                <a:ea typeface="宋体" panose="02010600030101010101" pitchFamily="2" charset="-122"/>
              </a:rPr>
              <a:t>三个主要问题：</a:t>
            </a:r>
            <a:r>
              <a:rPr lang="zh-CN" altLang="zh-CN" sz="3200" b="1" dirty="0">
                <a:solidFill>
                  <a:srgbClr val="000066"/>
                </a:solidFill>
                <a:ea typeface="宋体" panose="02010600030101010101" pitchFamily="2" charset="-122"/>
              </a:rPr>
              <a:t>路由选择协议</a:t>
            </a:r>
            <a:r>
              <a:rPr lang="zh-CN" altLang="en-US" sz="3200" b="1" dirty="0">
                <a:solidFill>
                  <a:srgbClr val="000066"/>
                </a:solidFill>
                <a:ea typeface="宋体" panose="02010600030101010101" pitchFamily="2" charset="-122"/>
              </a:rPr>
              <a:t>，</a:t>
            </a:r>
            <a:r>
              <a:rPr lang="zh-CN" altLang="zh-CN" sz="3200" b="1" dirty="0">
                <a:solidFill>
                  <a:srgbClr val="000066"/>
                </a:solidFill>
                <a:ea typeface="宋体" panose="02010600030101010101" pitchFamily="2" charset="-122"/>
              </a:rPr>
              <a:t>多播</a:t>
            </a:r>
            <a:r>
              <a:rPr lang="zh-CN" altLang="en-US" sz="3200" b="1" dirty="0">
                <a:solidFill>
                  <a:srgbClr val="000066"/>
                </a:solidFill>
                <a:ea typeface="宋体" panose="02010600030101010101" pitchFamily="2" charset="-122"/>
              </a:rPr>
              <a:t>，</a:t>
            </a:r>
            <a:r>
              <a:rPr lang="zh-CN" altLang="zh-CN" sz="3200" b="1" dirty="0">
                <a:solidFill>
                  <a:srgbClr val="000066"/>
                </a:solidFill>
                <a:ea typeface="宋体" panose="02010600030101010101" pitchFamily="2" charset="-122"/>
              </a:rPr>
              <a:t>安全</a:t>
            </a:r>
            <a:r>
              <a:rPr lang="zh-CN" altLang="en-US" sz="3200" b="1" dirty="0">
                <a:solidFill>
                  <a:srgbClr val="000066"/>
                </a:solidFill>
                <a:ea typeface="宋体" panose="02010600030101010101" pitchFamily="2" charset="-122"/>
              </a:rPr>
              <a:t>。</a:t>
            </a:r>
          </a:p>
        </p:txBody>
      </p:sp>
      <p:sp>
        <p:nvSpPr>
          <p:cNvPr id="239314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BA1FCB-95AD-47BD-9D4F-9C8F99375298}" type="slidenum">
              <a:rPr lang="zh-CN" altLang="en-US" smtClean="0"/>
              <a:pPr eaLnBrk="1" hangingPunct="1"/>
              <a:t>16</a:t>
            </a:fld>
            <a:endParaRPr lang="en-US" altLang="zh-CN" smtClean="0"/>
          </a:p>
        </p:txBody>
      </p:sp>
      <p:sp>
        <p:nvSpPr>
          <p:cNvPr id="239314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0325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303253"/>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3251"/>
                                        </p:tgtEl>
                                        <p:attrNameLst>
                                          <p:attrName>style.visibility</p:attrName>
                                        </p:attrNameLst>
                                      </p:cBhvr>
                                      <p:to>
                                        <p:strVal val="visible"/>
                                      </p:to>
                                    </p:set>
                                    <p:animEffect transition="in" filter="wipe(down)">
                                      <p:cBhvr>
                                        <p:cTn id="15" dur="500"/>
                                        <p:tgtEl>
                                          <p:spTgt spid="303251"/>
                                        </p:tgtEl>
                                      </p:cBhvr>
                                    </p:animEffect>
                                  </p:childTnLst>
                                </p:cTn>
                              </p:par>
                            </p:childTnLst>
                          </p:cTn>
                        </p:par>
                        <p:par>
                          <p:cTn id="16" fill="hold" nodeType="afterGroup">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303250"/>
                                        </p:tgtEl>
                                        <p:attrNameLst>
                                          <p:attrName>style.visibility</p:attrName>
                                        </p:attrNameLst>
                                      </p:cBhvr>
                                      <p:to>
                                        <p:strVal val="visible"/>
                                      </p:to>
                                    </p:set>
                                    <p:animEffect transition="in" filter="wipe(left)">
                                      <p:cBhvr>
                                        <p:cTn id="19" dur="500"/>
                                        <p:tgtEl>
                                          <p:spTgt spid="303250"/>
                                        </p:tgtEl>
                                      </p:cBhvr>
                                    </p:animEffect>
                                  </p:childTnLst>
                                </p:cTn>
                              </p:par>
                            </p:childTnLst>
                          </p:cTn>
                        </p:par>
                        <p:par>
                          <p:cTn id="20" fill="hold" nodeType="afterGroup">
                            <p:stCondLst>
                              <p:cond delay="1500"/>
                            </p:stCondLst>
                            <p:childTnLst>
                              <p:par>
                                <p:cTn id="21" presetID="22" presetClass="entr" presetSubtype="8" fill="hold" grpId="0" nodeType="afterEffect">
                                  <p:stCondLst>
                                    <p:cond delay="500"/>
                                  </p:stCondLst>
                                  <p:childTnLst>
                                    <p:set>
                                      <p:cBhvr>
                                        <p:cTn id="22" dur="1" fill="hold">
                                          <p:stCondLst>
                                            <p:cond delay="0"/>
                                          </p:stCondLst>
                                        </p:cTn>
                                        <p:tgtEl>
                                          <p:spTgt spid="303248"/>
                                        </p:tgtEl>
                                        <p:attrNameLst>
                                          <p:attrName>style.visibility</p:attrName>
                                        </p:attrNameLst>
                                      </p:cBhvr>
                                      <p:to>
                                        <p:strVal val="visible"/>
                                      </p:to>
                                    </p:set>
                                    <p:animEffect transition="in" filter="wipe(left)">
                                      <p:cBhvr>
                                        <p:cTn id="23" dur="500"/>
                                        <p:tgtEl>
                                          <p:spTgt spid="303248"/>
                                        </p:tgtEl>
                                      </p:cBhvr>
                                    </p:animEffect>
                                  </p:childTnLst>
                                </p:cTn>
                              </p:par>
                            </p:childTnLst>
                          </p:cTn>
                        </p:par>
                        <p:par>
                          <p:cTn id="24" fill="hold" nodeType="afterGroup">
                            <p:stCondLst>
                              <p:cond delay="2500"/>
                            </p:stCondLst>
                            <p:childTnLst>
                              <p:par>
                                <p:cTn id="25" presetID="22" presetClass="entr" presetSubtype="8" fill="hold" grpId="0" nodeType="afterEffect">
                                  <p:stCondLst>
                                    <p:cond delay="500"/>
                                  </p:stCondLst>
                                  <p:childTnLst>
                                    <p:set>
                                      <p:cBhvr>
                                        <p:cTn id="26" dur="1" fill="hold">
                                          <p:stCondLst>
                                            <p:cond delay="0"/>
                                          </p:stCondLst>
                                        </p:cTn>
                                        <p:tgtEl>
                                          <p:spTgt spid="303249"/>
                                        </p:tgtEl>
                                        <p:attrNameLst>
                                          <p:attrName>style.visibility</p:attrName>
                                        </p:attrNameLst>
                                      </p:cBhvr>
                                      <p:to>
                                        <p:strVal val="visible"/>
                                      </p:to>
                                    </p:set>
                                    <p:animEffect transition="in" filter="wipe(left)">
                                      <p:cBhvr>
                                        <p:cTn id="27" dur="500"/>
                                        <p:tgtEl>
                                          <p:spTgt spid="303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248" grpId="0" animBg="1"/>
      <p:bldP spid="303249" grpId="0" animBg="1"/>
      <p:bldP spid="303250" grpId="0" animBg="1"/>
      <p:bldP spid="303251" grpId="0" animBg="1"/>
      <p:bldP spid="303252" grpId="0"/>
      <p:bldP spid="3032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513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移动自组网络的应用前景 </a:t>
            </a:r>
          </a:p>
        </p:txBody>
      </p:sp>
      <p:sp>
        <p:nvSpPr>
          <p:cNvPr id="305161"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a:t>
            </a:r>
            <a:r>
              <a:rPr lang="zh-CN" altLang="en-US" dirty="0" smtClean="0">
                <a:solidFill>
                  <a:srgbClr val="0000FF"/>
                </a:solidFill>
                <a:ea typeface="黑体" panose="02010609060101010101" pitchFamily="49" charset="-122"/>
              </a:rPr>
              <a:t>军事领域</a:t>
            </a:r>
            <a:r>
              <a:rPr lang="zh-CN" altLang="en-US" dirty="0" smtClean="0">
                <a:ea typeface="黑体" panose="02010609060101010101" pitchFamily="49" charset="-122"/>
              </a:rPr>
              <a:t>中，携带了移动站的战士可利用临时建立的移动自组网络进行通信。</a:t>
            </a:r>
          </a:p>
          <a:p>
            <a:r>
              <a:rPr lang="zh-CN" altLang="en-US" dirty="0" smtClean="0">
                <a:ea typeface="黑体" panose="02010609060101010101" pitchFamily="49" charset="-122"/>
              </a:rPr>
              <a:t>这种组网方式也能够应用到作战的地面</a:t>
            </a:r>
            <a:r>
              <a:rPr lang="zh-CN" altLang="en-US" dirty="0" smtClean="0">
                <a:solidFill>
                  <a:srgbClr val="0000FF"/>
                </a:solidFill>
                <a:ea typeface="黑体" panose="02010609060101010101" pitchFamily="49" charset="-122"/>
              </a:rPr>
              <a:t>车辆群和坦克群</a:t>
            </a:r>
            <a:r>
              <a:rPr lang="zh-CN" altLang="en-US" dirty="0" smtClean="0">
                <a:ea typeface="黑体" panose="02010609060101010101" pitchFamily="49" charset="-122"/>
              </a:rPr>
              <a:t>，以及海上的</a:t>
            </a:r>
            <a:r>
              <a:rPr lang="zh-CN" altLang="en-US" dirty="0" smtClean="0">
                <a:solidFill>
                  <a:srgbClr val="0000FF"/>
                </a:solidFill>
                <a:ea typeface="黑体" panose="02010609060101010101" pitchFamily="49" charset="-122"/>
              </a:rPr>
              <a:t>舰艇群</a:t>
            </a:r>
            <a:r>
              <a:rPr lang="zh-CN" altLang="en-US" dirty="0" smtClean="0">
                <a:ea typeface="黑体" panose="02010609060101010101" pitchFamily="49" charset="-122"/>
              </a:rPr>
              <a:t>、空中的</a:t>
            </a:r>
            <a:r>
              <a:rPr lang="zh-CN" altLang="en-US" dirty="0" smtClean="0">
                <a:solidFill>
                  <a:srgbClr val="0000FF"/>
                </a:solidFill>
                <a:ea typeface="黑体" panose="02010609060101010101" pitchFamily="49" charset="-122"/>
              </a:rPr>
              <a:t>机群</a:t>
            </a:r>
            <a:r>
              <a:rPr lang="zh-CN" altLang="en-US" dirty="0" smtClean="0">
                <a:ea typeface="黑体" panose="02010609060101010101" pitchFamily="49" charset="-122"/>
              </a:rPr>
              <a:t>。 </a:t>
            </a:r>
          </a:p>
          <a:p>
            <a:r>
              <a:rPr lang="zh-CN" altLang="en-US" dirty="0" smtClean="0">
                <a:ea typeface="黑体" panose="02010609060101010101" pitchFamily="49" charset="-122"/>
              </a:rPr>
              <a:t>当出现自然灾害时，在</a:t>
            </a:r>
            <a:r>
              <a:rPr lang="zh-CN" altLang="en-US" dirty="0" smtClean="0">
                <a:solidFill>
                  <a:srgbClr val="0000FF"/>
                </a:solidFill>
                <a:ea typeface="黑体" panose="02010609060101010101" pitchFamily="49" charset="-122"/>
              </a:rPr>
              <a:t>抢险救灾</a:t>
            </a:r>
            <a:r>
              <a:rPr lang="zh-CN" altLang="en-US" dirty="0" smtClean="0">
                <a:ea typeface="黑体" panose="02010609060101010101" pitchFamily="49" charset="-122"/>
              </a:rPr>
              <a:t>时利用移动自组网络进行及时的通信往往很有效的，  </a:t>
            </a:r>
          </a:p>
        </p:txBody>
      </p:sp>
      <p:sp>
        <p:nvSpPr>
          <p:cNvPr id="2395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9881F9-9A7F-42BB-8E3B-6DD1E93067C8}" type="slidenum">
              <a:rPr lang="zh-CN" altLang="en-US" smtClean="0"/>
              <a:pPr eaLnBrk="1" hangingPunct="1"/>
              <a:t>17</a:t>
            </a:fld>
            <a:endParaRPr lang="en-US" altLang="zh-CN" smtClean="0"/>
          </a:p>
        </p:txBody>
      </p:sp>
      <p:sp>
        <p:nvSpPr>
          <p:cNvPr id="2395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16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51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6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无线传感器网络 </a:t>
            </a:r>
            <a:r>
              <a:rPr lang="en-US" altLang="zh-CN" smtClean="0">
                <a:ea typeface="黑体" panose="02010609060101010101" pitchFamily="49" charset="-122"/>
              </a:rPr>
              <a:t>WSN</a:t>
            </a:r>
          </a:p>
        </p:txBody>
      </p:sp>
      <p:sp>
        <p:nvSpPr>
          <p:cNvPr id="2396162" name="Rectangle 3"/>
          <p:cNvSpPr>
            <a:spLocks noGrp="1" noChangeArrowheads="1"/>
          </p:cNvSpPr>
          <p:nvPr>
            <p:ph idx="1"/>
          </p:nvPr>
        </p:nvSpPr>
        <p:spPr>
          <a:xfrm>
            <a:off x="495300" y="1196975"/>
            <a:ext cx="9066213" cy="4933950"/>
          </a:xfrm>
        </p:spPr>
        <p:txBody>
          <a:bodyPr/>
          <a:lstStyle/>
          <a:p>
            <a:r>
              <a:rPr lang="zh-CN" altLang="zh-CN" sz="2800" u="sng" dirty="0" smtClean="0">
                <a:solidFill>
                  <a:srgbClr val="FF0000"/>
                </a:solidFill>
                <a:ea typeface="黑体" panose="02010609060101010101" pitchFamily="49" charset="-122"/>
              </a:rPr>
              <a:t>无线传感器网络</a:t>
            </a:r>
            <a:r>
              <a:rPr lang="en-US" altLang="zh-CN" sz="2800" u="sng" dirty="0" smtClean="0">
                <a:solidFill>
                  <a:srgbClr val="FF0000"/>
                </a:solidFill>
                <a:ea typeface="黑体" panose="02010609060101010101" pitchFamily="49" charset="-122"/>
              </a:rPr>
              <a:t> WSN</a:t>
            </a:r>
            <a:r>
              <a:rPr lang="en-US" altLang="zh-CN" sz="2800" u="sng" dirty="0" smtClean="0">
                <a:ea typeface="黑体" panose="02010609060101010101" pitchFamily="49" charset="-122"/>
              </a:rPr>
              <a:t> (Wireless Sensor Network) </a:t>
            </a:r>
            <a:r>
              <a:rPr lang="zh-CN" altLang="en-US" sz="2800" dirty="0" smtClean="0">
                <a:ea typeface="黑体" panose="02010609060101010101" pitchFamily="49" charset="-122"/>
              </a:rPr>
              <a:t>是由大量</a:t>
            </a:r>
            <a:r>
              <a:rPr lang="zh-CN" altLang="en-US" sz="2800" dirty="0" smtClean="0">
                <a:solidFill>
                  <a:srgbClr val="0000FF"/>
                </a:solidFill>
                <a:ea typeface="黑体" panose="02010609060101010101" pitchFamily="49" charset="-122"/>
              </a:rPr>
              <a:t>传感器</a:t>
            </a:r>
            <a:r>
              <a:rPr lang="zh-CN" altLang="en-US" sz="2800" dirty="0" smtClean="0">
                <a:ea typeface="黑体" panose="02010609060101010101" pitchFamily="49" charset="-122"/>
              </a:rPr>
              <a:t>结点通过无线通信技术构成的</a:t>
            </a:r>
            <a:r>
              <a:rPr lang="zh-CN" altLang="en-US" sz="2800" dirty="0" smtClean="0">
                <a:solidFill>
                  <a:srgbClr val="0000FF"/>
                </a:solidFill>
                <a:ea typeface="黑体" panose="02010609060101010101" pitchFamily="49" charset="-122"/>
              </a:rPr>
              <a:t>自组网络</a:t>
            </a:r>
            <a:r>
              <a:rPr lang="zh-CN" altLang="en-US" sz="2800" dirty="0" smtClean="0">
                <a:solidFill>
                  <a:srgbClr val="FF0000"/>
                </a:solidFill>
                <a:ea typeface="黑体" panose="02010609060101010101" pitchFamily="49" charset="-122"/>
              </a:rPr>
              <a:t>。</a:t>
            </a:r>
          </a:p>
          <a:p>
            <a:r>
              <a:rPr lang="zh-CN" altLang="en-US" sz="2800" dirty="0" smtClean="0">
                <a:ea typeface="黑体" panose="02010609060101010101" pitchFamily="49" charset="-122"/>
              </a:rPr>
              <a:t>无线传感器网络的应用是进行各种数据的采集、处理和传输，一般并不需要很高的带宽，但是在大部分时间必须</a:t>
            </a:r>
            <a:r>
              <a:rPr lang="zh-CN" altLang="en-US" sz="2800" dirty="0" smtClean="0">
                <a:solidFill>
                  <a:srgbClr val="0000FF"/>
                </a:solidFill>
                <a:ea typeface="黑体" panose="02010609060101010101" pitchFamily="49" charset="-122"/>
              </a:rPr>
              <a:t>保持低功耗</a:t>
            </a:r>
            <a:r>
              <a:rPr lang="zh-CN" altLang="en-US" sz="2800" dirty="0" smtClean="0">
                <a:ea typeface="黑体" panose="02010609060101010101" pitchFamily="49" charset="-122"/>
              </a:rPr>
              <a:t>，以节省电池的消耗。</a:t>
            </a:r>
          </a:p>
          <a:p>
            <a:r>
              <a:rPr lang="zh-CN" altLang="en-US" sz="2800" dirty="0" smtClean="0">
                <a:ea typeface="黑体" panose="02010609060101010101" pitchFamily="49" charset="-122"/>
              </a:rPr>
              <a:t>由于无线传感结点的</a:t>
            </a:r>
            <a:r>
              <a:rPr lang="zh-CN" altLang="en-US" sz="2800" dirty="0" smtClean="0">
                <a:solidFill>
                  <a:srgbClr val="0000FF"/>
                </a:solidFill>
                <a:ea typeface="黑体" panose="02010609060101010101" pitchFamily="49" charset="-122"/>
              </a:rPr>
              <a:t>存储容量受限</a:t>
            </a:r>
            <a:r>
              <a:rPr lang="zh-CN" altLang="en-US" sz="2800" dirty="0" smtClean="0">
                <a:ea typeface="黑体" panose="02010609060101010101" pitchFamily="49" charset="-122"/>
              </a:rPr>
              <a:t>，因此对协议栈的大小有严格的限制。</a:t>
            </a:r>
          </a:p>
          <a:p>
            <a:r>
              <a:rPr lang="zh-CN" altLang="en-US" sz="2800" dirty="0" smtClean="0">
                <a:ea typeface="黑体" panose="02010609060101010101" pitchFamily="49" charset="-122"/>
              </a:rPr>
              <a:t>无线传感器网络还对网络</a:t>
            </a:r>
            <a:r>
              <a:rPr lang="zh-CN" altLang="en-US" sz="2800" dirty="0" smtClean="0">
                <a:solidFill>
                  <a:srgbClr val="0000FF"/>
                </a:solidFill>
                <a:ea typeface="黑体" panose="02010609060101010101" pitchFamily="49" charset="-122"/>
              </a:rPr>
              <a:t>安全</a:t>
            </a:r>
            <a:r>
              <a:rPr lang="zh-CN" altLang="en-US" sz="2800" dirty="0" smtClean="0">
                <a:ea typeface="黑体" panose="02010609060101010101" pitchFamily="49" charset="-122"/>
              </a:rPr>
              <a:t>性、结点</a:t>
            </a:r>
            <a:r>
              <a:rPr lang="zh-CN" altLang="en-US" sz="2800" dirty="0" smtClean="0">
                <a:solidFill>
                  <a:srgbClr val="0000FF"/>
                </a:solidFill>
                <a:ea typeface="黑体" panose="02010609060101010101" pitchFamily="49" charset="-122"/>
              </a:rPr>
              <a:t>自动配置</a:t>
            </a:r>
            <a:r>
              <a:rPr lang="zh-CN" altLang="en-US" sz="2800" dirty="0" smtClean="0">
                <a:ea typeface="黑体" panose="02010609060101010101" pitchFamily="49" charset="-122"/>
              </a:rPr>
              <a:t>、网络</a:t>
            </a:r>
            <a:r>
              <a:rPr lang="zh-CN" altLang="en-US" sz="2800" dirty="0" smtClean="0">
                <a:solidFill>
                  <a:srgbClr val="0000FF"/>
                </a:solidFill>
                <a:ea typeface="黑体" panose="02010609060101010101" pitchFamily="49" charset="-122"/>
              </a:rPr>
              <a:t>动态重组</a:t>
            </a:r>
            <a:r>
              <a:rPr lang="zh-CN" altLang="en-US" sz="2800" dirty="0" smtClean="0">
                <a:ea typeface="黑体" panose="02010609060101010101" pitchFamily="49" charset="-122"/>
              </a:rPr>
              <a:t>等方面有一定的要求。 </a:t>
            </a:r>
          </a:p>
        </p:txBody>
      </p:sp>
      <p:sp>
        <p:nvSpPr>
          <p:cNvPr id="239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46B248-91E9-4E37-9874-9A90C336F98B}" type="slidenum">
              <a:rPr lang="zh-CN" altLang="en-US" smtClean="0"/>
              <a:pPr eaLnBrk="1" hangingPunct="1"/>
              <a:t>18</a:t>
            </a:fld>
            <a:endParaRPr lang="en-US" altLang="zh-CN" smtClean="0"/>
          </a:p>
        </p:txBody>
      </p:sp>
      <p:sp>
        <p:nvSpPr>
          <p:cNvPr id="239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7185" name="Rectangle 4"/>
          <p:cNvSpPr>
            <a:spLocks noGrp="1" noChangeArrowheads="1"/>
          </p:cNvSpPr>
          <p:nvPr>
            <p:ph type="title"/>
          </p:nvPr>
        </p:nvSpPr>
        <p:spPr/>
        <p:txBody>
          <a:bodyPr/>
          <a:lstStyle/>
          <a:p>
            <a:pPr algn="ctr"/>
            <a:r>
              <a:rPr lang="zh-CN" altLang="en-US" smtClean="0">
                <a:ea typeface="黑体" panose="02010609060101010101" pitchFamily="49" charset="-122"/>
              </a:rPr>
              <a:t>传感器结点的形状和组成</a:t>
            </a:r>
            <a:endParaRPr lang="en-US" altLang="zh-CN" smtClean="0">
              <a:ea typeface="黑体" panose="02010609060101010101" pitchFamily="49" charset="-122"/>
            </a:endParaRPr>
          </a:p>
        </p:txBody>
      </p:sp>
      <p:sp>
        <p:nvSpPr>
          <p:cNvPr id="2397186" name="Rectangle 6"/>
          <p:cNvSpPr>
            <a:spLocks noChangeArrowheads="1"/>
          </p:cNvSpPr>
          <p:nvPr/>
        </p:nvSpPr>
        <p:spPr bwMode="auto">
          <a:xfrm>
            <a:off x="5421313" y="1760538"/>
            <a:ext cx="3903662" cy="2433637"/>
          </a:xfrm>
          <a:prstGeom prst="rect">
            <a:avLst/>
          </a:prstGeom>
          <a:solidFill>
            <a:srgbClr val="CCECFF"/>
          </a:solidFill>
          <a:ln w="12700" cap="sq">
            <a:solidFill>
              <a:srgbClr val="333399"/>
            </a:solidFill>
            <a:miter lim="800000"/>
            <a:headEnd type="none" w="sm" len="sm"/>
            <a:tailEnd type="none" w="sm" len="sm"/>
          </a:ln>
          <a:effectLst>
            <a:outerShdw dist="35921" dir="2700000" algn="ctr" rotWithShape="0">
              <a:schemeClr val="bg2"/>
            </a:outerShdw>
          </a:effectLst>
        </p:spPr>
        <p:txBody>
          <a:bodyPr wrap="none" anchor="ctr"/>
          <a:lstStyle/>
          <a:p>
            <a:pPr algn="ctr" eaLnBrk="0" hangingPunct="0"/>
            <a:endParaRPr lang="zh-CN" altLang="zh-CN" b="1">
              <a:solidFill>
                <a:srgbClr val="000099"/>
              </a:solidFill>
              <a:ea typeface="宋体" panose="02010600030101010101" pitchFamily="2" charset="-122"/>
            </a:endParaRPr>
          </a:p>
        </p:txBody>
      </p:sp>
      <p:sp>
        <p:nvSpPr>
          <p:cNvPr id="2397187" name="AutoShape 7"/>
          <p:cNvSpPr>
            <a:spLocks noChangeArrowheads="1"/>
          </p:cNvSpPr>
          <p:nvPr/>
        </p:nvSpPr>
        <p:spPr bwMode="auto">
          <a:xfrm>
            <a:off x="5627688" y="2930525"/>
            <a:ext cx="901700" cy="1125538"/>
          </a:xfrm>
          <a:prstGeom prst="roundRect">
            <a:avLst>
              <a:gd name="adj" fmla="val 16667"/>
            </a:avLst>
          </a:prstGeom>
          <a:solidFill>
            <a:srgbClr val="99FF99">
              <a:alpha val="50000"/>
            </a:srgbClr>
          </a:solidFill>
          <a:ln w="12700" cap="sq">
            <a:solidFill>
              <a:srgbClr val="333399"/>
            </a:solidFill>
            <a:round/>
            <a:headEnd type="none" w="sm" len="sm"/>
            <a:tailEnd type="none" w="sm" len="sm"/>
          </a:ln>
        </p:spPr>
        <p:txBody>
          <a:bodyPr wrap="none" anchor="ctr"/>
          <a:lstStyle/>
          <a:p>
            <a:pPr algn="ctr" eaLnBrk="0" hangingPunct="0"/>
            <a:r>
              <a:rPr lang="zh-CN" altLang="en-US" b="1">
                <a:solidFill>
                  <a:srgbClr val="000099"/>
                </a:solidFill>
                <a:ea typeface="宋体" panose="02010600030101010101" pitchFamily="2" charset="-122"/>
              </a:rPr>
              <a:t>存储器</a:t>
            </a:r>
          </a:p>
        </p:txBody>
      </p:sp>
      <p:sp>
        <p:nvSpPr>
          <p:cNvPr id="2397188" name="AutoShape 8"/>
          <p:cNvSpPr>
            <a:spLocks noChangeArrowheads="1"/>
          </p:cNvSpPr>
          <p:nvPr/>
        </p:nvSpPr>
        <p:spPr bwMode="auto">
          <a:xfrm>
            <a:off x="6654800" y="1955800"/>
            <a:ext cx="1025525" cy="720725"/>
          </a:xfrm>
          <a:prstGeom prst="roundRect">
            <a:avLst>
              <a:gd name="adj" fmla="val 16667"/>
            </a:avLst>
          </a:prstGeom>
          <a:solidFill>
            <a:srgbClr val="FFCC00">
              <a:alpha val="50000"/>
            </a:srgbClr>
          </a:solidFill>
          <a:ln w="12700" cap="sq">
            <a:solidFill>
              <a:schemeClr val="tx2"/>
            </a:solidFill>
            <a:round/>
            <a:headEnd type="none" w="sm" len="sm"/>
            <a:tailEnd type="none" w="sm" len="sm"/>
          </a:ln>
        </p:spPr>
        <p:txBody>
          <a:bodyPr wrap="none" anchor="ctr"/>
          <a:lstStyle/>
          <a:p>
            <a:pPr algn="ctr" eaLnBrk="0" hangingPunct="0"/>
            <a:r>
              <a:rPr lang="en-US" altLang="zh-CN" b="1">
                <a:solidFill>
                  <a:srgbClr val="000099"/>
                </a:solidFill>
                <a:ea typeface="宋体" panose="02010600030101010101" pitchFamily="2" charset="-122"/>
              </a:rPr>
              <a:t>CPU</a:t>
            </a:r>
          </a:p>
        </p:txBody>
      </p:sp>
      <p:grpSp>
        <p:nvGrpSpPr>
          <p:cNvPr id="2397189" name="Group 9"/>
          <p:cNvGrpSpPr>
            <a:grpSpLocks/>
          </p:cNvGrpSpPr>
          <p:nvPr/>
        </p:nvGrpSpPr>
        <p:grpSpPr bwMode="auto">
          <a:xfrm>
            <a:off x="6858000" y="2930525"/>
            <a:ext cx="1130300" cy="1119188"/>
            <a:chOff x="1296" y="2064"/>
            <a:chExt cx="768" cy="1344"/>
          </a:xfrm>
        </p:grpSpPr>
        <p:sp>
          <p:nvSpPr>
            <p:cNvPr id="2397190" name="AutoShape 10"/>
            <p:cNvSpPr>
              <a:spLocks noChangeArrowheads="1"/>
            </p:cNvSpPr>
            <p:nvPr/>
          </p:nvSpPr>
          <p:spPr bwMode="auto">
            <a:xfrm>
              <a:off x="1296"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7191" name="AutoShape 11"/>
            <p:cNvSpPr>
              <a:spLocks noChangeArrowheads="1"/>
            </p:cNvSpPr>
            <p:nvPr/>
          </p:nvSpPr>
          <p:spPr bwMode="auto">
            <a:xfrm>
              <a:off x="1872"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397192" name="AutoShape 12"/>
            <p:cNvSpPr>
              <a:spLocks noChangeArrowheads="1"/>
            </p:cNvSpPr>
            <p:nvPr/>
          </p:nvSpPr>
          <p:spPr bwMode="auto">
            <a:xfrm>
              <a:off x="1584" y="2064"/>
              <a:ext cx="192" cy="1344"/>
            </a:xfrm>
            <a:prstGeom prst="roundRect">
              <a:avLst>
                <a:gd name="adj" fmla="val 16667"/>
              </a:avLst>
            </a:prstGeom>
            <a:solidFill>
              <a:srgbClr val="CC3399">
                <a:alpha val="50000"/>
              </a:srgbClr>
            </a:solidFill>
            <a:ln w="12700" cap="sq">
              <a:solidFill>
                <a:srgbClr val="333399"/>
              </a:solidFill>
              <a:round/>
              <a:headEnd type="none" w="sm" len="sm"/>
              <a:tailEnd type="none" w="sm" len="sm"/>
            </a:ln>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2397193" name="AutoShape 13"/>
          <p:cNvSpPr>
            <a:spLocks noChangeArrowheads="1"/>
          </p:cNvSpPr>
          <p:nvPr/>
        </p:nvSpPr>
        <p:spPr bwMode="auto">
          <a:xfrm rot="5400000">
            <a:off x="7795418" y="2148682"/>
            <a:ext cx="665163" cy="279400"/>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rgbClr val="99CC00"/>
          </a:solidFill>
          <a:ln w="12700" cap="sq">
            <a:solidFill>
              <a:srgbClr val="333399"/>
            </a:solidFill>
            <a:miter lim="800000"/>
            <a:headEnd type="none" w="sm" len="sm"/>
            <a:tailEnd type="none" w="sm" len="sm"/>
          </a:ln>
        </p:spPr>
        <p:txBody>
          <a:bodyPr rot="10800000" vert="eaVert" wrap="none" anchor="ctr"/>
          <a:lstStyle/>
          <a:p>
            <a:pPr algn="ctr" eaLnBrk="0" hangingPunct="0"/>
            <a:endParaRPr lang="zh-CN" altLang="zh-CN" b="1">
              <a:solidFill>
                <a:srgbClr val="000099"/>
              </a:solidFill>
              <a:ea typeface="宋体" panose="02010600030101010101" pitchFamily="2" charset="-122"/>
            </a:endParaRPr>
          </a:p>
        </p:txBody>
      </p:sp>
      <p:sp>
        <p:nvSpPr>
          <p:cNvPr id="2397194" name="Rectangle 14"/>
          <p:cNvSpPr>
            <a:spLocks noChangeArrowheads="1"/>
          </p:cNvSpPr>
          <p:nvPr/>
        </p:nvSpPr>
        <p:spPr bwMode="auto">
          <a:xfrm>
            <a:off x="7900988" y="3071813"/>
            <a:ext cx="1108075"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传感器</a:t>
            </a:r>
          </a:p>
          <a:p>
            <a:pPr algn="ctr" eaLnBrk="0" hangingPunct="0">
              <a:lnSpc>
                <a:spcPct val="85000"/>
              </a:lnSpc>
            </a:pPr>
            <a:r>
              <a:rPr lang="zh-CN" altLang="en-US" b="1">
                <a:solidFill>
                  <a:srgbClr val="000099"/>
                </a:solidFill>
                <a:ea typeface="宋体" panose="02010600030101010101" pitchFamily="2" charset="-122"/>
              </a:rPr>
              <a:t>硬件</a:t>
            </a:r>
          </a:p>
        </p:txBody>
      </p:sp>
      <p:sp>
        <p:nvSpPr>
          <p:cNvPr id="2397195" name="Oval 15"/>
          <p:cNvSpPr>
            <a:spLocks noChangeArrowheads="1"/>
          </p:cNvSpPr>
          <p:nvPr/>
        </p:nvSpPr>
        <p:spPr bwMode="auto">
          <a:xfrm>
            <a:off x="5729288" y="1954213"/>
            <a:ext cx="719137" cy="682625"/>
          </a:xfrm>
          <a:prstGeom prst="ellipse">
            <a:avLst/>
          </a:prstGeom>
          <a:solidFill>
            <a:srgbClr val="FFCCFF"/>
          </a:solidFill>
          <a:ln w="9525">
            <a:solidFill>
              <a:srgbClr val="333399"/>
            </a:solidFill>
            <a:round/>
            <a:headEnd/>
            <a:tailEnd/>
          </a:ln>
        </p:spPr>
        <p:txBody>
          <a:bodyPr wrap="none" anchor="ctr"/>
          <a:lstStyle/>
          <a:p>
            <a:pPr algn="ctr" eaLnBrk="0" hangingPunct="0"/>
            <a:r>
              <a:rPr lang="zh-CN" altLang="en-US" b="1">
                <a:solidFill>
                  <a:srgbClr val="000099"/>
                </a:solidFill>
                <a:ea typeface="宋体" panose="02010600030101010101" pitchFamily="2" charset="-122"/>
              </a:rPr>
              <a:t>电池</a:t>
            </a:r>
          </a:p>
        </p:txBody>
      </p:sp>
      <p:sp>
        <p:nvSpPr>
          <p:cNvPr id="2397196" name="Rectangle 16"/>
          <p:cNvSpPr>
            <a:spLocks noChangeArrowheads="1"/>
          </p:cNvSpPr>
          <p:nvPr/>
        </p:nvSpPr>
        <p:spPr bwMode="auto">
          <a:xfrm>
            <a:off x="8208963" y="1911350"/>
            <a:ext cx="1108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zh-CN" altLang="en-US" b="1">
                <a:solidFill>
                  <a:srgbClr val="000099"/>
                </a:solidFill>
                <a:ea typeface="宋体" panose="02010600030101010101" pitchFamily="2" charset="-122"/>
              </a:rPr>
              <a:t>无线</a:t>
            </a:r>
          </a:p>
          <a:p>
            <a:pPr algn="ctr" eaLnBrk="0" hangingPunct="0">
              <a:lnSpc>
                <a:spcPct val="85000"/>
              </a:lnSpc>
            </a:pPr>
            <a:r>
              <a:rPr lang="zh-CN" altLang="en-US" b="1">
                <a:solidFill>
                  <a:srgbClr val="000099"/>
                </a:solidFill>
                <a:ea typeface="宋体" panose="02010600030101010101" pitchFamily="2" charset="-122"/>
              </a:rPr>
              <a:t>收发器</a:t>
            </a:r>
          </a:p>
        </p:txBody>
      </p:sp>
      <p:pic>
        <p:nvPicPr>
          <p:cNvPr id="2397197" name="Picture 17" descr="UCB-sensor-dots"/>
          <p:cNvPicPr>
            <a:picLocks noChangeAspect="1" noChangeArrowheads="1"/>
          </p:cNvPicPr>
          <p:nvPr/>
        </p:nvPicPr>
        <p:blipFill>
          <a:blip r:embed="rId2">
            <a:extLst>
              <a:ext uri="{28A0092B-C50C-407E-A947-70E740481C1C}">
                <a14:useLocalDpi xmlns:a14="http://schemas.microsoft.com/office/drawing/2010/main" val="0"/>
              </a:ext>
            </a:extLst>
          </a:blip>
          <a:srcRect l="2850" t="11598" r="7932" b="12183"/>
          <a:stretch>
            <a:fillRect/>
          </a:stretch>
        </p:blipFill>
        <p:spPr bwMode="auto">
          <a:xfrm>
            <a:off x="895350" y="1760538"/>
            <a:ext cx="40036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7198" name="Text Box 21"/>
          <p:cNvSpPr txBox="1">
            <a:spLocks noChangeArrowheads="1"/>
          </p:cNvSpPr>
          <p:nvPr/>
        </p:nvSpPr>
        <p:spPr bwMode="auto">
          <a:xfrm>
            <a:off x="2432050" y="4271963"/>
            <a:ext cx="1265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ea typeface="宋体" panose="02010600030101010101" pitchFamily="2" charset="-122"/>
              </a:rPr>
              <a:t>(a) </a:t>
            </a:r>
            <a:r>
              <a:rPr lang="zh-CN" altLang="en-US" b="1">
                <a:ea typeface="宋体" panose="02010600030101010101" pitchFamily="2" charset="-122"/>
              </a:rPr>
              <a:t>形状</a:t>
            </a:r>
            <a:endParaRPr lang="en-US" altLang="zh-CN" b="1">
              <a:ea typeface="宋体" panose="02010600030101010101" pitchFamily="2" charset="-122"/>
            </a:endParaRPr>
          </a:p>
        </p:txBody>
      </p:sp>
      <p:sp>
        <p:nvSpPr>
          <p:cNvPr id="2397199" name="Text Box 22"/>
          <p:cNvSpPr txBox="1">
            <a:spLocks noChangeArrowheads="1"/>
          </p:cNvSpPr>
          <p:nvPr/>
        </p:nvSpPr>
        <p:spPr bwMode="auto">
          <a:xfrm>
            <a:off x="6865938" y="4279900"/>
            <a:ext cx="1281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ea typeface="宋体" panose="02010600030101010101" pitchFamily="2" charset="-122"/>
              </a:rPr>
              <a:t>(b) </a:t>
            </a:r>
            <a:r>
              <a:rPr lang="zh-CN" altLang="en-US" b="1">
                <a:ea typeface="宋体" panose="02010600030101010101" pitchFamily="2" charset="-122"/>
              </a:rPr>
              <a:t>组成</a:t>
            </a:r>
            <a:endParaRPr lang="en-US" altLang="zh-CN" b="1">
              <a:ea typeface="宋体" panose="02010600030101010101" pitchFamily="2" charset="-122"/>
            </a:endParaRPr>
          </a:p>
        </p:txBody>
      </p:sp>
      <p:sp>
        <p:nvSpPr>
          <p:cNvPr id="239720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D3BC79-DE6E-4F78-99FA-7DE91F96D2FF}" type="slidenum">
              <a:rPr lang="zh-CN" altLang="en-US" smtClean="0"/>
              <a:pPr eaLnBrk="1" hangingPunct="1"/>
              <a:t>19</a:t>
            </a:fld>
            <a:endParaRPr lang="en-US" altLang="zh-CN" smtClean="0"/>
          </a:p>
        </p:txBody>
      </p:sp>
      <p:sp>
        <p:nvSpPr>
          <p:cNvPr id="239720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8209"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无线传感器网络主要的应用领域 </a:t>
            </a:r>
          </a:p>
        </p:txBody>
      </p:sp>
      <p:sp>
        <p:nvSpPr>
          <p:cNvPr id="2398210"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无线传感器网络主要的应用领域就是组成各种的</a:t>
            </a:r>
            <a:r>
              <a:rPr lang="zh-CN" altLang="zh-CN" u="sng" dirty="0" smtClean="0">
                <a:solidFill>
                  <a:srgbClr val="FF0000"/>
                </a:solidFill>
                <a:ea typeface="黑体" panose="02010609060101010101" pitchFamily="49" charset="-122"/>
              </a:rPr>
              <a:t>物联网</a:t>
            </a:r>
            <a:r>
              <a:rPr lang="en-US" altLang="zh-CN" u="sng" dirty="0" smtClean="0">
                <a:solidFill>
                  <a:srgbClr val="FF0000"/>
                </a:solidFill>
                <a:ea typeface="黑体" panose="02010609060101010101" pitchFamily="49" charset="-122"/>
              </a:rPr>
              <a:t> </a:t>
            </a:r>
            <a:r>
              <a:rPr lang="en-US" altLang="zh-CN" u="sng" dirty="0" err="1" smtClean="0">
                <a:ea typeface="黑体" panose="02010609060101010101" pitchFamily="49" charset="-122"/>
              </a:rPr>
              <a:t>IoT</a:t>
            </a:r>
            <a:r>
              <a:rPr lang="en-US" altLang="zh-CN" u="sng" dirty="0" smtClean="0">
                <a:ea typeface="黑体" panose="02010609060101010101" pitchFamily="49" charset="-122"/>
              </a:rPr>
              <a:t> (Internet of Things) </a:t>
            </a:r>
            <a:r>
              <a:rPr lang="zh-CN" altLang="en-US" dirty="0" smtClean="0">
                <a:ea typeface="黑体" panose="02010609060101010101" pitchFamily="49" charset="-122"/>
              </a:rPr>
              <a:t>，例如：</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环境监测与保护（如洪水预报、动物栖息的监控）；</a:t>
            </a:r>
          </a:p>
          <a:p>
            <a:pPr lvl="1"/>
            <a:r>
              <a:rPr lang="zh-CN" altLang="en-US" dirty="0" smtClean="0">
                <a:ea typeface="黑体" panose="02010609060101010101" pitchFamily="49" charset="-122"/>
              </a:rPr>
              <a:t>战争中对敌情的侦查和对兵力、装备、物资等的监控；</a:t>
            </a:r>
          </a:p>
          <a:p>
            <a:pPr lvl="1"/>
            <a:r>
              <a:rPr lang="zh-CN" altLang="en-US" dirty="0" smtClean="0">
                <a:ea typeface="黑体" panose="02010609060101010101" pitchFamily="49" charset="-122"/>
              </a:rPr>
              <a:t>医疗中对病房的监测和对患者的护理；</a:t>
            </a:r>
          </a:p>
          <a:p>
            <a:pPr lvl="1"/>
            <a:r>
              <a:rPr lang="zh-CN" altLang="en-US" dirty="0" smtClean="0">
                <a:ea typeface="黑体" panose="02010609060101010101" pitchFamily="49" charset="-122"/>
              </a:rPr>
              <a:t>在危险的工业环境（如矿井、核电站等）中的安全监测；</a:t>
            </a:r>
          </a:p>
          <a:p>
            <a:pPr lvl="1"/>
            <a:r>
              <a:rPr lang="zh-CN" altLang="en-US" dirty="0" smtClean="0">
                <a:ea typeface="黑体" panose="02010609060101010101" pitchFamily="49" charset="-122"/>
              </a:rPr>
              <a:t>城市交通管理、建筑内的温度</a:t>
            </a:r>
            <a:r>
              <a:rPr lang="en-US" altLang="zh-CN" dirty="0" smtClean="0">
                <a:ea typeface="黑体" panose="02010609060101010101" pitchFamily="49" charset="-122"/>
              </a:rPr>
              <a:t>/</a:t>
            </a:r>
            <a:r>
              <a:rPr lang="zh-CN" altLang="en-US" dirty="0" smtClean="0">
                <a:ea typeface="黑体" panose="02010609060101010101" pitchFamily="49" charset="-122"/>
              </a:rPr>
              <a:t>照明</a:t>
            </a:r>
            <a:r>
              <a:rPr lang="en-US" altLang="zh-CN" dirty="0" smtClean="0">
                <a:ea typeface="黑体" panose="02010609060101010101" pitchFamily="49" charset="-122"/>
              </a:rPr>
              <a:t>/</a:t>
            </a:r>
            <a:r>
              <a:rPr lang="zh-CN" altLang="en-US" dirty="0" smtClean="0">
                <a:ea typeface="黑体" panose="02010609060101010101" pitchFamily="49" charset="-122"/>
              </a:rPr>
              <a:t>安全控制等。 </a:t>
            </a:r>
          </a:p>
        </p:txBody>
      </p:sp>
      <p:sp>
        <p:nvSpPr>
          <p:cNvPr id="2398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A216BD-E0CC-4A83-B4E3-A625CFA8DB3C}" type="slidenum">
              <a:rPr lang="zh-CN" altLang="en-US" smtClean="0"/>
              <a:pPr eaLnBrk="1" hangingPunct="1"/>
              <a:t>20</a:t>
            </a:fld>
            <a:endParaRPr lang="en-US" altLang="zh-CN" smtClean="0"/>
          </a:p>
        </p:txBody>
      </p:sp>
      <p:sp>
        <p:nvSpPr>
          <p:cNvPr id="2398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025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移动自组网络</a:t>
            </a:r>
            <a:r>
              <a:rPr lang="zh-CN" altLang="en-US" smtClean="0">
                <a:solidFill>
                  <a:srgbClr val="FF0000"/>
                </a:solidFill>
                <a:ea typeface="黑体" panose="02010609060101010101" pitchFamily="49" charset="-122"/>
              </a:rPr>
              <a:t>不同于</a:t>
            </a:r>
            <a:r>
              <a:rPr lang="zh-CN" altLang="en-US" smtClean="0">
                <a:ea typeface="黑体" panose="02010609060101010101" pitchFamily="49" charset="-122"/>
              </a:rPr>
              <a:t>移动 </a:t>
            </a:r>
            <a:r>
              <a:rPr lang="en-US" altLang="zh-CN" smtClean="0">
                <a:ea typeface="黑体" panose="02010609060101010101" pitchFamily="49" charset="-122"/>
              </a:rPr>
              <a:t>IP</a:t>
            </a:r>
            <a:endParaRPr lang="zh-CN" altLang="en-US" smtClean="0">
              <a:ea typeface="黑体" panose="02010609060101010101" pitchFamily="49" charset="-122"/>
            </a:endParaRPr>
          </a:p>
        </p:txBody>
      </p:sp>
      <p:sp>
        <p:nvSpPr>
          <p:cNvPr id="304137"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移动 </a:t>
            </a:r>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技术</a:t>
            </a:r>
            <a:r>
              <a:rPr lang="zh-CN" altLang="en-US" dirty="0" smtClean="0">
                <a:ea typeface="黑体" panose="02010609060101010101" pitchFamily="49" charset="-122"/>
              </a:rPr>
              <a:t>使漫游的主机可以用多种方式连接到互联网。</a:t>
            </a:r>
          </a:p>
          <a:p>
            <a:r>
              <a:rPr lang="zh-CN" altLang="en-US" dirty="0" smtClean="0">
                <a:solidFill>
                  <a:srgbClr val="FF0000"/>
                </a:solidFill>
                <a:ea typeface="黑体" panose="02010609060101010101" pitchFamily="49" charset="-122"/>
              </a:rPr>
              <a:t>移动 </a:t>
            </a:r>
            <a:r>
              <a:rPr lang="en-US" altLang="zh-CN" dirty="0" smtClean="0">
                <a:solidFill>
                  <a:srgbClr val="FF0000"/>
                </a:solidFill>
                <a:ea typeface="黑体" panose="02010609060101010101" pitchFamily="49" charset="-122"/>
              </a:rPr>
              <a:t>IP </a:t>
            </a:r>
            <a:r>
              <a:rPr lang="zh-CN" altLang="en-US" dirty="0" smtClean="0">
                <a:ea typeface="黑体" panose="02010609060101010101" pitchFamily="49" charset="-122"/>
              </a:rPr>
              <a:t>的核心网络功能仍然是基于在固定互联网中一直在使用的各种路由选择协议。</a:t>
            </a:r>
          </a:p>
          <a:p>
            <a:r>
              <a:rPr lang="zh-CN" altLang="en-US" dirty="0" smtClean="0">
                <a:solidFill>
                  <a:srgbClr val="FF0000"/>
                </a:solidFill>
                <a:ea typeface="黑体" panose="02010609060101010101" pitchFamily="49" charset="-122"/>
              </a:rPr>
              <a:t>移动自组网络</a:t>
            </a:r>
            <a:r>
              <a:rPr lang="zh-CN" altLang="en-US" dirty="0" smtClean="0">
                <a:ea typeface="黑体" panose="02010609060101010101" pitchFamily="49" charset="-122"/>
              </a:rPr>
              <a:t>是将移动性扩展到无线领域中的自治系统，它具有自己特定的路由选择协议，并且可以不和互联网相连。  </a:t>
            </a:r>
          </a:p>
        </p:txBody>
      </p:sp>
      <p:sp>
        <p:nvSpPr>
          <p:cNvPr id="2400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029BAE-8C0E-412E-9D0F-6EADC9B255F9}" type="slidenum">
              <a:rPr lang="zh-CN" altLang="en-US" smtClean="0"/>
              <a:pPr eaLnBrk="1" hangingPunct="1"/>
              <a:t>21</a:t>
            </a:fld>
            <a:endParaRPr lang="en-US" altLang="zh-CN" smtClean="0"/>
          </a:p>
        </p:txBody>
      </p:sp>
      <p:sp>
        <p:nvSpPr>
          <p:cNvPr id="2400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413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41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128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几种不同的接入</a:t>
            </a:r>
          </a:p>
        </p:txBody>
      </p:sp>
      <p:sp>
        <p:nvSpPr>
          <p:cNvPr id="2401282" name="Rectangle 3"/>
          <p:cNvSpPr>
            <a:spLocks noGrp="1" noChangeArrowheads="1"/>
          </p:cNvSpPr>
          <p:nvPr>
            <p:ph idx="1"/>
          </p:nvPr>
        </p:nvSpPr>
        <p:spPr>
          <a:xfrm>
            <a:off x="495300" y="1196975"/>
            <a:ext cx="9066213" cy="4933950"/>
          </a:xfrm>
        </p:spPr>
        <p:txBody>
          <a:bodyPr/>
          <a:lstStyle/>
          <a:p>
            <a:pPr>
              <a:lnSpc>
                <a:spcPct val="100000"/>
              </a:lnSpc>
            </a:pPr>
            <a:r>
              <a:rPr lang="zh-CN" altLang="en-US" sz="2800" dirty="0" smtClean="0">
                <a:solidFill>
                  <a:srgbClr val="FF0000"/>
                </a:solidFill>
                <a:ea typeface="黑体" panose="02010609060101010101" pitchFamily="49" charset="-122"/>
              </a:rPr>
              <a:t>固定接入 </a:t>
            </a:r>
            <a:r>
              <a:rPr lang="en-US" altLang="zh-CN" sz="2800" dirty="0" smtClean="0">
                <a:ea typeface="黑体" panose="02010609060101010101" pitchFamily="49" charset="-122"/>
              </a:rPr>
              <a:t>(fixed access)——</a:t>
            </a:r>
            <a:r>
              <a:rPr lang="zh-CN" altLang="en-US" sz="2800" dirty="0" smtClean="0">
                <a:ea typeface="黑体" panose="02010609060101010101" pitchFamily="49" charset="-122"/>
              </a:rPr>
              <a:t>在作为网络用户期间，用户设置的地理位置保持不变。</a:t>
            </a:r>
          </a:p>
          <a:p>
            <a:pPr>
              <a:lnSpc>
                <a:spcPct val="100000"/>
              </a:lnSpc>
            </a:pPr>
            <a:r>
              <a:rPr lang="zh-CN" altLang="en-US" sz="2800" dirty="0" smtClean="0">
                <a:solidFill>
                  <a:srgbClr val="FF0000"/>
                </a:solidFill>
                <a:ea typeface="黑体" panose="02010609060101010101" pitchFamily="49" charset="-122"/>
              </a:rPr>
              <a:t>移动接入 </a:t>
            </a:r>
            <a:r>
              <a:rPr lang="en-US" altLang="zh-CN" sz="2800" dirty="0" smtClean="0">
                <a:ea typeface="黑体" panose="02010609060101010101" pitchFamily="49" charset="-122"/>
              </a:rPr>
              <a:t>(mobility access)——</a:t>
            </a:r>
            <a:r>
              <a:rPr lang="zh-CN" altLang="en-US" sz="2800" dirty="0" smtClean="0">
                <a:ea typeface="黑体" panose="02010609060101010101" pitchFamily="49" charset="-122"/>
              </a:rPr>
              <a:t>用户设置能够以车辆速度移动时进行网络通信。当发生切换时，通信仍然是连续的。</a:t>
            </a:r>
          </a:p>
          <a:p>
            <a:pPr>
              <a:lnSpc>
                <a:spcPct val="100000"/>
              </a:lnSpc>
            </a:pPr>
            <a:r>
              <a:rPr lang="zh-CN" altLang="en-US" sz="2800" dirty="0" smtClean="0">
                <a:solidFill>
                  <a:srgbClr val="FF0000"/>
                </a:solidFill>
                <a:ea typeface="黑体" panose="02010609060101010101" pitchFamily="49" charset="-122"/>
              </a:rPr>
              <a:t>便携接入 </a:t>
            </a:r>
            <a:r>
              <a:rPr lang="en-US" altLang="zh-CN" sz="2800" dirty="0" smtClean="0">
                <a:ea typeface="黑体" panose="02010609060101010101" pitchFamily="49" charset="-122"/>
              </a:rPr>
              <a:t>(portable access)——</a:t>
            </a:r>
            <a:r>
              <a:rPr lang="zh-CN" altLang="en-US" sz="2800" dirty="0" smtClean="0">
                <a:ea typeface="黑体" panose="02010609060101010101" pitchFamily="49" charset="-122"/>
              </a:rPr>
              <a:t>在受限的网络覆盖面积中，用户设备能够在以步行速度移动时进行网络通信，提供有限的切换能力。</a:t>
            </a:r>
          </a:p>
          <a:p>
            <a:pPr>
              <a:lnSpc>
                <a:spcPct val="100000"/>
              </a:lnSpc>
            </a:pPr>
            <a:r>
              <a:rPr lang="zh-CN" altLang="en-US" sz="2800" dirty="0" smtClean="0">
                <a:solidFill>
                  <a:srgbClr val="FF0000"/>
                </a:solidFill>
                <a:ea typeface="黑体" panose="02010609060101010101" pitchFamily="49" charset="-122"/>
              </a:rPr>
              <a:t>游牧接入 </a:t>
            </a:r>
            <a:r>
              <a:rPr lang="en-US" altLang="zh-CN" sz="2800" dirty="0" smtClean="0">
                <a:ea typeface="黑体" panose="02010609060101010101" pitchFamily="49" charset="-122"/>
              </a:rPr>
              <a:t>(nomadic access)——</a:t>
            </a:r>
            <a:r>
              <a:rPr lang="zh-CN" altLang="en-US" sz="2800" dirty="0" smtClean="0">
                <a:ea typeface="黑体" panose="02010609060101010101" pitchFamily="49" charset="-122"/>
              </a:rPr>
              <a:t>用户设备的地理位置至少在进行网络通信时保持不变。如用户设备移动了位置，则再次进行通信时可能还要寻找最佳的基站。</a:t>
            </a:r>
          </a:p>
        </p:txBody>
      </p:sp>
      <p:sp>
        <p:nvSpPr>
          <p:cNvPr id="24012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C90B0F-B739-476C-90FD-CB22F53B8DD6}" type="slidenum">
              <a:rPr lang="zh-CN" altLang="en-US" smtClean="0"/>
              <a:pPr eaLnBrk="1" hangingPunct="1"/>
              <a:t>22</a:t>
            </a:fld>
            <a:endParaRPr lang="en-US" altLang="zh-CN" smtClean="0"/>
          </a:p>
        </p:txBody>
      </p:sp>
      <p:sp>
        <p:nvSpPr>
          <p:cNvPr id="24012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2305"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9.1.2   802.11 </a:t>
            </a:r>
            <a:r>
              <a:rPr lang="zh-CN" altLang="en-US" smtClean="0">
                <a:ea typeface="黑体" panose="02010609060101010101" pitchFamily="49" charset="-122"/>
              </a:rPr>
              <a:t>局域网的物理层</a:t>
            </a:r>
          </a:p>
        </p:txBody>
      </p:sp>
      <p:sp>
        <p:nvSpPr>
          <p:cNvPr id="2402306" name="Rectangle 9"/>
          <p:cNvSpPr>
            <a:spLocks noGrp="1" noChangeArrowheads="1"/>
          </p:cNvSpPr>
          <p:nvPr>
            <p:ph idx="1"/>
          </p:nvPr>
        </p:nvSpPr>
        <p:spPr>
          <a:xfrm>
            <a:off x="495300" y="1196975"/>
            <a:ext cx="9066213" cy="4933950"/>
          </a:xfrm>
        </p:spPr>
        <p:txBody>
          <a:bodyPr/>
          <a:lstStyle/>
          <a:p>
            <a:pPr>
              <a:lnSpc>
                <a:spcPct val="100000"/>
              </a:lnSpc>
            </a:pPr>
            <a:r>
              <a:rPr lang="en-US" altLang="zh-CN" sz="2800" dirty="0" smtClean="0">
                <a:ea typeface="黑体" panose="02010609060101010101" pitchFamily="49" charset="-122"/>
              </a:rPr>
              <a:t>802.11 </a:t>
            </a:r>
            <a:r>
              <a:rPr lang="zh-CN" altLang="zh-CN" sz="2800" dirty="0" smtClean="0">
                <a:ea typeface="黑体" panose="02010609060101010101" pitchFamily="49" charset="-122"/>
              </a:rPr>
              <a:t>标准中物理层相当复杂。根据物理层的不同（如工作频段、数据率、调制方法等），对应的标准也不同。</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最早流行的无线局域网是</a:t>
            </a:r>
            <a:r>
              <a:rPr lang="en-US" altLang="zh-CN" sz="2800" dirty="0" smtClean="0">
                <a:ea typeface="黑体" panose="02010609060101010101" pitchFamily="49" charset="-122"/>
              </a:rPr>
              <a:t> 802.11b</a:t>
            </a:r>
            <a:r>
              <a:rPr lang="zh-CN" altLang="zh-CN" sz="2800" dirty="0" smtClean="0">
                <a:ea typeface="黑体" panose="02010609060101010101" pitchFamily="49" charset="-122"/>
              </a:rPr>
              <a:t>，</a:t>
            </a:r>
            <a:r>
              <a:rPr lang="en-US" altLang="zh-CN" sz="2800" dirty="0" smtClean="0">
                <a:ea typeface="黑体" panose="02010609060101010101" pitchFamily="49" charset="-122"/>
              </a:rPr>
              <a:t>802.11a </a:t>
            </a:r>
            <a:r>
              <a:rPr lang="zh-CN" altLang="zh-CN" sz="2800" dirty="0" smtClean="0">
                <a:ea typeface="黑体" panose="02010609060101010101" pitchFamily="49" charset="-122"/>
              </a:rPr>
              <a:t>和</a:t>
            </a:r>
            <a:r>
              <a:rPr lang="en-US" altLang="zh-CN" sz="2800" dirty="0" smtClean="0">
                <a:ea typeface="黑体" panose="02010609060101010101" pitchFamily="49" charset="-122"/>
              </a:rPr>
              <a:t>802.11g</a:t>
            </a:r>
            <a:r>
              <a:rPr lang="zh-CN" altLang="zh-CN" sz="2800" dirty="0" smtClean="0">
                <a:ea typeface="黑体" panose="02010609060101010101" pitchFamily="49" charset="-122"/>
              </a:rPr>
              <a:t>。</a:t>
            </a:r>
            <a:r>
              <a:rPr lang="en-US" altLang="zh-CN" sz="2800" dirty="0" smtClean="0">
                <a:ea typeface="黑体" panose="02010609060101010101" pitchFamily="49" charset="-122"/>
              </a:rPr>
              <a:t>2009</a:t>
            </a:r>
            <a:r>
              <a:rPr lang="zh-CN" altLang="zh-CN" sz="2800" dirty="0" smtClean="0">
                <a:ea typeface="黑体" panose="02010609060101010101" pitchFamily="49" charset="-122"/>
              </a:rPr>
              <a:t>年颁布了标准</a:t>
            </a:r>
            <a:r>
              <a:rPr lang="en-US" altLang="zh-CN" sz="2800" dirty="0" smtClean="0">
                <a:ea typeface="黑体" panose="02010609060101010101" pitchFamily="49" charset="-122"/>
              </a:rPr>
              <a:t> 802.11n</a:t>
            </a:r>
          </a:p>
          <a:p>
            <a:pPr>
              <a:lnSpc>
                <a:spcPct val="100000"/>
              </a:lnSpc>
            </a:pPr>
            <a:r>
              <a:rPr lang="en-US" altLang="zh-CN" sz="2800" dirty="0" smtClean="0">
                <a:ea typeface="黑体" panose="02010609060101010101" pitchFamily="49" charset="-122"/>
              </a:rPr>
              <a:t>802.11 </a:t>
            </a:r>
            <a:r>
              <a:rPr lang="zh-CN" altLang="en-US" sz="2800" dirty="0" smtClean="0">
                <a:ea typeface="黑体" panose="02010609060101010101" pitchFamily="49" charset="-122"/>
              </a:rPr>
              <a:t>的物理层有以下几种实现方法：</a:t>
            </a:r>
          </a:p>
          <a:p>
            <a:pPr lvl="1">
              <a:lnSpc>
                <a:spcPct val="100000"/>
              </a:lnSpc>
            </a:pPr>
            <a:r>
              <a:rPr lang="zh-CN" altLang="en-US" dirty="0" smtClean="0">
                <a:solidFill>
                  <a:srgbClr val="0000FF"/>
                </a:solidFill>
                <a:ea typeface="黑体" panose="02010609060101010101" pitchFamily="49" charset="-122"/>
              </a:rPr>
              <a:t>直接序列扩频 </a:t>
            </a:r>
            <a:r>
              <a:rPr lang="en-US" altLang="zh-CN" dirty="0" smtClean="0">
                <a:solidFill>
                  <a:srgbClr val="0000FF"/>
                </a:solidFill>
                <a:ea typeface="黑体" panose="02010609060101010101" pitchFamily="49" charset="-122"/>
              </a:rPr>
              <a:t>DSSS</a:t>
            </a:r>
          </a:p>
          <a:p>
            <a:pPr lvl="1">
              <a:lnSpc>
                <a:spcPct val="100000"/>
              </a:lnSpc>
            </a:pPr>
            <a:r>
              <a:rPr lang="zh-CN" altLang="en-US" dirty="0" smtClean="0">
                <a:solidFill>
                  <a:srgbClr val="0000FF"/>
                </a:solidFill>
                <a:ea typeface="黑体" panose="02010609060101010101" pitchFamily="49" charset="-122"/>
              </a:rPr>
              <a:t>正交频分复用 </a:t>
            </a:r>
            <a:r>
              <a:rPr lang="en-US" altLang="zh-CN" dirty="0" smtClean="0">
                <a:solidFill>
                  <a:srgbClr val="0000FF"/>
                </a:solidFill>
                <a:ea typeface="黑体" panose="02010609060101010101" pitchFamily="49" charset="-122"/>
              </a:rPr>
              <a:t>OFDM </a:t>
            </a:r>
          </a:p>
          <a:p>
            <a:pPr lvl="1">
              <a:lnSpc>
                <a:spcPct val="100000"/>
              </a:lnSpc>
            </a:pPr>
            <a:r>
              <a:rPr lang="zh-CN" altLang="en-US" dirty="0" smtClean="0">
                <a:solidFill>
                  <a:srgbClr val="0000FF"/>
                </a:solidFill>
                <a:ea typeface="黑体" panose="02010609060101010101" pitchFamily="49" charset="-122"/>
              </a:rPr>
              <a:t>跳频扩频 </a:t>
            </a:r>
            <a:r>
              <a:rPr lang="en-US" altLang="zh-CN" dirty="0" smtClean="0">
                <a:solidFill>
                  <a:srgbClr val="0000FF"/>
                </a:solidFill>
                <a:ea typeface="黑体" panose="02010609060101010101" pitchFamily="49" charset="-122"/>
              </a:rPr>
              <a:t>FHSS </a:t>
            </a:r>
            <a:r>
              <a:rPr lang="zh-CN" altLang="en-US" dirty="0" smtClean="0">
                <a:solidFill>
                  <a:srgbClr val="0000FF"/>
                </a:solidFill>
                <a:ea typeface="黑体" panose="02010609060101010101" pitchFamily="49" charset="-122"/>
              </a:rPr>
              <a:t>（已很少用）</a:t>
            </a:r>
          </a:p>
          <a:p>
            <a:pPr lvl="1">
              <a:lnSpc>
                <a:spcPct val="100000"/>
              </a:lnSpc>
            </a:pPr>
            <a:r>
              <a:rPr lang="zh-CN" altLang="en-US" dirty="0" smtClean="0">
                <a:solidFill>
                  <a:srgbClr val="0000FF"/>
                </a:solidFill>
                <a:ea typeface="黑体" panose="02010609060101010101" pitchFamily="49" charset="-122"/>
              </a:rPr>
              <a:t>红外线 </a:t>
            </a:r>
            <a:r>
              <a:rPr lang="en-US" altLang="zh-CN" dirty="0" smtClean="0">
                <a:solidFill>
                  <a:srgbClr val="0000FF"/>
                </a:solidFill>
                <a:ea typeface="黑体" panose="02010609060101010101" pitchFamily="49" charset="-122"/>
              </a:rPr>
              <a:t>IR </a:t>
            </a:r>
            <a:r>
              <a:rPr lang="zh-CN" altLang="en-US" dirty="0" smtClean="0">
                <a:solidFill>
                  <a:srgbClr val="0000FF"/>
                </a:solidFill>
                <a:ea typeface="黑体" panose="02010609060101010101" pitchFamily="49" charset="-122"/>
              </a:rPr>
              <a:t>（已很少用）</a:t>
            </a:r>
            <a:r>
              <a:rPr lang="zh-CN" altLang="en-US" sz="2400" dirty="0" smtClean="0">
                <a:ea typeface="黑体" panose="02010609060101010101" pitchFamily="49" charset="-122"/>
              </a:rPr>
              <a:t> </a:t>
            </a:r>
          </a:p>
        </p:txBody>
      </p:sp>
      <p:sp>
        <p:nvSpPr>
          <p:cNvPr id="2402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DE6C1-D942-4946-8EBB-0200D3E7F30C}" type="slidenum">
              <a:rPr lang="zh-CN" altLang="en-US" smtClean="0"/>
              <a:pPr eaLnBrk="1" hangingPunct="1"/>
              <a:t>23</a:t>
            </a:fld>
            <a:endParaRPr lang="en-US" altLang="zh-CN" smtClean="0"/>
          </a:p>
        </p:txBody>
      </p:sp>
      <p:sp>
        <p:nvSpPr>
          <p:cNvPr id="2402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3329" name="Rectangle 133"/>
          <p:cNvSpPr>
            <a:spLocks noGrp="1" noChangeArrowheads="1"/>
          </p:cNvSpPr>
          <p:nvPr>
            <p:ph type="title"/>
          </p:nvPr>
        </p:nvSpPr>
        <p:spPr/>
        <p:txBody>
          <a:bodyPr/>
          <a:lstStyle/>
          <a:p>
            <a:pPr algn="ctr"/>
            <a:r>
              <a:rPr lang="zh-CN" altLang="en-US" sz="4000" smtClean="0">
                <a:ea typeface="黑体" panose="02010609060101010101" pitchFamily="49" charset="-122"/>
              </a:rPr>
              <a:t>几种常用的 </a:t>
            </a:r>
            <a:r>
              <a:rPr lang="en-US" altLang="zh-CN" sz="4000" smtClean="0">
                <a:ea typeface="黑体" panose="02010609060101010101" pitchFamily="49" charset="-122"/>
              </a:rPr>
              <a:t>802.11 </a:t>
            </a:r>
            <a:r>
              <a:rPr lang="zh-CN" altLang="en-US" sz="4000" smtClean="0">
                <a:ea typeface="黑体" panose="02010609060101010101" pitchFamily="49" charset="-122"/>
              </a:rPr>
              <a:t>无线局域网 </a:t>
            </a:r>
          </a:p>
        </p:txBody>
      </p:sp>
      <p:graphicFrame>
        <p:nvGraphicFramePr>
          <p:cNvPr id="2" name="表格 1"/>
          <p:cNvGraphicFramePr>
            <a:graphicFrameLocks noGrp="1"/>
          </p:cNvGraphicFramePr>
          <p:nvPr/>
        </p:nvGraphicFramePr>
        <p:xfrm>
          <a:off x="488950" y="1268413"/>
          <a:ext cx="9217023" cy="4681537"/>
        </p:xfrm>
        <a:graphic>
          <a:graphicData uri="http://schemas.openxmlformats.org/drawingml/2006/table">
            <a:tbl>
              <a:tblPr firstRow="1" firstCol="1" lastRow="1" lastCol="1" bandRow="1" bandCol="1">
                <a:tableStyleId>{5C22544A-7EE6-4342-B048-85BDC9FD1C3A}</a:tableStyleId>
              </a:tblPr>
              <a:tblGrid>
                <a:gridCol w="1296142">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4320481">
                  <a:extLst>
                    <a:ext uri="{9D8B030D-6E8A-4147-A177-3AD203B41FA5}">
                      <a16:colId xmlns:a16="http://schemas.microsoft.com/office/drawing/2014/main" val="20004"/>
                    </a:ext>
                  </a:extLst>
                </a:gridCol>
              </a:tblGrid>
              <a:tr h="704646">
                <a:tc>
                  <a:txBody>
                    <a:bodyPr/>
                    <a:lstStyle/>
                    <a:p>
                      <a:pPr algn="ctr">
                        <a:lnSpc>
                          <a:spcPct val="100000"/>
                        </a:lnSpc>
                        <a:spcBef>
                          <a:spcPts val="0"/>
                        </a:spcBef>
                        <a:spcAft>
                          <a:spcPts val="0"/>
                        </a:spcAft>
                        <a:tabLst>
                          <a:tab pos="1752600" algn="l"/>
                        </a:tabLst>
                      </a:pPr>
                      <a:r>
                        <a:rPr lang="zh-CN" sz="2200" b="1" dirty="0">
                          <a:solidFill>
                            <a:schemeClr val="tx1"/>
                          </a:solidFill>
                          <a:effectLst/>
                          <a:latin typeface="+mn-lt"/>
                          <a:ea typeface="+mn-ea"/>
                        </a:rPr>
                        <a:t>标准</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频段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数据速率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a:solidFill>
                            <a:schemeClr val="tx1"/>
                          </a:solidFill>
                          <a:effectLst/>
                          <a:latin typeface="+mn-lt"/>
                          <a:ea typeface="+mn-ea"/>
                        </a:rPr>
                        <a:t>物理层</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Bef>
                          <a:spcPts val="0"/>
                        </a:spcBef>
                        <a:spcAft>
                          <a:spcPts val="0"/>
                        </a:spcAft>
                        <a:tabLst>
                          <a:tab pos="1752600" algn="l"/>
                        </a:tabLst>
                      </a:pPr>
                      <a:r>
                        <a:rPr lang="zh-CN" sz="2200" b="1" dirty="0">
                          <a:solidFill>
                            <a:schemeClr val="tx1"/>
                          </a:solidFill>
                          <a:effectLst/>
                          <a:latin typeface="+mn-lt"/>
                          <a:ea typeface="+mn-ea"/>
                        </a:rPr>
                        <a:t>优缺点</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662815">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802.11b</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(1999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2.4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a:t>
                      </a:r>
                      <a:r>
                        <a:rPr lang="en-US" sz="2000" b="1">
                          <a:solidFill>
                            <a:schemeClr val="tx1"/>
                          </a:solidFill>
                          <a:effectLst/>
                          <a:latin typeface="+mn-lt"/>
                          <a:ea typeface="+mn-ea"/>
                        </a:rPr>
                        <a:t>11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扩频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dirty="0">
                          <a:solidFill>
                            <a:schemeClr val="tx1"/>
                          </a:solidFill>
                          <a:effectLst/>
                          <a:latin typeface="+mn-lt"/>
                          <a:ea typeface="+mn-ea"/>
                        </a:rPr>
                        <a:t>最高数据率较低，价格最低，信号传播距离最远，且不易受阻碍</a:t>
                      </a:r>
                      <a:r>
                        <a:rPr lang="zh-CN" altLang="en-US" sz="2000" b="1" dirty="0">
                          <a:solidFill>
                            <a:schemeClr val="tx1"/>
                          </a:solidFill>
                          <a:effectLst/>
                          <a:latin typeface="+mn-lt"/>
                          <a:ea typeface="+mn-ea"/>
                        </a:rPr>
                        <a:t>。</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94223">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802.11a</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(1999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5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dirty="0">
                          <a:solidFill>
                            <a:schemeClr val="tx1"/>
                          </a:solidFill>
                          <a:effectLst/>
                          <a:latin typeface="+mn-lt"/>
                          <a:ea typeface="+mn-ea"/>
                        </a:rPr>
                        <a:t>最高</a:t>
                      </a:r>
                      <a:r>
                        <a:rPr lang="en-US" sz="2000" b="1" dirty="0">
                          <a:solidFill>
                            <a:schemeClr val="tx1"/>
                          </a:solidFill>
                          <a:effectLst/>
                          <a:latin typeface="+mn-lt"/>
                          <a:ea typeface="+mn-ea"/>
                        </a:rPr>
                        <a:t>54 Mbit/s</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dirty="0">
                          <a:solidFill>
                            <a:schemeClr val="tx1"/>
                          </a:solidFill>
                          <a:effectLst/>
                          <a:latin typeface="+mn-lt"/>
                          <a:ea typeface="+mn-ea"/>
                        </a:rPr>
                        <a:t>OFDM</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最高数据率较高，支持更多用户同时上网，价格最高，信号传播距离较短，且易受阻碍。</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94223">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802.11g</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(2003</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2.4 GHz</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a:t>
                      </a:r>
                      <a:r>
                        <a:rPr lang="en-US" sz="2000" b="1">
                          <a:solidFill>
                            <a:schemeClr val="tx1"/>
                          </a:solidFill>
                          <a:effectLst/>
                          <a:latin typeface="+mn-lt"/>
                          <a:ea typeface="+mn-ea"/>
                        </a:rPr>
                        <a:t>54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en-US" sz="2000" b="1">
                          <a:solidFill>
                            <a:schemeClr val="tx1"/>
                          </a:solidFill>
                          <a:effectLst/>
                          <a:latin typeface="+mn-lt"/>
                          <a:ea typeface="+mn-ea"/>
                        </a:rPr>
                        <a:t>OFDM</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a:solidFill>
                            <a:schemeClr val="tx1"/>
                          </a:solidFill>
                          <a:effectLst/>
                          <a:latin typeface="+mn-lt"/>
                          <a:ea typeface="+mn-ea"/>
                        </a:rPr>
                        <a:t>最高数据率较高，支持更多用户同时上网，信号传播距离最远，且不易受阻碍，价格比</a:t>
                      </a:r>
                      <a:r>
                        <a:rPr lang="en-US" sz="2000" b="1">
                          <a:solidFill>
                            <a:schemeClr val="tx1"/>
                          </a:solidFill>
                          <a:effectLst/>
                          <a:latin typeface="+mn-lt"/>
                          <a:ea typeface="+mn-ea"/>
                        </a:rPr>
                        <a:t>802.11b</a:t>
                      </a:r>
                      <a:r>
                        <a:rPr lang="zh-CN" sz="2000" b="1">
                          <a:solidFill>
                            <a:schemeClr val="tx1"/>
                          </a:solidFill>
                          <a:effectLst/>
                          <a:latin typeface="+mn-lt"/>
                          <a:ea typeface="+mn-ea"/>
                        </a:rPr>
                        <a:t>贵。</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325630">
                <a:tc>
                  <a:txBody>
                    <a:bodyPr/>
                    <a:lstStyle/>
                    <a:p>
                      <a:pPr algn="l">
                        <a:lnSpc>
                          <a:spcPct val="100000"/>
                        </a:lnSpc>
                        <a:spcBef>
                          <a:spcPts val="0"/>
                        </a:spcBef>
                        <a:spcAft>
                          <a:spcPts val="0"/>
                        </a:spcAft>
                        <a:tabLst>
                          <a:tab pos="1752600" algn="l"/>
                        </a:tabLst>
                      </a:pPr>
                      <a:r>
                        <a:rPr lang="en-US" sz="2000" b="1" dirty="0">
                          <a:solidFill>
                            <a:srgbClr val="000099"/>
                          </a:solidFill>
                          <a:effectLst/>
                          <a:latin typeface="+mn-lt"/>
                          <a:ea typeface="+mn-ea"/>
                        </a:rPr>
                        <a:t>802.11n</a:t>
                      </a:r>
                      <a:endParaRPr lang="zh-CN" sz="2000" b="1" dirty="0">
                        <a:solidFill>
                          <a:srgbClr val="000099"/>
                        </a:solidFill>
                        <a:effectLst/>
                        <a:latin typeface="+mn-lt"/>
                        <a:ea typeface="+mn-ea"/>
                      </a:endParaRPr>
                    </a:p>
                    <a:p>
                      <a:pPr algn="l">
                        <a:lnSpc>
                          <a:spcPct val="100000"/>
                        </a:lnSpc>
                        <a:spcBef>
                          <a:spcPts val="0"/>
                        </a:spcBef>
                        <a:spcAft>
                          <a:spcPts val="0"/>
                        </a:spcAft>
                        <a:tabLst>
                          <a:tab pos="1752600" algn="l"/>
                        </a:tabLst>
                      </a:pPr>
                      <a:r>
                        <a:rPr lang="en-US" sz="2000" b="1" dirty="0">
                          <a:solidFill>
                            <a:srgbClr val="000099"/>
                          </a:solidFill>
                          <a:effectLst/>
                          <a:latin typeface="+mn-lt"/>
                          <a:ea typeface="+mn-ea"/>
                        </a:rPr>
                        <a:t>(2009</a:t>
                      </a:r>
                      <a:r>
                        <a:rPr lang="zh-CN" sz="2000" b="1" dirty="0">
                          <a:solidFill>
                            <a:srgbClr val="000099"/>
                          </a:solidFill>
                          <a:effectLst/>
                          <a:latin typeface="+mn-lt"/>
                          <a:ea typeface="+mn-ea"/>
                        </a:rPr>
                        <a:t>年</a:t>
                      </a:r>
                      <a:r>
                        <a:rPr lang="en-US" sz="2000" b="1" dirty="0">
                          <a:solidFill>
                            <a:srgbClr val="000099"/>
                          </a:solidFill>
                          <a:effectLst/>
                          <a:latin typeface="+mn-lt"/>
                          <a:ea typeface="+mn-ea"/>
                        </a:rPr>
                        <a:t>)</a:t>
                      </a:r>
                      <a:endParaRPr lang="zh-CN" sz="2000" b="1" dirty="0">
                        <a:solidFill>
                          <a:srgbClr val="000099"/>
                        </a:solidFill>
                        <a:effectLst/>
                        <a:latin typeface="+mn-lt"/>
                        <a:ea typeface="+mn-ea"/>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en-US" sz="2000" b="1" kern="100">
                          <a:solidFill>
                            <a:schemeClr val="tx1"/>
                          </a:solidFill>
                          <a:effectLst/>
                          <a:latin typeface="+mn-lt"/>
                          <a:ea typeface="+mn-ea"/>
                        </a:rPr>
                        <a:t>2.4 / 5 GHz</a:t>
                      </a:r>
                      <a:endParaRPr lang="zh-CN" sz="2000" b="1" kern="1050">
                        <a:solidFill>
                          <a:schemeClr val="tx1"/>
                        </a:solidFill>
                        <a:effectLst/>
                        <a:latin typeface="+mn-lt"/>
                        <a:ea typeface="+mn-ea"/>
                      </a:endParaRPr>
                    </a:p>
                    <a:p>
                      <a:pPr algn="l">
                        <a:lnSpc>
                          <a:spcPct val="100000"/>
                        </a:lnSpc>
                        <a:spcBef>
                          <a:spcPts val="0"/>
                        </a:spcBef>
                        <a:spcAft>
                          <a:spcPts val="0"/>
                        </a:spcAft>
                        <a:tabLst>
                          <a:tab pos="1752600" algn="l"/>
                        </a:tabLst>
                      </a:pPr>
                      <a:r>
                        <a:rPr lang="en-US" sz="2000" b="1">
                          <a:solidFill>
                            <a:schemeClr val="tx1"/>
                          </a:solidFill>
                          <a:effectLst/>
                          <a:latin typeface="+mn-lt"/>
                          <a:ea typeface="+mn-ea"/>
                        </a:rPr>
                        <a:t> </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tabLst>
                          <a:tab pos="1752600" algn="l"/>
                        </a:tabLst>
                      </a:pPr>
                      <a:r>
                        <a:rPr lang="zh-CN" sz="2000" b="1" kern="100" spc="-10">
                          <a:solidFill>
                            <a:schemeClr val="tx1"/>
                          </a:solidFill>
                          <a:effectLst/>
                          <a:latin typeface="+mn-lt"/>
                          <a:ea typeface="+mn-ea"/>
                        </a:rPr>
                        <a:t>最高</a:t>
                      </a:r>
                      <a:r>
                        <a:rPr lang="en-US" sz="2000" b="1" kern="100" spc="-10">
                          <a:solidFill>
                            <a:schemeClr val="tx1"/>
                          </a:solidFill>
                          <a:effectLst/>
                          <a:latin typeface="+mn-lt"/>
                          <a:ea typeface="+mn-ea"/>
                        </a:rPr>
                        <a:t>600 Mbit/s</a:t>
                      </a:r>
                      <a:endParaRPr lang="zh-CN" sz="2000" b="1">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en-US" sz="2000" b="1" kern="100" dirty="0">
                          <a:solidFill>
                            <a:schemeClr val="tx1"/>
                          </a:solidFill>
                          <a:effectLst/>
                          <a:latin typeface="+mn-lt"/>
                          <a:ea typeface="+mn-ea"/>
                        </a:rPr>
                        <a:t>MIMO</a:t>
                      </a:r>
                      <a:endParaRPr lang="zh-CN" sz="2000" b="1" kern="1050" dirty="0">
                        <a:solidFill>
                          <a:schemeClr val="tx1"/>
                        </a:solidFill>
                        <a:effectLst/>
                        <a:latin typeface="+mn-lt"/>
                        <a:ea typeface="+mn-ea"/>
                      </a:endParaRPr>
                    </a:p>
                    <a:p>
                      <a:pPr algn="l">
                        <a:lnSpc>
                          <a:spcPct val="100000"/>
                        </a:lnSpc>
                        <a:spcBef>
                          <a:spcPts val="0"/>
                        </a:spcBef>
                        <a:spcAft>
                          <a:spcPts val="0"/>
                        </a:spcAft>
                        <a:tabLst>
                          <a:tab pos="1752600" algn="l"/>
                        </a:tabLst>
                      </a:pPr>
                      <a:r>
                        <a:rPr lang="en-US" sz="2000" b="1" dirty="0">
                          <a:solidFill>
                            <a:schemeClr val="tx1"/>
                          </a:solidFill>
                          <a:effectLst/>
                          <a:latin typeface="+mn-lt"/>
                          <a:ea typeface="+mn-ea"/>
                        </a:rPr>
                        <a:t>OFDM</a:t>
                      </a:r>
                      <a:endParaRPr lang="zh-CN" sz="2000" b="1" dirty="0">
                        <a:solidFill>
                          <a:schemeClr val="tx1"/>
                        </a:solidFill>
                        <a:effectLst/>
                        <a:latin typeface="+mn-lt"/>
                        <a:ea typeface="+mn-ea"/>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lnSpc>
                          <a:spcPct val="100000"/>
                        </a:lnSpc>
                        <a:spcBef>
                          <a:spcPts val="0"/>
                        </a:spcBef>
                        <a:spcAft>
                          <a:spcPts val="0"/>
                        </a:spcAft>
                      </a:pPr>
                      <a:r>
                        <a:rPr lang="zh-CN" sz="2000" b="1" kern="1050" dirty="0">
                          <a:solidFill>
                            <a:schemeClr val="tx1"/>
                          </a:solidFill>
                          <a:effectLst/>
                          <a:latin typeface="+mn-lt"/>
                          <a:ea typeface="+mn-ea"/>
                        </a:rPr>
                        <a:t>使用多个发射和接收天线达到更高的数据传输率</a:t>
                      </a:r>
                      <a:r>
                        <a:rPr lang="zh-CN" altLang="en-US" sz="2000" b="1" kern="1050" dirty="0">
                          <a:solidFill>
                            <a:schemeClr val="tx1"/>
                          </a:solidFill>
                          <a:effectLst/>
                          <a:latin typeface="+mn-lt"/>
                          <a:ea typeface="+mn-ea"/>
                        </a:rPr>
                        <a:t>。</a:t>
                      </a:r>
                      <a:r>
                        <a:rPr lang="zh-CN" sz="2000" b="1" dirty="0">
                          <a:solidFill>
                            <a:schemeClr val="tx1"/>
                          </a:solidFill>
                          <a:effectLst/>
                          <a:latin typeface="+mn-lt"/>
                          <a:ea typeface="+mn-ea"/>
                        </a:rPr>
                        <a:t>当使用双倍带宽</a:t>
                      </a:r>
                      <a:r>
                        <a:rPr lang="en-US" sz="2000" b="1" dirty="0">
                          <a:solidFill>
                            <a:schemeClr val="tx1"/>
                          </a:solidFill>
                          <a:effectLst/>
                          <a:latin typeface="+mn-lt"/>
                          <a:ea typeface="+mn-ea"/>
                        </a:rPr>
                        <a:t>(40 MHz)</a:t>
                      </a:r>
                      <a:r>
                        <a:rPr lang="zh-CN" sz="2000" b="1" dirty="0">
                          <a:solidFill>
                            <a:schemeClr val="tx1"/>
                          </a:solidFill>
                          <a:effectLst/>
                          <a:latin typeface="+mn-lt"/>
                          <a:ea typeface="+mn-ea"/>
                        </a:rPr>
                        <a:t>时速率可达</a:t>
                      </a:r>
                      <a:r>
                        <a:rPr lang="en-US" sz="2000" b="1" dirty="0">
                          <a:solidFill>
                            <a:schemeClr val="tx1"/>
                          </a:solidFill>
                          <a:effectLst/>
                          <a:latin typeface="+mn-lt"/>
                          <a:ea typeface="+mn-ea"/>
                        </a:rPr>
                        <a:t>600 Mbit/s</a:t>
                      </a:r>
                      <a:r>
                        <a:rPr lang="zh-CN" sz="2000" b="1" dirty="0">
                          <a:solidFill>
                            <a:schemeClr val="tx1"/>
                          </a:solidFill>
                          <a:effectLst/>
                          <a:latin typeface="+mn-lt"/>
                          <a:ea typeface="+mn-ea"/>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40336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34E49B-46A2-4541-9080-359253F49FC8}" type="slidenum">
              <a:rPr lang="zh-CN" altLang="en-US" smtClean="0"/>
              <a:pPr eaLnBrk="1" hangingPunct="1"/>
              <a:t>24</a:t>
            </a:fld>
            <a:endParaRPr lang="en-US" altLang="zh-CN" smtClean="0"/>
          </a:p>
        </p:txBody>
      </p:sp>
      <p:sp>
        <p:nvSpPr>
          <p:cNvPr id="240336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5377" name="Rectangle 6"/>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9.1.3  802.11 </a:t>
            </a:r>
            <a:r>
              <a:rPr lang="zh-CN" altLang="en-US" sz="4000" smtClean="0">
                <a:ea typeface="黑体" panose="02010609060101010101" pitchFamily="49" charset="-122"/>
              </a:rPr>
              <a:t>局域网的 </a:t>
            </a:r>
            <a:r>
              <a:rPr lang="en-US" altLang="zh-CN" sz="4000" smtClean="0">
                <a:ea typeface="黑体" panose="02010609060101010101" pitchFamily="49" charset="-122"/>
              </a:rPr>
              <a:t>MAC </a:t>
            </a:r>
            <a:r>
              <a:rPr lang="zh-CN" altLang="en-US" sz="4000" smtClean="0">
                <a:ea typeface="黑体" panose="02010609060101010101" pitchFamily="49" charset="-122"/>
              </a:rPr>
              <a:t>层协议</a:t>
            </a:r>
          </a:p>
        </p:txBody>
      </p:sp>
      <p:sp>
        <p:nvSpPr>
          <p:cNvPr id="307209" name="Rectangle 9"/>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000" dirty="0" smtClean="0">
                <a:solidFill>
                  <a:srgbClr val="333399"/>
                </a:solidFill>
                <a:latin typeface="Times New Roman" panose="02020603050405020304" pitchFamily="18" charset="0"/>
                <a:ea typeface="黑体" panose="02010609060101010101" pitchFamily="49" charset="-122"/>
              </a:rPr>
              <a:t>1. CSMA/CA </a:t>
            </a:r>
            <a:r>
              <a:rPr lang="zh-CN" altLang="en-US" sz="4000" dirty="0" smtClean="0">
                <a:solidFill>
                  <a:srgbClr val="333399"/>
                </a:solidFill>
                <a:latin typeface="Times New Roman" panose="02020603050405020304" pitchFamily="18" charset="0"/>
                <a:ea typeface="黑体" panose="02010609060101010101" pitchFamily="49" charset="-122"/>
              </a:rPr>
              <a:t>协议 </a:t>
            </a:r>
            <a:endParaRPr lang="en-US" altLang="zh-CN" sz="4000" dirty="0" smtClean="0">
              <a:solidFill>
                <a:srgbClr val="333399"/>
              </a:solidFill>
              <a:latin typeface="Times New Roman" panose="02020603050405020304" pitchFamily="18" charset="0"/>
              <a:ea typeface="黑体" panose="02010609060101010101" pitchFamily="49" charset="-122"/>
            </a:endParaRPr>
          </a:p>
          <a:p>
            <a:pPr>
              <a:lnSpc>
                <a:spcPct val="120000"/>
              </a:lnSpc>
            </a:pPr>
            <a:r>
              <a:rPr lang="zh-CN" altLang="en-US" sz="2800" dirty="0" smtClean="0">
                <a:ea typeface="黑体" panose="02010609060101010101" pitchFamily="49" charset="-122"/>
              </a:rPr>
              <a:t>无线局域网</a:t>
            </a:r>
            <a:r>
              <a:rPr lang="zh-CN" altLang="en-US" sz="2800" dirty="0" smtClean="0">
                <a:solidFill>
                  <a:srgbClr val="0000FF"/>
                </a:solidFill>
                <a:ea typeface="黑体" panose="02010609060101010101" pitchFamily="49" charset="-122"/>
              </a:rPr>
              <a:t>不能简单</a:t>
            </a:r>
            <a:r>
              <a:rPr lang="zh-CN" altLang="en-US" sz="2800" dirty="0" smtClean="0">
                <a:ea typeface="黑体" panose="02010609060101010101" pitchFamily="49" charset="-122"/>
              </a:rPr>
              <a:t>地</a:t>
            </a:r>
            <a:r>
              <a:rPr lang="zh-CN" altLang="en-US" sz="2800" dirty="0" smtClean="0">
                <a:solidFill>
                  <a:srgbClr val="0000FF"/>
                </a:solidFill>
                <a:ea typeface="黑体" panose="02010609060101010101" pitchFamily="49" charset="-122"/>
              </a:rPr>
              <a:t>搬用 </a:t>
            </a:r>
            <a:r>
              <a:rPr lang="en-US" altLang="zh-CN" sz="2800" dirty="0" smtClean="0">
                <a:solidFill>
                  <a:srgbClr val="0000FF"/>
                </a:solidFill>
                <a:ea typeface="黑体" panose="02010609060101010101" pitchFamily="49" charset="-122"/>
              </a:rPr>
              <a:t>CSMA/CD </a:t>
            </a:r>
            <a:r>
              <a:rPr lang="zh-CN" altLang="en-US" sz="2800" dirty="0" smtClean="0">
                <a:ea typeface="黑体" panose="02010609060101010101" pitchFamily="49" charset="-122"/>
              </a:rPr>
              <a:t>协议。这里主要有两个原因：</a:t>
            </a:r>
          </a:p>
          <a:p>
            <a:pPr lvl="1">
              <a:lnSpc>
                <a:spcPct val="120000"/>
              </a:lnSpc>
            </a:pPr>
            <a:r>
              <a:rPr lang="zh-CN" altLang="zh-CN" sz="2400" dirty="0" smtClean="0">
                <a:ea typeface="黑体" panose="02010609060101010101" pitchFamily="49" charset="-122"/>
              </a:rPr>
              <a:t>“</a:t>
            </a:r>
            <a:r>
              <a:rPr lang="zh-CN" altLang="zh-CN" sz="2400" dirty="0" smtClean="0">
                <a:solidFill>
                  <a:srgbClr val="0000FF"/>
                </a:solidFill>
                <a:ea typeface="黑体" panose="02010609060101010101" pitchFamily="49" charset="-122"/>
              </a:rPr>
              <a:t>碰撞检测</a:t>
            </a:r>
            <a:r>
              <a:rPr lang="zh-CN" altLang="zh-CN" sz="2400" dirty="0" smtClean="0">
                <a:ea typeface="黑体" panose="02010609060101010101" pitchFamily="49" charset="-122"/>
              </a:rPr>
              <a:t>”</a:t>
            </a:r>
            <a:r>
              <a:rPr lang="zh-CN" altLang="en-US" sz="2400" dirty="0" smtClean="0">
                <a:ea typeface="黑体" panose="02010609060101010101" pitchFamily="49" charset="-122"/>
              </a:rPr>
              <a:t>要求一个站点在发送本站数据的同时，还必须不间断地检测信道，但</a:t>
            </a:r>
            <a:r>
              <a:rPr lang="zh-CN" altLang="zh-CN" sz="2400" dirty="0" smtClean="0">
                <a:ea typeface="黑体" panose="02010609060101010101" pitchFamily="49" charset="-122"/>
              </a:rPr>
              <a:t>接收到的信号强度往往会远远小于发送信号的强度</a:t>
            </a:r>
            <a:r>
              <a:rPr lang="zh-CN" altLang="en-US" sz="2400" dirty="0" smtClean="0">
                <a:ea typeface="黑体" panose="02010609060101010101" pitchFamily="49" charset="-122"/>
              </a:rPr>
              <a:t>，在无线局域网的设备中要实现这种功能就</a:t>
            </a:r>
            <a:r>
              <a:rPr lang="zh-CN" altLang="en-US" sz="2400" dirty="0" smtClean="0">
                <a:solidFill>
                  <a:srgbClr val="FF0000"/>
                </a:solidFill>
                <a:ea typeface="黑体" panose="02010609060101010101" pitchFamily="49" charset="-122"/>
              </a:rPr>
              <a:t>花费过大。</a:t>
            </a:r>
          </a:p>
          <a:p>
            <a:pPr lvl="1">
              <a:lnSpc>
                <a:spcPct val="120000"/>
              </a:lnSpc>
            </a:pPr>
            <a:r>
              <a:rPr lang="zh-CN" altLang="en-US" sz="2400" dirty="0" smtClean="0">
                <a:ea typeface="黑体" panose="02010609060101010101" pitchFamily="49" charset="-122"/>
              </a:rPr>
              <a:t>即使能够实现碰撞检测的功能，并且在发送数据时检测到信道是空闲的时候，在接收端仍然有</a:t>
            </a:r>
            <a:r>
              <a:rPr lang="zh-CN" altLang="en-US" sz="2400" dirty="0" smtClean="0">
                <a:solidFill>
                  <a:srgbClr val="FF0000"/>
                </a:solidFill>
                <a:ea typeface="黑体" panose="02010609060101010101" pitchFamily="49" charset="-122"/>
              </a:rPr>
              <a:t>可能发生碰撞。  </a:t>
            </a:r>
          </a:p>
        </p:txBody>
      </p:sp>
      <p:sp>
        <p:nvSpPr>
          <p:cNvPr id="2405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76E7EE-2396-4F26-A849-0070CC635099}" type="slidenum">
              <a:rPr lang="zh-CN" altLang="en-US" smtClean="0"/>
              <a:pPr eaLnBrk="1" hangingPunct="1"/>
              <a:t>25</a:t>
            </a:fld>
            <a:endParaRPr lang="en-US" altLang="zh-CN" smtClean="0"/>
          </a:p>
        </p:txBody>
      </p:sp>
      <p:sp>
        <p:nvSpPr>
          <p:cNvPr id="2405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0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0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01" name="Rectangle 6"/>
          <p:cNvSpPr>
            <a:spLocks noGrp="1" noChangeArrowheads="1"/>
          </p:cNvSpPr>
          <p:nvPr>
            <p:ph type="title"/>
          </p:nvPr>
        </p:nvSpPr>
        <p:spPr/>
        <p:txBody>
          <a:bodyPr/>
          <a:lstStyle/>
          <a:p>
            <a:pPr algn="ctr"/>
            <a:r>
              <a:rPr lang="zh-CN" altLang="en-US" smtClean="0">
                <a:ea typeface="黑体" panose="02010609060101010101" pitchFamily="49" charset="-122"/>
              </a:rPr>
              <a:t>无线局域网的特殊问题 </a:t>
            </a:r>
          </a:p>
        </p:txBody>
      </p:sp>
      <p:sp>
        <p:nvSpPr>
          <p:cNvPr id="309327" name="Text Box 79"/>
          <p:cNvSpPr txBox="1">
            <a:spLocks noChangeArrowheads="1"/>
          </p:cNvSpPr>
          <p:nvPr/>
        </p:nvSpPr>
        <p:spPr bwMode="auto">
          <a:xfrm>
            <a:off x="573088" y="5454650"/>
            <a:ext cx="9028112" cy="954088"/>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zh-CN" altLang="en-US" sz="2800" b="1">
                <a:solidFill>
                  <a:srgbClr val="000099"/>
                </a:solidFill>
                <a:ea typeface="宋体" panose="02010600030101010101" pitchFamily="2" charset="-122"/>
              </a:rPr>
              <a:t>当 </a:t>
            </a:r>
            <a:r>
              <a:rPr lang="en-US" altLang="zh-CN" sz="2800" b="1">
                <a:solidFill>
                  <a:srgbClr val="000099"/>
                </a:solidFill>
                <a:ea typeface="宋体" panose="02010600030101010101" pitchFamily="2" charset="-122"/>
              </a:rPr>
              <a:t>A </a:t>
            </a:r>
            <a:r>
              <a:rPr lang="zh-CN" altLang="en-US" sz="2800" b="1">
                <a:solidFill>
                  <a:srgbClr val="000099"/>
                </a:solidFill>
                <a:ea typeface="宋体" panose="02010600030101010101" pitchFamily="2" charset="-122"/>
              </a:rPr>
              <a:t>和 </a:t>
            </a:r>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检测不到无线信号时，都以为 </a:t>
            </a:r>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是空闲的，</a:t>
            </a:r>
          </a:p>
          <a:p>
            <a:pPr algn="ctr" eaLnBrk="0" hangingPunct="0"/>
            <a:r>
              <a:rPr lang="zh-CN" altLang="en-US" sz="2800" b="1">
                <a:solidFill>
                  <a:srgbClr val="000099"/>
                </a:solidFill>
                <a:ea typeface="宋体" panose="02010600030101010101" pitchFamily="2" charset="-122"/>
              </a:rPr>
              <a:t>因而都向 </a:t>
            </a:r>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发送数据，结果发生碰撞。</a:t>
            </a:r>
          </a:p>
        </p:txBody>
      </p:sp>
      <p:sp>
        <p:nvSpPr>
          <p:cNvPr id="309333" name="Text Box 85"/>
          <p:cNvSpPr txBox="1">
            <a:spLocks noChangeArrowheads="1"/>
          </p:cNvSpPr>
          <p:nvPr/>
        </p:nvSpPr>
        <p:spPr bwMode="auto">
          <a:xfrm>
            <a:off x="573088" y="188913"/>
            <a:ext cx="8843962" cy="1076325"/>
          </a:xfrm>
          <a:prstGeom prst="rect">
            <a:avLst/>
          </a:prstGeom>
          <a:solidFill>
            <a:srgbClr val="00FFFF"/>
          </a:solidFill>
          <a:ln w="9525">
            <a:solidFill>
              <a:srgbClr val="333399"/>
            </a:solidFill>
            <a:miter lim="800000"/>
            <a:headEnd/>
            <a:tailEnd/>
          </a:ln>
        </p:spPr>
        <p:txBody>
          <a:bodyPr>
            <a:spAutoFit/>
          </a:bodyPr>
          <a:lstStyle/>
          <a:p>
            <a:pPr algn="ctr" eaLnBrk="0" hangingPunct="0"/>
            <a:r>
              <a:rPr lang="zh-CN" altLang="en-US" sz="3200" b="1" dirty="0">
                <a:solidFill>
                  <a:srgbClr val="333399"/>
                </a:solidFill>
                <a:ea typeface="宋体" panose="02010600030101010101" pitchFamily="2" charset="-122"/>
              </a:rPr>
              <a:t>这种未能检测出媒体上已存在的信号的问题</a:t>
            </a:r>
          </a:p>
          <a:p>
            <a:pPr algn="ctr" eaLnBrk="0" hangingPunct="0"/>
            <a:r>
              <a:rPr lang="zh-CN" altLang="en-US" sz="3200" b="1" dirty="0">
                <a:solidFill>
                  <a:srgbClr val="333399"/>
                </a:solidFill>
                <a:ea typeface="宋体" panose="02010600030101010101" pitchFamily="2" charset="-122"/>
              </a:rPr>
              <a:t>叫做</a:t>
            </a:r>
            <a:r>
              <a:rPr lang="zh-CN" altLang="en-US" sz="3200" b="1" dirty="0">
                <a:solidFill>
                  <a:srgbClr val="FF0000"/>
                </a:solidFill>
                <a:ea typeface="宋体" panose="02010600030101010101" pitchFamily="2" charset="-122"/>
              </a:rPr>
              <a:t>隐蔽站问题</a:t>
            </a:r>
            <a:r>
              <a:rPr lang="en-US" altLang="zh-CN" sz="3200" b="1" dirty="0">
                <a:solidFill>
                  <a:srgbClr val="333399"/>
                </a:solidFill>
                <a:ea typeface="宋体" panose="02010600030101010101" pitchFamily="2" charset="-122"/>
              </a:rPr>
              <a:t>(hidden station problem) </a:t>
            </a:r>
          </a:p>
        </p:txBody>
      </p:sp>
      <p:grpSp>
        <p:nvGrpSpPr>
          <p:cNvPr id="3" name="组合 2"/>
          <p:cNvGrpSpPr>
            <a:grpSpLocks/>
          </p:cNvGrpSpPr>
          <p:nvPr/>
        </p:nvGrpSpPr>
        <p:grpSpPr bwMode="auto">
          <a:xfrm>
            <a:off x="4675188" y="1628775"/>
            <a:ext cx="3708400" cy="3695700"/>
            <a:chOff x="4648728" y="1628800"/>
            <a:chExt cx="3580732" cy="3696270"/>
          </a:xfrm>
        </p:grpSpPr>
        <p:sp>
          <p:nvSpPr>
            <p:cNvPr id="2406405" name="Oval 86"/>
            <p:cNvSpPr>
              <a:spLocks noChangeArrowheads="1"/>
            </p:cNvSpPr>
            <p:nvPr/>
          </p:nvSpPr>
          <p:spPr bwMode="auto">
            <a:xfrm>
              <a:off x="4772679" y="2310408"/>
              <a:ext cx="3456781" cy="3014662"/>
            </a:xfrm>
            <a:prstGeom prst="ellipse">
              <a:avLst/>
            </a:prstGeom>
            <a:solidFill>
              <a:srgbClr val="FFFF99"/>
            </a:solidFill>
            <a:ln w="19050">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06" name="Text Box 89"/>
            <p:cNvSpPr txBox="1">
              <a:spLocks noChangeArrowheads="1"/>
            </p:cNvSpPr>
            <p:nvPr/>
          </p:nvSpPr>
          <p:spPr bwMode="auto">
            <a:xfrm>
              <a:off x="4648728" y="16288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C </a:t>
              </a:r>
              <a:r>
                <a:rPr lang="zh-CN" altLang="en-US" sz="2400" b="1">
                  <a:solidFill>
                    <a:srgbClr val="000099"/>
                  </a:solidFill>
                  <a:ea typeface="宋体" panose="02010600030101010101" pitchFamily="2" charset="-122"/>
                </a:rPr>
                <a:t>的作用范围</a:t>
              </a:r>
            </a:p>
          </p:txBody>
        </p:sp>
        <p:sp>
          <p:nvSpPr>
            <p:cNvPr id="2406407" name="Line 139"/>
            <p:cNvSpPr>
              <a:spLocks noChangeShapeType="1"/>
            </p:cNvSpPr>
            <p:nvPr/>
          </p:nvSpPr>
          <p:spPr bwMode="auto">
            <a:xfrm>
              <a:off x="5169024" y="2060848"/>
              <a:ext cx="424788" cy="390525"/>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6408" name="Text Box 92"/>
          <p:cNvSpPr txBox="1">
            <a:spLocks noChangeArrowheads="1"/>
          </p:cNvSpPr>
          <p:nvPr/>
        </p:nvSpPr>
        <p:spPr bwMode="auto">
          <a:xfrm>
            <a:off x="6435725" y="4076700"/>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C</a:t>
            </a:r>
          </a:p>
        </p:txBody>
      </p:sp>
      <p:sp>
        <p:nvSpPr>
          <p:cNvPr id="2406409" name="Text Box 93"/>
          <p:cNvSpPr txBox="1">
            <a:spLocks noChangeArrowheads="1"/>
          </p:cNvSpPr>
          <p:nvPr/>
        </p:nvSpPr>
        <p:spPr bwMode="auto">
          <a:xfrm>
            <a:off x="7959725" y="4076700"/>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D</a:t>
            </a:r>
          </a:p>
        </p:txBody>
      </p:sp>
      <p:grpSp>
        <p:nvGrpSpPr>
          <p:cNvPr id="2406410" name="Group 116"/>
          <p:cNvGrpSpPr>
            <a:grpSpLocks/>
          </p:cNvGrpSpPr>
          <p:nvPr/>
        </p:nvGrpSpPr>
        <p:grpSpPr bwMode="auto">
          <a:xfrm>
            <a:off x="7675563" y="3535363"/>
            <a:ext cx="877887" cy="547687"/>
            <a:chOff x="762" y="2391"/>
            <a:chExt cx="423" cy="312"/>
          </a:xfrm>
        </p:grpSpPr>
        <p:grpSp>
          <p:nvGrpSpPr>
            <p:cNvPr id="2406411" name="Group 117"/>
            <p:cNvGrpSpPr>
              <a:grpSpLocks/>
            </p:cNvGrpSpPr>
            <p:nvPr/>
          </p:nvGrpSpPr>
          <p:grpSpPr bwMode="auto">
            <a:xfrm>
              <a:off x="867" y="2432"/>
              <a:ext cx="318" cy="271"/>
              <a:chOff x="657" y="1570"/>
              <a:chExt cx="318" cy="311"/>
            </a:xfrm>
          </p:grpSpPr>
          <p:sp>
            <p:nvSpPr>
              <p:cNvPr id="2406412" name="Line 11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13" name="Picture 119"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14" name="Group 120"/>
            <p:cNvGrpSpPr>
              <a:grpSpLocks/>
            </p:cNvGrpSpPr>
            <p:nvPr/>
          </p:nvGrpSpPr>
          <p:grpSpPr bwMode="auto">
            <a:xfrm>
              <a:off x="762" y="2391"/>
              <a:ext cx="306" cy="90"/>
              <a:chOff x="748" y="2251"/>
              <a:chExt cx="306" cy="90"/>
            </a:xfrm>
          </p:grpSpPr>
          <p:sp>
            <p:nvSpPr>
              <p:cNvPr id="2406415" name="AutoShape 12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6" name="AutoShape 12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7" name="AutoShape 12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8" name="AutoShape 12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19" name="AutoShape 12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0" name="AutoShape 12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6421" name="Group 127"/>
          <p:cNvGrpSpPr>
            <a:grpSpLocks/>
          </p:cNvGrpSpPr>
          <p:nvPr/>
        </p:nvGrpSpPr>
        <p:grpSpPr bwMode="auto">
          <a:xfrm>
            <a:off x="6175375" y="3535363"/>
            <a:ext cx="876300" cy="547687"/>
            <a:chOff x="762" y="2391"/>
            <a:chExt cx="423" cy="312"/>
          </a:xfrm>
        </p:grpSpPr>
        <p:grpSp>
          <p:nvGrpSpPr>
            <p:cNvPr id="2406422" name="Group 128"/>
            <p:cNvGrpSpPr>
              <a:grpSpLocks/>
            </p:cNvGrpSpPr>
            <p:nvPr/>
          </p:nvGrpSpPr>
          <p:grpSpPr bwMode="auto">
            <a:xfrm>
              <a:off x="867" y="2432"/>
              <a:ext cx="318" cy="271"/>
              <a:chOff x="657" y="1570"/>
              <a:chExt cx="318" cy="311"/>
            </a:xfrm>
          </p:grpSpPr>
          <p:sp>
            <p:nvSpPr>
              <p:cNvPr id="2406423" name="Line 12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24" name="Picture 130"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25" name="Group 131"/>
            <p:cNvGrpSpPr>
              <a:grpSpLocks/>
            </p:cNvGrpSpPr>
            <p:nvPr/>
          </p:nvGrpSpPr>
          <p:grpSpPr bwMode="auto">
            <a:xfrm>
              <a:off x="762" y="2391"/>
              <a:ext cx="306" cy="90"/>
              <a:chOff x="748" y="2251"/>
              <a:chExt cx="306" cy="90"/>
            </a:xfrm>
          </p:grpSpPr>
          <p:sp>
            <p:nvSpPr>
              <p:cNvPr id="2406426" name="AutoShape 13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7" name="AutoShape 13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8" name="AutoShape 13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29" name="AutoShape 13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0" name="AutoShape 13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1" name="AutoShape 13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 name="组合 1"/>
          <p:cNvGrpSpPr>
            <a:grpSpLocks/>
          </p:cNvGrpSpPr>
          <p:nvPr/>
        </p:nvGrpSpPr>
        <p:grpSpPr bwMode="auto">
          <a:xfrm>
            <a:off x="1635125" y="1628775"/>
            <a:ext cx="3830638" cy="3695700"/>
            <a:chOff x="1481712" y="1628800"/>
            <a:chExt cx="3830983" cy="3696270"/>
          </a:xfrm>
        </p:grpSpPr>
        <p:sp>
          <p:nvSpPr>
            <p:cNvPr id="2406433" name="Text Box 87"/>
            <p:cNvSpPr txBox="1">
              <a:spLocks noChangeArrowheads="1"/>
            </p:cNvSpPr>
            <p:nvPr/>
          </p:nvSpPr>
          <p:spPr bwMode="auto">
            <a:xfrm>
              <a:off x="1481712" y="1628800"/>
              <a:ext cx="20279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A </a:t>
              </a:r>
              <a:r>
                <a:rPr lang="zh-CN" altLang="en-US" sz="2400" b="1">
                  <a:solidFill>
                    <a:srgbClr val="000099"/>
                  </a:solidFill>
                  <a:ea typeface="宋体" panose="02010600030101010101" pitchFamily="2" charset="-122"/>
                </a:rPr>
                <a:t>的作用范围</a:t>
              </a:r>
            </a:p>
          </p:txBody>
        </p:sp>
        <p:sp>
          <p:nvSpPr>
            <p:cNvPr id="2406434" name="Oval 88"/>
            <p:cNvSpPr>
              <a:spLocks noChangeArrowheads="1"/>
            </p:cNvSpPr>
            <p:nvPr/>
          </p:nvSpPr>
          <p:spPr bwMode="auto">
            <a:xfrm>
              <a:off x="1712641" y="2310408"/>
              <a:ext cx="3600054" cy="3014662"/>
            </a:xfrm>
            <a:prstGeom prst="ellipse">
              <a:avLst/>
            </a:prstGeom>
            <a:solidFill>
              <a:srgbClr val="FF99FF">
                <a:alpha val="50000"/>
              </a:srgbClr>
            </a:solidFill>
            <a:ln w="19050">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35" name="Line 138"/>
            <p:cNvSpPr>
              <a:spLocks noChangeShapeType="1"/>
            </p:cNvSpPr>
            <p:nvPr/>
          </p:nvSpPr>
          <p:spPr bwMode="auto">
            <a:xfrm>
              <a:off x="2144688" y="2060848"/>
              <a:ext cx="498740" cy="4365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6436" name="Text Box 90"/>
          <p:cNvSpPr txBox="1">
            <a:spLocks noChangeArrowheads="1"/>
          </p:cNvSpPr>
          <p:nvPr/>
        </p:nvSpPr>
        <p:spPr bwMode="auto">
          <a:xfrm>
            <a:off x="3533775" y="4075113"/>
            <a:ext cx="406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A</a:t>
            </a:r>
          </a:p>
        </p:txBody>
      </p:sp>
      <p:sp>
        <p:nvSpPr>
          <p:cNvPr id="2406437" name="Text Box 91"/>
          <p:cNvSpPr txBox="1">
            <a:spLocks noChangeArrowheads="1"/>
          </p:cNvSpPr>
          <p:nvPr/>
        </p:nvSpPr>
        <p:spPr bwMode="auto">
          <a:xfrm>
            <a:off x="4964113" y="4076700"/>
            <a:ext cx="407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B</a:t>
            </a:r>
          </a:p>
        </p:txBody>
      </p:sp>
      <p:grpSp>
        <p:nvGrpSpPr>
          <p:cNvPr id="2406438" name="Group 94"/>
          <p:cNvGrpSpPr>
            <a:grpSpLocks/>
          </p:cNvGrpSpPr>
          <p:nvPr/>
        </p:nvGrpSpPr>
        <p:grpSpPr bwMode="auto">
          <a:xfrm>
            <a:off x="4675188" y="3535363"/>
            <a:ext cx="877887" cy="547687"/>
            <a:chOff x="762" y="2391"/>
            <a:chExt cx="423" cy="312"/>
          </a:xfrm>
        </p:grpSpPr>
        <p:grpSp>
          <p:nvGrpSpPr>
            <p:cNvPr id="2406439" name="Group 95"/>
            <p:cNvGrpSpPr>
              <a:grpSpLocks/>
            </p:cNvGrpSpPr>
            <p:nvPr/>
          </p:nvGrpSpPr>
          <p:grpSpPr bwMode="auto">
            <a:xfrm>
              <a:off x="867" y="2432"/>
              <a:ext cx="318" cy="271"/>
              <a:chOff x="657" y="1570"/>
              <a:chExt cx="318" cy="311"/>
            </a:xfrm>
          </p:grpSpPr>
          <p:sp>
            <p:nvSpPr>
              <p:cNvPr id="2406440" name="Line 96"/>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41" name="Picture 97"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42" name="Group 98"/>
            <p:cNvGrpSpPr>
              <a:grpSpLocks/>
            </p:cNvGrpSpPr>
            <p:nvPr/>
          </p:nvGrpSpPr>
          <p:grpSpPr bwMode="auto">
            <a:xfrm>
              <a:off x="762" y="2391"/>
              <a:ext cx="306" cy="90"/>
              <a:chOff x="748" y="2251"/>
              <a:chExt cx="306" cy="90"/>
            </a:xfrm>
          </p:grpSpPr>
          <p:sp>
            <p:nvSpPr>
              <p:cNvPr id="2406443" name="AutoShape 99"/>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4" name="AutoShape 100"/>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5" name="AutoShape 101"/>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6" name="AutoShape 102"/>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7" name="AutoShape 103"/>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48" name="AutoShape 104"/>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6449" name="Group 105"/>
          <p:cNvGrpSpPr>
            <a:grpSpLocks/>
          </p:cNvGrpSpPr>
          <p:nvPr/>
        </p:nvGrpSpPr>
        <p:grpSpPr bwMode="auto">
          <a:xfrm>
            <a:off x="3298825" y="3535363"/>
            <a:ext cx="877888" cy="547687"/>
            <a:chOff x="762" y="2391"/>
            <a:chExt cx="423" cy="312"/>
          </a:xfrm>
        </p:grpSpPr>
        <p:grpSp>
          <p:nvGrpSpPr>
            <p:cNvPr id="2406450" name="Group 106"/>
            <p:cNvGrpSpPr>
              <a:grpSpLocks/>
            </p:cNvGrpSpPr>
            <p:nvPr/>
          </p:nvGrpSpPr>
          <p:grpSpPr bwMode="auto">
            <a:xfrm>
              <a:off x="867" y="2432"/>
              <a:ext cx="318" cy="271"/>
              <a:chOff x="657" y="1570"/>
              <a:chExt cx="318" cy="311"/>
            </a:xfrm>
          </p:grpSpPr>
          <p:sp>
            <p:nvSpPr>
              <p:cNvPr id="2406451" name="Line 10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6452" name="Picture 108" descr="laptop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6453" name="Group 109"/>
            <p:cNvGrpSpPr>
              <a:grpSpLocks/>
            </p:cNvGrpSpPr>
            <p:nvPr/>
          </p:nvGrpSpPr>
          <p:grpSpPr bwMode="auto">
            <a:xfrm>
              <a:off x="762" y="2391"/>
              <a:ext cx="306" cy="90"/>
              <a:chOff x="748" y="2251"/>
              <a:chExt cx="306" cy="90"/>
            </a:xfrm>
          </p:grpSpPr>
          <p:sp>
            <p:nvSpPr>
              <p:cNvPr id="2406454" name="AutoShape 11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5" name="AutoShape 11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6" name="AutoShape 11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7" name="AutoShape 11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8" name="AutoShape 11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6459" name="AutoShape 11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sp>
        <p:nvSpPr>
          <p:cNvPr id="240646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361483-6248-41AE-805E-C48DD346CDA3}" type="slidenum">
              <a:rPr lang="zh-CN" altLang="en-US" smtClean="0"/>
              <a:pPr eaLnBrk="1" hangingPunct="1"/>
              <a:t>26</a:t>
            </a:fld>
            <a:endParaRPr lang="en-US" altLang="zh-CN" smtClean="0"/>
          </a:p>
        </p:txBody>
      </p:sp>
      <p:sp>
        <p:nvSpPr>
          <p:cNvPr id="240646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35" presetClass="emph" presetSubtype="0" repeatCount="4000" fill="hold" nodeType="withEffect">
                                  <p:stCondLst>
                                    <p:cond delay="0"/>
                                  </p:stCondLst>
                                  <p:childTnLst>
                                    <p:anim calcmode="discrete" valueType="str">
                                      <p:cBhvr>
                                        <p:cTn id="8"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5" presetClass="emph" presetSubtype="0" repeatCount="4000" fill="hold" nodeType="clickEffect">
                                  <p:stCondLst>
                                    <p:cond delay="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09327"/>
                                        </p:tgtEl>
                                        <p:attrNameLst>
                                          <p:attrName>style.visibility</p:attrName>
                                        </p:attrNameLst>
                                      </p:cBhvr>
                                      <p:to>
                                        <p:strVal val="visible"/>
                                      </p:to>
                                    </p:set>
                                  </p:childTnLst>
                                </p:cTn>
                              </p:par>
                            </p:childTnLst>
                          </p:cTn>
                        </p:par>
                        <p:par>
                          <p:cTn id="19" fill="hold" nodeType="afterGroup">
                            <p:stCondLst>
                              <p:cond delay="1"/>
                            </p:stCondLst>
                            <p:childTnLst>
                              <p:par>
                                <p:cTn id="20" presetID="35" presetClass="emph" presetSubtype="0" repeatCount="4000" fill="hold" grpId="0" nodeType="afterEffect">
                                  <p:stCondLst>
                                    <p:cond delay="500"/>
                                  </p:stCondLst>
                                  <p:childTnLst>
                                    <p:anim calcmode="discrete" valueType="str">
                                      <p:cBhvr>
                                        <p:cTn id="21" dur="1000" fill="hold"/>
                                        <p:tgtEl>
                                          <p:spTgt spid="309327"/>
                                        </p:tgtEl>
                                        <p:attrNameLst>
                                          <p:attrName>style.visibility</p:attrName>
                                        </p:attrNameLst>
                                      </p:cBhvr>
                                      <p:tavLst>
                                        <p:tav tm="0">
                                          <p:val>
                                            <p:strVal val="hidden"/>
                                          </p:val>
                                        </p:tav>
                                        <p:tav tm="50000">
                                          <p:val>
                                            <p:strVal val="visible"/>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09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327" grpId="0" animBg="1"/>
      <p:bldP spid="309327" grpId="1" animBg="1"/>
      <p:bldP spid="3093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8449" name="Rectangle 6"/>
          <p:cNvSpPr>
            <a:spLocks noGrp="1" noChangeArrowheads="1"/>
          </p:cNvSpPr>
          <p:nvPr>
            <p:ph type="title"/>
          </p:nvPr>
        </p:nvSpPr>
        <p:spPr/>
        <p:txBody>
          <a:bodyPr/>
          <a:lstStyle/>
          <a:p>
            <a:pPr algn="ctr"/>
            <a:r>
              <a:rPr lang="zh-CN" altLang="en-US" smtClean="0">
                <a:ea typeface="黑体" panose="02010609060101010101" pitchFamily="49" charset="-122"/>
              </a:rPr>
              <a:t>无线局域网的特殊问题 </a:t>
            </a:r>
          </a:p>
        </p:txBody>
      </p:sp>
      <p:sp>
        <p:nvSpPr>
          <p:cNvPr id="2408450" name="Rectangle 2"/>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2408451" name="Rectangle 4"/>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2408452" name="Rectangle 8"/>
          <p:cNvSpPr>
            <a:spLocks noChangeArrowheads="1"/>
          </p:cNvSpPr>
          <p:nvPr/>
        </p:nvSpPr>
        <p:spPr bwMode="auto">
          <a:xfrm>
            <a:off x="-508000" y="-230188"/>
            <a:ext cx="185737"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310353" name="Text Box 81"/>
          <p:cNvSpPr txBox="1">
            <a:spLocks noChangeArrowheads="1"/>
          </p:cNvSpPr>
          <p:nvPr/>
        </p:nvSpPr>
        <p:spPr bwMode="auto">
          <a:xfrm>
            <a:off x="847725" y="5516563"/>
            <a:ext cx="8642350" cy="954087"/>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en-US" altLang="zh-CN" sz="2800" b="1">
                <a:solidFill>
                  <a:srgbClr val="000099"/>
                </a:solidFill>
                <a:ea typeface="宋体" panose="02010600030101010101" pitchFamily="2" charset="-122"/>
              </a:rPr>
              <a:t>B </a:t>
            </a:r>
            <a:r>
              <a:rPr lang="zh-CN" altLang="en-US" sz="2800" b="1">
                <a:solidFill>
                  <a:srgbClr val="000099"/>
                </a:solidFill>
                <a:ea typeface="宋体" panose="02010600030101010101" pitchFamily="2" charset="-122"/>
              </a:rPr>
              <a:t>向 </a:t>
            </a:r>
            <a:r>
              <a:rPr lang="en-US" altLang="zh-CN" sz="2800" b="1">
                <a:solidFill>
                  <a:srgbClr val="000099"/>
                </a:solidFill>
                <a:ea typeface="宋体" panose="02010600030101010101" pitchFamily="2" charset="-122"/>
              </a:rPr>
              <a:t>A </a:t>
            </a:r>
            <a:r>
              <a:rPr lang="zh-CN" altLang="en-US" sz="2800" b="1">
                <a:solidFill>
                  <a:srgbClr val="000099"/>
                </a:solidFill>
                <a:ea typeface="宋体" panose="02010600030101010101" pitchFamily="2" charset="-122"/>
              </a:rPr>
              <a:t>发送数据，而 </a:t>
            </a:r>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又想和 </a:t>
            </a:r>
            <a:r>
              <a:rPr lang="en-US" altLang="zh-CN" sz="2800" b="1">
                <a:solidFill>
                  <a:srgbClr val="000099"/>
                </a:solidFill>
                <a:ea typeface="宋体" panose="02010600030101010101" pitchFamily="2" charset="-122"/>
              </a:rPr>
              <a:t>D </a:t>
            </a:r>
            <a:r>
              <a:rPr lang="zh-CN" altLang="en-US" sz="2800" b="1">
                <a:solidFill>
                  <a:srgbClr val="000099"/>
                </a:solidFill>
                <a:ea typeface="宋体" panose="02010600030101010101" pitchFamily="2" charset="-122"/>
              </a:rPr>
              <a:t>通信。</a:t>
            </a:r>
          </a:p>
          <a:p>
            <a:pPr algn="ctr" eaLnBrk="0" hangingPunct="0"/>
            <a:r>
              <a:rPr lang="en-US" altLang="zh-CN" sz="2800" b="1">
                <a:solidFill>
                  <a:srgbClr val="000099"/>
                </a:solidFill>
                <a:ea typeface="宋体" panose="02010600030101010101" pitchFamily="2" charset="-122"/>
              </a:rPr>
              <a:t>C </a:t>
            </a:r>
            <a:r>
              <a:rPr lang="zh-CN" altLang="en-US" sz="2800" b="1">
                <a:solidFill>
                  <a:srgbClr val="000099"/>
                </a:solidFill>
                <a:ea typeface="宋体" panose="02010600030101010101" pitchFamily="2" charset="-122"/>
              </a:rPr>
              <a:t>检测到媒体上有信号，于是就不敢向 </a:t>
            </a:r>
            <a:r>
              <a:rPr lang="en-US" altLang="zh-CN" sz="2800" b="1">
                <a:solidFill>
                  <a:srgbClr val="000099"/>
                </a:solidFill>
                <a:ea typeface="宋体" panose="02010600030101010101" pitchFamily="2" charset="-122"/>
              </a:rPr>
              <a:t>D </a:t>
            </a:r>
            <a:r>
              <a:rPr lang="zh-CN" altLang="en-US" sz="2800" b="1">
                <a:solidFill>
                  <a:srgbClr val="000099"/>
                </a:solidFill>
                <a:ea typeface="宋体" panose="02010600030101010101" pitchFamily="2" charset="-122"/>
              </a:rPr>
              <a:t>发送数据。 </a:t>
            </a:r>
          </a:p>
        </p:txBody>
      </p:sp>
      <p:sp>
        <p:nvSpPr>
          <p:cNvPr id="310354" name="Text Box 82"/>
          <p:cNvSpPr txBox="1">
            <a:spLocks noChangeArrowheads="1"/>
          </p:cNvSpPr>
          <p:nvPr/>
        </p:nvSpPr>
        <p:spPr bwMode="auto">
          <a:xfrm>
            <a:off x="577850" y="188913"/>
            <a:ext cx="8842375" cy="1076325"/>
          </a:xfrm>
          <a:prstGeom prst="rect">
            <a:avLst/>
          </a:prstGeom>
          <a:solidFill>
            <a:srgbClr val="00FFFF"/>
          </a:solidFill>
          <a:ln w="9525">
            <a:solidFill>
              <a:srgbClr val="333399"/>
            </a:solidFill>
            <a:miter lim="800000"/>
            <a:headEnd/>
            <a:tailEnd/>
          </a:ln>
        </p:spPr>
        <p:txBody>
          <a:bodyPr wrap="none">
            <a:spAutoFit/>
          </a:bodyPr>
          <a:lstStyle/>
          <a:p>
            <a:pPr algn="ctr" eaLnBrk="0" hangingPunct="0"/>
            <a:r>
              <a:rPr lang="zh-CN" altLang="en-US" sz="3200" b="1" dirty="0">
                <a:solidFill>
                  <a:srgbClr val="333399"/>
                </a:solidFill>
                <a:ea typeface="宋体" panose="02010600030101010101" pitchFamily="2" charset="-122"/>
              </a:rPr>
              <a:t>其实 </a:t>
            </a:r>
            <a:r>
              <a:rPr lang="en-US" altLang="zh-CN" sz="3200" b="1" dirty="0">
                <a:solidFill>
                  <a:srgbClr val="333399"/>
                </a:solidFill>
                <a:ea typeface="宋体" panose="02010600030101010101" pitchFamily="2" charset="-122"/>
              </a:rPr>
              <a:t>B </a:t>
            </a:r>
            <a:r>
              <a:rPr lang="zh-CN" altLang="en-US" sz="3200" b="1" dirty="0">
                <a:solidFill>
                  <a:srgbClr val="333399"/>
                </a:solidFill>
                <a:ea typeface="宋体" panose="02010600030101010101" pitchFamily="2" charset="-122"/>
              </a:rPr>
              <a:t>向 </a:t>
            </a:r>
            <a:r>
              <a:rPr lang="en-US" altLang="zh-CN" sz="3200" b="1" dirty="0">
                <a:solidFill>
                  <a:srgbClr val="333399"/>
                </a:solidFill>
                <a:ea typeface="宋体" panose="02010600030101010101" pitchFamily="2" charset="-122"/>
              </a:rPr>
              <a:t>A </a:t>
            </a:r>
            <a:r>
              <a:rPr lang="zh-CN" altLang="en-US" sz="3200" b="1" dirty="0">
                <a:solidFill>
                  <a:srgbClr val="333399"/>
                </a:solidFill>
                <a:ea typeface="宋体" panose="02010600030101010101" pitchFamily="2" charset="-122"/>
              </a:rPr>
              <a:t>发送数据并不影响 </a:t>
            </a:r>
            <a:r>
              <a:rPr lang="en-US" altLang="zh-CN" sz="3200" b="1" dirty="0">
                <a:solidFill>
                  <a:srgbClr val="333399"/>
                </a:solidFill>
                <a:ea typeface="宋体" panose="02010600030101010101" pitchFamily="2" charset="-122"/>
              </a:rPr>
              <a:t>C </a:t>
            </a:r>
            <a:r>
              <a:rPr lang="zh-CN" altLang="en-US" sz="3200" b="1" dirty="0">
                <a:solidFill>
                  <a:srgbClr val="333399"/>
                </a:solidFill>
                <a:ea typeface="宋体" panose="02010600030101010101" pitchFamily="2" charset="-122"/>
              </a:rPr>
              <a:t>向 </a:t>
            </a:r>
            <a:r>
              <a:rPr lang="en-US" altLang="zh-CN" sz="3200" b="1" dirty="0">
                <a:solidFill>
                  <a:srgbClr val="333399"/>
                </a:solidFill>
                <a:ea typeface="宋体" panose="02010600030101010101" pitchFamily="2" charset="-122"/>
              </a:rPr>
              <a:t>D </a:t>
            </a:r>
            <a:r>
              <a:rPr lang="zh-CN" altLang="en-US" sz="3200" b="1" dirty="0">
                <a:solidFill>
                  <a:srgbClr val="333399"/>
                </a:solidFill>
                <a:ea typeface="宋体" panose="02010600030101010101" pitchFamily="2" charset="-122"/>
              </a:rPr>
              <a:t>发送数据</a:t>
            </a:r>
          </a:p>
          <a:p>
            <a:pPr algn="ctr" eaLnBrk="0" hangingPunct="0"/>
            <a:r>
              <a:rPr lang="zh-CN" altLang="en-US" sz="3200" b="1" dirty="0">
                <a:solidFill>
                  <a:srgbClr val="333399"/>
                </a:solidFill>
                <a:ea typeface="宋体" panose="02010600030101010101" pitchFamily="2" charset="-122"/>
              </a:rPr>
              <a:t>这就是</a:t>
            </a:r>
            <a:r>
              <a:rPr lang="zh-CN" altLang="en-US" sz="3200" b="1" dirty="0">
                <a:solidFill>
                  <a:srgbClr val="FF0000"/>
                </a:solidFill>
                <a:ea typeface="宋体" panose="02010600030101010101" pitchFamily="2" charset="-122"/>
              </a:rPr>
              <a:t>暴露站问题</a:t>
            </a:r>
            <a:r>
              <a:rPr lang="en-US" altLang="zh-CN" sz="3200" b="1" dirty="0">
                <a:solidFill>
                  <a:srgbClr val="333399"/>
                </a:solidFill>
                <a:ea typeface="宋体" panose="02010600030101010101" pitchFamily="2" charset="-122"/>
              </a:rPr>
              <a:t>(exposed station problem) </a:t>
            </a:r>
          </a:p>
        </p:txBody>
      </p:sp>
      <p:grpSp>
        <p:nvGrpSpPr>
          <p:cNvPr id="2408455" name="组合 2"/>
          <p:cNvGrpSpPr>
            <a:grpSpLocks/>
          </p:cNvGrpSpPr>
          <p:nvPr/>
        </p:nvGrpSpPr>
        <p:grpSpPr bwMode="auto">
          <a:xfrm>
            <a:off x="4138613" y="1677988"/>
            <a:ext cx="5199062" cy="3695700"/>
            <a:chOff x="4138719" y="1678286"/>
            <a:chExt cx="5199437" cy="3695403"/>
          </a:xfrm>
        </p:grpSpPr>
        <p:sp>
          <p:nvSpPr>
            <p:cNvPr id="2408456" name="Oval 85"/>
            <p:cNvSpPr>
              <a:spLocks noChangeArrowheads="1"/>
            </p:cNvSpPr>
            <p:nvPr/>
          </p:nvSpPr>
          <p:spPr bwMode="auto">
            <a:xfrm>
              <a:off x="4138719" y="2149476"/>
              <a:ext cx="3684819" cy="3224213"/>
            </a:xfrm>
            <a:prstGeom prst="ellipse">
              <a:avLst/>
            </a:prstGeom>
            <a:solidFill>
              <a:srgbClr val="FFFF99"/>
            </a:solidFill>
            <a:ln w="9525">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57" name="Text Box 138"/>
            <p:cNvSpPr txBox="1">
              <a:spLocks noChangeArrowheads="1"/>
            </p:cNvSpPr>
            <p:nvPr/>
          </p:nvSpPr>
          <p:spPr bwMode="auto">
            <a:xfrm>
              <a:off x="7306831" y="167828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C </a:t>
              </a:r>
              <a:r>
                <a:rPr lang="zh-CN" altLang="en-US" sz="2400" b="1">
                  <a:solidFill>
                    <a:srgbClr val="000099"/>
                  </a:solidFill>
                  <a:ea typeface="宋体" panose="02010600030101010101" pitchFamily="2" charset="-122"/>
                </a:rPr>
                <a:t>的作用范围</a:t>
              </a:r>
            </a:p>
          </p:txBody>
        </p:sp>
        <p:sp>
          <p:nvSpPr>
            <p:cNvPr id="2408458" name="Line 140"/>
            <p:cNvSpPr>
              <a:spLocks noChangeShapeType="1"/>
            </p:cNvSpPr>
            <p:nvPr/>
          </p:nvSpPr>
          <p:spPr bwMode="auto">
            <a:xfrm flipH="1">
              <a:off x="7275435" y="2139952"/>
              <a:ext cx="467783" cy="41618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8459" name="Line 87"/>
          <p:cNvSpPr>
            <a:spLocks noChangeShapeType="1"/>
          </p:cNvSpPr>
          <p:nvPr/>
        </p:nvSpPr>
        <p:spPr bwMode="auto">
          <a:xfrm flipV="1">
            <a:off x="6310313" y="3789363"/>
            <a:ext cx="1062037" cy="23812"/>
          </a:xfrm>
          <a:prstGeom prst="line">
            <a:avLst/>
          </a:prstGeom>
          <a:noFill/>
          <a:ln w="5715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08460" name="Text Box 88"/>
          <p:cNvSpPr txBox="1">
            <a:spLocks noChangeArrowheads="1"/>
          </p:cNvSpPr>
          <p:nvPr/>
        </p:nvSpPr>
        <p:spPr bwMode="auto">
          <a:xfrm>
            <a:off x="2805113" y="3979863"/>
            <a:ext cx="407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A</a:t>
            </a:r>
          </a:p>
        </p:txBody>
      </p:sp>
      <p:sp>
        <p:nvSpPr>
          <p:cNvPr id="2408461" name="Text Box 89"/>
          <p:cNvSpPr txBox="1">
            <a:spLocks noChangeArrowheads="1"/>
          </p:cNvSpPr>
          <p:nvPr/>
        </p:nvSpPr>
        <p:spPr bwMode="auto">
          <a:xfrm>
            <a:off x="7404100" y="3979863"/>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D</a:t>
            </a:r>
          </a:p>
        </p:txBody>
      </p:sp>
      <p:sp>
        <p:nvSpPr>
          <p:cNvPr id="2408462" name="Text Box 90"/>
          <p:cNvSpPr txBox="1">
            <a:spLocks noChangeArrowheads="1"/>
          </p:cNvSpPr>
          <p:nvPr/>
        </p:nvSpPr>
        <p:spPr bwMode="auto">
          <a:xfrm>
            <a:off x="5884863" y="3979863"/>
            <a:ext cx="407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C</a:t>
            </a:r>
          </a:p>
        </p:txBody>
      </p:sp>
      <p:sp>
        <p:nvSpPr>
          <p:cNvPr id="2408463" name="Text Box 91"/>
          <p:cNvSpPr txBox="1">
            <a:spLocks noChangeArrowheads="1"/>
          </p:cNvSpPr>
          <p:nvPr/>
        </p:nvSpPr>
        <p:spPr bwMode="auto">
          <a:xfrm>
            <a:off x="4273550" y="3979863"/>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B</a:t>
            </a:r>
          </a:p>
        </p:txBody>
      </p:sp>
      <p:sp>
        <p:nvSpPr>
          <p:cNvPr id="2408464" name="Text Box 92"/>
          <p:cNvSpPr txBox="1">
            <a:spLocks noChangeArrowheads="1"/>
          </p:cNvSpPr>
          <p:nvPr/>
        </p:nvSpPr>
        <p:spPr bwMode="auto">
          <a:xfrm>
            <a:off x="6435725" y="3035300"/>
            <a:ext cx="80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4800" b="1">
                <a:solidFill>
                  <a:srgbClr val="000099"/>
                </a:solidFill>
                <a:ea typeface="宋体" panose="02010600030101010101" pitchFamily="2" charset="-122"/>
              </a:rPr>
              <a:t>？</a:t>
            </a:r>
          </a:p>
        </p:txBody>
      </p:sp>
      <p:grpSp>
        <p:nvGrpSpPr>
          <p:cNvPr id="2408465" name="Group 93"/>
          <p:cNvGrpSpPr>
            <a:grpSpLocks/>
          </p:cNvGrpSpPr>
          <p:nvPr/>
        </p:nvGrpSpPr>
        <p:grpSpPr bwMode="auto">
          <a:xfrm>
            <a:off x="7078663" y="3417888"/>
            <a:ext cx="919162" cy="585787"/>
            <a:chOff x="762" y="2391"/>
            <a:chExt cx="423" cy="312"/>
          </a:xfrm>
        </p:grpSpPr>
        <p:grpSp>
          <p:nvGrpSpPr>
            <p:cNvPr id="2408466" name="Group 94"/>
            <p:cNvGrpSpPr>
              <a:grpSpLocks/>
            </p:cNvGrpSpPr>
            <p:nvPr/>
          </p:nvGrpSpPr>
          <p:grpSpPr bwMode="auto">
            <a:xfrm>
              <a:off x="867" y="2432"/>
              <a:ext cx="318" cy="271"/>
              <a:chOff x="657" y="1570"/>
              <a:chExt cx="318" cy="311"/>
            </a:xfrm>
          </p:grpSpPr>
          <p:sp>
            <p:nvSpPr>
              <p:cNvPr id="2408467" name="Line 95"/>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68" name="Picture 96"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69" name="Group 97"/>
            <p:cNvGrpSpPr>
              <a:grpSpLocks/>
            </p:cNvGrpSpPr>
            <p:nvPr/>
          </p:nvGrpSpPr>
          <p:grpSpPr bwMode="auto">
            <a:xfrm>
              <a:off x="762" y="2391"/>
              <a:ext cx="306" cy="90"/>
              <a:chOff x="748" y="2251"/>
              <a:chExt cx="306" cy="90"/>
            </a:xfrm>
          </p:grpSpPr>
          <p:sp>
            <p:nvSpPr>
              <p:cNvPr id="2408470" name="AutoShape 98"/>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1" name="AutoShape 99"/>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2" name="AutoShape 100"/>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3" name="AutoShape 101"/>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4" name="AutoShape 102"/>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75" name="AutoShape 103"/>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76" name="Group 104"/>
          <p:cNvGrpSpPr>
            <a:grpSpLocks/>
          </p:cNvGrpSpPr>
          <p:nvPr/>
        </p:nvGrpSpPr>
        <p:grpSpPr bwMode="auto">
          <a:xfrm>
            <a:off x="2368550" y="3421063"/>
            <a:ext cx="915988" cy="585787"/>
            <a:chOff x="762" y="2391"/>
            <a:chExt cx="423" cy="312"/>
          </a:xfrm>
        </p:grpSpPr>
        <p:grpSp>
          <p:nvGrpSpPr>
            <p:cNvPr id="2408477" name="Group 105"/>
            <p:cNvGrpSpPr>
              <a:grpSpLocks/>
            </p:cNvGrpSpPr>
            <p:nvPr/>
          </p:nvGrpSpPr>
          <p:grpSpPr bwMode="auto">
            <a:xfrm>
              <a:off x="867" y="2432"/>
              <a:ext cx="318" cy="271"/>
              <a:chOff x="657" y="1570"/>
              <a:chExt cx="318" cy="311"/>
            </a:xfrm>
          </p:grpSpPr>
          <p:sp>
            <p:nvSpPr>
              <p:cNvPr id="2408478" name="Line 106"/>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79" name="Picture 107"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80" name="Group 108"/>
            <p:cNvGrpSpPr>
              <a:grpSpLocks/>
            </p:cNvGrpSpPr>
            <p:nvPr/>
          </p:nvGrpSpPr>
          <p:grpSpPr bwMode="auto">
            <a:xfrm>
              <a:off x="762" y="2391"/>
              <a:ext cx="306" cy="90"/>
              <a:chOff x="748" y="2251"/>
              <a:chExt cx="306" cy="90"/>
            </a:xfrm>
          </p:grpSpPr>
          <p:sp>
            <p:nvSpPr>
              <p:cNvPr id="2408481" name="AutoShape 109"/>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2" name="AutoShape 110"/>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3" name="AutoShape 111"/>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4" name="AutoShape 112"/>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5" name="AutoShape 113"/>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86" name="AutoShape 114"/>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87" name="Group 115"/>
          <p:cNvGrpSpPr>
            <a:grpSpLocks/>
          </p:cNvGrpSpPr>
          <p:nvPr/>
        </p:nvGrpSpPr>
        <p:grpSpPr bwMode="auto">
          <a:xfrm>
            <a:off x="5507038" y="3421063"/>
            <a:ext cx="917575" cy="585787"/>
            <a:chOff x="762" y="2391"/>
            <a:chExt cx="423" cy="312"/>
          </a:xfrm>
        </p:grpSpPr>
        <p:grpSp>
          <p:nvGrpSpPr>
            <p:cNvPr id="2408488" name="Group 116"/>
            <p:cNvGrpSpPr>
              <a:grpSpLocks/>
            </p:cNvGrpSpPr>
            <p:nvPr/>
          </p:nvGrpSpPr>
          <p:grpSpPr bwMode="auto">
            <a:xfrm>
              <a:off x="867" y="2432"/>
              <a:ext cx="318" cy="271"/>
              <a:chOff x="657" y="1570"/>
              <a:chExt cx="318" cy="311"/>
            </a:xfrm>
          </p:grpSpPr>
          <p:sp>
            <p:nvSpPr>
              <p:cNvPr id="2408489" name="Line 11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490" name="Picture 118"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491" name="Group 119"/>
            <p:cNvGrpSpPr>
              <a:grpSpLocks/>
            </p:cNvGrpSpPr>
            <p:nvPr/>
          </p:nvGrpSpPr>
          <p:grpSpPr bwMode="auto">
            <a:xfrm>
              <a:off x="762" y="2391"/>
              <a:ext cx="306" cy="90"/>
              <a:chOff x="748" y="2251"/>
              <a:chExt cx="306" cy="90"/>
            </a:xfrm>
          </p:grpSpPr>
          <p:sp>
            <p:nvSpPr>
              <p:cNvPr id="2408492" name="AutoShape 12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3" name="AutoShape 12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4" name="AutoShape 12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5" name="AutoShape 12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6" name="AutoShape 12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497" name="AutoShape 12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498" name="Group 126"/>
          <p:cNvGrpSpPr>
            <a:grpSpLocks/>
          </p:cNvGrpSpPr>
          <p:nvPr/>
        </p:nvGrpSpPr>
        <p:grpSpPr bwMode="auto">
          <a:xfrm>
            <a:off x="3937000" y="3421063"/>
            <a:ext cx="917575" cy="585787"/>
            <a:chOff x="762" y="2391"/>
            <a:chExt cx="423" cy="312"/>
          </a:xfrm>
        </p:grpSpPr>
        <p:grpSp>
          <p:nvGrpSpPr>
            <p:cNvPr id="2408499" name="Group 127"/>
            <p:cNvGrpSpPr>
              <a:grpSpLocks/>
            </p:cNvGrpSpPr>
            <p:nvPr/>
          </p:nvGrpSpPr>
          <p:grpSpPr bwMode="auto">
            <a:xfrm>
              <a:off x="867" y="2432"/>
              <a:ext cx="318" cy="271"/>
              <a:chOff x="657" y="1570"/>
              <a:chExt cx="318" cy="311"/>
            </a:xfrm>
          </p:grpSpPr>
          <p:sp>
            <p:nvSpPr>
              <p:cNvPr id="2408500" name="Line 12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08501" name="Picture 129" descr="laptop c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08502" name="Group 130"/>
            <p:cNvGrpSpPr>
              <a:grpSpLocks/>
            </p:cNvGrpSpPr>
            <p:nvPr/>
          </p:nvGrpSpPr>
          <p:grpSpPr bwMode="auto">
            <a:xfrm>
              <a:off x="762" y="2391"/>
              <a:ext cx="306" cy="90"/>
              <a:chOff x="748" y="2251"/>
              <a:chExt cx="306" cy="90"/>
            </a:xfrm>
          </p:grpSpPr>
          <p:sp>
            <p:nvSpPr>
              <p:cNvPr id="2408503" name="AutoShape 13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4" name="AutoShape 13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5" name="AutoShape 13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6" name="AutoShape 13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7" name="AutoShape 13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08" name="AutoShape 13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08509" name="组合 1"/>
          <p:cNvGrpSpPr>
            <a:grpSpLocks/>
          </p:cNvGrpSpPr>
          <p:nvPr/>
        </p:nvGrpSpPr>
        <p:grpSpPr bwMode="auto">
          <a:xfrm>
            <a:off x="901700" y="1687513"/>
            <a:ext cx="5408613" cy="3686175"/>
            <a:chOff x="901110" y="1687811"/>
            <a:chExt cx="5409011" cy="3685878"/>
          </a:xfrm>
        </p:grpSpPr>
        <p:sp>
          <p:nvSpPr>
            <p:cNvPr id="2408510" name="Oval 86"/>
            <p:cNvSpPr>
              <a:spLocks noChangeArrowheads="1"/>
            </p:cNvSpPr>
            <p:nvPr/>
          </p:nvSpPr>
          <p:spPr bwMode="auto">
            <a:xfrm>
              <a:off x="2595896" y="2149476"/>
              <a:ext cx="3714225" cy="3224213"/>
            </a:xfrm>
            <a:prstGeom prst="ellipse">
              <a:avLst/>
            </a:prstGeom>
            <a:solidFill>
              <a:srgbClr val="FF66FF">
                <a:alpha val="29999"/>
              </a:srgbClr>
            </a:solidFill>
            <a:ln w="9525">
              <a:solidFill>
                <a:schemeClr val="tx2"/>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08511" name="Text Box 137"/>
            <p:cNvSpPr txBox="1">
              <a:spLocks noChangeArrowheads="1"/>
            </p:cNvSpPr>
            <p:nvPr/>
          </p:nvSpPr>
          <p:spPr bwMode="auto">
            <a:xfrm>
              <a:off x="901110" y="1687811"/>
              <a:ext cx="2039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宋体" panose="02010600030101010101" pitchFamily="2" charset="-122"/>
                </a:rPr>
                <a:t>B </a:t>
              </a:r>
              <a:r>
                <a:rPr lang="zh-CN" altLang="en-US" sz="2400" b="1">
                  <a:solidFill>
                    <a:srgbClr val="000099"/>
                  </a:solidFill>
                  <a:ea typeface="宋体" panose="02010600030101010101" pitchFamily="2" charset="-122"/>
                </a:rPr>
                <a:t>的作用范围</a:t>
              </a:r>
            </a:p>
          </p:txBody>
        </p:sp>
        <p:sp>
          <p:nvSpPr>
            <p:cNvPr id="2408512" name="Line 139"/>
            <p:cNvSpPr>
              <a:spLocks noChangeShapeType="1"/>
            </p:cNvSpPr>
            <p:nvPr/>
          </p:nvSpPr>
          <p:spPr bwMode="auto">
            <a:xfrm>
              <a:off x="2568716" y="2172990"/>
              <a:ext cx="643954" cy="391914"/>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40851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BE9092-3D5A-43F8-9830-6AA2306CC59E}" type="slidenum">
              <a:rPr lang="zh-CN" altLang="en-US" smtClean="0"/>
              <a:pPr eaLnBrk="1" hangingPunct="1"/>
              <a:t>27</a:t>
            </a:fld>
            <a:endParaRPr lang="en-US" altLang="zh-CN" smtClean="0"/>
          </a:p>
        </p:txBody>
      </p:sp>
      <p:sp>
        <p:nvSpPr>
          <p:cNvPr id="240851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3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353" grpId="0" animBg="1"/>
      <p:bldP spid="31035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0497" name="Rectangle 6"/>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CSMA/CA </a:t>
            </a:r>
            <a:r>
              <a:rPr lang="zh-CN" altLang="en-US" smtClean="0">
                <a:ea typeface="黑体" panose="02010609060101010101" pitchFamily="49" charset="-122"/>
              </a:rPr>
              <a:t>协议 </a:t>
            </a:r>
          </a:p>
        </p:txBody>
      </p:sp>
      <p:sp>
        <p:nvSpPr>
          <p:cNvPr id="312329"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无线局域网不能使用 </a:t>
            </a:r>
            <a:r>
              <a:rPr lang="en-US" altLang="zh-CN" dirty="0" smtClean="0">
                <a:solidFill>
                  <a:srgbClr val="FF0000"/>
                </a:solidFill>
                <a:ea typeface="黑体" panose="02010609060101010101" pitchFamily="49" charset="-122"/>
              </a:rPr>
              <a:t>CSMA/CD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而只能使用改进的 </a:t>
            </a:r>
            <a:r>
              <a:rPr lang="en-US" altLang="zh-CN" dirty="0" smtClean="0">
                <a:ea typeface="黑体" panose="02010609060101010101" pitchFamily="49" charset="-122"/>
              </a:rPr>
              <a:t>CSMA </a:t>
            </a:r>
            <a:r>
              <a:rPr lang="zh-CN" altLang="en-US" dirty="0" smtClean="0">
                <a:ea typeface="黑体" panose="02010609060101010101" pitchFamily="49" charset="-122"/>
              </a:rPr>
              <a:t>协议。</a:t>
            </a:r>
          </a:p>
          <a:p>
            <a:r>
              <a:rPr lang="zh-CN" altLang="en-US" dirty="0" smtClean="0">
                <a:ea typeface="黑体" panose="02010609060101010101" pitchFamily="49" charset="-122"/>
              </a:rPr>
              <a:t>改进的办法是把 </a:t>
            </a:r>
            <a:r>
              <a:rPr lang="en-US" altLang="zh-CN" dirty="0" smtClean="0">
                <a:ea typeface="黑体" panose="02010609060101010101" pitchFamily="49" charset="-122"/>
              </a:rPr>
              <a:t>CSMA </a:t>
            </a:r>
            <a:r>
              <a:rPr lang="zh-CN" altLang="en-US" dirty="0" smtClean="0">
                <a:ea typeface="黑体" panose="02010609060101010101" pitchFamily="49" charset="-122"/>
              </a:rPr>
              <a:t>增加一个</a:t>
            </a:r>
            <a:r>
              <a:rPr lang="zh-CN" altLang="en-US" u="sng" dirty="0" smtClean="0">
                <a:solidFill>
                  <a:srgbClr val="FF0000"/>
                </a:solidFill>
                <a:ea typeface="黑体" panose="02010609060101010101" pitchFamily="49" charset="-122"/>
              </a:rPr>
              <a:t>碰撞避免</a:t>
            </a:r>
            <a:r>
              <a:rPr lang="en-US" altLang="zh-CN" u="sng" dirty="0" smtClean="0">
                <a:ea typeface="黑体" panose="02010609060101010101" pitchFamily="49" charset="-122"/>
              </a:rPr>
              <a:t>CA (Collision Avoidance)</a:t>
            </a:r>
            <a:r>
              <a:rPr lang="zh-CN" altLang="en-US" dirty="0" smtClean="0">
                <a:ea typeface="黑体" panose="02010609060101010101" pitchFamily="49" charset="-122"/>
              </a:rPr>
              <a:t>功能。</a:t>
            </a:r>
          </a:p>
          <a:p>
            <a:r>
              <a:rPr lang="en-US" altLang="zh-CN" dirty="0" smtClean="0">
                <a:solidFill>
                  <a:srgbClr val="FF0000"/>
                </a:solidFill>
                <a:ea typeface="黑体" panose="02010609060101010101" pitchFamily="49" charset="-122"/>
              </a:rPr>
              <a:t>802.11 </a:t>
            </a:r>
            <a:r>
              <a:rPr lang="zh-CN" altLang="en-US" dirty="0" smtClean="0">
                <a:solidFill>
                  <a:srgbClr val="FF0000"/>
                </a:solidFill>
                <a:ea typeface="黑体" panose="02010609060101010101" pitchFamily="49" charset="-122"/>
              </a:rPr>
              <a:t>就使用 </a:t>
            </a:r>
            <a:r>
              <a:rPr lang="en-US" altLang="zh-CN" dirty="0" smtClean="0">
                <a:solidFill>
                  <a:srgbClr val="FF0000"/>
                </a:solidFill>
                <a:ea typeface="黑体" panose="02010609060101010101" pitchFamily="49" charset="-122"/>
              </a:rPr>
              <a:t>CSMA/CA </a:t>
            </a:r>
            <a:r>
              <a:rPr lang="zh-CN" altLang="en-US" dirty="0" smtClean="0">
                <a:solidFill>
                  <a:srgbClr val="FF0000"/>
                </a:solidFill>
                <a:ea typeface="黑体" panose="02010609060101010101" pitchFamily="49" charset="-122"/>
              </a:rPr>
              <a:t>协议。</a:t>
            </a:r>
            <a:r>
              <a:rPr lang="zh-CN" altLang="en-US" dirty="0" smtClean="0">
                <a:ea typeface="黑体" panose="02010609060101010101" pitchFamily="49" charset="-122"/>
              </a:rPr>
              <a:t>而在使用 </a:t>
            </a:r>
            <a:r>
              <a:rPr lang="en-US" altLang="zh-CN" dirty="0" smtClean="0">
                <a:ea typeface="黑体" panose="02010609060101010101" pitchFamily="49" charset="-122"/>
              </a:rPr>
              <a:t>CSMA/CA </a:t>
            </a:r>
            <a:r>
              <a:rPr lang="zh-CN" altLang="en-US" dirty="0" smtClean="0">
                <a:ea typeface="黑体" panose="02010609060101010101" pitchFamily="49" charset="-122"/>
              </a:rPr>
              <a:t>的同时，</a:t>
            </a:r>
            <a:r>
              <a:rPr lang="zh-CN" altLang="en-US" dirty="0" smtClean="0">
                <a:solidFill>
                  <a:srgbClr val="FF0000"/>
                </a:solidFill>
                <a:ea typeface="黑体" panose="02010609060101010101" pitchFamily="49" charset="-122"/>
              </a:rPr>
              <a:t>还增加使用停止等待协议。</a:t>
            </a:r>
          </a:p>
          <a:p>
            <a:r>
              <a:rPr lang="zh-CN" altLang="en-US" dirty="0" smtClean="0">
                <a:ea typeface="黑体" panose="02010609060101010101" pitchFamily="49" charset="-122"/>
              </a:rPr>
              <a:t>下面先介绍 </a:t>
            </a:r>
            <a:r>
              <a:rPr lang="en-US" altLang="zh-CN" dirty="0" smtClean="0">
                <a:ea typeface="黑体" panose="02010609060101010101" pitchFamily="49" charset="-122"/>
              </a:rPr>
              <a:t>802.11 </a:t>
            </a:r>
            <a:r>
              <a:rPr lang="zh-CN" altLang="en-US" dirty="0" smtClean="0">
                <a:ea typeface="黑体" panose="02010609060101010101" pitchFamily="49" charset="-122"/>
              </a:rPr>
              <a:t>的 </a:t>
            </a:r>
            <a:r>
              <a:rPr lang="en-US" altLang="zh-CN" dirty="0" smtClean="0">
                <a:ea typeface="黑体" panose="02010609060101010101" pitchFamily="49" charset="-122"/>
              </a:rPr>
              <a:t>MAC </a:t>
            </a:r>
            <a:r>
              <a:rPr lang="zh-CN" altLang="en-US" dirty="0" smtClean="0">
                <a:ea typeface="黑体" panose="02010609060101010101" pitchFamily="49" charset="-122"/>
              </a:rPr>
              <a:t>层。    </a:t>
            </a:r>
          </a:p>
        </p:txBody>
      </p:sp>
      <p:sp>
        <p:nvSpPr>
          <p:cNvPr id="2410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59F2B8-32E3-48AD-A87D-8538473C5CCF}" type="slidenum">
              <a:rPr lang="zh-CN" altLang="en-US" smtClean="0"/>
              <a:pPr eaLnBrk="1" hangingPunct="1"/>
              <a:t>28</a:t>
            </a:fld>
            <a:endParaRPr lang="en-US" altLang="zh-CN" smtClean="0"/>
          </a:p>
        </p:txBody>
      </p:sp>
      <p:sp>
        <p:nvSpPr>
          <p:cNvPr id="2410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232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232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23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1521" name="Rectangle 6"/>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313390" name="Text Box 46"/>
          <p:cNvSpPr txBox="1">
            <a:spLocks noChangeArrowheads="1"/>
          </p:cNvSpPr>
          <p:nvPr/>
        </p:nvSpPr>
        <p:spPr bwMode="auto">
          <a:xfrm>
            <a:off x="1027113" y="1125538"/>
            <a:ext cx="8102600" cy="954087"/>
          </a:xfrm>
          <a:prstGeom prst="rect">
            <a:avLst/>
          </a:prstGeom>
          <a:solidFill>
            <a:srgbClr val="FFFF66"/>
          </a:solidFill>
          <a:ln w="9525">
            <a:solidFill>
              <a:srgbClr val="333399"/>
            </a:solidFill>
            <a:miter lim="800000"/>
            <a:headEnd/>
            <a:tailEnd/>
          </a:ln>
        </p:spPr>
        <p:txBody>
          <a:bodyPr wrap="none">
            <a:spAutoFit/>
          </a:bodyPr>
          <a:lstStyle/>
          <a:p>
            <a:pPr algn="ctr" eaLnBrk="0" hangingPunct="0"/>
            <a:r>
              <a:rPr lang="en-US" altLang="zh-CN" sz="2800" b="1" dirty="0">
                <a:solidFill>
                  <a:srgbClr val="000099"/>
                </a:solidFill>
                <a:ea typeface="宋体" panose="02010600030101010101" pitchFamily="2" charset="-122"/>
              </a:rPr>
              <a:t>MAC </a:t>
            </a:r>
            <a:r>
              <a:rPr lang="zh-CN" altLang="en-US" sz="2800" b="1" dirty="0">
                <a:solidFill>
                  <a:srgbClr val="000099"/>
                </a:solidFill>
                <a:ea typeface="宋体" panose="02010600030101010101" pitchFamily="2" charset="-122"/>
              </a:rPr>
              <a:t>层通过</a:t>
            </a:r>
            <a:r>
              <a:rPr lang="zh-CN" altLang="en-US" sz="2800" b="1" dirty="0">
                <a:solidFill>
                  <a:srgbClr val="C00000"/>
                </a:solidFill>
                <a:ea typeface="宋体" panose="02010600030101010101" pitchFamily="2" charset="-122"/>
              </a:rPr>
              <a:t>协调功能</a:t>
            </a:r>
            <a:r>
              <a:rPr lang="zh-CN" altLang="en-US" sz="2800" b="1" dirty="0">
                <a:solidFill>
                  <a:srgbClr val="000099"/>
                </a:solidFill>
                <a:ea typeface="宋体" panose="02010600030101010101" pitchFamily="2" charset="-122"/>
              </a:rPr>
              <a:t>来确定在基本服务集 </a:t>
            </a:r>
            <a:r>
              <a:rPr lang="en-US" altLang="zh-CN" sz="2800" b="1" dirty="0">
                <a:solidFill>
                  <a:srgbClr val="000099"/>
                </a:solidFill>
                <a:ea typeface="宋体" panose="02010600030101010101" pitchFamily="2" charset="-122"/>
              </a:rPr>
              <a:t>BSS </a:t>
            </a:r>
            <a:r>
              <a:rPr lang="zh-CN" altLang="en-US" sz="2800" b="1" dirty="0">
                <a:solidFill>
                  <a:srgbClr val="000099"/>
                </a:solidFill>
                <a:ea typeface="宋体" panose="02010600030101010101" pitchFamily="2" charset="-122"/>
              </a:rPr>
              <a:t>中</a:t>
            </a:r>
          </a:p>
          <a:p>
            <a:pPr algn="ctr" eaLnBrk="0" hangingPunct="0"/>
            <a:r>
              <a:rPr lang="zh-CN" altLang="en-US" sz="2800" b="1" dirty="0">
                <a:solidFill>
                  <a:srgbClr val="000099"/>
                </a:solidFill>
                <a:ea typeface="宋体" panose="02010600030101010101" pitchFamily="2" charset="-122"/>
              </a:rPr>
              <a:t>的移动站在什么时间能发送数据或接收数据。 </a:t>
            </a:r>
          </a:p>
        </p:txBody>
      </p:sp>
      <p:grpSp>
        <p:nvGrpSpPr>
          <p:cNvPr id="2411523" name="组合 2"/>
          <p:cNvGrpSpPr>
            <a:grpSpLocks/>
          </p:cNvGrpSpPr>
          <p:nvPr/>
        </p:nvGrpSpPr>
        <p:grpSpPr bwMode="auto">
          <a:xfrm>
            <a:off x="249238" y="2117725"/>
            <a:ext cx="9305925" cy="4191000"/>
            <a:chOff x="249795" y="2117800"/>
            <a:chExt cx="9305368" cy="4191520"/>
          </a:xfrm>
        </p:grpSpPr>
        <p:sp>
          <p:nvSpPr>
            <p:cNvPr id="2411524"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5"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1526"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1527"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8"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29"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30"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1531"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1532"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1533"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1534"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5"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1536"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7"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1538"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1539"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15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584AAD-992B-4E3E-B716-5A9DDAD37287}" type="slidenum">
              <a:rPr lang="zh-CN" altLang="en-US" smtClean="0"/>
              <a:pPr eaLnBrk="1" hangingPunct="1"/>
              <a:t>29</a:t>
            </a:fld>
            <a:endParaRPr lang="en-US" altLang="zh-CN" smtClean="0"/>
          </a:p>
        </p:txBody>
      </p:sp>
      <p:sp>
        <p:nvSpPr>
          <p:cNvPr id="24115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9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70" name="Line 22"/>
          <p:cNvSpPr>
            <a:spLocks noChangeShapeType="1"/>
          </p:cNvSpPr>
          <p:nvPr/>
        </p:nvSpPr>
        <p:spPr bwMode="auto">
          <a:xfrm>
            <a:off x="6900863" y="1725613"/>
            <a:ext cx="3175" cy="2566987"/>
          </a:xfrm>
          <a:prstGeom prst="line">
            <a:avLst/>
          </a:prstGeom>
          <a:noFill/>
          <a:ln w="762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2412546" name="组合 20"/>
          <p:cNvGrpSpPr>
            <a:grpSpLocks/>
          </p:cNvGrpSpPr>
          <p:nvPr/>
        </p:nvGrpSpPr>
        <p:grpSpPr bwMode="auto">
          <a:xfrm>
            <a:off x="249238" y="2117725"/>
            <a:ext cx="9305925" cy="4191000"/>
            <a:chOff x="249795" y="2117800"/>
            <a:chExt cx="9305368" cy="4191520"/>
          </a:xfrm>
        </p:grpSpPr>
        <p:sp>
          <p:nvSpPr>
            <p:cNvPr id="2412547"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48"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2549"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2550"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1"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2"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3"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2554"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2555"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2556"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2557"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58"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2559"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60"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2561"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2562"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2563" name="标题 2"/>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2412564" name="矩形 3"/>
          <p:cNvSpPr>
            <a:spLocks noChangeArrowheads="1"/>
          </p:cNvSpPr>
          <p:nvPr/>
        </p:nvSpPr>
        <p:spPr bwMode="auto">
          <a:xfrm>
            <a:off x="488950" y="188913"/>
            <a:ext cx="9217025" cy="1570037"/>
          </a:xfrm>
          <a:prstGeom prst="rect">
            <a:avLst/>
          </a:prstGeom>
          <a:solidFill>
            <a:srgbClr val="FFFF66"/>
          </a:solidFill>
          <a:ln w="9525">
            <a:solidFill>
              <a:srgbClr val="333399"/>
            </a:solidFill>
            <a:miter lim="800000"/>
            <a:headEnd/>
            <a:tailEnd/>
          </a:ln>
        </p:spPr>
        <p:txBody>
          <a:bodyPr>
            <a:spAutoFit/>
          </a:bodyPr>
          <a:lstStyle/>
          <a:p>
            <a:pPr algn="ctr" eaLnBrk="0" hangingPunct="0"/>
            <a:r>
              <a:rPr lang="en-US" altLang="zh-CN" sz="3200" b="1" dirty="0">
                <a:solidFill>
                  <a:srgbClr val="000099"/>
                </a:solidFill>
                <a:ea typeface="宋体" panose="02010600030101010101" pitchFamily="2" charset="-122"/>
              </a:rPr>
              <a:t>DCF </a:t>
            </a:r>
            <a:r>
              <a:rPr lang="zh-CN" altLang="en-US" sz="3200" b="1" dirty="0">
                <a:solidFill>
                  <a:srgbClr val="000099"/>
                </a:solidFill>
                <a:ea typeface="宋体" panose="02010600030101010101" pitchFamily="2" charset="-122"/>
              </a:rPr>
              <a:t>子层在每一个结点使用 </a:t>
            </a:r>
            <a:r>
              <a:rPr lang="en-US" altLang="zh-CN" sz="3200" b="1" dirty="0">
                <a:solidFill>
                  <a:srgbClr val="000099"/>
                </a:solidFill>
                <a:ea typeface="宋体" panose="02010600030101010101" pitchFamily="2" charset="-122"/>
              </a:rPr>
              <a:t>CSMA </a:t>
            </a:r>
            <a:r>
              <a:rPr lang="zh-CN" altLang="en-US" sz="3200" b="1" dirty="0">
                <a:solidFill>
                  <a:srgbClr val="000099"/>
                </a:solidFill>
                <a:ea typeface="宋体" panose="02010600030101010101" pitchFamily="2" charset="-122"/>
              </a:rPr>
              <a:t>机制的</a:t>
            </a:r>
            <a:r>
              <a:rPr lang="zh-CN" altLang="en-US" sz="3200" b="1" dirty="0">
                <a:solidFill>
                  <a:srgbClr val="C00000"/>
                </a:solidFill>
                <a:ea typeface="宋体" panose="02010600030101010101" pitchFamily="2" charset="-122"/>
              </a:rPr>
              <a:t>分布式接入</a:t>
            </a:r>
            <a:r>
              <a:rPr lang="zh-CN" altLang="en-US" sz="3200" b="1" dirty="0">
                <a:solidFill>
                  <a:srgbClr val="000099"/>
                </a:solidFill>
                <a:ea typeface="宋体" panose="02010600030101010101" pitchFamily="2" charset="-122"/>
              </a:rPr>
              <a:t>算法，让各个站通过</a:t>
            </a:r>
            <a:r>
              <a:rPr lang="zh-CN" altLang="en-US" sz="3200" b="1" dirty="0">
                <a:solidFill>
                  <a:srgbClr val="C00000"/>
                </a:solidFill>
                <a:ea typeface="宋体" panose="02010600030101010101" pitchFamily="2" charset="-122"/>
              </a:rPr>
              <a:t>争用</a:t>
            </a:r>
            <a:r>
              <a:rPr lang="zh-CN" altLang="en-US" sz="3200" b="1" dirty="0">
                <a:solidFill>
                  <a:srgbClr val="000099"/>
                </a:solidFill>
                <a:ea typeface="宋体" panose="02010600030101010101" pitchFamily="2" charset="-122"/>
              </a:rPr>
              <a:t>信道来获取发送权。</a:t>
            </a:r>
            <a:endParaRPr lang="en-US" altLang="zh-CN" sz="3200" b="1" dirty="0">
              <a:solidFill>
                <a:srgbClr val="000099"/>
              </a:solidFill>
              <a:ea typeface="宋体" panose="02010600030101010101" pitchFamily="2" charset="-122"/>
            </a:endParaRPr>
          </a:p>
          <a:p>
            <a:pPr algn="ctr" eaLnBrk="0" hangingPunct="0"/>
            <a:r>
              <a:rPr lang="zh-CN" altLang="en-US" sz="3200" b="1" dirty="0">
                <a:solidFill>
                  <a:srgbClr val="000099"/>
                </a:solidFill>
                <a:ea typeface="宋体" panose="02010600030101010101" pitchFamily="2" charset="-122"/>
              </a:rPr>
              <a:t>因此 </a:t>
            </a:r>
            <a:r>
              <a:rPr lang="en-US" altLang="zh-CN" sz="3200" b="1" dirty="0">
                <a:solidFill>
                  <a:srgbClr val="000099"/>
                </a:solidFill>
                <a:ea typeface="宋体" panose="02010600030101010101" pitchFamily="2" charset="-122"/>
              </a:rPr>
              <a:t>DCF </a:t>
            </a:r>
            <a:r>
              <a:rPr lang="zh-CN" altLang="en-US" sz="3200" b="1" dirty="0">
                <a:solidFill>
                  <a:srgbClr val="000099"/>
                </a:solidFill>
                <a:ea typeface="宋体" panose="02010600030101010101" pitchFamily="2" charset="-122"/>
              </a:rPr>
              <a:t>向上提供争用服务。</a:t>
            </a:r>
          </a:p>
        </p:txBody>
      </p:sp>
      <p:sp>
        <p:nvSpPr>
          <p:cNvPr id="241256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8C82F3-7CFE-48F7-9C34-6C7A5A96BF97}" type="slidenum">
              <a:rPr lang="zh-CN" altLang="en-US" smtClean="0"/>
              <a:pPr eaLnBrk="1" hangingPunct="1"/>
              <a:t>30</a:t>
            </a:fld>
            <a:endParaRPr lang="en-US" altLang="zh-CN" smtClean="0"/>
          </a:p>
        </p:txBody>
      </p:sp>
      <p:sp>
        <p:nvSpPr>
          <p:cNvPr id="241256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04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7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94" name="Line 22"/>
          <p:cNvSpPr>
            <a:spLocks noChangeShapeType="1"/>
          </p:cNvSpPr>
          <p:nvPr/>
        </p:nvSpPr>
        <p:spPr bwMode="auto">
          <a:xfrm>
            <a:off x="5457825" y="1236663"/>
            <a:ext cx="0" cy="1760537"/>
          </a:xfrm>
          <a:prstGeom prst="line">
            <a:avLst/>
          </a:prstGeom>
          <a:noFill/>
          <a:ln w="762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2413570" name="组合 19"/>
          <p:cNvGrpSpPr>
            <a:grpSpLocks/>
          </p:cNvGrpSpPr>
          <p:nvPr/>
        </p:nvGrpSpPr>
        <p:grpSpPr bwMode="auto">
          <a:xfrm>
            <a:off x="249238" y="2117725"/>
            <a:ext cx="9305925" cy="4191000"/>
            <a:chOff x="249795" y="2117800"/>
            <a:chExt cx="9305368" cy="4191520"/>
          </a:xfrm>
        </p:grpSpPr>
        <p:sp>
          <p:nvSpPr>
            <p:cNvPr id="2413571" name="Line 13"/>
            <p:cNvSpPr>
              <a:spLocks noChangeShapeType="1"/>
            </p:cNvSpPr>
            <p:nvPr/>
          </p:nvSpPr>
          <p:spPr bwMode="auto">
            <a:xfrm>
              <a:off x="673953" y="2951946"/>
              <a:ext cx="0" cy="2710171"/>
            </a:xfrm>
            <a:prstGeom prst="line">
              <a:avLst/>
            </a:prstGeom>
            <a:noFill/>
            <a:ln w="2857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2" name="Text Box 14"/>
            <p:cNvSpPr txBox="1">
              <a:spLocks noChangeArrowheads="1"/>
            </p:cNvSpPr>
            <p:nvPr/>
          </p:nvSpPr>
          <p:spPr bwMode="auto">
            <a:xfrm>
              <a:off x="249795" y="3933056"/>
              <a:ext cx="88678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MAC</a:t>
              </a:r>
            </a:p>
            <a:p>
              <a:pP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层</a:t>
              </a:r>
            </a:p>
          </p:txBody>
        </p:sp>
        <p:sp>
          <p:nvSpPr>
            <p:cNvPr id="2413573" name="Text Box 15"/>
            <p:cNvSpPr txBox="1">
              <a:spLocks noChangeArrowheads="1"/>
            </p:cNvSpPr>
            <p:nvPr/>
          </p:nvSpPr>
          <p:spPr bwMode="auto">
            <a:xfrm>
              <a:off x="2144581" y="2117800"/>
              <a:ext cx="3900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ea typeface="宋体" panose="02010600030101010101" pitchFamily="2" charset="-122"/>
                </a:rPr>
                <a:t>无争用服务（选用）</a:t>
              </a:r>
            </a:p>
          </p:txBody>
        </p:sp>
        <p:sp>
          <p:nvSpPr>
            <p:cNvPr id="2413574" name="Rectangle 16"/>
            <p:cNvSpPr>
              <a:spLocks noChangeArrowheads="1"/>
            </p:cNvSpPr>
            <p:nvPr/>
          </p:nvSpPr>
          <p:spPr bwMode="auto">
            <a:xfrm>
              <a:off x="1209015" y="4160838"/>
              <a:ext cx="8346148" cy="2148482"/>
            </a:xfrm>
            <a:prstGeom prst="rect">
              <a:avLst/>
            </a:prstGeom>
            <a:solidFill>
              <a:srgbClr val="FFFF99"/>
            </a:solidFill>
            <a:ln w="2857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5" name="Rectangle 18"/>
            <p:cNvSpPr>
              <a:spLocks noChangeArrowheads="1"/>
            </p:cNvSpPr>
            <p:nvPr/>
          </p:nvSpPr>
          <p:spPr bwMode="auto">
            <a:xfrm>
              <a:off x="1246850" y="4181475"/>
              <a:ext cx="8308313" cy="149661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6" name="Rectangle 19"/>
            <p:cNvSpPr>
              <a:spLocks noChangeArrowheads="1"/>
            </p:cNvSpPr>
            <p:nvPr/>
          </p:nvSpPr>
          <p:spPr bwMode="auto">
            <a:xfrm>
              <a:off x="1234811" y="2951946"/>
              <a:ext cx="5107781" cy="11866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77" name="Text Box 20"/>
            <p:cNvSpPr txBox="1">
              <a:spLocks noChangeArrowheads="1"/>
            </p:cNvSpPr>
            <p:nvPr/>
          </p:nvSpPr>
          <p:spPr bwMode="auto">
            <a:xfrm>
              <a:off x="6790362" y="2546901"/>
              <a:ext cx="23391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FF0000"/>
                  </a:solidFill>
                  <a:ea typeface="宋体" panose="02010600030101010101" pitchFamily="2" charset="-122"/>
                </a:rPr>
                <a:t>争用服务</a:t>
              </a:r>
            </a:p>
            <a:p>
              <a:pPr algn="ctr" eaLnBrk="0" hangingPunct="0"/>
              <a:r>
                <a:rPr lang="zh-CN" altLang="en-US" sz="2800" b="1">
                  <a:solidFill>
                    <a:srgbClr val="FF0000"/>
                  </a:solidFill>
                  <a:ea typeface="宋体" panose="02010600030101010101" pitchFamily="2" charset="-122"/>
                </a:rPr>
                <a:t>（必须实现）</a:t>
              </a:r>
            </a:p>
          </p:txBody>
        </p:sp>
        <p:sp>
          <p:nvSpPr>
            <p:cNvPr id="2413578" name="Text Box 23"/>
            <p:cNvSpPr txBox="1">
              <a:spLocks noChangeArrowheads="1"/>
            </p:cNvSpPr>
            <p:nvPr/>
          </p:nvSpPr>
          <p:spPr bwMode="auto">
            <a:xfrm>
              <a:off x="2186030" y="4293096"/>
              <a:ext cx="652454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分布协调功能 </a:t>
              </a:r>
              <a:r>
                <a:rPr lang="en-US" altLang="zh-CN" sz="2800" b="1" u="sng" dirty="0">
                  <a:solidFill>
                    <a:srgbClr val="FF0000"/>
                  </a:solidFill>
                  <a:ea typeface="宋体" panose="02010600030101010101" pitchFamily="2" charset="-122"/>
                </a:rPr>
                <a:t>DCF</a:t>
              </a:r>
            </a:p>
            <a:p>
              <a:pPr algn="ctr" eaLnBrk="0" hangingPunct="0"/>
              <a:r>
                <a:rPr lang="en-US" altLang="zh-CN" sz="2800" b="1" u="sng" dirty="0">
                  <a:solidFill>
                    <a:srgbClr val="000099"/>
                  </a:solidFill>
                  <a:ea typeface="宋体" panose="02010600030101010101" pitchFamily="2" charset="-122"/>
                </a:rPr>
                <a:t>(Distributed Coordination Function)</a:t>
              </a:r>
            </a:p>
            <a:p>
              <a:pPr algn="ctr" eaLnBrk="0" hangingPunct="0"/>
              <a:r>
                <a:rPr lang="en-US" altLang="zh-CN" sz="2800" b="1" u="sng" dirty="0">
                  <a:solidFill>
                    <a:srgbClr val="000099"/>
                  </a:solidFill>
                  <a:ea typeface="宋体" panose="02010600030101010101" pitchFamily="2" charset="-122"/>
                </a:rPr>
                <a:t>(CSMA/CA)</a:t>
              </a:r>
            </a:p>
          </p:txBody>
        </p:sp>
        <p:sp>
          <p:nvSpPr>
            <p:cNvPr id="2413579" name="Text Box 24"/>
            <p:cNvSpPr txBox="1">
              <a:spLocks noChangeArrowheads="1"/>
            </p:cNvSpPr>
            <p:nvPr/>
          </p:nvSpPr>
          <p:spPr bwMode="auto">
            <a:xfrm>
              <a:off x="1014815" y="2997200"/>
              <a:ext cx="543770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u="sng" dirty="0">
                  <a:solidFill>
                    <a:srgbClr val="FF0000"/>
                  </a:solidFill>
                  <a:ea typeface="宋体" panose="02010600030101010101" pitchFamily="2" charset="-122"/>
                </a:rPr>
                <a:t>点协调功能 </a:t>
              </a:r>
              <a:r>
                <a:rPr lang="en-US" altLang="zh-CN" sz="2800" b="1" u="sng" dirty="0">
                  <a:solidFill>
                    <a:srgbClr val="FF0000"/>
                  </a:solidFill>
                  <a:ea typeface="宋体" panose="02010600030101010101" pitchFamily="2" charset="-122"/>
                </a:rPr>
                <a:t>PCF</a:t>
              </a:r>
            </a:p>
            <a:p>
              <a:pPr algn="ctr" eaLnBrk="0" hangingPunct="0"/>
              <a:r>
                <a:rPr lang="en-US" altLang="zh-CN" sz="2800" b="1" u="sng" dirty="0">
                  <a:solidFill>
                    <a:srgbClr val="000099"/>
                  </a:solidFill>
                  <a:ea typeface="宋体" panose="02010600030101010101" pitchFamily="2" charset="-122"/>
                </a:rPr>
                <a:t>(Point Coordination Function)</a:t>
              </a:r>
            </a:p>
          </p:txBody>
        </p:sp>
        <p:sp>
          <p:nvSpPr>
            <p:cNvPr id="2413580" name="Rectangle 25"/>
            <p:cNvSpPr>
              <a:spLocks noChangeArrowheads="1"/>
            </p:cNvSpPr>
            <p:nvPr/>
          </p:nvSpPr>
          <p:spPr bwMode="auto">
            <a:xfrm>
              <a:off x="1209015" y="2924174"/>
              <a:ext cx="5140457" cy="1236663"/>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3581" name="Line 37"/>
            <p:cNvSpPr>
              <a:spLocks noChangeShapeType="1"/>
            </p:cNvSpPr>
            <p:nvPr/>
          </p:nvSpPr>
          <p:spPr bwMode="auto">
            <a:xfrm>
              <a:off x="256043" y="2924944"/>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2" name="Text Box 12"/>
            <p:cNvSpPr txBox="1">
              <a:spLocks noChangeArrowheads="1"/>
            </p:cNvSpPr>
            <p:nvPr/>
          </p:nvSpPr>
          <p:spPr bwMode="auto">
            <a:xfrm>
              <a:off x="4736976" y="573325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物理层</a:t>
              </a:r>
            </a:p>
          </p:txBody>
        </p:sp>
        <p:sp>
          <p:nvSpPr>
            <p:cNvPr id="2413583" name="Line 36"/>
            <p:cNvSpPr>
              <a:spLocks noChangeShapeType="1"/>
            </p:cNvSpPr>
            <p:nvPr/>
          </p:nvSpPr>
          <p:spPr bwMode="auto">
            <a:xfrm>
              <a:off x="256043" y="5662116"/>
              <a:ext cx="88053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4" name="Line 49"/>
            <p:cNvSpPr>
              <a:spLocks noChangeShapeType="1"/>
            </p:cNvSpPr>
            <p:nvPr/>
          </p:nvSpPr>
          <p:spPr bwMode="auto">
            <a:xfrm flipV="1">
              <a:off x="1200415" y="5659660"/>
              <a:ext cx="8354748" cy="15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3585" name="AutoShape 50"/>
            <p:cNvSpPr>
              <a:spLocks noChangeArrowheads="1"/>
            </p:cNvSpPr>
            <p:nvPr/>
          </p:nvSpPr>
          <p:spPr bwMode="auto">
            <a:xfrm>
              <a:off x="7684030" y="3474253"/>
              <a:ext cx="624285" cy="818348"/>
            </a:xfrm>
            <a:prstGeom prst="upArrow">
              <a:avLst>
                <a:gd name="adj1" fmla="val 50000"/>
                <a:gd name="adj2" fmla="val 40564"/>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3586" name="AutoShape 51"/>
            <p:cNvSpPr>
              <a:spLocks noChangeArrowheads="1"/>
            </p:cNvSpPr>
            <p:nvPr/>
          </p:nvSpPr>
          <p:spPr bwMode="auto">
            <a:xfrm>
              <a:off x="3470540" y="2636391"/>
              <a:ext cx="624285" cy="431800"/>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grpSp>
      <p:sp>
        <p:nvSpPr>
          <p:cNvPr id="241358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层 </a:t>
            </a:r>
          </a:p>
        </p:txBody>
      </p:sp>
      <p:sp>
        <p:nvSpPr>
          <p:cNvPr id="2413588" name="矩形 2"/>
          <p:cNvSpPr>
            <a:spLocks noChangeArrowheads="1"/>
          </p:cNvSpPr>
          <p:nvPr/>
        </p:nvSpPr>
        <p:spPr bwMode="auto">
          <a:xfrm>
            <a:off x="488950" y="188913"/>
            <a:ext cx="9217025" cy="1570037"/>
          </a:xfrm>
          <a:prstGeom prst="rect">
            <a:avLst/>
          </a:prstGeom>
          <a:solidFill>
            <a:srgbClr val="FFFF66"/>
          </a:solidFill>
          <a:ln w="9525">
            <a:solidFill>
              <a:srgbClr val="333399"/>
            </a:solidFill>
            <a:miter lim="800000"/>
            <a:headEnd/>
            <a:tailEnd/>
          </a:ln>
        </p:spPr>
        <p:txBody>
          <a:bodyPr>
            <a:spAutoFit/>
          </a:bodyPr>
          <a:lstStyle/>
          <a:p>
            <a:pPr algn="ctr" eaLnBrk="0" hangingPunct="0"/>
            <a:r>
              <a:rPr lang="en-US" altLang="zh-CN" sz="3200" b="1" dirty="0">
                <a:solidFill>
                  <a:srgbClr val="000099"/>
                </a:solidFill>
                <a:ea typeface="宋体" panose="02010600030101010101" pitchFamily="2" charset="-122"/>
              </a:rPr>
              <a:t>PCF </a:t>
            </a:r>
            <a:r>
              <a:rPr lang="zh-CN" altLang="en-US" sz="3200" b="1" dirty="0">
                <a:solidFill>
                  <a:srgbClr val="000099"/>
                </a:solidFill>
                <a:ea typeface="宋体" panose="02010600030101010101" pitchFamily="2" charset="-122"/>
              </a:rPr>
              <a:t>子层使用</a:t>
            </a:r>
            <a:r>
              <a:rPr lang="zh-CN" altLang="en-US" sz="3200" b="1" dirty="0">
                <a:solidFill>
                  <a:srgbClr val="C00000"/>
                </a:solidFill>
                <a:ea typeface="宋体" panose="02010600030101010101" pitchFamily="2" charset="-122"/>
              </a:rPr>
              <a:t>集中控制</a:t>
            </a:r>
            <a:r>
              <a:rPr lang="zh-CN" altLang="en-US" sz="3200" b="1" dirty="0">
                <a:solidFill>
                  <a:srgbClr val="000099"/>
                </a:solidFill>
                <a:ea typeface="宋体" panose="02010600030101010101" pitchFamily="2" charset="-122"/>
              </a:rPr>
              <a:t>的接入算法把发送数据权</a:t>
            </a:r>
            <a:br>
              <a:rPr lang="zh-CN" altLang="en-US" sz="3200" b="1" dirty="0">
                <a:solidFill>
                  <a:srgbClr val="000099"/>
                </a:solidFill>
                <a:ea typeface="宋体" panose="02010600030101010101" pitchFamily="2" charset="-122"/>
              </a:rPr>
            </a:br>
            <a:r>
              <a:rPr lang="zh-CN" altLang="en-US" sz="3200" b="1" dirty="0">
                <a:solidFill>
                  <a:srgbClr val="C00000"/>
                </a:solidFill>
                <a:ea typeface="宋体" panose="02010600030101010101" pitchFamily="2" charset="-122"/>
              </a:rPr>
              <a:t>轮流</a:t>
            </a:r>
            <a:r>
              <a:rPr lang="zh-CN" altLang="en-US" sz="3200" b="1" dirty="0">
                <a:solidFill>
                  <a:srgbClr val="000099"/>
                </a:solidFill>
                <a:ea typeface="宋体" panose="02010600030101010101" pitchFamily="2" charset="-122"/>
              </a:rPr>
              <a:t>交给各个站从而避免了碰撞的产生。</a:t>
            </a:r>
            <a:endParaRPr lang="en-US" altLang="zh-CN" sz="3200" b="1" dirty="0">
              <a:solidFill>
                <a:srgbClr val="000099"/>
              </a:solidFill>
              <a:ea typeface="宋体" panose="02010600030101010101" pitchFamily="2" charset="-122"/>
            </a:endParaRPr>
          </a:p>
          <a:p>
            <a:pPr algn="ctr" eaLnBrk="0" hangingPunct="0"/>
            <a:r>
              <a:rPr lang="zh-CN" altLang="zh-CN" sz="3200" b="1" dirty="0">
                <a:solidFill>
                  <a:srgbClr val="000099"/>
                </a:solidFill>
                <a:ea typeface="宋体" panose="02010600030101010101" pitchFamily="2" charset="-122"/>
              </a:rPr>
              <a:t>自组网络就没有</a:t>
            </a:r>
            <a:r>
              <a:rPr lang="en-US" altLang="zh-CN" sz="3200" b="1" dirty="0">
                <a:solidFill>
                  <a:srgbClr val="000099"/>
                </a:solidFill>
                <a:ea typeface="宋体" panose="02010600030101010101" pitchFamily="2" charset="-122"/>
              </a:rPr>
              <a:t>PCF</a:t>
            </a:r>
            <a:r>
              <a:rPr lang="zh-CN" altLang="zh-CN" sz="3200" b="1" dirty="0">
                <a:solidFill>
                  <a:srgbClr val="000099"/>
                </a:solidFill>
                <a:ea typeface="宋体" panose="02010600030101010101" pitchFamily="2" charset="-122"/>
              </a:rPr>
              <a:t>子层。</a:t>
            </a:r>
            <a:r>
              <a:rPr lang="zh-CN" altLang="en-US" sz="3200" b="1" dirty="0">
                <a:solidFill>
                  <a:srgbClr val="000099"/>
                </a:solidFill>
                <a:ea typeface="宋体" panose="02010600030101010101" pitchFamily="2" charset="-122"/>
              </a:rPr>
              <a:t> </a:t>
            </a:r>
          </a:p>
        </p:txBody>
      </p:sp>
      <p:sp>
        <p:nvSpPr>
          <p:cNvPr id="241358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D9D94C-4251-47BA-A3D1-2893A55A565A}" type="slidenum">
              <a:rPr lang="zh-CN" altLang="en-US" smtClean="0"/>
              <a:pPr eaLnBrk="1" hangingPunct="1"/>
              <a:t>31</a:t>
            </a:fld>
            <a:endParaRPr lang="en-US" altLang="zh-CN" smtClean="0"/>
          </a:p>
        </p:txBody>
      </p:sp>
      <p:sp>
        <p:nvSpPr>
          <p:cNvPr id="241359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1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9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459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帧间间隔 </a:t>
            </a:r>
            <a:r>
              <a:rPr lang="en-US" altLang="zh-CN" smtClean="0">
                <a:ea typeface="黑体" panose="02010609060101010101" pitchFamily="49" charset="-122"/>
              </a:rPr>
              <a:t>IFS </a:t>
            </a:r>
          </a:p>
        </p:txBody>
      </p:sp>
      <p:sp>
        <p:nvSpPr>
          <p:cNvPr id="318473" name="Rectangle 9"/>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所有的站在完成发送后，必须再等待一段很短的时间（继续监听）才能发送下一帧。这段时间的通称是</a:t>
            </a:r>
            <a:r>
              <a:rPr lang="zh-CN" altLang="en-US" sz="3000" u="sng" dirty="0" smtClean="0">
                <a:solidFill>
                  <a:srgbClr val="FF0000"/>
                </a:solidFill>
                <a:ea typeface="黑体" panose="02010609060101010101" pitchFamily="49" charset="-122"/>
              </a:rPr>
              <a:t>帧间间隔 </a:t>
            </a:r>
            <a:r>
              <a:rPr lang="en-US" altLang="zh-CN" sz="3000" u="sng" dirty="0" smtClean="0">
                <a:ea typeface="黑体" panose="02010609060101010101" pitchFamily="49" charset="-122"/>
              </a:rPr>
              <a:t>IFS (</a:t>
            </a:r>
            <a:r>
              <a:rPr lang="en-US" altLang="zh-CN" sz="3000" u="sng" dirty="0" err="1" smtClean="0">
                <a:ea typeface="黑体" panose="02010609060101010101" pitchFamily="49" charset="-122"/>
              </a:rPr>
              <a:t>InterFrame</a:t>
            </a:r>
            <a:r>
              <a:rPr lang="en-US" altLang="zh-CN" sz="3000" u="sng" dirty="0" smtClean="0">
                <a:ea typeface="黑体" panose="02010609060101010101" pitchFamily="49" charset="-122"/>
              </a:rPr>
              <a:t> Space)</a:t>
            </a:r>
            <a:r>
              <a:rPr lang="zh-CN" altLang="en-US" sz="3000" dirty="0" smtClean="0">
                <a:ea typeface="黑体" panose="02010609060101010101" pitchFamily="49" charset="-122"/>
              </a:rPr>
              <a:t>。</a:t>
            </a:r>
          </a:p>
          <a:p>
            <a:r>
              <a:rPr lang="zh-CN" altLang="en-US" sz="3000" dirty="0" smtClean="0">
                <a:solidFill>
                  <a:srgbClr val="0000FF"/>
                </a:solidFill>
                <a:ea typeface="黑体" panose="02010609060101010101" pitchFamily="49" charset="-122"/>
              </a:rPr>
              <a:t>帧间间隔长度取决于</a:t>
            </a:r>
            <a:r>
              <a:rPr lang="zh-CN" altLang="en-US" sz="3000" dirty="0" smtClean="0">
                <a:ea typeface="黑体" panose="02010609060101010101" pitchFamily="49" charset="-122"/>
              </a:rPr>
              <a:t>该站欲发送的</a:t>
            </a:r>
            <a:r>
              <a:rPr lang="zh-CN" altLang="en-US" sz="3000" dirty="0" smtClean="0">
                <a:solidFill>
                  <a:srgbClr val="0000FF"/>
                </a:solidFill>
                <a:ea typeface="黑体" panose="02010609060101010101" pitchFamily="49" charset="-122"/>
              </a:rPr>
              <a:t>帧的类型</a:t>
            </a:r>
            <a:r>
              <a:rPr lang="zh-CN" altLang="en-US" sz="3000" dirty="0" smtClean="0">
                <a:ea typeface="黑体" panose="02010609060101010101" pitchFamily="49" charset="-122"/>
              </a:rPr>
              <a:t>。</a:t>
            </a:r>
            <a:r>
              <a:rPr lang="zh-CN" altLang="en-US" sz="3000" dirty="0" smtClean="0">
                <a:solidFill>
                  <a:srgbClr val="0000FF"/>
                </a:solidFill>
                <a:ea typeface="黑体" panose="02010609060101010101" pitchFamily="49" charset="-122"/>
              </a:rPr>
              <a:t>高优先级帧</a:t>
            </a:r>
            <a:r>
              <a:rPr lang="zh-CN" altLang="en-US" sz="3000" dirty="0" smtClean="0">
                <a:ea typeface="黑体" panose="02010609060101010101" pitchFamily="49" charset="-122"/>
              </a:rPr>
              <a:t>需要等待的时间</a:t>
            </a:r>
            <a:r>
              <a:rPr lang="zh-CN" altLang="en-US" sz="3000" dirty="0" smtClean="0">
                <a:solidFill>
                  <a:srgbClr val="0000FF"/>
                </a:solidFill>
                <a:ea typeface="黑体" panose="02010609060101010101" pitchFamily="49" charset="-122"/>
              </a:rPr>
              <a:t>较短</a:t>
            </a:r>
            <a:r>
              <a:rPr lang="zh-CN" altLang="en-US" sz="3000" dirty="0" smtClean="0">
                <a:ea typeface="黑体" panose="02010609060101010101" pitchFamily="49" charset="-122"/>
              </a:rPr>
              <a:t>，因此可优先获得发送权。</a:t>
            </a:r>
          </a:p>
          <a:p>
            <a:r>
              <a:rPr lang="zh-CN" altLang="en-US" sz="3000" dirty="0" smtClean="0">
                <a:ea typeface="黑体" panose="02010609060101010101" pitchFamily="49" charset="-122"/>
              </a:rPr>
              <a:t>若低优先级帧还没来得及发送而其他站的高优先级帧已发送到媒体，则媒体变为忙态，因而低优先级帧就只能再推迟发送了。这样就减少了发生碰撞的机会。   </a:t>
            </a:r>
          </a:p>
        </p:txBody>
      </p:sp>
      <p:sp>
        <p:nvSpPr>
          <p:cNvPr id="2414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BB84C5-9E61-48C4-BF45-FB871F724687}" type="slidenum">
              <a:rPr lang="zh-CN" altLang="en-US" smtClean="0"/>
              <a:pPr eaLnBrk="1" hangingPunct="1"/>
              <a:t>32</a:t>
            </a:fld>
            <a:endParaRPr lang="en-US" altLang="zh-CN" smtClean="0"/>
          </a:p>
        </p:txBody>
      </p:sp>
      <p:sp>
        <p:nvSpPr>
          <p:cNvPr id="2414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847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847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30" name="Text Box 90"/>
          <p:cNvSpPr txBox="1">
            <a:spLocks noChangeArrowheads="1"/>
          </p:cNvSpPr>
          <p:nvPr/>
        </p:nvSpPr>
        <p:spPr bwMode="auto">
          <a:xfrm rot="-4974934">
            <a:off x="4545013" y="3714750"/>
            <a:ext cx="684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ACK</a:t>
            </a:r>
          </a:p>
        </p:txBody>
      </p:sp>
      <p:sp>
        <p:nvSpPr>
          <p:cNvPr id="2415618" name="Rectangle 6"/>
          <p:cNvSpPr>
            <a:spLocks noGrp="1" noChangeArrowheads="1"/>
          </p:cNvSpPr>
          <p:nvPr>
            <p:ph type="title"/>
          </p:nvPr>
        </p:nvSpPr>
        <p:spPr/>
        <p:txBody>
          <a:bodyPr/>
          <a:lstStyle/>
          <a:p>
            <a:pPr algn="ctr"/>
            <a:r>
              <a:rPr lang="zh-CN" altLang="en-US" smtClean="0">
                <a:solidFill>
                  <a:srgbClr val="000099"/>
                </a:solidFill>
                <a:ea typeface="黑体" panose="02010609060101010101" pitchFamily="49" charset="-122"/>
              </a:rPr>
              <a:t>两种常用种帧间间隔 </a:t>
            </a:r>
          </a:p>
        </p:txBody>
      </p:sp>
      <p:sp>
        <p:nvSpPr>
          <p:cNvPr id="2415619" name="Text Box 12"/>
          <p:cNvSpPr txBox="1">
            <a:spLocks noChangeArrowheads="1"/>
          </p:cNvSpPr>
          <p:nvPr/>
        </p:nvSpPr>
        <p:spPr bwMode="auto">
          <a:xfrm>
            <a:off x="9086850" y="302260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20" name="Text Box 15"/>
          <p:cNvSpPr txBox="1">
            <a:spLocks noChangeArrowheads="1"/>
          </p:cNvSpPr>
          <p:nvPr/>
        </p:nvSpPr>
        <p:spPr bwMode="auto">
          <a:xfrm>
            <a:off x="1697038" y="2916238"/>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5621" name="Line 18"/>
          <p:cNvSpPr>
            <a:spLocks noChangeShapeType="1"/>
          </p:cNvSpPr>
          <p:nvPr/>
        </p:nvSpPr>
        <p:spPr bwMode="auto">
          <a:xfrm>
            <a:off x="1697038" y="3257550"/>
            <a:ext cx="7683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2" name="Freeform 19"/>
          <p:cNvSpPr>
            <a:spLocks noChangeArrowheads="1"/>
          </p:cNvSpPr>
          <p:nvPr/>
        </p:nvSpPr>
        <p:spPr bwMode="auto">
          <a:xfrm>
            <a:off x="590550" y="3048000"/>
            <a:ext cx="1106488"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23" name="Text Box 20"/>
          <p:cNvSpPr txBox="1">
            <a:spLocks noChangeArrowheads="1"/>
          </p:cNvSpPr>
          <p:nvPr/>
        </p:nvSpPr>
        <p:spPr bwMode="auto">
          <a:xfrm>
            <a:off x="541338" y="3044825"/>
            <a:ext cx="1255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媒体空闲                                    </a:t>
            </a:r>
          </a:p>
        </p:txBody>
      </p:sp>
      <p:sp>
        <p:nvSpPr>
          <p:cNvPr id="2415624" name="Line 22"/>
          <p:cNvSpPr>
            <a:spLocks noChangeShapeType="1"/>
          </p:cNvSpPr>
          <p:nvPr/>
        </p:nvSpPr>
        <p:spPr bwMode="auto">
          <a:xfrm>
            <a:off x="1697038" y="3008313"/>
            <a:ext cx="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5" name="Line 23"/>
          <p:cNvSpPr>
            <a:spLocks noChangeShapeType="1"/>
          </p:cNvSpPr>
          <p:nvPr/>
        </p:nvSpPr>
        <p:spPr bwMode="auto">
          <a:xfrm flipV="1">
            <a:off x="2457450" y="3008313"/>
            <a:ext cx="9525" cy="419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317467" name="Text Box 27"/>
          <p:cNvSpPr txBox="1">
            <a:spLocks noChangeArrowheads="1"/>
          </p:cNvSpPr>
          <p:nvPr/>
        </p:nvSpPr>
        <p:spPr bwMode="auto">
          <a:xfrm>
            <a:off x="4278313" y="4618038"/>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5627" name="Line 30"/>
          <p:cNvSpPr>
            <a:spLocks noChangeShapeType="1"/>
          </p:cNvSpPr>
          <p:nvPr/>
        </p:nvSpPr>
        <p:spPr bwMode="auto">
          <a:xfrm flipH="1" flipV="1">
            <a:off x="4329113" y="4630738"/>
            <a:ext cx="0" cy="442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8" name="Line 32"/>
          <p:cNvSpPr>
            <a:spLocks noChangeShapeType="1"/>
          </p:cNvSpPr>
          <p:nvPr/>
        </p:nvSpPr>
        <p:spPr bwMode="auto">
          <a:xfrm>
            <a:off x="417513" y="59118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29" name="Text Box 33"/>
          <p:cNvSpPr txBox="1">
            <a:spLocks noChangeArrowheads="1"/>
          </p:cNvSpPr>
          <p:nvPr/>
        </p:nvSpPr>
        <p:spPr bwMode="auto">
          <a:xfrm>
            <a:off x="9086850" y="55165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30" name="Freeform 34"/>
          <p:cNvSpPr>
            <a:spLocks noChangeArrowheads="1"/>
          </p:cNvSpPr>
          <p:nvPr/>
        </p:nvSpPr>
        <p:spPr bwMode="auto">
          <a:xfrm>
            <a:off x="2454275" y="5535613"/>
            <a:ext cx="281305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1" name="Text Box 35"/>
          <p:cNvSpPr txBox="1">
            <a:spLocks noChangeArrowheads="1"/>
          </p:cNvSpPr>
          <p:nvPr/>
        </p:nvSpPr>
        <p:spPr bwMode="auto">
          <a:xfrm>
            <a:off x="2949575" y="5522913"/>
            <a:ext cx="1817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NAV</a:t>
            </a:r>
            <a:r>
              <a:rPr lang="zh-CN" altLang="en-US" b="1">
                <a:solidFill>
                  <a:srgbClr val="000099"/>
                </a:solidFill>
                <a:ea typeface="宋体" panose="02010600030101010101" pitchFamily="2" charset="-122"/>
              </a:rPr>
              <a:t>（媒体忙）</a:t>
            </a:r>
          </a:p>
        </p:txBody>
      </p:sp>
      <p:sp>
        <p:nvSpPr>
          <p:cNvPr id="2415632" name="Text Box 36"/>
          <p:cNvSpPr txBox="1">
            <a:spLocks noChangeArrowheads="1"/>
          </p:cNvSpPr>
          <p:nvPr/>
        </p:nvSpPr>
        <p:spPr bwMode="auto">
          <a:xfrm>
            <a:off x="5237163" y="4933950"/>
            <a:ext cx="709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5633" name="Line 37"/>
          <p:cNvSpPr>
            <a:spLocks noChangeShapeType="1"/>
          </p:cNvSpPr>
          <p:nvPr/>
        </p:nvSpPr>
        <p:spPr bwMode="auto">
          <a:xfrm flipV="1">
            <a:off x="5283200" y="5249863"/>
            <a:ext cx="7270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4" name="Line 38"/>
          <p:cNvSpPr>
            <a:spLocks noChangeShapeType="1"/>
          </p:cNvSpPr>
          <p:nvPr/>
        </p:nvSpPr>
        <p:spPr bwMode="auto">
          <a:xfrm flipH="1" flipV="1">
            <a:off x="5267325" y="4619625"/>
            <a:ext cx="0" cy="425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5" name="Line 39"/>
          <p:cNvSpPr>
            <a:spLocks noChangeShapeType="1"/>
          </p:cNvSpPr>
          <p:nvPr/>
        </p:nvSpPr>
        <p:spPr bwMode="auto">
          <a:xfrm>
            <a:off x="6010275" y="4619625"/>
            <a:ext cx="0" cy="858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6" name="Freeform 40"/>
          <p:cNvSpPr>
            <a:spLocks noChangeArrowheads="1"/>
          </p:cNvSpPr>
          <p:nvPr/>
        </p:nvSpPr>
        <p:spPr bwMode="auto">
          <a:xfrm>
            <a:off x="7391400" y="5535613"/>
            <a:ext cx="149860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7" name="Freeform 41"/>
          <p:cNvSpPr>
            <a:spLocks noChangeArrowheads="1"/>
          </p:cNvSpPr>
          <p:nvPr/>
        </p:nvSpPr>
        <p:spPr bwMode="auto">
          <a:xfrm>
            <a:off x="6003925" y="5535613"/>
            <a:ext cx="1387475" cy="376237"/>
          </a:xfrm>
          <a:custGeom>
            <a:avLst/>
            <a:gdLst>
              <a:gd name="T0" fmla="*/ 0 w 780"/>
              <a:gd name="T1" fmla="*/ 240 h 240"/>
              <a:gd name="T2" fmla="*/ 0 w 780"/>
              <a:gd name="T3" fmla="*/ 0 h 240"/>
              <a:gd name="T4" fmla="*/ 780 w 780"/>
              <a:gd name="T5" fmla="*/ 0 h 240"/>
            </a:gdLst>
            <a:ahLst/>
            <a:cxnLst>
              <a:cxn ang="0">
                <a:pos x="T0" y="T1"/>
              </a:cxn>
              <a:cxn ang="0">
                <a:pos x="T2" y="T3"/>
              </a:cxn>
              <a:cxn ang="0">
                <a:pos x="T4" y="T5"/>
              </a:cxn>
            </a:cxnLst>
            <a:rect l="0" t="0" r="r" b="b"/>
            <a:pathLst>
              <a:path w="780" h="240">
                <a:moveTo>
                  <a:pt x="0" y="240"/>
                </a:moveTo>
                <a:lnTo>
                  <a:pt x="0" y="0"/>
                </a:lnTo>
                <a:lnTo>
                  <a:pt x="780" y="0"/>
                </a:lnTo>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5638" name="Line 42"/>
          <p:cNvSpPr>
            <a:spLocks noChangeShapeType="1"/>
          </p:cNvSpPr>
          <p:nvPr/>
        </p:nvSpPr>
        <p:spPr bwMode="auto">
          <a:xfrm>
            <a:off x="6173788"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39" name="Line 43"/>
          <p:cNvSpPr>
            <a:spLocks noChangeShapeType="1"/>
          </p:cNvSpPr>
          <p:nvPr/>
        </p:nvSpPr>
        <p:spPr bwMode="auto">
          <a:xfrm>
            <a:off x="63436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0" name="Line 44"/>
          <p:cNvSpPr>
            <a:spLocks noChangeShapeType="1"/>
          </p:cNvSpPr>
          <p:nvPr/>
        </p:nvSpPr>
        <p:spPr bwMode="auto">
          <a:xfrm>
            <a:off x="651510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1" name="Line 45"/>
          <p:cNvSpPr>
            <a:spLocks noChangeShapeType="1"/>
          </p:cNvSpPr>
          <p:nvPr/>
        </p:nvSpPr>
        <p:spPr bwMode="auto">
          <a:xfrm>
            <a:off x="66865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2" name="Line 46"/>
          <p:cNvSpPr>
            <a:spLocks noChangeShapeType="1"/>
          </p:cNvSpPr>
          <p:nvPr/>
        </p:nvSpPr>
        <p:spPr bwMode="auto">
          <a:xfrm>
            <a:off x="6856413"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3" name="Line 47"/>
          <p:cNvSpPr>
            <a:spLocks noChangeShapeType="1"/>
          </p:cNvSpPr>
          <p:nvPr/>
        </p:nvSpPr>
        <p:spPr bwMode="auto">
          <a:xfrm>
            <a:off x="7027863"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4" name="Line 48"/>
          <p:cNvSpPr>
            <a:spLocks noChangeShapeType="1"/>
          </p:cNvSpPr>
          <p:nvPr/>
        </p:nvSpPr>
        <p:spPr bwMode="auto">
          <a:xfrm>
            <a:off x="7208838"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5" name="Line 49"/>
          <p:cNvSpPr>
            <a:spLocks noChangeShapeType="1"/>
          </p:cNvSpPr>
          <p:nvPr/>
        </p:nvSpPr>
        <p:spPr bwMode="auto">
          <a:xfrm>
            <a:off x="6040438" y="5257800"/>
            <a:ext cx="13843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46" name="Text Box 50"/>
          <p:cNvSpPr txBox="1">
            <a:spLocks noChangeArrowheads="1"/>
          </p:cNvSpPr>
          <p:nvPr/>
        </p:nvSpPr>
        <p:spPr bwMode="auto">
          <a:xfrm>
            <a:off x="6113463" y="48641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15647" name="Text Box 51"/>
          <p:cNvSpPr txBox="1">
            <a:spLocks noChangeArrowheads="1"/>
          </p:cNvSpPr>
          <p:nvPr/>
        </p:nvSpPr>
        <p:spPr bwMode="auto">
          <a:xfrm>
            <a:off x="7354888" y="5489575"/>
            <a:ext cx="1465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发送下一 帧</a:t>
            </a:r>
          </a:p>
        </p:txBody>
      </p:sp>
      <p:sp>
        <p:nvSpPr>
          <p:cNvPr id="2415648" name="AutoShape 52"/>
          <p:cNvSpPr>
            <a:spLocks/>
          </p:cNvSpPr>
          <p:nvPr/>
        </p:nvSpPr>
        <p:spPr bwMode="auto">
          <a:xfrm rot="-5400000">
            <a:off x="3802857" y="4634706"/>
            <a:ext cx="144462" cy="2784475"/>
          </a:xfrm>
          <a:prstGeom prst="leftBrace">
            <a:avLst>
              <a:gd name="adj1" fmla="val 14822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5649" name="AutoShape 53"/>
          <p:cNvSpPr>
            <a:spLocks/>
          </p:cNvSpPr>
          <p:nvPr/>
        </p:nvSpPr>
        <p:spPr bwMode="auto">
          <a:xfrm rot="-5400000">
            <a:off x="6641307" y="5325269"/>
            <a:ext cx="112712" cy="1352550"/>
          </a:xfrm>
          <a:prstGeom prst="leftBrace">
            <a:avLst>
              <a:gd name="adj1" fmla="val 922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5650" name="Text Box 54"/>
          <p:cNvSpPr txBox="1">
            <a:spLocks noChangeArrowheads="1"/>
          </p:cNvSpPr>
          <p:nvPr/>
        </p:nvSpPr>
        <p:spPr bwMode="auto">
          <a:xfrm>
            <a:off x="3300413" y="6022975"/>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推迟接入</a:t>
            </a:r>
          </a:p>
        </p:txBody>
      </p:sp>
      <p:sp>
        <p:nvSpPr>
          <p:cNvPr id="2415651" name="Text Box 55"/>
          <p:cNvSpPr txBox="1">
            <a:spLocks noChangeArrowheads="1"/>
          </p:cNvSpPr>
          <p:nvPr/>
        </p:nvSpPr>
        <p:spPr bwMode="auto">
          <a:xfrm>
            <a:off x="5876925" y="59753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等待重试时间</a:t>
            </a:r>
          </a:p>
        </p:txBody>
      </p:sp>
      <p:sp>
        <p:nvSpPr>
          <p:cNvPr id="2415652" name="Line 56"/>
          <p:cNvSpPr>
            <a:spLocks noChangeShapeType="1"/>
          </p:cNvSpPr>
          <p:nvPr/>
        </p:nvSpPr>
        <p:spPr bwMode="auto">
          <a:xfrm flipV="1">
            <a:off x="1684338" y="34480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3" name="Text Box 57"/>
          <p:cNvSpPr txBox="1">
            <a:spLocks noChangeArrowheads="1"/>
          </p:cNvSpPr>
          <p:nvPr/>
        </p:nvSpPr>
        <p:spPr bwMode="auto">
          <a:xfrm>
            <a:off x="1065213" y="364807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5654" name="Line 58"/>
          <p:cNvSpPr>
            <a:spLocks noChangeShapeType="1"/>
          </p:cNvSpPr>
          <p:nvPr/>
        </p:nvSpPr>
        <p:spPr bwMode="auto">
          <a:xfrm>
            <a:off x="7423150" y="5097463"/>
            <a:ext cx="0" cy="368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5" name="Text Box 59"/>
          <p:cNvSpPr txBox="1">
            <a:spLocks noChangeArrowheads="1"/>
          </p:cNvSpPr>
          <p:nvPr/>
        </p:nvSpPr>
        <p:spPr bwMode="auto">
          <a:xfrm>
            <a:off x="122238" y="34083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15656" name="Text Box 61"/>
          <p:cNvSpPr txBox="1">
            <a:spLocks noChangeArrowheads="1"/>
          </p:cNvSpPr>
          <p:nvPr/>
        </p:nvSpPr>
        <p:spPr bwMode="auto">
          <a:xfrm>
            <a:off x="9086850" y="419735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5657" name="Text Box 62"/>
          <p:cNvSpPr txBox="1">
            <a:spLocks noChangeArrowheads="1"/>
          </p:cNvSpPr>
          <p:nvPr/>
        </p:nvSpPr>
        <p:spPr bwMode="auto">
          <a:xfrm>
            <a:off x="103188" y="454183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15658" name="Line 64"/>
          <p:cNvSpPr>
            <a:spLocks noChangeShapeType="1"/>
          </p:cNvSpPr>
          <p:nvPr/>
        </p:nvSpPr>
        <p:spPr bwMode="auto">
          <a:xfrm flipH="1">
            <a:off x="4951413" y="4622800"/>
            <a:ext cx="1587" cy="428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59" name="Text Box 65"/>
          <p:cNvSpPr txBox="1">
            <a:spLocks noChangeArrowheads="1"/>
          </p:cNvSpPr>
          <p:nvPr/>
        </p:nvSpPr>
        <p:spPr bwMode="auto">
          <a:xfrm>
            <a:off x="5822950" y="3860800"/>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ACK</a:t>
            </a:r>
          </a:p>
        </p:txBody>
      </p:sp>
      <p:sp>
        <p:nvSpPr>
          <p:cNvPr id="2415660" name="Line 66"/>
          <p:cNvSpPr>
            <a:spLocks noChangeShapeType="1"/>
          </p:cNvSpPr>
          <p:nvPr/>
        </p:nvSpPr>
        <p:spPr bwMode="auto">
          <a:xfrm>
            <a:off x="5264150" y="3427413"/>
            <a:ext cx="3175"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317507" name="Text Box 67"/>
          <p:cNvSpPr txBox="1">
            <a:spLocks noChangeArrowheads="1"/>
          </p:cNvSpPr>
          <p:nvPr/>
        </p:nvSpPr>
        <p:spPr bwMode="auto">
          <a:xfrm>
            <a:off x="5202238" y="5300663"/>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5662" name="Line 68"/>
          <p:cNvSpPr>
            <a:spLocks noChangeShapeType="1"/>
          </p:cNvSpPr>
          <p:nvPr/>
        </p:nvSpPr>
        <p:spPr bwMode="auto">
          <a:xfrm>
            <a:off x="5865813" y="5559425"/>
            <a:ext cx="0" cy="150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3" name="Line 69"/>
          <p:cNvSpPr>
            <a:spLocks noChangeShapeType="1"/>
          </p:cNvSpPr>
          <p:nvPr/>
        </p:nvSpPr>
        <p:spPr bwMode="auto">
          <a:xfrm>
            <a:off x="2452688" y="3448050"/>
            <a:ext cx="0" cy="2036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4" name="Text Box 70"/>
          <p:cNvSpPr txBox="1">
            <a:spLocks noChangeArrowheads="1"/>
          </p:cNvSpPr>
          <p:nvPr/>
        </p:nvSpPr>
        <p:spPr bwMode="auto">
          <a:xfrm>
            <a:off x="66675" y="5876925"/>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15665" name="Line 71"/>
          <p:cNvSpPr>
            <a:spLocks noChangeShapeType="1"/>
          </p:cNvSpPr>
          <p:nvPr/>
        </p:nvSpPr>
        <p:spPr bwMode="auto">
          <a:xfrm flipV="1">
            <a:off x="2452688" y="59372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6" name="Text Box 72"/>
          <p:cNvSpPr txBox="1">
            <a:spLocks noChangeArrowheads="1"/>
          </p:cNvSpPr>
          <p:nvPr/>
        </p:nvSpPr>
        <p:spPr bwMode="auto">
          <a:xfrm>
            <a:off x="1808163" y="6156325"/>
            <a:ext cx="1338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5667" name="Line 73"/>
          <p:cNvSpPr>
            <a:spLocks noChangeShapeType="1"/>
          </p:cNvSpPr>
          <p:nvPr/>
        </p:nvSpPr>
        <p:spPr bwMode="auto">
          <a:xfrm>
            <a:off x="4373563" y="4991100"/>
            <a:ext cx="579437" cy="4763"/>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8" name="Line 74"/>
          <p:cNvSpPr>
            <a:spLocks noChangeShapeType="1"/>
          </p:cNvSpPr>
          <p:nvPr/>
        </p:nvSpPr>
        <p:spPr bwMode="auto">
          <a:xfrm flipV="1">
            <a:off x="5273675" y="5632450"/>
            <a:ext cx="574675" cy="158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69" name="Text Box 76"/>
          <p:cNvSpPr txBox="1">
            <a:spLocks noChangeArrowheads="1"/>
          </p:cNvSpPr>
          <p:nvPr/>
        </p:nvSpPr>
        <p:spPr bwMode="auto">
          <a:xfrm>
            <a:off x="328613" y="1682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317517" name="Text Box 77"/>
          <p:cNvSpPr txBox="1">
            <a:spLocks noChangeArrowheads="1"/>
          </p:cNvSpPr>
          <p:nvPr/>
        </p:nvSpPr>
        <p:spPr bwMode="auto">
          <a:xfrm>
            <a:off x="293688" y="71438"/>
            <a:ext cx="9555162" cy="1196975"/>
          </a:xfrm>
          <a:prstGeom prst="rect">
            <a:avLst/>
          </a:prstGeom>
          <a:solidFill>
            <a:srgbClr val="FFFF99"/>
          </a:solidFill>
          <a:ln w="9525">
            <a:solidFill>
              <a:srgbClr val="333399"/>
            </a:solidFill>
            <a:miter lim="800000"/>
            <a:headEnd/>
            <a:tailEnd/>
          </a:ln>
        </p:spPr>
        <p:txBody>
          <a:bodyPr>
            <a:spAutoFit/>
          </a:bodyPr>
          <a:lstStyle/>
          <a:p>
            <a:pPr eaLnBrk="0" hangingPunct="0"/>
            <a:r>
              <a:rPr lang="en-US" altLang="zh-CN" sz="2400" b="1" dirty="0">
                <a:solidFill>
                  <a:srgbClr val="FF0000"/>
                </a:solidFill>
                <a:ea typeface="宋体" panose="02010600030101010101" pitchFamily="2" charset="-122"/>
              </a:rPr>
              <a:t>SIFS</a:t>
            </a:r>
            <a:r>
              <a:rPr lang="zh-CN" altLang="en-US" sz="2400" b="1" dirty="0">
                <a:solidFill>
                  <a:srgbClr val="000099"/>
                </a:solidFill>
                <a:ea typeface="宋体" panose="02010600030101010101" pitchFamily="2" charset="-122"/>
              </a:rPr>
              <a:t>，即</a:t>
            </a:r>
            <a:r>
              <a:rPr lang="zh-CN" altLang="en-US" sz="2400" b="1" dirty="0">
                <a:solidFill>
                  <a:srgbClr val="C00000"/>
                </a:solidFill>
                <a:ea typeface="宋体" panose="02010600030101010101" pitchFamily="2" charset="-122"/>
              </a:rPr>
              <a:t>短 </a:t>
            </a:r>
            <a:r>
              <a:rPr lang="en-US" altLang="zh-CN" sz="2400" b="1" dirty="0">
                <a:solidFill>
                  <a:srgbClr val="C00000"/>
                </a:solidFill>
                <a:ea typeface="宋体" panose="02010600030101010101" pitchFamily="2" charset="-122"/>
              </a:rPr>
              <a:t>(Short) </a:t>
            </a:r>
            <a:r>
              <a:rPr lang="zh-CN" altLang="en-US" sz="2400" b="1" dirty="0">
                <a:solidFill>
                  <a:srgbClr val="C00000"/>
                </a:solidFill>
                <a:ea typeface="宋体" panose="02010600030101010101" pitchFamily="2" charset="-122"/>
              </a:rPr>
              <a:t>帧间间隔，</a:t>
            </a:r>
            <a:r>
              <a:rPr lang="zh-CN" altLang="zh-CN" sz="2400" b="1" dirty="0">
                <a:solidFill>
                  <a:srgbClr val="000099"/>
                </a:solidFill>
                <a:ea typeface="宋体" panose="02010600030101010101" pitchFamily="2" charset="-122"/>
              </a:rPr>
              <a:t>长度为</a:t>
            </a:r>
            <a:r>
              <a:rPr lang="en-US" altLang="zh-CN" sz="2400" b="1" dirty="0">
                <a:solidFill>
                  <a:srgbClr val="000099"/>
                </a:solidFill>
                <a:ea typeface="宋体" panose="02010600030101010101" pitchFamily="2" charset="-122"/>
              </a:rPr>
              <a:t> 28 </a:t>
            </a:r>
            <a:r>
              <a:rPr lang="en-US" altLang="zh-CN" sz="2400" b="1" dirty="0">
                <a:solidFill>
                  <a:srgbClr val="000099"/>
                </a:solidFill>
                <a:ea typeface="宋体" panose="02010600030101010101" pitchFamily="2" charset="-122"/>
                <a:sym typeface="Symbol" panose="05050102010706020507" pitchFamily="18" charset="2"/>
              </a:rPr>
              <a:t></a:t>
            </a:r>
            <a:r>
              <a:rPr lang="en-US" altLang="zh-CN" sz="2400" b="1" dirty="0">
                <a:solidFill>
                  <a:srgbClr val="000099"/>
                </a:solidFill>
                <a:ea typeface="宋体" panose="02010600030101010101" pitchFamily="2" charset="-122"/>
              </a:rPr>
              <a:t>s</a:t>
            </a:r>
            <a:r>
              <a:rPr lang="zh-CN" altLang="en-US" sz="2400" b="1" dirty="0">
                <a:solidFill>
                  <a:srgbClr val="000099"/>
                </a:solidFill>
                <a:ea typeface="宋体" panose="02010600030101010101" pitchFamily="2" charset="-122"/>
              </a:rPr>
              <a:t>，是</a:t>
            </a:r>
            <a:r>
              <a:rPr lang="zh-CN" altLang="en-US" sz="2400" b="1" dirty="0">
                <a:solidFill>
                  <a:srgbClr val="0000FF"/>
                </a:solidFill>
                <a:ea typeface="宋体" panose="02010600030101010101" pitchFamily="2" charset="-122"/>
              </a:rPr>
              <a:t>最短的帧间间隔</a:t>
            </a:r>
            <a:r>
              <a:rPr lang="zh-CN" altLang="en-US" sz="2400" b="1" dirty="0">
                <a:solidFill>
                  <a:srgbClr val="000099"/>
                </a:solidFill>
                <a:ea typeface="宋体" panose="02010600030101010101" pitchFamily="2" charset="-122"/>
              </a:rPr>
              <a:t>，用来分隔开</a:t>
            </a:r>
            <a:r>
              <a:rPr lang="zh-CN" altLang="en-US" sz="2400" b="1" dirty="0">
                <a:solidFill>
                  <a:srgbClr val="0000FF"/>
                </a:solidFill>
                <a:ea typeface="宋体" panose="02010600030101010101" pitchFamily="2" charset="-122"/>
              </a:rPr>
              <a:t>属于一次对话的各帧</a:t>
            </a:r>
            <a:r>
              <a:rPr lang="zh-CN" altLang="en-US" sz="2400" b="1" dirty="0">
                <a:solidFill>
                  <a:srgbClr val="000099"/>
                </a:solidFill>
                <a:ea typeface="宋体" panose="02010600030101010101" pitchFamily="2" charset="-122"/>
              </a:rPr>
              <a:t>。一个站应当能够在这段时间内从发送方式切换到接收方式。</a:t>
            </a:r>
          </a:p>
        </p:txBody>
      </p:sp>
      <p:sp>
        <p:nvSpPr>
          <p:cNvPr id="317518" name="Text Box 78"/>
          <p:cNvSpPr txBox="1">
            <a:spLocks noChangeArrowheads="1"/>
          </p:cNvSpPr>
          <p:nvPr/>
        </p:nvSpPr>
        <p:spPr bwMode="auto">
          <a:xfrm>
            <a:off x="3392488" y="1339850"/>
            <a:ext cx="6438900" cy="923330"/>
          </a:xfrm>
          <a:prstGeom prst="rect">
            <a:avLst/>
          </a:prstGeom>
          <a:solidFill>
            <a:srgbClr val="CCECFF"/>
          </a:solidFill>
          <a:ln w="9525">
            <a:solidFill>
              <a:srgbClr val="333399"/>
            </a:solidFill>
            <a:miter lim="800000"/>
            <a:headEnd/>
            <a:tailEnd/>
          </a:ln>
        </p:spPr>
        <p:txBody>
          <a:bodyPr>
            <a:spAutoFit/>
          </a:bodyPr>
          <a:lstStyle/>
          <a:p>
            <a:pPr eaLnBrk="0" hangingPunct="0"/>
            <a:r>
              <a:rPr lang="zh-CN" altLang="en-US" b="1" dirty="0">
                <a:solidFill>
                  <a:srgbClr val="000099"/>
                </a:solidFill>
                <a:ea typeface="宋体" panose="02010600030101010101" pitchFamily="2" charset="-122"/>
              </a:rPr>
              <a:t>使用 </a:t>
            </a:r>
            <a:r>
              <a:rPr lang="en-US" altLang="zh-CN" b="1" dirty="0">
                <a:solidFill>
                  <a:srgbClr val="000099"/>
                </a:solidFill>
                <a:ea typeface="宋体" panose="02010600030101010101" pitchFamily="2" charset="-122"/>
              </a:rPr>
              <a:t>SIFS </a:t>
            </a:r>
            <a:r>
              <a:rPr lang="zh-CN" altLang="en-US" b="1" dirty="0">
                <a:solidFill>
                  <a:srgbClr val="000099"/>
                </a:solidFill>
                <a:ea typeface="宋体" panose="02010600030101010101" pitchFamily="2" charset="-122"/>
              </a:rPr>
              <a:t>的帧类型有：</a:t>
            </a:r>
            <a:r>
              <a:rPr lang="en-US" altLang="zh-CN" b="1" dirty="0">
                <a:solidFill>
                  <a:srgbClr val="0000FF"/>
                </a:solidFill>
                <a:ea typeface="宋体" panose="02010600030101010101" pitchFamily="2" charset="-122"/>
              </a:rPr>
              <a:t>ACK </a:t>
            </a:r>
            <a:r>
              <a:rPr lang="zh-CN" altLang="en-US" b="1" dirty="0">
                <a:solidFill>
                  <a:srgbClr val="0000FF"/>
                </a:solidFill>
                <a:ea typeface="宋体" panose="02010600030101010101" pitchFamily="2" charset="-122"/>
              </a:rPr>
              <a:t>帧</a:t>
            </a:r>
            <a:r>
              <a:rPr lang="zh-CN" altLang="en-US" b="1" dirty="0">
                <a:solidFill>
                  <a:srgbClr val="000099"/>
                </a:solidFill>
                <a:ea typeface="宋体" panose="02010600030101010101" pitchFamily="2" charset="-122"/>
              </a:rPr>
              <a:t>、</a:t>
            </a:r>
            <a:r>
              <a:rPr lang="en-US" altLang="zh-CN" b="1" dirty="0">
                <a:solidFill>
                  <a:srgbClr val="0000FF"/>
                </a:solidFill>
                <a:ea typeface="宋体" panose="02010600030101010101" pitchFamily="2" charset="-122"/>
              </a:rPr>
              <a:t>CTS </a:t>
            </a:r>
            <a:r>
              <a:rPr lang="zh-CN" altLang="en-US" b="1" dirty="0">
                <a:solidFill>
                  <a:srgbClr val="0000FF"/>
                </a:solidFill>
                <a:ea typeface="宋体" panose="02010600030101010101" pitchFamily="2" charset="-122"/>
              </a:rPr>
              <a:t>帧</a:t>
            </a:r>
            <a:r>
              <a:rPr lang="zh-CN" altLang="en-US" b="1" dirty="0">
                <a:solidFill>
                  <a:srgbClr val="000099"/>
                </a:solidFill>
                <a:ea typeface="宋体" panose="02010600030101010101" pitchFamily="2" charset="-122"/>
              </a:rPr>
              <a:t>、由过长的 </a:t>
            </a:r>
            <a:r>
              <a:rPr lang="en-US" altLang="zh-CN" b="1" dirty="0">
                <a:solidFill>
                  <a:srgbClr val="000099"/>
                </a:solidFill>
                <a:ea typeface="宋体" panose="02010600030101010101" pitchFamily="2" charset="-122"/>
              </a:rPr>
              <a:t>MAC </a:t>
            </a:r>
            <a:r>
              <a:rPr lang="zh-CN" altLang="en-US" b="1" dirty="0">
                <a:solidFill>
                  <a:srgbClr val="000099"/>
                </a:solidFill>
                <a:ea typeface="宋体" panose="02010600030101010101" pitchFamily="2" charset="-122"/>
              </a:rPr>
              <a:t>帧</a:t>
            </a:r>
            <a:r>
              <a:rPr lang="zh-CN" altLang="en-US" b="1" dirty="0">
                <a:solidFill>
                  <a:srgbClr val="0000FF"/>
                </a:solidFill>
                <a:ea typeface="宋体" panose="02010600030101010101" pitchFamily="2" charset="-122"/>
              </a:rPr>
              <a:t>分片后的数据帧</a:t>
            </a:r>
            <a:r>
              <a:rPr lang="zh-CN" altLang="en-US" b="1" dirty="0">
                <a:solidFill>
                  <a:srgbClr val="000099"/>
                </a:solidFill>
                <a:ea typeface="宋体" panose="02010600030101010101" pitchFamily="2" charset="-122"/>
              </a:rPr>
              <a:t>，以及所有</a:t>
            </a:r>
            <a:r>
              <a:rPr lang="zh-CN" altLang="en-US" b="1" dirty="0">
                <a:solidFill>
                  <a:srgbClr val="0000FF"/>
                </a:solidFill>
                <a:ea typeface="宋体" panose="02010600030101010101" pitchFamily="2" charset="-122"/>
              </a:rPr>
              <a:t>回答 </a:t>
            </a:r>
            <a:r>
              <a:rPr lang="en-US" altLang="zh-CN" b="1" dirty="0">
                <a:solidFill>
                  <a:srgbClr val="000099"/>
                </a:solidFill>
                <a:ea typeface="宋体" panose="02010600030101010101" pitchFamily="2" charset="-122"/>
              </a:rPr>
              <a:t>AP </a:t>
            </a:r>
            <a:r>
              <a:rPr lang="zh-CN" altLang="en-US" b="1" dirty="0">
                <a:solidFill>
                  <a:srgbClr val="000099"/>
                </a:solidFill>
                <a:ea typeface="宋体" panose="02010600030101010101" pitchFamily="2" charset="-122"/>
              </a:rPr>
              <a:t>探询的帧和在 </a:t>
            </a:r>
            <a:r>
              <a:rPr lang="en-US" altLang="zh-CN" b="1" dirty="0">
                <a:solidFill>
                  <a:srgbClr val="000099"/>
                </a:solidFill>
                <a:ea typeface="宋体" panose="02010600030101010101" pitchFamily="2" charset="-122"/>
              </a:rPr>
              <a:t>PCF </a:t>
            </a:r>
            <a:r>
              <a:rPr lang="zh-CN" altLang="en-US" b="1" dirty="0">
                <a:solidFill>
                  <a:srgbClr val="000099"/>
                </a:solidFill>
                <a:ea typeface="宋体" panose="02010600030101010101" pitchFamily="2" charset="-122"/>
              </a:rPr>
              <a:t>方式中接入点 </a:t>
            </a:r>
            <a:r>
              <a:rPr lang="en-US" altLang="zh-CN" b="1" dirty="0">
                <a:solidFill>
                  <a:srgbClr val="0000FF"/>
                </a:solidFill>
                <a:ea typeface="宋体" panose="02010600030101010101" pitchFamily="2" charset="-122"/>
              </a:rPr>
              <a:t>AP </a:t>
            </a:r>
            <a:r>
              <a:rPr lang="zh-CN" altLang="en-US" b="1" dirty="0">
                <a:solidFill>
                  <a:srgbClr val="0000FF"/>
                </a:solidFill>
                <a:ea typeface="宋体" panose="02010600030101010101" pitchFamily="2" charset="-122"/>
              </a:rPr>
              <a:t>发送出的任何帧</a:t>
            </a:r>
            <a:r>
              <a:rPr lang="zh-CN" altLang="en-US" b="1" dirty="0">
                <a:solidFill>
                  <a:srgbClr val="000099"/>
                </a:solidFill>
                <a:ea typeface="宋体" panose="02010600030101010101" pitchFamily="2" charset="-122"/>
              </a:rPr>
              <a:t>。</a:t>
            </a:r>
          </a:p>
        </p:txBody>
      </p:sp>
      <p:sp>
        <p:nvSpPr>
          <p:cNvPr id="2415672" name="Line 80"/>
          <p:cNvSpPr>
            <a:spLocks noChangeShapeType="1"/>
          </p:cNvSpPr>
          <p:nvPr/>
        </p:nvSpPr>
        <p:spPr bwMode="auto">
          <a:xfrm>
            <a:off x="2457450"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3" name="Line 81"/>
          <p:cNvSpPr>
            <a:spLocks noChangeShapeType="1"/>
          </p:cNvSpPr>
          <p:nvPr/>
        </p:nvSpPr>
        <p:spPr bwMode="auto">
          <a:xfrm>
            <a:off x="417353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4" name="Line 82"/>
          <p:cNvSpPr>
            <a:spLocks noChangeShapeType="1"/>
          </p:cNvSpPr>
          <p:nvPr/>
        </p:nvSpPr>
        <p:spPr bwMode="auto">
          <a:xfrm flipH="1">
            <a:off x="5110163" y="3427413"/>
            <a:ext cx="153987"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5" name="Line 83"/>
          <p:cNvSpPr>
            <a:spLocks noChangeShapeType="1"/>
          </p:cNvSpPr>
          <p:nvPr/>
        </p:nvSpPr>
        <p:spPr bwMode="auto">
          <a:xfrm flipH="1">
            <a:off x="495458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76" name="Freeform 86"/>
          <p:cNvSpPr>
            <a:spLocks noChangeArrowheads="1"/>
          </p:cNvSpPr>
          <p:nvPr/>
        </p:nvSpPr>
        <p:spPr bwMode="auto">
          <a:xfrm>
            <a:off x="2457450" y="3427413"/>
            <a:ext cx="187166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5677" name="AutoShape 84"/>
          <p:cNvSpPr>
            <a:spLocks noChangeArrowheads="1"/>
          </p:cNvSpPr>
          <p:nvPr/>
        </p:nvSpPr>
        <p:spPr bwMode="auto">
          <a:xfrm rot="-561028">
            <a:off x="3314700" y="3787775"/>
            <a:ext cx="233363" cy="720725"/>
          </a:xfrm>
          <a:prstGeom prst="downArrow">
            <a:avLst>
              <a:gd name="adj1" fmla="val 50000"/>
              <a:gd name="adj2" fmla="val 83645"/>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5678" name="Text Box 26"/>
          <p:cNvSpPr txBox="1">
            <a:spLocks noChangeArrowheads="1"/>
          </p:cNvSpPr>
          <p:nvPr/>
        </p:nvSpPr>
        <p:spPr bwMode="auto">
          <a:xfrm>
            <a:off x="2613025" y="3427413"/>
            <a:ext cx="1370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发送第 </a:t>
            </a:r>
            <a:r>
              <a:rPr lang="en-US" altLang="zh-CN" b="1">
                <a:solidFill>
                  <a:srgbClr val="000099"/>
                </a:solidFill>
                <a:ea typeface="宋体" panose="02010600030101010101" pitchFamily="2" charset="-122"/>
              </a:rPr>
              <a:t>1 </a:t>
            </a:r>
            <a:r>
              <a:rPr lang="zh-CN" altLang="en-US" b="1">
                <a:solidFill>
                  <a:srgbClr val="000099"/>
                </a:solidFill>
                <a:ea typeface="宋体" panose="02010600030101010101" pitchFamily="2" charset="-122"/>
              </a:rPr>
              <a:t>帧</a:t>
            </a:r>
          </a:p>
        </p:txBody>
      </p:sp>
      <p:sp>
        <p:nvSpPr>
          <p:cNvPr id="2415679" name="Freeform 88"/>
          <p:cNvSpPr>
            <a:spLocks noChangeArrowheads="1"/>
          </p:cNvSpPr>
          <p:nvPr/>
        </p:nvSpPr>
        <p:spPr bwMode="auto">
          <a:xfrm>
            <a:off x="4953000" y="3427413"/>
            <a:ext cx="311150"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5680" name="Line 60"/>
          <p:cNvSpPr>
            <a:spLocks noChangeShapeType="1"/>
          </p:cNvSpPr>
          <p:nvPr/>
        </p:nvSpPr>
        <p:spPr bwMode="auto">
          <a:xfrm>
            <a:off x="415925" y="4578350"/>
            <a:ext cx="920273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1" name="Line 11"/>
          <p:cNvSpPr>
            <a:spLocks noChangeShapeType="1"/>
          </p:cNvSpPr>
          <p:nvPr/>
        </p:nvSpPr>
        <p:spPr bwMode="auto">
          <a:xfrm>
            <a:off x="417513" y="34226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2" name="Line 89"/>
          <p:cNvSpPr>
            <a:spLocks noChangeShapeType="1"/>
          </p:cNvSpPr>
          <p:nvPr/>
        </p:nvSpPr>
        <p:spPr bwMode="auto">
          <a:xfrm flipV="1">
            <a:off x="5087938" y="3746500"/>
            <a:ext cx="61912" cy="479425"/>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5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E8CCD7-C7E6-40C4-8478-D9EDE5A1D7D9}" type="slidenum">
              <a:rPr lang="zh-CN" altLang="en-US" smtClean="0"/>
              <a:pPr eaLnBrk="1" hangingPunct="1"/>
              <a:t>33</a:t>
            </a:fld>
            <a:endParaRPr lang="en-US" altLang="zh-CN" smtClean="0"/>
          </a:p>
        </p:txBody>
      </p:sp>
      <p:sp>
        <p:nvSpPr>
          <p:cNvPr id="2415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17"/>
                                        </p:tgtEl>
                                        <p:attrNameLst>
                                          <p:attrName>style.visibility</p:attrName>
                                        </p:attrNameLst>
                                      </p:cBhvr>
                                      <p:to>
                                        <p:strVal val="visible"/>
                                      </p:to>
                                    </p:set>
                                  </p:childTnLst>
                                </p:cTn>
                              </p:par>
                              <p:par>
                                <p:cTn id="7" presetID="35" presetClass="emph" presetSubtype="0" repeatCount="4000" fill="hold" grpId="0" nodeType="withEffect">
                                  <p:stCondLst>
                                    <p:cond delay="0"/>
                                  </p:stCondLst>
                                  <p:childTnLst>
                                    <p:anim calcmode="discrete" valueType="str">
                                      <p:cBhvr>
                                        <p:cTn id="8" dur="500" fill="hold"/>
                                        <p:tgtEl>
                                          <p:spTgt spid="317467"/>
                                        </p:tgtEl>
                                        <p:attrNameLst>
                                          <p:attrName>style.visibility</p:attrName>
                                        </p:attrNameLst>
                                      </p:cBhvr>
                                      <p:tavLst>
                                        <p:tav tm="0">
                                          <p:val>
                                            <p:strVal val="hidden"/>
                                          </p:val>
                                        </p:tav>
                                        <p:tav tm="50000">
                                          <p:val>
                                            <p:strVal val="visible"/>
                                          </p:val>
                                        </p:tav>
                                      </p:tavLst>
                                    </p:anim>
                                  </p:childTnLst>
                                </p:cTn>
                              </p:par>
                              <p:par>
                                <p:cTn id="9" presetID="35" presetClass="emph" presetSubtype="0" repeatCount="4000" fill="hold" grpId="0" nodeType="withEffect">
                                  <p:stCondLst>
                                    <p:cond delay="0"/>
                                  </p:stCondLst>
                                  <p:childTnLst>
                                    <p:anim calcmode="discrete" valueType="str">
                                      <p:cBhvr>
                                        <p:cTn id="10" dur="500" fill="hold"/>
                                        <p:tgtEl>
                                          <p:spTgt spid="317507"/>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518"/>
                                        </p:tgtEl>
                                        <p:attrNameLst>
                                          <p:attrName>style.visibility</p:attrName>
                                        </p:attrNameLst>
                                      </p:cBhvr>
                                      <p:to>
                                        <p:strVal val="visible"/>
                                      </p:to>
                                    </p:set>
                                  </p:childTnLst>
                                </p:cTn>
                              </p:par>
                              <p:par>
                                <p:cTn id="15" presetID="35" presetClass="emph" presetSubtype="0" repeatCount="4000" fill="hold" grpId="0" nodeType="withEffect">
                                  <p:stCondLst>
                                    <p:cond delay="0"/>
                                  </p:stCondLst>
                                  <p:childTnLst>
                                    <p:anim calcmode="discrete" valueType="str">
                                      <p:cBhvr>
                                        <p:cTn id="16" dur="500" fill="hold"/>
                                        <p:tgtEl>
                                          <p:spTgt spid="3175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30" grpId="0"/>
      <p:bldP spid="317467" grpId="0"/>
      <p:bldP spid="317507" grpId="0"/>
      <p:bldP spid="317517" grpId="0" animBg="1"/>
      <p:bldP spid="3175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41" name="Text Box 90"/>
          <p:cNvSpPr txBox="1">
            <a:spLocks noChangeArrowheads="1"/>
          </p:cNvSpPr>
          <p:nvPr/>
        </p:nvSpPr>
        <p:spPr bwMode="auto">
          <a:xfrm rot="-4974934">
            <a:off x="4545013" y="3714750"/>
            <a:ext cx="6842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ACK</a:t>
            </a:r>
          </a:p>
        </p:txBody>
      </p:sp>
      <p:sp>
        <p:nvSpPr>
          <p:cNvPr id="2416642" name="Rectangle 6"/>
          <p:cNvSpPr>
            <a:spLocks noGrp="1" noChangeArrowheads="1"/>
          </p:cNvSpPr>
          <p:nvPr>
            <p:ph type="title"/>
          </p:nvPr>
        </p:nvSpPr>
        <p:spPr/>
        <p:txBody>
          <a:bodyPr/>
          <a:lstStyle/>
          <a:p>
            <a:pPr algn="ctr"/>
            <a:r>
              <a:rPr lang="zh-CN" altLang="zh-CN" smtClean="0">
                <a:latin typeface="Times New Roman" panose="02020603050405020304" pitchFamily="18" charset="0"/>
                <a:ea typeface="黑体" panose="02010609060101010101" pitchFamily="49" charset="-122"/>
              </a:rPr>
              <a:t>两种常用</a:t>
            </a:r>
            <a:r>
              <a:rPr lang="zh-CN" altLang="en-US" smtClean="0">
                <a:solidFill>
                  <a:srgbClr val="000099"/>
                </a:solidFill>
                <a:ea typeface="黑体" panose="02010609060101010101" pitchFamily="49" charset="-122"/>
              </a:rPr>
              <a:t>帧间间隔 </a:t>
            </a:r>
          </a:p>
        </p:txBody>
      </p:sp>
      <p:sp>
        <p:nvSpPr>
          <p:cNvPr id="2416643" name="Text Box 12"/>
          <p:cNvSpPr txBox="1">
            <a:spLocks noChangeArrowheads="1"/>
          </p:cNvSpPr>
          <p:nvPr/>
        </p:nvSpPr>
        <p:spPr bwMode="auto">
          <a:xfrm>
            <a:off x="9086850" y="302260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317455" name="Text Box 15"/>
          <p:cNvSpPr txBox="1">
            <a:spLocks noChangeArrowheads="1"/>
          </p:cNvSpPr>
          <p:nvPr/>
        </p:nvSpPr>
        <p:spPr bwMode="auto">
          <a:xfrm>
            <a:off x="1697038" y="2916238"/>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6645" name="Line 18"/>
          <p:cNvSpPr>
            <a:spLocks noChangeShapeType="1"/>
          </p:cNvSpPr>
          <p:nvPr/>
        </p:nvSpPr>
        <p:spPr bwMode="auto">
          <a:xfrm>
            <a:off x="1697038" y="3257550"/>
            <a:ext cx="7683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46" name="Freeform 19"/>
          <p:cNvSpPr>
            <a:spLocks noChangeArrowheads="1"/>
          </p:cNvSpPr>
          <p:nvPr/>
        </p:nvSpPr>
        <p:spPr bwMode="auto">
          <a:xfrm>
            <a:off x="590550" y="3048000"/>
            <a:ext cx="1106488"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47" name="Text Box 20"/>
          <p:cNvSpPr txBox="1">
            <a:spLocks noChangeArrowheads="1"/>
          </p:cNvSpPr>
          <p:nvPr/>
        </p:nvSpPr>
        <p:spPr bwMode="auto">
          <a:xfrm>
            <a:off x="541338" y="3044825"/>
            <a:ext cx="1255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媒体空闲                                    </a:t>
            </a:r>
          </a:p>
        </p:txBody>
      </p:sp>
      <p:sp>
        <p:nvSpPr>
          <p:cNvPr id="2416648" name="Line 22"/>
          <p:cNvSpPr>
            <a:spLocks noChangeShapeType="1"/>
          </p:cNvSpPr>
          <p:nvPr/>
        </p:nvSpPr>
        <p:spPr bwMode="auto">
          <a:xfrm>
            <a:off x="1697038" y="3008313"/>
            <a:ext cx="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49" name="Line 23"/>
          <p:cNvSpPr>
            <a:spLocks noChangeShapeType="1"/>
          </p:cNvSpPr>
          <p:nvPr/>
        </p:nvSpPr>
        <p:spPr bwMode="auto">
          <a:xfrm flipV="1">
            <a:off x="2457450" y="3008313"/>
            <a:ext cx="9525" cy="419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0" name="Text Box 27"/>
          <p:cNvSpPr txBox="1">
            <a:spLocks noChangeArrowheads="1"/>
          </p:cNvSpPr>
          <p:nvPr/>
        </p:nvSpPr>
        <p:spPr bwMode="auto">
          <a:xfrm>
            <a:off x="4278313" y="4618038"/>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6651" name="Line 30"/>
          <p:cNvSpPr>
            <a:spLocks noChangeShapeType="1"/>
          </p:cNvSpPr>
          <p:nvPr/>
        </p:nvSpPr>
        <p:spPr bwMode="auto">
          <a:xfrm flipH="1" flipV="1">
            <a:off x="4329113" y="4630738"/>
            <a:ext cx="0" cy="442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2" name="Line 32"/>
          <p:cNvSpPr>
            <a:spLocks noChangeShapeType="1"/>
          </p:cNvSpPr>
          <p:nvPr/>
        </p:nvSpPr>
        <p:spPr bwMode="auto">
          <a:xfrm>
            <a:off x="417513" y="59118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3" name="Text Box 33"/>
          <p:cNvSpPr txBox="1">
            <a:spLocks noChangeArrowheads="1"/>
          </p:cNvSpPr>
          <p:nvPr/>
        </p:nvSpPr>
        <p:spPr bwMode="auto">
          <a:xfrm>
            <a:off x="9086850" y="55165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6654" name="Freeform 34"/>
          <p:cNvSpPr>
            <a:spLocks noChangeArrowheads="1"/>
          </p:cNvSpPr>
          <p:nvPr/>
        </p:nvSpPr>
        <p:spPr bwMode="auto">
          <a:xfrm>
            <a:off x="2454275" y="5535613"/>
            <a:ext cx="281305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55" name="Text Box 35"/>
          <p:cNvSpPr txBox="1">
            <a:spLocks noChangeArrowheads="1"/>
          </p:cNvSpPr>
          <p:nvPr/>
        </p:nvSpPr>
        <p:spPr bwMode="auto">
          <a:xfrm>
            <a:off x="2949575" y="5522913"/>
            <a:ext cx="1817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NAV</a:t>
            </a:r>
            <a:r>
              <a:rPr lang="zh-CN" altLang="en-US" b="1">
                <a:solidFill>
                  <a:srgbClr val="000099"/>
                </a:solidFill>
                <a:ea typeface="宋体" panose="02010600030101010101" pitchFamily="2" charset="-122"/>
              </a:rPr>
              <a:t>（媒体忙）</a:t>
            </a:r>
          </a:p>
        </p:txBody>
      </p:sp>
      <p:sp>
        <p:nvSpPr>
          <p:cNvPr id="317476" name="Text Box 36"/>
          <p:cNvSpPr txBox="1">
            <a:spLocks noChangeArrowheads="1"/>
          </p:cNvSpPr>
          <p:nvPr/>
        </p:nvSpPr>
        <p:spPr bwMode="auto">
          <a:xfrm>
            <a:off x="5237163" y="4933950"/>
            <a:ext cx="709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16657" name="Line 37"/>
          <p:cNvSpPr>
            <a:spLocks noChangeShapeType="1"/>
          </p:cNvSpPr>
          <p:nvPr/>
        </p:nvSpPr>
        <p:spPr bwMode="auto">
          <a:xfrm flipV="1">
            <a:off x="5283200" y="5249863"/>
            <a:ext cx="7270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8" name="Line 38"/>
          <p:cNvSpPr>
            <a:spLocks noChangeShapeType="1"/>
          </p:cNvSpPr>
          <p:nvPr/>
        </p:nvSpPr>
        <p:spPr bwMode="auto">
          <a:xfrm flipH="1" flipV="1">
            <a:off x="5267325" y="4619625"/>
            <a:ext cx="0" cy="425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59" name="Line 39"/>
          <p:cNvSpPr>
            <a:spLocks noChangeShapeType="1"/>
          </p:cNvSpPr>
          <p:nvPr/>
        </p:nvSpPr>
        <p:spPr bwMode="auto">
          <a:xfrm>
            <a:off x="6010275" y="4619625"/>
            <a:ext cx="0" cy="858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0" name="Freeform 40"/>
          <p:cNvSpPr>
            <a:spLocks noChangeArrowheads="1"/>
          </p:cNvSpPr>
          <p:nvPr/>
        </p:nvSpPr>
        <p:spPr bwMode="auto">
          <a:xfrm>
            <a:off x="7391400" y="5535613"/>
            <a:ext cx="1498600"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61" name="Freeform 41"/>
          <p:cNvSpPr>
            <a:spLocks noChangeArrowheads="1"/>
          </p:cNvSpPr>
          <p:nvPr/>
        </p:nvSpPr>
        <p:spPr bwMode="auto">
          <a:xfrm>
            <a:off x="6003925" y="5535613"/>
            <a:ext cx="1387475" cy="376237"/>
          </a:xfrm>
          <a:custGeom>
            <a:avLst/>
            <a:gdLst>
              <a:gd name="T0" fmla="*/ 0 w 780"/>
              <a:gd name="T1" fmla="*/ 240 h 240"/>
              <a:gd name="T2" fmla="*/ 0 w 780"/>
              <a:gd name="T3" fmla="*/ 0 h 240"/>
              <a:gd name="T4" fmla="*/ 780 w 780"/>
              <a:gd name="T5" fmla="*/ 0 h 240"/>
            </a:gdLst>
            <a:ahLst/>
            <a:cxnLst>
              <a:cxn ang="0">
                <a:pos x="T0" y="T1"/>
              </a:cxn>
              <a:cxn ang="0">
                <a:pos x="T2" y="T3"/>
              </a:cxn>
              <a:cxn ang="0">
                <a:pos x="T4" y="T5"/>
              </a:cxn>
            </a:cxnLst>
            <a:rect l="0" t="0" r="r" b="b"/>
            <a:pathLst>
              <a:path w="780" h="240">
                <a:moveTo>
                  <a:pt x="0" y="240"/>
                </a:moveTo>
                <a:lnTo>
                  <a:pt x="0" y="0"/>
                </a:lnTo>
                <a:lnTo>
                  <a:pt x="780" y="0"/>
                </a:lnTo>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16662" name="Line 42"/>
          <p:cNvSpPr>
            <a:spLocks noChangeShapeType="1"/>
          </p:cNvSpPr>
          <p:nvPr/>
        </p:nvSpPr>
        <p:spPr bwMode="auto">
          <a:xfrm>
            <a:off x="6173788"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3" name="Line 43"/>
          <p:cNvSpPr>
            <a:spLocks noChangeShapeType="1"/>
          </p:cNvSpPr>
          <p:nvPr/>
        </p:nvSpPr>
        <p:spPr bwMode="auto">
          <a:xfrm>
            <a:off x="63436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4" name="Line 44"/>
          <p:cNvSpPr>
            <a:spLocks noChangeShapeType="1"/>
          </p:cNvSpPr>
          <p:nvPr/>
        </p:nvSpPr>
        <p:spPr bwMode="auto">
          <a:xfrm>
            <a:off x="651510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5" name="Line 45"/>
          <p:cNvSpPr>
            <a:spLocks noChangeShapeType="1"/>
          </p:cNvSpPr>
          <p:nvPr/>
        </p:nvSpPr>
        <p:spPr bwMode="auto">
          <a:xfrm>
            <a:off x="6686550"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6" name="Line 46"/>
          <p:cNvSpPr>
            <a:spLocks noChangeShapeType="1"/>
          </p:cNvSpPr>
          <p:nvPr/>
        </p:nvSpPr>
        <p:spPr bwMode="auto">
          <a:xfrm>
            <a:off x="6856413" y="5530850"/>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7" name="Line 47"/>
          <p:cNvSpPr>
            <a:spLocks noChangeShapeType="1"/>
          </p:cNvSpPr>
          <p:nvPr/>
        </p:nvSpPr>
        <p:spPr bwMode="auto">
          <a:xfrm>
            <a:off x="7027863"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8" name="Line 48"/>
          <p:cNvSpPr>
            <a:spLocks noChangeShapeType="1"/>
          </p:cNvSpPr>
          <p:nvPr/>
        </p:nvSpPr>
        <p:spPr bwMode="auto">
          <a:xfrm>
            <a:off x="7208838" y="5540375"/>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69" name="Line 49"/>
          <p:cNvSpPr>
            <a:spLocks noChangeShapeType="1"/>
          </p:cNvSpPr>
          <p:nvPr/>
        </p:nvSpPr>
        <p:spPr bwMode="auto">
          <a:xfrm>
            <a:off x="6040438" y="5257800"/>
            <a:ext cx="13843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0" name="Text Box 50"/>
          <p:cNvSpPr txBox="1">
            <a:spLocks noChangeArrowheads="1"/>
          </p:cNvSpPr>
          <p:nvPr/>
        </p:nvSpPr>
        <p:spPr bwMode="auto">
          <a:xfrm>
            <a:off x="6113463" y="48641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16671" name="Text Box 51"/>
          <p:cNvSpPr txBox="1">
            <a:spLocks noChangeArrowheads="1"/>
          </p:cNvSpPr>
          <p:nvPr/>
        </p:nvSpPr>
        <p:spPr bwMode="auto">
          <a:xfrm>
            <a:off x="7354888" y="5489575"/>
            <a:ext cx="1465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发送下一 帧</a:t>
            </a:r>
          </a:p>
        </p:txBody>
      </p:sp>
      <p:sp>
        <p:nvSpPr>
          <p:cNvPr id="2416672" name="AutoShape 52"/>
          <p:cNvSpPr>
            <a:spLocks/>
          </p:cNvSpPr>
          <p:nvPr/>
        </p:nvSpPr>
        <p:spPr bwMode="auto">
          <a:xfrm rot="-5400000">
            <a:off x="3802857" y="4634706"/>
            <a:ext cx="144462" cy="2784475"/>
          </a:xfrm>
          <a:prstGeom prst="leftBrace">
            <a:avLst>
              <a:gd name="adj1" fmla="val 14822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6673" name="AutoShape 53"/>
          <p:cNvSpPr>
            <a:spLocks/>
          </p:cNvSpPr>
          <p:nvPr/>
        </p:nvSpPr>
        <p:spPr bwMode="auto">
          <a:xfrm rot="-5400000">
            <a:off x="6641307" y="5325269"/>
            <a:ext cx="112712" cy="1352550"/>
          </a:xfrm>
          <a:prstGeom prst="leftBrace">
            <a:avLst>
              <a:gd name="adj1" fmla="val 922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16674" name="Text Box 54"/>
          <p:cNvSpPr txBox="1">
            <a:spLocks noChangeArrowheads="1"/>
          </p:cNvSpPr>
          <p:nvPr/>
        </p:nvSpPr>
        <p:spPr bwMode="auto">
          <a:xfrm>
            <a:off x="3300413" y="6022975"/>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推迟接入</a:t>
            </a:r>
          </a:p>
        </p:txBody>
      </p:sp>
      <p:sp>
        <p:nvSpPr>
          <p:cNvPr id="2416675" name="Text Box 55"/>
          <p:cNvSpPr txBox="1">
            <a:spLocks noChangeArrowheads="1"/>
          </p:cNvSpPr>
          <p:nvPr/>
        </p:nvSpPr>
        <p:spPr bwMode="auto">
          <a:xfrm>
            <a:off x="5876925" y="59753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等待重试时间</a:t>
            </a:r>
          </a:p>
        </p:txBody>
      </p:sp>
      <p:sp>
        <p:nvSpPr>
          <p:cNvPr id="2416676" name="Line 56"/>
          <p:cNvSpPr>
            <a:spLocks noChangeShapeType="1"/>
          </p:cNvSpPr>
          <p:nvPr/>
        </p:nvSpPr>
        <p:spPr bwMode="auto">
          <a:xfrm flipV="1">
            <a:off x="1684338" y="34480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7" name="Text Box 57"/>
          <p:cNvSpPr txBox="1">
            <a:spLocks noChangeArrowheads="1"/>
          </p:cNvSpPr>
          <p:nvPr/>
        </p:nvSpPr>
        <p:spPr bwMode="auto">
          <a:xfrm>
            <a:off x="1065213" y="364807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6678" name="Line 58"/>
          <p:cNvSpPr>
            <a:spLocks noChangeShapeType="1"/>
          </p:cNvSpPr>
          <p:nvPr/>
        </p:nvSpPr>
        <p:spPr bwMode="auto">
          <a:xfrm>
            <a:off x="7423150" y="5097463"/>
            <a:ext cx="0" cy="368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79" name="Text Box 59"/>
          <p:cNvSpPr txBox="1">
            <a:spLocks noChangeArrowheads="1"/>
          </p:cNvSpPr>
          <p:nvPr/>
        </p:nvSpPr>
        <p:spPr bwMode="auto">
          <a:xfrm>
            <a:off x="122238" y="34083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16680" name="Text Box 61"/>
          <p:cNvSpPr txBox="1">
            <a:spLocks noChangeArrowheads="1"/>
          </p:cNvSpPr>
          <p:nvPr/>
        </p:nvSpPr>
        <p:spPr bwMode="auto">
          <a:xfrm>
            <a:off x="9086850" y="4197350"/>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时间</a:t>
            </a:r>
          </a:p>
        </p:txBody>
      </p:sp>
      <p:sp>
        <p:nvSpPr>
          <p:cNvPr id="2416681" name="Text Box 62"/>
          <p:cNvSpPr txBox="1">
            <a:spLocks noChangeArrowheads="1"/>
          </p:cNvSpPr>
          <p:nvPr/>
        </p:nvSpPr>
        <p:spPr bwMode="auto">
          <a:xfrm>
            <a:off x="103188" y="454183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16682" name="Line 64"/>
          <p:cNvSpPr>
            <a:spLocks noChangeShapeType="1"/>
          </p:cNvSpPr>
          <p:nvPr/>
        </p:nvSpPr>
        <p:spPr bwMode="auto">
          <a:xfrm flipH="1">
            <a:off x="4951413" y="4622800"/>
            <a:ext cx="1587" cy="428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3" name="Text Box 65"/>
          <p:cNvSpPr txBox="1">
            <a:spLocks noChangeArrowheads="1"/>
          </p:cNvSpPr>
          <p:nvPr/>
        </p:nvSpPr>
        <p:spPr bwMode="auto">
          <a:xfrm>
            <a:off x="5822950" y="3860800"/>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ACK</a:t>
            </a:r>
          </a:p>
        </p:txBody>
      </p:sp>
      <p:sp>
        <p:nvSpPr>
          <p:cNvPr id="2416684" name="Line 66"/>
          <p:cNvSpPr>
            <a:spLocks noChangeShapeType="1"/>
          </p:cNvSpPr>
          <p:nvPr/>
        </p:nvSpPr>
        <p:spPr bwMode="auto">
          <a:xfrm>
            <a:off x="5264150" y="3427413"/>
            <a:ext cx="3175"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5" name="Text Box 67"/>
          <p:cNvSpPr txBox="1">
            <a:spLocks noChangeArrowheads="1"/>
          </p:cNvSpPr>
          <p:nvPr/>
        </p:nvSpPr>
        <p:spPr bwMode="auto">
          <a:xfrm>
            <a:off x="5202238" y="5300663"/>
            <a:ext cx="698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SIFS</a:t>
            </a:r>
          </a:p>
        </p:txBody>
      </p:sp>
      <p:sp>
        <p:nvSpPr>
          <p:cNvPr id="2416686" name="Line 68"/>
          <p:cNvSpPr>
            <a:spLocks noChangeShapeType="1"/>
          </p:cNvSpPr>
          <p:nvPr/>
        </p:nvSpPr>
        <p:spPr bwMode="auto">
          <a:xfrm>
            <a:off x="5865813" y="5559425"/>
            <a:ext cx="0" cy="150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7" name="Line 69"/>
          <p:cNvSpPr>
            <a:spLocks noChangeShapeType="1"/>
          </p:cNvSpPr>
          <p:nvPr/>
        </p:nvSpPr>
        <p:spPr bwMode="auto">
          <a:xfrm>
            <a:off x="2452688" y="3448050"/>
            <a:ext cx="0" cy="2036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88" name="Text Box 70"/>
          <p:cNvSpPr txBox="1">
            <a:spLocks noChangeArrowheads="1"/>
          </p:cNvSpPr>
          <p:nvPr/>
        </p:nvSpPr>
        <p:spPr bwMode="auto">
          <a:xfrm>
            <a:off x="66675" y="5876925"/>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16689" name="Line 71"/>
          <p:cNvSpPr>
            <a:spLocks noChangeShapeType="1"/>
          </p:cNvSpPr>
          <p:nvPr/>
        </p:nvSpPr>
        <p:spPr bwMode="auto">
          <a:xfrm flipV="1">
            <a:off x="2452688" y="5937250"/>
            <a:ext cx="0" cy="30003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0" name="Text Box 72"/>
          <p:cNvSpPr txBox="1">
            <a:spLocks noChangeArrowheads="1"/>
          </p:cNvSpPr>
          <p:nvPr/>
        </p:nvSpPr>
        <p:spPr bwMode="auto">
          <a:xfrm>
            <a:off x="1808163" y="6156325"/>
            <a:ext cx="1338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有帧要发送</a:t>
            </a:r>
          </a:p>
        </p:txBody>
      </p:sp>
      <p:sp>
        <p:nvSpPr>
          <p:cNvPr id="2416691" name="Line 73"/>
          <p:cNvSpPr>
            <a:spLocks noChangeShapeType="1"/>
          </p:cNvSpPr>
          <p:nvPr/>
        </p:nvSpPr>
        <p:spPr bwMode="auto">
          <a:xfrm>
            <a:off x="4373563" y="4991100"/>
            <a:ext cx="579437" cy="4763"/>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2" name="Line 74"/>
          <p:cNvSpPr>
            <a:spLocks noChangeShapeType="1"/>
          </p:cNvSpPr>
          <p:nvPr/>
        </p:nvSpPr>
        <p:spPr bwMode="auto">
          <a:xfrm flipV="1">
            <a:off x="5273675" y="5632450"/>
            <a:ext cx="574675" cy="158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3" name="Text Box 76"/>
          <p:cNvSpPr txBox="1">
            <a:spLocks noChangeArrowheads="1"/>
          </p:cNvSpPr>
          <p:nvPr/>
        </p:nvSpPr>
        <p:spPr bwMode="auto">
          <a:xfrm>
            <a:off x="328613" y="168275"/>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b="1">
              <a:solidFill>
                <a:srgbClr val="000099"/>
              </a:solidFill>
              <a:ea typeface="宋体" panose="02010600030101010101" pitchFamily="2" charset="-122"/>
            </a:endParaRPr>
          </a:p>
        </p:txBody>
      </p:sp>
      <p:sp>
        <p:nvSpPr>
          <p:cNvPr id="317517" name="Text Box 77"/>
          <p:cNvSpPr txBox="1">
            <a:spLocks noChangeArrowheads="1"/>
          </p:cNvSpPr>
          <p:nvPr/>
        </p:nvSpPr>
        <p:spPr bwMode="auto">
          <a:xfrm>
            <a:off x="293688" y="44450"/>
            <a:ext cx="9555162" cy="1385888"/>
          </a:xfrm>
          <a:prstGeom prst="rect">
            <a:avLst/>
          </a:prstGeom>
          <a:solidFill>
            <a:srgbClr val="FFFF99"/>
          </a:solidFill>
          <a:ln w="9525">
            <a:solidFill>
              <a:srgbClr val="333399"/>
            </a:solidFill>
            <a:miter lim="800000"/>
            <a:headEnd/>
            <a:tailEnd/>
          </a:ln>
        </p:spPr>
        <p:txBody>
          <a:bodyPr>
            <a:spAutoFit/>
          </a:bodyPr>
          <a:lstStyle/>
          <a:p>
            <a:pPr eaLnBrk="0" hangingPunct="0"/>
            <a:r>
              <a:rPr lang="en-US" altLang="zh-CN" sz="2800" b="1" dirty="0">
                <a:solidFill>
                  <a:srgbClr val="FF0000"/>
                </a:solidFill>
                <a:ea typeface="宋体" panose="02010600030101010101" pitchFamily="2" charset="-122"/>
              </a:rPr>
              <a:t>DIFS</a:t>
            </a:r>
            <a:r>
              <a:rPr lang="zh-CN" altLang="zh-CN" sz="2800" b="1" dirty="0">
                <a:solidFill>
                  <a:srgbClr val="000099"/>
                </a:solidFill>
                <a:ea typeface="宋体" panose="02010600030101010101" pitchFamily="2" charset="-122"/>
              </a:rPr>
              <a:t>，即</a:t>
            </a:r>
            <a:r>
              <a:rPr lang="zh-CN" altLang="zh-CN" sz="2800" b="1" dirty="0">
                <a:solidFill>
                  <a:srgbClr val="C00000"/>
                </a:solidFill>
                <a:ea typeface="宋体" panose="02010600030101010101" pitchFamily="2" charset="-122"/>
              </a:rPr>
              <a:t>分布协调功能帧间间隔，</a:t>
            </a:r>
            <a:r>
              <a:rPr lang="zh-CN" altLang="zh-CN" sz="2800" b="1" dirty="0">
                <a:solidFill>
                  <a:srgbClr val="000099"/>
                </a:solidFill>
                <a:ea typeface="宋体" panose="02010600030101010101" pitchFamily="2" charset="-122"/>
              </a:rPr>
              <a:t>它比</a:t>
            </a:r>
            <a:r>
              <a:rPr lang="en-US" altLang="zh-CN" sz="2800" b="1" dirty="0">
                <a:solidFill>
                  <a:srgbClr val="000099"/>
                </a:solidFill>
                <a:ea typeface="宋体" panose="02010600030101010101" pitchFamily="2" charset="-122"/>
              </a:rPr>
              <a:t> SIFS </a:t>
            </a:r>
            <a:r>
              <a:rPr lang="zh-CN" altLang="zh-CN" sz="2800" b="1" dirty="0">
                <a:solidFill>
                  <a:srgbClr val="000099"/>
                </a:solidFill>
                <a:ea typeface="宋体" panose="02010600030101010101" pitchFamily="2" charset="-122"/>
              </a:rPr>
              <a:t>的帧间间隔</a:t>
            </a:r>
            <a:r>
              <a:rPr lang="zh-CN" altLang="zh-CN" sz="2800" b="1" dirty="0">
                <a:solidFill>
                  <a:srgbClr val="0000FF"/>
                </a:solidFill>
                <a:ea typeface="宋体" panose="02010600030101010101" pitchFamily="2" charset="-122"/>
              </a:rPr>
              <a:t>要长</a:t>
            </a:r>
            <a:r>
              <a:rPr lang="zh-CN" altLang="zh-CN" sz="2800" b="1" dirty="0">
                <a:solidFill>
                  <a:srgbClr val="000099"/>
                </a:solidFill>
                <a:ea typeface="宋体" panose="02010600030101010101" pitchFamily="2" charset="-122"/>
              </a:rPr>
              <a:t>得多，长度为</a:t>
            </a:r>
            <a:r>
              <a:rPr lang="en-US" altLang="zh-CN" sz="2800" b="1" dirty="0">
                <a:solidFill>
                  <a:srgbClr val="000099"/>
                </a:solidFill>
                <a:ea typeface="宋体" panose="02010600030101010101" pitchFamily="2" charset="-122"/>
              </a:rPr>
              <a:t> 128 </a:t>
            </a:r>
            <a:r>
              <a:rPr lang="en-US" altLang="zh-CN" sz="2800" b="1" dirty="0">
                <a:solidFill>
                  <a:srgbClr val="000099"/>
                </a:solidFill>
                <a:ea typeface="宋体" panose="02010600030101010101" pitchFamily="2" charset="-122"/>
                <a:sym typeface="Symbol" panose="05050102010706020507" pitchFamily="18" charset="2"/>
              </a:rPr>
              <a:t></a:t>
            </a:r>
            <a:r>
              <a:rPr lang="en-US" altLang="zh-CN" sz="2800" b="1" dirty="0">
                <a:solidFill>
                  <a:srgbClr val="000099"/>
                </a:solidFill>
                <a:ea typeface="宋体" panose="02010600030101010101" pitchFamily="2" charset="-122"/>
              </a:rPr>
              <a:t>s</a:t>
            </a:r>
            <a:r>
              <a:rPr lang="zh-CN" altLang="zh-CN" sz="2800" b="1" dirty="0">
                <a:solidFill>
                  <a:srgbClr val="000099"/>
                </a:solidFill>
                <a:ea typeface="宋体" panose="02010600030101010101" pitchFamily="2" charset="-122"/>
              </a:rPr>
              <a:t>。在</a:t>
            </a:r>
            <a:r>
              <a:rPr lang="en-US" altLang="zh-CN" sz="2800" b="1" dirty="0">
                <a:solidFill>
                  <a:srgbClr val="000099"/>
                </a:solidFill>
                <a:ea typeface="宋体" panose="02010600030101010101" pitchFamily="2" charset="-122"/>
              </a:rPr>
              <a:t> DCF </a:t>
            </a:r>
            <a:r>
              <a:rPr lang="zh-CN" altLang="zh-CN" sz="2800" b="1" dirty="0">
                <a:solidFill>
                  <a:srgbClr val="000099"/>
                </a:solidFill>
                <a:ea typeface="宋体" panose="02010600030101010101" pitchFamily="2" charset="-122"/>
              </a:rPr>
              <a:t>方式中，</a:t>
            </a:r>
            <a:r>
              <a:rPr lang="en-US" altLang="zh-CN" sz="2800" b="1" dirty="0">
                <a:solidFill>
                  <a:srgbClr val="000099"/>
                </a:solidFill>
                <a:ea typeface="宋体" panose="02010600030101010101" pitchFamily="2" charset="-122"/>
              </a:rPr>
              <a:t>DIFS </a:t>
            </a:r>
            <a:r>
              <a:rPr lang="zh-CN" altLang="zh-CN" sz="2800" b="1" dirty="0">
                <a:solidFill>
                  <a:srgbClr val="000099"/>
                </a:solidFill>
                <a:ea typeface="宋体" panose="02010600030101010101" pitchFamily="2" charset="-122"/>
              </a:rPr>
              <a:t>用来</a:t>
            </a:r>
            <a:r>
              <a:rPr lang="zh-CN" altLang="zh-CN" sz="2800" b="1" dirty="0">
                <a:solidFill>
                  <a:srgbClr val="0000FF"/>
                </a:solidFill>
                <a:ea typeface="宋体" panose="02010600030101010101" pitchFamily="2" charset="-122"/>
              </a:rPr>
              <a:t>发送数据帧和管理帧</a:t>
            </a:r>
            <a:r>
              <a:rPr lang="zh-CN" altLang="zh-CN" sz="2800" b="1" dirty="0">
                <a:solidFill>
                  <a:srgbClr val="000099"/>
                </a:solidFill>
                <a:ea typeface="宋体" panose="02010600030101010101" pitchFamily="2" charset="-122"/>
              </a:rPr>
              <a:t>。</a:t>
            </a:r>
            <a:endParaRPr lang="zh-CN" altLang="en-US" sz="2800" b="1" dirty="0">
              <a:solidFill>
                <a:srgbClr val="000099"/>
              </a:solidFill>
              <a:ea typeface="宋体" panose="02010600030101010101" pitchFamily="2" charset="-122"/>
            </a:endParaRPr>
          </a:p>
        </p:txBody>
      </p:sp>
      <p:sp>
        <p:nvSpPr>
          <p:cNvPr id="2416695" name="Line 80"/>
          <p:cNvSpPr>
            <a:spLocks noChangeShapeType="1"/>
          </p:cNvSpPr>
          <p:nvPr/>
        </p:nvSpPr>
        <p:spPr bwMode="auto">
          <a:xfrm>
            <a:off x="2457450"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6" name="Line 81"/>
          <p:cNvSpPr>
            <a:spLocks noChangeShapeType="1"/>
          </p:cNvSpPr>
          <p:nvPr/>
        </p:nvSpPr>
        <p:spPr bwMode="auto">
          <a:xfrm>
            <a:off x="417353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7" name="Line 82"/>
          <p:cNvSpPr>
            <a:spLocks noChangeShapeType="1"/>
          </p:cNvSpPr>
          <p:nvPr/>
        </p:nvSpPr>
        <p:spPr bwMode="auto">
          <a:xfrm flipH="1">
            <a:off x="5110163" y="3427413"/>
            <a:ext cx="153987"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8" name="Line 83"/>
          <p:cNvSpPr>
            <a:spLocks noChangeShapeType="1"/>
          </p:cNvSpPr>
          <p:nvPr/>
        </p:nvSpPr>
        <p:spPr bwMode="auto">
          <a:xfrm flipH="1">
            <a:off x="4954588" y="3427413"/>
            <a:ext cx="155575" cy="11525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699" name="Freeform 86"/>
          <p:cNvSpPr>
            <a:spLocks noChangeArrowheads="1"/>
          </p:cNvSpPr>
          <p:nvPr/>
        </p:nvSpPr>
        <p:spPr bwMode="auto">
          <a:xfrm>
            <a:off x="2457450" y="3427413"/>
            <a:ext cx="187166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6700" name="AutoShape 84"/>
          <p:cNvSpPr>
            <a:spLocks noChangeArrowheads="1"/>
          </p:cNvSpPr>
          <p:nvPr/>
        </p:nvSpPr>
        <p:spPr bwMode="auto">
          <a:xfrm rot="-561028">
            <a:off x="3314700" y="3787775"/>
            <a:ext cx="233363" cy="720725"/>
          </a:xfrm>
          <a:prstGeom prst="downArrow">
            <a:avLst>
              <a:gd name="adj1" fmla="val 50000"/>
              <a:gd name="adj2" fmla="val 83645"/>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宋体" panose="02010600030101010101" pitchFamily="2" charset="-122"/>
            </a:endParaRPr>
          </a:p>
        </p:txBody>
      </p:sp>
      <p:sp>
        <p:nvSpPr>
          <p:cNvPr id="2416701" name="Text Box 26"/>
          <p:cNvSpPr txBox="1">
            <a:spLocks noChangeArrowheads="1"/>
          </p:cNvSpPr>
          <p:nvPr/>
        </p:nvSpPr>
        <p:spPr bwMode="auto">
          <a:xfrm>
            <a:off x="2613025" y="3427413"/>
            <a:ext cx="1370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发送第 </a:t>
            </a:r>
            <a:r>
              <a:rPr lang="en-US" altLang="zh-CN" b="1">
                <a:solidFill>
                  <a:srgbClr val="000099"/>
                </a:solidFill>
                <a:ea typeface="宋体" panose="02010600030101010101" pitchFamily="2" charset="-122"/>
              </a:rPr>
              <a:t>1 </a:t>
            </a:r>
            <a:r>
              <a:rPr lang="zh-CN" altLang="en-US" b="1">
                <a:solidFill>
                  <a:srgbClr val="000099"/>
                </a:solidFill>
                <a:ea typeface="宋体" panose="02010600030101010101" pitchFamily="2" charset="-122"/>
              </a:rPr>
              <a:t>帧</a:t>
            </a:r>
          </a:p>
        </p:txBody>
      </p:sp>
      <p:sp>
        <p:nvSpPr>
          <p:cNvPr id="2416702" name="Freeform 88"/>
          <p:cNvSpPr>
            <a:spLocks noChangeArrowheads="1"/>
          </p:cNvSpPr>
          <p:nvPr/>
        </p:nvSpPr>
        <p:spPr bwMode="auto">
          <a:xfrm>
            <a:off x="4953000" y="3427413"/>
            <a:ext cx="311150"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16703" name="Line 60"/>
          <p:cNvSpPr>
            <a:spLocks noChangeShapeType="1"/>
          </p:cNvSpPr>
          <p:nvPr/>
        </p:nvSpPr>
        <p:spPr bwMode="auto">
          <a:xfrm>
            <a:off x="415925" y="4578350"/>
            <a:ext cx="920273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4" name="Line 11"/>
          <p:cNvSpPr>
            <a:spLocks noChangeShapeType="1"/>
          </p:cNvSpPr>
          <p:nvPr/>
        </p:nvSpPr>
        <p:spPr bwMode="auto">
          <a:xfrm>
            <a:off x="417513" y="3422650"/>
            <a:ext cx="920432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5" name="Line 89"/>
          <p:cNvSpPr>
            <a:spLocks noChangeShapeType="1"/>
          </p:cNvSpPr>
          <p:nvPr/>
        </p:nvSpPr>
        <p:spPr bwMode="auto">
          <a:xfrm flipV="1">
            <a:off x="5087938" y="3746500"/>
            <a:ext cx="61912" cy="479425"/>
          </a:xfrm>
          <a:prstGeom prst="line">
            <a:avLst/>
          </a:prstGeom>
          <a:noFill/>
          <a:ln w="28575">
            <a:solidFill>
              <a:schemeClr val="tx2"/>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1670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DFDCCA-4D64-4AF6-8C65-76B3559AE25C}" type="slidenum">
              <a:rPr lang="zh-CN" altLang="en-US" smtClean="0"/>
              <a:pPr eaLnBrk="1" hangingPunct="1"/>
              <a:t>34</a:t>
            </a:fld>
            <a:endParaRPr lang="en-US" altLang="zh-CN" smtClean="0"/>
          </a:p>
        </p:txBody>
      </p:sp>
      <p:sp>
        <p:nvSpPr>
          <p:cNvPr id="241670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17"/>
                                        </p:tgtEl>
                                        <p:attrNameLst>
                                          <p:attrName>style.visibility</p:attrName>
                                        </p:attrNameLst>
                                      </p:cBhvr>
                                      <p:to>
                                        <p:strVal val="visible"/>
                                      </p:to>
                                    </p:set>
                                  </p:childTnLst>
                                </p:cTn>
                              </p:par>
                              <p:par>
                                <p:cTn id="7" presetID="35" presetClass="emph" presetSubtype="0" repeatCount="4000" fill="hold" grpId="0" nodeType="withEffect">
                                  <p:stCondLst>
                                    <p:cond delay="0"/>
                                  </p:stCondLst>
                                  <p:childTnLst>
                                    <p:anim calcmode="discrete" valueType="str">
                                      <p:cBhvr>
                                        <p:cTn id="8" dur="1000" fill="hold"/>
                                        <p:tgtEl>
                                          <p:spTgt spid="317455"/>
                                        </p:tgtEl>
                                        <p:attrNameLst>
                                          <p:attrName>style.visibility</p:attrName>
                                        </p:attrNameLst>
                                      </p:cBhvr>
                                      <p:tavLst>
                                        <p:tav tm="0">
                                          <p:val>
                                            <p:strVal val="hidden"/>
                                          </p:val>
                                        </p:tav>
                                        <p:tav tm="50000">
                                          <p:val>
                                            <p:strVal val="visible"/>
                                          </p:val>
                                        </p:tav>
                                      </p:tavLst>
                                    </p:anim>
                                  </p:childTnLst>
                                </p:cTn>
                              </p:par>
                              <p:par>
                                <p:cTn id="9" presetID="35" presetClass="emph" presetSubtype="0" repeatCount="4000" fill="hold" grpId="0" nodeType="withEffect">
                                  <p:stCondLst>
                                    <p:cond delay="0"/>
                                  </p:stCondLst>
                                  <p:childTnLst>
                                    <p:anim calcmode="discrete" valueType="str">
                                      <p:cBhvr>
                                        <p:cTn id="10" dur="1000" fill="hold"/>
                                        <p:tgtEl>
                                          <p:spTgt spid="3174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55" grpId="0"/>
      <p:bldP spid="317476" grpId="0"/>
      <p:bldP spid="3175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8689" name="Rectangle 6"/>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CSMA/CA </a:t>
            </a:r>
            <a:r>
              <a:rPr lang="zh-CN" altLang="en-US" dirty="0" smtClean="0">
                <a:ea typeface="黑体" panose="02010609060101010101" pitchFamily="49" charset="-122"/>
              </a:rPr>
              <a:t>协议的原理 </a:t>
            </a:r>
          </a:p>
        </p:txBody>
      </p:sp>
      <p:sp>
        <p:nvSpPr>
          <p:cNvPr id="324617" name="Rectangle 9"/>
          <p:cNvSpPr>
            <a:spLocks noGrp="1" noChangeArrowheads="1"/>
          </p:cNvSpPr>
          <p:nvPr>
            <p:ph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欲发送数据的站先检测信道</a:t>
            </a:r>
            <a:r>
              <a:rPr lang="zh-CN" altLang="en-US" dirty="0" smtClean="0">
                <a:ea typeface="黑体" panose="02010609060101010101" pitchFamily="49" charset="-122"/>
              </a:rPr>
              <a:t>。在 </a:t>
            </a:r>
            <a:r>
              <a:rPr lang="en-US" altLang="zh-CN" dirty="0" smtClean="0">
                <a:ea typeface="黑体" panose="02010609060101010101" pitchFamily="49" charset="-122"/>
              </a:rPr>
              <a:t>802.11 </a:t>
            </a:r>
            <a:r>
              <a:rPr lang="zh-CN" altLang="en-US" dirty="0" smtClean="0">
                <a:ea typeface="黑体" panose="02010609060101010101" pitchFamily="49" charset="-122"/>
              </a:rPr>
              <a:t>标准中规定了在物理层的空中接口进行物理层的载波监听。</a:t>
            </a:r>
          </a:p>
          <a:p>
            <a:r>
              <a:rPr lang="zh-CN" altLang="en-US" dirty="0" smtClean="0">
                <a:ea typeface="黑体" panose="02010609060101010101" pitchFamily="49" charset="-122"/>
              </a:rPr>
              <a:t>通过收到的相对</a:t>
            </a:r>
            <a:r>
              <a:rPr lang="zh-CN" altLang="en-US" dirty="0" smtClean="0">
                <a:solidFill>
                  <a:srgbClr val="0000FF"/>
                </a:solidFill>
                <a:ea typeface="黑体" panose="02010609060101010101" pitchFamily="49" charset="-122"/>
              </a:rPr>
              <a:t>信号强度</a:t>
            </a:r>
            <a:r>
              <a:rPr lang="zh-CN" altLang="en-US" dirty="0" smtClean="0">
                <a:ea typeface="黑体" panose="02010609060101010101" pitchFamily="49" charset="-122"/>
              </a:rPr>
              <a:t>是否</a:t>
            </a:r>
            <a:r>
              <a:rPr lang="zh-CN" altLang="en-US" dirty="0" smtClean="0">
                <a:solidFill>
                  <a:srgbClr val="0000FF"/>
                </a:solidFill>
                <a:ea typeface="黑体" panose="02010609060101010101" pitchFamily="49" charset="-122"/>
              </a:rPr>
              <a:t>超过一定的门限数值</a:t>
            </a:r>
            <a:r>
              <a:rPr lang="zh-CN" altLang="en-US" dirty="0" smtClean="0">
                <a:ea typeface="黑体" panose="02010609060101010101" pitchFamily="49" charset="-122"/>
              </a:rPr>
              <a:t>就可判定是否有其他的移动站在信道上发送数据。</a:t>
            </a:r>
          </a:p>
          <a:p>
            <a:r>
              <a:rPr lang="zh-CN" altLang="en-US" dirty="0" smtClean="0">
                <a:ea typeface="黑体" panose="02010609060101010101" pitchFamily="49" charset="-122"/>
              </a:rPr>
              <a:t>当源站发送它的第一个 </a:t>
            </a:r>
            <a:r>
              <a:rPr lang="en-US" altLang="zh-CN" dirty="0" smtClean="0">
                <a:ea typeface="黑体" panose="02010609060101010101" pitchFamily="49" charset="-122"/>
              </a:rPr>
              <a:t>MAC </a:t>
            </a:r>
            <a:r>
              <a:rPr lang="zh-CN" altLang="en-US" dirty="0" smtClean="0">
                <a:ea typeface="黑体" panose="02010609060101010101" pitchFamily="49" charset="-122"/>
              </a:rPr>
              <a:t>帧时，若检测到</a:t>
            </a:r>
            <a:r>
              <a:rPr lang="zh-CN" altLang="en-US" dirty="0" smtClean="0">
                <a:solidFill>
                  <a:srgbClr val="0000FF"/>
                </a:solidFill>
                <a:ea typeface="黑体" panose="02010609060101010101" pitchFamily="49" charset="-122"/>
              </a:rPr>
              <a:t>信道空闲</a:t>
            </a:r>
            <a:r>
              <a:rPr lang="zh-CN" altLang="en-US" dirty="0" smtClean="0">
                <a:ea typeface="黑体" panose="02010609060101010101" pitchFamily="49" charset="-122"/>
              </a:rPr>
              <a:t>，则在</a:t>
            </a:r>
            <a:r>
              <a:rPr lang="zh-CN" altLang="en-US" dirty="0" smtClean="0">
                <a:solidFill>
                  <a:srgbClr val="0000FF"/>
                </a:solidFill>
                <a:ea typeface="黑体" panose="02010609060101010101" pitchFamily="49" charset="-122"/>
              </a:rPr>
              <a:t>等待一段时间 </a:t>
            </a:r>
            <a:r>
              <a:rPr lang="en-US" altLang="zh-CN" dirty="0" smtClean="0">
                <a:solidFill>
                  <a:srgbClr val="0000FF"/>
                </a:solidFill>
                <a:ea typeface="黑体" panose="02010609060101010101" pitchFamily="49" charset="-122"/>
              </a:rPr>
              <a:t>DIFS </a:t>
            </a:r>
            <a:r>
              <a:rPr lang="zh-CN" altLang="en-US" dirty="0" smtClean="0">
                <a:ea typeface="黑体" panose="02010609060101010101" pitchFamily="49" charset="-122"/>
              </a:rPr>
              <a:t>后就可发送。</a:t>
            </a:r>
          </a:p>
        </p:txBody>
      </p:sp>
      <p:sp>
        <p:nvSpPr>
          <p:cNvPr id="2418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1E9EF0-EA33-4448-835E-07D8631A2C57}" type="slidenum">
              <a:rPr lang="zh-CN" altLang="en-US" smtClean="0"/>
              <a:pPr eaLnBrk="1" hangingPunct="1"/>
              <a:t>35</a:t>
            </a:fld>
            <a:endParaRPr lang="en-US" altLang="zh-CN" smtClean="0"/>
          </a:p>
        </p:txBody>
      </p:sp>
      <p:sp>
        <p:nvSpPr>
          <p:cNvPr id="2418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461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46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971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为什么信道空闲还要再等待 </a:t>
            </a:r>
          </a:p>
        </p:txBody>
      </p:sp>
      <p:sp>
        <p:nvSpPr>
          <p:cNvPr id="326665"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这是</a:t>
            </a:r>
            <a:r>
              <a:rPr lang="zh-CN" altLang="en-US" dirty="0" smtClean="0">
                <a:solidFill>
                  <a:srgbClr val="0000FF"/>
                </a:solidFill>
                <a:ea typeface="黑体" panose="02010609060101010101" pitchFamily="49" charset="-122"/>
              </a:rPr>
              <a:t>考虑</a:t>
            </a:r>
            <a:r>
              <a:rPr lang="zh-CN" altLang="en-US" dirty="0" smtClean="0">
                <a:ea typeface="黑体" panose="02010609060101010101" pitchFamily="49" charset="-122"/>
              </a:rPr>
              <a:t>到可能有其他的站有</a:t>
            </a:r>
            <a:r>
              <a:rPr lang="zh-CN" altLang="en-US" dirty="0" smtClean="0">
                <a:solidFill>
                  <a:srgbClr val="0000FF"/>
                </a:solidFill>
                <a:ea typeface="黑体" panose="02010609060101010101" pitchFamily="49" charset="-122"/>
              </a:rPr>
              <a:t>高优先级</a:t>
            </a:r>
            <a:r>
              <a:rPr lang="zh-CN" altLang="en-US" dirty="0" smtClean="0">
                <a:ea typeface="黑体" panose="02010609060101010101" pitchFamily="49" charset="-122"/>
              </a:rPr>
              <a:t>的帧要发送。如有，就要让高优先级帧先发送。 </a:t>
            </a:r>
          </a:p>
        </p:txBody>
      </p:sp>
      <p:sp>
        <p:nvSpPr>
          <p:cNvPr id="2419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19A69B-411A-4FBD-8030-0BCECD8C31C0}" type="slidenum">
              <a:rPr lang="zh-CN" altLang="en-US" smtClean="0"/>
              <a:pPr eaLnBrk="1" hangingPunct="1"/>
              <a:t>36</a:t>
            </a:fld>
            <a:endParaRPr lang="en-US" altLang="zh-CN" smtClean="0"/>
          </a:p>
        </p:txBody>
      </p:sp>
      <p:sp>
        <p:nvSpPr>
          <p:cNvPr id="2419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0737"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假定没有高优先级帧要发送 </a:t>
            </a:r>
          </a:p>
        </p:txBody>
      </p:sp>
      <p:sp>
        <p:nvSpPr>
          <p:cNvPr id="325641"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源站发送了自己的数据帧。</a:t>
            </a:r>
          </a:p>
          <a:p>
            <a:r>
              <a:rPr lang="zh-CN" altLang="en-US" dirty="0" smtClean="0">
                <a:ea typeface="黑体" panose="02010609060101010101" pitchFamily="49" charset="-122"/>
              </a:rPr>
              <a:t>目的站若正确收到此帧，则经过时间间隔 </a:t>
            </a:r>
            <a:r>
              <a:rPr lang="en-US" altLang="zh-CN" dirty="0" smtClean="0">
                <a:ea typeface="黑体" panose="02010609060101010101" pitchFamily="49" charset="-122"/>
              </a:rPr>
              <a:t>SIFS </a:t>
            </a:r>
            <a:r>
              <a:rPr lang="zh-CN" altLang="en-US" dirty="0" smtClean="0">
                <a:ea typeface="黑体" panose="02010609060101010101" pitchFamily="49" charset="-122"/>
              </a:rPr>
              <a:t>后，向源站发送</a:t>
            </a:r>
            <a:r>
              <a:rPr lang="zh-CN" altLang="en-US" dirty="0" smtClean="0">
                <a:solidFill>
                  <a:srgbClr val="FF0000"/>
                </a:solidFill>
                <a:ea typeface="黑体" panose="02010609060101010101" pitchFamily="49" charset="-122"/>
              </a:rPr>
              <a:t>确认帧</a:t>
            </a:r>
            <a:r>
              <a:rPr lang="zh-CN" altLang="en-US" dirty="0" smtClean="0">
                <a:ea typeface="黑体" panose="02010609060101010101" pitchFamily="49" charset="-122"/>
              </a:rPr>
              <a:t> </a:t>
            </a:r>
            <a:r>
              <a:rPr lang="en-US" altLang="zh-CN" dirty="0" smtClean="0">
                <a:ea typeface="黑体" panose="02010609060101010101" pitchFamily="49" charset="-122"/>
              </a:rPr>
              <a:t>ACK</a:t>
            </a:r>
            <a:r>
              <a:rPr lang="zh-CN" altLang="en-US" dirty="0" smtClean="0">
                <a:ea typeface="黑体" panose="02010609060101010101" pitchFamily="49" charset="-122"/>
              </a:rPr>
              <a:t>。</a:t>
            </a:r>
          </a:p>
          <a:p>
            <a:r>
              <a:rPr lang="zh-CN" altLang="en-US" dirty="0" smtClean="0">
                <a:ea typeface="黑体" panose="02010609060101010101" pitchFamily="49" charset="-122"/>
              </a:rPr>
              <a:t>若源站在</a:t>
            </a:r>
            <a:r>
              <a:rPr lang="zh-CN" altLang="en-US" dirty="0" smtClean="0">
                <a:solidFill>
                  <a:srgbClr val="FF0000"/>
                </a:solidFill>
                <a:ea typeface="黑体" panose="02010609060101010101" pitchFamily="49" charset="-122"/>
              </a:rPr>
              <a:t>规定时间</a:t>
            </a:r>
            <a:r>
              <a:rPr lang="zh-CN" altLang="en-US" dirty="0" smtClean="0">
                <a:ea typeface="黑体" panose="02010609060101010101" pitchFamily="49" charset="-122"/>
              </a:rPr>
              <a:t>内没有收到确认帧 </a:t>
            </a:r>
            <a:r>
              <a:rPr lang="en-US" altLang="zh-CN" dirty="0" smtClean="0">
                <a:ea typeface="黑体" panose="02010609060101010101" pitchFamily="49" charset="-122"/>
              </a:rPr>
              <a:t>ACK</a:t>
            </a:r>
            <a:r>
              <a:rPr lang="zh-CN" altLang="en-US" dirty="0" smtClean="0">
                <a:ea typeface="黑体" panose="02010609060101010101" pitchFamily="49" charset="-122"/>
              </a:rPr>
              <a:t>（由重传计时器控制这段时间），就必须</a:t>
            </a:r>
            <a:r>
              <a:rPr lang="zh-CN" altLang="en-US" dirty="0" smtClean="0">
                <a:solidFill>
                  <a:srgbClr val="FF0000"/>
                </a:solidFill>
                <a:ea typeface="黑体" panose="02010609060101010101" pitchFamily="49" charset="-122"/>
              </a:rPr>
              <a:t>重传</a:t>
            </a:r>
            <a:r>
              <a:rPr lang="zh-CN" altLang="en-US" dirty="0" smtClean="0">
                <a:ea typeface="黑体" panose="02010609060101010101" pitchFamily="49" charset="-122"/>
              </a:rPr>
              <a:t>此帧，直到收到确认为止，或者经过若干次的重传失败后放弃发送。 </a:t>
            </a:r>
          </a:p>
        </p:txBody>
      </p:sp>
      <p:sp>
        <p:nvSpPr>
          <p:cNvPr id="2420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B55E12-94DA-40AE-83B5-34FC5A054087}" type="slidenum">
              <a:rPr lang="zh-CN" altLang="en-US" smtClean="0"/>
              <a:pPr eaLnBrk="1" hangingPunct="1"/>
              <a:t>37</a:t>
            </a:fld>
            <a:endParaRPr lang="en-US" altLang="zh-CN" smtClean="0"/>
          </a:p>
        </p:txBody>
      </p:sp>
      <p:sp>
        <p:nvSpPr>
          <p:cNvPr id="2420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64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56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4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1761"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虚拟载波监听 </a:t>
            </a:r>
          </a:p>
        </p:txBody>
      </p:sp>
      <p:sp>
        <p:nvSpPr>
          <p:cNvPr id="327689" name="Rectangle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虚拟载波监听 </a:t>
            </a:r>
            <a:r>
              <a:rPr lang="en-US" altLang="zh-CN" dirty="0" smtClean="0">
                <a:ea typeface="黑体" panose="02010609060101010101" pitchFamily="49" charset="-122"/>
              </a:rPr>
              <a:t>(Virtual Carrier Sense) </a:t>
            </a:r>
            <a:r>
              <a:rPr lang="zh-CN" altLang="en-US" dirty="0" smtClean="0">
                <a:ea typeface="黑体" panose="02010609060101010101" pitchFamily="49" charset="-122"/>
              </a:rPr>
              <a:t>的机制是让源站将它要占用信道的时间（包括目的站发回确认帧所需的时间）</a:t>
            </a:r>
            <a:r>
              <a:rPr lang="zh-CN" altLang="en-US" dirty="0" smtClean="0">
                <a:solidFill>
                  <a:srgbClr val="FF0000"/>
                </a:solidFill>
                <a:ea typeface="黑体" panose="02010609060101010101" pitchFamily="49" charset="-122"/>
              </a:rPr>
              <a:t>通知给所有其他站，</a:t>
            </a:r>
            <a:r>
              <a:rPr lang="zh-CN" altLang="en-US" dirty="0" smtClean="0">
                <a:ea typeface="黑体" panose="02010609060101010101" pitchFamily="49" charset="-122"/>
              </a:rPr>
              <a:t>以便使其他所有站在这一段时间都停止发送数据。</a:t>
            </a:r>
          </a:p>
          <a:p>
            <a:r>
              <a:rPr lang="zh-CN" altLang="en-US" dirty="0" smtClean="0">
                <a:ea typeface="黑体" panose="02010609060101010101" pitchFamily="49" charset="-122"/>
              </a:rPr>
              <a:t>这样就大大减少了碰撞的机会。 </a:t>
            </a:r>
          </a:p>
          <a:p>
            <a:r>
              <a:rPr lang="zh-CN" altLang="en-US" dirty="0" smtClean="0">
                <a:solidFill>
                  <a:srgbClr val="0000FF"/>
                </a:solidFill>
                <a:ea typeface="黑体" panose="02010609060101010101" pitchFamily="49" charset="-122"/>
              </a:rPr>
              <a:t>“虚拟载波监听”是表示其他站并没有监听信道，而是由于其他站收到了“源站的通知”才不发送数据。</a:t>
            </a:r>
          </a:p>
        </p:txBody>
      </p:sp>
      <p:sp>
        <p:nvSpPr>
          <p:cNvPr id="2421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32EB7B-C0E1-4530-92D3-2B9639B5AED3}" type="slidenum">
              <a:rPr lang="zh-CN" altLang="en-US" smtClean="0"/>
              <a:pPr eaLnBrk="1" hangingPunct="1"/>
              <a:t>38</a:t>
            </a:fld>
            <a:endParaRPr lang="en-US" altLang="zh-CN" smtClean="0"/>
          </a:p>
        </p:txBody>
      </p:sp>
      <p:sp>
        <p:nvSpPr>
          <p:cNvPr id="2421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68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6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2785"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虚拟载波监听的效果 </a:t>
            </a:r>
          </a:p>
        </p:txBody>
      </p:sp>
      <p:sp>
        <p:nvSpPr>
          <p:cNvPr id="328713" name="Rectangle 9"/>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这种效果</a:t>
            </a:r>
            <a:r>
              <a:rPr lang="zh-CN" altLang="en-US" dirty="0" smtClean="0">
                <a:solidFill>
                  <a:srgbClr val="0000FF"/>
                </a:solidFill>
                <a:ea typeface="黑体" panose="02010609060101010101" pitchFamily="49" charset="-122"/>
              </a:rPr>
              <a:t>好像</a:t>
            </a:r>
            <a:r>
              <a:rPr lang="zh-CN" altLang="en-US" dirty="0" smtClean="0">
                <a:ea typeface="黑体" panose="02010609060101010101" pitchFamily="49" charset="-122"/>
              </a:rPr>
              <a:t>是其他站都监听了信道。</a:t>
            </a:r>
          </a:p>
          <a:p>
            <a:pPr>
              <a:spcBef>
                <a:spcPts val="1200"/>
              </a:spcBef>
            </a:pPr>
            <a:r>
              <a:rPr lang="zh-CN" altLang="en-US" dirty="0" smtClean="0">
                <a:ea typeface="黑体" panose="02010609060101010101" pitchFamily="49" charset="-122"/>
              </a:rPr>
              <a:t>所谓“源站的通知”就是源站在</a:t>
            </a:r>
            <a:r>
              <a:rPr lang="zh-CN" altLang="en-US" dirty="0" smtClean="0">
                <a:solidFill>
                  <a:srgbClr val="0000FF"/>
                </a:solidFill>
                <a:ea typeface="黑体" panose="02010609060101010101" pitchFamily="49" charset="-122"/>
              </a:rPr>
              <a:t>其 </a:t>
            </a:r>
            <a:r>
              <a:rPr lang="en-US" altLang="zh-CN" dirty="0" smtClean="0">
                <a:solidFill>
                  <a:srgbClr val="0000FF"/>
                </a:solidFill>
                <a:ea typeface="黑体" panose="02010609060101010101" pitchFamily="49" charset="-122"/>
              </a:rPr>
              <a:t>MAC </a:t>
            </a:r>
            <a:r>
              <a:rPr lang="zh-CN" altLang="en-US" dirty="0" smtClean="0">
                <a:solidFill>
                  <a:srgbClr val="0000FF"/>
                </a:solidFill>
                <a:ea typeface="黑体" panose="02010609060101010101" pitchFamily="49" charset="-122"/>
              </a:rPr>
              <a:t>帧首部中的第二个字段“持续时间”</a:t>
            </a:r>
            <a:r>
              <a:rPr lang="zh-CN" altLang="en-US" dirty="0" smtClean="0">
                <a:ea typeface="黑体" panose="02010609060101010101" pitchFamily="49" charset="-122"/>
              </a:rPr>
              <a:t>中填入了在本帧结束后还要占用信道多少时间（以微秒为单位），包括目的站发送确认帧所需的时间。 </a:t>
            </a:r>
          </a:p>
        </p:txBody>
      </p:sp>
      <p:sp>
        <p:nvSpPr>
          <p:cNvPr id="2422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81B32F-2190-4D80-8628-7C30922DAF24}" type="slidenum">
              <a:rPr lang="zh-CN" altLang="en-US" smtClean="0"/>
              <a:pPr eaLnBrk="1" hangingPunct="1"/>
              <a:t>39</a:t>
            </a:fld>
            <a:endParaRPr lang="en-US" altLang="zh-CN" smtClean="0"/>
          </a:p>
        </p:txBody>
      </p:sp>
      <p:sp>
        <p:nvSpPr>
          <p:cNvPr id="2422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87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3809"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网络分配向量 </a:t>
            </a:r>
          </a:p>
        </p:txBody>
      </p:sp>
      <p:sp>
        <p:nvSpPr>
          <p:cNvPr id="330761" name="Rectangle 9"/>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当一个</a:t>
            </a:r>
            <a:r>
              <a:rPr lang="zh-CN" altLang="en-US" dirty="0" smtClean="0">
                <a:solidFill>
                  <a:srgbClr val="0000FF"/>
                </a:solidFill>
                <a:ea typeface="黑体" panose="02010609060101010101" pitchFamily="49" charset="-122"/>
              </a:rPr>
              <a:t>站</a:t>
            </a:r>
            <a:r>
              <a:rPr lang="zh-CN" altLang="en-US" dirty="0" smtClean="0">
                <a:ea typeface="黑体" panose="02010609060101010101" pitchFamily="49" charset="-122"/>
              </a:rPr>
              <a:t>检测到正在信道中传送的 </a:t>
            </a:r>
            <a:r>
              <a:rPr lang="en-US" altLang="zh-CN" dirty="0" smtClean="0">
                <a:ea typeface="黑体" panose="02010609060101010101" pitchFamily="49" charset="-122"/>
              </a:rPr>
              <a:t>MAC </a:t>
            </a:r>
            <a:r>
              <a:rPr lang="zh-CN" altLang="en-US" dirty="0" smtClean="0">
                <a:ea typeface="黑体" panose="02010609060101010101" pitchFamily="49" charset="-122"/>
              </a:rPr>
              <a:t>帧首部的“持续时间”字段时，就</a:t>
            </a:r>
            <a:r>
              <a:rPr lang="zh-CN" altLang="en-US" dirty="0" smtClean="0">
                <a:solidFill>
                  <a:srgbClr val="0000FF"/>
                </a:solidFill>
                <a:ea typeface="黑体" panose="02010609060101010101" pitchFamily="49" charset="-122"/>
              </a:rPr>
              <a:t>调整自己的</a:t>
            </a:r>
            <a:r>
              <a:rPr lang="zh-CN" altLang="en-US" u="sng" dirty="0" smtClean="0">
                <a:solidFill>
                  <a:srgbClr val="FF0000"/>
                </a:solidFill>
                <a:ea typeface="黑体" panose="02010609060101010101" pitchFamily="49" charset="-122"/>
              </a:rPr>
              <a:t>网络分配向量 </a:t>
            </a:r>
            <a:r>
              <a:rPr lang="en-US" altLang="zh-CN" u="sng" dirty="0" smtClean="0">
                <a:ea typeface="黑体" panose="02010609060101010101" pitchFamily="49" charset="-122"/>
              </a:rPr>
              <a:t>NAV (Network Allocation Vector)</a:t>
            </a:r>
            <a:r>
              <a:rPr lang="zh-CN" altLang="en-US" dirty="0" smtClean="0">
                <a:ea typeface="黑体" panose="02010609060101010101" pitchFamily="49" charset="-122"/>
              </a:rPr>
              <a:t>。</a:t>
            </a:r>
          </a:p>
          <a:p>
            <a:pPr>
              <a:spcBef>
                <a:spcPts val="1200"/>
              </a:spcBef>
            </a:pPr>
            <a:r>
              <a:rPr lang="en-US" altLang="zh-CN" dirty="0" smtClean="0">
                <a:solidFill>
                  <a:srgbClr val="0000FF"/>
                </a:solidFill>
                <a:ea typeface="黑体" panose="02010609060101010101" pitchFamily="49" charset="-122"/>
              </a:rPr>
              <a:t>NAV </a:t>
            </a:r>
            <a:r>
              <a:rPr lang="zh-CN" altLang="en-US" dirty="0" smtClean="0">
                <a:solidFill>
                  <a:srgbClr val="0000FF"/>
                </a:solidFill>
                <a:ea typeface="黑体" panose="02010609060101010101" pitchFamily="49" charset="-122"/>
              </a:rPr>
              <a:t>指出了必须经过多少时间才能完成数据帧的这次传输，才能使信道转入到空闲状态。 </a:t>
            </a:r>
          </a:p>
        </p:txBody>
      </p:sp>
      <p:sp>
        <p:nvSpPr>
          <p:cNvPr id="2423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25A66D-8135-4602-847E-4B6ABF1628DF}" type="slidenum">
              <a:rPr lang="zh-CN" altLang="en-US" smtClean="0"/>
              <a:pPr eaLnBrk="1" hangingPunct="1"/>
              <a:t>40</a:t>
            </a:fld>
            <a:endParaRPr lang="en-US" altLang="zh-CN" smtClean="0"/>
          </a:p>
        </p:txBody>
      </p:sp>
      <p:sp>
        <p:nvSpPr>
          <p:cNvPr id="2423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07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6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4833"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争用窗口 </a:t>
            </a:r>
          </a:p>
        </p:txBody>
      </p:sp>
      <p:sp>
        <p:nvSpPr>
          <p:cNvPr id="329737" name="Rectangle 9"/>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信道从忙态变为空闲时，任何一个站要发送数据帧时，不仅都必须等待一个 </a:t>
            </a:r>
            <a:r>
              <a:rPr lang="en-US" altLang="zh-CN" dirty="0" smtClean="0">
                <a:ea typeface="黑体" panose="02010609060101010101" pitchFamily="49" charset="-122"/>
              </a:rPr>
              <a:t>DIFS </a:t>
            </a:r>
            <a:r>
              <a:rPr lang="zh-CN" altLang="en-US" dirty="0" smtClean="0">
                <a:ea typeface="黑体" panose="02010609060101010101" pitchFamily="49" charset="-122"/>
              </a:rPr>
              <a:t>的间隔，而且还要进入</a:t>
            </a:r>
            <a:r>
              <a:rPr lang="zh-CN" altLang="en-US" dirty="0" smtClean="0">
                <a:solidFill>
                  <a:srgbClr val="FF0000"/>
                </a:solidFill>
                <a:ea typeface="黑体" panose="02010609060101010101" pitchFamily="49" charset="-122"/>
              </a:rPr>
              <a:t>争用窗口，</a:t>
            </a:r>
            <a:r>
              <a:rPr lang="zh-CN" altLang="en-US" dirty="0" smtClean="0">
                <a:ea typeface="黑体" panose="02010609060101010101" pitchFamily="49" charset="-122"/>
              </a:rPr>
              <a:t>并</a:t>
            </a:r>
            <a:r>
              <a:rPr lang="zh-CN" altLang="en-US" dirty="0" smtClean="0">
                <a:solidFill>
                  <a:srgbClr val="0000FF"/>
                </a:solidFill>
                <a:ea typeface="黑体" panose="02010609060101010101" pitchFamily="49" charset="-122"/>
              </a:rPr>
              <a:t>计算随机退避时间</a:t>
            </a:r>
            <a:r>
              <a:rPr lang="zh-CN" altLang="en-US" dirty="0" smtClean="0">
                <a:ea typeface="黑体" panose="02010609060101010101" pitchFamily="49" charset="-122"/>
              </a:rPr>
              <a:t>以便再次重新试图接入到信道。</a:t>
            </a:r>
          </a:p>
          <a:p>
            <a:r>
              <a:rPr lang="zh-CN" altLang="en-US" dirty="0" smtClean="0">
                <a:ea typeface="黑体" panose="02010609060101010101" pitchFamily="49" charset="-122"/>
              </a:rPr>
              <a:t>在信道从忙态转为空闲时，</a:t>
            </a:r>
            <a:r>
              <a:rPr lang="zh-CN" altLang="zh-CN" dirty="0" smtClean="0">
                <a:ea typeface="黑体" panose="02010609060101010101" pitchFamily="49" charset="-122"/>
              </a:rPr>
              <a:t>为了</a:t>
            </a:r>
            <a:r>
              <a:rPr lang="zh-CN" altLang="zh-CN" dirty="0" smtClean="0">
                <a:solidFill>
                  <a:srgbClr val="0000FF"/>
                </a:solidFill>
                <a:ea typeface="黑体" panose="02010609060101010101" pitchFamily="49" charset="-122"/>
              </a:rPr>
              <a:t>避免几个站同时发送数据</a:t>
            </a:r>
            <a:r>
              <a:rPr lang="zh-CN" altLang="zh-CN" dirty="0" smtClean="0">
                <a:ea typeface="黑体" panose="02010609060101010101" pitchFamily="49" charset="-122"/>
              </a:rPr>
              <a:t>（一旦发送就要把一帧发送完，不能中途停止），</a:t>
            </a:r>
            <a:r>
              <a:rPr lang="zh-CN" altLang="en-US" dirty="0" smtClean="0">
                <a:ea typeface="黑体" panose="02010609060101010101" pitchFamily="49" charset="-122"/>
              </a:rPr>
              <a:t>各站就要执行</a:t>
            </a:r>
            <a:r>
              <a:rPr lang="zh-CN" altLang="en-US" dirty="0" smtClean="0">
                <a:solidFill>
                  <a:srgbClr val="FF0000"/>
                </a:solidFill>
                <a:ea typeface="黑体" panose="02010609060101010101" pitchFamily="49" charset="-122"/>
              </a:rPr>
              <a:t>退避算法。</a:t>
            </a:r>
            <a:r>
              <a:rPr lang="zh-CN" altLang="en-US" dirty="0" smtClean="0">
                <a:ea typeface="黑体" panose="02010609060101010101" pitchFamily="49" charset="-122"/>
              </a:rPr>
              <a:t>这样做就减少了发生碰撞的概率。</a:t>
            </a:r>
          </a:p>
          <a:p>
            <a:r>
              <a:rPr lang="en-US" altLang="zh-CN" dirty="0" smtClean="0">
                <a:ea typeface="黑体" panose="02010609060101010101" pitchFamily="49" charset="-122"/>
              </a:rPr>
              <a:t>802.11 </a:t>
            </a:r>
            <a:r>
              <a:rPr lang="zh-CN" altLang="en-US" dirty="0" smtClean="0">
                <a:ea typeface="黑体" panose="02010609060101010101" pitchFamily="49" charset="-122"/>
              </a:rPr>
              <a:t>使用</a:t>
            </a:r>
            <a:r>
              <a:rPr lang="zh-CN" altLang="en-US" dirty="0" smtClean="0">
                <a:solidFill>
                  <a:srgbClr val="0000FF"/>
                </a:solidFill>
                <a:ea typeface="黑体" panose="02010609060101010101" pitchFamily="49" charset="-122"/>
              </a:rPr>
              <a:t>二进制指数退避算法</a:t>
            </a:r>
            <a:r>
              <a:rPr lang="zh-CN" altLang="en-US" dirty="0" smtClean="0">
                <a:ea typeface="黑体" panose="02010609060101010101" pitchFamily="49" charset="-122"/>
              </a:rPr>
              <a:t>。   </a:t>
            </a:r>
          </a:p>
        </p:txBody>
      </p:sp>
      <p:sp>
        <p:nvSpPr>
          <p:cNvPr id="2424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8B7F20-5A2E-4CD4-854E-D929A01EAB7C}" type="slidenum">
              <a:rPr lang="zh-CN" altLang="en-US" smtClean="0"/>
              <a:pPr eaLnBrk="1" hangingPunct="1"/>
              <a:t>41</a:t>
            </a:fld>
            <a:endParaRPr lang="en-US" altLang="zh-CN" smtClean="0"/>
          </a:p>
        </p:txBody>
      </p:sp>
      <p:sp>
        <p:nvSpPr>
          <p:cNvPr id="2424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973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5857" name="Text Box 94"/>
          <p:cNvSpPr txBox="1">
            <a:spLocks noChangeArrowheads="1"/>
          </p:cNvSpPr>
          <p:nvPr/>
        </p:nvSpPr>
        <p:spPr bwMode="auto">
          <a:xfrm>
            <a:off x="420688" y="5942013"/>
            <a:ext cx="928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宋体" panose="02010600030101010101" pitchFamily="2" charset="-122"/>
              </a:rPr>
              <a:t>图例                              检测到信道忙，冻结剩余的退避时间                   打算发送数据</a:t>
            </a:r>
          </a:p>
        </p:txBody>
      </p:sp>
      <p:sp>
        <p:nvSpPr>
          <p:cNvPr id="2425858" name="Rectangle 4"/>
          <p:cNvSpPr>
            <a:spLocks noChangeArrowheads="1"/>
          </p:cNvSpPr>
          <p:nvPr/>
        </p:nvSpPr>
        <p:spPr bwMode="auto">
          <a:xfrm>
            <a:off x="8248650" y="2508250"/>
            <a:ext cx="958850" cy="387350"/>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59" name="Line 7"/>
          <p:cNvSpPr>
            <a:spLocks noChangeShapeType="1"/>
          </p:cNvSpPr>
          <p:nvPr/>
        </p:nvSpPr>
        <p:spPr bwMode="auto">
          <a:xfrm>
            <a:off x="1987550"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0" name="Rectangle 8"/>
          <p:cNvSpPr>
            <a:spLocks noChangeArrowheads="1"/>
          </p:cNvSpPr>
          <p:nvPr/>
        </p:nvSpPr>
        <p:spPr bwMode="auto">
          <a:xfrm>
            <a:off x="2395538" y="3281363"/>
            <a:ext cx="1544637" cy="387350"/>
          </a:xfrm>
          <a:prstGeom prst="rect">
            <a:avLst/>
          </a:prstGeom>
          <a:solidFill>
            <a:srgbClr val="FF99FF"/>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1" name="Line 9"/>
          <p:cNvSpPr>
            <a:spLocks noChangeShapeType="1"/>
          </p:cNvSpPr>
          <p:nvPr/>
        </p:nvSpPr>
        <p:spPr bwMode="auto">
          <a:xfrm>
            <a:off x="3941763"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2" name="Line 10"/>
          <p:cNvSpPr>
            <a:spLocks noChangeShapeType="1"/>
          </p:cNvSpPr>
          <p:nvPr/>
        </p:nvSpPr>
        <p:spPr bwMode="auto">
          <a:xfrm>
            <a:off x="410368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3" name="Rectangle 11"/>
          <p:cNvSpPr>
            <a:spLocks noChangeArrowheads="1"/>
          </p:cNvSpPr>
          <p:nvPr/>
        </p:nvSpPr>
        <p:spPr bwMode="auto">
          <a:xfrm>
            <a:off x="4427538" y="4054475"/>
            <a:ext cx="1382712" cy="387350"/>
          </a:xfrm>
          <a:prstGeom prst="rect">
            <a:avLst/>
          </a:prstGeom>
          <a:solidFill>
            <a:srgbClr val="CC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4" name="Rectangle 12"/>
          <p:cNvSpPr>
            <a:spLocks noChangeArrowheads="1"/>
          </p:cNvSpPr>
          <p:nvPr/>
        </p:nvSpPr>
        <p:spPr bwMode="auto">
          <a:xfrm>
            <a:off x="6296025" y="4827588"/>
            <a:ext cx="1546225" cy="385762"/>
          </a:xfrm>
          <a:prstGeom prst="rect">
            <a:avLst/>
          </a:prstGeom>
          <a:solidFill>
            <a:srgbClr val="FF9933"/>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65" name="Line 13"/>
          <p:cNvSpPr>
            <a:spLocks noChangeShapeType="1"/>
          </p:cNvSpPr>
          <p:nvPr/>
        </p:nvSpPr>
        <p:spPr bwMode="auto">
          <a:xfrm>
            <a:off x="581183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6" name="Line 14"/>
          <p:cNvSpPr>
            <a:spLocks noChangeShapeType="1"/>
          </p:cNvSpPr>
          <p:nvPr/>
        </p:nvSpPr>
        <p:spPr bwMode="auto">
          <a:xfrm>
            <a:off x="5972175"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7" name="Line 15"/>
          <p:cNvSpPr>
            <a:spLocks noChangeShapeType="1"/>
          </p:cNvSpPr>
          <p:nvPr/>
        </p:nvSpPr>
        <p:spPr bwMode="auto">
          <a:xfrm>
            <a:off x="7843838"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8" name="Line 16"/>
          <p:cNvSpPr>
            <a:spLocks noChangeShapeType="1"/>
          </p:cNvSpPr>
          <p:nvPr/>
        </p:nvSpPr>
        <p:spPr bwMode="auto">
          <a:xfrm>
            <a:off x="8004175"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69" name="Rectangle 17"/>
          <p:cNvSpPr>
            <a:spLocks noChangeArrowheads="1"/>
          </p:cNvSpPr>
          <p:nvPr/>
        </p:nvSpPr>
        <p:spPr bwMode="auto">
          <a:xfrm>
            <a:off x="622300" y="1738313"/>
            <a:ext cx="1193800" cy="385762"/>
          </a:xfrm>
          <a:prstGeom prst="rect">
            <a:avLst/>
          </a:prstGeom>
          <a:solidFill>
            <a:srgbClr val="FFFF99"/>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70" name="Line 18"/>
          <p:cNvSpPr>
            <a:spLocks noChangeShapeType="1"/>
          </p:cNvSpPr>
          <p:nvPr/>
        </p:nvSpPr>
        <p:spPr bwMode="auto">
          <a:xfrm>
            <a:off x="606425" y="1738313"/>
            <a:ext cx="12207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71" name="Freeform 19"/>
          <p:cNvSpPr>
            <a:spLocks noChangeArrowheads="1"/>
          </p:cNvSpPr>
          <p:nvPr/>
        </p:nvSpPr>
        <p:spPr bwMode="auto">
          <a:xfrm>
            <a:off x="8248650" y="2501900"/>
            <a:ext cx="973138" cy="393700"/>
          </a:xfrm>
          <a:custGeom>
            <a:avLst/>
            <a:gdLst>
              <a:gd name="T0" fmla="*/ 0 w 543"/>
              <a:gd name="T1" fmla="*/ 231 h 231"/>
              <a:gd name="T2" fmla="*/ 0 w 543"/>
              <a:gd name="T3" fmla="*/ 0 h 231"/>
              <a:gd name="T4" fmla="*/ 543 w 543"/>
              <a:gd name="T5" fmla="*/ 0 h 231"/>
            </a:gdLst>
            <a:ahLst/>
            <a:cxnLst>
              <a:cxn ang="0">
                <a:pos x="T0" y="T1"/>
              </a:cxn>
              <a:cxn ang="0">
                <a:pos x="T2" y="T3"/>
              </a:cxn>
              <a:cxn ang="0">
                <a:pos x="T4" y="T5"/>
              </a:cxn>
            </a:cxnLst>
            <a:rect l="0" t="0" r="r" b="b"/>
            <a:pathLst>
              <a:path w="543" h="231">
                <a:moveTo>
                  <a:pt x="0" y="231"/>
                </a:moveTo>
                <a:lnTo>
                  <a:pt x="0" y="0"/>
                </a:lnTo>
                <a:lnTo>
                  <a:pt x="543"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72" name="Text Box 20"/>
          <p:cNvSpPr txBox="1">
            <a:spLocks noChangeArrowheads="1"/>
          </p:cNvSpPr>
          <p:nvPr/>
        </p:nvSpPr>
        <p:spPr bwMode="auto">
          <a:xfrm>
            <a:off x="982663" y="1711325"/>
            <a:ext cx="41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3" name="Text Box 21"/>
          <p:cNvSpPr txBox="1">
            <a:spLocks noChangeArrowheads="1"/>
          </p:cNvSpPr>
          <p:nvPr/>
        </p:nvSpPr>
        <p:spPr bwMode="auto">
          <a:xfrm>
            <a:off x="6799263" y="478472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4" name="Text Box 22"/>
          <p:cNvSpPr txBox="1">
            <a:spLocks noChangeArrowheads="1"/>
          </p:cNvSpPr>
          <p:nvPr/>
        </p:nvSpPr>
        <p:spPr bwMode="auto">
          <a:xfrm>
            <a:off x="4854575" y="4030663"/>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5" name="Text Box 23"/>
          <p:cNvSpPr txBox="1">
            <a:spLocks noChangeArrowheads="1"/>
          </p:cNvSpPr>
          <p:nvPr/>
        </p:nvSpPr>
        <p:spPr bwMode="auto">
          <a:xfrm>
            <a:off x="8510588" y="249237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6" name="Text Box 24"/>
          <p:cNvSpPr txBox="1">
            <a:spLocks noChangeArrowheads="1"/>
          </p:cNvSpPr>
          <p:nvPr/>
        </p:nvSpPr>
        <p:spPr bwMode="auto">
          <a:xfrm>
            <a:off x="2909888" y="3254375"/>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帧</a:t>
            </a:r>
          </a:p>
        </p:txBody>
      </p:sp>
      <p:sp>
        <p:nvSpPr>
          <p:cNvPr id="2425877" name="Text Box 25"/>
          <p:cNvSpPr txBox="1">
            <a:spLocks noChangeArrowheads="1"/>
          </p:cNvSpPr>
          <p:nvPr/>
        </p:nvSpPr>
        <p:spPr bwMode="auto">
          <a:xfrm>
            <a:off x="1584325" y="1184275"/>
            <a:ext cx="709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78" name="Text Box 26"/>
          <p:cNvSpPr txBox="1">
            <a:spLocks noChangeArrowheads="1"/>
          </p:cNvSpPr>
          <p:nvPr/>
        </p:nvSpPr>
        <p:spPr bwMode="auto">
          <a:xfrm>
            <a:off x="3695700"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79" name="Text Box 27"/>
          <p:cNvSpPr txBox="1">
            <a:spLocks noChangeArrowheads="1"/>
          </p:cNvSpPr>
          <p:nvPr/>
        </p:nvSpPr>
        <p:spPr bwMode="auto">
          <a:xfrm>
            <a:off x="5592763"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80" name="Text Box 28"/>
          <p:cNvSpPr txBox="1">
            <a:spLocks noChangeArrowheads="1"/>
          </p:cNvSpPr>
          <p:nvPr/>
        </p:nvSpPr>
        <p:spPr bwMode="auto">
          <a:xfrm>
            <a:off x="7623175" y="1184275"/>
            <a:ext cx="71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宋体" panose="02010600030101010101" pitchFamily="2" charset="-122"/>
              </a:rPr>
              <a:t>DIFS</a:t>
            </a:r>
          </a:p>
        </p:txBody>
      </p:sp>
      <p:sp>
        <p:nvSpPr>
          <p:cNvPr id="2425881" name="Line 29"/>
          <p:cNvSpPr>
            <a:spLocks noChangeShapeType="1"/>
          </p:cNvSpPr>
          <p:nvPr/>
        </p:nvSpPr>
        <p:spPr bwMode="auto">
          <a:xfrm flipV="1">
            <a:off x="849313" y="2587625"/>
            <a:ext cx="0" cy="307975"/>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2" name="Line 30"/>
          <p:cNvSpPr>
            <a:spLocks noChangeShapeType="1"/>
          </p:cNvSpPr>
          <p:nvPr/>
        </p:nvSpPr>
        <p:spPr bwMode="auto">
          <a:xfrm flipV="1">
            <a:off x="1339850" y="3360738"/>
            <a:ext cx="0" cy="307975"/>
          </a:xfrm>
          <a:prstGeom prst="line">
            <a:avLst/>
          </a:prstGeom>
          <a:noFill/>
          <a:ln w="38100">
            <a:solidFill>
              <a:srgbClr val="FF66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3" name="Line 31"/>
          <p:cNvSpPr>
            <a:spLocks noChangeShapeType="1"/>
          </p:cNvSpPr>
          <p:nvPr/>
        </p:nvSpPr>
        <p:spPr bwMode="auto">
          <a:xfrm flipV="1">
            <a:off x="1093788" y="4132263"/>
            <a:ext cx="0" cy="309562"/>
          </a:xfrm>
          <a:prstGeom prst="line">
            <a:avLst/>
          </a:prstGeom>
          <a:noFill/>
          <a:ln w="38100">
            <a:solidFill>
              <a:srgbClr val="CC99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4" name="Line 32"/>
          <p:cNvSpPr>
            <a:spLocks noChangeShapeType="1"/>
          </p:cNvSpPr>
          <p:nvPr/>
        </p:nvSpPr>
        <p:spPr bwMode="auto">
          <a:xfrm flipV="1">
            <a:off x="3289300" y="4905375"/>
            <a:ext cx="0" cy="307975"/>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5" name="Line 33"/>
          <p:cNvSpPr>
            <a:spLocks noChangeShapeType="1"/>
          </p:cNvSpPr>
          <p:nvPr/>
        </p:nvSpPr>
        <p:spPr bwMode="auto">
          <a:xfrm>
            <a:off x="1987550" y="1968500"/>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6" name="Text Box 34"/>
          <p:cNvSpPr txBox="1">
            <a:spLocks noChangeArrowheads="1"/>
          </p:cNvSpPr>
          <p:nvPr/>
        </p:nvSpPr>
        <p:spPr bwMode="auto">
          <a:xfrm>
            <a:off x="2151063" y="155575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87" name="Line 35"/>
          <p:cNvSpPr>
            <a:spLocks noChangeShapeType="1"/>
          </p:cNvSpPr>
          <p:nvPr/>
        </p:nvSpPr>
        <p:spPr bwMode="auto">
          <a:xfrm>
            <a:off x="3451225" y="1814513"/>
            <a:ext cx="0" cy="309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8" name="Line 36"/>
          <p:cNvSpPr>
            <a:spLocks noChangeShapeType="1"/>
          </p:cNvSpPr>
          <p:nvPr/>
        </p:nvSpPr>
        <p:spPr bwMode="auto">
          <a:xfrm>
            <a:off x="4102100" y="3513138"/>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89" name="Line 37"/>
          <p:cNvSpPr>
            <a:spLocks noChangeShapeType="1"/>
          </p:cNvSpPr>
          <p:nvPr/>
        </p:nvSpPr>
        <p:spPr bwMode="auto">
          <a:xfrm>
            <a:off x="5565775" y="335915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0" name="Line 38"/>
          <p:cNvSpPr>
            <a:spLocks noChangeShapeType="1"/>
          </p:cNvSpPr>
          <p:nvPr/>
        </p:nvSpPr>
        <p:spPr bwMode="auto">
          <a:xfrm>
            <a:off x="8002588" y="5057775"/>
            <a:ext cx="1465262"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1" name="Line 39"/>
          <p:cNvSpPr>
            <a:spLocks noChangeShapeType="1"/>
          </p:cNvSpPr>
          <p:nvPr/>
        </p:nvSpPr>
        <p:spPr bwMode="auto">
          <a:xfrm>
            <a:off x="9467850" y="4902200"/>
            <a:ext cx="0" cy="309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2" name="Line 40"/>
          <p:cNvSpPr>
            <a:spLocks noChangeShapeType="1"/>
          </p:cNvSpPr>
          <p:nvPr/>
        </p:nvSpPr>
        <p:spPr bwMode="auto">
          <a:xfrm>
            <a:off x="5970588" y="4286250"/>
            <a:ext cx="14636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3" name="Line 41"/>
          <p:cNvSpPr>
            <a:spLocks noChangeShapeType="1"/>
          </p:cNvSpPr>
          <p:nvPr/>
        </p:nvSpPr>
        <p:spPr bwMode="auto">
          <a:xfrm>
            <a:off x="7434263" y="4130675"/>
            <a:ext cx="0" cy="3111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4" name="Text Box 42"/>
          <p:cNvSpPr txBox="1">
            <a:spLocks noChangeArrowheads="1"/>
          </p:cNvSpPr>
          <p:nvPr/>
        </p:nvSpPr>
        <p:spPr bwMode="auto">
          <a:xfrm>
            <a:off x="4276725" y="31257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5" name="Text Box 43"/>
          <p:cNvSpPr txBox="1">
            <a:spLocks noChangeArrowheads="1"/>
          </p:cNvSpPr>
          <p:nvPr/>
        </p:nvSpPr>
        <p:spPr bwMode="auto">
          <a:xfrm>
            <a:off x="6132513" y="38735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6" name="Text Box 44"/>
          <p:cNvSpPr txBox="1">
            <a:spLocks noChangeArrowheads="1"/>
          </p:cNvSpPr>
          <p:nvPr/>
        </p:nvSpPr>
        <p:spPr bwMode="auto">
          <a:xfrm>
            <a:off x="8151813" y="46688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争用窗口</a:t>
            </a:r>
          </a:p>
        </p:txBody>
      </p:sp>
      <p:sp>
        <p:nvSpPr>
          <p:cNvPr id="2425897" name="Line 45"/>
          <p:cNvSpPr>
            <a:spLocks noChangeShapeType="1"/>
          </p:cNvSpPr>
          <p:nvPr/>
        </p:nvSpPr>
        <p:spPr bwMode="auto">
          <a:xfrm>
            <a:off x="1338263" y="3848100"/>
            <a:ext cx="1057275"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898" name="Rectangle 46"/>
          <p:cNvSpPr>
            <a:spLocks noChangeArrowheads="1"/>
          </p:cNvSpPr>
          <p:nvPr/>
        </p:nvSpPr>
        <p:spPr bwMode="auto">
          <a:xfrm>
            <a:off x="4102100" y="4208463"/>
            <a:ext cx="325438" cy="233362"/>
          </a:xfrm>
          <a:prstGeom prst="rect">
            <a:avLst/>
          </a:prstGeom>
          <a:solidFill>
            <a:schemeClr val="bg1"/>
          </a:solidFill>
          <a:ln w="1905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899" name="Rectangle 47"/>
          <p:cNvSpPr>
            <a:spLocks noChangeArrowheads="1"/>
          </p:cNvSpPr>
          <p:nvPr/>
        </p:nvSpPr>
        <p:spPr bwMode="auto">
          <a:xfrm>
            <a:off x="2395538" y="4208463"/>
            <a:ext cx="325437" cy="233362"/>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0" name="Line 48"/>
          <p:cNvSpPr>
            <a:spLocks noChangeShapeType="1"/>
          </p:cNvSpPr>
          <p:nvPr/>
        </p:nvSpPr>
        <p:spPr bwMode="auto">
          <a:xfrm>
            <a:off x="1093788" y="4594225"/>
            <a:ext cx="1625600"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1" name="Rectangle 49"/>
          <p:cNvSpPr>
            <a:spLocks noChangeArrowheads="1"/>
          </p:cNvSpPr>
          <p:nvPr/>
        </p:nvSpPr>
        <p:spPr bwMode="auto">
          <a:xfrm>
            <a:off x="8004175" y="2663825"/>
            <a:ext cx="244475" cy="231775"/>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2" name="Line 50"/>
          <p:cNvSpPr>
            <a:spLocks noChangeShapeType="1"/>
          </p:cNvSpPr>
          <p:nvPr/>
        </p:nvSpPr>
        <p:spPr bwMode="auto">
          <a:xfrm>
            <a:off x="6296025" y="2895600"/>
            <a:ext cx="0" cy="19304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3" name="Rectangle 51"/>
          <p:cNvSpPr>
            <a:spLocks noChangeArrowheads="1"/>
          </p:cNvSpPr>
          <p:nvPr/>
        </p:nvSpPr>
        <p:spPr bwMode="auto">
          <a:xfrm>
            <a:off x="6296025" y="2663825"/>
            <a:ext cx="24447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4" name="Rectangle 52"/>
          <p:cNvSpPr>
            <a:spLocks noChangeArrowheads="1"/>
          </p:cNvSpPr>
          <p:nvPr/>
        </p:nvSpPr>
        <p:spPr bwMode="auto">
          <a:xfrm>
            <a:off x="5972175" y="2663825"/>
            <a:ext cx="323850" cy="231775"/>
          </a:xfrm>
          <a:prstGeom prst="rect">
            <a:avLst/>
          </a:prstGeom>
          <a:solidFill>
            <a:schemeClr val="bg1"/>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5" name="Line 53"/>
          <p:cNvSpPr>
            <a:spLocks noChangeShapeType="1"/>
          </p:cNvSpPr>
          <p:nvPr/>
        </p:nvSpPr>
        <p:spPr bwMode="auto">
          <a:xfrm>
            <a:off x="4427538" y="2895600"/>
            <a:ext cx="0" cy="2085975"/>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6" name="Line 54"/>
          <p:cNvSpPr>
            <a:spLocks noChangeShapeType="1"/>
          </p:cNvSpPr>
          <p:nvPr/>
        </p:nvSpPr>
        <p:spPr bwMode="auto">
          <a:xfrm>
            <a:off x="2395538" y="2432050"/>
            <a:ext cx="0" cy="849313"/>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07" name="Rectangle 55"/>
          <p:cNvSpPr>
            <a:spLocks noChangeArrowheads="1"/>
          </p:cNvSpPr>
          <p:nvPr/>
        </p:nvSpPr>
        <p:spPr bwMode="auto">
          <a:xfrm>
            <a:off x="4103688" y="2663825"/>
            <a:ext cx="323850" cy="231775"/>
          </a:xfrm>
          <a:prstGeom prst="rect">
            <a:avLst/>
          </a:prstGeom>
          <a:solidFill>
            <a:schemeClr val="bg1"/>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8" name="Rectangle 56"/>
          <p:cNvSpPr>
            <a:spLocks noChangeArrowheads="1"/>
          </p:cNvSpPr>
          <p:nvPr/>
        </p:nvSpPr>
        <p:spPr bwMode="auto">
          <a:xfrm>
            <a:off x="4427538" y="2663825"/>
            <a:ext cx="56832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09" name="Rectangle 57"/>
          <p:cNvSpPr>
            <a:spLocks noChangeArrowheads="1"/>
          </p:cNvSpPr>
          <p:nvPr/>
        </p:nvSpPr>
        <p:spPr bwMode="auto">
          <a:xfrm>
            <a:off x="2395538" y="2663825"/>
            <a:ext cx="892175" cy="231775"/>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0" name="Rectangle 58"/>
          <p:cNvSpPr>
            <a:spLocks noChangeArrowheads="1"/>
          </p:cNvSpPr>
          <p:nvPr/>
        </p:nvSpPr>
        <p:spPr bwMode="auto">
          <a:xfrm>
            <a:off x="4427538" y="4981575"/>
            <a:ext cx="323850" cy="230188"/>
          </a:xfrm>
          <a:prstGeom prst="rect">
            <a:avLst/>
          </a:prstGeom>
          <a:solidFill>
            <a:srgbClr val="00CC00"/>
          </a:solidFill>
          <a:ln w="1270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1" name="Rectangle 59"/>
          <p:cNvSpPr>
            <a:spLocks noChangeArrowheads="1"/>
          </p:cNvSpPr>
          <p:nvPr/>
        </p:nvSpPr>
        <p:spPr bwMode="auto">
          <a:xfrm>
            <a:off x="5972175" y="4981575"/>
            <a:ext cx="323850" cy="230188"/>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12" name="Line 60"/>
          <p:cNvSpPr>
            <a:spLocks noChangeShapeType="1"/>
          </p:cNvSpPr>
          <p:nvPr/>
        </p:nvSpPr>
        <p:spPr bwMode="auto">
          <a:xfrm>
            <a:off x="849313" y="3049588"/>
            <a:ext cx="2439987"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3" name="Line 61"/>
          <p:cNvSpPr>
            <a:spLocks noChangeShapeType="1"/>
          </p:cNvSpPr>
          <p:nvPr/>
        </p:nvSpPr>
        <p:spPr bwMode="auto">
          <a:xfrm>
            <a:off x="3289300" y="5367338"/>
            <a:ext cx="1462088" cy="0"/>
          </a:xfrm>
          <a:prstGeom prst="line">
            <a:avLst/>
          </a:prstGeom>
          <a:noFill/>
          <a:ln w="1905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4" name="Text Box 62"/>
          <p:cNvSpPr txBox="1">
            <a:spLocks noChangeArrowheads="1"/>
          </p:cNvSpPr>
          <p:nvPr/>
        </p:nvSpPr>
        <p:spPr bwMode="auto">
          <a:xfrm>
            <a:off x="1593850" y="2840038"/>
            <a:ext cx="64611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5" name="Text Box 63"/>
          <p:cNvSpPr txBox="1">
            <a:spLocks noChangeArrowheads="1"/>
          </p:cNvSpPr>
          <p:nvPr/>
        </p:nvSpPr>
        <p:spPr bwMode="auto">
          <a:xfrm>
            <a:off x="1501775" y="3641725"/>
            <a:ext cx="64611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6" name="Text Box 64"/>
          <p:cNvSpPr txBox="1">
            <a:spLocks noChangeArrowheads="1"/>
          </p:cNvSpPr>
          <p:nvPr/>
        </p:nvSpPr>
        <p:spPr bwMode="auto">
          <a:xfrm>
            <a:off x="1484313" y="4416425"/>
            <a:ext cx="646112"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7" name="Text Box 65"/>
          <p:cNvSpPr txBox="1">
            <a:spLocks noChangeArrowheads="1"/>
          </p:cNvSpPr>
          <p:nvPr/>
        </p:nvSpPr>
        <p:spPr bwMode="auto">
          <a:xfrm>
            <a:off x="3681413" y="5197475"/>
            <a:ext cx="6477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退避</a:t>
            </a:r>
          </a:p>
        </p:txBody>
      </p:sp>
      <p:sp>
        <p:nvSpPr>
          <p:cNvPr id="2425918" name="Line 69"/>
          <p:cNvSpPr>
            <a:spLocks noChangeShapeType="1"/>
          </p:cNvSpPr>
          <p:nvPr/>
        </p:nvSpPr>
        <p:spPr bwMode="auto">
          <a:xfrm>
            <a:off x="849313" y="289560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19" name="Line 70"/>
          <p:cNvSpPr>
            <a:spLocks noChangeShapeType="1"/>
          </p:cNvSpPr>
          <p:nvPr/>
        </p:nvSpPr>
        <p:spPr bwMode="auto">
          <a:xfrm>
            <a:off x="3289300" y="2895600"/>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0" name="Line 71"/>
          <p:cNvSpPr>
            <a:spLocks noChangeShapeType="1"/>
          </p:cNvSpPr>
          <p:nvPr/>
        </p:nvSpPr>
        <p:spPr bwMode="auto">
          <a:xfrm>
            <a:off x="3289300" y="5211763"/>
            <a:ext cx="0" cy="311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1" name="Line 72"/>
          <p:cNvSpPr>
            <a:spLocks noChangeShapeType="1"/>
          </p:cNvSpPr>
          <p:nvPr/>
        </p:nvSpPr>
        <p:spPr bwMode="auto">
          <a:xfrm>
            <a:off x="1338263" y="3668713"/>
            <a:ext cx="0" cy="309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2" name="Line 73"/>
          <p:cNvSpPr>
            <a:spLocks noChangeShapeType="1"/>
          </p:cNvSpPr>
          <p:nvPr/>
        </p:nvSpPr>
        <p:spPr bwMode="auto">
          <a:xfrm>
            <a:off x="1093788" y="4440238"/>
            <a:ext cx="0" cy="30956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3" name="Line 74"/>
          <p:cNvSpPr>
            <a:spLocks noChangeShapeType="1"/>
          </p:cNvSpPr>
          <p:nvPr/>
        </p:nvSpPr>
        <p:spPr bwMode="auto">
          <a:xfrm>
            <a:off x="4751388" y="5210175"/>
            <a:ext cx="0" cy="3111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4" name="Line 75"/>
          <p:cNvSpPr>
            <a:spLocks noChangeShapeType="1"/>
          </p:cNvSpPr>
          <p:nvPr/>
        </p:nvSpPr>
        <p:spPr bwMode="auto">
          <a:xfrm>
            <a:off x="2395538" y="3668713"/>
            <a:ext cx="0" cy="30797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5" name="Line 76"/>
          <p:cNvSpPr>
            <a:spLocks noChangeShapeType="1"/>
          </p:cNvSpPr>
          <p:nvPr/>
        </p:nvSpPr>
        <p:spPr bwMode="auto">
          <a:xfrm>
            <a:off x="2719388" y="4441825"/>
            <a:ext cx="0" cy="30956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6" name="Line 77"/>
          <p:cNvSpPr>
            <a:spLocks noChangeShapeType="1"/>
          </p:cNvSpPr>
          <p:nvPr/>
        </p:nvSpPr>
        <p:spPr bwMode="auto">
          <a:xfrm>
            <a:off x="4751388" y="5095875"/>
            <a:ext cx="1381125"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7" name="Line 78"/>
          <p:cNvSpPr>
            <a:spLocks noChangeShapeType="1"/>
          </p:cNvSpPr>
          <p:nvPr/>
        </p:nvSpPr>
        <p:spPr bwMode="auto">
          <a:xfrm>
            <a:off x="2690813" y="4325938"/>
            <a:ext cx="1608137" cy="4762"/>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8" name="Line 79"/>
          <p:cNvSpPr>
            <a:spLocks noChangeShapeType="1"/>
          </p:cNvSpPr>
          <p:nvPr/>
        </p:nvSpPr>
        <p:spPr bwMode="auto">
          <a:xfrm>
            <a:off x="3289300" y="2778125"/>
            <a:ext cx="976313"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29" name="Line 80"/>
          <p:cNvSpPr>
            <a:spLocks noChangeShapeType="1"/>
          </p:cNvSpPr>
          <p:nvPr/>
        </p:nvSpPr>
        <p:spPr bwMode="auto">
          <a:xfrm>
            <a:off x="4995863" y="2778125"/>
            <a:ext cx="1136650"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30" name="Line 81"/>
          <p:cNvSpPr>
            <a:spLocks noChangeShapeType="1"/>
          </p:cNvSpPr>
          <p:nvPr/>
        </p:nvSpPr>
        <p:spPr bwMode="auto">
          <a:xfrm>
            <a:off x="6540500" y="2778125"/>
            <a:ext cx="1625600" cy="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31" name="Text Box 82"/>
          <p:cNvSpPr txBox="1">
            <a:spLocks noChangeArrowheads="1"/>
          </p:cNvSpPr>
          <p:nvPr/>
        </p:nvSpPr>
        <p:spPr bwMode="auto">
          <a:xfrm>
            <a:off x="209550" y="1725613"/>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A</a:t>
            </a:r>
          </a:p>
        </p:txBody>
      </p:sp>
      <p:sp>
        <p:nvSpPr>
          <p:cNvPr id="2425932" name="Text Box 83"/>
          <p:cNvSpPr txBox="1">
            <a:spLocks noChangeArrowheads="1"/>
          </p:cNvSpPr>
          <p:nvPr/>
        </p:nvSpPr>
        <p:spPr bwMode="auto">
          <a:xfrm>
            <a:off x="209550" y="2508250"/>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B</a:t>
            </a:r>
          </a:p>
        </p:txBody>
      </p:sp>
      <p:sp>
        <p:nvSpPr>
          <p:cNvPr id="2425933" name="Text Box 84"/>
          <p:cNvSpPr txBox="1">
            <a:spLocks noChangeArrowheads="1"/>
          </p:cNvSpPr>
          <p:nvPr/>
        </p:nvSpPr>
        <p:spPr bwMode="auto">
          <a:xfrm>
            <a:off x="209550" y="3292475"/>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C</a:t>
            </a:r>
          </a:p>
        </p:txBody>
      </p:sp>
      <p:sp>
        <p:nvSpPr>
          <p:cNvPr id="2425934" name="Text Box 85"/>
          <p:cNvSpPr txBox="1">
            <a:spLocks noChangeArrowheads="1"/>
          </p:cNvSpPr>
          <p:nvPr/>
        </p:nvSpPr>
        <p:spPr bwMode="auto">
          <a:xfrm>
            <a:off x="209550" y="4075113"/>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D</a:t>
            </a:r>
          </a:p>
        </p:txBody>
      </p:sp>
      <p:sp>
        <p:nvSpPr>
          <p:cNvPr id="2425935" name="Text Box 86"/>
          <p:cNvSpPr txBox="1">
            <a:spLocks noChangeArrowheads="1"/>
          </p:cNvSpPr>
          <p:nvPr/>
        </p:nvSpPr>
        <p:spPr bwMode="auto">
          <a:xfrm>
            <a:off x="209550" y="4857750"/>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E</a:t>
            </a:r>
          </a:p>
        </p:txBody>
      </p:sp>
      <p:sp>
        <p:nvSpPr>
          <p:cNvPr id="2425936" name="Text Box 87"/>
          <p:cNvSpPr txBox="1">
            <a:spLocks noChangeArrowheads="1"/>
          </p:cNvSpPr>
          <p:nvPr/>
        </p:nvSpPr>
        <p:spPr bwMode="auto">
          <a:xfrm>
            <a:off x="9518650" y="1738313"/>
            <a:ext cx="261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7" name="Text Box 88"/>
          <p:cNvSpPr txBox="1">
            <a:spLocks noChangeArrowheads="1"/>
          </p:cNvSpPr>
          <p:nvPr/>
        </p:nvSpPr>
        <p:spPr bwMode="auto">
          <a:xfrm>
            <a:off x="9548813" y="2508250"/>
            <a:ext cx="260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8" name="Text Box 89"/>
          <p:cNvSpPr txBox="1">
            <a:spLocks noChangeArrowheads="1"/>
          </p:cNvSpPr>
          <p:nvPr/>
        </p:nvSpPr>
        <p:spPr bwMode="auto">
          <a:xfrm>
            <a:off x="9575800" y="3279775"/>
            <a:ext cx="261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39" name="Text Box 90"/>
          <p:cNvSpPr txBox="1">
            <a:spLocks noChangeArrowheads="1"/>
          </p:cNvSpPr>
          <p:nvPr/>
        </p:nvSpPr>
        <p:spPr bwMode="auto">
          <a:xfrm>
            <a:off x="9604375" y="4051300"/>
            <a:ext cx="261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40" name="Text Box 91"/>
          <p:cNvSpPr txBox="1">
            <a:spLocks noChangeArrowheads="1"/>
          </p:cNvSpPr>
          <p:nvPr/>
        </p:nvSpPr>
        <p:spPr bwMode="auto">
          <a:xfrm>
            <a:off x="9634538" y="4822825"/>
            <a:ext cx="261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宋体" panose="02010600030101010101" pitchFamily="2" charset="-122"/>
              </a:rPr>
              <a:t>t</a:t>
            </a:r>
          </a:p>
        </p:txBody>
      </p:sp>
      <p:sp>
        <p:nvSpPr>
          <p:cNvPr id="2425941" name="Line 92"/>
          <p:cNvSpPr>
            <a:spLocks noChangeShapeType="1"/>
          </p:cNvSpPr>
          <p:nvPr/>
        </p:nvSpPr>
        <p:spPr bwMode="auto">
          <a:xfrm>
            <a:off x="1827213" y="1506538"/>
            <a:ext cx="0" cy="3937000"/>
          </a:xfrm>
          <a:prstGeom prst="line">
            <a:avLst/>
          </a:prstGeom>
          <a:noFill/>
          <a:ln w="1905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42" name="Rectangle 93"/>
          <p:cNvSpPr>
            <a:spLocks noChangeArrowheads="1"/>
          </p:cNvSpPr>
          <p:nvPr/>
        </p:nvSpPr>
        <p:spPr bwMode="auto">
          <a:xfrm>
            <a:off x="1144588" y="6021388"/>
            <a:ext cx="892175" cy="231775"/>
          </a:xfrm>
          <a:prstGeom prst="rect">
            <a:avLst/>
          </a:prstGeom>
          <a:solidFill>
            <a:srgbClr val="00CC00"/>
          </a:solidFill>
          <a:ln w="19050">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43" name="Line 95"/>
          <p:cNvSpPr>
            <a:spLocks noChangeShapeType="1"/>
          </p:cNvSpPr>
          <p:nvPr/>
        </p:nvSpPr>
        <p:spPr bwMode="auto">
          <a:xfrm>
            <a:off x="2109788" y="6130925"/>
            <a:ext cx="65246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44" name="Rectangle 96"/>
          <p:cNvSpPr>
            <a:spLocks noChangeArrowheads="1"/>
          </p:cNvSpPr>
          <p:nvPr/>
        </p:nvSpPr>
        <p:spPr bwMode="auto">
          <a:xfrm>
            <a:off x="415925" y="5815013"/>
            <a:ext cx="9294813" cy="566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25945" name="Text Box 97"/>
          <p:cNvSpPr txBox="1">
            <a:spLocks noChangeArrowheads="1"/>
          </p:cNvSpPr>
          <p:nvPr/>
        </p:nvSpPr>
        <p:spPr bwMode="auto">
          <a:xfrm>
            <a:off x="2540000" y="2278063"/>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6" name="Text Box 98"/>
          <p:cNvSpPr txBox="1">
            <a:spLocks noChangeArrowheads="1"/>
          </p:cNvSpPr>
          <p:nvPr/>
        </p:nvSpPr>
        <p:spPr bwMode="auto">
          <a:xfrm>
            <a:off x="2214563" y="3819525"/>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7" name="Text Box 99"/>
          <p:cNvSpPr txBox="1">
            <a:spLocks noChangeArrowheads="1"/>
          </p:cNvSpPr>
          <p:nvPr/>
        </p:nvSpPr>
        <p:spPr bwMode="auto">
          <a:xfrm>
            <a:off x="4321175" y="4606925"/>
            <a:ext cx="647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8" name="Text Box 100"/>
          <p:cNvSpPr txBox="1">
            <a:spLocks noChangeArrowheads="1"/>
          </p:cNvSpPr>
          <p:nvPr/>
        </p:nvSpPr>
        <p:spPr bwMode="auto">
          <a:xfrm>
            <a:off x="6116638" y="2278063"/>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49" name="Text Box 101"/>
          <p:cNvSpPr txBox="1">
            <a:spLocks noChangeArrowheads="1"/>
          </p:cNvSpPr>
          <p:nvPr/>
        </p:nvSpPr>
        <p:spPr bwMode="auto">
          <a:xfrm>
            <a:off x="4344988" y="227806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宋体" panose="02010600030101010101" pitchFamily="2" charset="-122"/>
              </a:rPr>
              <a:t>冻结</a:t>
            </a:r>
          </a:p>
        </p:txBody>
      </p:sp>
      <p:sp>
        <p:nvSpPr>
          <p:cNvPr id="2425950" name="Line 5"/>
          <p:cNvSpPr>
            <a:spLocks noChangeShapeType="1"/>
          </p:cNvSpPr>
          <p:nvPr/>
        </p:nvSpPr>
        <p:spPr bwMode="auto">
          <a:xfrm>
            <a:off x="363538" y="2124075"/>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1" name="Line 6"/>
          <p:cNvSpPr>
            <a:spLocks noChangeShapeType="1"/>
          </p:cNvSpPr>
          <p:nvPr/>
        </p:nvSpPr>
        <p:spPr bwMode="auto">
          <a:xfrm>
            <a:off x="363538" y="5208588"/>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2" name="Line 66"/>
          <p:cNvSpPr>
            <a:spLocks noChangeShapeType="1"/>
          </p:cNvSpPr>
          <p:nvPr/>
        </p:nvSpPr>
        <p:spPr bwMode="auto">
          <a:xfrm>
            <a:off x="363538" y="3667125"/>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3" name="Line 67"/>
          <p:cNvSpPr>
            <a:spLocks noChangeShapeType="1"/>
          </p:cNvSpPr>
          <p:nvPr/>
        </p:nvSpPr>
        <p:spPr bwMode="auto">
          <a:xfrm>
            <a:off x="363538" y="4437063"/>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4" name="Line 68"/>
          <p:cNvSpPr>
            <a:spLocks noChangeShapeType="1"/>
          </p:cNvSpPr>
          <p:nvPr/>
        </p:nvSpPr>
        <p:spPr bwMode="auto">
          <a:xfrm>
            <a:off x="363538" y="2895600"/>
            <a:ext cx="934720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25955" name="Rectangle 105"/>
          <p:cNvSpPr>
            <a:spLocks noGrp="1" noChangeArrowheads="1"/>
          </p:cNvSpPr>
          <p:nvPr>
            <p:ph type="title"/>
          </p:nvPr>
        </p:nvSpPr>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的退避机制</a:t>
            </a:r>
          </a:p>
        </p:txBody>
      </p:sp>
      <p:sp>
        <p:nvSpPr>
          <p:cNvPr id="2425956" name="Line 112"/>
          <p:cNvSpPr>
            <a:spLocks noChangeShapeType="1"/>
          </p:cNvSpPr>
          <p:nvPr/>
        </p:nvSpPr>
        <p:spPr bwMode="auto">
          <a:xfrm flipV="1">
            <a:off x="7088188" y="5970588"/>
            <a:ext cx="0" cy="28733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25957" name="Line 113"/>
          <p:cNvSpPr>
            <a:spLocks noChangeShapeType="1"/>
          </p:cNvSpPr>
          <p:nvPr/>
        </p:nvSpPr>
        <p:spPr bwMode="auto">
          <a:xfrm flipV="1">
            <a:off x="7232650" y="6121400"/>
            <a:ext cx="457200" cy="4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2595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96ACB6-A15A-4154-B32D-DE39BE58412E}" type="slidenum">
              <a:rPr lang="zh-CN" altLang="en-US" smtClean="0"/>
              <a:pPr eaLnBrk="1" hangingPunct="1"/>
              <a:t>42</a:t>
            </a:fld>
            <a:endParaRPr lang="en-US" altLang="zh-CN" smtClean="0"/>
          </a:p>
        </p:txBody>
      </p:sp>
      <p:sp>
        <p:nvSpPr>
          <p:cNvPr id="242595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7905"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二进制指数退避算法 </a:t>
            </a:r>
          </a:p>
        </p:txBody>
      </p:sp>
      <p:sp>
        <p:nvSpPr>
          <p:cNvPr id="331785" name="Rectangle 9"/>
          <p:cNvSpPr>
            <a:spLocks noGrp="1" noChangeArrowheads="1"/>
          </p:cNvSpPr>
          <p:nvPr>
            <p:ph idx="1"/>
          </p:nvPr>
        </p:nvSpPr>
        <p:spPr>
          <a:xfrm>
            <a:off x="495300" y="1196975"/>
            <a:ext cx="9066213" cy="4933950"/>
          </a:xfrm>
        </p:spPr>
        <p:txBody>
          <a:bodyPr/>
          <a:lstStyle/>
          <a:p>
            <a:pPr>
              <a:lnSpc>
                <a:spcPct val="100000"/>
              </a:lnSpc>
            </a:pPr>
            <a:r>
              <a:rPr lang="zh-CN" altLang="en-US" sz="2800" dirty="0" smtClean="0">
                <a:ea typeface="黑体" panose="02010609060101010101" pitchFamily="49" charset="-122"/>
              </a:rPr>
              <a:t>第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en-US" sz="2800" dirty="0" smtClean="0">
                <a:ea typeface="黑体" panose="02010609060101010101" pitchFamily="49" charset="-122"/>
              </a:rPr>
              <a:t>次退避就在 </a:t>
            </a:r>
            <a:r>
              <a:rPr lang="en-US" altLang="zh-CN" sz="2800" dirty="0" smtClean="0">
                <a:latin typeface="Times New Roman" panose="02020603050405020304" pitchFamily="18" charset="0"/>
                <a:ea typeface="黑体" panose="02010609060101010101" pitchFamily="49" charset="-122"/>
              </a:rPr>
              <a:t>2</a:t>
            </a:r>
            <a:r>
              <a:rPr lang="en-US" altLang="zh-CN" sz="2800" baseline="30000" dirty="0" smtClean="0">
                <a:latin typeface="Times New Roman" panose="02020603050405020304" pitchFamily="18" charset="0"/>
                <a:ea typeface="黑体" panose="02010609060101010101" pitchFamily="49" charset="-122"/>
              </a:rPr>
              <a:t>2 + </a:t>
            </a:r>
            <a:r>
              <a:rPr lang="en-US" altLang="zh-CN" sz="2800" i="1" baseline="30000"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en-US" sz="2800" dirty="0" smtClean="0">
                <a:ea typeface="黑体" panose="02010609060101010101" pitchFamily="49" charset="-122"/>
              </a:rPr>
              <a:t>个时隙中随机地选择一个，即：第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latin typeface="Times New Roman" panose="02020603050405020304" pitchFamily="18" charset="0"/>
                <a:ea typeface="黑体" panose="02010609060101010101" pitchFamily="49" charset="-122"/>
              </a:rPr>
              <a:t> </a:t>
            </a:r>
            <a:r>
              <a:rPr lang="zh-CN" altLang="en-US" sz="2800" dirty="0" smtClean="0">
                <a:ea typeface="黑体" panose="02010609060101010101" pitchFamily="49" charset="-122"/>
              </a:rPr>
              <a:t>次退避是在时隙 </a:t>
            </a:r>
            <a:r>
              <a:rPr lang="en-US" altLang="zh-CN" sz="2800" dirty="0" smtClean="0">
                <a:ea typeface="黑体" panose="02010609060101010101" pitchFamily="49" charset="-122"/>
              </a:rPr>
              <a:t>{0, 1, …, 2</a:t>
            </a:r>
            <a:r>
              <a:rPr lang="en-US" altLang="zh-CN" sz="2800" baseline="30000" dirty="0" smtClean="0">
                <a:ea typeface="黑体" panose="02010609060101010101" pitchFamily="49" charset="-122"/>
              </a:rPr>
              <a:t>2+</a:t>
            </a:r>
            <a:r>
              <a:rPr lang="en-US" altLang="zh-CN" sz="2800" i="1" baseline="30000" dirty="0" smtClean="0">
                <a:latin typeface="Times New Roman" panose="02020603050405020304" pitchFamily="18" charset="0"/>
                <a:ea typeface="黑体" panose="02010609060101010101" pitchFamily="49" charset="-122"/>
              </a:rPr>
              <a:t>i</a:t>
            </a:r>
            <a:r>
              <a:rPr lang="en-US" altLang="zh-CN" sz="2800" baseline="30000" dirty="0" smtClean="0">
                <a:ea typeface="黑体" panose="02010609060101010101" pitchFamily="49" charset="-122"/>
              </a:rPr>
              <a:t> </a:t>
            </a:r>
            <a:r>
              <a:rPr lang="en-US" altLang="zh-CN" sz="2800" dirty="0" smtClean="0">
                <a:ea typeface="黑体" panose="02010609060101010101" pitchFamily="49" charset="-122"/>
              </a:rPr>
              <a:t>– 1} </a:t>
            </a:r>
            <a:r>
              <a:rPr lang="zh-CN" altLang="en-US" sz="2800" dirty="0" smtClean="0">
                <a:ea typeface="黑体" panose="02010609060101010101" pitchFamily="49" charset="-122"/>
              </a:rPr>
              <a:t>中随机地选择一个。 </a:t>
            </a:r>
          </a:p>
          <a:p>
            <a:pPr>
              <a:lnSpc>
                <a:spcPct val="100000"/>
              </a:lnSpc>
            </a:pPr>
            <a:r>
              <a:rPr lang="zh-CN" altLang="en-US" sz="2800" dirty="0" smtClean="0">
                <a:ea typeface="黑体" panose="02010609060101010101" pitchFamily="49" charset="-122"/>
              </a:rPr>
              <a:t>第 </a:t>
            </a:r>
            <a:r>
              <a:rPr lang="en-US" altLang="zh-CN" sz="2800" dirty="0" smtClean="0">
                <a:ea typeface="黑体" panose="02010609060101010101" pitchFamily="49" charset="-122"/>
              </a:rPr>
              <a:t>1 </a:t>
            </a:r>
            <a:r>
              <a:rPr lang="zh-CN" altLang="en-US" sz="2800" dirty="0" smtClean="0">
                <a:ea typeface="黑体" panose="02010609060101010101" pitchFamily="49" charset="-122"/>
              </a:rPr>
              <a:t>次退避是在 </a:t>
            </a:r>
            <a:r>
              <a:rPr lang="en-US" altLang="zh-CN" sz="2800" dirty="0" smtClean="0">
                <a:ea typeface="黑体" panose="02010609060101010101" pitchFamily="49" charset="-122"/>
              </a:rPr>
              <a:t>8 </a:t>
            </a:r>
            <a:r>
              <a:rPr lang="zh-CN" altLang="en-US" sz="2800" dirty="0" smtClean="0">
                <a:ea typeface="黑体" panose="02010609060101010101" pitchFamily="49" charset="-122"/>
              </a:rPr>
              <a:t>个时隙（而不是 </a:t>
            </a:r>
            <a:r>
              <a:rPr lang="en-US" altLang="zh-CN" sz="2800" dirty="0" smtClean="0">
                <a:ea typeface="黑体" panose="02010609060101010101" pitchFamily="49" charset="-122"/>
              </a:rPr>
              <a:t>2 </a:t>
            </a:r>
            <a:r>
              <a:rPr lang="zh-CN" altLang="en-US" sz="2800" dirty="0" smtClean="0">
                <a:ea typeface="黑体" panose="02010609060101010101" pitchFamily="49" charset="-122"/>
              </a:rPr>
              <a:t>个）中随机选择一个。</a:t>
            </a:r>
          </a:p>
          <a:p>
            <a:pPr>
              <a:lnSpc>
                <a:spcPct val="100000"/>
              </a:lnSpc>
            </a:pPr>
            <a:r>
              <a:rPr lang="zh-CN" altLang="en-US" sz="2800" dirty="0" smtClean="0">
                <a:ea typeface="黑体" panose="02010609060101010101" pitchFamily="49" charset="-122"/>
              </a:rPr>
              <a:t>第 </a:t>
            </a:r>
            <a:r>
              <a:rPr lang="en-US" altLang="zh-CN" sz="2800" dirty="0" smtClean="0">
                <a:ea typeface="黑体" panose="02010609060101010101" pitchFamily="49" charset="-122"/>
              </a:rPr>
              <a:t>2 </a:t>
            </a:r>
            <a:r>
              <a:rPr lang="zh-CN" altLang="en-US" sz="2800" dirty="0" smtClean="0">
                <a:ea typeface="黑体" panose="02010609060101010101" pitchFamily="49" charset="-122"/>
              </a:rPr>
              <a:t>次退避是在 </a:t>
            </a:r>
            <a:r>
              <a:rPr lang="en-US" altLang="zh-CN" sz="2800" dirty="0" smtClean="0">
                <a:ea typeface="黑体" panose="02010609060101010101" pitchFamily="49" charset="-122"/>
              </a:rPr>
              <a:t>16 </a:t>
            </a:r>
            <a:r>
              <a:rPr lang="zh-CN" altLang="en-US" sz="2800" dirty="0" smtClean="0">
                <a:ea typeface="黑体" panose="02010609060101010101" pitchFamily="49" charset="-122"/>
              </a:rPr>
              <a:t>个时隙（而不是 </a:t>
            </a:r>
            <a:r>
              <a:rPr lang="en-US" altLang="zh-CN" sz="2800" dirty="0" smtClean="0">
                <a:ea typeface="黑体" panose="02010609060101010101" pitchFamily="49" charset="-122"/>
              </a:rPr>
              <a:t>4 </a:t>
            </a:r>
            <a:r>
              <a:rPr lang="zh-CN" altLang="en-US" sz="2800" dirty="0" smtClean="0">
                <a:ea typeface="黑体" panose="02010609060101010101" pitchFamily="49" charset="-122"/>
              </a:rPr>
              <a:t>个）中随机选择一个。 </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当时隙编号达到</a:t>
            </a:r>
            <a:r>
              <a:rPr lang="en-US" altLang="zh-CN" sz="2800" dirty="0" smtClean="0">
                <a:ea typeface="黑体" panose="02010609060101010101" pitchFamily="49" charset="-122"/>
              </a:rPr>
              <a:t> 255 </a:t>
            </a:r>
            <a:r>
              <a:rPr lang="zh-CN" altLang="zh-CN" sz="2800" dirty="0" smtClean="0">
                <a:ea typeface="黑体" panose="02010609060101010101" pitchFamily="49" charset="-122"/>
              </a:rPr>
              <a:t>时（这对应于第</a:t>
            </a:r>
            <a:r>
              <a:rPr lang="en-US" altLang="zh-CN" sz="2800" dirty="0" smtClean="0">
                <a:ea typeface="黑体" panose="02010609060101010101" pitchFamily="49" charset="-122"/>
              </a:rPr>
              <a:t> 6 </a:t>
            </a:r>
            <a:r>
              <a:rPr lang="zh-CN" altLang="zh-CN" sz="2800" dirty="0" smtClean="0">
                <a:ea typeface="黑体" panose="02010609060101010101" pitchFamily="49" charset="-122"/>
              </a:rPr>
              <a:t>次退避）就不再增加了。</a:t>
            </a:r>
            <a:endParaRPr lang="en-US" altLang="zh-CN" sz="2800" dirty="0" smtClean="0">
              <a:ea typeface="黑体" panose="02010609060101010101" pitchFamily="49" charset="-122"/>
            </a:endParaRPr>
          </a:p>
          <a:p>
            <a:pPr>
              <a:lnSpc>
                <a:spcPct val="100000"/>
              </a:lnSpc>
            </a:pPr>
            <a:r>
              <a:rPr lang="zh-CN" altLang="zh-CN" sz="2800" dirty="0" smtClean="0">
                <a:ea typeface="黑体" panose="02010609060101010101" pitchFamily="49" charset="-122"/>
              </a:rPr>
              <a:t>这里决定退避时间的变量</a:t>
            </a:r>
            <a:r>
              <a:rPr lang="en-US" altLang="zh-CN" sz="2800" dirty="0" smtClean="0">
                <a:ea typeface="黑体" panose="02010609060101010101" pitchFamily="49" charset="-122"/>
              </a:rPr>
              <a:t> </a:t>
            </a:r>
            <a:r>
              <a:rPr lang="en-US" altLang="zh-CN" sz="2800" i="1" dirty="0" err="1" smtClean="0">
                <a:latin typeface="Times New Roman" panose="02020603050405020304" pitchFamily="18" charset="0"/>
                <a:ea typeface="黑体" panose="02010609060101010101" pitchFamily="49" charset="-122"/>
              </a:rPr>
              <a:t>i</a:t>
            </a:r>
            <a:r>
              <a:rPr lang="en-US" altLang="zh-CN" sz="2800" i="1" dirty="0" smtClean="0">
                <a:ea typeface="黑体" panose="02010609060101010101" pitchFamily="49" charset="-122"/>
              </a:rPr>
              <a:t> </a:t>
            </a:r>
            <a:r>
              <a:rPr lang="zh-CN" altLang="zh-CN" sz="2800" dirty="0" smtClean="0">
                <a:ea typeface="黑体" panose="02010609060101010101" pitchFamily="49" charset="-122"/>
              </a:rPr>
              <a:t>称为</a:t>
            </a:r>
            <a:r>
              <a:rPr lang="zh-CN" altLang="zh-CN" sz="2800" dirty="0" smtClean="0">
                <a:solidFill>
                  <a:srgbClr val="FF0000"/>
                </a:solidFill>
                <a:ea typeface="黑体" panose="02010609060101010101" pitchFamily="49" charset="-122"/>
              </a:rPr>
              <a:t>退避变量。</a:t>
            </a:r>
            <a:endParaRPr lang="zh-CN" altLang="en-US" sz="2800" dirty="0" smtClean="0">
              <a:solidFill>
                <a:srgbClr val="FF0000"/>
              </a:solidFill>
              <a:ea typeface="黑体" panose="02010609060101010101" pitchFamily="49" charset="-122"/>
            </a:endParaRPr>
          </a:p>
        </p:txBody>
      </p:sp>
      <p:sp>
        <p:nvSpPr>
          <p:cNvPr id="2427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937A8C-B8B1-41CB-AF88-AC64648FF2E1}" type="slidenum">
              <a:rPr lang="zh-CN" altLang="en-US" smtClean="0"/>
              <a:pPr eaLnBrk="1" hangingPunct="1"/>
              <a:t>43</a:t>
            </a:fld>
            <a:endParaRPr lang="en-US" altLang="zh-CN" smtClean="0"/>
          </a:p>
        </p:txBody>
      </p:sp>
      <p:sp>
        <p:nvSpPr>
          <p:cNvPr id="2427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178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178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3178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317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99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退避计时器 </a:t>
            </a:r>
            <a:r>
              <a:rPr lang="en-US" altLang="zh-CN" smtClean="0">
                <a:ea typeface="黑体" panose="02010609060101010101" pitchFamily="49" charset="-122"/>
              </a:rPr>
              <a:t>(backoff timer)</a:t>
            </a:r>
          </a:p>
        </p:txBody>
      </p:sp>
      <p:sp>
        <p:nvSpPr>
          <p:cNvPr id="24299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站点每经历一个时隙的时间就检测一次信道。</a:t>
            </a:r>
            <a:endParaRPr lang="en-US" altLang="zh-CN" smtClean="0">
              <a:ea typeface="黑体" panose="02010609060101010101" pitchFamily="49" charset="-122"/>
            </a:endParaRPr>
          </a:p>
          <a:p>
            <a:r>
              <a:rPr lang="zh-CN" altLang="en-US" smtClean="0">
                <a:ea typeface="黑体" panose="02010609060101010101" pitchFamily="49" charset="-122"/>
              </a:rPr>
              <a:t>这可能发生两种情况：</a:t>
            </a:r>
          </a:p>
          <a:p>
            <a:pPr lvl="1"/>
            <a:r>
              <a:rPr lang="zh-CN" altLang="en-US" smtClean="0">
                <a:ea typeface="黑体" panose="02010609060101010101" pitchFamily="49" charset="-122"/>
              </a:rPr>
              <a:t>若检测到</a:t>
            </a:r>
            <a:r>
              <a:rPr lang="zh-CN" altLang="en-US" smtClean="0">
                <a:solidFill>
                  <a:srgbClr val="FF0000"/>
                </a:solidFill>
                <a:ea typeface="黑体" panose="02010609060101010101" pitchFamily="49" charset="-122"/>
              </a:rPr>
              <a:t>信道空闲，</a:t>
            </a:r>
            <a:r>
              <a:rPr lang="zh-CN" altLang="en-US" smtClean="0">
                <a:ea typeface="黑体" panose="02010609060101010101" pitchFamily="49" charset="-122"/>
              </a:rPr>
              <a:t>退避计时器就</a:t>
            </a:r>
            <a:r>
              <a:rPr lang="zh-CN" altLang="en-US" smtClean="0">
                <a:solidFill>
                  <a:srgbClr val="FF0000"/>
                </a:solidFill>
                <a:ea typeface="黑体" panose="02010609060101010101" pitchFamily="49" charset="-122"/>
              </a:rPr>
              <a:t>继续</a:t>
            </a:r>
            <a:r>
              <a:rPr lang="zh-CN" altLang="en-US" smtClean="0">
                <a:ea typeface="黑体" panose="02010609060101010101" pitchFamily="49" charset="-122"/>
              </a:rPr>
              <a:t>倒计时。</a:t>
            </a:r>
          </a:p>
          <a:p>
            <a:pPr lvl="1"/>
            <a:r>
              <a:rPr lang="zh-CN" altLang="en-US" smtClean="0">
                <a:ea typeface="黑体" panose="02010609060101010101" pitchFamily="49" charset="-122"/>
              </a:rPr>
              <a:t>若检测到</a:t>
            </a:r>
            <a:r>
              <a:rPr lang="zh-CN" altLang="en-US" smtClean="0">
                <a:solidFill>
                  <a:srgbClr val="FF0000"/>
                </a:solidFill>
                <a:ea typeface="黑体" panose="02010609060101010101" pitchFamily="49" charset="-122"/>
              </a:rPr>
              <a:t>信道忙，</a:t>
            </a:r>
            <a:r>
              <a:rPr lang="zh-CN" altLang="en-US" smtClean="0">
                <a:ea typeface="黑体" panose="02010609060101010101" pitchFamily="49" charset="-122"/>
              </a:rPr>
              <a:t>就</a:t>
            </a:r>
            <a:r>
              <a:rPr lang="zh-CN" altLang="en-US" smtClean="0">
                <a:solidFill>
                  <a:srgbClr val="FF0000"/>
                </a:solidFill>
                <a:ea typeface="黑体" panose="02010609060101010101" pitchFamily="49" charset="-122"/>
              </a:rPr>
              <a:t>冻结</a:t>
            </a:r>
            <a:r>
              <a:rPr lang="zh-CN" altLang="en-US" smtClean="0">
                <a:ea typeface="黑体" panose="02010609060101010101" pitchFamily="49" charset="-122"/>
              </a:rPr>
              <a:t>退避计时器的剩余时间，重新等待信道变为空闲，并再经过时间 </a:t>
            </a:r>
            <a:r>
              <a:rPr lang="en-US" altLang="zh-CN" smtClean="0">
                <a:ea typeface="黑体" panose="02010609060101010101" pitchFamily="49" charset="-122"/>
              </a:rPr>
              <a:t>DIFS </a:t>
            </a:r>
            <a:r>
              <a:rPr lang="zh-CN" altLang="en-US" smtClean="0">
                <a:ea typeface="黑体" panose="02010609060101010101" pitchFamily="49" charset="-122"/>
              </a:rPr>
              <a:t>后，从剩余时间开始继续倒计时。</a:t>
            </a:r>
            <a:r>
              <a:rPr lang="zh-CN" altLang="en-US" smtClean="0">
                <a:solidFill>
                  <a:srgbClr val="0000FF"/>
                </a:solidFill>
                <a:ea typeface="黑体" panose="02010609060101010101" pitchFamily="49" charset="-122"/>
              </a:rPr>
              <a:t>如果退避计时器的时间减小到零时，就开始发送整个数据帧</a:t>
            </a:r>
            <a:r>
              <a:rPr lang="zh-CN" altLang="en-US" smtClean="0">
                <a:ea typeface="黑体" panose="02010609060101010101" pitchFamily="49" charset="-122"/>
              </a:rPr>
              <a:t>。 </a:t>
            </a:r>
            <a:endParaRPr lang="en-US" altLang="zh-CN" smtClean="0">
              <a:ea typeface="黑体" panose="02010609060101010101" pitchFamily="49" charset="-122"/>
            </a:endParaRPr>
          </a:p>
        </p:txBody>
      </p:sp>
      <p:sp>
        <p:nvSpPr>
          <p:cNvPr id="2429955" name="矩形 1"/>
          <p:cNvSpPr>
            <a:spLocks noChangeArrowheads="1"/>
          </p:cNvSpPr>
          <p:nvPr/>
        </p:nvSpPr>
        <p:spPr bwMode="auto">
          <a:xfrm>
            <a:off x="704850" y="5013325"/>
            <a:ext cx="8856663" cy="1076325"/>
          </a:xfrm>
          <a:prstGeom prst="rect">
            <a:avLst/>
          </a:prstGeom>
          <a:solidFill>
            <a:srgbClr val="FFFF66"/>
          </a:solidFill>
          <a:ln w="9525">
            <a:solidFill>
              <a:schemeClr val="tx1"/>
            </a:solidFill>
            <a:round/>
            <a:headEnd/>
            <a:tailEnd/>
          </a:ln>
        </p:spPr>
        <p:txBody>
          <a:bodyPr>
            <a:spAutoFit/>
          </a:bodyPr>
          <a:lstStyle/>
          <a:p>
            <a:pPr eaLnBrk="0" hangingPunct="0"/>
            <a:r>
              <a:rPr lang="zh-CN" altLang="zh-CN" sz="3200" b="1">
                <a:ea typeface="宋体" panose="02010600030101010101" pitchFamily="2" charset="-122"/>
              </a:rPr>
              <a:t>冻结退避计时器剩余时间的做法是为了使协议对所有站点更加公平。</a:t>
            </a:r>
            <a:endParaRPr lang="zh-CN" altLang="en-US" sz="3200" b="1">
              <a:ea typeface="宋体" panose="02010600030101010101" pitchFamily="2" charset="-122"/>
            </a:endParaRPr>
          </a:p>
        </p:txBody>
      </p:sp>
      <p:sp>
        <p:nvSpPr>
          <p:cNvPr id="242995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5402CA-6E02-4BB4-A046-2AB0A8C3E103}" type="slidenum">
              <a:rPr lang="zh-CN" altLang="en-US" smtClean="0"/>
              <a:pPr eaLnBrk="1" hangingPunct="1"/>
              <a:t>44</a:t>
            </a:fld>
            <a:endParaRPr lang="en-US" altLang="zh-CN" smtClean="0"/>
          </a:p>
        </p:txBody>
      </p:sp>
      <p:sp>
        <p:nvSpPr>
          <p:cNvPr id="242995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2001" name="Rectangle 6"/>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退避算法的使用情况 </a:t>
            </a:r>
          </a:p>
        </p:txBody>
      </p:sp>
      <p:sp>
        <p:nvSpPr>
          <p:cNvPr id="332809" name="Rectangle 9"/>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仅在下面的情况下才不使用退避算法：</a:t>
            </a:r>
            <a:endParaRPr lang="en-US" altLang="zh-CN" smtClean="0">
              <a:ea typeface="黑体" panose="02010609060101010101" pitchFamily="49" charset="-122"/>
            </a:endParaRPr>
          </a:p>
          <a:p>
            <a:pPr lvl="1"/>
            <a:r>
              <a:rPr lang="zh-CN" altLang="en-US" smtClean="0">
                <a:ea typeface="黑体" panose="02010609060101010101" pitchFamily="49" charset="-122"/>
              </a:rPr>
              <a:t>检测到信道是空闲的，并且这个数据帧是要发送的第一个数据帧。</a:t>
            </a:r>
          </a:p>
          <a:p>
            <a:r>
              <a:rPr lang="zh-CN" altLang="en-US" smtClean="0">
                <a:ea typeface="黑体" panose="02010609060101010101" pitchFamily="49" charset="-122"/>
              </a:rPr>
              <a:t>除此以外的所有情况，都必须使用退避算法：</a:t>
            </a:r>
          </a:p>
          <a:p>
            <a:pPr lvl="1"/>
            <a:r>
              <a:rPr lang="zh-CN" altLang="en-US" smtClean="0">
                <a:ea typeface="黑体" panose="02010609060101010101" pitchFamily="49" charset="-122"/>
              </a:rPr>
              <a:t>在发送第一个帧之前检测到信道处于忙态。</a:t>
            </a:r>
          </a:p>
          <a:p>
            <a:pPr lvl="1"/>
            <a:r>
              <a:rPr lang="zh-CN" altLang="en-US" smtClean="0">
                <a:ea typeface="黑体" panose="02010609060101010101" pitchFamily="49" charset="-122"/>
              </a:rPr>
              <a:t>在每一次的重传后。</a:t>
            </a:r>
          </a:p>
          <a:p>
            <a:pPr lvl="1"/>
            <a:r>
              <a:rPr lang="zh-CN" altLang="en-US" smtClean="0">
                <a:ea typeface="黑体" panose="02010609060101010101" pitchFamily="49" charset="-122"/>
              </a:rPr>
              <a:t>在每一次的成功发送后。  </a:t>
            </a:r>
          </a:p>
        </p:txBody>
      </p:sp>
      <p:sp>
        <p:nvSpPr>
          <p:cNvPr id="24320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D6E739-4223-46FA-AE15-F4E63889B9DE}" type="slidenum">
              <a:rPr lang="zh-CN" altLang="en-US" smtClean="0"/>
              <a:pPr eaLnBrk="1" hangingPunct="1"/>
              <a:t>45</a:t>
            </a:fld>
            <a:endParaRPr lang="en-US" altLang="zh-CN" smtClean="0"/>
          </a:p>
        </p:txBody>
      </p:sp>
      <p:sp>
        <p:nvSpPr>
          <p:cNvPr id="24320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280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2809">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2809">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280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3025"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CSMA/CA </a:t>
            </a:r>
            <a:r>
              <a:rPr lang="zh-CN" altLang="zh-CN" smtClean="0">
                <a:ea typeface="黑体" panose="02010609060101010101" pitchFamily="49" charset="-122"/>
              </a:rPr>
              <a:t>算法归纳</a:t>
            </a:r>
            <a:endParaRPr lang="zh-CN" altLang="en-US" smtClean="0">
              <a:ea typeface="黑体" panose="02010609060101010101" pitchFamily="49" charset="-122"/>
            </a:endParaRPr>
          </a:p>
        </p:txBody>
      </p:sp>
      <p:sp>
        <p:nvSpPr>
          <p:cNvPr id="2433026" name="内容占位符 2"/>
          <p:cNvSpPr>
            <a:spLocks noGrp="1" noChangeArrowheads="1"/>
          </p:cNvSpPr>
          <p:nvPr>
            <p:ph idx="1"/>
          </p:nvPr>
        </p:nvSpPr>
        <p:spPr>
          <a:xfrm>
            <a:off x="495300" y="1196975"/>
            <a:ext cx="9066213" cy="4933950"/>
          </a:xfrm>
        </p:spPr>
        <p:txBody>
          <a:bodyPr/>
          <a:lstStyle/>
          <a:p>
            <a:r>
              <a:rPr lang="en-US" altLang="zh-CN" sz="2300" smtClean="0">
                <a:ea typeface="黑体" panose="02010609060101010101" pitchFamily="49" charset="-122"/>
              </a:rPr>
              <a:t>(1) </a:t>
            </a:r>
            <a:r>
              <a:rPr lang="zh-CN" altLang="zh-CN" sz="2300" smtClean="0">
                <a:ea typeface="黑体" panose="02010609060101010101" pitchFamily="49" charset="-122"/>
              </a:rPr>
              <a:t>若站点最初有数据要发送（而不是发送不成功再进行重传），且检测到信道空闲，在等待时间</a:t>
            </a:r>
            <a:r>
              <a:rPr lang="en-US" altLang="zh-CN" sz="2300" smtClean="0">
                <a:ea typeface="黑体" panose="02010609060101010101" pitchFamily="49" charset="-122"/>
              </a:rPr>
              <a:t> DIFS </a:t>
            </a:r>
            <a:r>
              <a:rPr lang="zh-CN" altLang="zh-CN" sz="2300" smtClean="0">
                <a:ea typeface="黑体" panose="02010609060101010101" pitchFamily="49" charset="-122"/>
              </a:rPr>
              <a:t>后，就发送整个数据帧。</a:t>
            </a:r>
          </a:p>
          <a:p>
            <a:r>
              <a:rPr lang="en-US" altLang="zh-CN" sz="2300" smtClean="0">
                <a:ea typeface="黑体" panose="02010609060101010101" pitchFamily="49" charset="-122"/>
              </a:rPr>
              <a:t>(2) </a:t>
            </a:r>
            <a:r>
              <a:rPr lang="zh-CN" altLang="zh-CN" sz="2300" smtClean="0">
                <a:ea typeface="黑体" panose="02010609060101010101" pitchFamily="49" charset="-122"/>
              </a:rPr>
              <a:t>否则，站点执行</a:t>
            </a:r>
            <a:r>
              <a:rPr lang="en-US" altLang="zh-CN" sz="2300" smtClean="0">
                <a:ea typeface="黑体" panose="02010609060101010101" pitchFamily="49" charset="-122"/>
              </a:rPr>
              <a:t> CSMA/CA </a:t>
            </a:r>
            <a:r>
              <a:rPr lang="zh-CN" altLang="zh-CN" sz="2300" smtClean="0">
                <a:ea typeface="黑体" panose="02010609060101010101" pitchFamily="49" charset="-122"/>
              </a:rPr>
              <a:t>协议的退避算法。一旦检测到信道忙，就冻结退避计时器。只要信道空闲，退避计时器就进行倒计时。</a:t>
            </a:r>
          </a:p>
          <a:p>
            <a:r>
              <a:rPr lang="en-US" altLang="zh-CN" sz="2300" smtClean="0">
                <a:ea typeface="黑体" panose="02010609060101010101" pitchFamily="49" charset="-122"/>
              </a:rPr>
              <a:t>(3) </a:t>
            </a:r>
            <a:r>
              <a:rPr lang="zh-CN" altLang="zh-CN" sz="2300" smtClean="0">
                <a:ea typeface="黑体" panose="02010609060101010101" pitchFamily="49" charset="-122"/>
              </a:rPr>
              <a:t>当退避计时器时间减少到零时（这时信道只可能是空闲的），站点就发送整个的帧并等待确认。</a:t>
            </a:r>
          </a:p>
          <a:p>
            <a:r>
              <a:rPr lang="en-US" altLang="zh-CN" sz="2300" smtClean="0">
                <a:ea typeface="黑体" panose="02010609060101010101" pitchFamily="49" charset="-122"/>
              </a:rPr>
              <a:t>(4) </a:t>
            </a:r>
            <a:r>
              <a:rPr lang="zh-CN" altLang="zh-CN" sz="2300" smtClean="0">
                <a:ea typeface="黑体" panose="02010609060101010101" pitchFamily="49" charset="-122"/>
              </a:rPr>
              <a:t>发送站若收到确认，就知道已发送的帧被目的站正确收到了。这时如果要发送第二帧，就要从上面的步骤</a:t>
            </a:r>
            <a:r>
              <a:rPr lang="en-US" altLang="zh-CN" sz="2300" smtClean="0">
                <a:ea typeface="黑体" panose="02010609060101010101" pitchFamily="49" charset="-122"/>
              </a:rPr>
              <a:t> (2) </a:t>
            </a:r>
            <a:r>
              <a:rPr lang="zh-CN" altLang="zh-CN" sz="2300" smtClean="0">
                <a:ea typeface="黑体" panose="02010609060101010101" pitchFamily="49" charset="-122"/>
              </a:rPr>
              <a:t>开始，执行</a:t>
            </a:r>
            <a:r>
              <a:rPr lang="en-US" altLang="zh-CN" sz="2300" smtClean="0">
                <a:ea typeface="黑体" panose="02010609060101010101" pitchFamily="49" charset="-122"/>
              </a:rPr>
              <a:t> CSMA/CA </a:t>
            </a:r>
            <a:r>
              <a:rPr lang="zh-CN" altLang="zh-CN" sz="2300" smtClean="0">
                <a:ea typeface="黑体" panose="02010609060101010101" pitchFamily="49" charset="-122"/>
              </a:rPr>
              <a:t>协议的退避算法，随机选定一段退避时间。若源站在规定时间内没有收到确认帧</a:t>
            </a:r>
            <a:r>
              <a:rPr lang="en-US" altLang="zh-CN" sz="2300" smtClean="0">
                <a:ea typeface="黑体" panose="02010609060101010101" pitchFamily="49" charset="-122"/>
              </a:rPr>
              <a:t> ACK</a:t>
            </a:r>
            <a:r>
              <a:rPr lang="zh-CN" altLang="zh-CN" sz="2300" smtClean="0">
                <a:ea typeface="黑体" panose="02010609060101010101" pitchFamily="49" charset="-122"/>
              </a:rPr>
              <a:t>（由重传计时器控制这段时间），就必须重传此帧（再次使用</a:t>
            </a:r>
            <a:r>
              <a:rPr lang="en-US" altLang="zh-CN" sz="2300" smtClean="0">
                <a:ea typeface="黑体" panose="02010609060101010101" pitchFamily="49" charset="-122"/>
              </a:rPr>
              <a:t> CSMA/CA </a:t>
            </a:r>
            <a:r>
              <a:rPr lang="zh-CN" altLang="zh-CN" sz="2300" smtClean="0">
                <a:ea typeface="黑体" panose="02010609060101010101" pitchFamily="49" charset="-122"/>
              </a:rPr>
              <a:t>协议争用接入信道），直到收到确认为止，或者经过若干次的重传失败后放弃发送。</a:t>
            </a:r>
            <a:endParaRPr lang="zh-CN" altLang="en-US" sz="2300" smtClean="0">
              <a:ea typeface="黑体" panose="02010609060101010101" pitchFamily="49" charset="-122"/>
            </a:endParaRPr>
          </a:p>
        </p:txBody>
      </p:sp>
      <p:sp>
        <p:nvSpPr>
          <p:cNvPr id="24330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96B5AF-0265-4ECE-A557-6CB812EC5AEE}" type="slidenum">
              <a:rPr lang="zh-CN" altLang="en-US" smtClean="0"/>
              <a:pPr eaLnBrk="1" hangingPunct="1"/>
              <a:t>46</a:t>
            </a:fld>
            <a:endParaRPr lang="en-US" altLang="zh-CN" smtClean="0"/>
          </a:p>
        </p:txBody>
      </p:sp>
      <p:sp>
        <p:nvSpPr>
          <p:cNvPr id="24330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5073"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5074" name="内容占位符 1"/>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为了更好地解决隐蔽站带来的碰撞问题，</a:t>
            </a:r>
            <a:r>
              <a:rPr lang="en-US" altLang="zh-CN" dirty="0" smtClean="0">
                <a:ea typeface="黑体" panose="02010609060101010101" pitchFamily="49" charset="-122"/>
              </a:rPr>
              <a:t>802.11 </a:t>
            </a:r>
            <a:r>
              <a:rPr lang="zh-CN" altLang="zh-CN" dirty="0" smtClean="0">
                <a:ea typeface="黑体" panose="02010609060101010101" pitchFamily="49" charset="-122"/>
              </a:rPr>
              <a:t>允许要发送数据的站对信道进行预约。</a:t>
            </a:r>
            <a:endParaRPr lang="zh-CN" altLang="en-US" dirty="0" smtClean="0">
              <a:ea typeface="黑体" panose="02010609060101010101" pitchFamily="49" charset="-122"/>
            </a:endParaRPr>
          </a:p>
        </p:txBody>
      </p:sp>
      <p:grpSp>
        <p:nvGrpSpPr>
          <p:cNvPr id="2435075" name="组合 4"/>
          <p:cNvGrpSpPr>
            <a:grpSpLocks/>
          </p:cNvGrpSpPr>
          <p:nvPr/>
        </p:nvGrpSpPr>
        <p:grpSpPr bwMode="auto">
          <a:xfrm>
            <a:off x="603250" y="4462463"/>
            <a:ext cx="8926513" cy="879475"/>
            <a:chOff x="603839" y="4461795"/>
            <a:chExt cx="8926323" cy="879484"/>
          </a:xfrm>
        </p:grpSpPr>
        <p:sp>
          <p:nvSpPr>
            <p:cNvPr id="2435076" name="Text Box 96"/>
            <p:cNvSpPr txBox="1">
              <a:spLocks noChangeArrowheads="1"/>
            </p:cNvSpPr>
            <p:nvPr/>
          </p:nvSpPr>
          <p:spPr bwMode="auto">
            <a:xfrm>
              <a:off x="9260536" y="4461795"/>
              <a:ext cx="26962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000099"/>
                  </a:solidFill>
                  <a:ea typeface="宋体" panose="02010600030101010101" pitchFamily="2" charset="-122"/>
                </a:rPr>
                <a:t>t</a:t>
              </a:r>
            </a:p>
          </p:txBody>
        </p:sp>
        <p:sp>
          <p:nvSpPr>
            <p:cNvPr id="2435077" name="Line 95"/>
            <p:cNvSpPr>
              <a:spLocks noChangeShapeType="1"/>
            </p:cNvSpPr>
            <p:nvPr/>
          </p:nvSpPr>
          <p:spPr bwMode="auto">
            <a:xfrm>
              <a:off x="846873" y="4901232"/>
              <a:ext cx="8505836"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78" name="矩形 83"/>
            <p:cNvSpPr>
              <a:spLocks noChangeArrowheads="1"/>
            </p:cNvSpPr>
            <p:nvPr/>
          </p:nvSpPr>
          <p:spPr bwMode="auto">
            <a:xfrm>
              <a:off x="2719553" y="4478071"/>
              <a:ext cx="6168096" cy="423161"/>
            </a:xfrm>
            <a:prstGeom prst="rect">
              <a:avLst/>
            </a:prstGeom>
            <a:solidFill>
              <a:srgbClr val="66CC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79" name="矩形 85"/>
            <p:cNvSpPr>
              <a:spLocks noChangeArrowheads="1"/>
            </p:cNvSpPr>
            <p:nvPr/>
          </p:nvSpPr>
          <p:spPr bwMode="auto">
            <a:xfrm>
              <a:off x="4027749" y="4901231"/>
              <a:ext cx="4859900" cy="420835"/>
            </a:xfrm>
            <a:prstGeom prst="rect">
              <a:avLst/>
            </a:prstGeom>
            <a:solidFill>
              <a:srgbClr val="66CC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80" name="Text Box 94"/>
            <p:cNvSpPr txBox="1">
              <a:spLocks noChangeArrowheads="1"/>
            </p:cNvSpPr>
            <p:nvPr/>
          </p:nvSpPr>
          <p:spPr bwMode="auto">
            <a:xfrm>
              <a:off x="3467387" y="4469049"/>
              <a:ext cx="457765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000" b="1">
                  <a:solidFill>
                    <a:srgbClr val="000099"/>
                  </a:solidFill>
                  <a:ea typeface="宋体" panose="02010600030101010101" pitchFamily="2" charset="-122"/>
                </a:rPr>
                <a:t>A </a:t>
              </a:r>
              <a:r>
                <a:rPr lang="zh-CN" altLang="en-US" sz="2000" b="1">
                  <a:solidFill>
                    <a:srgbClr val="000099"/>
                  </a:solidFill>
                  <a:ea typeface="宋体" panose="02010600030101010101" pitchFamily="2" charset="-122"/>
                </a:rPr>
                <a:t>在 </a:t>
              </a:r>
              <a:r>
                <a:rPr lang="en-US" altLang="zh-CN" sz="2000" b="1">
                  <a:solidFill>
                    <a:srgbClr val="000099"/>
                  </a:solidFill>
                  <a:ea typeface="宋体" panose="02010600030101010101" pitchFamily="2" charset="-122"/>
                </a:rPr>
                <a:t>RTS </a:t>
              </a:r>
              <a:r>
                <a:rPr lang="zh-CN" altLang="en-US" sz="2000" b="1">
                  <a:solidFill>
                    <a:srgbClr val="000099"/>
                  </a:solidFill>
                  <a:ea typeface="宋体" panose="02010600030101010101" pitchFamily="2" charset="-122"/>
                </a:rPr>
                <a:t>帧中填写的所需的持续时间</a:t>
              </a:r>
            </a:p>
          </p:txBody>
        </p:sp>
        <p:sp>
          <p:nvSpPr>
            <p:cNvPr id="2435081" name="Text Box 94"/>
            <p:cNvSpPr txBox="1">
              <a:spLocks noChangeArrowheads="1"/>
            </p:cNvSpPr>
            <p:nvPr/>
          </p:nvSpPr>
          <p:spPr bwMode="auto">
            <a:xfrm>
              <a:off x="4176080" y="4901097"/>
              <a:ext cx="4579719"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000" b="1">
                  <a:solidFill>
                    <a:srgbClr val="000099"/>
                  </a:solidFill>
                  <a:ea typeface="宋体" panose="02010600030101010101" pitchFamily="2" charset="-122"/>
                </a:rPr>
                <a:t>B </a:t>
              </a:r>
              <a:r>
                <a:rPr lang="zh-CN" altLang="en-US" sz="2000" b="1">
                  <a:solidFill>
                    <a:srgbClr val="000099"/>
                  </a:solidFill>
                  <a:ea typeface="宋体" panose="02010600030101010101" pitchFamily="2" charset="-122"/>
                </a:rPr>
                <a:t>在 </a:t>
              </a:r>
              <a:r>
                <a:rPr lang="en-US" altLang="zh-CN" sz="2000" b="1">
                  <a:solidFill>
                    <a:srgbClr val="000099"/>
                  </a:solidFill>
                  <a:ea typeface="宋体" panose="02010600030101010101" pitchFamily="2" charset="-122"/>
                </a:rPr>
                <a:t>CTS </a:t>
              </a:r>
              <a:r>
                <a:rPr lang="zh-CN" altLang="en-US" sz="2000" b="1">
                  <a:solidFill>
                    <a:srgbClr val="000099"/>
                  </a:solidFill>
                  <a:ea typeface="宋体" panose="02010600030101010101" pitchFamily="2" charset="-122"/>
                </a:rPr>
                <a:t>帧中填写的所需的持续时间</a:t>
              </a:r>
            </a:p>
          </p:txBody>
        </p:sp>
        <p:sp>
          <p:nvSpPr>
            <p:cNvPr id="2435082" name="Text Box 94"/>
            <p:cNvSpPr txBox="1">
              <a:spLocks noChangeArrowheads="1"/>
            </p:cNvSpPr>
            <p:nvPr/>
          </p:nvSpPr>
          <p:spPr bwMode="auto">
            <a:xfrm>
              <a:off x="608582" y="4469049"/>
              <a:ext cx="121411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 </a:t>
              </a:r>
              <a:r>
                <a:rPr lang="zh-CN" altLang="en-US" sz="2000" b="1">
                  <a:solidFill>
                    <a:srgbClr val="000099"/>
                  </a:solidFill>
                  <a:ea typeface="宋体" panose="02010600030101010101" pitchFamily="2" charset="-122"/>
                </a:rPr>
                <a:t>的</a:t>
              </a:r>
              <a:r>
                <a:rPr lang="en-US" altLang="zh-CN" sz="2000" b="1">
                  <a:solidFill>
                    <a:srgbClr val="000099"/>
                  </a:solidFill>
                  <a:ea typeface="宋体" panose="02010600030101010101" pitchFamily="2" charset="-122"/>
                </a:rPr>
                <a:t>NAV</a:t>
              </a:r>
              <a:endParaRPr lang="zh-CN" altLang="en-US" sz="2000" b="1">
                <a:solidFill>
                  <a:srgbClr val="000099"/>
                </a:solidFill>
                <a:ea typeface="宋体" panose="02010600030101010101" pitchFamily="2" charset="-122"/>
              </a:endParaRPr>
            </a:p>
          </p:txBody>
        </p:sp>
        <p:sp>
          <p:nvSpPr>
            <p:cNvPr id="2435083" name="Text Box 94"/>
            <p:cNvSpPr txBox="1">
              <a:spLocks noChangeArrowheads="1"/>
            </p:cNvSpPr>
            <p:nvPr/>
          </p:nvSpPr>
          <p:spPr bwMode="auto">
            <a:xfrm>
              <a:off x="603839" y="4941168"/>
              <a:ext cx="122360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B </a:t>
              </a:r>
              <a:r>
                <a:rPr lang="zh-CN" altLang="en-US" sz="2000" b="1">
                  <a:solidFill>
                    <a:srgbClr val="000099"/>
                  </a:solidFill>
                  <a:ea typeface="宋体" panose="02010600030101010101" pitchFamily="2" charset="-122"/>
                </a:rPr>
                <a:t>的</a:t>
              </a:r>
              <a:r>
                <a:rPr lang="en-US" altLang="zh-CN" sz="2000" b="1">
                  <a:solidFill>
                    <a:srgbClr val="000099"/>
                  </a:solidFill>
                  <a:ea typeface="宋体" panose="02010600030101010101" pitchFamily="2" charset="-122"/>
                </a:rPr>
                <a:t>NAV</a:t>
              </a:r>
              <a:endParaRPr lang="zh-CN" altLang="en-US" sz="2000" b="1">
                <a:solidFill>
                  <a:srgbClr val="000099"/>
                </a:solidFill>
                <a:ea typeface="宋体" panose="02010600030101010101" pitchFamily="2" charset="-122"/>
              </a:endParaRPr>
            </a:p>
          </p:txBody>
        </p:sp>
      </p:grpSp>
      <p:grpSp>
        <p:nvGrpSpPr>
          <p:cNvPr id="2435084" name="组合 3"/>
          <p:cNvGrpSpPr>
            <a:grpSpLocks/>
          </p:cNvGrpSpPr>
          <p:nvPr/>
        </p:nvGrpSpPr>
        <p:grpSpPr bwMode="auto">
          <a:xfrm>
            <a:off x="592138" y="2924175"/>
            <a:ext cx="8937625" cy="1554163"/>
            <a:chOff x="591521" y="2924944"/>
            <a:chExt cx="8938641" cy="1553128"/>
          </a:xfrm>
        </p:grpSpPr>
        <p:sp>
          <p:nvSpPr>
            <p:cNvPr id="2435085" name="Text Box 3"/>
            <p:cNvSpPr txBox="1">
              <a:spLocks noChangeArrowheads="1"/>
            </p:cNvSpPr>
            <p:nvPr/>
          </p:nvSpPr>
          <p:spPr bwMode="auto">
            <a:xfrm>
              <a:off x="9260536" y="3103974"/>
              <a:ext cx="26962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000099"/>
                  </a:solidFill>
                  <a:ea typeface="宋体" panose="02010600030101010101" pitchFamily="2" charset="-122"/>
                </a:rPr>
                <a:t>t</a:t>
              </a:r>
            </a:p>
          </p:txBody>
        </p:sp>
        <p:sp>
          <p:nvSpPr>
            <p:cNvPr id="2435086" name="Text Box 9"/>
            <p:cNvSpPr txBox="1">
              <a:spLocks noChangeArrowheads="1"/>
            </p:cNvSpPr>
            <p:nvPr/>
          </p:nvSpPr>
          <p:spPr bwMode="auto">
            <a:xfrm>
              <a:off x="1131175" y="2999346"/>
              <a:ext cx="76976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DIFS</a:t>
              </a:r>
            </a:p>
          </p:txBody>
        </p:sp>
        <p:sp>
          <p:nvSpPr>
            <p:cNvPr id="2435087" name="Line 12"/>
            <p:cNvSpPr>
              <a:spLocks noChangeShapeType="1"/>
            </p:cNvSpPr>
            <p:nvPr/>
          </p:nvSpPr>
          <p:spPr bwMode="auto">
            <a:xfrm>
              <a:off x="943701" y="3420182"/>
              <a:ext cx="102801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88" name="Text Box 24"/>
            <p:cNvSpPr txBox="1">
              <a:spLocks noChangeArrowheads="1"/>
            </p:cNvSpPr>
            <p:nvPr/>
          </p:nvSpPr>
          <p:spPr bwMode="auto">
            <a:xfrm>
              <a:off x="2719553" y="2962145"/>
              <a:ext cx="84054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00099"/>
                  </a:solidFill>
                  <a:ea typeface="宋体" panose="02010600030101010101" pitchFamily="2" charset="-122"/>
                </a:rPr>
                <a:t>SIFS</a:t>
              </a:r>
            </a:p>
          </p:txBody>
        </p:sp>
        <p:sp>
          <p:nvSpPr>
            <p:cNvPr id="2435089" name="Text Box 94"/>
            <p:cNvSpPr txBox="1">
              <a:spLocks noChangeArrowheads="1"/>
            </p:cNvSpPr>
            <p:nvPr/>
          </p:nvSpPr>
          <p:spPr bwMode="auto">
            <a:xfrm>
              <a:off x="591521" y="2999346"/>
              <a:ext cx="37061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a:t>
              </a:r>
              <a:endParaRPr lang="zh-CN" altLang="en-US" sz="2000" b="1">
                <a:solidFill>
                  <a:srgbClr val="000099"/>
                </a:solidFill>
                <a:ea typeface="宋体" panose="02010600030101010101" pitchFamily="2" charset="-122"/>
              </a:endParaRPr>
            </a:p>
          </p:txBody>
        </p:sp>
        <p:sp>
          <p:nvSpPr>
            <p:cNvPr id="2435090" name="Line 130"/>
            <p:cNvSpPr>
              <a:spLocks noChangeShapeType="1"/>
            </p:cNvSpPr>
            <p:nvPr/>
          </p:nvSpPr>
          <p:spPr bwMode="auto">
            <a:xfrm>
              <a:off x="8887649" y="3636400"/>
              <a:ext cx="0" cy="84167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1" name="Line 2"/>
            <p:cNvSpPr>
              <a:spLocks noChangeShapeType="1"/>
            </p:cNvSpPr>
            <p:nvPr/>
          </p:nvSpPr>
          <p:spPr bwMode="auto">
            <a:xfrm>
              <a:off x="849466" y="3524890"/>
              <a:ext cx="8505836"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2" name="Line 141"/>
            <p:cNvSpPr>
              <a:spLocks noChangeShapeType="1"/>
            </p:cNvSpPr>
            <p:nvPr/>
          </p:nvSpPr>
          <p:spPr bwMode="auto">
            <a:xfrm>
              <a:off x="8232520" y="3283003"/>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3" name="Text Box 143"/>
            <p:cNvSpPr txBox="1">
              <a:spLocks noChangeArrowheads="1"/>
            </p:cNvSpPr>
            <p:nvPr/>
          </p:nvSpPr>
          <p:spPr bwMode="auto">
            <a:xfrm>
              <a:off x="7511467" y="2924944"/>
              <a:ext cx="75533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SIFS</a:t>
              </a:r>
            </a:p>
          </p:txBody>
        </p:sp>
        <p:sp>
          <p:nvSpPr>
            <p:cNvPr id="2435094" name="Text Box 148"/>
            <p:cNvSpPr txBox="1">
              <a:spLocks noChangeArrowheads="1"/>
            </p:cNvSpPr>
            <p:nvPr/>
          </p:nvSpPr>
          <p:spPr bwMode="auto">
            <a:xfrm>
              <a:off x="3970064" y="2966795"/>
              <a:ext cx="755336"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SIFS</a:t>
              </a:r>
            </a:p>
          </p:txBody>
        </p:sp>
        <p:sp>
          <p:nvSpPr>
            <p:cNvPr id="2435095" name="Text Box 94"/>
            <p:cNvSpPr txBox="1">
              <a:spLocks noChangeArrowheads="1"/>
            </p:cNvSpPr>
            <p:nvPr/>
          </p:nvSpPr>
          <p:spPr bwMode="auto">
            <a:xfrm>
              <a:off x="593582" y="3567696"/>
              <a:ext cx="37061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B</a:t>
              </a:r>
              <a:endParaRPr lang="zh-CN" altLang="en-US" sz="2000" b="1">
                <a:solidFill>
                  <a:srgbClr val="000099"/>
                </a:solidFill>
                <a:ea typeface="宋体" panose="02010600030101010101" pitchFamily="2" charset="-122"/>
              </a:endParaRPr>
            </a:p>
          </p:txBody>
        </p:sp>
        <p:sp>
          <p:nvSpPr>
            <p:cNvPr id="2435096" name="矩形 70"/>
            <p:cNvSpPr>
              <a:spLocks noChangeArrowheads="1"/>
            </p:cNvSpPr>
            <p:nvPr/>
          </p:nvSpPr>
          <p:spPr bwMode="auto">
            <a:xfrm>
              <a:off x="1971717" y="3103974"/>
              <a:ext cx="747836" cy="423161"/>
            </a:xfrm>
            <a:prstGeom prst="rect">
              <a:avLst/>
            </a:prstGeom>
            <a:solidFill>
              <a:srgbClr val="FFFF66"/>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097" name="Text Box 23"/>
            <p:cNvSpPr txBox="1">
              <a:spLocks noChangeArrowheads="1"/>
            </p:cNvSpPr>
            <p:nvPr/>
          </p:nvSpPr>
          <p:spPr bwMode="auto">
            <a:xfrm>
              <a:off x="2000672" y="3140968"/>
              <a:ext cx="72105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000099"/>
                  </a:solidFill>
                  <a:ea typeface="宋体" panose="02010600030101010101" pitchFamily="2" charset="-122"/>
                </a:rPr>
                <a:t>RTS</a:t>
              </a:r>
            </a:p>
          </p:txBody>
        </p:sp>
        <p:sp>
          <p:nvSpPr>
            <p:cNvPr id="2435098" name="Line 142"/>
            <p:cNvSpPr>
              <a:spLocks noChangeShapeType="1"/>
            </p:cNvSpPr>
            <p:nvPr/>
          </p:nvSpPr>
          <p:spPr bwMode="auto">
            <a:xfrm>
              <a:off x="3374681" y="3283003"/>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099" name="矩形 73"/>
            <p:cNvSpPr>
              <a:spLocks noChangeArrowheads="1"/>
            </p:cNvSpPr>
            <p:nvPr/>
          </p:nvSpPr>
          <p:spPr bwMode="auto">
            <a:xfrm>
              <a:off x="3374681" y="3527135"/>
              <a:ext cx="653068" cy="420835"/>
            </a:xfrm>
            <a:prstGeom prst="rect">
              <a:avLst/>
            </a:prstGeom>
            <a:solidFill>
              <a:srgbClr val="FF66FF"/>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0" name="Text Box 113"/>
            <p:cNvSpPr txBox="1">
              <a:spLocks noChangeArrowheads="1"/>
            </p:cNvSpPr>
            <p:nvPr/>
          </p:nvSpPr>
          <p:spPr bwMode="auto">
            <a:xfrm>
              <a:off x="3306695" y="3532945"/>
              <a:ext cx="699231"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CTS</a:t>
              </a:r>
            </a:p>
          </p:txBody>
        </p:sp>
        <p:sp>
          <p:nvSpPr>
            <p:cNvPr id="2435101" name="Line 142"/>
            <p:cNvSpPr>
              <a:spLocks noChangeShapeType="1"/>
            </p:cNvSpPr>
            <p:nvPr/>
          </p:nvSpPr>
          <p:spPr bwMode="auto">
            <a:xfrm>
              <a:off x="4027749" y="3315554"/>
              <a:ext cx="0" cy="2441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2" name="矩形 76"/>
            <p:cNvSpPr>
              <a:spLocks noChangeArrowheads="1"/>
            </p:cNvSpPr>
            <p:nvPr/>
          </p:nvSpPr>
          <p:spPr bwMode="auto">
            <a:xfrm>
              <a:off x="4682877" y="3103974"/>
              <a:ext cx="2896574" cy="423161"/>
            </a:xfrm>
            <a:prstGeom prst="rect">
              <a:avLst/>
            </a:prstGeom>
            <a:solidFill>
              <a:srgbClr val="66FF33"/>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3" name="Text Box 123"/>
            <p:cNvSpPr txBox="1">
              <a:spLocks noChangeArrowheads="1"/>
            </p:cNvSpPr>
            <p:nvPr/>
          </p:nvSpPr>
          <p:spPr bwMode="auto">
            <a:xfrm>
              <a:off x="5313040" y="3100897"/>
              <a:ext cx="152317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数    据    帧</a:t>
              </a:r>
            </a:p>
          </p:txBody>
        </p:sp>
        <p:sp>
          <p:nvSpPr>
            <p:cNvPr id="2435104" name="Line 12"/>
            <p:cNvSpPr>
              <a:spLocks noChangeShapeType="1"/>
            </p:cNvSpPr>
            <p:nvPr/>
          </p:nvSpPr>
          <p:spPr bwMode="auto">
            <a:xfrm>
              <a:off x="2719553" y="3420182"/>
              <a:ext cx="6551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5" name="Line 12"/>
            <p:cNvSpPr>
              <a:spLocks noChangeShapeType="1"/>
            </p:cNvSpPr>
            <p:nvPr/>
          </p:nvSpPr>
          <p:spPr bwMode="auto">
            <a:xfrm>
              <a:off x="4027749" y="3420182"/>
              <a:ext cx="65512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6" name="Line 12"/>
            <p:cNvSpPr>
              <a:spLocks noChangeShapeType="1"/>
            </p:cNvSpPr>
            <p:nvPr/>
          </p:nvSpPr>
          <p:spPr bwMode="auto">
            <a:xfrm>
              <a:off x="7579451" y="3420182"/>
              <a:ext cx="653069"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07" name="矩形 81"/>
            <p:cNvSpPr>
              <a:spLocks noChangeArrowheads="1"/>
            </p:cNvSpPr>
            <p:nvPr/>
          </p:nvSpPr>
          <p:spPr bwMode="auto">
            <a:xfrm>
              <a:off x="8232520" y="3527135"/>
              <a:ext cx="655128" cy="420835"/>
            </a:xfrm>
            <a:prstGeom prst="rect">
              <a:avLst/>
            </a:prstGeom>
            <a:solidFill>
              <a:srgbClr val="FF9900"/>
            </a:solidFill>
            <a:ln w="9525">
              <a:solidFill>
                <a:schemeClr val="tx1"/>
              </a:solidFill>
              <a:round/>
              <a:headEnd/>
              <a:tailEnd/>
            </a:ln>
          </p:spPr>
          <p:txBody>
            <a:bodyPr/>
            <a:lstStyle/>
            <a:p>
              <a:pPr eaLnBrk="0" hangingPunct="0"/>
              <a:endParaRPr lang="zh-CN" altLang="en-US" sz="2000" b="1">
                <a:solidFill>
                  <a:srgbClr val="000099"/>
                </a:solidFill>
                <a:ea typeface="宋体" panose="02010600030101010101" pitchFamily="2" charset="-122"/>
              </a:endParaRPr>
            </a:p>
          </p:txBody>
        </p:sp>
        <p:sp>
          <p:nvSpPr>
            <p:cNvPr id="2435108" name="Text Box 100"/>
            <p:cNvSpPr txBox="1">
              <a:spLocks noChangeArrowheads="1"/>
            </p:cNvSpPr>
            <p:nvPr/>
          </p:nvSpPr>
          <p:spPr bwMode="auto">
            <a:xfrm>
              <a:off x="8182648" y="3532945"/>
              <a:ext cx="742511"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ACK</a:t>
              </a:r>
            </a:p>
          </p:txBody>
        </p:sp>
        <p:sp>
          <p:nvSpPr>
            <p:cNvPr id="2435109" name="Line 130"/>
            <p:cNvSpPr>
              <a:spLocks noChangeShapeType="1"/>
            </p:cNvSpPr>
            <p:nvPr/>
          </p:nvSpPr>
          <p:spPr bwMode="auto">
            <a:xfrm>
              <a:off x="2719553" y="3541080"/>
              <a:ext cx="0" cy="93699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2435110" name="Line 130"/>
            <p:cNvSpPr>
              <a:spLocks noChangeShapeType="1"/>
            </p:cNvSpPr>
            <p:nvPr/>
          </p:nvSpPr>
          <p:spPr bwMode="auto">
            <a:xfrm>
              <a:off x="4027749" y="3541080"/>
              <a:ext cx="0" cy="93699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sp>
        <p:nvSpPr>
          <p:cNvPr id="243511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C5B79-981B-477F-8BB1-22A700250073}" type="slidenum">
              <a:rPr lang="zh-CN" altLang="en-US" smtClean="0"/>
              <a:pPr eaLnBrk="1" hangingPunct="1"/>
              <a:t>47</a:t>
            </a:fld>
            <a:endParaRPr lang="en-US" altLang="zh-CN" smtClean="0"/>
          </a:p>
        </p:txBody>
      </p:sp>
      <p:sp>
        <p:nvSpPr>
          <p:cNvPr id="243511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21"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7122"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使用</a:t>
            </a:r>
            <a:r>
              <a:rPr lang="en-US" altLang="zh-CN" smtClean="0">
                <a:ea typeface="黑体" panose="02010609060101010101" pitchFamily="49" charset="-122"/>
              </a:rPr>
              <a:t> RTS </a:t>
            </a:r>
            <a:r>
              <a:rPr lang="zh-CN" altLang="zh-CN" smtClean="0">
                <a:ea typeface="黑体" panose="02010609060101010101" pitchFamily="49" charset="-122"/>
              </a:rPr>
              <a:t>帧和</a:t>
            </a:r>
            <a:r>
              <a:rPr lang="en-US" altLang="zh-CN" smtClean="0">
                <a:ea typeface="黑体" panose="02010609060101010101" pitchFamily="49" charset="-122"/>
              </a:rPr>
              <a:t> CTS </a:t>
            </a:r>
            <a:r>
              <a:rPr lang="zh-CN" altLang="zh-CN" smtClean="0">
                <a:ea typeface="黑体" panose="02010609060101010101" pitchFamily="49" charset="-122"/>
              </a:rPr>
              <a:t>帧会使整个网络的通信效率有所下降。</a:t>
            </a:r>
            <a:r>
              <a:rPr lang="zh-CN" altLang="en-US" smtClean="0">
                <a:ea typeface="黑体" panose="02010609060101010101" pitchFamily="49" charset="-122"/>
              </a:rPr>
              <a:t>但</a:t>
            </a:r>
            <a:r>
              <a:rPr lang="zh-CN" altLang="zh-CN" smtClean="0">
                <a:ea typeface="黑体" panose="02010609060101010101" pitchFamily="49" charset="-122"/>
              </a:rPr>
              <a:t>与数据帧相比</a:t>
            </a:r>
            <a:r>
              <a:rPr lang="zh-CN" altLang="en-US" smtClean="0">
                <a:ea typeface="黑体" panose="02010609060101010101" pitchFamily="49" charset="-122"/>
              </a:rPr>
              <a:t>，</a:t>
            </a:r>
            <a:r>
              <a:rPr lang="zh-CN" altLang="zh-CN" smtClean="0">
                <a:ea typeface="黑体" panose="02010609060101010101" pitchFamily="49" charset="-122"/>
              </a:rPr>
              <a:t>开销不算大。</a:t>
            </a:r>
            <a:endParaRPr lang="en-US" altLang="zh-CN" smtClean="0">
              <a:ea typeface="黑体" panose="02010609060101010101" pitchFamily="49" charset="-122"/>
            </a:endParaRPr>
          </a:p>
          <a:p>
            <a:r>
              <a:rPr lang="zh-CN" altLang="zh-CN" smtClean="0">
                <a:ea typeface="黑体" panose="02010609060101010101" pitchFamily="49" charset="-122"/>
              </a:rPr>
              <a:t>相反，若不使用这种控制帧，则一旦发生碰撞而导致数据帧重发，则浪费的时间就更多。</a:t>
            </a:r>
            <a:endParaRPr lang="en-US" altLang="zh-CN" smtClean="0">
              <a:ea typeface="黑体" panose="02010609060101010101" pitchFamily="49" charset="-122"/>
            </a:endParaRPr>
          </a:p>
        </p:txBody>
      </p:sp>
      <p:sp>
        <p:nvSpPr>
          <p:cNvPr id="243712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E3DD7D-069D-47AA-A66E-BFF0B7232F11}" type="slidenum">
              <a:rPr lang="zh-CN" altLang="en-US" smtClean="0"/>
              <a:pPr eaLnBrk="1" hangingPunct="1"/>
              <a:t>48</a:t>
            </a:fld>
            <a:endParaRPr lang="en-US" altLang="zh-CN" smtClean="0"/>
          </a:p>
        </p:txBody>
      </p:sp>
      <p:sp>
        <p:nvSpPr>
          <p:cNvPr id="243712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9169" name="Rectangle 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对信道进行预约 </a:t>
            </a:r>
          </a:p>
        </p:txBody>
      </p:sp>
      <p:sp>
        <p:nvSpPr>
          <p:cNvPr id="2439170"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虽然如此，协议还是设有三种情况供用户选择</a:t>
            </a:r>
            <a:r>
              <a:rPr lang="zh-CN" altLang="en-US" smtClean="0">
                <a:ea typeface="黑体" panose="02010609060101010101" pitchFamily="49" charset="-122"/>
              </a:rPr>
              <a:t>：</a:t>
            </a:r>
            <a:endParaRPr lang="zh-CN" altLang="zh-CN" smtClean="0">
              <a:ea typeface="黑体" panose="02010609060101010101" pitchFamily="49" charset="-122"/>
            </a:endParaRPr>
          </a:p>
          <a:p>
            <a:pPr lvl="1"/>
            <a:r>
              <a:rPr lang="en-US" altLang="zh-CN" smtClean="0">
                <a:solidFill>
                  <a:srgbClr val="0000FF"/>
                </a:solidFill>
                <a:ea typeface="黑体" panose="02010609060101010101" pitchFamily="49" charset="-122"/>
              </a:rPr>
              <a:t>(1) </a:t>
            </a:r>
            <a:r>
              <a:rPr lang="zh-CN" altLang="zh-CN" smtClean="0">
                <a:solidFill>
                  <a:srgbClr val="0000FF"/>
                </a:solidFill>
                <a:ea typeface="黑体" panose="02010609060101010101" pitchFamily="49" charset="-122"/>
              </a:rPr>
              <a:t>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a:t>
            </a:r>
          </a:p>
          <a:p>
            <a:pPr lvl="1"/>
            <a:r>
              <a:rPr lang="en-US" altLang="zh-CN" smtClean="0">
                <a:solidFill>
                  <a:srgbClr val="0000FF"/>
                </a:solidFill>
                <a:ea typeface="黑体" panose="02010609060101010101" pitchFamily="49" charset="-122"/>
              </a:rPr>
              <a:t>(2) </a:t>
            </a:r>
            <a:r>
              <a:rPr lang="zh-CN" altLang="zh-CN" smtClean="0">
                <a:solidFill>
                  <a:srgbClr val="0000FF"/>
                </a:solidFill>
                <a:ea typeface="黑体" panose="02010609060101010101" pitchFamily="49" charset="-122"/>
              </a:rPr>
              <a:t>只有当数据帧的长度超过某一数值时才使用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帧（显然，当数据帧本身就很短时，再使用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帧只能增加开销）；</a:t>
            </a:r>
          </a:p>
          <a:p>
            <a:pPr lvl="1"/>
            <a:r>
              <a:rPr lang="en-US" altLang="zh-CN" smtClean="0">
                <a:solidFill>
                  <a:srgbClr val="0000FF"/>
                </a:solidFill>
                <a:ea typeface="黑体" panose="02010609060101010101" pitchFamily="49" charset="-122"/>
              </a:rPr>
              <a:t>(3) </a:t>
            </a:r>
            <a:r>
              <a:rPr lang="zh-CN" altLang="zh-CN" smtClean="0">
                <a:solidFill>
                  <a:srgbClr val="0000FF"/>
                </a:solidFill>
                <a:ea typeface="黑体" panose="02010609060101010101" pitchFamily="49" charset="-122"/>
              </a:rPr>
              <a:t>不使用</a:t>
            </a:r>
            <a:r>
              <a:rPr lang="en-US" altLang="zh-CN" smtClean="0">
                <a:solidFill>
                  <a:srgbClr val="0000FF"/>
                </a:solidFill>
                <a:ea typeface="黑体" panose="02010609060101010101" pitchFamily="49" charset="-122"/>
              </a:rPr>
              <a:t> RTS </a:t>
            </a:r>
            <a:r>
              <a:rPr lang="zh-CN" altLang="zh-CN" smtClean="0">
                <a:solidFill>
                  <a:srgbClr val="0000FF"/>
                </a:solidFill>
                <a:ea typeface="黑体" panose="02010609060101010101" pitchFamily="49" charset="-122"/>
              </a:rPr>
              <a:t>帧和</a:t>
            </a:r>
            <a:r>
              <a:rPr lang="en-US" altLang="zh-CN" smtClean="0">
                <a:solidFill>
                  <a:srgbClr val="0000FF"/>
                </a:solidFill>
                <a:ea typeface="黑体" panose="02010609060101010101" pitchFamily="49" charset="-122"/>
              </a:rPr>
              <a:t> CTS </a:t>
            </a:r>
            <a:r>
              <a:rPr lang="zh-CN" altLang="zh-CN" smtClean="0">
                <a:solidFill>
                  <a:srgbClr val="0000FF"/>
                </a:solidFill>
                <a:ea typeface="黑体" panose="02010609060101010101" pitchFamily="49" charset="-122"/>
              </a:rPr>
              <a:t>帧。</a:t>
            </a:r>
          </a:p>
          <a:p>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虽然协议经过了精心设计，但碰撞仍然会发生。</a:t>
            </a:r>
            <a:endParaRPr lang="zh-CN" altLang="en-US" smtClean="0">
              <a:solidFill>
                <a:srgbClr val="FF0000"/>
              </a:solidFill>
              <a:ea typeface="黑体" panose="02010609060101010101" pitchFamily="49" charset="-122"/>
            </a:endParaRPr>
          </a:p>
        </p:txBody>
      </p:sp>
      <p:sp>
        <p:nvSpPr>
          <p:cNvPr id="243917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AFF8D4-3F43-4E8E-81DE-3D605F4DD593}" type="slidenum">
              <a:rPr lang="zh-CN" altLang="en-US" smtClean="0"/>
              <a:pPr eaLnBrk="1" hangingPunct="1"/>
              <a:t>49</a:t>
            </a:fld>
            <a:endParaRPr lang="en-US" altLang="zh-CN" smtClean="0"/>
          </a:p>
        </p:txBody>
      </p:sp>
      <p:sp>
        <p:nvSpPr>
          <p:cNvPr id="243917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1217" name="标题 1"/>
          <p:cNvSpPr>
            <a:spLocks noGrp="1" noChangeArrowheads="1"/>
          </p:cNvSpPr>
          <p:nvPr>
            <p:ph type="title"/>
          </p:nvPr>
        </p:nvSpPr>
        <p:spPr/>
        <p:txBody>
          <a:bodyPr/>
          <a:lstStyle/>
          <a:p>
            <a:pPr algn="ctr"/>
            <a:r>
              <a:rPr lang="en-US" altLang="zh-CN" smtClean="0">
                <a:ea typeface="黑体" panose="02010609060101010101" pitchFamily="49" charset="-122"/>
              </a:rPr>
              <a:t>CSMA/CA </a:t>
            </a:r>
            <a:r>
              <a:rPr lang="zh-CN" altLang="zh-CN" smtClean="0">
                <a:ea typeface="黑体" panose="02010609060101010101" pitchFamily="49" charset="-122"/>
              </a:rPr>
              <a:t>协议的基本流程图</a:t>
            </a:r>
            <a:endParaRPr lang="zh-CN" altLang="en-US" smtClean="0">
              <a:ea typeface="黑体" panose="02010609060101010101" pitchFamily="49" charset="-122"/>
            </a:endParaRPr>
          </a:p>
        </p:txBody>
      </p:sp>
      <p:grpSp>
        <p:nvGrpSpPr>
          <p:cNvPr id="2441218" name="组合 65"/>
          <p:cNvGrpSpPr>
            <a:grpSpLocks/>
          </p:cNvGrpSpPr>
          <p:nvPr/>
        </p:nvGrpSpPr>
        <p:grpSpPr bwMode="auto">
          <a:xfrm>
            <a:off x="828675" y="1122363"/>
            <a:ext cx="8588375" cy="5546725"/>
            <a:chOff x="468313" y="404813"/>
            <a:chExt cx="8240712" cy="6310312"/>
          </a:xfrm>
        </p:grpSpPr>
        <p:sp>
          <p:nvSpPr>
            <p:cNvPr id="2441219" name="AutoShape 6"/>
            <p:cNvSpPr>
              <a:spLocks noChangeArrowheads="1"/>
            </p:cNvSpPr>
            <p:nvPr/>
          </p:nvSpPr>
          <p:spPr bwMode="auto">
            <a:xfrm>
              <a:off x="6010275" y="908050"/>
              <a:ext cx="576263" cy="215900"/>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 </a:t>
              </a:r>
              <a:r>
                <a:rPr lang="en-US" altLang="zh-CN" sz="1600" b="1">
                  <a:latin typeface="Times New Roman" panose="02020603050405020304" pitchFamily="18" charset="0"/>
                  <a:ea typeface="宋体" panose="02010600030101010101" pitchFamily="2" charset="-122"/>
                </a:rPr>
                <a:t>=</a:t>
              </a:r>
              <a:r>
                <a:rPr lang="en-US" altLang="zh-CN" sz="1600" b="1" i="1">
                  <a:latin typeface="Times New Roman" panose="02020603050405020304" pitchFamily="18" charset="0"/>
                  <a:ea typeface="宋体" panose="02010600030101010101" pitchFamily="2" charset="-122"/>
                </a:rPr>
                <a:t> </a:t>
              </a:r>
              <a:r>
                <a:rPr lang="en-US" altLang="zh-CN" sz="1600" b="1">
                  <a:latin typeface="Times New Roman" panose="02020603050405020304" pitchFamily="18" charset="0"/>
                  <a:ea typeface="宋体" panose="02010600030101010101" pitchFamily="2" charset="-122"/>
                </a:rPr>
                <a:t>0</a:t>
              </a:r>
            </a:p>
          </p:txBody>
        </p:sp>
        <p:sp>
          <p:nvSpPr>
            <p:cNvPr id="2441220" name="AutoShape 8"/>
            <p:cNvSpPr>
              <a:spLocks noChangeArrowheads="1"/>
            </p:cNvSpPr>
            <p:nvPr/>
          </p:nvSpPr>
          <p:spPr bwMode="auto">
            <a:xfrm>
              <a:off x="6192838" y="1693863"/>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21" name="AutoShape 10"/>
            <p:cNvCxnSpPr>
              <a:cxnSpLocks noChangeShapeType="1"/>
              <a:stCxn id="2441219" idx="2"/>
              <a:endCxn id="2441220" idx="0"/>
            </p:cNvCxnSpPr>
            <p:nvPr/>
          </p:nvCxnSpPr>
          <p:spPr bwMode="auto">
            <a:xfrm>
              <a:off x="6299200" y="1123950"/>
              <a:ext cx="1588" cy="5699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22" name="AutoShape 13"/>
            <p:cNvCxnSpPr>
              <a:cxnSpLocks noChangeShapeType="1"/>
              <a:stCxn id="2441220" idx="1"/>
              <a:endCxn id="2441220" idx="0"/>
            </p:cNvCxnSpPr>
            <p:nvPr/>
          </p:nvCxnSpPr>
          <p:spPr bwMode="auto">
            <a:xfrm rot="10800000" flipH="1">
              <a:off x="6192838" y="1412875"/>
              <a:ext cx="106362" cy="388938"/>
            </a:xfrm>
            <a:prstGeom prst="bentConnector4">
              <a:avLst>
                <a:gd name="adj1" fmla="val -632838"/>
                <a:gd name="adj2" fmla="val 9999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41223" name="AutoShape 14"/>
            <p:cNvSpPr>
              <a:spLocks noChangeArrowheads="1"/>
            </p:cNvSpPr>
            <p:nvPr/>
          </p:nvSpPr>
          <p:spPr bwMode="auto">
            <a:xfrm>
              <a:off x="7307263" y="1412875"/>
              <a:ext cx="1081087" cy="4318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信道空闲</a:t>
              </a:r>
              <a:r>
                <a:rPr lang="en-US" altLang="zh-CN" sz="1600" b="1">
                  <a:latin typeface="Times New Roman" panose="02020603050405020304" pitchFamily="18" charset="0"/>
                  <a:ea typeface="宋体" panose="02010600030101010101" pitchFamily="2" charset="-122"/>
                </a:rPr>
                <a:t>?</a:t>
              </a:r>
            </a:p>
          </p:txBody>
        </p:sp>
        <p:cxnSp>
          <p:nvCxnSpPr>
            <p:cNvPr id="2441224" name="AutoShape 16"/>
            <p:cNvCxnSpPr>
              <a:cxnSpLocks noChangeShapeType="1"/>
              <a:stCxn id="2441220" idx="2"/>
              <a:endCxn id="2441220" idx="0"/>
            </p:cNvCxnSpPr>
            <p:nvPr/>
          </p:nvCxnSpPr>
          <p:spPr bwMode="auto">
            <a:xfrm flipH="1">
              <a:off x="6299200" y="1909763"/>
              <a:ext cx="1588" cy="1508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25" name="AutoShape 17"/>
            <p:cNvSpPr>
              <a:spLocks noChangeArrowheads="1"/>
            </p:cNvSpPr>
            <p:nvPr/>
          </p:nvSpPr>
          <p:spPr bwMode="auto">
            <a:xfrm>
              <a:off x="5724525" y="2060575"/>
              <a:ext cx="1150938"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等待 </a:t>
              </a:r>
              <a:r>
                <a:rPr lang="en-US" altLang="zh-CN" sz="1600" b="1">
                  <a:latin typeface="Times New Roman" panose="02020603050405020304" pitchFamily="18" charset="0"/>
                  <a:ea typeface="宋体" panose="02010600030101010101" pitchFamily="2" charset="-122"/>
                </a:rPr>
                <a:t>DIFS</a:t>
              </a:r>
            </a:p>
          </p:txBody>
        </p:sp>
        <p:sp>
          <p:nvSpPr>
            <p:cNvPr id="2441226" name="AutoShape 18"/>
            <p:cNvSpPr>
              <a:spLocks noChangeArrowheads="1"/>
            </p:cNvSpPr>
            <p:nvPr/>
          </p:nvSpPr>
          <p:spPr bwMode="auto">
            <a:xfrm>
              <a:off x="5722938" y="2636838"/>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发送 </a:t>
              </a:r>
              <a:r>
                <a:rPr lang="en-US" altLang="zh-CN" sz="1600" b="1">
                  <a:latin typeface="Times New Roman" panose="02020603050405020304" pitchFamily="18" charset="0"/>
                  <a:ea typeface="宋体" panose="02010600030101010101" pitchFamily="2" charset="-122"/>
                </a:rPr>
                <a:t>RTS</a:t>
              </a:r>
            </a:p>
          </p:txBody>
        </p:sp>
        <p:cxnSp>
          <p:nvCxnSpPr>
            <p:cNvPr id="2441227" name="AutoShape 19"/>
            <p:cNvCxnSpPr>
              <a:cxnSpLocks noChangeShapeType="1"/>
              <a:stCxn id="2441220" idx="2"/>
              <a:endCxn id="2441226" idx="0"/>
            </p:cNvCxnSpPr>
            <p:nvPr/>
          </p:nvCxnSpPr>
          <p:spPr bwMode="auto">
            <a:xfrm flipH="1">
              <a:off x="6299200" y="24145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28" name="AutoShape 20"/>
            <p:cNvSpPr>
              <a:spLocks noChangeArrowheads="1"/>
            </p:cNvSpPr>
            <p:nvPr/>
          </p:nvSpPr>
          <p:spPr bwMode="auto">
            <a:xfrm>
              <a:off x="5722938" y="3213100"/>
              <a:ext cx="1150937"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计时器置位</a:t>
              </a:r>
            </a:p>
          </p:txBody>
        </p:sp>
        <p:cxnSp>
          <p:nvCxnSpPr>
            <p:cNvPr id="2441229" name="AutoShape 21"/>
            <p:cNvCxnSpPr>
              <a:cxnSpLocks noChangeShapeType="1"/>
              <a:stCxn id="2441220" idx="2"/>
              <a:endCxn id="2441226" idx="0"/>
            </p:cNvCxnSpPr>
            <p:nvPr/>
          </p:nvCxnSpPr>
          <p:spPr bwMode="auto">
            <a:xfrm flipH="1">
              <a:off x="6299200" y="2990850"/>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0" name="AutoShape 22"/>
            <p:cNvSpPr>
              <a:spLocks noChangeArrowheads="1"/>
            </p:cNvSpPr>
            <p:nvPr/>
          </p:nvSpPr>
          <p:spPr bwMode="auto">
            <a:xfrm>
              <a:off x="6188075" y="3794125"/>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31" name="AutoShape 23"/>
            <p:cNvCxnSpPr>
              <a:cxnSpLocks noChangeShapeType="1"/>
              <a:stCxn id="2441220" idx="2"/>
              <a:endCxn id="2441226" idx="0"/>
            </p:cNvCxnSpPr>
            <p:nvPr/>
          </p:nvCxnSpPr>
          <p:spPr bwMode="auto">
            <a:xfrm flipH="1">
              <a:off x="6299200" y="3567113"/>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32" name="AutoShape 24"/>
            <p:cNvCxnSpPr>
              <a:cxnSpLocks noChangeShapeType="1"/>
              <a:stCxn id="2441220" idx="2"/>
              <a:endCxn id="2441226" idx="0"/>
            </p:cNvCxnSpPr>
            <p:nvPr/>
          </p:nvCxnSpPr>
          <p:spPr bwMode="auto">
            <a:xfrm flipH="1">
              <a:off x="6292850" y="4011613"/>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3" name="AutoShape 25"/>
            <p:cNvSpPr>
              <a:spLocks noChangeArrowheads="1"/>
            </p:cNvSpPr>
            <p:nvPr/>
          </p:nvSpPr>
          <p:spPr bwMode="auto">
            <a:xfrm>
              <a:off x="5722938" y="4221163"/>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等待 </a:t>
              </a:r>
              <a:r>
                <a:rPr lang="en-US" altLang="zh-CN" sz="1600" b="1">
                  <a:latin typeface="Times New Roman" panose="02020603050405020304" pitchFamily="18" charset="0"/>
                  <a:ea typeface="宋体" panose="02010600030101010101" pitchFamily="2" charset="-122"/>
                </a:rPr>
                <a:t>SIFS</a:t>
              </a:r>
            </a:p>
          </p:txBody>
        </p:sp>
        <p:cxnSp>
          <p:nvCxnSpPr>
            <p:cNvPr id="2441234" name="AutoShape 26"/>
            <p:cNvCxnSpPr>
              <a:cxnSpLocks noChangeShapeType="1"/>
              <a:stCxn id="2441220" idx="2"/>
              <a:endCxn id="2441226" idx="0"/>
            </p:cNvCxnSpPr>
            <p:nvPr/>
          </p:nvCxnSpPr>
          <p:spPr bwMode="auto">
            <a:xfrm flipH="1">
              <a:off x="6299200" y="4575175"/>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5" name="AutoShape 27"/>
            <p:cNvSpPr>
              <a:spLocks noChangeArrowheads="1"/>
            </p:cNvSpPr>
            <p:nvPr/>
          </p:nvSpPr>
          <p:spPr bwMode="auto">
            <a:xfrm>
              <a:off x="5722938" y="4797425"/>
              <a:ext cx="1150937" cy="360363"/>
            </a:xfrm>
            <a:prstGeom prst="flowChartProcess">
              <a:avLst/>
            </a:prstGeom>
            <a:solidFill>
              <a:srgbClr val="F8F8F8"/>
            </a:solidFill>
            <a:ln w="38100" cmpd="dbl">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发送数据帧</a:t>
              </a:r>
            </a:p>
          </p:txBody>
        </p:sp>
        <p:cxnSp>
          <p:nvCxnSpPr>
            <p:cNvPr id="2441236" name="AutoShape 28"/>
            <p:cNvCxnSpPr>
              <a:cxnSpLocks noChangeShapeType="1"/>
              <a:stCxn id="2441220" idx="2"/>
              <a:endCxn id="2441226" idx="0"/>
            </p:cNvCxnSpPr>
            <p:nvPr/>
          </p:nvCxnSpPr>
          <p:spPr bwMode="auto">
            <a:xfrm flipH="1">
              <a:off x="6299200" y="515143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37" name="AutoShape 29"/>
            <p:cNvSpPr>
              <a:spLocks noChangeArrowheads="1"/>
            </p:cNvSpPr>
            <p:nvPr/>
          </p:nvSpPr>
          <p:spPr bwMode="auto">
            <a:xfrm>
              <a:off x="5722938" y="5373688"/>
              <a:ext cx="1150937" cy="360362"/>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计时器置位</a:t>
              </a:r>
            </a:p>
          </p:txBody>
        </p:sp>
        <p:sp>
          <p:nvSpPr>
            <p:cNvPr id="2441238" name="AutoShape 30"/>
            <p:cNvSpPr>
              <a:spLocks noChangeArrowheads="1"/>
            </p:cNvSpPr>
            <p:nvPr/>
          </p:nvSpPr>
          <p:spPr bwMode="auto">
            <a:xfrm>
              <a:off x="6181725" y="5969000"/>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39" name="AutoShape 31"/>
            <p:cNvCxnSpPr>
              <a:cxnSpLocks noChangeShapeType="1"/>
              <a:stCxn id="2441220" idx="2"/>
              <a:endCxn id="2441226" idx="0"/>
            </p:cNvCxnSpPr>
            <p:nvPr/>
          </p:nvCxnSpPr>
          <p:spPr bwMode="auto">
            <a:xfrm flipH="1">
              <a:off x="6292850" y="57419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40" name="AutoShape 32"/>
            <p:cNvCxnSpPr>
              <a:cxnSpLocks noChangeShapeType="1"/>
              <a:stCxn id="2441220" idx="2"/>
              <a:endCxn id="2441226" idx="0"/>
            </p:cNvCxnSpPr>
            <p:nvPr/>
          </p:nvCxnSpPr>
          <p:spPr bwMode="auto">
            <a:xfrm flipH="1">
              <a:off x="6286500" y="6186488"/>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41" name="Oval 33"/>
            <p:cNvSpPr>
              <a:spLocks noChangeArrowheads="1"/>
            </p:cNvSpPr>
            <p:nvPr/>
          </p:nvSpPr>
          <p:spPr bwMode="auto">
            <a:xfrm>
              <a:off x="6135688" y="6410325"/>
              <a:ext cx="287337" cy="287338"/>
            </a:xfrm>
            <a:prstGeom prst="ellipse">
              <a:avLst/>
            </a:prstGeom>
            <a:solidFill>
              <a:srgbClr val="5F5F5F"/>
            </a:solidFill>
            <a:ln w="57150" cmpd="thinThick">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42" name="AutoShape 34"/>
            <p:cNvSpPr>
              <a:spLocks noChangeArrowheads="1"/>
            </p:cNvSpPr>
            <p:nvPr/>
          </p:nvSpPr>
          <p:spPr bwMode="auto">
            <a:xfrm>
              <a:off x="3405188" y="5908675"/>
              <a:ext cx="1150937" cy="36036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 </a:t>
              </a:r>
              <a:r>
                <a:rPr lang="en-US" altLang="zh-CN" sz="1600" b="1">
                  <a:latin typeface="Times New Roman" panose="02020603050405020304" pitchFamily="18" charset="0"/>
                  <a:ea typeface="宋体" panose="02010600030101010101" pitchFamily="2" charset="-122"/>
                </a:rPr>
                <a:t>= </a:t>
              </a:r>
              <a:r>
                <a:rPr lang="en-US" altLang="zh-CN" sz="1600" b="1" i="1">
                  <a:latin typeface="Times New Roman" panose="02020603050405020304" pitchFamily="18" charset="0"/>
                  <a:ea typeface="宋体" panose="02010600030101010101" pitchFamily="2" charset="-122"/>
                </a:rPr>
                <a:t>i</a:t>
              </a:r>
              <a:r>
                <a:rPr lang="en-US" altLang="zh-CN" sz="1600" b="1">
                  <a:latin typeface="Times New Roman" panose="02020603050405020304" pitchFamily="18" charset="0"/>
                  <a:ea typeface="宋体" panose="02010600030101010101" pitchFamily="2" charset="-122"/>
                </a:rPr>
                <a:t> + 1</a:t>
              </a:r>
            </a:p>
          </p:txBody>
        </p:sp>
        <p:sp>
          <p:nvSpPr>
            <p:cNvPr id="2441243" name="AutoShape 35"/>
            <p:cNvSpPr>
              <a:spLocks noChangeArrowheads="1"/>
            </p:cNvSpPr>
            <p:nvPr/>
          </p:nvSpPr>
          <p:spPr bwMode="auto">
            <a:xfrm>
              <a:off x="7307263" y="3357563"/>
              <a:ext cx="1081087" cy="6477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超时之前</a:t>
              </a:r>
            </a:p>
            <a:p>
              <a:pPr algn="ctr" eaLnBrk="0" hangingPunct="0"/>
              <a:r>
                <a:rPr lang="zh-CN" altLang="en-US" sz="1600" b="1">
                  <a:ea typeface="宋体" panose="02010600030101010101" pitchFamily="2" charset="-122"/>
                </a:rPr>
                <a:t>收到 </a:t>
              </a:r>
              <a:r>
                <a:rPr lang="en-US" altLang="zh-CN" sz="1600" b="1">
                  <a:latin typeface="Times New Roman" panose="02020603050405020304" pitchFamily="18" charset="0"/>
                  <a:ea typeface="宋体" panose="02010600030101010101" pitchFamily="2" charset="-122"/>
                </a:rPr>
                <a:t>CTS?</a:t>
              </a:r>
            </a:p>
          </p:txBody>
        </p:sp>
        <p:sp>
          <p:nvSpPr>
            <p:cNvPr id="2441244" name="AutoShape 36"/>
            <p:cNvSpPr>
              <a:spLocks noChangeArrowheads="1"/>
            </p:cNvSpPr>
            <p:nvPr/>
          </p:nvSpPr>
          <p:spPr bwMode="auto">
            <a:xfrm>
              <a:off x="7307263" y="5589588"/>
              <a:ext cx="1081087" cy="6477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zh-CN" altLang="en-US" sz="1600" b="1">
                  <a:ea typeface="宋体" panose="02010600030101010101" pitchFamily="2" charset="-122"/>
                </a:rPr>
                <a:t>超时之前</a:t>
              </a:r>
            </a:p>
            <a:p>
              <a:pPr algn="ctr" eaLnBrk="0" hangingPunct="0"/>
              <a:r>
                <a:rPr lang="zh-CN" altLang="en-US" sz="1600" b="1">
                  <a:ea typeface="宋体" panose="02010600030101010101" pitchFamily="2" charset="-122"/>
                </a:rPr>
                <a:t>收到 </a:t>
              </a:r>
              <a:r>
                <a:rPr lang="en-US" altLang="zh-CN" sz="1600" b="1">
                  <a:latin typeface="Times New Roman" panose="02020603050405020304" pitchFamily="18" charset="0"/>
                  <a:ea typeface="宋体" panose="02010600030101010101" pitchFamily="2" charset="-122"/>
                </a:rPr>
                <a:t>ACK?</a:t>
              </a:r>
            </a:p>
          </p:txBody>
        </p:sp>
        <p:cxnSp>
          <p:nvCxnSpPr>
            <p:cNvPr id="2441245" name="AutoShape 37"/>
            <p:cNvCxnSpPr>
              <a:cxnSpLocks noChangeShapeType="1"/>
              <a:stCxn id="2441238" idx="1"/>
              <a:endCxn id="2441226" idx="0"/>
            </p:cNvCxnSpPr>
            <p:nvPr/>
          </p:nvCxnSpPr>
          <p:spPr bwMode="auto">
            <a:xfrm flipH="1">
              <a:off x="4564063" y="6076950"/>
              <a:ext cx="1617662" cy="31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46" name="AutoShape 40"/>
            <p:cNvCxnSpPr>
              <a:cxnSpLocks noChangeShapeType="1"/>
              <a:stCxn id="2441230" idx="1"/>
              <a:endCxn id="2441226" idx="0"/>
            </p:cNvCxnSpPr>
            <p:nvPr/>
          </p:nvCxnSpPr>
          <p:spPr bwMode="auto">
            <a:xfrm rot="10800000" flipV="1">
              <a:off x="5075238" y="3902075"/>
              <a:ext cx="1112837" cy="219075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41247" name="AutoShape 41"/>
            <p:cNvSpPr>
              <a:spLocks noChangeArrowheads="1"/>
            </p:cNvSpPr>
            <p:nvPr/>
          </p:nvSpPr>
          <p:spPr bwMode="auto">
            <a:xfrm>
              <a:off x="2574925" y="5973763"/>
              <a:ext cx="215900" cy="215900"/>
            </a:xfrm>
            <a:prstGeom prst="flowChartDecision">
              <a:avLst/>
            </a:prstGeom>
            <a:solidFill>
              <a:srgbClr val="C0C0C0"/>
            </a:solidFill>
            <a:ln w="9525">
              <a:solidFill>
                <a:schemeClr val="tx1"/>
              </a:solidFill>
              <a:miter lim="800000"/>
              <a:headEnd/>
              <a:tailEnd/>
            </a:ln>
          </p:spPr>
          <p:txBody>
            <a:bodyPr wrap="none" anchor="ctr"/>
            <a:lstStyle/>
            <a:p>
              <a:pPr eaLnBrk="0" hangingPunct="0"/>
              <a:endParaRPr lang="zh-CN" altLang="en-US" b="1">
                <a:ea typeface="宋体" panose="02010600030101010101" pitchFamily="2" charset="-122"/>
              </a:endParaRPr>
            </a:p>
          </p:txBody>
        </p:sp>
        <p:cxnSp>
          <p:nvCxnSpPr>
            <p:cNvPr id="2441248" name="AutoShape 43"/>
            <p:cNvCxnSpPr>
              <a:cxnSpLocks noChangeShapeType="1"/>
              <a:stCxn id="2441230" idx="1"/>
              <a:endCxn id="2441226" idx="0"/>
            </p:cNvCxnSpPr>
            <p:nvPr/>
          </p:nvCxnSpPr>
          <p:spPr bwMode="auto">
            <a:xfrm flipH="1">
              <a:off x="2679700" y="6191250"/>
              <a:ext cx="1588" cy="222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49" name="Oval 44"/>
            <p:cNvSpPr>
              <a:spLocks noChangeArrowheads="1"/>
            </p:cNvSpPr>
            <p:nvPr/>
          </p:nvSpPr>
          <p:spPr bwMode="auto">
            <a:xfrm>
              <a:off x="2528888" y="6415088"/>
              <a:ext cx="287337" cy="287337"/>
            </a:xfrm>
            <a:prstGeom prst="ellipse">
              <a:avLst/>
            </a:prstGeom>
            <a:solidFill>
              <a:srgbClr val="5F5F5F"/>
            </a:solidFill>
            <a:ln w="57150" cmpd="thinThick">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50" name="AutoShape 45"/>
            <p:cNvSpPr>
              <a:spLocks noChangeArrowheads="1"/>
            </p:cNvSpPr>
            <p:nvPr/>
          </p:nvSpPr>
          <p:spPr bwMode="auto">
            <a:xfrm>
              <a:off x="2047875" y="2781300"/>
              <a:ext cx="1296988" cy="671513"/>
            </a:xfrm>
            <a:prstGeom prst="flowChartProcess">
              <a:avLst/>
            </a:prstGeom>
            <a:solidFill>
              <a:srgbClr val="F8F8F8"/>
            </a:solidFill>
            <a:ln w="9525">
              <a:solidFill>
                <a:schemeClr val="tx1"/>
              </a:solidFill>
              <a:miter lim="800000"/>
              <a:headEnd/>
              <a:tailEnd/>
            </a:ln>
          </p:spPr>
          <p:txBody>
            <a:bodyPr wrap="none" anchor="ctr"/>
            <a:lstStyle/>
            <a:p>
              <a:pPr algn="ctr" eaLnBrk="0" hangingPunct="0"/>
              <a:r>
                <a:rPr lang="zh-CN" altLang="en-US" sz="1600" b="1">
                  <a:latin typeface="Times New Roman" panose="02020603050405020304" pitchFamily="18" charset="0"/>
                  <a:ea typeface="宋体" panose="02010600030101010101" pitchFamily="2" charset="-122"/>
                </a:rPr>
                <a:t>计算退避时间</a:t>
              </a:r>
            </a:p>
            <a:p>
              <a:pPr algn="ctr" eaLnBrk="0" hangingPunct="0"/>
              <a:r>
                <a:rPr lang="zh-CN" altLang="en-US" sz="1600" b="1">
                  <a:latin typeface="Times New Roman" panose="02020603050405020304" pitchFamily="18" charset="0"/>
                  <a:ea typeface="宋体" panose="02010600030101010101" pitchFamily="2" charset="-122"/>
                </a:rPr>
                <a:t>并等待</a:t>
              </a:r>
            </a:p>
          </p:txBody>
        </p:sp>
        <p:sp>
          <p:nvSpPr>
            <p:cNvPr id="2441251" name="AutoShape 46"/>
            <p:cNvSpPr>
              <a:spLocks noChangeArrowheads="1"/>
            </p:cNvSpPr>
            <p:nvPr/>
          </p:nvSpPr>
          <p:spPr bwMode="auto">
            <a:xfrm>
              <a:off x="468313" y="5589588"/>
              <a:ext cx="1081087" cy="431800"/>
            </a:xfrm>
            <a:prstGeom prst="flowChartDocument">
              <a:avLst/>
            </a:prstGeom>
            <a:solidFill>
              <a:srgbClr val="EAEAEA"/>
            </a:solidFill>
            <a:ln w="9525">
              <a:solidFill>
                <a:schemeClr val="tx1"/>
              </a:solidFill>
              <a:miter lim="800000"/>
              <a:headEnd/>
              <a:tailEnd/>
            </a:ln>
          </p:spPr>
          <p:txBody>
            <a:bodyPr wrap="none" anchor="ctr"/>
            <a:lstStyle/>
            <a:p>
              <a:pPr algn="ctr" eaLnBrk="0" hangingPunct="0"/>
              <a:r>
                <a:rPr lang="en-US" altLang="zh-CN" sz="1600" b="1" i="1">
                  <a:latin typeface="Times New Roman" panose="02020603050405020304" pitchFamily="18" charset="0"/>
                  <a:ea typeface="宋体" panose="02010600030101010101" pitchFamily="2" charset="-122"/>
                </a:rPr>
                <a:t>i</a:t>
              </a:r>
              <a:r>
                <a:rPr lang="en-US" altLang="zh-CN" sz="1600" b="1">
                  <a:ea typeface="宋体" panose="02010600030101010101" pitchFamily="2" charset="-122"/>
                </a:rPr>
                <a:t> &lt; </a:t>
              </a:r>
              <a:r>
                <a:rPr lang="zh-CN" altLang="en-US" sz="1600" b="1">
                  <a:ea typeface="宋体" panose="02010600030101010101" pitchFamily="2" charset="-122"/>
                </a:rPr>
                <a:t>上限</a:t>
              </a:r>
              <a:r>
                <a:rPr lang="en-US" altLang="zh-CN" sz="1600" b="1">
                  <a:latin typeface="Times New Roman" panose="02020603050405020304" pitchFamily="18" charset="0"/>
                  <a:ea typeface="宋体" panose="02010600030101010101" pitchFamily="2" charset="-122"/>
                </a:rPr>
                <a:t>?</a:t>
              </a:r>
            </a:p>
          </p:txBody>
        </p:sp>
        <p:cxnSp>
          <p:nvCxnSpPr>
            <p:cNvPr id="2441252" name="AutoShape 47"/>
            <p:cNvCxnSpPr>
              <a:cxnSpLocks noChangeShapeType="1"/>
              <a:stCxn id="2441242" idx="1"/>
              <a:endCxn id="2441226" idx="0"/>
            </p:cNvCxnSpPr>
            <p:nvPr/>
          </p:nvCxnSpPr>
          <p:spPr bwMode="auto">
            <a:xfrm flipH="1" flipV="1">
              <a:off x="2778125" y="6073775"/>
              <a:ext cx="627063" cy="158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53" name="AutoShape 48"/>
            <p:cNvCxnSpPr>
              <a:cxnSpLocks noChangeShapeType="1"/>
              <a:stCxn id="2441247" idx="0"/>
              <a:endCxn id="2441250" idx="2"/>
            </p:cNvCxnSpPr>
            <p:nvPr/>
          </p:nvCxnSpPr>
          <p:spPr bwMode="auto">
            <a:xfrm flipV="1">
              <a:off x="2682875" y="3452813"/>
              <a:ext cx="14288" cy="25209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41254" name="AutoShape 49"/>
            <p:cNvCxnSpPr>
              <a:cxnSpLocks noChangeShapeType="1"/>
              <a:stCxn id="2441250" idx="0"/>
              <a:endCxn id="2441250" idx="2"/>
            </p:cNvCxnSpPr>
            <p:nvPr/>
          </p:nvCxnSpPr>
          <p:spPr bwMode="auto">
            <a:xfrm rot="-5400000">
              <a:off x="3732213" y="217488"/>
              <a:ext cx="1528762" cy="3598862"/>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41255" name="AutoShape 50"/>
            <p:cNvCxnSpPr>
              <a:cxnSpLocks noChangeShapeType="1"/>
              <a:stCxn id="2441250" idx="0"/>
              <a:endCxn id="2441219" idx="0"/>
            </p:cNvCxnSpPr>
            <p:nvPr/>
          </p:nvCxnSpPr>
          <p:spPr bwMode="auto">
            <a:xfrm flipH="1">
              <a:off x="6299200" y="692150"/>
              <a:ext cx="1588" cy="2159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41256" name="Oval 51"/>
            <p:cNvSpPr>
              <a:spLocks noChangeArrowheads="1"/>
            </p:cNvSpPr>
            <p:nvPr/>
          </p:nvSpPr>
          <p:spPr bwMode="auto">
            <a:xfrm>
              <a:off x="6181725" y="482600"/>
              <a:ext cx="223838" cy="223838"/>
            </a:xfrm>
            <a:prstGeom prst="ellipse">
              <a:avLst/>
            </a:prstGeom>
            <a:solidFill>
              <a:srgbClr val="5F5F5F"/>
            </a:solidFill>
            <a:ln w="38100">
              <a:solidFill>
                <a:schemeClr val="tx1"/>
              </a:solidFill>
              <a:round/>
              <a:headEnd/>
              <a:tailEnd/>
            </a:ln>
          </p:spPr>
          <p:txBody>
            <a:bodyPr wrap="none" anchor="ctr"/>
            <a:lstStyle/>
            <a:p>
              <a:pPr eaLnBrk="0" hangingPunct="0"/>
              <a:endParaRPr lang="zh-CN" altLang="en-US" b="1">
                <a:ea typeface="宋体" panose="02010600030101010101" pitchFamily="2" charset="-122"/>
              </a:endParaRPr>
            </a:p>
          </p:txBody>
        </p:sp>
        <p:sp>
          <p:nvSpPr>
            <p:cNvPr id="2441257" name="Line 52"/>
            <p:cNvSpPr>
              <a:spLocks noChangeShapeType="1"/>
            </p:cNvSpPr>
            <p:nvPr/>
          </p:nvSpPr>
          <p:spPr bwMode="auto">
            <a:xfrm>
              <a:off x="1547813" y="5805488"/>
              <a:ext cx="1144587" cy="2841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58" name="Line 53"/>
            <p:cNvSpPr>
              <a:spLocks noChangeShapeType="1"/>
            </p:cNvSpPr>
            <p:nvPr/>
          </p:nvSpPr>
          <p:spPr bwMode="auto">
            <a:xfrm flipV="1">
              <a:off x="6297613" y="160972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59" name="Line 54"/>
            <p:cNvSpPr>
              <a:spLocks noChangeShapeType="1"/>
            </p:cNvSpPr>
            <p:nvPr/>
          </p:nvSpPr>
          <p:spPr bwMode="auto">
            <a:xfrm flipV="1">
              <a:off x="6319838" y="367347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60" name="Line 55"/>
            <p:cNvSpPr>
              <a:spLocks noChangeShapeType="1"/>
            </p:cNvSpPr>
            <p:nvPr/>
          </p:nvSpPr>
          <p:spPr bwMode="auto">
            <a:xfrm flipV="1">
              <a:off x="6297613" y="5876925"/>
              <a:ext cx="995362" cy="19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61" name="Text Box 56"/>
            <p:cNvSpPr txBox="1">
              <a:spLocks noChangeArrowheads="1"/>
            </p:cNvSpPr>
            <p:nvPr/>
          </p:nvSpPr>
          <p:spPr bwMode="auto">
            <a:xfrm>
              <a:off x="6300788" y="175736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2" name="Text Box 57"/>
            <p:cNvSpPr txBox="1">
              <a:spLocks noChangeArrowheads="1"/>
            </p:cNvSpPr>
            <p:nvPr/>
          </p:nvSpPr>
          <p:spPr bwMode="auto">
            <a:xfrm>
              <a:off x="6269038" y="609758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3" name="Text Box 58"/>
            <p:cNvSpPr txBox="1">
              <a:spLocks noChangeArrowheads="1"/>
            </p:cNvSpPr>
            <p:nvPr/>
          </p:nvSpPr>
          <p:spPr bwMode="auto">
            <a:xfrm>
              <a:off x="6275388" y="391318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4" name="Text Box 59"/>
            <p:cNvSpPr txBox="1">
              <a:spLocks noChangeArrowheads="1"/>
            </p:cNvSpPr>
            <p:nvPr/>
          </p:nvSpPr>
          <p:spPr bwMode="auto">
            <a:xfrm>
              <a:off x="2614613" y="57102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是</a:t>
              </a:r>
            </a:p>
          </p:txBody>
        </p:sp>
        <p:sp>
          <p:nvSpPr>
            <p:cNvPr id="2441265" name="Text Box 60"/>
            <p:cNvSpPr txBox="1">
              <a:spLocks noChangeArrowheads="1"/>
            </p:cNvSpPr>
            <p:nvPr/>
          </p:nvSpPr>
          <p:spPr bwMode="auto">
            <a:xfrm>
              <a:off x="5915025" y="14938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6" name="Text Box 61"/>
            <p:cNvSpPr txBox="1">
              <a:spLocks noChangeArrowheads="1"/>
            </p:cNvSpPr>
            <p:nvPr/>
          </p:nvSpPr>
          <p:spPr bwMode="auto">
            <a:xfrm>
              <a:off x="5867400" y="357346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7" name="Text Box 62"/>
            <p:cNvSpPr txBox="1">
              <a:spLocks noChangeArrowheads="1"/>
            </p:cNvSpPr>
            <p:nvPr/>
          </p:nvSpPr>
          <p:spPr bwMode="auto">
            <a:xfrm>
              <a:off x="5867400" y="573405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8" name="Text Box 63"/>
            <p:cNvSpPr txBox="1">
              <a:spLocks noChangeArrowheads="1"/>
            </p:cNvSpPr>
            <p:nvPr/>
          </p:nvSpPr>
          <p:spPr bwMode="auto">
            <a:xfrm>
              <a:off x="2627313" y="609282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否</a:t>
              </a:r>
            </a:p>
          </p:txBody>
        </p:sp>
        <p:sp>
          <p:nvSpPr>
            <p:cNvPr id="2441269" name="Text Box 64"/>
            <p:cNvSpPr txBox="1">
              <a:spLocks noChangeArrowheads="1"/>
            </p:cNvSpPr>
            <p:nvPr/>
          </p:nvSpPr>
          <p:spPr bwMode="auto">
            <a:xfrm>
              <a:off x="3563938" y="620713"/>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退避变量 </a:t>
              </a:r>
              <a:r>
                <a:rPr lang="en-US" altLang="zh-CN" sz="1600" b="1" i="1">
                  <a:latin typeface="Times New Roman" panose="02020603050405020304" pitchFamily="18" charset="0"/>
                  <a:ea typeface="宋体" panose="02010600030101010101" pitchFamily="2" charset="-122"/>
                </a:rPr>
                <a:t>i</a:t>
              </a:r>
              <a:r>
                <a:rPr lang="en-US" altLang="zh-CN" sz="1600" b="1">
                  <a:ea typeface="宋体" panose="02010600030101010101" pitchFamily="2" charset="-122"/>
                </a:rPr>
                <a:t> </a:t>
              </a:r>
              <a:r>
                <a:rPr lang="zh-CN" altLang="en-US" sz="1600" b="1">
                  <a:ea typeface="宋体" panose="02010600030101010101" pitchFamily="2" charset="-122"/>
                </a:rPr>
                <a:t>初始化</a:t>
              </a:r>
            </a:p>
          </p:txBody>
        </p:sp>
        <p:sp>
          <p:nvSpPr>
            <p:cNvPr id="2441270" name="Line 65"/>
            <p:cNvSpPr>
              <a:spLocks noChangeShapeType="1"/>
            </p:cNvSpPr>
            <p:nvPr/>
          </p:nvSpPr>
          <p:spPr bwMode="auto">
            <a:xfrm>
              <a:off x="5292725" y="815975"/>
              <a:ext cx="704850" cy="203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1" name="Text Box 66"/>
            <p:cNvSpPr txBox="1">
              <a:spLocks noChangeArrowheads="1"/>
            </p:cNvSpPr>
            <p:nvPr/>
          </p:nvSpPr>
          <p:spPr bwMode="auto">
            <a:xfrm>
              <a:off x="6443663" y="404813"/>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有数据帧要发送</a:t>
              </a:r>
            </a:p>
          </p:txBody>
        </p:sp>
        <p:sp>
          <p:nvSpPr>
            <p:cNvPr id="2441272" name="Text Box 67"/>
            <p:cNvSpPr txBox="1">
              <a:spLocks noChangeArrowheads="1"/>
            </p:cNvSpPr>
            <p:nvPr/>
          </p:nvSpPr>
          <p:spPr bwMode="auto">
            <a:xfrm>
              <a:off x="6481763" y="6378575"/>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成功</a:t>
              </a:r>
            </a:p>
          </p:txBody>
        </p:sp>
        <p:sp>
          <p:nvSpPr>
            <p:cNvPr id="2441273" name="Text Box 68"/>
            <p:cNvSpPr txBox="1">
              <a:spLocks noChangeArrowheads="1"/>
            </p:cNvSpPr>
            <p:nvPr/>
          </p:nvSpPr>
          <p:spPr bwMode="auto">
            <a:xfrm>
              <a:off x="1935163" y="6372225"/>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放弃</a:t>
              </a:r>
            </a:p>
          </p:txBody>
        </p:sp>
        <p:sp>
          <p:nvSpPr>
            <p:cNvPr id="2441274" name="Text Box 69"/>
            <p:cNvSpPr txBox="1">
              <a:spLocks noChangeArrowheads="1"/>
            </p:cNvSpPr>
            <p:nvPr/>
          </p:nvSpPr>
          <p:spPr bwMode="auto">
            <a:xfrm>
              <a:off x="7340600" y="105251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载波监听</a:t>
              </a:r>
            </a:p>
          </p:txBody>
        </p:sp>
        <p:sp>
          <p:nvSpPr>
            <p:cNvPr id="2441275" name="Text Box 70"/>
            <p:cNvSpPr txBox="1">
              <a:spLocks noChangeArrowheads="1"/>
            </p:cNvSpPr>
            <p:nvPr/>
          </p:nvSpPr>
          <p:spPr bwMode="auto">
            <a:xfrm>
              <a:off x="7308850" y="2420938"/>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预约信道</a:t>
              </a:r>
            </a:p>
          </p:txBody>
        </p:sp>
        <p:sp>
          <p:nvSpPr>
            <p:cNvPr id="2441276" name="Line 71"/>
            <p:cNvSpPr>
              <a:spLocks noChangeShapeType="1"/>
            </p:cNvSpPr>
            <p:nvPr/>
          </p:nvSpPr>
          <p:spPr bwMode="auto">
            <a:xfrm flipV="1">
              <a:off x="6865938" y="2651125"/>
              <a:ext cx="492125" cy="141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7" name="Text Box 72"/>
            <p:cNvSpPr txBox="1">
              <a:spLocks noChangeArrowheads="1"/>
            </p:cNvSpPr>
            <p:nvPr/>
          </p:nvSpPr>
          <p:spPr bwMode="auto">
            <a:xfrm>
              <a:off x="7332663" y="461486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600" b="1">
                  <a:ea typeface="宋体" panose="02010600030101010101" pitchFamily="2" charset="-122"/>
                </a:rPr>
                <a:t>发送数据</a:t>
              </a:r>
            </a:p>
          </p:txBody>
        </p:sp>
        <p:sp>
          <p:nvSpPr>
            <p:cNvPr id="2441278" name="Line 73"/>
            <p:cNvSpPr>
              <a:spLocks noChangeShapeType="1"/>
            </p:cNvSpPr>
            <p:nvPr/>
          </p:nvSpPr>
          <p:spPr bwMode="auto">
            <a:xfrm flipV="1">
              <a:off x="6910388" y="4829175"/>
              <a:ext cx="492125" cy="141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2441279" name="Text Box 74"/>
            <p:cNvSpPr txBox="1">
              <a:spLocks noChangeArrowheads="1"/>
            </p:cNvSpPr>
            <p:nvPr/>
          </p:nvSpPr>
          <p:spPr bwMode="auto">
            <a:xfrm>
              <a:off x="1331913" y="692150"/>
              <a:ext cx="2087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1600" b="1">
                  <a:ea typeface="宋体" panose="02010600030101010101" pitchFamily="2" charset="-122"/>
                </a:rPr>
                <a:t>等待一个退避时间后</a:t>
              </a:r>
            </a:p>
            <a:p>
              <a:pPr algn="ctr" eaLnBrk="0" hangingPunct="0"/>
              <a:r>
                <a:rPr lang="zh-CN" altLang="en-US" sz="1600" b="1">
                  <a:ea typeface="宋体" panose="02010600030101010101" pitchFamily="2" charset="-122"/>
                </a:rPr>
                <a:t>才继续监听信道</a:t>
              </a:r>
            </a:p>
          </p:txBody>
        </p:sp>
      </p:grpSp>
      <p:sp>
        <p:nvSpPr>
          <p:cNvPr id="2441280" name="灯片编号占位符 6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149AE4-4CF7-49FD-82F7-8D6C6C36E5D0}" type="slidenum">
              <a:rPr lang="zh-CN" altLang="en-US" smtClean="0"/>
              <a:pPr eaLnBrk="1" hangingPunct="1"/>
              <a:t>50</a:t>
            </a:fld>
            <a:endParaRPr lang="en-US" altLang="zh-CN" smtClean="0"/>
          </a:p>
        </p:txBody>
      </p:sp>
      <p:sp>
        <p:nvSpPr>
          <p:cNvPr id="2441281" name="页脚占位符 6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32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9.1.4  802.11 </a:t>
            </a:r>
            <a:r>
              <a:rPr lang="zh-CN" altLang="en-US" smtClean="0">
                <a:ea typeface="黑体" panose="02010609060101010101" pitchFamily="49" charset="-122"/>
              </a:rPr>
              <a:t>局域网的 </a:t>
            </a:r>
            <a:r>
              <a:rPr lang="en-US" altLang="zh-CN" smtClean="0">
                <a:ea typeface="黑体" panose="02010609060101010101" pitchFamily="49" charset="-122"/>
              </a:rPr>
              <a:t>MAC </a:t>
            </a:r>
            <a:r>
              <a:rPr lang="zh-CN" altLang="en-US" smtClean="0">
                <a:ea typeface="黑体" panose="02010609060101010101" pitchFamily="49" charset="-122"/>
              </a:rPr>
              <a:t>帧</a:t>
            </a:r>
          </a:p>
        </p:txBody>
      </p:sp>
      <p:sp>
        <p:nvSpPr>
          <p:cNvPr id="244326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802.11 </a:t>
            </a:r>
            <a:r>
              <a:rPr lang="zh-CN" altLang="en-US" dirty="0" smtClean="0">
                <a:ea typeface="黑体" panose="02010609060101010101" pitchFamily="49" charset="-122"/>
              </a:rPr>
              <a:t>帧共有三种类型：</a:t>
            </a:r>
            <a:r>
              <a:rPr lang="zh-CN" altLang="en-US" dirty="0" smtClean="0">
                <a:solidFill>
                  <a:srgbClr val="FF0000"/>
                </a:solidFill>
                <a:ea typeface="黑体" panose="02010609060101010101" pitchFamily="49" charset="-122"/>
              </a:rPr>
              <a:t>控制帧</a:t>
            </a:r>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数据帧</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管理帧</a:t>
            </a:r>
            <a:r>
              <a:rPr lang="zh-CN" altLang="en-US" dirty="0" smtClean="0">
                <a:ea typeface="黑体" panose="02010609060101010101" pitchFamily="49" charset="-122"/>
              </a:rPr>
              <a:t>。</a:t>
            </a:r>
          </a:p>
        </p:txBody>
      </p:sp>
      <p:grpSp>
        <p:nvGrpSpPr>
          <p:cNvPr id="2443267" name="组合 2"/>
          <p:cNvGrpSpPr>
            <a:grpSpLocks/>
          </p:cNvGrpSpPr>
          <p:nvPr/>
        </p:nvGrpSpPr>
        <p:grpSpPr bwMode="auto">
          <a:xfrm>
            <a:off x="244475" y="2311400"/>
            <a:ext cx="9604375" cy="2630488"/>
            <a:chOff x="200472" y="3030051"/>
            <a:chExt cx="9605037" cy="2630154"/>
          </a:xfrm>
        </p:grpSpPr>
        <p:sp>
          <p:nvSpPr>
            <p:cNvPr id="2443268" name="Freeform 4"/>
            <p:cNvSpPr>
              <a:spLocks noChangeArrowheads="1"/>
            </p:cNvSpPr>
            <p:nvPr/>
          </p:nvSpPr>
          <p:spPr bwMode="auto">
            <a:xfrm>
              <a:off x="523793" y="4509120"/>
              <a:ext cx="8736542" cy="576263"/>
            </a:xfrm>
            <a:custGeom>
              <a:avLst/>
              <a:gdLst>
                <a:gd name="T0" fmla="*/ 0 w 5080"/>
                <a:gd name="T1" fmla="*/ 363 h 363"/>
                <a:gd name="T2" fmla="*/ 181 w 5080"/>
                <a:gd name="T3" fmla="*/ 0 h 363"/>
                <a:gd name="T4" fmla="*/ 725 w 5080"/>
                <a:gd name="T5" fmla="*/ 0 h 363"/>
                <a:gd name="T6" fmla="*/ 5080 w 5080"/>
                <a:gd name="T7" fmla="*/ 363 h 363"/>
                <a:gd name="T8" fmla="*/ 0 w 5080"/>
                <a:gd name="T9" fmla="*/ 363 h 363"/>
              </a:gdLst>
              <a:ahLst/>
              <a:cxnLst>
                <a:cxn ang="0">
                  <a:pos x="T0" y="T1"/>
                </a:cxn>
                <a:cxn ang="0">
                  <a:pos x="T2" y="T3"/>
                </a:cxn>
                <a:cxn ang="0">
                  <a:pos x="T4" y="T5"/>
                </a:cxn>
                <a:cxn ang="0">
                  <a:pos x="T6" y="T7"/>
                </a:cxn>
                <a:cxn ang="0">
                  <a:pos x="T8" y="T9"/>
                </a:cxn>
              </a:cxnLst>
              <a:rect l="0" t="0" r="r" b="b"/>
              <a:pathLst>
                <a:path w="5080" h="363">
                  <a:moveTo>
                    <a:pt x="0" y="363"/>
                  </a:moveTo>
                  <a:lnTo>
                    <a:pt x="181" y="0"/>
                  </a:lnTo>
                  <a:lnTo>
                    <a:pt x="725" y="0"/>
                  </a:lnTo>
                  <a:lnTo>
                    <a:pt x="5080" y="363"/>
                  </a:lnTo>
                  <a:lnTo>
                    <a:pt x="0" y="363"/>
                  </a:lnTo>
                  <a:close/>
                </a:path>
              </a:pathLst>
            </a:custGeom>
            <a:gradFill rotWithShape="1">
              <a:gsLst>
                <a:gs pos="0">
                  <a:srgbClr val="767647"/>
                </a:gs>
                <a:gs pos="100000">
                  <a:srgbClr val="FFFF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443269" name="Text Box 5"/>
            <p:cNvSpPr txBox="1">
              <a:spLocks noChangeArrowheads="1"/>
            </p:cNvSpPr>
            <p:nvPr/>
          </p:nvSpPr>
          <p:spPr bwMode="auto">
            <a:xfrm>
              <a:off x="324297" y="3809180"/>
              <a:ext cx="85459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宋体" panose="02010600030101010101" pitchFamily="2" charset="-122"/>
                </a:rPr>
                <a:t>字节     </a:t>
              </a:r>
              <a:r>
                <a:rPr lang="en-US" altLang="zh-CN" sz="1600" b="1">
                  <a:solidFill>
                    <a:srgbClr val="000099"/>
                  </a:solidFill>
                  <a:ea typeface="宋体" panose="02010600030101010101" pitchFamily="2" charset="-122"/>
                </a:rPr>
                <a:t>2              2            6              6             6              2            6           0 ~ 2312             4</a:t>
              </a:r>
            </a:p>
          </p:txBody>
        </p:sp>
        <p:sp>
          <p:nvSpPr>
            <p:cNvPr id="2443270" name="Rectangle 6"/>
            <p:cNvSpPr>
              <a:spLocks noChangeArrowheads="1"/>
            </p:cNvSpPr>
            <p:nvPr/>
          </p:nvSpPr>
          <p:spPr bwMode="auto">
            <a:xfrm>
              <a:off x="836795" y="4156843"/>
              <a:ext cx="928688" cy="342900"/>
            </a:xfrm>
            <a:prstGeom prst="rect">
              <a:avLst/>
            </a:prstGeom>
            <a:solidFill>
              <a:srgbClr val="FFFF66"/>
            </a:solidFill>
            <a:ln w="9525">
              <a:solidFill>
                <a:schemeClr val="tx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3271" name="Rectangle 7"/>
            <p:cNvSpPr>
              <a:spLocks noChangeArrowheads="1"/>
            </p:cNvSpPr>
            <p:nvPr/>
          </p:nvSpPr>
          <p:spPr bwMode="auto">
            <a:xfrm>
              <a:off x="833355" y="4147318"/>
              <a:ext cx="937287" cy="36036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zh-CN" altLang="en-US" sz="1600" b="1">
                  <a:solidFill>
                    <a:srgbClr val="000099"/>
                  </a:solidFill>
                  <a:ea typeface="宋体" panose="02010600030101010101" pitchFamily="2" charset="-122"/>
                </a:rPr>
                <a:t>帧控制</a:t>
              </a:r>
            </a:p>
          </p:txBody>
        </p:sp>
        <p:sp>
          <p:nvSpPr>
            <p:cNvPr id="2443272" name="Rectangle 8"/>
            <p:cNvSpPr>
              <a:spLocks noChangeArrowheads="1"/>
            </p:cNvSpPr>
            <p:nvPr/>
          </p:nvSpPr>
          <p:spPr bwMode="auto">
            <a:xfrm>
              <a:off x="1770643"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持续期</a:t>
              </a:r>
            </a:p>
          </p:txBody>
        </p:sp>
        <p:sp>
          <p:nvSpPr>
            <p:cNvPr id="2443273" name="Rectangle 9"/>
            <p:cNvSpPr>
              <a:spLocks noChangeArrowheads="1"/>
            </p:cNvSpPr>
            <p:nvPr/>
          </p:nvSpPr>
          <p:spPr bwMode="auto">
            <a:xfrm>
              <a:off x="2707928"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1</a:t>
              </a:r>
            </a:p>
          </p:txBody>
        </p:sp>
        <p:sp>
          <p:nvSpPr>
            <p:cNvPr id="2443274" name="Rectangle 10"/>
            <p:cNvSpPr>
              <a:spLocks noChangeArrowheads="1"/>
            </p:cNvSpPr>
            <p:nvPr/>
          </p:nvSpPr>
          <p:spPr bwMode="auto">
            <a:xfrm>
              <a:off x="3645216"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2</a:t>
              </a:r>
            </a:p>
          </p:txBody>
        </p:sp>
        <p:sp>
          <p:nvSpPr>
            <p:cNvPr id="2443275" name="Rectangle 11"/>
            <p:cNvSpPr>
              <a:spLocks noChangeArrowheads="1"/>
            </p:cNvSpPr>
            <p:nvPr/>
          </p:nvSpPr>
          <p:spPr bwMode="auto">
            <a:xfrm>
              <a:off x="4582501"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3</a:t>
              </a:r>
            </a:p>
          </p:txBody>
        </p:sp>
        <p:sp>
          <p:nvSpPr>
            <p:cNvPr id="2443276" name="Rectangle 12"/>
            <p:cNvSpPr>
              <a:spLocks noChangeArrowheads="1"/>
            </p:cNvSpPr>
            <p:nvPr/>
          </p:nvSpPr>
          <p:spPr bwMode="auto">
            <a:xfrm>
              <a:off x="5519789" y="4147318"/>
              <a:ext cx="937286"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序号控制</a:t>
              </a:r>
            </a:p>
          </p:txBody>
        </p:sp>
        <p:sp>
          <p:nvSpPr>
            <p:cNvPr id="2443277" name="Rectangle 13"/>
            <p:cNvSpPr>
              <a:spLocks noChangeArrowheads="1"/>
            </p:cNvSpPr>
            <p:nvPr/>
          </p:nvSpPr>
          <p:spPr bwMode="auto">
            <a:xfrm>
              <a:off x="6457074"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地址 </a:t>
              </a:r>
              <a:r>
                <a:rPr lang="en-US" altLang="zh-CN" sz="1600" b="1">
                  <a:solidFill>
                    <a:srgbClr val="000099"/>
                  </a:solidFill>
                  <a:ea typeface="宋体" panose="02010600030101010101" pitchFamily="2" charset="-122"/>
                </a:rPr>
                <a:t>4</a:t>
              </a:r>
            </a:p>
          </p:txBody>
        </p:sp>
        <p:sp>
          <p:nvSpPr>
            <p:cNvPr id="2443278" name="Rectangle 14"/>
            <p:cNvSpPr>
              <a:spLocks noChangeArrowheads="1"/>
            </p:cNvSpPr>
            <p:nvPr/>
          </p:nvSpPr>
          <p:spPr bwMode="auto">
            <a:xfrm>
              <a:off x="7394362" y="4147318"/>
              <a:ext cx="1475581"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帧主体</a:t>
              </a:r>
            </a:p>
          </p:txBody>
        </p:sp>
        <p:sp>
          <p:nvSpPr>
            <p:cNvPr id="2443279" name="Rectangle 15"/>
            <p:cNvSpPr>
              <a:spLocks noChangeArrowheads="1"/>
            </p:cNvSpPr>
            <p:nvPr/>
          </p:nvSpPr>
          <p:spPr bwMode="auto">
            <a:xfrm>
              <a:off x="8868222" y="4147318"/>
              <a:ext cx="937287" cy="360362"/>
            </a:xfrm>
            <a:prstGeom prst="rect">
              <a:avLst/>
            </a:prstGeom>
            <a:solidFill>
              <a:srgbClr val="CCECFF"/>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宋体" panose="02010600030101010101" pitchFamily="2" charset="-122"/>
                </a:rPr>
                <a:t>FCS</a:t>
              </a:r>
            </a:p>
          </p:txBody>
        </p:sp>
        <p:sp>
          <p:nvSpPr>
            <p:cNvPr id="2443280" name="Rectangle 16"/>
            <p:cNvSpPr>
              <a:spLocks noChangeArrowheads="1"/>
            </p:cNvSpPr>
            <p:nvPr/>
          </p:nvSpPr>
          <p:spPr bwMode="auto">
            <a:xfrm>
              <a:off x="522074" y="5083943"/>
              <a:ext cx="937286"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协议</a:t>
              </a:r>
            </a:p>
            <a:p>
              <a:pPr algn="ctr" eaLnBrk="0" hangingPunct="0"/>
              <a:r>
                <a:rPr lang="zh-CN" altLang="en-US" sz="1600" b="1">
                  <a:solidFill>
                    <a:srgbClr val="000099"/>
                  </a:solidFill>
                  <a:ea typeface="宋体" panose="02010600030101010101" pitchFamily="2" charset="-122"/>
                </a:rPr>
                <a:t>版本</a:t>
              </a:r>
            </a:p>
          </p:txBody>
        </p:sp>
        <p:sp>
          <p:nvSpPr>
            <p:cNvPr id="2443281" name="Rectangle 17"/>
            <p:cNvSpPr>
              <a:spLocks noChangeArrowheads="1"/>
            </p:cNvSpPr>
            <p:nvPr/>
          </p:nvSpPr>
          <p:spPr bwMode="auto">
            <a:xfrm>
              <a:off x="1459359" y="5083943"/>
              <a:ext cx="937287"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类型</a:t>
              </a:r>
            </a:p>
          </p:txBody>
        </p:sp>
        <p:sp>
          <p:nvSpPr>
            <p:cNvPr id="2443282" name="Rectangle 18"/>
            <p:cNvSpPr>
              <a:spLocks noChangeArrowheads="1"/>
            </p:cNvSpPr>
            <p:nvPr/>
          </p:nvSpPr>
          <p:spPr bwMode="auto">
            <a:xfrm>
              <a:off x="2396647" y="5083943"/>
              <a:ext cx="187113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子类型</a:t>
              </a:r>
            </a:p>
          </p:txBody>
        </p:sp>
        <p:sp>
          <p:nvSpPr>
            <p:cNvPr id="2443283" name="Rectangle 19"/>
            <p:cNvSpPr>
              <a:spLocks noChangeArrowheads="1"/>
            </p:cNvSpPr>
            <p:nvPr/>
          </p:nvSpPr>
          <p:spPr bwMode="auto">
            <a:xfrm>
              <a:off x="4264341"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a:t>
              </a:r>
            </a:p>
            <a:p>
              <a:pPr algn="ctr" eaLnBrk="0" hangingPunct="0"/>
              <a:r>
                <a:rPr lang="en-US" altLang="zh-CN" sz="1600" b="1">
                  <a:solidFill>
                    <a:srgbClr val="000099"/>
                  </a:solidFill>
                  <a:ea typeface="宋体" panose="02010600030101010101" pitchFamily="2" charset="-122"/>
                </a:rPr>
                <a:t>AP</a:t>
              </a:r>
            </a:p>
          </p:txBody>
        </p:sp>
        <p:sp>
          <p:nvSpPr>
            <p:cNvPr id="2443284" name="Rectangle 20"/>
            <p:cNvSpPr>
              <a:spLocks noChangeArrowheads="1"/>
            </p:cNvSpPr>
            <p:nvPr/>
          </p:nvSpPr>
          <p:spPr bwMode="auto">
            <a:xfrm>
              <a:off x="4892063"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来自</a:t>
              </a:r>
            </a:p>
            <a:p>
              <a:pPr algn="ctr" eaLnBrk="0" hangingPunct="0"/>
              <a:r>
                <a:rPr lang="en-US" altLang="zh-CN" sz="1600" b="1">
                  <a:solidFill>
                    <a:srgbClr val="000099"/>
                  </a:solidFill>
                  <a:ea typeface="宋体" panose="02010600030101010101" pitchFamily="2" charset="-122"/>
                </a:rPr>
                <a:t>AP</a:t>
              </a:r>
            </a:p>
          </p:txBody>
        </p:sp>
        <p:sp>
          <p:nvSpPr>
            <p:cNvPr id="2443285" name="Rectangle 21"/>
            <p:cNvSpPr>
              <a:spLocks noChangeArrowheads="1"/>
            </p:cNvSpPr>
            <p:nvPr/>
          </p:nvSpPr>
          <p:spPr bwMode="auto">
            <a:xfrm>
              <a:off x="5519789"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更多</a:t>
              </a:r>
            </a:p>
            <a:p>
              <a:pPr algn="ctr" eaLnBrk="0" hangingPunct="0"/>
              <a:r>
                <a:rPr lang="zh-CN" altLang="en-US" sz="1600" b="1">
                  <a:solidFill>
                    <a:srgbClr val="000099"/>
                  </a:solidFill>
                  <a:ea typeface="宋体" panose="02010600030101010101" pitchFamily="2" charset="-122"/>
                </a:rPr>
                <a:t>分片</a:t>
              </a:r>
            </a:p>
          </p:txBody>
        </p:sp>
        <p:sp>
          <p:nvSpPr>
            <p:cNvPr id="2443286" name="Rectangle 22"/>
            <p:cNvSpPr>
              <a:spLocks noChangeArrowheads="1"/>
            </p:cNvSpPr>
            <p:nvPr/>
          </p:nvSpPr>
          <p:spPr bwMode="auto">
            <a:xfrm>
              <a:off x="6147511"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重试</a:t>
              </a:r>
            </a:p>
          </p:txBody>
        </p:sp>
        <p:sp>
          <p:nvSpPr>
            <p:cNvPr id="2443287" name="Rectangle 23"/>
            <p:cNvSpPr>
              <a:spLocks noChangeArrowheads="1"/>
            </p:cNvSpPr>
            <p:nvPr/>
          </p:nvSpPr>
          <p:spPr bwMode="auto">
            <a:xfrm>
              <a:off x="6775237"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功率</a:t>
              </a:r>
            </a:p>
            <a:p>
              <a:pPr algn="ctr" eaLnBrk="0" hangingPunct="0"/>
              <a:r>
                <a:rPr lang="zh-CN" altLang="en-US" sz="1600" b="1">
                  <a:solidFill>
                    <a:srgbClr val="000099"/>
                  </a:solidFill>
                  <a:ea typeface="宋体" panose="02010600030101010101" pitchFamily="2" charset="-122"/>
                </a:rPr>
                <a:t>管理</a:t>
              </a:r>
            </a:p>
          </p:txBody>
        </p:sp>
        <p:sp>
          <p:nvSpPr>
            <p:cNvPr id="2443288" name="Rectangle 24"/>
            <p:cNvSpPr>
              <a:spLocks noChangeArrowheads="1"/>
            </p:cNvSpPr>
            <p:nvPr/>
          </p:nvSpPr>
          <p:spPr bwMode="auto">
            <a:xfrm>
              <a:off x="7402959"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更多</a:t>
              </a:r>
            </a:p>
            <a:p>
              <a:pPr algn="ctr" eaLnBrk="0" hangingPunct="0"/>
              <a:r>
                <a:rPr lang="zh-CN" altLang="en-US" sz="1600" b="1">
                  <a:solidFill>
                    <a:srgbClr val="000099"/>
                  </a:solidFill>
                  <a:ea typeface="宋体" panose="02010600030101010101" pitchFamily="2" charset="-122"/>
                </a:rPr>
                <a:t>数据</a:t>
              </a:r>
            </a:p>
          </p:txBody>
        </p:sp>
        <p:sp>
          <p:nvSpPr>
            <p:cNvPr id="2443289" name="Rectangle 25"/>
            <p:cNvSpPr>
              <a:spLocks noChangeArrowheads="1"/>
            </p:cNvSpPr>
            <p:nvPr/>
          </p:nvSpPr>
          <p:spPr bwMode="auto">
            <a:xfrm>
              <a:off x="8030685" y="5083943"/>
              <a:ext cx="627723"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宋体" panose="02010600030101010101" pitchFamily="2" charset="-122"/>
                </a:rPr>
                <a:t>WEP</a:t>
              </a:r>
            </a:p>
          </p:txBody>
        </p:sp>
        <p:sp>
          <p:nvSpPr>
            <p:cNvPr id="2443290" name="Rectangle 26"/>
            <p:cNvSpPr>
              <a:spLocks noChangeArrowheads="1"/>
            </p:cNvSpPr>
            <p:nvPr/>
          </p:nvSpPr>
          <p:spPr bwMode="auto">
            <a:xfrm>
              <a:off x="8658407" y="5083943"/>
              <a:ext cx="627725" cy="576262"/>
            </a:xfrm>
            <a:prstGeom prst="rect">
              <a:avLst/>
            </a:prstGeom>
            <a:solidFill>
              <a:srgbClr val="FFFF66"/>
            </a:solidFill>
            <a:ln w="9525">
              <a:solidFill>
                <a:schemeClr val="tx2"/>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顺序</a:t>
              </a:r>
            </a:p>
          </p:txBody>
        </p:sp>
        <p:sp>
          <p:nvSpPr>
            <p:cNvPr id="2443291" name="Text Box 27"/>
            <p:cNvSpPr txBox="1">
              <a:spLocks noChangeArrowheads="1"/>
            </p:cNvSpPr>
            <p:nvPr/>
          </p:nvSpPr>
          <p:spPr bwMode="auto">
            <a:xfrm>
              <a:off x="200472" y="4745805"/>
              <a:ext cx="93185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宋体" panose="02010600030101010101" pitchFamily="2" charset="-122"/>
                </a:rPr>
                <a:t>位        </a:t>
              </a:r>
              <a:r>
                <a:rPr lang="en-US" altLang="zh-CN" sz="1600" b="1">
                  <a:solidFill>
                    <a:srgbClr val="000099"/>
                  </a:solidFill>
                  <a:ea typeface="宋体" panose="02010600030101010101" pitchFamily="2" charset="-122"/>
                </a:rPr>
                <a:t>2              2                       4                      1         1          1         1         1         1           1         1</a:t>
              </a:r>
            </a:p>
          </p:txBody>
        </p:sp>
        <p:sp>
          <p:nvSpPr>
            <p:cNvPr id="2443292" name="AutoShape 28"/>
            <p:cNvSpPr>
              <a:spLocks/>
            </p:cNvSpPr>
            <p:nvPr/>
          </p:nvSpPr>
          <p:spPr bwMode="auto">
            <a:xfrm rot="-5400000">
              <a:off x="3986859" y="441497"/>
              <a:ext cx="254000" cy="6557565"/>
            </a:xfrm>
            <a:prstGeom prst="rightBrace">
              <a:avLst>
                <a:gd name="adj1" fmla="val 19852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3293" name="Text Box 29"/>
            <p:cNvSpPr txBox="1">
              <a:spLocks noChangeArrowheads="1"/>
            </p:cNvSpPr>
            <p:nvPr/>
          </p:nvSpPr>
          <p:spPr bwMode="auto">
            <a:xfrm>
              <a:off x="3397565" y="3186880"/>
              <a:ext cx="1590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MAC </a:t>
              </a:r>
              <a:r>
                <a:rPr lang="zh-CN" altLang="en-US" sz="2400" b="1">
                  <a:solidFill>
                    <a:srgbClr val="000099"/>
                  </a:solidFill>
                  <a:ea typeface="宋体" panose="02010600030101010101" pitchFamily="2" charset="-122"/>
                </a:rPr>
                <a:t>首部</a:t>
              </a:r>
            </a:p>
          </p:txBody>
        </p:sp>
        <p:sp>
          <p:nvSpPr>
            <p:cNvPr id="2443294" name="Text Box 30"/>
            <p:cNvSpPr txBox="1">
              <a:spLocks noChangeArrowheads="1"/>
            </p:cNvSpPr>
            <p:nvPr/>
          </p:nvSpPr>
          <p:spPr bwMode="auto">
            <a:xfrm>
              <a:off x="8908387" y="3030051"/>
              <a:ext cx="8867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宋体" panose="02010600030101010101" pitchFamily="2" charset="-122"/>
                </a:rPr>
                <a:t>MAC</a:t>
              </a:r>
            </a:p>
            <a:p>
              <a:pPr eaLnBrk="0" hangingPunct="0"/>
              <a:r>
                <a:rPr lang="zh-CN" altLang="en-US" sz="2400" b="1">
                  <a:solidFill>
                    <a:srgbClr val="000099"/>
                  </a:solidFill>
                  <a:ea typeface="宋体" panose="02010600030101010101" pitchFamily="2" charset="-122"/>
                </a:rPr>
                <a:t>尾部</a:t>
              </a:r>
            </a:p>
          </p:txBody>
        </p:sp>
      </p:grpSp>
      <p:sp>
        <p:nvSpPr>
          <p:cNvPr id="2443295" name="矩形 1"/>
          <p:cNvSpPr>
            <a:spLocks noChangeArrowheads="1"/>
          </p:cNvSpPr>
          <p:nvPr/>
        </p:nvSpPr>
        <p:spPr bwMode="auto">
          <a:xfrm>
            <a:off x="3689350" y="5084763"/>
            <a:ext cx="2501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000" b="1">
                <a:ea typeface="宋体" panose="02010600030101010101" pitchFamily="2" charset="-122"/>
              </a:rPr>
              <a:t>数据帧格式</a:t>
            </a:r>
          </a:p>
        </p:txBody>
      </p:sp>
      <p:sp>
        <p:nvSpPr>
          <p:cNvPr id="244329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9F97CA-B1DF-4E5A-8638-BBA6CC923AE3}" type="slidenum">
              <a:rPr lang="zh-CN" altLang="en-US" smtClean="0"/>
              <a:pPr eaLnBrk="1" hangingPunct="1"/>
              <a:t>51</a:t>
            </a:fld>
            <a:endParaRPr lang="en-US" altLang="zh-CN" smtClean="0"/>
          </a:p>
        </p:txBody>
      </p:sp>
      <p:sp>
        <p:nvSpPr>
          <p:cNvPr id="244329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2481" name="Rectangle 2"/>
          <p:cNvSpPr>
            <a:spLocks noGrp="1" noChangeArrowheads="1"/>
          </p:cNvSpPr>
          <p:nvPr>
            <p:ph type="title"/>
          </p:nvPr>
        </p:nvSpPr>
        <p:spPr>
          <a:xfrm>
            <a:off x="495300" y="188913"/>
            <a:ext cx="9066213" cy="792162"/>
          </a:xfrm>
        </p:spPr>
        <p:txBody>
          <a:bodyPr/>
          <a:lstStyle/>
          <a:p>
            <a:pPr algn="ctr"/>
            <a:r>
              <a:rPr lang="zh-CN" altLang="en-US" sz="4000" dirty="0" smtClean="0">
                <a:ea typeface="黑体" panose="02010609060101010101" pitchFamily="49" charset="-122"/>
              </a:rPr>
              <a:t>持续期和帧控制字段 </a:t>
            </a:r>
          </a:p>
        </p:txBody>
      </p:sp>
      <p:sp>
        <p:nvSpPr>
          <p:cNvPr id="24524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帧控制</a:t>
            </a:r>
            <a:r>
              <a:rPr lang="zh-CN" altLang="en-US" sz="2800" dirty="0" smtClean="0">
                <a:ea typeface="黑体" panose="02010609060101010101" pitchFamily="49" charset="-122"/>
              </a:rPr>
              <a:t>字段共分为 </a:t>
            </a:r>
            <a:r>
              <a:rPr lang="en-US" altLang="zh-CN" sz="2800" dirty="0" smtClean="0">
                <a:ea typeface="黑体" panose="02010609060101010101" pitchFamily="49" charset="-122"/>
              </a:rPr>
              <a:t>11 </a:t>
            </a:r>
            <a:r>
              <a:rPr lang="zh-CN" altLang="en-US" sz="2800" dirty="0" smtClean="0">
                <a:ea typeface="黑体" panose="02010609060101010101" pitchFamily="49" charset="-122"/>
              </a:rPr>
              <a:t>个子字段：</a:t>
            </a:r>
          </a:p>
          <a:p>
            <a:pPr lvl="1"/>
            <a:r>
              <a:rPr lang="zh-CN" altLang="en-US" sz="2400" dirty="0" smtClean="0">
                <a:solidFill>
                  <a:srgbClr val="0000FF"/>
                </a:solidFill>
                <a:ea typeface="黑体" panose="02010609060101010101" pitchFamily="49" charset="-122"/>
              </a:rPr>
              <a:t>协议版本</a:t>
            </a:r>
            <a:r>
              <a:rPr lang="zh-CN" altLang="en-US" sz="2400" dirty="0" smtClean="0">
                <a:ea typeface="黑体" panose="02010609060101010101" pitchFamily="49" charset="-122"/>
              </a:rPr>
              <a:t>字段现在是  </a:t>
            </a:r>
            <a:r>
              <a:rPr lang="en-US" altLang="zh-CN" sz="2400" dirty="0" smtClean="0">
                <a:ea typeface="黑体" panose="02010609060101010101" pitchFamily="49" charset="-122"/>
              </a:rPr>
              <a:t>0</a:t>
            </a:r>
            <a:r>
              <a:rPr lang="zh-CN" altLang="en-US" sz="2400" dirty="0" smtClean="0">
                <a:ea typeface="黑体" panose="02010609060101010101" pitchFamily="49" charset="-122"/>
              </a:rPr>
              <a:t>。</a:t>
            </a:r>
          </a:p>
          <a:p>
            <a:pPr lvl="1"/>
            <a:r>
              <a:rPr lang="zh-CN" altLang="en-US" sz="2400" dirty="0" smtClean="0">
                <a:solidFill>
                  <a:srgbClr val="0000FF"/>
                </a:solidFill>
                <a:ea typeface="黑体" panose="02010609060101010101" pitchFamily="49" charset="-122"/>
              </a:rPr>
              <a:t>类型</a:t>
            </a:r>
            <a:r>
              <a:rPr lang="zh-CN" altLang="en-US" sz="2400" dirty="0" smtClean="0">
                <a:ea typeface="黑体" panose="02010609060101010101" pitchFamily="49" charset="-122"/>
              </a:rPr>
              <a:t>字段和</a:t>
            </a:r>
            <a:r>
              <a:rPr lang="zh-CN" altLang="en-US" sz="2400" dirty="0" smtClean="0">
                <a:solidFill>
                  <a:srgbClr val="0000FF"/>
                </a:solidFill>
                <a:ea typeface="黑体" panose="02010609060101010101" pitchFamily="49" charset="-122"/>
              </a:rPr>
              <a:t>子类型</a:t>
            </a:r>
            <a:r>
              <a:rPr lang="zh-CN" altLang="en-US" sz="2400" dirty="0" smtClean="0">
                <a:ea typeface="黑体" panose="02010609060101010101" pitchFamily="49" charset="-122"/>
              </a:rPr>
              <a:t>字段用来区分帧的功能。</a:t>
            </a:r>
          </a:p>
          <a:p>
            <a:pPr lvl="1"/>
            <a:r>
              <a:rPr lang="zh-CN" altLang="en-US" sz="2400" dirty="0" smtClean="0">
                <a:solidFill>
                  <a:srgbClr val="0000FF"/>
                </a:solidFill>
                <a:ea typeface="黑体" panose="02010609060101010101" pitchFamily="49" charset="-122"/>
              </a:rPr>
              <a:t>更多分片</a:t>
            </a:r>
            <a:r>
              <a:rPr lang="zh-CN" altLang="en-US" sz="2400" dirty="0" smtClean="0">
                <a:ea typeface="黑体" panose="02010609060101010101" pitchFamily="49" charset="-122"/>
              </a:rPr>
              <a:t>字段置为 </a:t>
            </a:r>
            <a:r>
              <a:rPr lang="en-US" altLang="zh-CN" sz="2400" dirty="0" smtClean="0">
                <a:ea typeface="黑体" panose="02010609060101010101" pitchFamily="49" charset="-122"/>
              </a:rPr>
              <a:t>1 </a:t>
            </a:r>
            <a:r>
              <a:rPr lang="zh-CN" altLang="en-US" sz="2400" dirty="0" smtClean="0">
                <a:ea typeface="黑体" panose="02010609060101010101" pitchFamily="49" charset="-122"/>
              </a:rPr>
              <a:t>时表明这个帧属于一个帧的多个分片之一。</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重试</a:t>
            </a:r>
            <a:r>
              <a:rPr lang="zh-CN" altLang="en-US" sz="2400" dirty="0" smtClean="0">
                <a:ea typeface="黑体" panose="02010609060101010101" pitchFamily="49" charset="-122"/>
              </a:rPr>
              <a:t>是不是重传帧。</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功率管理</a:t>
            </a:r>
            <a:r>
              <a:rPr lang="zh-CN" altLang="en-US" sz="2400" dirty="0" smtClean="0">
                <a:ea typeface="黑体" panose="02010609060101010101" pitchFamily="49" charset="-122"/>
              </a:rPr>
              <a:t>是不是省电模式。</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更多数据</a:t>
            </a:r>
            <a:r>
              <a:rPr lang="zh-CN" altLang="en-US" sz="2400" dirty="0" smtClean="0">
                <a:ea typeface="黑体" panose="02010609060101010101" pitchFamily="49" charset="-122"/>
              </a:rPr>
              <a:t>是不是有其他数据帧要发往休眠的移动站。</a:t>
            </a:r>
          </a:p>
          <a:p>
            <a:pPr lvl="1"/>
            <a:r>
              <a:rPr lang="zh-CN" altLang="en-US" sz="2400" dirty="0" smtClean="0">
                <a:solidFill>
                  <a:srgbClr val="0000FF"/>
                </a:solidFill>
                <a:ea typeface="黑体" panose="02010609060101010101" pitchFamily="49" charset="-122"/>
              </a:rPr>
              <a:t>有线等效保密</a:t>
            </a:r>
            <a:r>
              <a:rPr lang="zh-CN" altLang="en-US" sz="2400" dirty="0" smtClean="0">
                <a:ea typeface="黑体" panose="02010609060101010101" pitchFamily="49" charset="-122"/>
              </a:rPr>
              <a:t>字段 </a:t>
            </a:r>
            <a:r>
              <a:rPr lang="en-US" altLang="zh-CN" sz="2400" dirty="0" smtClean="0">
                <a:ea typeface="黑体" panose="02010609060101010101" pitchFamily="49" charset="-122"/>
              </a:rPr>
              <a:t>WEP </a:t>
            </a:r>
            <a:r>
              <a:rPr lang="zh-CN" altLang="en-US" sz="2400" dirty="0" smtClean="0">
                <a:ea typeface="黑体" panose="02010609060101010101" pitchFamily="49" charset="-122"/>
              </a:rPr>
              <a:t>占 </a:t>
            </a:r>
            <a:r>
              <a:rPr lang="en-US" altLang="zh-CN" sz="2400" dirty="0" smtClean="0">
                <a:ea typeface="黑体" panose="02010609060101010101" pitchFamily="49" charset="-122"/>
              </a:rPr>
              <a:t>1 </a:t>
            </a:r>
            <a:r>
              <a:rPr lang="zh-CN" altLang="en-US" sz="2400" dirty="0" smtClean="0">
                <a:ea typeface="黑体" panose="02010609060101010101" pitchFamily="49" charset="-122"/>
              </a:rPr>
              <a:t>位。若 </a:t>
            </a:r>
            <a:r>
              <a:rPr lang="en-US" altLang="zh-CN" sz="2400" dirty="0" smtClean="0">
                <a:ea typeface="黑体" panose="02010609060101010101" pitchFamily="49" charset="-122"/>
              </a:rPr>
              <a:t>WEP = 1</a:t>
            </a:r>
            <a:r>
              <a:rPr lang="zh-CN" altLang="en-US" sz="2400" dirty="0" smtClean="0">
                <a:ea typeface="黑体" panose="02010609060101010101" pitchFamily="49" charset="-122"/>
              </a:rPr>
              <a:t>，就表明采用了 </a:t>
            </a:r>
            <a:r>
              <a:rPr lang="en-US" altLang="zh-CN" sz="2400" dirty="0" smtClean="0">
                <a:ea typeface="黑体" panose="02010609060101010101" pitchFamily="49" charset="-122"/>
              </a:rPr>
              <a:t>WEP </a:t>
            </a:r>
            <a:r>
              <a:rPr lang="zh-CN" altLang="en-US" sz="2400" dirty="0" smtClean="0">
                <a:ea typeface="黑体" panose="02010609060101010101" pitchFamily="49" charset="-122"/>
              </a:rPr>
              <a:t>加密算法。</a:t>
            </a:r>
            <a:endParaRPr lang="en-US" altLang="zh-CN" sz="2400" dirty="0" smtClean="0">
              <a:ea typeface="黑体" panose="02010609060101010101" pitchFamily="49" charset="-122"/>
            </a:endParaRPr>
          </a:p>
          <a:p>
            <a:pPr lvl="1"/>
            <a:r>
              <a:rPr lang="zh-CN" altLang="en-US" sz="2400" dirty="0" smtClean="0">
                <a:solidFill>
                  <a:srgbClr val="0000CC"/>
                </a:solidFill>
                <a:ea typeface="黑体" panose="02010609060101010101" pitchFamily="49" charset="-122"/>
              </a:rPr>
              <a:t>顺序</a:t>
            </a:r>
            <a:r>
              <a:rPr lang="zh-CN" altLang="en-US" sz="2400" dirty="0" smtClean="0">
                <a:ea typeface="黑体" panose="02010609060101010101" pitchFamily="49" charset="-122"/>
              </a:rPr>
              <a:t>是不是“严格依序”传送。 </a:t>
            </a:r>
            <a:endParaRPr lang="en-US" altLang="zh-CN" sz="2400" dirty="0">
              <a:ea typeface="黑体" panose="02010609060101010101" pitchFamily="49" charset="-122"/>
            </a:endParaRPr>
          </a:p>
          <a:p>
            <a:pPr marL="342900" lvl="1" indent="-342900">
              <a:buClr>
                <a:srgbClr val="333399"/>
              </a:buClr>
              <a:buSzPct val="75000"/>
            </a:pPr>
            <a:r>
              <a:rPr lang="zh-CN" altLang="en-US" dirty="0">
                <a:solidFill>
                  <a:srgbClr val="FF0000"/>
                </a:solidFill>
                <a:ea typeface="黑体" panose="02010609060101010101" pitchFamily="49" charset="-122"/>
                <a:cs typeface="+mn-cs"/>
              </a:rPr>
              <a:t>持续期字段占 </a:t>
            </a:r>
            <a:r>
              <a:rPr lang="en-US" altLang="zh-CN" dirty="0">
                <a:solidFill>
                  <a:srgbClr val="FF0000"/>
                </a:solidFill>
                <a:ea typeface="黑体" panose="02010609060101010101" pitchFamily="49" charset="-122"/>
                <a:cs typeface="+mn-cs"/>
              </a:rPr>
              <a:t>16 </a:t>
            </a:r>
            <a:r>
              <a:rPr lang="zh-CN" altLang="en-US" dirty="0">
                <a:solidFill>
                  <a:srgbClr val="FF0000"/>
                </a:solidFill>
                <a:ea typeface="黑体" panose="02010609060101010101" pitchFamily="49" charset="-122"/>
                <a:cs typeface="+mn-cs"/>
              </a:rPr>
              <a:t>位。</a:t>
            </a:r>
          </a:p>
          <a:p>
            <a:pPr marL="457200" lvl="1" indent="0">
              <a:buNone/>
            </a:pPr>
            <a:r>
              <a:rPr lang="zh-CN" altLang="en-US" sz="2400" dirty="0" smtClean="0">
                <a:ea typeface="黑体" panose="02010609060101010101" pitchFamily="49" charset="-122"/>
              </a:rPr>
              <a:t>    </a:t>
            </a:r>
            <a:r>
              <a:rPr lang="zh-CN" altLang="en-US" sz="2000" dirty="0" smtClean="0">
                <a:ea typeface="黑体" panose="02010609060101010101" pitchFamily="49" charset="-122"/>
              </a:rPr>
              <a:t> </a:t>
            </a:r>
          </a:p>
        </p:txBody>
      </p:sp>
      <p:sp>
        <p:nvSpPr>
          <p:cNvPr id="245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25CD45-1080-436C-BD5B-3721A9881498}" type="slidenum">
              <a:rPr lang="zh-CN" altLang="en-US" smtClean="0"/>
              <a:pPr eaLnBrk="1" hangingPunct="1"/>
              <a:t>52</a:t>
            </a:fld>
            <a:endParaRPr lang="en-US" altLang="zh-CN" smtClean="0"/>
          </a:p>
        </p:txBody>
      </p:sp>
      <p:sp>
        <p:nvSpPr>
          <p:cNvPr id="245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8722593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63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802.11 </a:t>
            </a:r>
            <a:r>
              <a:rPr lang="zh-CN" altLang="en-US" smtClean="0">
                <a:ea typeface="黑体" panose="02010609060101010101" pitchFamily="49" charset="-122"/>
              </a:rPr>
              <a:t>数据帧的三大部分 </a:t>
            </a:r>
          </a:p>
        </p:txBody>
      </p:sp>
      <p:sp>
        <p:nvSpPr>
          <p:cNvPr id="2446338"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MAC </a:t>
            </a:r>
            <a:r>
              <a:rPr lang="zh-CN" altLang="en-US" dirty="0" smtClean="0">
                <a:solidFill>
                  <a:srgbClr val="FF0000"/>
                </a:solidFill>
                <a:ea typeface="黑体" panose="02010609060101010101" pitchFamily="49" charset="-122"/>
              </a:rPr>
              <a:t>首部，</a:t>
            </a:r>
            <a:r>
              <a:rPr lang="zh-CN" altLang="en-US" dirty="0" smtClean="0">
                <a:ea typeface="黑体" panose="02010609060101010101" pitchFamily="49" charset="-122"/>
              </a:rPr>
              <a:t>共 </a:t>
            </a:r>
            <a:r>
              <a:rPr lang="en-US" altLang="zh-CN" dirty="0" smtClean="0">
                <a:ea typeface="黑体" panose="02010609060101010101" pitchFamily="49" charset="-122"/>
              </a:rPr>
              <a:t>30 </a:t>
            </a:r>
            <a:r>
              <a:rPr lang="zh-CN" altLang="en-US" dirty="0" smtClean="0">
                <a:ea typeface="黑体" panose="02010609060101010101" pitchFamily="49" charset="-122"/>
              </a:rPr>
              <a:t>字节。帧的复杂性都在帧的首部。</a:t>
            </a:r>
          </a:p>
          <a:p>
            <a:r>
              <a:rPr lang="zh-CN" altLang="en-US" dirty="0" smtClean="0">
                <a:solidFill>
                  <a:srgbClr val="FF0000"/>
                </a:solidFill>
                <a:ea typeface="黑体" panose="02010609060101010101" pitchFamily="49" charset="-122"/>
              </a:rPr>
              <a:t>帧主体，</a:t>
            </a:r>
            <a:r>
              <a:rPr lang="zh-CN" altLang="en-US" dirty="0" smtClean="0">
                <a:ea typeface="黑体" panose="02010609060101010101" pitchFamily="49" charset="-122"/>
              </a:rPr>
              <a:t>也就是帧的数据部分，不超过 </a:t>
            </a:r>
            <a:r>
              <a:rPr lang="en-US" altLang="zh-CN" dirty="0" smtClean="0">
                <a:ea typeface="黑体" panose="02010609060101010101" pitchFamily="49" charset="-122"/>
              </a:rPr>
              <a:t>2312 </a:t>
            </a:r>
            <a:r>
              <a:rPr lang="zh-CN" altLang="en-US" dirty="0" smtClean="0">
                <a:ea typeface="黑体" panose="02010609060101010101" pitchFamily="49" charset="-122"/>
              </a:rPr>
              <a:t>字节。这个数值比以太网的最大长度长很多。不过 </a:t>
            </a:r>
            <a:r>
              <a:rPr lang="en-US" altLang="zh-CN" dirty="0" smtClean="0">
                <a:ea typeface="黑体" panose="02010609060101010101" pitchFamily="49" charset="-122"/>
              </a:rPr>
              <a:t>802.11 </a:t>
            </a:r>
            <a:r>
              <a:rPr lang="zh-CN" altLang="en-US" dirty="0" smtClean="0">
                <a:ea typeface="黑体" panose="02010609060101010101" pitchFamily="49" charset="-122"/>
              </a:rPr>
              <a:t>帧的长度通常都是小于 </a:t>
            </a:r>
            <a:r>
              <a:rPr lang="en-US" altLang="zh-CN" dirty="0" smtClean="0">
                <a:ea typeface="黑体" panose="02010609060101010101" pitchFamily="49" charset="-122"/>
              </a:rPr>
              <a:t>1500 </a:t>
            </a:r>
            <a:r>
              <a:rPr lang="zh-CN" altLang="en-US" dirty="0" smtClean="0">
                <a:ea typeface="黑体" panose="02010609060101010101" pitchFamily="49" charset="-122"/>
              </a:rPr>
              <a:t>字节。</a:t>
            </a:r>
          </a:p>
          <a:p>
            <a:r>
              <a:rPr lang="zh-CN" altLang="en-US" dirty="0" smtClean="0">
                <a:solidFill>
                  <a:srgbClr val="FF0000"/>
                </a:solidFill>
                <a:ea typeface="黑体" panose="02010609060101010101" pitchFamily="49" charset="-122"/>
              </a:rPr>
              <a:t>帧检验序列 </a:t>
            </a:r>
            <a:r>
              <a:rPr lang="en-US" altLang="zh-CN" dirty="0" smtClean="0">
                <a:solidFill>
                  <a:srgbClr val="FF0000"/>
                </a:solidFill>
                <a:ea typeface="黑体" panose="02010609060101010101" pitchFamily="49" charset="-122"/>
              </a:rPr>
              <a:t>FCS </a:t>
            </a:r>
            <a:r>
              <a:rPr lang="zh-CN" altLang="en-US" dirty="0" smtClean="0">
                <a:ea typeface="黑体" panose="02010609060101010101" pitchFamily="49" charset="-122"/>
              </a:rPr>
              <a:t>是尾部，共 </a:t>
            </a:r>
            <a:r>
              <a:rPr lang="en-US" altLang="zh-CN" dirty="0" smtClean="0">
                <a:ea typeface="黑体" panose="02010609060101010101" pitchFamily="49" charset="-122"/>
              </a:rPr>
              <a:t>4 </a:t>
            </a:r>
            <a:r>
              <a:rPr lang="zh-CN" altLang="en-US" dirty="0" smtClean="0">
                <a:ea typeface="黑体" panose="02010609060101010101" pitchFamily="49" charset="-122"/>
              </a:rPr>
              <a:t>字节 </a:t>
            </a:r>
          </a:p>
        </p:txBody>
      </p:sp>
      <p:sp>
        <p:nvSpPr>
          <p:cNvPr id="2446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22769D-6AC1-487F-B645-92EFC0A4F89B}" type="slidenum">
              <a:rPr lang="zh-CN" altLang="en-US" smtClean="0"/>
              <a:pPr eaLnBrk="1" hangingPunct="1"/>
              <a:t>53</a:t>
            </a:fld>
            <a:endParaRPr lang="en-US" altLang="zh-CN" smtClean="0"/>
          </a:p>
        </p:txBody>
      </p:sp>
      <p:sp>
        <p:nvSpPr>
          <p:cNvPr id="2446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关于 </a:t>
            </a:r>
            <a:r>
              <a:rPr lang="en-US" altLang="zh-CN" smtClean="0">
                <a:ea typeface="黑体" panose="02010609060101010101" pitchFamily="49" charset="-122"/>
              </a:rPr>
              <a:t>802.11 </a:t>
            </a:r>
            <a:r>
              <a:rPr lang="zh-CN" altLang="en-US" smtClean="0">
                <a:ea typeface="黑体" panose="02010609060101010101" pitchFamily="49" charset="-122"/>
              </a:rPr>
              <a:t>数据帧的地址</a:t>
            </a:r>
          </a:p>
        </p:txBody>
      </p:sp>
      <p:sp>
        <p:nvSpPr>
          <p:cNvPr id="244736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802.11 </a:t>
            </a:r>
            <a:r>
              <a:rPr lang="zh-CN" altLang="en-US" smtClean="0">
                <a:ea typeface="黑体" panose="02010609060101010101" pitchFamily="49" charset="-122"/>
              </a:rPr>
              <a:t>数据帧最特殊的地方就是有四个地址字段。地址 </a:t>
            </a:r>
            <a:r>
              <a:rPr lang="en-US" altLang="zh-CN" smtClean="0">
                <a:ea typeface="黑体" panose="02010609060101010101" pitchFamily="49" charset="-122"/>
              </a:rPr>
              <a:t>4 </a:t>
            </a:r>
            <a:r>
              <a:rPr lang="zh-CN" altLang="en-US" smtClean="0">
                <a:ea typeface="黑体" panose="02010609060101010101" pitchFamily="49" charset="-122"/>
              </a:rPr>
              <a:t>用于自组网络。我们在这里只讨论前三种地址。 </a:t>
            </a:r>
          </a:p>
        </p:txBody>
      </p:sp>
      <p:graphicFrame>
        <p:nvGraphicFramePr>
          <p:cNvPr id="368691" name="Group 51"/>
          <p:cNvGraphicFramePr>
            <a:graphicFrameLocks noGrp="1"/>
          </p:cNvGraphicFramePr>
          <p:nvPr/>
        </p:nvGraphicFramePr>
        <p:xfrm>
          <a:off x="477838" y="3284538"/>
          <a:ext cx="9299576" cy="1800225"/>
        </p:xfrm>
        <a:graphic>
          <a:graphicData uri="http://schemas.openxmlformats.org/drawingml/2006/table">
            <a:tbl>
              <a:tblPr/>
              <a:tblGrid>
                <a:gridCol w="1389978">
                  <a:extLst>
                    <a:ext uri="{9D8B030D-6E8A-4147-A177-3AD203B41FA5}">
                      <a16:colId xmlns:a16="http://schemas.microsoft.com/office/drawing/2014/main" val="20000"/>
                    </a:ext>
                  </a:extLst>
                </a:gridCol>
                <a:gridCol w="1500909">
                  <a:extLst>
                    <a:ext uri="{9D8B030D-6E8A-4147-A177-3AD203B41FA5}">
                      <a16:colId xmlns:a16="http://schemas.microsoft.com/office/drawing/2014/main" val="20001"/>
                    </a:ext>
                  </a:extLst>
                </a:gridCol>
                <a:gridCol w="2062276">
                  <a:extLst>
                    <a:ext uri="{9D8B030D-6E8A-4147-A177-3AD203B41FA5}">
                      <a16:colId xmlns:a16="http://schemas.microsoft.com/office/drawing/2014/main" val="20002"/>
                    </a:ext>
                  </a:extLst>
                </a:gridCol>
                <a:gridCol w="1559734">
                  <a:extLst>
                    <a:ext uri="{9D8B030D-6E8A-4147-A177-3AD203B41FA5}">
                      <a16:colId xmlns:a16="http://schemas.microsoft.com/office/drawing/2014/main" val="20003"/>
                    </a:ext>
                  </a:extLst>
                </a:gridCol>
                <a:gridCol w="1546288">
                  <a:extLst>
                    <a:ext uri="{9D8B030D-6E8A-4147-A177-3AD203B41FA5}">
                      <a16:colId xmlns:a16="http://schemas.microsoft.com/office/drawing/2014/main" val="20004"/>
                    </a:ext>
                  </a:extLst>
                </a:gridCol>
                <a:gridCol w="1240391">
                  <a:extLst>
                    <a:ext uri="{9D8B030D-6E8A-4147-A177-3AD203B41FA5}">
                      <a16:colId xmlns:a16="http://schemas.microsoft.com/office/drawing/2014/main" val="20005"/>
                    </a:ext>
                  </a:extLst>
                </a:gridCol>
              </a:tblGrid>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rgbClr val="000099"/>
                          </a:solidFill>
                          <a:effectLst/>
                          <a:latin typeface="+mn-lt"/>
                          <a:ea typeface="+mn-ea"/>
                        </a:rPr>
                        <a:t>去往 </a:t>
                      </a:r>
                      <a:r>
                        <a:rPr kumimoji="0" lang="en-US" altLang="zh-CN" sz="2400" b="1" i="0" u="none" strike="noStrike" cap="none" normalizeH="0" baseline="0" dirty="0">
                          <a:ln>
                            <a:noFill/>
                          </a:ln>
                          <a:solidFill>
                            <a:srgbClr val="000099"/>
                          </a:solidFill>
                          <a:effectLst/>
                          <a:latin typeface="+mn-lt"/>
                          <a:ea typeface="+mn-ea"/>
                        </a:rPr>
                        <a:t>AP</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来自 </a:t>
                      </a:r>
                      <a:r>
                        <a:rPr kumimoji="0" lang="en-US" altLang="zh-CN" sz="2400" b="1" i="0" u="none" strike="noStrike" cap="none" normalizeH="0" baseline="0">
                          <a:ln>
                            <a:noFill/>
                          </a:ln>
                          <a:solidFill>
                            <a:srgbClr val="000099"/>
                          </a:solidFill>
                          <a:effectLst/>
                          <a:latin typeface="+mn-lt"/>
                          <a:ea typeface="+mn-ea"/>
                        </a:rPr>
                        <a:t>AP</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2</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地址 </a:t>
                      </a:r>
                      <a:r>
                        <a:rPr kumimoji="0" lang="en-US" altLang="zh-CN" sz="2400" b="1" i="0" u="none" strike="noStrike" cap="none" normalizeH="0" baseline="0">
                          <a:ln>
                            <a:noFill/>
                          </a:ln>
                          <a:solidFill>
                            <a:srgbClr val="000099"/>
                          </a:solidFill>
                          <a:effectLst/>
                          <a:latin typeface="+mn-lt"/>
                          <a:ea typeface="+mn-ea"/>
                        </a:rPr>
                        <a:t>3</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rgbClr val="000099"/>
                          </a:solidFill>
                          <a:effectLst/>
                          <a:latin typeface="+mn-lt"/>
                          <a:ea typeface="+mn-ea"/>
                        </a:rPr>
                        <a:t>地址 </a:t>
                      </a:r>
                      <a:r>
                        <a:rPr kumimoji="0" lang="en-US" altLang="zh-CN" sz="2400" b="1" i="0" u="none" strike="noStrike" cap="none" normalizeH="0" baseline="0" dirty="0">
                          <a:ln>
                            <a:noFill/>
                          </a:ln>
                          <a:solidFill>
                            <a:srgbClr val="000099"/>
                          </a:solidFill>
                          <a:effectLst/>
                          <a:latin typeface="+mn-lt"/>
                          <a:ea typeface="+mn-ea"/>
                        </a:rPr>
                        <a:t>4</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extLst>
                  <a:ext uri="{0D108BD9-81ED-4DB2-BD59-A6C34878D82A}">
                    <a16:rowId xmlns:a16="http://schemas.microsoft.com/office/drawing/2014/main" val="10000"/>
                  </a:ext>
                </a:extLst>
              </a:tr>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0</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目的地址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AP </a:t>
                      </a:r>
                      <a:r>
                        <a:rPr kumimoji="0" lang="zh-CN" altLang="en-US" sz="2400" b="1" i="0" u="none" strike="noStrike" cap="none" normalizeH="0" baseline="0">
                          <a:ln>
                            <a:noFill/>
                          </a:ln>
                          <a:solidFill>
                            <a:srgbClr val="000099"/>
                          </a:solidFill>
                          <a:effectLst/>
                          <a:latin typeface="+mn-lt"/>
                          <a:ea typeface="+mn-ea"/>
                        </a:rPr>
                        <a:t>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源地址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6000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1</a:t>
                      </a:r>
                    </a:p>
                  </a:txBody>
                  <a:tcPr marL="99060" marR="9906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0</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a:ln>
                            <a:noFill/>
                          </a:ln>
                          <a:solidFill>
                            <a:srgbClr val="000099"/>
                          </a:solidFill>
                          <a:effectLst/>
                          <a:latin typeface="+mn-lt"/>
                          <a:ea typeface="+mn-ea"/>
                        </a:rPr>
                        <a:t>AP </a:t>
                      </a:r>
                      <a:r>
                        <a:rPr kumimoji="0" lang="zh-CN" altLang="en-US" sz="2400" b="1" i="0" u="none" strike="noStrike" cap="none" normalizeH="0" baseline="0">
                          <a:ln>
                            <a:noFill/>
                          </a:ln>
                          <a:solidFill>
                            <a:srgbClr val="000099"/>
                          </a:solidFill>
                          <a:effectLst/>
                          <a:latin typeface="+mn-lt"/>
                          <a:ea typeface="+mn-ea"/>
                        </a:rPr>
                        <a:t>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源地址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a:ln>
                            <a:noFill/>
                          </a:ln>
                          <a:solidFill>
                            <a:srgbClr val="000099"/>
                          </a:solidFill>
                          <a:effectLst/>
                          <a:latin typeface="+mn-lt"/>
                          <a:ea typeface="+mn-ea"/>
                        </a:rPr>
                        <a:t>目的地址</a:t>
                      </a:r>
                    </a:p>
                  </a:txBody>
                  <a:tcPr marL="99060" marR="990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400" b="1" i="0" u="none" strike="noStrike" cap="none" normalizeH="0" baseline="0" dirty="0">
                          <a:ln>
                            <a:noFill/>
                          </a:ln>
                          <a:solidFill>
                            <a:srgbClr val="000099"/>
                          </a:solidFill>
                          <a:effectLst/>
                          <a:latin typeface="+mn-lt"/>
                          <a:ea typeface="+mn-ea"/>
                        </a:rPr>
                        <a:t>——</a:t>
                      </a:r>
                    </a:p>
                  </a:txBody>
                  <a:tcPr marL="99060" marR="9906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bl>
          </a:graphicData>
        </a:graphic>
      </p:graphicFrame>
      <p:sp>
        <p:nvSpPr>
          <p:cNvPr id="24473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B1861E-6B78-4AB4-BF87-E226D4D5E132}" type="slidenum">
              <a:rPr lang="zh-CN" altLang="en-US" smtClean="0"/>
              <a:pPr eaLnBrk="1" hangingPunct="1"/>
              <a:t>54</a:t>
            </a:fld>
            <a:endParaRPr lang="en-US" altLang="zh-CN" smtClean="0"/>
          </a:p>
        </p:txBody>
      </p:sp>
      <p:sp>
        <p:nvSpPr>
          <p:cNvPr id="24473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8385" name="Line 76"/>
          <p:cNvSpPr>
            <a:spLocks noChangeShapeType="1"/>
          </p:cNvSpPr>
          <p:nvPr/>
        </p:nvSpPr>
        <p:spPr bwMode="auto">
          <a:xfrm>
            <a:off x="3692525" y="3568700"/>
            <a:ext cx="77788"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86" name="Oval 77"/>
          <p:cNvSpPr>
            <a:spLocks noChangeArrowheads="1"/>
          </p:cNvSpPr>
          <p:nvPr/>
        </p:nvSpPr>
        <p:spPr bwMode="auto">
          <a:xfrm>
            <a:off x="4784725" y="2633663"/>
            <a:ext cx="4992688" cy="2087562"/>
          </a:xfrm>
          <a:prstGeom prst="ellipse">
            <a:avLst/>
          </a:prstGeom>
          <a:solidFill>
            <a:schemeClr val="bg1"/>
          </a:solidFill>
          <a:ln w="9525">
            <a:solidFill>
              <a:schemeClr val="tx1"/>
            </a:solidFill>
            <a:prstDash val="dash"/>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2448387" name="Picture 78"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7163" y="3041650"/>
            <a:ext cx="811212"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8388" name="Text Box 79"/>
          <p:cNvSpPr txBox="1">
            <a:spLocks noChangeArrowheads="1"/>
          </p:cNvSpPr>
          <p:nvPr/>
        </p:nvSpPr>
        <p:spPr bwMode="auto">
          <a:xfrm>
            <a:off x="5784850" y="2919413"/>
            <a:ext cx="542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AP</a:t>
            </a:r>
            <a:r>
              <a:rPr lang="en-US" altLang="zh-CN" sz="1600" b="1" baseline="-25000">
                <a:solidFill>
                  <a:srgbClr val="000099"/>
                </a:solidFill>
                <a:ea typeface="宋体" panose="02010600030101010101" pitchFamily="2" charset="-122"/>
              </a:rPr>
              <a:t>1</a:t>
            </a:r>
          </a:p>
        </p:txBody>
      </p:sp>
      <p:grpSp>
        <p:nvGrpSpPr>
          <p:cNvPr id="2448389" name="Group 80"/>
          <p:cNvGrpSpPr>
            <a:grpSpLocks/>
          </p:cNvGrpSpPr>
          <p:nvPr/>
        </p:nvGrpSpPr>
        <p:grpSpPr bwMode="auto">
          <a:xfrm>
            <a:off x="7958138" y="4081463"/>
            <a:ext cx="727075" cy="495300"/>
            <a:chOff x="762" y="2391"/>
            <a:chExt cx="423" cy="312"/>
          </a:xfrm>
        </p:grpSpPr>
        <p:grpSp>
          <p:nvGrpSpPr>
            <p:cNvPr id="2448390" name="Group 81"/>
            <p:cNvGrpSpPr>
              <a:grpSpLocks/>
            </p:cNvGrpSpPr>
            <p:nvPr/>
          </p:nvGrpSpPr>
          <p:grpSpPr bwMode="auto">
            <a:xfrm>
              <a:off x="867" y="2432"/>
              <a:ext cx="318" cy="271"/>
              <a:chOff x="657" y="1570"/>
              <a:chExt cx="318" cy="311"/>
            </a:xfrm>
          </p:grpSpPr>
          <p:sp>
            <p:nvSpPr>
              <p:cNvPr id="2448391" name="Line 82"/>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392" name="Picture 83"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393" name="Group 84"/>
            <p:cNvGrpSpPr>
              <a:grpSpLocks/>
            </p:cNvGrpSpPr>
            <p:nvPr/>
          </p:nvGrpSpPr>
          <p:grpSpPr bwMode="auto">
            <a:xfrm>
              <a:off x="762" y="2391"/>
              <a:ext cx="306" cy="90"/>
              <a:chOff x="748" y="2251"/>
              <a:chExt cx="306" cy="90"/>
            </a:xfrm>
          </p:grpSpPr>
          <p:sp>
            <p:nvSpPr>
              <p:cNvPr id="2448394" name="AutoShape 85"/>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5" name="AutoShape 86"/>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6" name="AutoShape 87"/>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7" name="AutoShape 88"/>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8" name="AutoShape 89"/>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399" name="AutoShape 90"/>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00" name="Group 91"/>
          <p:cNvGrpSpPr>
            <a:grpSpLocks/>
          </p:cNvGrpSpPr>
          <p:nvPr/>
        </p:nvGrpSpPr>
        <p:grpSpPr bwMode="auto">
          <a:xfrm>
            <a:off x="5719763" y="4154488"/>
            <a:ext cx="728662" cy="495300"/>
            <a:chOff x="762" y="2391"/>
            <a:chExt cx="423" cy="312"/>
          </a:xfrm>
        </p:grpSpPr>
        <p:grpSp>
          <p:nvGrpSpPr>
            <p:cNvPr id="2448401" name="Group 92"/>
            <p:cNvGrpSpPr>
              <a:grpSpLocks/>
            </p:cNvGrpSpPr>
            <p:nvPr/>
          </p:nvGrpSpPr>
          <p:grpSpPr bwMode="auto">
            <a:xfrm>
              <a:off x="867" y="2432"/>
              <a:ext cx="318" cy="271"/>
              <a:chOff x="657" y="1570"/>
              <a:chExt cx="318" cy="311"/>
            </a:xfrm>
          </p:grpSpPr>
          <p:sp>
            <p:nvSpPr>
              <p:cNvPr id="2448402" name="Line 93"/>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03" name="Picture 9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04" name="Group 95"/>
            <p:cNvGrpSpPr>
              <a:grpSpLocks/>
            </p:cNvGrpSpPr>
            <p:nvPr/>
          </p:nvGrpSpPr>
          <p:grpSpPr bwMode="auto">
            <a:xfrm>
              <a:off x="762" y="2391"/>
              <a:ext cx="306" cy="90"/>
              <a:chOff x="748" y="2251"/>
              <a:chExt cx="306" cy="90"/>
            </a:xfrm>
          </p:grpSpPr>
          <p:sp>
            <p:nvSpPr>
              <p:cNvPr id="2448405" name="AutoShape 96"/>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6" name="AutoShape 97"/>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7" name="AutoShape 98"/>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8" name="AutoShape 99"/>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09" name="AutoShape 100"/>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0" name="AutoShape 101"/>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11" name="Group 102"/>
          <p:cNvGrpSpPr>
            <a:grpSpLocks/>
          </p:cNvGrpSpPr>
          <p:nvPr/>
        </p:nvGrpSpPr>
        <p:grpSpPr bwMode="auto">
          <a:xfrm>
            <a:off x="8718550" y="3073400"/>
            <a:ext cx="727075" cy="495300"/>
            <a:chOff x="762" y="2391"/>
            <a:chExt cx="423" cy="312"/>
          </a:xfrm>
        </p:grpSpPr>
        <p:grpSp>
          <p:nvGrpSpPr>
            <p:cNvPr id="2448412" name="Group 103"/>
            <p:cNvGrpSpPr>
              <a:grpSpLocks/>
            </p:cNvGrpSpPr>
            <p:nvPr/>
          </p:nvGrpSpPr>
          <p:grpSpPr bwMode="auto">
            <a:xfrm>
              <a:off x="867" y="2432"/>
              <a:ext cx="318" cy="271"/>
              <a:chOff x="657" y="1570"/>
              <a:chExt cx="318" cy="311"/>
            </a:xfrm>
          </p:grpSpPr>
          <p:sp>
            <p:nvSpPr>
              <p:cNvPr id="2448413" name="Line 104"/>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14" name="Picture 10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15" name="Group 106"/>
            <p:cNvGrpSpPr>
              <a:grpSpLocks/>
            </p:cNvGrpSpPr>
            <p:nvPr/>
          </p:nvGrpSpPr>
          <p:grpSpPr bwMode="auto">
            <a:xfrm>
              <a:off x="762" y="2391"/>
              <a:ext cx="306" cy="90"/>
              <a:chOff x="748" y="2251"/>
              <a:chExt cx="306" cy="90"/>
            </a:xfrm>
          </p:grpSpPr>
          <p:sp>
            <p:nvSpPr>
              <p:cNvPr id="2448416" name="AutoShape 107"/>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7" name="AutoShape 108"/>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8" name="AutoShape 109"/>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19" name="AutoShape 110"/>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20" name="AutoShape 111"/>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21" name="AutoShape 112"/>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nvGrpSpPr>
          <p:cNvPr id="2448422" name="Group 113"/>
          <p:cNvGrpSpPr>
            <a:grpSpLocks/>
          </p:cNvGrpSpPr>
          <p:nvPr/>
        </p:nvGrpSpPr>
        <p:grpSpPr bwMode="auto">
          <a:xfrm>
            <a:off x="4941888" y="2741613"/>
            <a:ext cx="998537" cy="660400"/>
            <a:chOff x="1565" y="1797"/>
            <a:chExt cx="581" cy="416"/>
          </a:xfrm>
        </p:grpSpPr>
        <p:sp>
          <p:nvSpPr>
            <p:cNvPr id="2448423" name="Freeform 114"/>
            <p:cNvSpPr>
              <a:spLocks noChangeArrowheads="1"/>
            </p:cNvSpPr>
            <p:nvPr/>
          </p:nvSpPr>
          <p:spPr bwMode="auto">
            <a:xfrm>
              <a:off x="1565" y="1797"/>
              <a:ext cx="128" cy="189"/>
            </a:xfrm>
            <a:custGeom>
              <a:avLst/>
              <a:gdLst>
                <a:gd name="T0" fmla="*/ 0 w 336"/>
                <a:gd name="T1" fmla="*/ 0 h 358"/>
                <a:gd name="T2" fmla="*/ 283 w 336"/>
                <a:gd name="T3" fmla="*/ 232 h 358"/>
                <a:gd name="T4" fmla="*/ 191 w 336"/>
                <a:gd name="T5" fmla="*/ 219 h 358"/>
                <a:gd name="T6" fmla="*/ 336 w 336"/>
                <a:gd name="T7" fmla="*/ 358 h 358"/>
                <a:gd name="T8" fmla="*/ 53 w 336"/>
                <a:gd name="T9" fmla="*/ 166 h 358"/>
                <a:gd name="T10" fmla="*/ 171 w 336"/>
                <a:gd name="T11" fmla="*/ 186 h 358"/>
                <a:gd name="T12" fmla="*/ 0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0"/>
                  </a:moveTo>
                  <a:lnTo>
                    <a:pt x="283" y="232"/>
                  </a:lnTo>
                  <a:lnTo>
                    <a:pt x="191" y="219"/>
                  </a:lnTo>
                  <a:lnTo>
                    <a:pt x="336" y="358"/>
                  </a:lnTo>
                  <a:lnTo>
                    <a:pt x="53" y="166"/>
                  </a:lnTo>
                  <a:lnTo>
                    <a:pt x="171" y="186"/>
                  </a:lnTo>
                  <a:lnTo>
                    <a:pt x="0" y="0"/>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4" name="Freeform 115"/>
            <p:cNvSpPr>
              <a:spLocks noChangeArrowheads="1"/>
            </p:cNvSpPr>
            <p:nvPr/>
          </p:nvSpPr>
          <p:spPr bwMode="auto">
            <a:xfrm>
              <a:off x="2018" y="2024"/>
              <a:ext cx="128" cy="18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5" name="Freeform 116"/>
            <p:cNvSpPr>
              <a:spLocks noChangeArrowheads="1"/>
            </p:cNvSpPr>
            <p:nvPr/>
          </p:nvSpPr>
          <p:spPr bwMode="auto">
            <a:xfrm>
              <a:off x="1565" y="2017"/>
              <a:ext cx="128" cy="189"/>
            </a:xfrm>
            <a:custGeom>
              <a:avLst/>
              <a:gdLst>
                <a:gd name="T0" fmla="*/ 0 w 336"/>
                <a:gd name="T1" fmla="*/ 358 h 358"/>
                <a:gd name="T2" fmla="*/ 283 w 336"/>
                <a:gd name="T3" fmla="*/ 126 h 358"/>
                <a:gd name="T4" fmla="*/ 191 w 336"/>
                <a:gd name="T5" fmla="*/ 139 h 358"/>
                <a:gd name="T6" fmla="*/ 336 w 336"/>
                <a:gd name="T7" fmla="*/ 0 h 358"/>
                <a:gd name="T8" fmla="*/ 52 w 336"/>
                <a:gd name="T9" fmla="*/ 192 h 358"/>
                <a:gd name="T10" fmla="*/ 171 w 336"/>
                <a:gd name="T11" fmla="*/ 172 h 358"/>
                <a:gd name="T12" fmla="*/ 0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0" y="358"/>
                  </a:moveTo>
                  <a:lnTo>
                    <a:pt x="283" y="126"/>
                  </a:lnTo>
                  <a:lnTo>
                    <a:pt x="191" y="139"/>
                  </a:lnTo>
                  <a:lnTo>
                    <a:pt x="336" y="0"/>
                  </a:lnTo>
                  <a:lnTo>
                    <a:pt x="52" y="192"/>
                  </a:lnTo>
                  <a:lnTo>
                    <a:pt x="171" y="172"/>
                  </a:lnTo>
                  <a:lnTo>
                    <a:pt x="0" y="358"/>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448426" name="Freeform 117"/>
            <p:cNvSpPr>
              <a:spLocks noChangeArrowheads="1"/>
            </p:cNvSpPr>
            <p:nvPr/>
          </p:nvSpPr>
          <p:spPr bwMode="auto">
            <a:xfrm>
              <a:off x="2018" y="1797"/>
              <a:ext cx="128" cy="189"/>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2448427" name="Text Box 118"/>
          <p:cNvSpPr txBox="1">
            <a:spLocks noChangeArrowheads="1"/>
          </p:cNvSpPr>
          <p:nvPr/>
        </p:nvSpPr>
        <p:spPr bwMode="auto">
          <a:xfrm>
            <a:off x="7359650" y="2632075"/>
            <a:ext cx="679450" cy="301625"/>
          </a:xfrm>
          <a:prstGeom prst="rect">
            <a:avLst/>
          </a:prstGeom>
          <a:solidFill>
            <a:srgbClr val="F8F8F8">
              <a:alpha val="5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1600" b="1">
                <a:solidFill>
                  <a:srgbClr val="000099"/>
                </a:solidFill>
                <a:ea typeface="宋体" panose="02010600030101010101" pitchFamily="2" charset="-122"/>
              </a:rPr>
              <a:t>BSS</a:t>
            </a:r>
            <a:r>
              <a:rPr lang="en-US" altLang="zh-CN" sz="1600" b="1" baseline="-25000">
                <a:solidFill>
                  <a:srgbClr val="000099"/>
                </a:solidFill>
                <a:ea typeface="宋体" panose="02010600030101010101" pitchFamily="2" charset="-122"/>
              </a:rPr>
              <a:t>1</a:t>
            </a:r>
          </a:p>
        </p:txBody>
      </p:sp>
      <p:sp>
        <p:nvSpPr>
          <p:cNvPr id="2448428" name="Text Box 119"/>
          <p:cNvSpPr txBox="1">
            <a:spLocks noChangeArrowheads="1"/>
          </p:cNvSpPr>
          <p:nvPr/>
        </p:nvSpPr>
        <p:spPr bwMode="auto">
          <a:xfrm>
            <a:off x="9185275" y="3143250"/>
            <a:ext cx="333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a:t>
            </a:r>
            <a:endParaRPr lang="en-US" altLang="zh-CN" sz="1600" b="1" baseline="-25000">
              <a:solidFill>
                <a:srgbClr val="000099"/>
              </a:solidFill>
              <a:ea typeface="宋体" panose="02010600030101010101" pitchFamily="2" charset="-122"/>
            </a:endParaRPr>
          </a:p>
        </p:txBody>
      </p:sp>
      <p:sp>
        <p:nvSpPr>
          <p:cNvPr id="2448429" name="Text Box 120"/>
          <p:cNvSpPr txBox="1">
            <a:spLocks noChangeArrowheads="1"/>
          </p:cNvSpPr>
          <p:nvPr/>
        </p:nvSpPr>
        <p:spPr bwMode="auto">
          <a:xfrm>
            <a:off x="8374063" y="4167188"/>
            <a:ext cx="331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B</a:t>
            </a:r>
            <a:endParaRPr lang="en-US" altLang="zh-CN" sz="1600" b="1" baseline="-25000">
              <a:solidFill>
                <a:srgbClr val="000099"/>
              </a:solidFill>
              <a:ea typeface="宋体" panose="02010600030101010101" pitchFamily="2" charset="-122"/>
            </a:endParaRPr>
          </a:p>
        </p:txBody>
      </p:sp>
      <p:sp>
        <p:nvSpPr>
          <p:cNvPr id="2448430" name="Line 121"/>
          <p:cNvSpPr>
            <a:spLocks noChangeShapeType="1"/>
          </p:cNvSpPr>
          <p:nvPr/>
        </p:nvSpPr>
        <p:spPr bwMode="auto">
          <a:xfrm flipH="1">
            <a:off x="6034088" y="3290888"/>
            <a:ext cx="2787650" cy="254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1" name="Rectangle 122"/>
          <p:cNvSpPr>
            <a:spLocks noChangeArrowheads="1"/>
          </p:cNvSpPr>
          <p:nvPr/>
        </p:nvSpPr>
        <p:spPr bwMode="auto">
          <a:xfrm>
            <a:off x="7048500" y="3063875"/>
            <a:ext cx="1168400" cy="5048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 </a:t>
            </a:r>
            <a:r>
              <a:rPr lang="en-US" altLang="zh-CN" sz="1600" b="1">
                <a:solidFill>
                  <a:srgbClr val="000099"/>
                </a:solidFill>
                <a:ea typeface="宋体" panose="02010600030101010101" pitchFamily="2" charset="-122"/>
              </a:rPr>
              <a:t>AP = 1</a:t>
            </a:r>
          </a:p>
          <a:p>
            <a:pPr algn="ctr" eaLnBrk="0" hangingPunct="0"/>
            <a:r>
              <a:rPr lang="zh-CN" altLang="en-US" sz="1600" b="1">
                <a:solidFill>
                  <a:srgbClr val="000099"/>
                </a:solidFill>
                <a:ea typeface="宋体" panose="02010600030101010101" pitchFamily="2" charset="-122"/>
              </a:rPr>
              <a:t>来自 </a:t>
            </a:r>
            <a:r>
              <a:rPr lang="en-US" altLang="zh-CN" sz="1600" b="1">
                <a:solidFill>
                  <a:srgbClr val="000099"/>
                </a:solidFill>
                <a:ea typeface="宋体" panose="02010600030101010101" pitchFamily="2" charset="-122"/>
              </a:rPr>
              <a:t>AP = 0</a:t>
            </a:r>
          </a:p>
        </p:txBody>
      </p:sp>
      <p:sp>
        <p:nvSpPr>
          <p:cNvPr id="2448432" name="Line 123"/>
          <p:cNvSpPr>
            <a:spLocks noChangeShapeType="1"/>
          </p:cNvSpPr>
          <p:nvPr/>
        </p:nvSpPr>
        <p:spPr bwMode="auto">
          <a:xfrm flipV="1">
            <a:off x="3849688" y="3425825"/>
            <a:ext cx="1481137" cy="714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3" name="Line 124"/>
          <p:cNvSpPr>
            <a:spLocks noChangeShapeType="1"/>
          </p:cNvSpPr>
          <p:nvPr/>
        </p:nvSpPr>
        <p:spPr bwMode="auto">
          <a:xfrm>
            <a:off x="5799138" y="3568700"/>
            <a:ext cx="2341562" cy="79216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48434" name="Rectangle 125"/>
          <p:cNvSpPr>
            <a:spLocks noChangeArrowheads="1"/>
          </p:cNvSpPr>
          <p:nvPr/>
        </p:nvSpPr>
        <p:spPr bwMode="auto">
          <a:xfrm rot="1192993">
            <a:off x="6424613" y="3713163"/>
            <a:ext cx="1168400" cy="5048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1600" b="1">
                <a:solidFill>
                  <a:srgbClr val="000099"/>
                </a:solidFill>
                <a:ea typeface="宋体" panose="02010600030101010101" pitchFamily="2" charset="-122"/>
              </a:rPr>
              <a:t>去往 </a:t>
            </a:r>
            <a:r>
              <a:rPr lang="en-US" altLang="zh-CN" sz="1600" b="1">
                <a:solidFill>
                  <a:srgbClr val="000099"/>
                </a:solidFill>
                <a:ea typeface="宋体" panose="02010600030101010101" pitchFamily="2" charset="-122"/>
              </a:rPr>
              <a:t>AP = 0</a:t>
            </a:r>
          </a:p>
          <a:p>
            <a:pPr algn="ctr" eaLnBrk="0" hangingPunct="0"/>
            <a:r>
              <a:rPr lang="zh-CN" altLang="en-US" sz="1600" b="1">
                <a:solidFill>
                  <a:srgbClr val="000099"/>
                </a:solidFill>
                <a:ea typeface="宋体" panose="02010600030101010101" pitchFamily="2" charset="-122"/>
              </a:rPr>
              <a:t>来自 </a:t>
            </a:r>
            <a:r>
              <a:rPr lang="en-US" altLang="zh-CN" sz="1600" b="1">
                <a:solidFill>
                  <a:srgbClr val="000099"/>
                </a:solidFill>
                <a:ea typeface="宋体" panose="02010600030101010101" pitchFamily="2" charset="-122"/>
              </a:rPr>
              <a:t>AP = 1</a:t>
            </a:r>
          </a:p>
        </p:txBody>
      </p:sp>
      <p:sp>
        <p:nvSpPr>
          <p:cNvPr id="2448435" name="Line 126"/>
          <p:cNvSpPr>
            <a:spLocks noChangeShapeType="1"/>
          </p:cNvSpPr>
          <p:nvPr/>
        </p:nvSpPr>
        <p:spPr bwMode="auto">
          <a:xfrm flipV="1">
            <a:off x="2289175" y="3497263"/>
            <a:ext cx="1247775"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2448436" name="Picture 127"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8125" y="3425825"/>
            <a:ext cx="8128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48437" name="Object 128"/>
          <p:cNvGraphicFramePr>
            <a:graphicFrameLocks noChangeAspect="1"/>
          </p:cNvGraphicFramePr>
          <p:nvPr/>
        </p:nvGraphicFramePr>
        <p:xfrm>
          <a:off x="2757488" y="3857625"/>
          <a:ext cx="1949450" cy="1227138"/>
        </p:xfrm>
        <a:graphic>
          <a:graphicData uri="http://schemas.openxmlformats.org/presentationml/2006/ole">
            <mc:AlternateContent xmlns:mc="http://schemas.openxmlformats.org/markup-compatibility/2006">
              <mc:Choice xmlns:v="urn:schemas-microsoft-com:vml" Requires="v">
                <p:oleObj spid="_x0000_s2448518" r:id="rId6" imgW="1687068" imgH="964692" progId="Visio.Drawing.6">
                  <p:embed/>
                </p:oleObj>
              </mc:Choice>
              <mc:Fallback>
                <p:oleObj r:id="rId6" imgW="1687068" imgH="964692" progId="Visio.Drawing.6">
                  <p:embed/>
                  <p:pic>
                    <p:nvPicPr>
                      <p:cNvPr id="0" name="Object 1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7488" y="3857625"/>
                        <a:ext cx="194945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8438" name="Text Box 129"/>
          <p:cNvSpPr txBox="1">
            <a:spLocks noChangeArrowheads="1"/>
          </p:cNvSpPr>
          <p:nvPr/>
        </p:nvSpPr>
        <p:spPr bwMode="auto">
          <a:xfrm>
            <a:off x="3302000" y="4217988"/>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互联网</a:t>
            </a:r>
          </a:p>
        </p:txBody>
      </p:sp>
      <p:pic>
        <p:nvPicPr>
          <p:cNvPr id="2448439" name="Picture 13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81375" y="3352800"/>
            <a:ext cx="650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8440" name="Text Box 131"/>
          <p:cNvSpPr txBox="1">
            <a:spLocks noChangeArrowheads="1"/>
          </p:cNvSpPr>
          <p:nvPr/>
        </p:nvSpPr>
        <p:spPr bwMode="auto">
          <a:xfrm>
            <a:off x="3459163" y="3063875"/>
            <a:ext cx="331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R</a:t>
            </a:r>
            <a:endParaRPr lang="en-US" altLang="zh-CN" sz="1600" b="1" baseline="-25000">
              <a:solidFill>
                <a:srgbClr val="000099"/>
              </a:solidFill>
              <a:ea typeface="宋体" panose="02010600030101010101" pitchFamily="2" charset="-122"/>
            </a:endParaRPr>
          </a:p>
        </p:txBody>
      </p:sp>
      <p:sp>
        <p:nvSpPr>
          <p:cNvPr id="2448441" name="Oval 132"/>
          <p:cNvSpPr>
            <a:spLocks noChangeArrowheads="1"/>
          </p:cNvSpPr>
          <p:nvPr/>
        </p:nvSpPr>
        <p:spPr bwMode="auto">
          <a:xfrm>
            <a:off x="338138" y="3208338"/>
            <a:ext cx="2419350" cy="151288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42" name="Text Box 133"/>
          <p:cNvSpPr txBox="1">
            <a:spLocks noChangeArrowheads="1"/>
          </p:cNvSpPr>
          <p:nvPr/>
        </p:nvSpPr>
        <p:spPr bwMode="auto">
          <a:xfrm>
            <a:off x="650875" y="3424238"/>
            <a:ext cx="679450" cy="301625"/>
          </a:xfrm>
          <a:prstGeom prst="rect">
            <a:avLst/>
          </a:prstGeom>
          <a:solidFill>
            <a:srgbClr val="F8F8F8">
              <a:alpha val="5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1600" b="1">
                <a:solidFill>
                  <a:srgbClr val="000099"/>
                </a:solidFill>
                <a:ea typeface="宋体" panose="02010600030101010101" pitchFamily="2" charset="-122"/>
              </a:rPr>
              <a:t>BSS</a:t>
            </a:r>
            <a:r>
              <a:rPr lang="en-US" altLang="zh-CN" sz="1600" b="1" baseline="-25000">
                <a:solidFill>
                  <a:srgbClr val="000099"/>
                </a:solidFill>
                <a:ea typeface="宋体" panose="02010600030101010101" pitchFamily="2" charset="-122"/>
              </a:rPr>
              <a:t>2</a:t>
            </a:r>
          </a:p>
        </p:txBody>
      </p:sp>
      <p:sp>
        <p:nvSpPr>
          <p:cNvPr id="2448443" name="Text Box 134"/>
          <p:cNvSpPr txBox="1">
            <a:spLocks noChangeArrowheads="1"/>
          </p:cNvSpPr>
          <p:nvPr/>
        </p:nvSpPr>
        <p:spPr bwMode="auto">
          <a:xfrm>
            <a:off x="1898650" y="3351213"/>
            <a:ext cx="544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AP</a:t>
            </a:r>
            <a:r>
              <a:rPr lang="en-US" altLang="zh-CN" sz="1600" b="1" baseline="-25000">
                <a:solidFill>
                  <a:srgbClr val="000099"/>
                </a:solidFill>
                <a:ea typeface="宋体" panose="02010600030101010101" pitchFamily="2" charset="-122"/>
              </a:rPr>
              <a:t>2</a:t>
            </a:r>
          </a:p>
        </p:txBody>
      </p:sp>
      <p:grpSp>
        <p:nvGrpSpPr>
          <p:cNvPr id="2448444" name="Group 135"/>
          <p:cNvGrpSpPr>
            <a:grpSpLocks/>
          </p:cNvGrpSpPr>
          <p:nvPr/>
        </p:nvGrpSpPr>
        <p:grpSpPr bwMode="auto">
          <a:xfrm>
            <a:off x="573088" y="4000500"/>
            <a:ext cx="727075" cy="495300"/>
            <a:chOff x="762" y="2391"/>
            <a:chExt cx="423" cy="312"/>
          </a:xfrm>
        </p:grpSpPr>
        <p:grpSp>
          <p:nvGrpSpPr>
            <p:cNvPr id="2448445" name="Group 136"/>
            <p:cNvGrpSpPr>
              <a:grpSpLocks/>
            </p:cNvGrpSpPr>
            <p:nvPr/>
          </p:nvGrpSpPr>
          <p:grpSpPr bwMode="auto">
            <a:xfrm>
              <a:off x="867" y="2432"/>
              <a:ext cx="318" cy="271"/>
              <a:chOff x="657" y="1570"/>
              <a:chExt cx="318" cy="311"/>
            </a:xfrm>
          </p:grpSpPr>
          <p:sp>
            <p:nvSpPr>
              <p:cNvPr id="2448446" name="Line 137"/>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2448447" name="Picture 138"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8448" name="Group 139"/>
            <p:cNvGrpSpPr>
              <a:grpSpLocks/>
            </p:cNvGrpSpPr>
            <p:nvPr/>
          </p:nvGrpSpPr>
          <p:grpSpPr bwMode="auto">
            <a:xfrm>
              <a:off x="762" y="2391"/>
              <a:ext cx="306" cy="90"/>
              <a:chOff x="748" y="2251"/>
              <a:chExt cx="306" cy="90"/>
            </a:xfrm>
          </p:grpSpPr>
          <p:sp>
            <p:nvSpPr>
              <p:cNvPr id="2448449" name="AutoShape 140"/>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0" name="AutoShape 141"/>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1" name="AutoShape 142"/>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2" name="AutoShape 143"/>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3" name="AutoShape 144"/>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48454" name="AutoShape 145"/>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sp>
        <p:nvSpPr>
          <p:cNvPr id="2448455" name="Text Box 146"/>
          <p:cNvSpPr txBox="1">
            <a:spLocks noChangeArrowheads="1"/>
          </p:cNvSpPr>
          <p:nvPr/>
        </p:nvSpPr>
        <p:spPr bwMode="auto">
          <a:xfrm>
            <a:off x="1041400" y="4071938"/>
            <a:ext cx="3317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C</a:t>
            </a:r>
            <a:endParaRPr lang="en-US" altLang="zh-CN" sz="1600" b="1" baseline="-25000">
              <a:solidFill>
                <a:srgbClr val="000099"/>
              </a:solidFill>
              <a:ea typeface="宋体" panose="02010600030101010101" pitchFamily="2" charset="-122"/>
            </a:endParaRPr>
          </a:p>
        </p:txBody>
      </p:sp>
      <p:sp>
        <p:nvSpPr>
          <p:cNvPr id="2448456" name="Text Box 147"/>
          <p:cNvSpPr txBox="1">
            <a:spLocks noChangeArrowheads="1"/>
          </p:cNvSpPr>
          <p:nvPr/>
        </p:nvSpPr>
        <p:spPr bwMode="auto">
          <a:xfrm>
            <a:off x="3694113" y="356711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0</a:t>
            </a:r>
            <a:endParaRPr lang="en-US" altLang="zh-CN" sz="1600" b="1" baseline="-25000">
              <a:solidFill>
                <a:srgbClr val="000099"/>
              </a:solidFill>
              <a:ea typeface="宋体" panose="02010600030101010101" pitchFamily="2" charset="-122"/>
            </a:endParaRPr>
          </a:p>
        </p:txBody>
      </p:sp>
      <p:sp>
        <p:nvSpPr>
          <p:cNvPr id="2448457" name="Text Box 148"/>
          <p:cNvSpPr txBox="1">
            <a:spLocks noChangeArrowheads="1"/>
          </p:cNvSpPr>
          <p:nvPr/>
        </p:nvSpPr>
        <p:spPr bwMode="auto">
          <a:xfrm>
            <a:off x="3927475" y="313531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1</a:t>
            </a:r>
            <a:endParaRPr lang="en-US" altLang="zh-CN" sz="1600" b="1" baseline="-25000">
              <a:solidFill>
                <a:srgbClr val="000099"/>
              </a:solidFill>
              <a:ea typeface="宋体" panose="02010600030101010101" pitchFamily="2" charset="-122"/>
            </a:endParaRPr>
          </a:p>
        </p:txBody>
      </p:sp>
      <p:sp>
        <p:nvSpPr>
          <p:cNvPr id="2448458" name="Text Box 149"/>
          <p:cNvSpPr txBox="1">
            <a:spLocks noChangeArrowheads="1"/>
          </p:cNvSpPr>
          <p:nvPr/>
        </p:nvSpPr>
        <p:spPr bwMode="auto">
          <a:xfrm>
            <a:off x="3068638" y="3230563"/>
            <a:ext cx="298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solidFill>
                  <a:srgbClr val="000099"/>
                </a:solidFill>
                <a:ea typeface="宋体" panose="02010600030101010101" pitchFamily="2" charset="-122"/>
              </a:rPr>
              <a:t>2</a:t>
            </a:r>
            <a:endParaRPr lang="en-US" altLang="zh-CN" sz="1600" b="1" baseline="-25000">
              <a:solidFill>
                <a:srgbClr val="000099"/>
              </a:solidFill>
              <a:ea typeface="宋体" panose="02010600030101010101" pitchFamily="2" charset="-122"/>
            </a:endParaRPr>
          </a:p>
        </p:txBody>
      </p:sp>
      <p:sp>
        <p:nvSpPr>
          <p:cNvPr id="2448459" name="Text Box 150"/>
          <p:cNvSpPr txBox="1">
            <a:spLocks noChangeArrowheads="1"/>
          </p:cNvSpPr>
          <p:nvPr/>
        </p:nvSpPr>
        <p:spPr bwMode="auto">
          <a:xfrm>
            <a:off x="1898650" y="620713"/>
            <a:ext cx="6219825" cy="1570037"/>
          </a:xfrm>
          <a:prstGeom prst="rect">
            <a:avLst/>
          </a:prstGeom>
          <a:solidFill>
            <a:srgbClr val="FFFF66"/>
          </a:solidFill>
          <a:ln w="9525">
            <a:solidFill>
              <a:schemeClr val="tx1"/>
            </a:solidFill>
            <a:round/>
            <a:headEnd/>
            <a:tailEnd/>
          </a:ln>
        </p:spPr>
        <p:txBody>
          <a:bodyPr>
            <a:spAutoFit/>
          </a:bodyPr>
          <a:lstStyle/>
          <a:p>
            <a:pPr algn="ctr" eaLnBrk="0" hangingPunct="0"/>
            <a:r>
              <a:rPr lang="zh-CN" altLang="en-US" sz="3200" b="1">
                <a:solidFill>
                  <a:srgbClr val="000066"/>
                </a:solidFill>
                <a:ea typeface="宋体" panose="02010600030101010101" pitchFamily="2" charset="-122"/>
              </a:rPr>
              <a:t>站点 </a:t>
            </a:r>
            <a:r>
              <a:rPr lang="en-US" altLang="zh-CN" sz="3200" b="1">
                <a:solidFill>
                  <a:srgbClr val="000066"/>
                </a:solidFill>
                <a:ea typeface="宋体" panose="02010600030101010101" pitchFamily="2" charset="-122"/>
              </a:rPr>
              <a:t>A </a:t>
            </a:r>
            <a:r>
              <a:rPr lang="zh-CN" altLang="en-US" sz="3200" b="1">
                <a:solidFill>
                  <a:srgbClr val="000066"/>
                </a:solidFill>
                <a:ea typeface="宋体" panose="02010600030101010101" pitchFamily="2" charset="-122"/>
              </a:rPr>
              <a:t>向 </a:t>
            </a:r>
            <a:r>
              <a:rPr lang="en-US" altLang="zh-CN" sz="3200" b="1">
                <a:solidFill>
                  <a:srgbClr val="000066"/>
                </a:solidFill>
                <a:ea typeface="宋体" panose="02010600030101010101" pitchFamily="2" charset="-122"/>
              </a:rPr>
              <a:t>B </a:t>
            </a:r>
            <a:r>
              <a:rPr lang="zh-CN" altLang="en-US" sz="3200" b="1">
                <a:solidFill>
                  <a:srgbClr val="000066"/>
                </a:solidFill>
                <a:ea typeface="宋体" panose="02010600030101010101" pitchFamily="2" charset="-122"/>
              </a:rPr>
              <a:t>发送数据帧，</a:t>
            </a:r>
            <a:r>
              <a:rPr lang="zh-CN" altLang="zh-CN" sz="3200" b="1">
                <a:solidFill>
                  <a:srgbClr val="000066"/>
                </a:solidFill>
                <a:ea typeface="宋体" panose="02010600030101010101" pitchFamily="2" charset="-122"/>
              </a:rPr>
              <a:t>或路由器</a:t>
            </a:r>
            <a:r>
              <a:rPr lang="en-US" altLang="zh-CN" sz="3200" b="1">
                <a:solidFill>
                  <a:srgbClr val="000066"/>
                </a:solidFill>
                <a:ea typeface="宋体" panose="02010600030101010101" pitchFamily="2" charset="-122"/>
              </a:rPr>
              <a:t> R </a:t>
            </a:r>
            <a:r>
              <a:rPr lang="zh-CN" altLang="zh-CN" sz="3200" b="1">
                <a:solidFill>
                  <a:srgbClr val="000066"/>
                </a:solidFill>
                <a:ea typeface="宋体" panose="02010600030101010101" pitchFamily="2" charset="-122"/>
              </a:rPr>
              <a:t>向</a:t>
            </a:r>
            <a:r>
              <a:rPr lang="en-US" altLang="zh-CN" sz="3200" b="1">
                <a:solidFill>
                  <a:srgbClr val="000066"/>
                </a:solidFill>
                <a:ea typeface="宋体" panose="02010600030101010101" pitchFamily="2" charset="-122"/>
              </a:rPr>
              <a:t> C </a:t>
            </a:r>
            <a:r>
              <a:rPr lang="zh-CN" altLang="zh-CN" sz="3200" b="1">
                <a:solidFill>
                  <a:srgbClr val="000066"/>
                </a:solidFill>
                <a:ea typeface="宋体" panose="02010600030101010101" pitchFamily="2" charset="-122"/>
              </a:rPr>
              <a:t>发送数据，</a:t>
            </a:r>
            <a:endParaRPr lang="zh-CN" altLang="en-US" sz="3200" b="1">
              <a:solidFill>
                <a:srgbClr val="000066"/>
              </a:solidFill>
              <a:ea typeface="宋体" panose="02010600030101010101" pitchFamily="2" charset="-122"/>
            </a:endParaRPr>
          </a:p>
          <a:p>
            <a:pPr algn="ctr" eaLnBrk="0" hangingPunct="0"/>
            <a:r>
              <a:rPr lang="zh-CN" altLang="en-US" sz="3200" b="1">
                <a:solidFill>
                  <a:srgbClr val="000066"/>
                </a:solidFill>
                <a:ea typeface="宋体" panose="02010600030101010101" pitchFamily="2" charset="-122"/>
              </a:rPr>
              <a:t>但数据帧必须经过 </a:t>
            </a:r>
            <a:r>
              <a:rPr lang="en-US" altLang="zh-CN" sz="3200" b="1">
                <a:solidFill>
                  <a:srgbClr val="000066"/>
                </a:solidFill>
                <a:ea typeface="宋体" panose="02010600030101010101" pitchFamily="2" charset="-122"/>
              </a:rPr>
              <a:t>AP </a:t>
            </a:r>
            <a:r>
              <a:rPr lang="zh-CN" altLang="en-US" sz="3200" b="1">
                <a:solidFill>
                  <a:srgbClr val="000066"/>
                </a:solidFill>
                <a:ea typeface="宋体" panose="02010600030101010101" pitchFamily="2" charset="-122"/>
              </a:rPr>
              <a:t>转发。</a:t>
            </a:r>
          </a:p>
        </p:txBody>
      </p:sp>
      <p:sp>
        <p:nvSpPr>
          <p:cNvPr id="244846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1E826F7-BD84-4936-A247-5941ADD26326}" type="slidenum">
              <a:rPr lang="zh-CN" altLang="en-US" smtClean="0"/>
              <a:pPr/>
              <a:t>55</a:t>
            </a:fld>
            <a:endParaRPr lang="en-US" altLang="zh-CN" smtClean="0"/>
          </a:p>
        </p:txBody>
      </p:sp>
      <p:sp>
        <p:nvSpPr>
          <p:cNvPr id="244846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0433"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关于 </a:t>
            </a:r>
            <a:r>
              <a:rPr lang="en-US" altLang="zh-CN" smtClean="0">
                <a:ea typeface="黑体" panose="02010609060101010101" pitchFamily="49" charset="-122"/>
              </a:rPr>
              <a:t>802.11 </a:t>
            </a:r>
            <a:r>
              <a:rPr lang="zh-CN" altLang="en-US" smtClean="0">
                <a:ea typeface="黑体" panose="02010609060101010101" pitchFamily="49" charset="-122"/>
              </a:rPr>
              <a:t>数据帧的地址</a:t>
            </a:r>
          </a:p>
        </p:txBody>
      </p:sp>
      <p:graphicFrame>
        <p:nvGraphicFramePr>
          <p:cNvPr id="3" name="表格 2"/>
          <p:cNvGraphicFramePr>
            <a:graphicFrameLocks noGrp="1"/>
          </p:cNvGraphicFramePr>
          <p:nvPr/>
        </p:nvGraphicFramePr>
        <p:xfrm>
          <a:off x="415925" y="2060575"/>
          <a:ext cx="9290051" cy="2808288"/>
        </p:xfrm>
        <a:graphic>
          <a:graphicData uri="http://schemas.openxmlformats.org/drawingml/2006/table">
            <a:tbl>
              <a:tblPr firstRow="1" firstCol="1" lastRow="1" lastCol="1" bandRow="1" bandCol="1">
                <a:tableStyleId>{5C22544A-7EE6-4342-B048-85BDC9FD1C3A}</a:tableStyleId>
              </a:tblPr>
              <a:tblGrid>
                <a:gridCol w="1689595">
                  <a:extLst>
                    <a:ext uri="{9D8B030D-6E8A-4147-A177-3AD203B41FA5}">
                      <a16:colId xmlns:a16="http://schemas.microsoft.com/office/drawing/2014/main" val="20000"/>
                    </a:ext>
                  </a:extLst>
                </a:gridCol>
                <a:gridCol w="980423">
                  <a:extLst>
                    <a:ext uri="{9D8B030D-6E8A-4147-A177-3AD203B41FA5}">
                      <a16:colId xmlns:a16="http://schemas.microsoft.com/office/drawing/2014/main" val="20001"/>
                    </a:ext>
                  </a:extLst>
                </a:gridCol>
                <a:gridCol w="985869">
                  <a:extLst>
                    <a:ext uri="{9D8B030D-6E8A-4147-A177-3AD203B41FA5}">
                      <a16:colId xmlns:a16="http://schemas.microsoft.com/office/drawing/2014/main" val="20002"/>
                    </a:ext>
                  </a:extLst>
                </a:gridCol>
                <a:gridCol w="1510941">
                  <a:extLst>
                    <a:ext uri="{9D8B030D-6E8A-4147-A177-3AD203B41FA5}">
                      <a16:colId xmlns:a16="http://schemas.microsoft.com/office/drawing/2014/main" val="20003"/>
                    </a:ext>
                  </a:extLst>
                </a:gridCol>
                <a:gridCol w="1510941">
                  <a:extLst>
                    <a:ext uri="{9D8B030D-6E8A-4147-A177-3AD203B41FA5}">
                      <a16:colId xmlns:a16="http://schemas.microsoft.com/office/drawing/2014/main" val="20004"/>
                    </a:ext>
                  </a:extLst>
                </a:gridCol>
                <a:gridCol w="1502226">
                  <a:extLst>
                    <a:ext uri="{9D8B030D-6E8A-4147-A177-3AD203B41FA5}">
                      <a16:colId xmlns:a16="http://schemas.microsoft.com/office/drawing/2014/main" val="20005"/>
                    </a:ext>
                  </a:extLst>
                </a:gridCol>
                <a:gridCol w="1110056">
                  <a:extLst>
                    <a:ext uri="{9D8B030D-6E8A-4147-A177-3AD203B41FA5}">
                      <a16:colId xmlns:a16="http://schemas.microsoft.com/office/drawing/2014/main" val="20006"/>
                    </a:ext>
                  </a:extLst>
                </a:gridCol>
              </a:tblGrid>
              <a:tr h="702072">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数据报流向</a:t>
                      </a: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去往</a:t>
                      </a:r>
                      <a:r>
                        <a:rPr lang="en-US" sz="2000" b="1">
                          <a:solidFill>
                            <a:schemeClr val="tx1"/>
                          </a:solidFill>
                          <a:effectLst/>
                          <a:latin typeface="+mn-lt"/>
                          <a:ea typeface="+mn-ea"/>
                        </a:rPr>
                        <a:t>AP</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来自</a:t>
                      </a:r>
                      <a:r>
                        <a:rPr lang="en-US" sz="2000" b="1">
                          <a:solidFill>
                            <a:schemeClr val="tx1"/>
                          </a:solidFill>
                          <a:effectLst/>
                          <a:latin typeface="+mn-lt"/>
                          <a:ea typeface="+mn-ea"/>
                        </a:rPr>
                        <a:t>AP</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2</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地址</a:t>
                      </a:r>
                      <a:r>
                        <a:rPr lang="en-US" sz="2000" b="1">
                          <a:solidFill>
                            <a:schemeClr val="tx1"/>
                          </a:solidFill>
                          <a:effectLst/>
                          <a:latin typeface="+mn-lt"/>
                          <a:ea typeface="+mn-ea"/>
                        </a:rPr>
                        <a:t>3</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地址</a:t>
                      </a:r>
                      <a:r>
                        <a:rPr lang="en-US" sz="2000" b="1" dirty="0">
                          <a:solidFill>
                            <a:schemeClr val="tx1"/>
                          </a:solidFill>
                          <a:effectLst/>
                          <a:latin typeface="+mn-lt"/>
                          <a:ea typeface="+mn-ea"/>
                        </a:rPr>
                        <a:t>4</a:t>
                      </a:r>
                      <a:endParaRPr lang="zh-CN" sz="2000" b="1" dirty="0">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702072">
                <a:tc>
                  <a:txBody>
                    <a:bodyPr/>
                    <a:lstStyle/>
                    <a:p>
                      <a:pPr>
                        <a:lnSpc>
                          <a:spcPct val="100000"/>
                        </a:lnSpc>
                        <a:spcAft>
                          <a:spcPts val="0"/>
                        </a:spcAft>
                        <a:tabLst>
                          <a:tab pos="1752600" algn="l"/>
                        </a:tabLst>
                      </a:pPr>
                      <a:r>
                        <a:rPr lang="en-US" sz="2000" b="1" dirty="0">
                          <a:solidFill>
                            <a:schemeClr val="tx1"/>
                          </a:solidFill>
                          <a:effectLst/>
                          <a:latin typeface="+mn-lt"/>
                          <a:ea typeface="+mn-ea"/>
                        </a:rPr>
                        <a:t>R</a:t>
                      </a:r>
                      <a:r>
                        <a:rPr lang="zh-CN" sz="2000" b="1" dirty="0">
                          <a:solidFill>
                            <a:schemeClr val="tx1"/>
                          </a:solidFill>
                          <a:effectLst/>
                          <a:latin typeface="+mn-lt"/>
                          <a:ea typeface="+mn-ea"/>
                        </a:rPr>
                        <a:t>接口</a:t>
                      </a:r>
                      <a:r>
                        <a:rPr lang="en-US" sz="2000" b="1" dirty="0">
                          <a:solidFill>
                            <a:schemeClr val="tx1"/>
                          </a:solidFill>
                          <a:effectLst/>
                          <a:latin typeface="+mn-lt"/>
                          <a:ea typeface="+mn-ea"/>
                        </a:rPr>
                        <a:t>2 </a:t>
                      </a:r>
                      <a:r>
                        <a:rPr lang="en-US" altLang="zh-CN" sz="2000" b="1" dirty="0">
                          <a:solidFill>
                            <a:schemeClr val="tx1"/>
                          </a:solidFill>
                          <a:effectLst/>
                          <a:latin typeface="+mn-lt"/>
                          <a:ea typeface="+mn-ea"/>
                          <a:sym typeface="Wingdings" panose="05000000000000000000" pitchFamily="2" charset="2"/>
                        </a:rPr>
                        <a:t></a:t>
                      </a:r>
                      <a:r>
                        <a:rPr lang="zh-CN" sz="2000" b="1" dirty="0">
                          <a:solidFill>
                            <a:schemeClr val="tx1"/>
                          </a:solidFill>
                          <a:effectLst/>
                          <a:latin typeface="+mn-lt"/>
                          <a:ea typeface="+mn-ea"/>
                        </a:rPr>
                        <a:t> </a:t>
                      </a:r>
                      <a:endParaRPr lang="en-US" altLang="zh-CN" sz="2000" b="1" dirty="0">
                        <a:solidFill>
                          <a:schemeClr val="tx1"/>
                        </a:solidFill>
                        <a:effectLst/>
                        <a:latin typeface="+mn-lt"/>
                        <a:ea typeface="+mn-ea"/>
                      </a:endParaRPr>
                    </a:p>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51036">
                <a:tc>
                  <a:txBody>
                    <a:bodyPr/>
                    <a:lstStyle/>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a:t>
                      </a:r>
                      <a:r>
                        <a:rPr lang="en-US" sz="2000" b="1" baseline="0" dirty="0">
                          <a:solidFill>
                            <a:schemeClr val="tx1"/>
                          </a:solidFill>
                          <a:effectLst/>
                          <a:latin typeface="+mn-lt"/>
                          <a:ea typeface="+mn-ea"/>
                        </a:rPr>
                        <a:t> </a:t>
                      </a:r>
                      <a:r>
                        <a:rPr lang="en-US" altLang="zh-CN" sz="2000" b="1" dirty="0">
                          <a:solidFill>
                            <a:schemeClr val="tx1"/>
                          </a:solidFill>
                          <a:effectLst/>
                          <a:latin typeface="+mn-lt"/>
                          <a:ea typeface="+mn-ea"/>
                          <a:sym typeface="Wingdings" panose="05000000000000000000" pitchFamily="2" charset="2"/>
                        </a:rPr>
                        <a:t></a:t>
                      </a:r>
                      <a:r>
                        <a:rPr lang="zh-CN" sz="2000" b="1" dirty="0">
                          <a:solidFill>
                            <a:schemeClr val="tx1"/>
                          </a:solidFill>
                          <a:effectLst/>
                          <a:latin typeface="+mn-lt"/>
                          <a:ea typeface="+mn-ea"/>
                        </a:rPr>
                        <a:t> </a:t>
                      </a:r>
                      <a:r>
                        <a:rPr lang="en-US" sz="2000" b="1" dirty="0">
                          <a:solidFill>
                            <a:schemeClr val="tx1"/>
                          </a:solidFill>
                          <a:effectLst/>
                          <a:latin typeface="+mn-lt"/>
                          <a:ea typeface="+mn-ea"/>
                        </a:rPr>
                        <a:t>C</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51036">
                <a:tc>
                  <a:txBody>
                    <a:bodyPr/>
                    <a:lstStyle/>
                    <a:p>
                      <a:pPr>
                        <a:lnSpc>
                          <a:spcPct val="100000"/>
                        </a:lnSpc>
                        <a:spcAft>
                          <a:spcPts val="0"/>
                        </a:spcAft>
                        <a:tabLst>
                          <a:tab pos="1752600" algn="l"/>
                        </a:tabLst>
                      </a:pPr>
                      <a:r>
                        <a:rPr lang="en-US" sz="2000" b="1" dirty="0">
                          <a:solidFill>
                            <a:schemeClr val="tx1"/>
                          </a:solidFill>
                          <a:effectLst/>
                          <a:latin typeface="+mn-lt"/>
                          <a:ea typeface="+mn-ea"/>
                        </a:rPr>
                        <a:t>C</a:t>
                      </a:r>
                      <a:r>
                        <a:rPr lang="en-US" sz="2000" b="1" baseline="0" dirty="0">
                          <a:solidFill>
                            <a:schemeClr val="tx1"/>
                          </a:solidFill>
                          <a:effectLst/>
                          <a:latin typeface="+mn-lt"/>
                          <a:ea typeface="+mn-ea"/>
                        </a:rPr>
                        <a:t> </a:t>
                      </a:r>
                      <a:r>
                        <a:rPr lang="en-US" altLang="zh-CN" sz="2000" b="1" dirty="0">
                          <a:solidFill>
                            <a:schemeClr val="tx1"/>
                          </a:solidFill>
                          <a:effectLst/>
                          <a:latin typeface="+mn-lt"/>
                          <a:ea typeface="+mn-ea"/>
                          <a:sym typeface="Wingdings" panose="05000000000000000000" pitchFamily="2" charset="2"/>
                        </a:rPr>
                        <a:t></a:t>
                      </a:r>
                      <a:r>
                        <a:rPr lang="en-US" sz="2000" b="1" dirty="0">
                          <a:solidFill>
                            <a:schemeClr val="tx1"/>
                          </a:solidFill>
                          <a:effectLst/>
                          <a:latin typeface="+mn-lt"/>
                          <a:ea typeface="+mn-ea"/>
                        </a:rPr>
                        <a:t> AP</a:t>
                      </a:r>
                      <a:r>
                        <a:rPr lang="en-US" sz="2000" b="1" baseline="-25000" dirty="0">
                          <a:solidFill>
                            <a:schemeClr val="tx1"/>
                          </a:solidFill>
                          <a:effectLst/>
                          <a:latin typeface="+mn-lt"/>
                          <a:ea typeface="+mn-ea"/>
                        </a:rPr>
                        <a:t>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02072">
                <a:tc>
                  <a:txBody>
                    <a:bodyPr/>
                    <a:lstStyle/>
                    <a:p>
                      <a:pPr>
                        <a:lnSpc>
                          <a:spcPct val="100000"/>
                        </a:lnSpc>
                        <a:spcAft>
                          <a:spcPts val="0"/>
                        </a:spcAft>
                        <a:tabLst>
                          <a:tab pos="1752600" algn="l"/>
                        </a:tabLst>
                      </a:pPr>
                      <a:r>
                        <a:rPr lang="en-US" sz="2000" b="1" dirty="0">
                          <a:solidFill>
                            <a:schemeClr val="tx1"/>
                          </a:solidFill>
                          <a:effectLst/>
                          <a:latin typeface="+mn-lt"/>
                          <a:ea typeface="+mn-ea"/>
                        </a:rPr>
                        <a:t>AP</a:t>
                      </a:r>
                      <a:r>
                        <a:rPr lang="en-US" sz="2000" b="1" baseline="-25000" dirty="0">
                          <a:solidFill>
                            <a:schemeClr val="tx1"/>
                          </a:solidFill>
                          <a:effectLst/>
                          <a:latin typeface="+mn-lt"/>
                          <a:ea typeface="+mn-ea"/>
                        </a:rPr>
                        <a:t>2 </a:t>
                      </a:r>
                      <a:r>
                        <a:rPr lang="en-US" altLang="zh-CN" sz="2000" b="1" dirty="0">
                          <a:solidFill>
                            <a:schemeClr val="tx1"/>
                          </a:solidFill>
                          <a:effectLst/>
                          <a:latin typeface="+mn-lt"/>
                          <a:ea typeface="+mn-ea"/>
                          <a:sym typeface="Wingdings" panose="05000000000000000000" pitchFamily="2" charset="2"/>
                        </a:rPr>
                        <a:t></a:t>
                      </a:r>
                    </a:p>
                    <a:p>
                      <a:pPr>
                        <a:lnSpc>
                          <a:spcPct val="100000"/>
                        </a:lnSpc>
                        <a:spcAft>
                          <a:spcPts val="0"/>
                        </a:spcAft>
                        <a:tabLst>
                          <a:tab pos="1752600" algn="l"/>
                        </a:tabLst>
                      </a:pPr>
                      <a:r>
                        <a:rPr lang="en-US" sz="2000" b="1" dirty="0">
                          <a:solidFill>
                            <a:schemeClr val="tx1"/>
                          </a:solidFill>
                          <a:effectLst/>
                          <a:latin typeface="+mn-lt"/>
                          <a:ea typeface="+mn-ea"/>
                        </a:rPr>
                        <a:t> R </a:t>
                      </a:r>
                      <a:r>
                        <a:rPr lang="zh-CN" sz="2000" b="1" dirty="0">
                          <a:solidFill>
                            <a:schemeClr val="tx1"/>
                          </a:solidFill>
                          <a:effectLst/>
                          <a:latin typeface="+mn-lt"/>
                          <a:ea typeface="+mn-ea"/>
                        </a:rPr>
                        <a:t>接口</a:t>
                      </a:r>
                      <a:r>
                        <a:rPr lang="en-US" sz="2000" b="1" dirty="0">
                          <a:solidFill>
                            <a:schemeClr val="tx1"/>
                          </a:solidFill>
                          <a:effectLst/>
                          <a:latin typeface="+mn-lt"/>
                          <a:ea typeface="+mn-ea"/>
                        </a:rPr>
                        <a:t> 2</a:t>
                      </a:r>
                      <a:endParaRPr lang="zh-CN" sz="2000" b="1" dirty="0">
                        <a:solidFill>
                          <a:schemeClr val="tx1"/>
                        </a:solidFill>
                        <a:effectLst/>
                        <a:latin typeface="+mn-lt"/>
                        <a:ea typeface="+mn-ea"/>
                      </a:endParaRPr>
                    </a:p>
                  </a:txBody>
                  <a:tcPr marL="68588" marR="68588"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0</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en-US" sz="2000" b="1">
                          <a:solidFill>
                            <a:schemeClr val="tx1"/>
                          </a:solidFill>
                          <a:effectLst/>
                          <a:latin typeface="+mn-lt"/>
                          <a:ea typeface="+mn-ea"/>
                        </a:rPr>
                        <a:t>1</a:t>
                      </a:r>
                      <a:endParaRPr lang="zh-CN" sz="2000" b="1">
                        <a:solidFill>
                          <a:schemeClr val="tx1"/>
                        </a:solidFill>
                        <a:effectLst/>
                        <a:latin typeface="+mn-lt"/>
                        <a:ea typeface="+mn-ea"/>
                      </a:endParaRP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R</a:t>
                      </a:r>
                      <a:r>
                        <a:rPr lang="zh-CN" sz="2000" b="1">
                          <a:solidFill>
                            <a:schemeClr val="tx1"/>
                          </a:solidFill>
                          <a:effectLst/>
                          <a:latin typeface="+mn-lt"/>
                          <a:ea typeface="+mn-ea"/>
                        </a:rPr>
                        <a:t>接口</a:t>
                      </a:r>
                      <a:r>
                        <a:rPr lang="en-US" sz="2000" b="1">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AP</a:t>
                      </a:r>
                      <a:r>
                        <a:rPr lang="en-US" sz="2000" b="1" baseline="-25000">
                          <a:solidFill>
                            <a:schemeClr val="tx1"/>
                          </a:solidFill>
                          <a:effectLst/>
                          <a:latin typeface="+mn-lt"/>
                          <a:ea typeface="+mn-ea"/>
                        </a:rPr>
                        <a:t>2</a:t>
                      </a:r>
                      <a:r>
                        <a:rPr lang="zh-CN" sz="2000" b="1">
                          <a:solidFill>
                            <a:schemeClr val="tx1"/>
                          </a:solidFill>
                          <a:effectLst/>
                          <a:latin typeface="+mn-lt"/>
                          <a:ea typeface="+mn-ea"/>
                        </a:rPr>
                        <a:t>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nSpc>
                          <a:spcPct val="100000"/>
                        </a:lnSpc>
                        <a:spcAft>
                          <a:spcPts val="0"/>
                        </a:spcAft>
                        <a:tabLst>
                          <a:tab pos="1752600" algn="l"/>
                        </a:tabLst>
                      </a:pPr>
                      <a:r>
                        <a:rPr lang="en-US" sz="2000" b="1">
                          <a:solidFill>
                            <a:schemeClr val="tx1"/>
                          </a:solidFill>
                          <a:effectLst/>
                          <a:latin typeface="+mn-lt"/>
                          <a:ea typeface="+mn-ea"/>
                        </a:rPr>
                        <a:t>C</a:t>
                      </a:r>
                      <a:r>
                        <a:rPr lang="zh-CN" sz="2000" b="1">
                          <a:solidFill>
                            <a:schemeClr val="tx1"/>
                          </a:solidFill>
                          <a:effectLst/>
                          <a:latin typeface="+mn-lt"/>
                          <a:ea typeface="+mn-ea"/>
                        </a:rPr>
                        <a:t>的地址</a:t>
                      </a:r>
                    </a:p>
                  </a:txBody>
                  <a:tcPr marL="68588" marR="6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1752600" algn="l"/>
                        </a:tabLst>
                      </a:pPr>
                      <a:r>
                        <a:rPr lang="zh-CN" sz="2000" b="1" dirty="0">
                          <a:solidFill>
                            <a:schemeClr val="tx1"/>
                          </a:solidFill>
                          <a:effectLst/>
                          <a:latin typeface="+mn-lt"/>
                          <a:ea typeface="+mn-ea"/>
                        </a:rPr>
                        <a:t>——</a:t>
                      </a:r>
                    </a:p>
                  </a:txBody>
                  <a:tcPr marL="68588" marR="68588"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450484" name="矩形 3"/>
          <p:cNvSpPr>
            <a:spLocks noChangeArrowheads="1"/>
          </p:cNvSpPr>
          <p:nvPr/>
        </p:nvSpPr>
        <p:spPr bwMode="auto">
          <a:xfrm>
            <a:off x="344488" y="1484313"/>
            <a:ext cx="9417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宋体" panose="02010600030101010101" pitchFamily="2" charset="-122"/>
              </a:rPr>
              <a:t>数据报在路由器</a:t>
            </a:r>
            <a:r>
              <a:rPr lang="en-US" altLang="zh-CN" b="1">
                <a:ea typeface="宋体" panose="02010600030101010101" pitchFamily="2" charset="-122"/>
              </a:rPr>
              <a:t> R </a:t>
            </a:r>
            <a:r>
              <a:rPr lang="zh-CN" altLang="zh-CN" b="1">
                <a:ea typeface="宋体" panose="02010600030101010101" pitchFamily="2" charset="-122"/>
              </a:rPr>
              <a:t>与移动站</a:t>
            </a:r>
            <a:r>
              <a:rPr lang="en-US" altLang="zh-CN" b="1">
                <a:ea typeface="宋体" panose="02010600030101010101" pitchFamily="2" charset="-122"/>
              </a:rPr>
              <a:t> C </a:t>
            </a:r>
            <a:r>
              <a:rPr lang="zh-CN" altLang="zh-CN" b="1">
                <a:ea typeface="宋体" panose="02010600030101010101" pitchFamily="2" charset="-122"/>
              </a:rPr>
              <a:t>之间传送（表中地址都是</a:t>
            </a:r>
            <a:r>
              <a:rPr lang="en-US" altLang="zh-CN" b="1">
                <a:ea typeface="宋体" panose="02010600030101010101" pitchFamily="2" charset="-122"/>
              </a:rPr>
              <a:t>MAC</a:t>
            </a:r>
            <a:r>
              <a:rPr lang="zh-CN" altLang="zh-CN" b="1">
                <a:ea typeface="宋体" panose="02010600030101010101" pitchFamily="2" charset="-122"/>
              </a:rPr>
              <a:t>地址）</a:t>
            </a:r>
            <a:endParaRPr lang="zh-CN" altLang="en-US" b="1">
              <a:ea typeface="宋体" panose="02010600030101010101" pitchFamily="2" charset="-122"/>
            </a:endParaRPr>
          </a:p>
        </p:txBody>
      </p:sp>
      <p:sp>
        <p:nvSpPr>
          <p:cNvPr id="245048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688F14-97D2-4534-BDF7-21F4084333C7}" type="slidenum">
              <a:rPr lang="zh-CN" altLang="en-US" smtClean="0"/>
              <a:pPr eaLnBrk="1" hangingPunct="1"/>
              <a:t>56</a:t>
            </a:fld>
            <a:endParaRPr lang="en-US" altLang="zh-CN" smtClean="0"/>
          </a:p>
        </p:txBody>
      </p:sp>
      <p:sp>
        <p:nvSpPr>
          <p:cNvPr id="245048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2481" name="Rectangle 2"/>
          <p:cNvSpPr>
            <a:spLocks noGrp="1" noChangeArrowheads="1"/>
          </p:cNvSpPr>
          <p:nvPr>
            <p:ph type="title"/>
          </p:nvPr>
        </p:nvSpPr>
        <p:spPr>
          <a:xfrm>
            <a:off x="495300" y="188913"/>
            <a:ext cx="9066213" cy="792162"/>
          </a:xfrm>
        </p:spPr>
        <p:txBody>
          <a:bodyPr/>
          <a:lstStyle/>
          <a:p>
            <a:pPr algn="ctr"/>
            <a:r>
              <a:rPr lang="zh-CN" altLang="en-US" sz="4000" dirty="0" smtClean="0">
                <a:ea typeface="黑体" panose="02010609060101010101" pitchFamily="49" charset="-122"/>
              </a:rPr>
              <a:t>序号控制</a:t>
            </a:r>
          </a:p>
        </p:txBody>
      </p:sp>
      <p:sp>
        <p:nvSpPr>
          <p:cNvPr id="24524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序号控制</a:t>
            </a:r>
            <a:r>
              <a:rPr lang="zh-CN" altLang="en-US" sz="2800" dirty="0" smtClean="0">
                <a:ea typeface="黑体" panose="02010609060101010101" pitchFamily="49" charset="-122"/>
              </a:rPr>
              <a:t>字段占 </a:t>
            </a:r>
            <a:r>
              <a:rPr lang="en-US" altLang="zh-CN" sz="2800" dirty="0" smtClean="0">
                <a:ea typeface="黑体" panose="02010609060101010101" pitchFamily="49" charset="-122"/>
              </a:rPr>
              <a:t>16 </a:t>
            </a:r>
            <a:r>
              <a:rPr lang="zh-CN" altLang="en-US" sz="2800" dirty="0" smtClean="0">
                <a:ea typeface="黑体" panose="02010609060101010101" pitchFamily="49" charset="-122"/>
              </a:rPr>
              <a:t>位，其中序号子字段占 </a:t>
            </a:r>
            <a:r>
              <a:rPr lang="en-US" altLang="zh-CN" sz="2800" dirty="0" smtClean="0">
                <a:ea typeface="黑体" panose="02010609060101010101" pitchFamily="49" charset="-122"/>
              </a:rPr>
              <a:t>12 </a:t>
            </a:r>
            <a:r>
              <a:rPr lang="zh-CN" altLang="en-US" sz="2800" dirty="0" smtClean="0">
                <a:ea typeface="黑体" panose="02010609060101010101" pitchFamily="49" charset="-122"/>
              </a:rPr>
              <a:t>位，分片子字段占 </a:t>
            </a:r>
            <a:r>
              <a:rPr lang="en-US" altLang="zh-CN" sz="2800" dirty="0" smtClean="0">
                <a:ea typeface="黑体" panose="02010609060101010101" pitchFamily="49" charset="-122"/>
              </a:rPr>
              <a:t>4 </a:t>
            </a:r>
            <a:r>
              <a:rPr lang="zh-CN" altLang="en-US" sz="2800" dirty="0" smtClean="0">
                <a:ea typeface="黑体" panose="02010609060101010101" pitchFamily="49" charset="-122"/>
              </a:rPr>
              <a:t>位。</a:t>
            </a:r>
          </a:p>
        </p:txBody>
      </p:sp>
      <p:sp>
        <p:nvSpPr>
          <p:cNvPr id="245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25CD45-1080-436C-BD5B-3721A9881498}" type="slidenum">
              <a:rPr lang="zh-CN" altLang="en-US" smtClean="0"/>
              <a:pPr eaLnBrk="1" hangingPunct="1"/>
              <a:t>57</a:t>
            </a:fld>
            <a:endParaRPr lang="en-US" altLang="zh-CN" smtClean="0"/>
          </a:p>
        </p:txBody>
      </p:sp>
      <p:sp>
        <p:nvSpPr>
          <p:cNvPr id="245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3505" name="Rectangle 4"/>
          <p:cNvSpPr>
            <a:spLocks noGrp="1" noChangeArrowheads="1"/>
          </p:cNvSpPr>
          <p:nvPr>
            <p:ph type="title"/>
          </p:nvPr>
        </p:nvSpPr>
        <p:spPr/>
        <p:txBody>
          <a:bodyPr/>
          <a:lstStyle/>
          <a:p>
            <a:pPr algn="ctr"/>
            <a:r>
              <a:rPr lang="zh-CN" altLang="en-US" smtClean="0">
                <a:ea typeface="黑体" panose="02010609060101010101" pitchFamily="49" charset="-122"/>
              </a:rPr>
              <a:t>分片的发送举例 </a:t>
            </a:r>
          </a:p>
        </p:txBody>
      </p:sp>
      <p:sp>
        <p:nvSpPr>
          <p:cNvPr id="2453506" name="Text Box 6"/>
          <p:cNvSpPr txBox="1">
            <a:spLocks noChangeArrowheads="1"/>
          </p:cNvSpPr>
          <p:nvPr/>
        </p:nvSpPr>
        <p:spPr bwMode="auto">
          <a:xfrm>
            <a:off x="9504363" y="3549650"/>
            <a:ext cx="25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7" name="Text Box 8"/>
          <p:cNvSpPr txBox="1">
            <a:spLocks noChangeArrowheads="1"/>
          </p:cNvSpPr>
          <p:nvPr/>
        </p:nvSpPr>
        <p:spPr bwMode="auto">
          <a:xfrm>
            <a:off x="9504363" y="5348288"/>
            <a:ext cx="25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8" name="Text Box 11"/>
          <p:cNvSpPr txBox="1">
            <a:spLocks noChangeArrowheads="1"/>
          </p:cNvSpPr>
          <p:nvPr/>
        </p:nvSpPr>
        <p:spPr bwMode="auto">
          <a:xfrm>
            <a:off x="9504363" y="4462463"/>
            <a:ext cx="25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i="1">
                <a:solidFill>
                  <a:srgbClr val="000099"/>
                </a:solidFill>
                <a:ea typeface="宋体" panose="02010600030101010101" pitchFamily="2" charset="-122"/>
              </a:rPr>
              <a:t>t</a:t>
            </a:r>
          </a:p>
        </p:txBody>
      </p:sp>
      <p:sp>
        <p:nvSpPr>
          <p:cNvPr id="2453509" name="Text Box 9"/>
          <p:cNvSpPr txBox="1">
            <a:spLocks noChangeArrowheads="1"/>
          </p:cNvSpPr>
          <p:nvPr/>
        </p:nvSpPr>
        <p:spPr bwMode="auto">
          <a:xfrm>
            <a:off x="369888" y="3448050"/>
            <a:ext cx="646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源站</a:t>
            </a:r>
          </a:p>
        </p:txBody>
      </p:sp>
      <p:sp>
        <p:nvSpPr>
          <p:cNvPr id="2453510" name="Text Box 12"/>
          <p:cNvSpPr txBox="1">
            <a:spLocks noChangeArrowheads="1"/>
          </p:cNvSpPr>
          <p:nvPr/>
        </p:nvSpPr>
        <p:spPr bwMode="auto">
          <a:xfrm>
            <a:off x="365125" y="4311650"/>
            <a:ext cx="877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宋体" panose="02010600030101010101" pitchFamily="2" charset="-122"/>
              </a:rPr>
              <a:t>目的站</a:t>
            </a:r>
          </a:p>
        </p:txBody>
      </p:sp>
      <p:sp>
        <p:nvSpPr>
          <p:cNvPr id="2453511" name="Text Box 13"/>
          <p:cNvSpPr txBox="1">
            <a:spLocks noChangeArrowheads="1"/>
          </p:cNvSpPr>
          <p:nvPr/>
        </p:nvSpPr>
        <p:spPr bwMode="auto">
          <a:xfrm>
            <a:off x="296863" y="5130800"/>
            <a:ext cx="946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b="1">
                <a:solidFill>
                  <a:srgbClr val="000099"/>
                </a:solidFill>
                <a:ea typeface="宋体" panose="02010600030101010101" pitchFamily="2" charset="-122"/>
              </a:rPr>
              <a:t> </a:t>
            </a:r>
            <a:r>
              <a:rPr lang="zh-CN" altLang="en-US" b="1">
                <a:solidFill>
                  <a:srgbClr val="000099"/>
                </a:solidFill>
                <a:ea typeface="宋体" panose="02010600030101010101" pitchFamily="2" charset="-122"/>
              </a:rPr>
              <a:t>其他站</a:t>
            </a:r>
          </a:p>
        </p:txBody>
      </p:sp>
      <p:sp>
        <p:nvSpPr>
          <p:cNvPr id="2453512" name="Rectangle 14"/>
          <p:cNvSpPr>
            <a:spLocks noChangeArrowheads="1"/>
          </p:cNvSpPr>
          <p:nvPr/>
        </p:nvSpPr>
        <p:spPr bwMode="auto">
          <a:xfrm>
            <a:off x="1670050" y="3479800"/>
            <a:ext cx="623888"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RTS</a:t>
            </a:r>
          </a:p>
        </p:txBody>
      </p:sp>
      <p:sp>
        <p:nvSpPr>
          <p:cNvPr id="2453513" name="Rectangle 15"/>
          <p:cNvSpPr>
            <a:spLocks noChangeArrowheads="1"/>
          </p:cNvSpPr>
          <p:nvPr/>
        </p:nvSpPr>
        <p:spPr bwMode="auto">
          <a:xfrm>
            <a:off x="2505075" y="4367213"/>
            <a:ext cx="625475" cy="396875"/>
          </a:xfrm>
          <a:prstGeom prst="rect">
            <a:avLst/>
          </a:prstGeom>
          <a:solidFill>
            <a:srgbClr val="CCEC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CTS</a:t>
            </a:r>
          </a:p>
        </p:txBody>
      </p:sp>
      <p:sp>
        <p:nvSpPr>
          <p:cNvPr id="2453514" name="Rectangle 16"/>
          <p:cNvSpPr>
            <a:spLocks noChangeArrowheads="1"/>
          </p:cNvSpPr>
          <p:nvPr/>
        </p:nvSpPr>
        <p:spPr bwMode="auto">
          <a:xfrm>
            <a:off x="3340100" y="3479800"/>
            <a:ext cx="939800"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a:t>
            </a:r>
            <a:r>
              <a:rPr lang="zh-CN" altLang="en-US" sz="1000" b="1">
                <a:solidFill>
                  <a:srgbClr val="000099"/>
                </a:solidFill>
                <a:ea typeface="宋体" panose="02010600030101010101" pitchFamily="2" charset="-122"/>
              </a:rPr>
              <a:t> </a:t>
            </a:r>
            <a:r>
              <a:rPr lang="en-US" altLang="zh-CN" b="1">
                <a:solidFill>
                  <a:srgbClr val="000099"/>
                </a:solidFill>
                <a:ea typeface="宋体" panose="02010600030101010101" pitchFamily="2" charset="-122"/>
              </a:rPr>
              <a:t>0</a:t>
            </a:r>
          </a:p>
        </p:txBody>
      </p:sp>
      <p:sp>
        <p:nvSpPr>
          <p:cNvPr id="2453515" name="Line 17"/>
          <p:cNvSpPr>
            <a:spLocks noChangeShapeType="1"/>
          </p:cNvSpPr>
          <p:nvPr/>
        </p:nvSpPr>
        <p:spPr bwMode="auto">
          <a:xfrm>
            <a:off x="2293938" y="3184525"/>
            <a:ext cx="0" cy="2073275"/>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6" name="Line 18"/>
          <p:cNvSpPr>
            <a:spLocks noChangeShapeType="1"/>
          </p:cNvSpPr>
          <p:nvPr/>
        </p:nvSpPr>
        <p:spPr bwMode="auto">
          <a:xfrm>
            <a:off x="2505075" y="3184525"/>
            <a:ext cx="0" cy="157956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7" name="Line 19"/>
          <p:cNvSpPr>
            <a:spLocks noChangeShapeType="1"/>
          </p:cNvSpPr>
          <p:nvPr/>
        </p:nvSpPr>
        <p:spPr bwMode="auto">
          <a:xfrm>
            <a:off x="3130550" y="4367213"/>
            <a:ext cx="0" cy="890587"/>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8" name="Line 20"/>
          <p:cNvSpPr>
            <a:spLocks noChangeShapeType="1"/>
          </p:cNvSpPr>
          <p:nvPr/>
        </p:nvSpPr>
        <p:spPr bwMode="auto">
          <a:xfrm>
            <a:off x="3340100" y="3479800"/>
            <a:ext cx="0" cy="1284288"/>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19" name="Rectangle 21"/>
          <p:cNvSpPr>
            <a:spLocks noChangeArrowheads="1"/>
          </p:cNvSpPr>
          <p:nvPr/>
        </p:nvSpPr>
        <p:spPr bwMode="auto">
          <a:xfrm>
            <a:off x="4489450" y="4367213"/>
            <a:ext cx="627063"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ACK0</a:t>
            </a:r>
          </a:p>
        </p:txBody>
      </p:sp>
      <p:sp>
        <p:nvSpPr>
          <p:cNvPr id="2453520" name="Line 22"/>
          <p:cNvSpPr>
            <a:spLocks noChangeShapeType="1"/>
          </p:cNvSpPr>
          <p:nvPr/>
        </p:nvSpPr>
        <p:spPr bwMode="auto">
          <a:xfrm>
            <a:off x="4279900" y="3776663"/>
            <a:ext cx="0" cy="987425"/>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1" name="Line 23"/>
          <p:cNvSpPr>
            <a:spLocks noChangeShapeType="1"/>
          </p:cNvSpPr>
          <p:nvPr/>
        </p:nvSpPr>
        <p:spPr bwMode="auto">
          <a:xfrm>
            <a:off x="4489450"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2" name="Rectangle 24"/>
          <p:cNvSpPr>
            <a:spLocks noChangeArrowheads="1"/>
          </p:cNvSpPr>
          <p:nvPr/>
        </p:nvSpPr>
        <p:spPr bwMode="auto">
          <a:xfrm>
            <a:off x="5324475" y="3479800"/>
            <a:ext cx="939800"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 </a:t>
            </a:r>
            <a:r>
              <a:rPr lang="en-US" altLang="zh-CN" b="1">
                <a:solidFill>
                  <a:srgbClr val="000099"/>
                </a:solidFill>
                <a:ea typeface="宋体" panose="02010600030101010101" pitchFamily="2" charset="-122"/>
              </a:rPr>
              <a:t>1</a:t>
            </a:r>
          </a:p>
        </p:txBody>
      </p:sp>
      <p:sp>
        <p:nvSpPr>
          <p:cNvPr id="2453523" name="Rectangle 25"/>
          <p:cNvSpPr>
            <a:spLocks noChangeArrowheads="1"/>
          </p:cNvSpPr>
          <p:nvPr/>
        </p:nvSpPr>
        <p:spPr bwMode="auto">
          <a:xfrm>
            <a:off x="6473825" y="4367213"/>
            <a:ext cx="666750"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ACK1</a:t>
            </a:r>
          </a:p>
        </p:txBody>
      </p:sp>
      <p:sp>
        <p:nvSpPr>
          <p:cNvPr id="2453524" name="Line 27"/>
          <p:cNvSpPr>
            <a:spLocks noChangeShapeType="1"/>
          </p:cNvSpPr>
          <p:nvPr/>
        </p:nvSpPr>
        <p:spPr bwMode="auto">
          <a:xfrm flipH="1">
            <a:off x="5095875" y="3876675"/>
            <a:ext cx="20638" cy="1377950"/>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5" name="Line 28"/>
          <p:cNvSpPr>
            <a:spLocks noChangeShapeType="1"/>
          </p:cNvSpPr>
          <p:nvPr/>
        </p:nvSpPr>
        <p:spPr bwMode="auto">
          <a:xfrm>
            <a:off x="532606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6" name="Line 29"/>
          <p:cNvSpPr>
            <a:spLocks noChangeShapeType="1"/>
          </p:cNvSpPr>
          <p:nvPr/>
        </p:nvSpPr>
        <p:spPr bwMode="auto">
          <a:xfrm>
            <a:off x="626586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7" name="Line 30"/>
          <p:cNvSpPr>
            <a:spLocks noChangeShapeType="1"/>
          </p:cNvSpPr>
          <p:nvPr/>
        </p:nvSpPr>
        <p:spPr bwMode="auto">
          <a:xfrm>
            <a:off x="6475413"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8" name="Line 31"/>
          <p:cNvSpPr>
            <a:spLocks noChangeShapeType="1"/>
          </p:cNvSpPr>
          <p:nvPr/>
        </p:nvSpPr>
        <p:spPr bwMode="auto">
          <a:xfrm>
            <a:off x="7126288" y="3876675"/>
            <a:ext cx="7937" cy="1462088"/>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29" name="Line 32"/>
          <p:cNvSpPr>
            <a:spLocks noChangeShapeType="1"/>
          </p:cNvSpPr>
          <p:nvPr/>
        </p:nvSpPr>
        <p:spPr bwMode="auto">
          <a:xfrm>
            <a:off x="7312025"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0" name="Line 33"/>
          <p:cNvSpPr>
            <a:spLocks noChangeShapeType="1"/>
          </p:cNvSpPr>
          <p:nvPr/>
        </p:nvSpPr>
        <p:spPr bwMode="auto">
          <a:xfrm>
            <a:off x="8250238"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1" name="Line 34"/>
          <p:cNvSpPr>
            <a:spLocks noChangeShapeType="1"/>
          </p:cNvSpPr>
          <p:nvPr/>
        </p:nvSpPr>
        <p:spPr bwMode="auto">
          <a:xfrm>
            <a:off x="8459788" y="3876675"/>
            <a:ext cx="0" cy="887413"/>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2" name="Rectangle 35"/>
          <p:cNvSpPr>
            <a:spLocks noChangeArrowheads="1"/>
          </p:cNvSpPr>
          <p:nvPr/>
        </p:nvSpPr>
        <p:spPr bwMode="auto">
          <a:xfrm>
            <a:off x="7312025" y="3479800"/>
            <a:ext cx="938213" cy="396875"/>
          </a:xfrm>
          <a:prstGeom prst="rect">
            <a:avLst/>
          </a:prstGeom>
          <a:solidFill>
            <a:srgbClr val="CCCC00"/>
          </a:solidFill>
          <a:ln w="9525">
            <a:solidFill>
              <a:schemeClr val="tx2"/>
            </a:solidFill>
            <a:miter lim="800000"/>
            <a:headEnd/>
            <a:tailEnd/>
          </a:ln>
        </p:spPr>
        <p:txBody>
          <a:bodyPr wrap="none" anchor="ctr"/>
          <a:lstStyle/>
          <a:p>
            <a:pPr algn="ctr" eaLnBrk="0" hangingPunct="0"/>
            <a:r>
              <a:rPr lang="zh-CN" altLang="en-US" b="1">
                <a:solidFill>
                  <a:srgbClr val="000099"/>
                </a:solidFill>
                <a:ea typeface="宋体" panose="02010600030101010101" pitchFamily="2" charset="-122"/>
              </a:rPr>
              <a:t>分片 </a:t>
            </a:r>
            <a:r>
              <a:rPr lang="en-US" altLang="zh-CN" b="1">
                <a:solidFill>
                  <a:srgbClr val="000099"/>
                </a:solidFill>
                <a:ea typeface="宋体" panose="02010600030101010101" pitchFamily="2" charset="-122"/>
              </a:rPr>
              <a:t>2</a:t>
            </a:r>
          </a:p>
        </p:txBody>
      </p:sp>
      <p:sp>
        <p:nvSpPr>
          <p:cNvPr id="2453533" name="Rectangle 36"/>
          <p:cNvSpPr>
            <a:spLocks noChangeArrowheads="1"/>
          </p:cNvSpPr>
          <p:nvPr/>
        </p:nvSpPr>
        <p:spPr bwMode="auto">
          <a:xfrm>
            <a:off x="8459788" y="4367213"/>
            <a:ext cx="696912" cy="396875"/>
          </a:xfrm>
          <a:prstGeom prst="rect">
            <a:avLst/>
          </a:prstGeom>
          <a:solidFill>
            <a:srgbClr val="FF99FF"/>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ACK2</a:t>
            </a:r>
          </a:p>
        </p:txBody>
      </p:sp>
      <p:sp>
        <p:nvSpPr>
          <p:cNvPr id="2453534" name="Line 37"/>
          <p:cNvSpPr>
            <a:spLocks noChangeShapeType="1"/>
          </p:cNvSpPr>
          <p:nvPr/>
        </p:nvSpPr>
        <p:spPr bwMode="auto">
          <a:xfrm>
            <a:off x="1879600" y="3282950"/>
            <a:ext cx="414338"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5" name="Line 38"/>
          <p:cNvSpPr>
            <a:spLocks noChangeShapeType="1"/>
          </p:cNvSpPr>
          <p:nvPr/>
        </p:nvSpPr>
        <p:spPr bwMode="auto">
          <a:xfrm flipH="1">
            <a:off x="2508250" y="3282950"/>
            <a:ext cx="4159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6" name="Text Box 39"/>
          <p:cNvSpPr txBox="1">
            <a:spLocks noChangeArrowheads="1"/>
          </p:cNvSpPr>
          <p:nvPr/>
        </p:nvSpPr>
        <p:spPr bwMode="auto">
          <a:xfrm>
            <a:off x="2136775" y="2565400"/>
            <a:ext cx="866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FF"/>
                </a:solidFill>
                <a:ea typeface="宋体" panose="02010600030101010101" pitchFamily="2" charset="-122"/>
              </a:rPr>
              <a:t>SIFS</a:t>
            </a:r>
          </a:p>
        </p:txBody>
      </p:sp>
      <p:sp>
        <p:nvSpPr>
          <p:cNvPr id="2453537" name="Line 40"/>
          <p:cNvSpPr>
            <a:spLocks noChangeShapeType="1"/>
          </p:cNvSpPr>
          <p:nvPr/>
        </p:nvSpPr>
        <p:spPr bwMode="auto">
          <a:xfrm flipH="1">
            <a:off x="2401888" y="2986088"/>
            <a:ext cx="103187" cy="296862"/>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38" name="Rectangle 41"/>
          <p:cNvSpPr>
            <a:spLocks noChangeArrowheads="1"/>
          </p:cNvSpPr>
          <p:nvPr/>
        </p:nvSpPr>
        <p:spPr bwMode="auto">
          <a:xfrm>
            <a:off x="2293938" y="5254625"/>
            <a:ext cx="2822575"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(RTS)</a:t>
            </a:r>
          </a:p>
        </p:txBody>
      </p:sp>
      <p:sp>
        <p:nvSpPr>
          <p:cNvPr id="2453539" name="Rectangle 42"/>
          <p:cNvSpPr>
            <a:spLocks noChangeArrowheads="1"/>
          </p:cNvSpPr>
          <p:nvPr/>
        </p:nvSpPr>
        <p:spPr bwMode="auto">
          <a:xfrm>
            <a:off x="3130550" y="5651500"/>
            <a:ext cx="1985963"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(CTS)</a:t>
            </a:r>
          </a:p>
        </p:txBody>
      </p:sp>
      <p:sp>
        <p:nvSpPr>
          <p:cNvPr id="2453540" name="AutoShape 43"/>
          <p:cNvSpPr>
            <a:spLocks/>
          </p:cNvSpPr>
          <p:nvPr/>
        </p:nvSpPr>
        <p:spPr bwMode="auto">
          <a:xfrm rot="-5400000">
            <a:off x="6011863" y="485775"/>
            <a:ext cx="296862" cy="5640388"/>
          </a:xfrm>
          <a:prstGeom prst="rightBrace">
            <a:avLst>
              <a:gd name="adj1" fmla="val 146107"/>
              <a:gd name="adj2" fmla="val 50000"/>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2453541" name="Text Box 44"/>
          <p:cNvSpPr txBox="1">
            <a:spLocks noChangeArrowheads="1"/>
          </p:cNvSpPr>
          <p:nvPr/>
        </p:nvSpPr>
        <p:spPr bwMode="auto">
          <a:xfrm>
            <a:off x="4160838" y="2565400"/>
            <a:ext cx="37750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FF"/>
                </a:solidFill>
                <a:ea typeface="宋体" panose="02010600030101010101" pitchFamily="2" charset="-122"/>
              </a:rPr>
              <a:t>长的帧划分为许多分片</a:t>
            </a:r>
          </a:p>
        </p:txBody>
      </p:sp>
      <p:sp>
        <p:nvSpPr>
          <p:cNvPr id="2453542" name="Rectangle 48"/>
          <p:cNvSpPr>
            <a:spLocks noChangeArrowheads="1"/>
          </p:cNvSpPr>
          <p:nvPr/>
        </p:nvSpPr>
        <p:spPr bwMode="auto">
          <a:xfrm>
            <a:off x="5110163" y="5248275"/>
            <a:ext cx="2012950" cy="4095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t>
            </a:r>
            <a:r>
              <a:rPr lang="zh-CN" altLang="en-US" b="1">
                <a:solidFill>
                  <a:srgbClr val="000099"/>
                </a:solidFill>
                <a:ea typeface="宋体" panose="02010600030101010101" pitchFamily="2" charset="-122"/>
              </a:rPr>
              <a:t>分片</a:t>
            </a:r>
            <a:r>
              <a:rPr lang="en-US" altLang="zh-CN" b="1">
                <a:solidFill>
                  <a:srgbClr val="000099"/>
                </a:solidFill>
                <a:ea typeface="宋体" panose="02010600030101010101" pitchFamily="2" charset="-122"/>
              </a:rPr>
              <a:t>0)</a:t>
            </a:r>
          </a:p>
        </p:txBody>
      </p:sp>
      <p:sp>
        <p:nvSpPr>
          <p:cNvPr id="2453543" name="Rectangle 49"/>
          <p:cNvSpPr>
            <a:spLocks noChangeArrowheads="1"/>
          </p:cNvSpPr>
          <p:nvPr/>
        </p:nvSpPr>
        <p:spPr bwMode="auto">
          <a:xfrm>
            <a:off x="5095875" y="5651500"/>
            <a:ext cx="2025650"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(ACK0)</a:t>
            </a:r>
          </a:p>
        </p:txBody>
      </p:sp>
      <p:sp>
        <p:nvSpPr>
          <p:cNvPr id="2453544" name="Rectangle 50"/>
          <p:cNvSpPr>
            <a:spLocks noChangeArrowheads="1"/>
          </p:cNvSpPr>
          <p:nvPr/>
        </p:nvSpPr>
        <p:spPr bwMode="auto">
          <a:xfrm>
            <a:off x="7116763" y="5641975"/>
            <a:ext cx="2032000" cy="395288"/>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(ACK1)</a:t>
            </a:r>
          </a:p>
        </p:txBody>
      </p:sp>
      <p:sp>
        <p:nvSpPr>
          <p:cNvPr id="2453545" name="Line 51"/>
          <p:cNvSpPr>
            <a:spLocks noChangeShapeType="1"/>
          </p:cNvSpPr>
          <p:nvPr/>
        </p:nvSpPr>
        <p:spPr bwMode="auto">
          <a:xfrm>
            <a:off x="9153525" y="3863975"/>
            <a:ext cx="0" cy="1390650"/>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6" name="Rectangle 52"/>
          <p:cNvSpPr>
            <a:spLocks noChangeArrowheads="1"/>
          </p:cNvSpPr>
          <p:nvPr/>
        </p:nvSpPr>
        <p:spPr bwMode="auto">
          <a:xfrm>
            <a:off x="7126288" y="5254625"/>
            <a:ext cx="2027237" cy="396875"/>
          </a:xfrm>
          <a:prstGeom prst="rect">
            <a:avLst/>
          </a:prstGeom>
          <a:solidFill>
            <a:srgbClr val="FFFF66"/>
          </a:solidFill>
          <a:ln w="9525">
            <a:solidFill>
              <a:schemeClr val="tx2"/>
            </a:solidFill>
            <a:miter lim="800000"/>
            <a:headEnd/>
            <a:tailEnd/>
          </a:ln>
        </p:spPr>
        <p:txBody>
          <a:bodyPr wrap="none" anchor="ctr"/>
          <a:lstStyle/>
          <a:p>
            <a:pPr algn="ctr" eaLnBrk="0" hangingPunct="0"/>
            <a:r>
              <a:rPr lang="en-US" altLang="zh-CN" b="1">
                <a:solidFill>
                  <a:srgbClr val="000099"/>
                </a:solidFill>
                <a:ea typeface="宋体" panose="02010600030101010101" pitchFamily="2" charset="-122"/>
              </a:rPr>
              <a:t>NAV (</a:t>
            </a:r>
            <a:r>
              <a:rPr lang="zh-CN" altLang="en-US" b="1">
                <a:solidFill>
                  <a:srgbClr val="000099"/>
                </a:solidFill>
                <a:ea typeface="宋体" panose="02010600030101010101" pitchFamily="2" charset="-122"/>
              </a:rPr>
              <a:t>分片</a:t>
            </a:r>
            <a:r>
              <a:rPr lang="en-US" altLang="zh-CN" b="1">
                <a:solidFill>
                  <a:srgbClr val="000099"/>
                </a:solidFill>
                <a:ea typeface="宋体" panose="02010600030101010101" pitchFamily="2" charset="-122"/>
              </a:rPr>
              <a:t>1)</a:t>
            </a:r>
          </a:p>
        </p:txBody>
      </p:sp>
      <p:sp>
        <p:nvSpPr>
          <p:cNvPr id="2453547" name="Line 7"/>
          <p:cNvSpPr>
            <a:spLocks noChangeShapeType="1"/>
          </p:cNvSpPr>
          <p:nvPr/>
        </p:nvSpPr>
        <p:spPr bwMode="auto">
          <a:xfrm>
            <a:off x="484188" y="5651500"/>
            <a:ext cx="92932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8" name="Line 10"/>
          <p:cNvSpPr>
            <a:spLocks noChangeShapeType="1"/>
          </p:cNvSpPr>
          <p:nvPr/>
        </p:nvSpPr>
        <p:spPr bwMode="auto">
          <a:xfrm>
            <a:off x="482600" y="4764088"/>
            <a:ext cx="9290050"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49" name="Line 5"/>
          <p:cNvSpPr>
            <a:spLocks noChangeShapeType="1"/>
          </p:cNvSpPr>
          <p:nvPr/>
        </p:nvSpPr>
        <p:spPr bwMode="auto">
          <a:xfrm>
            <a:off x="484188" y="3876675"/>
            <a:ext cx="9293225"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453550" name="矩形 2"/>
          <p:cNvSpPr>
            <a:spLocks noChangeArrowheads="1"/>
          </p:cNvSpPr>
          <p:nvPr/>
        </p:nvSpPr>
        <p:spPr bwMode="auto">
          <a:xfrm>
            <a:off x="1243013" y="1250950"/>
            <a:ext cx="8031162" cy="954088"/>
          </a:xfrm>
          <a:prstGeom prst="rect">
            <a:avLst/>
          </a:prstGeom>
          <a:solidFill>
            <a:srgbClr val="FFFF66"/>
          </a:solidFill>
          <a:ln w="9525">
            <a:solidFill>
              <a:schemeClr val="tx1"/>
            </a:solidFill>
            <a:round/>
            <a:headEnd/>
            <a:tailEnd/>
          </a:ln>
        </p:spPr>
        <p:txBody>
          <a:bodyPr>
            <a:spAutoFit/>
          </a:bodyPr>
          <a:lstStyle/>
          <a:p>
            <a:pPr algn="ctr" eaLnBrk="0" hangingPunct="0"/>
            <a:r>
              <a:rPr lang="zh-CN" altLang="zh-CN" sz="2800" b="1">
                <a:solidFill>
                  <a:srgbClr val="000066"/>
                </a:solidFill>
                <a:ea typeface="宋体" panose="02010600030101010101" pitchFamily="2" charset="-122"/>
              </a:rPr>
              <a:t>为了提高传输效率，在信道质量较差时，</a:t>
            </a:r>
            <a:endParaRPr lang="en-US" altLang="zh-CN" sz="2800" b="1">
              <a:solidFill>
                <a:srgbClr val="000066"/>
              </a:solidFill>
              <a:ea typeface="宋体" panose="02010600030101010101" pitchFamily="2" charset="-122"/>
            </a:endParaRPr>
          </a:p>
          <a:p>
            <a:pPr algn="ctr" eaLnBrk="0" hangingPunct="0"/>
            <a:r>
              <a:rPr lang="zh-CN" altLang="zh-CN" sz="2800" b="1">
                <a:solidFill>
                  <a:srgbClr val="000066"/>
                </a:solidFill>
                <a:ea typeface="宋体" panose="02010600030101010101" pitchFamily="2" charset="-122"/>
              </a:rPr>
              <a:t>需要把一个较长的帧划分为许多较短的分片。</a:t>
            </a:r>
            <a:endParaRPr lang="zh-CN" altLang="en-US" sz="2800" b="1">
              <a:solidFill>
                <a:srgbClr val="000066"/>
              </a:solidFill>
              <a:ea typeface="宋体" panose="02010600030101010101" pitchFamily="2" charset="-122"/>
            </a:endParaRPr>
          </a:p>
        </p:txBody>
      </p:sp>
      <p:sp>
        <p:nvSpPr>
          <p:cNvPr id="245355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8673C8-26B4-40F1-A164-83B416C92004}" type="slidenum">
              <a:rPr lang="zh-CN" altLang="en-US" smtClean="0"/>
              <a:pPr eaLnBrk="1" hangingPunct="1"/>
              <a:t>58</a:t>
            </a:fld>
            <a:endParaRPr lang="en-US" altLang="zh-CN" smtClean="0"/>
          </a:p>
        </p:txBody>
      </p:sp>
      <p:sp>
        <p:nvSpPr>
          <p:cNvPr id="245355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42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9.1.4  802.11 </a:t>
            </a:r>
            <a:r>
              <a:rPr lang="zh-CN" altLang="en-US" smtClean="0">
                <a:ea typeface="黑体" panose="02010609060101010101" pitchFamily="49" charset="-122"/>
              </a:rPr>
              <a:t>局域网的 </a:t>
            </a:r>
            <a:r>
              <a:rPr lang="en-US" altLang="zh-CN" smtClean="0">
                <a:ea typeface="黑体" panose="02010609060101010101" pitchFamily="49" charset="-122"/>
              </a:rPr>
              <a:t>MAC </a:t>
            </a:r>
            <a:r>
              <a:rPr lang="zh-CN" altLang="en-US" smtClean="0">
                <a:ea typeface="黑体" panose="02010609060101010101" pitchFamily="49" charset="-122"/>
              </a:rPr>
              <a:t>帧</a:t>
            </a:r>
          </a:p>
        </p:txBody>
      </p:sp>
      <p:sp>
        <p:nvSpPr>
          <p:cNvPr id="24442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802.11 </a:t>
            </a:r>
            <a:r>
              <a:rPr lang="zh-CN" altLang="en-US" dirty="0" smtClean="0">
                <a:ea typeface="黑体" panose="02010609060101010101" pitchFamily="49" charset="-122"/>
              </a:rPr>
              <a:t>帧共有三种类型：</a:t>
            </a:r>
            <a:r>
              <a:rPr lang="zh-CN" altLang="en-US" dirty="0" smtClean="0">
                <a:solidFill>
                  <a:srgbClr val="FF0000"/>
                </a:solidFill>
                <a:ea typeface="黑体" panose="02010609060101010101" pitchFamily="49" charset="-122"/>
              </a:rPr>
              <a:t>控制帧</a:t>
            </a:r>
            <a:r>
              <a:rPr lang="zh-CN" altLang="en-US" dirty="0" smtClean="0">
                <a:ea typeface="黑体" panose="02010609060101010101" pitchFamily="49" charset="-122"/>
              </a:rPr>
              <a:t>、数据帧和管理帧。</a:t>
            </a:r>
          </a:p>
        </p:txBody>
      </p:sp>
      <p:grpSp>
        <p:nvGrpSpPr>
          <p:cNvPr id="2444291" name="组合 4"/>
          <p:cNvGrpSpPr>
            <a:grpSpLocks/>
          </p:cNvGrpSpPr>
          <p:nvPr/>
        </p:nvGrpSpPr>
        <p:grpSpPr bwMode="auto">
          <a:xfrm>
            <a:off x="1138238" y="2492375"/>
            <a:ext cx="7481887" cy="1368425"/>
            <a:chOff x="1137742" y="2660421"/>
            <a:chExt cx="7482878" cy="1367423"/>
          </a:xfrm>
        </p:grpSpPr>
        <p:sp>
          <p:nvSpPr>
            <p:cNvPr id="2444292" name="矩形 1"/>
            <p:cNvSpPr>
              <a:spLocks noChangeArrowheads="1"/>
            </p:cNvSpPr>
            <p:nvPr/>
          </p:nvSpPr>
          <p:spPr bwMode="auto">
            <a:xfrm>
              <a:off x="1905305" y="3627734"/>
              <a:ext cx="53850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ea typeface="宋体" panose="02010600030101010101" pitchFamily="2" charset="-122"/>
                </a:rPr>
                <a:t>RTS</a:t>
              </a:r>
              <a:r>
                <a:rPr lang="zh-CN" altLang="en-US" sz="2000" b="1">
                  <a:ea typeface="宋体" panose="02010600030101010101" pitchFamily="2" charset="-122"/>
                </a:rPr>
                <a:t>帧格式（帧控制字段中的子类型为</a:t>
              </a:r>
              <a:r>
                <a:rPr lang="en-US" altLang="zh-CN" sz="2000" b="1">
                  <a:ea typeface="宋体" panose="02010600030101010101" pitchFamily="2" charset="-122"/>
                </a:rPr>
                <a:t>1011</a:t>
              </a:r>
              <a:r>
                <a:rPr lang="zh-CN" altLang="en-US" sz="2000" b="1">
                  <a:ea typeface="宋体" panose="02010600030101010101" pitchFamily="2" charset="-122"/>
                </a:rPr>
                <a:t>）</a:t>
              </a:r>
            </a:p>
          </p:txBody>
        </p:sp>
        <p:grpSp>
          <p:nvGrpSpPr>
            <p:cNvPr id="2444293" name="组合 2"/>
            <p:cNvGrpSpPr>
              <a:grpSpLocks/>
            </p:cNvGrpSpPr>
            <p:nvPr/>
          </p:nvGrpSpPr>
          <p:grpSpPr bwMode="auto">
            <a:xfrm>
              <a:off x="1137742" y="2660421"/>
              <a:ext cx="7482878" cy="830930"/>
              <a:chOff x="2095672" y="3278876"/>
              <a:chExt cx="4781378" cy="582494"/>
            </a:xfrm>
          </p:grpSpPr>
          <p:sp>
            <p:nvSpPr>
              <p:cNvPr id="2444294" name="Rectangle 56"/>
              <p:cNvSpPr>
                <a:spLocks noChangeArrowheads="1"/>
              </p:cNvSpPr>
              <p:nvPr/>
            </p:nvSpPr>
            <p:spPr bwMode="auto">
              <a:xfrm>
                <a:off x="2554288" y="3510533"/>
                <a:ext cx="857250" cy="3429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800" b="1">
                  <a:solidFill>
                    <a:srgbClr val="000099"/>
                  </a:solidFill>
                  <a:ea typeface="宋体" panose="02010600030101010101" pitchFamily="2" charset="-122"/>
                </a:endParaRPr>
              </a:p>
            </p:txBody>
          </p:sp>
          <p:sp>
            <p:nvSpPr>
              <p:cNvPr id="2444295" name="Rectangle 17"/>
              <p:cNvSpPr>
                <a:spLocks noChangeArrowheads="1"/>
              </p:cNvSpPr>
              <p:nvPr/>
            </p:nvSpPr>
            <p:spPr bwMode="auto">
              <a:xfrm>
                <a:off x="2551113" y="3501008"/>
                <a:ext cx="865187" cy="360362"/>
              </a:xfrm>
              <a:prstGeom prst="rect">
                <a:avLst/>
              </a:prstGeom>
              <a:solidFill>
                <a:srgbClr val="FFFF66"/>
              </a:solidFill>
              <a:ln w="9525">
                <a:solidFill>
                  <a:schemeClr val="tx1"/>
                </a:solidFill>
                <a:miter lim="800000"/>
                <a:headEnd/>
                <a:tailEnd/>
              </a:ln>
              <a:effectLst>
                <a:outerShdw dist="35560" dir="2700000" algn="tl"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帧控制</a:t>
                </a:r>
              </a:p>
            </p:txBody>
          </p:sp>
          <p:sp>
            <p:nvSpPr>
              <p:cNvPr id="2444296" name="Rectangle 18"/>
              <p:cNvSpPr>
                <a:spLocks noChangeArrowheads="1"/>
              </p:cNvSpPr>
              <p:nvPr/>
            </p:nvSpPr>
            <p:spPr bwMode="auto">
              <a:xfrm>
                <a:off x="3416300" y="3501008"/>
                <a:ext cx="865188"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持续期</a:t>
                </a:r>
              </a:p>
            </p:txBody>
          </p:sp>
          <p:sp>
            <p:nvSpPr>
              <p:cNvPr id="2444297" name="Rectangle 19"/>
              <p:cNvSpPr>
                <a:spLocks noChangeArrowheads="1"/>
              </p:cNvSpPr>
              <p:nvPr/>
            </p:nvSpPr>
            <p:spPr bwMode="auto">
              <a:xfrm>
                <a:off x="4281488" y="3501008"/>
                <a:ext cx="865187"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接收地址</a:t>
                </a:r>
                <a:endParaRPr lang="en-US" altLang="zh-CN" b="1">
                  <a:solidFill>
                    <a:srgbClr val="000099"/>
                  </a:solidFill>
                  <a:ea typeface="宋体" panose="02010600030101010101" pitchFamily="2" charset="-122"/>
                </a:endParaRPr>
              </a:p>
            </p:txBody>
          </p:sp>
          <p:sp>
            <p:nvSpPr>
              <p:cNvPr id="2444298" name="Rectangle 20"/>
              <p:cNvSpPr>
                <a:spLocks noChangeArrowheads="1"/>
              </p:cNvSpPr>
              <p:nvPr/>
            </p:nvSpPr>
            <p:spPr bwMode="auto">
              <a:xfrm>
                <a:off x="5146675" y="3501008"/>
                <a:ext cx="865188"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发送地址</a:t>
                </a:r>
                <a:endParaRPr lang="en-US" altLang="zh-CN" b="1">
                  <a:solidFill>
                    <a:srgbClr val="000099"/>
                  </a:solidFill>
                  <a:ea typeface="宋体" panose="02010600030101010101" pitchFamily="2" charset="-122"/>
                </a:endParaRPr>
              </a:p>
            </p:txBody>
          </p:sp>
          <p:sp>
            <p:nvSpPr>
              <p:cNvPr id="2444299" name="Rectangle 21"/>
              <p:cNvSpPr>
                <a:spLocks noChangeArrowheads="1"/>
              </p:cNvSpPr>
              <p:nvPr/>
            </p:nvSpPr>
            <p:spPr bwMode="auto">
              <a:xfrm>
                <a:off x="6011863" y="3501008"/>
                <a:ext cx="865187" cy="360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宋体" panose="02010600030101010101" pitchFamily="2" charset="-122"/>
                  </a:rPr>
                  <a:t>FCS</a:t>
                </a:r>
              </a:p>
            </p:txBody>
          </p:sp>
          <p:sp>
            <p:nvSpPr>
              <p:cNvPr id="2444300" name="Text Box 14"/>
              <p:cNvSpPr txBox="1">
                <a:spLocks noChangeArrowheads="1"/>
              </p:cNvSpPr>
              <p:nvPr/>
            </p:nvSpPr>
            <p:spPr bwMode="auto">
              <a:xfrm>
                <a:off x="2095672" y="3278876"/>
                <a:ext cx="4781378" cy="258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rgbClr val="000099"/>
                    </a:solidFill>
                    <a:ea typeface="宋体" panose="02010600030101010101" pitchFamily="2" charset="-122"/>
                  </a:rPr>
                  <a:t>字节             </a:t>
                </a:r>
                <a:r>
                  <a:rPr lang="en-US" altLang="zh-CN" b="1">
                    <a:solidFill>
                      <a:srgbClr val="000099"/>
                    </a:solidFill>
                    <a:ea typeface="宋体" panose="02010600030101010101" pitchFamily="2" charset="-122"/>
                  </a:rPr>
                  <a:t>2                  2                    6                  6                    4</a:t>
                </a:r>
              </a:p>
            </p:txBody>
          </p:sp>
        </p:grpSp>
      </p:grpSp>
      <p:grpSp>
        <p:nvGrpSpPr>
          <p:cNvPr id="2444301" name="组合 5"/>
          <p:cNvGrpSpPr>
            <a:grpSpLocks/>
          </p:cNvGrpSpPr>
          <p:nvPr/>
        </p:nvGrpSpPr>
        <p:grpSpPr bwMode="auto">
          <a:xfrm>
            <a:off x="1204913" y="4213225"/>
            <a:ext cx="8285162" cy="1592263"/>
            <a:chOff x="1204183" y="4212509"/>
            <a:chExt cx="8285321" cy="1407509"/>
          </a:xfrm>
        </p:grpSpPr>
        <p:sp>
          <p:nvSpPr>
            <p:cNvPr id="2444302" name="Rectangle 56"/>
            <p:cNvSpPr>
              <a:spLocks noChangeArrowheads="1"/>
            </p:cNvSpPr>
            <p:nvPr/>
          </p:nvSpPr>
          <p:spPr bwMode="auto">
            <a:xfrm>
              <a:off x="1905305" y="4587443"/>
              <a:ext cx="1328441" cy="43307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800" b="1">
                <a:solidFill>
                  <a:srgbClr val="000099"/>
                </a:solidFill>
                <a:ea typeface="宋体" panose="02010600030101010101" pitchFamily="2" charset="-122"/>
              </a:endParaRPr>
            </a:p>
          </p:txBody>
        </p:sp>
        <p:sp>
          <p:nvSpPr>
            <p:cNvPr id="2444303" name="Rectangle 17"/>
            <p:cNvSpPr>
              <a:spLocks noChangeArrowheads="1"/>
            </p:cNvSpPr>
            <p:nvPr/>
          </p:nvSpPr>
          <p:spPr bwMode="auto">
            <a:xfrm>
              <a:off x="1900385" y="4575413"/>
              <a:ext cx="1340741" cy="455135"/>
            </a:xfrm>
            <a:prstGeom prst="rect">
              <a:avLst/>
            </a:prstGeom>
            <a:solidFill>
              <a:srgbClr val="FFFF66"/>
            </a:solidFill>
            <a:ln w="9525">
              <a:solidFill>
                <a:schemeClr val="tx1"/>
              </a:solidFill>
              <a:miter lim="800000"/>
              <a:headEnd/>
              <a:tailEnd/>
            </a:ln>
            <a:effectLst>
              <a:outerShdw dist="35560" dir="2700000" algn="tl"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帧控制</a:t>
              </a:r>
            </a:p>
          </p:txBody>
        </p:sp>
        <p:sp>
          <p:nvSpPr>
            <p:cNvPr id="2444304" name="Rectangle 18"/>
            <p:cNvSpPr>
              <a:spLocks noChangeArrowheads="1"/>
            </p:cNvSpPr>
            <p:nvPr/>
          </p:nvSpPr>
          <p:spPr bwMode="auto">
            <a:xfrm>
              <a:off x="3241126" y="4575413"/>
              <a:ext cx="1340742"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持续期</a:t>
              </a:r>
            </a:p>
          </p:txBody>
        </p:sp>
        <p:sp>
          <p:nvSpPr>
            <p:cNvPr id="2444305" name="Rectangle 19"/>
            <p:cNvSpPr>
              <a:spLocks noChangeArrowheads="1"/>
            </p:cNvSpPr>
            <p:nvPr/>
          </p:nvSpPr>
          <p:spPr bwMode="auto">
            <a:xfrm>
              <a:off x="4581868" y="4575413"/>
              <a:ext cx="1340741"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b="1">
                  <a:solidFill>
                    <a:srgbClr val="000099"/>
                  </a:solidFill>
                  <a:ea typeface="宋体" panose="02010600030101010101" pitchFamily="2" charset="-122"/>
                </a:rPr>
                <a:t>接收地址</a:t>
              </a:r>
              <a:endParaRPr lang="en-US" altLang="zh-CN" b="1">
                <a:solidFill>
                  <a:srgbClr val="000099"/>
                </a:solidFill>
                <a:ea typeface="宋体" panose="02010600030101010101" pitchFamily="2" charset="-122"/>
              </a:endParaRPr>
            </a:p>
          </p:txBody>
        </p:sp>
        <p:sp>
          <p:nvSpPr>
            <p:cNvPr id="2444306" name="Rectangle 21"/>
            <p:cNvSpPr>
              <a:spLocks noChangeArrowheads="1"/>
            </p:cNvSpPr>
            <p:nvPr/>
          </p:nvSpPr>
          <p:spPr bwMode="auto">
            <a:xfrm>
              <a:off x="5888168" y="4575413"/>
              <a:ext cx="1340742" cy="45513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宋体" panose="02010600030101010101" pitchFamily="2" charset="-122"/>
                </a:rPr>
                <a:t>FCS</a:t>
              </a:r>
            </a:p>
          </p:txBody>
        </p:sp>
        <p:sp>
          <p:nvSpPr>
            <p:cNvPr id="2444307" name="Text Box 14"/>
            <p:cNvSpPr txBox="1">
              <a:spLocks noChangeArrowheads="1"/>
            </p:cNvSpPr>
            <p:nvPr/>
          </p:nvSpPr>
          <p:spPr bwMode="auto">
            <a:xfrm>
              <a:off x="1204183" y="4212509"/>
              <a:ext cx="55226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宋体" panose="02010600030101010101" pitchFamily="2" charset="-122"/>
                </a:rPr>
                <a:t>字节            </a:t>
              </a:r>
              <a:r>
                <a:rPr lang="en-US" altLang="zh-CN" b="1">
                  <a:solidFill>
                    <a:srgbClr val="000099"/>
                  </a:solidFill>
                  <a:ea typeface="宋体" panose="02010600030101010101" pitchFamily="2" charset="-122"/>
                </a:rPr>
                <a:t>2                  2                     6                 4</a:t>
              </a:r>
            </a:p>
          </p:txBody>
        </p:sp>
        <p:sp>
          <p:nvSpPr>
            <p:cNvPr id="2444308" name="Text Box 58"/>
            <p:cNvSpPr txBox="1">
              <a:spLocks noChangeArrowheads="1"/>
            </p:cNvSpPr>
            <p:nvPr/>
          </p:nvSpPr>
          <p:spPr bwMode="auto">
            <a:xfrm>
              <a:off x="1905304" y="5219908"/>
              <a:ext cx="7584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ea typeface="宋体" panose="02010600030101010101" pitchFamily="2" charset="-122"/>
                </a:rPr>
                <a:t>CTS </a:t>
              </a:r>
              <a:r>
                <a:rPr lang="zh-CN" altLang="en-US" sz="2000" b="1">
                  <a:ea typeface="宋体" panose="02010600030101010101" pitchFamily="2" charset="-122"/>
                </a:rPr>
                <a:t>和 </a:t>
              </a:r>
              <a:r>
                <a:rPr lang="en-US" altLang="zh-CN" sz="2000" b="1">
                  <a:ea typeface="宋体" panose="02010600030101010101" pitchFamily="2" charset="-122"/>
                </a:rPr>
                <a:t>ACK </a:t>
              </a:r>
              <a:r>
                <a:rPr lang="zh-CN" altLang="en-US" sz="2000" b="1">
                  <a:ea typeface="宋体" panose="02010600030101010101" pitchFamily="2" charset="-122"/>
                </a:rPr>
                <a:t>帧格式（帧控制字段中的子类型分别为</a:t>
              </a:r>
              <a:r>
                <a:rPr lang="en-US" altLang="zh-CN" sz="2000" b="1">
                  <a:ea typeface="宋体" panose="02010600030101010101" pitchFamily="2" charset="-122"/>
                </a:rPr>
                <a:t>1100</a:t>
              </a:r>
              <a:r>
                <a:rPr lang="zh-CN" altLang="en-US" sz="2000" b="1">
                  <a:ea typeface="宋体" panose="02010600030101010101" pitchFamily="2" charset="-122"/>
                </a:rPr>
                <a:t>和</a:t>
              </a:r>
              <a:r>
                <a:rPr lang="en-US" altLang="zh-CN" sz="2000" b="1">
                  <a:ea typeface="宋体" panose="02010600030101010101" pitchFamily="2" charset="-122"/>
                </a:rPr>
                <a:t>1101</a:t>
              </a:r>
              <a:r>
                <a:rPr lang="zh-CN" altLang="en-US" sz="2000" b="1">
                  <a:ea typeface="宋体" panose="02010600030101010101" pitchFamily="2" charset="-122"/>
                </a:rPr>
                <a:t>）</a:t>
              </a:r>
            </a:p>
          </p:txBody>
        </p:sp>
      </p:grpSp>
      <p:sp>
        <p:nvSpPr>
          <p:cNvPr id="2444309"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365709-6E34-4096-B5B4-A5CBBC9D244D}" type="slidenum">
              <a:rPr lang="zh-CN" altLang="en-US" smtClean="0"/>
              <a:pPr eaLnBrk="1" hangingPunct="1"/>
              <a:t>59</a:t>
            </a:fld>
            <a:endParaRPr lang="en-US" altLang="zh-CN" smtClean="0"/>
          </a:p>
        </p:txBody>
      </p:sp>
      <p:sp>
        <p:nvSpPr>
          <p:cNvPr id="2444310"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697150182"/>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737</TotalTime>
  <Words>4901</Words>
  <Application>Microsoft Office PowerPoint</Application>
  <PresentationFormat>A4 纸张(210x297 毫米)</PresentationFormat>
  <Paragraphs>858</Paragraphs>
  <Slides>59</Slides>
  <Notes>28</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67" baseType="lpstr">
      <vt:lpstr>黑体</vt:lpstr>
      <vt:lpstr>宋体</vt:lpstr>
      <vt:lpstr>Arial</vt:lpstr>
      <vt:lpstr>Symbol</vt:lpstr>
      <vt:lpstr>Times New Roman</vt:lpstr>
      <vt:lpstr>Wingdings</vt:lpstr>
      <vt:lpstr>Presentation</vt:lpstr>
      <vt:lpstr>Microsoft Visio 2000/2002 Drawing</vt:lpstr>
      <vt:lpstr>第 9 章   无线网络和移动网络</vt:lpstr>
      <vt:lpstr>第 9 章  无线网络和移动网络</vt:lpstr>
      <vt:lpstr>9.1  无线局域网 WLAN</vt:lpstr>
      <vt:lpstr>9.1.1  无线局域网的组成</vt:lpstr>
      <vt:lpstr>1. IEEE 802.11</vt:lpstr>
      <vt:lpstr>1. IEEE 802.11</vt:lpstr>
      <vt:lpstr>PowerPoint 演示文稿</vt:lpstr>
      <vt:lpstr>PowerPoint 演示文稿</vt:lpstr>
      <vt:lpstr>PowerPoint 演示文稿</vt:lpstr>
      <vt:lpstr>PowerPoint 演示文稿</vt:lpstr>
      <vt:lpstr>PowerPoint 演示文稿</vt:lpstr>
      <vt:lpstr>建立关联(association)</vt:lpstr>
      <vt:lpstr>移动站与 AP 建立关联的方法</vt:lpstr>
      <vt:lpstr>热点 (hot spot)</vt:lpstr>
      <vt:lpstr>2. 移动自组网络</vt:lpstr>
      <vt:lpstr>2. 移动自组网络</vt:lpstr>
      <vt:lpstr>移动自组网络的应用前景 </vt:lpstr>
      <vt:lpstr>无线传感器网络 WSN</vt:lpstr>
      <vt:lpstr>传感器结点的形状和组成</vt:lpstr>
      <vt:lpstr>无线传感器网络主要的应用领域 </vt:lpstr>
      <vt:lpstr>移动自组网络不同于移动 IP</vt:lpstr>
      <vt:lpstr>几种不同的接入</vt:lpstr>
      <vt:lpstr>9.1.2   802.11 局域网的物理层</vt:lpstr>
      <vt:lpstr>几种常用的 802.11 无线局域网 </vt:lpstr>
      <vt:lpstr>9.1.3  802.11 局域网的 MAC 层协议</vt:lpstr>
      <vt:lpstr>无线局域网的特殊问题 </vt:lpstr>
      <vt:lpstr>无线局域网的特殊问题 </vt:lpstr>
      <vt:lpstr>CSMA/CA 协议 </vt:lpstr>
      <vt:lpstr>802.11 的 MAC 层 </vt:lpstr>
      <vt:lpstr>802.11 的 MAC 层 </vt:lpstr>
      <vt:lpstr>802.11 的 MAC 层 </vt:lpstr>
      <vt:lpstr>帧间间隔 IFS </vt:lpstr>
      <vt:lpstr>两种常用种帧间间隔 </vt:lpstr>
      <vt:lpstr>两种常用帧间间隔 </vt:lpstr>
      <vt:lpstr>CSMA/CA 协议的原理 </vt:lpstr>
      <vt:lpstr>为什么信道空闲还要再等待 </vt:lpstr>
      <vt:lpstr>假定没有高优先级帧要发送 </vt:lpstr>
      <vt:lpstr>虚拟载波监听 </vt:lpstr>
      <vt:lpstr>虚拟载波监听的效果 </vt:lpstr>
      <vt:lpstr>网络分配向量 </vt:lpstr>
      <vt:lpstr>争用窗口 </vt:lpstr>
      <vt:lpstr>802.11 的退避机制</vt:lpstr>
      <vt:lpstr>二进制指数退避算法 </vt:lpstr>
      <vt:lpstr>退避计时器 (backoff timer)</vt:lpstr>
      <vt:lpstr>退避算法的使用情况 </vt:lpstr>
      <vt:lpstr>CSMA/CA 算法归纳</vt:lpstr>
      <vt:lpstr>2. 对信道进行预约 </vt:lpstr>
      <vt:lpstr>2. 对信道进行预约 </vt:lpstr>
      <vt:lpstr>2. 对信道进行预约 </vt:lpstr>
      <vt:lpstr>CSMA/CA 协议的基本流程图</vt:lpstr>
      <vt:lpstr>9.1.4  802.11 局域网的 MAC 帧</vt:lpstr>
      <vt:lpstr>持续期和帧控制字段 </vt:lpstr>
      <vt:lpstr>802.11 数据帧的三大部分 </vt:lpstr>
      <vt:lpstr>1. 关于 802.11 数据帧的地址</vt:lpstr>
      <vt:lpstr>PowerPoint 演示文稿</vt:lpstr>
      <vt:lpstr>1. 关于 802.11 数据帧的地址</vt:lpstr>
      <vt:lpstr>序号控制</vt:lpstr>
      <vt:lpstr>分片的发送举例 </vt:lpstr>
      <vt:lpstr>9.1.4  802.11 局域网的 MAC 帧</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97</cp:revision>
  <dcterms:created xsi:type="dcterms:W3CDTF">2016-10-01T05:27:00Z</dcterms:created>
  <dcterms:modified xsi:type="dcterms:W3CDTF">2023-05-23T01:53:01Z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
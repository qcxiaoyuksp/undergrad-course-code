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426" r:id="rId2"/>
    <p:sldId id="431" r:id="rId3"/>
    <p:sldId id="432" r:id="rId4"/>
    <p:sldId id="433" r:id="rId5"/>
  </p:sldIdLst>
  <p:sldSz cx="9906000" cy="6858000" type="A4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CC"/>
    <a:srgbClr val="0000FF"/>
    <a:srgbClr val="FFFF66"/>
    <a:srgbClr val="66FF66"/>
    <a:srgbClr val="000099"/>
    <a:srgbClr val="00FF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98" autoAdjust="0"/>
    <p:restoredTop sz="93175" autoAdjust="0"/>
  </p:normalViewPr>
  <p:slideViewPr>
    <p:cSldViewPr>
      <p:cViewPr varScale="1">
        <p:scale>
          <a:sx n="73" d="100"/>
          <a:sy n="73" d="100"/>
        </p:scale>
        <p:origin x="1002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247E18CD-0C18-4915-AB38-46FC6350B9A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en-US" altLang="zh-CN" smtClean="0"/>
              <a:t>5656</a:t>
            </a:r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A143603D-CCA6-45D5-A59D-3B4CD9332246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02EEDA8-5EF7-4A6F-9A69-0FC8242B0BD6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588622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 descr="Gold bar"/>
          <p:cNvSpPr>
            <a:spLocks noChangeArrowheads="1"/>
          </p:cNvSpPr>
          <p:nvPr/>
        </p:nvSpPr>
        <p:spPr bwMode="auto">
          <a:xfrm>
            <a:off x="247650" y="2889250"/>
            <a:ext cx="3109913" cy="2016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Rectangle 9" descr="Orange bar"/>
          <p:cNvSpPr>
            <a:spLocks noChangeArrowheads="1"/>
          </p:cNvSpPr>
          <p:nvPr/>
        </p:nvSpPr>
        <p:spPr bwMode="auto">
          <a:xfrm>
            <a:off x="3357563" y="2889250"/>
            <a:ext cx="3108325" cy="2016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" name="Rectangle 10" descr="Slate bar"/>
          <p:cNvSpPr>
            <a:spLocks noChangeArrowheads="1"/>
          </p:cNvSpPr>
          <p:nvPr/>
        </p:nvSpPr>
        <p:spPr bwMode="auto">
          <a:xfrm>
            <a:off x="6465888" y="2889250"/>
            <a:ext cx="3109912" cy="201613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solidFill>
                <a:srgbClr val="333399"/>
              </a:solidFill>
              <a:ea typeface="宋体" panose="02010600030101010101" pitchFamily="2" charset="-122"/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685800"/>
            <a:ext cx="8420100" cy="2127250"/>
          </a:xfrm>
        </p:spPr>
        <p:txBody>
          <a:bodyPr/>
          <a:lstStyle>
            <a:lvl1pPr algn="ctr">
              <a:defRPr sz="5400" b="1">
                <a:solidFill>
                  <a:srgbClr val="333399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en-US" altLang="zh-CN" noProof="0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3270250"/>
            <a:ext cx="6934200" cy="22098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  <a:endParaRPr lang="en-US" altLang="zh-CN" noProof="0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D2C440-9E6A-4430-8BAD-CF78432C284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9173260"/>
      </p:ext>
    </p:extLst>
  </p:cSld>
  <p:clrMapOvr>
    <a:masterClrMapping/>
  </p:clrMapOvr>
  <p:hf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4934173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32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24A7B3-BB3D-430C-9416-57B4A4106B8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3474879"/>
      </p:ext>
    </p:extLst>
  </p:cSld>
  <p:clrMapOvr>
    <a:masterClrMapping/>
  </p:clrMapOvr>
  <p:hf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1B3705-864E-4D65-9C72-61CB65F1C9F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7824084"/>
      </p:ext>
    </p:extLst>
  </p:cSld>
  <p:clrMapOvr>
    <a:masterClrMapping/>
  </p:clrMapOvr>
  <p:hf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5D87F-0A7A-4AA9-BC3A-2693AF5276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9220879"/>
      </p:ext>
    </p:extLst>
  </p:cSld>
  <p:clrMapOvr>
    <a:masterClrMapping/>
  </p:clrMapOvr>
  <p:hf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2B1608-A69B-485F-95FB-95438C61343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9984336"/>
      </p:ext>
    </p:extLst>
  </p:cSld>
  <p:clrMapOvr>
    <a:masterClrMapping/>
  </p:clrMapOvr>
  <p:hf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90662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B6D876-83A9-45DC-A9A8-45B00DF3B1A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0569552"/>
      </p:ext>
    </p:extLst>
  </p:cSld>
  <p:clrMapOvr>
    <a:masterClrMapping/>
  </p:clrMapOvr>
  <p:hf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661C98-5699-4428-B37E-AF7B2204936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3861348"/>
      </p:ext>
    </p:extLst>
  </p:cSld>
  <p:clrMapOvr>
    <a:masterClrMapping/>
  </p:clrMapOvr>
  <p:hf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377DAC-F69D-47B1-9C81-D9ECC8A8400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2894119"/>
      </p:ext>
    </p:extLst>
  </p:cSld>
  <p:clrMapOvr>
    <a:masterClrMapping/>
  </p:clrMapOvr>
  <p:hf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3CC55C-0818-484B-95B1-0D6AEF3A512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8653774"/>
      </p:ext>
    </p:extLst>
  </p:cSld>
  <p:clrMapOvr>
    <a:masterClrMapping/>
  </p:clrMapOvr>
  <p:hf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noProof="1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ABBE44-C760-482C-BBF4-1AD90914546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6825503"/>
      </p:ext>
    </p:extLst>
  </p:cSld>
  <p:clrMapOvr>
    <a:masterClrMapping/>
  </p:clrMapOvr>
  <p:hf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AE9711-D2FE-4E38-90AE-D1E297BAFE8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3581823"/>
      </p:ext>
    </p:extLst>
  </p:cSld>
  <p:clrMapOvr>
    <a:masterClrMapping/>
  </p:clrMapOvr>
  <p:hf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B43DEA-F75B-4EB0-9B6A-B5DA8DF755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245461"/>
      </p:ext>
    </p:extLst>
  </p:cSld>
  <p:clrMapOvr>
    <a:masterClrMapping/>
  </p:clrMapOvr>
  <p:hf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81D9F3F7-388B-412F-8C50-0C2AA03CD55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7343236"/>
      </p:ext>
    </p:extLst>
  </p:cSld>
  <p:clrMapOvr>
    <a:masterClrMapping/>
  </p:clrMapOvr>
  <p:hf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 hasCustomPrompt="1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r>
              <a:rPr lang="zh-CN" altLang="en-US" noProof="1"/>
              <a:t>单击图标添加剪 贴画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1662586B-82D2-4BB4-820A-EB888FEA84B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4524900"/>
      </p:ext>
    </p:extLst>
  </p:cSld>
  <p:clrMapOvr>
    <a:masterClrMapping/>
  </p:clrMapOvr>
  <p:hf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95300" y="188913"/>
            <a:ext cx="90662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95300" y="1196975"/>
            <a:ext cx="9066213" cy="493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zh-CN" altLang="en-US" smtClean="0"/>
              <a:t>第二级</a:t>
            </a:r>
            <a:endParaRPr lang="en-US" altLang="zh-CN" smtClean="0"/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 noProof="1" dirty="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356350"/>
            <a:ext cx="313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fld id="{64D427D7-2ECD-47CB-B1DF-7A19DDD78A9B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31" name="Rectangle 7" descr="Gold bar"/>
          <p:cNvSpPr>
            <a:spLocks noChangeArrowheads="1"/>
          </p:cNvSpPr>
          <p:nvPr/>
        </p:nvSpPr>
        <p:spPr bwMode="auto">
          <a:xfrm>
            <a:off x="0" y="0"/>
            <a:ext cx="247650" cy="2286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2" name="Rectangle 9" descr="Orange bar"/>
          <p:cNvSpPr>
            <a:spLocks noChangeArrowheads="1"/>
          </p:cNvSpPr>
          <p:nvPr/>
        </p:nvSpPr>
        <p:spPr bwMode="auto">
          <a:xfrm>
            <a:off x="0" y="2286000"/>
            <a:ext cx="24765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3" name="Rectangle 10" descr="Slate bar"/>
          <p:cNvSpPr>
            <a:spLocks noChangeArrowheads="1"/>
          </p:cNvSpPr>
          <p:nvPr/>
        </p:nvSpPr>
        <p:spPr bwMode="auto">
          <a:xfrm>
            <a:off x="0" y="4572000"/>
            <a:ext cx="247650" cy="22860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34" name="Picture 2" descr="computer networking 的图像结果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900" y="188913"/>
            <a:ext cx="112395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5" name="AutoShape 5" descr="https://publicrelationssydney.com.au/wp-content/uploads/2013/01/shutterstock_80434384.jpg"/>
          <p:cNvSpPr>
            <a:spLocks noChangeAspect="1" noChangeArrowheads="1"/>
          </p:cNvSpPr>
          <p:nvPr userDrawn="1"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69" r:id="rId3"/>
    <p:sldLayoutId id="2147483672" r:id="rId4"/>
    <p:sldLayoutId id="2147483673" r:id="rId5"/>
    <p:sldLayoutId id="2147483674" r:id="rId6"/>
    <p:sldLayoutId id="2147483675" r:id="rId7"/>
    <p:sldLayoutId id="2147483668" r:id="rId8"/>
    <p:sldLayoutId id="2147483667" r:id="rId9"/>
    <p:sldLayoutId id="2147483666" r:id="rId10"/>
    <p:sldLayoutId id="2147483665" r:id="rId11"/>
    <p:sldLayoutId id="2147483664" r:id="rId12"/>
    <p:sldLayoutId id="2147483676" r:id="rId13"/>
    <p:sldLayoutId id="2147483677" r:id="rId14"/>
  </p:sldLayoutIdLst>
  <p:hf/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anose="02010609060101010101" pitchFamily="2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333399"/>
        </a:buClr>
        <a:buSzPct val="75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黑体" panose="02010609060101010101" pitchFamily="2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黑体" panose="02010609060101010101" pitchFamily="2" charset="-122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黑体" panose="02010609060101010101" pitchFamily="2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第四章 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4.5.1-4.5.3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课后作业</a:t>
            </a:r>
            <a:endParaRPr lang="zh-CN" altLang="en-US" dirty="0" smtClean="0">
              <a:latin typeface="黑体" panose="02010609060101010101" pitchFamily="49" charset="-122"/>
              <a:ea typeface="宋体" panose="02010600030101010101" pitchFamily="2" charset="-122"/>
            </a:endParaRPr>
          </a:p>
        </p:txBody>
      </p:sp>
      <p:sp>
        <p:nvSpPr>
          <p:cNvPr id="1331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A188BD7-4C42-4ADA-B884-2730F48AB4ED}" type="slidenum">
              <a:rPr lang="zh-CN" altLang="en-US" smtClean="0"/>
              <a:pPr eaLnBrk="1" hangingPunct="1"/>
              <a:t>1</a:t>
            </a:fld>
            <a:endParaRPr lang="en-US" altLang="zh-CN" smtClean="0"/>
          </a:p>
        </p:txBody>
      </p:sp>
      <p:sp>
        <p:nvSpPr>
          <p:cNvPr id="1331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3024695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请写到作业本上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814"/>
            <a:ext cx="9066212" cy="5256500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zh-CN" sz="2400" dirty="0" smtClean="0"/>
              <a:t>1</a:t>
            </a:r>
            <a:r>
              <a:rPr lang="zh-CN" altLang="en-US" sz="2400" dirty="0"/>
              <a:t>、假定网络中的路由器</a:t>
            </a:r>
            <a:r>
              <a:rPr lang="en-US" altLang="zh-CN" sz="2400" dirty="0"/>
              <a:t>B</a:t>
            </a:r>
            <a:r>
              <a:rPr lang="zh-CN" altLang="en-US" sz="2400" dirty="0"/>
              <a:t>的路由表有如下的</a:t>
            </a:r>
            <a:r>
              <a:rPr lang="zh-CN" altLang="en-US" sz="2400" dirty="0" smtClean="0"/>
              <a:t>项目（左表）（</a:t>
            </a:r>
            <a:r>
              <a:rPr lang="zh-CN" altLang="en-US" sz="2400" dirty="0"/>
              <a:t>这三列分别表示“目的网络”、“距离”和“下一跳”路由器</a:t>
            </a:r>
            <a:r>
              <a:rPr lang="zh-CN" altLang="en-US" sz="2400" dirty="0" smtClean="0"/>
              <a:t>）</a:t>
            </a:r>
            <a:endParaRPr lang="en-US" altLang="zh-CN" sz="2400" dirty="0" smtClean="0"/>
          </a:p>
          <a:p>
            <a:pPr marL="0" indent="0" algn="just">
              <a:buNone/>
            </a:pPr>
            <a:endParaRPr lang="en-US" altLang="zh-CN" sz="2400" dirty="0"/>
          </a:p>
          <a:p>
            <a:pPr marL="0" indent="0" algn="just">
              <a:buNone/>
            </a:pPr>
            <a:endParaRPr lang="en-US" altLang="zh-CN" sz="2400" dirty="0" smtClean="0"/>
          </a:p>
          <a:p>
            <a:pPr marL="0" indent="0" algn="just">
              <a:buNone/>
            </a:pPr>
            <a:endParaRPr lang="en-US" altLang="zh-CN" sz="2400" dirty="0"/>
          </a:p>
          <a:p>
            <a:pPr marL="0" indent="0" algn="just">
              <a:buNone/>
            </a:pPr>
            <a:endParaRPr lang="en-US" altLang="zh-CN" sz="2400" dirty="0" smtClean="0"/>
          </a:p>
          <a:p>
            <a:pPr marL="0" indent="0" algn="just">
              <a:buNone/>
            </a:pPr>
            <a:r>
              <a:rPr lang="zh-CN" altLang="en-US" sz="2400" dirty="0" smtClean="0"/>
              <a:t>现在</a:t>
            </a:r>
            <a:r>
              <a:rPr lang="en-US" altLang="zh-CN" sz="2400" dirty="0"/>
              <a:t>B</a:t>
            </a:r>
            <a:r>
              <a:rPr lang="zh-CN" altLang="en-US" sz="2400" dirty="0"/>
              <a:t>收到从</a:t>
            </a:r>
            <a:r>
              <a:rPr lang="en-US" altLang="zh-CN" sz="2400" dirty="0"/>
              <a:t>C</a:t>
            </a:r>
            <a:r>
              <a:rPr lang="zh-CN" altLang="en-US" sz="2400" dirty="0"/>
              <a:t>发来的路由</a:t>
            </a:r>
            <a:r>
              <a:rPr lang="zh-CN" altLang="en-US" sz="2400" dirty="0" smtClean="0"/>
              <a:t>信息（右表）（</a:t>
            </a:r>
            <a:r>
              <a:rPr lang="zh-CN" altLang="en-US" sz="2400" dirty="0"/>
              <a:t>这两列分别表示“目的网络”和“距离”</a:t>
            </a:r>
            <a:r>
              <a:rPr lang="zh-CN" altLang="en-US" sz="2400" dirty="0" smtClean="0"/>
              <a:t>）。试</a:t>
            </a:r>
            <a:r>
              <a:rPr lang="zh-CN" altLang="en-US" sz="2400" dirty="0"/>
              <a:t>求出路由器</a:t>
            </a:r>
            <a:r>
              <a:rPr lang="en-US" altLang="zh-CN" sz="2400" dirty="0"/>
              <a:t>B</a:t>
            </a:r>
            <a:r>
              <a:rPr lang="zh-CN" altLang="en-US" sz="2400" dirty="0"/>
              <a:t>更新后的路由表（详细说明每一个步骤）。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0217679"/>
              </p:ext>
            </p:extLst>
          </p:nvPr>
        </p:nvGraphicFramePr>
        <p:xfrm>
          <a:off x="1208688" y="2204898"/>
          <a:ext cx="1547289" cy="1371600"/>
        </p:xfrm>
        <a:graphic>
          <a:graphicData uri="http://schemas.openxmlformats.org/drawingml/2006/table">
            <a:tbl>
              <a:tblPr firstRow="1" firstCol="1" bandRow="1"/>
              <a:tblGrid>
                <a:gridCol w="425365">
                  <a:extLst>
                    <a:ext uri="{9D8B030D-6E8A-4147-A177-3AD203B41FA5}">
                      <a16:colId xmlns:a16="http://schemas.microsoft.com/office/drawing/2014/main" val="3924860498"/>
                    </a:ext>
                  </a:extLst>
                </a:gridCol>
                <a:gridCol w="576048">
                  <a:extLst>
                    <a:ext uri="{9D8B030D-6E8A-4147-A177-3AD203B41FA5}">
                      <a16:colId xmlns:a16="http://schemas.microsoft.com/office/drawing/2014/main" val="1503580196"/>
                    </a:ext>
                  </a:extLst>
                </a:gridCol>
                <a:gridCol w="545876">
                  <a:extLst>
                    <a:ext uri="{9D8B030D-6E8A-4147-A177-3AD203B41FA5}">
                      <a16:colId xmlns:a16="http://schemas.microsoft.com/office/drawing/2014/main" val="17998658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N1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7778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N2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2750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N6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F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81365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N8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07586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N9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F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7280742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7044600"/>
              </p:ext>
            </p:extLst>
          </p:nvPr>
        </p:nvGraphicFramePr>
        <p:xfrm>
          <a:off x="5226002" y="2204898"/>
          <a:ext cx="1865484" cy="1371600"/>
        </p:xfrm>
        <a:graphic>
          <a:graphicData uri="http://schemas.openxmlformats.org/drawingml/2006/table">
            <a:tbl>
              <a:tblPr firstRow="1" firstCol="1" bandRow="1"/>
              <a:tblGrid>
                <a:gridCol w="932742">
                  <a:extLst>
                    <a:ext uri="{9D8B030D-6E8A-4147-A177-3AD203B41FA5}">
                      <a16:colId xmlns:a16="http://schemas.microsoft.com/office/drawing/2014/main" val="854273812"/>
                    </a:ext>
                  </a:extLst>
                </a:gridCol>
                <a:gridCol w="932742">
                  <a:extLst>
                    <a:ext uri="{9D8B030D-6E8A-4147-A177-3AD203B41FA5}">
                      <a16:colId xmlns:a16="http://schemas.microsoft.com/office/drawing/2014/main" val="2763298227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N2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4249236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N3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0580321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N6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718042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N8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2452838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N9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81753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3100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请写到作业本上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814"/>
            <a:ext cx="9066212" cy="5256500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zh-CN" sz="2400" dirty="0" smtClean="0"/>
              <a:t>2</a:t>
            </a:r>
            <a:r>
              <a:rPr lang="zh-CN" altLang="en-US" sz="2400" dirty="0" smtClean="0"/>
              <a:t>、</a:t>
            </a:r>
            <a:r>
              <a:rPr lang="zh-CN" altLang="en-US" sz="2400" dirty="0"/>
              <a:t>假定网络中的</a:t>
            </a:r>
            <a:r>
              <a:rPr lang="zh-CN" altLang="en-US" sz="2400" dirty="0" smtClean="0"/>
              <a:t>路由器</a:t>
            </a:r>
            <a:r>
              <a:rPr lang="en-US" altLang="zh-CN" sz="2400" dirty="0" smtClean="0"/>
              <a:t>A</a:t>
            </a:r>
            <a:r>
              <a:rPr lang="zh-CN" altLang="en-US" sz="2400" dirty="0" smtClean="0"/>
              <a:t>的</a:t>
            </a:r>
            <a:r>
              <a:rPr lang="zh-CN" altLang="en-US" sz="2400" dirty="0"/>
              <a:t>路由表有如下的</a:t>
            </a:r>
            <a:r>
              <a:rPr lang="zh-CN" altLang="en-US" sz="2400" dirty="0" smtClean="0"/>
              <a:t>项目（左表）（</a:t>
            </a:r>
            <a:r>
              <a:rPr lang="zh-CN" altLang="en-US" sz="2400" dirty="0"/>
              <a:t>这三列分别表示“目的网络”、“距离”和“下一跳”路由器</a:t>
            </a:r>
            <a:r>
              <a:rPr lang="zh-CN" altLang="en-US" sz="2400" dirty="0" smtClean="0"/>
              <a:t>）</a:t>
            </a:r>
            <a:endParaRPr lang="en-US" altLang="zh-CN" sz="2400" dirty="0" smtClean="0"/>
          </a:p>
          <a:p>
            <a:pPr marL="0" indent="0" algn="just">
              <a:buNone/>
            </a:pPr>
            <a:endParaRPr lang="en-US" altLang="zh-CN" sz="2400" dirty="0"/>
          </a:p>
          <a:p>
            <a:pPr marL="0" indent="0" algn="just">
              <a:buNone/>
            </a:pPr>
            <a:endParaRPr lang="en-US" altLang="zh-CN" sz="2400" dirty="0" smtClean="0"/>
          </a:p>
          <a:p>
            <a:pPr marL="0" indent="0" algn="just">
              <a:buNone/>
            </a:pPr>
            <a:endParaRPr lang="en-US" altLang="zh-CN" sz="2400" dirty="0"/>
          </a:p>
          <a:p>
            <a:pPr marL="0" indent="0" algn="just">
              <a:buNone/>
            </a:pPr>
            <a:endParaRPr lang="en-US" altLang="zh-CN" sz="2400" dirty="0" smtClean="0"/>
          </a:p>
          <a:p>
            <a:pPr marL="0" indent="0" algn="just">
              <a:buNone/>
            </a:pPr>
            <a:r>
              <a:rPr lang="zh-CN" altLang="en-US" sz="2400" dirty="0" smtClean="0"/>
              <a:t>现在</a:t>
            </a:r>
            <a:r>
              <a:rPr lang="en-US" altLang="zh-CN" sz="2400" dirty="0" smtClean="0"/>
              <a:t>A</a:t>
            </a:r>
            <a:r>
              <a:rPr lang="zh-CN" altLang="en-US" sz="2400" dirty="0" smtClean="0"/>
              <a:t>收到</a:t>
            </a:r>
            <a:r>
              <a:rPr lang="zh-CN" altLang="en-US" sz="2400" dirty="0"/>
              <a:t>从</a:t>
            </a:r>
            <a:r>
              <a:rPr lang="en-US" altLang="zh-CN" sz="2400" dirty="0"/>
              <a:t>C</a:t>
            </a:r>
            <a:r>
              <a:rPr lang="zh-CN" altLang="en-US" sz="2400" dirty="0"/>
              <a:t>发来的路由</a:t>
            </a:r>
            <a:r>
              <a:rPr lang="zh-CN" altLang="en-US" sz="2400" dirty="0" smtClean="0"/>
              <a:t>信息（右表）（</a:t>
            </a:r>
            <a:r>
              <a:rPr lang="zh-CN" altLang="en-US" sz="2400" dirty="0"/>
              <a:t>这两列分别表示“目的网络”和“距离”</a:t>
            </a:r>
            <a:r>
              <a:rPr lang="zh-CN" altLang="en-US" sz="2400" dirty="0" smtClean="0"/>
              <a:t>）。试</a:t>
            </a:r>
            <a:r>
              <a:rPr lang="zh-CN" altLang="en-US" sz="2400" dirty="0"/>
              <a:t>求出路由器</a:t>
            </a:r>
            <a:r>
              <a:rPr lang="en-US" altLang="zh-CN" sz="2400" dirty="0"/>
              <a:t>B</a:t>
            </a:r>
            <a:r>
              <a:rPr lang="zh-CN" altLang="en-US" sz="2400" dirty="0"/>
              <a:t>更新后的路由表（详细说明每一个步骤）。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697831"/>
              </p:ext>
            </p:extLst>
          </p:nvPr>
        </p:nvGraphicFramePr>
        <p:xfrm>
          <a:off x="1208688" y="2204898"/>
          <a:ext cx="1547289" cy="1097280"/>
        </p:xfrm>
        <a:graphic>
          <a:graphicData uri="http://schemas.openxmlformats.org/drawingml/2006/table">
            <a:tbl>
              <a:tblPr firstRow="1" firstCol="1" bandRow="1"/>
              <a:tblGrid>
                <a:gridCol w="425365">
                  <a:extLst>
                    <a:ext uri="{9D8B030D-6E8A-4147-A177-3AD203B41FA5}">
                      <a16:colId xmlns:a16="http://schemas.microsoft.com/office/drawing/2014/main" val="3924860498"/>
                    </a:ext>
                  </a:extLst>
                </a:gridCol>
                <a:gridCol w="576048">
                  <a:extLst>
                    <a:ext uri="{9D8B030D-6E8A-4147-A177-3AD203B41FA5}">
                      <a16:colId xmlns:a16="http://schemas.microsoft.com/office/drawing/2014/main" val="1503580196"/>
                    </a:ext>
                  </a:extLst>
                </a:gridCol>
                <a:gridCol w="545876">
                  <a:extLst>
                    <a:ext uri="{9D8B030D-6E8A-4147-A177-3AD203B41FA5}">
                      <a16:colId xmlns:a16="http://schemas.microsoft.com/office/drawing/2014/main" val="1799865875"/>
                    </a:ext>
                  </a:extLst>
                </a:gridCol>
              </a:tblGrid>
              <a:tr h="25202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N1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7778916"/>
                  </a:ext>
                </a:extLst>
              </a:tr>
              <a:tr h="25202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N2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2750151"/>
                  </a:ext>
                </a:extLst>
              </a:tr>
              <a:tr h="25202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N3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F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8136539"/>
                  </a:ext>
                </a:extLst>
              </a:tr>
              <a:tr h="25202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N4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G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0758623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32041"/>
              </p:ext>
            </p:extLst>
          </p:nvPr>
        </p:nvGraphicFramePr>
        <p:xfrm>
          <a:off x="5241023" y="2204898"/>
          <a:ext cx="1850462" cy="1097280"/>
        </p:xfrm>
        <a:graphic>
          <a:graphicData uri="http://schemas.openxmlformats.org/drawingml/2006/table">
            <a:tbl>
              <a:tblPr firstRow="1" firstCol="1" bandRow="1"/>
              <a:tblGrid>
                <a:gridCol w="917720">
                  <a:extLst>
                    <a:ext uri="{9D8B030D-6E8A-4147-A177-3AD203B41FA5}">
                      <a16:colId xmlns:a16="http://schemas.microsoft.com/office/drawing/2014/main" val="854273812"/>
                    </a:ext>
                  </a:extLst>
                </a:gridCol>
                <a:gridCol w="932742">
                  <a:extLst>
                    <a:ext uri="{9D8B030D-6E8A-4147-A177-3AD203B41FA5}">
                      <a16:colId xmlns:a16="http://schemas.microsoft.com/office/drawing/2014/main" val="2763298227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N1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4249236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N2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0580321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N3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718042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N4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24528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9294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请写到作业本上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3</a:t>
            </a:r>
            <a:r>
              <a:rPr lang="zh-CN" altLang="en-US" dirty="0" smtClean="0"/>
              <a:t>、简述</a:t>
            </a:r>
            <a:r>
              <a:rPr lang="en-US" altLang="zh-CN" dirty="0" smtClean="0"/>
              <a:t>RIP</a:t>
            </a:r>
            <a:r>
              <a:rPr lang="zh-CN" altLang="en-US" dirty="0" smtClean="0"/>
              <a:t>和</a:t>
            </a:r>
            <a:r>
              <a:rPr lang="en-US" altLang="zh-CN" dirty="0" smtClean="0"/>
              <a:t>OSPF</a:t>
            </a:r>
            <a:r>
              <a:rPr lang="zh-CN" altLang="en-US" dirty="0" smtClean="0"/>
              <a:t>路由选择协议的主要特点。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4</a:t>
            </a:r>
            <a:r>
              <a:rPr lang="zh-CN" altLang="en-US" dirty="0" smtClean="0"/>
              <a:t>、</a:t>
            </a:r>
            <a:r>
              <a:rPr lang="en-US" altLang="zh-CN" dirty="0" smtClean="0"/>
              <a:t>IGP</a:t>
            </a:r>
            <a:r>
              <a:rPr lang="zh-CN" altLang="en-US" dirty="0" smtClean="0"/>
              <a:t>和</a:t>
            </a:r>
            <a:r>
              <a:rPr lang="en-US" altLang="zh-CN" dirty="0" smtClean="0"/>
              <a:t>EGP</a:t>
            </a:r>
            <a:r>
              <a:rPr lang="zh-CN" altLang="en-US" dirty="0" smtClean="0"/>
              <a:t>这两类协议的主要区别是什么？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5</a:t>
            </a:r>
            <a:r>
              <a:rPr lang="zh-CN" altLang="en-US" dirty="0"/>
              <a:t>、写出下列英文术语缩写的全称和中文译名</a:t>
            </a:r>
          </a:p>
          <a:p>
            <a:pPr marL="0" indent="0">
              <a:buNone/>
            </a:pPr>
            <a:r>
              <a:rPr lang="en-US" altLang="zh-CN" smtClean="0"/>
              <a:t>AS IGP EGP RIP OSPF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ppt课件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4A7B3-BB3D-430C-9416-57B4A4106B8F}" type="slidenum">
              <a:rPr lang="zh-CN" altLang="en-US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8114016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435</TotalTime>
  <Words>262</Words>
  <Application>Microsoft Office PowerPoint</Application>
  <PresentationFormat>A4 纸张(210x297 毫米)</PresentationFormat>
  <Paragraphs>70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等线</vt:lpstr>
      <vt:lpstr>黑体</vt:lpstr>
      <vt:lpstr>宋体</vt:lpstr>
      <vt:lpstr>Arial</vt:lpstr>
      <vt:lpstr>Times New Roman</vt:lpstr>
      <vt:lpstr>Wingdings</vt:lpstr>
      <vt:lpstr>Presentation</vt:lpstr>
      <vt:lpstr>第四章 4.5.1-4.5.3课后作业</vt:lpstr>
      <vt:lpstr>请写到作业本上</vt:lpstr>
      <vt:lpstr>请写到作业本上</vt:lpstr>
      <vt:lpstr>请写到作业本上</vt:lpstr>
    </vt:vector>
  </TitlesOfParts>
  <Company>920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920</dc:creator>
  <cp:lastModifiedBy>个人用户</cp:lastModifiedBy>
  <cp:revision>107</cp:revision>
  <dcterms:created xsi:type="dcterms:W3CDTF">2016-10-01T05:27:00Z</dcterms:created>
  <dcterms:modified xsi:type="dcterms:W3CDTF">2021-01-23T03:26:16Z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  <property fmtid="{D5CDD505-2E9C-101B-9397-08002B2CF9AE}" pid="3" name="KSOProductBuildVer">
    <vt:lpwstr>2052-11.3.0.8513</vt:lpwstr>
  </property>
</Properties>
</file>
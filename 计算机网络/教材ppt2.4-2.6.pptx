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414" r:id="rId2"/>
    <p:sldId id="415" r:id="rId3"/>
    <p:sldId id="456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0" r:id="rId18"/>
    <p:sldId id="471" r:id="rId19"/>
    <p:sldId id="472" r:id="rId20"/>
    <p:sldId id="473" r:id="rId21"/>
    <p:sldId id="474" r:id="rId22"/>
    <p:sldId id="475" r:id="rId23"/>
    <p:sldId id="476" r:id="rId24"/>
    <p:sldId id="477" r:id="rId25"/>
    <p:sldId id="478" r:id="rId26"/>
    <p:sldId id="479" r:id="rId27"/>
    <p:sldId id="480" r:id="rId28"/>
    <p:sldId id="481" r:id="rId29"/>
    <p:sldId id="482" r:id="rId30"/>
    <p:sldId id="483" r:id="rId31"/>
    <p:sldId id="484" r:id="rId32"/>
    <p:sldId id="485" r:id="rId33"/>
    <p:sldId id="486" r:id="rId34"/>
    <p:sldId id="487" r:id="rId35"/>
    <p:sldId id="488" r:id="rId36"/>
    <p:sldId id="489" r:id="rId37"/>
    <p:sldId id="490" r:id="rId38"/>
    <p:sldId id="491" r:id="rId39"/>
    <p:sldId id="492" r:id="rId40"/>
    <p:sldId id="493" r:id="rId41"/>
    <p:sldId id="494" r:id="rId42"/>
    <p:sldId id="495" r:id="rId43"/>
    <p:sldId id="496" r:id="rId44"/>
    <p:sldId id="497" r:id="rId45"/>
    <p:sldId id="498" r:id="rId46"/>
    <p:sldId id="499" r:id="rId47"/>
    <p:sldId id="500" r:id="rId48"/>
    <p:sldId id="501" r:id="rId49"/>
    <p:sldId id="502" r:id="rId50"/>
    <p:sldId id="503" r:id="rId51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jpe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4.jpe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pPr>
              <a:defRPr/>
            </a:pPr>
            <a:fld id="{ECD9AC07-B801-4477-AB5B-68B072F2955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5656</a:t>
            </a:r>
          </a:p>
          <a:p>
            <a:pPr lvl="2"/>
            <a:r>
              <a:rPr lang="zh-CN" altLang="en-US" noProof="0" smtClean="0"/>
              <a:t>第三级</a:t>
            </a:r>
            <a:endParaRPr lang="en-US" altLang="zh-CN" noProof="0" smtClean="0"/>
          </a:p>
          <a:p>
            <a:pPr lvl="3"/>
            <a:r>
              <a:rPr lang="zh-CN" altLang="en-US" noProof="0" smtClean="0"/>
              <a:t>第四级</a:t>
            </a:r>
            <a:endParaRPr lang="en-US" altLang="zh-CN" noProof="0" smtClean="0"/>
          </a:p>
          <a:p>
            <a:pPr lvl="4"/>
            <a:r>
              <a:rPr lang="zh-CN" altLang="en-US" noProof="0" smtClean="0"/>
              <a:t>第五级</a:t>
            </a:r>
            <a:endParaRPr lang="en-US" altLang="zh-CN" noProof="0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pPr>
              <a:defRPr/>
            </a:pPr>
            <a:fld id="{A1F65A09-1A02-4EBA-8090-4EA381A3299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F7632B-731A-4065-AFDA-49861A355D0B}" type="slidenum">
              <a:rPr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pPr/>
              <a:t>1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D46A4B-8998-49B0-B054-66F376851459}" type="slidenum">
              <a:rPr altLang="zh-CN" smtClean="0">
                <a:latin typeface="宋体" panose="02010600030101010101" pitchFamily="2" charset="-122"/>
              </a:rPr>
              <a:pPr/>
              <a:t>3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9EFFB4-ACEF-4C49-BB93-E265C74D3055}" type="slidenum">
              <a:rPr altLang="zh-CN" smtClean="0">
                <a:latin typeface="宋体" panose="02010600030101010101" pitchFamily="2" charset="-122"/>
              </a:rPr>
              <a:pPr/>
              <a:t>4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291FC5-3900-47E3-BB87-D041016E0546}" type="slidenum">
              <a:rPr altLang="zh-CN" smtClean="0">
                <a:latin typeface="宋体" panose="02010600030101010101" pitchFamily="2" charset="-122"/>
              </a:rPr>
              <a:pPr/>
              <a:t>5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32644E-8995-432D-808F-F5122A2410CF}" type="slidenum">
              <a:rPr altLang="zh-CN" smtClean="0">
                <a:latin typeface="宋体" panose="02010600030101010101" pitchFamily="2" charset="-122"/>
              </a:rPr>
              <a:pPr/>
              <a:t>6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27114B-970D-428C-838C-263E90132234}" type="slidenum">
              <a:rPr altLang="zh-CN" smtClean="0">
                <a:latin typeface="宋体" panose="02010600030101010101" pitchFamily="2" charset="-122"/>
              </a:rPr>
              <a:pPr/>
              <a:t>7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FBBDFC-7ECB-4B8A-B28F-67A02C8476F8}" type="slidenum">
              <a:rPr altLang="zh-CN" smtClean="0">
                <a:latin typeface="宋体" panose="02010600030101010101" pitchFamily="2" charset="-122"/>
              </a:rPr>
              <a:pPr/>
              <a:t>8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1AEBE2-ED93-49B4-B327-C08CD42D6FB3}" type="slidenum">
              <a:rPr altLang="zh-CN" smtClean="0">
                <a:latin typeface="宋体" panose="02010600030101010101" pitchFamily="2" charset="-122"/>
              </a:rPr>
              <a:pPr/>
              <a:t>9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FCD12E-DE7D-4170-B1C2-8C596B6E8702}" type="slidenum">
              <a:rPr altLang="zh-CN" smtClean="0">
                <a:latin typeface="宋体" panose="02010600030101010101" pitchFamily="2" charset="-122"/>
              </a:rPr>
              <a:pPr/>
              <a:t>10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7EE48E-35C2-461C-9758-22F6F65A613E}" type="slidenum">
              <a:rPr altLang="zh-CN" smtClean="0">
                <a:latin typeface="宋体" panose="02010600030101010101" pitchFamily="2" charset="-122"/>
              </a:rPr>
              <a:pPr/>
              <a:t>11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29B952-6A1B-4BB9-BABF-D0D807E0ECB9}" type="slidenum">
              <a:rPr altLang="zh-CN" smtClean="0">
                <a:latin typeface="宋体" panose="02010600030101010101" pitchFamily="2" charset="-122"/>
              </a:rPr>
              <a:pPr/>
              <a:t>12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196FAE-1C3E-459C-AC04-F28F1F18218E}" type="slidenum">
              <a:rPr altLang="zh-CN" smtClean="0">
                <a:latin typeface="宋体" panose="02010600030101010101" pitchFamily="2" charset="-122"/>
              </a:rPr>
              <a:pPr/>
              <a:t>14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863837-2E0B-4649-82A5-5D2C67BEAEAB}" type="slidenum">
              <a:rPr altLang="zh-CN" smtClean="0">
                <a:latin typeface="宋体" panose="02010600030101010101" pitchFamily="2" charset="-122"/>
              </a:rPr>
              <a:pPr/>
              <a:t>15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C22A09-1C6D-4D9A-B896-15E16FD3C630}" type="slidenum">
              <a:rPr altLang="zh-CN" smtClean="0">
                <a:latin typeface="宋体" panose="02010600030101010101" pitchFamily="2" charset="-122"/>
              </a:rPr>
              <a:pPr/>
              <a:t>16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44AA92-05CF-4522-B67B-C40255EDDE60}" type="slidenum">
              <a:rPr altLang="zh-CN" smtClean="0">
                <a:latin typeface="宋体" panose="02010600030101010101" pitchFamily="2" charset="-122"/>
              </a:rPr>
              <a:pPr/>
              <a:t>17</a:t>
            </a:fld>
            <a:endParaRPr lang="zh-CN" altLang="zh-CN" smtClean="0">
              <a:latin typeface="宋体" panose="02010600030101010101" pitchFamily="2" charset="-122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D9AFF4A-842B-46DE-8C73-4596857B342B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655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534015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34111AE-2556-4392-80D6-EB94B4DE8BB2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6761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676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10574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3D99FC2-814B-4E2D-9C4C-03843B5B8BA8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6966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696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6189599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A77F453-EB74-44DD-B44C-D964EED61AF5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717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5051122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4C618FA-F517-42A1-85E6-D941DA1AA4EE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737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1132991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980385CF-626F-46EE-80AB-3545E6001250}" type="slidenum">
              <a:rPr lang="en-US" altLang="zh-CN" smtClean="0"/>
              <a:pPr/>
              <a:t>26</a:t>
            </a:fld>
            <a:endParaRPr lang="en-US" altLang="zh-CN" smtClean="0"/>
          </a:p>
        </p:txBody>
      </p:sp>
      <p:sp>
        <p:nvSpPr>
          <p:cNvPr id="37581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758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9122193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A5989D-BF96-4EE7-B7AE-B2019B238184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7888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788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9532394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679B4DB-AE68-49F0-95C7-C051D2CFDA14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8093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09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6232363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96B5886-C01A-400C-A6BE-2984DBF02C4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8297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29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1719573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7BCD981-2FB6-497F-8BAF-89FAA1ED409F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8502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502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3804912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75D5D6-008E-4EFC-AA21-53D973DEFCF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8707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70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7952020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A9B2EF8-C7F2-4207-BF65-EC0CB23F5BE2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8912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8912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7871569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013B14-EDC8-4469-8E07-8756DBDDA3B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9117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11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8299852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E8D29D7-F352-417C-8570-50CE11338CC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9321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321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7437757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AB2D675-3C07-4D13-9195-1FA785DF3352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9526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526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1355783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3094D3C-CAA6-4801-8A8C-2442BEE00357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9731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731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7976484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473E4F0-8A25-44FC-873F-2FD573E93E1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41256766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24596D-C717-4BB0-A1C0-903ED44E1FB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5331514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24596D-C717-4BB0-A1C0-903ED44E1FB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9831374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CBF7180-E1C9-4C23-8B6E-23A992328590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0345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34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8323854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EDBEB46-C880-4F89-90F3-825710A12C7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0550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55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8341816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8A1ABA-3670-40EE-8208-FA99620BF51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41508102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557E66-5709-4480-9D49-A20E76005736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45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096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4347710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0C1B774-DB0A-4DAE-AD16-B51EC1D8C526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165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4700360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D9302E-7F99-4F15-B8BA-43D7D0B09827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1369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36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6884603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B40F506-B0C1-4D26-9562-110108A91142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48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1574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57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6365704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D9302E-7F99-4F15-B8BA-43D7D0B09827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50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41369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41369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622145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CD3E50-43AB-4836-800E-D084568873E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685728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406D9D-14E9-470F-8F4B-555D11BCF6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7331157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8ED67-2E1C-4E91-AC03-7097B4EEFB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1592112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F3FD2B-9D3F-4B87-A1D1-A4282F1FF8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9039815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4E1F8B-4115-4B77-9D71-DEFE7E51BBE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2326589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8A29E-3C92-4AC5-BAAF-CCC2C9468F6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5635914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1D8CE-B783-4B91-A66E-E78A5F7099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8520092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7985C-AE9E-4E92-BCA8-38AB63550A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93991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716F8-ECDD-4794-8007-9733B1595C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1742806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E0C25-DE6B-43F5-B5CA-74E0667483E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0216750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4D2F3C-9058-4657-B9CA-A3D61EB9F5D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6815902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E2D35E-0C7D-4E28-A3A2-77E2640038A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2692819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FB51C-3D33-424F-8DDD-1AB9138D67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7163157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 smtClean="0"/>
              <a:t>单击图标添加联机映像</a:t>
            </a:r>
            <a:endParaRPr lang="zh-CN" altLang="en-US" noProof="1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F0049D-1FBF-4404-8615-348E97C4EF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8105798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E47EC2-7FF6-43E6-A406-A364D4F679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86" r:id="rId3"/>
    <p:sldLayoutId id="2147483694" r:id="rId4"/>
    <p:sldLayoutId id="2147483695" r:id="rId5"/>
    <p:sldLayoutId id="2147483696" r:id="rId6"/>
    <p:sldLayoutId id="2147483697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8" r:id="rId13"/>
    <p:sldLayoutId id="2147483699" r:id="rId14"/>
  </p:sldLayoutIdLst>
  <p:hf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jpeg"/><Relationship Id="rId4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jpeg"/><Relationship Id="rId4" Type="http://schemas.openxmlformats.org/officeDocument/2006/relationships/image" Target="../media/image6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Arial" panose="020B0604020202020204" pitchFamily="34" charset="0"/>
                <a:ea typeface="黑体" panose="02010609060101010101" pitchFamily="49" charset="-122"/>
              </a:rPr>
              <a:t>第 </a:t>
            </a:r>
            <a:r>
              <a:rPr lang="en-US" altLang="zh-CN" smtClean="0">
                <a:latin typeface="Arial" panose="020B0604020202020204" pitchFamily="34" charset="0"/>
                <a:ea typeface="黑体" panose="02010609060101010101" pitchFamily="49" charset="-122"/>
              </a:rPr>
              <a:t>2 </a:t>
            </a:r>
            <a:r>
              <a:rPr lang="zh-CN" altLang="en-US" smtClean="0">
                <a:latin typeface="Arial" panose="020B0604020202020204" pitchFamily="34" charset="0"/>
                <a:ea typeface="黑体" panose="02010609060101010101" pitchFamily="49" charset="-122"/>
              </a:rPr>
              <a:t>章  物理层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en-US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2292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75AC45-EE4D-4514-BE4A-72E68A9ACE5E}" type="slidenum">
              <a:rPr altLang="en-US" smtClean="0"/>
              <a:pPr/>
              <a:t>1</a:t>
            </a:fld>
            <a:endParaRPr lang="zh-CN" altLang="zh-CN" smtClean="0"/>
          </a:p>
        </p:txBody>
      </p:sp>
      <p:sp>
        <p:nvSpPr>
          <p:cNvPr id="12293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eaLnBrk="1" hangingPunct="1"/>
            <a:r>
              <a:rPr lang="zh-CN" altLang="zh-CN" smtClean="0">
                <a:ea typeface="黑体" panose="02010609060101010101" pitchFamily="49" charset="-122"/>
              </a:rPr>
              <a:t>第</a:t>
            </a:r>
            <a:r>
              <a:rPr lang="en-US" altLang="zh-CN" smtClean="0">
                <a:ea typeface="黑体" panose="02010609060101010101" pitchFamily="49" charset="-122"/>
              </a:rPr>
              <a:t> 2 </a:t>
            </a:r>
            <a:r>
              <a:rPr lang="zh-CN" altLang="zh-CN" smtClean="0">
                <a:ea typeface="黑体" panose="02010609060101010101" pitchFamily="49" charset="-122"/>
              </a:rPr>
              <a:t>章</a:t>
            </a:r>
            <a:r>
              <a:rPr lang="en-US" altLang="zh-CN" smtClean="0">
                <a:ea typeface="黑体" panose="02010609060101010101" pitchFamily="49" charset="-122"/>
              </a:rPr>
              <a:t>  </a:t>
            </a:r>
            <a:r>
              <a:rPr lang="zh-CN" altLang="zh-CN" smtClean="0">
                <a:ea typeface="黑体" panose="02010609060101010101" pitchFamily="49" charset="-122"/>
              </a:rPr>
              <a:t>物理层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14339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ea typeface="黑体" panose="02010609060101010101" pitchFamily="49" charset="-122"/>
              </a:rPr>
              <a:t>2.4  </a:t>
            </a:r>
            <a:r>
              <a:rPr lang="zh-CN" altLang="zh-CN" dirty="0" smtClean="0">
                <a:ea typeface="黑体" panose="02010609060101010101" pitchFamily="49" charset="-122"/>
              </a:rPr>
              <a:t>信道复用技术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dirty="0">
                <a:ea typeface="黑体" panose="02010609060101010101" pitchFamily="49" charset="-122"/>
              </a:rPr>
              <a:t>2.5  </a:t>
            </a:r>
            <a:r>
              <a:rPr lang="zh-CN" altLang="zh-CN" dirty="0">
                <a:ea typeface="黑体" panose="02010609060101010101" pitchFamily="49" charset="-122"/>
              </a:rPr>
              <a:t>数字传输</a:t>
            </a:r>
            <a:r>
              <a:rPr lang="zh-CN" altLang="zh-CN" dirty="0" smtClean="0">
                <a:ea typeface="黑体" panose="02010609060101010101" pitchFamily="49" charset="-122"/>
              </a:rPr>
              <a:t>系统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 dirty="0">
                <a:ea typeface="黑体" panose="02010609060101010101" pitchFamily="49" charset="-122"/>
              </a:rPr>
              <a:t>2.6  </a:t>
            </a:r>
            <a:r>
              <a:rPr lang="zh-CN" altLang="zh-CN" dirty="0">
                <a:ea typeface="黑体" panose="02010609060101010101" pitchFamily="49" charset="-122"/>
              </a:rPr>
              <a:t>宽带接入技术</a:t>
            </a:r>
          </a:p>
          <a:p>
            <a:pPr eaLnBrk="1" hangingPunct="1"/>
            <a:endParaRPr lang="zh-CN" altLang="zh-CN" dirty="0">
              <a:ea typeface="黑体" panose="02010609060101010101" pitchFamily="49" charset="-122"/>
            </a:endParaRPr>
          </a:p>
          <a:p>
            <a:pPr eaLnBrk="1" hangingPunct="1"/>
            <a:endParaRPr lang="zh-CN" altLang="zh-CN" dirty="0" smtClean="0">
              <a:ea typeface="黑体" panose="02010609060101010101" pitchFamily="49" charset="-122"/>
            </a:endParaRPr>
          </a:p>
          <a:p>
            <a:pPr eaLnBrk="1" hangingPunct="1"/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1434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331231-4C54-475C-88F9-BF9C1CFC48F9}" type="slidenum">
              <a:rPr altLang="en-US" smtClean="0"/>
              <a:pPr/>
              <a:t>2</a:t>
            </a:fld>
            <a:endParaRPr lang="zh-CN" altLang="zh-CN" smtClean="0"/>
          </a:p>
        </p:txBody>
      </p:sp>
      <p:sp>
        <p:nvSpPr>
          <p:cNvPr id="14341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黑体" panose="02010609060101010101" pitchFamily="49" charset="-122"/>
              </a:rPr>
              <a:t>2.4  </a:t>
            </a:r>
            <a:r>
              <a:rPr lang="zh-CN" altLang="zh-CN" smtClean="0">
                <a:ea typeface="黑体" panose="02010609060101010101" pitchFamily="49" charset="-122"/>
              </a:rPr>
              <a:t>信道复用技术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黑体" panose="02010609060101010101" pitchFamily="49" charset="-122"/>
              </a:rPr>
              <a:t>2.4.1  </a:t>
            </a:r>
            <a:r>
              <a:rPr lang="zh-CN" altLang="zh-CN" smtClean="0">
                <a:ea typeface="黑体" panose="02010609060101010101" pitchFamily="49" charset="-122"/>
              </a:rPr>
              <a:t>频分复用、时分复用和统计时分复用</a:t>
            </a:r>
          </a:p>
          <a:p>
            <a:pPr eaLnBrk="1" hangingPunct="1"/>
            <a:r>
              <a:rPr lang="en-US" altLang="zh-CN" smtClean="0">
                <a:ea typeface="黑体" panose="02010609060101010101" pitchFamily="49" charset="-122"/>
              </a:rPr>
              <a:t>2.4.2  </a:t>
            </a:r>
            <a:r>
              <a:rPr lang="zh-CN" altLang="zh-CN" smtClean="0">
                <a:ea typeface="黑体" panose="02010609060101010101" pitchFamily="49" charset="-122"/>
              </a:rPr>
              <a:t>波分复用</a:t>
            </a:r>
          </a:p>
          <a:p>
            <a:pPr eaLnBrk="1" hangingPunct="1"/>
            <a:r>
              <a:rPr lang="en-US" altLang="zh-CN" smtClean="0">
                <a:ea typeface="黑体" panose="02010609060101010101" pitchFamily="49" charset="-122"/>
              </a:rPr>
              <a:t>2.4.3  </a:t>
            </a:r>
            <a:r>
              <a:rPr lang="zh-CN" altLang="zh-CN" smtClean="0">
                <a:ea typeface="黑体" panose="02010609060101010101" pitchFamily="49" charset="-122"/>
              </a:rPr>
              <a:t>码分复用</a:t>
            </a:r>
          </a:p>
        </p:txBody>
      </p:sp>
      <p:sp>
        <p:nvSpPr>
          <p:cNvPr id="45060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952582-F2F1-41D9-B286-4FEB627A0B78}" type="slidenum">
              <a:rPr altLang="en-US" smtClean="0"/>
              <a:pPr/>
              <a:t>3</a:t>
            </a:fld>
            <a:endParaRPr lang="zh-CN" altLang="zh-CN" smtClean="0"/>
          </a:p>
        </p:txBody>
      </p:sp>
      <p:sp>
        <p:nvSpPr>
          <p:cNvPr id="45061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smtClean="0">
                <a:ea typeface="黑体" panose="02010609060101010101" pitchFamily="49" charset="-122"/>
              </a:rPr>
              <a:t>2.4.1  </a:t>
            </a:r>
            <a:r>
              <a:rPr lang="zh-CN" altLang="en-US" sz="3200" smtClean="0">
                <a:ea typeface="黑体" panose="02010609060101010101" pitchFamily="49" charset="-122"/>
              </a:rPr>
              <a:t>频分复用、时分复用和统计时分复用</a:t>
            </a:r>
            <a:r>
              <a:rPr lang="zh-CN" altLang="en-US" sz="4000" smtClean="0">
                <a:ea typeface="黑体" panose="02010609060101010101" pitchFamily="49" charset="-122"/>
              </a:rPr>
              <a:t> </a:t>
            </a:r>
          </a:p>
        </p:txBody>
      </p:sp>
      <p:grpSp>
        <p:nvGrpSpPr>
          <p:cNvPr id="47107" name="组合 4"/>
          <p:cNvGrpSpPr>
            <a:grpSpLocks/>
          </p:cNvGrpSpPr>
          <p:nvPr/>
        </p:nvGrpSpPr>
        <p:grpSpPr bwMode="auto">
          <a:xfrm>
            <a:off x="1443038" y="2279650"/>
            <a:ext cx="7099300" cy="1911350"/>
            <a:chOff x="1442906" y="2204864"/>
            <a:chExt cx="7099300" cy="1912278"/>
          </a:xfrm>
        </p:grpSpPr>
        <p:sp>
          <p:nvSpPr>
            <p:cNvPr id="47148" name="Line 39"/>
            <p:cNvSpPr>
              <a:spLocks noChangeShapeType="1"/>
            </p:cNvSpPr>
            <p:nvPr/>
          </p:nvSpPr>
          <p:spPr bwMode="auto">
            <a:xfrm>
              <a:off x="1840178" y="2546177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9" name="Line 40"/>
            <p:cNvSpPr>
              <a:spLocks noChangeShapeType="1"/>
            </p:cNvSpPr>
            <p:nvPr/>
          </p:nvSpPr>
          <p:spPr bwMode="auto">
            <a:xfrm>
              <a:off x="1840178" y="3039889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0" name="Line 41"/>
            <p:cNvSpPr>
              <a:spLocks noChangeShapeType="1"/>
            </p:cNvSpPr>
            <p:nvPr/>
          </p:nvSpPr>
          <p:spPr bwMode="auto">
            <a:xfrm>
              <a:off x="1840178" y="3533602"/>
              <a:ext cx="6382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1" name="Oval 42"/>
            <p:cNvSpPr>
              <a:spLocks noChangeArrowheads="1"/>
            </p:cNvSpPr>
            <p:nvPr/>
          </p:nvSpPr>
          <p:spPr bwMode="auto">
            <a:xfrm>
              <a:off x="1442906" y="2357265"/>
              <a:ext cx="397271" cy="377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A</a:t>
              </a:r>
              <a:r>
                <a:rPr lang="en-US" altLang="zh-CN" sz="1600" b="1" baseline="-25000"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47152" name="Oval 43"/>
            <p:cNvSpPr>
              <a:spLocks noChangeArrowheads="1"/>
            </p:cNvSpPr>
            <p:nvPr/>
          </p:nvSpPr>
          <p:spPr bwMode="auto">
            <a:xfrm>
              <a:off x="8144934" y="2357265"/>
              <a:ext cx="397272" cy="377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A</a:t>
              </a:r>
              <a:r>
                <a:rPr lang="en-US" altLang="zh-CN" sz="1600" b="1" baseline="-25000"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47153" name="Oval 44"/>
            <p:cNvSpPr>
              <a:spLocks noChangeArrowheads="1"/>
            </p:cNvSpPr>
            <p:nvPr/>
          </p:nvSpPr>
          <p:spPr bwMode="auto">
            <a:xfrm>
              <a:off x="1442906" y="2850978"/>
              <a:ext cx="397271" cy="377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B</a:t>
              </a:r>
              <a:r>
                <a:rPr lang="en-US" altLang="zh-CN" sz="1600" b="1" baseline="-25000"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47154" name="Oval 45"/>
            <p:cNvSpPr>
              <a:spLocks noChangeArrowheads="1"/>
            </p:cNvSpPr>
            <p:nvPr/>
          </p:nvSpPr>
          <p:spPr bwMode="auto">
            <a:xfrm>
              <a:off x="8144934" y="2850978"/>
              <a:ext cx="397272" cy="377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B</a:t>
              </a:r>
              <a:r>
                <a:rPr lang="en-US" altLang="zh-CN" sz="1600" b="1" baseline="-25000"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47155" name="Oval 46"/>
            <p:cNvSpPr>
              <a:spLocks noChangeArrowheads="1"/>
            </p:cNvSpPr>
            <p:nvPr/>
          </p:nvSpPr>
          <p:spPr bwMode="auto">
            <a:xfrm>
              <a:off x="1442906" y="3344690"/>
              <a:ext cx="397271" cy="377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C</a:t>
              </a:r>
              <a:r>
                <a:rPr lang="en-US" altLang="zh-CN" sz="1600" b="1" baseline="-25000"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47156" name="Oval 47"/>
            <p:cNvSpPr>
              <a:spLocks noChangeArrowheads="1"/>
            </p:cNvSpPr>
            <p:nvPr/>
          </p:nvSpPr>
          <p:spPr bwMode="auto">
            <a:xfrm>
              <a:off x="8144934" y="3344690"/>
              <a:ext cx="397272" cy="377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C</a:t>
              </a:r>
              <a:r>
                <a:rPr lang="en-US" altLang="zh-CN" sz="1600" b="1" baseline="-25000"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47157" name="Text Box 60"/>
            <p:cNvSpPr txBox="1">
              <a:spLocks noChangeArrowheads="1"/>
            </p:cNvSpPr>
            <p:nvPr/>
          </p:nvSpPr>
          <p:spPr bwMode="auto">
            <a:xfrm>
              <a:off x="4017434" y="3717032"/>
              <a:ext cx="23743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000" b="1">
                  <a:ea typeface="黑体" panose="02010609060101010101" pitchFamily="49" charset="-122"/>
                </a:rPr>
                <a:t>(a) </a:t>
              </a:r>
              <a:r>
                <a:rPr lang="zh-CN" altLang="en-US" sz="2000" b="1">
                  <a:ea typeface="黑体" panose="02010609060101010101" pitchFamily="49" charset="-122"/>
                </a:rPr>
                <a:t>使用单独的信道</a:t>
              </a:r>
            </a:p>
          </p:txBody>
        </p:sp>
        <p:sp>
          <p:nvSpPr>
            <p:cNvPr id="47158" name="Line 64"/>
            <p:cNvSpPr>
              <a:spLocks noChangeShapeType="1"/>
            </p:cNvSpPr>
            <p:nvPr/>
          </p:nvSpPr>
          <p:spPr bwMode="auto">
            <a:xfrm>
              <a:off x="3676915" y="2431877"/>
              <a:ext cx="23905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9" name="Line 65"/>
            <p:cNvSpPr>
              <a:spLocks noChangeShapeType="1"/>
            </p:cNvSpPr>
            <p:nvPr/>
          </p:nvSpPr>
          <p:spPr bwMode="auto">
            <a:xfrm>
              <a:off x="3676915" y="2912889"/>
              <a:ext cx="23905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0" name="Line 66"/>
            <p:cNvSpPr>
              <a:spLocks noChangeShapeType="1"/>
            </p:cNvSpPr>
            <p:nvPr/>
          </p:nvSpPr>
          <p:spPr bwMode="auto">
            <a:xfrm>
              <a:off x="3676915" y="3417714"/>
              <a:ext cx="23905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1" name="AutoShape 78"/>
            <p:cNvSpPr>
              <a:spLocks noChangeArrowheads="1"/>
            </p:cNvSpPr>
            <p:nvPr/>
          </p:nvSpPr>
          <p:spPr bwMode="auto">
            <a:xfrm>
              <a:off x="4793060" y="3192289"/>
              <a:ext cx="178858" cy="171450"/>
            </a:xfrm>
            <a:custGeom>
              <a:avLst/>
              <a:gdLst>
                <a:gd name="T0" fmla="*/ 0 w 178858"/>
                <a:gd name="T1" fmla="*/ 65487 h 171450"/>
                <a:gd name="T2" fmla="*/ 68318 w 178858"/>
                <a:gd name="T3" fmla="*/ 65488 h 171450"/>
                <a:gd name="T4" fmla="*/ 89429 w 178858"/>
                <a:gd name="T5" fmla="*/ 0 h 171450"/>
                <a:gd name="T6" fmla="*/ 110539 w 178858"/>
                <a:gd name="T7" fmla="*/ 65488 h 171450"/>
                <a:gd name="T8" fmla="*/ 178857 w 178858"/>
                <a:gd name="T9" fmla="*/ 65487 h 171450"/>
                <a:gd name="T10" fmla="*/ 123587 w 178858"/>
                <a:gd name="T11" fmla="*/ 105961 h 171450"/>
                <a:gd name="T12" fmla="*/ 144699 w 178858"/>
                <a:gd name="T13" fmla="*/ 171449 h 171450"/>
                <a:gd name="T14" fmla="*/ 89429 w 178858"/>
                <a:gd name="T15" fmla="*/ 130975 h 171450"/>
                <a:gd name="T16" fmla="*/ 34158 w 178858"/>
                <a:gd name="T17" fmla="*/ 171449 h 171450"/>
                <a:gd name="T18" fmla="*/ 55270 w 178858"/>
                <a:gd name="T19" fmla="*/ 105961 h 17145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8858" h="171450">
                  <a:moveTo>
                    <a:pt x="0" y="65487"/>
                  </a:moveTo>
                  <a:lnTo>
                    <a:pt x="68318" y="65488"/>
                  </a:lnTo>
                  <a:lnTo>
                    <a:pt x="89429" y="0"/>
                  </a:lnTo>
                  <a:lnTo>
                    <a:pt x="110539" y="65488"/>
                  </a:lnTo>
                  <a:lnTo>
                    <a:pt x="178857" y="65487"/>
                  </a:lnTo>
                  <a:lnTo>
                    <a:pt x="123587" y="105961"/>
                  </a:lnTo>
                  <a:lnTo>
                    <a:pt x="144699" y="171449"/>
                  </a:lnTo>
                  <a:lnTo>
                    <a:pt x="89429" y="130975"/>
                  </a:lnTo>
                  <a:lnTo>
                    <a:pt x="34158" y="171449"/>
                  </a:lnTo>
                  <a:lnTo>
                    <a:pt x="55270" y="105961"/>
                  </a:lnTo>
                  <a:lnTo>
                    <a:pt x="0" y="65487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84" name="Oval 80"/>
            <p:cNvSpPr>
              <a:spLocks noChangeArrowheads="1"/>
            </p:cNvSpPr>
            <p:nvPr/>
          </p:nvSpPr>
          <p:spPr bwMode="auto">
            <a:xfrm>
              <a:off x="1920743" y="2357338"/>
              <a:ext cx="160338" cy="152474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 noProof="1"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23985" name="Oval 81"/>
            <p:cNvSpPr>
              <a:spLocks noChangeArrowheads="1"/>
            </p:cNvSpPr>
            <p:nvPr/>
          </p:nvSpPr>
          <p:spPr bwMode="auto">
            <a:xfrm>
              <a:off x="4802056" y="2204864"/>
              <a:ext cx="158750" cy="152474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 noProof="1"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23986" name="Oval 82"/>
            <p:cNvSpPr>
              <a:spLocks noChangeArrowheads="1"/>
            </p:cNvSpPr>
            <p:nvPr/>
          </p:nvSpPr>
          <p:spPr bwMode="auto">
            <a:xfrm>
              <a:off x="7904031" y="2357338"/>
              <a:ext cx="160337" cy="152474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 noProof="1"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47165" name="Rectangle 83"/>
            <p:cNvSpPr>
              <a:spLocks noChangeArrowheads="1"/>
            </p:cNvSpPr>
            <p:nvPr/>
          </p:nvSpPr>
          <p:spPr bwMode="auto">
            <a:xfrm>
              <a:off x="7904163" y="2887489"/>
              <a:ext cx="12726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ea typeface="黑体" panose="02010609060101010101" pitchFamily="49" charset="-122"/>
              </a:endParaRPr>
            </a:p>
          </p:txBody>
        </p:sp>
        <p:sp>
          <p:nvSpPr>
            <p:cNvPr id="47166" name="Rectangle 84"/>
            <p:cNvSpPr>
              <a:spLocks noChangeArrowheads="1"/>
            </p:cNvSpPr>
            <p:nvPr/>
          </p:nvSpPr>
          <p:spPr bwMode="auto">
            <a:xfrm>
              <a:off x="1921008" y="288748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ea typeface="黑体" panose="02010609060101010101" pitchFamily="49" charset="-122"/>
              </a:endParaRPr>
            </a:p>
          </p:txBody>
        </p:sp>
        <p:sp>
          <p:nvSpPr>
            <p:cNvPr id="47167" name="Rectangle 85"/>
            <p:cNvSpPr>
              <a:spLocks noChangeArrowheads="1"/>
            </p:cNvSpPr>
            <p:nvPr/>
          </p:nvSpPr>
          <p:spPr bwMode="auto">
            <a:xfrm>
              <a:off x="4817137" y="2736678"/>
              <a:ext cx="128984" cy="122237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ea typeface="黑体" panose="02010609060101010101" pitchFamily="49" charset="-122"/>
              </a:endParaRPr>
            </a:p>
          </p:txBody>
        </p:sp>
        <p:sp>
          <p:nvSpPr>
            <p:cNvPr id="47168" name="AutoShape 86"/>
            <p:cNvSpPr>
              <a:spLocks noChangeArrowheads="1"/>
            </p:cNvSpPr>
            <p:nvPr/>
          </p:nvSpPr>
          <p:spPr bwMode="auto">
            <a:xfrm>
              <a:off x="7905328" y="3309765"/>
              <a:ext cx="178858" cy="169863"/>
            </a:xfrm>
            <a:custGeom>
              <a:avLst/>
              <a:gdLst>
                <a:gd name="T0" fmla="*/ 0 w 178858"/>
                <a:gd name="T1" fmla="*/ 64881 h 169863"/>
                <a:gd name="T2" fmla="*/ 68318 w 178858"/>
                <a:gd name="T3" fmla="*/ 64882 h 169863"/>
                <a:gd name="T4" fmla="*/ 89429 w 178858"/>
                <a:gd name="T5" fmla="*/ 0 h 169863"/>
                <a:gd name="T6" fmla="*/ 110539 w 178858"/>
                <a:gd name="T7" fmla="*/ 64882 h 169863"/>
                <a:gd name="T8" fmla="*/ 178857 w 178858"/>
                <a:gd name="T9" fmla="*/ 64881 h 169863"/>
                <a:gd name="T10" fmla="*/ 123587 w 178858"/>
                <a:gd name="T11" fmla="*/ 104980 h 169863"/>
                <a:gd name="T12" fmla="*/ 144699 w 178858"/>
                <a:gd name="T13" fmla="*/ 169862 h 169863"/>
                <a:gd name="T14" fmla="*/ 89429 w 178858"/>
                <a:gd name="T15" fmla="*/ 129762 h 169863"/>
                <a:gd name="T16" fmla="*/ 34158 w 178858"/>
                <a:gd name="T17" fmla="*/ 169862 h 169863"/>
                <a:gd name="T18" fmla="*/ 55270 w 178858"/>
                <a:gd name="T19" fmla="*/ 104980 h 1698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8858" h="169863">
                  <a:moveTo>
                    <a:pt x="0" y="64881"/>
                  </a:moveTo>
                  <a:lnTo>
                    <a:pt x="68318" y="64882"/>
                  </a:lnTo>
                  <a:lnTo>
                    <a:pt x="89429" y="0"/>
                  </a:lnTo>
                  <a:lnTo>
                    <a:pt x="110539" y="64882"/>
                  </a:lnTo>
                  <a:lnTo>
                    <a:pt x="178857" y="64881"/>
                  </a:lnTo>
                  <a:lnTo>
                    <a:pt x="123587" y="104980"/>
                  </a:lnTo>
                  <a:lnTo>
                    <a:pt x="144699" y="169862"/>
                  </a:lnTo>
                  <a:lnTo>
                    <a:pt x="89429" y="129762"/>
                  </a:lnTo>
                  <a:lnTo>
                    <a:pt x="34158" y="169862"/>
                  </a:lnTo>
                  <a:lnTo>
                    <a:pt x="55270" y="104980"/>
                  </a:lnTo>
                  <a:lnTo>
                    <a:pt x="0" y="64881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9" name="AutoShape 87"/>
            <p:cNvSpPr>
              <a:spLocks noChangeArrowheads="1"/>
            </p:cNvSpPr>
            <p:nvPr/>
          </p:nvSpPr>
          <p:spPr bwMode="auto">
            <a:xfrm>
              <a:off x="1895211" y="3324052"/>
              <a:ext cx="178858" cy="171450"/>
            </a:xfrm>
            <a:custGeom>
              <a:avLst/>
              <a:gdLst>
                <a:gd name="T0" fmla="*/ 0 w 178858"/>
                <a:gd name="T1" fmla="*/ 65487 h 171450"/>
                <a:gd name="T2" fmla="*/ 68318 w 178858"/>
                <a:gd name="T3" fmla="*/ 65488 h 171450"/>
                <a:gd name="T4" fmla="*/ 89429 w 178858"/>
                <a:gd name="T5" fmla="*/ 0 h 171450"/>
                <a:gd name="T6" fmla="*/ 110539 w 178858"/>
                <a:gd name="T7" fmla="*/ 65488 h 171450"/>
                <a:gd name="T8" fmla="*/ 178857 w 178858"/>
                <a:gd name="T9" fmla="*/ 65487 h 171450"/>
                <a:gd name="T10" fmla="*/ 123587 w 178858"/>
                <a:gd name="T11" fmla="*/ 105961 h 171450"/>
                <a:gd name="T12" fmla="*/ 144699 w 178858"/>
                <a:gd name="T13" fmla="*/ 171449 h 171450"/>
                <a:gd name="T14" fmla="*/ 89429 w 178858"/>
                <a:gd name="T15" fmla="*/ 130975 h 171450"/>
                <a:gd name="T16" fmla="*/ 34158 w 178858"/>
                <a:gd name="T17" fmla="*/ 171449 h 171450"/>
                <a:gd name="T18" fmla="*/ 55270 w 178858"/>
                <a:gd name="T19" fmla="*/ 105961 h 17145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8858" h="171450">
                  <a:moveTo>
                    <a:pt x="0" y="65487"/>
                  </a:moveTo>
                  <a:lnTo>
                    <a:pt x="68318" y="65488"/>
                  </a:lnTo>
                  <a:lnTo>
                    <a:pt x="89429" y="0"/>
                  </a:lnTo>
                  <a:lnTo>
                    <a:pt x="110539" y="65488"/>
                  </a:lnTo>
                  <a:lnTo>
                    <a:pt x="178857" y="65487"/>
                  </a:lnTo>
                  <a:lnTo>
                    <a:pt x="123587" y="105961"/>
                  </a:lnTo>
                  <a:lnTo>
                    <a:pt x="144699" y="171449"/>
                  </a:lnTo>
                  <a:lnTo>
                    <a:pt x="89429" y="130975"/>
                  </a:lnTo>
                  <a:lnTo>
                    <a:pt x="34158" y="171449"/>
                  </a:lnTo>
                  <a:lnTo>
                    <a:pt x="55270" y="105961"/>
                  </a:lnTo>
                  <a:lnTo>
                    <a:pt x="0" y="65487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108" name="组合 3"/>
          <p:cNvGrpSpPr>
            <a:grpSpLocks/>
          </p:cNvGrpSpPr>
          <p:nvPr/>
        </p:nvGrpSpPr>
        <p:grpSpPr bwMode="auto">
          <a:xfrm>
            <a:off x="1443038" y="4335463"/>
            <a:ext cx="7099300" cy="1479550"/>
            <a:chOff x="1442906" y="4221088"/>
            <a:chExt cx="7099300" cy="1480230"/>
          </a:xfrm>
        </p:grpSpPr>
        <p:sp>
          <p:nvSpPr>
            <p:cNvPr id="47113" name="Text Box 92"/>
            <p:cNvSpPr txBox="1">
              <a:spLocks noChangeArrowheads="1"/>
            </p:cNvSpPr>
            <p:nvPr/>
          </p:nvSpPr>
          <p:spPr bwMode="auto">
            <a:xfrm>
              <a:off x="4518274" y="4421112"/>
              <a:ext cx="319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ea typeface="黑体" panose="02010609060101010101" pitchFamily="49" charset="-122"/>
                </a:rPr>
                <a:t>+</a:t>
              </a:r>
            </a:p>
          </p:txBody>
        </p:sp>
        <p:sp>
          <p:nvSpPr>
            <p:cNvPr id="47114" name="Text Box 93"/>
            <p:cNvSpPr txBox="1">
              <a:spLocks noChangeArrowheads="1"/>
            </p:cNvSpPr>
            <p:nvPr/>
          </p:nvSpPr>
          <p:spPr bwMode="auto">
            <a:xfrm>
              <a:off x="4158456" y="4429049"/>
              <a:ext cx="165272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(                     )</a:t>
              </a:r>
            </a:p>
          </p:txBody>
        </p:sp>
        <p:sp>
          <p:nvSpPr>
            <p:cNvPr id="47115" name="Text Box 37"/>
            <p:cNvSpPr txBox="1">
              <a:spLocks noChangeArrowheads="1"/>
            </p:cNvSpPr>
            <p:nvPr/>
          </p:nvSpPr>
          <p:spPr bwMode="auto">
            <a:xfrm>
              <a:off x="4925864" y="4421112"/>
              <a:ext cx="319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ea typeface="黑体" panose="02010609060101010101" pitchFamily="49" charset="-122"/>
                </a:rPr>
                <a:t>+</a:t>
              </a:r>
            </a:p>
          </p:txBody>
        </p:sp>
        <p:sp>
          <p:nvSpPr>
            <p:cNvPr id="47116" name="Line 38"/>
            <p:cNvSpPr>
              <a:spLocks noChangeShapeType="1"/>
            </p:cNvSpPr>
            <p:nvPr/>
          </p:nvSpPr>
          <p:spPr bwMode="auto">
            <a:xfrm>
              <a:off x="1840178" y="4903712"/>
              <a:ext cx="63821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7" name="Line 48"/>
            <p:cNvSpPr>
              <a:spLocks noChangeShapeType="1"/>
            </p:cNvSpPr>
            <p:nvPr/>
          </p:nvSpPr>
          <p:spPr bwMode="auto">
            <a:xfrm>
              <a:off x="2717271" y="4903712"/>
              <a:ext cx="470879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8" name="Line 49"/>
            <p:cNvSpPr>
              <a:spLocks noChangeShapeType="1"/>
            </p:cNvSpPr>
            <p:nvPr/>
          </p:nvSpPr>
          <p:spPr bwMode="auto">
            <a:xfrm>
              <a:off x="7426061" y="4979912"/>
              <a:ext cx="877094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9" name="Line 50"/>
            <p:cNvSpPr>
              <a:spLocks noChangeShapeType="1"/>
            </p:cNvSpPr>
            <p:nvPr/>
          </p:nvSpPr>
          <p:spPr bwMode="auto">
            <a:xfrm flipH="1">
              <a:off x="7426061" y="4448099"/>
              <a:ext cx="877094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0" name="Line 51"/>
            <p:cNvSpPr>
              <a:spLocks noChangeShapeType="1"/>
            </p:cNvSpPr>
            <p:nvPr/>
          </p:nvSpPr>
          <p:spPr bwMode="auto">
            <a:xfrm flipV="1">
              <a:off x="1759347" y="4979912"/>
              <a:ext cx="878813" cy="379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1" name="Line 52"/>
            <p:cNvSpPr>
              <a:spLocks noChangeShapeType="1"/>
            </p:cNvSpPr>
            <p:nvPr/>
          </p:nvSpPr>
          <p:spPr bwMode="auto">
            <a:xfrm>
              <a:off x="1759347" y="4448099"/>
              <a:ext cx="878813" cy="381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2" name="Oval 53"/>
            <p:cNvSpPr>
              <a:spLocks noChangeArrowheads="1"/>
            </p:cNvSpPr>
            <p:nvPr/>
          </p:nvSpPr>
          <p:spPr bwMode="auto">
            <a:xfrm>
              <a:off x="1442906" y="4221088"/>
              <a:ext cx="397271" cy="377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A</a:t>
              </a:r>
              <a:r>
                <a:rPr lang="en-US" altLang="zh-CN" sz="1600" b="1" baseline="-25000"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47123" name="Oval 54"/>
            <p:cNvSpPr>
              <a:spLocks noChangeArrowheads="1"/>
            </p:cNvSpPr>
            <p:nvPr/>
          </p:nvSpPr>
          <p:spPr bwMode="auto">
            <a:xfrm>
              <a:off x="8144934" y="4221088"/>
              <a:ext cx="397272" cy="377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A</a:t>
              </a:r>
              <a:r>
                <a:rPr lang="en-US" altLang="zh-CN" sz="1600" b="1" baseline="-25000"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47124" name="Oval 55"/>
            <p:cNvSpPr>
              <a:spLocks noChangeArrowheads="1"/>
            </p:cNvSpPr>
            <p:nvPr/>
          </p:nvSpPr>
          <p:spPr bwMode="auto">
            <a:xfrm>
              <a:off x="1442906" y="4703688"/>
              <a:ext cx="397271" cy="377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B</a:t>
              </a:r>
              <a:r>
                <a:rPr lang="en-US" altLang="zh-CN" sz="1600" b="1" baseline="-25000"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47125" name="Oval 56"/>
            <p:cNvSpPr>
              <a:spLocks noChangeArrowheads="1"/>
            </p:cNvSpPr>
            <p:nvPr/>
          </p:nvSpPr>
          <p:spPr bwMode="auto">
            <a:xfrm>
              <a:off x="8144934" y="4703688"/>
              <a:ext cx="397272" cy="377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B</a:t>
              </a:r>
              <a:r>
                <a:rPr lang="en-US" altLang="zh-CN" sz="1600" b="1" baseline="-25000"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47126" name="Oval 57"/>
            <p:cNvSpPr>
              <a:spLocks noChangeArrowheads="1"/>
            </p:cNvSpPr>
            <p:nvPr/>
          </p:nvSpPr>
          <p:spPr bwMode="auto">
            <a:xfrm>
              <a:off x="1442906" y="5208513"/>
              <a:ext cx="397271" cy="377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C</a:t>
              </a:r>
              <a:r>
                <a:rPr lang="en-US" altLang="zh-CN" sz="1600" b="1" baseline="-25000"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47127" name="Oval 58"/>
            <p:cNvSpPr>
              <a:spLocks noChangeArrowheads="1"/>
            </p:cNvSpPr>
            <p:nvPr/>
          </p:nvSpPr>
          <p:spPr bwMode="auto">
            <a:xfrm>
              <a:off x="8144934" y="5208513"/>
              <a:ext cx="397272" cy="3778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600" b="1">
                  <a:ea typeface="黑体" panose="02010609060101010101" pitchFamily="49" charset="-122"/>
                </a:rPr>
                <a:t>C</a:t>
              </a:r>
              <a:r>
                <a:rPr lang="en-US" altLang="zh-CN" sz="1600" b="1" baseline="-25000"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47128" name="Text Box 59"/>
            <p:cNvSpPr txBox="1">
              <a:spLocks noChangeArrowheads="1"/>
            </p:cNvSpPr>
            <p:nvPr/>
          </p:nvSpPr>
          <p:spPr bwMode="auto">
            <a:xfrm>
              <a:off x="4328716" y="4929112"/>
              <a:ext cx="111440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b="1">
                  <a:solidFill>
                    <a:srgbClr val="C00000"/>
                  </a:solidFill>
                  <a:ea typeface="黑体" panose="02010609060101010101" pitchFamily="49" charset="-122"/>
                </a:rPr>
                <a:t>共享信道</a:t>
              </a:r>
            </a:p>
          </p:txBody>
        </p:sp>
        <p:sp>
          <p:nvSpPr>
            <p:cNvPr id="47129" name="Text Box 61"/>
            <p:cNvSpPr txBox="1">
              <a:spLocks noChangeArrowheads="1"/>
            </p:cNvSpPr>
            <p:nvPr/>
          </p:nvSpPr>
          <p:spPr bwMode="auto">
            <a:xfrm>
              <a:off x="4016896" y="5301208"/>
              <a:ext cx="213071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000" b="1">
                  <a:ea typeface="黑体" panose="02010609060101010101" pitchFamily="49" charset="-122"/>
                </a:rPr>
                <a:t>(b) </a:t>
              </a:r>
              <a:r>
                <a:rPr lang="zh-CN" altLang="en-US" sz="2000" b="1">
                  <a:ea typeface="黑体" panose="02010609060101010101" pitchFamily="49" charset="-122"/>
                </a:rPr>
                <a:t>使用共享信道</a:t>
              </a:r>
            </a:p>
          </p:txBody>
        </p:sp>
        <p:sp>
          <p:nvSpPr>
            <p:cNvPr id="47130" name="Oval 62"/>
            <p:cNvSpPr>
              <a:spLocks noChangeArrowheads="1"/>
            </p:cNvSpPr>
            <p:nvPr/>
          </p:nvSpPr>
          <p:spPr bwMode="auto">
            <a:xfrm>
              <a:off x="2431785" y="4702100"/>
              <a:ext cx="717154" cy="379413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600" b="1">
                  <a:ea typeface="黑体" panose="02010609060101010101" pitchFamily="49" charset="-122"/>
                </a:rPr>
                <a:t>复用</a:t>
              </a:r>
            </a:p>
          </p:txBody>
        </p:sp>
        <p:sp>
          <p:nvSpPr>
            <p:cNvPr id="47131" name="Oval 63"/>
            <p:cNvSpPr>
              <a:spLocks noChangeArrowheads="1"/>
            </p:cNvSpPr>
            <p:nvPr/>
          </p:nvSpPr>
          <p:spPr bwMode="auto">
            <a:xfrm>
              <a:off x="7047706" y="4716387"/>
              <a:ext cx="717154" cy="379412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600" b="1">
                  <a:ea typeface="黑体" panose="02010609060101010101" pitchFamily="49" charset="-122"/>
                </a:rPr>
                <a:t>分用</a:t>
              </a:r>
            </a:p>
          </p:txBody>
        </p:sp>
        <p:sp>
          <p:nvSpPr>
            <p:cNvPr id="47132" name="Line 67"/>
            <p:cNvSpPr>
              <a:spLocks noChangeShapeType="1"/>
            </p:cNvSpPr>
            <p:nvPr/>
          </p:nvSpPr>
          <p:spPr bwMode="auto">
            <a:xfrm>
              <a:off x="3676915" y="4776712"/>
              <a:ext cx="239051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3" name="Line 68"/>
            <p:cNvSpPr>
              <a:spLocks noChangeShapeType="1"/>
            </p:cNvSpPr>
            <p:nvPr/>
          </p:nvSpPr>
          <p:spPr bwMode="auto">
            <a:xfrm>
              <a:off x="1910689" y="4859262"/>
              <a:ext cx="398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4" name="Line 69"/>
            <p:cNvSpPr>
              <a:spLocks noChangeShapeType="1"/>
            </p:cNvSpPr>
            <p:nvPr/>
          </p:nvSpPr>
          <p:spPr bwMode="auto">
            <a:xfrm>
              <a:off x="7744222" y="4829099"/>
              <a:ext cx="3989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5" name="Line 70"/>
            <p:cNvSpPr>
              <a:spLocks noChangeShapeType="1"/>
            </p:cNvSpPr>
            <p:nvPr/>
          </p:nvSpPr>
          <p:spPr bwMode="auto">
            <a:xfrm rot="1484370">
              <a:off x="1979481" y="4554462"/>
              <a:ext cx="398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6" name="Line 71"/>
            <p:cNvSpPr>
              <a:spLocks noChangeShapeType="1"/>
            </p:cNvSpPr>
            <p:nvPr/>
          </p:nvSpPr>
          <p:spPr bwMode="auto">
            <a:xfrm rot="1484370">
              <a:off x="7802695" y="5171999"/>
              <a:ext cx="398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7" name="Line 72"/>
            <p:cNvSpPr>
              <a:spLocks noChangeShapeType="1"/>
            </p:cNvSpPr>
            <p:nvPr/>
          </p:nvSpPr>
          <p:spPr bwMode="auto">
            <a:xfrm rot="-1648508">
              <a:off x="1922727" y="5138663"/>
              <a:ext cx="398992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8" name="Line 73"/>
            <p:cNvSpPr>
              <a:spLocks noChangeShapeType="1"/>
            </p:cNvSpPr>
            <p:nvPr/>
          </p:nvSpPr>
          <p:spPr bwMode="auto">
            <a:xfrm rot="-1648508">
              <a:off x="7659952" y="4563988"/>
              <a:ext cx="398992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8" name="Oval 74"/>
            <p:cNvSpPr>
              <a:spLocks noChangeArrowheads="1"/>
            </p:cNvSpPr>
            <p:nvPr/>
          </p:nvSpPr>
          <p:spPr bwMode="auto">
            <a:xfrm>
              <a:off x="2098543" y="4292558"/>
              <a:ext cx="158750" cy="15247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 noProof="1"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123979" name="Oval 75"/>
            <p:cNvSpPr>
              <a:spLocks noChangeArrowheads="1"/>
            </p:cNvSpPr>
            <p:nvPr/>
          </p:nvSpPr>
          <p:spPr bwMode="auto">
            <a:xfrm>
              <a:off x="7729406" y="4365616"/>
              <a:ext cx="158750" cy="150882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 noProof="1"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47141" name="Rectangle 76"/>
            <p:cNvSpPr>
              <a:spLocks noChangeArrowheads="1"/>
            </p:cNvSpPr>
            <p:nvPr/>
          </p:nvSpPr>
          <p:spPr bwMode="auto">
            <a:xfrm>
              <a:off x="2012157" y="4692574"/>
              <a:ext cx="128985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ea typeface="黑体" panose="02010609060101010101" pitchFamily="49" charset="-122"/>
              </a:endParaRPr>
            </a:p>
          </p:txBody>
        </p:sp>
        <p:sp>
          <p:nvSpPr>
            <p:cNvPr id="47142" name="Rectangle 77"/>
            <p:cNvSpPr>
              <a:spLocks noChangeArrowheads="1"/>
            </p:cNvSpPr>
            <p:nvPr/>
          </p:nvSpPr>
          <p:spPr bwMode="auto">
            <a:xfrm>
              <a:off x="7874927" y="4679874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ea typeface="黑体" panose="02010609060101010101" pitchFamily="49" charset="-122"/>
              </a:endParaRPr>
            </a:p>
          </p:txBody>
        </p:sp>
        <p:sp>
          <p:nvSpPr>
            <p:cNvPr id="47143" name="AutoShape 79"/>
            <p:cNvSpPr>
              <a:spLocks noChangeArrowheads="1"/>
            </p:cNvSpPr>
            <p:nvPr/>
          </p:nvSpPr>
          <p:spPr bwMode="auto">
            <a:xfrm>
              <a:off x="7919641" y="4962449"/>
              <a:ext cx="178858" cy="171450"/>
            </a:xfrm>
            <a:custGeom>
              <a:avLst/>
              <a:gdLst>
                <a:gd name="T0" fmla="*/ 0 w 178858"/>
                <a:gd name="T1" fmla="*/ 65487 h 171450"/>
                <a:gd name="T2" fmla="*/ 68318 w 178858"/>
                <a:gd name="T3" fmla="*/ 65488 h 171450"/>
                <a:gd name="T4" fmla="*/ 89429 w 178858"/>
                <a:gd name="T5" fmla="*/ 0 h 171450"/>
                <a:gd name="T6" fmla="*/ 110539 w 178858"/>
                <a:gd name="T7" fmla="*/ 65488 h 171450"/>
                <a:gd name="T8" fmla="*/ 178857 w 178858"/>
                <a:gd name="T9" fmla="*/ 65487 h 171450"/>
                <a:gd name="T10" fmla="*/ 123587 w 178858"/>
                <a:gd name="T11" fmla="*/ 105961 h 171450"/>
                <a:gd name="T12" fmla="*/ 144699 w 178858"/>
                <a:gd name="T13" fmla="*/ 171449 h 171450"/>
                <a:gd name="T14" fmla="*/ 89429 w 178858"/>
                <a:gd name="T15" fmla="*/ 130975 h 171450"/>
                <a:gd name="T16" fmla="*/ 34158 w 178858"/>
                <a:gd name="T17" fmla="*/ 171449 h 171450"/>
                <a:gd name="T18" fmla="*/ 55270 w 178858"/>
                <a:gd name="T19" fmla="*/ 105961 h 17145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8858" h="171450">
                  <a:moveTo>
                    <a:pt x="0" y="65487"/>
                  </a:moveTo>
                  <a:lnTo>
                    <a:pt x="68318" y="65488"/>
                  </a:lnTo>
                  <a:lnTo>
                    <a:pt x="89429" y="0"/>
                  </a:lnTo>
                  <a:lnTo>
                    <a:pt x="110539" y="65488"/>
                  </a:lnTo>
                  <a:lnTo>
                    <a:pt x="178857" y="65487"/>
                  </a:lnTo>
                  <a:lnTo>
                    <a:pt x="123587" y="105961"/>
                  </a:lnTo>
                  <a:lnTo>
                    <a:pt x="144699" y="171449"/>
                  </a:lnTo>
                  <a:lnTo>
                    <a:pt x="89429" y="130975"/>
                  </a:lnTo>
                  <a:lnTo>
                    <a:pt x="34158" y="171449"/>
                  </a:lnTo>
                  <a:lnTo>
                    <a:pt x="55270" y="105961"/>
                  </a:lnTo>
                  <a:lnTo>
                    <a:pt x="0" y="65487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4" name="AutoShape 88"/>
            <p:cNvSpPr>
              <a:spLocks noChangeArrowheads="1"/>
            </p:cNvSpPr>
            <p:nvPr/>
          </p:nvSpPr>
          <p:spPr bwMode="auto">
            <a:xfrm>
              <a:off x="1943364" y="4978325"/>
              <a:ext cx="180579" cy="169863"/>
            </a:xfrm>
            <a:custGeom>
              <a:avLst/>
              <a:gdLst>
                <a:gd name="T0" fmla="*/ 0 w 180579"/>
                <a:gd name="T1" fmla="*/ 64881 h 169863"/>
                <a:gd name="T2" fmla="*/ 68975 w 180579"/>
                <a:gd name="T3" fmla="*/ 64882 h 169863"/>
                <a:gd name="T4" fmla="*/ 90289 w 180579"/>
                <a:gd name="T5" fmla="*/ 0 h 169863"/>
                <a:gd name="T6" fmla="*/ 111603 w 180579"/>
                <a:gd name="T7" fmla="*/ 64882 h 169863"/>
                <a:gd name="T8" fmla="*/ 180578 w 180579"/>
                <a:gd name="T9" fmla="*/ 64881 h 169863"/>
                <a:gd name="T10" fmla="*/ 124776 w 180579"/>
                <a:gd name="T11" fmla="*/ 104980 h 169863"/>
                <a:gd name="T12" fmla="*/ 146091 w 180579"/>
                <a:gd name="T13" fmla="*/ 169862 h 169863"/>
                <a:gd name="T14" fmla="*/ 90289 w 180579"/>
                <a:gd name="T15" fmla="*/ 129762 h 169863"/>
                <a:gd name="T16" fmla="*/ 34487 w 180579"/>
                <a:gd name="T17" fmla="*/ 169862 h 169863"/>
                <a:gd name="T18" fmla="*/ 55802 w 180579"/>
                <a:gd name="T19" fmla="*/ 104980 h 1698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0579" h="169863">
                  <a:moveTo>
                    <a:pt x="0" y="64881"/>
                  </a:moveTo>
                  <a:lnTo>
                    <a:pt x="68975" y="64882"/>
                  </a:lnTo>
                  <a:lnTo>
                    <a:pt x="90289" y="0"/>
                  </a:lnTo>
                  <a:lnTo>
                    <a:pt x="111603" y="64882"/>
                  </a:lnTo>
                  <a:lnTo>
                    <a:pt x="180578" y="64881"/>
                  </a:lnTo>
                  <a:lnTo>
                    <a:pt x="124776" y="104980"/>
                  </a:lnTo>
                  <a:lnTo>
                    <a:pt x="146091" y="169862"/>
                  </a:lnTo>
                  <a:lnTo>
                    <a:pt x="90289" y="129762"/>
                  </a:lnTo>
                  <a:lnTo>
                    <a:pt x="34487" y="169862"/>
                  </a:lnTo>
                  <a:lnTo>
                    <a:pt x="55802" y="104980"/>
                  </a:lnTo>
                  <a:lnTo>
                    <a:pt x="0" y="64881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93" name="Oval 89"/>
            <p:cNvSpPr>
              <a:spLocks noChangeArrowheads="1"/>
            </p:cNvSpPr>
            <p:nvPr/>
          </p:nvSpPr>
          <p:spPr bwMode="auto">
            <a:xfrm>
              <a:off x="4428993" y="4548263"/>
              <a:ext cx="160338" cy="152470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rgbClr val="000099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 noProof="1">
                <a:latin typeface="+mn-lt"/>
                <a:ea typeface="黑体" panose="02010609060101010101" pitchFamily="2" charset="-122"/>
              </a:endParaRPr>
            </a:p>
          </p:txBody>
        </p:sp>
        <p:sp>
          <p:nvSpPr>
            <p:cNvPr id="47146" name="Rectangle 90"/>
            <p:cNvSpPr>
              <a:spLocks noChangeArrowheads="1"/>
            </p:cNvSpPr>
            <p:nvPr/>
          </p:nvSpPr>
          <p:spPr bwMode="auto">
            <a:xfrm>
              <a:off x="4827836" y="4562399"/>
              <a:ext cx="128984" cy="122238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ea typeface="黑体" panose="02010609060101010101" pitchFamily="49" charset="-122"/>
              </a:endParaRPr>
            </a:p>
          </p:txBody>
        </p:sp>
        <p:sp>
          <p:nvSpPr>
            <p:cNvPr id="47147" name="AutoShape 91"/>
            <p:cNvSpPr>
              <a:spLocks noChangeArrowheads="1"/>
            </p:cNvSpPr>
            <p:nvPr/>
          </p:nvSpPr>
          <p:spPr bwMode="auto">
            <a:xfrm>
              <a:off x="5206190" y="4536999"/>
              <a:ext cx="178858" cy="171450"/>
            </a:xfrm>
            <a:custGeom>
              <a:avLst/>
              <a:gdLst>
                <a:gd name="T0" fmla="*/ 0 w 178858"/>
                <a:gd name="T1" fmla="*/ 65487 h 171450"/>
                <a:gd name="T2" fmla="*/ 68318 w 178858"/>
                <a:gd name="T3" fmla="*/ 65488 h 171450"/>
                <a:gd name="T4" fmla="*/ 89429 w 178858"/>
                <a:gd name="T5" fmla="*/ 0 h 171450"/>
                <a:gd name="T6" fmla="*/ 110539 w 178858"/>
                <a:gd name="T7" fmla="*/ 65488 h 171450"/>
                <a:gd name="T8" fmla="*/ 178857 w 178858"/>
                <a:gd name="T9" fmla="*/ 65487 h 171450"/>
                <a:gd name="T10" fmla="*/ 123587 w 178858"/>
                <a:gd name="T11" fmla="*/ 105961 h 171450"/>
                <a:gd name="T12" fmla="*/ 144699 w 178858"/>
                <a:gd name="T13" fmla="*/ 171449 h 171450"/>
                <a:gd name="T14" fmla="*/ 89429 w 178858"/>
                <a:gd name="T15" fmla="*/ 130975 h 171450"/>
                <a:gd name="T16" fmla="*/ 34158 w 178858"/>
                <a:gd name="T17" fmla="*/ 171449 h 171450"/>
                <a:gd name="T18" fmla="*/ 55270 w 178858"/>
                <a:gd name="T19" fmla="*/ 105961 h 17145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8858" h="171450">
                  <a:moveTo>
                    <a:pt x="0" y="65487"/>
                  </a:moveTo>
                  <a:lnTo>
                    <a:pt x="68318" y="65488"/>
                  </a:lnTo>
                  <a:lnTo>
                    <a:pt x="89429" y="0"/>
                  </a:lnTo>
                  <a:lnTo>
                    <a:pt x="110539" y="65488"/>
                  </a:lnTo>
                  <a:lnTo>
                    <a:pt x="178857" y="65487"/>
                  </a:lnTo>
                  <a:lnTo>
                    <a:pt x="123587" y="105961"/>
                  </a:lnTo>
                  <a:lnTo>
                    <a:pt x="144699" y="171449"/>
                  </a:lnTo>
                  <a:lnTo>
                    <a:pt x="89429" y="130975"/>
                  </a:lnTo>
                  <a:lnTo>
                    <a:pt x="34158" y="171449"/>
                  </a:lnTo>
                  <a:lnTo>
                    <a:pt x="55270" y="105961"/>
                  </a:lnTo>
                  <a:lnTo>
                    <a:pt x="0" y="65487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109" name="矩形 1"/>
          <p:cNvSpPr>
            <a:spLocks noChangeArrowheads="1"/>
          </p:cNvSpPr>
          <p:nvPr/>
        </p:nvSpPr>
        <p:spPr bwMode="auto">
          <a:xfrm>
            <a:off x="488950" y="1190625"/>
            <a:ext cx="9144000" cy="904875"/>
          </a:xfrm>
          <a:prstGeom prst="rect">
            <a:avLst/>
          </a:prstGeom>
          <a:solidFill>
            <a:srgbClr val="66FF66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rgbClr val="FF0000"/>
                </a:solidFill>
                <a:ea typeface="黑体" panose="02010609060101010101" pitchFamily="49" charset="-122"/>
              </a:rPr>
              <a:t>复用 </a:t>
            </a:r>
            <a:r>
              <a:rPr lang="en-US" altLang="zh-CN" sz="2400" b="1">
                <a:ea typeface="黑体" panose="02010609060101010101" pitchFamily="49" charset="-122"/>
              </a:rPr>
              <a:t>(multiplexing) </a:t>
            </a:r>
            <a:r>
              <a:rPr lang="zh-CN" altLang="en-US" sz="2400" b="1">
                <a:ea typeface="黑体" panose="02010609060101010101" pitchFamily="49" charset="-122"/>
              </a:rPr>
              <a:t>是通信技术中的基本概念。</a:t>
            </a:r>
            <a:endParaRPr lang="en-US" altLang="zh-CN" sz="2400" b="1"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b="1">
                <a:ea typeface="黑体" panose="02010609060101010101" pitchFamily="49" charset="-122"/>
              </a:rPr>
              <a:t>它允许用户</a:t>
            </a:r>
            <a:r>
              <a:rPr lang="zh-CN" altLang="zh-CN" sz="2400" b="1">
                <a:ea typeface="黑体" panose="02010609060101010101" pitchFamily="49" charset="-122"/>
              </a:rPr>
              <a:t>使用一个</a:t>
            </a:r>
            <a:r>
              <a:rPr lang="zh-CN" altLang="zh-CN" sz="2400" b="1">
                <a:solidFill>
                  <a:srgbClr val="FF0000"/>
                </a:solidFill>
                <a:ea typeface="黑体" panose="02010609060101010101" pitchFamily="49" charset="-122"/>
              </a:rPr>
              <a:t>共享</a:t>
            </a:r>
            <a:r>
              <a:rPr lang="zh-CN" altLang="zh-CN" sz="2400" b="1">
                <a:ea typeface="黑体" panose="02010609060101010101" pitchFamily="49" charset="-122"/>
              </a:rPr>
              <a:t>信道进行通信</a:t>
            </a:r>
            <a:r>
              <a:rPr lang="zh-CN" altLang="en-US" sz="2400" b="1">
                <a:ea typeface="黑体" panose="02010609060101010101" pitchFamily="49" charset="-122"/>
              </a:rPr>
              <a:t>，降低成本，提高利用率。</a:t>
            </a:r>
          </a:p>
        </p:txBody>
      </p:sp>
      <p:sp>
        <p:nvSpPr>
          <p:cNvPr id="47110" name="矩形 2"/>
          <p:cNvSpPr>
            <a:spLocks noChangeArrowheads="1"/>
          </p:cNvSpPr>
          <p:nvPr/>
        </p:nvSpPr>
        <p:spPr bwMode="auto">
          <a:xfrm>
            <a:off x="2360613" y="5991225"/>
            <a:ext cx="5403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zh-CN" sz="2400" b="1">
                <a:ea typeface="黑体" panose="02010609060101010101" pitchFamily="49" charset="-122"/>
              </a:rPr>
              <a:t>复用的示意图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47111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1E2993-05FD-4303-AD79-36C388493C83}" type="slidenum">
              <a:rPr altLang="en-US" smtClean="0"/>
              <a:pPr/>
              <a:t>4</a:t>
            </a:fld>
            <a:endParaRPr lang="zh-CN" altLang="zh-CN" smtClean="0"/>
          </a:p>
        </p:txBody>
      </p:sp>
      <p:sp>
        <p:nvSpPr>
          <p:cNvPr id="47112" name="页脚占位符 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1511300"/>
          </a:xfrm>
        </p:spPr>
        <p:txBody>
          <a:bodyPr/>
          <a:lstStyle/>
          <a:p>
            <a:pPr algn="ctr" eaLnBrk="1" hangingPunct="1"/>
            <a:r>
              <a:rPr lang="zh-CN" altLang="en-US" dirty="0" smtClean="0">
                <a:ea typeface="黑体" panose="02010609060101010101" pitchFamily="49" charset="-122"/>
              </a:rPr>
              <a:t>频分复用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FDM</a:t>
            </a:r>
            <a:r>
              <a:rPr lang="en-US" altLang="zh-CN" dirty="0" smtClean="0">
                <a:ea typeface="黑体" panose="02010609060101010101" pitchFamily="49" charset="-122"/>
              </a:rPr>
              <a:t/>
            </a:r>
            <a:br>
              <a:rPr lang="en-US" altLang="zh-CN" dirty="0" smtClean="0">
                <a:ea typeface="黑体" panose="02010609060101010101" pitchFamily="49" charset="-122"/>
              </a:rPr>
            </a:br>
            <a:r>
              <a:rPr lang="en-US" altLang="zh-CN" dirty="0" smtClean="0">
                <a:ea typeface="黑体" panose="02010609060101010101" pitchFamily="49" charset="-122"/>
              </a:rPr>
              <a:t>(Frequency Division Multiplexing) 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773238"/>
            <a:ext cx="9066213" cy="4357687"/>
          </a:xfrm>
        </p:spPr>
        <p:txBody>
          <a:bodyPr/>
          <a:lstStyle/>
          <a:p>
            <a:pPr eaLnBrk="1" hangingPunct="1"/>
            <a:r>
              <a:rPr lang="zh-CN" altLang="en-US" sz="2400" smtClean="0">
                <a:ea typeface="黑体" panose="02010609060101010101" pitchFamily="49" charset="-122"/>
              </a:rPr>
              <a:t>将整个带宽分为多份，用户在分配到一定的频带后，在通信过程中自始至终都占用这个频带。</a:t>
            </a:r>
          </a:p>
          <a:p>
            <a:pPr eaLnBrk="1" hangingPunct="1"/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频分复用</a:t>
            </a:r>
            <a:r>
              <a:rPr lang="zh-CN" altLang="en-US" sz="2400" smtClean="0">
                <a:ea typeface="黑体" panose="02010609060101010101" pitchFamily="49" charset="-122"/>
              </a:rPr>
              <a:t>的所有用户在同样的时间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占用不同的带宽资源</a:t>
            </a:r>
            <a:r>
              <a:rPr lang="zh-CN" altLang="en-US" sz="2400" smtClean="0">
                <a:ea typeface="黑体" panose="02010609060101010101" pitchFamily="49" charset="-122"/>
              </a:rPr>
              <a:t>（请注意，这里的“带宽”是频率带宽而不是数据的发送速率）。 </a:t>
            </a:r>
          </a:p>
        </p:txBody>
      </p:sp>
      <p:grpSp>
        <p:nvGrpSpPr>
          <p:cNvPr id="49156" name="组合 5"/>
          <p:cNvGrpSpPr>
            <a:grpSpLocks/>
          </p:cNvGrpSpPr>
          <p:nvPr/>
        </p:nvGrpSpPr>
        <p:grpSpPr bwMode="auto">
          <a:xfrm>
            <a:off x="1443038" y="3573463"/>
            <a:ext cx="7519987" cy="2817812"/>
            <a:chOff x="1442906" y="3573016"/>
            <a:chExt cx="7520089" cy="2817604"/>
          </a:xfrm>
        </p:grpSpPr>
        <p:sp>
          <p:nvSpPr>
            <p:cNvPr id="49160" name="Text Box 29"/>
            <p:cNvSpPr txBox="1">
              <a:spLocks noChangeArrowheads="1"/>
            </p:cNvSpPr>
            <p:nvPr/>
          </p:nvSpPr>
          <p:spPr bwMode="auto">
            <a:xfrm>
              <a:off x="1442906" y="3573016"/>
              <a:ext cx="69762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频率</a:t>
              </a:r>
            </a:p>
          </p:txBody>
        </p:sp>
        <p:sp>
          <p:nvSpPr>
            <p:cNvPr id="49161" name="Text Box 30"/>
            <p:cNvSpPr txBox="1">
              <a:spLocks noChangeArrowheads="1"/>
            </p:cNvSpPr>
            <p:nvPr/>
          </p:nvSpPr>
          <p:spPr bwMode="auto">
            <a:xfrm>
              <a:off x="8265368" y="6021288"/>
              <a:ext cx="69762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时间</a:t>
              </a:r>
            </a:p>
          </p:txBody>
        </p:sp>
        <p:sp>
          <p:nvSpPr>
            <p:cNvPr id="49162" name="Rectangle 31"/>
            <p:cNvSpPr>
              <a:spLocks noChangeArrowheads="1"/>
            </p:cNvSpPr>
            <p:nvPr/>
          </p:nvSpPr>
          <p:spPr bwMode="auto">
            <a:xfrm>
              <a:off x="2192735" y="3805575"/>
              <a:ext cx="6005513" cy="387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163" name="Rectangle 32"/>
            <p:cNvSpPr>
              <a:spLocks noChangeArrowheads="1"/>
            </p:cNvSpPr>
            <p:nvPr/>
          </p:nvSpPr>
          <p:spPr bwMode="auto">
            <a:xfrm>
              <a:off x="2192735" y="4192925"/>
              <a:ext cx="6005513" cy="38735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164" name="Rectangle 34"/>
            <p:cNvSpPr>
              <a:spLocks noChangeArrowheads="1"/>
            </p:cNvSpPr>
            <p:nvPr/>
          </p:nvSpPr>
          <p:spPr bwMode="auto">
            <a:xfrm>
              <a:off x="2192735" y="4967625"/>
              <a:ext cx="6005513" cy="387350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165" name="Rectangle 35"/>
            <p:cNvSpPr>
              <a:spLocks noChangeArrowheads="1"/>
            </p:cNvSpPr>
            <p:nvPr/>
          </p:nvSpPr>
          <p:spPr bwMode="auto">
            <a:xfrm>
              <a:off x="2192735" y="5354975"/>
              <a:ext cx="6005513" cy="387350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166" name="Text Box 36"/>
            <p:cNvSpPr txBox="1">
              <a:spLocks noChangeArrowheads="1"/>
            </p:cNvSpPr>
            <p:nvPr/>
          </p:nvSpPr>
          <p:spPr bwMode="auto">
            <a:xfrm>
              <a:off x="4765544" y="5412125"/>
              <a:ext cx="9140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频带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49167" name="Text Box 37"/>
            <p:cNvSpPr txBox="1">
              <a:spLocks noChangeArrowheads="1"/>
            </p:cNvSpPr>
            <p:nvPr/>
          </p:nvSpPr>
          <p:spPr bwMode="auto">
            <a:xfrm>
              <a:off x="4765544" y="5023188"/>
              <a:ext cx="9140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频带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49168" name="Text Box 39"/>
            <p:cNvSpPr txBox="1">
              <a:spLocks noChangeArrowheads="1"/>
            </p:cNvSpPr>
            <p:nvPr/>
          </p:nvSpPr>
          <p:spPr bwMode="auto">
            <a:xfrm>
              <a:off x="4915165" y="4015125"/>
              <a:ext cx="543739" cy="480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</a:t>
              </a:r>
              <a:endParaRPr lang="zh-CN" altLang="zh-CN" sz="2800" b="1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49169" name="Text Box 40"/>
            <p:cNvSpPr txBox="1">
              <a:spLocks noChangeArrowheads="1"/>
            </p:cNvSpPr>
            <p:nvPr/>
          </p:nvSpPr>
          <p:spPr bwMode="auto">
            <a:xfrm>
              <a:off x="4765544" y="3848438"/>
              <a:ext cx="96051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频带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n</a:t>
              </a:r>
            </a:p>
          </p:txBody>
        </p:sp>
        <p:sp>
          <p:nvSpPr>
            <p:cNvPr id="49170" name="Line 41"/>
            <p:cNvSpPr>
              <a:spLocks noChangeShapeType="1"/>
            </p:cNvSpPr>
            <p:nvPr/>
          </p:nvSpPr>
          <p:spPr bwMode="auto">
            <a:xfrm rot="-5400000">
              <a:off x="983456" y="4821302"/>
              <a:ext cx="2418555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1" name="Rectangle 34"/>
            <p:cNvSpPr>
              <a:spLocks noChangeArrowheads="1"/>
            </p:cNvSpPr>
            <p:nvPr/>
          </p:nvSpPr>
          <p:spPr bwMode="auto">
            <a:xfrm>
              <a:off x="2199895" y="4580274"/>
              <a:ext cx="6005513" cy="387351"/>
            </a:xfrm>
            <a:prstGeom prst="rect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9172" name="Text Box 38"/>
            <p:cNvSpPr txBox="1">
              <a:spLocks noChangeArrowheads="1"/>
            </p:cNvSpPr>
            <p:nvPr/>
          </p:nvSpPr>
          <p:spPr bwMode="auto">
            <a:xfrm>
              <a:off x="4765544" y="4643844"/>
              <a:ext cx="9140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频带 </a:t>
              </a: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3</a:t>
              </a:r>
            </a:p>
          </p:txBody>
        </p:sp>
        <p:cxnSp>
          <p:nvCxnSpPr>
            <p:cNvPr id="49173" name="直接箭头连接符 4"/>
            <p:cNvCxnSpPr>
              <a:cxnSpLocks noChangeShapeType="1"/>
              <a:stCxn id="49170" idx="0"/>
            </p:cNvCxnSpPr>
            <p:nvPr/>
          </p:nvCxnSpPr>
          <p:spPr bwMode="auto">
            <a:xfrm>
              <a:off x="2192735" y="6030580"/>
              <a:ext cx="6432673" cy="0"/>
            </a:xfrm>
            <a:prstGeom prst="straightConnector1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9157" name="矩形 6"/>
          <p:cNvSpPr>
            <a:spLocks noChangeArrowheads="1"/>
          </p:cNvSpPr>
          <p:nvPr/>
        </p:nvSpPr>
        <p:spPr bwMode="auto">
          <a:xfrm>
            <a:off x="3800475" y="6092825"/>
            <a:ext cx="3022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zh-CN" sz="2400" b="1">
                <a:ea typeface="黑体" panose="02010609060101010101" pitchFamily="49" charset="-122"/>
              </a:rPr>
              <a:t>频分复用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4915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06F38B-C9C9-4780-9B40-692BA79088B2}" type="slidenum">
              <a:rPr altLang="en-US" smtClean="0"/>
              <a:pPr/>
              <a:t>5</a:t>
            </a:fld>
            <a:endParaRPr lang="zh-CN" altLang="zh-CN" smtClean="0"/>
          </a:p>
        </p:txBody>
      </p:sp>
      <p:sp>
        <p:nvSpPr>
          <p:cNvPr id="49159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1511300"/>
          </a:xfrm>
        </p:spPr>
        <p:txBody>
          <a:bodyPr/>
          <a:lstStyle/>
          <a:p>
            <a:pPr algn="ctr" eaLnBrk="1" hangingPunct="1"/>
            <a:r>
              <a:rPr lang="zh-CN" altLang="en-US" dirty="0" smtClean="0">
                <a:ea typeface="黑体" panose="02010609060101010101" pitchFamily="49" charset="-122"/>
              </a:rPr>
              <a:t>时分复用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TDM</a:t>
            </a:r>
            <a:r>
              <a:rPr lang="en-US" altLang="zh-CN" dirty="0" smtClean="0">
                <a:ea typeface="黑体" panose="02010609060101010101" pitchFamily="49" charset="-122"/>
              </a:rPr>
              <a:t/>
            </a:r>
            <a:br>
              <a:rPr lang="en-US" altLang="zh-CN" dirty="0" smtClean="0">
                <a:ea typeface="黑体" panose="02010609060101010101" pitchFamily="49" charset="-122"/>
              </a:rPr>
            </a:br>
            <a:r>
              <a:rPr lang="en-US" altLang="zh-CN" dirty="0" smtClean="0">
                <a:ea typeface="黑体" panose="02010609060101010101" pitchFamily="49" charset="-122"/>
              </a:rPr>
              <a:t>(Time Division Multiplexing) 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773238"/>
            <a:ext cx="9066213" cy="4357687"/>
          </a:xfrm>
        </p:spPr>
        <p:txBody>
          <a:bodyPr/>
          <a:lstStyle/>
          <a:p>
            <a:pPr eaLnBrk="1" hangingPunct="1"/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时分复用</a:t>
            </a:r>
            <a:r>
              <a:rPr lang="zh-CN" altLang="en-US" sz="2800" smtClean="0">
                <a:ea typeface="黑体" panose="02010609060101010101" pitchFamily="49" charset="-122"/>
              </a:rPr>
              <a:t>则是将时间划分为一段段等长的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时分复用帧</a:t>
            </a:r>
            <a:r>
              <a:rPr lang="zh-CN" altLang="en-US" sz="2800" smtClean="0">
                <a:ea typeface="黑体" panose="02010609060101010101" pitchFamily="49" charset="-122"/>
              </a:rPr>
              <a:t>（</a:t>
            </a:r>
            <a:r>
              <a:rPr lang="en-US" altLang="zh-CN" sz="2800" smtClean="0">
                <a:ea typeface="黑体" panose="02010609060101010101" pitchFamily="49" charset="-122"/>
              </a:rPr>
              <a:t>TDM </a:t>
            </a:r>
            <a:r>
              <a:rPr lang="zh-CN" altLang="en-US" sz="2800" smtClean="0">
                <a:ea typeface="黑体" panose="02010609060101010101" pitchFamily="49" charset="-122"/>
              </a:rPr>
              <a:t>帧）。每一个时分复用的用户在每一个 </a:t>
            </a:r>
            <a:r>
              <a:rPr lang="en-US" altLang="zh-CN" sz="2800" smtClean="0">
                <a:ea typeface="黑体" panose="02010609060101010101" pitchFamily="49" charset="-122"/>
              </a:rPr>
              <a:t>TDM </a:t>
            </a:r>
            <a:r>
              <a:rPr lang="zh-CN" altLang="en-US" sz="2800" smtClean="0">
                <a:ea typeface="黑体" panose="02010609060101010101" pitchFamily="49" charset="-122"/>
              </a:rPr>
              <a:t>帧中占用固定序号的时隙。</a:t>
            </a:r>
          </a:p>
          <a:p>
            <a:pPr eaLnBrk="1" hangingPunct="1"/>
            <a:r>
              <a:rPr lang="zh-CN" altLang="en-US" sz="2800" smtClean="0">
                <a:ea typeface="黑体" panose="02010609060101010101" pitchFamily="49" charset="-122"/>
              </a:rPr>
              <a:t>每一个用户所占用的时隙是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周期性地出现</a:t>
            </a:r>
            <a:r>
              <a:rPr lang="zh-CN" altLang="en-US" sz="2800" smtClean="0">
                <a:ea typeface="黑体" panose="02010609060101010101" pitchFamily="49" charset="-122"/>
              </a:rPr>
              <a:t>（其周期就是 </a:t>
            </a:r>
            <a:r>
              <a:rPr lang="en-US" altLang="zh-CN" sz="2800" smtClean="0">
                <a:ea typeface="黑体" panose="02010609060101010101" pitchFamily="49" charset="-122"/>
              </a:rPr>
              <a:t>TDM  </a:t>
            </a:r>
            <a:r>
              <a:rPr lang="zh-CN" altLang="en-US" sz="2800" smtClean="0">
                <a:ea typeface="黑体" panose="02010609060101010101" pitchFamily="49" charset="-122"/>
              </a:rPr>
              <a:t>帧的长度）。</a:t>
            </a:r>
          </a:p>
          <a:p>
            <a:pPr eaLnBrk="1" hangingPunct="1"/>
            <a:r>
              <a:rPr lang="en-US" altLang="zh-CN" sz="2800" smtClean="0">
                <a:ea typeface="黑体" panose="02010609060101010101" pitchFamily="49" charset="-122"/>
              </a:rPr>
              <a:t>TDM </a:t>
            </a:r>
            <a:r>
              <a:rPr lang="zh-CN" altLang="en-US" sz="2800" smtClean="0">
                <a:ea typeface="黑体" panose="02010609060101010101" pitchFamily="49" charset="-122"/>
              </a:rPr>
              <a:t>信号也称为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等时</a:t>
            </a:r>
            <a:r>
              <a:rPr lang="en-US" altLang="zh-CN" sz="2800" smtClean="0">
                <a:ea typeface="黑体" panose="02010609060101010101" pitchFamily="49" charset="-122"/>
              </a:rPr>
              <a:t>(isochronous)</a:t>
            </a:r>
            <a:r>
              <a:rPr lang="zh-CN" altLang="en-US" sz="2800" smtClean="0">
                <a:ea typeface="黑体" panose="02010609060101010101" pitchFamily="49" charset="-122"/>
              </a:rPr>
              <a:t>信号。</a:t>
            </a:r>
          </a:p>
          <a:p>
            <a:pPr eaLnBrk="1" hangingPunct="1"/>
            <a:r>
              <a:rPr lang="zh-CN" altLang="en-US" sz="2800" smtClean="0">
                <a:solidFill>
                  <a:srgbClr val="0000CC"/>
                </a:solidFill>
                <a:ea typeface="黑体" panose="02010609060101010101" pitchFamily="49" charset="-122"/>
              </a:rPr>
              <a:t>时分复用的所有用户是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在不同的时间</a:t>
            </a:r>
            <a:r>
              <a:rPr lang="zh-CN" altLang="en-US" sz="2800" smtClean="0">
                <a:solidFill>
                  <a:srgbClr val="0000CC"/>
                </a:solidFill>
                <a:ea typeface="黑体" panose="02010609060101010101" pitchFamily="49" charset="-122"/>
              </a:rPr>
              <a:t>占用</a:t>
            </a:r>
            <a:r>
              <a:rPr lang="zh-CN" altLang="en-US" sz="2800" smtClean="0">
                <a:solidFill>
                  <a:srgbClr val="FF0000"/>
                </a:solidFill>
                <a:ea typeface="黑体" panose="02010609060101010101" pitchFamily="49" charset="-122"/>
              </a:rPr>
              <a:t>同样的频带宽度。</a:t>
            </a:r>
          </a:p>
        </p:txBody>
      </p:sp>
      <p:sp>
        <p:nvSpPr>
          <p:cNvPr id="5120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B3C160-9228-4BDE-8C5C-120D7D216E27}" type="slidenum">
              <a:rPr altLang="en-US" smtClean="0"/>
              <a:pPr/>
              <a:t>6</a:t>
            </a:fld>
            <a:endParaRPr lang="zh-CN" altLang="zh-CN" smtClean="0"/>
          </a:p>
        </p:txBody>
      </p:sp>
      <p:sp>
        <p:nvSpPr>
          <p:cNvPr id="51205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smtClean="0">
                <a:ea typeface="黑体" panose="02010609060101010101" pitchFamily="49" charset="-122"/>
              </a:rPr>
              <a:t>时分复用</a:t>
            </a:r>
            <a:r>
              <a:rPr lang="en-US" altLang="zh-CN" smtClean="0">
                <a:ea typeface="黑体" panose="02010609060101010101" pitchFamily="49" charset="-122"/>
              </a:rPr>
              <a:t>TDM</a:t>
            </a:r>
            <a:r>
              <a:rPr lang="zh-CN" altLang="en-US" smtClean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3251" name="Line 3"/>
          <p:cNvSpPr>
            <a:spLocks noChangeShapeType="1"/>
          </p:cNvSpPr>
          <p:nvPr/>
        </p:nvSpPr>
        <p:spPr bwMode="auto">
          <a:xfrm flipV="1">
            <a:off x="1598613" y="4930775"/>
            <a:ext cx="6627812" cy="11113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849313" y="1797050"/>
            <a:ext cx="698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频率</a:t>
            </a: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8226425" y="4721225"/>
            <a:ext cx="69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时间</a:t>
            </a: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1911350" y="2420938"/>
            <a:ext cx="311150" cy="1871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auto">
          <a:xfrm>
            <a:off x="2224088" y="2420938"/>
            <a:ext cx="311150" cy="18716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C</a:t>
            </a:r>
          </a:p>
        </p:txBody>
      </p:sp>
      <p:sp>
        <p:nvSpPr>
          <p:cNvPr id="53256" name="Rectangle 8"/>
          <p:cNvSpPr>
            <a:spLocks noChangeArrowheads="1"/>
          </p:cNvSpPr>
          <p:nvPr/>
        </p:nvSpPr>
        <p:spPr bwMode="auto">
          <a:xfrm>
            <a:off x="2535238" y="2420938"/>
            <a:ext cx="311150" cy="1871662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D</a:t>
            </a:r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3159125" y="2420938"/>
            <a:ext cx="311150" cy="1871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53258" name="Rectangle 10"/>
          <p:cNvSpPr>
            <a:spLocks noChangeArrowheads="1"/>
          </p:cNvSpPr>
          <p:nvPr/>
        </p:nvSpPr>
        <p:spPr bwMode="auto">
          <a:xfrm>
            <a:off x="3471863" y="2420938"/>
            <a:ext cx="311150" cy="18716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C</a:t>
            </a:r>
          </a:p>
        </p:txBody>
      </p:sp>
      <p:sp>
        <p:nvSpPr>
          <p:cNvPr id="53259" name="Rectangle 11"/>
          <p:cNvSpPr>
            <a:spLocks noChangeArrowheads="1"/>
          </p:cNvSpPr>
          <p:nvPr/>
        </p:nvSpPr>
        <p:spPr bwMode="auto">
          <a:xfrm>
            <a:off x="3783013" y="2420938"/>
            <a:ext cx="311150" cy="1871662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D</a:t>
            </a:r>
          </a:p>
        </p:txBody>
      </p:sp>
      <p:sp>
        <p:nvSpPr>
          <p:cNvPr id="53260" name="Rectangle 12"/>
          <p:cNvSpPr>
            <a:spLocks noChangeArrowheads="1"/>
          </p:cNvSpPr>
          <p:nvPr/>
        </p:nvSpPr>
        <p:spPr bwMode="auto">
          <a:xfrm>
            <a:off x="4408488" y="2420938"/>
            <a:ext cx="311150" cy="1871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53261" name="Rectangle 13"/>
          <p:cNvSpPr>
            <a:spLocks noChangeArrowheads="1"/>
          </p:cNvSpPr>
          <p:nvPr/>
        </p:nvSpPr>
        <p:spPr bwMode="auto">
          <a:xfrm>
            <a:off x="4721225" y="2420938"/>
            <a:ext cx="311150" cy="18716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C</a:t>
            </a:r>
          </a:p>
        </p:txBody>
      </p:sp>
      <p:sp>
        <p:nvSpPr>
          <p:cNvPr id="53262" name="Rectangle 14"/>
          <p:cNvSpPr>
            <a:spLocks noChangeArrowheads="1"/>
          </p:cNvSpPr>
          <p:nvPr/>
        </p:nvSpPr>
        <p:spPr bwMode="auto">
          <a:xfrm>
            <a:off x="5032375" y="2420938"/>
            <a:ext cx="311150" cy="1871662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D</a:t>
            </a:r>
          </a:p>
        </p:txBody>
      </p:sp>
      <p:sp>
        <p:nvSpPr>
          <p:cNvPr id="53263" name="Rectangle 15"/>
          <p:cNvSpPr>
            <a:spLocks noChangeArrowheads="1"/>
          </p:cNvSpPr>
          <p:nvPr/>
        </p:nvSpPr>
        <p:spPr bwMode="auto">
          <a:xfrm>
            <a:off x="5656263" y="2420938"/>
            <a:ext cx="311150" cy="1871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53264" name="Rectangle 16"/>
          <p:cNvSpPr>
            <a:spLocks noChangeArrowheads="1"/>
          </p:cNvSpPr>
          <p:nvPr/>
        </p:nvSpPr>
        <p:spPr bwMode="auto">
          <a:xfrm>
            <a:off x="5969000" y="2420938"/>
            <a:ext cx="311150" cy="18716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C</a:t>
            </a:r>
          </a:p>
        </p:txBody>
      </p:sp>
      <p:sp>
        <p:nvSpPr>
          <p:cNvPr id="53265" name="Rectangle 17"/>
          <p:cNvSpPr>
            <a:spLocks noChangeArrowheads="1"/>
          </p:cNvSpPr>
          <p:nvPr/>
        </p:nvSpPr>
        <p:spPr bwMode="auto">
          <a:xfrm>
            <a:off x="6280150" y="2420938"/>
            <a:ext cx="311150" cy="1871662"/>
          </a:xfrm>
          <a:prstGeom prst="rect">
            <a:avLst/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solidFill>
                  <a:srgbClr val="000099"/>
                </a:solidFill>
                <a:ea typeface="黑体" panose="02010609060101010101" pitchFamily="49" charset="-122"/>
              </a:rPr>
              <a:t>D</a:t>
            </a:r>
          </a:p>
        </p:txBody>
      </p:sp>
      <p:grpSp>
        <p:nvGrpSpPr>
          <p:cNvPr id="258066" name="Group 18"/>
          <p:cNvGrpSpPr>
            <a:grpSpLocks/>
          </p:cNvGrpSpPr>
          <p:nvPr/>
        </p:nvGrpSpPr>
        <p:grpSpPr bwMode="auto">
          <a:xfrm>
            <a:off x="1600200" y="2420938"/>
            <a:ext cx="4056063" cy="1871662"/>
            <a:chOff x="930" y="1661"/>
            <a:chExt cx="2359" cy="1179"/>
          </a:xfrm>
        </p:grpSpPr>
        <p:sp>
          <p:nvSpPr>
            <p:cNvPr id="53298" name="Rectangle 19"/>
            <p:cNvSpPr>
              <a:spLocks noChangeArrowheads="1"/>
            </p:cNvSpPr>
            <p:nvPr/>
          </p:nvSpPr>
          <p:spPr bwMode="auto">
            <a:xfrm>
              <a:off x="930" y="1661"/>
              <a:ext cx="181" cy="1179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3299" name="Rectangle 20"/>
            <p:cNvSpPr>
              <a:spLocks noChangeArrowheads="1"/>
            </p:cNvSpPr>
            <p:nvPr/>
          </p:nvSpPr>
          <p:spPr bwMode="auto">
            <a:xfrm>
              <a:off x="1656" y="1661"/>
              <a:ext cx="181" cy="1179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3300" name="Rectangle 21"/>
            <p:cNvSpPr>
              <a:spLocks noChangeArrowheads="1"/>
            </p:cNvSpPr>
            <p:nvPr/>
          </p:nvSpPr>
          <p:spPr bwMode="auto">
            <a:xfrm>
              <a:off x="2382" y="1661"/>
              <a:ext cx="181" cy="1179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3301" name="Rectangle 22"/>
            <p:cNvSpPr>
              <a:spLocks noChangeArrowheads="1"/>
            </p:cNvSpPr>
            <p:nvPr/>
          </p:nvSpPr>
          <p:spPr bwMode="auto">
            <a:xfrm>
              <a:off x="3108" y="1661"/>
              <a:ext cx="181" cy="1179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</p:grpSp>
      <p:sp>
        <p:nvSpPr>
          <p:cNvPr id="53267" name="Line 26"/>
          <p:cNvSpPr>
            <a:spLocks noChangeShapeType="1"/>
          </p:cNvSpPr>
          <p:nvPr/>
        </p:nvSpPr>
        <p:spPr bwMode="auto">
          <a:xfrm flipH="1">
            <a:off x="1754188" y="1989138"/>
            <a:ext cx="1249362" cy="360362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8" name="Line 27"/>
          <p:cNvSpPr>
            <a:spLocks noChangeShapeType="1"/>
          </p:cNvSpPr>
          <p:nvPr/>
        </p:nvSpPr>
        <p:spPr bwMode="auto">
          <a:xfrm flipH="1">
            <a:off x="2995613" y="1989138"/>
            <a:ext cx="319087" cy="360362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69" name="Line 28"/>
          <p:cNvSpPr>
            <a:spLocks noChangeShapeType="1"/>
          </p:cNvSpPr>
          <p:nvPr/>
        </p:nvSpPr>
        <p:spPr bwMode="auto">
          <a:xfrm>
            <a:off x="3860800" y="1989138"/>
            <a:ext cx="377825" cy="360362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0" name="Line 29"/>
          <p:cNvSpPr>
            <a:spLocks noChangeShapeType="1"/>
          </p:cNvSpPr>
          <p:nvPr/>
        </p:nvSpPr>
        <p:spPr bwMode="auto">
          <a:xfrm>
            <a:off x="4405313" y="1989138"/>
            <a:ext cx="1076325" cy="360362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58078" name="Group 30"/>
          <p:cNvGrpSpPr>
            <a:grpSpLocks/>
          </p:cNvGrpSpPr>
          <p:nvPr/>
        </p:nvGrpSpPr>
        <p:grpSpPr bwMode="auto">
          <a:xfrm>
            <a:off x="1598613" y="4365625"/>
            <a:ext cx="1247775" cy="512763"/>
            <a:chOff x="930" y="2886"/>
            <a:chExt cx="725" cy="323"/>
          </a:xfrm>
        </p:grpSpPr>
        <p:sp>
          <p:nvSpPr>
            <p:cNvPr id="53296" name="Text Box 31"/>
            <p:cNvSpPr txBox="1">
              <a:spLocks noChangeArrowheads="1"/>
            </p:cNvSpPr>
            <p:nvPr/>
          </p:nvSpPr>
          <p:spPr bwMode="auto">
            <a:xfrm>
              <a:off x="975" y="2976"/>
              <a:ext cx="6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TDM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53297" name="AutoShape 32"/>
            <p:cNvSpPr>
              <a:spLocks/>
            </p:cNvSpPr>
            <p:nvPr/>
          </p:nvSpPr>
          <p:spPr bwMode="auto">
            <a:xfrm rot="16200000" flipV="1">
              <a:off x="1248" y="2567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258081" name="Group 33"/>
          <p:cNvGrpSpPr>
            <a:grpSpLocks/>
          </p:cNvGrpSpPr>
          <p:nvPr/>
        </p:nvGrpSpPr>
        <p:grpSpPr bwMode="auto">
          <a:xfrm>
            <a:off x="2846388" y="4365625"/>
            <a:ext cx="1246187" cy="512763"/>
            <a:chOff x="1655" y="2886"/>
            <a:chExt cx="725" cy="323"/>
          </a:xfrm>
        </p:grpSpPr>
        <p:sp>
          <p:nvSpPr>
            <p:cNvPr id="53294" name="Text Box 34"/>
            <p:cNvSpPr txBox="1">
              <a:spLocks noChangeArrowheads="1"/>
            </p:cNvSpPr>
            <p:nvPr/>
          </p:nvSpPr>
          <p:spPr bwMode="auto">
            <a:xfrm>
              <a:off x="1700" y="2976"/>
              <a:ext cx="6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TDM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53295" name="AutoShape 35"/>
            <p:cNvSpPr>
              <a:spLocks/>
            </p:cNvSpPr>
            <p:nvPr/>
          </p:nvSpPr>
          <p:spPr bwMode="auto">
            <a:xfrm rot="16200000" flipV="1">
              <a:off x="1973" y="2567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258084" name="Group 36"/>
          <p:cNvGrpSpPr>
            <a:grpSpLocks/>
          </p:cNvGrpSpPr>
          <p:nvPr/>
        </p:nvGrpSpPr>
        <p:grpSpPr bwMode="auto">
          <a:xfrm>
            <a:off x="4092575" y="4365625"/>
            <a:ext cx="1247775" cy="512763"/>
            <a:chOff x="2380" y="2886"/>
            <a:chExt cx="725" cy="323"/>
          </a:xfrm>
        </p:grpSpPr>
        <p:sp>
          <p:nvSpPr>
            <p:cNvPr id="53292" name="Text Box 37"/>
            <p:cNvSpPr txBox="1">
              <a:spLocks noChangeArrowheads="1"/>
            </p:cNvSpPr>
            <p:nvPr/>
          </p:nvSpPr>
          <p:spPr bwMode="auto">
            <a:xfrm>
              <a:off x="2426" y="2976"/>
              <a:ext cx="6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TDM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53293" name="AutoShape 38"/>
            <p:cNvSpPr>
              <a:spLocks/>
            </p:cNvSpPr>
            <p:nvPr/>
          </p:nvSpPr>
          <p:spPr bwMode="auto">
            <a:xfrm rot="16200000" flipV="1">
              <a:off x="2698" y="2567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258087" name="Group 39"/>
          <p:cNvGrpSpPr>
            <a:grpSpLocks/>
          </p:cNvGrpSpPr>
          <p:nvPr/>
        </p:nvGrpSpPr>
        <p:grpSpPr bwMode="auto">
          <a:xfrm>
            <a:off x="5340350" y="4365625"/>
            <a:ext cx="1246188" cy="512763"/>
            <a:chOff x="3105" y="2886"/>
            <a:chExt cx="725" cy="323"/>
          </a:xfrm>
        </p:grpSpPr>
        <p:sp>
          <p:nvSpPr>
            <p:cNvPr id="53290" name="Text Box 40"/>
            <p:cNvSpPr txBox="1">
              <a:spLocks noChangeArrowheads="1"/>
            </p:cNvSpPr>
            <p:nvPr/>
          </p:nvSpPr>
          <p:spPr bwMode="auto">
            <a:xfrm>
              <a:off x="3152" y="2976"/>
              <a:ext cx="6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TDM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53291" name="AutoShape 41"/>
            <p:cNvSpPr>
              <a:spLocks/>
            </p:cNvSpPr>
            <p:nvPr/>
          </p:nvSpPr>
          <p:spPr bwMode="auto">
            <a:xfrm rot="16200000" flipV="1">
              <a:off x="3423" y="2567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53275" name="Rectangle 42"/>
          <p:cNvSpPr>
            <a:spLocks noChangeArrowheads="1"/>
          </p:cNvSpPr>
          <p:nvPr/>
        </p:nvSpPr>
        <p:spPr bwMode="auto">
          <a:xfrm>
            <a:off x="6994525" y="3105150"/>
            <a:ext cx="439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53276" name="Line 43"/>
          <p:cNvSpPr>
            <a:spLocks noChangeShapeType="1"/>
          </p:cNvSpPr>
          <p:nvPr/>
        </p:nvSpPr>
        <p:spPr bwMode="auto">
          <a:xfrm rot="-5400000">
            <a:off x="114300" y="3452813"/>
            <a:ext cx="2968625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58092" name="Group 44"/>
          <p:cNvGrpSpPr>
            <a:grpSpLocks/>
          </p:cNvGrpSpPr>
          <p:nvPr/>
        </p:nvGrpSpPr>
        <p:grpSpPr bwMode="auto">
          <a:xfrm>
            <a:off x="6591300" y="4365625"/>
            <a:ext cx="1247775" cy="512763"/>
            <a:chOff x="3105" y="2886"/>
            <a:chExt cx="725" cy="323"/>
          </a:xfrm>
        </p:grpSpPr>
        <p:sp>
          <p:nvSpPr>
            <p:cNvPr id="53288" name="Text Box 45"/>
            <p:cNvSpPr txBox="1">
              <a:spLocks noChangeArrowheads="1"/>
            </p:cNvSpPr>
            <p:nvPr/>
          </p:nvSpPr>
          <p:spPr bwMode="auto">
            <a:xfrm>
              <a:off x="3152" y="2976"/>
              <a:ext cx="6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TDM </a:t>
              </a:r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53289" name="AutoShape 46"/>
            <p:cNvSpPr>
              <a:spLocks/>
            </p:cNvSpPr>
            <p:nvPr/>
          </p:nvSpPr>
          <p:spPr bwMode="auto">
            <a:xfrm rot="16200000" flipV="1">
              <a:off x="3423" y="2567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905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53278" name="Group 52"/>
          <p:cNvGrpSpPr>
            <a:grpSpLocks/>
          </p:cNvGrpSpPr>
          <p:nvPr/>
        </p:nvGrpSpPr>
        <p:grpSpPr bwMode="auto">
          <a:xfrm>
            <a:off x="2846388" y="2276475"/>
            <a:ext cx="4994275" cy="2376488"/>
            <a:chOff x="1655" y="1570"/>
            <a:chExt cx="2904" cy="1497"/>
          </a:xfrm>
        </p:grpSpPr>
        <p:sp>
          <p:nvSpPr>
            <p:cNvPr id="53283" name="Line 47"/>
            <p:cNvSpPr>
              <a:spLocks noChangeShapeType="1"/>
            </p:cNvSpPr>
            <p:nvPr/>
          </p:nvSpPr>
          <p:spPr bwMode="auto">
            <a:xfrm>
              <a:off x="1655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4" name="Line 48"/>
            <p:cNvSpPr>
              <a:spLocks noChangeShapeType="1"/>
            </p:cNvSpPr>
            <p:nvPr/>
          </p:nvSpPr>
          <p:spPr bwMode="auto">
            <a:xfrm>
              <a:off x="2381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5" name="Line 49"/>
            <p:cNvSpPr>
              <a:spLocks noChangeShapeType="1"/>
            </p:cNvSpPr>
            <p:nvPr/>
          </p:nvSpPr>
          <p:spPr bwMode="auto">
            <a:xfrm>
              <a:off x="3107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6" name="Line 50"/>
            <p:cNvSpPr>
              <a:spLocks noChangeShapeType="1"/>
            </p:cNvSpPr>
            <p:nvPr/>
          </p:nvSpPr>
          <p:spPr bwMode="auto">
            <a:xfrm>
              <a:off x="3833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7" name="Line 51"/>
            <p:cNvSpPr>
              <a:spLocks noChangeShapeType="1"/>
            </p:cNvSpPr>
            <p:nvPr/>
          </p:nvSpPr>
          <p:spPr bwMode="auto">
            <a:xfrm>
              <a:off x="4559" y="1570"/>
              <a:ext cx="0" cy="1497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279" name="Text Box 53"/>
          <p:cNvSpPr txBox="1">
            <a:spLocks noChangeArrowheads="1"/>
          </p:cNvSpPr>
          <p:nvPr/>
        </p:nvSpPr>
        <p:spPr bwMode="auto">
          <a:xfrm>
            <a:off x="2860675" y="1557338"/>
            <a:ext cx="1731963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周期性出现</a:t>
            </a:r>
          </a:p>
        </p:txBody>
      </p:sp>
      <p:sp>
        <p:nvSpPr>
          <p:cNvPr id="53280" name="矩形 1"/>
          <p:cNvSpPr>
            <a:spLocks noChangeArrowheads="1"/>
          </p:cNvSpPr>
          <p:nvPr/>
        </p:nvSpPr>
        <p:spPr bwMode="auto">
          <a:xfrm>
            <a:off x="2786063" y="5229225"/>
            <a:ext cx="42084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zh-CN" sz="2400" b="1">
                <a:ea typeface="黑体" panose="02010609060101010101" pitchFamily="49" charset="-122"/>
              </a:rPr>
              <a:t>时分复用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53281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973550-C59A-40CC-8478-7323B991D785}" type="slidenum">
              <a:rPr altLang="en-US" smtClean="0"/>
              <a:pPr/>
              <a:t>7</a:t>
            </a:fld>
            <a:endParaRPr lang="zh-CN" altLang="zh-CN" smtClean="0"/>
          </a:p>
        </p:txBody>
      </p:sp>
      <p:sp>
        <p:nvSpPr>
          <p:cNvPr id="53282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3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4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5"/>
                            </p:stCondLst>
                            <p:childTnLst>
                              <p:par>
                                <p:cTn id="20" presetID="35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25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5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sz="3600" smtClean="0">
                <a:solidFill>
                  <a:srgbClr val="FF0000"/>
                </a:solidFill>
                <a:ea typeface="黑体" panose="02010609060101010101" pitchFamily="49" charset="-122"/>
              </a:rPr>
              <a:t>时分复用可能会造成线路资源的浪费 </a:t>
            </a:r>
          </a:p>
        </p:txBody>
      </p:sp>
      <p:sp>
        <p:nvSpPr>
          <p:cNvPr id="55299" name="Text Box 91"/>
          <p:cNvSpPr txBox="1">
            <a:spLocks noChangeArrowheads="1"/>
          </p:cNvSpPr>
          <p:nvPr/>
        </p:nvSpPr>
        <p:spPr bwMode="auto">
          <a:xfrm>
            <a:off x="852488" y="1196975"/>
            <a:ext cx="8469312" cy="869950"/>
          </a:xfrm>
          <a:prstGeom prst="rect">
            <a:avLst/>
          </a:prstGeom>
          <a:solidFill>
            <a:srgbClr val="66FF33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000099"/>
                </a:solidFill>
                <a:ea typeface="黑体" panose="02010609060101010101" pitchFamily="49" charset="-122"/>
              </a:rPr>
              <a:t>使用时分复用系统传送计算机数据时，由于</a:t>
            </a:r>
            <a:r>
              <a:rPr lang="zh-CN" altLang="en-US" sz="2400" b="1" dirty="0">
                <a:solidFill>
                  <a:srgbClr val="FF0000"/>
                </a:solidFill>
                <a:ea typeface="黑体" panose="02010609060101010101" pitchFamily="49" charset="-122"/>
              </a:rPr>
              <a:t>计算机数据的突发性质</a:t>
            </a:r>
            <a:r>
              <a:rPr lang="zh-CN" altLang="en-US" sz="2400" b="1" dirty="0">
                <a:solidFill>
                  <a:srgbClr val="000099"/>
                </a:solidFill>
                <a:ea typeface="黑体" panose="02010609060101010101" pitchFamily="49" charset="-122"/>
              </a:rPr>
              <a:t>，用户对分配到的子信道的利用率一般是不高的。</a:t>
            </a:r>
            <a:endParaRPr lang="en-US" altLang="zh-CN" sz="2400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grpSp>
        <p:nvGrpSpPr>
          <p:cNvPr id="55300" name="组合 2"/>
          <p:cNvGrpSpPr>
            <a:grpSpLocks/>
          </p:cNvGrpSpPr>
          <p:nvPr/>
        </p:nvGrpSpPr>
        <p:grpSpPr bwMode="auto">
          <a:xfrm>
            <a:off x="265113" y="2349500"/>
            <a:ext cx="9544050" cy="3959225"/>
            <a:chOff x="264700" y="2438197"/>
            <a:chExt cx="9544896" cy="3960440"/>
          </a:xfrm>
        </p:grpSpPr>
        <p:sp>
          <p:nvSpPr>
            <p:cNvPr id="55304" name="Freeform 3"/>
            <p:cNvSpPr>
              <a:spLocks noChangeArrowheads="1"/>
            </p:cNvSpPr>
            <p:nvPr/>
          </p:nvSpPr>
          <p:spPr bwMode="auto">
            <a:xfrm>
              <a:off x="6676084" y="4162221"/>
              <a:ext cx="261408" cy="374650"/>
            </a:xfrm>
            <a:custGeom>
              <a:avLst/>
              <a:gdLst>
                <a:gd name="T0" fmla="*/ 0 w 96"/>
                <a:gd name="T1" fmla="*/ 374650 h 192"/>
                <a:gd name="T2" fmla="*/ 0 w 96"/>
                <a:gd name="T3" fmla="*/ 0 h 192"/>
                <a:gd name="T4" fmla="*/ 261408 w 96"/>
                <a:gd name="T5" fmla="*/ 0 h 192"/>
                <a:gd name="T6" fmla="*/ 261408 w 96"/>
                <a:gd name="T7" fmla="*/ 374650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5" name="Freeform 4"/>
            <p:cNvSpPr>
              <a:spLocks noChangeArrowheads="1"/>
            </p:cNvSpPr>
            <p:nvPr/>
          </p:nvSpPr>
          <p:spPr bwMode="auto">
            <a:xfrm>
              <a:off x="7719997" y="4162221"/>
              <a:ext cx="259689" cy="374650"/>
            </a:xfrm>
            <a:custGeom>
              <a:avLst/>
              <a:gdLst>
                <a:gd name="T0" fmla="*/ 0 w 96"/>
                <a:gd name="T1" fmla="*/ 374650 h 192"/>
                <a:gd name="T2" fmla="*/ 0 w 96"/>
                <a:gd name="T3" fmla="*/ 0 h 192"/>
                <a:gd name="T4" fmla="*/ 259689 w 96"/>
                <a:gd name="T5" fmla="*/ 0 h 192"/>
                <a:gd name="T6" fmla="*/ 259689 w 96"/>
                <a:gd name="T7" fmla="*/ 374650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6" name="Freeform 5"/>
            <p:cNvSpPr>
              <a:spLocks noChangeArrowheads="1"/>
            </p:cNvSpPr>
            <p:nvPr/>
          </p:nvSpPr>
          <p:spPr bwMode="auto">
            <a:xfrm>
              <a:off x="8241094" y="4162221"/>
              <a:ext cx="261408" cy="374650"/>
            </a:xfrm>
            <a:custGeom>
              <a:avLst/>
              <a:gdLst>
                <a:gd name="T0" fmla="*/ 0 w 96"/>
                <a:gd name="T1" fmla="*/ 374650 h 192"/>
                <a:gd name="T2" fmla="*/ 0 w 96"/>
                <a:gd name="T3" fmla="*/ 0 h 192"/>
                <a:gd name="T4" fmla="*/ 261408 w 96"/>
                <a:gd name="T5" fmla="*/ 0 h 192"/>
                <a:gd name="T6" fmla="*/ 261408 w 96"/>
                <a:gd name="T7" fmla="*/ 374650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Freeform 6"/>
            <p:cNvSpPr>
              <a:spLocks noChangeArrowheads="1"/>
            </p:cNvSpPr>
            <p:nvPr/>
          </p:nvSpPr>
          <p:spPr bwMode="auto">
            <a:xfrm>
              <a:off x="9023599" y="4162221"/>
              <a:ext cx="259689" cy="374650"/>
            </a:xfrm>
            <a:custGeom>
              <a:avLst/>
              <a:gdLst>
                <a:gd name="T0" fmla="*/ 0 w 96"/>
                <a:gd name="T1" fmla="*/ 374650 h 192"/>
                <a:gd name="T2" fmla="*/ 0 w 96"/>
                <a:gd name="T3" fmla="*/ 0 h 192"/>
                <a:gd name="T4" fmla="*/ 259689 w 96"/>
                <a:gd name="T5" fmla="*/ 0 h 192"/>
                <a:gd name="T6" fmla="*/ 259689 w 96"/>
                <a:gd name="T7" fmla="*/ 374650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66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8" name="Freeform 7"/>
            <p:cNvSpPr>
              <a:spLocks noChangeArrowheads="1"/>
            </p:cNvSpPr>
            <p:nvPr/>
          </p:nvSpPr>
          <p:spPr bwMode="auto">
            <a:xfrm>
              <a:off x="6416395" y="4162221"/>
              <a:ext cx="259689" cy="374650"/>
            </a:xfrm>
            <a:custGeom>
              <a:avLst/>
              <a:gdLst>
                <a:gd name="T0" fmla="*/ 0 w 96"/>
                <a:gd name="T1" fmla="*/ 374650 h 192"/>
                <a:gd name="T2" fmla="*/ 0 w 96"/>
                <a:gd name="T3" fmla="*/ 0 h 192"/>
                <a:gd name="T4" fmla="*/ 259689 w 96"/>
                <a:gd name="T5" fmla="*/ 0 h 192"/>
                <a:gd name="T6" fmla="*/ 259689 w 96"/>
                <a:gd name="T7" fmla="*/ 374650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Freeform 8"/>
            <p:cNvSpPr>
              <a:spLocks noChangeArrowheads="1"/>
            </p:cNvSpPr>
            <p:nvPr/>
          </p:nvSpPr>
          <p:spPr bwMode="auto">
            <a:xfrm>
              <a:off x="5372482" y="4165397"/>
              <a:ext cx="261408" cy="376237"/>
            </a:xfrm>
            <a:custGeom>
              <a:avLst/>
              <a:gdLst>
                <a:gd name="T0" fmla="*/ 0 w 96"/>
                <a:gd name="T1" fmla="*/ 376237 h 192"/>
                <a:gd name="T2" fmla="*/ 0 w 96"/>
                <a:gd name="T3" fmla="*/ 0 h 192"/>
                <a:gd name="T4" fmla="*/ 261408 w 96"/>
                <a:gd name="T5" fmla="*/ 0 h 192"/>
                <a:gd name="T6" fmla="*/ 261408 w 96"/>
                <a:gd name="T7" fmla="*/ 376237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0" name="Freeform 9"/>
            <p:cNvSpPr>
              <a:spLocks noChangeArrowheads="1"/>
            </p:cNvSpPr>
            <p:nvPr/>
          </p:nvSpPr>
          <p:spPr bwMode="auto">
            <a:xfrm>
              <a:off x="5112793" y="4165397"/>
              <a:ext cx="259689" cy="376237"/>
            </a:xfrm>
            <a:custGeom>
              <a:avLst/>
              <a:gdLst>
                <a:gd name="T0" fmla="*/ 0 w 96"/>
                <a:gd name="T1" fmla="*/ 376237 h 192"/>
                <a:gd name="T2" fmla="*/ 0 w 96"/>
                <a:gd name="T3" fmla="*/ 0 h 192"/>
                <a:gd name="T4" fmla="*/ 259689 w 96"/>
                <a:gd name="T5" fmla="*/ 0 h 192"/>
                <a:gd name="T6" fmla="*/ 259689 w 96"/>
                <a:gd name="T7" fmla="*/ 376237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Freeform 10"/>
            <p:cNvSpPr>
              <a:spLocks noChangeArrowheads="1"/>
            </p:cNvSpPr>
            <p:nvPr/>
          </p:nvSpPr>
          <p:spPr bwMode="auto">
            <a:xfrm>
              <a:off x="2677568" y="3033508"/>
              <a:ext cx="608806" cy="376238"/>
            </a:xfrm>
            <a:custGeom>
              <a:avLst/>
              <a:gdLst>
                <a:gd name="T0" fmla="*/ 0 w 1008"/>
                <a:gd name="T1" fmla="*/ 376238 h 192"/>
                <a:gd name="T2" fmla="*/ 0 w 1008"/>
                <a:gd name="T3" fmla="*/ 0 h 192"/>
                <a:gd name="T4" fmla="*/ 608806 w 1008"/>
                <a:gd name="T5" fmla="*/ 0 h 192"/>
                <a:gd name="T6" fmla="*/ 608806 w 1008"/>
                <a:gd name="T7" fmla="*/ 376238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Freeform 11"/>
            <p:cNvSpPr>
              <a:spLocks noChangeArrowheads="1"/>
            </p:cNvSpPr>
            <p:nvPr/>
          </p:nvSpPr>
          <p:spPr bwMode="auto">
            <a:xfrm>
              <a:off x="852869" y="3785983"/>
              <a:ext cx="1217613" cy="376238"/>
            </a:xfrm>
            <a:custGeom>
              <a:avLst/>
              <a:gdLst>
                <a:gd name="T0" fmla="*/ 0 w 1008"/>
                <a:gd name="T1" fmla="*/ 376238 h 192"/>
                <a:gd name="T2" fmla="*/ 0 w 1008"/>
                <a:gd name="T3" fmla="*/ 0 h 192"/>
                <a:gd name="T4" fmla="*/ 1217613 w 1008"/>
                <a:gd name="T5" fmla="*/ 0 h 192"/>
                <a:gd name="T6" fmla="*/ 1217613 w 1008"/>
                <a:gd name="T7" fmla="*/ 376238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3" name="Freeform 12"/>
            <p:cNvSpPr>
              <a:spLocks noChangeArrowheads="1"/>
            </p:cNvSpPr>
            <p:nvPr/>
          </p:nvSpPr>
          <p:spPr bwMode="auto">
            <a:xfrm>
              <a:off x="1461675" y="4536872"/>
              <a:ext cx="1215892" cy="376237"/>
            </a:xfrm>
            <a:custGeom>
              <a:avLst/>
              <a:gdLst>
                <a:gd name="T0" fmla="*/ 0 w 1008"/>
                <a:gd name="T1" fmla="*/ 376237 h 192"/>
                <a:gd name="T2" fmla="*/ 0 w 1008"/>
                <a:gd name="T3" fmla="*/ 0 h 192"/>
                <a:gd name="T4" fmla="*/ 1215892 w 1008"/>
                <a:gd name="T5" fmla="*/ 0 h 192"/>
                <a:gd name="T6" fmla="*/ 1215892 w 1008"/>
                <a:gd name="T7" fmla="*/ 376237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Freeform 13"/>
            <p:cNvSpPr>
              <a:spLocks noChangeArrowheads="1"/>
            </p:cNvSpPr>
            <p:nvPr/>
          </p:nvSpPr>
          <p:spPr bwMode="auto">
            <a:xfrm>
              <a:off x="2677568" y="5289347"/>
              <a:ext cx="608806" cy="376237"/>
            </a:xfrm>
            <a:custGeom>
              <a:avLst/>
              <a:gdLst>
                <a:gd name="T0" fmla="*/ 0 w 1008"/>
                <a:gd name="T1" fmla="*/ 376237 h 192"/>
                <a:gd name="T2" fmla="*/ 0 w 1008"/>
                <a:gd name="T3" fmla="*/ 0 h 192"/>
                <a:gd name="T4" fmla="*/ 608806 w 1008"/>
                <a:gd name="T5" fmla="*/ 0 h 192"/>
                <a:gd name="T6" fmla="*/ 608806 w 1008"/>
                <a:gd name="T7" fmla="*/ 376237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66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Text Box 14"/>
            <p:cNvSpPr txBox="1">
              <a:spLocks noChangeArrowheads="1"/>
            </p:cNvSpPr>
            <p:nvPr/>
          </p:nvSpPr>
          <p:spPr bwMode="auto">
            <a:xfrm>
              <a:off x="390245" y="3011284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5316" name="Text Box 15"/>
            <p:cNvSpPr txBox="1">
              <a:spLocks noChangeArrowheads="1"/>
            </p:cNvSpPr>
            <p:nvPr/>
          </p:nvSpPr>
          <p:spPr bwMode="auto">
            <a:xfrm>
              <a:off x="390245" y="3763759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5317" name="Text Box 16"/>
            <p:cNvSpPr txBox="1">
              <a:spLocks noChangeArrowheads="1"/>
            </p:cNvSpPr>
            <p:nvPr/>
          </p:nvSpPr>
          <p:spPr bwMode="auto">
            <a:xfrm>
              <a:off x="390244" y="4516234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55318" name="Text Box 17"/>
            <p:cNvSpPr txBox="1">
              <a:spLocks noChangeArrowheads="1"/>
            </p:cNvSpPr>
            <p:nvPr/>
          </p:nvSpPr>
          <p:spPr bwMode="auto">
            <a:xfrm>
              <a:off x="390244" y="5268709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5319" name="Line 18"/>
            <p:cNvSpPr>
              <a:spLocks noChangeShapeType="1"/>
            </p:cNvSpPr>
            <p:nvPr/>
          </p:nvSpPr>
          <p:spPr bwMode="auto">
            <a:xfrm>
              <a:off x="4937374" y="4536871"/>
              <a:ext cx="4607322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0" name="Line 19"/>
            <p:cNvSpPr>
              <a:spLocks noChangeShapeType="1"/>
            </p:cNvSpPr>
            <p:nvPr/>
          </p:nvSpPr>
          <p:spPr bwMode="auto">
            <a:xfrm>
              <a:off x="5633890" y="4443209"/>
              <a:ext cx="0" cy="93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1" name="Text Box 20"/>
            <p:cNvSpPr txBox="1">
              <a:spLocks noChangeArrowheads="1"/>
            </p:cNvSpPr>
            <p:nvPr/>
          </p:nvSpPr>
          <p:spPr bwMode="auto">
            <a:xfrm>
              <a:off x="2808272" y="2995409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5322" name="Text Box 21"/>
            <p:cNvSpPr txBox="1">
              <a:spLocks noChangeArrowheads="1"/>
            </p:cNvSpPr>
            <p:nvPr/>
          </p:nvSpPr>
          <p:spPr bwMode="auto">
            <a:xfrm>
              <a:off x="8208417" y="4147934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5323" name="Text Box 22"/>
            <p:cNvSpPr txBox="1">
              <a:spLocks noChangeArrowheads="1"/>
            </p:cNvSpPr>
            <p:nvPr/>
          </p:nvSpPr>
          <p:spPr bwMode="auto">
            <a:xfrm>
              <a:off x="5329486" y="4147934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5324" name="Text Box 23"/>
            <p:cNvSpPr txBox="1">
              <a:spLocks noChangeArrowheads="1"/>
            </p:cNvSpPr>
            <p:nvPr/>
          </p:nvSpPr>
          <p:spPr bwMode="auto">
            <a:xfrm>
              <a:off x="964655" y="3782809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5325" name="Text Box 24"/>
            <p:cNvSpPr txBox="1">
              <a:spLocks noChangeArrowheads="1"/>
            </p:cNvSpPr>
            <p:nvPr/>
          </p:nvSpPr>
          <p:spPr bwMode="auto">
            <a:xfrm>
              <a:off x="2214944" y="4506709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55326" name="Text Box 25"/>
            <p:cNvSpPr txBox="1">
              <a:spLocks noChangeArrowheads="1"/>
            </p:cNvSpPr>
            <p:nvPr/>
          </p:nvSpPr>
          <p:spPr bwMode="auto">
            <a:xfrm>
              <a:off x="2772157" y="5263947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5327" name="Text Box 26"/>
            <p:cNvSpPr txBox="1">
              <a:spLocks noChangeArrowheads="1"/>
            </p:cNvSpPr>
            <p:nvPr/>
          </p:nvSpPr>
          <p:spPr bwMode="auto">
            <a:xfrm>
              <a:off x="6380280" y="4147934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5328" name="Text Box 27"/>
            <p:cNvSpPr txBox="1">
              <a:spLocks noChangeArrowheads="1"/>
            </p:cNvSpPr>
            <p:nvPr/>
          </p:nvSpPr>
          <p:spPr bwMode="auto">
            <a:xfrm>
              <a:off x="6633088" y="4147934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55329" name="Text Box 28"/>
            <p:cNvSpPr txBox="1">
              <a:spLocks noChangeArrowheads="1"/>
            </p:cNvSpPr>
            <p:nvPr/>
          </p:nvSpPr>
          <p:spPr bwMode="auto">
            <a:xfrm>
              <a:off x="5083557" y="4147934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5330" name="Text Box 29"/>
            <p:cNvSpPr txBox="1">
              <a:spLocks noChangeArrowheads="1"/>
            </p:cNvSpPr>
            <p:nvPr/>
          </p:nvSpPr>
          <p:spPr bwMode="auto">
            <a:xfrm>
              <a:off x="3525425" y="3011284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</a:p>
          </p:txBody>
        </p:sp>
        <p:sp>
          <p:nvSpPr>
            <p:cNvPr id="55331" name="Text Box 30"/>
            <p:cNvSpPr txBox="1">
              <a:spLocks noChangeArrowheads="1"/>
            </p:cNvSpPr>
            <p:nvPr/>
          </p:nvSpPr>
          <p:spPr bwMode="auto">
            <a:xfrm>
              <a:off x="3525425" y="3781222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</a:p>
          </p:txBody>
        </p:sp>
        <p:sp>
          <p:nvSpPr>
            <p:cNvPr id="55332" name="Text Box 31"/>
            <p:cNvSpPr txBox="1">
              <a:spLocks noChangeArrowheads="1"/>
            </p:cNvSpPr>
            <p:nvPr/>
          </p:nvSpPr>
          <p:spPr bwMode="auto">
            <a:xfrm>
              <a:off x="3525425" y="4551159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</a:p>
          </p:txBody>
        </p:sp>
        <p:sp>
          <p:nvSpPr>
            <p:cNvPr id="55333" name="Text Box 32"/>
            <p:cNvSpPr txBox="1">
              <a:spLocks noChangeArrowheads="1"/>
            </p:cNvSpPr>
            <p:nvPr/>
          </p:nvSpPr>
          <p:spPr bwMode="auto">
            <a:xfrm>
              <a:off x="3525425" y="5321097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</a:p>
          </p:txBody>
        </p:sp>
        <p:sp>
          <p:nvSpPr>
            <p:cNvPr id="55334" name="Text Box 33"/>
            <p:cNvSpPr txBox="1">
              <a:spLocks noChangeArrowheads="1"/>
            </p:cNvSpPr>
            <p:nvPr/>
          </p:nvSpPr>
          <p:spPr bwMode="auto">
            <a:xfrm>
              <a:off x="9522338" y="4454421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</a:p>
          </p:txBody>
        </p:sp>
        <p:sp>
          <p:nvSpPr>
            <p:cNvPr id="55335" name="Line 34"/>
            <p:cNvSpPr>
              <a:spLocks noChangeShapeType="1"/>
            </p:cNvSpPr>
            <p:nvPr/>
          </p:nvSpPr>
          <p:spPr bwMode="auto">
            <a:xfrm>
              <a:off x="7458588" y="4443209"/>
              <a:ext cx="0" cy="93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6" name="Line 35"/>
            <p:cNvSpPr>
              <a:spLocks noChangeShapeType="1"/>
            </p:cNvSpPr>
            <p:nvPr/>
          </p:nvSpPr>
          <p:spPr bwMode="auto">
            <a:xfrm>
              <a:off x="1461675" y="4066971"/>
              <a:ext cx="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7" name="Line 36"/>
            <p:cNvSpPr>
              <a:spLocks noChangeShapeType="1"/>
            </p:cNvSpPr>
            <p:nvPr/>
          </p:nvSpPr>
          <p:spPr bwMode="auto">
            <a:xfrm>
              <a:off x="2070482" y="4819446"/>
              <a:ext cx="0" cy="93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8" name="Line 37"/>
            <p:cNvSpPr>
              <a:spLocks noChangeShapeType="1"/>
            </p:cNvSpPr>
            <p:nvPr/>
          </p:nvSpPr>
          <p:spPr bwMode="auto">
            <a:xfrm>
              <a:off x="2677567" y="4066971"/>
              <a:ext cx="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9" name="Line 38"/>
            <p:cNvSpPr>
              <a:spLocks noChangeShapeType="1"/>
            </p:cNvSpPr>
            <p:nvPr/>
          </p:nvSpPr>
          <p:spPr bwMode="auto">
            <a:xfrm>
              <a:off x="1461675" y="5571921"/>
              <a:ext cx="0" cy="93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0" name="Line 39"/>
            <p:cNvSpPr>
              <a:spLocks noChangeShapeType="1"/>
            </p:cNvSpPr>
            <p:nvPr/>
          </p:nvSpPr>
          <p:spPr bwMode="auto">
            <a:xfrm>
              <a:off x="3286374" y="4819446"/>
              <a:ext cx="0" cy="93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1" name="Line 40"/>
            <p:cNvSpPr>
              <a:spLocks noChangeShapeType="1"/>
            </p:cNvSpPr>
            <p:nvPr/>
          </p:nvSpPr>
          <p:spPr bwMode="auto">
            <a:xfrm>
              <a:off x="2677567" y="5571921"/>
              <a:ext cx="0" cy="93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2" name="Line 41"/>
            <p:cNvSpPr>
              <a:spLocks noChangeShapeType="1"/>
            </p:cNvSpPr>
            <p:nvPr/>
          </p:nvSpPr>
          <p:spPr bwMode="auto">
            <a:xfrm>
              <a:off x="5112792" y="4632122"/>
              <a:ext cx="0" cy="187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3" name="Line 42"/>
            <p:cNvSpPr>
              <a:spLocks noChangeShapeType="1"/>
            </p:cNvSpPr>
            <p:nvPr/>
          </p:nvSpPr>
          <p:spPr bwMode="auto">
            <a:xfrm>
              <a:off x="6154986" y="4632122"/>
              <a:ext cx="0" cy="187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4" name="Line 43"/>
            <p:cNvSpPr>
              <a:spLocks noChangeShapeType="1"/>
            </p:cNvSpPr>
            <p:nvPr/>
          </p:nvSpPr>
          <p:spPr bwMode="auto">
            <a:xfrm>
              <a:off x="7197180" y="4632122"/>
              <a:ext cx="0" cy="187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5" name="Line 44"/>
            <p:cNvSpPr>
              <a:spLocks noChangeShapeType="1"/>
            </p:cNvSpPr>
            <p:nvPr/>
          </p:nvSpPr>
          <p:spPr bwMode="auto">
            <a:xfrm>
              <a:off x="8241094" y="4632122"/>
              <a:ext cx="0" cy="187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6" name="Line 45"/>
            <p:cNvSpPr>
              <a:spLocks noChangeShapeType="1"/>
            </p:cNvSpPr>
            <p:nvPr/>
          </p:nvSpPr>
          <p:spPr bwMode="auto">
            <a:xfrm>
              <a:off x="5112793" y="4725783"/>
              <a:ext cx="1042194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7" name="Line 46"/>
            <p:cNvSpPr>
              <a:spLocks noChangeShapeType="1"/>
            </p:cNvSpPr>
            <p:nvPr/>
          </p:nvSpPr>
          <p:spPr bwMode="auto">
            <a:xfrm>
              <a:off x="6154987" y="4725783"/>
              <a:ext cx="1042194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8" name="Line 47"/>
            <p:cNvSpPr>
              <a:spLocks noChangeShapeType="1"/>
            </p:cNvSpPr>
            <p:nvPr/>
          </p:nvSpPr>
          <p:spPr bwMode="auto">
            <a:xfrm>
              <a:off x="7197181" y="4725783"/>
              <a:ext cx="1043914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9" name="Text Box 48"/>
            <p:cNvSpPr txBox="1">
              <a:spLocks noChangeArrowheads="1"/>
            </p:cNvSpPr>
            <p:nvPr/>
          </p:nvSpPr>
          <p:spPr bwMode="auto">
            <a:xfrm>
              <a:off x="6416394" y="5446509"/>
              <a:ext cx="22974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4 </a:t>
              </a:r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个时分复用帧</a:t>
              </a:r>
            </a:p>
          </p:txBody>
        </p:sp>
        <p:sp>
          <p:nvSpPr>
            <p:cNvPr id="55350" name="Text Box 49"/>
            <p:cNvSpPr txBox="1">
              <a:spLocks noChangeArrowheads="1"/>
            </p:cNvSpPr>
            <p:nvPr/>
          </p:nvSpPr>
          <p:spPr bwMode="auto">
            <a:xfrm>
              <a:off x="5372482" y="4674984"/>
              <a:ext cx="5277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#1</a:t>
              </a:r>
            </a:p>
          </p:txBody>
        </p:sp>
        <p:sp>
          <p:nvSpPr>
            <p:cNvPr id="55351" name="Line 50"/>
            <p:cNvSpPr>
              <a:spLocks noChangeShapeType="1"/>
            </p:cNvSpPr>
            <p:nvPr/>
          </p:nvSpPr>
          <p:spPr bwMode="auto">
            <a:xfrm>
              <a:off x="3712883" y="3463721"/>
              <a:ext cx="1138502" cy="69850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2" name="Line 51"/>
            <p:cNvSpPr>
              <a:spLocks noChangeShapeType="1"/>
            </p:cNvSpPr>
            <p:nvPr/>
          </p:nvSpPr>
          <p:spPr bwMode="auto">
            <a:xfrm>
              <a:off x="3712883" y="4184446"/>
              <a:ext cx="1050793" cy="16510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3" name="Line 52"/>
            <p:cNvSpPr>
              <a:spLocks noChangeShapeType="1"/>
            </p:cNvSpPr>
            <p:nvPr/>
          </p:nvSpPr>
          <p:spPr bwMode="auto">
            <a:xfrm flipV="1">
              <a:off x="3790274" y="4536871"/>
              <a:ext cx="973402" cy="36671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4" name="Line 53"/>
            <p:cNvSpPr>
              <a:spLocks noChangeShapeType="1"/>
            </p:cNvSpPr>
            <p:nvPr/>
          </p:nvSpPr>
          <p:spPr bwMode="auto">
            <a:xfrm flipV="1">
              <a:off x="3807471" y="4725783"/>
              <a:ext cx="1043913" cy="84613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5" name="Text Box 54"/>
            <p:cNvSpPr txBox="1">
              <a:spLocks noChangeArrowheads="1"/>
            </p:cNvSpPr>
            <p:nvPr/>
          </p:nvSpPr>
          <p:spPr bwMode="auto">
            <a:xfrm>
              <a:off x="3790273" y="4976609"/>
              <a:ext cx="4940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④</a:t>
              </a:r>
            </a:p>
          </p:txBody>
        </p:sp>
        <p:sp>
          <p:nvSpPr>
            <p:cNvPr id="55356" name="Text Box 55"/>
            <p:cNvSpPr txBox="1">
              <a:spLocks noChangeArrowheads="1"/>
            </p:cNvSpPr>
            <p:nvPr/>
          </p:nvSpPr>
          <p:spPr bwMode="auto">
            <a:xfrm>
              <a:off x="3712882" y="4471784"/>
              <a:ext cx="4940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③</a:t>
              </a:r>
            </a:p>
          </p:txBody>
        </p:sp>
        <p:sp>
          <p:nvSpPr>
            <p:cNvPr id="55357" name="Text Box 56"/>
            <p:cNvSpPr txBox="1">
              <a:spLocks noChangeArrowheads="1"/>
            </p:cNvSpPr>
            <p:nvPr/>
          </p:nvSpPr>
          <p:spPr bwMode="auto">
            <a:xfrm>
              <a:off x="3712882" y="3824084"/>
              <a:ext cx="4940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②</a:t>
              </a:r>
            </a:p>
          </p:txBody>
        </p:sp>
        <p:sp>
          <p:nvSpPr>
            <p:cNvPr id="55358" name="Text Box 57"/>
            <p:cNvSpPr txBox="1">
              <a:spLocks noChangeArrowheads="1"/>
            </p:cNvSpPr>
            <p:nvPr/>
          </p:nvSpPr>
          <p:spPr bwMode="auto">
            <a:xfrm>
              <a:off x="3867663" y="3247821"/>
              <a:ext cx="4940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①</a:t>
              </a:r>
            </a:p>
          </p:txBody>
        </p:sp>
        <p:sp>
          <p:nvSpPr>
            <p:cNvPr id="55359" name="Freeform 58"/>
            <p:cNvSpPr>
              <a:spLocks noChangeArrowheads="1"/>
            </p:cNvSpPr>
            <p:nvPr/>
          </p:nvSpPr>
          <p:spPr bwMode="auto">
            <a:xfrm>
              <a:off x="852870" y="3033508"/>
              <a:ext cx="608806" cy="376238"/>
            </a:xfrm>
            <a:custGeom>
              <a:avLst/>
              <a:gdLst>
                <a:gd name="T0" fmla="*/ 0 w 1008"/>
                <a:gd name="T1" fmla="*/ 376238 h 192"/>
                <a:gd name="T2" fmla="*/ 0 w 1008"/>
                <a:gd name="T3" fmla="*/ 0 h 192"/>
                <a:gd name="T4" fmla="*/ 608806 w 1008"/>
                <a:gd name="T5" fmla="*/ 0 h 192"/>
                <a:gd name="T6" fmla="*/ 608806 w 1008"/>
                <a:gd name="T7" fmla="*/ 376238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0" name="Line 59"/>
            <p:cNvSpPr>
              <a:spLocks noChangeShapeType="1"/>
            </p:cNvSpPr>
            <p:nvPr/>
          </p:nvSpPr>
          <p:spPr bwMode="auto">
            <a:xfrm>
              <a:off x="3286374" y="4066971"/>
              <a:ext cx="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1" name="Line 60"/>
            <p:cNvSpPr>
              <a:spLocks noChangeShapeType="1"/>
            </p:cNvSpPr>
            <p:nvPr/>
          </p:nvSpPr>
          <p:spPr bwMode="auto">
            <a:xfrm>
              <a:off x="852869" y="5552871"/>
              <a:ext cx="0" cy="936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2" name="Text Box 61"/>
            <p:cNvSpPr txBox="1">
              <a:spLocks noChangeArrowheads="1"/>
            </p:cNvSpPr>
            <p:nvPr/>
          </p:nvSpPr>
          <p:spPr bwMode="auto">
            <a:xfrm>
              <a:off x="964655" y="2992233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5363" name="Text Box 62"/>
            <p:cNvSpPr txBox="1">
              <a:spLocks noChangeArrowheads="1"/>
            </p:cNvSpPr>
            <p:nvPr/>
          </p:nvSpPr>
          <p:spPr bwMode="auto">
            <a:xfrm>
              <a:off x="1602698" y="4494009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55364" name="Text Box 63"/>
            <p:cNvSpPr txBox="1">
              <a:spLocks noChangeArrowheads="1"/>
            </p:cNvSpPr>
            <p:nvPr/>
          </p:nvSpPr>
          <p:spPr bwMode="auto">
            <a:xfrm>
              <a:off x="1631934" y="3785984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5365" name="Line 64"/>
            <p:cNvSpPr>
              <a:spLocks noChangeShapeType="1"/>
            </p:cNvSpPr>
            <p:nvPr/>
          </p:nvSpPr>
          <p:spPr bwMode="auto">
            <a:xfrm>
              <a:off x="5893578" y="4443209"/>
              <a:ext cx="0" cy="93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6" name="Line 65"/>
            <p:cNvSpPr>
              <a:spLocks noChangeShapeType="1"/>
            </p:cNvSpPr>
            <p:nvPr/>
          </p:nvSpPr>
          <p:spPr bwMode="auto">
            <a:xfrm>
              <a:off x="6154986" y="4443209"/>
              <a:ext cx="0" cy="93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7" name="Line 66"/>
            <p:cNvSpPr>
              <a:spLocks noChangeShapeType="1"/>
            </p:cNvSpPr>
            <p:nvPr/>
          </p:nvSpPr>
          <p:spPr bwMode="auto">
            <a:xfrm>
              <a:off x="8241094" y="4725783"/>
              <a:ext cx="1042194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8" name="Line 67"/>
            <p:cNvSpPr>
              <a:spLocks noChangeShapeType="1"/>
            </p:cNvSpPr>
            <p:nvPr/>
          </p:nvSpPr>
          <p:spPr bwMode="auto">
            <a:xfrm>
              <a:off x="9283288" y="4632122"/>
              <a:ext cx="0" cy="187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69" name="Line 68"/>
            <p:cNvSpPr>
              <a:spLocks noChangeShapeType="1"/>
            </p:cNvSpPr>
            <p:nvPr/>
          </p:nvSpPr>
          <p:spPr bwMode="auto">
            <a:xfrm>
              <a:off x="8762190" y="4443209"/>
              <a:ext cx="0" cy="93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0" name="Line 69"/>
            <p:cNvSpPr>
              <a:spLocks noChangeShapeType="1"/>
            </p:cNvSpPr>
            <p:nvPr/>
          </p:nvSpPr>
          <p:spPr bwMode="auto">
            <a:xfrm>
              <a:off x="7197180" y="4443209"/>
              <a:ext cx="0" cy="93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1" name="Text Box 70"/>
            <p:cNvSpPr txBox="1">
              <a:spLocks noChangeArrowheads="1"/>
            </p:cNvSpPr>
            <p:nvPr/>
          </p:nvSpPr>
          <p:spPr bwMode="auto">
            <a:xfrm>
              <a:off x="7697640" y="4147934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55372" name="Text Box 71"/>
            <p:cNvSpPr txBox="1">
              <a:spLocks noChangeArrowheads="1"/>
            </p:cNvSpPr>
            <p:nvPr/>
          </p:nvSpPr>
          <p:spPr bwMode="auto">
            <a:xfrm>
              <a:off x="8980605" y="4147934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5373" name="Text Box 72"/>
            <p:cNvSpPr txBox="1">
              <a:spLocks noChangeArrowheads="1"/>
            </p:cNvSpPr>
            <p:nvPr/>
          </p:nvSpPr>
          <p:spPr bwMode="auto">
            <a:xfrm>
              <a:off x="3800872" y="2712833"/>
              <a:ext cx="162736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="1">
                  <a:solidFill>
                    <a:srgbClr val="C00000"/>
                  </a:solidFill>
                  <a:ea typeface="黑体" panose="02010609060101010101" pitchFamily="49" charset="-122"/>
                </a:rPr>
                <a:t>时分复用</a:t>
              </a:r>
            </a:p>
          </p:txBody>
        </p:sp>
        <p:sp>
          <p:nvSpPr>
            <p:cNvPr id="55374" name="Text Box 73"/>
            <p:cNvSpPr txBox="1">
              <a:spLocks noChangeArrowheads="1"/>
            </p:cNvSpPr>
            <p:nvPr/>
          </p:nvSpPr>
          <p:spPr bwMode="auto">
            <a:xfrm>
              <a:off x="6416395" y="4674984"/>
              <a:ext cx="5277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#2</a:t>
              </a:r>
            </a:p>
          </p:txBody>
        </p:sp>
        <p:sp>
          <p:nvSpPr>
            <p:cNvPr id="55375" name="Text Box 74"/>
            <p:cNvSpPr txBox="1">
              <a:spLocks noChangeArrowheads="1"/>
            </p:cNvSpPr>
            <p:nvPr/>
          </p:nvSpPr>
          <p:spPr bwMode="auto">
            <a:xfrm>
              <a:off x="7510182" y="4674984"/>
              <a:ext cx="5277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#3</a:t>
              </a:r>
            </a:p>
          </p:txBody>
        </p:sp>
        <p:sp>
          <p:nvSpPr>
            <p:cNvPr id="55376" name="Text Box 75"/>
            <p:cNvSpPr txBox="1">
              <a:spLocks noChangeArrowheads="1"/>
            </p:cNvSpPr>
            <p:nvPr/>
          </p:nvSpPr>
          <p:spPr bwMode="auto">
            <a:xfrm>
              <a:off x="8552376" y="4674984"/>
              <a:ext cx="5277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#4</a:t>
              </a:r>
            </a:p>
          </p:txBody>
        </p:sp>
        <p:sp>
          <p:nvSpPr>
            <p:cNvPr id="55377" name="Line 76"/>
            <p:cNvSpPr>
              <a:spLocks noChangeShapeType="1"/>
            </p:cNvSpPr>
            <p:nvPr/>
          </p:nvSpPr>
          <p:spPr bwMode="auto">
            <a:xfrm>
              <a:off x="5719880" y="5071858"/>
              <a:ext cx="1303602" cy="376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8" name="Line 77"/>
            <p:cNvSpPr>
              <a:spLocks noChangeShapeType="1"/>
            </p:cNvSpPr>
            <p:nvPr/>
          </p:nvSpPr>
          <p:spPr bwMode="auto">
            <a:xfrm>
              <a:off x="6676084" y="5071858"/>
              <a:ext cx="521096" cy="376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79" name="Line 78"/>
            <p:cNvSpPr>
              <a:spLocks noChangeShapeType="1"/>
            </p:cNvSpPr>
            <p:nvPr/>
          </p:nvSpPr>
          <p:spPr bwMode="auto">
            <a:xfrm flipH="1">
              <a:off x="7284890" y="5071858"/>
              <a:ext cx="435107" cy="376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0" name="Line 79"/>
            <p:cNvSpPr>
              <a:spLocks noChangeShapeType="1"/>
            </p:cNvSpPr>
            <p:nvPr/>
          </p:nvSpPr>
          <p:spPr bwMode="auto">
            <a:xfrm flipV="1">
              <a:off x="7458589" y="5071858"/>
              <a:ext cx="1303602" cy="376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1" name="Text Box 80"/>
            <p:cNvSpPr txBox="1">
              <a:spLocks noChangeArrowheads="1"/>
            </p:cNvSpPr>
            <p:nvPr/>
          </p:nvSpPr>
          <p:spPr bwMode="auto">
            <a:xfrm>
              <a:off x="264700" y="2438197"/>
              <a:ext cx="8034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用户</a:t>
              </a:r>
            </a:p>
          </p:txBody>
        </p:sp>
        <p:sp>
          <p:nvSpPr>
            <p:cNvPr id="55382" name="Line 81"/>
            <p:cNvSpPr>
              <a:spLocks noChangeShapeType="1"/>
            </p:cNvSpPr>
            <p:nvPr/>
          </p:nvSpPr>
          <p:spPr bwMode="auto">
            <a:xfrm>
              <a:off x="766880" y="3409746"/>
              <a:ext cx="2866892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3" name="Line 82"/>
            <p:cNvSpPr>
              <a:spLocks noChangeShapeType="1"/>
            </p:cNvSpPr>
            <p:nvPr/>
          </p:nvSpPr>
          <p:spPr bwMode="auto">
            <a:xfrm>
              <a:off x="766880" y="4162221"/>
              <a:ext cx="2866892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4" name="Line 83"/>
            <p:cNvSpPr>
              <a:spLocks noChangeShapeType="1"/>
            </p:cNvSpPr>
            <p:nvPr/>
          </p:nvSpPr>
          <p:spPr bwMode="auto">
            <a:xfrm>
              <a:off x="766880" y="4913108"/>
              <a:ext cx="2866892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85" name="Line 84"/>
            <p:cNvSpPr>
              <a:spLocks noChangeShapeType="1"/>
            </p:cNvSpPr>
            <p:nvPr/>
          </p:nvSpPr>
          <p:spPr bwMode="auto">
            <a:xfrm>
              <a:off x="766880" y="5665583"/>
              <a:ext cx="2866892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5386" name="Group 85"/>
            <p:cNvGrpSpPr>
              <a:grpSpLocks/>
            </p:cNvGrpSpPr>
            <p:nvPr/>
          </p:nvGrpSpPr>
          <p:grpSpPr bwMode="auto">
            <a:xfrm>
              <a:off x="5116232" y="3968546"/>
              <a:ext cx="4171293" cy="1079500"/>
              <a:chOff x="1655" y="1570"/>
              <a:chExt cx="2919" cy="1497"/>
            </a:xfrm>
          </p:grpSpPr>
          <p:sp>
            <p:nvSpPr>
              <p:cNvPr id="55388" name="Line 86"/>
              <p:cNvSpPr>
                <a:spLocks noChangeShapeType="1"/>
              </p:cNvSpPr>
              <p:nvPr/>
            </p:nvSpPr>
            <p:spPr bwMode="auto">
              <a:xfrm>
                <a:off x="1655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9" name="Line 87"/>
              <p:cNvSpPr>
                <a:spLocks noChangeShapeType="1"/>
              </p:cNvSpPr>
              <p:nvPr/>
            </p:nvSpPr>
            <p:spPr bwMode="auto">
              <a:xfrm>
                <a:off x="2381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0" name="Line 88"/>
              <p:cNvSpPr>
                <a:spLocks noChangeShapeType="1"/>
              </p:cNvSpPr>
              <p:nvPr/>
            </p:nvSpPr>
            <p:spPr bwMode="auto">
              <a:xfrm>
                <a:off x="3107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1" name="Line 89"/>
              <p:cNvSpPr>
                <a:spLocks noChangeShapeType="1"/>
              </p:cNvSpPr>
              <p:nvPr/>
            </p:nvSpPr>
            <p:spPr bwMode="auto">
              <a:xfrm>
                <a:off x="3833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2" name="Line 90"/>
              <p:cNvSpPr>
                <a:spLocks noChangeShapeType="1"/>
              </p:cNvSpPr>
              <p:nvPr/>
            </p:nvSpPr>
            <p:spPr bwMode="auto">
              <a:xfrm>
                <a:off x="4574" y="1570"/>
                <a:ext cx="0" cy="1497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387" name="矩形 1"/>
            <p:cNvSpPr>
              <a:spLocks noChangeArrowheads="1"/>
            </p:cNvSpPr>
            <p:nvPr/>
          </p:nvSpPr>
          <p:spPr bwMode="auto">
            <a:xfrm>
              <a:off x="1766365" y="5936972"/>
              <a:ext cx="69958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zh-CN" sz="2400" b="1">
                  <a:ea typeface="黑体" panose="02010609060101010101" pitchFamily="49" charset="-122"/>
                </a:rPr>
                <a:t>时分复用可能会造成线路资源的浪费</a:t>
              </a:r>
              <a:endParaRPr lang="zh-CN" altLang="en-US" sz="2400" b="1">
                <a:ea typeface="黑体" panose="02010609060101010101" pitchFamily="49" charset="-122"/>
              </a:endParaRPr>
            </a:p>
          </p:txBody>
        </p:sp>
      </p:grpSp>
      <p:sp>
        <p:nvSpPr>
          <p:cNvPr id="55301" name="矩形 3"/>
          <p:cNvSpPr>
            <a:spLocks noChangeArrowheads="1"/>
          </p:cNvSpPr>
          <p:nvPr/>
        </p:nvSpPr>
        <p:spPr bwMode="auto">
          <a:xfrm>
            <a:off x="5518150" y="2565400"/>
            <a:ext cx="4043363" cy="1108075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zh-CN" sz="2200" b="1">
                <a:ea typeface="黑体" panose="02010609060101010101" pitchFamily="49" charset="-122"/>
              </a:rPr>
              <a:t>当某用户暂时无数据发送时，在时分复用帧中分配给该用户的时隙只能处于空闲状态</a:t>
            </a:r>
            <a:r>
              <a:rPr lang="zh-CN" altLang="en-US" sz="2200" b="1"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55302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59D77C-9AD3-47DB-83F2-D93ADD4F0A5B}" type="slidenum">
              <a:rPr altLang="en-US" smtClean="0"/>
              <a:pPr/>
              <a:t>8</a:t>
            </a:fld>
            <a:endParaRPr lang="zh-CN" altLang="zh-CN" smtClean="0"/>
          </a:p>
        </p:txBody>
      </p:sp>
      <p:sp>
        <p:nvSpPr>
          <p:cNvPr id="55303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1511300"/>
          </a:xfrm>
        </p:spPr>
        <p:txBody>
          <a:bodyPr/>
          <a:lstStyle/>
          <a:p>
            <a:pPr algn="ctr" eaLnBrk="1" hangingPunct="1"/>
            <a:r>
              <a:rPr lang="zh-CN" altLang="en-US" dirty="0" smtClean="0">
                <a:ea typeface="黑体" panose="02010609060101010101" pitchFamily="49" charset="-122"/>
              </a:rPr>
              <a:t>统计时分复用</a:t>
            </a:r>
            <a:r>
              <a:rPr lang="zh-CN" altLang="en-US" sz="3200" dirty="0" smtClean="0">
                <a:ea typeface="黑体" panose="02010609060101010101" pitchFamily="49" charset="-122"/>
              </a:rPr>
              <a:t>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STDM</a:t>
            </a:r>
            <a:r>
              <a:rPr lang="en-US" altLang="zh-CN" dirty="0" smtClean="0">
                <a:ea typeface="黑体" panose="02010609060101010101" pitchFamily="49" charset="-122"/>
              </a:rPr>
              <a:t/>
            </a:r>
            <a:br>
              <a:rPr lang="en-US" altLang="zh-CN" dirty="0" smtClean="0">
                <a:ea typeface="黑体" panose="02010609060101010101" pitchFamily="49" charset="-122"/>
              </a:rPr>
            </a:br>
            <a:r>
              <a:rPr lang="en-US" altLang="zh-CN" dirty="0" smtClean="0">
                <a:ea typeface="黑体" panose="02010609060101010101" pitchFamily="49" charset="-122"/>
              </a:rPr>
              <a:t>(Statistic TDM)  </a:t>
            </a:r>
          </a:p>
        </p:txBody>
      </p:sp>
      <p:sp>
        <p:nvSpPr>
          <p:cNvPr id="57347" name="矩形 1"/>
          <p:cNvSpPr>
            <a:spLocks noChangeArrowheads="1"/>
          </p:cNvSpPr>
          <p:nvPr/>
        </p:nvSpPr>
        <p:spPr bwMode="auto">
          <a:xfrm>
            <a:off x="6248400" y="1982788"/>
            <a:ext cx="3313113" cy="1446212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 b="1">
                <a:ea typeface="黑体" panose="02010609060101010101" pitchFamily="49" charset="-122"/>
              </a:rPr>
              <a:t>STDM </a:t>
            </a:r>
            <a:r>
              <a:rPr lang="zh-CN" altLang="zh-CN" sz="2200" b="1">
                <a:ea typeface="黑体" panose="02010609060101010101" pitchFamily="49" charset="-122"/>
              </a:rPr>
              <a:t>帧</a:t>
            </a:r>
            <a:r>
              <a:rPr lang="zh-CN" altLang="zh-CN" sz="2200" b="1">
                <a:solidFill>
                  <a:srgbClr val="FF0000"/>
                </a:solidFill>
                <a:ea typeface="黑体" panose="02010609060101010101" pitchFamily="49" charset="-122"/>
              </a:rPr>
              <a:t>不是固定分配</a:t>
            </a:r>
            <a:r>
              <a:rPr lang="zh-CN" altLang="zh-CN" sz="2200" b="1">
                <a:ea typeface="黑体" panose="02010609060101010101" pitchFamily="49" charset="-122"/>
              </a:rPr>
              <a:t>时隙，而是</a:t>
            </a:r>
            <a:r>
              <a:rPr lang="zh-CN" altLang="zh-CN" sz="2200" b="1">
                <a:solidFill>
                  <a:srgbClr val="FF0000"/>
                </a:solidFill>
                <a:ea typeface="黑体" panose="02010609060101010101" pitchFamily="49" charset="-122"/>
              </a:rPr>
              <a:t>按需动态地</a:t>
            </a:r>
            <a:r>
              <a:rPr lang="zh-CN" altLang="zh-CN" sz="2200" b="1">
                <a:ea typeface="黑体" panose="02010609060101010101" pitchFamily="49" charset="-122"/>
              </a:rPr>
              <a:t>分配时隙。因此统计时分复用可以提高线路的利用率</a:t>
            </a:r>
            <a:r>
              <a:rPr lang="zh-CN" altLang="en-US" sz="2200" b="1"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57348" name="组合 3"/>
          <p:cNvGrpSpPr>
            <a:grpSpLocks/>
          </p:cNvGrpSpPr>
          <p:nvPr/>
        </p:nvGrpSpPr>
        <p:grpSpPr bwMode="auto">
          <a:xfrm>
            <a:off x="631825" y="1989138"/>
            <a:ext cx="8929688" cy="4319587"/>
            <a:chOff x="632520" y="1988840"/>
            <a:chExt cx="8928992" cy="4320480"/>
          </a:xfrm>
        </p:grpSpPr>
        <p:sp>
          <p:nvSpPr>
            <p:cNvPr id="57351" name="Freeform 85"/>
            <p:cNvSpPr>
              <a:spLocks noChangeArrowheads="1"/>
            </p:cNvSpPr>
            <p:nvPr/>
          </p:nvSpPr>
          <p:spPr bwMode="auto">
            <a:xfrm>
              <a:off x="7556161" y="3919539"/>
              <a:ext cx="292365" cy="403225"/>
            </a:xfrm>
            <a:custGeom>
              <a:avLst/>
              <a:gdLst>
                <a:gd name="T0" fmla="*/ 0 w 96"/>
                <a:gd name="T1" fmla="*/ 403225 h 192"/>
                <a:gd name="T2" fmla="*/ 0 w 96"/>
                <a:gd name="T3" fmla="*/ 0 h 192"/>
                <a:gd name="T4" fmla="*/ 292365 w 96"/>
                <a:gd name="T5" fmla="*/ 0 h 192"/>
                <a:gd name="T6" fmla="*/ 292365 w 96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2" name="Freeform 86"/>
            <p:cNvSpPr>
              <a:spLocks noChangeArrowheads="1"/>
            </p:cNvSpPr>
            <p:nvPr/>
          </p:nvSpPr>
          <p:spPr bwMode="auto">
            <a:xfrm>
              <a:off x="8730778" y="3919539"/>
              <a:ext cx="292365" cy="403225"/>
            </a:xfrm>
            <a:custGeom>
              <a:avLst/>
              <a:gdLst>
                <a:gd name="T0" fmla="*/ 0 w 96"/>
                <a:gd name="T1" fmla="*/ 403225 h 192"/>
                <a:gd name="T2" fmla="*/ 0 w 96"/>
                <a:gd name="T3" fmla="*/ 0 h 192"/>
                <a:gd name="T4" fmla="*/ 292365 w 96"/>
                <a:gd name="T5" fmla="*/ 0 h 192"/>
                <a:gd name="T6" fmla="*/ 292365 w 96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3" name="Freeform 87"/>
            <p:cNvSpPr>
              <a:spLocks noChangeArrowheads="1"/>
            </p:cNvSpPr>
            <p:nvPr/>
          </p:nvSpPr>
          <p:spPr bwMode="auto">
            <a:xfrm>
              <a:off x="8338665" y="3919539"/>
              <a:ext cx="294085" cy="403225"/>
            </a:xfrm>
            <a:custGeom>
              <a:avLst/>
              <a:gdLst>
                <a:gd name="T0" fmla="*/ 0 w 96"/>
                <a:gd name="T1" fmla="*/ 403225 h 192"/>
                <a:gd name="T2" fmla="*/ 0 w 96"/>
                <a:gd name="T3" fmla="*/ 0 h 192"/>
                <a:gd name="T4" fmla="*/ 294085 w 96"/>
                <a:gd name="T5" fmla="*/ 0 h 192"/>
                <a:gd name="T6" fmla="*/ 294085 w 96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66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4" name="Freeform 88"/>
            <p:cNvSpPr>
              <a:spLocks noChangeArrowheads="1"/>
            </p:cNvSpPr>
            <p:nvPr/>
          </p:nvSpPr>
          <p:spPr bwMode="auto">
            <a:xfrm>
              <a:off x="7946553" y="3919539"/>
              <a:ext cx="294085" cy="403225"/>
            </a:xfrm>
            <a:custGeom>
              <a:avLst/>
              <a:gdLst>
                <a:gd name="T0" fmla="*/ 0 w 96"/>
                <a:gd name="T1" fmla="*/ 403225 h 192"/>
                <a:gd name="T2" fmla="*/ 0 w 96"/>
                <a:gd name="T3" fmla="*/ 0 h 192"/>
                <a:gd name="T4" fmla="*/ 294085 w 96"/>
                <a:gd name="T5" fmla="*/ 0 h 192"/>
                <a:gd name="T6" fmla="*/ 294085 w 96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5" name="Freeform 89"/>
            <p:cNvSpPr>
              <a:spLocks noChangeArrowheads="1"/>
            </p:cNvSpPr>
            <p:nvPr/>
          </p:nvSpPr>
          <p:spPr bwMode="auto">
            <a:xfrm>
              <a:off x="7164048" y="3919539"/>
              <a:ext cx="294084" cy="403225"/>
            </a:xfrm>
            <a:custGeom>
              <a:avLst/>
              <a:gdLst>
                <a:gd name="T0" fmla="*/ 0 w 96"/>
                <a:gd name="T1" fmla="*/ 403225 h 192"/>
                <a:gd name="T2" fmla="*/ 0 w 96"/>
                <a:gd name="T3" fmla="*/ 0 h 192"/>
                <a:gd name="T4" fmla="*/ 294084 w 96"/>
                <a:gd name="T5" fmla="*/ 0 h 192"/>
                <a:gd name="T6" fmla="*/ 294084 w 96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6" name="Freeform 90"/>
            <p:cNvSpPr>
              <a:spLocks noChangeArrowheads="1"/>
            </p:cNvSpPr>
            <p:nvPr/>
          </p:nvSpPr>
          <p:spPr bwMode="auto">
            <a:xfrm>
              <a:off x="6771935" y="3919539"/>
              <a:ext cx="294084" cy="403225"/>
            </a:xfrm>
            <a:custGeom>
              <a:avLst/>
              <a:gdLst>
                <a:gd name="T0" fmla="*/ 0 w 96"/>
                <a:gd name="T1" fmla="*/ 403225 h 192"/>
                <a:gd name="T2" fmla="*/ 0 w 96"/>
                <a:gd name="T3" fmla="*/ 0 h 192"/>
                <a:gd name="T4" fmla="*/ 294084 w 96"/>
                <a:gd name="T5" fmla="*/ 0 h 192"/>
                <a:gd name="T6" fmla="*/ 294084 w 96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7" name="Freeform 91"/>
            <p:cNvSpPr>
              <a:spLocks noChangeArrowheads="1"/>
            </p:cNvSpPr>
            <p:nvPr/>
          </p:nvSpPr>
          <p:spPr bwMode="auto">
            <a:xfrm>
              <a:off x="6381542" y="3919539"/>
              <a:ext cx="292365" cy="403225"/>
            </a:xfrm>
            <a:custGeom>
              <a:avLst/>
              <a:gdLst>
                <a:gd name="T0" fmla="*/ 0 w 96"/>
                <a:gd name="T1" fmla="*/ 403225 h 192"/>
                <a:gd name="T2" fmla="*/ 0 w 96"/>
                <a:gd name="T3" fmla="*/ 0 h 192"/>
                <a:gd name="T4" fmla="*/ 292365 w 96"/>
                <a:gd name="T5" fmla="*/ 0 h 192"/>
                <a:gd name="T6" fmla="*/ 292365 w 96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192">
                  <a:moveTo>
                    <a:pt x="0" y="192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192"/>
                  </a:lnTo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8" name="Text Box 92"/>
            <p:cNvSpPr txBox="1">
              <a:spLocks noChangeArrowheads="1"/>
            </p:cNvSpPr>
            <p:nvPr/>
          </p:nvSpPr>
          <p:spPr bwMode="auto">
            <a:xfrm>
              <a:off x="632520" y="2036764"/>
              <a:ext cx="8034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用户</a:t>
              </a:r>
            </a:p>
          </p:txBody>
        </p:sp>
        <p:sp>
          <p:nvSpPr>
            <p:cNvPr id="57359" name="Freeform 93"/>
            <p:cNvSpPr>
              <a:spLocks noChangeArrowheads="1"/>
            </p:cNvSpPr>
            <p:nvPr/>
          </p:nvSpPr>
          <p:spPr bwMode="auto">
            <a:xfrm>
              <a:off x="3368710" y="2711451"/>
              <a:ext cx="686196" cy="403225"/>
            </a:xfrm>
            <a:custGeom>
              <a:avLst/>
              <a:gdLst>
                <a:gd name="T0" fmla="*/ 0 w 1008"/>
                <a:gd name="T1" fmla="*/ 403225 h 192"/>
                <a:gd name="T2" fmla="*/ 0 w 1008"/>
                <a:gd name="T3" fmla="*/ 0 h 192"/>
                <a:gd name="T4" fmla="*/ 686196 w 1008"/>
                <a:gd name="T5" fmla="*/ 0 h 192"/>
                <a:gd name="T6" fmla="*/ 686196 w 1008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0" name="Freeform 94"/>
            <p:cNvSpPr>
              <a:spLocks noChangeArrowheads="1"/>
            </p:cNvSpPr>
            <p:nvPr/>
          </p:nvSpPr>
          <p:spPr bwMode="auto">
            <a:xfrm>
              <a:off x="1313558" y="3517900"/>
              <a:ext cx="1370675" cy="401638"/>
            </a:xfrm>
            <a:custGeom>
              <a:avLst/>
              <a:gdLst>
                <a:gd name="T0" fmla="*/ 0 w 1008"/>
                <a:gd name="T1" fmla="*/ 401638 h 192"/>
                <a:gd name="T2" fmla="*/ 0 w 1008"/>
                <a:gd name="T3" fmla="*/ 0 h 192"/>
                <a:gd name="T4" fmla="*/ 1370675 w 1008"/>
                <a:gd name="T5" fmla="*/ 0 h 192"/>
                <a:gd name="T6" fmla="*/ 1370675 w 1008"/>
                <a:gd name="T7" fmla="*/ 401638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1" name="Freeform 95"/>
            <p:cNvSpPr>
              <a:spLocks noChangeArrowheads="1"/>
            </p:cNvSpPr>
            <p:nvPr/>
          </p:nvSpPr>
          <p:spPr bwMode="auto">
            <a:xfrm>
              <a:off x="1998035" y="4322764"/>
              <a:ext cx="1370675" cy="403225"/>
            </a:xfrm>
            <a:custGeom>
              <a:avLst/>
              <a:gdLst>
                <a:gd name="T0" fmla="*/ 0 w 1008"/>
                <a:gd name="T1" fmla="*/ 403225 h 192"/>
                <a:gd name="T2" fmla="*/ 0 w 1008"/>
                <a:gd name="T3" fmla="*/ 0 h 192"/>
                <a:gd name="T4" fmla="*/ 1370675 w 1008"/>
                <a:gd name="T5" fmla="*/ 0 h 192"/>
                <a:gd name="T6" fmla="*/ 1370675 w 1008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CCE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2" name="Freeform 96"/>
            <p:cNvSpPr>
              <a:spLocks noChangeArrowheads="1"/>
            </p:cNvSpPr>
            <p:nvPr/>
          </p:nvSpPr>
          <p:spPr bwMode="auto">
            <a:xfrm>
              <a:off x="2684233" y="5127626"/>
              <a:ext cx="684477" cy="403225"/>
            </a:xfrm>
            <a:custGeom>
              <a:avLst/>
              <a:gdLst>
                <a:gd name="T0" fmla="*/ 0 w 1008"/>
                <a:gd name="T1" fmla="*/ 403225 h 192"/>
                <a:gd name="T2" fmla="*/ 0 w 1008"/>
                <a:gd name="T3" fmla="*/ 0 h 192"/>
                <a:gd name="T4" fmla="*/ 684477 w 1008"/>
                <a:gd name="T5" fmla="*/ 0 h 192"/>
                <a:gd name="T6" fmla="*/ 684477 w 1008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66FF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3" name="Text Box 97"/>
            <p:cNvSpPr txBox="1">
              <a:spLocks noChangeArrowheads="1"/>
            </p:cNvSpPr>
            <p:nvPr/>
          </p:nvSpPr>
          <p:spPr bwMode="auto">
            <a:xfrm>
              <a:off x="735708" y="2674939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7364" name="Text Box 98"/>
            <p:cNvSpPr txBox="1">
              <a:spLocks noChangeArrowheads="1"/>
            </p:cNvSpPr>
            <p:nvPr/>
          </p:nvSpPr>
          <p:spPr bwMode="auto">
            <a:xfrm>
              <a:off x="735708" y="3479800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7365" name="Text Box 99"/>
            <p:cNvSpPr txBox="1">
              <a:spLocks noChangeArrowheads="1"/>
            </p:cNvSpPr>
            <p:nvPr/>
          </p:nvSpPr>
          <p:spPr bwMode="auto">
            <a:xfrm>
              <a:off x="735708" y="4286251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57366" name="Text Box 100"/>
            <p:cNvSpPr txBox="1">
              <a:spLocks noChangeArrowheads="1"/>
            </p:cNvSpPr>
            <p:nvPr/>
          </p:nvSpPr>
          <p:spPr bwMode="auto">
            <a:xfrm>
              <a:off x="735708" y="5091114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7367" name="Line 101"/>
            <p:cNvSpPr>
              <a:spLocks noChangeShapeType="1"/>
            </p:cNvSpPr>
            <p:nvPr/>
          </p:nvSpPr>
          <p:spPr bwMode="auto">
            <a:xfrm>
              <a:off x="6087459" y="4322763"/>
              <a:ext cx="3229769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8" name="Text Box 102"/>
            <p:cNvSpPr txBox="1">
              <a:spLocks noChangeArrowheads="1"/>
            </p:cNvSpPr>
            <p:nvPr/>
          </p:nvSpPr>
          <p:spPr bwMode="auto">
            <a:xfrm>
              <a:off x="3516612" y="2695576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7369" name="Text Box 105"/>
            <p:cNvSpPr txBox="1">
              <a:spLocks noChangeArrowheads="1"/>
            </p:cNvSpPr>
            <p:nvPr/>
          </p:nvSpPr>
          <p:spPr bwMode="auto">
            <a:xfrm>
              <a:off x="1518214" y="3503614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7370" name="Text Box 106"/>
            <p:cNvSpPr txBox="1">
              <a:spLocks noChangeArrowheads="1"/>
            </p:cNvSpPr>
            <p:nvPr/>
          </p:nvSpPr>
          <p:spPr bwMode="auto">
            <a:xfrm>
              <a:off x="2847612" y="4298951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57371" name="Text Box 107"/>
            <p:cNvSpPr txBox="1">
              <a:spLocks noChangeArrowheads="1"/>
            </p:cNvSpPr>
            <p:nvPr/>
          </p:nvSpPr>
          <p:spPr bwMode="auto">
            <a:xfrm>
              <a:off x="2851052" y="5127626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7372" name="Text Box 111"/>
            <p:cNvSpPr txBox="1">
              <a:spLocks noChangeArrowheads="1"/>
            </p:cNvSpPr>
            <p:nvPr/>
          </p:nvSpPr>
          <p:spPr bwMode="auto">
            <a:xfrm>
              <a:off x="4323193" y="2751139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</a:p>
          </p:txBody>
        </p:sp>
        <p:sp>
          <p:nvSpPr>
            <p:cNvPr id="57373" name="Text Box 112"/>
            <p:cNvSpPr txBox="1">
              <a:spLocks noChangeArrowheads="1"/>
            </p:cNvSpPr>
            <p:nvPr/>
          </p:nvSpPr>
          <p:spPr bwMode="auto">
            <a:xfrm>
              <a:off x="4323193" y="3575051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</a:p>
          </p:txBody>
        </p:sp>
        <p:sp>
          <p:nvSpPr>
            <p:cNvPr id="57374" name="Text Box 113"/>
            <p:cNvSpPr txBox="1">
              <a:spLocks noChangeArrowheads="1"/>
            </p:cNvSpPr>
            <p:nvPr/>
          </p:nvSpPr>
          <p:spPr bwMode="auto">
            <a:xfrm>
              <a:off x="4323193" y="4400551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</a:p>
          </p:txBody>
        </p:sp>
        <p:sp>
          <p:nvSpPr>
            <p:cNvPr id="57375" name="Text Box 114"/>
            <p:cNvSpPr txBox="1">
              <a:spLocks noChangeArrowheads="1"/>
            </p:cNvSpPr>
            <p:nvPr/>
          </p:nvSpPr>
          <p:spPr bwMode="auto">
            <a:xfrm>
              <a:off x="4323193" y="5224464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</a:p>
          </p:txBody>
        </p:sp>
        <p:sp>
          <p:nvSpPr>
            <p:cNvPr id="57376" name="Text Box 115"/>
            <p:cNvSpPr txBox="1">
              <a:spLocks noChangeArrowheads="1"/>
            </p:cNvSpPr>
            <p:nvPr/>
          </p:nvSpPr>
          <p:spPr bwMode="auto">
            <a:xfrm>
              <a:off x="9274254" y="4191471"/>
              <a:ext cx="2872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t</a:t>
              </a:r>
            </a:p>
          </p:txBody>
        </p:sp>
        <p:sp>
          <p:nvSpPr>
            <p:cNvPr id="57377" name="Line 116"/>
            <p:cNvSpPr>
              <a:spLocks noChangeShapeType="1"/>
            </p:cNvSpPr>
            <p:nvPr/>
          </p:nvSpPr>
          <p:spPr bwMode="auto">
            <a:xfrm>
              <a:off x="1998035" y="3819526"/>
              <a:ext cx="0" cy="1000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8" name="Line 117"/>
            <p:cNvSpPr>
              <a:spLocks noChangeShapeType="1"/>
            </p:cNvSpPr>
            <p:nvPr/>
          </p:nvSpPr>
          <p:spPr bwMode="auto">
            <a:xfrm>
              <a:off x="2684232" y="4624388"/>
              <a:ext cx="0" cy="101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9" name="Line 118"/>
            <p:cNvSpPr>
              <a:spLocks noChangeShapeType="1"/>
            </p:cNvSpPr>
            <p:nvPr/>
          </p:nvSpPr>
          <p:spPr bwMode="auto">
            <a:xfrm>
              <a:off x="3368709" y="3819526"/>
              <a:ext cx="0" cy="1000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0" name="Line 119"/>
            <p:cNvSpPr>
              <a:spLocks noChangeShapeType="1"/>
            </p:cNvSpPr>
            <p:nvPr/>
          </p:nvSpPr>
          <p:spPr bwMode="auto">
            <a:xfrm>
              <a:off x="1998035" y="5430838"/>
              <a:ext cx="0" cy="1000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1" name="Line 120"/>
            <p:cNvSpPr>
              <a:spLocks noChangeShapeType="1"/>
            </p:cNvSpPr>
            <p:nvPr/>
          </p:nvSpPr>
          <p:spPr bwMode="auto">
            <a:xfrm>
              <a:off x="4054906" y="4624388"/>
              <a:ext cx="0" cy="101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2" name="Line 121"/>
            <p:cNvSpPr>
              <a:spLocks noChangeShapeType="1"/>
            </p:cNvSpPr>
            <p:nvPr/>
          </p:nvSpPr>
          <p:spPr bwMode="auto">
            <a:xfrm>
              <a:off x="4054906" y="5430838"/>
              <a:ext cx="0" cy="1000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3" name="Line 122"/>
            <p:cNvSpPr>
              <a:spLocks noChangeShapeType="1"/>
            </p:cNvSpPr>
            <p:nvPr/>
          </p:nvSpPr>
          <p:spPr bwMode="auto">
            <a:xfrm>
              <a:off x="6283514" y="4424364"/>
              <a:ext cx="0" cy="200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4" name="Line 123"/>
            <p:cNvSpPr>
              <a:spLocks noChangeShapeType="1"/>
            </p:cNvSpPr>
            <p:nvPr/>
          </p:nvSpPr>
          <p:spPr bwMode="auto">
            <a:xfrm>
              <a:off x="7066019" y="4424364"/>
              <a:ext cx="0" cy="200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5" name="Line 124"/>
            <p:cNvSpPr>
              <a:spLocks noChangeShapeType="1"/>
            </p:cNvSpPr>
            <p:nvPr/>
          </p:nvSpPr>
          <p:spPr bwMode="auto">
            <a:xfrm>
              <a:off x="7848525" y="4424364"/>
              <a:ext cx="0" cy="200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6" name="Line 125"/>
            <p:cNvSpPr>
              <a:spLocks noChangeShapeType="1"/>
            </p:cNvSpPr>
            <p:nvPr/>
          </p:nvSpPr>
          <p:spPr bwMode="auto">
            <a:xfrm>
              <a:off x="6283514" y="4524375"/>
              <a:ext cx="7825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7" name="Line 126"/>
            <p:cNvSpPr>
              <a:spLocks noChangeShapeType="1"/>
            </p:cNvSpPr>
            <p:nvPr/>
          </p:nvSpPr>
          <p:spPr bwMode="auto">
            <a:xfrm>
              <a:off x="7066019" y="4524375"/>
              <a:ext cx="7825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8" name="Line 127"/>
            <p:cNvSpPr>
              <a:spLocks noChangeShapeType="1"/>
            </p:cNvSpPr>
            <p:nvPr/>
          </p:nvSpPr>
          <p:spPr bwMode="auto">
            <a:xfrm>
              <a:off x="7848525" y="4524375"/>
              <a:ext cx="784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9" name="Text Box 128"/>
            <p:cNvSpPr txBox="1">
              <a:spLocks noChangeArrowheads="1"/>
            </p:cNvSpPr>
            <p:nvPr/>
          </p:nvSpPr>
          <p:spPr bwMode="auto">
            <a:xfrm>
              <a:off x="6537176" y="5301208"/>
              <a:ext cx="210185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3 </a:t>
              </a:r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个 </a:t>
              </a:r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STDM </a:t>
              </a:r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帧</a:t>
              </a:r>
            </a:p>
          </p:txBody>
        </p:sp>
        <p:sp>
          <p:nvSpPr>
            <p:cNvPr id="57390" name="Text Box 129"/>
            <p:cNvSpPr txBox="1">
              <a:spLocks noChangeArrowheads="1"/>
            </p:cNvSpPr>
            <p:nvPr/>
          </p:nvSpPr>
          <p:spPr bwMode="auto">
            <a:xfrm>
              <a:off x="6402180" y="4479503"/>
              <a:ext cx="5277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#1</a:t>
              </a:r>
            </a:p>
          </p:txBody>
        </p:sp>
        <p:sp>
          <p:nvSpPr>
            <p:cNvPr id="57391" name="Line 130"/>
            <p:cNvSpPr>
              <a:spLocks noChangeShapeType="1"/>
            </p:cNvSpPr>
            <p:nvPr/>
          </p:nvSpPr>
          <p:spPr bwMode="auto">
            <a:xfrm>
              <a:off x="4660254" y="3111500"/>
              <a:ext cx="1257167" cy="80803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2" name="Line 131"/>
            <p:cNvSpPr>
              <a:spLocks noChangeShapeType="1"/>
            </p:cNvSpPr>
            <p:nvPr/>
          </p:nvSpPr>
          <p:spPr bwMode="auto">
            <a:xfrm>
              <a:off x="4737644" y="3903664"/>
              <a:ext cx="1081750" cy="217487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3" name="Line 132"/>
            <p:cNvSpPr>
              <a:spLocks noChangeShapeType="1"/>
            </p:cNvSpPr>
            <p:nvPr/>
          </p:nvSpPr>
          <p:spPr bwMode="auto">
            <a:xfrm flipV="1">
              <a:off x="4737644" y="4322763"/>
              <a:ext cx="1081750" cy="373062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4" name="Line 133"/>
            <p:cNvSpPr>
              <a:spLocks noChangeShapeType="1"/>
            </p:cNvSpPr>
            <p:nvPr/>
          </p:nvSpPr>
          <p:spPr bwMode="auto">
            <a:xfrm flipV="1">
              <a:off x="4660254" y="4524376"/>
              <a:ext cx="1257167" cy="963613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5" name="Text Box 134"/>
            <p:cNvSpPr txBox="1">
              <a:spLocks noChangeArrowheads="1"/>
            </p:cNvSpPr>
            <p:nvPr/>
          </p:nvSpPr>
          <p:spPr bwMode="auto">
            <a:xfrm>
              <a:off x="4737644" y="4840289"/>
              <a:ext cx="4940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④</a:t>
              </a:r>
            </a:p>
          </p:txBody>
        </p:sp>
        <p:sp>
          <p:nvSpPr>
            <p:cNvPr id="57396" name="Text Box 135"/>
            <p:cNvSpPr txBox="1">
              <a:spLocks noChangeArrowheads="1"/>
            </p:cNvSpPr>
            <p:nvPr/>
          </p:nvSpPr>
          <p:spPr bwMode="auto">
            <a:xfrm>
              <a:off x="4660254" y="4191001"/>
              <a:ext cx="4940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③</a:t>
              </a:r>
            </a:p>
          </p:txBody>
        </p:sp>
        <p:sp>
          <p:nvSpPr>
            <p:cNvPr id="57397" name="Text Box 136"/>
            <p:cNvSpPr txBox="1">
              <a:spLocks noChangeArrowheads="1"/>
            </p:cNvSpPr>
            <p:nvPr/>
          </p:nvSpPr>
          <p:spPr bwMode="auto">
            <a:xfrm>
              <a:off x="4660254" y="3543301"/>
              <a:ext cx="4940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②</a:t>
              </a:r>
            </a:p>
          </p:txBody>
        </p:sp>
        <p:sp>
          <p:nvSpPr>
            <p:cNvPr id="57398" name="Text Box 137"/>
            <p:cNvSpPr txBox="1">
              <a:spLocks noChangeArrowheads="1"/>
            </p:cNvSpPr>
            <p:nvPr/>
          </p:nvSpPr>
          <p:spPr bwMode="auto">
            <a:xfrm>
              <a:off x="4815035" y="2895601"/>
              <a:ext cx="4940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①</a:t>
              </a:r>
            </a:p>
          </p:txBody>
        </p:sp>
        <p:sp>
          <p:nvSpPr>
            <p:cNvPr id="57399" name="Freeform 138"/>
            <p:cNvSpPr>
              <a:spLocks noChangeArrowheads="1"/>
            </p:cNvSpPr>
            <p:nvPr/>
          </p:nvSpPr>
          <p:spPr bwMode="auto">
            <a:xfrm>
              <a:off x="1313558" y="2711451"/>
              <a:ext cx="684477" cy="403225"/>
            </a:xfrm>
            <a:custGeom>
              <a:avLst/>
              <a:gdLst>
                <a:gd name="T0" fmla="*/ 0 w 1008"/>
                <a:gd name="T1" fmla="*/ 403225 h 192"/>
                <a:gd name="T2" fmla="*/ 0 w 1008"/>
                <a:gd name="T3" fmla="*/ 0 h 192"/>
                <a:gd name="T4" fmla="*/ 684477 w 1008"/>
                <a:gd name="T5" fmla="*/ 0 h 192"/>
                <a:gd name="T6" fmla="*/ 684477 w 1008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0" y="0"/>
                  </a:lnTo>
                  <a:lnTo>
                    <a:pt x="1008" y="0"/>
                  </a:lnTo>
                  <a:lnTo>
                    <a:pt x="1008" y="192"/>
                  </a:lnTo>
                </a:path>
              </a:pathLst>
            </a:cu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0" name="Line 139"/>
            <p:cNvSpPr>
              <a:spLocks noChangeShapeType="1"/>
            </p:cNvSpPr>
            <p:nvPr/>
          </p:nvSpPr>
          <p:spPr bwMode="auto">
            <a:xfrm>
              <a:off x="4054906" y="3819526"/>
              <a:ext cx="0" cy="1000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1" name="Line 140"/>
            <p:cNvSpPr>
              <a:spLocks noChangeShapeType="1"/>
            </p:cNvSpPr>
            <p:nvPr/>
          </p:nvSpPr>
          <p:spPr bwMode="auto">
            <a:xfrm>
              <a:off x="1411586" y="5430838"/>
              <a:ext cx="0" cy="1000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2" name="Text Box 141"/>
            <p:cNvSpPr txBox="1">
              <a:spLocks noChangeArrowheads="1"/>
            </p:cNvSpPr>
            <p:nvPr/>
          </p:nvSpPr>
          <p:spPr bwMode="auto">
            <a:xfrm>
              <a:off x="1485537" y="2679701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7403" name="Text Box 142"/>
            <p:cNvSpPr txBox="1">
              <a:spLocks noChangeArrowheads="1"/>
            </p:cNvSpPr>
            <p:nvPr/>
          </p:nvSpPr>
          <p:spPr bwMode="auto">
            <a:xfrm>
              <a:off x="2157976" y="4286251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57404" name="Text Box 143"/>
            <p:cNvSpPr txBox="1">
              <a:spLocks noChangeArrowheads="1"/>
            </p:cNvSpPr>
            <p:nvPr/>
          </p:nvSpPr>
          <p:spPr bwMode="auto">
            <a:xfrm>
              <a:off x="2190652" y="3506789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7405" name="Line 144"/>
            <p:cNvSpPr>
              <a:spLocks noChangeShapeType="1"/>
            </p:cNvSpPr>
            <p:nvPr/>
          </p:nvSpPr>
          <p:spPr bwMode="auto">
            <a:xfrm>
              <a:off x="7164048" y="4222751"/>
              <a:ext cx="0" cy="1000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6" name="Line 145"/>
            <p:cNvSpPr>
              <a:spLocks noChangeShapeType="1"/>
            </p:cNvSpPr>
            <p:nvPr/>
          </p:nvSpPr>
          <p:spPr bwMode="auto">
            <a:xfrm>
              <a:off x="7458132" y="4222751"/>
              <a:ext cx="0" cy="1000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7" name="Line 146"/>
            <p:cNvSpPr>
              <a:spLocks noChangeShapeType="1"/>
            </p:cNvSpPr>
            <p:nvPr/>
          </p:nvSpPr>
          <p:spPr bwMode="auto">
            <a:xfrm>
              <a:off x="8632750" y="4424364"/>
              <a:ext cx="0" cy="200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8" name="Line 147"/>
            <p:cNvSpPr>
              <a:spLocks noChangeShapeType="1"/>
            </p:cNvSpPr>
            <p:nvPr/>
          </p:nvSpPr>
          <p:spPr bwMode="auto">
            <a:xfrm>
              <a:off x="8632750" y="4222751"/>
              <a:ext cx="0" cy="1000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9" name="Text Box 103"/>
            <p:cNvSpPr txBox="1">
              <a:spLocks noChangeArrowheads="1"/>
            </p:cNvSpPr>
            <p:nvPr/>
          </p:nvSpPr>
          <p:spPr bwMode="auto">
            <a:xfrm>
              <a:off x="8704981" y="3903664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7410" name="Text Box 104"/>
            <p:cNvSpPr txBox="1">
              <a:spLocks noChangeArrowheads="1"/>
            </p:cNvSpPr>
            <p:nvPr/>
          </p:nvSpPr>
          <p:spPr bwMode="auto">
            <a:xfrm>
              <a:off x="6747859" y="3903664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7411" name="Text Box 108"/>
            <p:cNvSpPr txBox="1">
              <a:spLocks noChangeArrowheads="1"/>
            </p:cNvSpPr>
            <p:nvPr/>
          </p:nvSpPr>
          <p:spPr bwMode="auto">
            <a:xfrm>
              <a:off x="7115894" y="3903664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57412" name="Text Box 109"/>
            <p:cNvSpPr txBox="1">
              <a:spLocks noChangeArrowheads="1"/>
            </p:cNvSpPr>
            <p:nvPr/>
          </p:nvSpPr>
          <p:spPr bwMode="auto">
            <a:xfrm>
              <a:off x="7506286" y="3903664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57413" name="Text Box 110"/>
            <p:cNvSpPr txBox="1">
              <a:spLocks noChangeArrowheads="1"/>
            </p:cNvSpPr>
            <p:nvPr/>
          </p:nvSpPr>
          <p:spPr bwMode="auto">
            <a:xfrm>
              <a:off x="6348867" y="3903664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57414" name="Text Box 148"/>
            <p:cNvSpPr txBox="1">
              <a:spLocks noChangeArrowheads="1"/>
            </p:cNvSpPr>
            <p:nvPr/>
          </p:nvSpPr>
          <p:spPr bwMode="auto">
            <a:xfrm>
              <a:off x="7910437" y="3903664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57415" name="Text Box 149"/>
            <p:cNvSpPr txBox="1">
              <a:spLocks noChangeArrowheads="1"/>
            </p:cNvSpPr>
            <p:nvPr/>
          </p:nvSpPr>
          <p:spPr bwMode="auto">
            <a:xfrm>
              <a:off x="8290511" y="3903664"/>
              <a:ext cx="372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57416" name="Freeform 150"/>
            <p:cNvSpPr>
              <a:spLocks noChangeArrowheads="1"/>
            </p:cNvSpPr>
            <p:nvPr/>
          </p:nvSpPr>
          <p:spPr bwMode="auto">
            <a:xfrm>
              <a:off x="6283515" y="3919539"/>
              <a:ext cx="98028" cy="403225"/>
            </a:xfrm>
            <a:custGeom>
              <a:avLst/>
              <a:gdLst>
                <a:gd name="T0" fmla="*/ 0 w 48"/>
                <a:gd name="T1" fmla="*/ 403225 h 192"/>
                <a:gd name="T2" fmla="*/ 0 w 48"/>
                <a:gd name="T3" fmla="*/ 0 h 192"/>
                <a:gd name="T4" fmla="*/ 98028 w 48"/>
                <a:gd name="T5" fmla="*/ 0 h 192"/>
                <a:gd name="T6" fmla="*/ 98028 w 48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192">
                  <a:moveTo>
                    <a:pt x="0" y="192"/>
                  </a:moveTo>
                  <a:lnTo>
                    <a:pt x="0" y="0"/>
                  </a:lnTo>
                  <a:lnTo>
                    <a:pt x="48" y="0"/>
                  </a:lnTo>
                  <a:lnTo>
                    <a:pt x="48" y="1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7" name="Freeform 151"/>
            <p:cNvSpPr>
              <a:spLocks noChangeArrowheads="1"/>
            </p:cNvSpPr>
            <p:nvPr/>
          </p:nvSpPr>
          <p:spPr bwMode="auto">
            <a:xfrm>
              <a:off x="6673906" y="3919539"/>
              <a:ext cx="98029" cy="403225"/>
            </a:xfrm>
            <a:custGeom>
              <a:avLst/>
              <a:gdLst>
                <a:gd name="T0" fmla="*/ 0 w 48"/>
                <a:gd name="T1" fmla="*/ 403225 h 192"/>
                <a:gd name="T2" fmla="*/ 0 w 48"/>
                <a:gd name="T3" fmla="*/ 0 h 192"/>
                <a:gd name="T4" fmla="*/ 98029 w 48"/>
                <a:gd name="T5" fmla="*/ 0 h 192"/>
                <a:gd name="T6" fmla="*/ 98029 w 48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192">
                  <a:moveTo>
                    <a:pt x="0" y="192"/>
                  </a:moveTo>
                  <a:lnTo>
                    <a:pt x="0" y="0"/>
                  </a:lnTo>
                  <a:lnTo>
                    <a:pt x="48" y="0"/>
                  </a:lnTo>
                  <a:lnTo>
                    <a:pt x="48" y="1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8" name="Freeform 152"/>
            <p:cNvSpPr>
              <a:spLocks noChangeArrowheads="1"/>
            </p:cNvSpPr>
            <p:nvPr/>
          </p:nvSpPr>
          <p:spPr bwMode="auto">
            <a:xfrm>
              <a:off x="7066019" y="3919539"/>
              <a:ext cx="98029" cy="403225"/>
            </a:xfrm>
            <a:custGeom>
              <a:avLst/>
              <a:gdLst>
                <a:gd name="T0" fmla="*/ 0 w 48"/>
                <a:gd name="T1" fmla="*/ 403225 h 192"/>
                <a:gd name="T2" fmla="*/ 0 w 48"/>
                <a:gd name="T3" fmla="*/ 0 h 192"/>
                <a:gd name="T4" fmla="*/ 98029 w 48"/>
                <a:gd name="T5" fmla="*/ 0 h 192"/>
                <a:gd name="T6" fmla="*/ 98029 w 48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192">
                  <a:moveTo>
                    <a:pt x="0" y="192"/>
                  </a:moveTo>
                  <a:lnTo>
                    <a:pt x="0" y="0"/>
                  </a:lnTo>
                  <a:lnTo>
                    <a:pt x="48" y="0"/>
                  </a:lnTo>
                  <a:lnTo>
                    <a:pt x="48" y="1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9" name="Freeform 153"/>
            <p:cNvSpPr>
              <a:spLocks noChangeArrowheads="1"/>
            </p:cNvSpPr>
            <p:nvPr/>
          </p:nvSpPr>
          <p:spPr bwMode="auto">
            <a:xfrm>
              <a:off x="7458131" y="3919539"/>
              <a:ext cx="98029" cy="403225"/>
            </a:xfrm>
            <a:custGeom>
              <a:avLst/>
              <a:gdLst>
                <a:gd name="T0" fmla="*/ 0 w 48"/>
                <a:gd name="T1" fmla="*/ 403225 h 192"/>
                <a:gd name="T2" fmla="*/ 0 w 48"/>
                <a:gd name="T3" fmla="*/ 0 h 192"/>
                <a:gd name="T4" fmla="*/ 98029 w 48"/>
                <a:gd name="T5" fmla="*/ 0 h 192"/>
                <a:gd name="T6" fmla="*/ 98029 w 48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192">
                  <a:moveTo>
                    <a:pt x="0" y="192"/>
                  </a:moveTo>
                  <a:lnTo>
                    <a:pt x="0" y="0"/>
                  </a:lnTo>
                  <a:lnTo>
                    <a:pt x="48" y="0"/>
                  </a:lnTo>
                  <a:lnTo>
                    <a:pt x="48" y="1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0" name="Freeform 154"/>
            <p:cNvSpPr>
              <a:spLocks noChangeArrowheads="1"/>
            </p:cNvSpPr>
            <p:nvPr/>
          </p:nvSpPr>
          <p:spPr bwMode="auto">
            <a:xfrm>
              <a:off x="7848525" y="3919539"/>
              <a:ext cx="98028" cy="403225"/>
            </a:xfrm>
            <a:custGeom>
              <a:avLst/>
              <a:gdLst>
                <a:gd name="T0" fmla="*/ 0 w 48"/>
                <a:gd name="T1" fmla="*/ 403225 h 192"/>
                <a:gd name="T2" fmla="*/ 0 w 48"/>
                <a:gd name="T3" fmla="*/ 0 h 192"/>
                <a:gd name="T4" fmla="*/ 98028 w 48"/>
                <a:gd name="T5" fmla="*/ 0 h 192"/>
                <a:gd name="T6" fmla="*/ 98028 w 48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192">
                  <a:moveTo>
                    <a:pt x="0" y="192"/>
                  </a:moveTo>
                  <a:lnTo>
                    <a:pt x="0" y="0"/>
                  </a:lnTo>
                  <a:lnTo>
                    <a:pt x="48" y="0"/>
                  </a:lnTo>
                  <a:lnTo>
                    <a:pt x="48" y="1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1" name="Freeform 155"/>
            <p:cNvSpPr>
              <a:spLocks noChangeArrowheads="1"/>
            </p:cNvSpPr>
            <p:nvPr/>
          </p:nvSpPr>
          <p:spPr bwMode="auto">
            <a:xfrm>
              <a:off x="8240638" y="3919539"/>
              <a:ext cx="98028" cy="403225"/>
            </a:xfrm>
            <a:custGeom>
              <a:avLst/>
              <a:gdLst>
                <a:gd name="T0" fmla="*/ 0 w 48"/>
                <a:gd name="T1" fmla="*/ 403225 h 192"/>
                <a:gd name="T2" fmla="*/ 0 w 48"/>
                <a:gd name="T3" fmla="*/ 0 h 192"/>
                <a:gd name="T4" fmla="*/ 98028 w 48"/>
                <a:gd name="T5" fmla="*/ 0 h 192"/>
                <a:gd name="T6" fmla="*/ 98028 w 48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192">
                  <a:moveTo>
                    <a:pt x="0" y="192"/>
                  </a:moveTo>
                  <a:lnTo>
                    <a:pt x="0" y="0"/>
                  </a:lnTo>
                  <a:lnTo>
                    <a:pt x="48" y="0"/>
                  </a:lnTo>
                  <a:lnTo>
                    <a:pt x="48" y="1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2" name="Freeform 156"/>
            <p:cNvSpPr>
              <a:spLocks noChangeArrowheads="1"/>
            </p:cNvSpPr>
            <p:nvPr/>
          </p:nvSpPr>
          <p:spPr bwMode="auto">
            <a:xfrm>
              <a:off x="8632750" y="3919539"/>
              <a:ext cx="98028" cy="403225"/>
            </a:xfrm>
            <a:custGeom>
              <a:avLst/>
              <a:gdLst>
                <a:gd name="T0" fmla="*/ 0 w 48"/>
                <a:gd name="T1" fmla="*/ 403225 h 192"/>
                <a:gd name="T2" fmla="*/ 0 w 48"/>
                <a:gd name="T3" fmla="*/ 0 h 192"/>
                <a:gd name="T4" fmla="*/ 98028 w 48"/>
                <a:gd name="T5" fmla="*/ 0 h 192"/>
                <a:gd name="T6" fmla="*/ 98028 w 48"/>
                <a:gd name="T7" fmla="*/ 403225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192">
                  <a:moveTo>
                    <a:pt x="0" y="192"/>
                  </a:moveTo>
                  <a:lnTo>
                    <a:pt x="0" y="0"/>
                  </a:lnTo>
                  <a:lnTo>
                    <a:pt x="48" y="0"/>
                  </a:lnTo>
                  <a:lnTo>
                    <a:pt x="48" y="1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3" name="Text Box 157"/>
            <p:cNvSpPr txBox="1">
              <a:spLocks noChangeArrowheads="1"/>
            </p:cNvSpPr>
            <p:nvPr/>
          </p:nvSpPr>
          <p:spPr bwMode="auto">
            <a:xfrm>
              <a:off x="7164048" y="4479503"/>
              <a:ext cx="5277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#2</a:t>
              </a:r>
            </a:p>
          </p:txBody>
        </p:sp>
        <p:sp>
          <p:nvSpPr>
            <p:cNvPr id="57424" name="Text Box 158"/>
            <p:cNvSpPr txBox="1">
              <a:spLocks noChangeArrowheads="1"/>
            </p:cNvSpPr>
            <p:nvPr/>
          </p:nvSpPr>
          <p:spPr bwMode="auto">
            <a:xfrm>
              <a:off x="7925915" y="4479503"/>
              <a:ext cx="5277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#3</a:t>
              </a:r>
            </a:p>
          </p:txBody>
        </p:sp>
        <p:sp>
          <p:nvSpPr>
            <p:cNvPr id="57425" name="Text Box 159"/>
            <p:cNvSpPr txBox="1">
              <a:spLocks noChangeArrowheads="1"/>
            </p:cNvSpPr>
            <p:nvPr/>
          </p:nvSpPr>
          <p:spPr bwMode="auto">
            <a:xfrm>
              <a:off x="4583940" y="1988840"/>
              <a:ext cx="1737212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 b="1">
                  <a:solidFill>
                    <a:srgbClr val="C00000"/>
                  </a:solidFill>
                  <a:ea typeface="黑体" panose="02010609060101010101" pitchFamily="49" charset="-122"/>
                </a:rPr>
                <a:t>统计</a:t>
              </a:r>
              <a:endParaRPr lang="en-US" altLang="zh-CN" sz="2800" b="1">
                <a:solidFill>
                  <a:srgbClr val="C00000"/>
                </a:solidFill>
                <a:ea typeface="黑体" panose="02010609060101010101" pitchFamily="49" charset="-122"/>
              </a:endParaRPr>
            </a:p>
            <a:p>
              <a:r>
                <a:rPr lang="zh-CN" altLang="en-US" sz="2800" b="1">
                  <a:solidFill>
                    <a:srgbClr val="C00000"/>
                  </a:solidFill>
                  <a:ea typeface="黑体" panose="02010609060101010101" pitchFamily="49" charset="-122"/>
                </a:rPr>
                <a:t>时分复用</a:t>
              </a:r>
            </a:p>
          </p:txBody>
        </p:sp>
        <p:sp>
          <p:nvSpPr>
            <p:cNvPr id="57426" name="Line 160"/>
            <p:cNvSpPr>
              <a:spLocks noChangeShapeType="1"/>
            </p:cNvSpPr>
            <p:nvPr/>
          </p:nvSpPr>
          <p:spPr bwMode="auto">
            <a:xfrm>
              <a:off x="6673907" y="4826000"/>
              <a:ext cx="686197" cy="503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7" name="Line 161"/>
            <p:cNvSpPr>
              <a:spLocks noChangeShapeType="1"/>
            </p:cNvSpPr>
            <p:nvPr/>
          </p:nvSpPr>
          <p:spPr bwMode="auto">
            <a:xfrm>
              <a:off x="7458132" y="4826000"/>
              <a:ext cx="0" cy="503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8" name="Line 162"/>
            <p:cNvSpPr>
              <a:spLocks noChangeShapeType="1"/>
            </p:cNvSpPr>
            <p:nvPr/>
          </p:nvSpPr>
          <p:spPr bwMode="auto">
            <a:xfrm flipH="1">
              <a:off x="7654188" y="4826000"/>
              <a:ext cx="488421" cy="503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9" name="Line 163"/>
            <p:cNvSpPr>
              <a:spLocks noChangeShapeType="1"/>
            </p:cNvSpPr>
            <p:nvPr/>
          </p:nvSpPr>
          <p:spPr bwMode="auto">
            <a:xfrm>
              <a:off x="1215531" y="3114675"/>
              <a:ext cx="3229769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30" name="Line 164"/>
            <p:cNvSpPr>
              <a:spLocks noChangeShapeType="1"/>
            </p:cNvSpPr>
            <p:nvPr/>
          </p:nvSpPr>
          <p:spPr bwMode="auto">
            <a:xfrm>
              <a:off x="1215531" y="3919538"/>
              <a:ext cx="3229769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31" name="Line 165"/>
            <p:cNvSpPr>
              <a:spLocks noChangeShapeType="1"/>
            </p:cNvSpPr>
            <p:nvPr/>
          </p:nvSpPr>
          <p:spPr bwMode="auto">
            <a:xfrm>
              <a:off x="1215531" y="4725988"/>
              <a:ext cx="3229769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32" name="Line 166"/>
            <p:cNvSpPr>
              <a:spLocks noChangeShapeType="1"/>
            </p:cNvSpPr>
            <p:nvPr/>
          </p:nvSpPr>
          <p:spPr bwMode="auto">
            <a:xfrm>
              <a:off x="1215531" y="5530850"/>
              <a:ext cx="3229769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33" name="Line 170"/>
            <p:cNvSpPr>
              <a:spLocks noChangeShapeType="1"/>
            </p:cNvSpPr>
            <p:nvPr/>
          </p:nvSpPr>
          <p:spPr bwMode="auto">
            <a:xfrm>
              <a:off x="6276635" y="3614738"/>
              <a:ext cx="0" cy="10795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34" name="Line 171"/>
            <p:cNvSpPr>
              <a:spLocks noChangeShapeType="1"/>
            </p:cNvSpPr>
            <p:nvPr/>
          </p:nvSpPr>
          <p:spPr bwMode="auto">
            <a:xfrm>
              <a:off x="7060860" y="3614738"/>
              <a:ext cx="0" cy="10795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35" name="Line 172"/>
            <p:cNvSpPr>
              <a:spLocks noChangeShapeType="1"/>
            </p:cNvSpPr>
            <p:nvPr/>
          </p:nvSpPr>
          <p:spPr bwMode="auto">
            <a:xfrm>
              <a:off x="7845085" y="3614738"/>
              <a:ext cx="0" cy="10795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36" name="Line 173"/>
            <p:cNvSpPr>
              <a:spLocks noChangeShapeType="1"/>
            </p:cNvSpPr>
            <p:nvPr/>
          </p:nvSpPr>
          <p:spPr bwMode="auto">
            <a:xfrm>
              <a:off x="8627590" y="3614738"/>
              <a:ext cx="0" cy="10795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37" name="矩形 2"/>
            <p:cNvSpPr>
              <a:spLocks noChangeArrowheads="1"/>
            </p:cNvSpPr>
            <p:nvPr/>
          </p:nvSpPr>
          <p:spPr bwMode="auto">
            <a:xfrm>
              <a:off x="2615613" y="5847655"/>
              <a:ext cx="516090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zh-CN" sz="2400" b="1">
                  <a:ea typeface="黑体" panose="02010609060101010101" pitchFamily="49" charset="-122"/>
                </a:rPr>
                <a:t>统计时分复用的工作原理</a:t>
              </a:r>
              <a:endParaRPr lang="zh-CN" altLang="en-US" sz="2400" b="1">
                <a:ea typeface="黑体" panose="02010609060101010101" pitchFamily="49" charset="-122"/>
              </a:endParaRPr>
            </a:p>
          </p:txBody>
        </p:sp>
      </p:grpSp>
      <p:sp>
        <p:nvSpPr>
          <p:cNvPr id="5734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6B650D-F4CC-40CB-A105-392E6A56C1B1}" type="slidenum">
              <a:rPr altLang="en-US" smtClean="0"/>
              <a:pPr/>
              <a:t>9</a:t>
            </a:fld>
            <a:endParaRPr lang="zh-CN" altLang="zh-CN" smtClean="0"/>
          </a:p>
        </p:txBody>
      </p:sp>
      <p:sp>
        <p:nvSpPr>
          <p:cNvPr id="57350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1439862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ea typeface="黑体" panose="02010609060101010101" pitchFamily="49" charset="-122"/>
              </a:rPr>
              <a:t>2.4.2   </a:t>
            </a:r>
            <a:r>
              <a:rPr lang="zh-CN" altLang="en-US" dirty="0" smtClean="0">
                <a:ea typeface="黑体" panose="02010609060101010101" pitchFamily="49" charset="-122"/>
              </a:rPr>
              <a:t>波分复用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WDM</a:t>
            </a:r>
            <a:r>
              <a:rPr lang="en-US" altLang="zh-CN" sz="4000" dirty="0" smtClean="0">
                <a:ea typeface="黑体" panose="02010609060101010101" pitchFamily="49" charset="-122"/>
              </a:rPr>
              <a:t/>
            </a:r>
            <a:br>
              <a:rPr lang="en-US" altLang="zh-CN" sz="4000" dirty="0" smtClean="0">
                <a:ea typeface="黑体" panose="02010609060101010101" pitchFamily="49" charset="-122"/>
              </a:rPr>
            </a:br>
            <a:r>
              <a:rPr lang="en-US" altLang="zh-CN" sz="4000" dirty="0" smtClean="0">
                <a:ea typeface="黑体" panose="02010609060101010101" pitchFamily="49" charset="-122"/>
              </a:rPr>
              <a:t>(Wavelength Division Multiplexing)  </a:t>
            </a:r>
          </a:p>
        </p:txBody>
      </p:sp>
      <p:sp>
        <p:nvSpPr>
          <p:cNvPr id="59395" name="矩形 1"/>
          <p:cNvSpPr>
            <a:spLocks noChangeArrowheads="1"/>
          </p:cNvSpPr>
          <p:nvPr/>
        </p:nvSpPr>
        <p:spPr bwMode="auto">
          <a:xfrm>
            <a:off x="2000250" y="1628775"/>
            <a:ext cx="6356350" cy="9540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99"/>
            </a:solidFill>
            <a:round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>
                <a:ea typeface="黑体" panose="02010609060101010101" pitchFamily="49" charset="-122"/>
              </a:rPr>
              <a:t>波分复用就是光的频分复用。</a:t>
            </a:r>
            <a:r>
              <a:rPr lang="zh-CN" altLang="zh-CN" sz="2800" b="1">
                <a:ea typeface="黑体" panose="02010609060101010101" pitchFamily="49" charset="-122"/>
              </a:rPr>
              <a:t>使用一根光纤来同时传输多个光载波信号</a:t>
            </a:r>
            <a:r>
              <a:rPr lang="zh-CN" altLang="en-US" sz="2800" b="1"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59396" name="组合 3"/>
          <p:cNvGrpSpPr>
            <a:grpSpLocks/>
          </p:cNvGrpSpPr>
          <p:nvPr/>
        </p:nvGrpSpPr>
        <p:grpSpPr bwMode="auto">
          <a:xfrm>
            <a:off x="293688" y="2133600"/>
            <a:ext cx="9580562" cy="4267200"/>
            <a:chOff x="293307" y="2132856"/>
            <a:chExt cx="9580377" cy="4268326"/>
          </a:xfrm>
        </p:grpSpPr>
        <p:sp>
          <p:nvSpPr>
            <p:cNvPr id="59399" name="Text Box 2"/>
            <p:cNvSpPr txBox="1">
              <a:spLocks noChangeArrowheads="1"/>
            </p:cNvSpPr>
            <p:nvPr/>
          </p:nvSpPr>
          <p:spPr bwMode="auto">
            <a:xfrm flipH="1">
              <a:off x="7446995" y="2780928"/>
              <a:ext cx="2270173" cy="2923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1550 nm           0 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1551 nm           1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1552 nm           2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1553 nm           3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1554 nm           4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1555 nm           5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1556 nm           6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 1557 nm           7</a:t>
              </a:r>
            </a:p>
          </p:txBody>
        </p:sp>
        <p:sp>
          <p:nvSpPr>
            <p:cNvPr id="59400" name="Text Box 3"/>
            <p:cNvSpPr txBox="1">
              <a:spLocks noChangeArrowheads="1"/>
            </p:cNvSpPr>
            <p:nvPr/>
          </p:nvSpPr>
          <p:spPr bwMode="auto">
            <a:xfrm>
              <a:off x="332217" y="2817440"/>
              <a:ext cx="2481770" cy="2923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0            1550 nm    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1            1551 nm  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2            1552 nm  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3            1553 nm  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4            1554 nm  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5            1555 nm  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6            1556 nm  </a:t>
              </a:r>
            </a:p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7            1557 nm  </a:t>
              </a:r>
            </a:p>
          </p:txBody>
        </p:sp>
        <p:sp>
          <p:nvSpPr>
            <p:cNvPr id="59401" name="Text Box 6"/>
            <p:cNvSpPr txBox="1">
              <a:spLocks noChangeArrowheads="1"/>
            </p:cNvSpPr>
            <p:nvPr/>
          </p:nvSpPr>
          <p:spPr bwMode="auto">
            <a:xfrm>
              <a:off x="293307" y="5754851"/>
              <a:ext cx="1491341" cy="646331"/>
            </a:xfrm>
            <a:prstGeom prst="rect">
              <a:avLst/>
            </a:prstGeom>
            <a:noFill/>
            <a:ln w="9525">
              <a:solidFill>
                <a:srgbClr val="3333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8 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 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2.5 Gb/s</a:t>
              </a:r>
            </a:p>
            <a:p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1310 nm</a:t>
              </a:r>
            </a:p>
          </p:txBody>
        </p:sp>
        <p:sp>
          <p:nvSpPr>
            <p:cNvPr id="59402" name="Line 7"/>
            <p:cNvSpPr>
              <a:spLocks noChangeShapeType="1"/>
            </p:cNvSpPr>
            <p:nvPr/>
          </p:nvSpPr>
          <p:spPr bwMode="auto">
            <a:xfrm>
              <a:off x="7584578" y="3192089"/>
              <a:ext cx="226496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3" name="Line 8"/>
            <p:cNvSpPr>
              <a:spLocks noChangeShapeType="1"/>
            </p:cNvSpPr>
            <p:nvPr/>
          </p:nvSpPr>
          <p:spPr bwMode="auto">
            <a:xfrm>
              <a:off x="7584578" y="3542927"/>
              <a:ext cx="226496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4" name="Line 9"/>
            <p:cNvSpPr>
              <a:spLocks noChangeShapeType="1"/>
            </p:cNvSpPr>
            <p:nvPr/>
          </p:nvSpPr>
          <p:spPr bwMode="auto">
            <a:xfrm>
              <a:off x="7584578" y="3892177"/>
              <a:ext cx="226496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5" name="Line 10"/>
            <p:cNvSpPr>
              <a:spLocks noChangeShapeType="1"/>
            </p:cNvSpPr>
            <p:nvPr/>
          </p:nvSpPr>
          <p:spPr bwMode="auto">
            <a:xfrm>
              <a:off x="7584578" y="4244602"/>
              <a:ext cx="226496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6" name="Line 11"/>
            <p:cNvSpPr>
              <a:spLocks noChangeShapeType="1"/>
            </p:cNvSpPr>
            <p:nvPr/>
          </p:nvSpPr>
          <p:spPr bwMode="auto">
            <a:xfrm>
              <a:off x="7584578" y="4593852"/>
              <a:ext cx="226496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" name="Line 12"/>
            <p:cNvSpPr>
              <a:spLocks noChangeShapeType="1"/>
            </p:cNvSpPr>
            <p:nvPr/>
          </p:nvSpPr>
          <p:spPr bwMode="auto">
            <a:xfrm>
              <a:off x="7584578" y="4946277"/>
              <a:ext cx="226496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" name="Line 13"/>
            <p:cNvSpPr>
              <a:spLocks noChangeShapeType="1"/>
            </p:cNvSpPr>
            <p:nvPr/>
          </p:nvSpPr>
          <p:spPr bwMode="auto">
            <a:xfrm>
              <a:off x="7584578" y="5295527"/>
              <a:ext cx="226496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" name="Line 14"/>
            <p:cNvSpPr>
              <a:spLocks noChangeShapeType="1"/>
            </p:cNvSpPr>
            <p:nvPr/>
          </p:nvSpPr>
          <p:spPr bwMode="auto">
            <a:xfrm>
              <a:off x="7584578" y="5647952"/>
              <a:ext cx="226496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" name="Line 15"/>
            <p:cNvSpPr>
              <a:spLocks noChangeShapeType="1"/>
            </p:cNvSpPr>
            <p:nvPr/>
          </p:nvSpPr>
          <p:spPr bwMode="auto">
            <a:xfrm>
              <a:off x="332218" y="3192089"/>
              <a:ext cx="226496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" name="Line 16"/>
            <p:cNvSpPr>
              <a:spLocks noChangeShapeType="1"/>
            </p:cNvSpPr>
            <p:nvPr/>
          </p:nvSpPr>
          <p:spPr bwMode="auto">
            <a:xfrm>
              <a:off x="332218" y="3542927"/>
              <a:ext cx="226496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" name="Line 17"/>
            <p:cNvSpPr>
              <a:spLocks noChangeShapeType="1"/>
            </p:cNvSpPr>
            <p:nvPr/>
          </p:nvSpPr>
          <p:spPr bwMode="auto">
            <a:xfrm>
              <a:off x="332218" y="3892177"/>
              <a:ext cx="226496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" name="Line 18"/>
            <p:cNvSpPr>
              <a:spLocks noChangeShapeType="1"/>
            </p:cNvSpPr>
            <p:nvPr/>
          </p:nvSpPr>
          <p:spPr bwMode="auto">
            <a:xfrm>
              <a:off x="332218" y="4244602"/>
              <a:ext cx="226496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4" name="Line 19"/>
            <p:cNvSpPr>
              <a:spLocks noChangeShapeType="1"/>
            </p:cNvSpPr>
            <p:nvPr/>
          </p:nvSpPr>
          <p:spPr bwMode="auto">
            <a:xfrm>
              <a:off x="332218" y="4593852"/>
              <a:ext cx="226496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5" name="Line 20"/>
            <p:cNvSpPr>
              <a:spLocks noChangeShapeType="1"/>
            </p:cNvSpPr>
            <p:nvPr/>
          </p:nvSpPr>
          <p:spPr bwMode="auto">
            <a:xfrm>
              <a:off x="332218" y="4946277"/>
              <a:ext cx="226496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6" name="Line 21"/>
            <p:cNvSpPr>
              <a:spLocks noChangeShapeType="1"/>
            </p:cNvSpPr>
            <p:nvPr/>
          </p:nvSpPr>
          <p:spPr bwMode="auto">
            <a:xfrm>
              <a:off x="332218" y="5295527"/>
              <a:ext cx="226496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7" name="Line 22"/>
            <p:cNvSpPr>
              <a:spLocks noChangeShapeType="1"/>
            </p:cNvSpPr>
            <p:nvPr/>
          </p:nvSpPr>
          <p:spPr bwMode="auto">
            <a:xfrm>
              <a:off x="332218" y="5647952"/>
              <a:ext cx="226496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8" name="Line 23"/>
            <p:cNvSpPr>
              <a:spLocks noChangeShapeType="1"/>
            </p:cNvSpPr>
            <p:nvPr/>
          </p:nvSpPr>
          <p:spPr bwMode="auto">
            <a:xfrm>
              <a:off x="2650497" y="4414464"/>
              <a:ext cx="4873890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19" name="AutoShape 24"/>
            <p:cNvSpPr>
              <a:spLocks noChangeArrowheads="1"/>
            </p:cNvSpPr>
            <p:nvPr/>
          </p:nvSpPr>
          <p:spPr bwMode="auto">
            <a:xfrm rot="5400000">
              <a:off x="3580174" y="4249695"/>
              <a:ext cx="354013" cy="321601"/>
            </a:xfrm>
            <a:prstGeom prst="triangle">
              <a:avLst>
                <a:gd name="adj" fmla="val 50000"/>
              </a:avLst>
            </a:prstGeom>
            <a:solidFill>
              <a:srgbClr val="FF00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20" name="Rectangle 25"/>
            <p:cNvSpPr>
              <a:spLocks noChangeArrowheads="1"/>
            </p:cNvSpPr>
            <p:nvPr/>
          </p:nvSpPr>
          <p:spPr bwMode="auto">
            <a:xfrm>
              <a:off x="824078" y="3095252"/>
              <a:ext cx="538294" cy="19685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21" name="Rectangle 26"/>
            <p:cNvSpPr>
              <a:spLocks noChangeArrowheads="1"/>
            </p:cNvSpPr>
            <p:nvPr/>
          </p:nvSpPr>
          <p:spPr bwMode="auto">
            <a:xfrm>
              <a:off x="824078" y="3444502"/>
              <a:ext cx="538294" cy="195262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22" name="Rectangle 27"/>
            <p:cNvSpPr>
              <a:spLocks noChangeArrowheads="1"/>
            </p:cNvSpPr>
            <p:nvPr/>
          </p:nvSpPr>
          <p:spPr bwMode="auto">
            <a:xfrm>
              <a:off x="824078" y="3795340"/>
              <a:ext cx="538294" cy="195263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23" name="Rectangle 28"/>
            <p:cNvSpPr>
              <a:spLocks noChangeArrowheads="1"/>
            </p:cNvSpPr>
            <p:nvPr/>
          </p:nvSpPr>
          <p:spPr bwMode="auto">
            <a:xfrm>
              <a:off x="824078" y="4146177"/>
              <a:ext cx="538294" cy="195262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24" name="Rectangle 29"/>
            <p:cNvSpPr>
              <a:spLocks noChangeArrowheads="1"/>
            </p:cNvSpPr>
            <p:nvPr/>
          </p:nvSpPr>
          <p:spPr bwMode="auto">
            <a:xfrm>
              <a:off x="824078" y="4497015"/>
              <a:ext cx="538294" cy="195263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25" name="Rectangle 30"/>
            <p:cNvSpPr>
              <a:spLocks noChangeArrowheads="1"/>
            </p:cNvSpPr>
            <p:nvPr/>
          </p:nvSpPr>
          <p:spPr bwMode="auto">
            <a:xfrm>
              <a:off x="824078" y="4847852"/>
              <a:ext cx="538294" cy="195262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26" name="Rectangle 31"/>
            <p:cNvSpPr>
              <a:spLocks noChangeArrowheads="1"/>
            </p:cNvSpPr>
            <p:nvPr/>
          </p:nvSpPr>
          <p:spPr bwMode="auto">
            <a:xfrm>
              <a:off x="824078" y="5198690"/>
              <a:ext cx="538294" cy="195263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27" name="Rectangle 32"/>
            <p:cNvSpPr>
              <a:spLocks noChangeArrowheads="1"/>
            </p:cNvSpPr>
            <p:nvPr/>
          </p:nvSpPr>
          <p:spPr bwMode="auto">
            <a:xfrm>
              <a:off x="824078" y="5547939"/>
              <a:ext cx="538294" cy="196850"/>
            </a:xfrm>
            <a:prstGeom prst="rect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28" name="Text Box 33"/>
            <p:cNvSpPr txBox="1">
              <a:spLocks noChangeArrowheads="1"/>
            </p:cNvSpPr>
            <p:nvPr/>
          </p:nvSpPr>
          <p:spPr bwMode="auto">
            <a:xfrm>
              <a:off x="3828553" y="3368303"/>
              <a:ext cx="11095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20 Gb/s</a:t>
              </a:r>
            </a:p>
          </p:txBody>
        </p:sp>
        <p:sp>
          <p:nvSpPr>
            <p:cNvPr id="59429" name="AutoShape 34"/>
            <p:cNvSpPr>
              <a:spLocks noChangeArrowheads="1"/>
            </p:cNvSpPr>
            <p:nvPr/>
          </p:nvSpPr>
          <p:spPr bwMode="auto">
            <a:xfrm rot="-5400000">
              <a:off x="1138799" y="4150013"/>
              <a:ext cx="3240087" cy="540015"/>
            </a:xfrm>
            <a:custGeom>
              <a:avLst/>
              <a:gdLst>
                <a:gd name="T0" fmla="*/ 0 w 21600"/>
                <a:gd name="T1" fmla="*/ 0 h 21600"/>
                <a:gd name="T2" fmla="*/ 361210 w 21600"/>
                <a:gd name="T3" fmla="*/ 540015 h 21600"/>
                <a:gd name="T4" fmla="*/ 2878877 w 21600"/>
                <a:gd name="T5" fmla="*/ 540015 h 21600"/>
                <a:gd name="T6" fmla="*/ 324008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408" y="21600"/>
                  </a:lnTo>
                  <a:lnTo>
                    <a:pt x="19192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0" name="AutoShape 35"/>
            <p:cNvSpPr>
              <a:spLocks noChangeArrowheads="1"/>
            </p:cNvSpPr>
            <p:nvPr/>
          </p:nvSpPr>
          <p:spPr bwMode="auto">
            <a:xfrm rot="5400000" flipH="1">
              <a:off x="5695387" y="4150874"/>
              <a:ext cx="3240087" cy="538294"/>
            </a:xfrm>
            <a:custGeom>
              <a:avLst/>
              <a:gdLst>
                <a:gd name="T0" fmla="*/ 0 w 21600"/>
                <a:gd name="T1" fmla="*/ 0 h 21600"/>
                <a:gd name="T2" fmla="*/ 361210 w 21600"/>
                <a:gd name="T3" fmla="*/ 538294 h 21600"/>
                <a:gd name="T4" fmla="*/ 2878877 w 21600"/>
                <a:gd name="T5" fmla="*/ 538294 h 21600"/>
                <a:gd name="T6" fmla="*/ 324008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408" y="21600"/>
                  </a:lnTo>
                  <a:lnTo>
                    <a:pt x="19192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1" name="Rectangle 36"/>
            <p:cNvSpPr>
              <a:spLocks noChangeArrowheads="1"/>
            </p:cNvSpPr>
            <p:nvPr/>
          </p:nvSpPr>
          <p:spPr bwMode="auto">
            <a:xfrm>
              <a:off x="8788432" y="3095252"/>
              <a:ext cx="538295" cy="19685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32" name="Rectangle 37"/>
            <p:cNvSpPr>
              <a:spLocks noChangeArrowheads="1"/>
            </p:cNvSpPr>
            <p:nvPr/>
          </p:nvSpPr>
          <p:spPr bwMode="auto">
            <a:xfrm>
              <a:off x="8788432" y="3444502"/>
              <a:ext cx="538295" cy="195262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33" name="Rectangle 38"/>
            <p:cNvSpPr>
              <a:spLocks noChangeArrowheads="1"/>
            </p:cNvSpPr>
            <p:nvPr/>
          </p:nvSpPr>
          <p:spPr bwMode="auto">
            <a:xfrm>
              <a:off x="8788432" y="3795340"/>
              <a:ext cx="538295" cy="195263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34" name="Rectangle 39"/>
            <p:cNvSpPr>
              <a:spLocks noChangeArrowheads="1"/>
            </p:cNvSpPr>
            <p:nvPr/>
          </p:nvSpPr>
          <p:spPr bwMode="auto">
            <a:xfrm>
              <a:off x="8788432" y="4146177"/>
              <a:ext cx="538295" cy="195262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35" name="Rectangle 40"/>
            <p:cNvSpPr>
              <a:spLocks noChangeArrowheads="1"/>
            </p:cNvSpPr>
            <p:nvPr/>
          </p:nvSpPr>
          <p:spPr bwMode="auto">
            <a:xfrm>
              <a:off x="8788432" y="4497015"/>
              <a:ext cx="538295" cy="195263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36" name="Rectangle 41"/>
            <p:cNvSpPr>
              <a:spLocks noChangeArrowheads="1"/>
            </p:cNvSpPr>
            <p:nvPr/>
          </p:nvSpPr>
          <p:spPr bwMode="auto">
            <a:xfrm>
              <a:off x="8788432" y="4847852"/>
              <a:ext cx="538295" cy="195262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37" name="Rectangle 42"/>
            <p:cNvSpPr>
              <a:spLocks noChangeArrowheads="1"/>
            </p:cNvSpPr>
            <p:nvPr/>
          </p:nvSpPr>
          <p:spPr bwMode="auto">
            <a:xfrm>
              <a:off x="8788432" y="5198690"/>
              <a:ext cx="538295" cy="195263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38" name="Rectangle 43"/>
            <p:cNvSpPr>
              <a:spLocks noChangeArrowheads="1"/>
            </p:cNvSpPr>
            <p:nvPr/>
          </p:nvSpPr>
          <p:spPr bwMode="auto">
            <a:xfrm>
              <a:off x="8788432" y="5547939"/>
              <a:ext cx="538295" cy="196850"/>
            </a:xfrm>
            <a:prstGeom prst="rect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39" name="AutoShape 44"/>
            <p:cNvSpPr>
              <a:spLocks noChangeArrowheads="1"/>
            </p:cNvSpPr>
            <p:nvPr/>
          </p:nvSpPr>
          <p:spPr bwMode="auto">
            <a:xfrm rot="5400000">
              <a:off x="4853680" y="4250555"/>
              <a:ext cx="354013" cy="319881"/>
            </a:xfrm>
            <a:prstGeom prst="triangle">
              <a:avLst>
                <a:gd name="adj" fmla="val 50000"/>
              </a:avLst>
            </a:prstGeom>
            <a:solidFill>
              <a:srgbClr val="FF00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40" name="AutoShape 45"/>
            <p:cNvSpPr>
              <a:spLocks noChangeArrowheads="1"/>
            </p:cNvSpPr>
            <p:nvPr/>
          </p:nvSpPr>
          <p:spPr bwMode="auto">
            <a:xfrm rot="5400000">
              <a:off x="6166741" y="4249695"/>
              <a:ext cx="354013" cy="321601"/>
            </a:xfrm>
            <a:prstGeom prst="triangle">
              <a:avLst>
                <a:gd name="adj" fmla="val 50000"/>
              </a:avLst>
            </a:prstGeom>
            <a:solidFill>
              <a:srgbClr val="FF00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9441" name="Line 46"/>
            <p:cNvSpPr>
              <a:spLocks noChangeShapeType="1"/>
            </p:cNvSpPr>
            <p:nvPr/>
          </p:nvSpPr>
          <p:spPr bwMode="auto">
            <a:xfrm flipH="1">
              <a:off x="4210347" y="3782639"/>
              <a:ext cx="139304" cy="62230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2" name="Text Box 47"/>
            <p:cNvSpPr txBox="1">
              <a:spLocks noChangeArrowheads="1"/>
            </p:cNvSpPr>
            <p:nvPr/>
          </p:nvSpPr>
          <p:spPr bwMode="auto">
            <a:xfrm>
              <a:off x="2516352" y="3881065"/>
              <a:ext cx="441146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复</a:t>
              </a:r>
            </a:p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用</a:t>
              </a:r>
            </a:p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器</a:t>
              </a:r>
            </a:p>
          </p:txBody>
        </p:sp>
        <p:sp>
          <p:nvSpPr>
            <p:cNvPr id="59443" name="Text Box 48"/>
            <p:cNvSpPr txBox="1">
              <a:spLocks noChangeArrowheads="1"/>
            </p:cNvSpPr>
            <p:nvPr/>
          </p:nvSpPr>
          <p:spPr bwMode="auto">
            <a:xfrm>
              <a:off x="7077240" y="3881065"/>
              <a:ext cx="441146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分</a:t>
              </a:r>
            </a:p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用</a:t>
              </a:r>
            </a:p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器</a:t>
              </a:r>
            </a:p>
          </p:txBody>
        </p:sp>
        <p:sp>
          <p:nvSpPr>
            <p:cNvPr id="59444" name="Text Box 49"/>
            <p:cNvSpPr txBox="1">
              <a:spLocks noChangeArrowheads="1"/>
            </p:cNvSpPr>
            <p:nvPr/>
          </p:nvSpPr>
          <p:spPr bwMode="auto">
            <a:xfrm>
              <a:off x="5104638" y="3468314"/>
              <a:ext cx="87100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EDFA</a:t>
              </a:r>
            </a:p>
          </p:txBody>
        </p:sp>
        <p:sp>
          <p:nvSpPr>
            <p:cNvPr id="59445" name="Line 50"/>
            <p:cNvSpPr>
              <a:spLocks noChangeShapeType="1"/>
            </p:cNvSpPr>
            <p:nvPr/>
          </p:nvSpPr>
          <p:spPr bwMode="auto">
            <a:xfrm flipH="1">
              <a:off x="5061644" y="3879477"/>
              <a:ext cx="474663" cy="43180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6" name="Line 51"/>
            <p:cNvSpPr>
              <a:spLocks noChangeShapeType="1"/>
            </p:cNvSpPr>
            <p:nvPr/>
          </p:nvSpPr>
          <p:spPr bwMode="auto">
            <a:xfrm>
              <a:off x="3703009" y="4665289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7" name="Line 52"/>
            <p:cNvSpPr>
              <a:spLocks noChangeShapeType="1"/>
            </p:cNvSpPr>
            <p:nvPr/>
          </p:nvSpPr>
          <p:spPr bwMode="auto">
            <a:xfrm>
              <a:off x="4996292" y="4665289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8" name="Line 53"/>
            <p:cNvSpPr>
              <a:spLocks noChangeShapeType="1"/>
            </p:cNvSpPr>
            <p:nvPr/>
          </p:nvSpPr>
          <p:spPr bwMode="auto">
            <a:xfrm>
              <a:off x="3699569" y="4762127"/>
              <a:ext cx="1295003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9" name="Text Box 54"/>
            <p:cNvSpPr txBox="1">
              <a:spLocks noChangeArrowheads="1"/>
            </p:cNvSpPr>
            <p:nvPr/>
          </p:nvSpPr>
          <p:spPr bwMode="auto">
            <a:xfrm>
              <a:off x="3720206" y="4746253"/>
              <a:ext cx="105349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120 km</a:t>
              </a:r>
            </a:p>
          </p:txBody>
        </p:sp>
        <p:sp>
          <p:nvSpPr>
            <p:cNvPr id="59450" name="Text Box 55"/>
            <p:cNvSpPr txBox="1">
              <a:spLocks noChangeArrowheads="1"/>
            </p:cNvSpPr>
            <p:nvPr/>
          </p:nvSpPr>
          <p:spPr bwMode="auto">
            <a:xfrm>
              <a:off x="409607" y="2132856"/>
              <a:ext cx="1217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光调制器</a:t>
              </a:r>
            </a:p>
          </p:txBody>
        </p:sp>
        <p:sp>
          <p:nvSpPr>
            <p:cNvPr id="59451" name="Line 56"/>
            <p:cNvSpPr>
              <a:spLocks noChangeShapeType="1"/>
            </p:cNvSpPr>
            <p:nvPr/>
          </p:nvSpPr>
          <p:spPr bwMode="auto">
            <a:xfrm>
              <a:off x="1136576" y="2582907"/>
              <a:ext cx="0" cy="512345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2" name="Text Box 57"/>
            <p:cNvSpPr txBox="1">
              <a:spLocks noChangeArrowheads="1"/>
            </p:cNvSpPr>
            <p:nvPr/>
          </p:nvSpPr>
          <p:spPr bwMode="auto">
            <a:xfrm>
              <a:off x="8344512" y="2132856"/>
              <a:ext cx="1217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光解调器</a:t>
              </a:r>
            </a:p>
          </p:txBody>
        </p:sp>
        <p:sp>
          <p:nvSpPr>
            <p:cNvPr id="59453" name="Line 58"/>
            <p:cNvSpPr>
              <a:spLocks noChangeShapeType="1"/>
            </p:cNvSpPr>
            <p:nvPr/>
          </p:nvSpPr>
          <p:spPr bwMode="auto">
            <a:xfrm>
              <a:off x="8985448" y="2582907"/>
              <a:ext cx="0" cy="512345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4" name="Text Box 6"/>
            <p:cNvSpPr txBox="1">
              <a:spLocks noChangeArrowheads="1"/>
            </p:cNvSpPr>
            <p:nvPr/>
          </p:nvSpPr>
          <p:spPr bwMode="auto">
            <a:xfrm>
              <a:off x="8382343" y="5754851"/>
              <a:ext cx="1491341" cy="646331"/>
            </a:xfrm>
            <a:prstGeom prst="rect">
              <a:avLst/>
            </a:prstGeom>
            <a:noFill/>
            <a:ln w="9525">
              <a:solidFill>
                <a:srgbClr val="3333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8 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 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2.5 Gb/s</a:t>
              </a:r>
            </a:p>
            <a:p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1310 nm</a:t>
              </a:r>
            </a:p>
          </p:txBody>
        </p:sp>
        <p:sp>
          <p:nvSpPr>
            <p:cNvPr id="59455" name="矩形 2"/>
            <p:cNvSpPr>
              <a:spLocks noChangeArrowheads="1"/>
            </p:cNvSpPr>
            <p:nvPr/>
          </p:nvSpPr>
          <p:spPr bwMode="auto">
            <a:xfrm>
              <a:off x="3028851" y="5775647"/>
              <a:ext cx="401743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zh-CN" altLang="zh-CN" sz="2400" b="1">
                  <a:ea typeface="黑体" panose="02010609060101010101" pitchFamily="49" charset="-122"/>
                </a:rPr>
                <a:t>波分复用的概念</a:t>
              </a:r>
              <a:endParaRPr lang="zh-CN" altLang="en-US" sz="2400" b="1">
                <a:ea typeface="黑体" panose="02010609060101010101" pitchFamily="49" charset="-122"/>
              </a:endParaRPr>
            </a:p>
          </p:txBody>
        </p:sp>
      </p:grpSp>
      <p:sp>
        <p:nvSpPr>
          <p:cNvPr id="5939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F4AA96-DF23-46C2-BA69-DDBB1C9D2359}" type="slidenum">
              <a:rPr altLang="en-US" smtClean="0"/>
              <a:pPr/>
              <a:t>10</a:t>
            </a:fld>
            <a:endParaRPr lang="zh-CN" altLang="zh-CN" smtClean="0"/>
          </a:p>
        </p:txBody>
      </p:sp>
      <p:sp>
        <p:nvSpPr>
          <p:cNvPr id="59398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1511300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ea typeface="黑体" panose="02010609060101010101" pitchFamily="49" charset="-122"/>
              </a:rPr>
              <a:t>2.4.3   </a:t>
            </a:r>
            <a:r>
              <a:rPr lang="zh-CN" altLang="en-US" dirty="0" smtClean="0">
                <a:ea typeface="黑体" panose="02010609060101010101" pitchFamily="49" charset="-122"/>
              </a:rPr>
              <a:t>码分复用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CDM</a:t>
            </a:r>
            <a:r>
              <a:rPr lang="en-US" altLang="zh-CN" dirty="0" smtClean="0">
                <a:ea typeface="黑体" panose="02010609060101010101" pitchFamily="49" charset="-122"/>
              </a:rPr>
              <a:t/>
            </a:r>
            <a:br>
              <a:rPr lang="en-US" altLang="zh-CN" dirty="0" smtClean="0">
                <a:ea typeface="黑体" panose="02010609060101010101" pitchFamily="49" charset="-122"/>
              </a:rPr>
            </a:br>
            <a:r>
              <a:rPr lang="en-US" altLang="zh-CN" dirty="0" smtClean="0">
                <a:ea typeface="黑体" panose="02010609060101010101" pitchFamily="49" charset="-122"/>
              </a:rPr>
              <a:t>(Code Division Multiplexing)  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844675"/>
            <a:ext cx="9066213" cy="4286250"/>
          </a:xfrm>
        </p:spPr>
        <p:txBody>
          <a:bodyPr/>
          <a:lstStyle/>
          <a:p>
            <a:pPr eaLnBrk="1" hangingPunct="1"/>
            <a:r>
              <a:rPr lang="zh-CN" altLang="en-US" sz="2800" dirty="0" smtClean="0">
                <a:ea typeface="黑体" panose="02010609060101010101" pitchFamily="49" charset="-122"/>
              </a:rPr>
              <a:t>常用的名词是</a:t>
            </a:r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码分多址</a:t>
            </a:r>
            <a:r>
              <a:rPr lang="zh-CN" altLang="en-US" sz="2800" u="sng" dirty="0" smtClean="0">
                <a:ea typeface="黑体" panose="02010609060101010101" pitchFamily="49" charset="-122"/>
              </a:rPr>
              <a:t> 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CDMA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黑体" panose="02010609060101010101" pitchFamily="49" charset="-122"/>
              </a:rPr>
              <a:t>    (Code Division Multiple Access)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</a:p>
          <a:p>
            <a:pPr eaLnBrk="1" hangingPunct="1"/>
            <a:r>
              <a:rPr lang="zh-CN" altLang="en-US" sz="2800" dirty="0" smtClean="0">
                <a:ea typeface="黑体" panose="02010609060101010101" pitchFamily="49" charset="-122"/>
              </a:rPr>
              <a:t>各用户使用经过特殊挑选的不同码型，因此彼此不会造成干扰。</a:t>
            </a:r>
          </a:p>
          <a:p>
            <a:pPr eaLnBrk="1" hangingPunct="1"/>
            <a:r>
              <a:rPr lang="zh-CN" altLang="en-US" sz="2800" dirty="0" smtClean="0">
                <a:ea typeface="黑体" panose="02010609060101010101" pitchFamily="49" charset="-122"/>
              </a:rPr>
              <a:t>这种系统发送的信号有很强的抗干扰能力，其频谱类似于白噪声，不易被敌人发现。 </a:t>
            </a:r>
          </a:p>
        </p:txBody>
      </p:sp>
      <p:sp>
        <p:nvSpPr>
          <p:cNvPr id="6144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AE21AD-8319-4F9A-B634-A036DD064053}" type="slidenum">
              <a:rPr altLang="en-US" smtClean="0"/>
              <a:pPr/>
              <a:t>11</a:t>
            </a:fld>
            <a:endParaRPr lang="zh-CN" altLang="zh-CN" smtClean="0"/>
          </a:p>
        </p:txBody>
      </p:sp>
      <p:sp>
        <p:nvSpPr>
          <p:cNvPr id="61445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 eaLnBrk="1" hangingPunct="1"/>
            <a:r>
              <a:rPr lang="zh-CN" altLang="en-US" dirty="0" smtClean="0">
                <a:ea typeface="黑体" panose="02010609060101010101" pitchFamily="49" charset="-122"/>
              </a:rPr>
              <a:t>码片序列</a:t>
            </a:r>
            <a:r>
              <a:rPr lang="en-US" altLang="zh-CN" dirty="0" smtClean="0">
                <a:ea typeface="黑体" panose="02010609060101010101" pitchFamily="49" charset="-122"/>
              </a:rPr>
              <a:t>(chip sequence) 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每一个比特时间划分为 </a:t>
            </a:r>
            <a:r>
              <a:rPr lang="en-US" altLang="zh-CN" i="1" smtClean="0">
                <a:ea typeface="黑体" panose="02010609060101010101" pitchFamily="49" charset="-122"/>
              </a:rPr>
              <a:t>m </a:t>
            </a:r>
            <a:r>
              <a:rPr lang="zh-CN" altLang="en-US" smtClean="0">
                <a:ea typeface="黑体" panose="02010609060101010101" pitchFamily="49" charset="-122"/>
              </a:rPr>
              <a:t>个短的间隔，称为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码片 </a:t>
            </a:r>
            <a:r>
              <a:rPr lang="en-US" altLang="zh-CN" smtClean="0">
                <a:ea typeface="黑体" panose="02010609060101010101" pitchFamily="49" charset="-122"/>
              </a:rPr>
              <a:t>(chip)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每个站被指派一个唯一的 </a:t>
            </a:r>
            <a:r>
              <a:rPr lang="en-US" altLang="zh-CN" i="1" smtClean="0">
                <a:ea typeface="黑体" panose="02010609060101010101" pitchFamily="49" charset="-122"/>
              </a:rPr>
              <a:t>m</a:t>
            </a:r>
            <a:r>
              <a:rPr lang="en-US" altLang="zh-CN" smtClean="0">
                <a:ea typeface="黑体" panose="02010609060101010101" pitchFamily="49" charset="-122"/>
              </a:rPr>
              <a:t> bit 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码片序列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如发送比特 </a:t>
            </a:r>
            <a:r>
              <a:rPr lang="en-US" altLang="zh-CN" smtClean="0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，则发送自己的 </a:t>
            </a:r>
            <a:r>
              <a:rPr lang="en-US" altLang="zh-CN" i="1" smtClean="0">
                <a:solidFill>
                  <a:srgbClr val="0000CC"/>
                </a:solidFill>
                <a:ea typeface="黑体" panose="02010609060101010101" pitchFamily="49" charset="-122"/>
              </a:rPr>
              <a:t>m</a:t>
            </a:r>
            <a:r>
              <a:rPr lang="en-US" altLang="zh-CN" smtClean="0">
                <a:solidFill>
                  <a:srgbClr val="0000CC"/>
                </a:solidFill>
                <a:ea typeface="黑体" panose="02010609060101010101" pitchFamily="49" charset="-122"/>
              </a:rPr>
              <a:t> bit </a:t>
            </a:r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码片序列。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如发送比特 </a:t>
            </a:r>
            <a:r>
              <a:rPr lang="en-US" altLang="zh-CN" smtClean="0">
                <a:solidFill>
                  <a:srgbClr val="0000CC"/>
                </a:solidFill>
                <a:ea typeface="黑体" panose="02010609060101010101" pitchFamily="49" charset="-122"/>
              </a:rPr>
              <a:t>0</a:t>
            </a:r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，则发送该码片序列的二进制反码。 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例如，</a:t>
            </a:r>
            <a:r>
              <a:rPr lang="en-US" altLang="zh-CN" smtClean="0">
                <a:ea typeface="黑体" panose="02010609060101010101" pitchFamily="49" charset="-122"/>
              </a:rPr>
              <a:t>S </a:t>
            </a:r>
            <a:r>
              <a:rPr lang="zh-CN" altLang="en-US" smtClean="0">
                <a:ea typeface="黑体" panose="02010609060101010101" pitchFamily="49" charset="-122"/>
              </a:rPr>
              <a:t>站的 </a:t>
            </a:r>
            <a:r>
              <a:rPr lang="en-US" altLang="zh-CN" smtClean="0">
                <a:ea typeface="黑体" panose="02010609060101010101" pitchFamily="49" charset="-122"/>
              </a:rPr>
              <a:t>8 bit </a:t>
            </a:r>
            <a:r>
              <a:rPr lang="zh-CN" altLang="en-US" smtClean="0">
                <a:ea typeface="黑体" panose="02010609060101010101" pitchFamily="49" charset="-122"/>
              </a:rPr>
              <a:t>码片序列是 </a:t>
            </a:r>
            <a:r>
              <a:rPr lang="en-US" altLang="zh-CN" smtClean="0">
                <a:ea typeface="黑体" panose="02010609060101010101" pitchFamily="49" charset="-122"/>
              </a:rPr>
              <a:t>00011011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发送比特 </a:t>
            </a:r>
            <a:r>
              <a:rPr lang="en-US" altLang="zh-CN" smtClean="0">
                <a:solidFill>
                  <a:srgbClr val="0000CC"/>
                </a:solidFill>
                <a:ea typeface="黑体" panose="02010609060101010101" pitchFamily="49" charset="-122"/>
              </a:rPr>
              <a:t>1 </a:t>
            </a:r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时，就发送序列 </a:t>
            </a:r>
            <a:r>
              <a:rPr lang="en-US" altLang="zh-CN" smtClean="0">
                <a:solidFill>
                  <a:srgbClr val="0000CC"/>
                </a:solidFill>
                <a:ea typeface="黑体" panose="02010609060101010101" pitchFamily="49" charset="-122"/>
              </a:rPr>
              <a:t>00011011</a:t>
            </a:r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，</a:t>
            </a:r>
          </a:p>
          <a:p>
            <a:pPr lvl="1" eaLnBrk="1" hangingPunct="1">
              <a:lnSpc>
                <a:spcPct val="100000"/>
              </a:lnSpc>
            </a:pPr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发送比特 </a:t>
            </a:r>
            <a:r>
              <a:rPr lang="en-US" altLang="zh-CN" smtClean="0">
                <a:solidFill>
                  <a:srgbClr val="0000CC"/>
                </a:solidFill>
                <a:ea typeface="黑体" panose="02010609060101010101" pitchFamily="49" charset="-122"/>
              </a:rPr>
              <a:t>0 </a:t>
            </a:r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时，就发送序列 </a:t>
            </a:r>
            <a:r>
              <a:rPr lang="en-US" altLang="zh-CN" smtClean="0">
                <a:solidFill>
                  <a:srgbClr val="0000CC"/>
                </a:solidFill>
                <a:ea typeface="黑体" panose="02010609060101010101" pitchFamily="49" charset="-122"/>
              </a:rPr>
              <a:t>11100100</a:t>
            </a:r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zh-CN" smtClean="0">
                <a:ea typeface="黑体" panose="02010609060101010101" pitchFamily="49" charset="-122"/>
              </a:rPr>
              <a:t>S </a:t>
            </a:r>
            <a:r>
              <a:rPr lang="zh-CN" altLang="en-US" smtClean="0">
                <a:ea typeface="黑体" panose="02010609060101010101" pitchFamily="49" charset="-122"/>
              </a:rPr>
              <a:t>站的码片序列：</a:t>
            </a:r>
            <a:r>
              <a:rPr lang="en-US" altLang="zh-CN" smtClean="0">
                <a:ea typeface="黑体" panose="02010609060101010101" pitchFamily="49" charset="-122"/>
              </a:rPr>
              <a:t>(–1 –1 –1 +1 +1 –1 +1 +1)     </a:t>
            </a:r>
          </a:p>
        </p:txBody>
      </p:sp>
      <p:sp>
        <p:nvSpPr>
          <p:cNvPr id="63492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87A1AE-B598-4E1B-9701-8D7F6684124B}" type="slidenum">
              <a:rPr altLang="en-US" smtClean="0"/>
              <a:pPr/>
              <a:t>12</a:t>
            </a:fld>
            <a:endParaRPr lang="zh-CN" altLang="zh-CN" smtClean="0"/>
          </a:p>
        </p:txBody>
      </p:sp>
      <p:sp>
        <p:nvSpPr>
          <p:cNvPr id="63493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 eaLnBrk="1" hangingPunct="1"/>
            <a:r>
              <a:rPr lang="zh-CN" altLang="en-US" smtClean="0">
                <a:ea typeface="黑体" panose="02010609060101010101" pitchFamily="49" charset="-122"/>
              </a:rPr>
              <a:t>码片序列实现了扩频</a:t>
            </a:r>
          </a:p>
        </p:txBody>
      </p:sp>
      <p:sp>
        <p:nvSpPr>
          <p:cNvPr id="65539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eaLnBrk="1" hangingPunct="1"/>
            <a:r>
              <a:rPr lang="zh-CN" altLang="zh-CN" sz="2800" smtClean="0">
                <a:ea typeface="黑体" panose="02010609060101010101" pitchFamily="49" charset="-122"/>
              </a:rPr>
              <a:t>假定</a:t>
            </a:r>
            <a:r>
              <a:rPr lang="en-US" altLang="zh-CN" sz="2800" smtClean="0">
                <a:ea typeface="黑体" panose="02010609060101010101" pitchFamily="49" charset="-122"/>
              </a:rPr>
              <a:t>S</a:t>
            </a:r>
            <a:r>
              <a:rPr lang="zh-CN" altLang="zh-CN" sz="2800" smtClean="0">
                <a:ea typeface="黑体" panose="02010609060101010101" pitchFamily="49" charset="-122"/>
              </a:rPr>
              <a:t>站要发送信息的数据率为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solidFill>
                  <a:srgbClr val="0000FF"/>
                </a:solidFill>
                <a:ea typeface="黑体" panose="02010609060101010101" pitchFamily="49" charset="-122"/>
              </a:rPr>
              <a:t>b</a:t>
            </a:r>
            <a:r>
              <a:rPr lang="en-US" altLang="zh-CN" sz="2800" smtClean="0">
                <a:ea typeface="黑体" panose="02010609060101010101" pitchFamily="49" charset="-122"/>
              </a:rPr>
              <a:t> bit/s</a:t>
            </a:r>
            <a:r>
              <a:rPr lang="zh-CN" altLang="zh-CN" sz="2800" smtClean="0">
                <a:ea typeface="黑体" panose="02010609060101010101" pitchFamily="49" charset="-122"/>
              </a:rPr>
              <a:t>。由于每一个比特要转换成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m </a:t>
            </a:r>
            <a:r>
              <a:rPr lang="zh-CN" altLang="zh-CN" sz="2800" smtClean="0">
                <a:ea typeface="黑体" panose="02010609060101010101" pitchFamily="49" charset="-122"/>
              </a:rPr>
              <a:t>个比特的码片，因此</a:t>
            </a:r>
            <a:r>
              <a:rPr lang="en-US" altLang="zh-CN" sz="2800" smtClean="0">
                <a:ea typeface="黑体" panose="02010609060101010101" pitchFamily="49" charset="-122"/>
              </a:rPr>
              <a:t> S </a:t>
            </a:r>
            <a:r>
              <a:rPr lang="zh-CN" altLang="zh-CN" sz="2800" smtClean="0">
                <a:ea typeface="黑体" panose="02010609060101010101" pitchFamily="49" charset="-122"/>
              </a:rPr>
              <a:t>站实际上发送的数据率提高到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solidFill>
                  <a:srgbClr val="0000FF"/>
                </a:solidFill>
                <a:ea typeface="黑体" panose="02010609060101010101" pitchFamily="49" charset="-122"/>
              </a:rPr>
              <a:t>mb</a:t>
            </a:r>
            <a:r>
              <a:rPr lang="en-US" altLang="zh-CN" sz="2800" smtClean="0">
                <a:ea typeface="黑体" panose="02010609060101010101" pitchFamily="49" charset="-122"/>
              </a:rPr>
              <a:t> bit/s</a:t>
            </a:r>
            <a:r>
              <a:rPr lang="zh-CN" altLang="zh-CN" sz="2800" smtClean="0">
                <a:ea typeface="黑体" panose="02010609060101010101" pitchFamily="49" charset="-122"/>
              </a:rPr>
              <a:t>，同时</a:t>
            </a:r>
            <a:r>
              <a:rPr lang="en-US" altLang="zh-CN" sz="2800" smtClean="0">
                <a:ea typeface="黑体" panose="02010609060101010101" pitchFamily="49" charset="-122"/>
              </a:rPr>
              <a:t> S </a:t>
            </a:r>
            <a:r>
              <a:rPr lang="zh-CN" altLang="zh-CN" sz="2800" smtClean="0">
                <a:ea typeface="黑体" panose="02010609060101010101" pitchFamily="49" charset="-122"/>
              </a:rPr>
              <a:t>站所占用的频带宽度也提高到原来数值的</a:t>
            </a:r>
            <a:r>
              <a:rPr lang="en-US" altLang="zh-CN" sz="2800" smtClean="0">
                <a:ea typeface="黑体" panose="02010609060101010101" pitchFamily="49" charset="-122"/>
              </a:rPr>
              <a:t> </a:t>
            </a:r>
            <a:r>
              <a:rPr lang="en-US" altLang="zh-CN" sz="2800" i="1" smtClean="0">
                <a:ea typeface="黑体" panose="02010609060101010101" pitchFamily="49" charset="-122"/>
              </a:rPr>
              <a:t>m </a:t>
            </a:r>
            <a:r>
              <a:rPr lang="zh-CN" altLang="zh-CN" sz="2800" smtClean="0">
                <a:ea typeface="黑体" panose="02010609060101010101" pitchFamily="49" charset="-122"/>
              </a:rPr>
              <a:t>倍。</a:t>
            </a:r>
            <a:endParaRPr lang="en-US" altLang="zh-CN" sz="2800" smtClean="0">
              <a:ea typeface="黑体" panose="02010609060101010101" pitchFamily="49" charset="-122"/>
            </a:endParaRPr>
          </a:p>
          <a:p>
            <a:pPr eaLnBrk="1" hangingPunct="1"/>
            <a:r>
              <a:rPr lang="zh-CN" altLang="zh-CN" sz="2800" smtClean="0">
                <a:ea typeface="黑体" panose="02010609060101010101" pitchFamily="49" charset="-122"/>
              </a:rPr>
              <a:t>这种通信方式是</a:t>
            </a:r>
            <a:r>
              <a:rPr lang="zh-CN" altLang="zh-CN" sz="2800" smtClean="0">
                <a:solidFill>
                  <a:srgbClr val="FF0000"/>
                </a:solidFill>
                <a:ea typeface="黑体" panose="02010609060101010101" pitchFamily="49" charset="-122"/>
              </a:rPr>
              <a:t>扩频</a:t>
            </a:r>
            <a:r>
              <a:rPr lang="en-US" altLang="zh-CN" sz="2800" smtClean="0">
                <a:ea typeface="黑体" panose="02010609060101010101" pitchFamily="49" charset="-122"/>
              </a:rPr>
              <a:t>(spread spectrum)</a:t>
            </a:r>
            <a:r>
              <a:rPr lang="zh-CN" altLang="zh-CN" sz="2800" smtClean="0">
                <a:ea typeface="黑体" panose="02010609060101010101" pitchFamily="49" charset="-122"/>
              </a:rPr>
              <a:t>通信中的一种。</a:t>
            </a:r>
            <a:endParaRPr lang="en-US" altLang="zh-CN" sz="2800" smtClean="0">
              <a:ea typeface="黑体" panose="02010609060101010101" pitchFamily="49" charset="-122"/>
            </a:endParaRPr>
          </a:p>
          <a:p>
            <a:pPr eaLnBrk="1" hangingPunct="1"/>
            <a:r>
              <a:rPr lang="zh-CN" altLang="zh-CN" sz="2800" smtClean="0">
                <a:ea typeface="黑体" panose="02010609060101010101" pitchFamily="49" charset="-122"/>
              </a:rPr>
              <a:t>扩频通信通常有两大类</a:t>
            </a:r>
            <a:r>
              <a:rPr lang="zh-CN" altLang="en-US" sz="2800" smtClean="0">
                <a:ea typeface="黑体" panose="02010609060101010101" pitchFamily="49" charset="-122"/>
              </a:rPr>
              <a:t>：</a:t>
            </a:r>
            <a:endParaRPr lang="en-US" altLang="zh-CN" sz="2800" smtClean="0">
              <a:ea typeface="黑体" panose="02010609060101010101" pitchFamily="49" charset="-122"/>
            </a:endParaRPr>
          </a:p>
          <a:p>
            <a:pPr lvl="1" eaLnBrk="1" hangingPunct="1"/>
            <a:r>
              <a:rPr lang="zh-CN" altLang="zh-CN" sz="2400" smtClean="0">
                <a:ea typeface="黑体" panose="02010609060101010101" pitchFamily="49" charset="-122"/>
              </a:rPr>
              <a:t>一种是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直接序列扩频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DSSS </a:t>
            </a:r>
            <a:r>
              <a:rPr lang="en-US" altLang="zh-CN" sz="2400" smtClean="0">
                <a:ea typeface="黑体" panose="02010609060101010101" pitchFamily="49" charset="-122"/>
              </a:rPr>
              <a:t>(Direct Sequence Spread Spectrum)</a:t>
            </a:r>
            <a:r>
              <a:rPr lang="zh-CN" altLang="zh-CN" sz="2400" smtClean="0">
                <a:ea typeface="黑体" panose="02010609060101010101" pitchFamily="49" charset="-122"/>
              </a:rPr>
              <a:t>，如上面讲的使用码片序列就是这一类。</a:t>
            </a:r>
            <a:endParaRPr lang="en-US" altLang="zh-CN" sz="2400" smtClean="0">
              <a:ea typeface="黑体" panose="02010609060101010101" pitchFamily="49" charset="-122"/>
            </a:endParaRPr>
          </a:p>
          <a:p>
            <a:pPr lvl="1" eaLnBrk="1" hangingPunct="1"/>
            <a:r>
              <a:rPr lang="zh-CN" altLang="zh-CN" sz="2400" smtClean="0">
                <a:ea typeface="黑体" panose="02010609060101010101" pitchFamily="49" charset="-122"/>
              </a:rPr>
              <a:t>另一种是</a:t>
            </a:r>
            <a:r>
              <a:rPr lang="zh-CN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跳频扩频</a:t>
            </a:r>
            <a:r>
              <a:rPr lang="en-US" altLang="zh-CN" sz="2400" smtClean="0">
                <a:solidFill>
                  <a:srgbClr val="FF0000"/>
                </a:solidFill>
                <a:ea typeface="黑体" panose="02010609060101010101" pitchFamily="49" charset="-122"/>
              </a:rPr>
              <a:t>FHSS </a:t>
            </a:r>
            <a:r>
              <a:rPr lang="en-US" altLang="zh-CN" sz="2400" smtClean="0">
                <a:ea typeface="黑体" panose="02010609060101010101" pitchFamily="49" charset="-122"/>
              </a:rPr>
              <a:t>(Frequency Hopping Spread Spectrum)</a:t>
            </a:r>
            <a:r>
              <a:rPr lang="zh-CN" altLang="zh-CN" sz="2400" smtClean="0">
                <a:ea typeface="黑体" panose="02010609060101010101" pitchFamily="49" charset="-122"/>
              </a:rPr>
              <a:t>。</a:t>
            </a:r>
            <a:endParaRPr lang="zh-CN" altLang="en-US" sz="2400" smtClean="0">
              <a:ea typeface="黑体" panose="02010609060101010101" pitchFamily="49" charset="-122"/>
            </a:endParaRPr>
          </a:p>
        </p:txBody>
      </p:sp>
      <p:sp>
        <p:nvSpPr>
          <p:cNvPr id="65540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401FA2-C248-4660-9571-00FD24AFC715}" type="slidenum">
              <a:rPr altLang="en-US" smtClean="0"/>
              <a:pPr/>
              <a:t>13</a:t>
            </a:fld>
            <a:endParaRPr lang="zh-CN" altLang="zh-CN" smtClean="0"/>
          </a:p>
        </p:txBody>
      </p:sp>
      <p:sp>
        <p:nvSpPr>
          <p:cNvPr id="65541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 eaLnBrk="1" hangingPunct="1"/>
            <a:r>
              <a:rPr lang="en-US" altLang="zh-CN" smtClean="0">
                <a:ea typeface="黑体" panose="02010609060101010101" pitchFamily="49" charset="-122"/>
              </a:rPr>
              <a:t>CDMA </a:t>
            </a:r>
            <a:r>
              <a:rPr lang="zh-CN" altLang="en-US" smtClean="0">
                <a:ea typeface="黑体" panose="02010609060101010101" pitchFamily="49" charset="-122"/>
              </a:rPr>
              <a:t>的重要特点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eaLnBrk="1" hangingPunct="1"/>
            <a:r>
              <a:rPr lang="zh-CN" altLang="en-US" smtClean="0">
                <a:ea typeface="黑体" panose="02010609060101010101" pitchFamily="49" charset="-122"/>
              </a:rPr>
              <a:t>每个站分配的码片序列不仅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必须各不相同，</a:t>
            </a:r>
            <a:r>
              <a:rPr lang="zh-CN" altLang="en-US" smtClean="0">
                <a:ea typeface="黑体" panose="02010609060101010101" pitchFamily="49" charset="-122"/>
              </a:rPr>
              <a:t>并且还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必须互相正交 </a:t>
            </a:r>
            <a:r>
              <a:rPr lang="en-US" altLang="zh-CN" smtClean="0">
                <a:ea typeface="黑体" panose="02010609060101010101" pitchFamily="49" charset="-122"/>
              </a:rPr>
              <a:t>(orthogonal)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</a:p>
          <a:p>
            <a:pPr eaLnBrk="1" hangingPunct="1"/>
            <a:r>
              <a:rPr lang="zh-CN" altLang="en-US" smtClean="0">
                <a:ea typeface="黑体" panose="02010609060101010101" pitchFamily="49" charset="-122"/>
              </a:rPr>
              <a:t>在实用的系统中是使用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伪随机码序列。</a:t>
            </a:r>
            <a:r>
              <a:rPr lang="zh-CN" altLang="en-US" smtClean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6656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A2D152C-DB1C-4A68-AD89-2BAC4E7D22F0}" type="slidenum">
              <a:rPr altLang="en-US" smtClean="0"/>
              <a:pPr/>
              <a:t>14</a:t>
            </a:fld>
            <a:endParaRPr lang="zh-CN" altLang="zh-CN" smtClean="0"/>
          </a:p>
        </p:txBody>
      </p:sp>
      <p:sp>
        <p:nvSpPr>
          <p:cNvPr id="66565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 eaLnBrk="1" hangingPunct="1"/>
            <a:r>
              <a:rPr lang="zh-CN" altLang="en-US" smtClean="0">
                <a:ea typeface="黑体" panose="02010609060101010101" pitchFamily="49" charset="-122"/>
              </a:rPr>
              <a:t>码片序列的正交关系 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eaLnBrk="1" hangingPunct="1"/>
            <a:r>
              <a:rPr lang="zh-CN" altLang="en-US" smtClean="0">
                <a:ea typeface="黑体" panose="02010609060101010101" pitchFamily="49" charset="-122"/>
              </a:rPr>
              <a:t>令向量 </a:t>
            </a:r>
            <a:r>
              <a:rPr lang="en-US" altLang="zh-CN" smtClean="0">
                <a:ea typeface="黑体" panose="02010609060101010101" pitchFamily="49" charset="-122"/>
              </a:rPr>
              <a:t>S </a:t>
            </a:r>
            <a:r>
              <a:rPr lang="zh-CN" altLang="en-US" smtClean="0">
                <a:ea typeface="黑体" panose="02010609060101010101" pitchFamily="49" charset="-122"/>
              </a:rPr>
              <a:t>表示站 </a:t>
            </a:r>
            <a:r>
              <a:rPr lang="en-US" altLang="zh-CN" smtClean="0">
                <a:ea typeface="黑体" panose="02010609060101010101" pitchFamily="49" charset="-122"/>
              </a:rPr>
              <a:t>S </a:t>
            </a:r>
            <a:r>
              <a:rPr lang="zh-CN" altLang="en-US" smtClean="0">
                <a:ea typeface="黑体" panose="02010609060101010101" pitchFamily="49" charset="-122"/>
              </a:rPr>
              <a:t>的码片向量，令 </a:t>
            </a:r>
            <a:r>
              <a:rPr lang="en-US" altLang="zh-CN" smtClean="0">
                <a:ea typeface="黑体" panose="02010609060101010101" pitchFamily="49" charset="-122"/>
              </a:rPr>
              <a:t>T </a:t>
            </a:r>
            <a:r>
              <a:rPr lang="zh-CN" altLang="en-US" smtClean="0">
                <a:ea typeface="黑体" panose="02010609060101010101" pitchFamily="49" charset="-122"/>
              </a:rPr>
              <a:t>表示其他任何站的码片向量。 </a:t>
            </a:r>
          </a:p>
          <a:p>
            <a:pPr eaLnBrk="1" hangingPunct="1"/>
            <a:r>
              <a:rPr lang="zh-CN" altLang="en-US" smtClean="0">
                <a:ea typeface="黑体" panose="02010609060101010101" pitchFamily="49" charset="-122"/>
              </a:rPr>
              <a:t>两个不同站的码片序列正交，就是向量 </a:t>
            </a:r>
            <a:r>
              <a:rPr lang="en-US" altLang="zh-CN" smtClean="0">
                <a:ea typeface="黑体" panose="02010609060101010101" pitchFamily="49" charset="-122"/>
              </a:rPr>
              <a:t>S </a:t>
            </a:r>
            <a:r>
              <a:rPr lang="zh-CN" altLang="en-US" smtClean="0">
                <a:ea typeface="黑体" panose="02010609060101010101" pitchFamily="49" charset="-122"/>
              </a:rPr>
              <a:t>和</a:t>
            </a:r>
            <a:r>
              <a:rPr lang="en-US" altLang="zh-CN" smtClean="0">
                <a:ea typeface="黑体" panose="02010609060101010101" pitchFamily="49" charset="-122"/>
              </a:rPr>
              <a:t>T </a:t>
            </a:r>
            <a:r>
              <a:rPr lang="zh-CN" altLang="en-US" smtClean="0">
                <a:ea typeface="黑体" panose="02010609060101010101" pitchFamily="49" charset="-122"/>
              </a:rPr>
              <a:t>的规格化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内积 </a:t>
            </a:r>
            <a:r>
              <a:rPr lang="en-US" altLang="zh-CN" smtClean="0">
                <a:ea typeface="黑体" panose="02010609060101010101" pitchFamily="49" charset="-122"/>
              </a:rPr>
              <a:t>(inner product)</a:t>
            </a:r>
            <a:r>
              <a:rPr lang="zh-CN" altLang="en-US" smtClean="0">
                <a:ea typeface="黑体" panose="02010609060101010101" pitchFamily="49" charset="-122"/>
              </a:rPr>
              <a:t> 等于 </a:t>
            </a:r>
            <a:r>
              <a:rPr lang="en-US" altLang="zh-CN" smtClean="0">
                <a:ea typeface="黑体" panose="02010609060101010101" pitchFamily="49" charset="-122"/>
              </a:rPr>
              <a:t>0</a:t>
            </a:r>
            <a:r>
              <a:rPr lang="zh-CN" altLang="en-US" smtClean="0">
                <a:ea typeface="黑体" panose="02010609060101010101" pitchFamily="49" charset="-122"/>
              </a:rPr>
              <a:t>： </a:t>
            </a:r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8613" name="Rectangle 6"/>
          <p:cNvSpPr>
            <a:spLocks noChangeArrowheads="1"/>
          </p:cNvSpPr>
          <p:nvPr/>
        </p:nvSpPr>
        <p:spPr bwMode="auto">
          <a:xfrm>
            <a:off x="0" y="30543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68614" name="Object 7"/>
          <p:cNvGraphicFramePr>
            <a:graphicFrameLocks noChangeAspect="1"/>
          </p:cNvGraphicFramePr>
          <p:nvPr/>
        </p:nvGraphicFramePr>
        <p:xfrm>
          <a:off x="3081338" y="3644900"/>
          <a:ext cx="3948112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4" r:id="rId4" imgW="1282700" imgH="431800" progId="Equation.3">
                  <p:embed/>
                </p:oleObj>
              </mc:Choice>
              <mc:Fallback>
                <p:oleObj r:id="rId4" imgW="12827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338" y="3644900"/>
                        <a:ext cx="3948112" cy="12239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000099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BA8A6E-E2CC-4543-A3BA-3A9FEFFB0353}" type="slidenum">
              <a:rPr altLang="en-US" smtClean="0"/>
              <a:pPr/>
              <a:t>15</a:t>
            </a:fld>
            <a:endParaRPr lang="zh-CN" altLang="zh-CN" smtClean="0"/>
          </a:p>
        </p:txBody>
      </p:sp>
      <p:sp>
        <p:nvSpPr>
          <p:cNvPr id="686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 eaLnBrk="1" hangingPunct="1"/>
            <a:r>
              <a:rPr lang="zh-CN" altLang="en-US" smtClean="0">
                <a:ea typeface="黑体" panose="02010609060101010101" pitchFamily="49" charset="-122"/>
              </a:rPr>
              <a:t>正交关系的另一个重要特性 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任何一个码片向量和该码片向量自己的规格化内积都是 </a:t>
            </a:r>
            <a:r>
              <a:rPr lang="en-US" altLang="zh-CN" smtClean="0">
                <a:ea typeface="黑体" panose="02010609060101010101" pitchFamily="49" charset="-122"/>
              </a:rPr>
              <a:t>1 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endParaRPr lang="zh-CN" altLang="en-US" smtClean="0"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mtClean="0"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mtClean="0"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mtClean="0">
                <a:ea typeface="黑体" panose="02010609060101010101" pitchFamily="49" charset="-122"/>
              </a:rPr>
              <a:t>一个码片向量和该码片反码的向量的规格化内积值是 </a:t>
            </a:r>
            <a:r>
              <a:rPr lang="en-US" altLang="zh-CN" smtClean="0">
                <a:ea typeface="黑体" panose="02010609060101010101" pitchFamily="49" charset="-122"/>
              </a:rPr>
              <a:t>–1</a:t>
            </a:r>
            <a:r>
              <a:rPr lang="zh-CN" altLang="en-US" smtClean="0">
                <a:ea typeface="黑体" panose="02010609060101010101" pitchFamily="49" charset="-122"/>
              </a:rPr>
              <a:t>。 </a:t>
            </a:r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61" name="Rectangle 6"/>
          <p:cNvSpPr>
            <a:spLocks noChangeArrowheads="1"/>
          </p:cNvSpPr>
          <p:nvPr/>
        </p:nvSpPr>
        <p:spPr bwMode="auto">
          <a:xfrm>
            <a:off x="0" y="30543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066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70663" name="Object 7"/>
          <p:cNvGraphicFramePr>
            <a:graphicFrameLocks noChangeAspect="1"/>
          </p:cNvGraphicFramePr>
          <p:nvPr/>
        </p:nvGraphicFramePr>
        <p:xfrm>
          <a:off x="920750" y="2282825"/>
          <a:ext cx="8135938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3" r:id="rId4" imgW="2781300" imgH="431800" progId="Equation.3">
                  <p:embed/>
                </p:oleObj>
              </mc:Choice>
              <mc:Fallback>
                <p:oleObj r:id="rId4" imgW="27813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2282825"/>
                        <a:ext cx="8135938" cy="11604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55E36C-F441-4217-87EE-CBD1A4A32799}" type="slidenum">
              <a:rPr altLang="en-US" smtClean="0"/>
              <a:pPr/>
              <a:t>16</a:t>
            </a:fld>
            <a:endParaRPr lang="zh-CN" altLang="zh-CN" smtClean="0"/>
          </a:p>
        </p:txBody>
      </p:sp>
      <p:sp>
        <p:nvSpPr>
          <p:cNvPr id="70665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mtClean="0">
                <a:ea typeface="黑体" panose="02010609060101010101" pitchFamily="49" charset="-122"/>
              </a:rPr>
              <a:t>CDMA </a:t>
            </a:r>
            <a:r>
              <a:rPr lang="zh-CN" altLang="en-US" smtClean="0">
                <a:ea typeface="黑体" panose="02010609060101010101" pitchFamily="49" charset="-122"/>
              </a:rPr>
              <a:t>的工作原理 </a:t>
            </a:r>
          </a:p>
        </p:txBody>
      </p:sp>
      <p:sp>
        <p:nvSpPr>
          <p:cNvPr id="72707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708" name="Rectangle 6"/>
          <p:cNvSpPr>
            <a:spLocks noChangeArrowheads="1"/>
          </p:cNvSpPr>
          <p:nvPr/>
        </p:nvSpPr>
        <p:spPr bwMode="auto">
          <a:xfrm>
            <a:off x="130175" y="25098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2710" name="Line 10"/>
          <p:cNvSpPr>
            <a:spLocks noChangeShapeType="1"/>
          </p:cNvSpPr>
          <p:nvPr/>
        </p:nvSpPr>
        <p:spPr bwMode="auto">
          <a:xfrm>
            <a:off x="3746500" y="2098675"/>
            <a:ext cx="1697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1" name="Text Box 11"/>
          <p:cNvSpPr txBox="1">
            <a:spLocks noChangeArrowheads="1"/>
          </p:cNvSpPr>
          <p:nvPr/>
        </p:nvSpPr>
        <p:spPr bwMode="auto">
          <a:xfrm>
            <a:off x="1182688" y="2286000"/>
            <a:ext cx="221615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S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站的码片序列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S</a:t>
            </a:r>
          </a:p>
        </p:txBody>
      </p:sp>
      <p:sp>
        <p:nvSpPr>
          <p:cNvPr id="72712" name="Line 12"/>
          <p:cNvSpPr>
            <a:spLocks noChangeShapeType="1"/>
          </p:cNvSpPr>
          <p:nvPr/>
        </p:nvSpPr>
        <p:spPr bwMode="auto">
          <a:xfrm>
            <a:off x="3748088" y="1398588"/>
            <a:ext cx="0" cy="43338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3" name="Line 13"/>
          <p:cNvSpPr>
            <a:spLocks noChangeShapeType="1"/>
          </p:cNvSpPr>
          <p:nvPr/>
        </p:nvSpPr>
        <p:spPr bwMode="auto">
          <a:xfrm>
            <a:off x="5457825" y="1398588"/>
            <a:ext cx="0" cy="43338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4" name="Line 14"/>
          <p:cNvSpPr>
            <a:spLocks noChangeShapeType="1"/>
          </p:cNvSpPr>
          <p:nvPr/>
        </p:nvSpPr>
        <p:spPr bwMode="auto">
          <a:xfrm>
            <a:off x="7167563" y="1398588"/>
            <a:ext cx="0" cy="43338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5" name="Line 15"/>
          <p:cNvSpPr>
            <a:spLocks noChangeShapeType="1"/>
          </p:cNvSpPr>
          <p:nvPr/>
        </p:nvSpPr>
        <p:spPr bwMode="auto">
          <a:xfrm>
            <a:off x="8877300" y="1398588"/>
            <a:ext cx="0" cy="43338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6" name="Freeform 16"/>
          <p:cNvSpPr>
            <a:spLocks noChangeArrowheads="1"/>
          </p:cNvSpPr>
          <p:nvPr/>
        </p:nvSpPr>
        <p:spPr bwMode="auto">
          <a:xfrm>
            <a:off x="3748088" y="2330450"/>
            <a:ext cx="1709737" cy="319088"/>
          </a:xfrm>
          <a:custGeom>
            <a:avLst/>
            <a:gdLst>
              <a:gd name="T0" fmla="*/ 0 w 768"/>
              <a:gd name="T1" fmla="*/ 156288 h 196"/>
              <a:gd name="T2" fmla="*/ 0 w 768"/>
              <a:gd name="T3" fmla="*/ 319088 h 196"/>
              <a:gd name="T4" fmla="*/ 641151 w 768"/>
              <a:gd name="T5" fmla="*/ 312576 h 196"/>
              <a:gd name="T6" fmla="*/ 641151 w 768"/>
              <a:gd name="T7" fmla="*/ 0 h 196"/>
              <a:gd name="T8" fmla="*/ 1068586 w 768"/>
              <a:gd name="T9" fmla="*/ 0 h 196"/>
              <a:gd name="T10" fmla="*/ 1068586 w 768"/>
              <a:gd name="T11" fmla="*/ 312576 h 196"/>
              <a:gd name="T12" fmla="*/ 1282303 w 768"/>
              <a:gd name="T13" fmla="*/ 312576 h 196"/>
              <a:gd name="T14" fmla="*/ 1282303 w 768"/>
              <a:gd name="T15" fmla="*/ 0 h 196"/>
              <a:gd name="T16" fmla="*/ 1709737 w 768"/>
              <a:gd name="T17" fmla="*/ 0 h 196"/>
              <a:gd name="T18" fmla="*/ 1709737 w 768"/>
              <a:gd name="T19" fmla="*/ 156288 h 19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17" name="Freeform 17"/>
          <p:cNvSpPr>
            <a:spLocks noChangeArrowheads="1"/>
          </p:cNvSpPr>
          <p:nvPr/>
        </p:nvSpPr>
        <p:spPr bwMode="auto">
          <a:xfrm>
            <a:off x="5457825" y="2330450"/>
            <a:ext cx="1709738" cy="319088"/>
          </a:xfrm>
          <a:custGeom>
            <a:avLst/>
            <a:gdLst>
              <a:gd name="T0" fmla="*/ 0 w 768"/>
              <a:gd name="T1" fmla="*/ 156288 h 196"/>
              <a:gd name="T2" fmla="*/ 0 w 768"/>
              <a:gd name="T3" fmla="*/ 319088 h 196"/>
              <a:gd name="T4" fmla="*/ 641152 w 768"/>
              <a:gd name="T5" fmla="*/ 312576 h 196"/>
              <a:gd name="T6" fmla="*/ 641152 w 768"/>
              <a:gd name="T7" fmla="*/ 0 h 196"/>
              <a:gd name="T8" fmla="*/ 1068586 w 768"/>
              <a:gd name="T9" fmla="*/ 0 h 196"/>
              <a:gd name="T10" fmla="*/ 1068586 w 768"/>
              <a:gd name="T11" fmla="*/ 312576 h 196"/>
              <a:gd name="T12" fmla="*/ 1282304 w 768"/>
              <a:gd name="T13" fmla="*/ 312576 h 196"/>
              <a:gd name="T14" fmla="*/ 1282304 w 768"/>
              <a:gd name="T15" fmla="*/ 0 h 196"/>
              <a:gd name="T16" fmla="*/ 1709738 w 768"/>
              <a:gd name="T17" fmla="*/ 0 h 196"/>
              <a:gd name="T18" fmla="*/ 1709738 w 768"/>
              <a:gd name="T19" fmla="*/ 156288 h 19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18" name="Freeform 18"/>
          <p:cNvSpPr>
            <a:spLocks noChangeArrowheads="1"/>
          </p:cNvSpPr>
          <p:nvPr/>
        </p:nvSpPr>
        <p:spPr bwMode="auto">
          <a:xfrm>
            <a:off x="3748088" y="3421063"/>
            <a:ext cx="1709737" cy="311150"/>
          </a:xfrm>
          <a:custGeom>
            <a:avLst/>
            <a:gdLst>
              <a:gd name="T0" fmla="*/ 0 w 768"/>
              <a:gd name="T1" fmla="*/ 155575 h 192"/>
              <a:gd name="T2" fmla="*/ 0 w 768"/>
              <a:gd name="T3" fmla="*/ 311150 h 192"/>
              <a:gd name="T4" fmla="*/ 427434 w 768"/>
              <a:gd name="T5" fmla="*/ 311150 h 192"/>
              <a:gd name="T6" fmla="*/ 427434 w 768"/>
              <a:gd name="T7" fmla="*/ 0 h 192"/>
              <a:gd name="T8" fmla="*/ 641151 w 768"/>
              <a:gd name="T9" fmla="*/ 0 h 192"/>
              <a:gd name="T10" fmla="*/ 641151 w 768"/>
              <a:gd name="T11" fmla="*/ 311150 h 192"/>
              <a:gd name="T12" fmla="*/ 854869 w 768"/>
              <a:gd name="T13" fmla="*/ 311150 h 192"/>
              <a:gd name="T14" fmla="*/ 854869 w 768"/>
              <a:gd name="T15" fmla="*/ 0 h 192"/>
              <a:gd name="T16" fmla="*/ 1496020 w 768"/>
              <a:gd name="T17" fmla="*/ 0 h 192"/>
              <a:gd name="T18" fmla="*/ 1496020 w 768"/>
              <a:gd name="T19" fmla="*/ 311150 h 192"/>
              <a:gd name="T20" fmla="*/ 1709737 w 768"/>
              <a:gd name="T21" fmla="*/ 311150 h 192"/>
              <a:gd name="T22" fmla="*/ 1709737 w 768"/>
              <a:gd name="T23" fmla="*/ 155575 h 19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19" name="Freeform 19"/>
          <p:cNvSpPr>
            <a:spLocks noChangeArrowheads="1"/>
          </p:cNvSpPr>
          <p:nvPr/>
        </p:nvSpPr>
        <p:spPr bwMode="auto">
          <a:xfrm>
            <a:off x="5457825" y="3421063"/>
            <a:ext cx="1709738" cy="311150"/>
          </a:xfrm>
          <a:custGeom>
            <a:avLst/>
            <a:gdLst>
              <a:gd name="T0" fmla="*/ 0 w 768"/>
              <a:gd name="T1" fmla="*/ 155575 h 192"/>
              <a:gd name="T2" fmla="*/ 0 w 768"/>
              <a:gd name="T3" fmla="*/ 311150 h 192"/>
              <a:gd name="T4" fmla="*/ 427435 w 768"/>
              <a:gd name="T5" fmla="*/ 311150 h 192"/>
              <a:gd name="T6" fmla="*/ 427435 w 768"/>
              <a:gd name="T7" fmla="*/ 0 h 192"/>
              <a:gd name="T8" fmla="*/ 641152 w 768"/>
              <a:gd name="T9" fmla="*/ 0 h 192"/>
              <a:gd name="T10" fmla="*/ 641152 w 768"/>
              <a:gd name="T11" fmla="*/ 311150 h 192"/>
              <a:gd name="T12" fmla="*/ 854869 w 768"/>
              <a:gd name="T13" fmla="*/ 311150 h 192"/>
              <a:gd name="T14" fmla="*/ 854869 w 768"/>
              <a:gd name="T15" fmla="*/ 0 h 192"/>
              <a:gd name="T16" fmla="*/ 1496021 w 768"/>
              <a:gd name="T17" fmla="*/ 0 h 192"/>
              <a:gd name="T18" fmla="*/ 1496021 w 768"/>
              <a:gd name="T19" fmla="*/ 311150 h 192"/>
              <a:gd name="T20" fmla="*/ 1709738 w 768"/>
              <a:gd name="T21" fmla="*/ 311150 h 192"/>
              <a:gd name="T22" fmla="*/ 1709738 w 768"/>
              <a:gd name="T23" fmla="*/ 155575 h 19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0" name="Freeform 20"/>
          <p:cNvSpPr>
            <a:spLocks noChangeArrowheads="1"/>
          </p:cNvSpPr>
          <p:nvPr/>
        </p:nvSpPr>
        <p:spPr bwMode="auto">
          <a:xfrm flipV="1">
            <a:off x="7167563" y="3421063"/>
            <a:ext cx="1709737" cy="311150"/>
          </a:xfrm>
          <a:custGeom>
            <a:avLst/>
            <a:gdLst>
              <a:gd name="T0" fmla="*/ 0 w 768"/>
              <a:gd name="T1" fmla="*/ 155575 h 192"/>
              <a:gd name="T2" fmla="*/ 0 w 768"/>
              <a:gd name="T3" fmla="*/ 311150 h 192"/>
              <a:gd name="T4" fmla="*/ 427434 w 768"/>
              <a:gd name="T5" fmla="*/ 311150 h 192"/>
              <a:gd name="T6" fmla="*/ 427434 w 768"/>
              <a:gd name="T7" fmla="*/ 0 h 192"/>
              <a:gd name="T8" fmla="*/ 641151 w 768"/>
              <a:gd name="T9" fmla="*/ 0 h 192"/>
              <a:gd name="T10" fmla="*/ 641151 w 768"/>
              <a:gd name="T11" fmla="*/ 311150 h 192"/>
              <a:gd name="T12" fmla="*/ 854869 w 768"/>
              <a:gd name="T13" fmla="*/ 311150 h 192"/>
              <a:gd name="T14" fmla="*/ 854869 w 768"/>
              <a:gd name="T15" fmla="*/ 0 h 192"/>
              <a:gd name="T16" fmla="*/ 1496020 w 768"/>
              <a:gd name="T17" fmla="*/ 0 h 192"/>
              <a:gd name="T18" fmla="*/ 1496020 w 768"/>
              <a:gd name="T19" fmla="*/ 311150 h 192"/>
              <a:gd name="T20" fmla="*/ 1709737 w 768"/>
              <a:gd name="T21" fmla="*/ 311150 h 192"/>
              <a:gd name="T22" fmla="*/ 1709737 w 768"/>
              <a:gd name="T23" fmla="*/ 155575 h 19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66FF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1" name="Freeform 21"/>
          <p:cNvSpPr>
            <a:spLocks noChangeArrowheads="1"/>
          </p:cNvSpPr>
          <p:nvPr/>
        </p:nvSpPr>
        <p:spPr bwMode="auto">
          <a:xfrm>
            <a:off x="3748088" y="5194300"/>
            <a:ext cx="1709737" cy="312738"/>
          </a:xfrm>
          <a:custGeom>
            <a:avLst/>
            <a:gdLst>
              <a:gd name="T0" fmla="*/ 0 w 768"/>
              <a:gd name="T1" fmla="*/ 156369 h 192"/>
              <a:gd name="T2" fmla="*/ 0 w 768"/>
              <a:gd name="T3" fmla="*/ 0 h 192"/>
              <a:gd name="T4" fmla="*/ 427434 w 768"/>
              <a:gd name="T5" fmla="*/ 0 h 192"/>
              <a:gd name="T6" fmla="*/ 427434 w 768"/>
              <a:gd name="T7" fmla="*/ 312738 h 192"/>
              <a:gd name="T8" fmla="*/ 854869 w 768"/>
              <a:gd name="T9" fmla="*/ 312738 h 192"/>
              <a:gd name="T10" fmla="*/ 854869 w 768"/>
              <a:gd name="T11" fmla="*/ 0 h 192"/>
              <a:gd name="T12" fmla="*/ 1068586 w 768"/>
              <a:gd name="T13" fmla="*/ 0 h 192"/>
              <a:gd name="T14" fmla="*/ 1068586 w 768"/>
              <a:gd name="T15" fmla="*/ 312738 h 192"/>
              <a:gd name="T16" fmla="*/ 1282303 w 768"/>
              <a:gd name="T17" fmla="*/ 312738 h 192"/>
              <a:gd name="T18" fmla="*/ 1282303 w 768"/>
              <a:gd name="T19" fmla="*/ 0 h 192"/>
              <a:gd name="T20" fmla="*/ 1496020 w 768"/>
              <a:gd name="T21" fmla="*/ 0 h 192"/>
              <a:gd name="T22" fmla="*/ 1496020 w 768"/>
              <a:gd name="T23" fmla="*/ 312738 h 192"/>
              <a:gd name="T24" fmla="*/ 1709737 w 768"/>
              <a:gd name="T25" fmla="*/ 312738 h 192"/>
              <a:gd name="T26" fmla="*/ 1709737 w 768"/>
              <a:gd name="T27" fmla="*/ 151482 h 19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8080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2" name="Freeform 22"/>
          <p:cNvSpPr>
            <a:spLocks noChangeArrowheads="1"/>
          </p:cNvSpPr>
          <p:nvPr/>
        </p:nvSpPr>
        <p:spPr bwMode="auto">
          <a:xfrm>
            <a:off x="5457825" y="5194300"/>
            <a:ext cx="1709738" cy="312738"/>
          </a:xfrm>
          <a:custGeom>
            <a:avLst/>
            <a:gdLst>
              <a:gd name="T0" fmla="*/ 0 w 768"/>
              <a:gd name="T1" fmla="*/ 156369 h 192"/>
              <a:gd name="T2" fmla="*/ 0 w 768"/>
              <a:gd name="T3" fmla="*/ 0 h 192"/>
              <a:gd name="T4" fmla="*/ 427435 w 768"/>
              <a:gd name="T5" fmla="*/ 0 h 192"/>
              <a:gd name="T6" fmla="*/ 427435 w 768"/>
              <a:gd name="T7" fmla="*/ 312738 h 192"/>
              <a:gd name="T8" fmla="*/ 854869 w 768"/>
              <a:gd name="T9" fmla="*/ 312738 h 192"/>
              <a:gd name="T10" fmla="*/ 854869 w 768"/>
              <a:gd name="T11" fmla="*/ 0 h 192"/>
              <a:gd name="T12" fmla="*/ 1068586 w 768"/>
              <a:gd name="T13" fmla="*/ 0 h 192"/>
              <a:gd name="T14" fmla="*/ 1068586 w 768"/>
              <a:gd name="T15" fmla="*/ 312738 h 192"/>
              <a:gd name="T16" fmla="*/ 1282304 w 768"/>
              <a:gd name="T17" fmla="*/ 312738 h 192"/>
              <a:gd name="T18" fmla="*/ 1282304 w 768"/>
              <a:gd name="T19" fmla="*/ 0 h 192"/>
              <a:gd name="T20" fmla="*/ 1496021 w 768"/>
              <a:gd name="T21" fmla="*/ 0 h 192"/>
              <a:gd name="T22" fmla="*/ 1496021 w 768"/>
              <a:gd name="T23" fmla="*/ 312738 h 192"/>
              <a:gd name="T24" fmla="*/ 1709738 w 768"/>
              <a:gd name="T25" fmla="*/ 312738 h 192"/>
              <a:gd name="T26" fmla="*/ 1709738 w 768"/>
              <a:gd name="T27" fmla="*/ 151482 h 19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8080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3" name="Freeform 23"/>
          <p:cNvSpPr>
            <a:spLocks noChangeArrowheads="1"/>
          </p:cNvSpPr>
          <p:nvPr/>
        </p:nvSpPr>
        <p:spPr bwMode="auto">
          <a:xfrm flipV="1">
            <a:off x="7167563" y="5194300"/>
            <a:ext cx="1709737" cy="312738"/>
          </a:xfrm>
          <a:custGeom>
            <a:avLst/>
            <a:gdLst>
              <a:gd name="T0" fmla="*/ 0 w 768"/>
              <a:gd name="T1" fmla="*/ 156369 h 192"/>
              <a:gd name="T2" fmla="*/ 0 w 768"/>
              <a:gd name="T3" fmla="*/ 0 h 192"/>
              <a:gd name="T4" fmla="*/ 427434 w 768"/>
              <a:gd name="T5" fmla="*/ 0 h 192"/>
              <a:gd name="T6" fmla="*/ 427434 w 768"/>
              <a:gd name="T7" fmla="*/ 312738 h 192"/>
              <a:gd name="T8" fmla="*/ 854869 w 768"/>
              <a:gd name="T9" fmla="*/ 312738 h 192"/>
              <a:gd name="T10" fmla="*/ 854869 w 768"/>
              <a:gd name="T11" fmla="*/ 0 h 192"/>
              <a:gd name="T12" fmla="*/ 1068586 w 768"/>
              <a:gd name="T13" fmla="*/ 0 h 192"/>
              <a:gd name="T14" fmla="*/ 1068586 w 768"/>
              <a:gd name="T15" fmla="*/ 312738 h 192"/>
              <a:gd name="T16" fmla="*/ 1282303 w 768"/>
              <a:gd name="T17" fmla="*/ 312738 h 192"/>
              <a:gd name="T18" fmla="*/ 1282303 w 768"/>
              <a:gd name="T19" fmla="*/ 0 h 192"/>
              <a:gd name="T20" fmla="*/ 1496020 w 768"/>
              <a:gd name="T21" fmla="*/ 0 h 192"/>
              <a:gd name="T22" fmla="*/ 1496020 w 768"/>
              <a:gd name="T23" fmla="*/ 312738 h 192"/>
              <a:gd name="T24" fmla="*/ 1709737 w 768"/>
              <a:gd name="T25" fmla="*/ 312738 h 192"/>
              <a:gd name="T26" fmla="*/ 1709737 w 768"/>
              <a:gd name="T27" fmla="*/ 151482 h 19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0"/>
                </a:lnTo>
                <a:lnTo>
                  <a:pt x="192" y="0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3"/>
                </a:lnTo>
              </a:path>
            </a:pathLst>
          </a:custGeom>
          <a:solidFill>
            <a:srgbClr val="FF99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4" name="Freeform 24"/>
          <p:cNvSpPr>
            <a:spLocks noChangeArrowheads="1"/>
          </p:cNvSpPr>
          <p:nvPr/>
        </p:nvSpPr>
        <p:spPr bwMode="auto">
          <a:xfrm>
            <a:off x="3748088" y="4665663"/>
            <a:ext cx="5129212" cy="314325"/>
          </a:xfrm>
          <a:custGeom>
            <a:avLst/>
            <a:gdLst>
              <a:gd name="T0" fmla="*/ 0 w 2827"/>
              <a:gd name="T1" fmla="*/ 155542 h 194"/>
              <a:gd name="T2" fmla="*/ 0 w 2827"/>
              <a:gd name="T3" fmla="*/ 0 h 194"/>
              <a:gd name="T4" fmla="*/ 3421894 w 2827"/>
              <a:gd name="T5" fmla="*/ 3240 h 194"/>
              <a:gd name="T6" fmla="*/ 3421894 w 2827"/>
              <a:gd name="T7" fmla="*/ 314325 h 194"/>
              <a:gd name="T8" fmla="*/ 5127398 w 2827"/>
              <a:gd name="T9" fmla="*/ 311085 h 194"/>
              <a:gd name="T10" fmla="*/ 5129212 w 2827"/>
              <a:gd name="T11" fmla="*/ 155542 h 19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827" h="194">
                <a:moveTo>
                  <a:pt x="0" y="96"/>
                </a:moveTo>
                <a:lnTo>
                  <a:pt x="0" y="0"/>
                </a:lnTo>
                <a:lnTo>
                  <a:pt x="1886" y="2"/>
                </a:lnTo>
                <a:lnTo>
                  <a:pt x="1886" y="194"/>
                </a:lnTo>
                <a:lnTo>
                  <a:pt x="2826" y="192"/>
                </a:lnTo>
                <a:lnTo>
                  <a:pt x="2827" y="96"/>
                </a:lnTo>
              </a:path>
            </a:pathLst>
          </a:cu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5" name="Freeform 25"/>
          <p:cNvSpPr>
            <a:spLocks noChangeArrowheads="1"/>
          </p:cNvSpPr>
          <p:nvPr/>
        </p:nvSpPr>
        <p:spPr bwMode="auto">
          <a:xfrm>
            <a:off x="3748088" y="1630363"/>
            <a:ext cx="5129212" cy="312737"/>
          </a:xfrm>
          <a:custGeom>
            <a:avLst/>
            <a:gdLst>
              <a:gd name="T0" fmla="*/ 0 w 2304"/>
              <a:gd name="T1" fmla="*/ 156369 h 192"/>
              <a:gd name="T2" fmla="*/ 0 w 2304"/>
              <a:gd name="T3" fmla="*/ 0 h 192"/>
              <a:gd name="T4" fmla="*/ 3419475 w 2304"/>
              <a:gd name="T5" fmla="*/ 0 h 192"/>
              <a:gd name="T6" fmla="*/ 3419475 w 2304"/>
              <a:gd name="T7" fmla="*/ 312737 h 192"/>
              <a:gd name="T8" fmla="*/ 5129212 w 2304"/>
              <a:gd name="T9" fmla="*/ 312737 h 192"/>
              <a:gd name="T10" fmla="*/ 5129212 w 2304"/>
              <a:gd name="T11" fmla="*/ 156369 h 1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304" h="192">
                <a:moveTo>
                  <a:pt x="0" y="96"/>
                </a:moveTo>
                <a:lnTo>
                  <a:pt x="0" y="0"/>
                </a:lnTo>
                <a:lnTo>
                  <a:pt x="1536" y="0"/>
                </a:lnTo>
                <a:lnTo>
                  <a:pt x="1536" y="192"/>
                </a:lnTo>
                <a:lnTo>
                  <a:pt x="2304" y="192"/>
                </a:lnTo>
                <a:lnTo>
                  <a:pt x="2304" y="96"/>
                </a:lnTo>
              </a:path>
            </a:pathLst>
          </a:cu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6" name="Line 26"/>
          <p:cNvSpPr>
            <a:spLocks noChangeShapeType="1"/>
          </p:cNvSpPr>
          <p:nvPr/>
        </p:nvSpPr>
        <p:spPr bwMode="auto">
          <a:xfrm>
            <a:off x="5457825" y="1514475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7" name="Text Box 27"/>
          <p:cNvSpPr txBox="1">
            <a:spLocks noChangeArrowheads="1"/>
          </p:cNvSpPr>
          <p:nvPr/>
        </p:nvSpPr>
        <p:spPr bwMode="auto">
          <a:xfrm>
            <a:off x="4391025" y="1300163"/>
            <a:ext cx="32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72728" name="Line 28"/>
          <p:cNvSpPr>
            <a:spLocks noChangeShapeType="1"/>
          </p:cNvSpPr>
          <p:nvPr/>
        </p:nvSpPr>
        <p:spPr bwMode="auto">
          <a:xfrm>
            <a:off x="3579813" y="3575050"/>
            <a:ext cx="5724525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9" name="Line 29"/>
          <p:cNvSpPr>
            <a:spLocks noChangeShapeType="1"/>
          </p:cNvSpPr>
          <p:nvPr/>
        </p:nvSpPr>
        <p:spPr bwMode="auto">
          <a:xfrm>
            <a:off x="3579813" y="4821238"/>
            <a:ext cx="5724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30" name="Line 30"/>
          <p:cNvSpPr>
            <a:spLocks noChangeShapeType="1"/>
          </p:cNvSpPr>
          <p:nvPr/>
        </p:nvSpPr>
        <p:spPr bwMode="auto">
          <a:xfrm flipV="1">
            <a:off x="3579813" y="5351463"/>
            <a:ext cx="5724525" cy="14287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31" name="Freeform 31"/>
          <p:cNvSpPr>
            <a:spLocks noChangeArrowheads="1"/>
          </p:cNvSpPr>
          <p:nvPr/>
        </p:nvSpPr>
        <p:spPr bwMode="auto">
          <a:xfrm>
            <a:off x="3748088" y="3887788"/>
            <a:ext cx="1709737" cy="622300"/>
          </a:xfrm>
          <a:custGeom>
            <a:avLst/>
            <a:gdLst>
              <a:gd name="T0" fmla="*/ 0 w 768"/>
              <a:gd name="T1" fmla="*/ 311150 h 384"/>
              <a:gd name="T2" fmla="*/ 0 w 768"/>
              <a:gd name="T3" fmla="*/ 622300 h 384"/>
              <a:gd name="T4" fmla="*/ 427434 w 768"/>
              <a:gd name="T5" fmla="*/ 622300 h 384"/>
              <a:gd name="T6" fmla="*/ 427434 w 768"/>
              <a:gd name="T7" fmla="*/ 311150 h 384"/>
              <a:gd name="T8" fmla="*/ 854869 w 768"/>
              <a:gd name="T9" fmla="*/ 311150 h 384"/>
              <a:gd name="T10" fmla="*/ 854869 w 768"/>
              <a:gd name="T11" fmla="*/ 0 h 384"/>
              <a:gd name="T12" fmla="*/ 1068586 w 768"/>
              <a:gd name="T13" fmla="*/ 0 h 384"/>
              <a:gd name="T14" fmla="*/ 1068586 w 768"/>
              <a:gd name="T15" fmla="*/ 311150 h 384"/>
              <a:gd name="T16" fmla="*/ 1282303 w 768"/>
              <a:gd name="T17" fmla="*/ 311150 h 384"/>
              <a:gd name="T18" fmla="*/ 1282303 w 768"/>
              <a:gd name="T19" fmla="*/ 0 h 384"/>
              <a:gd name="T20" fmla="*/ 1496020 w 768"/>
              <a:gd name="T21" fmla="*/ 0 h 384"/>
              <a:gd name="T22" fmla="*/ 1496020 w 768"/>
              <a:gd name="T23" fmla="*/ 311150 h 384"/>
              <a:gd name="T24" fmla="*/ 1709737 w 768"/>
              <a:gd name="T25" fmla="*/ 311150 h 38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2" name="Freeform 32"/>
          <p:cNvSpPr>
            <a:spLocks noChangeArrowheads="1"/>
          </p:cNvSpPr>
          <p:nvPr/>
        </p:nvSpPr>
        <p:spPr bwMode="auto">
          <a:xfrm>
            <a:off x="5457825" y="3887788"/>
            <a:ext cx="1709738" cy="622300"/>
          </a:xfrm>
          <a:custGeom>
            <a:avLst/>
            <a:gdLst>
              <a:gd name="T0" fmla="*/ 0 w 768"/>
              <a:gd name="T1" fmla="*/ 311150 h 384"/>
              <a:gd name="T2" fmla="*/ 0 w 768"/>
              <a:gd name="T3" fmla="*/ 622300 h 384"/>
              <a:gd name="T4" fmla="*/ 427435 w 768"/>
              <a:gd name="T5" fmla="*/ 622300 h 384"/>
              <a:gd name="T6" fmla="*/ 427435 w 768"/>
              <a:gd name="T7" fmla="*/ 311150 h 384"/>
              <a:gd name="T8" fmla="*/ 854869 w 768"/>
              <a:gd name="T9" fmla="*/ 311150 h 384"/>
              <a:gd name="T10" fmla="*/ 854869 w 768"/>
              <a:gd name="T11" fmla="*/ 0 h 384"/>
              <a:gd name="T12" fmla="*/ 1068586 w 768"/>
              <a:gd name="T13" fmla="*/ 0 h 384"/>
              <a:gd name="T14" fmla="*/ 1068586 w 768"/>
              <a:gd name="T15" fmla="*/ 311150 h 384"/>
              <a:gd name="T16" fmla="*/ 1282304 w 768"/>
              <a:gd name="T17" fmla="*/ 311150 h 384"/>
              <a:gd name="T18" fmla="*/ 1282304 w 768"/>
              <a:gd name="T19" fmla="*/ 0 h 384"/>
              <a:gd name="T20" fmla="*/ 1496021 w 768"/>
              <a:gd name="T21" fmla="*/ 0 h 384"/>
              <a:gd name="T22" fmla="*/ 1496021 w 768"/>
              <a:gd name="T23" fmla="*/ 311150 h 384"/>
              <a:gd name="T24" fmla="*/ 1709738 w 768"/>
              <a:gd name="T25" fmla="*/ 311150 h 38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3" name="Freeform 33"/>
          <p:cNvSpPr>
            <a:spLocks noChangeArrowheads="1"/>
          </p:cNvSpPr>
          <p:nvPr/>
        </p:nvSpPr>
        <p:spPr bwMode="auto">
          <a:xfrm flipV="1">
            <a:off x="7167563" y="3887788"/>
            <a:ext cx="1709737" cy="622300"/>
          </a:xfrm>
          <a:custGeom>
            <a:avLst/>
            <a:gdLst>
              <a:gd name="T0" fmla="*/ 0 w 768"/>
              <a:gd name="T1" fmla="*/ 311150 h 384"/>
              <a:gd name="T2" fmla="*/ 0 w 768"/>
              <a:gd name="T3" fmla="*/ 622300 h 384"/>
              <a:gd name="T4" fmla="*/ 427434 w 768"/>
              <a:gd name="T5" fmla="*/ 622300 h 384"/>
              <a:gd name="T6" fmla="*/ 427434 w 768"/>
              <a:gd name="T7" fmla="*/ 311150 h 384"/>
              <a:gd name="T8" fmla="*/ 854869 w 768"/>
              <a:gd name="T9" fmla="*/ 311150 h 384"/>
              <a:gd name="T10" fmla="*/ 854869 w 768"/>
              <a:gd name="T11" fmla="*/ 0 h 384"/>
              <a:gd name="T12" fmla="*/ 1068586 w 768"/>
              <a:gd name="T13" fmla="*/ 0 h 384"/>
              <a:gd name="T14" fmla="*/ 1068586 w 768"/>
              <a:gd name="T15" fmla="*/ 311150 h 384"/>
              <a:gd name="T16" fmla="*/ 1282303 w 768"/>
              <a:gd name="T17" fmla="*/ 311150 h 384"/>
              <a:gd name="T18" fmla="*/ 1282303 w 768"/>
              <a:gd name="T19" fmla="*/ 0 h 384"/>
              <a:gd name="T20" fmla="*/ 1496020 w 768"/>
              <a:gd name="T21" fmla="*/ 0 h 384"/>
              <a:gd name="T22" fmla="*/ 1496020 w 768"/>
              <a:gd name="T23" fmla="*/ 311150 h 384"/>
              <a:gd name="T24" fmla="*/ 1709737 w 768"/>
              <a:gd name="T25" fmla="*/ 311150 h 384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CC00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4" name="Line 34"/>
          <p:cNvSpPr>
            <a:spLocks noChangeShapeType="1"/>
          </p:cNvSpPr>
          <p:nvPr/>
        </p:nvSpPr>
        <p:spPr bwMode="auto">
          <a:xfrm>
            <a:off x="3579813" y="4197350"/>
            <a:ext cx="5724525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35" name="Line 35"/>
          <p:cNvSpPr>
            <a:spLocks noChangeShapeType="1"/>
          </p:cNvSpPr>
          <p:nvPr/>
        </p:nvSpPr>
        <p:spPr bwMode="auto">
          <a:xfrm>
            <a:off x="3602038" y="1787525"/>
            <a:ext cx="5702300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36" name="Text Box 36"/>
          <p:cNvSpPr txBox="1">
            <a:spLocks noChangeArrowheads="1"/>
          </p:cNvSpPr>
          <p:nvPr/>
        </p:nvSpPr>
        <p:spPr bwMode="auto">
          <a:xfrm>
            <a:off x="6111875" y="1300163"/>
            <a:ext cx="32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72737" name="Text Box 37"/>
          <p:cNvSpPr txBox="1">
            <a:spLocks noChangeArrowheads="1"/>
          </p:cNvSpPr>
          <p:nvPr/>
        </p:nvSpPr>
        <p:spPr bwMode="auto">
          <a:xfrm>
            <a:off x="7826375" y="1300163"/>
            <a:ext cx="32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72738" name="Text Box 38"/>
          <p:cNvSpPr txBox="1">
            <a:spLocks noChangeArrowheads="1"/>
          </p:cNvSpPr>
          <p:nvPr/>
        </p:nvSpPr>
        <p:spPr bwMode="auto">
          <a:xfrm>
            <a:off x="9305925" y="1528763"/>
            <a:ext cx="269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t</a:t>
            </a:r>
          </a:p>
        </p:txBody>
      </p:sp>
      <p:sp>
        <p:nvSpPr>
          <p:cNvPr id="72739" name="Text Box 39"/>
          <p:cNvSpPr txBox="1">
            <a:spLocks noChangeArrowheads="1"/>
          </p:cNvSpPr>
          <p:nvPr/>
        </p:nvSpPr>
        <p:spPr bwMode="auto">
          <a:xfrm>
            <a:off x="9305925" y="2241550"/>
            <a:ext cx="269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t</a:t>
            </a:r>
          </a:p>
        </p:txBody>
      </p:sp>
      <p:sp>
        <p:nvSpPr>
          <p:cNvPr id="72740" name="Text Box 40"/>
          <p:cNvSpPr txBox="1">
            <a:spLocks noChangeArrowheads="1"/>
          </p:cNvSpPr>
          <p:nvPr/>
        </p:nvSpPr>
        <p:spPr bwMode="auto">
          <a:xfrm>
            <a:off x="9305925" y="3346450"/>
            <a:ext cx="269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t</a:t>
            </a:r>
          </a:p>
        </p:txBody>
      </p:sp>
      <p:sp>
        <p:nvSpPr>
          <p:cNvPr id="72741" name="Text Box 41"/>
          <p:cNvSpPr txBox="1">
            <a:spLocks noChangeArrowheads="1"/>
          </p:cNvSpPr>
          <p:nvPr/>
        </p:nvSpPr>
        <p:spPr bwMode="auto">
          <a:xfrm>
            <a:off x="9305925" y="3954463"/>
            <a:ext cx="269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t</a:t>
            </a:r>
          </a:p>
        </p:txBody>
      </p:sp>
      <p:sp>
        <p:nvSpPr>
          <p:cNvPr id="72742" name="Text Box 42"/>
          <p:cNvSpPr txBox="1">
            <a:spLocks noChangeArrowheads="1"/>
          </p:cNvSpPr>
          <p:nvPr/>
        </p:nvSpPr>
        <p:spPr bwMode="auto">
          <a:xfrm>
            <a:off x="9305925" y="4576763"/>
            <a:ext cx="269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t</a:t>
            </a:r>
          </a:p>
        </p:txBody>
      </p:sp>
      <p:sp>
        <p:nvSpPr>
          <p:cNvPr id="72743" name="Text Box 43"/>
          <p:cNvSpPr txBox="1">
            <a:spLocks noChangeArrowheads="1"/>
          </p:cNvSpPr>
          <p:nvPr/>
        </p:nvSpPr>
        <p:spPr bwMode="auto">
          <a:xfrm>
            <a:off x="9305925" y="5105400"/>
            <a:ext cx="269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t</a:t>
            </a:r>
          </a:p>
        </p:txBody>
      </p:sp>
      <p:sp>
        <p:nvSpPr>
          <p:cNvPr id="72744" name="Rectangle 44"/>
          <p:cNvSpPr>
            <a:spLocks noChangeArrowheads="1"/>
          </p:cNvSpPr>
          <p:nvPr/>
        </p:nvSpPr>
        <p:spPr bwMode="auto">
          <a:xfrm>
            <a:off x="4037013" y="1943100"/>
            <a:ext cx="1146175" cy="273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2745" name="Text Box 45"/>
          <p:cNvSpPr txBox="1">
            <a:spLocks noChangeArrowheads="1"/>
          </p:cNvSpPr>
          <p:nvPr/>
        </p:nvSpPr>
        <p:spPr bwMode="auto">
          <a:xfrm>
            <a:off x="4025900" y="1846263"/>
            <a:ext cx="1255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 i="1">
                <a:solidFill>
                  <a:srgbClr val="000099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个码片</a:t>
            </a:r>
          </a:p>
        </p:txBody>
      </p:sp>
      <p:sp>
        <p:nvSpPr>
          <p:cNvPr id="72746" name="Freeform 46"/>
          <p:cNvSpPr>
            <a:spLocks noChangeArrowheads="1"/>
          </p:cNvSpPr>
          <p:nvPr/>
        </p:nvSpPr>
        <p:spPr bwMode="auto">
          <a:xfrm>
            <a:off x="3748088" y="2870200"/>
            <a:ext cx="1709737" cy="317500"/>
          </a:xfrm>
          <a:custGeom>
            <a:avLst/>
            <a:gdLst>
              <a:gd name="T0" fmla="*/ 0 w 768"/>
              <a:gd name="T1" fmla="*/ 155510 h 196"/>
              <a:gd name="T2" fmla="*/ 0 w 768"/>
              <a:gd name="T3" fmla="*/ 317500 h 196"/>
              <a:gd name="T4" fmla="*/ 641151 w 768"/>
              <a:gd name="T5" fmla="*/ 311020 h 196"/>
              <a:gd name="T6" fmla="*/ 641151 w 768"/>
              <a:gd name="T7" fmla="*/ 0 h 196"/>
              <a:gd name="T8" fmla="*/ 1068586 w 768"/>
              <a:gd name="T9" fmla="*/ 0 h 196"/>
              <a:gd name="T10" fmla="*/ 1068586 w 768"/>
              <a:gd name="T11" fmla="*/ 311020 h 196"/>
              <a:gd name="T12" fmla="*/ 1282303 w 768"/>
              <a:gd name="T13" fmla="*/ 311020 h 196"/>
              <a:gd name="T14" fmla="*/ 1282303 w 768"/>
              <a:gd name="T15" fmla="*/ 0 h 196"/>
              <a:gd name="T16" fmla="*/ 1709737 w 768"/>
              <a:gd name="T17" fmla="*/ 0 h 196"/>
              <a:gd name="T18" fmla="*/ 1709737 w 768"/>
              <a:gd name="T19" fmla="*/ 155510 h 19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47" name="Freeform 47"/>
          <p:cNvSpPr>
            <a:spLocks noChangeArrowheads="1"/>
          </p:cNvSpPr>
          <p:nvPr/>
        </p:nvSpPr>
        <p:spPr bwMode="auto">
          <a:xfrm>
            <a:off x="5457825" y="2870200"/>
            <a:ext cx="1709738" cy="317500"/>
          </a:xfrm>
          <a:custGeom>
            <a:avLst/>
            <a:gdLst>
              <a:gd name="T0" fmla="*/ 0 w 768"/>
              <a:gd name="T1" fmla="*/ 155510 h 196"/>
              <a:gd name="T2" fmla="*/ 0 w 768"/>
              <a:gd name="T3" fmla="*/ 317500 h 196"/>
              <a:gd name="T4" fmla="*/ 641152 w 768"/>
              <a:gd name="T5" fmla="*/ 311020 h 196"/>
              <a:gd name="T6" fmla="*/ 641152 w 768"/>
              <a:gd name="T7" fmla="*/ 0 h 196"/>
              <a:gd name="T8" fmla="*/ 1068586 w 768"/>
              <a:gd name="T9" fmla="*/ 0 h 196"/>
              <a:gd name="T10" fmla="*/ 1068586 w 768"/>
              <a:gd name="T11" fmla="*/ 311020 h 196"/>
              <a:gd name="T12" fmla="*/ 1282304 w 768"/>
              <a:gd name="T13" fmla="*/ 311020 h 196"/>
              <a:gd name="T14" fmla="*/ 1282304 w 768"/>
              <a:gd name="T15" fmla="*/ 0 h 196"/>
              <a:gd name="T16" fmla="*/ 1709738 w 768"/>
              <a:gd name="T17" fmla="*/ 0 h 196"/>
              <a:gd name="T18" fmla="*/ 1709738 w 768"/>
              <a:gd name="T19" fmla="*/ 155510 h 19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48" name="Freeform 48"/>
          <p:cNvSpPr>
            <a:spLocks noChangeArrowheads="1"/>
          </p:cNvSpPr>
          <p:nvPr/>
        </p:nvSpPr>
        <p:spPr bwMode="auto">
          <a:xfrm flipV="1">
            <a:off x="7167563" y="2870200"/>
            <a:ext cx="1709737" cy="317500"/>
          </a:xfrm>
          <a:custGeom>
            <a:avLst/>
            <a:gdLst>
              <a:gd name="T0" fmla="*/ 0 w 768"/>
              <a:gd name="T1" fmla="*/ 155510 h 196"/>
              <a:gd name="T2" fmla="*/ 0 w 768"/>
              <a:gd name="T3" fmla="*/ 317500 h 196"/>
              <a:gd name="T4" fmla="*/ 641151 w 768"/>
              <a:gd name="T5" fmla="*/ 311020 h 196"/>
              <a:gd name="T6" fmla="*/ 641151 w 768"/>
              <a:gd name="T7" fmla="*/ 0 h 196"/>
              <a:gd name="T8" fmla="*/ 1068586 w 768"/>
              <a:gd name="T9" fmla="*/ 0 h 196"/>
              <a:gd name="T10" fmla="*/ 1068586 w 768"/>
              <a:gd name="T11" fmla="*/ 311020 h 196"/>
              <a:gd name="T12" fmla="*/ 1282303 w 768"/>
              <a:gd name="T13" fmla="*/ 311020 h 196"/>
              <a:gd name="T14" fmla="*/ 1282303 w 768"/>
              <a:gd name="T15" fmla="*/ 0 h 196"/>
              <a:gd name="T16" fmla="*/ 1709737 w 768"/>
              <a:gd name="T17" fmla="*/ 0 h 196"/>
              <a:gd name="T18" fmla="*/ 1709737 w 768"/>
              <a:gd name="T19" fmla="*/ 155510 h 19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rgbClr val="FF66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49" name="Line 49"/>
          <p:cNvSpPr>
            <a:spLocks noChangeShapeType="1"/>
          </p:cNvSpPr>
          <p:nvPr/>
        </p:nvSpPr>
        <p:spPr bwMode="auto">
          <a:xfrm flipV="1">
            <a:off x="3579813" y="3025775"/>
            <a:ext cx="5724525" cy="635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50" name="Text Box 50"/>
          <p:cNvSpPr txBox="1">
            <a:spLocks noChangeArrowheads="1"/>
          </p:cNvSpPr>
          <p:nvPr/>
        </p:nvSpPr>
        <p:spPr bwMode="auto">
          <a:xfrm>
            <a:off x="9305925" y="2778125"/>
            <a:ext cx="269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t</a:t>
            </a:r>
          </a:p>
        </p:txBody>
      </p:sp>
      <p:sp>
        <p:nvSpPr>
          <p:cNvPr id="72751" name="Freeform 51"/>
          <p:cNvSpPr>
            <a:spLocks noChangeArrowheads="1"/>
          </p:cNvSpPr>
          <p:nvPr/>
        </p:nvSpPr>
        <p:spPr bwMode="auto">
          <a:xfrm>
            <a:off x="7172325" y="2330450"/>
            <a:ext cx="1709738" cy="319088"/>
          </a:xfrm>
          <a:custGeom>
            <a:avLst/>
            <a:gdLst>
              <a:gd name="T0" fmla="*/ 0 w 768"/>
              <a:gd name="T1" fmla="*/ 156288 h 196"/>
              <a:gd name="T2" fmla="*/ 0 w 768"/>
              <a:gd name="T3" fmla="*/ 319088 h 196"/>
              <a:gd name="T4" fmla="*/ 641152 w 768"/>
              <a:gd name="T5" fmla="*/ 312576 h 196"/>
              <a:gd name="T6" fmla="*/ 641152 w 768"/>
              <a:gd name="T7" fmla="*/ 0 h 196"/>
              <a:gd name="T8" fmla="*/ 1068586 w 768"/>
              <a:gd name="T9" fmla="*/ 0 h 196"/>
              <a:gd name="T10" fmla="*/ 1068586 w 768"/>
              <a:gd name="T11" fmla="*/ 312576 h 196"/>
              <a:gd name="T12" fmla="*/ 1282304 w 768"/>
              <a:gd name="T13" fmla="*/ 312576 h 196"/>
              <a:gd name="T14" fmla="*/ 1282304 w 768"/>
              <a:gd name="T15" fmla="*/ 0 h 196"/>
              <a:gd name="T16" fmla="*/ 1709738 w 768"/>
              <a:gd name="T17" fmla="*/ 0 h 196"/>
              <a:gd name="T18" fmla="*/ 1709738 w 768"/>
              <a:gd name="T19" fmla="*/ 156288 h 19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52" name="Line 52"/>
          <p:cNvSpPr>
            <a:spLocks noChangeShapeType="1"/>
          </p:cNvSpPr>
          <p:nvPr/>
        </p:nvSpPr>
        <p:spPr bwMode="auto">
          <a:xfrm>
            <a:off x="3602038" y="2487613"/>
            <a:ext cx="5702300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53" name="Text Box 53"/>
          <p:cNvSpPr txBox="1">
            <a:spLocks noChangeArrowheads="1"/>
          </p:cNvSpPr>
          <p:nvPr/>
        </p:nvSpPr>
        <p:spPr bwMode="auto">
          <a:xfrm>
            <a:off x="1182688" y="2765425"/>
            <a:ext cx="2311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S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站发送的信号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S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72754" name="Text Box 54"/>
          <p:cNvSpPr txBox="1">
            <a:spLocks noChangeArrowheads="1"/>
          </p:cNvSpPr>
          <p:nvPr/>
        </p:nvSpPr>
        <p:spPr bwMode="auto">
          <a:xfrm>
            <a:off x="1182688" y="3316288"/>
            <a:ext cx="2282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T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站发送的信号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T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72755" name="Text Box 55"/>
          <p:cNvSpPr txBox="1">
            <a:spLocks noChangeArrowheads="1"/>
          </p:cNvSpPr>
          <p:nvPr/>
        </p:nvSpPr>
        <p:spPr bwMode="auto">
          <a:xfrm>
            <a:off x="871538" y="3954463"/>
            <a:ext cx="26114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总的发送信号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S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+ T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72756" name="Text Box 56"/>
          <p:cNvSpPr txBox="1">
            <a:spLocks noChangeArrowheads="1"/>
          </p:cNvSpPr>
          <p:nvPr/>
        </p:nvSpPr>
        <p:spPr bwMode="auto">
          <a:xfrm>
            <a:off x="1260475" y="4575175"/>
            <a:ext cx="2239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规格化内积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S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S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72757" name="Text Box 57"/>
          <p:cNvSpPr txBox="1">
            <a:spLocks noChangeArrowheads="1"/>
          </p:cNvSpPr>
          <p:nvPr/>
        </p:nvSpPr>
        <p:spPr bwMode="auto">
          <a:xfrm>
            <a:off x="1260475" y="5106988"/>
            <a:ext cx="2225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规格化内积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S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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T</a:t>
            </a:r>
            <a:r>
              <a:rPr lang="en-US" altLang="zh-CN" sz="20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72758" name="Line 58"/>
          <p:cNvSpPr>
            <a:spLocks noChangeShapeType="1"/>
          </p:cNvSpPr>
          <p:nvPr/>
        </p:nvSpPr>
        <p:spPr bwMode="auto">
          <a:xfrm flipV="1">
            <a:off x="3602038" y="4821238"/>
            <a:ext cx="5659437" cy="1587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59" name="Text Box 59"/>
          <p:cNvSpPr txBox="1">
            <a:spLocks noChangeArrowheads="1"/>
          </p:cNvSpPr>
          <p:nvPr/>
        </p:nvSpPr>
        <p:spPr bwMode="auto">
          <a:xfrm>
            <a:off x="1657350" y="1436688"/>
            <a:ext cx="1733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数据码元比特</a:t>
            </a:r>
          </a:p>
        </p:txBody>
      </p:sp>
      <p:sp>
        <p:nvSpPr>
          <p:cNvPr id="72760" name="Text Box 60"/>
          <p:cNvSpPr txBox="1">
            <a:spLocks noChangeArrowheads="1"/>
          </p:cNvSpPr>
          <p:nvPr/>
        </p:nvSpPr>
        <p:spPr bwMode="auto">
          <a:xfrm>
            <a:off x="396875" y="2524125"/>
            <a:ext cx="4429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发</a:t>
            </a:r>
          </a:p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送</a:t>
            </a:r>
          </a:p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端</a:t>
            </a:r>
          </a:p>
        </p:txBody>
      </p:sp>
      <p:sp>
        <p:nvSpPr>
          <p:cNvPr id="72761" name="Text Box 61"/>
          <p:cNvSpPr txBox="1">
            <a:spLocks noChangeArrowheads="1"/>
          </p:cNvSpPr>
          <p:nvPr/>
        </p:nvSpPr>
        <p:spPr bwMode="auto">
          <a:xfrm>
            <a:off x="550863" y="4540250"/>
            <a:ext cx="4429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接</a:t>
            </a:r>
          </a:p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收</a:t>
            </a:r>
          </a:p>
          <a:p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端</a:t>
            </a:r>
          </a:p>
        </p:txBody>
      </p:sp>
      <p:sp>
        <p:nvSpPr>
          <p:cNvPr id="72762" name="AutoShape 62"/>
          <p:cNvSpPr>
            <a:spLocks/>
          </p:cNvSpPr>
          <p:nvPr/>
        </p:nvSpPr>
        <p:spPr bwMode="auto">
          <a:xfrm>
            <a:off x="871538" y="1516063"/>
            <a:ext cx="155575" cy="3024187"/>
          </a:xfrm>
          <a:prstGeom prst="leftBracket">
            <a:avLst>
              <a:gd name="adj" fmla="val 175489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2763" name="AutoShape 63"/>
          <p:cNvSpPr>
            <a:spLocks/>
          </p:cNvSpPr>
          <p:nvPr/>
        </p:nvSpPr>
        <p:spPr bwMode="auto">
          <a:xfrm>
            <a:off x="1104900" y="4684713"/>
            <a:ext cx="84138" cy="792162"/>
          </a:xfrm>
          <a:prstGeom prst="leftBracket">
            <a:avLst>
              <a:gd name="adj" fmla="val 8499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276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93188C-6520-43B4-B8CB-F9D5B1FDF13A}" type="slidenum">
              <a:rPr altLang="en-US" smtClean="0"/>
              <a:pPr/>
              <a:t>17</a:t>
            </a:fld>
            <a:endParaRPr lang="zh-CN" altLang="zh-CN" smtClean="0"/>
          </a:p>
        </p:txBody>
      </p:sp>
      <p:sp>
        <p:nvSpPr>
          <p:cNvPr id="72765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mtClean="0"/>
              <a:t>ppt</a:t>
            </a:r>
            <a:r>
              <a:rPr lang="zh-CN" altLang="zh-CN" smtClean="0"/>
              <a:t>课件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2.5  </a:t>
            </a:r>
            <a:r>
              <a:rPr lang="zh-CN" altLang="en-US" dirty="0" smtClean="0">
                <a:ea typeface="黑体" panose="02010609060101010101" pitchFamily="49" charset="-122"/>
              </a:rPr>
              <a:t>数字传输系统</a:t>
            </a:r>
            <a:endParaRPr lang="zh-CN" altLang="en-US" sz="4800" dirty="0" smtClean="0">
              <a:ea typeface="黑体" panose="02010609060101010101" pitchFamily="49" charset="-122"/>
            </a:endParaRPr>
          </a:p>
        </p:txBody>
      </p:sp>
      <p:sp>
        <p:nvSpPr>
          <p:cNvPr id="36454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dirty="0" smtClean="0">
                <a:ea typeface="黑体" panose="02010609060101010101" pitchFamily="49" charset="-122"/>
              </a:rPr>
              <a:t>在早期电话网中，从市话局到用户电话机的用户线是采用最廉价的双绞线电缆，而长途干线采用的是频分复用</a:t>
            </a:r>
            <a:r>
              <a:rPr lang="en-US" altLang="zh-CN" sz="2800" dirty="0" smtClean="0">
                <a:ea typeface="黑体" panose="02010609060101010101" pitchFamily="49" charset="-122"/>
              </a:rPr>
              <a:t> FDM </a:t>
            </a:r>
            <a:r>
              <a:rPr lang="zh-CN" altLang="zh-CN" sz="2800" dirty="0" smtClean="0">
                <a:ea typeface="黑体" panose="02010609060101010101" pitchFamily="49" charset="-122"/>
              </a:rPr>
              <a:t>的模拟传输方式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与模拟通信相比，数字通信无论是</a:t>
            </a:r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在</a:t>
            </a:r>
            <a:r>
              <a:rPr lang="zh-CN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传输质量上还是经济上都有明显的优势</a:t>
            </a:r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solidFill>
                <a:srgbClr val="0000CC"/>
              </a:solidFill>
              <a:ea typeface="黑体" panose="02010609060101010101" pitchFamily="49" charset="-122"/>
            </a:endParaRPr>
          </a:p>
          <a:p>
            <a:r>
              <a:rPr lang="zh-CN" altLang="zh-CN" sz="2800" dirty="0" smtClean="0">
                <a:ea typeface="黑体" panose="02010609060101010101" pitchFamily="49" charset="-122"/>
              </a:rPr>
              <a:t>目前，长途干线大都采用时分复用</a:t>
            </a:r>
            <a:r>
              <a:rPr lang="en-US" altLang="zh-CN" sz="2800" dirty="0" smtClean="0">
                <a:ea typeface="黑体" panose="02010609060101010101" pitchFamily="49" charset="-122"/>
              </a:rPr>
              <a:t> PCM </a:t>
            </a:r>
            <a:r>
              <a:rPr lang="zh-CN" altLang="zh-CN" sz="2800" dirty="0" smtClean="0">
                <a:ea typeface="黑体" panose="02010609060101010101" pitchFamily="49" charset="-122"/>
              </a:rPr>
              <a:t>的数字传输方式。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脉码调制 </a:t>
            </a:r>
            <a:r>
              <a:rPr lang="en-US" altLang="zh-CN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PCM </a:t>
            </a:r>
            <a:r>
              <a:rPr lang="zh-CN" altLang="en-US" sz="2800" dirty="0" smtClean="0">
                <a:ea typeface="黑体" panose="02010609060101010101" pitchFamily="49" charset="-122"/>
              </a:rPr>
              <a:t>体制最初是为了在电话局之间的中继线上传送多路的电话。</a:t>
            </a:r>
          </a:p>
        </p:txBody>
      </p:sp>
      <p:sp>
        <p:nvSpPr>
          <p:cNvPr id="36454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66E8B0E-8AF8-4E18-ADBA-95B31D1AF6E3}" type="slidenum">
              <a:rPr lang="zh-CN" altLang="en-US" smtClean="0"/>
              <a:pPr eaLnBrk="1" hangingPunct="1"/>
              <a:t>18</a:t>
            </a:fld>
            <a:endParaRPr lang="en-US" altLang="zh-CN" smtClean="0"/>
          </a:p>
        </p:txBody>
      </p:sp>
      <p:sp>
        <p:nvSpPr>
          <p:cNvPr id="36454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1035054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561818" y="136525"/>
            <a:ext cx="7772400" cy="85725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dirty="0" smtClean="0">
                <a:ea typeface="黑体" panose="02010609060101010101" pitchFamily="49" charset="-122"/>
              </a:rPr>
              <a:t>补充</a:t>
            </a:r>
            <a:r>
              <a:rPr lang="en-US" altLang="zh-CN" dirty="0" smtClean="0">
                <a:ea typeface="黑体" panose="02010609060101010101" pitchFamily="49" charset="-122"/>
              </a:rPr>
              <a:t>  </a:t>
            </a:r>
            <a:r>
              <a:rPr lang="zh-CN" altLang="zh-CN" dirty="0" smtClean="0">
                <a:ea typeface="黑体" panose="02010609060101010101" pitchFamily="49" charset="-122"/>
              </a:rPr>
              <a:t>脉冲编码调制</a:t>
            </a:r>
            <a:r>
              <a:rPr lang="en-US" altLang="zh-CN" dirty="0" smtClean="0">
                <a:ea typeface="黑体" panose="02010609060101010101" pitchFamily="49" charset="-122"/>
              </a:rPr>
              <a:t>PCM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7" name="内容占位符 16"/>
          <p:cNvSpPr>
            <a:spLocks noGrp="1"/>
          </p:cNvSpPr>
          <p:nvPr>
            <p:ph idx="1"/>
          </p:nvPr>
        </p:nvSpPr>
        <p:spPr>
          <a:xfrm>
            <a:off x="706439" y="1279525"/>
            <a:ext cx="8639175" cy="43957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脉冲编码调制</a:t>
            </a:r>
            <a:r>
              <a:rPr lang="en-US" altLang="zh-CN" sz="2800" u="sng" dirty="0">
                <a:solidFill>
                  <a:srgbClr val="FF0000"/>
                </a:solidFill>
                <a:ea typeface="黑体" panose="02010609060101010101" pitchFamily="49" charset="-122"/>
              </a:rPr>
              <a:t>PCM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</a:rPr>
              <a:t>(Pulse Code Modulation)</a:t>
            </a:r>
            <a:r>
              <a:rPr lang="zh-CN" altLang="en-US" sz="2800" dirty="0">
                <a:ea typeface="黑体" panose="02010609060101010101" pitchFamily="49" charset="-122"/>
              </a:rPr>
              <a:t>：</a:t>
            </a: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rPr>
              <a:t>模拟数据数字化</a:t>
            </a:r>
            <a:r>
              <a:rPr lang="zh-CN" altLang="en-US" sz="2800" dirty="0">
                <a:ea typeface="黑体" panose="02010609060101010101" pitchFamily="49" charset="-122"/>
              </a:rPr>
              <a:t>的主要方法，</a:t>
            </a:r>
            <a:r>
              <a:rPr lang="zh-CN" altLang="zh-CN" sz="2800" dirty="0">
                <a:ea typeface="黑体" panose="02010609060101010101" pitchFamily="49" charset="-122"/>
              </a:rPr>
              <a:t>典型应用是语音信号的数字化。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dirty="0">
                <a:ea typeface="黑体" panose="02010609060101010101" pitchFamily="49" charset="-122"/>
              </a:rPr>
              <a:t>模拟语音信号</a:t>
            </a:r>
            <a:r>
              <a:rPr lang="en-US" altLang="zh-CN" sz="2800" dirty="0">
                <a:ea typeface="黑体" panose="02010609060101010101" pitchFamily="49" charset="-122"/>
              </a:rPr>
              <a:t>-》</a:t>
            </a:r>
            <a:r>
              <a:rPr lang="zh-CN" altLang="en-US" sz="2800" dirty="0">
                <a:ea typeface="黑体" panose="02010609060101010101" pitchFamily="49" charset="-122"/>
              </a:rPr>
              <a:t>发送端</a:t>
            </a:r>
            <a:r>
              <a:rPr lang="en-US" altLang="zh-CN" sz="2800" dirty="0">
                <a:ea typeface="黑体" panose="02010609060101010101" pitchFamily="49" charset="-122"/>
              </a:rPr>
              <a:t>-》</a:t>
            </a:r>
            <a:r>
              <a:rPr lang="zh-CN" altLang="en-US" sz="2800" dirty="0">
                <a:ea typeface="黑体" panose="02010609060101010101" pitchFamily="49" charset="-122"/>
              </a:rPr>
              <a:t>数字信号</a:t>
            </a:r>
            <a:r>
              <a:rPr lang="en-US" altLang="zh-CN" sz="2800" dirty="0">
                <a:ea typeface="黑体" panose="02010609060101010101" pitchFamily="49" charset="-122"/>
              </a:rPr>
              <a:t>-》</a:t>
            </a:r>
            <a:r>
              <a:rPr lang="zh-CN" altLang="en-US" sz="2800" dirty="0">
                <a:ea typeface="黑体" panose="02010609060101010101" pitchFamily="49" charset="-122"/>
              </a:rPr>
              <a:t>接收端</a:t>
            </a:r>
            <a:r>
              <a:rPr lang="en-US" altLang="zh-CN" sz="2800" dirty="0">
                <a:ea typeface="黑体" panose="02010609060101010101" pitchFamily="49" charset="-122"/>
              </a:rPr>
              <a:t>-》</a:t>
            </a:r>
            <a:r>
              <a:rPr lang="zh-CN" altLang="en-US" sz="2800" dirty="0">
                <a:ea typeface="黑体" panose="02010609060101010101" pitchFamily="49" charset="-122"/>
              </a:rPr>
              <a:t>模拟语音信号</a:t>
            </a:r>
            <a:endParaRPr lang="en-US" altLang="zh-CN" sz="2800" dirty="0"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dirty="0">
                <a:ea typeface="黑体" panose="02010609060101010101" pitchFamily="49" charset="-122"/>
              </a:rPr>
              <a:t>          </a:t>
            </a:r>
            <a:r>
              <a:rPr lang="en-US" altLang="zh-CN" sz="2800" dirty="0" smtClean="0">
                <a:ea typeface="黑体" panose="02010609060101010101" pitchFamily="49" charset="-122"/>
              </a:rPr>
              <a:t>               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</a:rPr>
              <a:t>PCM</a:t>
            </a:r>
            <a:r>
              <a:rPr lang="zh-CN" altLang="en-US" sz="2800" dirty="0">
                <a:solidFill>
                  <a:srgbClr val="0000CC"/>
                </a:solidFill>
                <a:ea typeface="黑体" panose="02010609060101010101" pitchFamily="49" charset="-122"/>
              </a:rPr>
              <a:t>编码器            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</a:rPr>
              <a:t>PCM</a:t>
            </a:r>
            <a:r>
              <a:rPr lang="zh-CN" altLang="en-US" sz="2800" dirty="0">
                <a:solidFill>
                  <a:srgbClr val="0000CC"/>
                </a:solidFill>
                <a:ea typeface="黑体" panose="02010609060101010101" pitchFamily="49" charset="-122"/>
              </a:rPr>
              <a:t>解码器</a:t>
            </a:r>
          </a:p>
          <a:p>
            <a:r>
              <a:rPr lang="zh-CN" altLang="en-US" sz="2800" dirty="0">
                <a:ea typeface="黑体" panose="02010609060101010101" pitchFamily="49" charset="-122"/>
              </a:rPr>
              <a:t>          </a:t>
            </a:r>
          </a:p>
        </p:txBody>
      </p:sp>
      <p:sp>
        <p:nvSpPr>
          <p:cNvPr id="5427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4F6B2A-D39E-4E2A-90EC-A653AF16F479}" type="slidenum">
              <a:rPr lang="zh-CN" altLang="en-US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/>
          </a:p>
        </p:txBody>
      </p:sp>
      <p:sp>
        <p:nvSpPr>
          <p:cNvPr id="54278" name="Rectangle 2"/>
          <p:cNvSpPr>
            <a:spLocks noChangeArrowheads="1"/>
          </p:cNvSpPr>
          <p:nvPr/>
        </p:nvSpPr>
        <p:spPr bwMode="auto">
          <a:xfrm>
            <a:off x="381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accent2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aphicFrame>
        <p:nvGraphicFramePr>
          <p:cNvPr id="54279" name="Object 1" descr="蓝色面巾纸"/>
          <p:cNvGraphicFramePr>
            <a:graphicFrameLocks noChangeAspect="1"/>
          </p:cNvGraphicFramePr>
          <p:nvPr>
            <p:extLst/>
          </p:nvPr>
        </p:nvGraphicFramePr>
        <p:xfrm>
          <a:off x="706439" y="4221162"/>
          <a:ext cx="8497887" cy="259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" name="Visio" r:id="rId3" imgW="4812873" imgH="1474551" progId="Visio.Drawing.11">
                  <p:embed/>
                </p:oleObj>
              </mc:Choice>
              <mc:Fallback>
                <p:oleObj name="Visio" r:id="rId3" imgW="4812873" imgH="1474551" progId="Visio.Drawing.11">
                  <p:embed/>
                  <p:pic>
                    <p:nvPicPr>
                      <p:cNvPr id="54279" name="Object 1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39" y="4221162"/>
                        <a:ext cx="8497887" cy="2592388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461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561818" y="1198529"/>
            <a:ext cx="7989887" cy="137953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buClr>
                <a:srgbClr val="333399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zh-CN" sz="2800" dirty="0" smtClean="0">
                <a:solidFill>
                  <a:schemeClr val="tx1"/>
                </a:solidFill>
                <a:ea typeface="黑体" panose="02010609060101010101" pitchFamily="49" charset="-122"/>
                <a:cs typeface="+mn-cs"/>
              </a:rPr>
              <a:t>脉冲编码调制</a:t>
            </a:r>
            <a:r>
              <a:rPr lang="zh-CN" altLang="zh-CN" sz="2800" dirty="0">
                <a:solidFill>
                  <a:schemeClr val="tx1"/>
                </a:solidFill>
                <a:ea typeface="黑体" panose="02010609060101010101" pitchFamily="49" charset="-122"/>
                <a:cs typeface="+mn-cs"/>
              </a:rPr>
              <a:t>的工作过程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  <a:cs typeface="+mn-cs"/>
              </a:rPr>
              <a:t>：</a:t>
            </a:r>
            <a:r>
              <a:rPr lang="zh-CN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+mn-cs"/>
              </a:rPr>
              <a:t>采样</a:t>
            </a:r>
            <a:r>
              <a:rPr lang="zh-CN" altLang="zh-CN" sz="2800" dirty="0">
                <a:solidFill>
                  <a:schemeClr val="tx1"/>
                </a:solidFill>
                <a:ea typeface="黑体" panose="02010609060101010101" pitchFamily="49" charset="-122"/>
                <a:cs typeface="+mn-cs"/>
              </a:rPr>
              <a:t>、</a:t>
            </a:r>
            <a:r>
              <a:rPr lang="zh-CN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+mn-cs"/>
              </a:rPr>
              <a:t>量化</a:t>
            </a:r>
            <a:r>
              <a:rPr lang="zh-CN" altLang="zh-CN" sz="2800" dirty="0">
                <a:solidFill>
                  <a:schemeClr val="tx1"/>
                </a:solidFill>
                <a:ea typeface="黑体" panose="02010609060101010101" pitchFamily="49" charset="-122"/>
                <a:cs typeface="+mn-cs"/>
              </a:rPr>
              <a:t>与</a:t>
            </a:r>
            <a:r>
              <a:rPr lang="zh-CN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+mn-cs"/>
              </a:rPr>
              <a:t>编码</a:t>
            </a:r>
            <a:endParaRPr lang="zh-CN" altLang="en-US" sz="2800" dirty="0">
              <a:solidFill>
                <a:srgbClr val="0000CC"/>
              </a:solidFill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内容占位符 16"/>
          <p:cNvSpPr>
            <a:spLocks noGrp="1"/>
          </p:cNvSpPr>
          <p:nvPr>
            <p:ph idx="1"/>
          </p:nvPr>
        </p:nvSpPr>
        <p:spPr>
          <a:xfrm>
            <a:off x="1101725" y="2067686"/>
            <a:ext cx="7772400" cy="43957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altLang="zh-CN" sz="2200" dirty="0">
                <a:ea typeface="黑体" panose="02010609060101010101" pitchFamily="49" charset="-122"/>
              </a:rPr>
              <a:t>                                                      </a:t>
            </a:r>
            <a:r>
              <a:rPr lang="zh-CN" altLang="en-US" sz="2200" dirty="0"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ea typeface="黑体" panose="02010609060101010101" pitchFamily="49" charset="-122"/>
              </a:rPr>
              <a:t>1</a:t>
            </a:r>
            <a:r>
              <a:rPr lang="zh-CN" altLang="en-US" sz="2200" dirty="0">
                <a:ea typeface="黑体" panose="02010609060101010101" pitchFamily="49" charset="-122"/>
              </a:rPr>
              <a:t>）</a:t>
            </a:r>
            <a:r>
              <a:rPr lang="zh-CN" altLang="en-US" sz="2200" dirty="0">
                <a:solidFill>
                  <a:srgbClr val="0000CC"/>
                </a:solidFill>
                <a:ea typeface="黑体" panose="02010609060101010101" pitchFamily="49" charset="-122"/>
              </a:rPr>
              <a:t>采样</a:t>
            </a:r>
            <a:r>
              <a:rPr lang="zh-CN" altLang="en-US" sz="2200" dirty="0">
                <a:ea typeface="黑体" panose="02010609060101010101" pitchFamily="49" charset="-122"/>
              </a:rPr>
              <a:t>：</a:t>
            </a:r>
            <a:endParaRPr lang="en-US" altLang="zh-CN" sz="2200" dirty="0"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sz="2200" dirty="0">
                <a:ea typeface="黑体" panose="02010609060101010101" pitchFamily="49" charset="-122"/>
              </a:rPr>
              <a:t>                                                        </a:t>
            </a:r>
            <a:r>
              <a:rPr lang="zh-CN" altLang="en-US" sz="2200" dirty="0">
                <a:ea typeface="黑体" panose="02010609060101010101" pitchFamily="49" charset="-122"/>
              </a:rPr>
              <a:t>隔一定时间间隔将电平连续                                               变化的模拟信号电平幅度</a:t>
            </a:r>
            <a:endParaRPr lang="en-US" altLang="zh-CN" sz="2200" dirty="0"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sz="2200" dirty="0">
                <a:ea typeface="黑体" panose="02010609060101010101" pitchFamily="49" charset="-122"/>
              </a:rPr>
              <a:t>                                                        </a:t>
            </a:r>
            <a:r>
              <a:rPr lang="zh-CN" altLang="en-US" sz="2200" dirty="0">
                <a:ea typeface="黑体" panose="02010609060101010101" pitchFamily="49" charset="-122"/>
              </a:rPr>
              <a:t>取出作为测量幅度样本。</a:t>
            </a:r>
            <a:endParaRPr lang="en-US" altLang="zh-CN" sz="2200" dirty="0">
              <a:ea typeface="黑体" panose="02010609060101010101" pitchFamily="49" charset="-122"/>
            </a:endParaRPr>
          </a:p>
          <a:p>
            <a:pPr>
              <a:buNone/>
            </a:pPr>
            <a:endParaRPr lang="en-US" altLang="zh-CN" sz="2200" dirty="0">
              <a:ea typeface="黑体" panose="02010609060101010101" pitchFamily="49" charset="-122"/>
            </a:endParaRPr>
          </a:p>
          <a:p>
            <a:pPr>
              <a:buNone/>
            </a:pPr>
            <a:endParaRPr lang="en-US" altLang="zh-CN" sz="2200" dirty="0"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2200" dirty="0"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ea typeface="黑体" panose="02010609060101010101" pitchFamily="49" charset="-122"/>
              </a:rPr>
              <a:t>2</a:t>
            </a:r>
            <a:r>
              <a:rPr lang="zh-CN" altLang="en-US" sz="2200" dirty="0">
                <a:ea typeface="黑体" panose="02010609060101010101" pitchFamily="49" charset="-122"/>
              </a:rPr>
              <a:t>）</a:t>
            </a:r>
            <a:r>
              <a:rPr lang="zh-CN" altLang="en-US" sz="2200" dirty="0">
                <a:solidFill>
                  <a:srgbClr val="0000CC"/>
                </a:solidFill>
                <a:ea typeface="黑体" panose="02010609060101010101" pitchFamily="49" charset="-122"/>
              </a:rPr>
              <a:t>量化</a:t>
            </a:r>
            <a:r>
              <a:rPr lang="zh-CN" altLang="en-US" sz="2200" dirty="0">
                <a:ea typeface="黑体" panose="02010609060101010101" pitchFamily="49" charset="-122"/>
              </a:rPr>
              <a:t>：将样本幅度按量</a:t>
            </a:r>
            <a:endParaRPr lang="en-US" altLang="zh-CN" sz="2200" dirty="0"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2200" dirty="0">
                <a:ea typeface="黑体" panose="02010609060101010101" pitchFamily="49" charset="-122"/>
              </a:rPr>
              <a:t>化级取值的过程。</a:t>
            </a:r>
            <a:endParaRPr lang="en-US" altLang="zh-CN" sz="2200" dirty="0"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2200" dirty="0">
                <a:ea typeface="黑体" panose="02010609060101010101" pitchFamily="49" charset="-122"/>
              </a:rPr>
              <a:t>（</a:t>
            </a:r>
            <a:r>
              <a:rPr lang="en-US" altLang="zh-CN" sz="2200" dirty="0">
                <a:ea typeface="黑体" panose="02010609060101010101" pitchFamily="49" charset="-122"/>
              </a:rPr>
              <a:t>3</a:t>
            </a:r>
            <a:r>
              <a:rPr lang="zh-CN" altLang="en-US" sz="2200" dirty="0">
                <a:ea typeface="黑体" panose="02010609060101010101" pitchFamily="49" charset="-122"/>
              </a:rPr>
              <a:t>）</a:t>
            </a:r>
            <a:r>
              <a:rPr lang="zh-CN" altLang="en-US" sz="2200" dirty="0">
                <a:solidFill>
                  <a:srgbClr val="0000CC"/>
                </a:solidFill>
                <a:ea typeface="黑体" panose="02010609060101010101" pitchFamily="49" charset="-122"/>
              </a:rPr>
              <a:t>编码</a:t>
            </a:r>
            <a:r>
              <a:rPr lang="zh-CN" altLang="en-US" sz="2200" dirty="0">
                <a:ea typeface="黑体" panose="02010609060101010101" pitchFamily="49" charset="-122"/>
              </a:rPr>
              <a:t>：用相应二进制代</a:t>
            </a:r>
            <a:endParaRPr lang="en-US" altLang="zh-CN" sz="2200" dirty="0"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2200" dirty="0">
                <a:ea typeface="黑体" panose="02010609060101010101" pitchFamily="49" charset="-122"/>
              </a:rPr>
              <a:t>码表示量化后的样本量级。</a:t>
            </a:r>
            <a:r>
              <a:rPr lang="en-US" altLang="zh-CN" sz="2200" dirty="0">
                <a:ea typeface="黑体" panose="02010609060101010101" pitchFamily="49" charset="-122"/>
              </a:rPr>
              <a:t>                                           </a:t>
            </a:r>
            <a:endParaRPr lang="zh-CN" altLang="en-US" sz="2200" dirty="0">
              <a:ea typeface="黑体" panose="02010609060101010101" pitchFamily="49" charset="-122"/>
            </a:endParaRPr>
          </a:p>
        </p:txBody>
      </p:sp>
      <p:sp>
        <p:nvSpPr>
          <p:cNvPr id="5530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99300" y="6572100"/>
            <a:ext cx="2311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6E95BB-B0D3-4843-B82D-837EBF79044F}" type="slidenum">
              <a:rPr lang="zh-CN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/>
          </a:p>
        </p:txBody>
      </p:sp>
      <p:sp>
        <p:nvSpPr>
          <p:cNvPr id="55302" name="Rectangle 2"/>
          <p:cNvSpPr>
            <a:spLocks noChangeArrowheads="1"/>
          </p:cNvSpPr>
          <p:nvPr/>
        </p:nvSpPr>
        <p:spPr bwMode="auto">
          <a:xfrm>
            <a:off x="381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accent2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aphicFrame>
        <p:nvGraphicFramePr>
          <p:cNvPr id="55303" name="Object 1" descr="蓝色面巾纸"/>
          <p:cNvGraphicFramePr>
            <a:graphicFrameLocks noChangeAspect="1"/>
          </p:cNvGraphicFramePr>
          <p:nvPr>
            <p:extLst/>
          </p:nvPr>
        </p:nvGraphicFramePr>
        <p:xfrm>
          <a:off x="993775" y="1916874"/>
          <a:ext cx="4319588" cy="270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0" name="Visio" r:id="rId3" imgW="2694778" imgH="1723126" progId="Visio.Drawing.11">
                  <p:embed/>
                </p:oleObj>
              </mc:Choice>
              <mc:Fallback>
                <p:oleObj name="Visio" r:id="rId3" imgW="2694778" imgH="1723126" progId="Visio.Drawing.11">
                  <p:embed/>
                  <p:pic>
                    <p:nvPicPr>
                      <p:cNvPr id="55303" name="Object 1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1916874"/>
                        <a:ext cx="4319588" cy="2709862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4" name="Rectangle 4"/>
          <p:cNvSpPr>
            <a:spLocks noChangeArrowheads="1"/>
          </p:cNvSpPr>
          <p:nvPr/>
        </p:nvSpPr>
        <p:spPr bwMode="auto">
          <a:xfrm>
            <a:off x="381001" y="-22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graphicFrame>
        <p:nvGraphicFramePr>
          <p:cNvPr id="55305" name="Object 3" descr="蓝色面巾纸"/>
          <p:cNvGraphicFramePr>
            <a:graphicFrameLocks noChangeAspect="1"/>
          </p:cNvGraphicFramePr>
          <p:nvPr>
            <p:extLst/>
          </p:nvPr>
        </p:nvGraphicFramePr>
        <p:xfrm>
          <a:off x="5240338" y="3834575"/>
          <a:ext cx="3879850" cy="280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31" name="Visio" r:id="rId6" imgW="2904437" imgH="2104348" progId="Visio.Drawing.11">
                  <p:embed/>
                </p:oleObj>
              </mc:Choice>
              <mc:Fallback>
                <p:oleObj name="Visio" r:id="rId6" imgW="2904437" imgH="2104348" progId="Visio.Drawing.11">
                  <p:embed/>
                  <p:pic>
                    <p:nvPicPr>
                      <p:cNvPr id="55305" name="Object 3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0338" y="3834575"/>
                        <a:ext cx="3879850" cy="2808287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标题 15"/>
          <p:cNvSpPr txBox="1">
            <a:spLocks/>
          </p:cNvSpPr>
          <p:nvPr/>
        </p:nvSpPr>
        <p:spPr bwMode="auto">
          <a:xfrm>
            <a:off x="561818" y="136525"/>
            <a:ext cx="7772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333399"/>
                </a:solidFill>
                <a:latin typeface="+mn-lt"/>
                <a:ea typeface="黑体" panose="02010609060101010101" pitchFamily="2" charset="-122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3333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zh-CN" altLang="en-US" kern="0" dirty="0" smtClean="0">
                <a:ea typeface="黑体" panose="02010609060101010101" pitchFamily="49" charset="-122"/>
              </a:rPr>
              <a:t>补充</a:t>
            </a:r>
            <a:r>
              <a:rPr lang="en-US" altLang="zh-CN" kern="0" dirty="0" smtClean="0">
                <a:ea typeface="黑体" panose="02010609060101010101" pitchFamily="49" charset="-122"/>
              </a:rPr>
              <a:t>  </a:t>
            </a:r>
            <a:r>
              <a:rPr lang="zh-CN" altLang="zh-CN" kern="0" dirty="0" smtClean="0">
                <a:ea typeface="黑体" panose="02010609060101010101" pitchFamily="49" charset="-122"/>
              </a:rPr>
              <a:t>脉冲编码调制</a:t>
            </a:r>
            <a:r>
              <a:rPr lang="en-US" altLang="zh-CN" kern="0" dirty="0" smtClean="0">
                <a:ea typeface="黑体" panose="02010609060101010101" pitchFamily="49" charset="-122"/>
              </a:rPr>
              <a:t>PCM</a:t>
            </a:r>
            <a:endParaRPr lang="zh-CN" altLang="en-US" kern="0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471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补充</a:t>
            </a:r>
            <a:r>
              <a:rPr lang="en-US" altLang="zh-CN" dirty="0">
                <a:ea typeface="黑体" panose="02010609060101010101" pitchFamily="49" charset="-122"/>
              </a:rPr>
              <a:t>  </a:t>
            </a:r>
            <a:r>
              <a:rPr lang="zh-CN" altLang="zh-CN" dirty="0">
                <a:ea typeface="黑体" panose="02010609060101010101" pitchFamily="49" charset="-122"/>
              </a:rPr>
              <a:t>脉冲编码调制</a:t>
            </a:r>
            <a:r>
              <a:rPr lang="en-US" altLang="zh-CN" dirty="0" smtClean="0">
                <a:ea typeface="黑体" panose="02010609060101010101" pitchFamily="49" charset="-122"/>
              </a:rPr>
              <a:t>PCM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solidFill>
                  <a:srgbClr val="0000CC"/>
                </a:solidFill>
              </a:rPr>
              <a:t>1</a:t>
            </a:r>
            <a:r>
              <a:rPr lang="zh-CN" altLang="en-US" dirty="0" smtClean="0">
                <a:solidFill>
                  <a:srgbClr val="0000CC"/>
                </a:solidFill>
              </a:rPr>
              <a:t>路</a:t>
            </a:r>
            <a:r>
              <a:rPr lang="en-US" altLang="zh-CN" dirty="0" smtClean="0">
                <a:solidFill>
                  <a:srgbClr val="0000CC"/>
                </a:solidFill>
              </a:rPr>
              <a:t>PCM</a:t>
            </a:r>
            <a:r>
              <a:rPr lang="zh-CN" altLang="en-US" dirty="0" smtClean="0"/>
              <a:t>：每秒采用</a:t>
            </a:r>
            <a:r>
              <a:rPr lang="en-US" altLang="zh-CN" dirty="0" smtClean="0"/>
              <a:t>8000</a:t>
            </a:r>
            <a:r>
              <a:rPr lang="zh-CN" altLang="en-US" dirty="0" smtClean="0"/>
              <a:t>次，每次</a:t>
            </a:r>
            <a:r>
              <a:rPr lang="en-US" altLang="zh-CN" dirty="0" smtClean="0"/>
              <a:t>8</a:t>
            </a:r>
            <a:r>
              <a:rPr lang="zh-CN" altLang="en-US" dirty="0" smtClean="0"/>
              <a:t>比特（</a:t>
            </a:r>
            <a:r>
              <a:rPr lang="en-US" altLang="zh-CN" dirty="0" smtClean="0"/>
              <a:t>7</a:t>
            </a:r>
            <a:r>
              <a:rPr lang="zh-CN" altLang="en-US" dirty="0" smtClean="0"/>
              <a:t>位数据</a:t>
            </a:r>
            <a:r>
              <a:rPr lang="en-US" altLang="zh-CN" dirty="0" smtClean="0"/>
              <a:t>1</a:t>
            </a:r>
            <a:r>
              <a:rPr lang="zh-CN" altLang="en-US" dirty="0" smtClean="0"/>
              <a:t>位控制，</a:t>
            </a:r>
            <a:r>
              <a:rPr lang="en-US" altLang="zh-CN" dirty="0" smtClean="0"/>
              <a:t>128</a:t>
            </a:r>
            <a:r>
              <a:rPr lang="zh-CN" altLang="en-US" dirty="0" smtClean="0"/>
              <a:t>个量化级），则速率为：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 8</a:t>
            </a:r>
            <a:r>
              <a:rPr lang="zh-CN" altLang="en-US" dirty="0" smtClean="0"/>
              <a:t>*</a:t>
            </a:r>
            <a:r>
              <a:rPr lang="en-US" altLang="zh-CN" dirty="0" smtClean="0"/>
              <a:t>8000=</a:t>
            </a:r>
            <a:r>
              <a:rPr lang="en-US" altLang="zh-CN" dirty="0" smtClean="0">
                <a:solidFill>
                  <a:srgbClr val="FF0000"/>
                </a:solidFill>
              </a:rPr>
              <a:t>64kbps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脉码调制 </a:t>
            </a:r>
            <a:r>
              <a:rPr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PCM </a:t>
            </a:r>
            <a:r>
              <a:rPr lang="zh-CN" altLang="en-US" dirty="0" smtClean="0">
                <a:ea typeface="黑体" panose="02010609060101010101" pitchFamily="49" charset="-122"/>
              </a:rPr>
              <a:t>体制是</a:t>
            </a:r>
            <a:r>
              <a:rPr lang="zh-CN" altLang="en-US" dirty="0">
                <a:ea typeface="黑体" panose="02010609060101010101" pitchFamily="49" charset="-122"/>
              </a:rPr>
              <a:t>为了在电话局之间的中继线上传送多路的</a:t>
            </a:r>
            <a:r>
              <a:rPr lang="zh-CN" altLang="en-US" dirty="0" smtClean="0">
                <a:ea typeface="黑体" panose="02010609060101010101" pitchFamily="49" charset="-122"/>
              </a:rPr>
              <a:t>电话。</a:t>
            </a:r>
            <a:endParaRPr lang="zh-CN" altLang="en-US" dirty="0"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ppt课件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4A7B3-BB3D-430C-9416-57B4A4106B8F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8050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2.5  </a:t>
            </a:r>
            <a:r>
              <a:rPr lang="zh-CN" altLang="en-US" smtClean="0">
                <a:ea typeface="黑体" panose="02010609060101010101" pitchFamily="49" charset="-122"/>
              </a:rPr>
              <a:t>数字传输系统</a:t>
            </a:r>
            <a:endParaRPr lang="zh-CN" altLang="en-US" sz="4800" smtClean="0">
              <a:ea typeface="黑体" panose="02010609060101010101" pitchFamily="49" charset="-122"/>
            </a:endParaRPr>
          </a:p>
        </p:txBody>
      </p:sp>
      <p:sp>
        <p:nvSpPr>
          <p:cNvPr id="36659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600" dirty="0" smtClean="0">
                <a:ea typeface="黑体" panose="02010609060101010101" pitchFamily="49" charset="-122"/>
              </a:rPr>
              <a:t>由于历史上的原因，</a:t>
            </a:r>
            <a:r>
              <a:rPr lang="en-US" altLang="zh-CN" sz="2600" dirty="0" smtClean="0">
                <a:ea typeface="黑体" panose="02010609060101010101" pitchFamily="49" charset="-122"/>
              </a:rPr>
              <a:t>PCM </a:t>
            </a:r>
            <a:r>
              <a:rPr lang="zh-CN" altLang="en-US" sz="2600" dirty="0" smtClean="0">
                <a:ea typeface="黑体" panose="02010609060101010101" pitchFamily="49" charset="-122"/>
              </a:rPr>
              <a:t>有两个互不兼容的国际标准：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sz="2600" dirty="0" smtClean="0">
                <a:ea typeface="黑体" panose="02010609060101010101" pitchFamily="49" charset="-122"/>
              </a:rPr>
              <a:t>北美的 </a:t>
            </a:r>
            <a:r>
              <a:rPr lang="en-US" altLang="zh-CN" sz="2600" dirty="0" smtClean="0">
                <a:ea typeface="黑体" panose="02010609060101010101" pitchFamily="49" charset="-122"/>
              </a:rPr>
              <a:t>24 </a:t>
            </a:r>
            <a:r>
              <a:rPr lang="zh-CN" altLang="en-US" sz="2600" dirty="0" smtClean="0">
                <a:ea typeface="黑体" panose="02010609060101010101" pitchFamily="49" charset="-122"/>
              </a:rPr>
              <a:t>路 </a:t>
            </a:r>
            <a:r>
              <a:rPr lang="en-US" altLang="zh-CN" sz="2600" dirty="0" smtClean="0">
                <a:ea typeface="黑体" panose="02010609060101010101" pitchFamily="49" charset="-122"/>
              </a:rPr>
              <a:t>PCM</a:t>
            </a:r>
            <a:r>
              <a:rPr lang="zh-CN" altLang="en-US" sz="2600" dirty="0" smtClean="0">
                <a:ea typeface="黑体" panose="02010609060101010101" pitchFamily="49" charset="-122"/>
              </a:rPr>
              <a:t>（简称为 </a:t>
            </a:r>
            <a:r>
              <a:rPr lang="en-US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T1</a:t>
            </a:r>
            <a:r>
              <a:rPr lang="zh-CN" altLang="en-US" sz="2600" dirty="0" smtClean="0">
                <a:ea typeface="黑体" panose="02010609060101010101" pitchFamily="49" charset="-122"/>
              </a:rPr>
              <a:t>）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zh-CN" altLang="en-US" sz="2600" dirty="0" smtClean="0">
                <a:ea typeface="黑体" panose="02010609060101010101" pitchFamily="49" charset="-122"/>
              </a:rPr>
              <a:t>每信道每次采样</a:t>
            </a:r>
            <a:r>
              <a:rPr lang="en-US" altLang="zh-CN" sz="2600" dirty="0" smtClean="0">
                <a:ea typeface="黑体" panose="02010609060101010101" pitchFamily="49" charset="-122"/>
              </a:rPr>
              <a:t>8bit</a:t>
            </a:r>
            <a:r>
              <a:rPr lang="zh-CN" altLang="en-US" sz="2600" dirty="0" smtClean="0">
                <a:ea typeface="黑体" panose="02010609060101010101" pitchFamily="49" charset="-122"/>
              </a:rPr>
              <a:t>，共</a:t>
            </a:r>
            <a:r>
              <a:rPr lang="en-US" altLang="zh-CN" sz="2600" dirty="0" smtClean="0">
                <a:ea typeface="黑体" panose="02010609060101010101" pitchFamily="49" charset="-122"/>
              </a:rPr>
              <a:t>8</a:t>
            </a:r>
            <a:r>
              <a:rPr lang="zh-CN" altLang="en-US" sz="2600" dirty="0" smtClean="0">
                <a:ea typeface="黑体" panose="02010609060101010101" pitchFamily="49" charset="-122"/>
              </a:rPr>
              <a:t>*</a:t>
            </a:r>
            <a:r>
              <a:rPr lang="en-US" altLang="zh-CN" sz="2600" dirty="0" smtClean="0">
                <a:ea typeface="黑体" panose="02010609060101010101" pitchFamily="49" charset="-122"/>
              </a:rPr>
              <a:t>24=192bit</a:t>
            </a:r>
            <a:r>
              <a:rPr lang="zh-CN" altLang="en-US" sz="2600" dirty="0" smtClean="0">
                <a:ea typeface="黑体" panose="02010609060101010101" pitchFamily="49" charset="-122"/>
              </a:rPr>
              <a:t>，再加上</a:t>
            </a:r>
            <a:r>
              <a:rPr lang="en-US" altLang="zh-CN" sz="2600" dirty="0" smtClean="0">
                <a:ea typeface="黑体" panose="02010609060101010101" pitchFamily="49" charset="-122"/>
              </a:rPr>
              <a:t>1bit</a:t>
            </a:r>
            <a:r>
              <a:rPr lang="zh-CN" altLang="en-US" sz="2600" dirty="0" smtClean="0">
                <a:ea typeface="黑体" panose="02010609060101010101" pitchFamily="49" charset="-122"/>
              </a:rPr>
              <a:t>帧同步，每次采样共</a:t>
            </a:r>
            <a:r>
              <a:rPr lang="en-US" altLang="zh-CN" sz="2600" dirty="0" smtClean="0">
                <a:ea typeface="黑体" panose="02010609060101010101" pitchFamily="49" charset="-122"/>
              </a:rPr>
              <a:t>193bit</a:t>
            </a:r>
            <a:r>
              <a:rPr lang="zh-CN" altLang="en-US" sz="2600" dirty="0" smtClean="0">
                <a:ea typeface="黑体" panose="02010609060101010101" pitchFamily="49" charset="-122"/>
              </a:rPr>
              <a:t>，每秒</a:t>
            </a:r>
            <a:r>
              <a:rPr lang="en-US" altLang="zh-CN" sz="2600" dirty="0" smtClean="0">
                <a:ea typeface="黑体" panose="02010609060101010101" pitchFamily="49" charset="-122"/>
              </a:rPr>
              <a:t>8000</a:t>
            </a:r>
            <a:r>
              <a:rPr lang="zh-CN" altLang="en-US" sz="2600" dirty="0" smtClean="0">
                <a:ea typeface="黑体" panose="02010609060101010101" pitchFamily="49" charset="-122"/>
              </a:rPr>
              <a:t>次采样，则速率为：</a:t>
            </a:r>
            <a:r>
              <a:rPr lang="en-US" altLang="zh-CN" sz="2600" dirty="0" smtClean="0">
                <a:ea typeface="黑体" panose="02010609060101010101" pitchFamily="49" charset="-122"/>
              </a:rPr>
              <a:t>193</a:t>
            </a:r>
            <a:r>
              <a:rPr lang="zh-CN" altLang="en-US" sz="2600" dirty="0" smtClean="0">
                <a:ea typeface="黑体" panose="02010609060101010101" pitchFamily="49" charset="-122"/>
              </a:rPr>
              <a:t>*</a:t>
            </a:r>
            <a:r>
              <a:rPr lang="en-US" altLang="zh-CN" sz="2600" dirty="0" smtClean="0">
                <a:ea typeface="黑体" panose="02010609060101010101" pitchFamily="49" charset="-122"/>
              </a:rPr>
              <a:t>8000=</a:t>
            </a:r>
            <a:r>
              <a:rPr lang="en-US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1.544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en-US" altLang="zh-CN" sz="2600" dirty="0">
                <a:solidFill>
                  <a:srgbClr val="0000CC"/>
                </a:solidFill>
                <a:ea typeface="黑体" panose="02010609060101010101" pitchFamily="49" charset="-122"/>
              </a:rPr>
              <a:t>Mbit/s</a:t>
            </a:r>
            <a:endParaRPr lang="en-US" altLang="zh-CN" sz="2600" dirty="0" smtClean="0">
              <a:solidFill>
                <a:srgbClr val="0000CC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sz="2600" dirty="0" smtClean="0">
                <a:ea typeface="黑体" panose="02010609060101010101" pitchFamily="49" charset="-122"/>
              </a:rPr>
              <a:t>欧洲的 </a:t>
            </a:r>
            <a:r>
              <a:rPr lang="en-US" altLang="zh-CN" sz="2600" dirty="0" smtClean="0">
                <a:ea typeface="黑体" panose="02010609060101010101" pitchFamily="49" charset="-122"/>
              </a:rPr>
              <a:t>30 </a:t>
            </a:r>
            <a:r>
              <a:rPr lang="zh-CN" altLang="en-US" sz="2600" dirty="0" smtClean="0">
                <a:ea typeface="黑体" panose="02010609060101010101" pitchFamily="49" charset="-122"/>
              </a:rPr>
              <a:t>路 </a:t>
            </a:r>
            <a:r>
              <a:rPr lang="en-US" altLang="zh-CN" sz="2600" dirty="0" smtClean="0">
                <a:ea typeface="黑体" panose="02010609060101010101" pitchFamily="49" charset="-122"/>
              </a:rPr>
              <a:t>PCM</a:t>
            </a:r>
            <a:r>
              <a:rPr lang="zh-CN" altLang="en-US" sz="2600" dirty="0" smtClean="0">
                <a:ea typeface="黑体" panose="02010609060101010101" pitchFamily="49" charset="-122"/>
              </a:rPr>
              <a:t>（简称为 </a:t>
            </a:r>
            <a:r>
              <a:rPr lang="en-US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E1</a:t>
            </a:r>
            <a:r>
              <a:rPr lang="zh-CN" altLang="en-US" sz="2600" dirty="0" smtClean="0">
                <a:ea typeface="黑体" panose="02010609060101010101" pitchFamily="49" charset="-122"/>
              </a:rPr>
              <a:t>）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2600" dirty="0" smtClean="0">
                <a:ea typeface="黑体" panose="02010609060101010101" pitchFamily="49" charset="-122"/>
              </a:rPr>
              <a:t>30</a:t>
            </a:r>
            <a:r>
              <a:rPr lang="zh-CN" altLang="en-US" sz="2600" dirty="0" smtClean="0">
                <a:ea typeface="黑体" panose="02010609060101010101" pitchFamily="49" charset="-122"/>
              </a:rPr>
              <a:t>个语音</a:t>
            </a:r>
            <a:r>
              <a:rPr lang="en-US" altLang="zh-CN" sz="2600" dirty="0" smtClean="0">
                <a:ea typeface="黑体" panose="02010609060101010101" pitchFamily="49" charset="-122"/>
              </a:rPr>
              <a:t>+2</a:t>
            </a:r>
            <a:r>
              <a:rPr lang="zh-CN" altLang="en-US" sz="2600" dirty="0" smtClean="0">
                <a:ea typeface="黑体" panose="02010609060101010101" pitchFamily="49" charset="-122"/>
              </a:rPr>
              <a:t>个控制</a:t>
            </a:r>
            <a:r>
              <a:rPr lang="en-US" altLang="zh-CN" sz="2600" dirty="0" smtClean="0">
                <a:ea typeface="黑体" panose="02010609060101010101" pitchFamily="49" charset="-122"/>
              </a:rPr>
              <a:t>=32</a:t>
            </a:r>
            <a:r>
              <a:rPr lang="zh-CN" altLang="en-US" sz="2600" dirty="0" smtClean="0">
                <a:ea typeface="黑体" panose="02010609060101010101" pitchFamily="49" charset="-122"/>
              </a:rPr>
              <a:t>信道 每信道</a:t>
            </a:r>
            <a:r>
              <a:rPr lang="en-US" altLang="zh-CN" sz="2600" dirty="0" smtClean="0">
                <a:ea typeface="黑体" panose="02010609060101010101" pitchFamily="49" charset="-122"/>
              </a:rPr>
              <a:t>64kbps</a:t>
            </a:r>
            <a:r>
              <a:rPr lang="zh-CN" altLang="en-US" sz="2600" dirty="0" smtClean="0">
                <a:ea typeface="黑体" panose="02010609060101010101" pitchFamily="49" charset="-122"/>
              </a:rPr>
              <a:t>，则速率为：</a:t>
            </a:r>
            <a:r>
              <a:rPr lang="en-US" altLang="zh-CN" sz="2600" dirty="0" smtClean="0">
                <a:ea typeface="黑体" panose="02010609060101010101" pitchFamily="49" charset="-122"/>
              </a:rPr>
              <a:t>64</a:t>
            </a:r>
            <a:r>
              <a:rPr lang="zh-CN" altLang="en-US" sz="2600" dirty="0" smtClean="0">
                <a:ea typeface="黑体" panose="02010609060101010101" pitchFamily="49" charset="-122"/>
              </a:rPr>
              <a:t>*</a:t>
            </a:r>
            <a:r>
              <a:rPr lang="en-US" altLang="zh-CN" sz="2600" dirty="0" smtClean="0">
                <a:ea typeface="黑体" panose="02010609060101010101" pitchFamily="49" charset="-122"/>
              </a:rPr>
              <a:t>32=</a:t>
            </a:r>
            <a:r>
              <a:rPr lang="en-US" altLang="zh-CN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2.048Mbps</a:t>
            </a:r>
          </a:p>
          <a:p>
            <a:r>
              <a:rPr lang="zh-CN" altLang="en-US" sz="2600" dirty="0" smtClean="0">
                <a:ea typeface="黑体" panose="02010609060101010101" pitchFamily="49" charset="-122"/>
              </a:rPr>
              <a:t>我国采用的是欧洲的 </a:t>
            </a:r>
            <a:r>
              <a:rPr lang="en-US" altLang="zh-CN" sz="2600" dirty="0" smtClean="0">
                <a:ea typeface="黑体" panose="02010609060101010101" pitchFamily="49" charset="-122"/>
              </a:rPr>
              <a:t>E1 </a:t>
            </a:r>
            <a:r>
              <a:rPr lang="zh-CN" altLang="en-US" sz="2600" dirty="0" smtClean="0">
                <a:ea typeface="黑体" panose="02010609060101010101" pitchFamily="49" charset="-122"/>
              </a:rPr>
              <a:t>标准。</a:t>
            </a:r>
          </a:p>
          <a:p>
            <a:r>
              <a:rPr lang="zh-CN" altLang="en-US" sz="2600" dirty="0" smtClean="0">
                <a:ea typeface="黑体" panose="02010609060101010101" pitchFamily="49" charset="-122"/>
              </a:rPr>
              <a:t>当需要有更高的数据率时，可采用复用的方法。   </a:t>
            </a:r>
          </a:p>
        </p:txBody>
      </p:sp>
      <p:sp>
        <p:nvSpPr>
          <p:cNvPr id="3665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561CD6-6B69-4FEA-8640-E816F935DAC6}" type="slidenum">
              <a:rPr lang="zh-CN" altLang="en-US" smtClean="0"/>
              <a:pPr eaLnBrk="1" hangingPunct="1"/>
              <a:t>22</a:t>
            </a:fld>
            <a:endParaRPr lang="en-US" altLang="zh-CN" smtClean="0"/>
          </a:p>
        </p:txBody>
      </p:sp>
      <p:sp>
        <p:nvSpPr>
          <p:cNvPr id="3665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1871724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smtClean="0">
                <a:solidFill>
                  <a:srgbClr val="FF0000"/>
                </a:solidFill>
                <a:ea typeface="黑体" panose="02010609060101010101" pitchFamily="49" charset="-122"/>
              </a:rPr>
              <a:t>旧的数字传输系统存在许多缺点</a:t>
            </a:r>
          </a:p>
        </p:txBody>
      </p:sp>
      <p:sp>
        <p:nvSpPr>
          <p:cNvPr id="36864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黑体" panose="02010609060101010101" pitchFamily="49" charset="-122"/>
              </a:rPr>
              <a:t>最主要的是以下两个方面： </a:t>
            </a:r>
          </a:p>
          <a:p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速率标准不统一</a:t>
            </a: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如果不对高次群的数字传输速率进行标准化，国际范围的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基于光纤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高速数据传输就很难实现。 </a:t>
            </a:r>
            <a:endParaRPr lang="en-US" altLang="zh-CN" dirty="0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不是同步传输</a:t>
            </a: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在过去相当长的时间，为了节约经费，各国的数字网主要是采用准同步方式。  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49" charset="-122"/>
              </a:rPr>
              <a:t>当数据传输的速率很高时，</a:t>
            </a:r>
            <a:r>
              <a:rPr lang="zh-CN" altLang="zh-CN" dirty="0" smtClean="0">
                <a:solidFill>
                  <a:srgbClr val="0000FF"/>
                </a:solidFill>
                <a:ea typeface="黑体" panose="02010609060101010101" pitchFamily="49" charset="-122"/>
              </a:rPr>
              <a:t>收发双方的时钟同步就成为很大的问题。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68643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68644" name="Rectangle 6"/>
          <p:cNvSpPr>
            <a:spLocks noChangeArrowheads="1"/>
          </p:cNvSpPr>
          <p:nvPr/>
        </p:nvSpPr>
        <p:spPr bwMode="auto">
          <a:xfrm>
            <a:off x="0" y="30543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6864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E29C18-72DB-4C4E-9694-6F31362F77BD}" type="slidenum">
              <a:rPr lang="zh-CN" altLang="en-US" smtClean="0"/>
              <a:pPr eaLnBrk="1" hangingPunct="1"/>
              <a:t>23</a:t>
            </a:fld>
            <a:endParaRPr lang="en-US" altLang="zh-CN" smtClean="0"/>
          </a:p>
        </p:txBody>
      </p:sp>
      <p:sp>
        <p:nvSpPr>
          <p:cNvPr id="36864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683619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8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同步光纤网 </a:t>
            </a:r>
            <a:r>
              <a:rPr lang="en-US" altLang="zh-CN" smtClean="0">
                <a:ea typeface="黑体" panose="02010609060101010101" pitchFamily="49" charset="-122"/>
              </a:rPr>
              <a:t>SONET</a:t>
            </a:r>
          </a:p>
        </p:txBody>
      </p:sp>
      <p:sp>
        <p:nvSpPr>
          <p:cNvPr id="37069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4"/>
            <a:ext cx="9066213" cy="5472295"/>
          </a:xfrm>
        </p:spPr>
        <p:txBody>
          <a:bodyPr/>
          <a:lstStyle/>
          <a:p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同步光纤网 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SONET </a:t>
            </a:r>
            <a:r>
              <a:rPr lang="en-US" altLang="zh-CN" sz="2800" dirty="0" smtClean="0">
                <a:ea typeface="黑体" panose="02010609060101010101" pitchFamily="49" charset="-122"/>
              </a:rPr>
              <a:t>(Synchronous Optical Network)  </a:t>
            </a:r>
            <a:r>
              <a:rPr lang="zh-CN" altLang="en-US" sz="2800" dirty="0" smtClean="0">
                <a:ea typeface="黑体" panose="02010609060101010101" pitchFamily="49" charset="-122"/>
              </a:rPr>
              <a:t>的各级时钟都来自一个非常精确的主时钟。 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SONET </a:t>
            </a:r>
            <a:r>
              <a:rPr lang="zh-CN" altLang="zh-CN" sz="2800" dirty="0" smtClean="0">
                <a:ea typeface="黑体" panose="02010609060101010101" pitchFamily="49" charset="-122"/>
              </a:rPr>
              <a:t>为光纤传输系统定义了同步传输的线路速率等级结构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sz="2400" dirty="0" smtClean="0">
                <a:ea typeface="黑体" panose="02010609060101010101" pitchFamily="49" charset="-122"/>
              </a:rPr>
              <a:t>对电信信号称为第 </a:t>
            </a:r>
            <a:r>
              <a:rPr lang="en-US" altLang="zh-CN" sz="2400" dirty="0" smtClean="0">
                <a:ea typeface="黑体" panose="02010609060101010101" pitchFamily="49" charset="-122"/>
              </a:rPr>
              <a:t>1 </a:t>
            </a:r>
            <a:r>
              <a:rPr lang="zh-CN" altLang="en-US" sz="2400" dirty="0" smtClean="0">
                <a:ea typeface="黑体" panose="02010609060101010101" pitchFamily="49" charset="-122"/>
              </a:rPr>
              <a:t>级</a:t>
            </a:r>
            <a:r>
              <a:rPr lang="zh-CN" altLang="en-US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同步传送信号 </a:t>
            </a:r>
            <a:r>
              <a:rPr lang="en-US" altLang="zh-CN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STS-1</a:t>
            </a:r>
            <a:r>
              <a:rPr lang="en-US" altLang="zh-CN" sz="2400" dirty="0" smtClean="0">
                <a:ea typeface="黑体" panose="02010609060101010101" pitchFamily="49" charset="-122"/>
              </a:rPr>
              <a:t> (Synchronous Transport Signal)</a:t>
            </a:r>
            <a:r>
              <a:rPr lang="zh-CN" altLang="en-US" sz="2400" dirty="0" smtClean="0">
                <a:ea typeface="黑体" panose="02010609060101010101" pitchFamily="49" charset="-122"/>
              </a:rPr>
              <a:t>，其传输速率是 </a:t>
            </a:r>
            <a:r>
              <a:rPr lang="en-US" altLang="zh-CN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51.84 Mbit/s</a:t>
            </a:r>
            <a:r>
              <a:rPr lang="zh-CN" altLang="en-US" sz="2400" dirty="0" smtClean="0">
                <a:ea typeface="黑体" panose="02010609060101010101" pitchFamily="49" charset="-122"/>
              </a:rPr>
              <a:t>。</a:t>
            </a:r>
            <a:endParaRPr lang="en-US" altLang="zh-CN" sz="2400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 </a:t>
            </a:r>
            <a:r>
              <a:rPr lang="en-US" altLang="zh-CN" sz="2400" dirty="0" smtClean="0">
                <a:ea typeface="黑体" panose="02010609060101010101" pitchFamily="49" charset="-122"/>
              </a:rPr>
              <a:t>   </a:t>
            </a:r>
            <a:r>
              <a:rPr lang="zh-CN" altLang="en-US" sz="2400" dirty="0" smtClean="0">
                <a:ea typeface="黑体" panose="02010609060101010101" pitchFamily="49" charset="-122"/>
              </a:rPr>
              <a:t>复用</a:t>
            </a:r>
            <a:r>
              <a:rPr lang="en-US" altLang="zh-CN" sz="2400" dirty="0" smtClean="0">
                <a:ea typeface="黑体" panose="02010609060101010101" pitchFamily="49" charset="-122"/>
              </a:rPr>
              <a:t>810</a:t>
            </a:r>
            <a:r>
              <a:rPr lang="zh-CN" altLang="en-US" sz="2400" dirty="0" smtClean="0">
                <a:ea typeface="黑体" panose="02010609060101010101" pitchFamily="49" charset="-122"/>
              </a:rPr>
              <a:t>路：</a:t>
            </a:r>
            <a:r>
              <a:rPr lang="en-US" altLang="zh-CN" sz="2400" dirty="0" smtClean="0">
                <a:ea typeface="黑体" panose="02010609060101010101" pitchFamily="49" charset="-122"/>
              </a:rPr>
              <a:t>64</a:t>
            </a:r>
            <a:r>
              <a:rPr lang="zh-CN" altLang="en-US" sz="2400" dirty="0" smtClean="0">
                <a:ea typeface="黑体" panose="02010609060101010101" pitchFamily="49" charset="-122"/>
              </a:rPr>
              <a:t>*</a:t>
            </a:r>
            <a:r>
              <a:rPr lang="en-US" altLang="zh-CN" sz="2400" dirty="0" smtClean="0">
                <a:ea typeface="黑体" panose="02010609060101010101" pitchFamily="49" charset="-122"/>
              </a:rPr>
              <a:t>810=</a:t>
            </a:r>
            <a:r>
              <a:rPr lang="en-US" altLang="zh-CN" sz="2400" dirty="0">
                <a:ea typeface="黑体" panose="02010609060101010101" pitchFamily="49" charset="-122"/>
              </a:rPr>
              <a:t> 51.84 Mbit/s</a:t>
            </a:r>
            <a:endParaRPr lang="zh-CN" altLang="en-US" sz="2400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sz="2400" dirty="0" smtClean="0">
                <a:ea typeface="黑体" panose="02010609060101010101" pitchFamily="49" charset="-122"/>
              </a:rPr>
              <a:t>对光信号则称为第 </a:t>
            </a:r>
            <a:r>
              <a:rPr lang="en-US" altLang="zh-CN" sz="2400" dirty="0" smtClean="0">
                <a:ea typeface="黑体" panose="02010609060101010101" pitchFamily="49" charset="-122"/>
              </a:rPr>
              <a:t>1 </a:t>
            </a:r>
            <a:r>
              <a:rPr lang="zh-CN" altLang="en-US" sz="2400" dirty="0" smtClean="0">
                <a:ea typeface="黑体" panose="02010609060101010101" pitchFamily="49" charset="-122"/>
              </a:rPr>
              <a:t>级</a:t>
            </a:r>
            <a:r>
              <a:rPr lang="zh-CN" altLang="en-US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光载波 </a:t>
            </a:r>
            <a:r>
              <a:rPr lang="en-US" altLang="zh-CN" sz="2400" dirty="0" smtClean="0">
                <a:ea typeface="黑体" panose="02010609060101010101" pitchFamily="49" charset="-122"/>
              </a:rPr>
              <a:t>OC-1 (OC </a:t>
            </a:r>
            <a:r>
              <a:rPr lang="zh-CN" altLang="en-US" sz="2400" dirty="0" smtClean="0">
                <a:ea typeface="黑体" panose="02010609060101010101" pitchFamily="49" charset="-122"/>
              </a:rPr>
              <a:t>表示</a:t>
            </a:r>
            <a:r>
              <a:rPr lang="en-US" altLang="zh-CN" sz="2400" dirty="0" smtClean="0">
                <a:ea typeface="黑体" panose="02010609060101010101" pitchFamily="49" charset="-122"/>
              </a:rPr>
              <a:t>Optical Carrier)</a:t>
            </a:r>
            <a:r>
              <a:rPr lang="zh-CN" altLang="en-US" sz="2400" dirty="0" smtClean="0">
                <a:ea typeface="黑体" panose="02010609060101010101" pitchFamily="49" charset="-122"/>
              </a:rPr>
              <a:t>。</a:t>
            </a:r>
            <a:endParaRPr lang="en-US" altLang="zh-CN" sz="2400" dirty="0" smtClean="0">
              <a:ea typeface="黑体" panose="02010609060101010101" pitchFamily="49" charset="-122"/>
            </a:endParaRPr>
          </a:p>
          <a:p>
            <a:r>
              <a:rPr lang="zh-CN" altLang="zh-CN" sz="2800" dirty="0" smtClean="0">
                <a:ea typeface="黑体" panose="02010609060101010101" pitchFamily="49" charset="-122"/>
              </a:rPr>
              <a:t>现已定义了从</a:t>
            </a:r>
            <a:r>
              <a:rPr lang="en-US" altLang="zh-CN" sz="2800" dirty="0" smtClean="0">
                <a:ea typeface="黑体" panose="02010609060101010101" pitchFamily="49" charset="-122"/>
              </a:rPr>
              <a:t> 51.84 Mbit/s (</a:t>
            </a:r>
            <a:r>
              <a:rPr lang="zh-CN" altLang="zh-CN" sz="2800" dirty="0" smtClean="0">
                <a:ea typeface="黑体" panose="02010609060101010101" pitchFamily="49" charset="-122"/>
              </a:rPr>
              <a:t>即</a:t>
            </a:r>
            <a:r>
              <a:rPr lang="en-US" altLang="zh-CN" sz="2800" dirty="0" smtClean="0">
                <a:ea typeface="黑体" panose="02010609060101010101" pitchFamily="49" charset="-122"/>
              </a:rPr>
              <a:t>OC-1) </a:t>
            </a:r>
            <a:r>
              <a:rPr lang="zh-CN" altLang="zh-CN" sz="2800" dirty="0" smtClean="0">
                <a:ea typeface="黑体" panose="02010609060101010101" pitchFamily="49" charset="-122"/>
              </a:rPr>
              <a:t>一直到</a:t>
            </a:r>
            <a:r>
              <a:rPr lang="en-US" altLang="zh-CN" sz="2800" dirty="0" smtClean="0">
                <a:ea typeface="黑体" panose="02010609060101010101" pitchFamily="49" charset="-122"/>
              </a:rPr>
              <a:t> 9953.280 Mbit/s (</a:t>
            </a:r>
            <a:r>
              <a:rPr lang="zh-CN" altLang="zh-CN" sz="2800" dirty="0" smtClean="0">
                <a:ea typeface="黑体" panose="02010609060101010101" pitchFamily="49" charset="-122"/>
              </a:rPr>
              <a:t>即</a:t>
            </a:r>
            <a:r>
              <a:rPr lang="en-US" altLang="zh-CN" sz="2800" dirty="0" smtClean="0">
                <a:ea typeface="黑体" panose="02010609060101010101" pitchFamily="49" charset="-122"/>
              </a:rPr>
              <a:t> OC-192/STS-192) </a:t>
            </a:r>
            <a:r>
              <a:rPr lang="zh-CN" altLang="zh-CN" sz="2800" dirty="0" smtClean="0">
                <a:ea typeface="黑体" panose="02010609060101010101" pitchFamily="49" charset="-122"/>
              </a:rPr>
              <a:t>的标准。</a:t>
            </a:r>
            <a:r>
              <a:rPr lang="zh-CN" altLang="en-US" sz="2800" dirty="0" smtClean="0"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370691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0692" name="Rectangle 6"/>
          <p:cNvSpPr>
            <a:spLocks noChangeArrowheads="1"/>
          </p:cNvSpPr>
          <p:nvPr/>
        </p:nvSpPr>
        <p:spPr bwMode="auto">
          <a:xfrm>
            <a:off x="0" y="30543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069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C8658E1-4BC9-43AA-8CA7-0F39C8FAACCE}" type="slidenum">
              <a:rPr lang="zh-CN" altLang="en-US" smtClean="0"/>
              <a:pPr eaLnBrk="1" hangingPunct="1"/>
              <a:t>24</a:t>
            </a:fld>
            <a:endParaRPr lang="en-US" altLang="zh-CN" smtClean="0"/>
          </a:p>
        </p:txBody>
      </p:sp>
      <p:sp>
        <p:nvSpPr>
          <p:cNvPr id="37069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476348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/>
            </a:r>
            <a:br>
              <a:rPr lang="en-US" altLang="zh-CN" smtClean="0">
                <a:ea typeface="黑体" panose="02010609060101010101" pitchFamily="49" charset="-122"/>
              </a:rPr>
            </a:br>
            <a:r>
              <a:rPr lang="zh-CN" altLang="en-US" smtClean="0">
                <a:ea typeface="黑体" panose="02010609060101010101" pitchFamily="49" charset="-122"/>
              </a:rPr>
              <a:t>同步数字系列 </a:t>
            </a:r>
            <a:r>
              <a:rPr lang="en-US" altLang="zh-CN" smtClean="0">
                <a:ea typeface="黑体" panose="02010609060101010101" pitchFamily="49" charset="-122"/>
              </a:rPr>
              <a:t>SDH </a:t>
            </a:r>
          </a:p>
        </p:txBody>
      </p:sp>
      <p:sp>
        <p:nvSpPr>
          <p:cNvPr id="37273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ITU-T </a:t>
            </a:r>
            <a:r>
              <a:rPr lang="zh-CN" altLang="en-US" dirty="0" smtClean="0">
                <a:ea typeface="黑体" panose="02010609060101010101" pitchFamily="49" charset="-122"/>
              </a:rPr>
              <a:t>以美国标准 </a:t>
            </a:r>
            <a:r>
              <a:rPr lang="en-US" altLang="zh-CN" dirty="0" smtClean="0">
                <a:ea typeface="黑体" panose="02010609060101010101" pitchFamily="49" charset="-122"/>
              </a:rPr>
              <a:t>SONET </a:t>
            </a:r>
            <a:r>
              <a:rPr lang="zh-CN" altLang="en-US" dirty="0" smtClean="0">
                <a:ea typeface="黑体" panose="02010609060101010101" pitchFamily="49" charset="-122"/>
              </a:rPr>
              <a:t>为基础，制订出国际标准</a:t>
            </a:r>
            <a:r>
              <a:rPr lang="zh-CN" altLang="en-US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同步数字系列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SDH </a:t>
            </a:r>
            <a:r>
              <a:rPr lang="en-US" altLang="zh-CN" dirty="0" smtClean="0">
                <a:ea typeface="黑体" panose="02010609060101010101" pitchFamily="49" charset="-122"/>
              </a:rPr>
              <a:t>(Synchronous Digital Hierarchy)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一般可认为 </a:t>
            </a:r>
            <a:r>
              <a:rPr lang="en-US" altLang="zh-CN" dirty="0" smtClean="0">
                <a:ea typeface="黑体" panose="02010609060101010101" pitchFamily="49" charset="-122"/>
              </a:rPr>
              <a:t>SDH </a:t>
            </a:r>
            <a:r>
              <a:rPr lang="zh-CN" altLang="en-US" dirty="0" smtClean="0">
                <a:ea typeface="黑体" panose="02010609060101010101" pitchFamily="49" charset="-122"/>
              </a:rPr>
              <a:t>与 </a:t>
            </a:r>
            <a:r>
              <a:rPr lang="en-US" altLang="zh-CN" dirty="0" smtClean="0">
                <a:ea typeface="黑体" panose="02010609060101010101" pitchFamily="49" charset="-122"/>
              </a:rPr>
              <a:t>SONET </a:t>
            </a:r>
            <a:r>
              <a:rPr lang="zh-CN" altLang="en-US" dirty="0" smtClean="0">
                <a:ea typeface="黑体" panose="02010609060101010101" pitchFamily="49" charset="-122"/>
              </a:rPr>
              <a:t>是同义词。</a:t>
            </a:r>
          </a:p>
          <a:p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其主要不同点是：</a:t>
            </a:r>
            <a:r>
              <a:rPr lang="en-US" altLang="zh-CN" dirty="0" smtClean="0">
                <a:ea typeface="黑体" panose="02010609060101010101" pitchFamily="49" charset="-122"/>
              </a:rPr>
              <a:t>SDH </a:t>
            </a:r>
            <a:r>
              <a:rPr lang="zh-CN" altLang="en-US" dirty="0" smtClean="0">
                <a:ea typeface="黑体" panose="02010609060101010101" pitchFamily="49" charset="-122"/>
              </a:rPr>
              <a:t>的基本速率为 </a:t>
            </a:r>
            <a:r>
              <a:rPr lang="en-US" altLang="zh-CN" dirty="0" smtClean="0">
                <a:ea typeface="黑体" panose="02010609060101010101" pitchFamily="49" charset="-122"/>
              </a:rPr>
              <a:t>155.52 Mbit/s</a:t>
            </a:r>
            <a:r>
              <a:rPr lang="zh-CN" altLang="en-US" dirty="0" smtClean="0">
                <a:ea typeface="黑体" panose="02010609060101010101" pitchFamily="49" charset="-122"/>
              </a:rPr>
              <a:t>，称为第 </a:t>
            </a:r>
            <a:r>
              <a:rPr lang="en-US" altLang="zh-CN" dirty="0" smtClean="0">
                <a:ea typeface="黑体" panose="02010609060101010101" pitchFamily="49" charset="-122"/>
              </a:rPr>
              <a:t>1 </a:t>
            </a:r>
            <a:r>
              <a:rPr lang="zh-CN" altLang="en-US" dirty="0" smtClean="0">
                <a:ea typeface="黑体" panose="02010609060101010101" pitchFamily="49" charset="-122"/>
              </a:rPr>
              <a:t>级</a:t>
            </a:r>
            <a:r>
              <a:rPr lang="zh-CN" altLang="en-US" dirty="0" smtClean="0">
                <a:solidFill>
                  <a:srgbClr val="0000FF"/>
                </a:solidFill>
                <a:ea typeface="黑体" panose="02010609060101010101" pitchFamily="49" charset="-122"/>
              </a:rPr>
              <a:t>同步传递模块 </a:t>
            </a:r>
            <a:r>
              <a:rPr lang="en-US" altLang="zh-CN" dirty="0" smtClean="0">
                <a:ea typeface="黑体" panose="02010609060101010101" pitchFamily="49" charset="-122"/>
              </a:rPr>
              <a:t>(Synchronous Transfer Module)</a:t>
            </a:r>
            <a:r>
              <a:rPr lang="zh-CN" altLang="en-US" dirty="0" smtClean="0">
                <a:ea typeface="黑体" panose="02010609060101010101" pitchFamily="49" charset="-122"/>
              </a:rPr>
              <a:t>，即 </a:t>
            </a:r>
            <a:r>
              <a:rPr lang="en-US" altLang="zh-CN" dirty="0" smtClean="0">
                <a:ea typeface="黑体" panose="02010609060101010101" pitchFamily="49" charset="-122"/>
              </a:rPr>
              <a:t>STM-1</a:t>
            </a:r>
            <a:r>
              <a:rPr lang="zh-CN" altLang="en-US" dirty="0" smtClean="0">
                <a:ea typeface="黑体" panose="02010609060101010101" pitchFamily="49" charset="-122"/>
              </a:rPr>
              <a:t>，相当于 </a:t>
            </a:r>
            <a:r>
              <a:rPr lang="en-US" altLang="zh-CN" dirty="0" smtClean="0">
                <a:ea typeface="黑体" panose="02010609060101010101" pitchFamily="49" charset="-122"/>
              </a:rPr>
              <a:t>SONET </a:t>
            </a:r>
            <a:r>
              <a:rPr lang="zh-CN" altLang="en-US" dirty="0" smtClean="0">
                <a:ea typeface="黑体" panose="02010609060101010101" pitchFamily="49" charset="-122"/>
              </a:rPr>
              <a:t>体系中的 </a:t>
            </a:r>
            <a:r>
              <a:rPr lang="en-US" altLang="zh-CN" dirty="0" smtClean="0">
                <a:ea typeface="黑体" panose="02010609060101010101" pitchFamily="49" charset="-122"/>
              </a:rPr>
              <a:t>OC-3 </a:t>
            </a:r>
            <a:r>
              <a:rPr lang="zh-CN" altLang="en-US" dirty="0" smtClean="0">
                <a:ea typeface="黑体" panose="02010609060101010101" pitchFamily="49" charset="-122"/>
              </a:rPr>
              <a:t>速率。   </a:t>
            </a:r>
          </a:p>
        </p:txBody>
      </p:sp>
      <p:sp>
        <p:nvSpPr>
          <p:cNvPr id="372739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2740" name="Rectangle 6"/>
          <p:cNvSpPr>
            <a:spLocks noChangeArrowheads="1"/>
          </p:cNvSpPr>
          <p:nvPr/>
        </p:nvSpPr>
        <p:spPr bwMode="auto">
          <a:xfrm>
            <a:off x="0" y="30543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7274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395454B-F314-48CB-9E33-DFEAD1440C5D}" type="slidenum">
              <a:rPr lang="zh-CN" altLang="en-US" smtClean="0"/>
              <a:pPr eaLnBrk="1" hangingPunct="1"/>
              <a:t>25</a:t>
            </a:fld>
            <a:endParaRPr lang="en-US" altLang="zh-CN" smtClean="0"/>
          </a:p>
        </p:txBody>
      </p:sp>
      <p:sp>
        <p:nvSpPr>
          <p:cNvPr id="37274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82516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305" name="Group 417"/>
          <p:cNvGraphicFramePr>
            <a:graphicFrameLocks noGrp="1"/>
          </p:cNvGraphicFramePr>
          <p:nvPr/>
        </p:nvGraphicFramePr>
        <p:xfrm>
          <a:off x="415925" y="1060450"/>
          <a:ext cx="9296399" cy="5105400"/>
        </p:xfrm>
        <a:graphic>
          <a:graphicData uri="http://schemas.openxmlformats.org/drawingml/2006/table">
            <a:tbl>
              <a:tblPr/>
              <a:tblGrid>
                <a:gridCol w="1781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0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线路速率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(Mb/s)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99073" marR="99073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SONET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符号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ITU-T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符号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表示线路速率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的常用近似值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  51.840</a:t>
                      </a:r>
                    </a:p>
                  </a:txBody>
                  <a:tcPr marL="99073" marR="99073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OC-1/STS-1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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 155.520</a:t>
                      </a:r>
                    </a:p>
                  </a:txBody>
                  <a:tcPr marL="99073" marR="99073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OC-3/STS-3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STM-1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155 Mbit/s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 466.560</a:t>
                      </a:r>
                    </a:p>
                  </a:txBody>
                  <a:tcPr marL="99073" marR="99073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OC-9/STS-9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STM-3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 622.080</a:t>
                      </a:r>
                    </a:p>
                  </a:txBody>
                  <a:tcPr marL="99073" marR="99073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OC-12/STS-12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STM-4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622 Mbit/s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 933.120</a:t>
                      </a:r>
                    </a:p>
                  </a:txBody>
                  <a:tcPr marL="99073" marR="99073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OC-18/STS-18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STM-6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1244.160</a:t>
                      </a:r>
                    </a:p>
                  </a:txBody>
                  <a:tcPr marL="99073" marR="99073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OC-24/STS-24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STM-8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</a:endParaRP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2488.320</a:t>
                      </a:r>
                    </a:p>
                  </a:txBody>
                  <a:tcPr marL="99073" marR="99073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OC-48/STS-48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STM-16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2.5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Gbit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/s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47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4976.640</a:t>
                      </a:r>
                    </a:p>
                  </a:txBody>
                  <a:tcPr marL="99073" marR="99073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OC-96/STS-96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STM-32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+mn-lt"/>
                        <a:ea typeface="黑体" panose="0201060906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2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9953.280</a:t>
                      </a:r>
                    </a:p>
                  </a:txBody>
                  <a:tcPr marL="99073" marR="99073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OC-192/STS-192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STM-64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10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Gbit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  <a:cs typeface="Times New Roman" panose="02020603050405020304" pitchFamily="18" charset="0"/>
                        </a:rPr>
                        <a:t>/s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47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39813.120 </a:t>
                      </a:r>
                    </a:p>
                  </a:txBody>
                  <a:tcPr marL="99073" marR="99073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OC-768/STS-768 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STM-256 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40 </a:t>
                      </a:r>
                      <a:r>
                        <a:rPr kumimoji="0" lang="en-US" altLang="zh-CN" sz="2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Gbit</a:t>
                      </a: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+mn-lt"/>
                          <a:ea typeface="黑体" panose="02010609060101010101" pitchFamily="2" charset="-122"/>
                        </a:rPr>
                        <a:t>/s </a:t>
                      </a:r>
                    </a:p>
                  </a:txBody>
                  <a:tcPr marL="99073" marR="99073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74847" name="Text Box 321"/>
          <p:cNvSpPr txBox="1">
            <a:spLocks noChangeArrowheads="1"/>
          </p:cNvSpPr>
          <p:nvPr/>
        </p:nvSpPr>
        <p:spPr bwMode="auto">
          <a:xfrm>
            <a:off x="696913" y="549275"/>
            <a:ext cx="79279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>
                <a:ea typeface="黑体" panose="02010609060101010101" pitchFamily="49" charset="-122"/>
              </a:rPr>
              <a:t>SONET</a:t>
            </a:r>
            <a:r>
              <a:rPr lang="zh-CN" altLang="zh-CN" sz="2400" b="1">
                <a:ea typeface="黑体" panose="02010609060101010101" pitchFamily="49" charset="-122"/>
              </a:rPr>
              <a:t>的</a:t>
            </a:r>
            <a:r>
              <a:rPr lang="en-US" altLang="zh-CN" sz="2400" b="1">
                <a:ea typeface="黑体" panose="02010609060101010101" pitchFamily="49" charset="-122"/>
              </a:rPr>
              <a:t> OC</a:t>
            </a:r>
            <a:r>
              <a:rPr lang="zh-CN" altLang="zh-CN" sz="2400" b="1">
                <a:ea typeface="黑体" panose="02010609060101010101" pitchFamily="49" charset="-122"/>
              </a:rPr>
              <a:t>级</a:t>
            </a:r>
            <a:r>
              <a:rPr lang="en-US" altLang="zh-CN" sz="2400" b="1">
                <a:ea typeface="黑体" panose="02010609060101010101" pitchFamily="49" charset="-122"/>
              </a:rPr>
              <a:t> / STS</a:t>
            </a:r>
            <a:r>
              <a:rPr lang="zh-CN" altLang="zh-CN" sz="2400" b="1">
                <a:ea typeface="黑体" panose="02010609060101010101" pitchFamily="49" charset="-122"/>
              </a:rPr>
              <a:t>级</a:t>
            </a:r>
            <a:r>
              <a:rPr lang="en-US" altLang="zh-CN" sz="2400" b="1">
                <a:ea typeface="黑体" panose="02010609060101010101" pitchFamily="49" charset="-122"/>
              </a:rPr>
              <a:t> </a:t>
            </a:r>
            <a:r>
              <a:rPr lang="zh-CN" altLang="zh-CN" sz="2400" b="1">
                <a:ea typeface="黑体" panose="02010609060101010101" pitchFamily="49" charset="-122"/>
              </a:rPr>
              <a:t>与</a:t>
            </a:r>
            <a:r>
              <a:rPr lang="en-US" altLang="zh-CN" sz="2400" b="1">
                <a:ea typeface="黑体" panose="02010609060101010101" pitchFamily="49" charset="-122"/>
              </a:rPr>
              <a:t>SDH</a:t>
            </a:r>
            <a:r>
              <a:rPr lang="zh-CN" altLang="zh-CN" sz="2400" b="1">
                <a:ea typeface="黑体" panose="02010609060101010101" pitchFamily="49" charset="-122"/>
              </a:rPr>
              <a:t>的</a:t>
            </a:r>
            <a:r>
              <a:rPr lang="en-US" altLang="zh-CN" sz="2400" b="1">
                <a:ea typeface="黑体" panose="02010609060101010101" pitchFamily="49" charset="-122"/>
              </a:rPr>
              <a:t> STM</a:t>
            </a:r>
            <a:r>
              <a:rPr lang="zh-CN" altLang="zh-CN" sz="2400" b="1">
                <a:ea typeface="黑体" panose="02010609060101010101" pitchFamily="49" charset="-122"/>
              </a:rPr>
              <a:t>级</a:t>
            </a:r>
            <a:r>
              <a:rPr lang="en-US" altLang="zh-CN" sz="2400" b="1">
                <a:ea typeface="黑体" panose="02010609060101010101" pitchFamily="49" charset="-122"/>
              </a:rPr>
              <a:t> </a:t>
            </a:r>
            <a:r>
              <a:rPr lang="zh-CN" altLang="zh-CN" sz="2400" b="1">
                <a:ea typeface="黑体" panose="02010609060101010101" pitchFamily="49" charset="-122"/>
              </a:rPr>
              <a:t>的对应关系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37484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BFB1E38A-2CE3-4C27-B0AB-EE381830A1ED}" type="slidenum">
              <a:rPr lang="zh-CN" altLang="en-US" smtClean="0"/>
              <a:pPr/>
              <a:t>26</a:t>
            </a:fld>
            <a:endParaRPr lang="en-US" altLang="zh-CN" smtClean="0"/>
          </a:p>
        </p:txBody>
      </p:sp>
      <p:sp>
        <p:nvSpPr>
          <p:cNvPr id="374849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2341250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3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dirty="0" smtClean="0">
                <a:ea typeface="黑体" panose="02010609060101010101" pitchFamily="49" charset="-122"/>
              </a:rPr>
              <a:t>SONET / SDH </a:t>
            </a:r>
            <a:r>
              <a:rPr lang="zh-CN" altLang="en-US" dirty="0" smtClean="0">
                <a:ea typeface="黑体" panose="02010609060101010101" pitchFamily="49" charset="-122"/>
              </a:rPr>
              <a:t>标准的意义</a:t>
            </a:r>
          </a:p>
        </p:txBody>
      </p:sp>
      <p:sp>
        <p:nvSpPr>
          <p:cNvPr id="376834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使</a:t>
            </a:r>
            <a:r>
              <a:rPr lang="zh-CN" altLang="zh-CN" dirty="0" smtClean="0">
                <a:ea typeface="黑体" panose="02010609060101010101" pitchFamily="49" charset="-122"/>
              </a:rPr>
              <a:t>不同的数字传输体制在</a:t>
            </a:r>
            <a:r>
              <a:rPr lang="en-US" altLang="zh-CN" dirty="0" smtClean="0">
                <a:ea typeface="黑体" panose="02010609060101010101" pitchFamily="49" charset="-122"/>
              </a:rPr>
              <a:t> STM-1 </a:t>
            </a:r>
            <a:r>
              <a:rPr lang="zh-CN" altLang="zh-CN" dirty="0" smtClean="0">
                <a:ea typeface="黑体" panose="02010609060101010101" pitchFamily="49" charset="-122"/>
              </a:rPr>
              <a:t>等级上获得了统一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第一次真正实现了数字传输体制上的世界性标准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已成为公认的新一代理想的传输网体制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en-US" altLang="zh-CN" dirty="0" smtClean="0">
                <a:ea typeface="黑体" panose="02010609060101010101" pitchFamily="49" charset="-122"/>
              </a:rPr>
              <a:t>SDH </a:t>
            </a:r>
            <a:r>
              <a:rPr lang="zh-CN" altLang="zh-CN" dirty="0" smtClean="0">
                <a:ea typeface="黑体" panose="02010609060101010101" pitchFamily="49" charset="-122"/>
              </a:rPr>
              <a:t>标准也适合于微波和卫星传输的技术体制。</a:t>
            </a:r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37683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9759C94-1ED9-4611-84DB-5C236CC1125E}" type="slidenum">
              <a:rPr lang="zh-CN" altLang="en-US" smtClean="0"/>
              <a:pPr eaLnBrk="1" hangingPunct="1"/>
              <a:t>27</a:t>
            </a:fld>
            <a:endParaRPr lang="en-US" altLang="zh-CN" smtClean="0"/>
          </a:p>
        </p:txBody>
      </p:sp>
      <p:sp>
        <p:nvSpPr>
          <p:cNvPr id="376836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26805829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2.6  </a:t>
            </a:r>
            <a:r>
              <a:rPr lang="zh-CN" altLang="zh-CN" smtClean="0">
                <a:ea typeface="黑体" panose="02010609060101010101" pitchFamily="49" charset="-122"/>
              </a:rPr>
              <a:t>宽带接入技术</a:t>
            </a:r>
          </a:p>
        </p:txBody>
      </p:sp>
      <p:sp>
        <p:nvSpPr>
          <p:cNvPr id="37785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2.6.1  ADSL </a:t>
            </a:r>
            <a:r>
              <a:rPr lang="zh-CN" altLang="zh-CN" smtClean="0">
                <a:ea typeface="黑体" panose="02010609060101010101" pitchFamily="49" charset="-122"/>
              </a:rPr>
              <a:t>技术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2.6.2  </a:t>
            </a:r>
            <a:r>
              <a:rPr lang="zh-CN" altLang="zh-CN" smtClean="0">
                <a:ea typeface="黑体" panose="02010609060101010101" pitchFamily="49" charset="-122"/>
              </a:rPr>
              <a:t>光纤同轴混合网（</a:t>
            </a:r>
            <a:r>
              <a:rPr lang="en-US" altLang="zh-CN" smtClean="0">
                <a:ea typeface="黑体" panose="02010609060101010101" pitchFamily="49" charset="-122"/>
              </a:rPr>
              <a:t>HFC</a:t>
            </a:r>
            <a:r>
              <a:rPr lang="zh-CN" altLang="zh-CN" smtClean="0">
                <a:ea typeface="黑体" panose="02010609060101010101" pitchFamily="49" charset="-122"/>
              </a:rPr>
              <a:t>网）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2.6.3  FTTx </a:t>
            </a:r>
            <a:r>
              <a:rPr lang="zh-CN" altLang="zh-CN" smtClean="0">
                <a:ea typeface="黑体" panose="02010609060101010101" pitchFamily="49" charset="-122"/>
              </a:rPr>
              <a:t>技术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37785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4B22F63-87ED-4CC5-ABA2-ECB63AC2FC73}" type="slidenum">
              <a:rPr lang="zh-CN" altLang="en-US" smtClean="0"/>
              <a:pPr eaLnBrk="1" hangingPunct="1"/>
              <a:t>28</a:t>
            </a:fld>
            <a:endParaRPr lang="en-US" altLang="zh-CN" smtClean="0"/>
          </a:p>
        </p:txBody>
      </p:sp>
      <p:sp>
        <p:nvSpPr>
          <p:cNvPr id="37786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2450279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2.6  </a:t>
            </a:r>
            <a:r>
              <a:rPr lang="zh-CN" altLang="zh-CN" smtClean="0">
                <a:ea typeface="黑体" panose="02010609060101010101" pitchFamily="49" charset="-122"/>
              </a:rPr>
              <a:t>宽带接入技术</a:t>
            </a:r>
          </a:p>
        </p:txBody>
      </p:sp>
      <p:sp>
        <p:nvSpPr>
          <p:cNvPr id="37990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用户要连接到互联网，必须先连接到某个</a:t>
            </a:r>
            <a:r>
              <a:rPr lang="en-US" altLang="zh-CN" smtClean="0">
                <a:ea typeface="黑体" panose="02010609060101010101" pitchFamily="49" charset="-122"/>
              </a:rPr>
              <a:t> ISP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在互联网的发展初期，用户都是利用电话的用户线通过调制解调器连接到</a:t>
            </a:r>
            <a:r>
              <a:rPr lang="en-US" altLang="zh-CN" smtClean="0">
                <a:ea typeface="黑体" panose="02010609060101010101" pitchFamily="49" charset="-122"/>
              </a:rPr>
              <a:t> ISP </a:t>
            </a:r>
            <a:r>
              <a:rPr lang="zh-CN" altLang="zh-CN" smtClean="0">
                <a:ea typeface="黑体" panose="02010609060101010101" pitchFamily="49" charset="-122"/>
              </a:rPr>
              <a:t>的，</a:t>
            </a:r>
            <a:r>
              <a:rPr lang="zh-CN" altLang="en-US" smtClean="0">
                <a:ea typeface="黑体" panose="02010609060101010101" pitchFamily="49" charset="-122"/>
              </a:rPr>
              <a:t>电话</a:t>
            </a:r>
            <a:r>
              <a:rPr lang="zh-CN" altLang="zh-CN" smtClean="0">
                <a:ea typeface="黑体" panose="02010609060101010101" pitchFamily="49" charset="-122"/>
              </a:rPr>
              <a:t>用户线接入到互联网的速率最高只能达到</a:t>
            </a:r>
            <a:r>
              <a:rPr lang="en-US" altLang="zh-CN" smtClean="0">
                <a:ea typeface="黑体" panose="02010609060101010101" pitchFamily="49" charset="-122"/>
              </a:rPr>
              <a:t> 56 kbit/s</a:t>
            </a:r>
            <a:r>
              <a:rPr lang="zh-CN" altLang="zh-CN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美国联邦通信委员会</a:t>
            </a:r>
            <a:r>
              <a:rPr lang="en-US" altLang="zh-CN" smtClean="0">
                <a:ea typeface="黑体" panose="02010609060101010101" pitchFamily="49" charset="-122"/>
              </a:rPr>
              <a:t> FCC </a:t>
            </a:r>
            <a:r>
              <a:rPr lang="zh-CN" altLang="zh-CN" smtClean="0">
                <a:ea typeface="黑体" panose="02010609060101010101" pitchFamily="49" charset="-122"/>
              </a:rPr>
              <a:t>认为只要双向速率之和超过</a:t>
            </a:r>
            <a:r>
              <a:rPr lang="en-US" altLang="zh-CN" smtClean="0">
                <a:ea typeface="黑体" panose="02010609060101010101" pitchFamily="49" charset="-122"/>
              </a:rPr>
              <a:t> 200 kbit/s </a:t>
            </a:r>
            <a:r>
              <a:rPr lang="zh-CN" altLang="zh-CN" smtClean="0">
                <a:ea typeface="黑体" panose="02010609060101010101" pitchFamily="49" charset="-122"/>
              </a:rPr>
              <a:t>就是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宽带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37990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580479D-2735-4E08-BEBF-DBEEF3C16FA8}" type="slidenum">
              <a:rPr lang="zh-CN" altLang="en-US" smtClean="0"/>
              <a:pPr eaLnBrk="1" hangingPunct="1"/>
              <a:t>29</a:t>
            </a:fld>
            <a:endParaRPr lang="en-US" altLang="zh-CN" smtClean="0"/>
          </a:p>
        </p:txBody>
      </p:sp>
      <p:sp>
        <p:nvSpPr>
          <p:cNvPr id="37990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2827384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2.6  </a:t>
            </a:r>
            <a:r>
              <a:rPr lang="zh-CN" altLang="zh-CN" smtClean="0">
                <a:ea typeface="黑体" panose="02010609060101010101" pitchFamily="49" charset="-122"/>
              </a:rPr>
              <a:t>宽带接入技术</a:t>
            </a:r>
          </a:p>
        </p:txBody>
      </p:sp>
      <p:sp>
        <p:nvSpPr>
          <p:cNvPr id="38195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从宽带接入的媒体来看，可以划分为两大类</a:t>
            </a:r>
            <a:r>
              <a:rPr lang="zh-CN" altLang="en-US" smtClean="0">
                <a:ea typeface="黑体" panose="02010609060101010101" pitchFamily="49" charset="-122"/>
              </a:rPr>
              <a:t>：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有线宽带接入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无线宽带接入</a:t>
            </a:r>
            <a:endParaRPr lang="en-US" altLang="zh-CN" smtClean="0">
              <a:ea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zh-CN" smtClean="0">
                <a:ea typeface="黑体" panose="02010609060101010101" pitchFamily="49" charset="-122"/>
              </a:rPr>
              <a:t>下面讨论有线的宽带接入。</a:t>
            </a:r>
          </a:p>
        </p:txBody>
      </p:sp>
      <p:sp>
        <p:nvSpPr>
          <p:cNvPr id="38195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27973E5-1E02-42F9-889E-105FD2D499EF}" type="slidenum">
              <a:rPr lang="zh-CN" altLang="en-US" smtClean="0"/>
              <a:pPr eaLnBrk="1" hangingPunct="1"/>
              <a:t>30</a:t>
            </a:fld>
            <a:endParaRPr lang="en-US" altLang="zh-CN" smtClean="0"/>
          </a:p>
        </p:txBody>
      </p:sp>
      <p:sp>
        <p:nvSpPr>
          <p:cNvPr id="38195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1081316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2.6.1  ADSL </a:t>
            </a:r>
            <a:r>
              <a:rPr lang="zh-CN" altLang="en-US" smtClean="0">
                <a:ea typeface="黑体" panose="02010609060101010101" pitchFamily="49" charset="-122"/>
              </a:rPr>
              <a:t>技术</a:t>
            </a:r>
          </a:p>
        </p:txBody>
      </p:sp>
      <p:sp>
        <p:nvSpPr>
          <p:cNvPr id="38400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【</a:t>
            </a:r>
            <a:r>
              <a:rPr lang="zh-CN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非对称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】</a:t>
            </a:r>
            <a:r>
              <a:rPr lang="zh-CN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数字用户线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 ADSL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(Asymmetric Digital Subscriber Line) </a:t>
            </a:r>
            <a:r>
              <a:rPr lang="zh-CN" altLang="en-US" sz="2800" dirty="0" smtClean="0">
                <a:ea typeface="黑体" panose="02010609060101010101" pitchFamily="49" charset="-122"/>
              </a:rPr>
              <a:t>技术就是用数字技术对现有的</a:t>
            </a:r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模拟电话用户线</a:t>
            </a:r>
            <a:r>
              <a:rPr lang="zh-CN" altLang="en-US" sz="2800" dirty="0" smtClean="0">
                <a:ea typeface="黑体" panose="02010609060101010101" pitchFamily="49" charset="-122"/>
              </a:rPr>
              <a:t>进行改造，使它能够承载宽带业务。</a:t>
            </a: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标准模拟电话信号的频带被限制在 </a:t>
            </a:r>
            <a:r>
              <a:rPr lang="en-US" altLang="zh-CN" sz="2800" dirty="0" smtClean="0">
                <a:ea typeface="黑体" panose="02010609060101010101" pitchFamily="49" charset="-122"/>
              </a:rPr>
              <a:t>300~3400 Hz </a:t>
            </a:r>
            <a:r>
              <a:rPr lang="zh-CN" altLang="en-US" sz="2800" dirty="0" smtClean="0">
                <a:ea typeface="黑体" panose="02010609060101010101" pitchFamily="49" charset="-122"/>
              </a:rPr>
              <a:t>的范围内，但用户线本身实际可通过的信号频率仍然超过 </a:t>
            </a:r>
            <a:r>
              <a:rPr lang="en-US" altLang="zh-CN" sz="2800" dirty="0" smtClean="0">
                <a:ea typeface="黑体" panose="02010609060101010101" pitchFamily="49" charset="-122"/>
              </a:rPr>
              <a:t>1 MHz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ADSL </a:t>
            </a:r>
            <a:r>
              <a:rPr lang="zh-CN" altLang="en-US" sz="2800" dirty="0" smtClean="0">
                <a:ea typeface="黑体" panose="02010609060101010101" pitchFamily="49" charset="-122"/>
              </a:rPr>
              <a:t>技术就把 </a:t>
            </a:r>
            <a:r>
              <a:rPr lang="en-US" altLang="zh-CN" sz="2800" dirty="0" smtClean="0">
                <a:ea typeface="黑体" panose="02010609060101010101" pitchFamily="49" charset="-122"/>
              </a:rPr>
              <a:t>0~4 kHz </a:t>
            </a:r>
            <a:r>
              <a:rPr lang="zh-CN" altLang="en-US" sz="2800" dirty="0" smtClean="0">
                <a:ea typeface="黑体" panose="02010609060101010101" pitchFamily="49" charset="-122"/>
              </a:rPr>
              <a:t>低端频谱留给传统电话使用，而</a:t>
            </a:r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把原来没有被利用的高端频谱留给用户上网使用。</a:t>
            </a:r>
          </a:p>
          <a:p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DSL </a:t>
            </a:r>
            <a:r>
              <a:rPr lang="zh-CN" altLang="en-US" sz="2800" dirty="0" smtClean="0">
                <a:ea typeface="黑体" panose="02010609060101010101" pitchFamily="49" charset="-122"/>
              </a:rPr>
              <a:t>就是</a:t>
            </a:r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数字用户线 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(Digital Subscriber Line) </a:t>
            </a:r>
            <a:r>
              <a:rPr lang="zh-CN" altLang="en-US" sz="2800" dirty="0" smtClean="0">
                <a:ea typeface="黑体" panose="02010609060101010101" pitchFamily="49" charset="-122"/>
              </a:rPr>
              <a:t>的缩写。</a:t>
            </a:r>
          </a:p>
        </p:txBody>
      </p:sp>
      <p:sp>
        <p:nvSpPr>
          <p:cNvPr id="38400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16CC6C6-41A1-4D69-AA40-DE7F38CF21EC}" type="slidenum">
              <a:rPr lang="zh-CN" altLang="en-US" smtClean="0"/>
              <a:pPr eaLnBrk="1" hangingPunct="1"/>
              <a:t>31</a:t>
            </a:fld>
            <a:endParaRPr lang="en-US" altLang="zh-CN" smtClean="0"/>
          </a:p>
        </p:txBody>
      </p:sp>
      <p:sp>
        <p:nvSpPr>
          <p:cNvPr id="38400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24884852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4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DSL </a:t>
            </a:r>
            <a:r>
              <a:rPr lang="zh-CN" altLang="en-US" smtClean="0">
                <a:ea typeface="黑体" panose="02010609060101010101" pitchFamily="49" charset="-122"/>
              </a:rPr>
              <a:t>的几种类型 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sz="28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ADSL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(Asymmetric Digital Subscriber Line)</a:t>
            </a:r>
            <a:r>
              <a:rPr lang="zh-CN" altLang="en-US" sz="2800" dirty="0" smtClean="0">
                <a:ea typeface="黑体" panose="02010609060101010101" pitchFamily="49" charset="-122"/>
              </a:rPr>
              <a:t>：非对称数字用户线</a:t>
            </a:r>
          </a:p>
          <a:p>
            <a:pPr>
              <a:spcBef>
                <a:spcPts val="1200"/>
              </a:spcBef>
            </a:pPr>
            <a:r>
              <a:rPr lang="en-US" altLang="zh-CN" sz="28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HDSL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(High speed DSL)</a:t>
            </a:r>
            <a:r>
              <a:rPr lang="zh-CN" altLang="en-US" sz="2800" dirty="0" smtClean="0">
                <a:ea typeface="黑体" panose="02010609060101010101" pitchFamily="49" charset="-122"/>
              </a:rPr>
              <a:t>：高速数字用户线</a:t>
            </a:r>
          </a:p>
          <a:p>
            <a:pPr>
              <a:spcBef>
                <a:spcPts val="1200"/>
              </a:spcBef>
            </a:pPr>
            <a:r>
              <a:rPr lang="en-US" altLang="zh-CN" sz="28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SDSL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(Single-line DSL)</a:t>
            </a:r>
            <a:r>
              <a:rPr lang="zh-CN" altLang="en-US" sz="2800" dirty="0" smtClean="0">
                <a:ea typeface="黑体" panose="02010609060101010101" pitchFamily="49" charset="-122"/>
              </a:rPr>
              <a:t>：</a:t>
            </a:r>
            <a:r>
              <a:rPr lang="en-US" altLang="zh-CN" sz="2800" dirty="0" smtClean="0">
                <a:ea typeface="黑体" panose="02010609060101010101" pitchFamily="49" charset="-122"/>
              </a:rPr>
              <a:t>1 </a:t>
            </a:r>
            <a:r>
              <a:rPr lang="zh-CN" altLang="en-US" sz="2800" dirty="0" smtClean="0">
                <a:ea typeface="黑体" panose="02010609060101010101" pitchFamily="49" charset="-122"/>
              </a:rPr>
              <a:t>对线的数字用户线</a:t>
            </a:r>
          </a:p>
          <a:p>
            <a:pPr>
              <a:spcBef>
                <a:spcPts val="1200"/>
              </a:spcBef>
            </a:pPr>
            <a:r>
              <a:rPr lang="en-US" altLang="zh-CN" sz="28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VDSL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(Very high speed DSL)</a:t>
            </a:r>
            <a:r>
              <a:rPr lang="zh-CN" altLang="en-US" sz="2800" dirty="0" smtClean="0">
                <a:ea typeface="黑体" panose="02010609060101010101" pitchFamily="49" charset="-122"/>
              </a:rPr>
              <a:t>：甚高速数字用户线</a:t>
            </a:r>
          </a:p>
          <a:p>
            <a:pPr>
              <a:spcBef>
                <a:spcPts val="1200"/>
              </a:spcBef>
            </a:pPr>
            <a:r>
              <a:rPr lang="en-US" altLang="zh-CN" sz="28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(Digital Subscriber Line) </a:t>
            </a:r>
            <a:r>
              <a:rPr lang="zh-CN" altLang="en-US" sz="2800" dirty="0" smtClean="0">
                <a:ea typeface="黑体" panose="02010609060101010101" pitchFamily="49" charset="-122"/>
              </a:rPr>
              <a:t>：数字用户线。</a:t>
            </a:r>
          </a:p>
          <a:p>
            <a:pPr>
              <a:spcBef>
                <a:spcPts val="1200"/>
              </a:spcBef>
            </a:pPr>
            <a:r>
              <a:rPr lang="en-US" altLang="zh-CN" sz="28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RADSL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 (Rate-Adaptive DSL)</a:t>
            </a:r>
            <a:r>
              <a:rPr lang="zh-CN" altLang="en-US" sz="2800" dirty="0" smtClean="0">
                <a:ea typeface="黑体" panose="02010609060101010101" pitchFamily="49" charset="-122"/>
              </a:rPr>
              <a:t>：速率自适应 </a:t>
            </a:r>
            <a:r>
              <a:rPr lang="en-US" altLang="zh-CN" sz="2800" dirty="0" smtClean="0">
                <a:ea typeface="黑体" panose="02010609060101010101" pitchFamily="49" charset="-122"/>
              </a:rPr>
              <a:t>DSL</a:t>
            </a:r>
            <a:r>
              <a:rPr lang="zh-CN" altLang="en-US" sz="2800" dirty="0" smtClean="0">
                <a:ea typeface="黑体" panose="02010609060101010101" pitchFamily="49" charset="-122"/>
              </a:rPr>
              <a:t>，是 </a:t>
            </a:r>
            <a:r>
              <a:rPr lang="en-US" altLang="zh-CN" sz="2800" dirty="0" smtClean="0">
                <a:ea typeface="黑体" panose="02010609060101010101" pitchFamily="49" charset="-122"/>
              </a:rPr>
              <a:t>ADSL </a:t>
            </a:r>
            <a:r>
              <a:rPr lang="zh-CN" altLang="en-US" sz="2800" dirty="0" smtClean="0">
                <a:ea typeface="黑体" panose="02010609060101010101" pitchFamily="49" charset="-122"/>
              </a:rPr>
              <a:t>的一个子集，可自动调节线路速率）。 </a:t>
            </a:r>
          </a:p>
        </p:txBody>
      </p:sp>
      <p:sp>
        <p:nvSpPr>
          <p:cNvPr id="38605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F9F01D8-F501-476A-B457-3B82AD3A1430}" type="slidenum">
              <a:rPr lang="zh-CN" altLang="en-US" smtClean="0"/>
              <a:pPr eaLnBrk="1" hangingPunct="1"/>
              <a:t>32</a:t>
            </a:fld>
            <a:endParaRPr lang="en-US" altLang="zh-CN" smtClean="0"/>
          </a:p>
        </p:txBody>
      </p:sp>
      <p:sp>
        <p:nvSpPr>
          <p:cNvPr id="38605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181197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z="4000" smtClean="0">
                <a:ea typeface="黑体" panose="02010609060101010101" pitchFamily="49" charset="-122"/>
              </a:rPr>
              <a:t>ADSL </a:t>
            </a:r>
            <a:r>
              <a:rPr lang="zh-CN" altLang="en-US" sz="4000" smtClean="0">
                <a:ea typeface="黑体" panose="02010609060101010101" pitchFamily="49" charset="-122"/>
              </a:rPr>
              <a:t>的传输距离</a:t>
            </a:r>
          </a:p>
        </p:txBody>
      </p:sp>
      <p:sp>
        <p:nvSpPr>
          <p:cNvPr id="38809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dirty="0" smtClean="0">
                <a:ea typeface="黑体" panose="02010609060101010101" pitchFamily="49" charset="-122"/>
              </a:rPr>
              <a:t>ADSL </a:t>
            </a:r>
            <a:r>
              <a:rPr lang="zh-CN" altLang="zh-CN" sz="2800" dirty="0" smtClean="0">
                <a:ea typeface="黑体" panose="02010609060101010101" pitchFamily="49" charset="-122"/>
              </a:rPr>
              <a:t>的</a:t>
            </a:r>
            <a:r>
              <a:rPr lang="zh-CN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传输距离</a:t>
            </a:r>
            <a:r>
              <a:rPr lang="zh-CN" altLang="zh-CN" sz="2800" dirty="0" smtClean="0">
                <a:ea typeface="黑体" panose="02010609060101010101" pitchFamily="49" charset="-122"/>
              </a:rPr>
              <a:t>取决于</a:t>
            </a:r>
            <a:r>
              <a:rPr lang="zh-CN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数据率</a:t>
            </a:r>
            <a:r>
              <a:rPr lang="zh-CN" altLang="zh-CN" sz="2800" dirty="0" smtClean="0">
                <a:ea typeface="黑体" panose="02010609060101010101" pitchFamily="49" charset="-122"/>
              </a:rPr>
              <a:t>和</a:t>
            </a:r>
            <a:r>
              <a:rPr lang="zh-CN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用户线的线径</a:t>
            </a:r>
            <a:r>
              <a:rPr lang="zh-CN" altLang="zh-CN" sz="2800" dirty="0" smtClean="0">
                <a:ea typeface="黑体" panose="02010609060101010101" pitchFamily="49" charset="-122"/>
              </a:rPr>
              <a:t>（用户线越细，信号传输时的衰减就越大）。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ADSL </a:t>
            </a:r>
            <a:r>
              <a:rPr lang="zh-CN" altLang="zh-CN" sz="2800" dirty="0" smtClean="0">
                <a:ea typeface="黑体" panose="02010609060101010101" pitchFamily="49" charset="-122"/>
              </a:rPr>
              <a:t>所能得到的最高数据传输速率与实际的用户线上的</a:t>
            </a:r>
            <a:r>
              <a:rPr lang="zh-CN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信噪比</a:t>
            </a:r>
            <a:r>
              <a:rPr lang="zh-CN" altLang="zh-CN" sz="2800" dirty="0" smtClean="0">
                <a:ea typeface="黑体" panose="02010609060101010101" pitchFamily="49" charset="-122"/>
              </a:rPr>
              <a:t>密切相关。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例如：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pPr lvl="1"/>
            <a:r>
              <a:rPr lang="en-US" altLang="zh-CN" sz="2400" dirty="0" smtClean="0">
                <a:ea typeface="黑体" panose="02010609060101010101" pitchFamily="49" charset="-122"/>
              </a:rPr>
              <a:t>0.5 </a:t>
            </a:r>
            <a:r>
              <a:rPr lang="zh-CN" altLang="en-US" sz="2400" dirty="0" smtClean="0">
                <a:ea typeface="黑体" panose="02010609060101010101" pitchFamily="49" charset="-122"/>
              </a:rPr>
              <a:t>毫米线径的用户线，传输速率为 </a:t>
            </a:r>
            <a:r>
              <a:rPr lang="en-US" altLang="zh-CN" sz="2400" dirty="0" smtClean="0">
                <a:ea typeface="黑体" panose="02010609060101010101" pitchFamily="49" charset="-122"/>
              </a:rPr>
              <a:t>1.5 ~ 2.0 Mbit/s </a:t>
            </a:r>
            <a:r>
              <a:rPr lang="zh-CN" altLang="en-US" sz="2400" dirty="0" smtClean="0">
                <a:ea typeface="黑体" panose="02010609060101010101" pitchFamily="49" charset="-122"/>
              </a:rPr>
              <a:t>时可传送 </a:t>
            </a:r>
            <a:r>
              <a:rPr lang="en-US" altLang="zh-CN" sz="2400" dirty="0" smtClean="0">
                <a:ea typeface="黑体" panose="02010609060101010101" pitchFamily="49" charset="-122"/>
              </a:rPr>
              <a:t>5.5 </a:t>
            </a:r>
            <a:r>
              <a:rPr lang="zh-CN" altLang="en-US" sz="2400" dirty="0" smtClean="0">
                <a:ea typeface="黑体" panose="02010609060101010101" pitchFamily="49" charset="-122"/>
              </a:rPr>
              <a:t>公里，但当传输速率提高到 </a:t>
            </a:r>
            <a:r>
              <a:rPr lang="en-US" altLang="zh-CN" sz="2400" dirty="0" smtClean="0">
                <a:ea typeface="黑体" panose="02010609060101010101" pitchFamily="49" charset="-122"/>
              </a:rPr>
              <a:t>6.1 Mbit/s </a:t>
            </a:r>
            <a:r>
              <a:rPr lang="zh-CN" altLang="en-US" sz="2400" dirty="0" smtClean="0">
                <a:ea typeface="黑体" panose="02010609060101010101" pitchFamily="49" charset="-122"/>
              </a:rPr>
              <a:t>时，传输距离就缩短为 </a:t>
            </a:r>
            <a:r>
              <a:rPr lang="en-US" altLang="zh-CN" sz="2400" dirty="0" smtClean="0">
                <a:ea typeface="黑体" panose="02010609060101010101" pitchFamily="49" charset="-122"/>
              </a:rPr>
              <a:t>3.7 </a:t>
            </a:r>
            <a:r>
              <a:rPr lang="zh-CN" altLang="en-US" sz="2400" dirty="0" smtClean="0">
                <a:ea typeface="黑体" panose="02010609060101010101" pitchFamily="49" charset="-122"/>
              </a:rPr>
              <a:t>公里。</a:t>
            </a:r>
          </a:p>
          <a:p>
            <a:pPr lvl="1"/>
            <a:r>
              <a:rPr lang="zh-CN" altLang="en-US" sz="2400" dirty="0" smtClean="0">
                <a:ea typeface="黑体" panose="02010609060101010101" pitchFamily="49" charset="-122"/>
              </a:rPr>
              <a:t>如果把用户线的线径减小到 </a:t>
            </a:r>
            <a:r>
              <a:rPr lang="en-US" altLang="zh-CN" sz="2400" dirty="0" smtClean="0">
                <a:ea typeface="黑体" panose="02010609060101010101" pitchFamily="49" charset="-122"/>
              </a:rPr>
              <a:t>0.4 </a:t>
            </a:r>
            <a:r>
              <a:rPr lang="zh-CN" altLang="en-US" sz="2400" dirty="0" smtClean="0">
                <a:ea typeface="黑体" panose="02010609060101010101" pitchFamily="49" charset="-122"/>
              </a:rPr>
              <a:t>毫米，那么在 </a:t>
            </a:r>
            <a:r>
              <a:rPr lang="en-US" altLang="zh-CN" sz="2400" dirty="0" smtClean="0">
                <a:ea typeface="黑体" panose="02010609060101010101" pitchFamily="49" charset="-122"/>
              </a:rPr>
              <a:t>6.1 Mbit/s </a:t>
            </a:r>
            <a:r>
              <a:rPr lang="zh-CN" altLang="en-US" sz="2400" dirty="0" smtClean="0">
                <a:ea typeface="黑体" panose="02010609060101010101" pitchFamily="49" charset="-122"/>
              </a:rPr>
              <a:t>的传输速率下就只能传送 </a:t>
            </a:r>
            <a:r>
              <a:rPr lang="en-US" altLang="zh-CN" sz="2400" dirty="0" smtClean="0">
                <a:ea typeface="黑体" panose="02010609060101010101" pitchFamily="49" charset="-122"/>
              </a:rPr>
              <a:t>2.7 </a:t>
            </a:r>
            <a:r>
              <a:rPr lang="zh-CN" altLang="en-US" sz="2400" dirty="0" smtClean="0">
                <a:ea typeface="黑体" panose="02010609060101010101" pitchFamily="49" charset="-122"/>
              </a:rPr>
              <a:t>公里。</a:t>
            </a:r>
          </a:p>
        </p:txBody>
      </p:sp>
      <p:sp>
        <p:nvSpPr>
          <p:cNvPr id="38809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1CF472B-387B-4056-BD8A-FECE9B1E90AC}" type="slidenum">
              <a:rPr lang="zh-CN" altLang="en-US" smtClean="0"/>
              <a:pPr eaLnBrk="1" hangingPunct="1"/>
              <a:t>33</a:t>
            </a:fld>
            <a:endParaRPr lang="en-US" altLang="zh-CN" smtClean="0"/>
          </a:p>
        </p:txBody>
      </p:sp>
      <p:sp>
        <p:nvSpPr>
          <p:cNvPr id="38810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789675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dirty="0" smtClean="0">
                <a:ea typeface="黑体" panose="02010609060101010101" pitchFamily="49" charset="-122"/>
              </a:rPr>
              <a:t>ADSL </a:t>
            </a:r>
            <a:r>
              <a:rPr lang="zh-CN" altLang="en-US" dirty="0" smtClean="0">
                <a:ea typeface="黑体" panose="02010609060101010101" pitchFamily="49" charset="-122"/>
              </a:rPr>
              <a:t>的特点</a:t>
            </a:r>
          </a:p>
        </p:txBody>
      </p:sp>
      <p:sp>
        <p:nvSpPr>
          <p:cNvPr id="39014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上行和下行带宽做成不对称的。</a:t>
            </a: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上行指从用户到 </a:t>
            </a:r>
            <a:r>
              <a:rPr lang="en-US" altLang="zh-CN" dirty="0" smtClean="0">
                <a:ea typeface="黑体" panose="02010609060101010101" pitchFamily="49" charset="-122"/>
              </a:rPr>
              <a:t>ISP</a:t>
            </a:r>
            <a:r>
              <a:rPr lang="zh-CN" altLang="en-US" dirty="0" smtClean="0">
                <a:ea typeface="黑体" panose="02010609060101010101" pitchFamily="49" charset="-122"/>
              </a:rPr>
              <a:t>，而下行指从 </a:t>
            </a:r>
            <a:r>
              <a:rPr lang="en-US" altLang="zh-CN" dirty="0" smtClean="0">
                <a:ea typeface="黑体" panose="02010609060101010101" pitchFamily="49" charset="-122"/>
              </a:rPr>
              <a:t>ISP </a:t>
            </a:r>
            <a:r>
              <a:rPr lang="zh-CN" altLang="en-US" dirty="0" smtClean="0">
                <a:ea typeface="黑体" panose="02010609060101010101" pitchFamily="49" charset="-122"/>
              </a:rPr>
              <a:t>到用户。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ADSL </a:t>
            </a:r>
            <a:r>
              <a:rPr lang="zh-CN" altLang="en-US" dirty="0" smtClean="0">
                <a:ea typeface="黑体" panose="02010609060101010101" pitchFamily="49" charset="-122"/>
              </a:rPr>
              <a:t>在用户线（铜线）的两端各安装一个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ADSL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调制解调器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我国目前采用的方案是</a:t>
            </a:r>
            <a:r>
              <a:rPr lang="zh-CN" altLang="en-US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离散多音调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DMT </a:t>
            </a:r>
            <a:r>
              <a:rPr lang="en-US" altLang="zh-CN" u="sng" dirty="0" smtClean="0">
                <a:ea typeface="黑体" panose="02010609060101010101" pitchFamily="49" charset="-122"/>
              </a:rPr>
              <a:t>(Discrete Multi-Tone)</a:t>
            </a:r>
            <a:r>
              <a:rPr lang="zh-CN" altLang="en-US" dirty="0" smtClean="0">
                <a:ea typeface="黑体" panose="02010609060101010101" pitchFamily="49" charset="-122"/>
              </a:rPr>
              <a:t>调制技术。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这里的“多音调”就是“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多载波</a:t>
            </a:r>
            <a:r>
              <a:rPr lang="zh-CN" altLang="en-US" dirty="0" smtClean="0">
                <a:ea typeface="黑体" panose="02010609060101010101" pitchFamily="49" charset="-122"/>
              </a:rPr>
              <a:t>”或“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多子信道</a:t>
            </a:r>
            <a:r>
              <a:rPr lang="zh-CN" altLang="en-US" dirty="0" smtClean="0">
                <a:ea typeface="黑体" panose="02010609060101010101" pitchFamily="49" charset="-122"/>
              </a:rPr>
              <a:t>”的意思。</a:t>
            </a:r>
          </a:p>
        </p:txBody>
      </p:sp>
      <p:sp>
        <p:nvSpPr>
          <p:cNvPr id="39014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6E10B19-5F7A-4F57-A840-D6EFE6896C3F}" type="slidenum">
              <a:rPr lang="zh-CN" altLang="en-US" smtClean="0"/>
              <a:pPr eaLnBrk="1" hangingPunct="1"/>
              <a:t>34</a:t>
            </a:fld>
            <a:endParaRPr lang="en-US" altLang="zh-CN" smtClean="0"/>
          </a:p>
        </p:txBody>
      </p:sp>
      <p:sp>
        <p:nvSpPr>
          <p:cNvPr id="39014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1634811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DMT </a:t>
            </a:r>
            <a:r>
              <a:rPr lang="zh-CN" altLang="en-US" smtClean="0">
                <a:ea typeface="黑体" panose="02010609060101010101" pitchFamily="49" charset="-122"/>
              </a:rPr>
              <a:t>技术</a:t>
            </a:r>
          </a:p>
        </p:txBody>
      </p:sp>
      <p:sp>
        <p:nvSpPr>
          <p:cNvPr id="39219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DMT </a:t>
            </a:r>
            <a:r>
              <a:rPr lang="zh-CN" altLang="en-US" dirty="0" smtClean="0">
                <a:ea typeface="黑体" panose="02010609060101010101" pitchFamily="49" charset="-122"/>
              </a:rPr>
              <a:t>调制技术采用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频分复用</a:t>
            </a:r>
            <a:r>
              <a:rPr lang="zh-CN" altLang="en-US" dirty="0" smtClean="0">
                <a:ea typeface="黑体" panose="02010609060101010101" pitchFamily="49" charset="-122"/>
              </a:rPr>
              <a:t>的方法，把 </a:t>
            </a:r>
            <a:r>
              <a:rPr lang="en-US" altLang="zh-CN" dirty="0" smtClean="0">
                <a:ea typeface="黑体" panose="02010609060101010101" pitchFamily="49" charset="-122"/>
              </a:rPr>
              <a:t>40 kHz </a:t>
            </a:r>
            <a:r>
              <a:rPr lang="zh-CN" altLang="en-US" dirty="0" smtClean="0">
                <a:ea typeface="黑体" panose="02010609060101010101" pitchFamily="49" charset="-122"/>
              </a:rPr>
              <a:t>以上一直到 </a:t>
            </a:r>
            <a:r>
              <a:rPr lang="en-US" altLang="zh-CN" dirty="0" smtClean="0">
                <a:ea typeface="黑体" panose="02010609060101010101" pitchFamily="49" charset="-122"/>
              </a:rPr>
              <a:t>1.1 MHz </a:t>
            </a:r>
            <a:r>
              <a:rPr lang="zh-CN" altLang="en-US" dirty="0" smtClean="0">
                <a:ea typeface="黑体" panose="02010609060101010101" pitchFamily="49" charset="-122"/>
              </a:rPr>
              <a:t>的高端频谱划分为许多的子信道，其中 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25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en-US" dirty="0" smtClean="0">
                <a:ea typeface="黑体" panose="02010609060101010101" pitchFamily="49" charset="-122"/>
              </a:rPr>
              <a:t>个子信道用于上行信道，而 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249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en-US" dirty="0" smtClean="0">
                <a:ea typeface="黑体" panose="02010609060101010101" pitchFamily="49" charset="-122"/>
              </a:rPr>
              <a:t>个子信道用于下行信道。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每个子信道占据 </a:t>
            </a:r>
            <a:r>
              <a:rPr lang="en-US" altLang="zh-CN" dirty="0" smtClean="0">
                <a:ea typeface="黑体" panose="02010609060101010101" pitchFamily="49" charset="-122"/>
              </a:rPr>
              <a:t>4 kHz </a:t>
            </a:r>
            <a:r>
              <a:rPr lang="zh-CN" altLang="en-US" dirty="0" smtClean="0">
                <a:ea typeface="黑体" panose="02010609060101010101" pitchFamily="49" charset="-122"/>
              </a:rPr>
              <a:t>带宽（严格讲是 </a:t>
            </a:r>
            <a:r>
              <a:rPr lang="en-US" altLang="zh-CN" dirty="0" smtClean="0">
                <a:ea typeface="黑体" panose="02010609060101010101" pitchFamily="49" charset="-122"/>
              </a:rPr>
              <a:t>4.3125 kHz</a:t>
            </a:r>
            <a:r>
              <a:rPr lang="zh-CN" altLang="en-US" dirty="0" smtClean="0">
                <a:ea typeface="黑体" panose="02010609060101010101" pitchFamily="49" charset="-122"/>
              </a:rPr>
              <a:t>），并使用不同的载波（即不同的音调）进行数字调制。这种做法相当于在一对用户线上使用许多小的调制解调器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并行地</a:t>
            </a:r>
            <a:r>
              <a:rPr lang="zh-CN" altLang="en-US" dirty="0" smtClean="0">
                <a:ea typeface="黑体" panose="02010609060101010101" pitchFamily="49" charset="-122"/>
              </a:rPr>
              <a:t>传送数据。</a:t>
            </a:r>
          </a:p>
          <a:p>
            <a:endParaRPr lang="en-US" altLang="zh-CN" sz="2800" dirty="0" smtClean="0">
              <a:ea typeface="黑体" panose="02010609060101010101" pitchFamily="49" charset="-122"/>
            </a:endParaRPr>
          </a:p>
        </p:txBody>
      </p:sp>
      <p:sp>
        <p:nvSpPr>
          <p:cNvPr id="39219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32B767-9F44-4D85-B727-A6EC290ADE5A}" type="slidenum">
              <a:rPr lang="zh-CN" altLang="en-US" smtClean="0"/>
              <a:pPr eaLnBrk="1" hangingPunct="1"/>
              <a:t>35</a:t>
            </a:fld>
            <a:endParaRPr lang="en-US" altLang="zh-CN" smtClean="0"/>
          </a:p>
        </p:txBody>
      </p:sp>
      <p:sp>
        <p:nvSpPr>
          <p:cNvPr id="39219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2287299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DMT </a:t>
            </a:r>
            <a:r>
              <a:rPr lang="zh-CN" altLang="en-US" smtClean="0">
                <a:ea typeface="黑体" panose="02010609060101010101" pitchFamily="49" charset="-122"/>
              </a:rPr>
              <a:t>技术的频谱分布 </a:t>
            </a:r>
          </a:p>
        </p:txBody>
      </p:sp>
      <p:grpSp>
        <p:nvGrpSpPr>
          <p:cNvPr id="394242" name="组合 3"/>
          <p:cNvGrpSpPr>
            <a:grpSpLocks/>
          </p:cNvGrpSpPr>
          <p:nvPr/>
        </p:nvGrpSpPr>
        <p:grpSpPr bwMode="auto">
          <a:xfrm>
            <a:off x="560388" y="1412875"/>
            <a:ext cx="8786812" cy="4140200"/>
            <a:chOff x="560512" y="1412776"/>
            <a:chExt cx="8786950" cy="4139959"/>
          </a:xfrm>
        </p:grpSpPr>
        <p:sp>
          <p:nvSpPr>
            <p:cNvPr id="394243" name="Rectangle 194"/>
            <p:cNvSpPr>
              <a:spLocks noChangeArrowheads="1"/>
            </p:cNvSpPr>
            <p:nvPr/>
          </p:nvSpPr>
          <p:spPr bwMode="auto">
            <a:xfrm>
              <a:off x="3010212" y="2882916"/>
              <a:ext cx="1412889" cy="189312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44" name="Line 196"/>
            <p:cNvSpPr>
              <a:spLocks noChangeShapeType="1"/>
            </p:cNvSpPr>
            <p:nvPr/>
          </p:nvSpPr>
          <p:spPr bwMode="auto">
            <a:xfrm>
              <a:off x="3010212" y="1687222"/>
              <a:ext cx="48059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45" name="Rectangle 194"/>
            <p:cNvSpPr>
              <a:spLocks noChangeArrowheads="1"/>
            </p:cNvSpPr>
            <p:nvPr/>
          </p:nvSpPr>
          <p:spPr bwMode="auto">
            <a:xfrm>
              <a:off x="4423102" y="2880861"/>
              <a:ext cx="3469890" cy="1893120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46" name="Text Box 80"/>
            <p:cNvSpPr txBox="1">
              <a:spLocks noChangeArrowheads="1"/>
            </p:cNvSpPr>
            <p:nvPr/>
          </p:nvSpPr>
          <p:spPr bwMode="auto">
            <a:xfrm>
              <a:off x="3444469" y="318340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…</a:t>
              </a:r>
            </a:p>
          </p:txBody>
        </p:sp>
        <p:sp>
          <p:nvSpPr>
            <p:cNvPr id="394247" name="Text Box 83"/>
            <p:cNvSpPr txBox="1">
              <a:spLocks noChangeArrowheads="1"/>
            </p:cNvSpPr>
            <p:nvPr/>
          </p:nvSpPr>
          <p:spPr bwMode="auto">
            <a:xfrm>
              <a:off x="560512" y="2102257"/>
              <a:ext cx="8034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频谱</a:t>
              </a:r>
            </a:p>
          </p:txBody>
        </p:sp>
        <p:sp>
          <p:nvSpPr>
            <p:cNvPr id="394248" name="Line 84"/>
            <p:cNvSpPr>
              <a:spLocks noChangeShapeType="1"/>
            </p:cNvSpPr>
            <p:nvPr/>
          </p:nvSpPr>
          <p:spPr bwMode="auto">
            <a:xfrm rot="-5400000">
              <a:off x="246" y="3489284"/>
              <a:ext cx="2653929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49" name="Text Box 85"/>
            <p:cNvSpPr txBox="1">
              <a:spLocks noChangeArrowheads="1"/>
            </p:cNvSpPr>
            <p:nvPr/>
          </p:nvSpPr>
          <p:spPr bwMode="auto">
            <a:xfrm>
              <a:off x="8409385" y="4767535"/>
              <a:ext cx="8034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频率</a:t>
              </a:r>
            </a:p>
          </p:txBody>
        </p:sp>
        <p:sp>
          <p:nvSpPr>
            <p:cNvPr id="394250" name="Text Box 86"/>
            <p:cNvSpPr txBox="1">
              <a:spLocks noChangeArrowheads="1"/>
            </p:cNvSpPr>
            <p:nvPr/>
          </p:nvSpPr>
          <p:spPr bwMode="auto">
            <a:xfrm>
              <a:off x="4054454" y="1412776"/>
              <a:ext cx="3058786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1">
                  <a:solidFill>
                    <a:srgbClr val="C00000"/>
                  </a:solidFill>
                  <a:ea typeface="黑体" panose="02010609060101010101" pitchFamily="49" charset="-122"/>
                </a:rPr>
                <a:t>ADSL </a:t>
              </a:r>
              <a:r>
                <a:rPr lang="zh-CN" altLang="en-US" sz="2800" b="1">
                  <a:solidFill>
                    <a:srgbClr val="C00000"/>
                  </a:solidFill>
                  <a:ea typeface="黑体" panose="02010609060101010101" pitchFamily="49" charset="-122"/>
                </a:rPr>
                <a:t>的数字业务</a:t>
              </a:r>
            </a:p>
          </p:txBody>
        </p:sp>
        <p:sp>
          <p:nvSpPr>
            <p:cNvPr id="394251" name="Freeform 87"/>
            <p:cNvSpPr>
              <a:spLocks noChangeArrowheads="1"/>
            </p:cNvSpPr>
            <p:nvPr/>
          </p:nvSpPr>
          <p:spPr bwMode="auto">
            <a:xfrm>
              <a:off x="1327212" y="2845267"/>
              <a:ext cx="363612" cy="1944286"/>
            </a:xfrm>
            <a:custGeom>
              <a:avLst/>
              <a:gdLst>
                <a:gd name="T0" fmla="*/ 0 w 208"/>
                <a:gd name="T1" fmla="*/ 0 h 1248"/>
                <a:gd name="T2" fmla="*/ 112 w 208"/>
                <a:gd name="T3" fmla="*/ 144 h 1248"/>
                <a:gd name="T4" fmla="*/ 192 w 208"/>
                <a:gd name="T5" fmla="*/ 680 h 1248"/>
                <a:gd name="T6" fmla="*/ 208 w 208"/>
                <a:gd name="T7" fmla="*/ 1248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8" h="1248">
                  <a:moveTo>
                    <a:pt x="0" y="0"/>
                  </a:moveTo>
                  <a:cubicBezTo>
                    <a:pt x="19" y="24"/>
                    <a:pt x="80" y="31"/>
                    <a:pt x="112" y="144"/>
                  </a:cubicBezTo>
                  <a:cubicBezTo>
                    <a:pt x="144" y="257"/>
                    <a:pt x="176" y="496"/>
                    <a:pt x="192" y="680"/>
                  </a:cubicBezTo>
                  <a:cubicBezTo>
                    <a:pt x="208" y="864"/>
                    <a:pt x="205" y="1130"/>
                    <a:pt x="208" y="1248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52" name="Text Box 89"/>
            <p:cNvSpPr txBox="1">
              <a:spLocks noChangeArrowheads="1"/>
            </p:cNvSpPr>
            <p:nvPr/>
          </p:nvSpPr>
          <p:spPr bwMode="auto">
            <a:xfrm>
              <a:off x="2966089" y="1988840"/>
              <a:ext cx="142218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上行信道</a:t>
              </a:r>
            </a:p>
          </p:txBody>
        </p:sp>
        <p:sp>
          <p:nvSpPr>
            <p:cNvPr id="394253" name="Text Box 90"/>
            <p:cNvSpPr txBox="1">
              <a:spLocks noChangeArrowheads="1"/>
            </p:cNvSpPr>
            <p:nvPr/>
          </p:nvSpPr>
          <p:spPr bwMode="auto">
            <a:xfrm>
              <a:off x="1442583" y="2247255"/>
              <a:ext cx="142218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传统电话</a:t>
              </a:r>
            </a:p>
          </p:txBody>
        </p:sp>
        <p:sp>
          <p:nvSpPr>
            <p:cNvPr id="394254" name="Line 91"/>
            <p:cNvSpPr>
              <a:spLocks noChangeShapeType="1"/>
            </p:cNvSpPr>
            <p:nvPr/>
          </p:nvSpPr>
          <p:spPr bwMode="auto">
            <a:xfrm flipH="1">
              <a:off x="1562001" y="2693996"/>
              <a:ext cx="384388" cy="4426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55" name="Line 92"/>
            <p:cNvSpPr>
              <a:spLocks noChangeShapeType="1"/>
            </p:cNvSpPr>
            <p:nvPr/>
          </p:nvSpPr>
          <p:spPr bwMode="auto">
            <a:xfrm flipV="1">
              <a:off x="1327211" y="4796227"/>
              <a:ext cx="7551211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56" name="Text Box 93"/>
            <p:cNvSpPr txBox="1">
              <a:spLocks noChangeArrowheads="1"/>
            </p:cNvSpPr>
            <p:nvPr/>
          </p:nvSpPr>
          <p:spPr bwMode="auto">
            <a:xfrm>
              <a:off x="1030090" y="4802901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394257" name="Text Box 94"/>
            <p:cNvSpPr txBox="1">
              <a:spLocks noChangeArrowheads="1"/>
            </p:cNvSpPr>
            <p:nvPr/>
          </p:nvSpPr>
          <p:spPr bwMode="auto">
            <a:xfrm>
              <a:off x="1505901" y="4802901"/>
              <a:ext cx="3561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394258" name="AutoShape 110"/>
            <p:cNvSpPr>
              <a:spLocks/>
            </p:cNvSpPr>
            <p:nvPr/>
          </p:nvSpPr>
          <p:spPr bwMode="auto">
            <a:xfrm rot="5400000" flipV="1">
              <a:off x="3518635" y="1969961"/>
              <a:ext cx="302543" cy="1319390"/>
            </a:xfrm>
            <a:prstGeom prst="leftBrace">
              <a:avLst>
                <a:gd name="adj1" fmla="val 38906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59" name="AutoShape 113"/>
            <p:cNvSpPr>
              <a:spLocks/>
            </p:cNvSpPr>
            <p:nvPr/>
          </p:nvSpPr>
          <p:spPr bwMode="auto">
            <a:xfrm rot="5400000" flipV="1">
              <a:off x="6017163" y="979900"/>
              <a:ext cx="302543" cy="3299512"/>
            </a:xfrm>
            <a:prstGeom prst="leftBrace">
              <a:avLst>
                <a:gd name="adj1" fmla="val 97295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0" name="Text Box 114"/>
            <p:cNvSpPr txBox="1">
              <a:spLocks noChangeArrowheads="1"/>
            </p:cNvSpPr>
            <p:nvPr/>
          </p:nvSpPr>
          <p:spPr bwMode="auto">
            <a:xfrm>
              <a:off x="5457056" y="1988840"/>
              <a:ext cx="142218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下行信道</a:t>
              </a:r>
            </a:p>
          </p:txBody>
        </p:sp>
        <p:sp>
          <p:nvSpPr>
            <p:cNvPr id="394261" name="Text Box 143"/>
            <p:cNvSpPr txBox="1">
              <a:spLocks noChangeArrowheads="1"/>
            </p:cNvSpPr>
            <p:nvPr/>
          </p:nvSpPr>
          <p:spPr bwMode="auto">
            <a:xfrm>
              <a:off x="5896247" y="318340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…</a:t>
              </a:r>
            </a:p>
          </p:txBody>
        </p:sp>
        <p:sp>
          <p:nvSpPr>
            <p:cNvPr id="394262" name="Freeform 168"/>
            <p:cNvSpPr>
              <a:spLocks noChangeArrowheads="1"/>
            </p:cNvSpPr>
            <p:nvPr/>
          </p:nvSpPr>
          <p:spPr bwMode="auto">
            <a:xfrm>
              <a:off x="7627036" y="2878636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3" name="Freeform 169"/>
            <p:cNvSpPr>
              <a:spLocks noChangeArrowheads="1"/>
            </p:cNvSpPr>
            <p:nvPr/>
          </p:nvSpPr>
          <p:spPr bwMode="auto">
            <a:xfrm>
              <a:off x="7440036" y="2880861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4" name="Freeform 170"/>
            <p:cNvSpPr>
              <a:spLocks noChangeArrowheads="1"/>
            </p:cNvSpPr>
            <p:nvPr/>
          </p:nvSpPr>
          <p:spPr bwMode="auto">
            <a:xfrm>
              <a:off x="7253036" y="2883085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5" name="Freeform 171"/>
            <p:cNvSpPr>
              <a:spLocks noChangeArrowheads="1"/>
            </p:cNvSpPr>
            <p:nvPr/>
          </p:nvSpPr>
          <p:spPr bwMode="auto">
            <a:xfrm>
              <a:off x="7066036" y="2885310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6" name="Freeform 172"/>
            <p:cNvSpPr>
              <a:spLocks noChangeArrowheads="1"/>
            </p:cNvSpPr>
            <p:nvPr/>
          </p:nvSpPr>
          <p:spPr bwMode="auto">
            <a:xfrm>
              <a:off x="6879036" y="2887534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7" name="Freeform 173"/>
            <p:cNvSpPr>
              <a:spLocks noChangeArrowheads="1"/>
            </p:cNvSpPr>
            <p:nvPr/>
          </p:nvSpPr>
          <p:spPr bwMode="auto">
            <a:xfrm>
              <a:off x="6692036" y="2889759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8" name="Freeform 174"/>
            <p:cNvSpPr>
              <a:spLocks noChangeArrowheads="1"/>
            </p:cNvSpPr>
            <p:nvPr/>
          </p:nvSpPr>
          <p:spPr bwMode="auto">
            <a:xfrm>
              <a:off x="6505036" y="2891983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69" name="Freeform 175"/>
            <p:cNvSpPr>
              <a:spLocks noChangeArrowheads="1"/>
            </p:cNvSpPr>
            <p:nvPr/>
          </p:nvSpPr>
          <p:spPr bwMode="auto">
            <a:xfrm>
              <a:off x="6318036" y="2894208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0" name="Freeform 176"/>
            <p:cNvSpPr>
              <a:spLocks noChangeArrowheads="1"/>
            </p:cNvSpPr>
            <p:nvPr/>
          </p:nvSpPr>
          <p:spPr bwMode="auto">
            <a:xfrm>
              <a:off x="5648991" y="2880861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1" name="Freeform 177"/>
            <p:cNvSpPr>
              <a:spLocks noChangeArrowheads="1"/>
            </p:cNvSpPr>
            <p:nvPr/>
          </p:nvSpPr>
          <p:spPr bwMode="auto">
            <a:xfrm>
              <a:off x="5466147" y="2883085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2" name="Freeform 178"/>
            <p:cNvSpPr>
              <a:spLocks noChangeArrowheads="1"/>
            </p:cNvSpPr>
            <p:nvPr/>
          </p:nvSpPr>
          <p:spPr bwMode="auto">
            <a:xfrm>
              <a:off x="5283302" y="2885310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3" name="Freeform 179"/>
            <p:cNvSpPr>
              <a:spLocks noChangeArrowheads="1"/>
            </p:cNvSpPr>
            <p:nvPr/>
          </p:nvSpPr>
          <p:spPr bwMode="auto">
            <a:xfrm>
              <a:off x="5100458" y="2887534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4" name="Freeform 180"/>
            <p:cNvSpPr>
              <a:spLocks noChangeArrowheads="1"/>
            </p:cNvSpPr>
            <p:nvPr/>
          </p:nvSpPr>
          <p:spPr bwMode="auto">
            <a:xfrm>
              <a:off x="4917613" y="2889759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5" name="Freeform 181"/>
            <p:cNvSpPr>
              <a:spLocks noChangeArrowheads="1"/>
            </p:cNvSpPr>
            <p:nvPr/>
          </p:nvSpPr>
          <p:spPr bwMode="auto">
            <a:xfrm>
              <a:off x="4734769" y="2891983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6" name="Freeform 182"/>
            <p:cNvSpPr>
              <a:spLocks noChangeArrowheads="1"/>
            </p:cNvSpPr>
            <p:nvPr/>
          </p:nvSpPr>
          <p:spPr bwMode="auto">
            <a:xfrm>
              <a:off x="4551924" y="2894208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7" name="Freeform 184"/>
            <p:cNvSpPr>
              <a:spLocks noChangeArrowheads="1"/>
            </p:cNvSpPr>
            <p:nvPr/>
          </p:nvSpPr>
          <p:spPr bwMode="auto">
            <a:xfrm>
              <a:off x="4186235" y="2898657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8" name="Freeform 185"/>
            <p:cNvSpPr>
              <a:spLocks noChangeArrowheads="1"/>
            </p:cNvSpPr>
            <p:nvPr/>
          </p:nvSpPr>
          <p:spPr bwMode="auto">
            <a:xfrm>
              <a:off x="4003391" y="2900881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79" name="Freeform 186"/>
            <p:cNvSpPr>
              <a:spLocks noChangeArrowheads="1"/>
            </p:cNvSpPr>
            <p:nvPr/>
          </p:nvSpPr>
          <p:spPr bwMode="auto">
            <a:xfrm>
              <a:off x="3820546" y="2903107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80" name="Freeform 188"/>
            <p:cNvSpPr>
              <a:spLocks noChangeArrowheads="1"/>
            </p:cNvSpPr>
            <p:nvPr/>
          </p:nvSpPr>
          <p:spPr bwMode="auto">
            <a:xfrm>
              <a:off x="3375901" y="2907556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81" name="Freeform 189"/>
            <p:cNvSpPr>
              <a:spLocks noChangeArrowheads="1"/>
            </p:cNvSpPr>
            <p:nvPr/>
          </p:nvSpPr>
          <p:spPr bwMode="auto">
            <a:xfrm>
              <a:off x="3193057" y="2909780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82" name="Freeform 190"/>
            <p:cNvSpPr>
              <a:spLocks noChangeArrowheads="1"/>
            </p:cNvSpPr>
            <p:nvPr/>
          </p:nvSpPr>
          <p:spPr bwMode="auto">
            <a:xfrm>
              <a:off x="3010212" y="2912005"/>
              <a:ext cx="182845" cy="1917591"/>
            </a:xfrm>
            <a:custGeom>
              <a:avLst/>
              <a:gdLst>
                <a:gd name="T0" fmla="*/ 0 w 190"/>
                <a:gd name="T1" fmla="*/ 858 h 862"/>
                <a:gd name="T2" fmla="*/ 7 w 190"/>
                <a:gd name="T3" fmla="*/ 721 h 862"/>
                <a:gd name="T4" fmla="*/ 19 w 190"/>
                <a:gd name="T5" fmla="*/ 559 h 862"/>
                <a:gd name="T6" fmla="*/ 37 w 190"/>
                <a:gd name="T7" fmla="*/ 355 h 862"/>
                <a:gd name="T8" fmla="*/ 70 w 190"/>
                <a:gd name="T9" fmla="*/ 88 h 862"/>
                <a:gd name="T10" fmla="*/ 101 w 190"/>
                <a:gd name="T11" fmla="*/ 0 h 862"/>
                <a:gd name="T12" fmla="*/ 127 w 190"/>
                <a:gd name="T13" fmla="*/ 88 h 862"/>
                <a:gd name="T14" fmla="*/ 154 w 190"/>
                <a:gd name="T15" fmla="*/ 352 h 862"/>
                <a:gd name="T16" fmla="*/ 172 w 190"/>
                <a:gd name="T17" fmla="*/ 565 h 862"/>
                <a:gd name="T18" fmla="*/ 184 w 190"/>
                <a:gd name="T19" fmla="*/ 712 h 862"/>
                <a:gd name="T20" fmla="*/ 190 w 190"/>
                <a:gd name="T21" fmla="*/ 86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862">
                  <a:moveTo>
                    <a:pt x="0" y="858"/>
                  </a:moveTo>
                  <a:cubicBezTo>
                    <a:pt x="1" y="835"/>
                    <a:pt x="4" y="771"/>
                    <a:pt x="7" y="721"/>
                  </a:cubicBezTo>
                  <a:cubicBezTo>
                    <a:pt x="10" y="671"/>
                    <a:pt x="14" y="620"/>
                    <a:pt x="19" y="559"/>
                  </a:cubicBezTo>
                  <a:cubicBezTo>
                    <a:pt x="24" y="498"/>
                    <a:pt x="29" y="433"/>
                    <a:pt x="37" y="355"/>
                  </a:cubicBezTo>
                  <a:cubicBezTo>
                    <a:pt x="45" y="277"/>
                    <a:pt x="59" y="147"/>
                    <a:pt x="70" y="88"/>
                  </a:cubicBezTo>
                  <a:cubicBezTo>
                    <a:pt x="81" y="29"/>
                    <a:pt x="92" y="0"/>
                    <a:pt x="101" y="0"/>
                  </a:cubicBezTo>
                  <a:cubicBezTo>
                    <a:pt x="110" y="0"/>
                    <a:pt x="118" y="29"/>
                    <a:pt x="127" y="88"/>
                  </a:cubicBezTo>
                  <a:cubicBezTo>
                    <a:pt x="136" y="147"/>
                    <a:pt x="147" y="273"/>
                    <a:pt x="154" y="352"/>
                  </a:cubicBezTo>
                  <a:cubicBezTo>
                    <a:pt x="161" y="431"/>
                    <a:pt x="167" y="505"/>
                    <a:pt x="172" y="565"/>
                  </a:cubicBezTo>
                  <a:cubicBezTo>
                    <a:pt x="177" y="625"/>
                    <a:pt x="181" y="663"/>
                    <a:pt x="184" y="712"/>
                  </a:cubicBezTo>
                  <a:cubicBezTo>
                    <a:pt x="187" y="761"/>
                    <a:pt x="189" y="831"/>
                    <a:pt x="190" y="8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8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94283" name="Text Box 191"/>
            <p:cNvSpPr txBox="1">
              <a:spLocks noChangeArrowheads="1"/>
            </p:cNvSpPr>
            <p:nvPr/>
          </p:nvSpPr>
          <p:spPr bwMode="auto">
            <a:xfrm>
              <a:off x="8409385" y="5091070"/>
              <a:ext cx="93807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(kHz)</a:t>
              </a:r>
            </a:p>
          </p:txBody>
        </p:sp>
        <p:sp>
          <p:nvSpPr>
            <p:cNvPr id="394284" name="Text Box 192"/>
            <p:cNvSpPr txBox="1">
              <a:spLocks noChangeArrowheads="1"/>
            </p:cNvSpPr>
            <p:nvPr/>
          </p:nvSpPr>
          <p:spPr bwMode="auto">
            <a:xfrm>
              <a:off x="2642446" y="4829596"/>
              <a:ext cx="7072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~40</a:t>
              </a:r>
            </a:p>
          </p:txBody>
        </p:sp>
        <p:sp>
          <p:nvSpPr>
            <p:cNvPr id="394285" name="Text Box 193"/>
            <p:cNvSpPr txBox="1">
              <a:spLocks noChangeArrowheads="1"/>
            </p:cNvSpPr>
            <p:nvPr/>
          </p:nvSpPr>
          <p:spPr bwMode="auto">
            <a:xfrm>
              <a:off x="4047025" y="4829596"/>
              <a:ext cx="8787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~138</a:t>
              </a:r>
            </a:p>
          </p:txBody>
        </p:sp>
        <p:sp>
          <p:nvSpPr>
            <p:cNvPr id="394286" name="Text Box 195"/>
            <p:cNvSpPr txBox="1">
              <a:spLocks noChangeArrowheads="1"/>
            </p:cNvSpPr>
            <p:nvPr/>
          </p:nvSpPr>
          <p:spPr bwMode="auto">
            <a:xfrm>
              <a:off x="7329264" y="4829596"/>
              <a:ext cx="10332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400" b="1">
                  <a:solidFill>
                    <a:srgbClr val="000099"/>
                  </a:solidFill>
                  <a:ea typeface="黑体" panose="02010609060101010101" pitchFamily="49" charset="-122"/>
                </a:rPr>
                <a:t>~1100</a:t>
              </a:r>
            </a:p>
          </p:txBody>
        </p:sp>
      </p:grpSp>
      <p:sp>
        <p:nvSpPr>
          <p:cNvPr id="39428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F08269C-333B-4EEC-9B7D-90288FFBED43}" type="slidenum">
              <a:rPr lang="zh-CN" altLang="en-US" smtClean="0"/>
              <a:pPr eaLnBrk="1" hangingPunct="1"/>
              <a:t>36</a:t>
            </a:fld>
            <a:endParaRPr lang="en-US" altLang="zh-CN" smtClean="0"/>
          </a:p>
        </p:txBody>
      </p:sp>
      <p:sp>
        <p:nvSpPr>
          <p:cNvPr id="394288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4057569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8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ADSL </a:t>
            </a:r>
            <a:r>
              <a:rPr lang="zh-CN" altLang="en-US" smtClean="0">
                <a:ea typeface="黑体" panose="02010609060101010101" pitchFamily="49" charset="-122"/>
              </a:rPr>
              <a:t>的数据率</a:t>
            </a:r>
          </a:p>
        </p:txBody>
      </p:sp>
      <p:sp>
        <p:nvSpPr>
          <p:cNvPr id="39629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400" dirty="0" smtClean="0">
                <a:ea typeface="黑体" panose="02010609060101010101" pitchFamily="49" charset="-122"/>
              </a:rPr>
              <a:t>由于用户线的具体条件往往相差很大（距离、线径、受到相邻用户线的干扰程度等都不同），因此 </a:t>
            </a:r>
            <a:r>
              <a:rPr lang="en-US" altLang="zh-CN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ADSL </a:t>
            </a:r>
            <a:r>
              <a:rPr lang="zh-CN" altLang="en-US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采用自适应调制技术使用户线能够传送尽可能高的数据率。</a:t>
            </a:r>
          </a:p>
          <a:p>
            <a:r>
              <a:rPr lang="zh-CN" altLang="en-US" sz="2400" dirty="0" smtClean="0">
                <a:ea typeface="黑体" panose="02010609060101010101" pitchFamily="49" charset="-122"/>
              </a:rPr>
              <a:t>当 </a:t>
            </a:r>
            <a:r>
              <a:rPr lang="en-US" altLang="zh-CN" sz="2400" dirty="0" smtClean="0">
                <a:ea typeface="黑体" panose="02010609060101010101" pitchFamily="49" charset="-122"/>
              </a:rPr>
              <a:t>ADSL </a:t>
            </a:r>
            <a:r>
              <a:rPr lang="zh-CN" altLang="en-US" sz="2400" dirty="0" smtClean="0">
                <a:ea typeface="黑体" panose="02010609060101010101" pitchFamily="49" charset="-122"/>
              </a:rPr>
              <a:t>启动时，用户线两端的 </a:t>
            </a:r>
            <a:r>
              <a:rPr lang="en-US" altLang="zh-CN" sz="2400" dirty="0" smtClean="0">
                <a:ea typeface="黑体" panose="02010609060101010101" pitchFamily="49" charset="-122"/>
              </a:rPr>
              <a:t>ADSL </a:t>
            </a:r>
            <a:r>
              <a:rPr lang="zh-CN" altLang="en-US" sz="2400" dirty="0" smtClean="0">
                <a:ea typeface="黑体" panose="02010609060101010101" pitchFamily="49" charset="-122"/>
              </a:rPr>
              <a:t>调制解调器就测试可用的频率、各子信道受到的干扰情况，以及在每一个频率上测试信号的传输质量。</a:t>
            </a:r>
          </a:p>
          <a:p>
            <a:r>
              <a:rPr lang="en-US" altLang="zh-CN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ADSL </a:t>
            </a:r>
            <a:r>
              <a:rPr lang="zh-CN" altLang="en-US" sz="2400" dirty="0" smtClean="0">
                <a:solidFill>
                  <a:srgbClr val="FF0000"/>
                </a:solidFill>
                <a:ea typeface="黑体" panose="02010609060101010101" pitchFamily="49" charset="-122"/>
              </a:rPr>
              <a:t>不能保证固定的数据率。</a:t>
            </a:r>
            <a:r>
              <a:rPr lang="zh-CN" altLang="en-US" sz="2400" dirty="0" smtClean="0">
                <a:ea typeface="黑体" panose="02010609060101010101" pitchFamily="49" charset="-122"/>
              </a:rPr>
              <a:t>对于质量很差的用户线甚至无法开通 </a:t>
            </a:r>
            <a:r>
              <a:rPr lang="en-US" altLang="zh-CN" sz="2400" dirty="0" smtClean="0">
                <a:ea typeface="黑体" panose="02010609060101010101" pitchFamily="49" charset="-122"/>
              </a:rPr>
              <a:t>ADSL</a:t>
            </a:r>
            <a:r>
              <a:rPr lang="zh-CN" altLang="en-US" sz="2400" dirty="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sz="2400" dirty="0" smtClean="0">
                <a:ea typeface="黑体" panose="02010609060101010101" pitchFamily="49" charset="-122"/>
              </a:rPr>
              <a:t>通常下行数据率在 </a:t>
            </a:r>
            <a:r>
              <a:rPr lang="en-US" altLang="zh-CN" sz="2400" dirty="0" smtClean="0">
                <a:ea typeface="黑体" panose="02010609060101010101" pitchFamily="49" charset="-122"/>
              </a:rPr>
              <a:t>32 </a:t>
            </a:r>
            <a:r>
              <a:rPr lang="en-US" altLang="zh-CN" sz="2400" dirty="0" err="1" smtClean="0">
                <a:ea typeface="黑体" panose="02010609060101010101" pitchFamily="49" charset="-122"/>
              </a:rPr>
              <a:t>kbit</a:t>
            </a:r>
            <a:r>
              <a:rPr lang="en-US" altLang="zh-CN" sz="2400" dirty="0" smtClean="0">
                <a:ea typeface="黑体" panose="02010609060101010101" pitchFamily="49" charset="-122"/>
              </a:rPr>
              <a:t>/s </a:t>
            </a:r>
            <a:r>
              <a:rPr lang="zh-CN" altLang="en-US" sz="2400" dirty="0" smtClean="0">
                <a:ea typeface="黑体" panose="02010609060101010101" pitchFamily="49" charset="-122"/>
              </a:rPr>
              <a:t>到 </a:t>
            </a:r>
            <a:r>
              <a:rPr lang="en-US" altLang="zh-CN" sz="2400" dirty="0" smtClean="0">
                <a:ea typeface="黑体" panose="02010609060101010101" pitchFamily="49" charset="-122"/>
              </a:rPr>
              <a:t>6.4 Mbit/s </a:t>
            </a:r>
            <a:r>
              <a:rPr lang="zh-CN" altLang="en-US" sz="2400" dirty="0" smtClean="0">
                <a:ea typeface="黑体" panose="02010609060101010101" pitchFamily="49" charset="-122"/>
              </a:rPr>
              <a:t>之间，而上行数据率在 </a:t>
            </a:r>
            <a:r>
              <a:rPr lang="en-US" altLang="zh-CN" sz="2400" dirty="0" smtClean="0">
                <a:ea typeface="黑体" panose="02010609060101010101" pitchFamily="49" charset="-122"/>
              </a:rPr>
              <a:t>32 </a:t>
            </a:r>
            <a:r>
              <a:rPr lang="en-US" altLang="zh-CN" sz="2400" dirty="0" err="1" smtClean="0">
                <a:ea typeface="黑体" panose="02010609060101010101" pitchFamily="49" charset="-122"/>
              </a:rPr>
              <a:t>kbit</a:t>
            </a:r>
            <a:r>
              <a:rPr lang="en-US" altLang="zh-CN" sz="2400" dirty="0" smtClean="0">
                <a:ea typeface="黑体" panose="02010609060101010101" pitchFamily="49" charset="-122"/>
              </a:rPr>
              <a:t>/s </a:t>
            </a:r>
            <a:r>
              <a:rPr lang="zh-CN" altLang="en-US" sz="2400" dirty="0" smtClean="0">
                <a:ea typeface="黑体" panose="02010609060101010101" pitchFamily="49" charset="-122"/>
              </a:rPr>
              <a:t>到 </a:t>
            </a:r>
            <a:r>
              <a:rPr lang="en-US" altLang="zh-CN" sz="2400" dirty="0" smtClean="0">
                <a:ea typeface="黑体" panose="02010609060101010101" pitchFamily="49" charset="-122"/>
              </a:rPr>
              <a:t>640 </a:t>
            </a:r>
            <a:r>
              <a:rPr lang="en-US" altLang="zh-CN" sz="2400" dirty="0" err="1" smtClean="0">
                <a:ea typeface="黑体" panose="02010609060101010101" pitchFamily="49" charset="-122"/>
              </a:rPr>
              <a:t>kbit</a:t>
            </a:r>
            <a:r>
              <a:rPr lang="en-US" altLang="zh-CN" sz="2400" dirty="0" smtClean="0">
                <a:ea typeface="黑体" panose="02010609060101010101" pitchFamily="49" charset="-122"/>
              </a:rPr>
              <a:t>/s </a:t>
            </a:r>
            <a:r>
              <a:rPr lang="zh-CN" altLang="en-US" sz="2400" dirty="0" smtClean="0">
                <a:ea typeface="黑体" panose="02010609060101010101" pitchFamily="49" charset="-122"/>
              </a:rPr>
              <a:t>之间。</a:t>
            </a:r>
          </a:p>
        </p:txBody>
      </p:sp>
      <p:sp>
        <p:nvSpPr>
          <p:cNvPr id="39629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0258343-94FC-4D26-9B63-4B37F7C069EF}" type="slidenum">
              <a:rPr lang="zh-CN" altLang="en-US" smtClean="0"/>
              <a:pPr eaLnBrk="1" hangingPunct="1"/>
              <a:t>37</a:t>
            </a:fld>
            <a:endParaRPr lang="en-US" altLang="zh-CN" smtClean="0"/>
          </a:p>
        </p:txBody>
      </p:sp>
      <p:sp>
        <p:nvSpPr>
          <p:cNvPr id="39629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11607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ADSL </a:t>
            </a:r>
            <a:r>
              <a:rPr lang="zh-CN" altLang="en-US" smtClean="0">
                <a:ea typeface="黑体" panose="02010609060101010101" pitchFamily="49" charset="-122"/>
              </a:rPr>
              <a:t>的组成 </a:t>
            </a:r>
          </a:p>
        </p:txBody>
      </p:sp>
      <p:sp>
        <p:nvSpPr>
          <p:cNvPr id="398338" name="AutoShape 3"/>
          <p:cNvSpPr>
            <a:spLocks noChangeArrowheads="1"/>
          </p:cNvSpPr>
          <p:nvPr/>
        </p:nvSpPr>
        <p:spPr bwMode="auto">
          <a:xfrm>
            <a:off x="2668588" y="1981200"/>
            <a:ext cx="2262187" cy="2816225"/>
          </a:xfrm>
          <a:prstGeom prst="roundRect">
            <a:avLst>
              <a:gd name="adj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39" name="Freeform 4"/>
          <p:cNvSpPr>
            <a:spLocks noChangeArrowheads="1"/>
          </p:cNvSpPr>
          <p:nvPr/>
        </p:nvSpPr>
        <p:spPr bwMode="auto">
          <a:xfrm>
            <a:off x="1076325" y="1524000"/>
            <a:ext cx="465138" cy="1420813"/>
          </a:xfrm>
          <a:custGeom>
            <a:avLst/>
            <a:gdLst>
              <a:gd name="T0" fmla="*/ 280 w 280"/>
              <a:gd name="T1" fmla="*/ 600 h 600"/>
              <a:gd name="T2" fmla="*/ 144 w 280"/>
              <a:gd name="T3" fmla="*/ 200 h 600"/>
              <a:gd name="T4" fmla="*/ 112 w 280"/>
              <a:gd name="T5" fmla="*/ 280 h 600"/>
              <a:gd name="T6" fmla="*/ 0 w 280"/>
              <a:gd name="T7" fmla="*/ 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0" h="600">
                <a:moveTo>
                  <a:pt x="280" y="600"/>
                </a:moveTo>
                <a:lnTo>
                  <a:pt x="144" y="200"/>
                </a:lnTo>
                <a:lnTo>
                  <a:pt x="112" y="28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40" name="Line 5"/>
          <p:cNvSpPr>
            <a:spLocks noChangeShapeType="1"/>
          </p:cNvSpPr>
          <p:nvPr/>
        </p:nvSpPr>
        <p:spPr bwMode="auto">
          <a:xfrm rot="-5400000">
            <a:off x="2789238" y="2951162"/>
            <a:ext cx="0" cy="714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41" name="Freeform 6"/>
          <p:cNvSpPr>
            <a:spLocks noChangeArrowheads="1"/>
          </p:cNvSpPr>
          <p:nvPr/>
        </p:nvSpPr>
        <p:spPr bwMode="auto">
          <a:xfrm rot="-989619">
            <a:off x="5233988" y="3068638"/>
            <a:ext cx="606425" cy="1387475"/>
          </a:xfrm>
          <a:custGeom>
            <a:avLst/>
            <a:gdLst>
              <a:gd name="T0" fmla="*/ 0 w 366"/>
              <a:gd name="T1" fmla="*/ 0 h 702"/>
              <a:gd name="T2" fmla="*/ 138 w 366"/>
              <a:gd name="T3" fmla="*/ 343 h 702"/>
              <a:gd name="T4" fmla="*/ 168 w 366"/>
              <a:gd name="T5" fmla="*/ 252 h 702"/>
              <a:gd name="T6" fmla="*/ 366 w 366"/>
              <a:gd name="T7" fmla="*/ 702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66" h="702">
                <a:moveTo>
                  <a:pt x="0" y="0"/>
                </a:moveTo>
                <a:lnTo>
                  <a:pt x="138" y="343"/>
                </a:lnTo>
                <a:lnTo>
                  <a:pt x="168" y="252"/>
                </a:lnTo>
                <a:lnTo>
                  <a:pt x="366" y="702"/>
                </a:lnTo>
              </a:path>
            </a:pathLst>
          </a:custGeom>
          <a:noFill/>
          <a:ln w="28575">
            <a:solidFill>
              <a:srgbClr val="3333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pic>
        <p:nvPicPr>
          <p:cNvPr id="398342" name="Picture 7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100" y="1981200"/>
            <a:ext cx="1139825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43" name="AutoShape 8"/>
          <p:cNvSpPr>
            <a:spLocks noChangeArrowheads="1"/>
          </p:cNvSpPr>
          <p:nvPr/>
        </p:nvSpPr>
        <p:spPr bwMode="auto">
          <a:xfrm>
            <a:off x="3773488" y="3275013"/>
            <a:ext cx="1030287" cy="569912"/>
          </a:xfrm>
          <a:prstGeom prst="cube">
            <a:avLst>
              <a:gd name="adj" fmla="val 25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44" name="Text Box 9"/>
          <p:cNvSpPr txBox="1">
            <a:spLocks noChangeArrowheads="1"/>
          </p:cNvSpPr>
          <p:nvPr/>
        </p:nvSpPr>
        <p:spPr bwMode="auto">
          <a:xfrm>
            <a:off x="3711575" y="3417888"/>
            <a:ext cx="96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ATU-C</a:t>
            </a:r>
          </a:p>
        </p:txBody>
      </p:sp>
      <p:sp>
        <p:nvSpPr>
          <p:cNvPr id="398345" name="AutoShape 10"/>
          <p:cNvSpPr>
            <a:spLocks noChangeArrowheads="1"/>
          </p:cNvSpPr>
          <p:nvPr/>
        </p:nvSpPr>
        <p:spPr bwMode="auto">
          <a:xfrm>
            <a:off x="3773488" y="2771775"/>
            <a:ext cx="1030287" cy="571500"/>
          </a:xfrm>
          <a:prstGeom prst="cube">
            <a:avLst>
              <a:gd name="adj" fmla="val 25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46" name="Text Box 11"/>
          <p:cNvSpPr txBox="1">
            <a:spLocks noChangeArrowheads="1"/>
          </p:cNvSpPr>
          <p:nvPr/>
        </p:nvSpPr>
        <p:spPr bwMode="auto">
          <a:xfrm>
            <a:off x="3711575" y="2897188"/>
            <a:ext cx="96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ATU-C</a:t>
            </a:r>
          </a:p>
        </p:txBody>
      </p:sp>
      <p:pic>
        <p:nvPicPr>
          <p:cNvPr id="398347" name="Picture 1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175" y="1600200"/>
            <a:ext cx="3095625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48" name="Line 13"/>
          <p:cNvSpPr>
            <a:spLocks noChangeShapeType="1"/>
          </p:cNvSpPr>
          <p:nvPr/>
        </p:nvSpPr>
        <p:spPr bwMode="auto">
          <a:xfrm>
            <a:off x="7037388" y="3117850"/>
            <a:ext cx="0" cy="568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pic>
        <p:nvPicPr>
          <p:cNvPr id="398349" name="Picture 14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825" y="3521075"/>
            <a:ext cx="614363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50" name="AutoShape 15"/>
          <p:cNvSpPr>
            <a:spLocks noChangeArrowheads="1"/>
          </p:cNvSpPr>
          <p:nvPr/>
        </p:nvSpPr>
        <p:spPr bwMode="auto">
          <a:xfrm>
            <a:off x="7375525" y="2822575"/>
            <a:ext cx="1030288" cy="569913"/>
          </a:xfrm>
          <a:prstGeom prst="cube">
            <a:avLst>
              <a:gd name="adj" fmla="val 25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51" name="Text Box 16"/>
          <p:cNvSpPr txBox="1">
            <a:spLocks noChangeArrowheads="1"/>
          </p:cNvSpPr>
          <p:nvPr/>
        </p:nvSpPr>
        <p:spPr bwMode="auto">
          <a:xfrm>
            <a:off x="7302500" y="2962275"/>
            <a:ext cx="96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ATU-R</a:t>
            </a:r>
          </a:p>
        </p:txBody>
      </p:sp>
      <p:pic>
        <p:nvPicPr>
          <p:cNvPr id="398352" name="Picture 17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2459038"/>
            <a:ext cx="2320925" cy="1893887"/>
          </a:xfrm>
          <a:prstGeom prst="rect">
            <a:avLst/>
          </a:prstGeom>
          <a:noFill/>
          <a:ln>
            <a:noFill/>
          </a:ln>
          <a:effectLst>
            <a:outerShdw dist="28398" dir="3806097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53" name="Freeform 18"/>
          <p:cNvSpPr>
            <a:spLocks noChangeArrowheads="1"/>
          </p:cNvSpPr>
          <p:nvPr/>
        </p:nvSpPr>
        <p:spPr bwMode="auto">
          <a:xfrm>
            <a:off x="4724400" y="3068638"/>
            <a:ext cx="2659063" cy="96837"/>
          </a:xfrm>
          <a:custGeom>
            <a:avLst/>
            <a:gdLst>
              <a:gd name="T0" fmla="*/ 1608 w 1608"/>
              <a:gd name="T1" fmla="*/ 48 h 48"/>
              <a:gd name="T2" fmla="*/ 790 w 1608"/>
              <a:gd name="T3" fmla="*/ 48 h 48"/>
              <a:gd name="T4" fmla="*/ 844 w 1608"/>
              <a:gd name="T5" fmla="*/ 1 h 48"/>
              <a:gd name="T6" fmla="*/ 0 w 1608"/>
              <a:gd name="T7" fmla="*/ 0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08" h="48">
                <a:moveTo>
                  <a:pt x="1608" y="48"/>
                </a:moveTo>
                <a:lnTo>
                  <a:pt x="790" y="48"/>
                </a:lnTo>
                <a:lnTo>
                  <a:pt x="844" y="1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54" name="AutoShape 19"/>
          <p:cNvSpPr>
            <a:spLocks noChangeArrowheads="1"/>
          </p:cNvSpPr>
          <p:nvPr/>
        </p:nvSpPr>
        <p:spPr bwMode="auto">
          <a:xfrm>
            <a:off x="6956425" y="3003550"/>
            <a:ext cx="238125" cy="284163"/>
          </a:xfrm>
          <a:prstGeom prst="cube">
            <a:avLst>
              <a:gd name="adj" fmla="val 25000"/>
            </a:avLst>
          </a:prstGeom>
          <a:solidFill>
            <a:srgbClr val="969696"/>
          </a:solidFill>
          <a:ln w="9525">
            <a:solidFill>
              <a:srgbClr val="333333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55" name="AutoShape 20"/>
          <p:cNvSpPr>
            <a:spLocks noChangeArrowheads="1"/>
          </p:cNvSpPr>
          <p:nvPr/>
        </p:nvSpPr>
        <p:spPr bwMode="auto">
          <a:xfrm>
            <a:off x="4972050" y="2928938"/>
            <a:ext cx="239713" cy="282575"/>
          </a:xfrm>
          <a:prstGeom prst="cube">
            <a:avLst>
              <a:gd name="adj" fmla="val 25000"/>
            </a:avLst>
          </a:prstGeom>
          <a:solidFill>
            <a:srgbClr val="969696"/>
          </a:solidFill>
          <a:ln w="9525">
            <a:solidFill>
              <a:srgbClr val="333333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56" name="AutoShape 21"/>
          <p:cNvSpPr>
            <a:spLocks noChangeArrowheads="1"/>
          </p:cNvSpPr>
          <p:nvPr/>
        </p:nvSpPr>
        <p:spPr bwMode="auto">
          <a:xfrm>
            <a:off x="3773488" y="2282825"/>
            <a:ext cx="1030287" cy="569913"/>
          </a:xfrm>
          <a:prstGeom prst="cube">
            <a:avLst>
              <a:gd name="adj" fmla="val 25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57" name="Text Box 22"/>
          <p:cNvSpPr txBox="1">
            <a:spLocks noChangeArrowheads="1"/>
          </p:cNvSpPr>
          <p:nvPr/>
        </p:nvSpPr>
        <p:spPr bwMode="auto">
          <a:xfrm>
            <a:off x="3711575" y="2451100"/>
            <a:ext cx="965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ATU-C</a:t>
            </a:r>
          </a:p>
        </p:txBody>
      </p:sp>
      <p:sp>
        <p:nvSpPr>
          <p:cNvPr id="398358" name="Freeform 23"/>
          <p:cNvSpPr>
            <a:spLocks noChangeArrowheads="1"/>
          </p:cNvSpPr>
          <p:nvPr/>
        </p:nvSpPr>
        <p:spPr bwMode="auto">
          <a:xfrm>
            <a:off x="8345488" y="3117850"/>
            <a:ext cx="317500" cy="307975"/>
          </a:xfrm>
          <a:custGeom>
            <a:avLst/>
            <a:gdLst>
              <a:gd name="T0" fmla="*/ 0 w 192"/>
              <a:gd name="T1" fmla="*/ 6 h 156"/>
              <a:gd name="T2" fmla="*/ 192 w 192"/>
              <a:gd name="T3" fmla="*/ 0 h 156"/>
              <a:gd name="T4" fmla="*/ 192 w 192"/>
              <a:gd name="T5" fmla="*/ 156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156">
                <a:moveTo>
                  <a:pt x="0" y="6"/>
                </a:moveTo>
                <a:lnTo>
                  <a:pt x="192" y="0"/>
                </a:lnTo>
                <a:lnTo>
                  <a:pt x="192" y="156"/>
                </a:lnTo>
              </a:path>
            </a:pathLst>
          </a:cu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pic>
        <p:nvPicPr>
          <p:cNvPr id="398359" name="Picture 24"/>
          <p:cNvPicPr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588" y="3308350"/>
            <a:ext cx="614362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60" name="Text Box 25"/>
          <p:cNvSpPr txBox="1">
            <a:spLocks noChangeArrowheads="1"/>
          </p:cNvSpPr>
          <p:nvPr/>
        </p:nvSpPr>
        <p:spPr bwMode="auto">
          <a:xfrm>
            <a:off x="5503863" y="2671763"/>
            <a:ext cx="95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用户线</a:t>
            </a:r>
          </a:p>
        </p:txBody>
      </p:sp>
      <p:sp>
        <p:nvSpPr>
          <p:cNvPr id="398361" name="Text Box 26"/>
          <p:cNvSpPr txBox="1">
            <a:spLocks noChangeArrowheads="1"/>
          </p:cNvSpPr>
          <p:nvPr/>
        </p:nvSpPr>
        <p:spPr bwMode="auto">
          <a:xfrm>
            <a:off x="5553075" y="1739900"/>
            <a:ext cx="95408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电话</a:t>
            </a:r>
          </a:p>
          <a:p>
            <a:pPr eaLnBrk="0" hangingPunct="0">
              <a:lnSpc>
                <a:spcPct val="85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分离器</a:t>
            </a:r>
          </a:p>
        </p:txBody>
      </p:sp>
      <p:sp>
        <p:nvSpPr>
          <p:cNvPr id="398362" name="Line 27"/>
          <p:cNvSpPr>
            <a:spLocks noChangeShapeType="1"/>
          </p:cNvSpPr>
          <p:nvPr/>
        </p:nvSpPr>
        <p:spPr bwMode="auto">
          <a:xfrm flipH="1">
            <a:off x="5211763" y="2357438"/>
            <a:ext cx="473075" cy="58737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63" name="Line 28"/>
          <p:cNvSpPr>
            <a:spLocks noChangeShapeType="1"/>
          </p:cNvSpPr>
          <p:nvPr/>
        </p:nvSpPr>
        <p:spPr bwMode="auto">
          <a:xfrm rot="16200000" flipH="1">
            <a:off x="6305550" y="2373313"/>
            <a:ext cx="666750" cy="63500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64" name="Text Box 29"/>
          <p:cNvSpPr txBox="1">
            <a:spLocks noChangeArrowheads="1"/>
          </p:cNvSpPr>
          <p:nvPr/>
        </p:nvSpPr>
        <p:spPr bwMode="auto">
          <a:xfrm>
            <a:off x="596900" y="3176588"/>
            <a:ext cx="160496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区域宽带网</a:t>
            </a:r>
          </a:p>
        </p:txBody>
      </p:sp>
      <p:sp>
        <p:nvSpPr>
          <p:cNvPr id="398365" name="Text Box 30"/>
          <p:cNvSpPr txBox="1">
            <a:spLocks noChangeArrowheads="1"/>
          </p:cNvSpPr>
          <p:nvPr/>
        </p:nvSpPr>
        <p:spPr bwMode="auto">
          <a:xfrm>
            <a:off x="622300" y="1162050"/>
            <a:ext cx="962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至 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ISP</a:t>
            </a:r>
          </a:p>
        </p:txBody>
      </p:sp>
      <p:sp>
        <p:nvSpPr>
          <p:cNvPr id="398366" name="Text Box 31"/>
          <p:cNvSpPr txBox="1">
            <a:spLocks noChangeArrowheads="1"/>
          </p:cNvSpPr>
          <p:nvPr/>
        </p:nvSpPr>
        <p:spPr bwMode="auto">
          <a:xfrm>
            <a:off x="7432675" y="3986213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居民家庭</a:t>
            </a:r>
          </a:p>
        </p:txBody>
      </p:sp>
      <p:sp>
        <p:nvSpPr>
          <p:cNvPr id="398367" name="Line 32"/>
          <p:cNvSpPr>
            <a:spLocks noChangeShapeType="1"/>
          </p:cNvSpPr>
          <p:nvPr/>
        </p:nvSpPr>
        <p:spPr bwMode="auto">
          <a:xfrm>
            <a:off x="2628900" y="1341438"/>
            <a:ext cx="6429375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68" name="Text Box 33"/>
          <p:cNvSpPr txBox="1">
            <a:spLocks noChangeArrowheads="1"/>
          </p:cNvSpPr>
          <p:nvPr/>
        </p:nvSpPr>
        <p:spPr bwMode="auto">
          <a:xfrm>
            <a:off x="4521200" y="1144588"/>
            <a:ext cx="303212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基于 </a:t>
            </a:r>
            <a:r>
              <a:rPr lang="en-US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ADSL </a:t>
            </a:r>
            <a:r>
              <a:rPr lang="zh-CN" altLang="en-US" sz="2400" b="1">
                <a:solidFill>
                  <a:srgbClr val="C00000"/>
                </a:solidFill>
                <a:ea typeface="黑体" panose="02010609060101010101" pitchFamily="49" charset="-122"/>
              </a:rPr>
              <a:t>的接入网</a:t>
            </a:r>
          </a:p>
        </p:txBody>
      </p:sp>
      <p:sp>
        <p:nvSpPr>
          <p:cNvPr id="398369" name="Text Box 34"/>
          <p:cNvSpPr txBox="1">
            <a:spLocks noChangeArrowheads="1"/>
          </p:cNvSpPr>
          <p:nvPr/>
        </p:nvSpPr>
        <p:spPr bwMode="auto">
          <a:xfrm>
            <a:off x="2889250" y="1520825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端局或远端站</a:t>
            </a:r>
          </a:p>
        </p:txBody>
      </p:sp>
      <p:sp>
        <p:nvSpPr>
          <p:cNvPr id="398370" name="Line 35"/>
          <p:cNvSpPr>
            <a:spLocks noChangeShapeType="1"/>
          </p:cNvSpPr>
          <p:nvPr/>
        </p:nvSpPr>
        <p:spPr bwMode="auto">
          <a:xfrm>
            <a:off x="2670175" y="4494213"/>
            <a:ext cx="2246313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71" name="Text Box 36"/>
          <p:cNvSpPr txBox="1">
            <a:spLocks noChangeArrowheads="1"/>
          </p:cNvSpPr>
          <p:nvPr/>
        </p:nvSpPr>
        <p:spPr bwMode="auto">
          <a:xfrm>
            <a:off x="3205163" y="4302125"/>
            <a:ext cx="1098550" cy="3540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DSLAM</a:t>
            </a:r>
          </a:p>
        </p:txBody>
      </p:sp>
      <p:sp>
        <p:nvSpPr>
          <p:cNvPr id="398372" name="Text Box 37"/>
          <p:cNvSpPr txBox="1">
            <a:spLocks noChangeArrowheads="1"/>
          </p:cNvSpPr>
          <p:nvPr/>
        </p:nvSpPr>
        <p:spPr bwMode="auto">
          <a:xfrm>
            <a:off x="5259388" y="4256088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至本地电话局</a:t>
            </a:r>
          </a:p>
        </p:txBody>
      </p:sp>
      <p:sp>
        <p:nvSpPr>
          <p:cNvPr id="398373" name="Text Box 38"/>
          <p:cNvSpPr txBox="1">
            <a:spLocks noChangeArrowheads="1"/>
          </p:cNvSpPr>
          <p:nvPr/>
        </p:nvSpPr>
        <p:spPr bwMode="auto">
          <a:xfrm>
            <a:off x="4878388" y="2205038"/>
            <a:ext cx="528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PS</a:t>
            </a:r>
          </a:p>
        </p:txBody>
      </p:sp>
      <p:sp>
        <p:nvSpPr>
          <p:cNvPr id="398374" name="Text Box 39"/>
          <p:cNvSpPr txBox="1">
            <a:spLocks noChangeArrowheads="1"/>
          </p:cNvSpPr>
          <p:nvPr/>
        </p:nvSpPr>
        <p:spPr bwMode="auto">
          <a:xfrm>
            <a:off x="6921500" y="2671763"/>
            <a:ext cx="528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PS</a:t>
            </a:r>
          </a:p>
        </p:txBody>
      </p:sp>
      <p:sp>
        <p:nvSpPr>
          <p:cNvPr id="398375" name="Freeform 40"/>
          <p:cNvSpPr>
            <a:spLocks noChangeArrowheads="1"/>
          </p:cNvSpPr>
          <p:nvPr/>
        </p:nvSpPr>
        <p:spPr bwMode="auto">
          <a:xfrm>
            <a:off x="4746625" y="3544888"/>
            <a:ext cx="323850" cy="1587"/>
          </a:xfrm>
          <a:custGeom>
            <a:avLst/>
            <a:gdLst>
              <a:gd name="T0" fmla="*/ 0 w 196"/>
              <a:gd name="T1" fmla="*/ 0 h 1"/>
              <a:gd name="T2" fmla="*/ 196 w 196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6" h="1">
                <a:moveTo>
                  <a:pt x="0" y="0"/>
                </a:moveTo>
                <a:lnTo>
                  <a:pt x="196" y="0"/>
                </a:lnTo>
              </a:path>
            </a:pathLst>
          </a:cu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76" name="Freeform 41"/>
          <p:cNvSpPr>
            <a:spLocks noChangeArrowheads="1"/>
          </p:cNvSpPr>
          <p:nvPr/>
        </p:nvSpPr>
        <p:spPr bwMode="auto">
          <a:xfrm>
            <a:off x="4746625" y="2547938"/>
            <a:ext cx="323850" cy="0"/>
          </a:xfrm>
          <a:custGeom>
            <a:avLst/>
            <a:gdLst>
              <a:gd name="T0" fmla="*/ 0 w 196"/>
              <a:gd name="T1" fmla="*/ 0 h 1"/>
              <a:gd name="T2" fmla="*/ 196 w 196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6" h="1">
                <a:moveTo>
                  <a:pt x="0" y="0"/>
                </a:moveTo>
                <a:lnTo>
                  <a:pt x="196" y="0"/>
                </a:lnTo>
              </a:path>
            </a:pathLst>
          </a:cu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8377" name="TextBox 1"/>
          <p:cNvSpPr txBox="1">
            <a:spLocks noChangeArrowheads="1"/>
          </p:cNvSpPr>
          <p:nvPr/>
        </p:nvSpPr>
        <p:spPr bwMode="auto">
          <a:xfrm>
            <a:off x="836613" y="4932363"/>
            <a:ext cx="8637587" cy="1323975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DSLAM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 (DSL Access Multiplexer) </a:t>
            </a:r>
            <a:r>
              <a:rPr lang="zh-CN" altLang="en-US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：数字用户线接入复用器 </a:t>
            </a:r>
            <a:endParaRPr lang="en-US" altLang="zh-CN" sz="2000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ATU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 (Access Termination Unit) </a:t>
            </a:r>
            <a:r>
              <a:rPr lang="zh-CN" altLang="en-US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：接入端接单元</a:t>
            </a:r>
            <a:endParaRPr lang="en-US" altLang="zh-CN" sz="2000" b="1" dirty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eaLnBrk="0" hangingPunct="0"/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ATU-C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 (C </a:t>
            </a:r>
            <a:r>
              <a:rPr lang="zh-CN" altLang="en-US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代表端局 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Central Office) 	</a:t>
            </a:r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ATU-R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 (R </a:t>
            </a:r>
            <a:r>
              <a:rPr lang="zh-CN" altLang="en-US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代表远端 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Remote)</a:t>
            </a:r>
          </a:p>
          <a:p>
            <a:pPr eaLnBrk="0" hangingPunct="0"/>
            <a:r>
              <a:rPr lang="en-US" altLang="zh-CN" sz="2000" b="1" dirty="0">
                <a:solidFill>
                  <a:srgbClr val="FF0000"/>
                </a:solidFill>
                <a:ea typeface="黑体" panose="02010609060101010101" pitchFamily="49" charset="-122"/>
              </a:rPr>
              <a:t>PS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 (POTS Splitter) </a:t>
            </a:r>
            <a:r>
              <a:rPr lang="zh-CN" altLang="en-US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：电话分离器</a:t>
            </a:r>
          </a:p>
        </p:txBody>
      </p:sp>
      <p:sp>
        <p:nvSpPr>
          <p:cNvPr id="398378" name="矩形 2"/>
          <p:cNvSpPr>
            <a:spLocks noChangeArrowheads="1"/>
          </p:cNvSpPr>
          <p:nvPr/>
        </p:nvSpPr>
        <p:spPr bwMode="auto">
          <a:xfrm>
            <a:off x="2201863" y="6256338"/>
            <a:ext cx="5835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zh-CN" sz="2400" b="1">
                <a:ea typeface="黑体" panose="02010609060101010101" pitchFamily="49" charset="-122"/>
              </a:rPr>
              <a:t>基于</a:t>
            </a:r>
            <a:r>
              <a:rPr lang="en-US" altLang="zh-CN" sz="2400" b="1">
                <a:ea typeface="黑体" panose="02010609060101010101" pitchFamily="49" charset="-122"/>
              </a:rPr>
              <a:t> ADSL </a:t>
            </a:r>
            <a:r>
              <a:rPr lang="zh-CN" altLang="zh-CN" sz="2400" b="1">
                <a:ea typeface="黑体" panose="02010609060101010101" pitchFamily="49" charset="-122"/>
              </a:rPr>
              <a:t>的接入网的组成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39837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78FF02C-AE24-4367-A7CD-1D2B55C9762D}" type="slidenum">
              <a:rPr lang="zh-CN" altLang="en-US" smtClean="0"/>
              <a:pPr eaLnBrk="1" hangingPunct="1"/>
              <a:t>38</a:t>
            </a:fld>
            <a:endParaRPr lang="en-US" altLang="zh-CN" smtClean="0"/>
          </a:p>
        </p:txBody>
      </p:sp>
      <p:sp>
        <p:nvSpPr>
          <p:cNvPr id="39838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120511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dirty="0" smtClean="0">
                <a:ea typeface="黑体" panose="02010609060101010101" pitchFamily="49" charset="-122"/>
              </a:rPr>
              <a:t>ADSL</a:t>
            </a:r>
            <a:r>
              <a:rPr lang="zh-CN" altLang="en-US" dirty="0" smtClean="0">
                <a:ea typeface="黑体" panose="02010609060101010101" pitchFamily="49" charset="-122"/>
              </a:rPr>
              <a:t>好处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endParaRPr lang="zh-CN" altLang="en-US" sz="3200" dirty="0" smtClean="0">
              <a:ea typeface="黑体" panose="02010609060101010101" pitchFamily="49" charset="-122"/>
            </a:endParaRPr>
          </a:p>
        </p:txBody>
      </p:sp>
      <p:sp>
        <p:nvSpPr>
          <p:cNvPr id="40038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dirty="0" smtClean="0">
                <a:ea typeface="黑体" panose="02010609060101010101" pitchFamily="49" charset="-122"/>
              </a:rPr>
              <a:t>利用原有电话线，无需重新铺设，增加设备即可。</a:t>
            </a:r>
          </a:p>
        </p:txBody>
      </p:sp>
      <p:sp>
        <p:nvSpPr>
          <p:cNvPr id="40038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B7098C-8F53-4AC4-A352-7A0CCD8BF0C7}" type="slidenum">
              <a:rPr lang="zh-CN" altLang="en-US" smtClean="0"/>
              <a:pPr eaLnBrk="1" hangingPunct="1"/>
              <a:t>39</a:t>
            </a:fld>
            <a:endParaRPr lang="en-US" altLang="zh-CN" smtClean="0"/>
          </a:p>
        </p:txBody>
      </p:sp>
      <p:sp>
        <p:nvSpPr>
          <p:cNvPr id="40038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318" b="7268"/>
          <a:stretch/>
        </p:blipFill>
        <p:spPr>
          <a:xfrm>
            <a:off x="599973" y="1988880"/>
            <a:ext cx="3528294" cy="3756872"/>
          </a:xfrm>
          <a:prstGeom prst="rect">
            <a:avLst/>
          </a:prstGeom>
        </p:spPr>
      </p:pic>
      <p:sp>
        <p:nvSpPr>
          <p:cNvPr id="3" name="圆角矩形标注 2"/>
          <p:cNvSpPr/>
          <p:nvPr/>
        </p:nvSpPr>
        <p:spPr bwMode="auto">
          <a:xfrm>
            <a:off x="2792820" y="1988880"/>
            <a:ext cx="1224102" cy="576048"/>
          </a:xfrm>
          <a:prstGeom prst="wedgeRoundRectCallout">
            <a:avLst>
              <a:gd name="adj1" fmla="val -10162"/>
              <a:gd name="adj2" fmla="val 9198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电话线</a:t>
            </a:r>
          </a:p>
        </p:txBody>
      </p:sp>
      <p:sp>
        <p:nvSpPr>
          <p:cNvPr id="8" name="圆角矩形标注 7"/>
          <p:cNvSpPr/>
          <p:nvPr/>
        </p:nvSpPr>
        <p:spPr bwMode="auto">
          <a:xfrm>
            <a:off x="467505" y="3903780"/>
            <a:ext cx="1224102" cy="576048"/>
          </a:xfrm>
          <a:prstGeom prst="wedgeRoundRectCallout">
            <a:avLst>
              <a:gd name="adj1" fmla="val 69873"/>
              <a:gd name="adj2" fmla="val 8076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电话机</a:t>
            </a:r>
          </a:p>
        </p:txBody>
      </p:sp>
      <p:sp>
        <p:nvSpPr>
          <p:cNvPr id="9" name="圆角矩形标注 8"/>
          <p:cNvSpPr/>
          <p:nvPr/>
        </p:nvSpPr>
        <p:spPr bwMode="auto">
          <a:xfrm>
            <a:off x="3036633" y="3789030"/>
            <a:ext cx="1224102" cy="576048"/>
          </a:xfrm>
          <a:prstGeom prst="wedgeRoundRectCallout">
            <a:avLst>
              <a:gd name="adj1" fmla="val -96600"/>
              <a:gd name="adj2" fmla="val 110121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ATU-R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圆角矩形标注 9"/>
          <p:cNvSpPr/>
          <p:nvPr/>
        </p:nvSpPr>
        <p:spPr bwMode="auto">
          <a:xfrm>
            <a:off x="704646" y="2235260"/>
            <a:ext cx="1599012" cy="977722"/>
          </a:xfrm>
          <a:prstGeom prst="wedgeRoundRectCallout">
            <a:avLst>
              <a:gd name="adj1" fmla="val 31583"/>
              <a:gd name="adj2" fmla="val 75947"/>
              <a:gd name="adj3" fmla="val 16667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个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RJ-11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插头</a:t>
            </a:r>
          </a:p>
        </p:txBody>
      </p:sp>
      <p:pic>
        <p:nvPicPr>
          <p:cNvPr id="3074" name="Picture 2" descr="https://timgsa.baidu.com/timg?image&amp;quality=80&amp;size=b9999_10000&amp;sec=1583735591127&amp;di=cbb8851bf5585af7be230854be980c52&amp;imgtype=0&amp;src=http%3A%2F%2Fyouxi.youth.cn%2Fshrd%2F201708%2FW020170801318021100914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90"/>
          <a:stretch/>
        </p:blipFill>
        <p:spPr bwMode="auto">
          <a:xfrm>
            <a:off x="5097052" y="2093690"/>
            <a:ext cx="3495675" cy="209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690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第二代 </a:t>
            </a:r>
            <a:r>
              <a:rPr lang="en-US" altLang="zh-CN" smtClean="0">
                <a:ea typeface="黑体" panose="02010609060101010101" pitchFamily="49" charset="-122"/>
              </a:rPr>
              <a:t>ADSL </a:t>
            </a:r>
            <a:endParaRPr lang="zh-CN" altLang="en-US" sz="3200" smtClean="0">
              <a:ea typeface="黑体" panose="02010609060101010101" pitchFamily="49" charset="-122"/>
            </a:endParaRPr>
          </a:p>
        </p:txBody>
      </p:sp>
      <p:sp>
        <p:nvSpPr>
          <p:cNvPr id="40038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400" smtClean="0">
                <a:ea typeface="黑体" panose="02010609060101010101" pitchFamily="49" charset="-122"/>
              </a:rPr>
              <a:t>包括 </a:t>
            </a:r>
            <a:r>
              <a:rPr lang="en-US" altLang="zh-CN" sz="2400" smtClean="0">
                <a:ea typeface="黑体" panose="02010609060101010101" pitchFamily="49" charset="-122"/>
              </a:rPr>
              <a:t>ADSL2</a:t>
            </a:r>
            <a:r>
              <a:rPr lang="zh-CN" altLang="en-US" sz="2400" smtClean="0">
                <a:ea typeface="黑体" panose="02010609060101010101" pitchFamily="49" charset="-122"/>
              </a:rPr>
              <a:t>（</a:t>
            </a:r>
            <a:r>
              <a:rPr lang="en-US" altLang="zh-CN" sz="2400" smtClean="0">
                <a:ea typeface="黑体" panose="02010609060101010101" pitchFamily="49" charset="-122"/>
              </a:rPr>
              <a:t>G.992.3 </a:t>
            </a:r>
            <a:r>
              <a:rPr lang="zh-CN" altLang="en-US" sz="2400" smtClean="0">
                <a:ea typeface="黑体" panose="02010609060101010101" pitchFamily="49" charset="-122"/>
              </a:rPr>
              <a:t>和 </a:t>
            </a:r>
            <a:r>
              <a:rPr lang="en-US" altLang="zh-CN" sz="2400" smtClean="0">
                <a:ea typeface="黑体" panose="02010609060101010101" pitchFamily="49" charset="-122"/>
              </a:rPr>
              <a:t>G.992.4</a:t>
            </a:r>
            <a:r>
              <a:rPr lang="zh-CN" altLang="en-US" sz="2400" smtClean="0">
                <a:ea typeface="黑体" panose="02010609060101010101" pitchFamily="49" charset="-122"/>
              </a:rPr>
              <a:t>）和 </a:t>
            </a:r>
            <a:r>
              <a:rPr lang="en-US" altLang="zh-CN" sz="2400" smtClean="0">
                <a:ea typeface="黑体" panose="02010609060101010101" pitchFamily="49" charset="-122"/>
              </a:rPr>
              <a:t>ADSL2+</a:t>
            </a:r>
            <a:r>
              <a:rPr lang="zh-CN" altLang="en-US" sz="2400" smtClean="0">
                <a:ea typeface="黑体" panose="02010609060101010101" pitchFamily="49" charset="-122"/>
              </a:rPr>
              <a:t>（</a:t>
            </a:r>
            <a:r>
              <a:rPr lang="en-US" altLang="zh-CN" sz="2400" smtClean="0">
                <a:ea typeface="黑体" panose="02010609060101010101" pitchFamily="49" charset="-122"/>
              </a:rPr>
              <a:t>G.992.5</a:t>
            </a:r>
            <a:r>
              <a:rPr lang="zh-CN" altLang="en-US" sz="2400" smtClean="0">
                <a:ea typeface="黑体" panose="02010609060101010101" pitchFamily="49" charset="-122"/>
              </a:rPr>
              <a:t>）</a:t>
            </a:r>
            <a:endParaRPr lang="en-US" altLang="zh-CN" sz="2400" smtClean="0">
              <a:ea typeface="黑体" panose="02010609060101010101" pitchFamily="49" charset="-122"/>
            </a:endParaRPr>
          </a:p>
          <a:p>
            <a:r>
              <a:rPr lang="zh-CN" altLang="en-US" sz="2400" smtClean="0">
                <a:ea typeface="黑体" panose="02010609060101010101" pitchFamily="49" charset="-122"/>
              </a:rPr>
              <a:t>通过提高调制效率得到了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更高的数据率</a:t>
            </a:r>
            <a:r>
              <a:rPr lang="zh-CN" altLang="en-US" sz="2400" smtClean="0">
                <a:ea typeface="黑体" panose="02010609060101010101" pitchFamily="49" charset="-122"/>
              </a:rPr>
              <a:t>。</a:t>
            </a:r>
            <a:endParaRPr lang="en-US" altLang="zh-CN" sz="2400" smtClean="0">
              <a:ea typeface="黑体" panose="02010609060101010101" pitchFamily="49" charset="-122"/>
            </a:endParaRPr>
          </a:p>
          <a:p>
            <a:pPr lvl="1"/>
            <a:r>
              <a:rPr lang="en-US" altLang="zh-CN" sz="2000" smtClean="0">
                <a:ea typeface="黑体" panose="02010609060101010101" pitchFamily="49" charset="-122"/>
              </a:rPr>
              <a:t>ADSL2 </a:t>
            </a:r>
            <a:r>
              <a:rPr lang="zh-CN" altLang="en-US" sz="2000" smtClean="0">
                <a:ea typeface="黑体" panose="02010609060101010101" pitchFamily="49" charset="-122"/>
              </a:rPr>
              <a:t>要求至少应支持下行 </a:t>
            </a:r>
            <a:r>
              <a:rPr lang="en-US" altLang="zh-CN" sz="2000" smtClean="0">
                <a:ea typeface="黑体" panose="02010609060101010101" pitchFamily="49" charset="-122"/>
              </a:rPr>
              <a:t>8 Mbit/s</a:t>
            </a:r>
            <a:r>
              <a:rPr lang="zh-CN" altLang="en-US" sz="2000" smtClean="0">
                <a:ea typeface="黑体" panose="02010609060101010101" pitchFamily="49" charset="-122"/>
              </a:rPr>
              <a:t>、上行 </a:t>
            </a:r>
            <a:r>
              <a:rPr lang="en-US" altLang="zh-CN" sz="2000" smtClean="0">
                <a:ea typeface="黑体" panose="02010609060101010101" pitchFamily="49" charset="-122"/>
              </a:rPr>
              <a:t>800 kbit/s</a:t>
            </a:r>
            <a:r>
              <a:rPr lang="zh-CN" altLang="en-US" sz="2000" smtClean="0">
                <a:ea typeface="黑体" panose="02010609060101010101" pitchFamily="49" charset="-122"/>
              </a:rPr>
              <a:t>的速率。</a:t>
            </a:r>
            <a:endParaRPr lang="en-US" altLang="zh-CN" sz="2000" smtClean="0">
              <a:ea typeface="黑体" panose="02010609060101010101" pitchFamily="49" charset="-122"/>
            </a:endParaRPr>
          </a:p>
          <a:p>
            <a:pPr lvl="1"/>
            <a:r>
              <a:rPr lang="en-US" altLang="zh-CN" sz="2000" smtClean="0">
                <a:ea typeface="黑体" panose="02010609060101010101" pitchFamily="49" charset="-122"/>
              </a:rPr>
              <a:t>ADSL2+ </a:t>
            </a:r>
            <a:r>
              <a:rPr lang="zh-CN" altLang="en-US" sz="2000" smtClean="0">
                <a:ea typeface="黑体" panose="02010609060101010101" pitchFamily="49" charset="-122"/>
              </a:rPr>
              <a:t>则将频谱范围从 </a:t>
            </a:r>
            <a:r>
              <a:rPr lang="en-US" altLang="zh-CN" sz="2000" smtClean="0">
                <a:ea typeface="黑体" panose="02010609060101010101" pitchFamily="49" charset="-122"/>
              </a:rPr>
              <a:t>1.1 MHz </a:t>
            </a:r>
            <a:r>
              <a:rPr lang="zh-CN" altLang="en-US" sz="2000" smtClean="0">
                <a:ea typeface="黑体" panose="02010609060101010101" pitchFamily="49" charset="-122"/>
              </a:rPr>
              <a:t>扩展至 </a:t>
            </a:r>
            <a:r>
              <a:rPr lang="en-US" altLang="zh-CN" sz="2000" smtClean="0">
                <a:ea typeface="黑体" panose="02010609060101010101" pitchFamily="49" charset="-122"/>
              </a:rPr>
              <a:t>2.2 MHz</a:t>
            </a:r>
            <a:r>
              <a:rPr lang="zh-CN" altLang="en-US" sz="2000" smtClean="0">
                <a:ea typeface="黑体" panose="02010609060101010101" pitchFamily="49" charset="-122"/>
              </a:rPr>
              <a:t>，下行速率可达 </a:t>
            </a:r>
            <a:r>
              <a:rPr lang="en-US" altLang="zh-CN" sz="2000" smtClean="0">
                <a:ea typeface="黑体" panose="02010609060101010101" pitchFamily="49" charset="-122"/>
              </a:rPr>
              <a:t>16 Mbit/s</a:t>
            </a:r>
            <a:r>
              <a:rPr lang="zh-CN" altLang="en-US" sz="2000" smtClean="0">
                <a:ea typeface="黑体" panose="02010609060101010101" pitchFamily="49" charset="-122"/>
              </a:rPr>
              <a:t>（最大传输速率可达 </a:t>
            </a:r>
            <a:r>
              <a:rPr lang="en-US" altLang="zh-CN" sz="2000" smtClean="0">
                <a:ea typeface="黑体" panose="02010609060101010101" pitchFamily="49" charset="-122"/>
              </a:rPr>
              <a:t>25 Mbit/s</a:t>
            </a:r>
            <a:r>
              <a:rPr lang="zh-CN" altLang="en-US" sz="2000" smtClean="0">
                <a:ea typeface="黑体" panose="02010609060101010101" pitchFamily="49" charset="-122"/>
              </a:rPr>
              <a:t>），而上行速率可达 </a:t>
            </a:r>
            <a:r>
              <a:rPr lang="en-US" altLang="zh-CN" sz="2000" smtClean="0">
                <a:ea typeface="黑体" panose="02010609060101010101" pitchFamily="49" charset="-122"/>
              </a:rPr>
              <a:t>800 kbit/s</a:t>
            </a:r>
            <a:r>
              <a:rPr lang="zh-CN" altLang="en-US" sz="200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sz="2400" smtClean="0">
                <a:ea typeface="黑体" panose="02010609060101010101" pitchFamily="49" charset="-122"/>
              </a:rPr>
              <a:t>采用了</a:t>
            </a:r>
            <a:r>
              <a:rPr lang="zh-CN" altLang="en-US" sz="2400" smtClean="0">
                <a:solidFill>
                  <a:srgbClr val="FF0000"/>
                </a:solidFill>
                <a:ea typeface="黑体" panose="02010609060101010101" pitchFamily="49" charset="-122"/>
              </a:rPr>
              <a:t>无缝速率自适应技术 </a:t>
            </a:r>
            <a:r>
              <a:rPr lang="en-US" altLang="zh-CN" sz="2400" smtClean="0">
                <a:ea typeface="黑体" panose="02010609060101010101" pitchFamily="49" charset="-122"/>
              </a:rPr>
              <a:t>SRA (Seamless Rate Adaptation)</a:t>
            </a:r>
            <a:r>
              <a:rPr lang="zh-CN" altLang="en-US" sz="2400" smtClean="0">
                <a:ea typeface="黑体" panose="02010609060101010101" pitchFamily="49" charset="-122"/>
              </a:rPr>
              <a:t>，可在运营中不中断通信和不产生误码的情况下，自适应地调整数据率。</a:t>
            </a:r>
          </a:p>
          <a:p>
            <a:r>
              <a:rPr lang="zh-CN" altLang="en-US" sz="2400" smtClean="0">
                <a:ea typeface="黑体" panose="02010609060101010101" pitchFamily="49" charset="-122"/>
              </a:rPr>
              <a:t>改善了线路质量评测和故障定位功能，这对提高网络的运行维护水平具有非常重要的意义。</a:t>
            </a:r>
          </a:p>
        </p:txBody>
      </p:sp>
      <p:sp>
        <p:nvSpPr>
          <p:cNvPr id="40038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FB7098C-8F53-4AC4-A352-7A0CCD8BF0C7}" type="slidenum">
              <a:rPr lang="zh-CN" altLang="en-US" smtClean="0"/>
              <a:pPr eaLnBrk="1" hangingPunct="1"/>
              <a:t>40</a:t>
            </a:fld>
            <a:endParaRPr lang="en-US" altLang="zh-CN" smtClean="0"/>
          </a:p>
        </p:txBody>
      </p:sp>
      <p:sp>
        <p:nvSpPr>
          <p:cNvPr id="40038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10790048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家庭无线路由器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0406" y="2016125"/>
            <a:ext cx="6096000" cy="329565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ppt课件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4A7B3-BB3D-430C-9416-57B4A4106B8F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508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2.6.2  </a:t>
            </a:r>
            <a:r>
              <a:rPr lang="zh-CN" altLang="en-US" dirty="0" smtClean="0">
                <a:ea typeface="黑体" panose="02010609060101010101" pitchFamily="49" charset="-122"/>
              </a:rPr>
              <a:t>光纤同轴混合网</a:t>
            </a:r>
            <a:r>
              <a:rPr lang="zh-CN" altLang="zh-CN" dirty="0" smtClean="0">
                <a:ea typeface="黑体" panose="02010609060101010101" pitchFamily="49" charset="-122"/>
              </a:rPr>
              <a:t>（</a:t>
            </a:r>
            <a:r>
              <a:rPr lang="en-US" altLang="zh-CN" dirty="0" smtClean="0">
                <a:ea typeface="黑体" panose="02010609060101010101" pitchFamily="49" charset="-122"/>
              </a:rPr>
              <a:t>HFC</a:t>
            </a:r>
            <a:r>
              <a:rPr lang="zh-CN" altLang="zh-CN" dirty="0" smtClean="0">
                <a:ea typeface="黑体" panose="02010609060101010101" pitchFamily="49" charset="-122"/>
              </a:rPr>
              <a:t>网）</a:t>
            </a:r>
            <a:endParaRPr lang="en-US" altLang="zh-CN" sz="3600" dirty="0" smtClean="0">
              <a:ea typeface="黑体" panose="02010609060101010101" pitchFamily="49" charset="-122"/>
            </a:endParaRPr>
          </a:p>
        </p:txBody>
      </p:sp>
      <p:sp>
        <p:nvSpPr>
          <p:cNvPr id="40243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HFC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(Hybrid Fiber Coax) </a:t>
            </a:r>
            <a:r>
              <a:rPr lang="zh-CN" altLang="en-US" dirty="0" smtClean="0">
                <a:ea typeface="黑体" panose="02010609060101010101" pitchFamily="49" charset="-122"/>
              </a:rPr>
              <a:t>网是在目前覆盖面很广的有线电视网 </a:t>
            </a:r>
            <a:r>
              <a:rPr lang="en-US" altLang="zh-CN" dirty="0" smtClean="0">
                <a:ea typeface="黑体" panose="02010609060101010101" pitchFamily="49" charset="-122"/>
              </a:rPr>
              <a:t>CATV </a:t>
            </a:r>
            <a:r>
              <a:rPr lang="zh-CN" altLang="en-US" dirty="0" smtClean="0">
                <a:ea typeface="黑体" panose="02010609060101010101" pitchFamily="49" charset="-122"/>
              </a:rPr>
              <a:t>的基础上开发的一种居民宽带接入网。</a:t>
            </a:r>
          </a:p>
          <a:p>
            <a:pPr>
              <a:lnSpc>
                <a:spcPct val="100000"/>
              </a:lnSpc>
            </a:pPr>
            <a:r>
              <a:rPr lang="en-US" altLang="zh-CN" dirty="0" smtClean="0">
                <a:ea typeface="黑体" panose="02010609060101010101" pitchFamily="49" charset="-122"/>
              </a:rPr>
              <a:t>HFC </a:t>
            </a:r>
            <a:r>
              <a:rPr lang="zh-CN" altLang="en-US" dirty="0" smtClean="0">
                <a:ea typeface="黑体" panose="02010609060101010101" pitchFamily="49" charset="-122"/>
              </a:rPr>
              <a:t>网除可传送 </a:t>
            </a:r>
            <a:r>
              <a:rPr lang="en-US" altLang="zh-CN" dirty="0" smtClean="0">
                <a:ea typeface="黑体" panose="02010609060101010101" pitchFamily="49" charset="-122"/>
              </a:rPr>
              <a:t>CATV </a:t>
            </a:r>
            <a:r>
              <a:rPr lang="zh-CN" altLang="en-US" dirty="0" smtClean="0">
                <a:ea typeface="黑体" panose="02010609060101010101" pitchFamily="49" charset="-122"/>
              </a:rPr>
              <a:t>外，还提供电话、数据和其他宽带交互型业务。</a:t>
            </a:r>
          </a:p>
          <a:p>
            <a:pPr>
              <a:lnSpc>
                <a:spcPct val="100000"/>
              </a:lnSpc>
            </a:pPr>
            <a:r>
              <a:rPr lang="zh-CN" altLang="en-US" dirty="0" smtClean="0">
                <a:ea typeface="黑体" panose="02010609060101010101" pitchFamily="49" charset="-122"/>
              </a:rPr>
              <a:t>现有的 </a:t>
            </a:r>
            <a:r>
              <a:rPr lang="en-US" altLang="zh-CN" dirty="0" smtClean="0">
                <a:ea typeface="黑体" panose="02010609060101010101" pitchFamily="49" charset="-122"/>
              </a:rPr>
              <a:t>CATV </a:t>
            </a:r>
            <a:r>
              <a:rPr lang="zh-CN" altLang="en-US" dirty="0" smtClean="0">
                <a:ea typeface="黑体" panose="02010609060101010101" pitchFamily="49" charset="-122"/>
              </a:rPr>
              <a:t>网是树形拓扑结构的同轴电缆网络，它采用模拟技术的频分复用对电视节目进行单向传输。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HFC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网对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CATV 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网进行了改造。</a:t>
            </a:r>
            <a:r>
              <a:rPr lang="zh-CN" altLang="en-US" dirty="0" smtClean="0">
                <a:solidFill>
                  <a:srgbClr val="0000CC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0243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99E716-4718-4EDF-877F-ECD1DB7A85B1}" type="slidenum">
              <a:rPr lang="zh-CN" altLang="en-US" smtClean="0"/>
              <a:pPr eaLnBrk="1" hangingPunct="1"/>
              <a:t>42</a:t>
            </a:fld>
            <a:endParaRPr lang="en-US" altLang="zh-CN" smtClean="0"/>
          </a:p>
        </p:txBody>
      </p:sp>
      <p:sp>
        <p:nvSpPr>
          <p:cNvPr id="40243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6215878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HFC </a:t>
            </a:r>
            <a:r>
              <a:rPr lang="zh-CN" altLang="en-US" smtClean="0">
                <a:ea typeface="黑体" panose="02010609060101010101" pitchFamily="49" charset="-122"/>
              </a:rPr>
              <a:t>网的主干线路采用光纤</a:t>
            </a:r>
          </a:p>
        </p:txBody>
      </p:sp>
      <p:sp>
        <p:nvSpPr>
          <p:cNvPr id="40448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HFC </a:t>
            </a:r>
            <a:r>
              <a:rPr lang="zh-CN" altLang="en-US" dirty="0" smtClean="0">
                <a:ea typeface="黑体" panose="02010609060101010101" pitchFamily="49" charset="-122"/>
              </a:rPr>
              <a:t>网将原 </a:t>
            </a:r>
            <a:r>
              <a:rPr lang="en-US" altLang="zh-CN" dirty="0" smtClean="0">
                <a:ea typeface="黑体" panose="02010609060101010101" pitchFamily="49" charset="-122"/>
              </a:rPr>
              <a:t>CATV </a:t>
            </a:r>
            <a:r>
              <a:rPr lang="zh-CN" altLang="en-US" dirty="0" smtClean="0">
                <a:ea typeface="黑体" panose="02010609060101010101" pitchFamily="49" charset="-122"/>
              </a:rPr>
              <a:t>网中的同轴电缆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主干部分改换为光纤，</a:t>
            </a:r>
            <a:r>
              <a:rPr lang="zh-CN" altLang="en-US" dirty="0" smtClean="0">
                <a:ea typeface="黑体" panose="02010609060101010101" pitchFamily="49" charset="-122"/>
              </a:rPr>
              <a:t>并使用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模拟光纤技术。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在模拟光纤中采用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光的振幅调制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AM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，</a:t>
            </a:r>
            <a:r>
              <a:rPr lang="zh-CN" altLang="en-US" dirty="0" smtClean="0">
                <a:ea typeface="黑体" panose="02010609060101010101" pitchFamily="49" charset="-122"/>
              </a:rPr>
              <a:t>这比使用数字光纤更为经济。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模拟光纤从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头端</a:t>
            </a:r>
            <a:r>
              <a:rPr lang="zh-CN" altLang="en-US" dirty="0" smtClean="0">
                <a:ea typeface="黑体" panose="02010609060101010101" pitchFamily="49" charset="-122"/>
              </a:rPr>
              <a:t>连接到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光纤结点 </a:t>
            </a:r>
            <a:r>
              <a:rPr lang="en-US" altLang="zh-CN" dirty="0" smtClean="0">
                <a:ea typeface="黑体" panose="02010609060101010101" pitchFamily="49" charset="-122"/>
              </a:rPr>
              <a:t>(fiber node)</a:t>
            </a:r>
            <a:r>
              <a:rPr lang="zh-CN" altLang="en-US" dirty="0" smtClean="0">
                <a:ea typeface="黑体" panose="02010609060101010101" pitchFamily="49" charset="-122"/>
              </a:rPr>
              <a:t>，即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光分配结点 </a:t>
            </a:r>
            <a:r>
              <a:rPr lang="en-US" altLang="zh-CN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ODN </a:t>
            </a:r>
            <a:r>
              <a:rPr lang="en-US" altLang="zh-CN" dirty="0" smtClean="0">
                <a:ea typeface="黑体" panose="02010609060101010101" pitchFamily="49" charset="-122"/>
              </a:rPr>
              <a:t>(Optical Distribution Node)</a:t>
            </a:r>
            <a:r>
              <a:rPr lang="zh-CN" altLang="en-US" dirty="0" smtClean="0">
                <a:ea typeface="黑体" panose="02010609060101010101" pitchFamily="49" charset="-122"/>
              </a:rPr>
              <a:t>。在光纤结点光信号被转换为电信号。在光纤结点以下就是同轴电缆。   </a:t>
            </a:r>
          </a:p>
        </p:txBody>
      </p:sp>
      <p:sp>
        <p:nvSpPr>
          <p:cNvPr id="40448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7962D0-6D73-424A-9B80-FC6D53826AB9}" type="slidenum">
              <a:rPr lang="zh-CN" altLang="en-US" smtClean="0"/>
              <a:pPr eaLnBrk="1" hangingPunct="1"/>
              <a:t>43</a:t>
            </a:fld>
            <a:endParaRPr lang="en-US" altLang="zh-CN" smtClean="0"/>
          </a:p>
        </p:txBody>
      </p:sp>
      <p:sp>
        <p:nvSpPr>
          <p:cNvPr id="40448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25197869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mtClean="0">
                <a:ea typeface="黑体" panose="02010609060101010101" pitchFamily="49" charset="-122"/>
              </a:rPr>
              <a:t>HFC </a:t>
            </a:r>
            <a:r>
              <a:rPr lang="zh-CN" altLang="en-US" smtClean="0">
                <a:ea typeface="黑体" panose="02010609060101010101" pitchFamily="49" charset="-122"/>
              </a:rPr>
              <a:t>网采用结点体系结构 </a:t>
            </a:r>
          </a:p>
        </p:txBody>
      </p:sp>
      <p:grpSp>
        <p:nvGrpSpPr>
          <p:cNvPr id="406530" name="组合 2"/>
          <p:cNvGrpSpPr>
            <a:grpSpLocks/>
          </p:cNvGrpSpPr>
          <p:nvPr/>
        </p:nvGrpSpPr>
        <p:grpSpPr bwMode="auto">
          <a:xfrm>
            <a:off x="992188" y="1412875"/>
            <a:ext cx="8089900" cy="3887788"/>
            <a:chOff x="849333" y="1916113"/>
            <a:chExt cx="8045029" cy="2952751"/>
          </a:xfrm>
        </p:grpSpPr>
        <p:sp>
          <p:nvSpPr>
            <p:cNvPr id="406531" name="Line 155"/>
            <p:cNvSpPr>
              <a:spLocks noChangeShapeType="1"/>
            </p:cNvSpPr>
            <p:nvPr/>
          </p:nvSpPr>
          <p:spPr bwMode="auto">
            <a:xfrm>
              <a:off x="3004476" y="3427413"/>
              <a:ext cx="1637242" cy="6477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2" name="Line 156"/>
            <p:cNvSpPr>
              <a:spLocks noChangeShapeType="1"/>
            </p:cNvSpPr>
            <p:nvPr/>
          </p:nvSpPr>
          <p:spPr bwMode="auto">
            <a:xfrm>
              <a:off x="3081867" y="3355975"/>
              <a:ext cx="1559852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3" name="Line 157"/>
            <p:cNvSpPr>
              <a:spLocks noChangeShapeType="1"/>
            </p:cNvSpPr>
            <p:nvPr/>
          </p:nvSpPr>
          <p:spPr bwMode="auto">
            <a:xfrm flipV="1">
              <a:off x="3081867" y="2563814"/>
              <a:ext cx="1559852" cy="719137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4" name="Line 158"/>
            <p:cNvSpPr>
              <a:spLocks noChangeShapeType="1"/>
            </p:cNvSpPr>
            <p:nvPr/>
          </p:nvSpPr>
          <p:spPr bwMode="auto">
            <a:xfrm flipH="1" flipV="1">
              <a:off x="1599406" y="3427413"/>
              <a:ext cx="701675" cy="64770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5" name="Line 159"/>
            <p:cNvSpPr>
              <a:spLocks noChangeShapeType="1"/>
            </p:cNvSpPr>
            <p:nvPr/>
          </p:nvSpPr>
          <p:spPr bwMode="auto">
            <a:xfrm flipV="1">
              <a:off x="1755908" y="2563813"/>
              <a:ext cx="701675" cy="576262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6" name="Line 160"/>
            <p:cNvSpPr>
              <a:spLocks noChangeShapeType="1"/>
            </p:cNvSpPr>
            <p:nvPr/>
          </p:nvSpPr>
          <p:spPr bwMode="auto">
            <a:xfrm flipV="1">
              <a:off x="1755908" y="3355975"/>
              <a:ext cx="1169458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7" name="AutoShape 161"/>
            <p:cNvSpPr>
              <a:spLocks noChangeArrowheads="1"/>
            </p:cNvSpPr>
            <p:nvPr/>
          </p:nvSpPr>
          <p:spPr bwMode="auto">
            <a:xfrm>
              <a:off x="4564327" y="3211513"/>
              <a:ext cx="290645" cy="239712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494949"/>
                </a:gs>
                <a:gs pos="100000">
                  <a:srgbClr val="DDDDDD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8" name="AutoShape 162"/>
            <p:cNvSpPr>
              <a:spLocks noChangeArrowheads="1"/>
            </p:cNvSpPr>
            <p:nvPr/>
          </p:nvSpPr>
          <p:spPr bwMode="auto">
            <a:xfrm>
              <a:off x="4564327" y="3932239"/>
              <a:ext cx="290645" cy="250825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494949"/>
                </a:gs>
                <a:gs pos="100000">
                  <a:srgbClr val="DDDDDD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39" name="Text Box 163"/>
            <p:cNvSpPr txBox="1">
              <a:spLocks noChangeArrowheads="1"/>
            </p:cNvSpPr>
            <p:nvPr/>
          </p:nvSpPr>
          <p:spPr bwMode="auto">
            <a:xfrm>
              <a:off x="7684029" y="1916113"/>
              <a:ext cx="1210333" cy="30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同轴电缆</a:t>
              </a:r>
            </a:p>
          </p:txBody>
        </p:sp>
        <p:sp>
          <p:nvSpPr>
            <p:cNvPr id="406540" name="AutoShape 164"/>
            <p:cNvSpPr>
              <a:spLocks noChangeArrowheads="1"/>
            </p:cNvSpPr>
            <p:nvPr/>
          </p:nvSpPr>
          <p:spPr bwMode="auto">
            <a:xfrm>
              <a:off x="4564327" y="2419350"/>
              <a:ext cx="290645" cy="241300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494949"/>
                </a:gs>
                <a:gs pos="100000">
                  <a:srgbClr val="DDDDDD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41" name="Line 165"/>
            <p:cNvSpPr>
              <a:spLocks noChangeShapeType="1"/>
            </p:cNvSpPr>
            <p:nvPr/>
          </p:nvSpPr>
          <p:spPr bwMode="auto">
            <a:xfrm>
              <a:off x="4875611" y="4075113"/>
              <a:ext cx="35100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406542" name="Picture 16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8613" y="3571876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6543" name="Picture 16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0702" y="2851151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6544" name="Line 168"/>
            <p:cNvSpPr>
              <a:spLocks noChangeShapeType="1"/>
            </p:cNvSpPr>
            <p:nvPr/>
          </p:nvSpPr>
          <p:spPr bwMode="auto">
            <a:xfrm flipH="1">
              <a:off x="7840531" y="2203451"/>
              <a:ext cx="311282" cy="360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45" name="Line 169"/>
            <p:cNvSpPr>
              <a:spLocks noChangeShapeType="1"/>
            </p:cNvSpPr>
            <p:nvPr/>
          </p:nvSpPr>
          <p:spPr bwMode="auto">
            <a:xfrm>
              <a:off x="1755908" y="2346326"/>
              <a:ext cx="311282" cy="5048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46" name="Text Box 170"/>
            <p:cNvSpPr txBox="1">
              <a:spLocks noChangeArrowheads="1"/>
            </p:cNvSpPr>
            <p:nvPr/>
          </p:nvSpPr>
          <p:spPr bwMode="auto">
            <a:xfrm>
              <a:off x="3159258" y="2274888"/>
              <a:ext cx="696994" cy="30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光纤</a:t>
              </a:r>
            </a:p>
          </p:txBody>
        </p:sp>
        <p:sp>
          <p:nvSpPr>
            <p:cNvPr id="406547" name="Line 171"/>
            <p:cNvSpPr>
              <a:spLocks noChangeShapeType="1"/>
            </p:cNvSpPr>
            <p:nvPr/>
          </p:nvSpPr>
          <p:spPr bwMode="auto">
            <a:xfrm>
              <a:off x="4173935" y="2203450"/>
              <a:ext cx="467783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48" name="Text Box 172"/>
            <p:cNvSpPr txBox="1">
              <a:spLocks noChangeArrowheads="1"/>
            </p:cNvSpPr>
            <p:nvPr/>
          </p:nvSpPr>
          <p:spPr bwMode="auto">
            <a:xfrm>
              <a:off x="3627041" y="1916113"/>
              <a:ext cx="1210334" cy="30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光纤结点</a:t>
              </a:r>
            </a:p>
          </p:txBody>
        </p:sp>
        <p:sp>
          <p:nvSpPr>
            <p:cNvPr id="406549" name="Freeform 173"/>
            <p:cNvSpPr>
              <a:spLocks noChangeArrowheads="1"/>
            </p:cNvSpPr>
            <p:nvPr/>
          </p:nvSpPr>
          <p:spPr bwMode="auto">
            <a:xfrm>
              <a:off x="5343394" y="3787776"/>
              <a:ext cx="8599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50" name="Freeform 174"/>
            <p:cNvSpPr>
              <a:spLocks noChangeArrowheads="1"/>
            </p:cNvSpPr>
            <p:nvPr/>
          </p:nvSpPr>
          <p:spPr bwMode="auto">
            <a:xfrm>
              <a:off x="7247202" y="3067051"/>
              <a:ext cx="8427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551" name="Freeform 175"/>
            <p:cNvSpPr>
              <a:spLocks noChangeArrowheads="1"/>
            </p:cNvSpPr>
            <p:nvPr/>
          </p:nvSpPr>
          <p:spPr bwMode="auto">
            <a:xfrm>
              <a:off x="5967677" y="3787776"/>
              <a:ext cx="8427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406552" name="Picture 17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1177" y="3571876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06553" name="Group 177"/>
            <p:cNvGrpSpPr>
              <a:grpSpLocks/>
            </p:cNvGrpSpPr>
            <p:nvPr/>
          </p:nvGrpSpPr>
          <p:grpSpPr bwMode="auto">
            <a:xfrm>
              <a:off x="1064553" y="2706688"/>
              <a:ext cx="806582" cy="830262"/>
              <a:chOff x="2092" y="722"/>
              <a:chExt cx="469" cy="523"/>
            </a:xfrm>
          </p:grpSpPr>
          <p:sp>
            <p:nvSpPr>
              <p:cNvPr id="406554" name="AutoShape 178"/>
              <p:cNvSpPr>
                <a:spLocks noChangeArrowheads="1"/>
              </p:cNvSpPr>
              <p:nvPr/>
            </p:nvSpPr>
            <p:spPr bwMode="auto">
              <a:xfrm>
                <a:off x="2138" y="941"/>
                <a:ext cx="423" cy="304"/>
              </a:xfrm>
              <a:prstGeom prst="cube">
                <a:avLst>
                  <a:gd name="adj" fmla="val 25000"/>
                </a:avLst>
              </a:prstGeom>
              <a:solidFill>
                <a:srgbClr val="EAEAE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 sz="2400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06555" name="Text Box 179"/>
              <p:cNvSpPr txBox="1">
                <a:spLocks noChangeArrowheads="1"/>
              </p:cNvSpPr>
              <p:nvPr/>
            </p:nvSpPr>
            <p:spPr bwMode="auto">
              <a:xfrm>
                <a:off x="2092" y="1023"/>
                <a:ext cx="405" cy="1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zh-CN" altLang="en-US" sz="2000" b="1">
                    <a:solidFill>
                      <a:srgbClr val="FF0000"/>
                    </a:solidFill>
                    <a:ea typeface="黑体" panose="02010609060101010101" pitchFamily="49" charset="-122"/>
                  </a:rPr>
                  <a:t>头端</a:t>
                </a:r>
              </a:p>
            </p:txBody>
          </p:sp>
          <p:grpSp>
            <p:nvGrpSpPr>
              <p:cNvPr id="406556" name="Group 180"/>
              <p:cNvGrpSpPr>
                <a:grpSpLocks noChangeAspect="1"/>
              </p:cNvGrpSpPr>
              <p:nvPr/>
            </p:nvGrpSpPr>
            <p:grpSpPr bwMode="auto">
              <a:xfrm>
                <a:off x="2246" y="722"/>
                <a:ext cx="228" cy="292"/>
                <a:chOff x="2246" y="722"/>
                <a:chExt cx="228" cy="292"/>
              </a:xfrm>
            </p:grpSpPr>
            <p:sp>
              <p:nvSpPr>
                <p:cNvPr id="406557" name="AutoShape 181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246" y="722"/>
                  <a:ext cx="228" cy="2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eaLnBrk="0" hangingPunct="0"/>
                  <a:endParaRPr lang="zh-CN" altLang="en-US" sz="2400" b="1">
                    <a:solidFill>
                      <a:srgbClr val="000099"/>
                    </a:solidFill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406558" name="Group 182"/>
                <p:cNvGrpSpPr>
                  <a:grpSpLocks/>
                </p:cNvGrpSpPr>
                <p:nvPr/>
              </p:nvGrpSpPr>
              <p:grpSpPr bwMode="auto">
                <a:xfrm>
                  <a:off x="2248" y="734"/>
                  <a:ext cx="224" cy="279"/>
                  <a:chOff x="2248" y="734"/>
                  <a:chExt cx="224" cy="279"/>
                </a:xfrm>
              </p:grpSpPr>
              <p:grpSp>
                <p:nvGrpSpPr>
                  <p:cNvPr id="406559" name="Group 183"/>
                  <p:cNvGrpSpPr>
                    <a:grpSpLocks/>
                  </p:cNvGrpSpPr>
                  <p:nvPr/>
                </p:nvGrpSpPr>
                <p:grpSpPr bwMode="auto">
                  <a:xfrm>
                    <a:off x="2328" y="898"/>
                    <a:ext cx="9" cy="37"/>
                    <a:chOff x="2328" y="898"/>
                    <a:chExt cx="9" cy="37"/>
                  </a:xfrm>
                </p:grpSpPr>
                <p:sp>
                  <p:nvSpPr>
                    <p:cNvPr id="406560" name="Rectangle 1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28" y="898"/>
                      <a:ext cx="9" cy="37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1588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4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406561" name="Line 1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2" y="898"/>
                      <a:ext cx="1" cy="33"/>
                    </a:xfrm>
                    <a:prstGeom prst="line">
                      <a:avLst/>
                    </a:prstGeom>
                    <a:noFill/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4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sp>
                <p:nvSpPr>
                  <p:cNvPr id="406562" name="Rectangle 186"/>
                  <p:cNvSpPr>
                    <a:spLocks noChangeArrowheads="1"/>
                  </p:cNvSpPr>
                  <p:nvPr/>
                </p:nvSpPr>
                <p:spPr bwMode="auto">
                  <a:xfrm>
                    <a:off x="2295" y="876"/>
                    <a:ext cx="25" cy="57"/>
                  </a:xfrm>
                  <a:prstGeom prst="rect">
                    <a:avLst/>
                  </a:pr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3" name="Freeform 187"/>
                  <p:cNvSpPr>
                    <a:spLocks noChangeArrowheads="1"/>
                  </p:cNvSpPr>
                  <p:nvPr/>
                </p:nvSpPr>
                <p:spPr bwMode="auto">
                  <a:xfrm>
                    <a:off x="2385" y="888"/>
                    <a:ext cx="16" cy="12"/>
                  </a:xfrm>
                  <a:custGeom>
                    <a:avLst/>
                    <a:gdLst>
                      <a:gd name="T0" fmla="*/ 0 w 112"/>
                      <a:gd name="T1" fmla="*/ 0 h 84"/>
                      <a:gd name="T2" fmla="*/ 0 w 112"/>
                      <a:gd name="T3" fmla="*/ 84 h 84"/>
                      <a:gd name="T4" fmla="*/ 112 w 112"/>
                      <a:gd name="T5" fmla="*/ 84 h 84"/>
                      <a:gd name="T6" fmla="*/ 112 w 112"/>
                      <a:gd name="T7" fmla="*/ 17 h 84"/>
                      <a:gd name="T8" fmla="*/ 0 w 112"/>
                      <a:gd name="T9" fmla="*/ 0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2" h="84">
                        <a:moveTo>
                          <a:pt x="0" y="0"/>
                        </a:moveTo>
                        <a:lnTo>
                          <a:pt x="0" y="84"/>
                        </a:lnTo>
                        <a:lnTo>
                          <a:pt x="112" y="84"/>
                        </a:lnTo>
                        <a:lnTo>
                          <a:pt x="112" y="17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4" name="Freeform 188"/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866"/>
                    <a:ext cx="11" cy="11"/>
                  </a:xfrm>
                  <a:custGeom>
                    <a:avLst/>
                    <a:gdLst>
                      <a:gd name="T0" fmla="*/ 42 w 77"/>
                      <a:gd name="T1" fmla="*/ 0 h 76"/>
                      <a:gd name="T2" fmla="*/ 0 w 77"/>
                      <a:gd name="T3" fmla="*/ 76 h 76"/>
                      <a:gd name="T4" fmla="*/ 56 w 77"/>
                      <a:gd name="T5" fmla="*/ 70 h 76"/>
                      <a:gd name="T6" fmla="*/ 77 w 77"/>
                      <a:gd name="T7" fmla="*/ 19 h 76"/>
                      <a:gd name="T8" fmla="*/ 42 w 77"/>
                      <a:gd name="T9" fmla="*/ 0 h 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7" h="76">
                        <a:moveTo>
                          <a:pt x="42" y="0"/>
                        </a:moveTo>
                        <a:lnTo>
                          <a:pt x="0" y="76"/>
                        </a:lnTo>
                        <a:lnTo>
                          <a:pt x="56" y="70"/>
                        </a:lnTo>
                        <a:lnTo>
                          <a:pt x="77" y="19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5" name="Freeform 189"/>
                  <p:cNvSpPr>
                    <a:spLocks noChangeArrowheads="1"/>
                  </p:cNvSpPr>
                  <p:nvPr/>
                </p:nvSpPr>
                <p:spPr bwMode="auto">
                  <a:xfrm>
                    <a:off x="2333" y="938"/>
                    <a:ext cx="51" cy="4"/>
                  </a:xfrm>
                  <a:custGeom>
                    <a:avLst/>
                    <a:gdLst>
                      <a:gd name="T0" fmla="*/ 0 w 356"/>
                      <a:gd name="T1" fmla="*/ 0 h 26"/>
                      <a:gd name="T2" fmla="*/ 356 w 356"/>
                      <a:gd name="T3" fmla="*/ 0 h 26"/>
                      <a:gd name="T4" fmla="*/ 356 w 356"/>
                      <a:gd name="T5" fmla="*/ 26 h 26"/>
                      <a:gd name="T6" fmla="*/ 5 w 356"/>
                      <a:gd name="T7" fmla="*/ 26 h 26"/>
                      <a:gd name="T8" fmla="*/ 0 w 356"/>
                      <a:gd name="T9" fmla="*/ 0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56" h="26">
                        <a:moveTo>
                          <a:pt x="0" y="0"/>
                        </a:moveTo>
                        <a:lnTo>
                          <a:pt x="356" y="0"/>
                        </a:lnTo>
                        <a:lnTo>
                          <a:pt x="356" y="26"/>
                        </a:lnTo>
                        <a:lnTo>
                          <a:pt x="5" y="2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6" name="Freeform 190"/>
                  <p:cNvSpPr>
                    <a:spLocks noChangeArrowheads="1"/>
                  </p:cNvSpPr>
                  <p:nvPr/>
                </p:nvSpPr>
                <p:spPr bwMode="auto">
                  <a:xfrm>
                    <a:off x="2294" y="795"/>
                    <a:ext cx="22" cy="24"/>
                  </a:xfrm>
                  <a:custGeom>
                    <a:avLst/>
                    <a:gdLst>
                      <a:gd name="T0" fmla="*/ 140 w 149"/>
                      <a:gd name="T1" fmla="*/ 0 h 163"/>
                      <a:gd name="T2" fmla="*/ 2 w 149"/>
                      <a:gd name="T3" fmla="*/ 117 h 163"/>
                      <a:gd name="T4" fmla="*/ 0 w 149"/>
                      <a:gd name="T5" fmla="*/ 163 h 163"/>
                      <a:gd name="T6" fmla="*/ 149 w 149"/>
                      <a:gd name="T7" fmla="*/ 54 h 163"/>
                      <a:gd name="T8" fmla="*/ 140 w 149"/>
                      <a:gd name="T9" fmla="*/ 0 h 1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49" h="163">
                        <a:moveTo>
                          <a:pt x="140" y="0"/>
                        </a:moveTo>
                        <a:lnTo>
                          <a:pt x="2" y="117"/>
                        </a:lnTo>
                        <a:lnTo>
                          <a:pt x="0" y="163"/>
                        </a:lnTo>
                        <a:lnTo>
                          <a:pt x="149" y="54"/>
                        </a:lnTo>
                        <a:lnTo>
                          <a:pt x="140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7" name="Freeform 191"/>
                  <p:cNvSpPr>
                    <a:spLocks noChangeArrowheads="1"/>
                  </p:cNvSpPr>
                  <p:nvPr/>
                </p:nvSpPr>
                <p:spPr bwMode="auto">
                  <a:xfrm>
                    <a:off x="2289" y="734"/>
                    <a:ext cx="32" cy="199"/>
                  </a:xfrm>
                  <a:custGeom>
                    <a:avLst/>
                    <a:gdLst>
                      <a:gd name="T0" fmla="*/ 225 w 225"/>
                      <a:gd name="T1" fmla="*/ 0 h 1395"/>
                      <a:gd name="T2" fmla="*/ 0 w 225"/>
                      <a:gd name="T3" fmla="*/ 82 h 1395"/>
                      <a:gd name="T4" fmla="*/ 0 w 225"/>
                      <a:gd name="T5" fmla="*/ 1395 h 1395"/>
                      <a:gd name="T6" fmla="*/ 42 w 225"/>
                      <a:gd name="T7" fmla="*/ 1395 h 1395"/>
                      <a:gd name="T8" fmla="*/ 42 w 225"/>
                      <a:gd name="T9" fmla="*/ 202 h 1395"/>
                      <a:gd name="T10" fmla="*/ 225 w 225"/>
                      <a:gd name="T11" fmla="*/ 133 h 1395"/>
                      <a:gd name="T12" fmla="*/ 225 w 225"/>
                      <a:gd name="T13" fmla="*/ 0 h 13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25" h="1395">
                        <a:moveTo>
                          <a:pt x="225" y="0"/>
                        </a:moveTo>
                        <a:lnTo>
                          <a:pt x="0" y="82"/>
                        </a:lnTo>
                        <a:lnTo>
                          <a:pt x="0" y="1395"/>
                        </a:lnTo>
                        <a:lnTo>
                          <a:pt x="42" y="1395"/>
                        </a:lnTo>
                        <a:lnTo>
                          <a:pt x="42" y="202"/>
                        </a:lnTo>
                        <a:lnTo>
                          <a:pt x="225" y="133"/>
                        </a:lnTo>
                        <a:lnTo>
                          <a:pt x="225" y="0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8" name="Freeform 192"/>
                  <p:cNvSpPr>
                    <a:spLocks noChangeArrowheads="1"/>
                  </p:cNvSpPr>
                  <p:nvPr/>
                </p:nvSpPr>
                <p:spPr bwMode="auto">
                  <a:xfrm>
                    <a:off x="2288" y="933"/>
                    <a:ext cx="184" cy="44"/>
                  </a:xfrm>
                  <a:custGeom>
                    <a:avLst/>
                    <a:gdLst>
                      <a:gd name="T0" fmla="*/ 0 w 1290"/>
                      <a:gd name="T1" fmla="*/ 304 h 304"/>
                      <a:gd name="T2" fmla="*/ 0 w 1290"/>
                      <a:gd name="T3" fmla="*/ 0 h 304"/>
                      <a:gd name="T4" fmla="*/ 281 w 1290"/>
                      <a:gd name="T5" fmla="*/ 0 h 304"/>
                      <a:gd name="T6" fmla="*/ 337 w 1290"/>
                      <a:gd name="T7" fmla="*/ 51 h 304"/>
                      <a:gd name="T8" fmla="*/ 505 w 1290"/>
                      <a:gd name="T9" fmla="*/ 51 h 304"/>
                      <a:gd name="T10" fmla="*/ 561 w 1290"/>
                      <a:gd name="T11" fmla="*/ 102 h 304"/>
                      <a:gd name="T12" fmla="*/ 1122 w 1290"/>
                      <a:gd name="T13" fmla="*/ 102 h 304"/>
                      <a:gd name="T14" fmla="*/ 1122 w 1290"/>
                      <a:gd name="T15" fmla="*/ 203 h 304"/>
                      <a:gd name="T16" fmla="*/ 1290 w 1290"/>
                      <a:gd name="T17" fmla="*/ 203 h 304"/>
                      <a:gd name="T18" fmla="*/ 1290 w 1290"/>
                      <a:gd name="T19" fmla="*/ 304 h 304"/>
                      <a:gd name="T20" fmla="*/ 0 w 1290"/>
                      <a:gd name="T21" fmla="*/ 304 h 3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290" h="304">
                        <a:moveTo>
                          <a:pt x="0" y="304"/>
                        </a:moveTo>
                        <a:lnTo>
                          <a:pt x="0" y="0"/>
                        </a:lnTo>
                        <a:lnTo>
                          <a:pt x="281" y="0"/>
                        </a:lnTo>
                        <a:lnTo>
                          <a:pt x="337" y="51"/>
                        </a:lnTo>
                        <a:lnTo>
                          <a:pt x="505" y="51"/>
                        </a:lnTo>
                        <a:lnTo>
                          <a:pt x="561" y="102"/>
                        </a:lnTo>
                        <a:lnTo>
                          <a:pt x="1122" y="102"/>
                        </a:lnTo>
                        <a:lnTo>
                          <a:pt x="1122" y="203"/>
                        </a:lnTo>
                        <a:lnTo>
                          <a:pt x="1290" y="203"/>
                        </a:lnTo>
                        <a:lnTo>
                          <a:pt x="1290" y="304"/>
                        </a:lnTo>
                        <a:lnTo>
                          <a:pt x="0" y="304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69" name="Rectangle 193"/>
                  <p:cNvSpPr>
                    <a:spLocks noChangeArrowheads="1"/>
                  </p:cNvSpPr>
                  <p:nvPr/>
                </p:nvSpPr>
                <p:spPr bwMode="auto">
                  <a:xfrm>
                    <a:off x="2288" y="962"/>
                    <a:ext cx="136" cy="15"/>
                  </a:xfrm>
                  <a:prstGeom prst="rect">
                    <a:avLst/>
                  </a:pr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0" name="Line 194"/>
                  <p:cNvSpPr>
                    <a:spLocks noChangeShapeType="1"/>
                  </p:cNvSpPr>
                  <p:nvPr/>
                </p:nvSpPr>
                <p:spPr bwMode="auto">
                  <a:xfrm>
                    <a:off x="2282" y="873"/>
                    <a:ext cx="1" cy="25"/>
                  </a:xfrm>
                  <a:prstGeom prst="line">
                    <a:avLst/>
                  </a:pr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1" name="Freeform 195"/>
                  <p:cNvSpPr>
                    <a:spLocks noChangeArrowheads="1"/>
                  </p:cNvSpPr>
                  <p:nvPr/>
                </p:nvSpPr>
                <p:spPr bwMode="auto">
                  <a:xfrm>
                    <a:off x="2277" y="898"/>
                    <a:ext cx="12" cy="13"/>
                  </a:xfrm>
                  <a:custGeom>
                    <a:avLst/>
                    <a:gdLst>
                      <a:gd name="T0" fmla="*/ 0 w 84"/>
                      <a:gd name="T1" fmla="*/ 89 h 89"/>
                      <a:gd name="T2" fmla="*/ 0 w 84"/>
                      <a:gd name="T3" fmla="*/ 0 h 89"/>
                      <a:gd name="T4" fmla="*/ 84 w 84"/>
                      <a:gd name="T5" fmla="*/ 0 h 89"/>
                      <a:gd name="T6" fmla="*/ 84 w 84"/>
                      <a:gd name="T7" fmla="*/ 32 h 89"/>
                      <a:gd name="T8" fmla="*/ 28 w 84"/>
                      <a:gd name="T9" fmla="*/ 32 h 89"/>
                      <a:gd name="T10" fmla="*/ 28 w 84"/>
                      <a:gd name="T11" fmla="*/ 89 h 89"/>
                      <a:gd name="T12" fmla="*/ 0 w 84"/>
                      <a:gd name="T13" fmla="*/ 89 h 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4" h="89">
                        <a:moveTo>
                          <a:pt x="0" y="89"/>
                        </a:moveTo>
                        <a:lnTo>
                          <a:pt x="0" y="0"/>
                        </a:lnTo>
                        <a:lnTo>
                          <a:pt x="84" y="0"/>
                        </a:lnTo>
                        <a:lnTo>
                          <a:pt x="84" y="32"/>
                        </a:lnTo>
                        <a:lnTo>
                          <a:pt x="28" y="32"/>
                        </a:lnTo>
                        <a:lnTo>
                          <a:pt x="28" y="89"/>
                        </a:lnTo>
                        <a:lnTo>
                          <a:pt x="0" y="89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2" name="Freeform 196"/>
                  <p:cNvSpPr>
                    <a:spLocks noChangeArrowheads="1"/>
                  </p:cNvSpPr>
                  <p:nvPr/>
                </p:nvSpPr>
                <p:spPr bwMode="auto">
                  <a:xfrm>
                    <a:off x="2344" y="889"/>
                    <a:ext cx="41" cy="53"/>
                  </a:xfrm>
                  <a:custGeom>
                    <a:avLst/>
                    <a:gdLst>
                      <a:gd name="T0" fmla="*/ 0 w 287"/>
                      <a:gd name="T1" fmla="*/ 0 h 367"/>
                      <a:gd name="T2" fmla="*/ 287 w 287"/>
                      <a:gd name="T3" fmla="*/ 367 h 367"/>
                      <a:gd name="T4" fmla="*/ 245 w 287"/>
                      <a:gd name="T5" fmla="*/ 360 h 367"/>
                      <a:gd name="T6" fmla="*/ 0 w 287"/>
                      <a:gd name="T7" fmla="*/ 51 h 367"/>
                      <a:gd name="T8" fmla="*/ 0 w 287"/>
                      <a:gd name="T9" fmla="*/ 0 h 3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87" h="367">
                        <a:moveTo>
                          <a:pt x="0" y="0"/>
                        </a:moveTo>
                        <a:lnTo>
                          <a:pt x="287" y="367"/>
                        </a:lnTo>
                        <a:lnTo>
                          <a:pt x="245" y="360"/>
                        </a:lnTo>
                        <a:lnTo>
                          <a:pt x="0" y="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3" name="Freeform 197"/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919"/>
                    <a:ext cx="32" cy="58"/>
                  </a:xfrm>
                  <a:custGeom>
                    <a:avLst/>
                    <a:gdLst>
                      <a:gd name="T0" fmla="*/ 168 w 224"/>
                      <a:gd name="T1" fmla="*/ 0 h 405"/>
                      <a:gd name="T2" fmla="*/ 0 w 224"/>
                      <a:gd name="T3" fmla="*/ 152 h 405"/>
                      <a:gd name="T4" fmla="*/ 0 w 224"/>
                      <a:gd name="T5" fmla="*/ 405 h 405"/>
                      <a:gd name="T6" fmla="*/ 224 w 224"/>
                      <a:gd name="T7" fmla="*/ 405 h 405"/>
                      <a:gd name="T8" fmla="*/ 224 w 224"/>
                      <a:gd name="T9" fmla="*/ 101 h 405"/>
                      <a:gd name="T10" fmla="*/ 168 w 224"/>
                      <a:gd name="T11" fmla="*/ 0 h 4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24" h="405">
                        <a:moveTo>
                          <a:pt x="168" y="0"/>
                        </a:moveTo>
                        <a:lnTo>
                          <a:pt x="0" y="152"/>
                        </a:lnTo>
                        <a:lnTo>
                          <a:pt x="0" y="405"/>
                        </a:lnTo>
                        <a:lnTo>
                          <a:pt x="224" y="405"/>
                        </a:lnTo>
                        <a:lnTo>
                          <a:pt x="224" y="101"/>
                        </a:lnTo>
                        <a:lnTo>
                          <a:pt x="168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4" name="Rectangle 198"/>
                  <p:cNvSpPr>
                    <a:spLocks noChangeArrowheads="1"/>
                  </p:cNvSpPr>
                  <p:nvPr/>
                </p:nvSpPr>
                <p:spPr bwMode="auto">
                  <a:xfrm>
                    <a:off x="2248" y="1004"/>
                    <a:ext cx="224" cy="9"/>
                  </a:xfrm>
                  <a:prstGeom prst="rect">
                    <a:avLst/>
                  </a:pr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5" name="Rectangle 199"/>
                  <p:cNvSpPr>
                    <a:spLocks noChangeArrowheads="1"/>
                  </p:cNvSpPr>
                  <p:nvPr/>
                </p:nvSpPr>
                <p:spPr bwMode="auto">
                  <a:xfrm>
                    <a:off x="2248" y="991"/>
                    <a:ext cx="224" cy="13"/>
                  </a:xfrm>
                  <a:prstGeom prst="rect">
                    <a:avLst/>
                  </a:pr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6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2248" y="977"/>
                    <a:ext cx="224" cy="14"/>
                  </a:xfrm>
                  <a:prstGeom prst="rect">
                    <a:avLst/>
                  </a:pr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7" name="Rectangle 201"/>
                  <p:cNvSpPr>
                    <a:spLocks noChangeArrowheads="1"/>
                  </p:cNvSpPr>
                  <p:nvPr/>
                </p:nvSpPr>
                <p:spPr bwMode="auto">
                  <a:xfrm>
                    <a:off x="2442" y="966"/>
                    <a:ext cx="24" cy="7"/>
                  </a:xfrm>
                  <a:prstGeom prst="rect">
                    <a:avLst/>
                  </a:pr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8" name="Oval 202"/>
                  <p:cNvSpPr>
                    <a:spLocks noChangeArrowheads="1"/>
                  </p:cNvSpPr>
                  <p:nvPr/>
                </p:nvSpPr>
                <p:spPr bwMode="auto">
                  <a:xfrm>
                    <a:off x="2271" y="911"/>
                    <a:ext cx="18" cy="16"/>
                  </a:xfrm>
                  <a:prstGeom prst="ellipse">
                    <a:avLst/>
                  </a:prstGeom>
                  <a:solidFill>
                    <a:srgbClr val="9F9F9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79" name="Rectangle 203"/>
                  <p:cNvSpPr>
                    <a:spLocks noChangeArrowheads="1"/>
                  </p:cNvSpPr>
                  <p:nvPr/>
                </p:nvSpPr>
                <p:spPr bwMode="auto">
                  <a:xfrm>
                    <a:off x="2328" y="883"/>
                    <a:ext cx="16" cy="14"/>
                  </a:xfrm>
                  <a:prstGeom prst="rect">
                    <a:avLst/>
                  </a:pr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80" name="Freeform 204"/>
                  <p:cNvSpPr>
                    <a:spLocks noChangeArrowheads="1"/>
                  </p:cNvSpPr>
                  <p:nvPr/>
                </p:nvSpPr>
                <p:spPr bwMode="auto">
                  <a:xfrm>
                    <a:off x="2320" y="876"/>
                    <a:ext cx="64" cy="57"/>
                  </a:xfrm>
                  <a:custGeom>
                    <a:avLst/>
                    <a:gdLst>
                      <a:gd name="T0" fmla="*/ 56 w 448"/>
                      <a:gd name="T1" fmla="*/ 403 h 403"/>
                      <a:gd name="T2" fmla="*/ 56 w 448"/>
                      <a:gd name="T3" fmla="*/ 50 h 403"/>
                      <a:gd name="T4" fmla="*/ 448 w 448"/>
                      <a:gd name="T5" fmla="*/ 50 h 403"/>
                      <a:gd name="T6" fmla="*/ 448 w 448"/>
                      <a:gd name="T7" fmla="*/ 0 h 403"/>
                      <a:gd name="T8" fmla="*/ 0 w 448"/>
                      <a:gd name="T9" fmla="*/ 0 h 403"/>
                      <a:gd name="T10" fmla="*/ 0 w 448"/>
                      <a:gd name="T11" fmla="*/ 403 h 403"/>
                      <a:gd name="T12" fmla="*/ 56 w 448"/>
                      <a:gd name="T13" fmla="*/ 403 h 40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48" h="403">
                        <a:moveTo>
                          <a:pt x="56" y="403"/>
                        </a:moveTo>
                        <a:lnTo>
                          <a:pt x="56" y="50"/>
                        </a:lnTo>
                        <a:lnTo>
                          <a:pt x="448" y="50"/>
                        </a:lnTo>
                        <a:lnTo>
                          <a:pt x="448" y="0"/>
                        </a:lnTo>
                        <a:lnTo>
                          <a:pt x="0" y="0"/>
                        </a:lnTo>
                        <a:lnTo>
                          <a:pt x="0" y="403"/>
                        </a:lnTo>
                        <a:lnTo>
                          <a:pt x="56" y="403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grpSp>
                <p:nvGrpSpPr>
                  <p:cNvPr id="406581" name="Group 205"/>
                  <p:cNvGrpSpPr>
                    <a:grpSpLocks/>
                  </p:cNvGrpSpPr>
                  <p:nvPr/>
                </p:nvGrpSpPr>
                <p:grpSpPr bwMode="auto">
                  <a:xfrm>
                    <a:off x="2267" y="821"/>
                    <a:ext cx="73" cy="59"/>
                    <a:chOff x="2267" y="821"/>
                    <a:chExt cx="73" cy="59"/>
                  </a:xfrm>
                </p:grpSpPr>
                <p:sp>
                  <p:nvSpPr>
                    <p:cNvPr id="406582" name="Oval 2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3" y="821"/>
                      <a:ext cx="67" cy="59"/>
                    </a:xfrm>
                    <a:prstGeom prst="ellipse">
                      <a:avLst/>
                    </a:prstGeom>
                    <a:solidFill>
                      <a:srgbClr val="808080"/>
                    </a:solidFill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4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406583" name="Oval 2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7" y="821"/>
                      <a:ext cx="66" cy="59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1588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4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406584" name="Group 208"/>
                  <p:cNvGrpSpPr>
                    <a:grpSpLocks/>
                  </p:cNvGrpSpPr>
                  <p:nvPr/>
                </p:nvGrpSpPr>
                <p:grpSpPr bwMode="auto">
                  <a:xfrm>
                    <a:off x="2296" y="933"/>
                    <a:ext cx="24" cy="58"/>
                    <a:chOff x="2296" y="933"/>
                    <a:chExt cx="24" cy="58"/>
                  </a:xfrm>
                </p:grpSpPr>
                <p:sp>
                  <p:nvSpPr>
                    <p:cNvPr id="406585" name="Rectangle 2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96" y="933"/>
                      <a:ext cx="24" cy="58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1588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pPr eaLnBrk="0" hangingPunct="0"/>
                      <a:endParaRPr lang="zh-CN" altLang="en-US" sz="2400" b="1">
                        <a:solidFill>
                          <a:srgbClr val="000099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  <p:grpSp>
                  <p:nvGrpSpPr>
                    <p:cNvPr id="406586" name="Group 21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96" y="941"/>
                      <a:ext cx="24" cy="44"/>
                      <a:chOff x="2296" y="941"/>
                      <a:chExt cx="24" cy="44"/>
                    </a:xfrm>
                  </p:grpSpPr>
                  <p:sp>
                    <p:nvSpPr>
                      <p:cNvPr id="406587" name="Line 21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48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06588" name="Line 21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70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06589" name="Line 21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62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06590" name="Line 21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55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06591" name="Line 2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41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06592" name="Line 21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77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06593" name="Line 21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96" y="984"/>
                        <a:ext cx="24" cy="1"/>
                      </a:xfrm>
                      <a:prstGeom prst="line">
                        <a:avLst/>
                      </a:prstGeom>
                      <a:noFill/>
                      <a:ln w="158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pPr eaLnBrk="0" hangingPunct="0"/>
                        <a:endParaRPr lang="zh-CN" altLang="en-US" sz="2400" b="1">
                          <a:solidFill>
                            <a:srgbClr val="000099"/>
                          </a:solidFill>
                          <a:ea typeface="黑体" panose="02010609060101010101" pitchFamily="49" charset="-122"/>
                        </a:endParaRPr>
                      </a:p>
                    </p:txBody>
                  </p:sp>
                </p:grpSp>
              </p:grpSp>
              <p:sp>
                <p:nvSpPr>
                  <p:cNvPr id="406594" name="Rectangle 218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948"/>
                    <a:ext cx="8" cy="14"/>
                  </a:xfrm>
                  <a:prstGeom prst="rect">
                    <a:avLst/>
                  </a:pr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406595" name="Group 219"/>
                <p:cNvGrpSpPr>
                  <a:grpSpLocks/>
                </p:cNvGrpSpPr>
                <p:nvPr/>
              </p:nvGrpSpPr>
              <p:grpSpPr bwMode="auto">
                <a:xfrm>
                  <a:off x="2382" y="788"/>
                  <a:ext cx="40" cy="40"/>
                  <a:chOff x="2382" y="788"/>
                  <a:chExt cx="40" cy="40"/>
                </a:xfrm>
              </p:grpSpPr>
              <p:sp>
                <p:nvSpPr>
                  <p:cNvPr id="406596" name="Freeform 220"/>
                  <p:cNvSpPr>
                    <a:spLocks noChangeArrowheads="1"/>
                  </p:cNvSpPr>
                  <p:nvPr/>
                </p:nvSpPr>
                <p:spPr bwMode="auto">
                  <a:xfrm>
                    <a:off x="2404" y="800"/>
                    <a:ext cx="18" cy="28"/>
                  </a:xfrm>
                  <a:custGeom>
                    <a:avLst/>
                    <a:gdLst>
                      <a:gd name="T0" fmla="*/ 106 w 127"/>
                      <a:gd name="T1" fmla="*/ 0 h 195"/>
                      <a:gd name="T2" fmla="*/ 0 w 127"/>
                      <a:gd name="T3" fmla="*/ 164 h 195"/>
                      <a:gd name="T4" fmla="*/ 21 w 127"/>
                      <a:gd name="T5" fmla="*/ 195 h 195"/>
                      <a:gd name="T6" fmla="*/ 127 w 127"/>
                      <a:gd name="T7" fmla="*/ 6 h 195"/>
                      <a:gd name="T8" fmla="*/ 106 w 127"/>
                      <a:gd name="T9" fmla="*/ 0 h 1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7" h="195">
                        <a:moveTo>
                          <a:pt x="106" y="0"/>
                        </a:moveTo>
                        <a:lnTo>
                          <a:pt x="0" y="164"/>
                        </a:lnTo>
                        <a:lnTo>
                          <a:pt x="21" y="195"/>
                        </a:lnTo>
                        <a:lnTo>
                          <a:pt x="127" y="6"/>
                        </a:lnTo>
                        <a:lnTo>
                          <a:pt x="106" y="0"/>
                        </a:lnTo>
                        <a:close/>
                      </a:path>
                    </a:pathLst>
                  </a:custGeom>
                  <a:solidFill>
                    <a:srgbClr val="BFBFD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597" name="Freeform 221"/>
                  <p:cNvSpPr>
                    <a:spLocks noChangeArrowheads="1"/>
                  </p:cNvSpPr>
                  <p:nvPr/>
                </p:nvSpPr>
                <p:spPr bwMode="auto">
                  <a:xfrm>
                    <a:off x="2382" y="788"/>
                    <a:ext cx="35" cy="8"/>
                  </a:xfrm>
                  <a:custGeom>
                    <a:avLst/>
                    <a:gdLst>
                      <a:gd name="T0" fmla="*/ 238 w 246"/>
                      <a:gd name="T1" fmla="*/ 0 h 57"/>
                      <a:gd name="T2" fmla="*/ 0 w 246"/>
                      <a:gd name="T3" fmla="*/ 31 h 57"/>
                      <a:gd name="T4" fmla="*/ 35 w 246"/>
                      <a:gd name="T5" fmla="*/ 57 h 57"/>
                      <a:gd name="T6" fmla="*/ 246 w 246"/>
                      <a:gd name="T7" fmla="*/ 19 h 57"/>
                      <a:gd name="T8" fmla="*/ 238 w 246"/>
                      <a:gd name="T9" fmla="*/ 0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6" h="57">
                        <a:moveTo>
                          <a:pt x="238" y="0"/>
                        </a:moveTo>
                        <a:lnTo>
                          <a:pt x="0" y="31"/>
                        </a:lnTo>
                        <a:lnTo>
                          <a:pt x="35" y="57"/>
                        </a:lnTo>
                        <a:lnTo>
                          <a:pt x="246" y="19"/>
                        </a:lnTo>
                        <a:lnTo>
                          <a:pt x="238" y="0"/>
                        </a:lnTo>
                        <a:close/>
                      </a:path>
                    </a:pathLst>
                  </a:custGeom>
                  <a:solidFill>
                    <a:srgbClr val="BFBFD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406598" name="Group 222"/>
                <p:cNvGrpSpPr>
                  <a:grpSpLocks/>
                </p:cNvGrpSpPr>
                <p:nvPr/>
              </p:nvGrpSpPr>
              <p:grpSpPr bwMode="auto">
                <a:xfrm>
                  <a:off x="2302" y="723"/>
                  <a:ext cx="132" cy="186"/>
                  <a:chOff x="2302" y="723"/>
                  <a:chExt cx="132" cy="186"/>
                </a:xfrm>
              </p:grpSpPr>
              <p:sp>
                <p:nvSpPr>
                  <p:cNvPr id="406599" name="Freeform 223"/>
                  <p:cNvSpPr>
                    <a:spLocks noChangeArrowheads="1"/>
                  </p:cNvSpPr>
                  <p:nvPr/>
                </p:nvSpPr>
                <p:spPr bwMode="auto">
                  <a:xfrm>
                    <a:off x="2302" y="724"/>
                    <a:ext cx="132" cy="185"/>
                  </a:xfrm>
                  <a:custGeom>
                    <a:avLst/>
                    <a:gdLst>
                      <a:gd name="T0" fmla="*/ 30 w 920"/>
                      <a:gd name="T1" fmla="*/ 47 h 1300"/>
                      <a:gd name="T2" fmla="*/ 16 w 920"/>
                      <a:gd name="T3" fmla="*/ 85 h 1300"/>
                      <a:gd name="T4" fmla="*/ 4 w 920"/>
                      <a:gd name="T5" fmla="*/ 132 h 1300"/>
                      <a:gd name="T6" fmla="*/ 0 w 920"/>
                      <a:gd name="T7" fmla="*/ 183 h 1300"/>
                      <a:gd name="T8" fmla="*/ 0 w 920"/>
                      <a:gd name="T9" fmla="*/ 233 h 1300"/>
                      <a:gd name="T10" fmla="*/ 12 w 920"/>
                      <a:gd name="T11" fmla="*/ 299 h 1300"/>
                      <a:gd name="T12" fmla="*/ 23 w 920"/>
                      <a:gd name="T13" fmla="*/ 381 h 1300"/>
                      <a:gd name="T14" fmla="*/ 44 w 920"/>
                      <a:gd name="T15" fmla="*/ 473 h 1300"/>
                      <a:gd name="T16" fmla="*/ 79 w 920"/>
                      <a:gd name="T17" fmla="*/ 578 h 1300"/>
                      <a:gd name="T18" fmla="*/ 131 w 920"/>
                      <a:gd name="T19" fmla="*/ 679 h 1300"/>
                      <a:gd name="T20" fmla="*/ 215 w 920"/>
                      <a:gd name="T21" fmla="*/ 799 h 1300"/>
                      <a:gd name="T22" fmla="*/ 299 w 920"/>
                      <a:gd name="T23" fmla="*/ 912 h 1300"/>
                      <a:gd name="T24" fmla="*/ 369 w 920"/>
                      <a:gd name="T25" fmla="*/ 988 h 1300"/>
                      <a:gd name="T26" fmla="*/ 467 w 920"/>
                      <a:gd name="T27" fmla="*/ 1079 h 1300"/>
                      <a:gd name="T28" fmla="*/ 569 w 920"/>
                      <a:gd name="T29" fmla="*/ 1155 h 1300"/>
                      <a:gd name="T30" fmla="*/ 660 w 920"/>
                      <a:gd name="T31" fmla="*/ 1215 h 1300"/>
                      <a:gd name="T32" fmla="*/ 726 w 920"/>
                      <a:gd name="T33" fmla="*/ 1253 h 1300"/>
                      <a:gd name="T34" fmla="*/ 793 w 920"/>
                      <a:gd name="T35" fmla="*/ 1281 h 1300"/>
                      <a:gd name="T36" fmla="*/ 846 w 920"/>
                      <a:gd name="T37" fmla="*/ 1300 h 1300"/>
                      <a:gd name="T38" fmla="*/ 888 w 920"/>
                      <a:gd name="T39" fmla="*/ 1300 h 1300"/>
                      <a:gd name="T40" fmla="*/ 920 w 920"/>
                      <a:gd name="T41" fmla="*/ 1284 h 1300"/>
                      <a:gd name="T42" fmla="*/ 61 w 920"/>
                      <a:gd name="T43" fmla="*/ 0 h 1300"/>
                      <a:gd name="T44" fmla="*/ 30 w 920"/>
                      <a:gd name="T45" fmla="*/ 47 h 13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920" h="1300">
                        <a:moveTo>
                          <a:pt x="30" y="47"/>
                        </a:moveTo>
                        <a:lnTo>
                          <a:pt x="16" y="85"/>
                        </a:lnTo>
                        <a:lnTo>
                          <a:pt x="4" y="132"/>
                        </a:lnTo>
                        <a:lnTo>
                          <a:pt x="0" y="183"/>
                        </a:lnTo>
                        <a:lnTo>
                          <a:pt x="0" y="233"/>
                        </a:lnTo>
                        <a:lnTo>
                          <a:pt x="12" y="299"/>
                        </a:lnTo>
                        <a:lnTo>
                          <a:pt x="23" y="381"/>
                        </a:lnTo>
                        <a:lnTo>
                          <a:pt x="44" y="473"/>
                        </a:lnTo>
                        <a:lnTo>
                          <a:pt x="79" y="578"/>
                        </a:lnTo>
                        <a:lnTo>
                          <a:pt x="131" y="679"/>
                        </a:lnTo>
                        <a:lnTo>
                          <a:pt x="215" y="799"/>
                        </a:lnTo>
                        <a:lnTo>
                          <a:pt x="299" y="912"/>
                        </a:lnTo>
                        <a:lnTo>
                          <a:pt x="369" y="988"/>
                        </a:lnTo>
                        <a:lnTo>
                          <a:pt x="467" y="1079"/>
                        </a:lnTo>
                        <a:lnTo>
                          <a:pt x="569" y="1155"/>
                        </a:lnTo>
                        <a:lnTo>
                          <a:pt x="660" y="1215"/>
                        </a:lnTo>
                        <a:lnTo>
                          <a:pt x="726" y="1253"/>
                        </a:lnTo>
                        <a:lnTo>
                          <a:pt x="793" y="1281"/>
                        </a:lnTo>
                        <a:lnTo>
                          <a:pt x="846" y="1300"/>
                        </a:lnTo>
                        <a:lnTo>
                          <a:pt x="888" y="1300"/>
                        </a:lnTo>
                        <a:lnTo>
                          <a:pt x="920" y="1284"/>
                        </a:lnTo>
                        <a:lnTo>
                          <a:pt x="61" y="0"/>
                        </a:lnTo>
                        <a:lnTo>
                          <a:pt x="30" y="4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600" name="Freeform 224"/>
                  <p:cNvSpPr>
                    <a:spLocks noChangeArrowheads="1"/>
                  </p:cNvSpPr>
                  <p:nvPr/>
                </p:nvSpPr>
                <p:spPr bwMode="auto">
                  <a:xfrm>
                    <a:off x="2310" y="723"/>
                    <a:ext cx="124" cy="184"/>
                  </a:xfrm>
                  <a:custGeom>
                    <a:avLst/>
                    <a:gdLst>
                      <a:gd name="T0" fmla="*/ 7 w 866"/>
                      <a:gd name="T1" fmla="*/ 0 h 1288"/>
                      <a:gd name="T2" fmla="*/ 0 w 866"/>
                      <a:gd name="T3" fmla="*/ 26 h 1288"/>
                      <a:gd name="T4" fmla="*/ 0 w 866"/>
                      <a:gd name="T5" fmla="*/ 82 h 1288"/>
                      <a:gd name="T6" fmla="*/ 4 w 866"/>
                      <a:gd name="T7" fmla="*/ 149 h 1288"/>
                      <a:gd name="T8" fmla="*/ 11 w 866"/>
                      <a:gd name="T9" fmla="*/ 202 h 1288"/>
                      <a:gd name="T10" fmla="*/ 21 w 866"/>
                      <a:gd name="T11" fmla="*/ 272 h 1288"/>
                      <a:gd name="T12" fmla="*/ 35 w 866"/>
                      <a:gd name="T13" fmla="*/ 354 h 1288"/>
                      <a:gd name="T14" fmla="*/ 56 w 866"/>
                      <a:gd name="T15" fmla="*/ 439 h 1288"/>
                      <a:gd name="T16" fmla="*/ 98 w 866"/>
                      <a:gd name="T17" fmla="*/ 547 h 1288"/>
                      <a:gd name="T18" fmla="*/ 161 w 866"/>
                      <a:gd name="T19" fmla="*/ 670 h 1288"/>
                      <a:gd name="T20" fmla="*/ 231 w 866"/>
                      <a:gd name="T21" fmla="*/ 771 h 1288"/>
                      <a:gd name="T22" fmla="*/ 315 w 866"/>
                      <a:gd name="T23" fmla="*/ 878 h 1288"/>
                      <a:gd name="T24" fmla="*/ 392 w 866"/>
                      <a:gd name="T25" fmla="*/ 960 h 1288"/>
                      <a:gd name="T26" fmla="*/ 452 w 866"/>
                      <a:gd name="T27" fmla="*/ 1016 h 1288"/>
                      <a:gd name="T28" fmla="*/ 508 w 866"/>
                      <a:gd name="T29" fmla="*/ 1068 h 1288"/>
                      <a:gd name="T30" fmla="*/ 567 w 866"/>
                      <a:gd name="T31" fmla="*/ 1118 h 1288"/>
                      <a:gd name="T32" fmla="*/ 634 w 866"/>
                      <a:gd name="T33" fmla="*/ 1168 h 1288"/>
                      <a:gd name="T34" fmla="*/ 679 w 866"/>
                      <a:gd name="T35" fmla="*/ 1200 h 1288"/>
                      <a:gd name="T36" fmla="*/ 728 w 866"/>
                      <a:gd name="T37" fmla="*/ 1228 h 1288"/>
                      <a:gd name="T38" fmla="*/ 782 w 866"/>
                      <a:gd name="T39" fmla="*/ 1256 h 1288"/>
                      <a:gd name="T40" fmla="*/ 827 w 866"/>
                      <a:gd name="T41" fmla="*/ 1282 h 1288"/>
                      <a:gd name="T42" fmla="*/ 855 w 866"/>
                      <a:gd name="T43" fmla="*/ 1288 h 1288"/>
                      <a:gd name="T44" fmla="*/ 866 w 866"/>
                      <a:gd name="T45" fmla="*/ 1270 h 1288"/>
                      <a:gd name="T46" fmla="*/ 863 w 866"/>
                      <a:gd name="T47" fmla="*/ 1243 h 1288"/>
                      <a:gd name="T48" fmla="*/ 856 w 866"/>
                      <a:gd name="T49" fmla="*/ 1213 h 1288"/>
                      <a:gd name="T50" fmla="*/ 845 w 866"/>
                      <a:gd name="T51" fmla="*/ 1159 h 1288"/>
                      <a:gd name="T52" fmla="*/ 831 w 866"/>
                      <a:gd name="T53" fmla="*/ 1089 h 1288"/>
                      <a:gd name="T54" fmla="*/ 813 w 866"/>
                      <a:gd name="T55" fmla="*/ 1023 h 1288"/>
                      <a:gd name="T56" fmla="*/ 792 w 866"/>
                      <a:gd name="T57" fmla="*/ 947 h 1288"/>
                      <a:gd name="T58" fmla="*/ 764 w 866"/>
                      <a:gd name="T59" fmla="*/ 866 h 1288"/>
                      <a:gd name="T60" fmla="*/ 733 w 866"/>
                      <a:gd name="T61" fmla="*/ 802 h 1288"/>
                      <a:gd name="T62" fmla="*/ 707 w 866"/>
                      <a:gd name="T63" fmla="*/ 746 h 1288"/>
                      <a:gd name="T64" fmla="*/ 666 w 866"/>
                      <a:gd name="T65" fmla="*/ 672 h 1288"/>
                      <a:gd name="T66" fmla="*/ 627 w 866"/>
                      <a:gd name="T67" fmla="*/ 607 h 1288"/>
                      <a:gd name="T68" fmla="*/ 579 w 866"/>
                      <a:gd name="T69" fmla="*/ 537 h 1288"/>
                      <a:gd name="T70" fmla="*/ 504 w 866"/>
                      <a:gd name="T71" fmla="*/ 448 h 1288"/>
                      <a:gd name="T72" fmla="*/ 452 w 866"/>
                      <a:gd name="T73" fmla="*/ 385 h 1288"/>
                      <a:gd name="T74" fmla="*/ 376 w 866"/>
                      <a:gd name="T75" fmla="*/ 299 h 1288"/>
                      <a:gd name="T76" fmla="*/ 305 w 866"/>
                      <a:gd name="T77" fmla="*/ 237 h 1288"/>
                      <a:gd name="T78" fmla="*/ 235 w 866"/>
                      <a:gd name="T79" fmla="*/ 173 h 1288"/>
                      <a:gd name="T80" fmla="*/ 182 w 866"/>
                      <a:gd name="T81" fmla="*/ 127 h 1288"/>
                      <a:gd name="T82" fmla="*/ 126 w 866"/>
                      <a:gd name="T83" fmla="*/ 78 h 1288"/>
                      <a:gd name="T84" fmla="*/ 84 w 866"/>
                      <a:gd name="T85" fmla="*/ 45 h 1288"/>
                      <a:gd name="T86" fmla="*/ 42 w 866"/>
                      <a:gd name="T87" fmla="*/ 13 h 1288"/>
                      <a:gd name="T88" fmla="*/ 7 w 866"/>
                      <a:gd name="T89" fmla="*/ 0 h 1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</a:cxnLst>
                    <a:rect l="0" t="0" r="r" b="b"/>
                    <a:pathLst>
                      <a:path w="866" h="1288">
                        <a:moveTo>
                          <a:pt x="7" y="0"/>
                        </a:moveTo>
                        <a:lnTo>
                          <a:pt x="0" y="26"/>
                        </a:lnTo>
                        <a:lnTo>
                          <a:pt x="0" y="82"/>
                        </a:lnTo>
                        <a:lnTo>
                          <a:pt x="4" y="149"/>
                        </a:lnTo>
                        <a:lnTo>
                          <a:pt x="11" y="202"/>
                        </a:lnTo>
                        <a:lnTo>
                          <a:pt x="21" y="272"/>
                        </a:lnTo>
                        <a:lnTo>
                          <a:pt x="35" y="354"/>
                        </a:lnTo>
                        <a:lnTo>
                          <a:pt x="56" y="439"/>
                        </a:lnTo>
                        <a:lnTo>
                          <a:pt x="98" y="547"/>
                        </a:lnTo>
                        <a:lnTo>
                          <a:pt x="161" y="670"/>
                        </a:lnTo>
                        <a:lnTo>
                          <a:pt x="231" y="771"/>
                        </a:lnTo>
                        <a:lnTo>
                          <a:pt x="315" y="878"/>
                        </a:lnTo>
                        <a:lnTo>
                          <a:pt x="392" y="960"/>
                        </a:lnTo>
                        <a:lnTo>
                          <a:pt x="452" y="1016"/>
                        </a:lnTo>
                        <a:lnTo>
                          <a:pt x="508" y="1068"/>
                        </a:lnTo>
                        <a:lnTo>
                          <a:pt x="567" y="1118"/>
                        </a:lnTo>
                        <a:lnTo>
                          <a:pt x="634" y="1168"/>
                        </a:lnTo>
                        <a:lnTo>
                          <a:pt x="679" y="1200"/>
                        </a:lnTo>
                        <a:lnTo>
                          <a:pt x="728" y="1228"/>
                        </a:lnTo>
                        <a:lnTo>
                          <a:pt x="782" y="1256"/>
                        </a:lnTo>
                        <a:lnTo>
                          <a:pt x="827" y="1282"/>
                        </a:lnTo>
                        <a:lnTo>
                          <a:pt x="855" y="1288"/>
                        </a:lnTo>
                        <a:lnTo>
                          <a:pt x="866" y="1270"/>
                        </a:lnTo>
                        <a:lnTo>
                          <a:pt x="863" y="1243"/>
                        </a:lnTo>
                        <a:lnTo>
                          <a:pt x="856" y="1213"/>
                        </a:lnTo>
                        <a:lnTo>
                          <a:pt x="845" y="1159"/>
                        </a:lnTo>
                        <a:lnTo>
                          <a:pt x="831" y="1089"/>
                        </a:lnTo>
                        <a:lnTo>
                          <a:pt x="813" y="1023"/>
                        </a:lnTo>
                        <a:lnTo>
                          <a:pt x="792" y="947"/>
                        </a:lnTo>
                        <a:lnTo>
                          <a:pt x="764" y="866"/>
                        </a:lnTo>
                        <a:lnTo>
                          <a:pt x="733" y="802"/>
                        </a:lnTo>
                        <a:lnTo>
                          <a:pt x="707" y="746"/>
                        </a:lnTo>
                        <a:lnTo>
                          <a:pt x="666" y="672"/>
                        </a:lnTo>
                        <a:lnTo>
                          <a:pt x="627" y="607"/>
                        </a:lnTo>
                        <a:lnTo>
                          <a:pt x="579" y="537"/>
                        </a:lnTo>
                        <a:lnTo>
                          <a:pt x="504" y="448"/>
                        </a:lnTo>
                        <a:lnTo>
                          <a:pt x="452" y="385"/>
                        </a:lnTo>
                        <a:lnTo>
                          <a:pt x="376" y="299"/>
                        </a:lnTo>
                        <a:lnTo>
                          <a:pt x="305" y="237"/>
                        </a:lnTo>
                        <a:lnTo>
                          <a:pt x="235" y="173"/>
                        </a:lnTo>
                        <a:lnTo>
                          <a:pt x="182" y="127"/>
                        </a:lnTo>
                        <a:lnTo>
                          <a:pt x="126" y="78"/>
                        </a:lnTo>
                        <a:lnTo>
                          <a:pt x="84" y="45"/>
                        </a:lnTo>
                        <a:lnTo>
                          <a:pt x="42" y="13"/>
                        </a:lnTo>
                        <a:lnTo>
                          <a:pt x="7" y="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406601" name="Group 225"/>
                <p:cNvGrpSpPr>
                  <a:grpSpLocks/>
                </p:cNvGrpSpPr>
                <p:nvPr/>
              </p:nvGrpSpPr>
              <p:grpSpPr bwMode="auto">
                <a:xfrm>
                  <a:off x="2315" y="770"/>
                  <a:ext cx="126" cy="121"/>
                  <a:chOff x="2315" y="770"/>
                  <a:chExt cx="126" cy="121"/>
                </a:xfrm>
              </p:grpSpPr>
              <p:sp>
                <p:nvSpPr>
                  <p:cNvPr id="406602" name="Freeform 226"/>
                  <p:cNvSpPr>
                    <a:spLocks noChangeArrowheads="1"/>
                  </p:cNvSpPr>
                  <p:nvPr/>
                </p:nvSpPr>
                <p:spPr bwMode="auto">
                  <a:xfrm>
                    <a:off x="2315" y="770"/>
                    <a:ext cx="121" cy="8"/>
                  </a:xfrm>
                  <a:custGeom>
                    <a:avLst/>
                    <a:gdLst>
                      <a:gd name="T0" fmla="*/ 0 w 851"/>
                      <a:gd name="T1" fmla="*/ 0 h 57"/>
                      <a:gd name="T2" fmla="*/ 851 w 851"/>
                      <a:gd name="T3" fmla="*/ 32 h 57"/>
                      <a:gd name="T4" fmla="*/ 844 w 851"/>
                      <a:gd name="T5" fmla="*/ 57 h 57"/>
                      <a:gd name="T6" fmla="*/ 3 w 851"/>
                      <a:gd name="T7" fmla="*/ 26 h 57"/>
                      <a:gd name="T8" fmla="*/ 0 w 851"/>
                      <a:gd name="T9" fmla="*/ 0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51" h="57">
                        <a:moveTo>
                          <a:pt x="0" y="0"/>
                        </a:moveTo>
                        <a:lnTo>
                          <a:pt x="851" y="32"/>
                        </a:lnTo>
                        <a:lnTo>
                          <a:pt x="844" y="57"/>
                        </a:lnTo>
                        <a:lnTo>
                          <a:pt x="3" y="2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DFDFF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603" name="Freeform 227"/>
                  <p:cNvSpPr>
                    <a:spLocks noChangeArrowheads="1"/>
                  </p:cNvSpPr>
                  <p:nvPr/>
                </p:nvSpPr>
                <p:spPr bwMode="auto">
                  <a:xfrm>
                    <a:off x="2398" y="794"/>
                    <a:ext cx="43" cy="97"/>
                  </a:xfrm>
                  <a:custGeom>
                    <a:avLst/>
                    <a:gdLst>
                      <a:gd name="T0" fmla="*/ 267 w 302"/>
                      <a:gd name="T1" fmla="*/ 13 h 673"/>
                      <a:gd name="T2" fmla="*/ 0 w 302"/>
                      <a:gd name="T3" fmla="*/ 657 h 673"/>
                      <a:gd name="T4" fmla="*/ 25 w 302"/>
                      <a:gd name="T5" fmla="*/ 673 h 673"/>
                      <a:gd name="T6" fmla="*/ 302 w 302"/>
                      <a:gd name="T7" fmla="*/ 0 h 673"/>
                      <a:gd name="T8" fmla="*/ 267 w 302"/>
                      <a:gd name="T9" fmla="*/ 13 h 67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02" h="673">
                        <a:moveTo>
                          <a:pt x="267" y="13"/>
                        </a:moveTo>
                        <a:lnTo>
                          <a:pt x="0" y="657"/>
                        </a:lnTo>
                        <a:lnTo>
                          <a:pt x="25" y="673"/>
                        </a:lnTo>
                        <a:lnTo>
                          <a:pt x="302" y="0"/>
                        </a:lnTo>
                        <a:lnTo>
                          <a:pt x="267" y="13"/>
                        </a:lnTo>
                        <a:close/>
                      </a:path>
                    </a:pathLst>
                  </a:custGeom>
                  <a:solidFill>
                    <a:srgbClr val="DFDFF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  <p:grpSp>
              <p:nvGrpSpPr>
                <p:cNvPr id="406604" name="Group 228"/>
                <p:cNvGrpSpPr>
                  <a:grpSpLocks/>
                </p:cNvGrpSpPr>
                <p:nvPr/>
              </p:nvGrpSpPr>
              <p:grpSpPr bwMode="auto">
                <a:xfrm>
                  <a:off x="2413" y="772"/>
                  <a:ext cx="51" cy="30"/>
                  <a:chOff x="2413" y="772"/>
                  <a:chExt cx="51" cy="30"/>
                </a:xfrm>
              </p:grpSpPr>
              <p:sp>
                <p:nvSpPr>
                  <p:cNvPr id="406605" name="Freeform 229"/>
                  <p:cNvSpPr>
                    <a:spLocks noChangeArrowheads="1"/>
                  </p:cNvSpPr>
                  <p:nvPr/>
                </p:nvSpPr>
                <p:spPr bwMode="auto">
                  <a:xfrm>
                    <a:off x="2413" y="776"/>
                    <a:ext cx="36" cy="26"/>
                  </a:xfrm>
                  <a:custGeom>
                    <a:avLst/>
                    <a:gdLst>
                      <a:gd name="T0" fmla="*/ 187 w 250"/>
                      <a:gd name="T1" fmla="*/ 0 h 184"/>
                      <a:gd name="T2" fmla="*/ 11 w 250"/>
                      <a:gd name="T3" fmla="*/ 57 h 184"/>
                      <a:gd name="T4" fmla="*/ 4 w 250"/>
                      <a:gd name="T5" fmla="*/ 67 h 184"/>
                      <a:gd name="T6" fmla="*/ 0 w 250"/>
                      <a:gd name="T7" fmla="*/ 86 h 184"/>
                      <a:gd name="T8" fmla="*/ 2 w 250"/>
                      <a:gd name="T9" fmla="*/ 112 h 184"/>
                      <a:gd name="T10" fmla="*/ 5 w 250"/>
                      <a:gd name="T11" fmla="*/ 128 h 184"/>
                      <a:gd name="T12" fmla="*/ 15 w 250"/>
                      <a:gd name="T13" fmla="*/ 151 h 184"/>
                      <a:gd name="T14" fmla="*/ 33 w 250"/>
                      <a:gd name="T15" fmla="*/ 169 h 184"/>
                      <a:gd name="T16" fmla="*/ 57 w 250"/>
                      <a:gd name="T17" fmla="*/ 181 h 184"/>
                      <a:gd name="T18" fmla="*/ 71 w 250"/>
                      <a:gd name="T19" fmla="*/ 184 h 184"/>
                      <a:gd name="T20" fmla="*/ 85 w 250"/>
                      <a:gd name="T21" fmla="*/ 184 h 184"/>
                      <a:gd name="T22" fmla="*/ 250 w 250"/>
                      <a:gd name="T23" fmla="*/ 114 h 184"/>
                      <a:gd name="T24" fmla="*/ 218 w 250"/>
                      <a:gd name="T25" fmla="*/ 92 h 184"/>
                      <a:gd name="T26" fmla="*/ 201 w 250"/>
                      <a:gd name="T27" fmla="*/ 70 h 184"/>
                      <a:gd name="T28" fmla="*/ 187 w 250"/>
                      <a:gd name="T29" fmla="*/ 0 h 1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250" h="184">
                        <a:moveTo>
                          <a:pt x="187" y="0"/>
                        </a:moveTo>
                        <a:lnTo>
                          <a:pt x="11" y="57"/>
                        </a:lnTo>
                        <a:lnTo>
                          <a:pt x="4" y="67"/>
                        </a:lnTo>
                        <a:lnTo>
                          <a:pt x="0" y="86"/>
                        </a:lnTo>
                        <a:lnTo>
                          <a:pt x="2" y="112"/>
                        </a:lnTo>
                        <a:lnTo>
                          <a:pt x="5" y="128"/>
                        </a:lnTo>
                        <a:lnTo>
                          <a:pt x="15" y="151"/>
                        </a:lnTo>
                        <a:lnTo>
                          <a:pt x="33" y="169"/>
                        </a:lnTo>
                        <a:lnTo>
                          <a:pt x="57" y="181"/>
                        </a:lnTo>
                        <a:lnTo>
                          <a:pt x="71" y="184"/>
                        </a:lnTo>
                        <a:lnTo>
                          <a:pt x="85" y="184"/>
                        </a:lnTo>
                        <a:lnTo>
                          <a:pt x="250" y="114"/>
                        </a:lnTo>
                        <a:lnTo>
                          <a:pt x="218" y="92"/>
                        </a:lnTo>
                        <a:lnTo>
                          <a:pt x="201" y="70"/>
                        </a:lnTo>
                        <a:lnTo>
                          <a:pt x="187" y="0"/>
                        </a:lnTo>
                        <a:close/>
                      </a:path>
                    </a:pathLst>
                  </a:custGeom>
                  <a:solidFill>
                    <a:srgbClr val="BFBFD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606" name="Freeform 230"/>
                  <p:cNvSpPr>
                    <a:spLocks noChangeArrowheads="1"/>
                  </p:cNvSpPr>
                  <p:nvPr/>
                </p:nvSpPr>
                <p:spPr bwMode="auto">
                  <a:xfrm>
                    <a:off x="2434" y="772"/>
                    <a:ext cx="20" cy="25"/>
                  </a:xfrm>
                  <a:custGeom>
                    <a:avLst/>
                    <a:gdLst>
                      <a:gd name="T0" fmla="*/ 81 w 139"/>
                      <a:gd name="T1" fmla="*/ 25 h 173"/>
                      <a:gd name="T2" fmla="*/ 74 w 139"/>
                      <a:gd name="T3" fmla="*/ 15 h 173"/>
                      <a:gd name="T4" fmla="*/ 60 w 139"/>
                      <a:gd name="T5" fmla="*/ 5 h 173"/>
                      <a:gd name="T6" fmla="*/ 36 w 139"/>
                      <a:gd name="T7" fmla="*/ 0 h 173"/>
                      <a:gd name="T8" fmla="*/ 22 w 139"/>
                      <a:gd name="T9" fmla="*/ 2 h 173"/>
                      <a:gd name="T10" fmla="*/ 13 w 139"/>
                      <a:gd name="T11" fmla="*/ 12 h 173"/>
                      <a:gd name="T12" fmla="*/ 4 w 139"/>
                      <a:gd name="T13" fmla="*/ 25 h 173"/>
                      <a:gd name="T14" fmla="*/ 0 w 139"/>
                      <a:gd name="T15" fmla="*/ 46 h 173"/>
                      <a:gd name="T16" fmla="*/ 1 w 139"/>
                      <a:gd name="T17" fmla="*/ 58 h 173"/>
                      <a:gd name="T18" fmla="*/ 3 w 139"/>
                      <a:gd name="T19" fmla="*/ 74 h 173"/>
                      <a:gd name="T20" fmla="*/ 9 w 139"/>
                      <a:gd name="T21" fmla="*/ 97 h 173"/>
                      <a:gd name="T22" fmla="*/ 20 w 139"/>
                      <a:gd name="T23" fmla="*/ 116 h 173"/>
                      <a:gd name="T24" fmla="*/ 31 w 139"/>
                      <a:gd name="T25" fmla="*/ 133 h 173"/>
                      <a:gd name="T26" fmla="*/ 44 w 139"/>
                      <a:gd name="T27" fmla="*/ 147 h 173"/>
                      <a:gd name="T28" fmla="*/ 58 w 139"/>
                      <a:gd name="T29" fmla="*/ 160 h 173"/>
                      <a:gd name="T30" fmla="*/ 76 w 139"/>
                      <a:gd name="T31" fmla="*/ 167 h 173"/>
                      <a:gd name="T32" fmla="*/ 97 w 139"/>
                      <a:gd name="T33" fmla="*/ 173 h 173"/>
                      <a:gd name="T34" fmla="*/ 114 w 139"/>
                      <a:gd name="T35" fmla="*/ 173 h 173"/>
                      <a:gd name="T36" fmla="*/ 130 w 139"/>
                      <a:gd name="T37" fmla="*/ 164 h 173"/>
                      <a:gd name="T38" fmla="*/ 137 w 139"/>
                      <a:gd name="T39" fmla="*/ 151 h 173"/>
                      <a:gd name="T40" fmla="*/ 139 w 139"/>
                      <a:gd name="T41" fmla="*/ 132 h 173"/>
                      <a:gd name="T42" fmla="*/ 134 w 139"/>
                      <a:gd name="T43" fmla="*/ 111 h 173"/>
                      <a:gd name="T44" fmla="*/ 123 w 139"/>
                      <a:gd name="T45" fmla="*/ 82 h 173"/>
                      <a:gd name="T46" fmla="*/ 99 w 139"/>
                      <a:gd name="T47" fmla="*/ 46 h 173"/>
                      <a:gd name="T48" fmla="*/ 81 w 139"/>
                      <a:gd name="T49" fmla="*/ 25 h 17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139" h="173">
                        <a:moveTo>
                          <a:pt x="81" y="25"/>
                        </a:moveTo>
                        <a:lnTo>
                          <a:pt x="74" y="15"/>
                        </a:lnTo>
                        <a:lnTo>
                          <a:pt x="60" y="5"/>
                        </a:lnTo>
                        <a:lnTo>
                          <a:pt x="36" y="0"/>
                        </a:lnTo>
                        <a:lnTo>
                          <a:pt x="22" y="2"/>
                        </a:lnTo>
                        <a:lnTo>
                          <a:pt x="13" y="12"/>
                        </a:lnTo>
                        <a:lnTo>
                          <a:pt x="4" y="25"/>
                        </a:lnTo>
                        <a:lnTo>
                          <a:pt x="0" y="46"/>
                        </a:lnTo>
                        <a:lnTo>
                          <a:pt x="1" y="58"/>
                        </a:lnTo>
                        <a:lnTo>
                          <a:pt x="3" y="74"/>
                        </a:lnTo>
                        <a:lnTo>
                          <a:pt x="9" y="97"/>
                        </a:lnTo>
                        <a:lnTo>
                          <a:pt x="20" y="116"/>
                        </a:lnTo>
                        <a:lnTo>
                          <a:pt x="31" y="133"/>
                        </a:lnTo>
                        <a:lnTo>
                          <a:pt x="44" y="147"/>
                        </a:lnTo>
                        <a:lnTo>
                          <a:pt x="58" y="160"/>
                        </a:lnTo>
                        <a:lnTo>
                          <a:pt x="76" y="167"/>
                        </a:lnTo>
                        <a:lnTo>
                          <a:pt x="97" y="173"/>
                        </a:lnTo>
                        <a:lnTo>
                          <a:pt x="114" y="173"/>
                        </a:lnTo>
                        <a:lnTo>
                          <a:pt x="130" y="164"/>
                        </a:lnTo>
                        <a:lnTo>
                          <a:pt x="137" y="151"/>
                        </a:lnTo>
                        <a:lnTo>
                          <a:pt x="139" y="132"/>
                        </a:lnTo>
                        <a:lnTo>
                          <a:pt x="134" y="111"/>
                        </a:lnTo>
                        <a:lnTo>
                          <a:pt x="123" y="82"/>
                        </a:lnTo>
                        <a:lnTo>
                          <a:pt x="99" y="46"/>
                        </a:lnTo>
                        <a:lnTo>
                          <a:pt x="81" y="2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607" name="Freeform 231"/>
                  <p:cNvSpPr>
                    <a:spLocks noChangeArrowheads="1"/>
                  </p:cNvSpPr>
                  <p:nvPr/>
                </p:nvSpPr>
                <p:spPr bwMode="auto">
                  <a:xfrm>
                    <a:off x="2439" y="774"/>
                    <a:ext cx="25" cy="17"/>
                  </a:xfrm>
                  <a:custGeom>
                    <a:avLst/>
                    <a:gdLst>
                      <a:gd name="T0" fmla="*/ 13 w 171"/>
                      <a:gd name="T1" fmla="*/ 27 h 123"/>
                      <a:gd name="T2" fmla="*/ 120 w 171"/>
                      <a:gd name="T3" fmla="*/ 3 h 123"/>
                      <a:gd name="T4" fmla="*/ 146 w 171"/>
                      <a:gd name="T5" fmla="*/ 0 h 123"/>
                      <a:gd name="T6" fmla="*/ 164 w 171"/>
                      <a:gd name="T7" fmla="*/ 3 h 123"/>
                      <a:gd name="T8" fmla="*/ 169 w 171"/>
                      <a:gd name="T9" fmla="*/ 9 h 123"/>
                      <a:gd name="T10" fmla="*/ 171 w 171"/>
                      <a:gd name="T11" fmla="*/ 22 h 123"/>
                      <a:gd name="T12" fmla="*/ 164 w 171"/>
                      <a:gd name="T13" fmla="*/ 41 h 123"/>
                      <a:gd name="T14" fmla="*/ 64 w 171"/>
                      <a:gd name="T15" fmla="*/ 123 h 123"/>
                      <a:gd name="T16" fmla="*/ 50 w 171"/>
                      <a:gd name="T17" fmla="*/ 122 h 123"/>
                      <a:gd name="T18" fmla="*/ 34 w 171"/>
                      <a:gd name="T19" fmla="*/ 116 h 123"/>
                      <a:gd name="T20" fmla="*/ 22 w 171"/>
                      <a:gd name="T21" fmla="*/ 106 h 123"/>
                      <a:gd name="T22" fmla="*/ 8 w 171"/>
                      <a:gd name="T23" fmla="*/ 90 h 123"/>
                      <a:gd name="T24" fmla="*/ 1 w 171"/>
                      <a:gd name="T25" fmla="*/ 74 h 123"/>
                      <a:gd name="T26" fmla="*/ 0 w 171"/>
                      <a:gd name="T27" fmla="*/ 56 h 123"/>
                      <a:gd name="T28" fmla="*/ 5 w 171"/>
                      <a:gd name="T29" fmla="*/ 40 h 123"/>
                      <a:gd name="T30" fmla="*/ 13 w 171"/>
                      <a:gd name="T31" fmla="*/ 27 h 1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71" h="123">
                        <a:moveTo>
                          <a:pt x="13" y="27"/>
                        </a:moveTo>
                        <a:lnTo>
                          <a:pt x="120" y="3"/>
                        </a:lnTo>
                        <a:lnTo>
                          <a:pt x="146" y="0"/>
                        </a:lnTo>
                        <a:lnTo>
                          <a:pt x="164" y="3"/>
                        </a:lnTo>
                        <a:lnTo>
                          <a:pt x="169" y="9"/>
                        </a:lnTo>
                        <a:lnTo>
                          <a:pt x="171" y="22"/>
                        </a:lnTo>
                        <a:lnTo>
                          <a:pt x="164" y="41"/>
                        </a:lnTo>
                        <a:lnTo>
                          <a:pt x="64" y="123"/>
                        </a:lnTo>
                        <a:lnTo>
                          <a:pt x="50" y="122"/>
                        </a:lnTo>
                        <a:lnTo>
                          <a:pt x="34" y="116"/>
                        </a:lnTo>
                        <a:lnTo>
                          <a:pt x="22" y="106"/>
                        </a:lnTo>
                        <a:lnTo>
                          <a:pt x="8" y="90"/>
                        </a:lnTo>
                        <a:lnTo>
                          <a:pt x="1" y="74"/>
                        </a:lnTo>
                        <a:lnTo>
                          <a:pt x="0" y="56"/>
                        </a:lnTo>
                        <a:lnTo>
                          <a:pt x="5" y="40"/>
                        </a:lnTo>
                        <a:lnTo>
                          <a:pt x="13" y="27"/>
                        </a:lnTo>
                        <a:close/>
                      </a:path>
                    </a:pathLst>
                  </a:custGeom>
                  <a:solidFill>
                    <a:srgbClr val="9F9FBF"/>
                  </a:solidFill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608" name="Freeform 232"/>
                  <p:cNvSpPr>
                    <a:spLocks noChangeArrowheads="1"/>
                  </p:cNvSpPr>
                  <p:nvPr/>
                </p:nvSpPr>
                <p:spPr bwMode="auto">
                  <a:xfrm>
                    <a:off x="2421" y="782"/>
                    <a:ext cx="10" cy="18"/>
                  </a:xfrm>
                  <a:custGeom>
                    <a:avLst/>
                    <a:gdLst>
                      <a:gd name="T0" fmla="*/ 4 w 73"/>
                      <a:gd name="T1" fmla="*/ 0 h 124"/>
                      <a:gd name="T2" fmla="*/ 0 w 73"/>
                      <a:gd name="T3" fmla="*/ 20 h 124"/>
                      <a:gd name="T4" fmla="*/ 0 w 73"/>
                      <a:gd name="T5" fmla="*/ 37 h 124"/>
                      <a:gd name="T6" fmla="*/ 5 w 73"/>
                      <a:gd name="T7" fmla="*/ 60 h 124"/>
                      <a:gd name="T8" fmla="*/ 11 w 73"/>
                      <a:gd name="T9" fmla="*/ 78 h 124"/>
                      <a:gd name="T10" fmla="*/ 26 w 73"/>
                      <a:gd name="T11" fmla="*/ 96 h 124"/>
                      <a:gd name="T12" fmla="*/ 40 w 73"/>
                      <a:gd name="T13" fmla="*/ 108 h 124"/>
                      <a:gd name="T14" fmla="*/ 51 w 73"/>
                      <a:gd name="T15" fmla="*/ 114 h 124"/>
                      <a:gd name="T16" fmla="*/ 61 w 73"/>
                      <a:gd name="T17" fmla="*/ 118 h 124"/>
                      <a:gd name="T18" fmla="*/ 73 w 73"/>
                      <a:gd name="T19" fmla="*/ 124 h 1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3" h="124">
                        <a:moveTo>
                          <a:pt x="4" y="0"/>
                        </a:moveTo>
                        <a:lnTo>
                          <a:pt x="0" y="20"/>
                        </a:lnTo>
                        <a:lnTo>
                          <a:pt x="0" y="37"/>
                        </a:lnTo>
                        <a:lnTo>
                          <a:pt x="5" y="60"/>
                        </a:lnTo>
                        <a:lnTo>
                          <a:pt x="11" y="78"/>
                        </a:lnTo>
                        <a:lnTo>
                          <a:pt x="26" y="96"/>
                        </a:lnTo>
                        <a:lnTo>
                          <a:pt x="40" y="108"/>
                        </a:lnTo>
                        <a:lnTo>
                          <a:pt x="51" y="114"/>
                        </a:lnTo>
                        <a:lnTo>
                          <a:pt x="61" y="118"/>
                        </a:lnTo>
                        <a:lnTo>
                          <a:pt x="73" y="12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06609" name="Freeform 233"/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780"/>
                    <a:ext cx="11" cy="18"/>
                  </a:xfrm>
                  <a:custGeom>
                    <a:avLst/>
                    <a:gdLst>
                      <a:gd name="T0" fmla="*/ 5 w 74"/>
                      <a:gd name="T1" fmla="*/ 0 h 124"/>
                      <a:gd name="T2" fmla="*/ 0 w 74"/>
                      <a:gd name="T3" fmla="*/ 20 h 124"/>
                      <a:gd name="T4" fmla="*/ 0 w 74"/>
                      <a:gd name="T5" fmla="*/ 38 h 124"/>
                      <a:gd name="T6" fmla="*/ 6 w 74"/>
                      <a:gd name="T7" fmla="*/ 60 h 124"/>
                      <a:gd name="T8" fmla="*/ 12 w 74"/>
                      <a:gd name="T9" fmla="*/ 79 h 124"/>
                      <a:gd name="T10" fmla="*/ 27 w 74"/>
                      <a:gd name="T11" fmla="*/ 95 h 124"/>
                      <a:gd name="T12" fmla="*/ 41 w 74"/>
                      <a:gd name="T13" fmla="*/ 108 h 124"/>
                      <a:gd name="T14" fmla="*/ 51 w 74"/>
                      <a:gd name="T15" fmla="*/ 114 h 124"/>
                      <a:gd name="T16" fmla="*/ 62 w 74"/>
                      <a:gd name="T17" fmla="*/ 119 h 124"/>
                      <a:gd name="T18" fmla="*/ 74 w 74"/>
                      <a:gd name="T19" fmla="*/ 124 h 1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4" h="124">
                        <a:moveTo>
                          <a:pt x="5" y="0"/>
                        </a:moveTo>
                        <a:lnTo>
                          <a:pt x="0" y="20"/>
                        </a:lnTo>
                        <a:lnTo>
                          <a:pt x="0" y="38"/>
                        </a:lnTo>
                        <a:lnTo>
                          <a:pt x="6" y="60"/>
                        </a:lnTo>
                        <a:lnTo>
                          <a:pt x="12" y="79"/>
                        </a:lnTo>
                        <a:lnTo>
                          <a:pt x="27" y="95"/>
                        </a:lnTo>
                        <a:lnTo>
                          <a:pt x="41" y="108"/>
                        </a:lnTo>
                        <a:lnTo>
                          <a:pt x="51" y="114"/>
                        </a:lnTo>
                        <a:lnTo>
                          <a:pt x="62" y="119"/>
                        </a:lnTo>
                        <a:lnTo>
                          <a:pt x="74" y="124"/>
                        </a:lnTo>
                      </a:path>
                    </a:pathLst>
                  </a:custGeom>
                  <a:noFill/>
                  <a:ln w="1588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eaLnBrk="0" hangingPunct="0"/>
                    <a:endParaRPr lang="zh-CN" altLang="en-US" sz="2400" b="1">
                      <a:solidFill>
                        <a:srgbClr val="000099"/>
                      </a:solidFill>
                      <a:ea typeface="黑体" panose="02010609060101010101" pitchFamily="49" charset="-122"/>
                    </a:endParaRPr>
                  </a:p>
                </p:txBody>
              </p:sp>
            </p:grpSp>
          </p:grpSp>
        </p:grpSp>
        <p:sp>
          <p:nvSpPr>
            <p:cNvPr id="406610" name="Line 234"/>
            <p:cNvSpPr>
              <a:spLocks noChangeShapeType="1"/>
            </p:cNvSpPr>
            <p:nvPr/>
          </p:nvSpPr>
          <p:spPr bwMode="auto">
            <a:xfrm>
              <a:off x="4875611" y="2563813"/>
              <a:ext cx="35100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406611" name="Picture 23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8613" y="2060576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6612" name="Picture 23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5461" y="2060576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6613" name="Freeform 237"/>
            <p:cNvSpPr>
              <a:spLocks noChangeArrowheads="1"/>
            </p:cNvSpPr>
            <p:nvPr/>
          </p:nvSpPr>
          <p:spPr bwMode="auto">
            <a:xfrm>
              <a:off x="5343394" y="2276476"/>
              <a:ext cx="8599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14" name="Freeform 238"/>
            <p:cNvSpPr>
              <a:spLocks noChangeArrowheads="1"/>
            </p:cNvSpPr>
            <p:nvPr/>
          </p:nvSpPr>
          <p:spPr bwMode="auto">
            <a:xfrm>
              <a:off x="6591963" y="2276476"/>
              <a:ext cx="84269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15" name="Freeform 239"/>
            <p:cNvSpPr>
              <a:spLocks noChangeArrowheads="1"/>
            </p:cNvSpPr>
            <p:nvPr/>
          </p:nvSpPr>
          <p:spPr bwMode="auto">
            <a:xfrm>
              <a:off x="5967677" y="2276476"/>
              <a:ext cx="8427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406616" name="Picture 24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1177" y="2060576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6617" name="Line 241"/>
            <p:cNvSpPr>
              <a:spLocks noChangeShapeType="1"/>
            </p:cNvSpPr>
            <p:nvPr/>
          </p:nvSpPr>
          <p:spPr bwMode="auto">
            <a:xfrm>
              <a:off x="4875611" y="3355975"/>
              <a:ext cx="35100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406618" name="Picture 24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8613" y="2852738"/>
              <a:ext cx="436827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6619" name="Picture 24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5461" y="2852738"/>
              <a:ext cx="436827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6620" name="Freeform 244"/>
            <p:cNvSpPr>
              <a:spLocks noChangeArrowheads="1"/>
            </p:cNvSpPr>
            <p:nvPr/>
          </p:nvSpPr>
          <p:spPr bwMode="auto">
            <a:xfrm>
              <a:off x="5343394" y="3068639"/>
              <a:ext cx="8599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21" name="Freeform 245"/>
            <p:cNvSpPr>
              <a:spLocks noChangeArrowheads="1"/>
            </p:cNvSpPr>
            <p:nvPr/>
          </p:nvSpPr>
          <p:spPr bwMode="auto">
            <a:xfrm>
              <a:off x="6591963" y="3068639"/>
              <a:ext cx="84269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22" name="Freeform 246"/>
            <p:cNvSpPr>
              <a:spLocks noChangeArrowheads="1"/>
            </p:cNvSpPr>
            <p:nvPr/>
          </p:nvSpPr>
          <p:spPr bwMode="auto">
            <a:xfrm>
              <a:off x="5967677" y="3068639"/>
              <a:ext cx="84270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pic>
          <p:nvPicPr>
            <p:cNvPr id="406623" name="Picture 24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1177" y="2852738"/>
              <a:ext cx="436827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6624" name="Picture 24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4986" y="2851151"/>
              <a:ext cx="436827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6625" name="Freeform 249"/>
            <p:cNvSpPr>
              <a:spLocks noChangeArrowheads="1"/>
            </p:cNvSpPr>
            <p:nvPr/>
          </p:nvSpPr>
          <p:spPr bwMode="auto">
            <a:xfrm>
              <a:off x="7871488" y="3067051"/>
              <a:ext cx="84269" cy="276225"/>
            </a:xfrm>
            <a:custGeom>
              <a:avLst/>
              <a:gdLst>
                <a:gd name="T0" fmla="*/ 30 w 56"/>
                <a:gd name="T1" fmla="*/ 0 h 357"/>
                <a:gd name="T2" fmla="*/ 3 w 56"/>
                <a:gd name="T3" fmla="*/ 51 h 357"/>
                <a:gd name="T4" fmla="*/ 9 w 56"/>
                <a:gd name="T5" fmla="*/ 123 h 357"/>
                <a:gd name="T6" fmla="*/ 33 w 56"/>
                <a:gd name="T7" fmla="*/ 189 h 357"/>
                <a:gd name="T8" fmla="*/ 54 w 56"/>
                <a:gd name="T9" fmla="*/ 246 h 357"/>
                <a:gd name="T10" fmla="*/ 48 w 56"/>
                <a:gd name="T11" fmla="*/ 300 h 357"/>
                <a:gd name="T12" fmla="*/ 30 w 56"/>
                <a:gd name="T13" fmla="*/ 357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357">
                  <a:moveTo>
                    <a:pt x="30" y="0"/>
                  </a:moveTo>
                  <a:cubicBezTo>
                    <a:pt x="26" y="8"/>
                    <a:pt x="6" y="30"/>
                    <a:pt x="3" y="51"/>
                  </a:cubicBezTo>
                  <a:cubicBezTo>
                    <a:pt x="0" y="72"/>
                    <a:pt x="4" y="100"/>
                    <a:pt x="9" y="123"/>
                  </a:cubicBezTo>
                  <a:cubicBezTo>
                    <a:pt x="14" y="146"/>
                    <a:pt x="26" y="169"/>
                    <a:pt x="33" y="189"/>
                  </a:cubicBezTo>
                  <a:cubicBezTo>
                    <a:pt x="40" y="209"/>
                    <a:pt x="52" y="228"/>
                    <a:pt x="54" y="246"/>
                  </a:cubicBezTo>
                  <a:cubicBezTo>
                    <a:pt x="56" y="264"/>
                    <a:pt x="52" y="282"/>
                    <a:pt x="48" y="300"/>
                  </a:cubicBezTo>
                  <a:cubicBezTo>
                    <a:pt x="44" y="318"/>
                    <a:pt x="34" y="345"/>
                    <a:pt x="30" y="35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26" name="AutoShape 250"/>
            <p:cNvSpPr>
              <a:spLocks noChangeArrowheads="1"/>
            </p:cNvSpPr>
            <p:nvPr/>
          </p:nvSpPr>
          <p:spPr bwMode="auto">
            <a:xfrm>
              <a:off x="2768865" y="3140075"/>
              <a:ext cx="445427" cy="388938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494949"/>
                </a:gs>
                <a:gs pos="100000">
                  <a:srgbClr val="DDDDDD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27" name="AutoShape 251"/>
            <p:cNvSpPr>
              <a:spLocks noChangeArrowheads="1"/>
            </p:cNvSpPr>
            <p:nvPr/>
          </p:nvSpPr>
          <p:spPr bwMode="auto">
            <a:xfrm>
              <a:off x="2223691" y="3859214"/>
              <a:ext cx="445426" cy="388937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494949"/>
                </a:gs>
                <a:gs pos="100000">
                  <a:srgbClr val="DDDDDD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28" name="AutoShape 252"/>
            <p:cNvSpPr>
              <a:spLocks noChangeArrowheads="1"/>
            </p:cNvSpPr>
            <p:nvPr/>
          </p:nvSpPr>
          <p:spPr bwMode="auto">
            <a:xfrm>
              <a:off x="2301082" y="2274889"/>
              <a:ext cx="445427" cy="388937"/>
            </a:xfrm>
            <a:prstGeom prst="cube">
              <a:avLst>
                <a:gd name="adj" fmla="val 25000"/>
              </a:avLst>
            </a:prstGeom>
            <a:gradFill rotWithShape="0">
              <a:gsLst>
                <a:gs pos="0">
                  <a:srgbClr val="494949"/>
                </a:gs>
                <a:gs pos="100000">
                  <a:srgbClr val="DDDDDD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  <a:p>
              <a:pPr eaLnBrk="0" hangingPunct="0"/>
              <a:endParaRPr lang="en-US" altLang="zh-CN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29" name="Text Box 253"/>
            <p:cNvSpPr txBox="1">
              <a:spLocks noChangeArrowheads="1"/>
            </p:cNvSpPr>
            <p:nvPr/>
          </p:nvSpPr>
          <p:spPr bwMode="auto">
            <a:xfrm>
              <a:off x="849333" y="2025474"/>
              <a:ext cx="1467004" cy="30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高带宽光纤</a:t>
              </a:r>
            </a:p>
          </p:txBody>
        </p:sp>
        <p:sp>
          <p:nvSpPr>
            <p:cNvPr id="406630" name="Line 254"/>
            <p:cNvSpPr>
              <a:spLocks noChangeShapeType="1"/>
            </p:cNvSpPr>
            <p:nvPr/>
          </p:nvSpPr>
          <p:spPr bwMode="auto">
            <a:xfrm>
              <a:off x="3549650" y="2563813"/>
              <a:ext cx="350838" cy="342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31" name="Line 255"/>
            <p:cNvSpPr>
              <a:spLocks noChangeShapeType="1"/>
            </p:cNvSpPr>
            <p:nvPr/>
          </p:nvSpPr>
          <p:spPr bwMode="auto">
            <a:xfrm>
              <a:off x="1539214" y="4724400"/>
              <a:ext cx="31025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32" name="Line 256"/>
            <p:cNvSpPr>
              <a:spLocks noChangeShapeType="1"/>
            </p:cNvSpPr>
            <p:nvPr/>
          </p:nvSpPr>
          <p:spPr bwMode="auto">
            <a:xfrm>
              <a:off x="4641718" y="4724400"/>
              <a:ext cx="41343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06633" name="Text Box 257"/>
            <p:cNvSpPr txBox="1">
              <a:spLocks noChangeArrowheads="1"/>
            </p:cNvSpPr>
            <p:nvPr/>
          </p:nvSpPr>
          <p:spPr bwMode="auto">
            <a:xfrm>
              <a:off x="6201569" y="4364038"/>
              <a:ext cx="1210334" cy="30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000099"/>
                  </a:solidFill>
                  <a:ea typeface="黑体" panose="02010609060101010101" pitchFamily="49" charset="-122"/>
                </a:rPr>
                <a:t>同轴电缆</a:t>
              </a:r>
            </a:p>
          </p:txBody>
        </p:sp>
        <p:sp>
          <p:nvSpPr>
            <p:cNvPr id="406634" name="Text Box 258"/>
            <p:cNvSpPr txBox="1">
              <a:spLocks noChangeArrowheads="1"/>
            </p:cNvSpPr>
            <p:nvPr/>
          </p:nvSpPr>
          <p:spPr bwMode="auto">
            <a:xfrm>
              <a:off x="2925366" y="4364038"/>
              <a:ext cx="696994" cy="303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光纤</a:t>
              </a:r>
            </a:p>
          </p:txBody>
        </p:sp>
        <p:sp>
          <p:nvSpPr>
            <p:cNvPr id="406635" name="Line 259"/>
            <p:cNvSpPr>
              <a:spLocks noChangeShapeType="1"/>
            </p:cNvSpPr>
            <p:nvPr/>
          </p:nvSpPr>
          <p:spPr bwMode="auto">
            <a:xfrm>
              <a:off x="4641718" y="4579939"/>
              <a:ext cx="0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4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06636" name="矩形 3"/>
          <p:cNvSpPr>
            <a:spLocks noChangeArrowheads="1"/>
          </p:cNvSpPr>
          <p:nvPr/>
        </p:nvSpPr>
        <p:spPr bwMode="auto">
          <a:xfrm>
            <a:off x="2932113" y="5445125"/>
            <a:ext cx="4659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400" b="1">
                <a:ea typeface="黑体" panose="02010609060101010101" pitchFamily="49" charset="-122"/>
              </a:rPr>
              <a:t>HFC </a:t>
            </a:r>
            <a:r>
              <a:rPr lang="zh-CN" altLang="zh-CN" sz="2400" b="1">
                <a:ea typeface="黑体" panose="02010609060101010101" pitchFamily="49" charset="-122"/>
              </a:rPr>
              <a:t>网的结构图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40663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FCCA7E6-8177-425F-B226-8F8013C9A939}" type="slidenum">
              <a:rPr lang="zh-CN" altLang="en-US" smtClean="0"/>
              <a:pPr eaLnBrk="1" hangingPunct="1"/>
              <a:t>44</a:t>
            </a:fld>
            <a:endParaRPr lang="en-US" altLang="zh-CN" smtClean="0"/>
          </a:p>
        </p:txBody>
      </p:sp>
      <p:sp>
        <p:nvSpPr>
          <p:cNvPr id="406638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13609661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7" name="Rectangle 2"/>
          <p:cNvSpPr>
            <a:spLocks noGrp="1" noChangeArrowheads="1"/>
          </p:cNvSpPr>
          <p:nvPr>
            <p:ph type="title"/>
          </p:nvPr>
        </p:nvSpPr>
        <p:spPr>
          <a:xfrm>
            <a:off x="200604" y="188913"/>
            <a:ext cx="9066213" cy="792162"/>
          </a:xfrm>
        </p:spPr>
        <p:txBody>
          <a:bodyPr/>
          <a:lstStyle/>
          <a:p>
            <a:pPr algn="ctr"/>
            <a:r>
              <a:rPr lang="en-US" altLang="zh-CN" sz="3200" dirty="0" smtClean="0">
                <a:ea typeface="黑体" panose="02010609060101010101" pitchFamily="49" charset="-122"/>
              </a:rPr>
              <a:t/>
            </a:r>
            <a:br>
              <a:rPr lang="en-US" altLang="zh-CN" sz="3200" dirty="0" smtClean="0">
                <a:ea typeface="黑体" panose="02010609060101010101" pitchFamily="49" charset="-122"/>
              </a:rPr>
            </a:br>
            <a:r>
              <a:rPr lang="en-US" altLang="zh-CN" sz="3200" dirty="0" smtClean="0">
                <a:ea typeface="黑体" panose="02010609060101010101" pitchFamily="49" charset="-122"/>
              </a:rPr>
              <a:t>HFC </a:t>
            </a:r>
            <a:r>
              <a:rPr lang="zh-CN" altLang="zh-CN" sz="3200" dirty="0" smtClean="0">
                <a:ea typeface="黑体" panose="02010609060101010101" pitchFamily="49" charset="-122"/>
              </a:rPr>
              <a:t>网具有双向传输功能，扩展了传输频带</a:t>
            </a:r>
            <a:endParaRPr lang="zh-CN" altLang="en-US" sz="3200" dirty="0" smtClean="0">
              <a:ea typeface="黑体" panose="02010609060101010101" pitchFamily="49" charset="-122"/>
            </a:endParaRPr>
          </a:p>
        </p:txBody>
      </p:sp>
      <p:sp>
        <p:nvSpPr>
          <p:cNvPr id="408578" name="Line 16"/>
          <p:cNvSpPr>
            <a:spLocks noChangeShapeType="1"/>
          </p:cNvSpPr>
          <p:nvPr/>
        </p:nvSpPr>
        <p:spPr bwMode="auto">
          <a:xfrm>
            <a:off x="2341563" y="2286000"/>
            <a:ext cx="5338762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08579" name="Text Box 17"/>
          <p:cNvSpPr txBox="1">
            <a:spLocks noChangeArrowheads="1"/>
          </p:cNvSpPr>
          <p:nvPr/>
        </p:nvSpPr>
        <p:spPr bwMode="auto">
          <a:xfrm>
            <a:off x="4456113" y="1757363"/>
            <a:ext cx="1422400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下行信道</a:t>
            </a:r>
          </a:p>
        </p:txBody>
      </p:sp>
      <p:sp>
        <p:nvSpPr>
          <p:cNvPr id="408580" name="Rectangle 18"/>
          <p:cNvSpPr>
            <a:spLocks noChangeArrowheads="1"/>
          </p:cNvSpPr>
          <p:nvPr/>
        </p:nvSpPr>
        <p:spPr bwMode="auto">
          <a:xfrm>
            <a:off x="1019175" y="2538413"/>
            <a:ext cx="873125" cy="1195387"/>
          </a:xfrm>
          <a:prstGeom prst="rect">
            <a:avLst/>
          </a:prstGeom>
          <a:solidFill>
            <a:srgbClr val="FFFF66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08581" name="Text Box 19"/>
          <p:cNvSpPr txBox="1">
            <a:spLocks noChangeArrowheads="1"/>
          </p:cNvSpPr>
          <p:nvPr/>
        </p:nvSpPr>
        <p:spPr bwMode="auto">
          <a:xfrm>
            <a:off x="1028700" y="2762250"/>
            <a:ext cx="8286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上行</a:t>
            </a:r>
          </a:p>
          <a:p>
            <a:pPr eaLnBrk="0" hangingPunct="0">
              <a:lnSpc>
                <a:spcPct val="90000"/>
              </a:lnSpc>
            </a:pPr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信道</a:t>
            </a:r>
          </a:p>
        </p:txBody>
      </p:sp>
      <p:sp>
        <p:nvSpPr>
          <p:cNvPr id="408582" name="Text Box 20"/>
          <p:cNvSpPr txBox="1">
            <a:spLocks noChangeArrowheads="1"/>
          </p:cNvSpPr>
          <p:nvPr/>
        </p:nvSpPr>
        <p:spPr bwMode="auto">
          <a:xfrm>
            <a:off x="822325" y="3702050"/>
            <a:ext cx="73709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5    </a:t>
            </a:r>
            <a:r>
              <a:rPr lang="en-US" altLang="zh-CN" sz="2000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     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65 </a:t>
            </a:r>
            <a:r>
              <a:rPr lang="en-US" altLang="zh-CN" sz="2000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      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87                                         </a:t>
            </a:r>
            <a:r>
              <a:rPr lang="en-US" altLang="zh-CN" sz="2000" b="1" dirty="0" smtClean="0">
                <a:solidFill>
                  <a:srgbClr val="000099"/>
                </a:solidFill>
                <a:ea typeface="黑体" panose="02010609060101010101" pitchFamily="49" charset="-122"/>
              </a:rPr>
              <a:t>                        </a:t>
            </a:r>
            <a:r>
              <a:rPr lang="en-US" altLang="zh-CN" sz="2000" b="1" dirty="0">
                <a:solidFill>
                  <a:srgbClr val="000099"/>
                </a:solidFill>
                <a:ea typeface="黑体" panose="02010609060101010101" pitchFamily="49" charset="-122"/>
              </a:rPr>
              <a:t>1000</a:t>
            </a:r>
          </a:p>
        </p:txBody>
      </p:sp>
      <p:sp>
        <p:nvSpPr>
          <p:cNvPr id="408583" name="Rectangle 21"/>
          <p:cNvSpPr>
            <a:spLocks noChangeArrowheads="1"/>
          </p:cNvSpPr>
          <p:nvPr/>
        </p:nvSpPr>
        <p:spPr bwMode="auto">
          <a:xfrm>
            <a:off x="2328863" y="2538413"/>
            <a:ext cx="5286375" cy="1195387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08584" name="Text Box 22"/>
          <p:cNvSpPr txBox="1">
            <a:spLocks noChangeArrowheads="1"/>
          </p:cNvSpPr>
          <p:nvPr/>
        </p:nvSpPr>
        <p:spPr bwMode="auto">
          <a:xfrm>
            <a:off x="2465388" y="2970213"/>
            <a:ext cx="500856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200" b="1">
                <a:solidFill>
                  <a:srgbClr val="000099"/>
                </a:solidFill>
                <a:ea typeface="黑体" panose="02010609060101010101" pitchFamily="49" charset="-122"/>
              </a:rPr>
              <a:t>调频广播、模拟和数字电视、数据业务</a:t>
            </a:r>
          </a:p>
        </p:txBody>
      </p:sp>
      <p:sp>
        <p:nvSpPr>
          <p:cNvPr id="408585" name="Text Box 23"/>
          <p:cNvSpPr txBox="1">
            <a:spLocks noChangeArrowheads="1"/>
          </p:cNvSpPr>
          <p:nvPr/>
        </p:nvSpPr>
        <p:spPr bwMode="auto">
          <a:xfrm>
            <a:off x="7981950" y="3821113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000" b="1">
                <a:solidFill>
                  <a:srgbClr val="000099"/>
                </a:solidFill>
                <a:ea typeface="黑体" panose="02010609060101010101" pitchFamily="49" charset="-122"/>
              </a:rPr>
              <a:t>频率</a:t>
            </a:r>
            <a:r>
              <a:rPr lang="en-US" altLang="zh-CN" sz="2000" b="1">
                <a:solidFill>
                  <a:srgbClr val="000099"/>
                </a:solidFill>
                <a:ea typeface="黑体" panose="02010609060101010101" pitchFamily="49" charset="-122"/>
              </a:rPr>
              <a:t>(MHz)</a:t>
            </a:r>
          </a:p>
        </p:txBody>
      </p:sp>
      <p:sp>
        <p:nvSpPr>
          <p:cNvPr id="408586" name="Line 24"/>
          <p:cNvSpPr>
            <a:spLocks noChangeShapeType="1"/>
          </p:cNvSpPr>
          <p:nvPr/>
        </p:nvSpPr>
        <p:spPr bwMode="auto">
          <a:xfrm>
            <a:off x="584200" y="3733800"/>
            <a:ext cx="8064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 sz="20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08587" name="矩形 1"/>
          <p:cNvSpPr>
            <a:spLocks noChangeArrowheads="1"/>
          </p:cNvSpPr>
          <p:nvPr/>
        </p:nvSpPr>
        <p:spPr bwMode="auto">
          <a:xfrm>
            <a:off x="2328863" y="4365625"/>
            <a:ext cx="52863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zh-CN" sz="2400" b="1">
                <a:ea typeface="黑体" panose="02010609060101010101" pitchFamily="49" charset="-122"/>
              </a:rPr>
              <a:t>我国的</a:t>
            </a:r>
            <a:r>
              <a:rPr lang="en-US" altLang="zh-CN" sz="2400" b="1">
                <a:ea typeface="黑体" panose="02010609060101010101" pitchFamily="49" charset="-122"/>
              </a:rPr>
              <a:t> HFC </a:t>
            </a:r>
            <a:r>
              <a:rPr lang="zh-CN" altLang="zh-CN" sz="2400" b="1">
                <a:ea typeface="黑体" panose="02010609060101010101" pitchFamily="49" charset="-122"/>
              </a:rPr>
              <a:t>网的频谱划分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40858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A827CA-65E3-45E9-B6FE-920A08A6155F}" type="slidenum">
              <a:rPr lang="zh-CN" altLang="en-US" smtClean="0"/>
              <a:pPr eaLnBrk="1" hangingPunct="1"/>
              <a:t>45</a:t>
            </a:fld>
            <a:endParaRPr lang="en-US" altLang="zh-CN" smtClean="0"/>
          </a:p>
        </p:txBody>
      </p:sp>
      <p:sp>
        <p:nvSpPr>
          <p:cNvPr id="408589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41880650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smtClean="0">
                <a:ea typeface="黑体" panose="02010609060101010101" pitchFamily="49" charset="-122"/>
              </a:rPr>
              <a:t>每个家庭要安装一个用户接口盒 </a:t>
            </a:r>
          </a:p>
        </p:txBody>
      </p:sp>
      <p:sp>
        <p:nvSpPr>
          <p:cNvPr id="41062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用户接口盒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UIB </a:t>
            </a:r>
            <a:r>
              <a:rPr lang="en-US" altLang="zh-CN" dirty="0" smtClean="0">
                <a:ea typeface="黑体" panose="02010609060101010101" pitchFamily="49" charset="-122"/>
              </a:rPr>
              <a:t>(User Interface Box) </a:t>
            </a:r>
            <a:r>
              <a:rPr lang="zh-CN" altLang="en-US" dirty="0" smtClean="0">
                <a:ea typeface="黑体" panose="02010609060101010101" pitchFamily="49" charset="-122"/>
              </a:rPr>
              <a:t>要提供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三种连接，</a:t>
            </a:r>
            <a:r>
              <a:rPr lang="zh-CN" altLang="en-US" dirty="0" smtClean="0">
                <a:ea typeface="黑体" panose="02010609060101010101" pitchFamily="49" charset="-122"/>
              </a:rPr>
              <a:t>即：</a:t>
            </a:r>
          </a:p>
          <a:p>
            <a:pPr lvl="1">
              <a:spcBef>
                <a:spcPts val="120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使用同轴电缆连接到机顶盒 </a:t>
            </a:r>
            <a:r>
              <a:rPr lang="en-US" altLang="zh-CN" dirty="0" smtClean="0">
                <a:ea typeface="黑体" panose="02010609060101010101" pitchFamily="49" charset="-122"/>
              </a:rPr>
              <a:t>(set-top box)</a:t>
            </a:r>
            <a:r>
              <a:rPr lang="zh-CN" altLang="en-US" dirty="0" smtClean="0">
                <a:ea typeface="黑体" panose="02010609060101010101" pitchFamily="49" charset="-122"/>
              </a:rPr>
              <a:t>，然后再连接到用户的电视机。</a:t>
            </a:r>
          </a:p>
          <a:p>
            <a:pPr lvl="1">
              <a:spcBef>
                <a:spcPts val="120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使用双绞线连接到用户的电话机。</a:t>
            </a:r>
          </a:p>
          <a:p>
            <a:pPr lvl="1">
              <a:spcBef>
                <a:spcPts val="120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使用电缆调制解调器连接到用户的计算机。</a:t>
            </a:r>
          </a:p>
        </p:txBody>
      </p:sp>
      <p:sp>
        <p:nvSpPr>
          <p:cNvPr id="41062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91EF2D8-8C9C-4D1C-B847-F7E6A34A3C03}" type="slidenum">
              <a:rPr lang="zh-CN" altLang="en-US" smtClean="0"/>
              <a:pPr eaLnBrk="1" hangingPunct="1"/>
              <a:t>46</a:t>
            </a:fld>
            <a:endParaRPr lang="en-US" altLang="zh-CN" smtClean="0"/>
          </a:p>
        </p:txBody>
      </p:sp>
      <p:sp>
        <p:nvSpPr>
          <p:cNvPr id="41062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27279039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smtClean="0">
                <a:ea typeface="黑体" panose="02010609060101010101" pitchFamily="49" charset="-122"/>
              </a:rPr>
              <a:t>电缆调制解调器 </a:t>
            </a:r>
            <a:r>
              <a:rPr lang="en-US" altLang="zh-CN" sz="4000" smtClean="0">
                <a:ea typeface="黑体" panose="02010609060101010101" pitchFamily="49" charset="-122"/>
              </a:rPr>
              <a:t>(Cable Modem) </a:t>
            </a:r>
          </a:p>
        </p:txBody>
      </p:sp>
      <p:sp>
        <p:nvSpPr>
          <p:cNvPr id="41267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FF0000"/>
                </a:solidFill>
                <a:ea typeface="黑体" panose="02010609060101010101" pitchFamily="49" charset="-122"/>
              </a:rPr>
              <a:t>电缆调制解调器</a:t>
            </a:r>
            <a:r>
              <a:rPr lang="zh-CN" altLang="en-US" sz="2800" dirty="0" smtClean="0">
                <a:ea typeface="黑体" panose="02010609060101010101" pitchFamily="49" charset="-122"/>
              </a:rPr>
              <a:t>是为 </a:t>
            </a:r>
            <a:r>
              <a:rPr lang="en-US" altLang="zh-CN" sz="2800" dirty="0" smtClean="0">
                <a:ea typeface="黑体" panose="02010609060101010101" pitchFamily="49" charset="-122"/>
              </a:rPr>
              <a:t>HFC </a:t>
            </a:r>
            <a:r>
              <a:rPr lang="zh-CN" altLang="en-US" sz="2800" dirty="0" smtClean="0">
                <a:ea typeface="黑体" panose="02010609060101010101" pitchFamily="49" charset="-122"/>
              </a:rPr>
              <a:t>网而使用的调制解调器。</a:t>
            </a: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电缆调制解调器最大的特点就是传输速率高。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sz="2400" dirty="0" smtClean="0">
                <a:ea typeface="黑体" panose="02010609060101010101" pitchFamily="49" charset="-122"/>
              </a:rPr>
              <a:t>下行速率一般在 </a:t>
            </a:r>
            <a:r>
              <a:rPr lang="en-US" altLang="zh-CN" sz="2400" dirty="0" smtClean="0">
                <a:ea typeface="黑体" panose="02010609060101010101" pitchFamily="49" charset="-122"/>
              </a:rPr>
              <a:t>3 </a:t>
            </a:r>
            <a:r>
              <a:rPr lang="en-US" altLang="zh-CN" sz="2400" dirty="0" smtClean="0">
                <a:ea typeface="黑体" panose="02010609060101010101" pitchFamily="49" charset="-122"/>
                <a:sym typeface="Symbol" panose="05050102010706020507" pitchFamily="18" charset="2"/>
              </a:rPr>
              <a:t> </a:t>
            </a:r>
            <a:r>
              <a:rPr lang="en-US" altLang="zh-CN" sz="2400" dirty="0" smtClean="0">
                <a:ea typeface="黑体" panose="02010609060101010101" pitchFamily="49" charset="-122"/>
              </a:rPr>
              <a:t>10 Mbit/s</a:t>
            </a:r>
            <a:r>
              <a:rPr lang="zh-CN" altLang="en-US" sz="2400" dirty="0" smtClean="0">
                <a:ea typeface="黑体" panose="02010609060101010101" pitchFamily="49" charset="-122"/>
              </a:rPr>
              <a:t>之间，最高可达 </a:t>
            </a:r>
            <a:r>
              <a:rPr lang="en-US" altLang="zh-CN" sz="2400" dirty="0" smtClean="0">
                <a:ea typeface="黑体" panose="02010609060101010101" pitchFamily="49" charset="-122"/>
              </a:rPr>
              <a:t>30 Mbit/s</a:t>
            </a:r>
            <a:r>
              <a:rPr lang="zh-CN" altLang="en-US" sz="2400" dirty="0" smtClean="0">
                <a:ea typeface="黑体" panose="02010609060101010101" pitchFamily="49" charset="-122"/>
              </a:rPr>
              <a:t>。</a:t>
            </a:r>
            <a:endParaRPr lang="en-US" altLang="zh-CN" sz="2400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sz="2400" dirty="0" smtClean="0">
                <a:ea typeface="黑体" panose="02010609060101010101" pitchFamily="49" charset="-122"/>
              </a:rPr>
              <a:t>上行速率一般为 </a:t>
            </a:r>
            <a:r>
              <a:rPr lang="en-US" altLang="zh-CN" sz="2400" dirty="0" smtClean="0">
                <a:ea typeface="黑体" panose="02010609060101010101" pitchFamily="49" charset="-122"/>
              </a:rPr>
              <a:t>0.2 </a:t>
            </a:r>
            <a:r>
              <a:rPr lang="en-US" altLang="zh-CN" sz="2400" dirty="0" smtClean="0">
                <a:ea typeface="黑体" panose="02010609060101010101" pitchFamily="49" charset="-122"/>
                <a:sym typeface="Symbol" panose="05050102010706020507" pitchFamily="18" charset="2"/>
              </a:rPr>
              <a:t> </a:t>
            </a:r>
            <a:r>
              <a:rPr lang="en-US" altLang="zh-CN" sz="2400" dirty="0" smtClean="0">
                <a:ea typeface="黑体" panose="02010609060101010101" pitchFamily="49" charset="-122"/>
              </a:rPr>
              <a:t>2 Mbit/s</a:t>
            </a:r>
            <a:r>
              <a:rPr lang="zh-CN" altLang="en-US" sz="2400" dirty="0" smtClean="0">
                <a:ea typeface="黑体" panose="02010609060101010101" pitchFamily="49" charset="-122"/>
              </a:rPr>
              <a:t>，最高可达 </a:t>
            </a:r>
            <a:r>
              <a:rPr lang="en-US" altLang="zh-CN" sz="2400" dirty="0" smtClean="0">
                <a:ea typeface="黑体" panose="02010609060101010101" pitchFamily="49" charset="-122"/>
              </a:rPr>
              <a:t>10 Mbit/s</a:t>
            </a:r>
            <a:r>
              <a:rPr lang="zh-CN" altLang="en-US" sz="2400" dirty="0" smtClean="0">
                <a:ea typeface="黑体" panose="02010609060101010101" pitchFamily="49" charset="-122"/>
              </a:rPr>
              <a:t>。</a:t>
            </a:r>
            <a:endParaRPr lang="en-US" altLang="zh-CN" sz="2400" dirty="0" smtClean="0">
              <a:ea typeface="黑体" panose="02010609060101010101" pitchFamily="49" charset="-122"/>
            </a:endParaRPr>
          </a:p>
          <a:p>
            <a:r>
              <a:rPr lang="zh-CN" altLang="en-US" sz="2800" dirty="0" smtClean="0">
                <a:ea typeface="黑体" panose="02010609060101010101" pitchFamily="49" charset="-122"/>
              </a:rPr>
              <a:t>电缆调制解调器比在普通电话线上使用的调制解调器要复杂得多（</a:t>
            </a:r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多用户共享信道，需解决冲突问题</a:t>
            </a:r>
            <a:r>
              <a:rPr lang="zh-CN" altLang="en-US" sz="2800" dirty="0" smtClean="0">
                <a:ea typeface="黑体" panose="02010609060101010101" pitchFamily="49" charset="-122"/>
              </a:rPr>
              <a:t>），并且不是成对使用，而是只安装在用户端。 </a:t>
            </a:r>
          </a:p>
        </p:txBody>
      </p:sp>
      <p:sp>
        <p:nvSpPr>
          <p:cNvPr id="41267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D3D0FCD-14A4-4B66-B271-DD35708ED08B}" type="slidenum">
              <a:rPr lang="zh-CN" altLang="en-US" smtClean="0"/>
              <a:pPr eaLnBrk="1" hangingPunct="1"/>
              <a:t>47</a:t>
            </a:fld>
            <a:endParaRPr lang="en-US" altLang="zh-CN" smtClean="0"/>
          </a:p>
        </p:txBody>
      </p:sp>
      <p:sp>
        <p:nvSpPr>
          <p:cNvPr id="41267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8576187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2.6.3  FTTx </a:t>
            </a:r>
            <a:r>
              <a:rPr lang="zh-CN" altLang="en-US" smtClean="0">
                <a:ea typeface="黑体" panose="02010609060101010101" pitchFamily="49" charset="-122"/>
              </a:rPr>
              <a:t>技术 </a:t>
            </a:r>
          </a:p>
        </p:txBody>
      </p:sp>
      <p:sp>
        <p:nvSpPr>
          <p:cNvPr id="41472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z="2800" dirty="0" err="1" smtClean="0">
                <a:ea typeface="黑体" panose="02010609060101010101" pitchFamily="49" charset="-122"/>
              </a:rPr>
              <a:t>FTTx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en-US" sz="2800" dirty="0" smtClean="0">
                <a:ea typeface="黑体" panose="02010609060101010101" pitchFamily="49" charset="-122"/>
              </a:rPr>
              <a:t>是一种实现宽带居民接入网的方案，代表</a:t>
            </a:r>
            <a:r>
              <a:rPr lang="zh-CN" altLang="zh-CN" sz="2800" dirty="0" smtClean="0">
                <a:ea typeface="黑体" panose="02010609060101010101" pitchFamily="49" charset="-122"/>
              </a:rPr>
              <a:t>多种宽带光纤接入方式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en-US" altLang="zh-CN" sz="2800" dirty="0" err="1" smtClean="0">
                <a:ea typeface="黑体" panose="02010609060101010101" pitchFamily="49" charset="-122"/>
              </a:rPr>
              <a:t>FTTx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zh-CN" sz="2800" dirty="0" smtClean="0">
                <a:ea typeface="黑体" panose="02010609060101010101" pitchFamily="49" charset="-122"/>
              </a:rPr>
              <a:t>表示</a:t>
            </a:r>
            <a:r>
              <a:rPr lang="en-US" altLang="zh-CN" sz="2800" dirty="0" smtClean="0">
                <a:ea typeface="黑体" panose="02010609060101010101" pitchFamily="49" charset="-122"/>
              </a:rPr>
              <a:t> Fiber To The…</a:t>
            </a:r>
            <a:r>
              <a:rPr lang="zh-CN" altLang="en-US" sz="2800" dirty="0" smtClean="0">
                <a:ea typeface="黑体" panose="02010609060101010101" pitchFamily="49" charset="-122"/>
              </a:rPr>
              <a:t>（光纤到</a:t>
            </a:r>
            <a:r>
              <a:rPr lang="en-US" altLang="zh-CN" sz="2800" dirty="0" smtClean="0">
                <a:ea typeface="黑体" panose="02010609060101010101" pitchFamily="49" charset="-122"/>
              </a:rPr>
              <a:t>…</a:t>
            </a:r>
            <a:r>
              <a:rPr lang="zh-CN" altLang="en-US" sz="2800" dirty="0" smtClean="0">
                <a:ea typeface="黑体" panose="02010609060101010101" pitchFamily="49" charset="-122"/>
              </a:rPr>
              <a:t>），例如：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光纤到户 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FTTH </a:t>
            </a:r>
            <a:r>
              <a:rPr lang="en-US" altLang="zh-CN" sz="2400" dirty="0" smtClean="0">
                <a:ea typeface="黑体" panose="02010609060101010101" pitchFamily="49" charset="-122"/>
              </a:rPr>
              <a:t>(Fiber To The Home)</a:t>
            </a:r>
            <a:r>
              <a:rPr lang="zh-CN" altLang="en-US" sz="2400" dirty="0" smtClean="0">
                <a:ea typeface="黑体" panose="02010609060101010101" pitchFamily="49" charset="-122"/>
              </a:rPr>
              <a:t>：光纤一直铺设到用户家庭，可能是居民接入网最后的解决方法。</a:t>
            </a:r>
          </a:p>
          <a:p>
            <a:pPr lvl="1"/>
            <a:r>
              <a:rPr lang="zh-CN" altLang="en-US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光纤到大楼 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FTTB </a:t>
            </a:r>
            <a:r>
              <a:rPr lang="en-US" altLang="zh-CN" sz="2400" dirty="0" smtClean="0">
                <a:ea typeface="黑体" panose="02010609060101010101" pitchFamily="49" charset="-122"/>
              </a:rPr>
              <a:t>(Fiber To The Building)</a:t>
            </a:r>
            <a:r>
              <a:rPr lang="zh-CN" altLang="en-US" sz="2400" dirty="0" smtClean="0">
                <a:ea typeface="黑体" panose="02010609060101010101" pitchFamily="49" charset="-122"/>
              </a:rPr>
              <a:t>：光纤进入大楼后就转换为电信号，然后用电缆或双绞线分配到各用户。</a:t>
            </a:r>
          </a:p>
          <a:p>
            <a:pPr lvl="1"/>
            <a:r>
              <a:rPr lang="zh-CN" altLang="en-US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光纤到路边 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FTTC </a:t>
            </a:r>
            <a:r>
              <a:rPr lang="en-US" altLang="zh-CN" sz="2400" dirty="0" smtClean="0">
                <a:ea typeface="黑体" panose="02010609060101010101" pitchFamily="49" charset="-122"/>
              </a:rPr>
              <a:t>(Fiber To The Curb)</a:t>
            </a:r>
            <a:r>
              <a:rPr lang="zh-CN" altLang="en-US" sz="2400" dirty="0" smtClean="0">
                <a:ea typeface="黑体" panose="02010609060101010101" pitchFamily="49" charset="-122"/>
              </a:rPr>
              <a:t>：光纤铺到路边，从路边到各用户可使用星形结构双绞线作为传输媒体。</a:t>
            </a:r>
            <a:endParaRPr lang="en-US" altLang="zh-CN" sz="2400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zh-CN" altLang="en-US" sz="2400" dirty="0" smtClean="0">
                <a:solidFill>
                  <a:srgbClr val="0000CC"/>
                </a:solidFill>
                <a:ea typeface="黑体" panose="02010609060101010101" pitchFamily="49" charset="-122"/>
              </a:rPr>
              <a:t>还有</a:t>
            </a:r>
            <a:r>
              <a:rPr lang="zh-CN" altLang="en-US" sz="2400" u="sng" dirty="0">
                <a:solidFill>
                  <a:srgbClr val="FF0000"/>
                </a:solidFill>
                <a:ea typeface="黑体" panose="02010609060101010101" pitchFamily="49" charset="-122"/>
              </a:rPr>
              <a:t>光纤</a:t>
            </a:r>
            <a:r>
              <a:rPr lang="zh-CN" altLang="en-US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到楼层 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FTTF</a:t>
            </a:r>
            <a:r>
              <a:rPr lang="en-US" altLang="zh-CN" sz="2400" dirty="0" smtClean="0">
                <a:ea typeface="黑体" panose="02010609060101010101" pitchFamily="49" charset="-122"/>
              </a:rPr>
              <a:t>(Fiber </a:t>
            </a:r>
            <a:r>
              <a:rPr lang="en-US" altLang="zh-CN" sz="2400" dirty="0">
                <a:ea typeface="黑体" panose="02010609060101010101" pitchFamily="49" charset="-122"/>
              </a:rPr>
              <a:t>To The </a:t>
            </a:r>
            <a:r>
              <a:rPr lang="en-US" altLang="zh-CN" sz="2400" dirty="0" smtClean="0">
                <a:ea typeface="黑体" panose="02010609060101010101" pitchFamily="49" charset="-122"/>
              </a:rPr>
              <a:t>Floor)</a:t>
            </a:r>
            <a:r>
              <a:rPr lang="zh-CN" altLang="en-US" sz="2400" dirty="0" smtClean="0">
                <a:ea typeface="黑体" panose="02010609060101010101" pitchFamily="49" charset="-122"/>
              </a:rPr>
              <a:t>、</a:t>
            </a:r>
            <a:r>
              <a:rPr lang="zh-CN" altLang="en-US" sz="24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光纤到办公室 </a:t>
            </a:r>
            <a:r>
              <a:rPr lang="en-US" altLang="zh-CN" sz="2400" dirty="0" smtClean="0">
                <a:solidFill>
                  <a:srgbClr val="0000CC"/>
                </a:solidFill>
                <a:ea typeface="黑体" panose="02010609060101010101" pitchFamily="49" charset="-122"/>
              </a:rPr>
              <a:t>FTTO</a:t>
            </a:r>
            <a:r>
              <a:rPr lang="en-US" altLang="zh-CN" sz="2400" dirty="0" smtClean="0">
                <a:ea typeface="黑体" panose="02010609060101010101" pitchFamily="49" charset="-122"/>
              </a:rPr>
              <a:t>(Fiber </a:t>
            </a:r>
            <a:r>
              <a:rPr lang="en-US" altLang="zh-CN" sz="2400" dirty="0">
                <a:ea typeface="黑体" panose="02010609060101010101" pitchFamily="49" charset="-122"/>
              </a:rPr>
              <a:t>To The </a:t>
            </a:r>
            <a:r>
              <a:rPr lang="en-US" altLang="zh-CN" sz="2400" dirty="0" smtClean="0">
                <a:ea typeface="黑体" panose="02010609060101010101" pitchFamily="49" charset="-122"/>
              </a:rPr>
              <a:t>Office)</a:t>
            </a:r>
            <a:r>
              <a:rPr lang="zh-CN" altLang="en-US" sz="2400" dirty="0" smtClean="0">
                <a:ea typeface="黑体" panose="02010609060101010101" pitchFamily="49" charset="-122"/>
              </a:rPr>
              <a:t>和</a:t>
            </a:r>
            <a:r>
              <a:rPr lang="zh-CN" altLang="en-US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光纤到桌面</a:t>
            </a:r>
            <a:r>
              <a:rPr lang="en-US" altLang="zh-CN" sz="24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FTTD </a:t>
            </a:r>
            <a:r>
              <a:rPr lang="en-US" altLang="zh-CN" sz="2400" dirty="0" smtClean="0">
                <a:ea typeface="黑体" panose="02010609060101010101" pitchFamily="49" charset="-122"/>
              </a:rPr>
              <a:t>(Fiber </a:t>
            </a:r>
            <a:r>
              <a:rPr lang="en-US" altLang="zh-CN" sz="2400" dirty="0">
                <a:ea typeface="黑体" panose="02010609060101010101" pitchFamily="49" charset="-122"/>
              </a:rPr>
              <a:t>To The </a:t>
            </a:r>
            <a:r>
              <a:rPr lang="en-US" altLang="zh-CN" sz="2400" dirty="0" smtClean="0">
                <a:ea typeface="黑体" panose="02010609060101010101" pitchFamily="49" charset="-122"/>
              </a:rPr>
              <a:t>Desk)</a:t>
            </a:r>
            <a:r>
              <a:rPr lang="zh-CN" altLang="en-US" sz="2400" dirty="0" smtClean="0">
                <a:ea typeface="黑体" panose="02010609060101010101" pitchFamily="49" charset="-122"/>
              </a:rPr>
              <a:t> 。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1"/>
            <a:endParaRPr lang="en-US" altLang="zh-CN" sz="2400" dirty="0" smtClean="0">
              <a:ea typeface="黑体" panose="02010609060101010101" pitchFamily="49" charset="-122"/>
            </a:endParaRPr>
          </a:p>
        </p:txBody>
      </p:sp>
      <p:sp>
        <p:nvSpPr>
          <p:cNvPr id="41472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E572C1B-6C7D-44BF-996A-026B00AD74A5}" type="slidenum">
              <a:rPr lang="zh-CN" altLang="en-US" smtClean="0"/>
              <a:pPr eaLnBrk="1" hangingPunct="1"/>
              <a:t>48</a:t>
            </a:fld>
            <a:endParaRPr lang="en-US" altLang="zh-CN" smtClean="0"/>
          </a:p>
        </p:txBody>
      </p:sp>
      <p:sp>
        <p:nvSpPr>
          <p:cNvPr id="41472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5842603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769" name="组合 2"/>
          <p:cNvGrpSpPr>
            <a:grpSpLocks/>
          </p:cNvGrpSpPr>
          <p:nvPr/>
        </p:nvGrpSpPr>
        <p:grpSpPr bwMode="auto">
          <a:xfrm>
            <a:off x="1146175" y="968375"/>
            <a:ext cx="7880350" cy="2519363"/>
            <a:chOff x="816902" y="630238"/>
            <a:chExt cx="7880086" cy="2519362"/>
          </a:xfrm>
        </p:grpSpPr>
        <p:grpSp>
          <p:nvGrpSpPr>
            <p:cNvPr id="416770" name="Group 4"/>
            <p:cNvGrpSpPr>
              <a:grpSpLocks/>
            </p:cNvGrpSpPr>
            <p:nvPr/>
          </p:nvGrpSpPr>
          <p:grpSpPr bwMode="auto">
            <a:xfrm>
              <a:off x="6980636" y="1182688"/>
              <a:ext cx="1716352" cy="1751012"/>
              <a:chOff x="3606" y="1238"/>
              <a:chExt cx="1270" cy="1103"/>
            </a:xfrm>
          </p:grpSpPr>
          <p:sp>
            <p:nvSpPr>
              <p:cNvPr id="416771" name="Line 5"/>
              <p:cNvSpPr>
                <a:spLocks noChangeShapeType="1"/>
              </p:cNvSpPr>
              <p:nvPr/>
            </p:nvSpPr>
            <p:spPr bwMode="auto">
              <a:xfrm>
                <a:off x="3606" y="1752"/>
                <a:ext cx="12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16772" name="Line 6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16773" name="Line 7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16774" name="Text Box 8"/>
            <p:cNvSpPr txBox="1">
              <a:spLocks noChangeArrowheads="1"/>
            </p:cNvSpPr>
            <p:nvPr/>
          </p:nvSpPr>
          <p:spPr bwMode="auto">
            <a:xfrm>
              <a:off x="2180696" y="1446213"/>
              <a:ext cx="59824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头端</a:t>
              </a:r>
            </a:p>
          </p:txBody>
        </p:sp>
        <p:sp>
          <p:nvSpPr>
            <p:cNvPr id="416775" name="Rectangle 9"/>
            <p:cNvSpPr>
              <a:spLocks noChangeArrowheads="1"/>
            </p:cNvSpPr>
            <p:nvPr/>
          </p:nvSpPr>
          <p:spPr bwMode="auto">
            <a:xfrm>
              <a:off x="4249606" y="1782763"/>
              <a:ext cx="701675" cy="4318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1:N</a:t>
              </a:r>
            </a:p>
          </p:txBody>
        </p:sp>
        <p:sp>
          <p:nvSpPr>
            <p:cNvPr id="416776" name="Rectangle 10"/>
            <p:cNvSpPr>
              <a:spLocks noChangeArrowheads="1"/>
            </p:cNvSpPr>
            <p:nvPr/>
          </p:nvSpPr>
          <p:spPr bwMode="auto">
            <a:xfrm>
              <a:off x="6824133" y="2717800"/>
              <a:ext cx="701675" cy="431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ONU</a:t>
              </a:r>
            </a:p>
          </p:txBody>
        </p:sp>
        <p:sp>
          <p:nvSpPr>
            <p:cNvPr id="416777" name="Rectangle 11"/>
            <p:cNvSpPr>
              <a:spLocks noChangeArrowheads="1"/>
            </p:cNvSpPr>
            <p:nvPr/>
          </p:nvSpPr>
          <p:spPr bwMode="auto">
            <a:xfrm>
              <a:off x="6824133" y="1782763"/>
              <a:ext cx="701675" cy="431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ONU</a:t>
              </a:r>
            </a:p>
          </p:txBody>
        </p:sp>
        <p:sp>
          <p:nvSpPr>
            <p:cNvPr id="416778" name="Line 12"/>
            <p:cNvSpPr>
              <a:spLocks noChangeShapeType="1"/>
            </p:cNvSpPr>
            <p:nvPr/>
          </p:nvSpPr>
          <p:spPr bwMode="auto">
            <a:xfrm>
              <a:off x="870214" y="1998663"/>
              <a:ext cx="12468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79" name="Rectangle 13"/>
            <p:cNvSpPr>
              <a:spLocks noChangeArrowheads="1"/>
            </p:cNvSpPr>
            <p:nvPr/>
          </p:nvSpPr>
          <p:spPr bwMode="auto">
            <a:xfrm>
              <a:off x="2118783" y="1782763"/>
              <a:ext cx="701675" cy="43180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OLT</a:t>
              </a:r>
            </a:p>
          </p:txBody>
        </p:sp>
        <p:sp>
          <p:nvSpPr>
            <p:cNvPr id="416780" name="Text Box 14"/>
            <p:cNvSpPr txBox="1">
              <a:spLocks noChangeArrowheads="1"/>
            </p:cNvSpPr>
            <p:nvPr/>
          </p:nvSpPr>
          <p:spPr bwMode="auto">
            <a:xfrm>
              <a:off x="816902" y="1638300"/>
              <a:ext cx="101181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光纤干线</a:t>
              </a:r>
            </a:p>
          </p:txBody>
        </p:sp>
        <p:sp>
          <p:nvSpPr>
            <p:cNvPr id="416781" name="Line 15"/>
            <p:cNvSpPr>
              <a:spLocks noChangeShapeType="1"/>
            </p:cNvSpPr>
            <p:nvPr/>
          </p:nvSpPr>
          <p:spPr bwMode="auto">
            <a:xfrm>
              <a:off x="2846256" y="1998663"/>
              <a:ext cx="14033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82" name="Line 16"/>
            <p:cNvSpPr>
              <a:spLocks noChangeShapeType="1"/>
            </p:cNvSpPr>
            <p:nvPr/>
          </p:nvSpPr>
          <p:spPr bwMode="auto">
            <a:xfrm flipV="1">
              <a:off x="4951281" y="1171576"/>
              <a:ext cx="1869413" cy="682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83" name="Line 17"/>
            <p:cNvSpPr>
              <a:spLocks noChangeShapeType="1"/>
            </p:cNvSpPr>
            <p:nvPr/>
          </p:nvSpPr>
          <p:spPr bwMode="auto">
            <a:xfrm>
              <a:off x="4951281" y="2141538"/>
              <a:ext cx="1872853" cy="7921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84" name="Line 18"/>
            <p:cNvSpPr>
              <a:spLocks noChangeShapeType="1"/>
            </p:cNvSpPr>
            <p:nvPr/>
          </p:nvSpPr>
          <p:spPr bwMode="auto">
            <a:xfrm>
              <a:off x="4951281" y="1998663"/>
              <a:ext cx="18728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85" name="Text Box 19"/>
            <p:cNvSpPr txBox="1">
              <a:spLocks noChangeArrowheads="1"/>
            </p:cNvSpPr>
            <p:nvPr/>
          </p:nvSpPr>
          <p:spPr bwMode="auto">
            <a:xfrm rot="5400000">
              <a:off x="7042034" y="2326759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416786" name="Text Box 20"/>
            <p:cNvSpPr txBox="1">
              <a:spLocks noChangeArrowheads="1"/>
            </p:cNvSpPr>
            <p:nvPr/>
          </p:nvSpPr>
          <p:spPr bwMode="auto">
            <a:xfrm>
              <a:off x="4027752" y="1422400"/>
              <a:ext cx="101181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光分路器</a:t>
              </a:r>
            </a:p>
          </p:txBody>
        </p:sp>
        <p:sp>
          <p:nvSpPr>
            <p:cNvPr id="416787" name="Text Box 21"/>
            <p:cNvSpPr txBox="1">
              <a:spLocks noChangeArrowheads="1"/>
            </p:cNvSpPr>
            <p:nvPr/>
          </p:nvSpPr>
          <p:spPr bwMode="auto">
            <a:xfrm>
              <a:off x="6512851" y="630238"/>
              <a:ext cx="12186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光网络单元</a:t>
              </a:r>
            </a:p>
          </p:txBody>
        </p:sp>
        <p:sp>
          <p:nvSpPr>
            <p:cNvPr id="416788" name="Rectangle 22"/>
            <p:cNvSpPr>
              <a:spLocks noChangeArrowheads="1"/>
            </p:cNvSpPr>
            <p:nvPr/>
          </p:nvSpPr>
          <p:spPr bwMode="auto">
            <a:xfrm>
              <a:off x="6824133" y="966788"/>
              <a:ext cx="701675" cy="431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ONU</a:t>
              </a:r>
            </a:p>
          </p:txBody>
        </p:sp>
        <p:sp>
          <p:nvSpPr>
            <p:cNvPr id="416789" name="Text Box 23"/>
            <p:cNvSpPr txBox="1">
              <a:spLocks noChangeArrowheads="1"/>
            </p:cNvSpPr>
            <p:nvPr/>
          </p:nvSpPr>
          <p:spPr bwMode="auto">
            <a:xfrm>
              <a:off x="2846256" y="1655763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★●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790" name="Text Box 24"/>
            <p:cNvSpPr txBox="1">
              <a:spLocks noChangeArrowheads="1"/>
            </p:cNvSpPr>
            <p:nvPr/>
          </p:nvSpPr>
          <p:spPr bwMode="auto">
            <a:xfrm>
              <a:off x="5334794" y="1665288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★●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791" name="Text Box 25"/>
            <p:cNvSpPr txBox="1">
              <a:spLocks noChangeArrowheads="1"/>
            </p:cNvSpPr>
            <p:nvPr/>
          </p:nvSpPr>
          <p:spPr bwMode="auto">
            <a:xfrm>
              <a:off x="7838810" y="2574926"/>
              <a:ext cx="417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●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416792" name="Text Box 26"/>
            <p:cNvSpPr txBox="1">
              <a:spLocks noChangeArrowheads="1"/>
            </p:cNvSpPr>
            <p:nvPr/>
          </p:nvSpPr>
          <p:spPr bwMode="auto">
            <a:xfrm rot="1462546">
              <a:off x="5295205" y="2140228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★●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793" name="Text Box 27"/>
            <p:cNvSpPr txBox="1">
              <a:spLocks noChangeArrowheads="1"/>
            </p:cNvSpPr>
            <p:nvPr/>
          </p:nvSpPr>
          <p:spPr bwMode="auto">
            <a:xfrm rot="-1261310">
              <a:off x="5295205" y="1198842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★●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794" name="Text Box 28"/>
            <p:cNvSpPr txBox="1">
              <a:spLocks noChangeArrowheads="1"/>
            </p:cNvSpPr>
            <p:nvPr/>
          </p:nvSpPr>
          <p:spPr bwMode="auto">
            <a:xfrm>
              <a:off x="7849130" y="1638301"/>
              <a:ext cx="4122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795" name="Text Box 29"/>
            <p:cNvSpPr txBox="1">
              <a:spLocks noChangeArrowheads="1"/>
            </p:cNvSpPr>
            <p:nvPr/>
          </p:nvSpPr>
          <p:spPr bwMode="auto">
            <a:xfrm>
              <a:off x="7838810" y="825500"/>
              <a:ext cx="417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416796" name="Line 30"/>
            <p:cNvSpPr>
              <a:spLocks noChangeShapeType="1"/>
            </p:cNvSpPr>
            <p:nvPr/>
          </p:nvSpPr>
          <p:spPr bwMode="auto">
            <a:xfrm>
              <a:off x="3781823" y="1854200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97" name="Line 31"/>
            <p:cNvSpPr>
              <a:spLocks noChangeShapeType="1"/>
            </p:cNvSpPr>
            <p:nvPr/>
          </p:nvSpPr>
          <p:spPr bwMode="auto">
            <a:xfrm rot="-1251268">
              <a:off x="6199850" y="1206500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98" name="Line 32"/>
            <p:cNvSpPr>
              <a:spLocks noChangeShapeType="1"/>
            </p:cNvSpPr>
            <p:nvPr/>
          </p:nvSpPr>
          <p:spPr bwMode="auto">
            <a:xfrm>
              <a:off x="8306594" y="2790825"/>
              <a:ext cx="3112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799" name="Line 33"/>
            <p:cNvSpPr>
              <a:spLocks noChangeShapeType="1"/>
            </p:cNvSpPr>
            <p:nvPr/>
          </p:nvSpPr>
          <p:spPr bwMode="auto">
            <a:xfrm>
              <a:off x="8306594" y="1854200"/>
              <a:ext cx="3112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00" name="Line 34"/>
            <p:cNvSpPr>
              <a:spLocks noChangeShapeType="1"/>
            </p:cNvSpPr>
            <p:nvPr/>
          </p:nvSpPr>
          <p:spPr bwMode="auto">
            <a:xfrm rot="1377025">
              <a:off x="6160294" y="2592388"/>
              <a:ext cx="3112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01" name="Line 35"/>
            <p:cNvSpPr>
              <a:spLocks noChangeShapeType="1"/>
            </p:cNvSpPr>
            <p:nvPr/>
          </p:nvSpPr>
          <p:spPr bwMode="auto">
            <a:xfrm>
              <a:off x="6278960" y="1854200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02" name="Line 36"/>
            <p:cNvSpPr>
              <a:spLocks noChangeShapeType="1"/>
            </p:cNvSpPr>
            <p:nvPr/>
          </p:nvSpPr>
          <p:spPr bwMode="auto">
            <a:xfrm>
              <a:off x="8311754" y="1035050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03" name="AutoShape 68"/>
            <p:cNvSpPr>
              <a:spLocks noChangeArrowheads="1"/>
            </p:cNvSpPr>
            <p:nvPr/>
          </p:nvSpPr>
          <p:spPr bwMode="auto">
            <a:xfrm>
              <a:off x="1050793" y="919164"/>
              <a:ext cx="2419746" cy="358775"/>
            </a:xfrm>
            <a:prstGeom prst="wedgeRoundRectCallout">
              <a:avLst>
                <a:gd name="adj1" fmla="val 45685"/>
                <a:gd name="adj2" fmla="val 158213"/>
                <a:gd name="adj3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zh-CN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04" name="Text Box 69"/>
            <p:cNvSpPr txBox="1">
              <a:spLocks noChangeArrowheads="1"/>
            </p:cNvSpPr>
            <p:nvPr/>
          </p:nvSpPr>
          <p:spPr bwMode="auto">
            <a:xfrm>
              <a:off x="1129904" y="919163"/>
              <a:ext cx="220284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发往特定 </a:t>
              </a: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ONU </a:t>
              </a:r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的数据</a:t>
              </a:r>
            </a:p>
          </p:txBody>
        </p:sp>
        <p:sp>
          <p:nvSpPr>
            <p:cNvPr id="416805" name="Text Box 72"/>
            <p:cNvSpPr txBox="1">
              <a:spLocks noChangeArrowheads="1"/>
            </p:cNvSpPr>
            <p:nvPr/>
          </p:nvSpPr>
          <p:spPr bwMode="auto">
            <a:xfrm>
              <a:off x="4180159" y="868650"/>
              <a:ext cx="700833" cy="400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C00000"/>
                  </a:solidFill>
                  <a:ea typeface="黑体" panose="02010609060101010101" pitchFamily="49" charset="-122"/>
                </a:rPr>
                <a:t>下行</a:t>
              </a:r>
            </a:p>
          </p:txBody>
        </p:sp>
        <p:sp>
          <p:nvSpPr>
            <p:cNvPr id="416806" name="Line 74"/>
            <p:cNvSpPr>
              <a:spLocks noChangeShapeType="1"/>
            </p:cNvSpPr>
            <p:nvPr/>
          </p:nvSpPr>
          <p:spPr bwMode="auto">
            <a:xfrm>
              <a:off x="4172215" y="1277938"/>
              <a:ext cx="779066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416807" name="组合 4"/>
          <p:cNvGrpSpPr>
            <a:grpSpLocks/>
          </p:cNvGrpSpPr>
          <p:nvPr/>
        </p:nvGrpSpPr>
        <p:grpSpPr bwMode="auto">
          <a:xfrm>
            <a:off x="1498600" y="5999163"/>
            <a:ext cx="7370763" cy="525462"/>
            <a:chOff x="1169459" y="5805264"/>
            <a:chExt cx="7371027" cy="526494"/>
          </a:xfrm>
        </p:grpSpPr>
        <p:sp>
          <p:nvSpPr>
            <p:cNvPr id="416808" name="Text Box 76"/>
            <p:cNvSpPr txBox="1">
              <a:spLocks noChangeArrowheads="1"/>
            </p:cNvSpPr>
            <p:nvPr/>
          </p:nvSpPr>
          <p:spPr bwMode="auto">
            <a:xfrm>
              <a:off x="1754187" y="5949726"/>
              <a:ext cx="64953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局端</a:t>
              </a:r>
            </a:p>
          </p:txBody>
        </p:sp>
        <p:sp>
          <p:nvSpPr>
            <p:cNvPr id="416809" name="AutoShape 77"/>
            <p:cNvSpPr>
              <a:spLocks/>
            </p:cNvSpPr>
            <p:nvPr/>
          </p:nvSpPr>
          <p:spPr bwMode="auto">
            <a:xfrm rot="-5400000">
              <a:off x="1975908" y="4998814"/>
              <a:ext cx="141287" cy="1754188"/>
            </a:xfrm>
            <a:prstGeom prst="leftBrace">
              <a:avLst>
                <a:gd name="adj1" fmla="val 95475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10" name="AutoShape 78"/>
            <p:cNvSpPr>
              <a:spLocks/>
            </p:cNvSpPr>
            <p:nvPr/>
          </p:nvSpPr>
          <p:spPr bwMode="auto">
            <a:xfrm rot="-5400000">
              <a:off x="4743187" y="4025279"/>
              <a:ext cx="144462" cy="3704431"/>
            </a:xfrm>
            <a:prstGeom prst="leftBrace">
              <a:avLst>
                <a:gd name="adj1" fmla="val 197189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11" name="AutoShape 79"/>
            <p:cNvSpPr>
              <a:spLocks/>
            </p:cNvSpPr>
            <p:nvPr/>
          </p:nvSpPr>
          <p:spPr bwMode="auto">
            <a:xfrm rot="-5400000">
              <a:off x="7592747" y="4998814"/>
              <a:ext cx="141287" cy="1754188"/>
            </a:xfrm>
            <a:prstGeom prst="leftBrace">
              <a:avLst>
                <a:gd name="adj1" fmla="val 95475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12" name="Text Box 80"/>
            <p:cNvSpPr txBox="1">
              <a:spLocks noChangeArrowheads="1"/>
            </p:cNvSpPr>
            <p:nvPr/>
          </p:nvSpPr>
          <p:spPr bwMode="auto">
            <a:xfrm>
              <a:off x="7214527" y="5949726"/>
              <a:ext cx="881973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用户端</a:t>
              </a:r>
            </a:p>
          </p:txBody>
        </p:sp>
        <p:sp>
          <p:nvSpPr>
            <p:cNvPr id="416813" name="Text Box 81"/>
            <p:cNvSpPr txBox="1">
              <a:spLocks noChangeArrowheads="1"/>
            </p:cNvSpPr>
            <p:nvPr/>
          </p:nvSpPr>
          <p:spPr bwMode="auto">
            <a:xfrm>
              <a:off x="4093105" y="5962426"/>
              <a:ext cx="184537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000099"/>
                  </a:solidFill>
                  <a:ea typeface="黑体" panose="02010609060101010101" pitchFamily="49" charset="-122"/>
                </a:rPr>
                <a:t>光配线网 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(ODN)</a:t>
              </a:r>
            </a:p>
          </p:txBody>
        </p:sp>
      </p:grpSp>
      <p:sp>
        <p:nvSpPr>
          <p:cNvPr id="416814" name="Text Box 82"/>
          <p:cNvSpPr txBox="1">
            <a:spLocks noChangeArrowheads="1"/>
          </p:cNvSpPr>
          <p:nvPr/>
        </p:nvSpPr>
        <p:spPr bwMode="auto">
          <a:xfrm>
            <a:off x="561975" y="115888"/>
            <a:ext cx="8278813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zh-CN" altLang="zh-CN" sz="3200" b="1" u="sng" dirty="0">
                <a:solidFill>
                  <a:srgbClr val="FF0000"/>
                </a:solidFill>
                <a:ea typeface="黑体" panose="02010609060101010101" pitchFamily="49" charset="-122"/>
              </a:rPr>
              <a:t>无源光网络</a:t>
            </a:r>
            <a:r>
              <a:rPr lang="en-US" altLang="zh-CN" sz="3200" b="1" u="sng" dirty="0">
                <a:solidFill>
                  <a:srgbClr val="FF0000"/>
                </a:solidFill>
                <a:ea typeface="黑体" panose="02010609060101010101" pitchFamily="49" charset="-122"/>
              </a:rPr>
              <a:t> PON</a:t>
            </a:r>
          </a:p>
          <a:p>
            <a:pPr algn="ctr"/>
            <a:r>
              <a:rPr lang="en-US" altLang="zh-CN" sz="3200" b="1" dirty="0">
                <a:solidFill>
                  <a:srgbClr val="333399"/>
                </a:solidFill>
                <a:ea typeface="黑体" panose="02010609060101010101" pitchFamily="49" charset="-122"/>
              </a:rPr>
              <a:t> (Passive Optical Network) </a:t>
            </a:r>
            <a:r>
              <a:rPr lang="zh-CN" altLang="en-US" sz="3200" b="1" dirty="0">
                <a:solidFill>
                  <a:srgbClr val="333399"/>
                </a:solidFill>
                <a:ea typeface="黑体" panose="02010609060101010101" pitchFamily="49" charset="-122"/>
              </a:rPr>
              <a:t>的组成 </a:t>
            </a:r>
          </a:p>
        </p:txBody>
      </p:sp>
      <p:grpSp>
        <p:nvGrpSpPr>
          <p:cNvPr id="416815" name="组合 3"/>
          <p:cNvGrpSpPr>
            <a:grpSpLocks/>
          </p:cNvGrpSpPr>
          <p:nvPr/>
        </p:nvGrpSpPr>
        <p:grpSpPr bwMode="auto">
          <a:xfrm>
            <a:off x="1177925" y="3622675"/>
            <a:ext cx="7878763" cy="2324100"/>
            <a:chOff x="816902" y="3405188"/>
            <a:chExt cx="7880086" cy="2324100"/>
          </a:xfrm>
        </p:grpSpPr>
        <p:grpSp>
          <p:nvGrpSpPr>
            <p:cNvPr id="416816" name="Group 37"/>
            <p:cNvGrpSpPr>
              <a:grpSpLocks/>
            </p:cNvGrpSpPr>
            <p:nvPr/>
          </p:nvGrpSpPr>
          <p:grpSpPr bwMode="auto">
            <a:xfrm>
              <a:off x="6980636" y="3762376"/>
              <a:ext cx="1716352" cy="1751013"/>
              <a:chOff x="3606" y="1238"/>
              <a:chExt cx="1270" cy="1103"/>
            </a:xfrm>
          </p:grpSpPr>
          <p:sp>
            <p:nvSpPr>
              <p:cNvPr id="416817" name="Line 38"/>
              <p:cNvSpPr>
                <a:spLocks noChangeShapeType="1"/>
              </p:cNvSpPr>
              <p:nvPr/>
            </p:nvSpPr>
            <p:spPr bwMode="auto">
              <a:xfrm>
                <a:off x="3606" y="1752"/>
                <a:ext cx="127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16818" name="Line 39"/>
              <p:cNvSpPr>
                <a:spLocks noChangeShapeType="1"/>
              </p:cNvSpPr>
              <p:nvPr/>
            </p:nvSpPr>
            <p:spPr bwMode="auto">
              <a:xfrm>
                <a:off x="3923" y="2341"/>
                <a:ext cx="9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416819" name="Line 40"/>
              <p:cNvSpPr>
                <a:spLocks noChangeShapeType="1"/>
              </p:cNvSpPr>
              <p:nvPr/>
            </p:nvSpPr>
            <p:spPr bwMode="auto">
              <a:xfrm>
                <a:off x="3923" y="1238"/>
                <a:ext cx="9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 b="1">
                  <a:solidFill>
                    <a:srgbClr val="000099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16820" name="Text Box 41"/>
            <p:cNvSpPr txBox="1">
              <a:spLocks noChangeArrowheads="1"/>
            </p:cNvSpPr>
            <p:nvPr/>
          </p:nvSpPr>
          <p:spPr bwMode="auto">
            <a:xfrm>
              <a:off x="2180696" y="4025900"/>
              <a:ext cx="59824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头端</a:t>
              </a:r>
            </a:p>
          </p:txBody>
        </p:sp>
        <p:sp>
          <p:nvSpPr>
            <p:cNvPr id="416821" name="Rectangle 42"/>
            <p:cNvSpPr>
              <a:spLocks noChangeArrowheads="1"/>
            </p:cNvSpPr>
            <p:nvPr/>
          </p:nvSpPr>
          <p:spPr bwMode="auto">
            <a:xfrm>
              <a:off x="4249606" y="4362450"/>
              <a:ext cx="701675" cy="4318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1:N</a:t>
              </a:r>
            </a:p>
          </p:txBody>
        </p:sp>
        <p:sp>
          <p:nvSpPr>
            <p:cNvPr id="416822" name="Rectangle 43"/>
            <p:cNvSpPr>
              <a:spLocks noChangeArrowheads="1"/>
            </p:cNvSpPr>
            <p:nvPr/>
          </p:nvSpPr>
          <p:spPr bwMode="auto">
            <a:xfrm>
              <a:off x="6824133" y="5297488"/>
              <a:ext cx="701675" cy="431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ONU</a:t>
              </a:r>
            </a:p>
          </p:txBody>
        </p:sp>
        <p:sp>
          <p:nvSpPr>
            <p:cNvPr id="416823" name="Rectangle 44"/>
            <p:cNvSpPr>
              <a:spLocks noChangeArrowheads="1"/>
            </p:cNvSpPr>
            <p:nvPr/>
          </p:nvSpPr>
          <p:spPr bwMode="auto">
            <a:xfrm>
              <a:off x="6824133" y="4362450"/>
              <a:ext cx="701675" cy="431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ONU</a:t>
              </a:r>
            </a:p>
          </p:txBody>
        </p:sp>
        <p:sp>
          <p:nvSpPr>
            <p:cNvPr id="416824" name="Line 45"/>
            <p:cNvSpPr>
              <a:spLocks noChangeShapeType="1"/>
            </p:cNvSpPr>
            <p:nvPr/>
          </p:nvSpPr>
          <p:spPr bwMode="auto">
            <a:xfrm>
              <a:off x="870214" y="4578350"/>
              <a:ext cx="12468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25" name="Rectangle 46"/>
            <p:cNvSpPr>
              <a:spLocks noChangeArrowheads="1"/>
            </p:cNvSpPr>
            <p:nvPr/>
          </p:nvSpPr>
          <p:spPr bwMode="auto">
            <a:xfrm>
              <a:off x="2118783" y="4362450"/>
              <a:ext cx="701675" cy="43180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OLT</a:t>
              </a:r>
            </a:p>
          </p:txBody>
        </p:sp>
        <p:sp>
          <p:nvSpPr>
            <p:cNvPr id="416826" name="Text Box 47"/>
            <p:cNvSpPr txBox="1">
              <a:spLocks noChangeArrowheads="1"/>
            </p:cNvSpPr>
            <p:nvPr/>
          </p:nvSpPr>
          <p:spPr bwMode="auto">
            <a:xfrm>
              <a:off x="816902" y="4217988"/>
              <a:ext cx="101181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光纤干线</a:t>
              </a:r>
            </a:p>
          </p:txBody>
        </p:sp>
        <p:sp>
          <p:nvSpPr>
            <p:cNvPr id="416827" name="Line 48"/>
            <p:cNvSpPr>
              <a:spLocks noChangeShapeType="1"/>
            </p:cNvSpPr>
            <p:nvPr/>
          </p:nvSpPr>
          <p:spPr bwMode="auto">
            <a:xfrm>
              <a:off x="2846256" y="4578350"/>
              <a:ext cx="14033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28" name="Line 49"/>
            <p:cNvSpPr>
              <a:spLocks noChangeShapeType="1"/>
            </p:cNvSpPr>
            <p:nvPr/>
          </p:nvSpPr>
          <p:spPr bwMode="auto">
            <a:xfrm flipV="1">
              <a:off x="4951281" y="3751264"/>
              <a:ext cx="1869413" cy="682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29" name="Line 50"/>
            <p:cNvSpPr>
              <a:spLocks noChangeShapeType="1"/>
            </p:cNvSpPr>
            <p:nvPr/>
          </p:nvSpPr>
          <p:spPr bwMode="auto">
            <a:xfrm>
              <a:off x="4951281" y="4721226"/>
              <a:ext cx="1872853" cy="7921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30" name="Line 51"/>
            <p:cNvSpPr>
              <a:spLocks noChangeShapeType="1"/>
            </p:cNvSpPr>
            <p:nvPr/>
          </p:nvSpPr>
          <p:spPr bwMode="auto">
            <a:xfrm>
              <a:off x="4951281" y="4578350"/>
              <a:ext cx="187285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31" name="Text Box 52"/>
            <p:cNvSpPr txBox="1">
              <a:spLocks noChangeArrowheads="1"/>
            </p:cNvSpPr>
            <p:nvPr/>
          </p:nvSpPr>
          <p:spPr bwMode="auto">
            <a:xfrm rot="5400000">
              <a:off x="7042034" y="4906447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</a:t>
              </a:r>
            </a:p>
          </p:txBody>
        </p:sp>
        <p:sp>
          <p:nvSpPr>
            <p:cNvPr id="416832" name="Rectangle 53"/>
            <p:cNvSpPr>
              <a:spLocks noChangeArrowheads="1"/>
            </p:cNvSpPr>
            <p:nvPr/>
          </p:nvSpPr>
          <p:spPr bwMode="auto">
            <a:xfrm>
              <a:off x="6824133" y="3546475"/>
              <a:ext cx="701675" cy="43180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ONU</a:t>
              </a:r>
            </a:p>
          </p:txBody>
        </p:sp>
        <p:sp>
          <p:nvSpPr>
            <p:cNvPr id="416833" name="Text Box 54"/>
            <p:cNvSpPr txBox="1">
              <a:spLocks noChangeArrowheads="1"/>
            </p:cNvSpPr>
            <p:nvPr/>
          </p:nvSpPr>
          <p:spPr bwMode="auto">
            <a:xfrm>
              <a:off x="3233209" y="4235451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</a:t>
              </a:r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●</a:t>
              </a:r>
            </a:p>
          </p:txBody>
        </p:sp>
        <p:sp>
          <p:nvSpPr>
            <p:cNvPr id="416834" name="Text Box 55"/>
            <p:cNvSpPr txBox="1">
              <a:spLocks noChangeArrowheads="1"/>
            </p:cNvSpPr>
            <p:nvPr/>
          </p:nvSpPr>
          <p:spPr bwMode="auto">
            <a:xfrm>
              <a:off x="5912644" y="4244976"/>
              <a:ext cx="4122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835" name="Text Box 56"/>
            <p:cNvSpPr txBox="1">
              <a:spLocks noChangeArrowheads="1"/>
            </p:cNvSpPr>
            <p:nvPr/>
          </p:nvSpPr>
          <p:spPr bwMode="auto">
            <a:xfrm>
              <a:off x="7993592" y="5154613"/>
              <a:ext cx="417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●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416836" name="Text Box 57"/>
            <p:cNvSpPr txBox="1">
              <a:spLocks noChangeArrowheads="1"/>
            </p:cNvSpPr>
            <p:nvPr/>
          </p:nvSpPr>
          <p:spPr bwMode="auto">
            <a:xfrm rot="1462546">
              <a:off x="5924226" y="4870728"/>
              <a:ext cx="417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●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416837" name="Text Box 58"/>
            <p:cNvSpPr txBox="1">
              <a:spLocks noChangeArrowheads="1"/>
            </p:cNvSpPr>
            <p:nvPr/>
          </p:nvSpPr>
          <p:spPr bwMode="auto">
            <a:xfrm rot="-1261310">
              <a:off x="5903589" y="3653116"/>
              <a:ext cx="417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416838" name="Text Box 59"/>
            <p:cNvSpPr txBox="1">
              <a:spLocks noChangeArrowheads="1"/>
            </p:cNvSpPr>
            <p:nvPr/>
          </p:nvSpPr>
          <p:spPr bwMode="auto">
            <a:xfrm>
              <a:off x="8003911" y="4217988"/>
              <a:ext cx="4122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  <a:sym typeface="Wingdings" panose="05000000000000000000" pitchFamily="2" charset="2"/>
                </a:rPr>
                <a:t></a:t>
              </a:r>
            </a:p>
          </p:txBody>
        </p:sp>
        <p:sp>
          <p:nvSpPr>
            <p:cNvPr id="416839" name="Text Box 60"/>
            <p:cNvSpPr txBox="1">
              <a:spLocks noChangeArrowheads="1"/>
            </p:cNvSpPr>
            <p:nvPr/>
          </p:nvSpPr>
          <p:spPr bwMode="auto">
            <a:xfrm>
              <a:off x="7993592" y="3405188"/>
              <a:ext cx="417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b="1">
                  <a:solidFill>
                    <a:srgbClr val="000099"/>
                  </a:solidFill>
                  <a:ea typeface="黑体" panose="02010609060101010101" pitchFamily="49" charset="-122"/>
                </a:rPr>
                <a:t>★</a:t>
              </a:r>
              <a:endParaRPr lang="en-US" altLang="zh-CN" b="1">
                <a:solidFill>
                  <a:srgbClr val="000099"/>
                </a:solidFill>
                <a:ea typeface="黑体" panose="02010609060101010101" pitchFamily="49" charset="-122"/>
                <a:sym typeface="Wingdings" panose="05000000000000000000" pitchFamily="2" charset="2"/>
              </a:endParaRPr>
            </a:p>
          </p:txBody>
        </p:sp>
        <p:sp>
          <p:nvSpPr>
            <p:cNvPr id="416840" name="Line 61"/>
            <p:cNvSpPr>
              <a:spLocks noChangeShapeType="1"/>
            </p:cNvSpPr>
            <p:nvPr/>
          </p:nvSpPr>
          <p:spPr bwMode="auto">
            <a:xfrm flipH="1">
              <a:off x="2923646" y="4433888"/>
              <a:ext cx="3112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1" name="Line 62"/>
            <p:cNvSpPr>
              <a:spLocks noChangeShapeType="1"/>
            </p:cNvSpPr>
            <p:nvPr/>
          </p:nvSpPr>
          <p:spPr bwMode="auto">
            <a:xfrm rot="9548732">
              <a:off x="5575565" y="4014788"/>
              <a:ext cx="3112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2" name="Line 63"/>
            <p:cNvSpPr>
              <a:spLocks noChangeShapeType="1"/>
            </p:cNvSpPr>
            <p:nvPr/>
          </p:nvSpPr>
          <p:spPr bwMode="auto">
            <a:xfrm flipH="1">
              <a:off x="7682310" y="5370513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3" name="Line 64"/>
            <p:cNvSpPr>
              <a:spLocks noChangeShapeType="1"/>
            </p:cNvSpPr>
            <p:nvPr/>
          </p:nvSpPr>
          <p:spPr bwMode="auto">
            <a:xfrm flipH="1">
              <a:off x="7682310" y="4433888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4" name="Line 65"/>
            <p:cNvSpPr>
              <a:spLocks noChangeShapeType="1"/>
            </p:cNvSpPr>
            <p:nvPr/>
          </p:nvSpPr>
          <p:spPr bwMode="auto">
            <a:xfrm rot="1366384" flipH="1">
              <a:off x="5522252" y="4872038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5" name="Line 66"/>
            <p:cNvSpPr>
              <a:spLocks noChangeShapeType="1"/>
            </p:cNvSpPr>
            <p:nvPr/>
          </p:nvSpPr>
          <p:spPr bwMode="auto">
            <a:xfrm flipH="1">
              <a:off x="5577285" y="4433888"/>
              <a:ext cx="3112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6" name="Line 67"/>
            <p:cNvSpPr>
              <a:spLocks noChangeShapeType="1"/>
            </p:cNvSpPr>
            <p:nvPr/>
          </p:nvSpPr>
          <p:spPr bwMode="auto">
            <a:xfrm flipH="1">
              <a:off x="7687469" y="3614738"/>
              <a:ext cx="3112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7" name="AutoShape 70"/>
            <p:cNvSpPr>
              <a:spLocks noChangeArrowheads="1"/>
            </p:cNvSpPr>
            <p:nvPr/>
          </p:nvSpPr>
          <p:spPr bwMode="auto">
            <a:xfrm>
              <a:off x="1093094" y="3405188"/>
              <a:ext cx="2419746" cy="393701"/>
            </a:xfrm>
            <a:prstGeom prst="wedgeRoundRectCallout">
              <a:avLst>
                <a:gd name="adj1" fmla="val 53481"/>
                <a:gd name="adj2" fmla="val 170352"/>
                <a:gd name="adj3" fmla="val 1666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zh-CN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48" name="Text Box 71"/>
            <p:cNvSpPr txBox="1">
              <a:spLocks noChangeArrowheads="1"/>
            </p:cNvSpPr>
            <p:nvPr/>
          </p:nvSpPr>
          <p:spPr bwMode="auto">
            <a:xfrm>
              <a:off x="1129904" y="3440113"/>
              <a:ext cx="220284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特定 </a:t>
              </a:r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ONU </a:t>
              </a:r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发来的数据</a:t>
              </a:r>
            </a:p>
          </p:txBody>
        </p:sp>
        <p:sp>
          <p:nvSpPr>
            <p:cNvPr id="416849" name="Text Box 73"/>
            <p:cNvSpPr txBox="1">
              <a:spLocks noChangeArrowheads="1"/>
            </p:cNvSpPr>
            <p:nvPr/>
          </p:nvSpPr>
          <p:spPr bwMode="auto">
            <a:xfrm>
              <a:off x="4232920" y="3779748"/>
              <a:ext cx="64953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b="1">
                  <a:solidFill>
                    <a:srgbClr val="C00000"/>
                  </a:solidFill>
                  <a:ea typeface="黑体" panose="02010609060101010101" pitchFamily="49" charset="-122"/>
                </a:rPr>
                <a:t>上行</a:t>
              </a:r>
            </a:p>
          </p:txBody>
        </p:sp>
        <p:sp>
          <p:nvSpPr>
            <p:cNvPr id="416850" name="Line 75"/>
            <p:cNvSpPr>
              <a:spLocks noChangeShapeType="1"/>
            </p:cNvSpPr>
            <p:nvPr/>
          </p:nvSpPr>
          <p:spPr bwMode="auto">
            <a:xfrm flipH="1">
              <a:off x="4172215" y="4159250"/>
              <a:ext cx="779066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16851" name="矩形 1"/>
            <p:cNvSpPr>
              <a:spLocks noChangeArrowheads="1"/>
            </p:cNvSpPr>
            <p:nvPr/>
          </p:nvSpPr>
          <p:spPr bwMode="auto">
            <a:xfrm>
              <a:off x="1496616" y="4869160"/>
              <a:ext cx="205433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OLT</a:t>
              </a:r>
              <a:r>
                <a:rPr lang="zh-CN" altLang="en-US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：</a:t>
              </a:r>
              <a:r>
                <a:rPr lang="zh-CN" altLang="zh-CN" sz="1600" b="1">
                  <a:solidFill>
                    <a:srgbClr val="000099"/>
                  </a:solidFill>
                  <a:ea typeface="黑体" panose="02010609060101010101" pitchFamily="49" charset="-122"/>
                </a:rPr>
                <a:t>光线路终端</a:t>
              </a:r>
              <a:endParaRPr lang="zh-CN" altLang="en-US" sz="1600" b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416852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90204D66-2E37-46DC-8CCF-726DEFCAFCD6}" type="slidenum">
              <a:rPr lang="zh-CN" altLang="en-US" smtClean="0"/>
              <a:pPr/>
              <a:t>49</a:t>
            </a:fld>
            <a:endParaRPr lang="en-US" altLang="zh-CN" smtClean="0"/>
          </a:p>
        </p:txBody>
      </p:sp>
      <p:sp>
        <p:nvSpPr>
          <p:cNvPr id="416853" name="页脚占位符 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 smtClean="0"/>
              <a:t>ppt课件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52700" y="2641814"/>
            <a:ext cx="2448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Optical Line Terminal</a:t>
            </a:r>
          </a:p>
          <a:p>
            <a:r>
              <a:rPr lang="zh-CN" altLang="en-US" dirty="0" smtClean="0"/>
              <a:t>光主干终端</a:t>
            </a:r>
            <a:endParaRPr lang="zh-CN" altLang="en-US" dirty="0"/>
          </a:p>
        </p:txBody>
      </p:sp>
      <p:sp>
        <p:nvSpPr>
          <p:cNvPr id="88" name="文本框 87"/>
          <p:cNvSpPr txBox="1"/>
          <p:nvPr/>
        </p:nvSpPr>
        <p:spPr>
          <a:xfrm>
            <a:off x="4572842" y="2664381"/>
            <a:ext cx="1102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Splitter</a:t>
            </a:r>
            <a:endParaRPr lang="zh-CN" altLang="en-US" dirty="0"/>
          </a:p>
        </p:txBody>
      </p:sp>
      <p:sp>
        <p:nvSpPr>
          <p:cNvPr id="89" name="文本框 88"/>
          <p:cNvSpPr txBox="1"/>
          <p:nvPr/>
        </p:nvSpPr>
        <p:spPr>
          <a:xfrm>
            <a:off x="6538873" y="1733834"/>
            <a:ext cx="2871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Optical Network Unit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41982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z="4000" dirty="0" smtClean="0">
                <a:ea typeface="黑体" panose="02010609060101010101" pitchFamily="49" charset="-122"/>
              </a:rPr>
              <a:t>流行的无源光网络（</a:t>
            </a:r>
            <a:r>
              <a:rPr lang="en-US" altLang="zh-CN" sz="4000" dirty="0" smtClean="0">
                <a:ea typeface="黑体" panose="02010609060101010101" pitchFamily="49" charset="-122"/>
              </a:rPr>
              <a:t>PON</a:t>
            </a:r>
            <a:r>
              <a:rPr lang="zh-CN" altLang="en-US" sz="4000" dirty="0" smtClean="0">
                <a:ea typeface="黑体" panose="02010609060101010101" pitchFamily="49" charset="-122"/>
              </a:rPr>
              <a:t>）</a:t>
            </a:r>
            <a:r>
              <a:rPr lang="en-US" altLang="zh-CN" sz="4000" dirty="0" smtClean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1267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以太网无源光网络</a:t>
            </a:r>
            <a:r>
              <a:rPr lang="en-US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EPON</a:t>
            </a:r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Ethernet PON</a:t>
            </a:r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）</a:t>
            </a:r>
            <a:r>
              <a:rPr lang="zh-CN" altLang="en-US" sz="2800" dirty="0" smtClean="0">
                <a:ea typeface="黑体" panose="02010609060101010101" pitchFamily="49" charset="-122"/>
              </a:rPr>
              <a:t>：</a:t>
            </a:r>
            <a:r>
              <a:rPr lang="en-US" altLang="zh-CN" sz="2800" dirty="0" smtClean="0">
                <a:ea typeface="黑体" panose="02010609060101010101" pitchFamily="49" charset="-122"/>
              </a:rPr>
              <a:t>PON</a:t>
            </a:r>
            <a:r>
              <a:rPr lang="zh-CN" altLang="en-US" sz="2800" dirty="0" smtClean="0">
                <a:ea typeface="黑体" panose="02010609060101010101" pitchFamily="49" charset="-122"/>
              </a:rPr>
              <a:t>拓扑以太网协议，与现有以太网兼容好。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吉比特无源光网络（</a:t>
            </a:r>
            <a:r>
              <a:rPr lang="en-US" altLang="zh-CN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Gigabit PON</a:t>
            </a:r>
            <a:r>
              <a:rPr lang="zh-CN" altLang="en-US" sz="2800" dirty="0" smtClean="0">
                <a:solidFill>
                  <a:srgbClr val="0000CC"/>
                </a:solidFill>
                <a:ea typeface="黑体" panose="02010609060101010101" pitchFamily="49" charset="-122"/>
              </a:rPr>
              <a:t>）</a:t>
            </a:r>
            <a:r>
              <a:rPr lang="zh-CN" altLang="en-US" sz="2800" dirty="0" smtClean="0">
                <a:ea typeface="黑体" panose="02010609060101010101" pitchFamily="49" charset="-122"/>
              </a:rPr>
              <a:t>：采用通用封装方法</a:t>
            </a:r>
            <a:r>
              <a:rPr lang="en-US" altLang="zh-CN" sz="2800" dirty="0" smtClean="0">
                <a:ea typeface="黑体" panose="02010609060101010101" pitchFamily="49" charset="-122"/>
              </a:rPr>
              <a:t>GEM</a:t>
            </a:r>
            <a:r>
              <a:rPr lang="zh-CN" altLang="en-US" sz="2800" dirty="0" smtClean="0">
                <a:ea typeface="黑体" panose="02010609060101010101" pitchFamily="49" charset="-122"/>
              </a:rPr>
              <a:t>（</a:t>
            </a:r>
            <a:r>
              <a:rPr lang="en-US" altLang="zh-CN" sz="2800" dirty="0" smtClean="0">
                <a:ea typeface="黑体" panose="02010609060101010101" pitchFamily="49" charset="-122"/>
              </a:rPr>
              <a:t>Generic Encapsulation Method</a:t>
            </a:r>
            <a:r>
              <a:rPr lang="zh-CN" altLang="en-US" sz="2800" dirty="0" smtClean="0">
                <a:ea typeface="黑体" panose="02010609060101010101" pitchFamily="49" charset="-122"/>
              </a:rPr>
              <a:t>）为业务提供服务质量保证。</a:t>
            </a:r>
          </a:p>
        </p:txBody>
      </p:sp>
      <p:sp>
        <p:nvSpPr>
          <p:cNvPr id="41267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D3D0FCD-14A4-4B66-B271-DD35708ED08B}" type="slidenum">
              <a:rPr lang="zh-CN" altLang="en-US" smtClean="0"/>
              <a:pPr eaLnBrk="1" hangingPunct="1"/>
              <a:t>50</a:t>
            </a:fld>
            <a:endParaRPr lang="en-US" altLang="zh-CN" smtClean="0"/>
          </a:p>
        </p:txBody>
      </p:sp>
      <p:sp>
        <p:nvSpPr>
          <p:cNvPr id="41267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130506036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409</TotalTime>
  <Words>3748</Words>
  <Application>Microsoft Office PowerPoint</Application>
  <PresentationFormat>A4 纸张(210x297 毫米)</PresentationFormat>
  <Paragraphs>934</Paragraphs>
  <Slides>50</Slides>
  <Notes>42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0" baseType="lpstr">
      <vt:lpstr>黑体</vt:lpstr>
      <vt:lpstr>华文行楷</vt:lpstr>
      <vt:lpstr>宋体</vt:lpstr>
      <vt:lpstr>Arial</vt:lpstr>
      <vt:lpstr>Symbol</vt:lpstr>
      <vt:lpstr>Times New Roman</vt:lpstr>
      <vt:lpstr>Wingdings</vt:lpstr>
      <vt:lpstr>Presentation</vt:lpstr>
      <vt:lpstr>Equation.3</vt:lpstr>
      <vt:lpstr>Visio</vt:lpstr>
      <vt:lpstr>第 2 章  物理层</vt:lpstr>
      <vt:lpstr>第 2 章  物理层</vt:lpstr>
      <vt:lpstr>2.4  信道复用技术</vt:lpstr>
      <vt:lpstr>2.4.1  频分复用、时分复用和统计时分复用 </vt:lpstr>
      <vt:lpstr>频分复用 FDM (Frequency Division Multiplexing) </vt:lpstr>
      <vt:lpstr>时分复用TDM (Time Division Multiplexing) </vt:lpstr>
      <vt:lpstr>时分复用TDM </vt:lpstr>
      <vt:lpstr>时分复用可能会造成线路资源的浪费 </vt:lpstr>
      <vt:lpstr>统计时分复用 STDM (Statistic TDM)  </vt:lpstr>
      <vt:lpstr>2.4.2   波分复用 WDM (Wavelength Division Multiplexing)  </vt:lpstr>
      <vt:lpstr>2.4.3   码分复用 CDM (Code Division Multiplexing)  </vt:lpstr>
      <vt:lpstr>码片序列(chip sequence) </vt:lpstr>
      <vt:lpstr>码片序列实现了扩频</vt:lpstr>
      <vt:lpstr>CDMA 的重要特点</vt:lpstr>
      <vt:lpstr>码片序列的正交关系 </vt:lpstr>
      <vt:lpstr>正交关系的另一个重要特性 </vt:lpstr>
      <vt:lpstr>CDMA 的工作原理 </vt:lpstr>
      <vt:lpstr>2.5  数字传输系统</vt:lpstr>
      <vt:lpstr>补充  脉冲编码调制PCM</vt:lpstr>
      <vt:lpstr>脉冲编码调制的工作过程：采样、量化与编码</vt:lpstr>
      <vt:lpstr>补充  脉冲编码调制PCM</vt:lpstr>
      <vt:lpstr>2.5  数字传输系统</vt:lpstr>
      <vt:lpstr>旧的数字传输系统存在许多缺点</vt:lpstr>
      <vt:lpstr>同步光纤网 SONET</vt:lpstr>
      <vt:lpstr> 同步数字系列 SDH </vt:lpstr>
      <vt:lpstr>PowerPoint 演示文稿</vt:lpstr>
      <vt:lpstr>SONET / SDH 标准的意义</vt:lpstr>
      <vt:lpstr>2.6  宽带接入技术</vt:lpstr>
      <vt:lpstr>2.6  宽带接入技术</vt:lpstr>
      <vt:lpstr>2.6  宽带接入技术</vt:lpstr>
      <vt:lpstr>2.6.1  ADSL 技术</vt:lpstr>
      <vt:lpstr>DSL 的几种类型 </vt:lpstr>
      <vt:lpstr>ADSL 的传输距离</vt:lpstr>
      <vt:lpstr>ADSL 的特点</vt:lpstr>
      <vt:lpstr>DMT 技术</vt:lpstr>
      <vt:lpstr>DMT 技术的频谱分布 </vt:lpstr>
      <vt:lpstr>ADSL 的数据率</vt:lpstr>
      <vt:lpstr>ADSL 的组成 </vt:lpstr>
      <vt:lpstr>ADSL好处 </vt:lpstr>
      <vt:lpstr>第二代 ADSL </vt:lpstr>
      <vt:lpstr>家庭无线路由器</vt:lpstr>
      <vt:lpstr>2.6.2  光纤同轴混合网（HFC网）</vt:lpstr>
      <vt:lpstr>HFC 网的主干线路采用光纤</vt:lpstr>
      <vt:lpstr>HFC 网采用结点体系结构 </vt:lpstr>
      <vt:lpstr> HFC 网具有双向传输功能，扩展了传输频带</vt:lpstr>
      <vt:lpstr>每个家庭要安装一个用户接口盒 </vt:lpstr>
      <vt:lpstr>电缆调制解调器 (Cable Modem) </vt:lpstr>
      <vt:lpstr>2.6.3  FTTx 技术 </vt:lpstr>
      <vt:lpstr>PowerPoint 演示文稿</vt:lpstr>
      <vt:lpstr>流行的无源光网络（PON） 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79</cp:revision>
  <dcterms:created xsi:type="dcterms:W3CDTF">2016-10-01T05:27:00Z</dcterms:created>
  <dcterms:modified xsi:type="dcterms:W3CDTF">2024-03-11T00:35:08Z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
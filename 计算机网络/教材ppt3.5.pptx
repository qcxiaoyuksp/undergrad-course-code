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809" r:id="rId2"/>
    <p:sldId id="1810" r:id="rId3"/>
    <p:sldId id="1937" r:id="rId4"/>
    <p:sldId id="1938" r:id="rId5"/>
    <p:sldId id="1939" r:id="rId6"/>
    <p:sldId id="1940" r:id="rId7"/>
    <p:sldId id="1941" r:id="rId8"/>
    <p:sldId id="1942" r:id="rId9"/>
    <p:sldId id="1943" r:id="rId10"/>
    <p:sldId id="1944" r:id="rId11"/>
    <p:sldId id="1945" r:id="rId12"/>
    <p:sldId id="1946" r:id="rId13"/>
    <p:sldId id="1947" r:id="rId14"/>
    <p:sldId id="1948" r:id="rId15"/>
    <p:sldId id="1949" r:id="rId16"/>
    <p:sldId id="1950" r:id="rId17"/>
    <p:sldId id="1951" r:id="rId18"/>
    <p:sldId id="1952" r:id="rId19"/>
    <p:sldId id="1953" r:id="rId20"/>
    <p:sldId id="1954" r:id="rId21"/>
    <p:sldId id="1955" r:id="rId22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58A105-5E07-446B-8990-00D69245B64F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BA5397-C7A1-43D3-8DDD-A7EEA2B9C98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02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02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C292EF-7FA2-4B55-B049-016943966C0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2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D5E0BA-0CB9-41DB-8A91-8FC81850E9C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26504F-30F5-4EEC-AD1C-67E73718CF6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63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6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8214D7-20CB-4103-BB19-8AB2B3BD167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584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584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BD8D59-E366-4A8B-B6F5-9A1C1E2988D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04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0F8D92-1839-4FF4-AEC0-76000B95582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25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730D58-A910-4A9D-B30E-CA89A0E545D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45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4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D3E8C0-A140-4CA8-BB58-36F95463277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66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66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E8602D5-1C97-4CEE-A69D-CC180447228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86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2FF0FD-41F3-4A37-B738-5B28E69872F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D9ADF6-D2D5-4C34-AC91-DDABDC5822D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476B16-156B-462A-B2C3-ECC5896DCF8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6778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49" charset="-122"/>
              </a:rPr>
              <a:t>3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49" charset="-122"/>
              </a:rPr>
              <a:t>章  </a:t>
            </a:r>
            <a:r>
              <a:rPr lang="zh-CN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数据链路层</a:t>
            </a:r>
            <a:endParaRPr lang="zh-CN" altLang="en-US" dirty="0" smtClean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779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49" charset="-122"/>
                <a:ea typeface="宋体" panose="02010600030101010101" pitchFamily="2" charset="-122"/>
              </a:rPr>
              <a:t>3.5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417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24FFEA-0416-4593-B51A-3B084525AE1E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417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3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zh-CN" smtClean="0">
                <a:ea typeface="黑体" panose="02010609060101010101" pitchFamily="49" charset="-122"/>
              </a:rPr>
              <a:t>数据链路层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41984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3.5  </a:t>
            </a:r>
            <a:r>
              <a:rPr lang="zh-CN" altLang="zh-CN" dirty="0" smtClean="0">
                <a:ea typeface="黑体" panose="02010609060101010101" pitchFamily="49" charset="-122"/>
              </a:rPr>
              <a:t>高速以太网</a:t>
            </a:r>
          </a:p>
        </p:txBody>
      </p:sp>
      <p:sp>
        <p:nvSpPr>
          <p:cNvPr id="41984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3C2D96E-D724-421B-ABD3-F3FE8704E888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41984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  </a:t>
            </a:r>
            <a:r>
              <a:rPr lang="zh-CN" altLang="zh-CN" smtClean="0">
                <a:ea typeface="黑体" panose="02010609060101010101" pitchFamily="49" charset="-122"/>
              </a:rPr>
              <a:t>高速以太网</a:t>
            </a:r>
          </a:p>
        </p:txBody>
      </p:sp>
      <p:sp>
        <p:nvSpPr>
          <p:cNvPr id="64819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3.5.1  100BASE-T </a:t>
            </a:r>
            <a:r>
              <a:rPr lang="zh-CN" altLang="zh-CN" smtClean="0">
                <a:ea typeface="黑体" panose="02010609060101010101" pitchFamily="49" charset="-122"/>
              </a:rPr>
              <a:t>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3.5.2  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3.5.3  10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  <a:r>
              <a:rPr lang="en-US" altLang="zh-CN" smtClean="0">
                <a:ea typeface="黑体" panose="02010609060101010101" pitchFamily="49" charset="-122"/>
              </a:rPr>
              <a:t> (10GE) </a:t>
            </a:r>
            <a:r>
              <a:rPr lang="zh-CN" altLang="zh-CN" smtClean="0">
                <a:ea typeface="黑体" panose="02010609060101010101" pitchFamily="49" charset="-122"/>
              </a:rPr>
              <a:t>和更快的以太网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3.5.4  </a:t>
            </a:r>
            <a:r>
              <a:rPr lang="zh-CN" altLang="zh-CN" smtClean="0">
                <a:ea typeface="黑体" panose="02010609060101010101" pitchFamily="49" charset="-122"/>
              </a:rPr>
              <a:t>使用以太网进行宽带接入</a:t>
            </a:r>
          </a:p>
        </p:txBody>
      </p:sp>
      <p:sp>
        <p:nvSpPr>
          <p:cNvPr id="64819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73F40D-25AC-4717-8F8D-9BCB1B0A2CF6}" type="slidenum">
              <a:rPr lang="zh-CN" altLang="en-US" smtClean="0"/>
              <a:pPr eaLnBrk="1" hangingPunct="1"/>
              <a:t>3</a:t>
            </a:fld>
            <a:endParaRPr lang="en-US" altLang="zh-CN" smtClean="0"/>
          </a:p>
        </p:txBody>
      </p:sp>
      <p:sp>
        <p:nvSpPr>
          <p:cNvPr id="64819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3.5.1  100BASE-T </a:t>
            </a:r>
            <a:r>
              <a:rPr lang="zh-CN" altLang="zh-CN" smtClean="0">
                <a:ea typeface="黑体" panose="02010609060101010101" pitchFamily="49" charset="-122"/>
              </a:rPr>
              <a:t>以太网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速率达到或超过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100 Mbit/s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的以太网称为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高速以太网。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在双绞线上传送 </a:t>
            </a:r>
            <a:r>
              <a:rPr lang="en-US" altLang="zh-CN" dirty="0" smtClean="0">
                <a:ea typeface="黑体" panose="02010609060101010101" pitchFamily="49" charset="-122"/>
              </a:rPr>
              <a:t>100 Mbit/s </a:t>
            </a:r>
            <a:r>
              <a:rPr lang="zh-CN" altLang="en-US" dirty="0" smtClean="0">
                <a:ea typeface="黑体" panose="02010609060101010101" pitchFamily="49" charset="-122"/>
              </a:rPr>
              <a:t>基带信号的星形拓扑以太网，仍使用 </a:t>
            </a:r>
            <a:r>
              <a:rPr lang="en-US" altLang="zh-CN" dirty="0" smtClean="0">
                <a:ea typeface="黑体" panose="02010609060101010101" pitchFamily="49" charset="-122"/>
              </a:rPr>
              <a:t>IEEE 802.3 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en-US" altLang="zh-CN" dirty="0" smtClean="0"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ea typeface="黑体" panose="02010609060101010101" pitchFamily="49" charset="-122"/>
              </a:rPr>
              <a:t>协议。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以太网又称为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快速以太网 </a:t>
            </a:r>
            <a:r>
              <a:rPr lang="en-US" altLang="zh-CN" dirty="0" smtClean="0">
                <a:ea typeface="黑体" panose="02010609060101010101" pitchFamily="49" charset="-122"/>
              </a:rPr>
              <a:t>(Fast Ethernet)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1995 </a:t>
            </a:r>
            <a:r>
              <a:rPr lang="zh-CN" altLang="zh-CN" dirty="0" smtClean="0">
                <a:ea typeface="黑体" panose="02010609060101010101" pitchFamily="49" charset="-122"/>
              </a:rPr>
              <a:t>年</a:t>
            </a:r>
            <a:r>
              <a:rPr lang="en-US" altLang="zh-CN" dirty="0" smtClean="0">
                <a:ea typeface="黑体" panose="02010609060101010101" pitchFamily="49" charset="-122"/>
              </a:rPr>
              <a:t>IEEE</a:t>
            </a:r>
            <a:r>
              <a:rPr lang="zh-CN" altLang="zh-CN" dirty="0" smtClean="0">
                <a:ea typeface="黑体" panose="02010609060101010101" pitchFamily="49" charset="-122"/>
              </a:rPr>
              <a:t>已把</a:t>
            </a:r>
            <a:r>
              <a:rPr lang="en-US" altLang="zh-CN" dirty="0" smtClean="0">
                <a:ea typeface="黑体" panose="02010609060101010101" pitchFamily="49" charset="-122"/>
              </a:rPr>
              <a:t> 100BASE-T </a:t>
            </a:r>
            <a:r>
              <a:rPr lang="zh-CN" altLang="zh-CN" dirty="0" smtClean="0">
                <a:ea typeface="黑体" panose="02010609060101010101" pitchFamily="49" charset="-122"/>
              </a:rPr>
              <a:t>的快速以太网定为正式标准，其代号为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IEEE 802.3u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492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07EA05-C267-4785-A1DC-3C2190BE758E}" type="slidenum">
              <a:rPr lang="zh-CN" altLang="en-US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6492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100BASE-T </a:t>
            </a:r>
            <a:r>
              <a:rPr lang="zh-CN" altLang="en-US" smtClean="0">
                <a:ea typeface="黑体" panose="02010609060101010101" pitchFamily="49" charset="-122"/>
              </a:rPr>
              <a:t>以太网的特点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可在全双工方式下工作而无冲突发生。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在全双工方式下工作时，不使用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协议。</a:t>
            </a:r>
          </a:p>
          <a:p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MAC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帧格式仍然是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802.3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标准规定的。</a:t>
            </a:r>
          </a:p>
          <a:p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保持最短帧长不变，但将一个网段的最大电缆长度减小到 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100 m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帧间时间间隔从原来的 </a:t>
            </a:r>
            <a:r>
              <a:rPr lang="en-US" altLang="zh-CN" dirty="0" smtClean="0">
                <a:ea typeface="黑体" panose="02010609060101010101" pitchFamily="49" charset="-122"/>
              </a:rPr>
              <a:t>9.6 </a:t>
            </a:r>
            <a:r>
              <a:rPr lang="en-US" altLang="zh-CN" dirty="0" smtClean="0"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lang="en-US" altLang="zh-CN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改为现在的 </a:t>
            </a:r>
            <a:r>
              <a:rPr lang="en-US" altLang="zh-CN" dirty="0" smtClean="0">
                <a:ea typeface="黑体" panose="02010609060101010101" pitchFamily="49" charset="-122"/>
              </a:rPr>
              <a:t>0.96 </a:t>
            </a:r>
            <a:r>
              <a:rPr lang="en-US" altLang="zh-CN" dirty="0" smtClean="0">
                <a:ea typeface="黑体" panose="02010609060101010101" pitchFamily="49" charset="-122"/>
                <a:sym typeface="Symbol" panose="05050102010706020507" pitchFamily="18" charset="2"/>
              </a:rPr>
              <a:t></a:t>
            </a:r>
            <a:r>
              <a:rPr lang="en-US" altLang="zh-CN" dirty="0" smtClean="0">
                <a:ea typeface="黑体" panose="02010609060101010101" pitchFamily="49" charset="-122"/>
              </a:rPr>
              <a:t>s</a:t>
            </a:r>
            <a:r>
              <a:rPr lang="zh-CN" altLang="en-US" dirty="0" smtClean="0">
                <a:ea typeface="黑体" panose="02010609060101010101" pitchFamily="49" charset="-122"/>
              </a:rPr>
              <a:t>。 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争用</a:t>
            </a:r>
            <a:r>
              <a:rPr lang="zh-CN" altLang="en-US" dirty="0" smtClean="0">
                <a:ea typeface="黑体" panose="02010609060101010101" pitchFamily="49" charset="-122"/>
              </a:rPr>
              <a:t>期</a:t>
            </a:r>
            <a:r>
              <a:rPr lang="en-US" altLang="zh-CN" dirty="0" smtClean="0">
                <a:ea typeface="黑体" panose="02010609060101010101" pitchFamily="49" charset="-122"/>
              </a:rPr>
              <a:t>5.12us</a:t>
            </a:r>
            <a:r>
              <a:rPr lang="zh-CN" altLang="en-US" dirty="0" smtClean="0"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6512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20A157-B669-46A4-86FB-DA8316BD20B5}" type="slidenum">
              <a:rPr lang="zh-CN" altLang="en-US" smtClean="0"/>
              <a:pPr eaLnBrk="1" hangingPunct="1"/>
              <a:t>5</a:t>
            </a:fld>
            <a:endParaRPr lang="en-US" altLang="zh-CN" smtClean="0"/>
          </a:p>
        </p:txBody>
      </p:sp>
      <p:sp>
        <p:nvSpPr>
          <p:cNvPr id="6512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3200" smtClean="0">
                <a:ea typeface="黑体" panose="02010609060101010101" pitchFamily="49" charset="-122"/>
              </a:rPr>
              <a:t>100 Mbit/s </a:t>
            </a:r>
            <a:r>
              <a:rPr lang="zh-CN" altLang="en-US" sz="3200" smtClean="0">
                <a:ea typeface="黑体" panose="02010609060101010101" pitchFamily="49" charset="-122"/>
              </a:rPr>
              <a:t>以太网的三种不同的物理层标准 </a:t>
            </a:r>
          </a:p>
        </p:txBody>
      </p:sp>
      <p:sp>
        <p:nvSpPr>
          <p:cNvPr id="65331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100BASE-TX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UTP 5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 或 屏蔽双绞线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STP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en-US" altLang="zh-CN" smtClean="0">
                <a:ea typeface="黑体" panose="02010609060101010101" pitchFamily="49" charset="-122"/>
              </a:rPr>
              <a:t>100BASE-T4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4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UTP 3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 或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5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类线。 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100BASE-FX 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使用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对光纤。 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网段最大程度：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2000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米。</a:t>
            </a:r>
          </a:p>
        </p:txBody>
      </p:sp>
      <p:sp>
        <p:nvSpPr>
          <p:cNvPr id="65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905667-FBFC-4E86-AA87-825507F93538}" type="slidenum">
              <a:rPr lang="zh-CN" altLang="en-US" smtClean="0"/>
              <a:pPr eaLnBrk="1" hangingPunct="1"/>
              <a:t>6</a:t>
            </a:fld>
            <a:endParaRPr lang="en-US" altLang="zh-CN" smtClean="0"/>
          </a:p>
        </p:txBody>
      </p:sp>
      <p:sp>
        <p:nvSpPr>
          <p:cNvPr id="65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3.5.2  </a:t>
            </a:r>
            <a:r>
              <a:rPr lang="zh-CN" altLang="zh-CN" smtClean="0">
                <a:ea typeface="黑体" panose="02010609060101010101" pitchFamily="49" charset="-122"/>
              </a:rPr>
              <a:t>吉比特以太网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允许在 </a:t>
            </a:r>
            <a:r>
              <a:rPr lang="en-US" altLang="zh-CN" dirty="0" smtClean="0">
                <a:ea typeface="黑体" panose="02010609060101010101" pitchFamily="49" charset="-122"/>
              </a:rPr>
              <a:t>1 </a:t>
            </a:r>
            <a:r>
              <a:rPr lang="en-US" altLang="zh-CN" dirty="0" err="1" smtClean="0">
                <a:ea typeface="黑体" panose="02010609060101010101" pitchFamily="49" charset="-122"/>
              </a:rPr>
              <a:t>Gbit</a:t>
            </a:r>
            <a:r>
              <a:rPr lang="en-US" altLang="zh-CN" dirty="0" smtClean="0">
                <a:ea typeface="黑体" panose="02010609060101010101" pitchFamily="49" charset="-122"/>
              </a:rPr>
              <a:t>/s </a:t>
            </a:r>
            <a:r>
              <a:rPr lang="zh-CN" altLang="en-US" dirty="0" smtClean="0">
                <a:ea typeface="黑体" panose="02010609060101010101" pitchFamily="49" charset="-122"/>
              </a:rPr>
              <a:t>下以全双工和半双工两种方式工作。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使用 </a:t>
            </a:r>
            <a:r>
              <a:rPr lang="en-US" altLang="zh-CN" dirty="0" smtClean="0">
                <a:ea typeface="黑体" panose="02010609060101010101" pitchFamily="49" charset="-122"/>
              </a:rPr>
              <a:t>IEEE 802.3 </a:t>
            </a:r>
            <a:r>
              <a:rPr lang="zh-CN" altLang="en-US" dirty="0" smtClean="0">
                <a:ea typeface="黑体" panose="02010609060101010101" pitchFamily="49" charset="-122"/>
              </a:rPr>
              <a:t>协议规定的帧格式。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在半双工方式下使用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协议，全双工方式不使用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dirty="0" smtClean="0">
                <a:ea typeface="黑体" panose="02010609060101010101" pitchFamily="49" charset="-122"/>
              </a:rPr>
              <a:t>10BASE-T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100BASE-T </a:t>
            </a:r>
            <a:r>
              <a:rPr lang="zh-CN" altLang="en-US" dirty="0" smtClean="0">
                <a:ea typeface="黑体" panose="02010609060101010101" pitchFamily="49" charset="-122"/>
              </a:rPr>
              <a:t>技术向后兼容。</a:t>
            </a:r>
          </a:p>
        </p:txBody>
      </p:sp>
      <p:sp>
        <p:nvSpPr>
          <p:cNvPr id="655363" name="矩形 1"/>
          <p:cNvSpPr>
            <a:spLocks noChangeArrowheads="1"/>
          </p:cNvSpPr>
          <p:nvPr/>
        </p:nvSpPr>
        <p:spPr bwMode="auto">
          <a:xfrm>
            <a:off x="1065213" y="4724400"/>
            <a:ext cx="7920037" cy="104140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600"/>
              </a:spcBef>
            </a:pP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吉比特以太网可用作现有网络的主干网，也可在高带宽（高速率）的应用场合中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5536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637932-FBE3-44BF-943F-A6E2E4451BA9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655365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吉比特以太网的物理层 </a:t>
            </a:r>
          </a:p>
        </p:txBody>
      </p:sp>
      <p:sp>
        <p:nvSpPr>
          <p:cNvPr id="65741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使用两种成熟的技术：</a:t>
            </a:r>
            <a:r>
              <a:rPr lang="zh-CN" altLang="zh-CN" sz="2800" dirty="0" smtClean="0">
                <a:ea typeface="黑体" panose="02010609060101010101" pitchFamily="49" charset="-122"/>
              </a:rPr>
              <a:t>一种来自现有的以太网，另一种则是美国国家标准协会</a:t>
            </a:r>
            <a:r>
              <a:rPr lang="en-US" altLang="zh-CN" sz="2800" dirty="0" smtClean="0">
                <a:ea typeface="黑体" panose="02010609060101010101" pitchFamily="49" charset="-122"/>
              </a:rPr>
              <a:t> ANSI </a:t>
            </a:r>
            <a:r>
              <a:rPr lang="zh-CN" altLang="zh-CN" sz="2800" dirty="0" smtClean="0">
                <a:ea typeface="黑体" panose="02010609060101010101" pitchFamily="49" charset="-122"/>
              </a:rPr>
              <a:t>制定的光纤通道</a:t>
            </a:r>
            <a:r>
              <a:rPr lang="en-US" altLang="zh-CN" sz="2800" dirty="0" smtClean="0">
                <a:ea typeface="黑体" panose="02010609060101010101" pitchFamily="49" charset="-122"/>
              </a:rPr>
              <a:t> FC  (Fiber Channel)</a:t>
            </a:r>
            <a:r>
              <a:rPr lang="zh-CN" altLang="zh-CN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04850" y="3159125"/>
          <a:ext cx="8856662" cy="2501899"/>
        </p:xfrm>
        <a:graphic>
          <a:graphicData uri="http://schemas.openxmlformats.org/drawingml/2006/table">
            <a:tbl>
              <a:tblPr firstRow="1" firstCol="1" bandRow="1"/>
              <a:tblGrid>
                <a:gridCol w="244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0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46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名称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媒体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网段最大长度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特点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1000BASE-SX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550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多模光纤（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和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62.5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91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1000BASE-LX</a:t>
                      </a:r>
                      <a:endParaRPr lang="zh-CN" sz="2000" b="1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5000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）多模光纤（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50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和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62.5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1000BASE-CX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25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2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对屏蔽双绞线电缆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STP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7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1000BASE-T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UTP 5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类线</a:t>
                      </a:r>
                      <a:endParaRPr lang="zh-CN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78" marR="6857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7443" name="Rectangle 1"/>
          <p:cNvSpPr>
            <a:spLocks noChangeArrowheads="1"/>
          </p:cNvSpPr>
          <p:nvPr/>
        </p:nvSpPr>
        <p:spPr bwMode="auto">
          <a:xfrm>
            <a:off x="2576513" y="2679700"/>
            <a:ext cx="5040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吉比特以太网物理层标准</a:t>
            </a:r>
          </a:p>
        </p:txBody>
      </p:sp>
      <p:sp>
        <p:nvSpPr>
          <p:cNvPr id="6574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85EFCA-E20F-49D7-8E36-BF494018BA9D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65744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半双工方式工作的吉比特以太网</a:t>
            </a:r>
          </a:p>
        </p:txBody>
      </p:sp>
      <p:sp>
        <p:nvSpPr>
          <p:cNvPr id="6594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吉比特以太网工作在半双工方式时，就必须进行碰撞检测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为</a:t>
            </a:r>
            <a:r>
              <a:rPr lang="zh-CN" altLang="zh-CN" dirty="0" smtClean="0">
                <a:ea typeface="黑体" panose="02010609060101010101" pitchFamily="49" charset="-122"/>
              </a:rPr>
              <a:t>保持</a:t>
            </a:r>
            <a:r>
              <a:rPr lang="en-US" altLang="zh-CN" dirty="0" smtClean="0">
                <a:ea typeface="黑体" panose="02010609060101010101" pitchFamily="49" charset="-122"/>
              </a:rPr>
              <a:t> 64 </a:t>
            </a:r>
            <a:r>
              <a:rPr lang="zh-CN" altLang="en-US" dirty="0" smtClean="0">
                <a:ea typeface="黑体" panose="02010609060101010101" pitchFamily="49" charset="-122"/>
              </a:rPr>
              <a:t>字节最小帧长度，以及 </a:t>
            </a:r>
            <a:r>
              <a:rPr lang="en-US" altLang="zh-CN" dirty="0" smtClean="0">
                <a:ea typeface="黑体" panose="02010609060101010101" pitchFamily="49" charset="-122"/>
              </a:rPr>
              <a:t>100 </a:t>
            </a:r>
            <a:r>
              <a:rPr lang="zh-CN" altLang="en-US" dirty="0" smtClean="0">
                <a:ea typeface="黑体" panose="02010609060101010101" pitchFamily="49" charset="-122"/>
              </a:rPr>
              <a:t>米的</a:t>
            </a:r>
            <a:r>
              <a:rPr lang="zh-CN" altLang="zh-CN" dirty="0" smtClean="0">
                <a:ea typeface="黑体" panose="02010609060101010101" pitchFamily="49" charset="-122"/>
              </a:rPr>
              <a:t>网段的最大长度，吉比特以太网</a:t>
            </a:r>
            <a:r>
              <a:rPr lang="zh-CN" altLang="en-US" dirty="0" smtClean="0">
                <a:ea typeface="黑体" panose="02010609060101010101" pitchFamily="49" charset="-122"/>
              </a:rPr>
              <a:t>增加了两个功能：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载波延伸</a:t>
            </a:r>
            <a:r>
              <a:rPr lang="en-US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(carrier extension)</a:t>
            </a:r>
          </a:p>
          <a:p>
            <a:pPr lvl="1"/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分组突发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(packet bursting)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6594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6E42D4-A294-4227-9BA4-D71A488FCF74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6594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载波延伸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615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342900" lvl="1" indent="-342900">
              <a:buClr>
                <a:srgbClr val="333399"/>
              </a:buClr>
              <a:buSzPct val="75000"/>
            </a:pPr>
            <a:r>
              <a:rPr lang="zh-CN" altLang="en-US" dirty="0" smtClean="0">
                <a:ea typeface="黑体" panose="02010609060101010101" pitchFamily="49" charset="-122"/>
              </a:rPr>
              <a:t>使最短帧长仍为 64 字节（这样可以保持兼容性），同时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将争用时间增大为 512 字节。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凡发送的 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帧长不足 512 字节时，就用一些特殊字符填充在帧的后面，使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帧的发送长度增大到 512 字节。接收端在收到以太网的 </a:t>
            </a:r>
            <a:r>
              <a:rPr lang="en-US" altLang="zh-CN" sz="2800" dirty="0" smtClean="0">
                <a:ea typeface="黑体" panose="02010609060101010101" pitchFamily="49" charset="-122"/>
              </a:rPr>
              <a:t>MAC </a:t>
            </a:r>
            <a:r>
              <a:rPr lang="zh-CN" altLang="en-US" sz="2800" dirty="0" smtClean="0">
                <a:ea typeface="黑体" panose="02010609060101010101" pitchFamily="49" charset="-122"/>
              </a:rPr>
              <a:t>帧后，要将所填充的特殊字符删除后才向高层交付。</a:t>
            </a:r>
          </a:p>
          <a:p>
            <a:pPr marL="342900" lvl="1" indent="-342900">
              <a:buClr>
                <a:srgbClr val="333399"/>
              </a:buClr>
              <a:buSzPct val="75000"/>
            </a:pPr>
            <a:endParaRPr lang="zh-CN" altLang="en-US" dirty="0" smtClean="0">
              <a:ea typeface="黑体" panose="02010609060101010101" pitchFamily="49" charset="-122"/>
            </a:endParaRP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grpSp>
        <p:nvGrpSpPr>
          <p:cNvPr id="661507" name="组合 2"/>
          <p:cNvGrpSpPr>
            <a:grpSpLocks/>
          </p:cNvGrpSpPr>
          <p:nvPr/>
        </p:nvGrpSpPr>
        <p:grpSpPr bwMode="auto">
          <a:xfrm>
            <a:off x="1497013" y="4292600"/>
            <a:ext cx="7419975" cy="1657350"/>
            <a:chOff x="1496616" y="4221088"/>
            <a:chExt cx="7419975" cy="1656184"/>
          </a:xfrm>
        </p:grpSpPr>
        <p:sp>
          <p:nvSpPr>
            <p:cNvPr id="661508" name="Line 5"/>
            <p:cNvSpPr>
              <a:spLocks noChangeShapeType="1"/>
            </p:cNvSpPr>
            <p:nvPr/>
          </p:nvSpPr>
          <p:spPr bwMode="auto">
            <a:xfrm>
              <a:off x="1504553" y="5648672"/>
              <a:ext cx="7412038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09" name="Line 6"/>
            <p:cNvSpPr>
              <a:spLocks noChangeShapeType="1"/>
            </p:cNvSpPr>
            <p:nvPr/>
          </p:nvSpPr>
          <p:spPr bwMode="auto">
            <a:xfrm>
              <a:off x="1496616" y="4259188"/>
              <a:ext cx="0" cy="560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0" name="Rectangle 7"/>
            <p:cNvSpPr>
              <a:spLocks noChangeArrowheads="1"/>
            </p:cNvSpPr>
            <p:nvPr/>
          </p:nvSpPr>
          <p:spPr bwMode="auto">
            <a:xfrm>
              <a:off x="1496616" y="4227438"/>
              <a:ext cx="7419975" cy="576263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1" name="Line 8"/>
            <p:cNvSpPr>
              <a:spLocks noChangeShapeType="1"/>
            </p:cNvSpPr>
            <p:nvPr/>
          </p:nvSpPr>
          <p:spPr bwMode="auto">
            <a:xfrm>
              <a:off x="274756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2" name="Line 9"/>
            <p:cNvSpPr>
              <a:spLocks noChangeShapeType="1"/>
            </p:cNvSpPr>
            <p:nvPr/>
          </p:nvSpPr>
          <p:spPr bwMode="auto">
            <a:xfrm>
              <a:off x="399851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3" name="Line 10"/>
            <p:cNvSpPr>
              <a:spLocks noChangeShapeType="1"/>
            </p:cNvSpPr>
            <p:nvPr/>
          </p:nvSpPr>
          <p:spPr bwMode="auto">
            <a:xfrm>
              <a:off x="5247878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4" name="Line 11"/>
            <p:cNvSpPr>
              <a:spLocks noChangeShapeType="1"/>
            </p:cNvSpPr>
            <p:nvPr/>
          </p:nvSpPr>
          <p:spPr bwMode="auto">
            <a:xfrm>
              <a:off x="6500416" y="422743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15" name="Rectangle 12"/>
            <p:cNvSpPr>
              <a:spLocks noChangeArrowheads="1"/>
            </p:cNvSpPr>
            <p:nvPr/>
          </p:nvSpPr>
          <p:spPr bwMode="auto">
            <a:xfrm>
              <a:off x="1558528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目地地址</a:t>
              </a:r>
            </a:p>
          </p:txBody>
        </p:sp>
        <p:sp>
          <p:nvSpPr>
            <p:cNvPr id="661516" name="Rectangle 13"/>
            <p:cNvSpPr>
              <a:spLocks noChangeArrowheads="1"/>
            </p:cNvSpPr>
            <p:nvPr/>
          </p:nvSpPr>
          <p:spPr bwMode="auto">
            <a:xfrm>
              <a:off x="2907903" y="4290938"/>
              <a:ext cx="956994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源地址</a:t>
              </a:r>
            </a:p>
          </p:txBody>
        </p:sp>
        <p:sp>
          <p:nvSpPr>
            <p:cNvPr id="661517" name="Rectangle 14"/>
            <p:cNvSpPr>
              <a:spLocks noChangeArrowheads="1"/>
            </p:cNvSpPr>
            <p:nvPr/>
          </p:nvSpPr>
          <p:spPr bwMode="auto">
            <a:xfrm>
              <a:off x="4027091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数据长度</a:t>
              </a:r>
            </a:p>
          </p:txBody>
        </p:sp>
        <p:sp>
          <p:nvSpPr>
            <p:cNvPr id="661518" name="Rectangle 15"/>
            <p:cNvSpPr>
              <a:spLocks noChangeArrowheads="1"/>
            </p:cNvSpPr>
            <p:nvPr/>
          </p:nvSpPr>
          <p:spPr bwMode="auto">
            <a:xfrm>
              <a:off x="5428853" y="4290938"/>
              <a:ext cx="981039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数    据</a:t>
              </a:r>
            </a:p>
          </p:txBody>
        </p:sp>
        <p:sp>
          <p:nvSpPr>
            <p:cNvPr id="661519" name="Rectangle 16"/>
            <p:cNvSpPr>
              <a:spLocks noChangeArrowheads="1"/>
            </p:cNvSpPr>
            <p:nvPr/>
          </p:nvSpPr>
          <p:spPr bwMode="auto">
            <a:xfrm>
              <a:off x="6513116" y="4290938"/>
              <a:ext cx="69730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FCS</a:t>
              </a:r>
            </a:p>
          </p:txBody>
        </p:sp>
        <p:sp>
          <p:nvSpPr>
            <p:cNvPr id="661520" name="Line 17"/>
            <p:cNvSpPr>
              <a:spLocks noChangeShapeType="1"/>
            </p:cNvSpPr>
            <p:nvPr/>
          </p:nvSpPr>
          <p:spPr bwMode="auto">
            <a:xfrm>
              <a:off x="1498203" y="5108922"/>
              <a:ext cx="5751513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1" name="Rectangle 18"/>
            <p:cNvSpPr>
              <a:spLocks noChangeArrowheads="1"/>
            </p:cNvSpPr>
            <p:nvPr/>
          </p:nvSpPr>
          <p:spPr bwMode="auto">
            <a:xfrm>
              <a:off x="2831703" y="4921597"/>
              <a:ext cx="3290967" cy="39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MAC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帧的最小值 = 64 字节</a:t>
              </a:r>
            </a:p>
          </p:txBody>
        </p:sp>
        <p:sp>
          <p:nvSpPr>
            <p:cNvPr id="661522" name="Line 19"/>
            <p:cNvSpPr>
              <a:spLocks noChangeShapeType="1"/>
            </p:cNvSpPr>
            <p:nvPr/>
          </p:nvSpPr>
          <p:spPr bwMode="auto">
            <a:xfrm>
              <a:off x="1498203" y="4918422"/>
              <a:ext cx="0" cy="958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3" name="Line 20"/>
            <p:cNvSpPr>
              <a:spLocks noChangeShapeType="1"/>
            </p:cNvSpPr>
            <p:nvPr/>
          </p:nvSpPr>
          <p:spPr bwMode="auto">
            <a:xfrm>
              <a:off x="7249716" y="4918422"/>
              <a:ext cx="0" cy="384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4" name="Line 21"/>
            <p:cNvSpPr>
              <a:spLocks noChangeShapeType="1"/>
            </p:cNvSpPr>
            <p:nvPr/>
          </p:nvSpPr>
          <p:spPr bwMode="auto">
            <a:xfrm>
              <a:off x="7249716" y="4221088"/>
              <a:ext cx="0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5" name="Rectangle 22"/>
            <p:cNvSpPr>
              <a:spLocks noChangeArrowheads="1"/>
            </p:cNvSpPr>
            <p:nvPr/>
          </p:nvSpPr>
          <p:spPr bwMode="auto">
            <a:xfrm>
              <a:off x="7249716" y="4238551"/>
              <a:ext cx="1652587" cy="549275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1526" name="Rectangle 23"/>
            <p:cNvSpPr>
              <a:spLocks noChangeArrowheads="1"/>
            </p:cNvSpPr>
            <p:nvPr/>
          </p:nvSpPr>
          <p:spPr bwMode="auto">
            <a:xfrm>
              <a:off x="7564041" y="4290938"/>
              <a:ext cx="1215077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载波延伸</a:t>
              </a:r>
            </a:p>
          </p:txBody>
        </p:sp>
        <p:sp>
          <p:nvSpPr>
            <p:cNvPr id="661527" name="Rectangle 27"/>
            <p:cNvSpPr>
              <a:spLocks noChangeArrowheads="1"/>
            </p:cNvSpPr>
            <p:nvPr/>
          </p:nvSpPr>
          <p:spPr bwMode="auto">
            <a:xfrm>
              <a:off x="2072680" y="5420072"/>
              <a:ext cx="6375144" cy="39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7620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加上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载波延伸使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MAC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帧长度 =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争用期长度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=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512 字节</a:t>
              </a:r>
            </a:p>
          </p:txBody>
        </p:sp>
        <p:sp>
          <p:nvSpPr>
            <p:cNvPr id="661528" name="Line 19"/>
            <p:cNvSpPr>
              <a:spLocks noChangeShapeType="1"/>
            </p:cNvSpPr>
            <p:nvPr/>
          </p:nvSpPr>
          <p:spPr bwMode="auto">
            <a:xfrm>
              <a:off x="8916591" y="4918422"/>
              <a:ext cx="0" cy="958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61529" name="矩形 29"/>
          <p:cNvSpPr>
            <a:spLocks noChangeArrowheads="1"/>
          </p:cNvSpPr>
          <p:nvPr/>
        </p:nvSpPr>
        <p:spPr bwMode="auto">
          <a:xfrm>
            <a:off x="3513138" y="5919788"/>
            <a:ext cx="3095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载波延伸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66153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72EA632-BFB7-414D-9B21-DF4079207914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661531" name="页脚占位符 2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49" charset="-122"/>
              </a:rPr>
              <a:t>分组突发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6635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当很多短帧要发送时，第一个短帧要采用载波延伸方法进行填充，随后的一些短帧则可一个接一个地发送，只需留有必要的帧间最小间隔即可。这样就形成可一串分组的突发，直到达到 1500 字节或稍多一些为止。</a:t>
            </a:r>
          </a:p>
          <a:p>
            <a:pPr marL="342900" lvl="1" indent="-342900">
              <a:buClr>
                <a:srgbClr val="333399"/>
              </a:buClr>
              <a:buSzPct val="75000"/>
            </a:pPr>
            <a:endParaRPr lang="zh-CN" altLang="en-US" sz="2400" dirty="0" smtClean="0">
              <a:ea typeface="黑体" panose="02010609060101010101" pitchFamily="49" charset="-122"/>
            </a:endParaRPr>
          </a:p>
          <a:p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grpSp>
        <p:nvGrpSpPr>
          <p:cNvPr id="663555" name="组合 2"/>
          <p:cNvGrpSpPr>
            <a:grpSpLocks/>
          </p:cNvGrpSpPr>
          <p:nvPr/>
        </p:nvGrpSpPr>
        <p:grpSpPr bwMode="auto">
          <a:xfrm>
            <a:off x="628650" y="3165475"/>
            <a:ext cx="9004300" cy="2495550"/>
            <a:chOff x="488504" y="3284984"/>
            <a:chExt cx="9004300" cy="2495550"/>
          </a:xfrm>
        </p:grpSpPr>
        <p:sp>
          <p:nvSpPr>
            <p:cNvPr id="663556" name="Freeform 5"/>
            <p:cNvSpPr>
              <a:spLocks noChangeArrowheads="1"/>
            </p:cNvSpPr>
            <p:nvPr/>
          </p:nvSpPr>
          <p:spPr bwMode="auto">
            <a:xfrm>
              <a:off x="488504" y="5085209"/>
              <a:ext cx="8991600" cy="498475"/>
            </a:xfrm>
            <a:custGeom>
              <a:avLst/>
              <a:gdLst>
                <a:gd name="T0" fmla="*/ 0 w 5296"/>
                <a:gd name="T1" fmla="*/ 344 h 344"/>
                <a:gd name="T2" fmla="*/ 680 w 5296"/>
                <a:gd name="T3" fmla="*/ 344 h 344"/>
                <a:gd name="T4" fmla="*/ 680 w 5296"/>
                <a:gd name="T5" fmla="*/ 0 h 344"/>
                <a:gd name="T6" fmla="*/ 4664 w 5296"/>
                <a:gd name="T7" fmla="*/ 0 h 344"/>
                <a:gd name="T8" fmla="*/ 4664 w 5296"/>
                <a:gd name="T9" fmla="*/ 344 h 344"/>
                <a:gd name="T10" fmla="*/ 5296 w 5296"/>
                <a:gd name="T11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96" h="344">
                  <a:moveTo>
                    <a:pt x="0" y="344"/>
                  </a:moveTo>
                  <a:lnTo>
                    <a:pt x="680" y="344"/>
                  </a:lnTo>
                  <a:lnTo>
                    <a:pt x="680" y="0"/>
                  </a:lnTo>
                  <a:lnTo>
                    <a:pt x="4664" y="0"/>
                  </a:lnTo>
                  <a:lnTo>
                    <a:pt x="4664" y="344"/>
                  </a:lnTo>
                  <a:lnTo>
                    <a:pt x="5296" y="344"/>
                  </a:lnTo>
                </a:path>
              </a:pathLst>
            </a:custGeom>
            <a:solidFill>
              <a:srgbClr val="FFFF99"/>
            </a:solidFill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57" name="Text Box 6"/>
            <p:cNvSpPr txBox="1">
              <a:spLocks noChangeArrowheads="1"/>
            </p:cNvSpPr>
            <p:nvPr/>
          </p:nvSpPr>
          <p:spPr bwMode="auto">
            <a:xfrm>
              <a:off x="591236" y="4934396"/>
              <a:ext cx="881973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发送的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数据 </a:t>
              </a:r>
            </a:p>
          </p:txBody>
        </p:sp>
        <p:sp>
          <p:nvSpPr>
            <p:cNvPr id="663558" name="Text Box 7"/>
            <p:cNvSpPr txBox="1">
              <a:spLocks noChangeArrowheads="1"/>
            </p:cNvSpPr>
            <p:nvPr/>
          </p:nvSpPr>
          <p:spPr bwMode="auto">
            <a:xfrm>
              <a:off x="1629917" y="5139184"/>
              <a:ext cx="6564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 帧#1 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RRRRRRRR 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帧#2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RRRR  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帧#3     </a:t>
              </a:r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49" charset="-122"/>
                </a:rPr>
                <a:t>RRR    </a:t>
              </a: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帧#4</a:t>
              </a:r>
            </a:p>
          </p:txBody>
        </p:sp>
        <p:sp>
          <p:nvSpPr>
            <p:cNvPr id="663559" name="Freeform 8"/>
            <p:cNvSpPr>
              <a:spLocks noChangeArrowheads="1"/>
            </p:cNvSpPr>
            <p:nvPr/>
          </p:nvSpPr>
          <p:spPr bwMode="auto">
            <a:xfrm>
              <a:off x="2539554" y="5080446"/>
              <a:ext cx="1581150" cy="492125"/>
            </a:xfrm>
            <a:custGeom>
              <a:avLst/>
              <a:gdLst>
                <a:gd name="T0" fmla="*/ 0 w 996"/>
                <a:gd name="T1" fmla="*/ 3 h 310"/>
                <a:gd name="T2" fmla="*/ 0 w 996"/>
                <a:gd name="T3" fmla="*/ 310 h 310"/>
                <a:gd name="T4" fmla="*/ 996 w 996"/>
                <a:gd name="T5" fmla="*/ 306 h 310"/>
                <a:gd name="T6" fmla="*/ 996 w 996"/>
                <a:gd name="T7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6" h="310">
                  <a:moveTo>
                    <a:pt x="0" y="3"/>
                  </a:moveTo>
                  <a:lnTo>
                    <a:pt x="0" y="310"/>
                  </a:lnTo>
                  <a:lnTo>
                    <a:pt x="996" y="306"/>
                  </a:lnTo>
                  <a:lnTo>
                    <a:pt x="996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0" name="Freeform 9"/>
            <p:cNvSpPr>
              <a:spLocks noChangeArrowheads="1"/>
            </p:cNvSpPr>
            <p:nvPr/>
          </p:nvSpPr>
          <p:spPr bwMode="auto">
            <a:xfrm>
              <a:off x="4930329" y="5074096"/>
              <a:ext cx="949325" cy="498475"/>
            </a:xfrm>
            <a:custGeom>
              <a:avLst/>
              <a:gdLst>
                <a:gd name="T0" fmla="*/ 0 w 560"/>
                <a:gd name="T1" fmla="*/ 0 h 344"/>
                <a:gd name="T2" fmla="*/ 0 w 560"/>
                <a:gd name="T3" fmla="*/ 344 h 344"/>
                <a:gd name="T4" fmla="*/ 560 w 560"/>
                <a:gd name="T5" fmla="*/ 344 h 344"/>
                <a:gd name="T6" fmla="*/ 560 w 560"/>
                <a:gd name="T7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0" h="344">
                  <a:moveTo>
                    <a:pt x="0" y="0"/>
                  </a:moveTo>
                  <a:lnTo>
                    <a:pt x="0" y="344"/>
                  </a:lnTo>
                  <a:lnTo>
                    <a:pt x="560" y="344"/>
                  </a:lnTo>
                  <a:lnTo>
                    <a:pt x="560" y="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1" name="Freeform 10"/>
            <p:cNvSpPr>
              <a:spLocks noChangeArrowheads="1"/>
            </p:cNvSpPr>
            <p:nvPr/>
          </p:nvSpPr>
          <p:spPr bwMode="auto">
            <a:xfrm>
              <a:off x="6722617" y="5085209"/>
              <a:ext cx="719137" cy="498475"/>
            </a:xfrm>
            <a:custGeom>
              <a:avLst/>
              <a:gdLst>
                <a:gd name="T0" fmla="*/ 0 w 424"/>
                <a:gd name="T1" fmla="*/ 0 h 344"/>
                <a:gd name="T2" fmla="*/ 0 w 424"/>
                <a:gd name="T3" fmla="*/ 344 h 344"/>
                <a:gd name="T4" fmla="*/ 424 w 424"/>
                <a:gd name="T5" fmla="*/ 344 h 344"/>
                <a:gd name="T6" fmla="*/ 424 w 424"/>
                <a:gd name="T7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4" h="344">
                  <a:moveTo>
                    <a:pt x="0" y="0"/>
                  </a:moveTo>
                  <a:lnTo>
                    <a:pt x="0" y="344"/>
                  </a:lnTo>
                  <a:lnTo>
                    <a:pt x="424" y="344"/>
                  </a:lnTo>
                  <a:lnTo>
                    <a:pt x="424" y="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2" name="Line 11"/>
            <p:cNvSpPr>
              <a:spLocks noChangeShapeType="1"/>
            </p:cNvSpPr>
            <p:nvPr/>
          </p:nvSpPr>
          <p:spPr bwMode="auto">
            <a:xfrm>
              <a:off x="1642617" y="3835846"/>
              <a:ext cx="2363787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3" name="Text Box 12"/>
            <p:cNvSpPr txBox="1">
              <a:spLocks noChangeArrowheads="1"/>
            </p:cNvSpPr>
            <p:nvPr/>
          </p:nvSpPr>
          <p:spPr bwMode="auto">
            <a:xfrm>
              <a:off x="1879972" y="3632646"/>
              <a:ext cx="193194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争用期 512 字节</a:t>
              </a:r>
            </a:p>
          </p:txBody>
        </p:sp>
        <p:sp>
          <p:nvSpPr>
            <p:cNvPr id="663564" name="Line 13"/>
            <p:cNvSpPr>
              <a:spLocks noChangeShapeType="1"/>
            </p:cNvSpPr>
            <p:nvPr/>
          </p:nvSpPr>
          <p:spPr bwMode="auto">
            <a:xfrm>
              <a:off x="1642617" y="3488184"/>
              <a:ext cx="635635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5" name="Text Box 14"/>
            <p:cNvSpPr txBox="1">
              <a:spLocks noChangeArrowheads="1"/>
            </p:cNvSpPr>
            <p:nvPr/>
          </p:nvSpPr>
          <p:spPr bwMode="auto">
            <a:xfrm>
              <a:off x="3107737" y="3284984"/>
              <a:ext cx="344357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将突发计时器设定为 1500 字节</a:t>
              </a:r>
            </a:p>
          </p:txBody>
        </p:sp>
        <p:sp>
          <p:nvSpPr>
            <p:cNvPr id="663566" name="Text Box 15"/>
            <p:cNvSpPr txBox="1">
              <a:spLocks noChangeArrowheads="1"/>
            </p:cNvSpPr>
            <p:nvPr/>
          </p:nvSpPr>
          <p:spPr bwMode="auto">
            <a:xfrm>
              <a:off x="2072680" y="4643844"/>
              <a:ext cx="11144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b="1">
                  <a:solidFill>
                    <a:srgbClr val="0000CC"/>
                  </a:solidFill>
                  <a:ea typeface="黑体" panose="02010609060101010101" pitchFamily="49" charset="-122"/>
                </a:rPr>
                <a:t>载波延伸</a:t>
              </a:r>
            </a:p>
          </p:txBody>
        </p:sp>
        <p:sp>
          <p:nvSpPr>
            <p:cNvPr id="663567" name="Line 16"/>
            <p:cNvSpPr>
              <a:spLocks noChangeShapeType="1"/>
            </p:cNvSpPr>
            <p:nvPr/>
          </p:nvSpPr>
          <p:spPr bwMode="auto">
            <a:xfrm>
              <a:off x="2860229" y="4926459"/>
              <a:ext cx="411163" cy="274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68" name="Text Box 17"/>
            <p:cNvSpPr txBox="1">
              <a:spLocks noChangeArrowheads="1"/>
            </p:cNvSpPr>
            <p:nvPr/>
          </p:nvSpPr>
          <p:spPr bwMode="auto">
            <a:xfrm>
              <a:off x="704404" y="3888234"/>
              <a:ext cx="713657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载波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监听 </a:t>
              </a:r>
            </a:p>
          </p:txBody>
        </p:sp>
        <p:sp>
          <p:nvSpPr>
            <p:cNvPr id="663569" name="Freeform 18"/>
            <p:cNvSpPr>
              <a:spLocks noChangeArrowheads="1"/>
            </p:cNvSpPr>
            <p:nvPr/>
          </p:nvSpPr>
          <p:spPr bwMode="auto">
            <a:xfrm>
              <a:off x="501204" y="4042221"/>
              <a:ext cx="8991600" cy="501650"/>
            </a:xfrm>
            <a:custGeom>
              <a:avLst/>
              <a:gdLst>
                <a:gd name="T0" fmla="*/ 0 w 4761"/>
                <a:gd name="T1" fmla="*/ 266 h 267"/>
                <a:gd name="T2" fmla="*/ 601 w 4761"/>
                <a:gd name="T3" fmla="*/ 267 h 267"/>
                <a:gd name="T4" fmla="*/ 601 w 4761"/>
                <a:gd name="T5" fmla="*/ 0 h 267"/>
                <a:gd name="T6" fmla="*/ 4193 w 4761"/>
                <a:gd name="T7" fmla="*/ 0 h 267"/>
                <a:gd name="T8" fmla="*/ 4193 w 4761"/>
                <a:gd name="T9" fmla="*/ 266 h 267"/>
                <a:gd name="T10" fmla="*/ 4761 w 4761"/>
                <a:gd name="T11" fmla="*/ 2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1" h="267">
                  <a:moveTo>
                    <a:pt x="0" y="266"/>
                  </a:moveTo>
                  <a:lnTo>
                    <a:pt x="601" y="267"/>
                  </a:lnTo>
                  <a:lnTo>
                    <a:pt x="601" y="0"/>
                  </a:lnTo>
                  <a:lnTo>
                    <a:pt x="4193" y="0"/>
                  </a:lnTo>
                  <a:lnTo>
                    <a:pt x="4193" y="266"/>
                  </a:lnTo>
                  <a:lnTo>
                    <a:pt x="4761" y="266"/>
                  </a:lnTo>
                </a:path>
              </a:pathLst>
            </a:custGeom>
            <a:solidFill>
              <a:srgbClr val="FF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0" name="Line 19"/>
            <p:cNvSpPr>
              <a:spLocks noChangeShapeType="1"/>
            </p:cNvSpPr>
            <p:nvPr/>
          </p:nvSpPr>
          <p:spPr bwMode="auto">
            <a:xfrm>
              <a:off x="4128642" y="3624709"/>
              <a:ext cx="0" cy="2155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1" name="Line 20"/>
            <p:cNvSpPr>
              <a:spLocks noChangeShapeType="1"/>
            </p:cNvSpPr>
            <p:nvPr/>
          </p:nvSpPr>
          <p:spPr bwMode="auto">
            <a:xfrm flipH="1">
              <a:off x="1636267" y="3335784"/>
              <a:ext cx="0" cy="2441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3572" name="Line 21"/>
            <p:cNvSpPr>
              <a:spLocks noChangeShapeType="1"/>
            </p:cNvSpPr>
            <p:nvPr/>
          </p:nvSpPr>
          <p:spPr bwMode="auto">
            <a:xfrm>
              <a:off x="7998967" y="3346896"/>
              <a:ext cx="0" cy="24336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63573" name="矩形 3"/>
          <p:cNvSpPr>
            <a:spLocks noChangeArrowheads="1"/>
          </p:cNvSpPr>
          <p:nvPr/>
        </p:nvSpPr>
        <p:spPr bwMode="auto">
          <a:xfrm>
            <a:off x="3584575" y="5805488"/>
            <a:ext cx="2881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分组突发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66357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3DF8635-3F07-41B0-836C-3E85365C5B7B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66357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全双工方式工作的吉比特以太网</a:t>
            </a:r>
          </a:p>
        </p:txBody>
      </p:sp>
      <p:sp>
        <p:nvSpPr>
          <p:cNvPr id="6656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当吉比特以太网工作在全双工方式时（即通信双方可同时进行发送和接收数据），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不使用载波延伸和分组突发。</a:t>
            </a:r>
          </a:p>
        </p:txBody>
      </p:sp>
      <p:sp>
        <p:nvSpPr>
          <p:cNvPr id="6656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FBE012-C65F-40A1-8995-57A182959F51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6656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吉比特以太网的配置举例 </a:t>
            </a:r>
          </a:p>
        </p:txBody>
      </p:sp>
      <p:grpSp>
        <p:nvGrpSpPr>
          <p:cNvPr id="667650" name="组合 2"/>
          <p:cNvGrpSpPr>
            <a:grpSpLocks/>
          </p:cNvGrpSpPr>
          <p:nvPr/>
        </p:nvGrpSpPr>
        <p:grpSpPr bwMode="auto">
          <a:xfrm>
            <a:off x="1281113" y="1484313"/>
            <a:ext cx="7856537" cy="4032250"/>
            <a:chOff x="1343743" y="1412776"/>
            <a:chExt cx="7857729" cy="4032820"/>
          </a:xfrm>
        </p:grpSpPr>
        <p:sp>
          <p:nvSpPr>
            <p:cNvPr id="667651" name="Line 3"/>
            <p:cNvSpPr>
              <a:spLocks noChangeShapeType="1"/>
            </p:cNvSpPr>
            <p:nvPr/>
          </p:nvSpPr>
          <p:spPr bwMode="auto">
            <a:xfrm flipH="1">
              <a:off x="2029940" y="4239096"/>
              <a:ext cx="85989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2" name="Line 4"/>
            <p:cNvSpPr>
              <a:spLocks noChangeShapeType="1"/>
            </p:cNvSpPr>
            <p:nvPr/>
          </p:nvSpPr>
          <p:spPr bwMode="auto">
            <a:xfrm flipH="1">
              <a:off x="2717858" y="4239096"/>
              <a:ext cx="256248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3" name="Line 5"/>
            <p:cNvSpPr>
              <a:spLocks noChangeShapeType="1"/>
            </p:cNvSpPr>
            <p:nvPr/>
          </p:nvSpPr>
          <p:spPr bwMode="auto">
            <a:xfrm>
              <a:off x="3232074" y="4239096"/>
              <a:ext cx="256250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4" name="Line 6"/>
            <p:cNvSpPr>
              <a:spLocks noChangeShapeType="1"/>
            </p:cNvSpPr>
            <p:nvPr/>
          </p:nvSpPr>
          <p:spPr bwMode="auto">
            <a:xfrm>
              <a:off x="3488324" y="4239096"/>
              <a:ext cx="77218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5" name="Line 7"/>
            <p:cNvSpPr>
              <a:spLocks noChangeShapeType="1"/>
            </p:cNvSpPr>
            <p:nvPr/>
          </p:nvSpPr>
          <p:spPr bwMode="auto">
            <a:xfrm flipH="1">
              <a:off x="6112726" y="4239096"/>
              <a:ext cx="858176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6" name="Line 8"/>
            <p:cNvSpPr>
              <a:spLocks noChangeShapeType="1"/>
            </p:cNvSpPr>
            <p:nvPr/>
          </p:nvSpPr>
          <p:spPr bwMode="auto">
            <a:xfrm flipH="1">
              <a:off x="6884912" y="4239096"/>
              <a:ext cx="256250" cy="6873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7" name="Line 9"/>
            <p:cNvSpPr>
              <a:spLocks noChangeShapeType="1"/>
            </p:cNvSpPr>
            <p:nvPr/>
          </p:nvSpPr>
          <p:spPr bwMode="auto">
            <a:xfrm>
              <a:off x="7399131" y="4239096"/>
              <a:ext cx="256248" cy="763588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8" name="Line 10"/>
            <p:cNvSpPr>
              <a:spLocks noChangeShapeType="1"/>
            </p:cNvSpPr>
            <p:nvPr/>
          </p:nvSpPr>
          <p:spPr bwMode="auto">
            <a:xfrm>
              <a:off x="7569389" y="4158134"/>
              <a:ext cx="963083" cy="90011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59" name="Line 11"/>
            <p:cNvSpPr>
              <a:spLocks noChangeShapeType="1"/>
            </p:cNvSpPr>
            <p:nvPr/>
          </p:nvSpPr>
          <p:spPr bwMode="auto">
            <a:xfrm>
              <a:off x="5634624" y="2630959"/>
              <a:ext cx="1544373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0" name="Line 12"/>
            <p:cNvSpPr>
              <a:spLocks noChangeShapeType="1"/>
            </p:cNvSpPr>
            <p:nvPr/>
          </p:nvSpPr>
          <p:spPr bwMode="auto">
            <a:xfrm>
              <a:off x="5634624" y="2173759"/>
              <a:ext cx="85817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667661" name="Picture 1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5982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62" name="Picture 1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4831" y="1484784"/>
              <a:ext cx="772187" cy="1116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63" name="Text Box 15"/>
            <p:cNvSpPr txBox="1">
              <a:spLocks noChangeArrowheads="1"/>
            </p:cNvSpPr>
            <p:nvPr/>
          </p:nvSpPr>
          <p:spPr bwMode="auto">
            <a:xfrm>
              <a:off x="2440971" y="2313460"/>
              <a:ext cx="17091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 Gbit/s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667664" name="AutoShape 16"/>
            <p:cNvSpPr>
              <a:spLocks noChangeArrowheads="1"/>
            </p:cNvSpPr>
            <p:nvPr/>
          </p:nvSpPr>
          <p:spPr bwMode="auto">
            <a:xfrm>
              <a:off x="4401533" y="1672110"/>
              <a:ext cx="1319081" cy="1189037"/>
            </a:xfrm>
            <a:prstGeom prst="cube">
              <a:avLst>
                <a:gd name="adj" fmla="val 12981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5" name="Text Box 17"/>
            <p:cNvSpPr txBox="1">
              <a:spLocks noChangeArrowheads="1"/>
            </p:cNvSpPr>
            <p:nvPr/>
          </p:nvSpPr>
          <p:spPr bwMode="auto">
            <a:xfrm>
              <a:off x="4484446" y="1818160"/>
              <a:ext cx="95891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吉比特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交换</a:t>
              </a:r>
            </a:p>
            <a:p>
              <a:pPr algn="ctr"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集线器</a:t>
              </a:r>
            </a:p>
          </p:txBody>
        </p:sp>
        <p:pic>
          <p:nvPicPr>
            <p:cNvPr id="667666" name="Picture 18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3008" y="1865785"/>
              <a:ext cx="773906" cy="1119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67" name="AutoShape 19"/>
            <p:cNvSpPr>
              <a:spLocks noChangeArrowheads="1"/>
            </p:cNvSpPr>
            <p:nvPr/>
          </p:nvSpPr>
          <p:spPr bwMode="auto">
            <a:xfrm>
              <a:off x="2717858" y="3559647"/>
              <a:ext cx="856456" cy="765175"/>
            </a:xfrm>
            <a:prstGeom prst="cube">
              <a:avLst>
                <a:gd name="adj" fmla="val 1298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8" name="AutoShape 20"/>
            <p:cNvSpPr>
              <a:spLocks noChangeArrowheads="1"/>
            </p:cNvSpPr>
            <p:nvPr/>
          </p:nvSpPr>
          <p:spPr bwMode="auto">
            <a:xfrm>
              <a:off x="6884912" y="3559647"/>
              <a:ext cx="858177" cy="765175"/>
            </a:xfrm>
            <a:prstGeom prst="cube">
              <a:avLst>
                <a:gd name="adj" fmla="val 1298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69" name="Text Box 21"/>
            <p:cNvSpPr txBox="1">
              <a:spLocks noChangeArrowheads="1"/>
            </p:cNvSpPr>
            <p:nvPr/>
          </p:nvSpPr>
          <p:spPr bwMode="auto">
            <a:xfrm>
              <a:off x="3728864" y="3635847"/>
              <a:ext cx="30235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百兆比特或吉比特集线器</a:t>
              </a:r>
            </a:p>
          </p:txBody>
        </p:sp>
        <p:sp>
          <p:nvSpPr>
            <p:cNvPr id="667670" name="Freeform 22"/>
            <p:cNvSpPr>
              <a:spLocks noChangeArrowheads="1"/>
            </p:cNvSpPr>
            <p:nvPr/>
          </p:nvSpPr>
          <p:spPr bwMode="auto">
            <a:xfrm>
              <a:off x="3146085" y="2861147"/>
              <a:ext cx="1544373" cy="765175"/>
            </a:xfrm>
            <a:custGeom>
              <a:avLst/>
              <a:gdLst>
                <a:gd name="T0" fmla="*/ 0 w 768"/>
                <a:gd name="T1" fmla="*/ 480 h 480"/>
                <a:gd name="T2" fmla="*/ 0 w 768"/>
                <a:gd name="T3" fmla="*/ 240 h 480"/>
                <a:gd name="T4" fmla="*/ 768 w 768"/>
                <a:gd name="T5" fmla="*/ 240 h 480"/>
                <a:gd name="T6" fmla="*/ 768 w 768"/>
                <a:gd name="T7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480">
                  <a:moveTo>
                    <a:pt x="0" y="480"/>
                  </a:moveTo>
                  <a:lnTo>
                    <a:pt x="0" y="240"/>
                  </a:lnTo>
                  <a:lnTo>
                    <a:pt x="768" y="240"/>
                  </a:lnTo>
                  <a:lnTo>
                    <a:pt x="768" y="0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1" name="Freeform 23"/>
            <p:cNvSpPr>
              <a:spLocks noChangeArrowheads="1"/>
            </p:cNvSpPr>
            <p:nvPr/>
          </p:nvSpPr>
          <p:spPr bwMode="auto">
            <a:xfrm flipH="1">
              <a:off x="5462645" y="2861147"/>
              <a:ext cx="1847056" cy="765175"/>
            </a:xfrm>
            <a:custGeom>
              <a:avLst/>
              <a:gdLst>
                <a:gd name="T0" fmla="*/ 0 w 768"/>
                <a:gd name="T1" fmla="*/ 480 h 480"/>
                <a:gd name="T2" fmla="*/ 0 w 768"/>
                <a:gd name="T3" fmla="*/ 240 h 480"/>
                <a:gd name="T4" fmla="*/ 768 w 768"/>
                <a:gd name="T5" fmla="*/ 240 h 480"/>
                <a:gd name="T6" fmla="*/ 768 w 768"/>
                <a:gd name="T7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480">
                  <a:moveTo>
                    <a:pt x="0" y="480"/>
                  </a:moveTo>
                  <a:lnTo>
                    <a:pt x="0" y="240"/>
                  </a:lnTo>
                  <a:lnTo>
                    <a:pt x="768" y="240"/>
                  </a:lnTo>
                  <a:lnTo>
                    <a:pt x="768" y="0"/>
                  </a:lnTo>
                </a:path>
              </a:pathLst>
            </a:cu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2" name="Line 24"/>
            <p:cNvSpPr>
              <a:spLocks noChangeShapeType="1"/>
            </p:cNvSpPr>
            <p:nvPr/>
          </p:nvSpPr>
          <p:spPr bwMode="auto">
            <a:xfrm>
              <a:off x="7655378" y="3931121"/>
              <a:ext cx="85989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73" name="Line 25"/>
            <p:cNvSpPr>
              <a:spLocks noChangeShapeType="1"/>
            </p:cNvSpPr>
            <p:nvPr/>
          </p:nvSpPr>
          <p:spPr bwMode="auto">
            <a:xfrm>
              <a:off x="1857961" y="3931121"/>
              <a:ext cx="85989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667674" name="Picture 26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9285" y="3243734"/>
              <a:ext cx="772187" cy="1116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5" name="Picture 2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743" y="3319934"/>
              <a:ext cx="772187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6" name="Picture 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9251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7" name="Picture 2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2520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8" name="Picture 3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5788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79" name="Picture 3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8004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0" name="Picture 3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0190" y="4848696"/>
              <a:ext cx="65868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1" name="Picture 3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0657" y="4848696"/>
              <a:ext cx="66040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682" name="Picture 3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8389" y="4848696"/>
              <a:ext cx="656960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683" name="Line 35"/>
            <p:cNvSpPr>
              <a:spLocks noChangeShapeType="1"/>
            </p:cNvSpPr>
            <p:nvPr/>
          </p:nvSpPr>
          <p:spPr bwMode="auto">
            <a:xfrm>
              <a:off x="1343743" y="2103909"/>
              <a:ext cx="944166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84" name="Line 36"/>
            <p:cNvSpPr>
              <a:spLocks noChangeShapeType="1"/>
            </p:cNvSpPr>
            <p:nvPr/>
          </p:nvSpPr>
          <p:spPr bwMode="auto">
            <a:xfrm>
              <a:off x="1343743" y="2486496"/>
              <a:ext cx="944166" cy="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667685" name="Text Box 37"/>
            <p:cNvSpPr txBox="1">
              <a:spLocks noChangeArrowheads="1"/>
            </p:cNvSpPr>
            <p:nvPr/>
          </p:nvSpPr>
          <p:spPr bwMode="auto">
            <a:xfrm>
              <a:off x="2317145" y="1908647"/>
              <a:ext cx="20088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100 Mbit/s </a:t>
              </a:r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链路</a:t>
              </a:r>
            </a:p>
          </p:txBody>
        </p:sp>
        <p:sp>
          <p:nvSpPr>
            <p:cNvPr id="667686" name="Text Box 38"/>
            <p:cNvSpPr txBox="1">
              <a:spLocks noChangeArrowheads="1"/>
            </p:cNvSpPr>
            <p:nvPr/>
          </p:nvSpPr>
          <p:spPr bwMode="auto">
            <a:xfrm>
              <a:off x="6939945" y="1412776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CC"/>
                  </a:solidFill>
                  <a:ea typeface="黑体" panose="02010609060101010101" pitchFamily="49" charset="-122"/>
                </a:rPr>
                <a:t>中央服务器</a:t>
              </a:r>
            </a:p>
          </p:txBody>
        </p:sp>
      </p:grpSp>
      <p:sp>
        <p:nvSpPr>
          <p:cNvPr id="66768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078875-5AF2-4BF6-8296-AA9769EE09A2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66768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3600" smtClean="0">
                <a:ea typeface="黑体" panose="02010609060101010101" pitchFamily="49" charset="-122"/>
              </a:rPr>
              <a:t>3.5.3   10 </a:t>
            </a:r>
            <a:r>
              <a:rPr lang="zh-CN" altLang="en-US" sz="3600" smtClean="0">
                <a:ea typeface="黑体" panose="02010609060101010101" pitchFamily="49" charset="-122"/>
              </a:rPr>
              <a:t>吉比特以太网和更快的以太网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10 </a:t>
            </a:r>
            <a:r>
              <a:rPr lang="zh-CN" altLang="en-US" dirty="0" smtClean="0">
                <a:ea typeface="黑体" panose="02010609060101010101" pitchFamily="49" charset="-122"/>
              </a:rPr>
              <a:t>吉比特以太网（</a:t>
            </a:r>
            <a:r>
              <a:rPr lang="en-US" altLang="zh-CN" dirty="0" smtClean="0">
                <a:ea typeface="黑体" panose="02010609060101010101" pitchFamily="49" charset="-122"/>
              </a:rPr>
              <a:t>10GE</a:t>
            </a:r>
            <a:r>
              <a:rPr lang="zh-CN" altLang="en-US" dirty="0" smtClean="0">
                <a:ea typeface="黑体" panose="02010609060101010101" pitchFamily="49" charset="-122"/>
              </a:rPr>
              <a:t>）</a:t>
            </a:r>
            <a:r>
              <a:rPr lang="zh-CN" altLang="zh-CN" dirty="0" smtClean="0">
                <a:ea typeface="黑体" panose="02010609060101010101" pitchFamily="49" charset="-122"/>
              </a:rPr>
              <a:t>并非把吉比特以太网的速率简单地提高到</a:t>
            </a:r>
            <a:r>
              <a:rPr lang="en-US" altLang="zh-CN" dirty="0" smtClean="0">
                <a:ea typeface="黑体" panose="02010609060101010101" pitchFamily="49" charset="-122"/>
              </a:rPr>
              <a:t> 10 </a:t>
            </a:r>
            <a:r>
              <a:rPr lang="zh-CN" altLang="zh-CN" dirty="0" smtClean="0">
                <a:ea typeface="黑体" panose="02010609060101010101" pitchFamily="49" charset="-122"/>
              </a:rPr>
              <a:t>倍</a:t>
            </a:r>
            <a:r>
              <a:rPr lang="zh-CN" altLang="en-US" dirty="0" smtClean="0">
                <a:ea typeface="黑体" panose="02010609060101010101" pitchFamily="49" charset="-122"/>
              </a:rPr>
              <a:t>，其主要特点有：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dirty="0" smtClean="0">
                <a:ea typeface="黑体" panose="02010609060101010101" pitchFamily="49" charset="-122"/>
              </a:rPr>
              <a:t>10</a:t>
            </a:r>
            <a:r>
              <a:rPr lang="en-US" altLang="zh-CN" sz="2400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Mbit/s</a:t>
            </a:r>
            <a:r>
              <a:rPr lang="zh-CN" altLang="en-US" dirty="0" smtClean="0">
                <a:ea typeface="黑体" panose="02010609060101010101" pitchFamily="49" charset="-122"/>
              </a:rPr>
              <a:t>、</a:t>
            </a:r>
            <a:r>
              <a:rPr lang="en-US" altLang="zh-CN" dirty="0" smtClean="0">
                <a:ea typeface="黑体" panose="02010609060101010101" pitchFamily="49" charset="-122"/>
              </a:rPr>
              <a:t>100</a:t>
            </a:r>
            <a:r>
              <a:rPr lang="en-US" altLang="zh-CN" sz="2400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Mbit/s </a:t>
            </a:r>
            <a:r>
              <a:rPr lang="zh-CN" altLang="en-US" dirty="0" smtClean="0">
                <a:ea typeface="黑体" panose="02010609060101010101" pitchFamily="49" charset="-122"/>
              </a:rPr>
              <a:t>和 </a:t>
            </a:r>
            <a:r>
              <a:rPr lang="en-US" altLang="zh-CN" dirty="0" smtClean="0">
                <a:ea typeface="黑体" panose="02010609060101010101" pitchFamily="49" charset="-122"/>
              </a:rPr>
              <a:t>1</a:t>
            </a:r>
            <a:r>
              <a:rPr lang="en-US" altLang="zh-CN" sz="2000" dirty="0" smtClean="0">
                <a:ea typeface="黑体" panose="02010609060101010101" pitchFamily="49" charset="-122"/>
              </a:rPr>
              <a:t> </a:t>
            </a:r>
            <a:r>
              <a:rPr lang="en-US" altLang="zh-CN" dirty="0" err="1" smtClean="0">
                <a:ea typeface="黑体" panose="02010609060101010101" pitchFamily="49" charset="-122"/>
              </a:rPr>
              <a:t>Gbit</a:t>
            </a:r>
            <a:r>
              <a:rPr lang="en-US" altLang="zh-CN" dirty="0" smtClean="0">
                <a:ea typeface="黑体" panose="02010609060101010101" pitchFamily="49" charset="-122"/>
              </a:rPr>
              <a:t>/s </a:t>
            </a:r>
            <a:r>
              <a:rPr lang="zh-CN" altLang="en-US" dirty="0" smtClean="0">
                <a:ea typeface="黑体" panose="02010609060101010101" pitchFamily="49" charset="-122"/>
              </a:rPr>
              <a:t>以太网的帧格式完全相同。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保留了 </a:t>
            </a:r>
            <a:r>
              <a:rPr lang="en-US" altLang="zh-CN" dirty="0" smtClean="0">
                <a:ea typeface="黑体" panose="02010609060101010101" pitchFamily="49" charset="-122"/>
              </a:rPr>
              <a:t>802.3 </a:t>
            </a:r>
            <a:r>
              <a:rPr lang="zh-CN" altLang="en-US" dirty="0" smtClean="0">
                <a:ea typeface="黑体" panose="02010609060101010101" pitchFamily="49" charset="-122"/>
              </a:rPr>
              <a:t>标准规定的以太网最小和最大帧长，便于升级。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只工作在全双工方式，</a:t>
            </a:r>
            <a:r>
              <a:rPr lang="zh-CN" altLang="en-US" dirty="0" smtClean="0">
                <a:ea typeface="黑体" panose="02010609060101010101" pitchFamily="49" charset="-122"/>
              </a:rPr>
              <a:t>因此没有争用问题，也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不使用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CSMA/CD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协议</a:t>
            </a:r>
            <a:r>
              <a:rPr lang="zh-CN" altLang="en-US" dirty="0" smtClean="0">
                <a:ea typeface="黑体" panose="02010609060101010101" pitchFamily="49" charset="-122"/>
              </a:rPr>
              <a:t>。    </a:t>
            </a:r>
          </a:p>
        </p:txBody>
      </p:sp>
      <p:sp>
        <p:nvSpPr>
          <p:cNvPr id="6696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A2D8FB-A665-46F0-AEE3-89072ED1E6EC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6697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10 </a:t>
            </a:r>
            <a:r>
              <a:rPr lang="zh-CN" altLang="en-US" smtClean="0">
                <a:ea typeface="黑体" panose="02010609060101010101" pitchFamily="49" charset="-122"/>
              </a:rPr>
              <a:t>吉比特以太网的物理层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31825" y="2105025"/>
          <a:ext cx="8929688" cy="302736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16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名称</a:t>
                      </a: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媒体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网段最大长度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特点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10GBASE-SR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300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多模光纤（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0.85 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10GBASE-LR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km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1.3 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10GBASE-ER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光缆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 km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单模光纤（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1.5 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  <a:sym typeface="Symbol" panose="05050102010706020507"/>
                        </a:rPr>
                        <a:t>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m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）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pt-BR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10GBASE-CX4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15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对双芯同轴电缆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(twinax)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7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10GBASE-T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铜缆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使用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对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6A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类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pt-BR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UTP </a:t>
                      </a:r>
                      <a:r>
                        <a:rPr 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双绞线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1783" name="Rectangle 1"/>
          <p:cNvSpPr>
            <a:spLocks noChangeArrowheads="1"/>
          </p:cNvSpPr>
          <p:nvPr/>
        </p:nvSpPr>
        <p:spPr bwMode="auto">
          <a:xfrm>
            <a:off x="2144713" y="1628775"/>
            <a:ext cx="6357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2400" b="1">
                <a:ea typeface="黑体" panose="02010609060101010101" pitchFamily="49" charset="-122"/>
              </a:rPr>
              <a:t>10GE </a:t>
            </a:r>
            <a:r>
              <a:rPr lang="zh-CN" altLang="en-US" sz="2400" b="1">
                <a:ea typeface="黑体" panose="02010609060101010101" pitchFamily="49" charset="-122"/>
              </a:rPr>
              <a:t>的物理层标准</a:t>
            </a:r>
          </a:p>
        </p:txBody>
      </p:sp>
      <p:sp>
        <p:nvSpPr>
          <p:cNvPr id="67178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17D991-8619-46AE-BA92-B02BE5234E0B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671785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6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更快的以太网</a:t>
            </a:r>
          </a:p>
        </p:txBody>
      </p:sp>
      <p:sp>
        <p:nvSpPr>
          <p:cNvPr id="67277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600" dirty="0" smtClean="0">
                <a:ea typeface="黑体" panose="02010609060101010101" pitchFamily="49" charset="-122"/>
              </a:rPr>
              <a:t>以太网的技术发展得很快。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zh-CN" sz="2600" dirty="0" smtClean="0">
                <a:ea typeface="黑体" panose="02010609060101010101" pitchFamily="49" charset="-122"/>
              </a:rPr>
              <a:t>在</a:t>
            </a:r>
            <a:r>
              <a:rPr lang="en-US" altLang="zh-CN" sz="2600" dirty="0" smtClean="0">
                <a:ea typeface="黑体" panose="02010609060101010101" pitchFamily="49" charset="-122"/>
              </a:rPr>
              <a:t> 10GE </a:t>
            </a:r>
            <a:r>
              <a:rPr lang="zh-CN" altLang="zh-CN" sz="2600" dirty="0" smtClean="0">
                <a:ea typeface="黑体" panose="02010609060101010101" pitchFamily="49" charset="-122"/>
              </a:rPr>
              <a:t>之后又制订了</a:t>
            </a:r>
            <a:r>
              <a:rPr lang="en-US" altLang="zh-CN" sz="2600" dirty="0" smtClean="0">
                <a:ea typeface="黑体" panose="02010609060101010101" pitchFamily="49" charset="-122"/>
              </a:rPr>
              <a:t> 40GE/100GE</a:t>
            </a:r>
            <a:r>
              <a:rPr lang="zh-CN" altLang="zh-CN" sz="2600" dirty="0" smtClean="0">
                <a:ea typeface="黑体" panose="02010609060101010101" pitchFamily="49" charset="-122"/>
              </a:rPr>
              <a:t>（即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40 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吉比特以太网和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 100 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吉比特以太网</a:t>
            </a:r>
            <a:r>
              <a:rPr lang="zh-CN" altLang="zh-CN" sz="2600" dirty="0" smtClean="0">
                <a:ea typeface="黑体" panose="02010609060101010101" pitchFamily="49" charset="-122"/>
              </a:rPr>
              <a:t>）的标准</a:t>
            </a:r>
            <a:r>
              <a:rPr lang="en-US" altLang="zh-CN" sz="2600" dirty="0" smtClean="0">
                <a:ea typeface="黑体" panose="02010609060101010101" pitchFamily="49" charset="-122"/>
              </a:rPr>
              <a:t> IEEE 802.3ba-2010 </a:t>
            </a:r>
            <a:r>
              <a:rPr lang="zh-CN" altLang="en-US" sz="2600" dirty="0" smtClean="0">
                <a:ea typeface="黑体" panose="02010609060101010101" pitchFamily="49" charset="-122"/>
              </a:rPr>
              <a:t>和 </a:t>
            </a:r>
            <a:r>
              <a:rPr lang="en-US" altLang="zh-CN" sz="2600" dirty="0" smtClean="0">
                <a:ea typeface="黑体" panose="02010609060101010101" pitchFamily="49" charset="-122"/>
              </a:rPr>
              <a:t>802.3bm-2015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en-US" altLang="zh-CN" sz="2600" dirty="0" smtClean="0">
                <a:ea typeface="黑体" panose="02010609060101010101" pitchFamily="49" charset="-122"/>
              </a:rPr>
              <a:t>40GE/100GE </a:t>
            </a:r>
            <a:r>
              <a:rPr lang="zh-CN" altLang="zh-CN" sz="2600" dirty="0" smtClean="0">
                <a:ea typeface="黑体" panose="02010609060101010101" pitchFamily="49" charset="-122"/>
              </a:rPr>
              <a:t>只工作在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全双工的传输方式</a:t>
            </a:r>
            <a:r>
              <a:rPr lang="zh-CN" altLang="zh-CN" sz="2600" dirty="0" smtClean="0">
                <a:ea typeface="黑体" panose="02010609060101010101" pitchFamily="49" charset="-122"/>
              </a:rPr>
              <a:t>（因而不使用</a:t>
            </a:r>
            <a:r>
              <a:rPr lang="en-US" altLang="zh-CN" sz="2600" dirty="0" smtClean="0">
                <a:ea typeface="黑体" panose="02010609060101010101" pitchFamily="49" charset="-122"/>
              </a:rPr>
              <a:t> CSMA/CD </a:t>
            </a:r>
            <a:r>
              <a:rPr lang="zh-CN" altLang="zh-CN" sz="2600" dirty="0" smtClean="0">
                <a:ea typeface="黑体" panose="02010609060101010101" pitchFamily="49" charset="-122"/>
              </a:rPr>
              <a:t>协议），并仍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保持了以太网的帧格式</a:t>
            </a:r>
            <a:r>
              <a:rPr lang="zh-CN" altLang="zh-CN" sz="2600" dirty="0" smtClean="0">
                <a:ea typeface="黑体" panose="02010609060101010101" pitchFamily="49" charset="-122"/>
              </a:rPr>
              <a:t>以及</a:t>
            </a:r>
            <a:r>
              <a:rPr lang="en-US" altLang="zh-CN" sz="2600" dirty="0" smtClean="0">
                <a:ea typeface="黑体" panose="02010609060101010101" pitchFamily="49" charset="-122"/>
              </a:rPr>
              <a:t> 802.3 </a:t>
            </a:r>
            <a:r>
              <a:rPr lang="zh-CN" altLang="zh-CN" sz="2600" dirty="0" smtClean="0">
                <a:ea typeface="黑体" panose="02010609060101010101" pitchFamily="49" charset="-122"/>
              </a:rPr>
              <a:t>标准规定的以太网</a:t>
            </a:r>
            <a:r>
              <a:rPr lang="zh-CN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最小和最大帧长</a:t>
            </a:r>
            <a:r>
              <a:rPr lang="zh-CN" altLang="zh-CN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en-US" altLang="zh-CN" sz="2600" dirty="0" smtClean="0">
                <a:ea typeface="黑体" panose="02010609060101010101" pitchFamily="49" charset="-122"/>
              </a:rPr>
              <a:t>100GE </a:t>
            </a:r>
            <a:r>
              <a:rPr lang="zh-CN" altLang="zh-CN" sz="2600" dirty="0" smtClean="0">
                <a:ea typeface="黑体" panose="02010609060101010101" pitchFamily="49" charset="-122"/>
              </a:rPr>
              <a:t>在使用单模光纤传输时，仍然可以达到</a:t>
            </a:r>
            <a:r>
              <a:rPr lang="en-US" altLang="zh-CN" sz="2600" dirty="0" smtClean="0">
                <a:ea typeface="黑体" panose="02010609060101010101" pitchFamily="49" charset="-122"/>
              </a:rPr>
              <a:t> 40 km </a:t>
            </a:r>
            <a:r>
              <a:rPr lang="zh-CN" altLang="zh-CN" sz="2600" dirty="0" smtClean="0">
                <a:ea typeface="黑体" panose="02010609060101010101" pitchFamily="49" charset="-122"/>
              </a:rPr>
              <a:t>的传输距离，但这是需要波分复用（使用</a:t>
            </a:r>
            <a:r>
              <a:rPr lang="en-US" altLang="zh-CN" sz="2600" dirty="0" smtClean="0">
                <a:ea typeface="黑体" panose="02010609060101010101" pitchFamily="49" charset="-122"/>
              </a:rPr>
              <a:t> 4 </a:t>
            </a:r>
            <a:r>
              <a:rPr lang="zh-CN" altLang="zh-CN" sz="2600" dirty="0" smtClean="0">
                <a:ea typeface="黑体" panose="02010609060101010101" pitchFamily="49" charset="-122"/>
              </a:rPr>
              <a:t>个波长复用一根光纤，每一个波长的有效传输速率是</a:t>
            </a:r>
            <a:r>
              <a:rPr lang="en-US" altLang="zh-CN" sz="2600" dirty="0" smtClean="0">
                <a:ea typeface="黑体" panose="02010609060101010101" pitchFamily="49" charset="-122"/>
              </a:rPr>
              <a:t> 25 </a:t>
            </a:r>
            <a:r>
              <a:rPr lang="en-US" altLang="zh-CN" sz="2600" dirty="0" err="1" smtClean="0">
                <a:ea typeface="黑体" panose="02010609060101010101" pitchFamily="49" charset="-122"/>
              </a:rPr>
              <a:t>Gbit</a:t>
            </a:r>
            <a:r>
              <a:rPr lang="en-US" altLang="zh-CN" sz="2600" dirty="0" smtClean="0">
                <a:ea typeface="黑体" panose="02010609060101010101" pitchFamily="49" charset="-122"/>
              </a:rPr>
              <a:t>/s</a:t>
            </a:r>
            <a:r>
              <a:rPr lang="zh-CN" altLang="zh-CN" sz="2600" dirty="0" smtClean="0">
                <a:ea typeface="黑体" panose="02010609060101010101" pitchFamily="49" charset="-122"/>
              </a:rPr>
              <a:t>）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endParaRPr lang="zh-CN" altLang="en-US" sz="2600" dirty="0" smtClean="0">
              <a:ea typeface="黑体" panose="02010609060101010101" pitchFamily="49" charset="-122"/>
            </a:endParaRPr>
          </a:p>
        </p:txBody>
      </p:sp>
      <p:sp>
        <p:nvSpPr>
          <p:cNvPr id="67277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F2C30E-BD67-4B90-99FB-A3ADD69267C3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67277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40GE/100GE </a:t>
            </a:r>
            <a:r>
              <a:rPr lang="zh-CN" altLang="en-US" smtClean="0">
                <a:ea typeface="黑体" panose="02010609060101010101" pitchFamily="49" charset="-122"/>
              </a:rPr>
              <a:t>的物理层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76288" y="1946275"/>
          <a:ext cx="8497888" cy="323691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57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4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物理层</a:t>
                      </a:r>
                      <a:endParaRPr lang="zh-CN" sz="2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40GE</a:t>
                      </a:r>
                      <a:endParaRPr lang="zh-CN" sz="24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4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100GE</a:t>
                      </a:r>
                      <a:endParaRPr lang="zh-CN" sz="24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</a:t>
                      </a:r>
                      <a:r>
                        <a:rPr lang="zh-C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+mn-cs"/>
                        </a:rPr>
                        <a:t>背板上</a:t>
                      </a: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传输至少超过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 m 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40GBASE-KR4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>
                          <a:effectLst/>
                          <a:latin typeface="+mn-lt"/>
                          <a:ea typeface="黑体" panose="02010609060101010101" pitchFamily="2" charset="-122"/>
                        </a:rPr>
                        <a:t> </a:t>
                      </a:r>
                      <a:endParaRPr lang="zh-CN" sz="2000" b="1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667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在铜缆上传输至少超过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7 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40GBASE-CR4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100GBASE-CR10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667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在多模光纤上传输至少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 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40GBASE-SR4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100GBASE-SR10</a:t>
                      </a: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，</a:t>
                      </a:r>
                      <a:endParaRPr lang="en-US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*</a:t>
                      </a:r>
                      <a:r>
                        <a:rPr lang="en-US" altLang="zh-CN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100GBASE-SR4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在单模光纤上传输至少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 km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40GBASE-LR4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100GBASE-LR4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333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在单模光纤上传输至少</a:t>
                      </a:r>
                      <a:r>
                        <a:rPr lang="en-US" altLang="zh-CN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 </a:t>
                      </a:r>
                      <a:r>
                        <a:rPr lang="en-US" sz="2000" b="1" kern="1200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 km</a:t>
                      </a:r>
                      <a:endParaRPr lang="zh-CN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+mn-cs"/>
                      </a:endParaRPr>
                    </a:p>
                  </a:txBody>
                  <a:tcPr marL="68588" marR="68588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zh-CN" alt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*</a:t>
                      </a: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40GBASE-ER 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752600" algn="l"/>
                        </a:tabLst>
                      </a:pPr>
                      <a:r>
                        <a:rPr lang="en-US" sz="2000" b="1" dirty="0">
                          <a:effectLst/>
                          <a:latin typeface="+mn-lt"/>
                          <a:ea typeface="黑体" panose="02010609060101010101" pitchFamily="2" charset="-122"/>
                        </a:rPr>
                        <a:t>100GBASE-ER4</a:t>
                      </a:r>
                      <a:endParaRPr lang="zh-CN" sz="2000" b="1" dirty="0"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3824" name="Rectangle 1"/>
          <p:cNvSpPr>
            <a:spLocks noChangeArrowheads="1"/>
          </p:cNvSpPr>
          <p:nvPr/>
        </p:nvSpPr>
        <p:spPr bwMode="auto">
          <a:xfrm>
            <a:off x="1784350" y="1484313"/>
            <a:ext cx="6624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52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2400" b="1">
                <a:ea typeface="黑体" panose="02010609060101010101" pitchFamily="49" charset="-122"/>
              </a:rPr>
              <a:t>40GE/10GE </a:t>
            </a:r>
            <a:r>
              <a:rPr lang="zh-CN" altLang="en-US" sz="2400" b="1">
                <a:ea typeface="黑体" panose="02010609060101010101" pitchFamily="49" charset="-122"/>
              </a:rPr>
              <a:t>的物理层标准</a:t>
            </a:r>
          </a:p>
        </p:txBody>
      </p:sp>
      <p:sp>
        <p:nvSpPr>
          <p:cNvPr id="67382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970D6A-008A-414F-833A-1077099A40DC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673826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端到端的以太网传输 </a:t>
            </a:r>
          </a:p>
        </p:txBody>
      </p:sp>
      <p:sp>
        <p:nvSpPr>
          <p:cNvPr id="67481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以太网的工作范围已经从局域网（校园网、企业网）扩大到城域网和广域网，从而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实现了端到端的以太网传输。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这种工作方式的好处有： 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技术成熟；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互操作性很好；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在广域网中使用以太网时价格便宜；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采用统一的以太网帧格式，简化了操作和管理。</a:t>
            </a:r>
            <a:r>
              <a:rPr lang="zh-CN" altLang="en-US" sz="3200" dirty="0" smtClean="0">
                <a:solidFill>
                  <a:srgbClr val="0000FF"/>
                </a:solidFill>
                <a:ea typeface="黑体" panose="02010609060101010101" pitchFamily="49" charset="-122"/>
              </a:rPr>
              <a:t>   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6748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695B8E-5F9F-4B7C-864E-68481996B53D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6748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8634413" cy="792162"/>
          </a:xfrm>
        </p:spPr>
        <p:txBody>
          <a:bodyPr/>
          <a:lstStyle/>
          <a:p>
            <a:pPr algn="ctr"/>
            <a:r>
              <a:rPr lang="zh-CN" altLang="en-US" sz="3600" smtClean="0">
                <a:ea typeface="黑体" panose="02010609060101010101" pitchFamily="49" charset="-122"/>
              </a:rPr>
              <a:t>以太网从 </a:t>
            </a:r>
            <a:r>
              <a:rPr lang="en-US" altLang="zh-CN" sz="3600" smtClean="0">
                <a:ea typeface="黑体" panose="02010609060101010101" pitchFamily="49" charset="-122"/>
              </a:rPr>
              <a:t>10 Mbit/s </a:t>
            </a:r>
            <a:r>
              <a:rPr lang="zh-CN" altLang="en-US" sz="3600" smtClean="0">
                <a:ea typeface="黑体" panose="02010609060101010101" pitchFamily="49" charset="-122"/>
              </a:rPr>
              <a:t>到</a:t>
            </a:r>
            <a:r>
              <a:rPr lang="en-US" altLang="zh-CN" sz="3600" smtClean="0">
                <a:ea typeface="黑体" panose="02010609060101010101" pitchFamily="49" charset="-122"/>
              </a:rPr>
              <a:t>100 Gbit/s </a:t>
            </a:r>
            <a:r>
              <a:rPr lang="zh-CN" altLang="en-US" sz="3600" smtClean="0">
                <a:ea typeface="黑体" panose="02010609060101010101" pitchFamily="49" charset="-122"/>
              </a:rPr>
              <a:t>的演进 </a:t>
            </a:r>
          </a:p>
        </p:txBody>
      </p:sp>
      <p:sp>
        <p:nvSpPr>
          <p:cNvPr id="67686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以太网从 </a:t>
            </a:r>
            <a:r>
              <a:rPr lang="en-US" altLang="zh-CN" smtClean="0">
                <a:ea typeface="黑体" panose="02010609060101010101" pitchFamily="49" charset="-122"/>
              </a:rPr>
              <a:t>10 Mbit/s </a:t>
            </a:r>
            <a:r>
              <a:rPr lang="zh-CN" altLang="en-US" smtClean="0">
                <a:ea typeface="黑体" panose="02010609060101010101" pitchFamily="49" charset="-122"/>
              </a:rPr>
              <a:t>到 </a:t>
            </a:r>
            <a:r>
              <a:rPr lang="en-US" altLang="zh-CN" smtClean="0">
                <a:ea typeface="黑体" panose="02010609060101010101" pitchFamily="49" charset="-122"/>
              </a:rPr>
              <a:t>100 Gbit/s </a:t>
            </a:r>
            <a:r>
              <a:rPr lang="zh-CN" altLang="en-US" smtClean="0">
                <a:ea typeface="黑体" panose="02010609060101010101" pitchFamily="49" charset="-122"/>
              </a:rPr>
              <a:t>的演进证明了以太网是：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可扩展的（从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 Mbit/s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到 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100 Gbit/s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）；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灵活的（多种传输媒体、全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/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半双工、共享</a:t>
            </a:r>
            <a:r>
              <a:rPr lang="en-US" altLang="zh-CN" smtClean="0">
                <a:solidFill>
                  <a:srgbClr val="0000FF"/>
                </a:solidFill>
                <a:ea typeface="黑体" panose="02010609060101010101" pitchFamily="49" charset="-122"/>
              </a:rPr>
              <a:t>/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交换）；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易于安装；</a:t>
            </a:r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稳健性好。</a:t>
            </a:r>
            <a:r>
              <a:rPr lang="zh-CN" altLang="en-US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768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6219E1-E2D7-45CD-B59C-E42B59D44342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6768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3.5.4  </a:t>
            </a:r>
            <a:r>
              <a:rPr lang="zh-CN" altLang="zh-CN" smtClean="0">
                <a:ea typeface="黑体" panose="02010609060101010101" pitchFamily="49" charset="-122"/>
              </a:rPr>
              <a:t>使用以太网进行宽带接入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IEEE </a:t>
            </a:r>
            <a:r>
              <a:rPr lang="zh-CN" altLang="zh-CN" smtClean="0">
                <a:ea typeface="黑体" panose="02010609060101010101" pitchFamily="49" charset="-122"/>
              </a:rPr>
              <a:t>在</a:t>
            </a:r>
            <a:r>
              <a:rPr lang="en-US" altLang="zh-CN" smtClean="0">
                <a:ea typeface="黑体" panose="02010609060101010101" pitchFamily="49" charset="-122"/>
              </a:rPr>
              <a:t> 2001 </a:t>
            </a:r>
            <a:r>
              <a:rPr lang="zh-CN" altLang="zh-CN" smtClean="0">
                <a:ea typeface="黑体" panose="02010609060101010101" pitchFamily="49" charset="-122"/>
              </a:rPr>
              <a:t>年初成立了</a:t>
            </a:r>
            <a:r>
              <a:rPr lang="en-US" altLang="zh-CN" smtClean="0">
                <a:ea typeface="黑体" panose="02010609060101010101" pitchFamily="49" charset="-122"/>
              </a:rPr>
              <a:t> 802.3 EFM </a:t>
            </a:r>
            <a:r>
              <a:rPr lang="zh-CN" altLang="zh-CN" smtClean="0">
                <a:ea typeface="黑体" panose="02010609060101010101" pitchFamily="49" charset="-122"/>
              </a:rPr>
              <a:t>工作组，专门研究高速以太网的宽带接入技术问题。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以太网宽带接入</a:t>
            </a:r>
            <a:r>
              <a:rPr lang="zh-CN" altLang="en-US" smtClean="0">
                <a:ea typeface="黑体" panose="02010609060101010101" pitchFamily="49" charset="-122"/>
              </a:rPr>
              <a:t>具有以下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49" charset="-122"/>
              </a:rPr>
              <a:t>特点：</a:t>
            </a:r>
            <a:endParaRPr lang="en-US" altLang="zh-CN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可以提供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双向</a:t>
            </a:r>
            <a:r>
              <a:rPr lang="zh-CN" altLang="zh-CN" smtClean="0">
                <a:ea typeface="黑体" panose="02010609060101010101" pitchFamily="49" charset="-122"/>
              </a:rPr>
              <a:t>的宽带通信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可以根据用户对带宽的需求灵活地进行带宽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升级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可以实现端到端的以太网传输，中间不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需要再进行帧格式的转换。</a:t>
            </a:r>
            <a:r>
              <a:rPr lang="zh-CN" altLang="zh-CN" smtClean="0">
                <a:ea typeface="黑体" panose="02010609060101010101" pitchFamily="49" charset="-122"/>
              </a:rPr>
              <a:t>这就提高了数据的传输效率且降低了传输的成本。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但是不支持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用户身份鉴别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6789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9C0E37-87E8-4EBD-8E76-BEDB552AEC5F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6789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PPPoE</a:t>
            </a:r>
            <a:endParaRPr lang="zh-CN" altLang="zh-CN" smtClean="0">
              <a:ea typeface="黑体" panose="02010609060101010101" pitchFamily="49" charset="-122"/>
            </a:endParaRPr>
          </a:p>
        </p:txBody>
      </p:sp>
      <p:sp>
        <p:nvSpPr>
          <p:cNvPr id="6799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u="sng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PPPoE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(PPP over Ethernet) </a:t>
            </a:r>
            <a:r>
              <a:rPr lang="zh-CN" altLang="en-US" sz="2800" dirty="0" smtClean="0">
                <a:ea typeface="黑体" panose="02010609060101010101" pitchFamily="49" charset="-122"/>
              </a:rPr>
              <a:t>的</a:t>
            </a:r>
            <a:r>
              <a:rPr lang="zh-CN" altLang="zh-CN" sz="2800" dirty="0" smtClean="0">
                <a:ea typeface="黑体" panose="02010609060101010101" pitchFamily="49" charset="-122"/>
              </a:rPr>
              <a:t>意思是“在以太网上运行</a:t>
            </a:r>
            <a:r>
              <a:rPr lang="en-US" altLang="zh-CN" sz="2800" dirty="0" smtClean="0">
                <a:ea typeface="黑体" panose="02010609060101010101" pitchFamily="49" charset="-122"/>
              </a:rPr>
              <a:t> PPP</a:t>
            </a:r>
            <a:r>
              <a:rPr lang="zh-CN" altLang="zh-CN" sz="2800" dirty="0" smtClean="0">
                <a:ea typeface="黑体" panose="02010609060101010101" pitchFamily="49" charset="-122"/>
              </a:rPr>
              <a:t>”</a:t>
            </a:r>
            <a:r>
              <a:rPr lang="zh-CN" altLang="en-US" sz="2800" dirty="0" smtClean="0">
                <a:ea typeface="黑体" panose="02010609060101010101" pitchFamily="49" charset="-122"/>
              </a:rPr>
              <a:t>，它</a:t>
            </a:r>
            <a:r>
              <a:rPr lang="zh-CN" altLang="zh-CN" sz="2800" dirty="0" smtClean="0">
                <a:ea typeface="黑体" panose="02010609060101010101" pitchFamily="49" charset="-122"/>
              </a:rPr>
              <a:t>把</a:t>
            </a:r>
            <a:r>
              <a:rPr lang="en-US" altLang="zh-CN" sz="2800" dirty="0" smtClean="0">
                <a:ea typeface="黑体" panose="02010609060101010101" pitchFamily="49" charset="-122"/>
              </a:rPr>
              <a:t> PPP </a:t>
            </a:r>
            <a:r>
              <a:rPr lang="zh-CN" altLang="zh-CN" sz="2800" dirty="0" smtClean="0">
                <a:ea typeface="黑体" panose="02010609060101010101" pitchFamily="49" charset="-122"/>
              </a:rPr>
              <a:t>协议</a:t>
            </a:r>
            <a:r>
              <a:rPr lang="zh-CN" altLang="en-US" sz="2800" dirty="0" smtClean="0">
                <a:ea typeface="黑体" panose="02010609060101010101" pitchFamily="49" charset="-122"/>
              </a:rPr>
              <a:t>与以太网协议结合起来 </a:t>
            </a:r>
            <a:r>
              <a:rPr lang="en-US" altLang="zh-CN" sz="2800" dirty="0" smtClean="0">
                <a:ea typeface="黑体" panose="02010609060101010101" pitchFamily="49" charset="-122"/>
              </a:rPr>
              <a:t>—— 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PPP 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帧再封装到以太网中来传输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现在的光纤宽带接入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都要使用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的方式进行接入。在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弹出的窗口中键入在网络运营商购买的用户名和密码，就可以进行宽带上网了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利用</a:t>
            </a:r>
            <a:r>
              <a:rPr lang="en-US" altLang="zh-CN" sz="2800" dirty="0" smtClean="0">
                <a:ea typeface="黑体" panose="02010609060101010101" pitchFamily="49" charset="-122"/>
              </a:rPr>
              <a:t> ADSL </a:t>
            </a:r>
            <a:r>
              <a:rPr lang="zh-CN" altLang="zh-CN" sz="2800" dirty="0" smtClean="0">
                <a:ea typeface="黑体" panose="02010609060101010101" pitchFamily="49" charset="-122"/>
              </a:rPr>
              <a:t>进行宽带上网时</a:t>
            </a:r>
            <a:r>
              <a:rPr lang="zh-CN" altLang="zh-CN" sz="2800" dirty="0" smtClean="0">
                <a:ea typeface="黑体" panose="02010609060101010101" pitchFamily="49" charset="-122"/>
              </a:rPr>
              <a:t>，从用户个人电脑到家中的</a:t>
            </a:r>
            <a:r>
              <a:rPr lang="en-US" altLang="zh-CN" sz="2800" dirty="0" smtClean="0">
                <a:ea typeface="黑体" panose="02010609060101010101" pitchFamily="49" charset="-122"/>
              </a:rPr>
              <a:t> ADSL </a:t>
            </a:r>
            <a:r>
              <a:rPr lang="zh-CN" altLang="zh-CN" sz="2800" dirty="0" smtClean="0">
                <a:ea typeface="黑体" panose="02010609060101010101" pitchFamily="49" charset="-122"/>
              </a:rPr>
              <a:t>调制解调器</a:t>
            </a:r>
            <a:r>
              <a:rPr lang="zh-CN" altLang="zh-CN" sz="2800" dirty="0" smtClean="0">
                <a:ea typeface="黑体" panose="02010609060101010101" pitchFamily="49" charset="-122"/>
              </a:rPr>
              <a:t>之间，也是使用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RJ-45 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en-US" altLang="zh-CN" sz="2800" dirty="0" smtClean="0">
                <a:ea typeface="黑体" panose="02010609060101010101" pitchFamily="49" charset="-122"/>
              </a:rPr>
              <a:t> 5 </a:t>
            </a:r>
            <a:r>
              <a:rPr lang="zh-CN" altLang="zh-CN" sz="2800" dirty="0" smtClean="0">
                <a:ea typeface="黑体" panose="02010609060101010101" pitchFamily="49" charset="-122"/>
              </a:rPr>
              <a:t>类线（即以太网使用的网线）进行连接的，并且也是使用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PPPoE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弹出的窗口进行拨号连接的。</a:t>
            </a:r>
            <a:endParaRPr lang="zh-CN" altLang="en-US" sz="2800" dirty="0" smtClean="0">
              <a:ea typeface="黑体" panose="02010609060101010101" pitchFamily="49" charset="-122"/>
            </a:endParaRPr>
          </a:p>
        </p:txBody>
      </p:sp>
      <p:sp>
        <p:nvSpPr>
          <p:cNvPr id="67993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68C1C5-F104-45CA-AABF-92C48F4484F1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67994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109</TotalTime>
  <Words>1524</Words>
  <Application>Microsoft Office PowerPoint</Application>
  <PresentationFormat>A4 纸张(210x297 毫米)</PresentationFormat>
  <Paragraphs>234</Paragraphs>
  <Slides>21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黑体</vt:lpstr>
      <vt:lpstr>宋体</vt:lpstr>
      <vt:lpstr>Arial</vt:lpstr>
      <vt:lpstr>Symbol</vt:lpstr>
      <vt:lpstr>Times New Roman</vt:lpstr>
      <vt:lpstr>Wingdings</vt:lpstr>
      <vt:lpstr>Presentation</vt:lpstr>
      <vt:lpstr>第 3 章  数据链路层</vt:lpstr>
      <vt:lpstr>第 3 章  数据链路层</vt:lpstr>
      <vt:lpstr>3.5  高速以太网</vt:lpstr>
      <vt:lpstr>3.5.1  100BASE-T 以太网</vt:lpstr>
      <vt:lpstr>100BASE-T 以太网的特点</vt:lpstr>
      <vt:lpstr>100 Mbit/s 以太网的三种不同的物理层标准 </vt:lpstr>
      <vt:lpstr>3.5.2  吉比特以太网</vt:lpstr>
      <vt:lpstr>吉比特以太网的物理层 </vt:lpstr>
      <vt:lpstr>半双工方式工作的吉比特以太网</vt:lpstr>
      <vt:lpstr>载波延伸</vt:lpstr>
      <vt:lpstr>分组突发</vt:lpstr>
      <vt:lpstr>全双工方式工作的吉比特以太网</vt:lpstr>
      <vt:lpstr>吉比特以太网的配置举例 </vt:lpstr>
      <vt:lpstr>3.5.3   10 吉比特以太网和更快的以太网</vt:lpstr>
      <vt:lpstr>10 吉比特以太网的物理层</vt:lpstr>
      <vt:lpstr>更快的以太网</vt:lpstr>
      <vt:lpstr>40GE/100GE 的物理层</vt:lpstr>
      <vt:lpstr>端到端的以太网传输 </vt:lpstr>
      <vt:lpstr>以太网从 10 Mbit/s 到100 Gbit/s 的演进 </vt:lpstr>
      <vt:lpstr>3.5.4  使用以太网进行宽带接入</vt:lpstr>
      <vt:lpstr>PPPoE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57</cp:revision>
  <dcterms:created xsi:type="dcterms:W3CDTF">2016-10-01T05:27:00Z</dcterms:created>
  <dcterms:modified xsi:type="dcterms:W3CDTF">2023-03-30T00:13:14Z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
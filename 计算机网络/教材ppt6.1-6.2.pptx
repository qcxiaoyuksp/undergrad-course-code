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1261" r:id="rId2"/>
    <p:sldId id="1262" r:id="rId3"/>
    <p:sldId id="1263" r:id="rId4"/>
    <p:sldId id="1264" r:id="rId5"/>
    <p:sldId id="1265" r:id="rId6"/>
    <p:sldId id="1266" r:id="rId7"/>
    <p:sldId id="1267" r:id="rId8"/>
    <p:sldId id="1268" r:id="rId9"/>
    <p:sldId id="1269" r:id="rId10"/>
    <p:sldId id="1270" r:id="rId11"/>
    <p:sldId id="1271" r:id="rId12"/>
    <p:sldId id="1272" r:id="rId13"/>
    <p:sldId id="1273" r:id="rId14"/>
    <p:sldId id="1274" r:id="rId15"/>
    <p:sldId id="1275" r:id="rId16"/>
    <p:sldId id="1276" r:id="rId17"/>
    <p:sldId id="1277" r:id="rId18"/>
    <p:sldId id="1278" r:id="rId19"/>
    <p:sldId id="1279" r:id="rId20"/>
    <p:sldId id="1280" r:id="rId21"/>
    <p:sldId id="1281" r:id="rId22"/>
    <p:sldId id="1282" r:id="rId23"/>
    <p:sldId id="1283" r:id="rId24"/>
    <p:sldId id="1284" r:id="rId25"/>
    <p:sldId id="1285" r:id="rId26"/>
    <p:sldId id="1286" r:id="rId27"/>
    <p:sldId id="1287" r:id="rId28"/>
    <p:sldId id="1288" r:id="rId29"/>
    <p:sldId id="1289" r:id="rId30"/>
    <p:sldId id="1290" r:id="rId31"/>
    <p:sldId id="1291" r:id="rId32"/>
    <p:sldId id="1292" r:id="rId33"/>
    <p:sldId id="1293" r:id="rId34"/>
    <p:sldId id="1294" r:id="rId35"/>
    <p:sldId id="1295" r:id="rId36"/>
    <p:sldId id="1296" r:id="rId37"/>
    <p:sldId id="1297" r:id="rId38"/>
    <p:sldId id="1298" r:id="rId39"/>
    <p:sldId id="1299" r:id="rId40"/>
    <p:sldId id="1300" r:id="rId41"/>
    <p:sldId id="1301" r:id="rId42"/>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FE256D-9FE7-4C8B-8BAC-043F6A85B0DD}" type="slidenum">
              <a:rPr lang="en-US" altLang="zh-CN" smtClean="0"/>
              <a:pPr eaLnBrk="1" hangingPunct="1"/>
              <a:t>2</a:t>
            </a:fld>
            <a:endParaRPr lang="en-US" altLang="zh-CN" smtClean="0"/>
          </a:p>
        </p:txBody>
      </p:sp>
      <p:sp>
        <p:nvSpPr>
          <p:cNvPr id="1600514" name="Rectangle 2"/>
          <p:cNvSpPr>
            <a:spLocks noGrp="1" noRot="1" noChangeAspect="1" noChangeArrowheads="1" noTextEdit="1"/>
          </p:cNvSpPr>
          <p:nvPr>
            <p:ph type="sldImg" idx="4294967295"/>
          </p:nvPr>
        </p:nvSpPr>
        <p:spPr>
          <a:ln/>
        </p:spPr>
      </p:sp>
      <p:sp>
        <p:nvSpPr>
          <p:cNvPr id="16005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93A9B0-5D98-4161-B1DC-2E2FF8823A62}" type="slidenum">
              <a:rPr lang="en-US" altLang="zh-CN" smtClean="0"/>
              <a:pPr eaLnBrk="1" hangingPunct="1"/>
              <a:t>4</a:t>
            </a:fld>
            <a:endParaRPr lang="en-US" altLang="zh-CN" smtClean="0"/>
          </a:p>
        </p:txBody>
      </p:sp>
      <p:sp>
        <p:nvSpPr>
          <p:cNvPr id="1603586" name="Rectangle 2"/>
          <p:cNvSpPr>
            <a:spLocks noGrp="1" noRot="1" noChangeAspect="1" noChangeArrowheads="1" noTextEdit="1"/>
          </p:cNvSpPr>
          <p:nvPr>
            <p:ph type="sldImg" idx="4294967295"/>
          </p:nvPr>
        </p:nvSpPr>
        <p:spPr>
          <a:ln/>
        </p:spPr>
      </p:sp>
      <p:sp>
        <p:nvSpPr>
          <p:cNvPr id="16035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5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CD752C-DE6D-4ABD-B232-7560D9B9E842}" type="slidenum">
              <a:rPr lang="en-US" altLang="zh-CN" smtClean="0"/>
              <a:pPr eaLnBrk="1" hangingPunct="1"/>
              <a:t>5</a:t>
            </a:fld>
            <a:endParaRPr lang="en-US" altLang="zh-CN" smtClean="0"/>
          </a:p>
        </p:txBody>
      </p:sp>
      <p:sp>
        <p:nvSpPr>
          <p:cNvPr id="1605634" name="Rectangle 2"/>
          <p:cNvSpPr>
            <a:spLocks noGrp="1" noRot="1" noChangeAspect="1" noChangeArrowheads="1" noTextEdit="1"/>
          </p:cNvSpPr>
          <p:nvPr>
            <p:ph type="sldImg" idx="4294967295"/>
          </p:nvPr>
        </p:nvSpPr>
        <p:spPr>
          <a:ln/>
        </p:spPr>
      </p:sp>
      <p:sp>
        <p:nvSpPr>
          <p:cNvPr id="160563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8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4AA3C8-584C-4B56-AE8F-F817F592D28F}" type="slidenum">
              <a:rPr lang="en-US" altLang="zh-CN" smtClean="0"/>
              <a:pPr eaLnBrk="1" hangingPunct="1"/>
              <a:t>7</a:t>
            </a:fld>
            <a:endParaRPr lang="en-US" altLang="zh-CN" smtClean="0"/>
          </a:p>
        </p:txBody>
      </p:sp>
      <p:sp>
        <p:nvSpPr>
          <p:cNvPr id="1608706" name="Rectangle 2"/>
          <p:cNvSpPr>
            <a:spLocks noGrp="1" noRot="1" noChangeAspect="1" noChangeArrowheads="1" noTextEdit="1"/>
          </p:cNvSpPr>
          <p:nvPr>
            <p:ph type="sldImg" idx="4294967295"/>
          </p:nvPr>
        </p:nvSpPr>
        <p:spPr>
          <a:ln/>
        </p:spPr>
      </p:sp>
      <p:sp>
        <p:nvSpPr>
          <p:cNvPr id="16087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0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3987A9-E054-4641-A680-9312AF509FA6}" type="slidenum">
              <a:rPr lang="en-US" altLang="zh-CN" smtClean="0"/>
              <a:pPr eaLnBrk="1" hangingPunct="1"/>
              <a:t>8</a:t>
            </a:fld>
            <a:endParaRPr lang="en-US" altLang="zh-CN" smtClean="0"/>
          </a:p>
        </p:txBody>
      </p:sp>
      <p:sp>
        <p:nvSpPr>
          <p:cNvPr id="1610754" name="Rectangle 2"/>
          <p:cNvSpPr>
            <a:spLocks noGrp="1" noRot="1" noChangeAspect="1" noChangeArrowheads="1" noTextEdit="1"/>
          </p:cNvSpPr>
          <p:nvPr>
            <p:ph type="sldImg" idx="4294967295"/>
          </p:nvPr>
        </p:nvSpPr>
        <p:spPr>
          <a:ln/>
        </p:spPr>
      </p:sp>
      <p:sp>
        <p:nvSpPr>
          <p:cNvPr id="16107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2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0B2A2E-1451-44E3-A7B9-5D843437CF46}" type="slidenum">
              <a:rPr lang="en-US" altLang="zh-CN" smtClean="0"/>
              <a:pPr eaLnBrk="1" hangingPunct="1"/>
              <a:t>9</a:t>
            </a:fld>
            <a:endParaRPr lang="en-US" altLang="zh-CN" smtClean="0"/>
          </a:p>
        </p:txBody>
      </p:sp>
      <p:sp>
        <p:nvSpPr>
          <p:cNvPr id="1612802" name="Rectangle 2"/>
          <p:cNvSpPr>
            <a:spLocks noGrp="1" noRot="1" noChangeAspect="1" noChangeArrowheads="1" noTextEdit="1"/>
          </p:cNvSpPr>
          <p:nvPr>
            <p:ph type="sldImg" idx="4294967295"/>
          </p:nvPr>
        </p:nvSpPr>
        <p:spPr>
          <a:ln/>
        </p:spPr>
      </p:sp>
      <p:sp>
        <p:nvSpPr>
          <p:cNvPr id="16128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4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9403CB-D624-42DA-918C-8AF546F155A5}" type="slidenum">
              <a:rPr lang="en-US" altLang="zh-CN" smtClean="0"/>
              <a:pPr eaLnBrk="1" hangingPunct="1"/>
              <a:t>10</a:t>
            </a:fld>
            <a:endParaRPr lang="en-US" altLang="zh-CN" smtClean="0"/>
          </a:p>
        </p:txBody>
      </p:sp>
      <p:sp>
        <p:nvSpPr>
          <p:cNvPr id="1614850" name="Rectangle 2"/>
          <p:cNvSpPr>
            <a:spLocks noGrp="1" noRot="1" noChangeAspect="1" noChangeArrowheads="1" noTextEdit="1"/>
          </p:cNvSpPr>
          <p:nvPr>
            <p:ph type="sldImg" idx="4294967295"/>
          </p:nvPr>
        </p:nvSpPr>
        <p:spPr>
          <a:ln/>
        </p:spPr>
      </p:sp>
      <p:sp>
        <p:nvSpPr>
          <p:cNvPr id="16148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68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289BB1-69F0-4185-9828-9DD81798528C}" type="slidenum">
              <a:rPr lang="en-US" altLang="zh-CN" smtClean="0"/>
              <a:pPr eaLnBrk="1" hangingPunct="1"/>
              <a:t>11</a:t>
            </a:fld>
            <a:endParaRPr lang="en-US" altLang="zh-CN" smtClean="0"/>
          </a:p>
        </p:txBody>
      </p:sp>
      <p:sp>
        <p:nvSpPr>
          <p:cNvPr id="1616898" name="Rectangle 2"/>
          <p:cNvSpPr>
            <a:spLocks noGrp="1" noRot="1" noChangeAspect="1" noChangeArrowheads="1" noTextEdit="1"/>
          </p:cNvSpPr>
          <p:nvPr>
            <p:ph type="sldImg" idx="4294967295"/>
          </p:nvPr>
        </p:nvSpPr>
        <p:spPr>
          <a:ln/>
        </p:spPr>
      </p:sp>
      <p:sp>
        <p:nvSpPr>
          <p:cNvPr id="16168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3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3957EF-4E4B-41F9-A408-117BD3AE82E3}" type="slidenum">
              <a:rPr lang="en-US" altLang="zh-CN" smtClean="0"/>
              <a:pPr eaLnBrk="1" hangingPunct="1"/>
              <a:t>26</a:t>
            </a:fld>
            <a:endParaRPr lang="en-US" altLang="zh-CN" smtClean="0"/>
          </a:p>
        </p:txBody>
      </p:sp>
      <p:sp>
        <p:nvSpPr>
          <p:cNvPr id="1633282" name="Rectangle 2"/>
          <p:cNvSpPr>
            <a:spLocks noGrp="1" noRot="1" noChangeAspect="1" noChangeArrowheads="1" noTextEdit="1"/>
          </p:cNvSpPr>
          <p:nvPr>
            <p:ph type="sldImg" idx="4294967295"/>
          </p:nvPr>
        </p:nvSpPr>
        <p:spPr>
          <a:ln/>
        </p:spPr>
      </p:sp>
      <p:sp>
        <p:nvSpPr>
          <p:cNvPr id="163328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7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0C2AB9-8461-4AE9-86AF-C09989B8E691}" type="slidenum">
              <a:rPr lang="en-US" altLang="zh-CN" smtClean="0"/>
              <a:pPr eaLnBrk="1" hangingPunct="1"/>
              <a:t>29</a:t>
            </a:fld>
            <a:endParaRPr lang="en-US" altLang="zh-CN" smtClean="0"/>
          </a:p>
        </p:txBody>
      </p:sp>
      <p:sp>
        <p:nvSpPr>
          <p:cNvPr id="1637378" name="Rectangle 2"/>
          <p:cNvSpPr>
            <a:spLocks noGrp="1" noRot="1" noChangeAspect="1" noChangeArrowheads="1" noTextEdit="1"/>
          </p:cNvSpPr>
          <p:nvPr>
            <p:ph type="sldImg" idx="4294967295"/>
          </p:nvPr>
        </p:nvSpPr>
        <p:spPr>
          <a:ln/>
        </p:spPr>
      </p:sp>
      <p:sp>
        <p:nvSpPr>
          <p:cNvPr id="163737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789986-2A21-484D-A8CD-B293452E4E74}" type="slidenum">
              <a:rPr lang="en-US" altLang="zh-CN" smtClean="0"/>
              <a:pPr eaLnBrk="1" hangingPunct="1"/>
              <a:t>30</a:t>
            </a:fld>
            <a:endParaRPr lang="en-US" altLang="zh-CN" smtClean="0"/>
          </a:p>
        </p:txBody>
      </p:sp>
      <p:sp>
        <p:nvSpPr>
          <p:cNvPr id="1639426" name="Rectangle 2"/>
          <p:cNvSpPr>
            <a:spLocks noGrp="1" noRot="1" noChangeAspect="1" noChangeArrowheads="1" noTextEdit="1"/>
          </p:cNvSpPr>
          <p:nvPr>
            <p:ph type="sldImg" idx="4294967295"/>
          </p:nvPr>
        </p:nvSpPr>
        <p:spPr>
          <a:ln/>
        </p:spPr>
      </p:sp>
      <p:sp>
        <p:nvSpPr>
          <p:cNvPr id="163942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8E0294-E380-46F3-B7ED-B71FA523718A}" type="slidenum">
              <a:rPr lang="en-US" altLang="zh-CN" smtClean="0"/>
              <a:pPr eaLnBrk="1" hangingPunct="1"/>
              <a:t>31</a:t>
            </a:fld>
            <a:endParaRPr lang="en-US" altLang="zh-CN" smtClean="0"/>
          </a:p>
        </p:txBody>
      </p:sp>
      <p:sp>
        <p:nvSpPr>
          <p:cNvPr id="1641474" name="Rectangle 2"/>
          <p:cNvSpPr>
            <a:spLocks noGrp="1" noRot="1" noChangeAspect="1" noChangeArrowheads="1" noTextEdit="1"/>
          </p:cNvSpPr>
          <p:nvPr>
            <p:ph type="sldImg" idx="4294967295"/>
          </p:nvPr>
        </p:nvSpPr>
        <p:spPr>
          <a:ln/>
        </p:spPr>
      </p:sp>
      <p:sp>
        <p:nvSpPr>
          <p:cNvPr id="164147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3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065259-520C-4A6C-93C5-4A18BE5AE3A8}" type="slidenum">
              <a:rPr lang="en-US" altLang="zh-CN" smtClean="0"/>
              <a:pPr eaLnBrk="1" hangingPunct="1"/>
              <a:t>32</a:t>
            </a:fld>
            <a:endParaRPr lang="en-US" altLang="zh-CN" smtClean="0"/>
          </a:p>
        </p:txBody>
      </p:sp>
      <p:sp>
        <p:nvSpPr>
          <p:cNvPr id="1643522" name="Rectangle 2"/>
          <p:cNvSpPr>
            <a:spLocks noGrp="1" noRot="1" noChangeAspect="1" noChangeArrowheads="1" noTextEdit="1"/>
          </p:cNvSpPr>
          <p:nvPr>
            <p:ph type="sldImg" idx="4294967295"/>
          </p:nvPr>
        </p:nvSpPr>
        <p:spPr>
          <a:ln/>
        </p:spPr>
      </p:sp>
      <p:sp>
        <p:nvSpPr>
          <p:cNvPr id="164352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5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19C9EE-3B12-42F5-882E-63CB99D9CBAB}" type="slidenum">
              <a:rPr lang="en-US" altLang="zh-CN" smtClean="0"/>
              <a:pPr eaLnBrk="1" hangingPunct="1"/>
              <a:t>33</a:t>
            </a:fld>
            <a:endParaRPr lang="en-US" altLang="zh-CN" smtClean="0"/>
          </a:p>
        </p:txBody>
      </p:sp>
      <p:sp>
        <p:nvSpPr>
          <p:cNvPr id="1645570" name="Rectangle 2"/>
          <p:cNvSpPr>
            <a:spLocks noGrp="1" noRot="1" noChangeAspect="1" noChangeArrowheads="1" noTextEdit="1"/>
          </p:cNvSpPr>
          <p:nvPr>
            <p:ph type="sldImg" idx="4294967295"/>
          </p:nvPr>
        </p:nvSpPr>
        <p:spPr>
          <a:ln/>
        </p:spPr>
      </p:sp>
      <p:sp>
        <p:nvSpPr>
          <p:cNvPr id="164557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7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6C9396-089C-43AE-9877-CFF86685D548}" type="slidenum">
              <a:rPr lang="en-US" altLang="zh-CN" smtClean="0"/>
              <a:pPr eaLnBrk="1" hangingPunct="1"/>
              <a:t>34</a:t>
            </a:fld>
            <a:endParaRPr lang="en-US" altLang="zh-CN" smtClean="0"/>
          </a:p>
        </p:txBody>
      </p:sp>
      <p:sp>
        <p:nvSpPr>
          <p:cNvPr id="1647618" name="Rectangle 2"/>
          <p:cNvSpPr>
            <a:spLocks noGrp="1" noRot="1" noChangeAspect="1" noChangeArrowheads="1" noTextEdit="1"/>
          </p:cNvSpPr>
          <p:nvPr>
            <p:ph type="sldImg" idx="4294967295"/>
          </p:nvPr>
        </p:nvSpPr>
        <p:spPr>
          <a:ln/>
        </p:spPr>
      </p:sp>
      <p:sp>
        <p:nvSpPr>
          <p:cNvPr id="16476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6DF9DC-ED2E-4B85-A7F6-1A5B8E18F5CB}" type="slidenum">
              <a:rPr lang="en-US" altLang="zh-CN" smtClean="0"/>
              <a:pPr eaLnBrk="1" hangingPunct="1"/>
              <a:t>35</a:t>
            </a:fld>
            <a:endParaRPr lang="en-US" altLang="zh-CN" smtClean="0"/>
          </a:p>
        </p:txBody>
      </p:sp>
      <p:sp>
        <p:nvSpPr>
          <p:cNvPr id="1649666" name="Rectangle 2"/>
          <p:cNvSpPr>
            <a:spLocks noGrp="1" noRot="1" noChangeAspect="1" noChangeArrowheads="1" noTextEdit="1"/>
          </p:cNvSpPr>
          <p:nvPr>
            <p:ph type="sldImg" idx="4294967295"/>
          </p:nvPr>
        </p:nvSpPr>
        <p:spPr>
          <a:ln/>
        </p:spPr>
      </p:sp>
      <p:sp>
        <p:nvSpPr>
          <p:cNvPr id="16496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1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51C370-C15A-4B81-A9CE-81603D2BB018}" type="slidenum">
              <a:rPr lang="en-US" altLang="zh-CN" smtClean="0"/>
              <a:pPr eaLnBrk="1" hangingPunct="1"/>
              <a:t>36</a:t>
            </a:fld>
            <a:endParaRPr lang="en-US" altLang="zh-CN" smtClean="0"/>
          </a:p>
        </p:txBody>
      </p:sp>
      <p:sp>
        <p:nvSpPr>
          <p:cNvPr id="1651714" name="Rectangle 2"/>
          <p:cNvSpPr>
            <a:spLocks noGrp="1" noRot="1" noChangeAspect="1" noChangeArrowheads="1" noTextEdit="1"/>
          </p:cNvSpPr>
          <p:nvPr>
            <p:ph type="sldImg" idx="4294967295"/>
          </p:nvPr>
        </p:nvSpPr>
        <p:spPr>
          <a:ln/>
        </p:spPr>
      </p:sp>
      <p:sp>
        <p:nvSpPr>
          <p:cNvPr id="16517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3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6D7F32-E8BA-4C51-9ACF-A30229638A58}" type="slidenum">
              <a:rPr lang="en-US" altLang="zh-CN" smtClean="0"/>
              <a:pPr eaLnBrk="1" hangingPunct="1"/>
              <a:t>37</a:t>
            </a:fld>
            <a:endParaRPr lang="en-US" altLang="zh-CN" smtClean="0"/>
          </a:p>
        </p:txBody>
      </p:sp>
      <p:sp>
        <p:nvSpPr>
          <p:cNvPr id="1653762" name="Rectangle 2"/>
          <p:cNvSpPr>
            <a:spLocks noGrp="1" noRot="1" noChangeAspect="1" noChangeArrowheads="1" noTextEdit="1"/>
          </p:cNvSpPr>
          <p:nvPr>
            <p:ph type="sldImg" idx="4294967295"/>
          </p:nvPr>
        </p:nvSpPr>
        <p:spPr>
          <a:ln/>
        </p:spPr>
      </p:sp>
      <p:sp>
        <p:nvSpPr>
          <p:cNvPr id="16537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62DB12-0323-493A-8EEF-EA324819E823}" type="slidenum">
              <a:rPr lang="en-US" altLang="zh-CN" smtClean="0"/>
              <a:pPr eaLnBrk="1" hangingPunct="1"/>
              <a:t>38</a:t>
            </a:fld>
            <a:endParaRPr lang="en-US" altLang="zh-CN" smtClean="0"/>
          </a:p>
        </p:txBody>
      </p:sp>
      <p:sp>
        <p:nvSpPr>
          <p:cNvPr id="1655810" name="Rectangle 2"/>
          <p:cNvSpPr>
            <a:spLocks noGrp="1" noRot="1" noChangeAspect="1" noChangeArrowheads="1" noTextEdit="1"/>
          </p:cNvSpPr>
          <p:nvPr>
            <p:ph type="sldImg" idx="4294967295"/>
          </p:nvPr>
        </p:nvSpPr>
        <p:spPr>
          <a:ln/>
        </p:spPr>
      </p:sp>
      <p:sp>
        <p:nvSpPr>
          <p:cNvPr id="16558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7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669480-3A8D-434A-96AD-195773764DD1}" type="slidenum">
              <a:rPr lang="en-US" altLang="zh-CN" smtClean="0"/>
              <a:pPr eaLnBrk="1" hangingPunct="1"/>
              <a:t>39</a:t>
            </a:fld>
            <a:endParaRPr lang="en-US" altLang="zh-CN" smtClean="0"/>
          </a:p>
        </p:txBody>
      </p:sp>
      <p:sp>
        <p:nvSpPr>
          <p:cNvPr id="1657858" name="Rectangle 2"/>
          <p:cNvSpPr>
            <a:spLocks noGrp="1" noRot="1" noChangeAspect="1" noChangeArrowheads="1" noTextEdit="1"/>
          </p:cNvSpPr>
          <p:nvPr>
            <p:ph type="sldImg" idx="4294967295"/>
          </p:nvPr>
        </p:nvSpPr>
        <p:spPr>
          <a:ln/>
        </p:spPr>
      </p:sp>
      <p:sp>
        <p:nvSpPr>
          <p:cNvPr id="16578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9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D6CDEA-6811-4314-8D2D-DFEE76407323}" type="slidenum">
              <a:rPr lang="en-US" altLang="zh-CN" smtClean="0"/>
              <a:pPr eaLnBrk="1" hangingPunct="1"/>
              <a:t>40</a:t>
            </a:fld>
            <a:endParaRPr lang="en-US" altLang="zh-CN" smtClean="0"/>
          </a:p>
        </p:txBody>
      </p:sp>
      <p:sp>
        <p:nvSpPr>
          <p:cNvPr id="1659906" name="Rectangle 2"/>
          <p:cNvSpPr>
            <a:spLocks noGrp="1" noRot="1" noChangeAspect="1" noChangeArrowheads="1" noTextEdit="1"/>
          </p:cNvSpPr>
          <p:nvPr>
            <p:ph type="sldImg" idx="4294967295"/>
          </p:nvPr>
        </p:nvSpPr>
        <p:spPr>
          <a:ln/>
        </p:spPr>
      </p:sp>
      <p:sp>
        <p:nvSpPr>
          <p:cNvPr id="16599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BA529B-ACA2-4933-B49D-5F329C273B49}" type="slidenum">
              <a:rPr lang="en-US" altLang="zh-CN" smtClean="0"/>
              <a:pPr eaLnBrk="1" hangingPunct="1"/>
              <a:t>41</a:t>
            </a:fld>
            <a:endParaRPr lang="en-US" altLang="zh-CN" smtClean="0"/>
          </a:p>
        </p:txBody>
      </p:sp>
      <p:sp>
        <p:nvSpPr>
          <p:cNvPr id="1661954" name="Rectangle 2"/>
          <p:cNvSpPr>
            <a:spLocks noGrp="1" noRot="1" noChangeAspect="1" noChangeArrowheads="1" noTextEdit="1"/>
          </p:cNvSpPr>
          <p:nvPr>
            <p:ph type="sldImg" idx="4294967295"/>
          </p:nvPr>
        </p:nvSpPr>
        <p:spPr>
          <a:ln/>
        </p:spPr>
      </p:sp>
      <p:sp>
        <p:nvSpPr>
          <p:cNvPr id="16619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465" name="标题 1"/>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6 </a:t>
            </a:r>
            <a:r>
              <a:rPr lang="zh-CN" altLang="en-US" smtClean="0">
                <a:ea typeface="黑体" panose="02010609060101010101" pitchFamily="49" charset="-122"/>
              </a:rPr>
              <a:t>章 应用层</a:t>
            </a:r>
          </a:p>
        </p:txBody>
      </p:sp>
      <p:sp>
        <p:nvSpPr>
          <p:cNvPr id="1598466"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6.1  </a:t>
            </a:r>
            <a:r>
              <a:rPr lang="zh-CN" altLang="en-US" dirty="0" smtClean="0">
                <a:ea typeface="黑体" panose="02010609060101010101" pitchFamily="49" charset="-122"/>
              </a:rPr>
              <a:t>域名系统 </a:t>
            </a:r>
            <a:r>
              <a:rPr lang="en-US" altLang="zh-CN" dirty="0" smtClean="0">
                <a:ea typeface="黑体" panose="02010609060101010101" pitchFamily="49" charset="-122"/>
              </a:rPr>
              <a:t>DNS</a:t>
            </a:r>
          </a:p>
          <a:p>
            <a:pPr>
              <a:lnSpc>
                <a:spcPct val="100000"/>
              </a:lnSpc>
            </a:pPr>
            <a:r>
              <a:rPr lang="en-US" altLang="zh-CN" dirty="0" smtClean="0">
                <a:ea typeface="黑体" panose="02010609060101010101" pitchFamily="49" charset="-122"/>
              </a:rPr>
              <a:t>6.2  </a:t>
            </a:r>
            <a:r>
              <a:rPr lang="zh-CN" altLang="en-US" dirty="0" smtClean="0">
                <a:ea typeface="黑体" panose="02010609060101010101" pitchFamily="49" charset="-122"/>
              </a:rPr>
              <a:t>文件传送协议</a:t>
            </a:r>
            <a:endParaRPr lang="en-US" altLang="zh-CN" dirty="0" smtClean="0">
              <a:ea typeface="黑体" panose="02010609060101010101" pitchFamily="49" charset="-122"/>
            </a:endParaRPr>
          </a:p>
        </p:txBody>
      </p:sp>
      <p:sp>
        <p:nvSpPr>
          <p:cNvPr id="159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F34E6-6FF2-4929-AAB5-81F5EC4F5FE3}" type="slidenum">
              <a:rPr lang="zh-CN" altLang="en-US" smtClean="0"/>
              <a:pPr eaLnBrk="1" hangingPunct="1"/>
              <a:t>1</a:t>
            </a:fld>
            <a:endParaRPr lang="en-US" altLang="zh-CN" smtClean="0"/>
          </a:p>
        </p:txBody>
      </p:sp>
      <p:sp>
        <p:nvSpPr>
          <p:cNvPr id="159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94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应用层协议的特点 </a:t>
            </a:r>
          </a:p>
        </p:txBody>
      </p:sp>
      <p:sp>
        <p:nvSpPr>
          <p:cNvPr id="123907" name="Rectangle 3"/>
          <p:cNvSpPr>
            <a:spLocks noGrp="1" noChangeArrowheads="1"/>
          </p:cNvSpPr>
          <p:nvPr>
            <p:ph idx="1"/>
          </p:nvPr>
        </p:nvSpPr>
        <p:spPr>
          <a:xfrm>
            <a:off x="495300" y="1196975"/>
            <a:ext cx="9066213" cy="4933950"/>
          </a:xfrm>
        </p:spPr>
        <p:txBody>
          <a:bodyPr/>
          <a:lstStyle/>
          <a:p>
            <a:pPr algn="just"/>
            <a:r>
              <a:rPr lang="zh-CN" altLang="en-US" sz="2800" dirty="0" smtClean="0">
                <a:latin typeface="黑体" panose="02010609060101010101" pitchFamily="49" charset="-122"/>
                <a:ea typeface="黑体" panose="02010609060101010101" pitchFamily="49" charset="-122"/>
              </a:rPr>
              <a:t>每个应用层协议都是为了解决某一类</a:t>
            </a:r>
            <a:r>
              <a:rPr lang="zh-CN" altLang="en-US" sz="2800" dirty="0" smtClean="0">
                <a:solidFill>
                  <a:srgbClr val="0000FF"/>
                </a:solidFill>
                <a:latin typeface="黑体" panose="02010609060101010101" pitchFamily="49" charset="-122"/>
                <a:ea typeface="黑体" panose="02010609060101010101" pitchFamily="49" charset="-122"/>
              </a:rPr>
              <a:t>应用问题</a:t>
            </a:r>
            <a:r>
              <a:rPr lang="zh-CN" altLang="en-US" sz="2800" dirty="0" smtClean="0">
                <a:latin typeface="黑体" panose="02010609060101010101" pitchFamily="49" charset="-122"/>
                <a:ea typeface="黑体" panose="02010609060101010101" pitchFamily="49" charset="-122"/>
              </a:rPr>
              <a:t>，而问题的解决又往往是通过位于不同主机中的</a:t>
            </a:r>
            <a:r>
              <a:rPr lang="zh-CN" altLang="en-US" sz="2800" dirty="0" smtClean="0">
                <a:solidFill>
                  <a:srgbClr val="0000FF"/>
                </a:solidFill>
                <a:latin typeface="黑体" panose="02010609060101010101" pitchFamily="49" charset="-122"/>
                <a:ea typeface="黑体" panose="02010609060101010101" pitchFamily="49" charset="-122"/>
              </a:rPr>
              <a:t>多个应用进程之间的通信和协同工作</a:t>
            </a:r>
            <a:r>
              <a:rPr lang="zh-CN" altLang="en-US" sz="2800" dirty="0" smtClean="0">
                <a:latin typeface="黑体" panose="02010609060101010101" pitchFamily="49" charset="-122"/>
                <a:ea typeface="黑体" panose="02010609060101010101" pitchFamily="49" charset="-122"/>
              </a:rPr>
              <a:t>来完成的。应用层的具体内容就是</a:t>
            </a:r>
            <a:r>
              <a:rPr lang="zh-CN" altLang="en-US" sz="2800" dirty="0" smtClean="0">
                <a:solidFill>
                  <a:srgbClr val="0000FF"/>
                </a:solidFill>
                <a:latin typeface="黑体" panose="02010609060101010101" pitchFamily="49" charset="-122"/>
                <a:ea typeface="黑体" panose="02010609060101010101" pitchFamily="49" charset="-122"/>
              </a:rPr>
              <a:t>规定应用进程在通信时所遵循的协议</a:t>
            </a:r>
            <a:r>
              <a:rPr lang="zh-CN" altLang="en-US" sz="2800" dirty="0" smtClean="0">
                <a:latin typeface="黑体" panose="02010609060101010101" pitchFamily="49" charset="-122"/>
                <a:ea typeface="黑体" panose="02010609060101010101" pitchFamily="49" charset="-122"/>
              </a:rPr>
              <a:t>。</a:t>
            </a:r>
          </a:p>
          <a:p>
            <a:pPr algn="just"/>
            <a:r>
              <a:rPr lang="zh-CN" altLang="en-US" sz="2800" dirty="0" smtClean="0">
                <a:ea typeface="黑体" panose="02010609060101010101" pitchFamily="49" charset="-122"/>
              </a:rPr>
              <a:t>应用层的许多协议都是</a:t>
            </a:r>
            <a:r>
              <a:rPr lang="zh-CN" altLang="en-US" sz="2800" dirty="0" smtClean="0">
                <a:solidFill>
                  <a:srgbClr val="FF0000"/>
                </a:solidFill>
                <a:ea typeface="黑体" panose="02010609060101010101" pitchFamily="49" charset="-122"/>
              </a:rPr>
              <a:t>基于客户服务器方式</a:t>
            </a:r>
            <a:r>
              <a:rPr lang="zh-CN" altLang="en-US" sz="2800" dirty="0" smtClean="0">
                <a:ea typeface="黑体" panose="02010609060101010101" pitchFamily="49" charset="-122"/>
              </a:rPr>
              <a:t>。客户</a:t>
            </a:r>
            <a:r>
              <a:rPr lang="en-US" altLang="zh-CN" sz="2800" dirty="0" smtClean="0">
                <a:ea typeface="黑体" panose="02010609060101010101" pitchFamily="49" charset="-122"/>
              </a:rPr>
              <a:t>(client)</a:t>
            </a:r>
            <a:r>
              <a:rPr lang="zh-CN" altLang="en-US" sz="2800" dirty="0" smtClean="0">
                <a:ea typeface="黑体" panose="02010609060101010101" pitchFamily="49" charset="-122"/>
              </a:rPr>
              <a:t>和服务器</a:t>
            </a:r>
            <a:r>
              <a:rPr lang="en-US" altLang="zh-CN" sz="2800" dirty="0" smtClean="0">
                <a:ea typeface="黑体" panose="02010609060101010101" pitchFamily="49" charset="-122"/>
              </a:rPr>
              <a:t>(server)</a:t>
            </a:r>
            <a:r>
              <a:rPr lang="zh-CN" altLang="en-US" sz="2800" dirty="0" smtClean="0">
                <a:ea typeface="黑体" panose="02010609060101010101" pitchFamily="49" charset="-122"/>
              </a:rPr>
              <a:t>都是指通信中所涉及的两个应用进程。客户服务器方式所描述的是进程之间服务和被服务的关系。客户是服务请求方，服务器是服务提供方。 </a:t>
            </a:r>
            <a:r>
              <a:rPr lang="zh-CN" altLang="en-US" sz="2800" dirty="0" smtClean="0">
                <a:latin typeface="黑体" panose="02010609060101010101" pitchFamily="49" charset="-122"/>
                <a:ea typeface="黑体" panose="02010609060101010101" pitchFamily="49" charset="-122"/>
              </a:rPr>
              <a:t> </a:t>
            </a:r>
          </a:p>
        </p:txBody>
      </p:sp>
      <p:sp>
        <p:nvSpPr>
          <p:cNvPr id="15994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CE5CDB-8018-459C-B554-8732C819BCFE}" type="slidenum">
              <a:rPr lang="zh-CN" altLang="en-US" smtClean="0"/>
              <a:pPr eaLnBrk="1" hangingPunct="1"/>
              <a:t>2</a:t>
            </a:fld>
            <a:endParaRPr lang="en-US" altLang="zh-CN" smtClean="0"/>
          </a:p>
        </p:txBody>
      </p:sp>
      <p:sp>
        <p:nvSpPr>
          <p:cNvPr id="15994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153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6.1  </a:t>
            </a:r>
            <a:r>
              <a:rPr lang="zh-CN" altLang="en-US" smtClean="0">
                <a:ea typeface="黑体" panose="02010609060101010101" pitchFamily="49" charset="-122"/>
              </a:rPr>
              <a:t>域名系统 </a:t>
            </a:r>
            <a:r>
              <a:rPr lang="en-US" altLang="zh-CN" smtClean="0">
                <a:ea typeface="黑体" panose="02010609060101010101" pitchFamily="49" charset="-122"/>
              </a:rPr>
              <a:t>DNS</a:t>
            </a:r>
            <a:endParaRPr lang="zh-CN" altLang="en-US" smtClean="0">
              <a:ea typeface="黑体" panose="02010609060101010101" pitchFamily="49" charset="-122"/>
            </a:endParaRPr>
          </a:p>
        </p:txBody>
      </p:sp>
      <p:sp>
        <p:nvSpPr>
          <p:cNvPr id="1601538"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6.1.1  </a:t>
            </a:r>
            <a:r>
              <a:rPr lang="zh-CN" altLang="en-US" smtClean="0">
                <a:ea typeface="黑体" panose="02010609060101010101" pitchFamily="49" charset="-122"/>
              </a:rPr>
              <a:t>域名系统概述</a:t>
            </a:r>
            <a:endParaRPr lang="en-US" altLang="zh-CN" smtClean="0">
              <a:ea typeface="黑体" panose="02010609060101010101" pitchFamily="49" charset="-122"/>
            </a:endParaRPr>
          </a:p>
          <a:p>
            <a:r>
              <a:rPr lang="en-US" altLang="zh-CN" smtClean="0">
                <a:ea typeface="黑体" panose="02010609060101010101" pitchFamily="49" charset="-122"/>
              </a:rPr>
              <a:t>6.1.2  </a:t>
            </a:r>
            <a:r>
              <a:rPr lang="zh-CN" altLang="en-US" smtClean="0">
                <a:ea typeface="黑体" panose="02010609060101010101" pitchFamily="49" charset="-122"/>
              </a:rPr>
              <a:t>互联网的域名结构</a:t>
            </a:r>
            <a:endParaRPr lang="en-US" altLang="zh-CN" smtClean="0">
              <a:ea typeface="黑体" panose="02010609060101010101" pitchFamily="49" charset="-122"/>
            </a:endParaRPr>
          </a:p>
          <a:p>
            <a:r>
              <a:rPr lang="en-US" altLang="zh-CN" smtClean="0">
                <a:ea typeface="黑体" panose="02010609060101010101" pitchFamily="49" charset="-122"/>
              </a:rPr>
              <a:t>6.1.3  </a:t>
            </a:r>
            <a:r>
              <a:rPr lang="zh-CN" altLang="en-US" smtClean="0">
                <a:ea typeface="黑体" panose="02010609060101010101" pitchFamily="49" charset="-122"/>
              </a:rPr>
              <a:t>域名服务器</a:t>
            </a:r>
          </a:p>
        </p:txBody>
      </p:sp>
      <p:sp>
        <p:nvSpPr>
          <p:cNvPr id="160153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1D2057-9B05-46CD-BC8A-7C38DDDF1513}" type="slidenum">
              <a:rPr lang="zh-CN" altLang="en-US" smtClean="0"/>
              <a:pPr eaLnBrk="1" hangingPunct="1"/>
              <a:t>3</a:t>
            </a:fld>
            <a:endParaRPr lang="en-US" altLang="zh-CN" smtClean="0"/>
          </a:p>
        </p:txBody>
      </p:sp>
      <p:sp>
        <p:nvSpPr>
          <p:cNvPr id="160154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25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
            </a:r>
            <a:br>
              <a:rPr lang="en-US" altLang="zh-CN" smtClean="0">
                <a:ea typeface="黑体" panose="02010609060101010101" pitchFamily="49" charset="-122"/>
              </a:rPr>
            </a:br>
            <a:r>
              <a:rPr lang="en-US" altLang="zh-CN" smtClean="0">
                <a:ea typeface="黑体" panose="02010609060101010101" pitchFamily="49" charset="-122"/>
              </a:rPr>
              <a:t>6.1.1  </a:t>
            </a:r>
            <a:r>
              <a:rPr lang="zh-CN" altLang="en-US" smtClean="0">
                <a:ea typeface="黑体" panose="02010609060101010101" pitchFamily="49" charset="-122"/>
              </a:rPr>
              <a:t>域名系统概述</a:t>
            </a:r>
          </a:p>
        </p:txBody>
      </p:sp>
      <p:sp>
        <p:nvSpPr>
          <p:cNvPr id="573443" name="Rectangle 3"/>
          <p:cNvSpPr>
            <a:spLocks noGrp="1" noChangeArrowheads="1"/>
          </p:cNvSpPr>
          <p:nvPr>
            <p:ph idx="1"/>
          </p:nvPr>
        </p:nvSpPr>
        <p:spPr>
          <a:xfrm>
            <a:off x="495300" y="1196975"/>
            <a:ext cx="9066213" cy="4933950"/>
          </a:xfrm>
        </p:spPr>
        <p:txBody>
          <a:bodyPr/>
          <a:lstStyle/>
          <a:p>
            <a:pPr marL="315913" indent="-315913" algn="just">
              <a:spcBef>
                <a:spcPts val="550"/>
              </a:spcBef>
            </a:pPr>
            <a:r>
              <a:rPr lang="zh-CN" altLang="en-US" dirty="0" smtClean="0">
                <a:ea typeface="黑体" panose="02010609060101010101" pitchFamily="49" charset="-122"/>
              </a:rPr>
              <a:t>许多应用层软件经常直接使用</a:t>
            </a:r>
            <a:r>
              <a:rPr lang="zh-CN" altLang="en-US" u="sng" dirty="0" smtClean="0">
                <a:solidFill>
                  <a:srgbClr val="FF0000"/>
                </a:solidFill>
                <a:ea typeface="黑体" panose="02010609060101010101" pitchFamily="49" charset="-122"/>
              </a:rPr>
              <a:t>域名系统</a:t>
            </a:r>
            <a:r>
              <a:rPr lang="zh-CN" altLang="en-US" u="sng" dirty="0" smtClean="0">
                <a:ea typeface="黑体" panose="02010609060101010101" pitchFamily="49" charset="-122"/>
              </a:rPr>
              <a:t> </a:t>
            </a:r>
            <a:r>
              <a:rPr lang="en-US" altLang="zh-CN" u="sng" dirty="0" smtClean="0">
                <a:ea typeface="黑体" panose="02010609060101010101" pitchFamily="49" charset="-122"/>
              </a:rPr>
              <a:t>DNS (Domain Name System)</a:t>
            </a:r>
            <a:r>
              <a:rPr lang="zh-CN" altLang="en-US" dirty="0" smtClean="0">
                <a:ea typeface="黑体" panose="02010609060101010101" pitchFamily="49" charset="-122"/>
              </a:rPr>
              <a:t>，但计算机的用户只是间接而不是直接使用域名系统。 </a:t>
            </a:r>
          </a:p>
          <a:p>
            <a:pPr marL="315913" indent="-315913" algn="just">
              <a:spcBef>
                <a:spcPts val="550"/>
              </a:spcBef>
            </a:pPr>
            <a:r>
              <a:rPr lang="zh-CN" altLang="en-US" dirty="0" smtClean="0">
                <a:ea typeface="黑体" panose="02010609060101010101" pitchFamily="49" charset="-122"/>
              </a:rPr>
              <a:t>互联网采用</a:t>
            </a:r>
            <a:r>
              <a:rPr lang="zh-CN" altLang="en-US" dirty="0" smtClean="0">
                <a:solidFill>
                  <a:srgbClr val="0000FF"/>
                </a:solidFill>
                <a:ea typeface="黑体" panose="02010609060101010101" pitchFamily="49" charset="-122"/>
              </a:rPr>
              <a:t>层次结构的命名树</a:t>
            </a:r>
            <a:r>
              <a:rPr lang="zh-CN" altLang="en-US" dirty="0" smtClean="0">
                <a:ea typeface="黑体" panose="02010609060101010101" pitchFamily="49" charset="-122"/>
              </a:rPr>
              <a:t>作为主机的名字，并使用</a:t>
            </a:r>
            <a:r>
              <a:rPr lang="zh-CN" altLang="en-US" dirty="0" smtClean="0">
                <a:solidFill>
                  <a:srgbClr val="FF0000"/>
                </a:solidFill>
                <a:ea typeface="黑体" panose="02010609060101010101" pitchFamily="49" charset="-122"/>
              </a:rPr>
              <a:t>分布式</a:t>
            </a:r>
            <a:r>
              <a:rPr lang="zh-CN" altLang="en-US" dirty="0" smtClean="0">
                <a:ea typeface="黑体" panose="02010609060101010101" pitchFamily="49" charset="-122"/>
              </a:rPr>
              <a:t>的域名系统 </a:t>
            </a:r>
            <a:r>
              <a:rPr lang="en-US" altLang="zh-CN" dirty="0" smtClean="0">
                <a:ea typeface="黑体" panose="02010609060101010101" pitchFamily="49" charset="-122"/>
              </a:rPr>
              <a:t>DNS</a:t>
            </a:r>
            <a:r>
              <a:rPr lang="zh-CN" altLang="en-US" dirty="0" smtClean="0">
                <a:ea typeface="黑体" panose="02010609060101010101" pitchFamily="49" charset="-122"/>
              </a:rPr>
              <a:t>。</a:t>
            </a:r>
          </a:p>
          <a:p>
            <a:pPr marL="315913" indent="-315913" algn="just">
              <a:spcBef>
                <a:spcPts val="550"/>
              </a:spcBef>
            </a:pPr>
            <a:r>
              <a:rPr lang="zh-CN" altLang="en-US" dirty="0" smtClean="0">
                <a:ea typeface="黑体" panose="02010609060101010101" pitchFamily="49" charset="-122"/>
              </a:rPr>
              <a:t>名字到 </a:t>
            </a:r>
            <a:r>
              <a:rPr lang="en-US" altLang="zh-CN" dirty="0" smtClean="0">
                <a:ea typeface="黑体" panose="02010609060101010101" pitchFamily="49" charset="-122"/>
              </a:rPr>
              <a:t>IP </a:t>
            </a:r>
            <a:r>
              <a:rPr lang="zh-CN" altLang="en-US" dirty="0" smtClean="0">
                <a:ea typeface="黑体" panose="02010609060101010101" pitchFamily="49" charset="-122"/>
              </a:rPr>
              <a:t>地址的解析是由若干个域名服务器程序完成的。域名服务器程序在专设的结点上运行，运行该程序的机器称为</a:t>
            </a:r>
            <a:r>
              <a:rPr lang="zh-CN" altLang="en-US" dirty="0" smtClean="0">
                <a:solidFill>
                  <a:srgbClr val="FF0000"/>
                </a:solidFill>
                <a:ea typeface="黑体" panose="02010609060101010101" pitchFamily="49" charset="-122"/>
              </a:rPr>
              <a:t>域名服务器</a:t>
            </a:r>
            <a:r>
              <a:rPr lang="zh-CN" altLang="en-US" dirty="0" smtClean="0">
                <a:ea typeface="黑体" panose="02010609060101010101" pitchFamily="49" charset="-122"/>
              </a:rPr>
              <a:t>。  </a:t>
            </a:r>
          </a:p>
        </p:txBody>
      </p:sp>
      <p:sp>
        <p:nvSpPr>
          <p:cNvPr id="16025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2D9411-C7D4-42EB-962A-A1CB2BB4A141}" type="slidenum">
              <a:rPr lang="zh-CN" altLang="en-US" smtClean="0"/>
              <a:pPr eaLnBrk="1" hangingPunct="1"/>
              <a:t>4</a:t>
            </a:fld>
            <a:endParaRPr lang="en-US" altLang="zh-CN" smtClean="0"/>
          </a:p>
        </p:txBody>
      </p:sp>
      <p:sp>
        <p:nvSpPr>
          <p:cNvPr id="16025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4609" name="Rectangle 4"/>
          <p:cNvSpPr>
            <a:spLocks noChangeArrowheads="1"/>
          </p:cNvSpPr>
          <p:nvPr/>
        </p:nvSpPr>
        <p:spPr bwMode="auto">
          <a:xfrm>
            <a:off x="1674813" y="4076700"/>
            <a:ext cx="6950075" cy="763588"/>
          </a:xfrm>
          <a:prstGeom prst="rect">
            <a:avLst/>
          </a:prstGeom>
          <a:solidFill>
            <a:srgbClr val="FFFF00"/>
          </a:solidFill>
          <a:ln w="28575">
            <a:solidFill>
              <a:srgbClr val="333399"/>
            </a:solidFill>
            <a:miter lim="800000"/>
            <a:headEnd/>
            <a:tailEnd/>
          </a:ln>
        </p:spPr>
        <p:txBody>
          <a:bodyPr wrap="none" anchor="ctr"/>
          <a:lstStyle/>
          <a:p>
            <a:endParaRPr lang="zh-CN" altLang="en-US">
              <a:ea typeface="宋体" panose="02010600030101010101" pitchFamily="2" charset="-122"/>
            </a:endParaRPr>
          </a:p>
        </p:txBody>
      </p:sp>
      <p:sp>
        <p:nvSpPr>
          <p:cNvPr id="1604610"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6.1.2   </a:t>
            </a:r>
            <a:r>
              <a:rPr lang="zh-CN" altLang="en-US" smtClean="0">
                <a:ea typeface="黑体" panose="02010609060101010101" pitchFamily="49" charset="-122"/>
              </a:rPr>
              <a:t>互联网的域名结构</a:t>
            </a:r>
          </a:p>
        </p:txBody>
      </p:sp>
      <p:sp>
        <p:nvSpPr>
          <p:cNvPr id="160461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互联网采用了层次树状结构的命名方法。</a:t>
            </a:r>
          </a:p>
          <a:p>
            <a:r>
              <a:rPr lang="zh-CN" altLang="en-US" smtClean="0">
                <a:ea typeface="黑体" panose="02010609060101010101" pitchFamily="49" charset="-122"/>
              </a:rPr>
              <a:t>任何一个连接在互联网上的主机或路由器，都有一个</a:t>
            </a:r>
            <a:r>
              <a:rPr lang="zh-CN" altLang="en-US" smtClean="0">
                <a:solidFill>
                  <a:srgbClr val="FF0000"/>
                </a:solidFill>
                <a:ea typeface="黑体" panose="02010609060101010101" pitchFamily="49" charset="-122"/>
              </a:rPr>
              <a:t>唯一</a:t>
            </a:r>
            <a:r>
              <a:rPr lang="zh-CN" altLang="en-US" smtClean="0">
                <a:ea typeface="黑体" panose="02010609060101010101" pitchFamily="49" charset="-122"/>
              </a:rPr>
              <a:t>的层次结构的名字，即</a:t>
            </a:r>
            <a:r>
              <a:rPr lang="zh-CN" altLang="en-US" smtClean="0">
                <a:solidFill>
                  <a:srgbClr val="FF0000"/>
                </a:solidFill>
                <a:ea typeface="黑体" panose="02010609060101010101" pitchFamily="49" charset="-122"/>
              </a:rPr>
              <a:t>域名</a:t>
            </a:r>
            <a:r>
              <a:rPr lang="zh-CN" altLang="en-US" smtClean="0">
                <a:ea typeface="黑体" panose="02010609060101010101" pitchFamily="49" charset="-122"/>
              </a:rPr>
              <a:t>。</a:t>
            </a:r>
          </a:p>
          <a:p>
            <a:r>
              <a:rPr lang="zh-CN" altLang="en-US" smtClean="0">
                <a:ea typeface="黑体" panose="02010609060101010101" pitchFamily="49" charset="-122"/>
              </a:rPr>
              <a:t>域名的结构由标号序列组成，各标号之间用</a:t>
            </a:r>
            <a:r>
              <a:rPr lang="zh-CN" altLang="en-US" smtClean="0">
                <a:solidFill>
                  <a:srgbClr val="FF0000"/>
                </a:solidFill>
                <a:ea typeface="黑体" panose="02010609060101010101" pitchFamily="49" charset="-122"/>
              </a:rPr>
              <a:t>点</a:t>
            </a:r>
            <a:r>
              <a:rPr lang="zh-CN" altLang="en-US" smtClean="0">
                <a:ea typeface="黑体" panose="02010609060101010101" pitchFamily="49" charset="-122"/>
              </a:rPr>
              <a:t>隔开：</a:t>
            </a:r>
          </a:p>
          <a:p>
            <a:pPr>
              <a:spcAft>
                <a:spcPct val="60000"/>
              </a:spcAft>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 . </a:t>
            </a:r>
            <a:r>
              <a:rPr lang="zh-CN" altLang="en-US" smtClean="0">
                <a:ea typeface="黑体" panose="02010609060101010101" pitchFamily="49" charset="-122"/>
              </a:rPr>
              <a:t>三级域名 </a:t>
            </a:r>
            <a:r>
              <a:rPr lang="en-US" altLang="zh-CN" smtClean="0">
                <a:ea typeface="黑体" panose="02010609060101010101" pitchFamily="49" charset="-122"/>
              </a:rPr>
              <a:t>. </a:t>
            </a:r>
            <a:r>
              <a:rPr lang="zh-CN" altLang="en-US" smtClean="0">
                <a:ea typeface="黑体" panose="02010609060101010101" pitchFamily="49" charset="-122"/>
              </a:rPr>
              <a:t>二级域名 </a:t>
            </a:r>
            <a:r>
              <a:rPr lang="en-US" altLang="zh-CN" smtClean="0">
                <a:ea typeface="黑体" panose="02010609060101010101" pitchFamily="49" charset="-122"/>
              </a:rPr>
              <a:t>. </a:t>
            </a:r>
            <a:r>
              <a:rPr lang="zh-CN" altLang="en-US" smtClean="0">
                <a:ea typeface="黑体" panose="02010609060101010101" pitchFamily="49" charset="-122"/>
              </a:rPr>
              <a:t>顶级域名</a:t>
            </a:r>
          </a:p>
          <a:p>
            <a:r>
              <a:rPr lang="zh-CN" altLang="en-US" smtClean="0">
                <a:ea typeface="黑体" panose="02010609060101010101" pitchFamily="49" charset="-122"/>
              </a:rPr>
              <a:t>各标号分别代表不同级别的域名。  </a:t>
            </a:r>
          </a:p>
        </p:txBody>
      </p:sp>
      <p:sp>
        <p:nvSpPr>
          <p:cNvPr id="16046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02BC23-106E-4048-AB38-415D682F792F}" type="slidenum">
              <a:rPr lang="zh-CN" altLang="en-US" smtClean="0"/>
              <a:pPr eaLnBrk="1" hangingPunct="1"/>
              <a:t>5</a:t>
            </a:fld>
            <a:endParaRPr lang="en-US" altLang="zh-CN" smtClean="0"/>
          </a:p>
        </p:txBody>
      </p:sp>
      <p:sp>
        <p:nvSpPr>
          <p:cNvPr id="16046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66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域名只是个逻辑概念</a:t>
            </a:r>
          </a:p>
        </p:txBody>
      </p:sp>
      <p:sp>
        <p:nvSpPr>
          <p:cNvPr id="160665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域名只是个</a:t>
            </a:r>
            <a:r>
              <a:rPr lang="zh-CN" altLang="en-US" dirty="0" smtClean="0">
                <a:solidFill>
                  <a:srgbClr val="FF0000"/>
                </a:solidFill>
                <a:ea typeface="黑体" panose="02010609060101010101" pitchFamily="49" charset="-122"/>
              </a:rPr>
              <a:t>逻辑概念，</a:t>
            </a:r>
            <a:r>
              <a:rPr lang="zh-CN" altLang="en-US" dirty="0" smtClean="0">
                <a:ea typeface="黑体" panose="02010609060101010101" pitchFamily="49" charset="-122"/>
              </a:rPr>
              <a:t>并不代表计算机所在的物理地点。</a:t>
            </a:r>
          </a:p>
          <a:p>
            <a:r>
              <a:rPr lang="zh-CN" altLang="en-US" dirty="0" smtClean="0">
                <a:ea typeface="黑体" panose="02010609060101010101" pitchFamily="49" charset="-122"/>
              </a:rPr>
              <a:t>变长的域名和使用有助记忆的字符串，是为了便于人来使用。而 </a:t>
            </a:r>
            <a:r>
              <a:rPr lang="en-US" altLang="zh-CN" dirty="0" smtClean="0">
                <a:ea typeface="黑体" panose="02010609060101010101" pitchFamily="49" charset="-122"/>
              </a:rPr>
              <a:t>IP </a:t>
            </a:r>
            <a:r>
              <a:rPr lang="zh-CN" altLang="en-US" dirty="0" smtClean="0">
                <a:ea typeface="黑体" panose="02010609060101010101" pitchFamily="49" charset="-122"/>
              </a:rPr>
              <a:t>地址是定长的 </a:t>
            </a:r>
            <a:r>
              <a:rPr lang="en-US" altLang="zh-CN" dirty="0" smtClean="0">
                <a:ea typeface="黑体" panose="02010609060101010101" pitchFamily="49" charset="-122"/>
              </a:rPr>
              <a:t>32 </a:t>
            </a:r>
            <a:r>
              <a:rPr lang="zh-CN" altLang="en-US" dirty="0" smtClean="0">
                <a:ea typeface="黑体" panose="02010609060101010101" pitchFamily="49" charset="-122"/>
              </a:rPr>
              <a:t>位二进制数字则非常便于机器进行处理。</a:t>
            </a:r>
          </a:p>
          <a:p>
            <a:r>
              <a:rPr lang="zh-CN" altLang="en-US" dirty="0" smtClean="0">
                <a:solidFill>
                  <a:srgbClr val="0000FF"/>
                </a:solidFill>
                <a:ea typeface="黑体" panose="02010609060101010101" pitchFamily="49" charset="-122"/>
              </a:rPr>
              <a:t>域名中的“点”和点分十进制 </a:t>
            </a:r>
            <a:r>
              <a:rPr lang="en-US" altLang="zh-CN" dirty="0" smtClean="0">
                <a:solidFill>
                  <a:srgbClr val="0000FF"/>
                </a:solidFill>
                <a:ea typeface="黑体" panose="02010609060101010101" pitchFamily="49" charset="-122"/>
              </a:rPr>
              <a:t>IP </a:t>
            </a:r>
            <a:r>
              <a:rPr lang="zh-CN" altLang="en-US" dirty="0" smtClean="0">
                <a:solidFill>
                  <a:srgbClr val="0000FF"/>
                </a:solidFill>
                <a:ea typeface="黑体" panose="02010609060101010101" pitchFamily="49" charset="-122"/>
              </a:rPr>
              <a:t>地址中的“点”并无一一对应的关系</a:t>
            </a:r>
            <a:r>
              <a:rPr lang="zh-CN" altLang="en-US" dirty="0" smtClean="0">
                <a:ea typeface="黑体" panose="02010609060101010101" pitchFamily="49" charset="-122"/>
              </a:rPr>
              <a:t>。点分十进制 </a:t>
            </a:r>
            <a:r>
              <a:rPr lang="en-US" altLang="zh-CN" dirty="0" smtClean="0">
                <a:ea typeface="黑体" panose="02010609060101010101" pitchFamily="49" charset="-122"/>
              </a:rPr>
              <a:t>IP </a:t>
            </a:r>
            <a:r>
              <a:rPr lang="zh-CN" altLang="en-US" dirty="0" smtClean="0">
                <a:ea typeface="黑体" panose="02010609060101010101" pitchFamily="49" charset="-122"/>
              </a:rPr>
              <a:t>地址中一定是包含三个“点”，但每一个域名中“点”的数目则不一定正好是三个。 </a:t>
            </a:r>
          </a:p>
        </p:txBody>
      </p:sp>
      <p:sp>
        <p:nvSpPr>
          <p:cNvPr id="1606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A49B21-5A77-4D84-BAD4-0E4B08C9FBE8}" type="slidenum">
              <a:rPr lang="zh-CN" altLang="en-US" smtClean="0"/>
              <a:pPr eaLnBrk="1" hangingPunct="1"/>
              <a:t>6</a:t>
            </a:fld>
            <a:endParaRPr lang="en-US" altLang="zh-CN" smtClean="0"/>
          </a:p>
        </p:txBody>
      </p:sp>
      <p:sp>
        <p:nvSpPr>
          <p:cNvPr id="1606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1" name="Rectangle 2"/>
          <p:cNvSpPr>
            <a:spLocks noGrp="1" noChangeArrowheads="1"/>
          </p:cNvSpPr>
          <p:nvPr>
            <p:ph type="title"/>
          </p:nvPr>
        </p:nvSpPr>
        <p:spPr>
          <a:xfrm>
            <a:off x="496888" y="188913"/>
            <a:ext cx="8704262" cy="792162"/>
          </a:xfrm>
        </p:spPr>
        <p:txBody>
          <a:bodyPr/>
          <a:lstStyle/>
          <a:p>
            <a:pPr algn="ctr"/>
            <a:r>
              <a:rPr lang="zh-CN" altLang="en-US" sz="4000" smtClean="0">
                <a:ea typeface="黑体" panose="02010609060101010101" pitchFamily="49" charset="-122"/>
              </a:rPr>
              <a:t>顶级域名 </a:t>
            </a:r>
            <a:r>
              <a:rPr lang="en-US" altLang="zh-CN" sz="4000" smtClean="0">
                <a:ea typeface="黑体" panose="02010609060101010101" pitchFamily="49" charset="-122"/>
              </a:rPr>
              <a:t>TLD(Top Level Domain)</a:t>
            </a:r>
          </a:p>
        </p:txBody>
      </p:sp>
      <p:sp>
        <p:nvSpPr>
          <p:cNvPr id="131136" name="Rectangle 64"/>
          <p:cNvSpPr>
            <a:spLocks noGrp="1" noChangeArrowheads="1"/>
          </p:cNvSpPr>
          <p:nvPr>
            <p:ph idx="1"/>
          </p:nvPr>
        </p:nvSpPr>
        <p:spPr>
          <a:xfrm>
            <a:off x="495300" y="1196975"/>
            <a:ext cx="9066213" cy="4933950"/>
          </a:xfrm>
        </p:spPr>
        <p:txBody>
          <a:bodyPr/>
          <a:lstStyle/>
          <a:p>
            <a:pPr>
              <a:defRPr/>
            </a:pPr>
            <a:r>
              <a:rPr lang="en-US" altLang="zh-CN" noProof="1">
                <a:solidFill>
                  <a:srgbClr val="FF0000"/>
                </a:solidFill>
              </a:rPr>
              <a:t>(1) </a:t>
            </a:r>
            <a:r>
              <a:rPr lang="zh-CN" altLang="en-US" noProof="1">
                <a:solidFill>
                  <a:srgbClr val="FF0000"/>
                </a:solidFill>
              </a:rPr>
              <a:t>国家顶级域名 </a:t>
            </a:r>
            <a:r>
              <a:rPr lang="en-US" altLang="zh-CN" noProof="1">
                <a:solidFill>
                  <a:srgbClr val="FF0000"/>
                </a:solidFill>
              </a:rPr>
              <a:t>nTLD</a:t>
            </a:r>
          </a:p>
          <a:p>
            <a:pPr marL="0" indent="0">
              <a:buFont typeface="Wingdings" panose="05000000000000000000" pitchFamily="2" charset="2"/>
              <a:buNone/>
              <a:defRPr/>
            </a:pPr>
            <a:r>
              <a:rPr lang="en-US" altLang="zh-CN" noProof="1"/>
              <a:t>	.cn </a:t>
            </a:r>
            <a:r>
              <a:rPr lang="zh-CN" altLang="en-US" noProof="1"/>
              <a:t>表示中国，</a:t>
            </a:r>
            <a:endParaRPr lang="en-US" altLang="zh-CN" noProof="1"/>
          </a:p>
          <a:p>
            <a:pPr marL="0" indent="0">
              <a:buFont typeface="Wingdings" panose="05000000000000000000" pitchFamily="2" charset="2"/>
              <a:buNone/>
              <a:defRPr/>
            </a:pPr>
            <a:r>
              <a:rPr lang="en-US" altLang="zh-CN" noProof="1"/>
              <a:t>	.us </a:t>
            </a:r>
            <a:r>
              <a:rPr lang="zh-CN" altLang="en-US" noProof="1"/>
              <a:t>表示美国，</a:t>
            </a:r>
            <a:endParaRPr lang="en-US" altLang="zh-CN" noProof="1"/>
          </a:p>
          <a:p>
            <a:pPr marL="0" indent="0">
              <a:buFont typeface="Wingdings" panose="05000000000000000000" pitchFamily="2" charset="2"/>
              <a:buNone/>
              <a:defRPr/>
            </a:pPr>
            <a:r>
              <a:rPr lang="en-US" altLang="zh-CN" noProof="1"/>
              <a:t>	.uk </a:t>
            </a:r>
            <a:r>
              <a:rPr lang="zh-CN" altLang="en-US" noProof="1"/>
              <a:t>表示英国，等等。</a:t>
            </a:r>
          </a:p>
        </p:txBody>
      </p:sp>
      <p:sp>
        <p:nvSpPr>
          <p:cNvPr id="16076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499E29-E32E-400B-8F5A-1E5E6AB972B0}" type="slidenum">
              <a:rPr lang="zh-CN" altLang="en-US" smtClean="0"/>
              <a:pPr eaLnBrk="1" hangingPunct="1"/>
              <a:t>7</a:t>
            </a:fld>
            <a:endParaRPr lang="en-US" altLang="zh-CN" smtClean="0"/>
          </a:p>
        </p:txBody>
      </p:sp>
      <p:sp>
        <p:nvSpPr>
          <p:cNvPr id="16076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729" name="Rectangle 2"/>
          <p:cNvSpPr>
            <a:spLocks noGrp="1" noChangeArrowheads="1"/>
          </p:cNvSpPr>
          <p:nvPr>
            <p:ph type="title"/>
          </p:nvPr>
        </p:nvSpPr>
        <p:spPr>
          <a:xfrm>
            <a:off x="496888" y="188913"/>
            <a:ext cx="8632825" cy="792162"/>
          </a:xfrm>
        </p:spPr>
        <p:txBody>
          <a:bodyPr/>
          <a:lstStyle/>
          <a:p>
            <a:pPr algn="ctr"/>
            <a:r>
              <a:rPr lang="zh-CN" altLang="en-US" sz="4000" smtClean="0">
                <a:ea typeface="黑体" panose="02010609060101010101" pitchFamily="49" charset="-122"/>
              </a:rPr>
              <a:t>顶级域名 </a:t>
            </a:r>
            <a:r>
              <a:rPr lang="en-US" altLang="zh-CN" sz="4000" smtClean="0">
                <a:ea typeface="黑体" panose="02010609060101010101" pitchFamily="49" charset="-122"/>
              </a:rPr>
              <a:t>TLD (Top Level Domain)</a:t>
            </a:r>
          </a:p>
        </p:txBody>
      </p:sp>
      <p:sp>
        <p:nvSpPr>
          <p:cNvPr id="131136" name="Rectangle 64"/>
          <p:cNvSpPr>
            <a:spLocks noGrp="1" noChangeArrowheads="1"/>
          </p:cNvSpPr>
          <p:nvPr>
            <p:ph idx="1"/>
          </p:nvPr>
        </p:nvSpPr>
        <p:spPr>
          <a:xfrm>
            <a:off x="495300" y="1196975"/>
            <a:ext cx="9066213" cy="4933950"/>
          </a:xfrm>
        </p:spPr>
        <p:txBody>
          <a:bodyPr/>
          <a:lstStyle/>
          <a:p>
            <a:pPr>
              <a:defRPr/>
            </a:pPr>
            <a:r>
              <a:rPr lang="en-US" altLang="zh-CN" noProof="1">
                <a:solidFill>
                  <a:srgbClr val="FF0000"/>
                </a:solidFill>
              </a:rPr>
              <a:t>(2) </a:t>
            </a:r>
            <a:r>
              <a:rPr lang="zh-CN" altLang="en-US" noProof="1">
                <a:solidFill>
                  <a:srgbClr val="FF0000"/>
                </a:solidFill>
              </a:rPr>
              <a:t>通用顶级域名 </a:t>
            </a:r>
            <a:r>
              <a:rPr lang="en-US" altLang="zh-CN" noProof="1">
                <a:solidFill>
                  <a:srgbClr val="FF0000"/>
                </a:solidFill>
              </a:rPr>
              <a:t>gTLD</a:t>
            </a:r>
          </a:p>
          <a:p>
            <a:pPr marL="0" indent="0">
              <a:lnSpc>
                <a:spcPct val="100000"/>
              </a:lnSpc>
              <a:buFont typeface="Wingdings" panose="05000000000000000000" pitchFamily="2" charset="2"/>
              <a:buNone/>
              <a:defRPr/>
            </a:pPr>
            <a:r>
              <a:rPr lang="en-US" altLang="zh-CN" noProof="1"/>
              <a:t>	</a:t>
            </a:r>
            <a:r>
              <a:rPr lang="zh-CN" altLang="en-US" noProof="1"/>
              <a:t>最早的顶级域名是：</a:t>
            </a:r>
            <a:endParaRPr lang="en-US" altLang="zh-CN" noProof="1"/>
          </a:p>
          <a:p>
            <a:pPr marL="0" indent="0">
              <a:lnSpc>
                <a:spcPct val="100000"/>
              </a:lnSpc>
              <a:buFont typeface="Wingdings" panose="05000000000000000000" pitchFamily="2" charset="2"/>
              <a:buNone/>
              <a:defRPr/>
            </a:pPr>
            <a:r>
              <a:rPr lang="en-US" altLang="zh-CN" noProof="1"/>
              <a:t>	</a:t>
            </a:r>
            <a:r>
              <a:rPr lang="en-US" altLang="zh-CN" sz="3600" noProof="1"/>
              <a:t>.</a:t>
            </a:r>
            <a:r>
              <a:rPr lang="en-US" altLang="zh-CN" sz="2800" noProof="1"/>
              <a:t>com	</a:t>
            </a:r>
            <a:r>
              <a:rPr lang="zh-CN" altLang="en-US" sz="2800" noProof="1"/>
              <a:t>（公司和企业）</a:t>
            </a:r>
            <a:endParaRPr lang="en-US" altLang="zh-CN" sz="2800" noProof="1"/>
          </a:p>
          <a:p>
            <a:pPr marL="0" indent="0">
              <a:lnSpc>
                <a:spcPct val="100000"/>
              </a:lnSpc>
              <a:buFont typeface="Wingdings" panose="05000000000000000000" pitchFamily="2" charset="2"/>
              <a:buNone/>
              <a:defRPr/>
            </a:pPr>
            <a:r>
              <a:rPr lang="en-US" altLang="zh-CN" sz="2800" noProof="1"/>
              <a:t>	.net	</a:t>
            </a:r>
            <a:r>
              <a:rPr lang="zh-CN" altLang="en-US" sz="2800" noProof="1"/>
              <a:t>（网络服务</a:t>
            </a:r>
            <a:r>
              <a:rPr lang="zh-CN" altLang="en-US" sz="2800" noProof="1" smtClean="0"/>
              <a:t>机构）</a:t>
            </a:r>
            <a:endParaRPr lang="en-US" altLang="zh-CN" sz="2800" noProof="1"/>
          </a:p>
          <a:p>
            <a:pPr marL="0" indent="0">
              <a:lnSpc>
                <a:spcPct val="100000"/>
              </a:lnSpc>
              <a:buFont typeface="Wingdings" panose="05000000000000000000" pitchFamily="2" charset="2"/>
              <a:buNone/>
              <a:defRPr/>
            </a:pPr>
            <a:r>
              <a:rPr lang="en-US" altLang="zh-CN" sz="2800" noProof="1"/>
              <a:t>	.org	</a:t>
            </a:r>
            <a:r>
              <a:rPr lang="zh-CN" altLang="en-US" sz="2800" noProof="1"/>
              <a:t>（非赢利性组织）</a:t>
            </a:r>
            <a:endParaRPr lang="en-US" altLang="zh-CN" sz="2800" noProof="1"/>
          </a:p>
          <a:p>
            <a:pPr marL="0" indent="0">
              <a:lnSpc>
                <a:spcPct val="100000"/>
              </a:lnSpc>
              <a:buFont typeface="Wingdings" panose="05000000000000000000" pitchFamily="2" charset="2"/>
              <a:buNone/>
              <a:defRPr/>
            </a:pPr>
            <a:r>
              <a:rPr lang="en-US" altLang="zh-CN" sz="2800" noProof="1"/>
              <a:t>	.edu	</a:t>
            </a:r>
            <a:r>
              <a:rPr lang="zh-CN" altLang="en-US" sz="2800" noProof="1"/>
              <a:t>（美国专用的教育机构）</a:t>
            </a:r>
            <a:endParaRPr lang="en-US" altLang="zh-CN" sz="2800" noProof="1"/>
          </a:p>
          <a:p>
            <a:pPr marL="0" indent="0">
              <a:lnSpc>
                <a:spcPct val="100000"/>
              </a:lnSpc>
              <a:buFont typeface="Wingdings" panose="05000000000000000000" pitchFamily="2" charset="2"/>
              <a:buNone/>
              <a:defRPr/>
            </a:pPr>
            <a:r>
              <a:rPr lang="en-US" altLang="zh-CN" sz="2800" noProof="1"/>
              <a:t>	.gov	</a:t>
            </a:r>
            <a:r>
              <a:rPr lang="zh-CN" altLang="en-US" sz="2800" noProof="1"/>
              <a:t>（美国专用的政府部门）</a:t>
            </a:r>
            <a:endParaRPr lang="en-US" altLang="zh-CN" sz="2800" noProof="1"/>
          </a:p>
          <a:p>
            <a:pPr marL="0" indent="0">
              <a:lnSpc>
                <a:spcPct val="100000"/>
              </a:lnSpc>
              <a:buFont typeface="Wingdings" panose="05000000000000000000" pitchFamily="2" charset="2"/>
              <a:buNone/>
              <a:defRPr/>
            </a:pPr>
            <a:r>
              <a:rPr lang="en-US" altLang="zh-CN" sz="2800" noProof="1"/>
              <a:t>	.mil	</a:t>
            </a:r>
            <a:r>
              <a:rPr lang="zh-CN" altLang="en-US" sz="2800" noProof="1"/>
              <a:t>（美国专用的军事部门）</a:t>
            </a:r>
            <a:endParaRPr lang="en-US" altLang="zh-CN" sz="2800" noProof="1"/>
          </a:p>
          <a:p>
            <a:pPr marL="0" indent="0">
              <a:lnSpc>
                <a:spcPct val="100000"/>
              </a:lnSpc>
              <a:buFont typeface="Wingdings" panose="05000000000000000000" pitchFamily="2" charset="2"/>
              <a:buNone/>
              <a:defRPr/>
            </a:pPr>
            <a:r>
              <a:rPr lang="en-US" altLang="zh-CN" sz="2800" noProof="1"/>
              <a:t>	.int	</a:t>
            </a:r>
            <a:r>
              <a:rPr lang="zh-CN" altLang="en-US" sz="2800" noProof="1"/>
              <a:t>（国际组织）</a:t>
            </a:r>
          </a:p>
        </p:txBody>
      </p:sp>
      <p:sp>
        <p:nvSpPr>
          <p:cNvPr id="16097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210207-ED3E-4D6E-BD33-6A45A3A6A3A0}" type="slidenum">
              <a:rPr lang="zh-CN" altLang="en-US" smtClean="0"/>
              <a:pPr eaLnBrk="1" hangingPunct="1"/>
              <a:t>8</a:t>
            </a:fld>
            <a:endParaRPr lang="en-US" altLang="zh-CN" smtClean="0"/>
          </a:p>
        </p:txBody>
      </p:sp>
      <p:sp>
        <p:nvSpPr>
          <p:cNvPr id="16097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113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1136">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1136">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1136">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17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顶级域名 </a:t>
            </a:r>
            <a:r>
              <a:rPr lang="en-US" altLang="zh-CN" smtClean="0">
                <a:ea typeface="黑体" panose="02010609060101010101" pitchFamily="49" charset="-122"/>
              </a:rPr>
              <a:t>TLD </a:t>
            </a:r>
            <a:r>
              <a:rPr lang="zh-CN" altLang="en-US" smtClean="0">
                <a:ea typeface="黑体" panose="02010609060101010101" pitchFamily="49" charset="-122"/>
              </a:rPr>
              <a:t>（续）</a:t>
            </a:r>
            <a:endParaRPr lang="zh-CN" altLang="en-US" sz="4000" smtClean="0">
              <a:ea typeface="黑体" panose="02010609060101010101" pitchFamily="49" charset="-122"/>
            </a:endParaRPr>
          </a:p>
        </p:txBody>
      </p:sp>
      <p:sp>
        <p:nvSpPr>
          <p:cNvPr id="1062915" name="Rectangle 3"/>
          <p:cNvSpPr>
            <a:spLocks noGrp="1" noChangeArrowheads="1"/>
          </p:cNvSpPr>
          <p:nvPr>
            <p:ph idx="1"/>
          </p:nvPr>
        </p:nvSpPr>
        <p:spPr>
          <a:xfrm>
            <a:off x="495300" y="1196975"/>
            <a:ext cx="9066213" cy="4933950"/>
          </a:xfrm>
        </p:spPr>
        <p:txBody>
          <a:bodyPr/>
          <a:lstStyle/>
          <a:p>
            <a:pPr>
              <a:spcBef>
                <a:spcPts val="550"/>
              </a:spcBef>
            </a:pPr>
            <a:r>
              <a:rPr lang="en-US" altLang="zh-CN" smtClean="0">
                <a:solidFill>
                  <a:srgbClr val="FF0000"/>
                </a:solidFill>
                <a:ea typeface="黑体" panose="02010609060101010101" pitchFamily="49" charset="-122"/>
              </a:rPr>
              <a:t>(3) </a:t>
            </a:r>
            <a:r>
              <a:rPr lang="zh-CN" altLang="en-US" smtClean="0">
                <a:solidFill>
                  <a:srgbClr val="FF0000"/>
                </a:solidFill>
                <a:ea typeface="黑体" panose="02010609060101010101" pitchFamily="49" charset="-122"/>
              </a:rPr>
              <a:t>基础结构域名 </a:t>
            </a:r>
            <a:r>
              <a:rPr lang="en-US" altLang="zh-CN" smtClean="0">
                <a:solidFill>
                  <a:srgbClr val="FF0000"/>
                </a:solidFill>
                <a:ea typeface="黑体" panose="02010609060101010101" pitchFamily="49" charset="-122"/>
              </a:rPr>
              <a:t>(infrastructure domain)</a:t>
            </a:r>
          </a:p>
          <a:p>
            <a:pPr>
              <a:spcBef>
                <a:spcPts val="550"/>
              </a:spcBef>
              <a:buFont typeface="Wingdings" panose="05000000000000000000" pitchFamily="2" charset="2"/>
              <a:buNone/>
            </a:pPr>
            <a:r>
              <a:rPr lang="en-US" altLang="zh-CN" smtClean="0">
                <a:ea typeface="黑体" panose="02010609060101010101" pitchFamily="49" charset="-122"/>
              </a:rPr>
              <a:t>	</a:t>
            </a:r>
            <a:r>
              <a:rPr lang="zh-CN" altLang="en-US" smtClean="0">
                <a:ea typeface="黑体" panose="02010609060101010101" pitchFamily="49" charset="-122"/>
              </a:rPr>
              <a:t>这种顶级域名只有一个，即 </a:t>
            </a:r>
            <a:r>
              <a:rPr lang="en-US" altLang="zh-CN" smtClean="0">
                <a:solidFill>
                  <a:srgbClr val="FF0000"/>
                </a:solidFill>
                <a:ea typeface="黑体" panose="02010609060101010101" pitchFamily="49" charset="-122"/>
              </a:rPr>
              <a:t>arpa</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pPr>
              <a:spcBef>
                <a:spcPts val="550"/>
              </a:spcBef>
              <a:buFont typeface="Wingdings" panose="05000000000000000000" pitchFamily="2" charset="2"/>
              <a:buNone/>
            </a:pPr>
            <a:r>
              <a:rPr lang="en-US" altLang="zh-CN" smtClean="0">
                <a:solidFill>
                  <a:srgbClr val="FF0000"/>
                </a:solidFill>
                <a:ea typeface="黑体" panose="02010609060101010101" pitchFamily="49" charset="-122"/>
              </a:rPr>
              <a:t>	</a:t>
            </a:r>
            <a:r>
              <a:rPr lang="zh-CN" altLang="en-US" smtClean="0">
                <a:ea typeface="黑体" panose="02010609060101010101" pitchFamily="49" charset="-122"/>
              </a:rPr>
              <a:t>用于反向域名解析，因此又称为</a:t>
            </a:r>
            <a:r>
              <a:rPr lang="zh-CN" altLang="en-US" smtClean="0">
                <a:solidFill>
                  <a:srgbClr val="FF0000"/>
                </a:solidFill>
                <a:ea typeface="黑体" panose="02010609060101010101" pitchFamily="49" charset="-122"/>
              </a:rPr>
              <a:t>反向域名。</a:t>
            </a:r>
            <a:r>
              <a:rPr lang="zh-CN" altLang="en-US" smtClean="0">
                <a:ea typeface="黑体" panose="02010609060101010101" pitchFamily="49" charset="-122"/>
              </a:rPr>
              <a:t> </a:t>
            </a:r>
          </a:p>
        </p:txBody>
      </p:sp>
      <p:sp>
        <p:nvSpPr>
          <p:cNvPr id="16117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D9A59F-0633-4287-A7E2-65217068C16D}" type="slidenum">
              <a:rPr lang="zh-CN" altLang="en-US" smtClean="0"/>
              <a:pPr eaLnBrk="1" hangingPunct="1"/>
              <a:t>9</a:t>
            </a:fld>
            <a:endParaRPr lang="en-US" altLang="zh-CN" smtClean="0"/>
          </a:p>
        </p:txBody>
      </p:sp>
      <p:sp>
        <p:nvSpPr>
          <p:cNvPr id="16117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38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新增加了下列的通用顶级域名 </a:t>
            </a:r>
          </a:p>
        </p:txBody>
      </p:sp>
      <p:sp>
        <p:nvSpPr>
          <p:cNvPr id="1613826" name="Rectangle 3"/>
          <p:cNvSpPr>
            <a:spLocks noGrp="1" noChangeArrowheads="1"/>
          </p:cNvSpPr>
          <p:nvPr>
            <p:ph idx="1"/>
          </p:nvPr>
        </p:nvSpPr>
        <p:spPr>
          <a:xfrm>
            <a:off x="495300" y="1196975"/>
            <a:ext cx="9066213" cy="4933950"/>
          </a:xfrm>
        </p:spPr>
        <p:txBody>
          <a:bodyPr/>
          <a:lstStyle/>
          <a:p>
            <a:pPr marL="400050" lvl="1" indent="0">
              <a:lnSpc>
                <a:spcPct val="90000"/>
              </a:lnSpc>
              <a:buFont typeface="Wingdings" panose="05000000000000000000" pitchFamily="2" charset="2"/>
              <a:buNone/>
            </a:pPr>
            <a:r>
              <a:rPr lang="en-US" altLang="zh-CN" smtClean="0">
                <a:ea typeface="黑体" panose="02010609060101010101" pitchFamily="49" charset="-122"/>
              </a:rPr>
              <a:t>.aero 	</a:t>
            </a:r>
            <a:r>
              <a:rPr lang="zh-CN" altLang="en-US" smtClean="0">
                <a:ea typeface="黑体" panose="02010609060101010101" pitchFamily="49" charset="-122"/>
              </a:rPr>
              <a:t>（航空运输企业）</a:t>
            </a:r>
          </a:p>
          <a:p>
            <a:pPr marL="400050" lvl="1" indent="0">
              <a:lnSpc>
                <a:spcPct val="90000"/>
              </a:lnSpc>
              <a:buFont typeface="Wingdings" panose="05000000000000000000" pitchFamily="2" charset="2"/>
              <a:buNone/>
            </a:pPr>
            <a:r>
              <a:rPr lang="en-US" altLang="zh-CN" smtClean="0">
                <a:ea typeface="黑体" panose="02010609060101010101" pitchFamily="49" charset="-122"/>
              </a:rPr>
              <a:t>.biz	</a:t>
            </a:r>
            <a:r>
              <a:rPr lang="zh-CN" altLang="en-US" smtClean="0">
                <a:ea typeface="黑体" panose="02010609060101010101" pitchFamily="49" charset="-122"/>
              </a:rPr>
              <a:t>（公司和企业）</a:t>
            </a:r>
          </a:p>
          <a:p>
            <a:pPr marL="400050" lvl="1" indent="0">
              <a:lnSpc>
                <a:spcPct val="90000"/>
              </a:lnSpc>
              <a:buFont typeface="Wingdings" panose="05000000000000000000" pitchFamily="2" charset="2"/>
              <a:buNone/>
            </a:pPr>
            <a:r>
              <a:rPr lang="en-US" altLang="zh-CN" smtClean="0">
                <a:ea typeface="黑体" panose="02010609060101010101" pitchFamily="49" charset="-122"/>
              </a:rPr>
              <a:t>.cat	</a:t>
            </a:r>
            <a:r>
              <a:rPr lang="zh-CN" altLang="en-US" smtClean="0">
                <a:ea typeface="黑体" panose="02010609060101010101" pitchFamily="49" charset="-122"/>
              </a:rPr>
              <a:t>（加泰隆人的语言和文化团体）</a:t>
            </a:r>
          </a:p>
          <a:p>
            <a:pPr marL="400050" lvl="1" indent="0">
              <a:lnSpc>
                <a:spcPct val="90000"/>
              </a:lnSpc>
              <a:buFont typeface="Wingdings" panose="05000000000000000000" pitchFamily="2" charset="2"/>
              <a:buNone/>
            </a:pPr>
            <a:r>
              <a:rPr lang="en-US" altLang="zh-CN" smtClean="0">
                <a:ea typeface="黑体" panose="02010609060101010101" pitchFamily="49" charset="-122"/>
              </a:rPr>
              <a:t>.coop	</a:t>
            </a:r>
            <a:r>
              <a:rPr lang="zh-CN" altLang="en-US" smtClean="0">
                <a:ea typeface="黑体" panose="02010609060101010101" pitchFamily="49" charset="-122"/>
              </a:rPr>
              <a:t>（合作团体）</a:t>
            </a:r>
          </a:p>
          <a:p>
            <a:pPr marL="400050" lvl="1" indent="0">
              <a:lnSpc>
                <a:spcPct val="90000"/>
              </a:lnSpc>
              <a:buFont typeface="Wingdings" panose="05000000000000000000" pitchFamily="2" charset="2"/>
              <a:buNone/>
            </a:pPr>
            <a:r>
              <a:rPr lang="en-US" altLang="zh-CN" smtClean="0">
                <a:ea typeface="黑体" panose="02010609060101010101" pitchFamily="49" charset="-122"/>
              </a:rPr>
              <a:t>.info	</a:t>
            </a:r>
            <a:r>
              <a:rPr lang="zh-CN" altLang="en-US" smtClean="0">
                <a:ea typeface="黑体" panose="02010609060101010101" pitchFamily="49" charset="-122"/>
              </a:rPr>
              <a:t>（各种情况）</a:t>
            </a:r>
          </a:p>
          <a:p>
            <a:pPr marL="400050" lvl="1" indent="0">
              <a:lnSpc>
                <a:spcPct val="90000"/>
              </a:lnSpc>
              <a:buFont typeface="Wingdings" panose="05000000000000000000" pitchFamily="2" charset="2"/>
              <a:buNone/>
            </a:pPr>
            <a:r>
              <a:rPr lang="en-US" altLang="zh-CN" smtClean="0">
                <a:ea typeface="黑体" panose="02010609060101010101" pitchFamily="49" charset="-122"/>
              </a:rPr>
              <a:t>.jobs	</a:t>
            </a:r>
            <a:r>
              <a:rPr lang="zh-CN" altLang="en-US" smtClean="0">
                <a:ea typeface="黑体" panose="02010609060101010101" pitchFamily="49" charset="-122"/>
              </a:rPr>
              <a:t>（人力资源管理者）</a:t>
            </a:r>
          </a:p>
          <a:p>
            <a:pPr marL="400050" lvl="1" indent="0">
              <a:lnSpc>
                <a:spcPct val="90000"/>
              </a:lnSpc>
              <a:buFont typeface="Wingdings" panose="05000000000000000000" pitchFamily="2" charset="2"/>
              <a:buNone/>
            </a:pPr>
            <a:r>
              <a:rPr lang="en-US" altLang="zh-CN" smtClean="0">
                <a:ea typeface="黑体" panose="02010609060101010101" pitchFamily="49" charset="-122"/>
              </a:rPr>
              <a:t>.mobi	</a:t>
            </a:r>
            <a:r>
              <a:rPr lang="zh-CN" altLang="en-US" smtClean="0">
                <a:ea typeface="黑体" panose="02010609060101010101" pitchFamily="49" charset="-122"/>
              </a:rPr>
              <a:t>（移动产品与服务的用户和提供者）</a:t>
            </a:r>
          </a:p>
          <a:p>
            <a:pPr marL="400050" lvl="1" indent="0">
              <a:lnSpc>
                <a:spcPct val="90000"/>
              </a:lnSpc>
              <a:buFont typeface="Wingdings" panose="05000000000000000000" pitchFamily="2" charset="2"/>
              <a:buNone/>
            </a:pPr>
            <a:r>
              <a:rPr lang="en-US" altLang="zh-CN" smtClean="0">
                <a:ea typeface="黑体" panose="02010609060101010101" pitchFamily="49" charset="-122"/>
              </a:rPr>
              <a:t>.museum </a:t>
            </a:r>
            <a:r>
              <a:rPr lang="zh-CN" altLang="en-US" smtClean="0">
                <a:ea typeface="黑体" panose="02010609060101010101" pitchFamily="49" charset="-122"/>
              </a:rPr>
              <a:t>（博物馆）</a:t>
            </a:r>
          </a:p>
          <a:p>
            <a:pPr marL="400050" lvl="1" indent="0">
              <a:lnSpc>
                <a:spcPct val="90000"/>
              </a:lnSpc>
              <a:buFont typeface="Wingdings" panose="05000000000000000000" pitchFamily="2" charset="2"/>
              <a:buNone/>
            </a:pPr>
            <a:r>
              <a:rPr lang="en-US" altLang="zh-CN" smtClean="0">
                <a:ea typeface="黑体" panose="02010609060101010101" pitchFamily="49" charset="-122"/>
              </a:rPr>
              <a:t>.name	</a:t>
            </a:r>
            <a:r>
              <a:rPr lang="zh-CN" altLang="en-US" smtClean="0">
                <a:ea typeface="黑体" panose="02010609060101010101" pitchFamily="49" charset="-122"/>
              </a:rPr>
              <a:t>（个人）</a:t>
            </a:r>
          </a:p>
          <a:p>
            <a:pPr marL="400050" lvl="1" indent="0">
              <a:lnSpc>
                <a:spcPct val="90000"/>
              </a:lnSpc>
              <a:buFont typeface="Wingdings" panose="05000000000000000000" pitchFamily="2" charset="2"/>
              <a:buNone/>
            </a:pPr>
            <a:r>
              <a:rPr lang="en-US" altLang="zh-CN" smtClean="0">
                <a:ea typeface="黑体" panose="02010609060101010101" pitchFamily="49" charset="-122"/>
              </a:rPr>
              <a:t>.pro	</a:t>
            </a:r>
            <a:r>
              <a:rPr lang="zh-CN" altLang="en-US" smtClean="0">
                <a:ea typeface="黑体" panose="02010609060101010101" pitchFamily="49" charset="-122"/>
              </a:rPr>
              <a:t>（有证书的专业人员）</a:t>
            </a:r>
          </a:p>
          <a:p>
            <a:pPr marL="400050" lvl="1" indent="0">
              <a:lnSpc>
                <a:spcPct val="90000"/>
              </a:lnSpc>
              <a:buFont typeface="Wingdings" panose="05000000000000000000" pitchFamily="2" charset="2"/>
              <a:buNone/>
            </a:pPr>
            <a:r>
              <a:rPr lang="en-US" altLang="zh-CN" smtClean="0">
                <a:ea typeface="黑体" panose="02010609060101010101" pitchFamily="49" charset="-122"/>
              </a:rPr>
              <a:t>.travel	</a:t>
            </a:r>
            <a:r>
              <a:rPr lang="zh-CN" altLang="en-US" smtClean="0">
                <a:ea typeface="黑体" panose="02010609060101010101" pitchFamily="49" charset="-122"/>
              </a:rPr>
              <a:t>（旅游业） </a:t>
            </a:r>
            <a:endParaRPr lang="zh-CN" altLang="en-US" sz="2400" smtClean="0">
              <a:ea typeface="黑体" panose="02010609060101010101" pitchFamily="49" charset="-122"/>
            </a:endParaRPr>
          </a:p>
        </p:txBody>
      </p:sp>
      <p:sp>
        <p:nvSpPr>
          <p:cNvPr id="16138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860984-1703-44AF-8D99-C60AE3DB9BDB}" type="slidenum">
              <a:rPr lang="zh-CN" altLang="en-US" smtClean="0"/>
              <a:pPr eaLnBrk="1" hangingPunct="1"/>
              <a:t>10</a:t>
            </a:fld>
            <a:endParaRPr lang="en-US" altLang="zh-CN" smtClean="0"/>
          </a:p>
        </p:txBody>
      </p:sp>
      <p:sp>
        <p:nvSpPr>
          <p:cNvPr id="16138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873" name="Rectangle 4"/>
          <p:cNvSpPr>
            <a:spLocks noGrp="1" noChangeArrowheads="1"/>
          </p:cNvSpPr>
          <p:nvPr>
            <p:ph type="title"/>
          </p:nvPr>
        </p:nvSpPr>
        <p:spPr/>
        <p:txBody>
          <a:bodyPr/>
          <a:lstStyle/>
          <a:p>
            <a:pPr algn="ctr"/>
            <a:r>
              <a:rPr lang="zh-CN" altLang="en-US" smtClean="0">
                <a:ea typeface="黑体" panose="02010609060101010101" pitchFamily="49" charset="-122"/>
              </a:rPr>
              <a:t>互联网的域名空间 </a:t>
            </a:r>
          </a:p>
        </p:txBody>
      </p:sp>
      <p:sp>
        <p:nvSpPr>
          <p:cNvPr id="1615874" name="Rectangle 122"/>
          <p:cNvSpPr>
            <a:spLocks noChangeArrowheads="1"/>
          </p:cNvSpPr>
          <p:nvPr/>
        </p:nvSpPr>
        <p:spPr bwMode="auto">
          <a:xfrm>
            <a:off x="5422900" y="1196975"/>
            <a:ext cx="554038"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800" b="1">
                <a:solidFill>
                  <a:srgbClr val="000099"/>
                </a:solidFill>
                <a:ea typeface="宋体" panose="02010600030101010101" pitchFamily="2" charset="-122"/>
              </a:rPr>
              <a:t>根</a:t>
            </a:r>
          </a:p>
        </p:txBody>
      </p:sp>
      <p:grpSp>
        <p:nvGrpSpPr>
          <p:cNvPr id="576728" name="Group 216"/>
          <p:cNvGrpSpPr>
            <a:grpSpLocks/>
          </p:cNvGrpSpPr>
          <p:nvPr/>
        </p:nvGrpSpPr>
        <p:grpSpPr bwMode="auto">
          <a:xfrm>
            <a:off x="293688" y="4432300"/>
            <a:ext cx="8521700" cy="1084263"/>
            <a:chOff x="113" y="2435"/>
            <a:chExt cx="4955" cy="683"/>
          </a:xfrm>
        </p:grpSpPr>
        <p:sp>
          <p:nvSpPr>
            <p:cNvPr id="1615876" name="Rectangle 211"/>
            <p:cNvSpPr>
              <a:spLocks noChangeArrowheads="1"/>
            </p:cNvSpPr>
            <p:nvPr/>
          </p:nvSpPr>
          <p:spPr bwMode="auto">
            <a:xfrm>
              <a:off x="1020" y="2822"/>
              <a:ext cx="106" cy="289"/>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endParaRPr lang="zh-CN" altLang="en-US" b="1">
                <a:solidFill>
                  <a:srgbClr val="000099"/>
                </a:solidFill>
                <a:ea typeface="宋体" panose="02010600030101010101" pitchFamily="2" charset="-122"/>
              </a:endParaRPr>
            </a:p>
          </p:txBody>
        </p:sp>
        <p:sp>
          <p:nvSpPr>
            <p:cNvPr id="1615877" name="Rectangle 130"/>
            <p:cNvSpPr>
              <a:spLocks noChangeArrowheads="1"/>
            </p:cNvSpPr>
            <p:nvPr/>
          </p:nvSpPr>
          <p:spPr bwMode="auto">
            <a:xfrm>
              <a:off x="113" y="2819"/>
              <a:ext cx="703" cy="250"/>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宋体" panose="02010600030101010101" pitchFamily="2" charset="-122"/>
                </a:rPr>
                <a:t>四级域名</a:t>
              </a:r>
            </a:p>
          </p:txBody>
        </p:sp>
        <p:sp>
          <p:nvSpPr>
            <p:cNvPr id="1615878" name="Text Box 131"/>
            <p:cNvSpPr txBox="1">
              <a:spLocks noChangeArrowheads="1"/>
            </p:cNvSpPr>
            <p:nvPr/>
          </p:nvSpPr>
          <p:spPr bwMode="auto">
            <a:xfrm>
              <a:off x="3556" y="2817"/>
              <a:ext cx="4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mail</a:t>
              </a:r>
            </a:p>
          </p:txBody>
        </p:sp>
        <p:sp>
          <p:nvSpPr>
            <p:cNvPr id="1615879" name="Text Box 132"/>
            <p:cNvSpPr txBox="1">
              <a:spLocks noChangeArrowheads="1"/>
            </p:cNvSpPr>
            <p:nvPr/>
          </p:nvSpPr>
          <p:spPr bwMode="auto">
            <a:xfrm>
              <a:off x="4060" y="2633"/>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880" name="Text Box 151"/>
            <p:cNvSpPr txBox="1">
              <a:spLocks noChangeArrowheads="1"/>
            </p:cNvSpPr>
            <p:nvPr/>
          </p:nvSpPr>
          <p:spPr bwMode="auto">
            <a:xfrm>
              <a:off x="4614" y="2817"/>
              <a:ext cx="4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www</a:t>
              </a:r>
            </a:p>
          </p:txBody>
        </p:sp>
        <p:sp>
          <p:nvSpPr>
            <p:cNvPr id="1615881" name="Line 155"/>
            <p:cNvSpPr>
              <a:spLocks noChangeShapeType="1"/>
            </p:cNvSpPr>
            <p:nvPr/>
          </p:nvSpPr>
          <p:spPr bwMode="auto">
            <a:xfrm>
              <a:off x="4381" y="2435"/>
              <a:ext cx="437" cy="4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882" name="Line 156"/>
            <p:cNvSpPr>
              <a:spLocks noChangeShapeType="1"/>
            </p:cNvSpPr>
            <p:nvPr/>
          </p:nvSpPr>
          <p:spPr bwMode="auto">
            <a:xfrm flipH="1">
              <a:off x="3819" y="2440"/>
              <a:ext cx="560" cy="44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576726" name="Group 214"/>
          <p:cNvGrpSpPr>
            <a:grpSpLocks/>
          </p:cNvGrpSpPr>
          <p:nvPr/>
        </p:nvGrpSpPr>
        <p:grpSpPr bwMode="auto">
          <a:xfrm>
            <a:off x="293688" y="2497138"/>
            <a:ext cx="9282112" cy="1093787"/>
            <a:chOff x="113" y="1216"/>
            <a:chExt cx="5398" cy="689"/>
          </a:xfrm>
        </p:grpSpPr>
        <p:sp>
          <p:nvSpPr>
            <p:cNvPr id="1615884" name="Rectangle 210"/>
            <p:cNvSpPr>
              <a:spLocks noChangeArrowheads="1"/>
            </p:cNvSpPr>
            <p:nvPr/>
          </p:nvSpPr>
          <p:spPr bwMode="auto">
            <a:xfrm>
              <a:off x="1020" y="1616"/>
              <a:ext cx="106" cy="289"/>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endParaRPr lang="zh-CN" altLang="en-US" b="1">
                <a:solidFill>
                  <a:srgbClr val="000099"/>
                </a:solidFill>
                <a:ea typeface="宋体" panose="02010600030101010101" pitchFamily="2" charset="-122"/>
              </a:endParaRPr>
            </a:p>
          </p:txBody>
        </p:sp>
        <p:sp>
          <p:nvSpPr>
            <p:cNvPr id="1615885" name="Text Box 105"/>
            <p:cNvSpPr txBox="1">
              <a:spLocks noChangeArrowheads="1"/>
            </p:cNvSpPr>
            <p:nvPr/>
          </p:nvSpPr>
          <p:spPr bwMode="auto">
            <a:xfrm>
              <a:off x="1777" y="1408"/>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886" name="Text Box 115"/>
            <p:cNvSpPr txBox="1">
              <a:spLocks noChangeArrowheads="1"/>
            </p:cNvSpPr>
            <p:nvPr/>
          </p:nvSpPr>
          <p:spPr bwMode="auto">
            <a:xfrm>
              <a:off x="3956" y="1593"/>
              <a:ext cx="2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bj</a:t>
              </a:r>
            </a:p>
          </p:txBody>
        </p:sp>
        <p:sp>
          <p:nvSpPr>
            <p:cNvPr id="1615887" name="Text Box 116"/>
            <p:cNvSpPr txBox="1">
              <a:spLocks noChangeArrowheads="1"/>
            </p:cNvSpPr>
            <p:nvPr/>
          </p:nvSpPr>
          <p:spPr bwMode="auto">
            <a:xfrm>
              <a:off x="4554" y="1592"/>
              <a:ext cx="3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edu</a:t>
              </a:r>
            </a:p>
          </p:txBody>
        </p:sp>
        <p:sp>
          <p:nvSpPr>
            <p:cNvPr id="1615888" name="Text Box 117"/>
            <p:cNvSpPr txBox="1">
              <a:spLocks noChangeArrowheads="1"/>
            </p:cNvSpPr>
            <p:nvPr/>
          </p:nvSpPr>
          <p:spPr bwMode="auto">
            <a:xfrm>
              <a:off x="5097" y="1592"/>
              <a:ext cx="4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com</a:t>
              </a:r>
            </a:p>
          </p:txBody>
        </p:sp>
        <p:sp>
          <p:nvSpPr>
            <p:cNvPr id="1615889" name="Text Box 118"/>
            <p:cNvSpPr txBox="1">
              <a:spLocks noChangeArrowheads="1"/>
            </p:cNvSpPr>
            <p:nvPr/>
          </p:nvSpPr>
          <p:spPr bwMode="auto">
            <a:xfrm>
              <a:off x="4172" y="1408"/>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890" name="Text Box 123"/>
            <p:cNvSpPr txBox="1">
              <a:spLocks noChangeArrowheads="1"/>
            </p:cNvSpPr>
            <p:nvPr/>
          </p:nvSpPr>
          <p:spPr bwMode="auto">
            <a:xfrm>
              <a:off x="1437" y="1592"/>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cctv</a:t>
              </a:r>
            </a:p>
          </p:txBody>
        </p:sp>
        <p:sp>
          <p:nvSpPr>
            <p:cNvPr id="1615891" name="Text Box 124"/>
            <p:cNvSpPr txBox="1">
              <a:spLocks noChangeArrowheads="1"/>
            </p:cNvSpPr>
            <p:nvPr/>
          </p:nvSpPr>
          <p:spPr bwMode="auto">
            <a:xfrm>
              <a:off x="2185" y="1591"/>
              <a:ext cx="3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ibm</a:t>
              </a:r>
            </a:p>
          </p:txBody>
        </p:sp>
        <p:sp>
          <p:nvSpPr>
            <p:cNvPr id="1615892" name="Text Box 125"/>
            <p:cNvSpPr txBox="1">
              <a:spLocks noChangeArrowheads="1"/>
            </p:cNvSpPr>
            <p:nvPr/>
          </p:nvSpPr>
          <p:spPr bwMode="auto">
            <a:xfrm>
              <a:off x="2595" y="1592"/>
              <a:ext cx="2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hp</a:t>
              </a:r>
            </a:p>
          </p:txBody>
        </p:sp>
        <p:sp>
          <p:nvSpPr>
            <p:cNvPr id="1615893" name="Rectangle 127"/>
            <p:cNvSpPr>
              <a:spLocks noChangeArrowheads="1"/>
            </p:cNvSpPr>
            <p:nvPr/>
          </p:nvSpPr>
          <p:spPr bwMode="auto">
            <a:xfrm>
              <a:off x="113" y="1608"/>
              <a:ext cx="703" cy="2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宋体" panose="02010600030101010101" pitchFamily="2" charset="-122"/>
                </a:rPr>
                <a:t>二级域名</a:t>
              </a:r>
            </a:p>
          </p:txBody>
        </p:sp>
        <p:sp>
          <p:nvSpPr>
            <p:cNvPr id="1615894" name="Line 142"/>
            <p:cNvSpPr>
              <a:spLocks noChangeShapeType="1"/>
            </p:cNvSpPr>
            <p:nvPr/>
          </p:nvSpPr>
          <p:spPr bwMode="auto">
            <a:xfrm>
              <a:off x="2173" y="1258"/>
              <a:ext cx="213" cy="37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895" name="Line 143"/>
            <p:cNvSpPr>
              <a:spLocks noChangeShapeType="1"/>
            </p:cNvSpPr>
            <p:nvPr/>
          </p:nvSpPr>
          <p:spPr bwMode="auto">
            <a:xfrm>
              <a:off x="2173" y="1269"/>
              <a:ext cx="546" cy="34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896" name="Line 144"/>
            <p:cNvSpPr>
              <a:spLocks noChangeShapeType="1"/>
            </p:cNvSpPr>
            <p:nvPr/>
          </p:nvSpPr>
          <p:spPr bwMode="auto">
            <a:xfrm flipV="1">
              <a:off x="1672" y="1279"/>
              <a:ext cx="501" cy="34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897" name="Line 145"/>
            <p:cNvSpPr>
              <a:spLocks noChangeShapeType="1"/>
            </p:cNvSpPr>
            <p:nvPr/>
          </p:nvSpPr>
          <p:spPr bwMode="auto">
            <a:xfrm>
              <a:off x="4662" y="1216"/>
              <a:ext cx="111" cy="43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898" name="Line 146"/>
            <p:cNvSpPr>
              <a:spLocks noChangeShapeType="1"/>
            </p:cNvSpPr>
            <p:nvPr/>
          </p:nvSpPr>
          <p:spPr bwMode="auto">
            <a:xfrm>
              <a:off x="4665" y="1224"/>
              <a:ext cx="626" cy="40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899" name="Line 147"/>
            <p:cNvSpPr>
              <a:spLocks noChangeShapeType="1"/>
            </p:cNvSpPr>
            <p:nvPr/>
          </p:nvSpPr>
          <p:spPr bwMode="auto">
            <a:xfrm flipH="1">
              <a:off x="4090" y="1224"/>
              <a:ext cx="572" cy="39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615900" name="Group 157"/>
            <p:cNvGrpSpPr>
              <a:grpSpLocks/>
            </p:cNvGrpSpPr>
            <p:nvPr/>
          </p:nvGrpSpPr>
          <p:grpSpPr bwMode="auto">
            <a:xfrm>
              <a:off x="1168" y="1244"/>
              <a:ext cx="268" cy="101"/>
              <a:chOff x="2875" y="1143"/>
              <a:chExt cx="330" cy="132"/>
            </a:xfrm>
          </p:grpSpPr>
          <p:sp>
            <p:nvSpPr>
              <p:cNvPr id="1615901" name="Line 15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02" name="Line 15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03" name="Line 16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04" name="Line 16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05" name="Group 162"/>
            <p:cNvGrpSpPr>
              <a:grpSpLocks/>
            </p:cNvGrpSpPr>
            <p:nvPr/>
          </p:nvGrpSpPr>
          <p:grpSpPr bwMode="auto">
            <a:xfrm>
              <a:off x="2507" y="1244"/>
              <a:ext cx="268" cy="101"/>
              <a:chOff x="2875" y="1143"/>
              <a:chExt cx="330" cy="132"/>
            </a:xfrm>
          </p:grpSpPr>
          <p:sp>
            <p:nvSpPr>
              <p:cNvPr id="1615906" name="Line 16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07" name="Line 16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08" name="Line 16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09" name="Line 16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10" name="Group 167"/>
            <p:cNvGrpSpPr>
              <a:grpSpLocks/>
            </p:cNvGrpSpPr>
            <p:nvPr/>
          </p:nvGrpSpPr>
          <p:grpSpPr bwMode="auto">
            <a:xfrm>
              <a:off x="2936" y="1244"/>
              <a:ext cx="268" cy="101"/>
              <a:chOff x="2875" y="1143"/>
              <a:chExt cx="330" cy="132"/>
            </a:xfrm>
          </p:grpSpPr>
          <p:sp>
            <p:nvSpPr>
              <p:cNvPr id="1615911" name="Line 16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12" name="Line 16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13" name="Line 17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14" name="Line 17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15" name="Group 172"/>
            <p:cNvGrpSpPr>
              <a:grpSpLocks/>
            </p:cNvGrpSpPr>
            <p:nvPr/>
          </p:nvGrpSpPr>
          <p:grpSpPr bwMode="auto">
            <a:xfrm>
              <a:off x="3363" y="1244"/>
              <a:ext cx="268" cy="101"/>
              <a:chOff x="2875" y="1143"/>
              <a:chExt cx="330" cy="132"/>
            </a:xfrm>
          </p:grpSpPr>
          <p:sp>
            <p:nvSpPr>
              <p:cNvPr id="1615916" name="Line 17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17" name="Line 17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18" name="Line 17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19" name="Line 17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20" name="Group 177"/>
            <p:cNvGrpSpPr>
              <a:grpSpLocks/>
            </p:cNvGrpSpPr>
            <p:nvPr/>
          </p:nvGrpSpPr>
          <p:grpSpPr bwMode="auto">
            <a:xfrm>
              <a:off x="3792" y="1244"/>
              <a:ext cx="268" cy="101"/>
              <a:chOff x="2875" y="1143"/>
              <a:chExt cx="330" cy="132"/>
            </a:xfrm>
          </p:grpSpPr>
          <p:sp>
            <p:nvSpPr>
              <p:cNvPr id="1615921" name="Line 17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22" name="Line 17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23" name="Line 18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24" name="Line 18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25" name="Group 182"/>
            <p:cNvGrpSpPr>
              <a:grpSpLocks/>
            </p:cNvGrpSpPr>
            <p:nvPr/>
          </p:nvGrpSpPr>
          <p:grpSpPr bwMode="auto">
            <a:xfrm>
              <a:off x="4935" y="1244"/>
              <a:ext cx="268" cy="101"/>
              <a:chOff x="2875" y="1143"/>
              <a:chExt cx="330" cy="132"/>
            </a:xfrm>
          </p:grpSpPr>
          <p:sp>
            <p:nvSpPr>
              <p:cNvPr id="1615926" name="Line 18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27" name="Line 18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28" name="Line 18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29" name="Line 18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576727" name="Group 215"/>
          <p:cNvGrpSpPr>
            <a:grpSpLocks/>
          </p:cNvGrpSpPr>
          <p:nvPr/>
        </p:nvGrpSpPr>
        <p:grpSpPr bwMode="auto">
          <a:xfrm>
            <a:off x="293688" y="3381375"/>
            <a:ext cx="9302750" cy="1144588"/>
            <a:chOff x="113" y="1773"/>
            <a:chExt cx="5410" cy="721"/>
          </a:xfrm>
        </p:grpSpPr>
        <p:sp>
          <p:nvSpPr>
            <p:cNvPr id="1615931" name="Rectangle 212"/>
            <p:cNvSpPr>
              <a:spLocks noChangeArrowheads="1"/>
            </p:cNvSpPr>
            <p:nvPr/>
          </p:nvSpPr>
          <p:spPr bwMode="auto">
            <a:xfrm>
              <a:off x="1020" y="2205"/>
              <a:ext cx="106" cy="289"/>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endParaRPr lang="zh-CN" altLang="en-US" b="1">
                <a:solidFill>
                  <a:srgbClr val="000099"/>
                </a:solidFill>
                <a:ea typeface="宋体" panose="02010600030101010101" pitchFamily="2" charset="-122"/>
              </a:endParaRPr>
            </a:p>
          </p:txBody>
        </p:sp>
        <p:sp>
          <p:nvSpPr>
            <p:cNvPr id="1615932" name="Text Box 119"/>
            <p:cNvSpPr txBox="1">
              <a:spLocks noChangeArrowheads="1"/>
            </p:cNvSpPr>
            <p:nvPr/>
          </p:nvSpPr>
          <p:spPr bwMode="auto">
            <a:xfrm>
              <a:off x="5150" y="2205"/>
              <a:ext cx="3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pku</a:t>
              </a:r>
            </a:p>
          </p:txBody>
        </p:sp>
        <p:sp>
          <p:nvSpPr>
            <p:cNvPr id="1615933" name="Text Box 120"/>
            <p:cNvSpPr txBox="1">
              <a:spLocks noChangeArrowheads="1"/>
            </p:cNvSpPr>
            <p:nvPr/>
          </p:nvSpPr>
          <p:spPr bwMode="auto">
            <a:xfrm>
              <a:off x="3924" y="2205"/>
              <a:ext cx="7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tsinghua</a:t>
              </a:r>
            </a:p>
          </p:txBody>
        </p:sp>
        <p:sp>
          <p:nvSpPr>
            <p:cNvPr id="1615934" name="Text Box 121"/>
            <p:cNvSpPr txBox="1">
              <a:spLocks noChangeArrowheads="1"/>
            </p:cNvSpPr>
            <p:nvPr/>
          </p:nvSpPr>
          <p:spPr bwMode="auto">
            <a:xfrm>
              <a:off x="4649" y="1998"/>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935" name="Rectangle 128"/>
            <p:cNvSpPr>
              <a:spLocks noChangeArrowheads="1"/>
            </p:cNvSpPr>
            <p:nvPr/>
          </p:nvSpPr>
          <p:spPr bwMode="auto">
            <a:xfrm>
              <a:off x="113" y="2182"/>
              <a:ext cx="703" cy="250"/>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宋体" panose="02010600030101010101" pitchFamily="2" charset="-122"/>
                </a:rPr>
                <a:t>三级域名</a:t>
              </a:r>
            </a:p>
          </p:txBody>
        </p:sp>
        <p:sp>
          <p:nvSpPr>
            <p:cNvPr id="1615936" name="Text Box 129"/>
            <p:cNvSpPr txBox="1">
              <a:spLocks noChangeArrowheads="1"/>
            </p:cNvSpPr>
            <p:nvPr/>
          </p:nvSpPr>
          <p:spPr bwMode="auto">
            <a:xfrm>
              <a:off x="1064" y="2205"/>
              <a:ext cx="4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mail</a:t>
              </a:r>
            </a:p>
          </p:txBody>
        </p:sp>
        <p:sp>
          <p:nvSpPr>
            <p:cNvPr id="1615937" name="Line 148"/>
            <p:cNvSpPr>
              <a:spLocks noChangeShapeType="1"/>
            </p:cNvSpPr>
            <p:nvPr/>
          </p:nvSpPr>
          <p:spPr bwMode="auto">
            <a:xfrm flipH="1">
              <a:off x="4386" y="1773"/>
              <a:ext cx="387" cy="42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38" name="Line 149"/>
            <p:cNvSpPr>
              <a:spLocks noChangeShapeType="1"/>
            </p:cNvSpPr>
            <p:nvPr/>
          </p:nvSpPr>
          <p:spPr bwMode="auto">
            <a:xfrm>
              <a:off x="4792" y="1784"/>
              <a:ext cx="548" cy="43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39" name="Text Box 150"/>
            <p:cNvSpPr txBox="1">
              <a:spLocks noChangeArrowheads="1"/>
            </p:cNvSpPr>
            <p:nvPr/>
          </p:nvSpPr>
          <p:spPr bwMode="auto">
            <a:xfrm>
              <a:off x="1826" y="2205"/>
              <a:ext cx="4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www</a:t>
              </a:r>
            </a:p>
          </p:txBody>
        </p:sp>
        <p:sp>
          <p:nvSpPr>
            <p:cNvPr id="1615940" name="Text Box 152"/>
            <p:cNvSpPr txBox="1">
              <a:spLocks noChangeArrowheads="1"/>
            </p:cNvSpPr>
            <p:nvPr/>
          </p:nvSpPr>
          <p:spPr bwMode="auto">
            <a:xfrm>
              <a:off x="1414" y="1998"/>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941" name="Line 153"/>
            <p:cNvSpPr>
              <a:spLocks noChangeShapeType="1"/>
            </p:cNvSpPr>
            <p:nvPr/>
          </p:nvSpPr>
          <p:spPr bwMode="auto">
            <a:xfrm flipV="1">
              <a:off x="1274" y="1794"/>
              <a:ext cx="383" cy="44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42" name="Line 154"/>
            <p:cNvSpPr>
              <a:spLocks noChangeShapeType="1"/>
            </p:cNvSpPr>
            <p:nvPr/>
          </p:nvSpPr>
          <p:spPr bwMode="auto">
            <a:xfrm>
              <a:off x="1657" y="1794"/>
              <a:ext cx="361" cy="47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615943" name="Group 187"/>
            <p:cNvGrpSpPr>
              <a:grpSpLocks/>
            </p:cNvGrpSpPr>
            <p:nvPr/>
          </p:nvGrpSpPr>
          <p:grpSpPr bwMode="auto">
            <a:xfrm>
              <a:off x="2613" y="1797"/>
              <a:ext cx="269" cy="101"/>
              <a:chOff x="2875" y="1143"/>
              <a:chExt cx="330" cy="132"/>
            </a:xfrm>
          </p:grpSpPr>
          <p:sp>
            <p:nvSpPr>
              <p:cNvPr id="1615944" name="Line 18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45" name="Line 18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46" name="Line 19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47" name="Line 19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48" name="Group 192"/>
            <p:cNvGrpSpPr>
              <a:grpSpLocks/>
            </p:cNvGrpSpPr>
            <p:nvPr/>
          </p:nvGrpSpPr>
          <p:grpSpPr bwMode="auto">
            <a:xfrm>
              <a:off x="5131" y="1797"/>
              <a:ext cx="268" cy="101"/>
              <a:chOff x="2875" y="1143"/>
              <a:chExt cx="330" cy="132"/>
            </a:xfrm>
          </p:grpSpPr>
          <p:sp>
            <p:nvSpPr>
              <p:cNvPr id="1615949" name="Line 19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50" name="Line 19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51" name="Line 19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52" name="Line 19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53" name="Group 197"/>
            <p:cNvGrpSpPr>
              <a:grpSpLocks/>
            </p:cNvGrpSpPr>
            <p:nvPr/>
          </p:nvGrpSpPr>
          <p:grpSpPr bwMode="auto">
            <a:xfrm>
              <a:off x="2239" y="1797"/>
              <a:ext cx="268" cy="101"/>
              <a:chOff x="2875" y="1143"/>
              <a:chExt cx="330" cy="132"/>
            </a:xfrm>
          </p:grpSpPr>
          <p:sp>
            <p:nvSpPr>
              <p:cNvPr id="1615954" name="Line 198"/>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55" name="Line 199"/>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56" name="Line 200"/>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57" name="Line 201"/>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5958" name="Group 202"/>
            <p:cNvGrpSpPr>
              <a:grpSpLocks/>
            </p:cNvGrpSpPr>
            <p:nvPr/>
          </p:nvGrpSpPr>
          <p:grpSpPr bwMode="auto">
            <a:xfrm>
              <a:off x="3953" y="1797"/>
              <a:ext cx="268" cy="101"/>
              <a:chOff x="2875" y="1143"/>
              <a:chExt cx="330" cy="132"/>
            </a:xfrm>
          </p:grpSpPr>
          <p:sp>
            <p:nvSpPr>
              <p:cNvPr id="1615959" name="Line 203"/>
              <p:cNvSpPr>
                <a:spLocks noChangeShapeType="1"/>
              </p:cNvSpPr>
              <p:nvPr/>
            </p:nvSpPr>
            <p:spPr bwMode="auto">
              <a:xfrm>
                <a:off x="3061"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60" name="Line 204"/>
              <p:cNvSpPr>
                <a:spLocks noChangeShapeType="1"/>
              </p:cNvSpPr>
              <p:nvPr/>
            </p:nvSpPr>
            <p:spPr bwMode="auto">
              <a:xfrm>
                <a:off x="3050" y="1143"/>
                <a:ext cx="37" cy="1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61" name="Line 205"/>
              <p:cNvSpPr>
                <a:spLocks noChangeShapeType="1"/>
              </p:cNvSpPr>
              <p:nvPr/>
            </p:nvSpPr>
            <p:spPr bwMode="auto">
              <a:xfrm flipH="1">
                <a:off x="2875" y="1143"/>
                <a:ext cx="144" cy="13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62" name="Line 206"/>
              <p:cNvSpPr>
                <a:spLocks noChangeShapeType="1"/>
              </p:cNvSpPr>
              <p:nvPr/>
            </p:nvSpPr>
            <p:spPr bwMode="auto">
              <a:xfrm flipH="1">
                <a:off x="2980" y="1143"/>
                <a:ext cx="54" cy="12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576725" name="Group 213"/>
          <p:cNvGrpSpPr>
            <a:grpSpLocks/>
          </p:cNvGrpSpPr>
          <p:nvPr/>
        </p:nvGrpSpPr>
        <p:grpSpPr bwMode="auto">
          <a:xfrm>
            <a:off x="293688" y="1689100"/>
            <a:ext cx="9412287" cy="965200"/>
            <a:chOff x="113" y="707"/>
            <a:chExt cx="5473" cy="608"/>
          </a:xfrm>
        </p:grpSpPr>
        <p:sp>
          <p:nvSpPr>
            <p:cNvPr id="1615964" name="Rectangle 209"/>
            <p:cNvSpPr>
              <a:spLocks noChangeArrowheads="1"/>
            </p:cNvSpPr>
            <p:nvPr/>
          </p:nvSpPr>
          <p:spPr bwMode="auto">
            <a:xfrm>
              <a:off x="1020" y="1026"/>
              <a:ext cx="106" cy="289"/>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endParaRPr lang="zh-CN" altLang="en-US" b="1">
                <a:solidFill>
                  <a:srgbClr val="000099"/>
                </a:solidFill>
                <a:ea typeface="宋体" panose="02010600030101010101" pitchFamily="2" charset="-122"/>
              </a:endParaRPr>
            </a:p>
          </p:txBody>
        </p:sp>
        <p:sp>
          <p:nvSpPr>
            <p:cNvPr id="1615965" name="Text Box 106"/>
            <p:cNvSpPr txBox="1">
              <a:spLocks noChangeArrowheads="1"/>
            </p:cNvSpPr>
            <p:nvPr/>
          </p:nvSpPr>
          <p:spPr bwMode="auto">
            <a:xfrm>
              <a:off x="1975" y="1026"/>
              <a:ext cx="4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com</a:t>
              </a:r>
            </a:p>
          </p:txBody>
        </p:sp>
        <p:sp>
          <p:nvSpPr>
            <p:cNvPr id="1615966" name="Text Box 107"/>
            <p:cNvSpPr txBox="1">
              <a:spLocks noChangeArrowheads="1"/>
            </p:cNvSpPr>
            <p:nvPr/>
          </p:nvSpPr>
          <p:spPr bwMode="auto">
            <a:xfrm>
              <a:off x="2472" y="1026"/>
              <a:ext cx="33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net</a:t>
              </a:r>
            </a:p>
          </p:txBody>
        </p:sp>
        <p:sp>
          <p:nvSpPr>
            <p:cNvPr id="1615967" name="Text Box 108"/>
            <p:cNvSpPr txBox="1">
              <a:spLocks noChangeArrowheads="1"/>
            </p:cNvSpPr>
            <p:nvPr/>
          </p:nvSpPr>
          <p:spPr bwMode="auto">
            <a:xfrm>
              <a:off x="2900" y="1026"/>
              <a:ext cx="3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org</a:t>
              </a:r>
            </a:p>
          </p:txBody>
        </p:sp>
        <p:sp>
          <p:nvSpPr>
            <p:cNvPr id="1615968" name="Text Box 109"/>
            <p:cNvSpPr txBox="1">
              <a:spLocks noChangeArrowheads="1"/>
            </p:cNvSpPr>
            <p:nvPr/>
          </p:nvSpPr>
          <p:spPr bwMode="auto">
            <a:xfrm>
              <a:off x="3329" y="1026"/>
              <a:ext cx="3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edu</a:t>
              </a:r>
            </a:p>
          </p:txBody>
        </p:sp>
        <p:sp>
          <p:nvSpPr>
            <p:cNvPr id="1615969" name="Text Box 110"/>
            <p:cNvSpPr txBox="1">
              <a:spLocks noChangeArrowheads="1"/>
            </p:cNvSpPr>
            <p:nvPr/>
          </p:nvSpPr>
          <p:spPr bwMode="auto">
            <a:xfrm>
              <a:off x="3758" y="1026"/>
              <a:ext cx="3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gov</a:t>
              </a:r>
            </a:p>
          </p:txBody>
        </p:sp>
        <p:sp>
          <p:nvSpPr>
            <p:cNvPr id="1615970" name="Text Box 111"/>
            <p:cNvSpPr txBox="1">
              <a:spLocks noChangeArrowheads="1"/>
            </p:cNvSpPr>
            <p:nvPr/>
          </p:nvSpPr>
          <p:spPr bwMode="auto">
            <a:xfrm>
              <a:off x="1114" y="1026"/>
              <a:ext cx="4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aero</a:t>
              </a:r>
            </a:p>
          </p:txBody>
        </p:sp>
        <p:sp>
          <p:nvSpPr>
            <p:cNvPr id="1615971" name="Text Box 112"/>
            <p:cNvSpPr txBox="1">
              <a:spLocks noChangeArrowheads="1"/>
            </p:cNvSpPr>
            <p:nvPr/>
          </p:nvSpPr>
          <p:spPr bwMode="auto">
            <a:xfrm>
              <a:off x="4489" y="1026"/>
              <a:ext cx="2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cn</a:t>
              </a:r>
            </a:p>
          </p:txBody>
        </p:sp>
        <p:sp>
          <p:nvSpPr>
            <p:cNvPr id="1615972" name="Text Box 113"/>
            <p:cNvSpPr txBox="1">
              <a:spLocks noChangeArrowheads="1"/>
            </p:cNvSpPr>
            <p:nvPr/>
          </p:nvSpPr>
          <p:spPr bwMode="auto">
            <a:xfrm>
              <a:off x="4918" y="1026"/>
              <a:ext cx="2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宋体" panose="02010600030101010101" pitchFamily="2" charset="-122"/>
                </a:rPr>
                <a:t>uk</a:t>
              </a:r>
            </a:p>
          </p:txBody>
        </p:sp>
        <p:sp>
          <p:nvSpPr>
            <p:cNvPr id="1615973" name="Text Box 114"/>
            <p:cNvSpPr txBox="1">
              <a:spLocks noChangeArrowheads="1"/>
            </p:cNvSpPr>
            <p:nvPr/>
          </p:nvSpPr>
          <p:spPr bwMode="auto">
            <a:xfrm>
              <a:off x="5151" y="819"/>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974" name="Rectangle 126"/>
            <p:cNvSpPr>
              <a:spLocks noChangeArrowheads="1"/>
            </p:cNvSpPr>
            <p:nvPr/>
          </p:nvSpPr>
          <p:spPr bwMode="auto">
            <a:xfrm>
              <a:off x="113" y="1005"/>
              <a:ext cx="703" cy="2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宋体" panose="02010600030101010101" pitchFamily="2" charset="-122"/>
                </a:rPr>
                <a:t>顶级域名</a:t>
              </a:r>
            </a:p>
          </p:txBody>
        </p:sp>
        <p:sp>
          <p:nvSpPr>
            <p:cNvPr id="1615975" name="Line 133"/>
            <p:cNvSpPr>
              <a:spLocks noChangeShapeType="1"/>
            </p:cNvSpPr>
            <p:nvPr/>
          </p:nvSpPr>
          <p:spPr bwMode="auto">
            <a:xfrm flipH="1">
              <a:off x="2201" y="712"/>
              <a:ext cx="1068" cy="38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76" name="Line 134"/>
            <p:cNvSpPr>
              <a:spLocks noChangeShapeType="1"/>
            </p:cNvSpPr>
            <p:nvPr/>
          </p:nvSpPr>
          <p:spPr bwMode="auto">
            <a:xfrm flipH="1">
              <a:off x="2681" y="730"/>
              <a:ext cx="575" cy="35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77" name="Line 135"/>
            <p:cNvSpPr>
              <a:spLocks noChangeShapeType="1"/>
            </p:cNvSpPr>
            <p:nvPr/>
          </p:nvSpPr>
          <p:spPr bwMode="auto">
            <a:xfrm flipH="1">
              <a:off x="3134" y="730"/>
              <a:ext cx="131" cy="34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78" name="Line 136"/>
            <p:cNvSpPr>
              <a:spLocks noChangeShapeType="1"/>
            </p:cNvSpPr>
            <p:nvPr/>
          </p:nvSpPr>
          <p:spPr bwMode="auto">
            <a:xfrm>
              <a:off x="3277" y="723"/>
              <a:ext cx="249" cy="36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79" name="Line 137"/>
            <p:cNvSpPr>
              <a:spLocks noChangeShapeType="1"/>
            </p:cNvSpPr>
            <p:nvPr/>
          </p:nvSpPr>
          <p:spPr bwMode="auto">
            <a:xfrm>
              <a:off x="3275" y="715"/>
              <a:ext cx="681" cy="37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80" name="Line 138"/>
            <p:cNvSpPr>
              <a:spLocks noChangeShapeType="1"/>
            </p:cNvSpPr>
            <p:nvPr/>
          </p:nvSpPr>
          <p:spPr bwMode="auto">
            <a:xfrm>
              <a:off x="3288" y="708"/>
              <a:ext cx="1353" cy="37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81" name="Line 139"/>
            <p:cNvSpPr>
              <a:spLocks noChangeShapeType="1"/>
            </p:cNvSpPr>
            <p:nvPr/>
          </p:nvSpPr>
          <p:spPr bwMode="auto">
            <a:xfrm flipH="1">
              <a:off x="1358" y="707"/>
              <a:ext cx="1933" cy="37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82" name="Line 140"/>
            <p:cNvSpPr>
              <a:spLocks noChangeShapeType="1"/>
            </p:cNvSpPr>
            <p:nvPr/>
          </p:nvSpPr>
          <p:spPr bwMode="auto">
            <a:xfrm>
              <a:off x="3250" y="709"/>
              <a:ext cx="1777" cy="35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5983" name="Text Box 141"/>
            <p:cNvSpPr txBox="1">
              <a:spLocks noChangeArrowheads="1"/>
            </p:cNvSpPr>
            <p:nvPr/>
          </p:nvSpPr>
          <p:spPr bwMode="auto">
            <a:xfrm>
              <a:off x="1542" y="818"/>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sp>
          <p:nvSpPr>
            <p:cNvPr id="1615984" name="Text Box 207"/>
            <p:cNvSpPr txBox="1">
              <a:spLocks noChangeArrowheads="1"/>
            </p:cNvSpPr>
            <p:nvPr/>
          </p:nvSpPr>
          <p:spPr bwMode="auto">
            <a:xfrm>
              <a:off x="4042" y="817"/>
              <a:ext cx="43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grpSp>
      <p:sp>
        <p:nvSpPr>
          <p:cNvPr id="161598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27337A-4A00-482A-A4C7-3E3E34217319}" type="slidenum">
              <a:rPr lang="zh-CN" altLang="en-US" smtClean="0"/>
              <a:pPr eaLnBrk="1" hangingPunct="1"/>
              <a:t>11</a:t>
            </a:fld>
            <a:endParaRPr lang="en-US" altLang="zh-CN" smtClean="0"/>
          </a:p>
        </p:txBody>
      </p:sp>
      <p:sp>
        <p:nvSpPr>
          <p:cNvPr id="161598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2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6.1.3  </a:t>
            </a:r>
            <a:r>
              <a:rPr lang="zh-CN" altLang="en-US" smtClean="0">
                <a:ea typeface="黑体" panose="02010609060101010101" pitchFamily="49" charset="-122"/>
              </a:rPr>
              <a:t>域名服务器 </a:t>
            </a:r>
          </a:p>
        </p:txBody>
      </p:sp>
      <p:sp>
        <p:nvSpPr>
          <p:cNvPr id="161792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一个服务器所负责管辖的（或有权限的）范围叫做</a:t>
            </a:r>
            <a:r>
              <a:rPr lang="zh-CN" altLang="en-US" smtClean="0">
                <a:solidFill>
                  <a:srgbClr val="FF0000"/>
                </a:solidFill>
                <a:ea typeface="黑体" panose="02010609060101010101" pitchFamily="49" charset="-122"/>
              </a:rPr>
              <a:t>区 </a:t>
            </a:r>
            <a:r>
              <a:rPr lang="en-US" altLang="zh-CN" smtClean="0">
                <a:ea typeface="黑体" panose="02010609060101010101" pitchFamily="49" charset="-122"/>
              </a:rPr>
              <a:t>(zone)</a:t>
            </a:r>
            <a:r>
              <a:rPr lang="zh-CN" altLang="en-US" smtClean="0">
                <a:ea typeface="黑体" panose="02010609060101010101" pitchFamily="49" charset="-122"/>
              </a:rPr>
              <a:t>。</a:t>
            </a:r>
          </a:p>
          <a:p>
            <a:r>
              <a:rPr lang="zh-CN" altLang="en-US" smtClean="0">
                <a:ea typeface="黑体" panose="02010609060101010101" pitchFamily="49" charset="-122"/>
              </a:rPr>
              <a:t>各单位根据具体情况来划分自己管辖范围的区。但在一个区中的所有节点必须是能够连通的。</a:t>
            </a:r>
          </a:p>
          <a:p>
            <a:r>
              <a:rPr lang="zh-CN" altLang="en-US" smtClean="0">
                <a:ea typeface="黑体" panose="02010609060101010101" pitchFamily="49" charset="-122"/>
              </a:rPr>
              <a:t>每一个区设置相应的</a:t>
            </a:r>
            <a:r>
              <a:rPr lang="zh-CN" altLang="en-US" smtClean="0">
                <a:solidFill>
                  <a:srgbClr val="FF0000"/>
                </a:solidFill>
                <a:ea typeface="黑体" panose="02010609060101010101" pitchFamily="49" charset="-122"/>
              </a:rPr>
              <a:t>权限域名服务器</a:t>
            </a:r>
            <a:r>
              <a:rPr lang="zh-CN" altLang="en-US" smtClean="0">
                <a:ea typeface="黑体" panose="02010609060101010101" pitchFamily="49" charset="-122"/>
              </a:rPr>
              <a:t>，用来保存该区中的所有主机的域名到 </a:t>
            </a:r>
            <a:r>
              <a:rPr lang="en-US" altLang="zh-CN" smtClean="0">
                <a:ea typeface="黑体" panose="02010609060101010101" pitchFamily="49" charset="-122"/>
              </a:rPr>
              <a:t>IP </a:t>
            </a:r>
            <a:r>
              <a:rPr lang="zh-CN" altLang="en-US" smtClean="0">
                <a:ea typeface="黑体" panose="02010609060101010101" pitchFamily="49" charset="-122"/>
              </a:rPr>
              <a:t>地址的映射。</a:t>
            </a:r>
          </a:p>
          <a:p>
            <a:r>
              <a:rPr lang="en-US" altLang="zh-CN" smtClean="0">
                <a:ea typeface="黑体" panose="02010609060101010101" pitchFamily="49" charset="-122"/>
              </a:rPr>
              <a:t>DNS </a:t>
            </a:r>
            <a:r>
              <a:rPr lang="zh-CN" altLang="en-US" smtClean="0">
                <a:ea typeface="黑体" panose="02010609060101010101" pitchFamily="49" charset="-122"/>
              </a:rPr>
              <a:t>服务器的管辖范围不是以“域”为单位，而是以“区”为单位。  </a:t>
            </a:r>
          </a:p>
        </p:txBody>
      </p:sp>
      <p:sp>
        <p:nvSpPr>
          <p:cNvPr id="16179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6D3C7E-C618-446B-92E1-B8FF900BB4DA}" type="slidenum">
              <a:rPr lang="zh-CN" altLang="en-US" smtClean="0"/>
              <a:pPr eaLnBrk="1" hangingPunct="1"/>
              <a:t>12</a:t>
            </a:fld>
            <a:endParaRPr lang="en-US" altLang="zh-CN" smtClean="0"/>
          </a:p>
        </p:txBody>
      </p:sp>
      <p:sp>
        <p:nvSpPr>
          <p:cNvPr id="16179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8945" name="Rectangle 4"/>
          <p:cNvSpPr>
            <a:spLocks noGrp="1" noChangeArrowheads="1"/>
          </p:cNvSpPr>
          <p:nvPr>
            <p:ph type="title"/>
          </p:nvPr>
        </p:nvSpPr>
        <p:spPr/>
        <p:txBody>
          <a:bodyPr/>
          <a:lstStyle/>
          <a:p>
            <a:pPr algn="ctr"/>
            <a:r>
              <a:rPr lang="zh-CN" altLang="zh-CN" smtClean="0">
                <a:ea typeface="黑体" panose="02010609060101010101" pitchFamily="49" charset="-122"/>
              </a:rPr>
              <a:t>区的不同划分方法举例 </a:t>
            </a:r>
          </a:p>
        </p:txBody>
      </p:sp>
      <p:sp>
        <p:nvSpPr>
          <p:cNvPr id="1618946" name="Line 92"/>
          <p:cNvSpPr>
            <a:spLocks noChangeShapeType="1"/>
          </p:cNvSpPr>
          <p:nvPr/>
        </p:nvSpPr>
        <p:spPr bwMode="auto">
          <a:xfrm>
            <a:off x="2660650" y="2514600"/>
            <a:ext cx="11113" cy="800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18947" name="Text Box 93"/>
          <p:cNvSpPr txBox="1">
            <a:spLocks noChangeArrowheads="1"/>
          </p:cNvSpPr>
          <p:nvPr/>
        </p:nvSpPr>
        <p:spPr bwMode="auto">
          <a:xfrm>
            <a:off x="409575" y="2901950"/>
            <a:ext cx="1827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域 </a:t>
            </a:r>
            <a:r>
              <a:rPr lang="en-US" altLang="zh-CN" sz="2400" b="1">
                <a:solidFill>
                  <a:srgbClr val="000099"/>
                </a:solidFill>
                <a:ea typeface="宋体" panose="02010600030101010101" pitchFamily="2" charset="-122"/>
              </a:rPr>
              <a:t>abc.com</a:t>
            </a:r>
          </a:p>
        </p:txBody>
      </p:sp>
      <p:sp>
        <p:nvSpPr>
          <p:cNvPr id="1618948" name="Freeform 94"/>
          <p:cNvSpPr>
            <a:spLocks noChangeArrowheads="1"/>
          </p:cNvSpPr>
          <p:nvPr/>
        </p:nvSpPr>
        <p:spPr bwMode="auto">
          <a:xfrm>
            <a:off x="736600" y="3092450"/>
            <a:ext cx="3719513" cy="2295525"/>
          </a:xfrm>
          <a:custGeom>
            <a:avLst/>
            <a:gdLst>
              <a:gd name="T0" fmla="*/ 1097 w 1917"/>
              <a:gd name="T1" fmla="*/ 32 h 1143"/>
              <a:gd name="T2" fmla="*/ 882 w 1917"/>
              <a:gd name="T3" fmla="*/ 43 h 1143"/>
              <a:gd name="T4" fmla="*/ 603 w 1917"/>
              <a:gd name="T5" fmla="*/ 287 h 1143"/>
              <a:gd name="T6" fmla="*/ 120 w 1917"/>
              <a:gd name="T7" fmla="*/ 830 h 1143"/>
              <a:gd name="T8" fmla="*/ 13 w 1917"/>
              <a:gd name="T9" fmla="*/ 1050 h 1143"/>
              <a:gd name="T10" fmla="*/ 195 w 1917"/>
              <a:gd name="T11" fmla="*/ 1126 h 1143"/>
              <a:gd name="T12" fmla="*/ 612 w 1917"/>
              <a:gd name="T13" fmla="*/ 1128 h 1143"/>
              <a:gd name="T14" fmla="*/ 1121 w 1917"/>
              <a:gd name="T15" fmla="*/ 1136 h 1143"/>
              <a:gd name="T16" fmla="*/ 1451 w 1917"/>
              <a:gd name="T17" fmla="*/ 1139 h 1143"/>
              <a:gd name="T18" fmla="*/ 1811 w 1917"/>
              <a:gd name="T19" fmla="*/ 1109 h 1143"/>
              <a:gd name="T20" fmla="*/ 1907 w 1917"/>
              <a:gd name="T21" fmla="*/ 1001 h 1143"/>
              <a:gd name="T22" fmla="*/ 1751 w 1917"/>
              <a:gd name="T23" fmla="*/ 743 h 1143"/>
              <a:gd name="T24" fmla="*/ 1571 w 1917"/>
              <a:gd name="T25" fmla="*/ 521 h 1143"/>
              <a:gd name="T26" fmla="*/ 1427 w 1917"/>
              <a:gd name="T27" fmla="*/ 353 h 1143"/>
              <a:gd name="T28" fmla="*/ 1277 w 1917"/>
              <a:gd name="T29" fmla="*/ 191 h 1143"/>
              <a:gd name="T30" fmla="*/ 1097 w 1917"/>
              <a:gd name="T31" fmla="*/ 32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18949" name="AutoShape 95"/>
          <p:cNvSpPr>
            <a:spLocks noChangeArrowheads="1"/>
          </p:cNvSpPr>
          <p:nvPr/>
        </p:nvSpPr>
        <p:spPr bwMode="auto">
          <a:xfrm>
            <a:off x="277813" y="2970213"/>
            <a:ext cx="4579937" cy="2641600"/>
          </a:xfrm>
          <a:prstGeom prst="roundRect">
            <a:avLst>
              <a:gd name="adj" fmla="val 9319"/>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618950" name="Text Box 96"/>
          <p:cNvSpPr txBox="1">
            <a:spLocks noChangeArrowheads="1"/>
          </p:cNvSpPr>
          <p:nvPr/>
        </p:nvSpPr>
        <p:spPr bwMode="auto">
          <a:xfrm>
            <a:off x="261938" y="3502025"/>
            <a:ext cx="14335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70000"/>
              </a:lnSpc>
            </a:pPr>
            <a:r>
              <a:rPr lang="zh-CN" altLang="zh-CN" sz="2400" b="1">
                <a:solidFill>
                  <a:srgbClr val="000099"/>
                </a:solidFill>
                <a:ea typeface="宋体" panose="02010600030101010101" pitchFamily="2" charset="-122"/>
              </a:rPr>
              <a:t> 区</a:t>
            </a:r>
            <a:endParaRPr lang="zh-CN" altLang="en-US" sz="2400" b="1">
              <a:solidFill>
                <a:srgbClr val="000099"/>
              </a:solidFill>
              <a:ea typeface="宋体" panose="02010600030101010101" pitchFamily="2" charset="-122"/>
            </a:endParaRPr>
          </a:p>
          <a:p>
            <a:pPr algn="ctr">
              <a:lnSpc>
                <a:spcPct val="70000"/>
              </a:lnSpc>
            </a:pPr>
            <a:r>
              <a:rPr lang="en-US" altLang="zh-CN" sz="2400" b="1">
                <a:solidFill>
                  <a:srgbClr val="000099"/>
                </a:solidFill>
                <a:ea typeface="宋体" panose="02010600030101010101" pitchFamily="2" charset="-122"/>
              </a:rPr>
              <a:t>abc.com</a:t>
            </a:r>
          </a:p>
        </p:txBody>
      </p:sp>
      <p:sp>
        <p:nvSpPr>
          <p:cNvPr id="1618951" name="Freeform 97"/>
          <p:cNvSpPr>
            <a:spLocks noChangeArrowheads="1"/>
          </p:cNvSpPr>
          <p:nvPr/>
        </p:nvSpPr>
        <p:spPr bwMode="auto">
          <a:xfrm>
            <a:off x="952500" y="4025900"/>
            <a:ext cx="142875" cy="582613"/>
          </a:xfrm>
          <a:custGeom>
            <a:avLst/>
            <a:gdLst>
              <a:gd name="T0" fmla="*/ 0 w 172"/>
              <a:gd name="T1" fmla="*/ 0 h 244"/>
              <a:gd name="T2" fmla="*/ 172 w 172"/>
              <a:gd name="T3" fmla="*/ 244 h 244"/>
            </a:gdLst>
            <a:ahLst/>
            <a:cxnLst>
              <a:cxn ang="0">
                <a:pos x="T0" y="T1"/>
              </a:cxn>
              <a:cxn ang="0">
                <a:pos x="T2" y="T3"/>
              </a:cxn>
            </a:cxnLst>
            <a:rect l="0" t="0" r="r" b="b"/>
            <a:pathLst>
              <a:path w="172" h="244">
                <a:moveTo>
                  <a:pt x="0" y="0"/>
                </a:moveTo>
                <a:lnTo>
                  <a:pt x="172" y="244"/>
                </a:lnTo>
              </a:path>
            </a:pathLst>
          </a:custGeom>
          <a:noFill/>
          <a:ln w="9525">
            <a:solidFill>
              <a:schemeClr val="tx1"/>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18952" name="Line 98"/>
          <p:cNvSpPr>
            <a:spLocks noChangeShapeType="1"/>
          </p:cNvSpPr>
          <p:nvPr/>
        </p:nvSpPr>
        <p:spPr bwMode="auto">
          <a:xfrm flipH="1">
            <a:off x="2178050" y="3484563"/>
            <a:ext cx="390525" cy="66198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53" name="Line 99"/>
          <p:cNvSpPr>
            <a:spLocks noChangeShapeType="1"/>
          </p:cNvSpPr>
          <p:nvPr/>
        </p:nvSpPr>
        <p:spPr bwMode="auto">
          <a:xfrm>
            <a:off x="2784475" y="3514725"/>
            <a:ext cx="511175" cy="61753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54" name="Line 100"/>
          <p:cNvSpPr>
            <a:spLocks noChangeShapeType="1"/>
          </p:cNvSpPr>
          <p:nvPr/>
        </p:nvSpPr>
        <p:spPr bwMode="auto">
          <a:xfrm>
            <a:off x="3382963" y="4256088"/>
            <a:ext cx="547687" cy="79216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55" name="Line 101"/>
          <p:cNvSpPr>
            <a:spLocks noChangeShapeType="1"/>
          </p:cNvSpPr>
          <p:nvPr/>
        </p:nvSpPr>
        <p:spPr bwMode="auto">
          <a:xfrm>
            <a:off x="2203450" y="4275138"/>
            <a:ext cx="666750" cy="7048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56" name="Line 102"/>
          <p:cNvSpPr>
            <a:spLocks noChangeShapeType="1"/>
          </p:cNvSpPr>
          <p:nvPr/>
        </p:nvSpPr>
        <p:spPr bwMode="auto">
          <a:xfrm flipH="1">
            <a:off x="2087563" y="4286250"/>
            <a:ext cx="19050" cy="6032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57" name="Line 103"/>
          <p:cNvSpPr>
            <a:spLocks noChangeShapeType="1"/>
          </p:cNvSpPr>
          <p:nvPr/>
        </p:nvSpPr>
        <p:spPr bwMode="auto">
          <a:xfrm flipH="1">
            <a:off x="1273175" y="4205288"/>
            <a:ext cx="809625" cy="7747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58" name="Oval 104"/>
          <p:cNvSpPr>
            <a:spLocks noChangeArrowheads="1"/>
          </p:cNvSpPr>
          <p:nvPr/>
        </p:nvSpPr>
        <p:spPr bwMode="auto">
          <a:xfrm>
            <a:off x="2293938" y="3259138"/>
            <a:ext cx="703262" cy="384175"/>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abc</a:t>
            </a:r>
          </a:p>
        </p:txBody>
      </p:sp>
      <p:sp>
        <p:nvSpPr>
          <p:cNvPr id="1618959" name="Oval 105"/>
          <p:cNvSpPr>
            <a:spLocks noChangeArrowheads="1"/>
          </p:cNvSpPr>
          <p:nvPr/>
        </p:nvSpPr>
        <p:spPr bwMode="auto">
          <a:xfrm>
            <a:off x="1816100" y="4051300"/>
            <a:ext cx="617538" cy="306388"/>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x</a:t>
            </a:r>
          </a:p>
        </p:txBody>
      </p:sp>
      <p:sp>
        <p:nvSpPr>
          <p:cNvPr id="1618960" name="Oval 106"/>
          <p:cNvSpPr>
            <a:spLocks noChangeArrowheads="1"/>
          </p:cNvSpPr>
          <p:nvPr/>
        </p:nvSpPr>
        <p:spPr bwMode="auto">
          <a:xfrm>
            <a:off x="938213" y="4894263"/>
            <a:ext cx="617537" cy="307975"/>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u</a:t>
            </a:r>
          </a:p>
        </p:txBody>
      </p:sp>
      <p:sp>
        <p:nvSpPr>
          <p:cNvPr id="1618961" name="Oval 107"/>
          <p:cNvSpPr>
            <a:spLocks noChangeArrowheads="1"/>
          </p:cNvSpPr>
          <p:nvPr/>
        </p:nvSpPr>
        <p:spPr bwMode="auto">
          <a:xfrm>
            <a:off x="1757363" y="4894263"/>
            <a:ext cx="617537" cy="307975"/>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v</a:t>
            </a:r>
          </a:p>
        </p:txBody>
      </p:sp>
      <p:sp>
        <p:nvSpPr>
          <p:cNvPr id="1618962" name="Oval 108"/>
          <p:cNvSpPr>
            <a:spLocks noChangeArrowheads="1"/>
          </p:cNvSpPr>
          <p:nvPr/>
        </p:nvSpPr>
        <p:spPr bwMode="auto">
          <a:xfrm>
            <a:off x="2579688" y="4894263"/>
            <a:ext cx="617537" cy="307975"/>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w</a:t>
            </a:r>
          </a:p>
        </p:txBody>
      </p:sp>
      <p:sp>
        <p:nvSpPr>
          <p:cNvPr id="1618963" name="Oval 109"/>
          <p:cNvSpPr>
            <a:spLocks noChangeArrowheads="1"/>
          </p:cNvSpPr>
          <p:nvPr/>
        </p:nvSpPr>
        <p:spPr bwMode="auto">
          <a:xfrm>
            <a:off x="3578225" y="4894263"/>
            <a:ext cx="615950" cy="307975"/>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t</a:t>
            </a:r>
          </a:p>
        </p:txBody>
      </p:sp>
      <p:sp>
        <p:nvSpPr>
          <p:cNvPr id="1618964" name="Oval 110"/>
          <p:cNvSpPr>
            <a:spLocks noChangeArrowheads="1"/>
          </p:cNvSpPr>
          <p:nvPr/>
        </p:nvSpPr>
        <p:spPr bwMode="auto">
          <a:xfrm>
            <a:off x="3049588" y="4051300"/>
            <a:ext cx="617537" cy="306388"/>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y</a:t>
            </a:r>
          </a:p>
        </p:txBody>
      </p:sp>
      <p:sp>
        <p:nvSpPr>
          <p:cNvPr id="1066095" name="Text Box 111"/>
          <p:cNvSpPr txBox="1">
            <a:spLocks noChangeArrowheads="1"/>
          </p:cNvSpPr>
          <p:nvPr/>
        </p:nvSpPr>
        <p:spPr bwMode="auto">
          <a:xfrm>
            <a:off x="1658938" y="5630863"/>
            <a:ext cx="1614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宋体" panose="02010600030101010101" pitchFamily="2" charset="-122"/>
              </a:rPr>
              <a:t>(a) </a:t>
            </a:r>
            <a:r>
              <a:rPr lang="zh-CN" altLang="en-US" sz="2400" b="1">
                <a:solidFill>
                  <a:srgbClr val="000099"/>
                </a:solidFill>
                <a:ea typeface="宋体" panose="02010600030101010101" pitchFamily="2" charset="-122"/>
              </a:rPr>
              <a:t>区 </a:t>
            </a:r>
            <a:r>
              <a:rPr lang="en-US" altLang="zh-CN" sz="2400" b="1">
                <a:solidFill>
                  <a:srgbClr val="000099"/>
                </a:solidFill>
                <a:ea typeface="宋体" panose="02010600030101010101" pitchFamily="2" charset="-122"/>
              </a:rPr>
              <a:t>= </a:t>
            </a:r>
            <a:r>
              <a:rPr lang="zh-CN" altLang="en-US" sz="2400" b="1">
                <a:solidFill>
                  <a:srgbClr val="000099"/>
                </a:solidFill>
                <a:ea typeface="宋体" panose="02010600030101010101" pitchFamily="2" charset="-122"/>
              </a:rPr>
              <a:t>域</a:t>
            </a:r>
          </a:p>
        </p:txBody>
      </p:sp>
      <p:grpSp>
        <p:nvGrpSpPr>
          <p:cNvPr id="1066157" name="Group 173"/>
          <p:cNvGrpSpPr>
            <a:grpSpLocks/>
          </p:cNvGrpSpPr>
          <p:nvPr/>
        </p:nvGrpSpPr>
        <p:grpSpPr bwMode="auto">
          <a:xfrm>
            <a:off x="5246688" y="1238250"/>
            <a:ext cx="4602162" cy="4854575"/>
            <a:chOff x="2971" y="709"/>
            <a:chExt cx="2676" cy="3058"/>
          </a:xfrm>
        </p:grpSpPr>
        <p:grpSp>
          <p:nvGrpSpPr>
            <p:cNvPr id="1618967" name="Group 89"/>
            <p:cNvGrpSpPr>
              <a:grpSpLocks/>
            </p:cNvGrpSpPr>
            <p:nvPr/>
          </p:nvGrpSpPr>
          <p:grpSpPr bwMode="auto">
            <a:xfrm>
              <a:off x="4196" y="1530"/>
              <a:ext cx="256" cy="98"/>
              <a:chOff x="1519" y="813"/>
              <a:chExt cx="227" cy="77"/>
            </a:xfrm>
          </p:grpSpPr>
          <p:sp>
            <p:nvSpPr>
              <p:cNvPr id="1618968" name="Line 90"/>
              <p:cNvSpPr>
                <a:spLocks noChangeShapeType="1"/>
              </p:cNvSpPr>
              <p:nvPr/>
            </p:nvSpPr>
            <p:spPr bwMode="auto">
              <a:xfrm>
                <a:off x="1647"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69" name="Line 91"/>
              <p:cNvSpPr>
                <a:spLocks noChangeShapeType="1"/>
              </p:cNvSpPr>
              <p:nvPr/>
            </p:nvSpPr>
            <p:spPr bwMode="auto">
              <a:xfrm flipH="1">
                <a:off x="1519"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8970" name="Text Box 112"/>
            <p:cNvSpPr txBox="1">
              <a:spLocks noChangeArrowheads="1"/>
            </p:cNvSpPr>
            <p:nvPr/>
          </p:nvSpPr>
          <p:spPr bwMode="auto">
            <a:xfrm>
              <a:off x="3742" y="3476"/>
              <a:ext cx="9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宋体" panose="02010600030101010101" pitchFamily="2" charset="-122"/>
                </a:rPr>
                <a:t>(b) </a:t>
              </a:r>
              <a:r>
                <a:rPr lang="zh-CN" altLang="en-US" sz="2400" b="1">
                  <a:solidFill>
                    <a:srgbClr val="000099"/>
                  </a:solidFill>
                  <a:ea typeface="宋体" panose="02010600030101010101" pitchFamily="2" charset="-122"/>
                </a:rPr>
                <a:t>区 </a:t>
              </a:r>
              <a:r>
                <a:rPr lang="en-US" altLang="zh-CN" sz="2400" b="1">
                  <a:solidFill>
                    <a:srgbClr val="000099"/>
                  </a:solidFill>
                  <a:ea typeface="宋体" panose="02010600030101010101" pitchFamily="2" charset="-122"/>
                </a:rPr>
                <a:t>&lt; </a:t>
              </a:r>
              <a:r>
                <a:rPr lang="zh-CN" altLang="en-US" sz="2400" b="1">
                  <a:solidFill>
                    <a:srgbClr val="000099"/>
                  </a:solidFill>
                  <a:ea typeface="宋体" panose="02010600030101010101" pitchFamily="2" charset="-122"/>
                </a:rPr>
                <a:t>域</a:t>
              </a:r>
            </a:p>
          </p:txBody>
        </p:sp>
        <p:sp>
          <p:nvSpPr>
            <p:cNvPr id="1618971" name="Line 113"/>
            <p:cNvSpPr>
              <a:spLocks noChangeShapeType="1"/>
            </p:cNvSpPr>
            <p:nvPr/>
          </p:nvSpPr>
          <p:spPr bwMode="auto">
            <a:xfrm>
              <a:off x="4328" y="1523"/>
              <a:ext cx="5" cy="50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18972" name="Text Box 114"/>
            <p:cNvSpPr txBox="1">
              <a:spLocks noChangeArrowheads="1"/>
            </p:cNvSpPr>
            <p:nvPr/>
          </p:nvSpPr>
          <p:spPr bwMode="auto">
            <a:xfrm>
              <a:off x="3061" y="1757"/>
              <a:ext cx="10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域 </a:t>
              </a:r>
              <a:r>
                <a:rPr lang="en-US" altLang="zh-CN" sz="2400" b="1">
                  <a:solidFill>
                    <a:srgbClr val="000099"/>
                  </a:solidFill>
                  <a:ea typeface="宋体" panose="02010600030101010101" pitchFamily="2" charset="-122"/>
                </a:rPr>
                <a:t>abc.com</a:t>
              </a:r>
            </a:p>
          </p:txBody>
        </p:sp>
        <p:sp>
          <p:nvSpPr>
            <p:cNvPr id="1618973" name="Freeform 115"/>
            <p:cNvSpPr>
              <a:spLocks noChangeArrowheads="1"/>
            </p:cNvSpPr>
            <p:nvPr/>
          </p:nvSpPr>
          <p:spPr bwMode="auto">
            <a:xfrm>
              <a:off x="4458" y="2341"/>
              <a:ext cx="849" cy="958"/>
            </a:xfrm>
            <a:custGeom>
              <a:avLst/>
              <a:gdLst>
                <a:gd name="T0" fmla="*/ 305 w 753"/>
                <a:gd name="T1" fmla="*/ 30 h 900"/>
                <a:gd name="T2" fmla="*/ 73 w 753"/>
                <a:gd name="T3" fmla="*/ 62 h 900"/>
                <a:gd name="T4" fmla="*/ 1 w 753"/>
                <a:gd name="T5" fmla="*/ 238 h 900"/>
                <a:gd name="T6" fmla="*/ 81 w 753"/>
                <a:gd name="T7" fmla="*/ 366 h 900"/>
                <a:gd name="T8" fmla="*/ 231 w 753"/>
                <a:gd name="T9" fmla="*/ 586 h 900"/>
                <a:gd name="T10" fmla="*/ 363 w 753"/>
                <a:gd name="T11" fmla="*/ 820 h 900"/>
                <a:gd name="T12" fmla="*/ 537 w 753"/>
                <a:gd name="T13" fmla="*/ 894 h 900"/>
                <a:gd name="T14" fmla="*/ 689 w 753"/>
                <a:gd name="T15" fmla="*/ 854 h 900"/>
                <a:gd name="T16" fmla="*/ 753 w 753"/>
                <a:gd name="T17" fmla="*/ 766 h 900"/>
                <a:gd name="T18" fmla="*/ 687 w 753"/>
                <a:gd name="T19" fmla="*/ 580 h 900"/>
                <a:gd name="T20" fmla="*/ 601 w 753"/>
                <a:gd name="T21" fmla="*/ 430 h 900"/>
                <a:gd name="T22" fmla="*/ 483 w 753"/>
                <a:gd name="T23" fmla="*/ 244 h 900"/>
                <a:gd name="T24" fmla="*/ 305 w 753"/>
                <a:gd name="T25" fmla="*/ 30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18974" name="Freeform 116"/>
            <p:cNvSpPr>
              <a:spLocks noChangeArrowheads="1"/>
            </p:cNvSpPr>
            <p:nvPr/>
          </p:nvSpPr>
          <p:spPr bwMode="auto">
            <a:xfrm>
              <a:off x="3215" y="1882"/>
              <a:ext cx="1535" cy="1436"/>
            </a:xfrm>
            <a:custGeom>
              <a:avLst/>
              <a:gdLst>
                <a:gd name="T0" fmla="*/ 1200 w 1360"/>
                <a:gd name="T1" fmla="*/ 58 h 1349"/>
                <a:gd name="T2" fmla="*/ 882 w 1360"/>
                <a:gd name="T3" fmla="*/ 46 h 1349"/>
                <a:gd name="T4" fmla="*/ 603 w 1360"/>
                <a:gd name="T5" fmla="*/ 336 h 1349"/>
                <a:gd name="T6" fmla="*/ 120 w 1360"/>
                <a:gd name="T7" fmla="*/ 982 h 1349"/>
                <a:gd name="T8" fmla="*/ 13 w 1360"/>
                <a:gd name="T9" fmla="*/ 1243 h 1349"/>
                <a:gd name="T10" fmla="*/ 195 w 1360"/>
                <a:gd name="T11" fmla="*/ 1334 h 1349"/>
                <a:gd name="T12" fmla="*/ 612 w 1360"/>
                <a:gd name="T13" fmla="*/ 1336 h 1349"/>
                <a:gd name="T14" fmla="*/ 1152 w 1360"/>
                <a:gd name="T15" fmla="*/ 1330 h 1349"/>
                <a:gd name="T16" fmla="*/ 1338 w 1360"/>
                <a:gd name="T17" fmla="*/ 1234 h 1349"/>
                <a:gd name="T18" fmla="*/ 1283 w 1360"/>
                <a:gd name="T19" fmla="*/ 1062 h 1349"/>
                <a:gd name="T20" fmla="*/ 1050 w 1360"/>
                <a:gd name="T21" fmla="*/ 772 h 1349"/>
                <a:gd name="T22" fmla="*/ 1011 w 1360"/>
                <a:gd name="T23" fmla="*/ 608 h 1349"/>
                <a:gd name="T24" fmla="*/ 1146 w 1360"/>
                <a:gd name="T25" fmla="*/ 382 h 1349"/>
                <a:gd name="T26" fmla="*/ 1266 w 1360"/>
                <a:gd name="T27" fmla="*/ 262 h 1349"/>
                <a:gd name="T28" fmla="*/ 1284 w 1360"/>
                <a:gd name="T29" fmla="*/ 166 h 1349"/>
                <a:gd name="T30" fmla="*/ 1200 w 1360"/>
                <a:gd name="T31" fmla="*/ 58 h 1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18975" name="AutoShape 117"/>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618976" name="Text Box 118"/>
            <p:cNvSpPr txBox="1">
              <a:spLocks noChangeArrowheads="1"/>
            </p:cNvSpPr>
            <p:nvPr/>
          </p:nvSpPr>
          <p:spPr bwMode="auto">
            <a:xfrm>
              <a:off x="2974" y="2131"/>
              <a:ext cx="83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70000"/>
                </a:lnSpc>
              </a:pPr>
              <a:r>
                <a:rPr lang="zh-CN" altLang="zh-CN" sz="2400" b="1">
                  <a:solidFill>
                    <a:srgbClr val="000099"/>
                  </a:solidFill>
                  <a:ea typeface="宋体" panose="02010600030101010101" pitchFamily="2" charset="-122"/>
                </a:rPr>
                <a:t> 区</a:t>
              </a:r>
              <a:endParaRPr lang="zh-CN" altLang="en-US" sz="2400" b="1">
                <a:solidFill>
                  <a:srgbClr val="000099"/>
                </a:solidFill>
                <a:ea typeface="宋体" panose="02010600030101010101" pitchFamily="2" charset="-122"/>
              </a:endParaRPr>
            </a:p>
            <a:p>
              <a:pPr algn="ctr">
                <a:lnSpc>
                  <a:spcPct val="70000"/>
                </a:lnSpc>
              </a:pPr>
              <a:r>
                <a:rPr lang="en-US" altLang="zh-CN" sz="2400" b="1">
                  <a:solidFill>
                    <a:srgbClr val="000099"/>
                  </a:solidFill>
                  <a:ea typeface="宋体" panose="02010600030101010101" pitchFamily="2" charset="-122"/>
                </a:rPr>
                <a:t>abc.com</a:t>
              </a:r>
            </a:p>
          </p:txBody>
        </p:sp>
        <p:sp>
          <p:nvSpPr>
            <p:cNvPr id="1618977" name="Text Box 119"/>
            <p:cNvSpPr txBox="1">
              <a:spLocks noChangeArrowheads="1"/>
            </p:cNvSpPr>
            <p:nvPr/>
          </p:nvSpPr>
          <p:spPr bwMode="auto">
            <a:xfrm>
              <a:off x="4649" y="1950"/>
              <a:ext cx="99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75000"/>
                </a:lnSpc>
              </a:pPr>
              <a:r>
                <a:rPr lang="zh-CN" altLang="en-US" sz="2400" b="1">
                  <a:solidFill>
                    <a:srgbClr val="000099"/>
                  </a:solidFill>
                  <a:ea typeface="宋体" panose="02010600030101010101" pitchFamily="2" charset="-122"/>
                </a:rPr>
                <a:t>区</a:t>
              </a:r>
            </a:p>
            <a:p>
              <a:pPr algn="ctr">
                <a:lnSpc>
                  <a:spcPct val="75000"/>
                </a:lnSpc>
              </a:pPr>
              <a:r>
                <a:rPr lang="en-US" altLang="zh-CN" sz="2400" b="1">
                  <a:solidFill>
                    <a:srgbClr val="000099"/>
                  </a:solidFill>
                  <a:ea typeface="宋体" panose="02010600030101010101" pitchFamily="2" charset="-122"/>
                </a:rPr>
                <a:t>y.abc.com</a:t>
              </a:r>
            </a:p>
          </p:txBody>
        </p:sp>
        <p:sp>
          <p:nvSpPr>
            <p:cNvPr id="1618978" name="Line 120"/>
            <p:cNvSpPr>
              <a:spLocks noChangeShapeType="1"/>
            </p:cNvSpPr>
            <p:nvPr/>
          </p:nvSpPr>
          <p:spPr bwMode="auto">
            <a:xfrm>
              <a:off x="3382" y="2491"/>
              <a:ext cx="156" cy="22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18979" name="Line 121"/>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18980" name="Line 122"/>
            <p:cNvSpPr>
              <a:spLocks noChangeShapeType="1"/>
            </p:cNvSpPr>
            <p:nvPr/>
          </p:nvSpPr>
          <p:spPr bwMode="auto">
            <a:xfrm flipH="1">
              <a:off x="4054" y="2124"/>
              <a:ext cx="226" cy="41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81" name="Line 123"/>
            <p:cNvSpPr>
              <a:spLocks noChangeShapeType="1"/>
            </p:cNvSpPr>
            <p:nvPr/>
          </p:nvSpPr>
          <p:spPr bwMode="auto">
            <a:xfrm>
              <a:off x="4407" y="2143"/>
              <a:ext cx="297" cy="38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82" name="Line 124"/>
            <p:cNvSpPr>
              <a:spLocks noChangeShapeType="1"/>
            </p:cNvSpPr>
            <p:nvPr/>
          </p:nvSpPr>
          <p:spPr bwMode="auto">
            <a:xfrm>
              <a:off x="4754" y="2610"/>
              <a:ext cx="319" cy="49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83" name="Line 125"/>
            <p:cNvSpPr>
              <a:spLocks noChangeShapeType="1"/>
            </p:cNvSpPr>
            <p:nvPr/>
          </p:nvSpPr>
          <p:spPr bwMode="auto">
            <a:xfrm>
              <a:off x="4068" y="2622"/>
              <a:ext cx="388" cy="44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84" name="Line 126"/>
            <p:cNvSpPr>
              <a:spLocks noChangeShapeType="1"/>
            </p:cNvSpPr>
            <p:nvPr/>
          </p:nvSpPr>
          <p:spPr bwMode="auto">
            <a:xfrm flipH="1">
              <a:off x="4002" y="2629"/>
              <a:ext cx="11" cy="38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85" name="Line 127"/>
            <p:cNvSpPr>
              <a:spLocks noChangeShapeType="1"/>
            </p:cNvSpPr>
            <p:nvPr/>
          </p:nvSpPr>
          <p:spPr bwMode="auto">
            <a:xfrm flipH="1">
              <a:off x="3528" y="2578"/>
              <a:ext cx="470" cy="48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86" name="Oval 128"/>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abc</a:t>
              </a:r>
            </a:p>
          </p:txBody>
        </p:sp>
        <p:sp>
          <p:nvSpPr>
            <p:cNvPr id="1618987" name="Oval 129"/>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x</a:t>
              </a:r>
            </a:p>
          </p:txBody>
        </p:sp>
        <p:sp>
          <p:nvSpPr>
            <p:cNvPr id="1618988" name="Oval 130"/>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u</a:t>
              </a:r>
            </a:p>
          </p:txBody>
        </p:sp>
        <p:sp>
          <p:nvSpPr>
            <p:cNvPr id="1618989" name="Oval 131"/>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v</a:t>
              </a:r>
            </a:p>
          </p:txBody>
        </p:sp>
        <p:sp>
          <p:nvSpPr>
            <p:cNvPr id="1618990" name="Oval 132"/>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w</a:t>
              </a:r>
            </a:p>
          </p:txBody>
        </p:sp>
        <p:sp>
          <p:nvSpPr>
            <p:cNvPr id="1618991" name="Oval 133"/>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t</a:t>
              </a:r>
            </a:p>
          </p:txBody>
        </p:sp>
        <p:sp>
          <p:nvSpPr>
            <p:cNvPr id="1618992" name="Oval 134"/>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p:spPr>
          <p:txBody>
            <a:bodyPr wrap="none" anchor="ctr"/>
            <a:lstStyle/>
            <a:p>
              <a:pPr algn="ctr"/>
              <a:r>
                <a:rPr lang="en-US" altLang="zh-CN" sz="2400" b="1">
                  <a:solidFill>
                    <a:srgbClr val="000099"/>
                  </a:solidFill>
                  <a:ea typeface="宋体" panose="02010600030101010101" pitchFamily="2" charset="-122"/>
                </a:rPr>
                <a:t>y</a:t>
              </a:r>
            </a:p>
          </p:txBody>
        </p:sp>
        <p:sp>
          <p:nvSpPr>
            <p:cNvPr id="1618993" name="AutoShape 135"/>
            <p:cNvSpPr>
              <a:spLocks noChangeArrowheads="1"/>
            </p:cNvSpPr>
            <p:nvPr/>
          </p:nvSpPr>
          <p:spPr bwMode="auto">
            <a:xfrm>
              <a:off x="4063" y="1232"/>
              <a:ext cx="522" cy="303"/>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2400" b="1">
                  <a:solidFill>
                    <a:srgbClr val="000099"/>
                  </a:solidFill>
                  <a:ea typeface="宋体" panose="02010600030101010101" pitchFamily="2" charset="-122"/>
                </a:rPr>
                <a:t>com</a:t>
              </a:r>
            </a:p>
          </p:txBody>
        </p:sp>
        <p:sp>
          <p:nvSpPr>
            <p:cNvPr id="1618994" name="AutoShape 136"/>
            <p:cNvSpPr>
              <a:spLocks noChangeArrowheads="1"/>
            </p:cNvSpPr>
            <p:nvPr/>
          </p:nvSpPr>
          <p:spPr bwMode="auto">
            <a:xfrm>
              <a:off x="4909" y="1225"/>
              <a:ext cx="522" cy="304"/>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2400" b="1">
                  <a:solidFill>
                    <a:srgbClr val="000099"/>
                  </a:solidFill>
                  <a:ea typeface="宋体" panose="02010600030101010101" pitchFamily="2" charset="-122"/>
                </a:rPr>
                <a:t>edu</a:t>
              </a:r>
            </a:p>
          </p:txBody>
        </p:sp>
        <p:sp>
          <p:nvSpPr>
            <p:cNvPr id="1618995" name="AutoShape 137"/>
            <p:cNvSpPr>
              <a:spLocks noChangeArrowheads="1"/>
            </p:cNvSpPr>
            <p:nvPr/>
          </p:nvSpPr>
          <p:spPr bwMode="auto">
            <a:xfrm>
              <a:off x="3220" y="1225"/>
              <a:ext cx="522" cy="304"/>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2400" b="1">
                  <a:solidFill>
                    <a:srgbClr val="000099"/>
                  </a:solidFill>
                  <a:ea typeface="宋体" panose="02010600030101010101" pitchFamily="2" charset="-122"/>
                </a:rPr>
                <a:t>org</a:t>
              </a:r>
            </a:p>
          </p:txBody>
        </p:sp>
        <p:grpSp>
          <p:nvGrpSpPr>
            <p:cNvPr id="1618996" name="Group 138"/>
            <p:cNvGrpSpPr>
              <a:grpSpLocks/>
            </p:cNvGrpSpPr>
            <p:nvPr/>
          </p:nvGrpSpPr>
          <p:grpSpPr bwMode="auto">
            <a:xfrm>
              <a:off x="5042" y="1530"/>
              <a:ext cx="256" cy="98"/>
              <a:chOff x="2875" y="1143"/>
              <a:chExt cx="330" cy="132"/>
            </a:xfrm>
          </p:grpSpPr>
          <p:sp>
            <p:nvSpPr>
              <p:cNvPr id="1618997" name="Line 139"/>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98" name="Line 140"/>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8999" name="Line 141"/>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00" name="Line 142"/>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9001" name="Group 143"/>
            <p:cNvGrpSpPr>
              <a:grpSpLocks/>
            </p:cNvGrpSpPr>
            <p:nvPr/>
          </p:nvGrpSpPr>
          <p:grpSpPr bwMode="auto">
            <a:xfrm>
              <a:off x="3353" y="1530"/>
              <a:ext cx="256" cy="98"/>
              <a:chOff x="2875" y="1143"/>
              <a:chExt cx="330" cy="132"/>
            </a:xfrm>
          </p:grpSpPr>
          <p:sp>
            <p:nvSpPr>
              <p:cNvPr id="1619002" name="Line 144"/>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03" name="Line 145"/>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04" name="Line 146"/>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05" name="Line 147"/>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006" name="AutoShape 148"/>
            <p:cNvSpPr>
              <a:spLocks noChangeArrowheads="1"/>
            </p:cNvSpPr>
            <p:nvPr/>
          </p:nvSpPr>
          <p:spPr bwMode="auto">
            <a:xfrm>
              <a:off x="4049" y="709"/>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zh-CN" altLang="en-US" sz="2400" b="1">
                  <a:solidFill>
                    <a:srgbClr val="000099"/>
                  </a:solidFill>
                  <a:ea typeface="宋体" panose="02010600030101010101" pitchFamily="2" charset="-122"/>
                </a:rPr>
                <a:t>根</a:t>
              </a:r>
            </a:p>
          </p:txBody>
        </p:sp>
        <p:sp>
          <p:nvSpPr>
            <p:cNvPr id="1619007" name="Line 149"/>
            <p:cNvSpPr>
              <a:spLocks noChangeShapeType="1"/>
            </p:cNvSpPr>
            <p:nvPr/>
          </p:nvSpPr>
          <p:spPr bwMode="auto">
            <a:xfrm>
              <a:off x="4375" y="1010"/>
              <a:ext cx="792" cy="2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08" name="Line 150"/>
            <p:cNvSpPr>
              <a:spLocks noChangeShapeType="1"/>
            </p:cNvSpPr>
            <p:nvPr/>
          </p:nvSpPr>
          <p:spPr bwMode="auto">
            <a:xfrm flipV="1">
              <a:off x="3481" y="1010"/>
              <a:ext cx="779" cy="2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09" name="Line 151"/>
            <p:cNvSpPr>
              <a:spLocks noChangeShapeType="1"/>
            </p:cNvSpPr>
            <p:nvPr/>
          </p:nvSpPr>
          <p:spPr bwMode="auto">
            <a:xfrm>
              <a:off x="4321" y="1010"/>
              <a:ext cx="0" cy="2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010" name="AutoShape 152"/>
          <p:cNvSpPr>
            <a:spLocks noChangeArrowheads="1"/>
          </p:cNvSpPr>
          <p:nvPr/>
        </p:nvSpPr>
        <p:spPr bwMode="auto">
          <a:xfrm>
            <a:off x="2211388" y="2068513"/>
            <a:ext cx="900112" cy="481012"/>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2400" b="1">
                <a:solidFill>
                  <a:srgbClr val="000099"/>
                </a:solidFill>
                <a:ea typeface="宋体" panose="02010600030101010101" pitchFamily="2" charset="-122"/>
              </a:rPr>
              <a:t>com</a:t>
            </a:r>
          </a:p>
        </p:txBody>
      </p:sp>
      <p:sp>
        <p:nvSpPr>
          <p:cNvPr id="1619011" name="AutoShape 153"/>
          <p:cNvSpPr>
            <a:spLocks noChangeArrowheads="1"/>
          </p:cNvSpPr>
          <p:nvPr/>
        </p:nvSpPr>
        <p:spPr bwMode="auto">
          <a:xfrm>
            <a:off x="3668713" y="2057400"/>
            <a:ext cx="896937" cy="482600"/>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2400" b="1">
                <a:solidFill>
                  <a:srgbClr val="000099"/>
                </a:solidFill>
                <a:ea typeface="宋体" panose="02010600030101010101" pitchFamily="2" charset="-122"/>
              </a:rPr>
              <a:t>edu</a:t>
            </a:r>
          </a:p>
        </p:txBody>
      </p:sp>
      <p:sp>
        <p:nvSpPr>
          <p:cNvPr id="1619012" name="AutoShape 154"/>
          <p:cNvSpPr>
            <a:spLocks noChangeArrowheads="1"/>
          </p:cNvSpPr>
          <p:nvPr/>
        </p:nvSpPr>
        <p:spPr bwMode="auto">
          <a:xfrm>
            <a:off x="762000" y="2057400"/>
            <a:ext cx="900113" cy="482600"/>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2400" b="1">
                <a:solidFill>
                  <a:srgbClr val="000099"/>
                </a:solidFill>
                <a:ea typeface="宋体" panose="02010600030101010101" pitchFamily="2" charset="-122"/>
              </a:rPr>
              <a:t>org</a:t>
            </a:r>
          </a:p>
        </p:txBody>
      </p:sp>
      <p:grpSp>
        <p:nvGrpSpPr>
          <p:cNvPr id="1619013" name="Group 155"/>
          <p:cNvGrpSpPr>
            <a:grpSpLocks/>
          </p:cNvGrpSpPr>
          <p:nvPr/>
        </p:nvGrpSpPr>
        <p:grpSpPr bwMode="auto">
          <a:xfrm>
            <a:off x="3897313" y="2541588"/>
            <a:ext cx="439737" cy="155575"/>
            <a:chOff x="2875" y="1143"/>
            <a:chExt cx="330" cy="132"/>
          </a:xfrm>
        </p:grpSpPr>
        <p:sp>
          <p:nvSpPr>
            <p:cNvPr id="1619014" name="Line 156"/>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15" name="Line 157"/>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16" name="Line 158"/>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17" name="Line 159"/>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619018" name="Group 160"/>
          <p:cNvGrpSpPr>
            <a:grpSpLocks/>
          </p:cNvGrpSpPr>
          <p:nvPr/>
        </p:nvGrpSpPr>
        <p:grpSpPr bwMode="auto">
          <a:xfrm>
            <a:off x="992188" y="2541588"/>
            <a:ext cx="441325" cy="155575"/>
            <a:chOff x="2875" y="1143"/>
            <a:chExt cx="330" cy="132"/>
          </a:xfrm>
        </p:grpSpPr>
        <p:sp>
          <p:nvSpPr>
            <p:cNvPr id="1619019" name="Line 161"/>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20" name="Line 162"/>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21" name="Line 163"/>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22" name="Line 164"/>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023" name="AutoShape 165"/>
          <p:cNvSpPr>
            <a:spLocks noChangeArrowheads="1"/>
          </p:cNvSpPr>
          <p:nvPr/>
        </p:nvSpPr>
        <p:spPr bwMode="auto">
          <a:xfrm>
            <a:off x="2189163" y="1238250"/>
            <a:ext cx="898525" cy="48260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zh-CN" altLang="en-US" sz="2400" b="1">
                <a:solidFill>
                  <a:srgbClr val="000099"/>
                </a:solidFill>
                <a:ea typeface="宋体" panose="02010600030101010101" pitchFamily="2" charset="-122"/>
              </a:rPr>
              <a:t>根</a:t>
            </a:r>
          </a:p>
        </p:txBody>
      </p:sp>
      <p:sp>
        <p:nvSpPr>
          <p:cNvPr id="1619024" name="Line 166"/>
          <p:cNvSpPr>
            <a:spLocks noChangeShapeType="1"/>
          </p:cNvSpPr>
          <p:nvPr/>
        </p:nvSpPr>
        <p:spPr bwMode="auto">
          <a:xfrm>
            <a:off x="2749550" y="1716088"/>
            <a:ext cx="1362075" cy="3381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25" name="Line 167"/>
          <p:cNvSpPr>
            <a:spLocks noChangeShapeType="1"/>
          </p:cNvSpPr>
          <p:nvPr/>
        </p:nvSpPr>
        <p:spPr bwMode="auto">
          <a:xfrm flipV="1">
            <a:off x="1212850" y="1716088"/>
            <a:ext cx="1339850" cy="3381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26" name="Line 168"/>
          <p:cNvSpPr>
            <a:spLocks noChangeShapeType="1"/>
          </p:cNvSpPr>
          <p:nvPr/>
        </p:nvSpPr>
        <p:spPr bwMode="auto">
          <a:xfrm>
            <a:off x="2657475" y="1716088"/>
            <a:ext cx="0" cy="3381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619027" name="Group 169"/>
          <p:cNvGrpSpPr>
            <a:grpSpLocks/>
          </p:cNvGrpSpPr>
          <p:nvPr/>
        </p:nvGrpSpPr>
        <p:grpSpPr bwMode="auto">
          <a:xfrm>
            <a:off x="2435225" y="2541588"/>
            <a:ext cx="441325" cy="155575"/>
            <a:chOff x="1519" y="813"/>
            <a:chExt cx="227" cy="77"/>
          </a:xfrm>
        </p:grpSpPr>
        <p:sp>
          <p:nvSpPr>
            <p:cNvPr id="1619028" name="Line 170"/>
            <p:cNvSpPr>
              <a:spLocks noChangeShapeType="1"/>
            </p:cNvSpPr>
            <p:nvPr/>
          </p:nvSpPr>
          <p:spPr bwMode="auto">
            <a:xfrm>
              <a:off x="1647"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029" name="Line 171"/>
            <p:cNvSpPr>
              <a:spLocks noChangeShapeType="1"/>
            </p:cNvSpPr>
            <p:nvPr/>
          </p:nvSpPr>
          <p:spPr bwMode="auto">
            <a:xfrm flipH="1">
              <a:off x="1519" y="813"/>
              <a:ext cx="99" cy="7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03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BC8DB2-84FD-4857-B2EF-2033A51E0737}" type="slidenum">
              <a:rPr lang="zh-CN" altLang="en-US" smtClean="0"/>
              <a:pPr eaLnBrk="1" hangingPunct="1"/>
              <a:t>13</a:t>
            </a:fld>
            <a:endParaRPr lang="en-US" altLang="zh-CN" smtClean="0"/>
          </a:p>
        </p:txBody>
      </p:sp>
      <p:sp>
        <p:nvSpPr>
          <p:cNvPr id="161903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0660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066157"/>
                                        </p:tgtEl>
                                        <p:attrNameLst>
                                          <p:attrName>style.visibility</p:attrName>
                                        </p:attrNameLst>
                                      </p:cBhvr>
                                      <p:to>
                                        <p:strVal val="visible"/>
                                      </p:to>
                                    </p:set>
                                    <p:animEffect transition="in" filter="wipe(up)">
                                      <p:cBhvr>
                                        <p:cTn id="11" dur="1000"/>
                                        <p:tgtEl>
                                          <p:spTgt spid="106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0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9969" name="AutoShape 31"/>
          <p:cNvSpPr>
            <a:spLocks noChangeArrowheads="1"/>
          </p:cNvSpPr>
          <p:nvPr/>
        </p:nvSpPr>
        <p:spPr bwMode="auto">
          <a:xfrm>
            <a:off x="4154488" y="3455988"/>
            <a:ext cx="2859087" cy="2084387"/>
          </a:xfrm>
          <a:prstGeom prst="roundRect">
            <a:avLst>
              <a:gd name="adj" fmla="val 16667"/>
            </a:avLst>
          </a:prstGeom>
          <a:solidFill>
            <a:srgbClr val="33CCFF"/>
          </a:solidFill>
          <a:ln w="9525">
            <a:solidFill>
              <a:schemeClr val="tx1"/>
            </a:solidFill>
            <a:prstDash val="dash"/>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619970" name="Rectangle 4"/>
          <p:cNvSpPr>
            <a:spLocks noGrp="1" noChangeArrowheads="1"/>
          </p:cNvSpPr>
          <p:nvPr>
            <p:ph type="title"/>
          </p:nvPr>
        </p:nvSpPr>
        <p:spPr/>
        <p:txBody>
          <a:bodyPr/>
          <a:lstStyle/>
          <a:p>
            <a:pPr algn="ctr"/>
            <a:r>
              <a:rPr lang="zh-CN" altLang="zh-CN" smtClean="0">
                <a:ea typeface="黑体" panose="02010609060101010101" pitchFamily="49" charset="-122"/>
              </a:rPr>
              <a:t>树状结构的 </a:t>
            </a:r>
            <a:r>
              <a:rPr lang="en-US" altLang="zh-CN" smtClean="0">
                <a:ea typeface="黑体" panose="02010609060101010101" pitchFamily="49" charset="-122"/>
              </a:rPr>
              <a:t>DNS </a:t>
            </a:r>
            <a:r>
              <a:rPr lang="zh-CN" altLang="zh-CN" smtClean="0">
                <a:ea typeface="黑体" panose="02010609060101010101" pitchFamily="49" charset="-122"/>
              </a:rPr>
              <a:t>域名服务器 </a:t>
            </a:r>
          </a:p>
        </p:txBody>
      </p:sp>
      <p:grpSp>
        <p:nvGrpSpPr>
          <p:cNvPr id="1619971" name="Group 5"/>
          <p:cNvGrpSpPr>
            <a:grpSpLocks/>
          </p:cNvGrpSpPr>
          <p:nvPr/>
        </p:nvGrpSpPr>
        <p:grpSpPr bwMode="auto">
          <a:xfrm>
            <a:off x="3540125" y="2160588"/>
            <a:ext cx="4678363" cy="392112"/>
            <a:chOff x="2294" y="572"/>
            <a:chExt cx="2450" cy="318"/>
          </a:xfrm>
        </p:grpSpPr>
        <p:sp>
          <p:nvSpPr>
            <p:cNvPr id="1619972" name="Line 6"/>
            <p:cNvSpPr>
              <a:spLocks noChangeShapeType="1"/>
            </p:cNvSpPr>
            <p:nvPr/>
          </p:nvSpPr>
          <p:spPr bwMode="auto">
            <a:xfrm flipV="1">
              <a:off x="2294" y="572"/>
              <a:ext cx="1089" cy="31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73" name="Line 7"/>
            <p:cNvSpPr>
              <a:spLocks noChangeShapeType="1"/>
            </p:cNvSpPr>
            <p:nvPr/>
          </p:nvSpPr>
          <p:spPr bwMode="auto">
            <a:xfrm>
              <a:off x="3474" y="572"/>
              <a:ext cx="0" cy="31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74" name="Line 8"/>
            <p:cNvSpPr>
              <a:spLocks noChangeShapeType="1"/>
            </p:cNvSpPr>
            <p:nvPr/>
          </p:nvSpPr>
          <p:spPr bwMode="auto">
            <a:xfrm flipH="1" flipV="1">
              <a:off x="3565" y="572"/>
              <a:ext cx="1179" cy="31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975" name="Rectangle 9"/>
          <p:cNvSpPr>
            <a:spLocks noChangeArrowheads="1"/>
          </p:cNvSpPr>
          <p:nvPr/>
        </p:nvSpPr>
        <p:spPr bwMode="auto">
          <a:xfrm>
            <a:off x="4848225" y="1639888"/>
            <a:ext cx="1905000" cy="496887"/>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b="1">
                <a:solidFill>
                  <a:srgbClr val="000099"/>
                </a:solidFill>
                <a:ea typeface="宋体" panose="02010600030101010101" pitchFamily="2" charset="-122"/>
              </a:rPr>
              <a:t>根域名服务器</a:t>
            </a:r>
          </a:p>
        </p:txBody>
      </p:sp>
      <p:sp>
        <p:nvSpPr>
          <p:cNvPr id="1619976" name="Rectangle 10"/>
          <p:cNvSpPr>
            <a:spLocks noChangeArrowheads="1"/>
          </p:cNvSpPr>
          <p:nvPr/>
        </p:nvSpPr>
        <p:spPr bwMode="auto">
          <a:xfrm>
            <a:off x="2508250" y="2552700"/>
            <a:ext cx="1906588" cy="496888"/>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00099"/>
                </a:solidFill>
                <a:ea typeface="宋体" panose="02010600030101010101" pitchFamily="2" charset="-122"/>
              </a:rPr>
              <a:t>org </a:t>
            </a:r>
            <a:r>
              <a:rPr lang="zh-CN" altLang="en-US" sz="2000" b="1">
                <a:solidFill>
                  <a:srgbClr val="000099"/>
                </a:solidFill>
                <a:ea typeface="宋体" panose="02010600030101010101" pitchFamily="2" charset="-122"/>
              </a:rPr>
              <a:t>域名服务器</a:t>
            </a:r>
          </a:p>
        </p:txBody>
      </p:sp>
      <p:sp>
        <p:nvSpPr>
          <p:cNvPr id="1619977" name="Rectangle 11"/>
          <p:cNvSpPr>
            <a:spLocks noChangeArrowheads="1"/>
          </p:cNvSpPr>
          <p:nvPr/>
        </p:nvSpPr>
        <p:spPr bwMode="auto">
          <a:xfrm>
            <a:off x="4848225" y="2552700"/>
            <a:ext cx="1905000" cy="496888"/>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00099"/>
                </a:solidFill>
                <a:ea typeface="宋体" panose="02010600030101010101" pitchFamily="2" charset="-122"/>
              </a:rPr>
              <a:t>com </a:t>
            </a:r>
            <a:r>
              <a:rPr lang="zh-CN" altLang="en-US" sz="2000" b="1">
                <a:solidFill>
                  <a:srgbClr val="000099"/>
                </a:solidFill>
                <a:ea typeface="宋体" panose="02010600030101010101" pitchFamily="2" charset="-122"/>
              </a:rPr>
              <a:t>域名服务器</a:t>
            </a:r>
          </a:p>
        </p:txBody>
      </p:sp>
      <p:sp>
        <p:nvSpPr>
          <p:cNvPr id="1619978" name="Rectangle 12"/>
          <p:cNvSpPr>
            <a:spLocks noChangeArrowheads="1"/>
          </p:cNvSpPr>
          <p:nvPr/>
        </p:nvSpPr>
        <p:spPr bwMode="auto">
          <a:xfrm>
            <a:off x="7188200" y="2552700"/>
            <a:ext cx="1905000" cy="496888"/>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00099"/>
                </a:solidFill>
                <a:ea typeface="宋体" panose="02010600030101010101" pitchFamily="2" charset="-122"/>
              </a:rPr>
              <a:t>edu </a:t>
            </a:r>
            <a:r>
              <a:rPr lang="zh-CN" altLang="en-US" sz="2000" b="1">
                <a:solidFill>
                  <a:srgbClr val="000099"/>
                </a:solidFill>
                <a:ea typeface="宋体" panose="02010600030101010101" pitchFamily="2" charset="-122"/>
              </a:rPr>
              <a:t>域名服务器</a:t>
            </a:r>
          </a:p>
        </p:txBody>
      </p:sp>
      <p:grpSp>
        <p:nvGrpSpPr>
          <p:cNvPr id="1619979" name="Group 13"/>
          <p:cNvGrpSpPr>
            <a:grpSpLocks/>
          </p:cNvGrpSpPr>
          <p:nvPr/>
        </p:nvGrpSpPr>
        <p:grpSpPr bwMode="auto">
          <a:xfrm>
            <a:off x="7704138" y="3049588"/>
            <a:ext cx="866775" cy="249237"/>
            <a:chOff x="2875" y="1143"/>
            <a:chExt cx="330" cy="132"/>
          </a:xfrm>
        </p:grpSpPr>
        <p:sp>
          <p:nvSpPr>
            <p:cNvPr id="1619980" name="Line 14"/>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81" name="Line 15"/>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82" name="Line 16"/>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83" name="Line 17"/>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984" name="Text Box 18"/>
          <p:cNvSpPr txBox="1">
            <a:spLocks noChangeArrowheads="1"/>
          </p:cNvSpPr>
          <p:nvPr/>
        </p:nvSpPr>
        <p:spPr bwMode="auto">
          <a:xfrm>
            <a:off x="9264650" y="2209800"/>
            <a:ext cx="7477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4400" b="1">
                <a:solidFill>
                  <a:srgbClr val="000099"/>
                </a:solidFill>
                <a:ea typeface="宋体" panose="02010600030101010101" pitchFamily="2" charset="-122"/>
              </a:rPr>
              <a:t>…</a:t>
            </a:r>
          </a:p>
        </p:txBody>
      </p:sp>
      <p:grpSp>
        <p:nvGrpSpPr>
          <p:cNvPr id="1619985" name="Group 19"/>
          <p:cNvGrpSpPr>
            <a:grpSpLocks/>
          </p:cNvGrpSpPr>
          <p:nvPr/>
        </p:nvGrpSpPr>
        <p:grpSpPr bwMode="auto">
          <a:xfrm>
            <a:off x="3027363" y="3049588"/>
            <a:ext cx="866775" cy="249237"/>
            <a:chOff x="2875" y="1143"/>
            <a:chExt cx="330" cy="132"/>
          </a:xfrm>
        </p:grpSpPr>
        <p:sp>
          <p:nvSpPr>
            <p:cNvPr id="1619986" name="Line 20"/>
            <p:cNvSpPr>
              <a:spLocks noChangeShapeType="1"/>
            </p:cNvSpPr>
            <p:nvPr/>
          </p:nvSpPr>
          <p:spPr bwMode="auto">
            <a:xfrm>
              <a:off x="3061"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87" name="Line 21"/>
            <p:cNvSpPr>
              <a:spLocks noChangeShapeType="1"/>
            </p:cNvSpPr>
            <p:nvPr/>
          </p:nvSpPr>
          <p:spPr bwMode="auto">
            <a:xfrm>
              <a:off x="3050" y="1143"/>
              <a:ext cx="37" cy="129"/>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88" name="Line 22"/>
            <p:cNvSpPr>
              <a:spLocks noChangeShapeType="1"/>
            </p:cNvSpPr>
            <p:nvPr/>
          </p:nvSpPr>
          <p:spPr bwMode="auto">
            <a:xfrm flipH="1">
              <a:off x="2875" y="1143"/>
              <a:ext cx="144" cy="13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89" name="Line 23"/>
            <p:cNvSpPr>
              <a:spLocks noChangeShapeType="1"/>
            </p:cNvSpPr>
            <p:nvPr/>
          </p:nvSpPr>
          <p:spPr bwMode="auto">
            <a:xfrm flipH="1">
              <a:off x="2980" y="1143"/>
              <a:ext cx="54" cy="126"/>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19990" name="Line 24"/>
          <p:cNvSpPr>
            <a:spLocks noChangeShapeType="1"/>
          </p:cNvSpPr>
          <p:nvPr/>
        </p:nvSpPr>
        <p:spPr bwMode="auto">
          <a:xfrm>
            <a:off x="5943600" y="3049588"/>
            <a:ext cx="376238" cy="2492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91" name="Line 25"/>
          <p:cNvSpPr>
            <a:spLocks noChangeShapeType="1"/>
          </p:cNvSpPr>
          <p:nvPr/>
        </p:nvSpPr>
        <p:spPr bwMode="auto">
          <a:xfrm>
            <a:off x="5913438" y="3049588"/>
            <a:ext cx="98425" cy="24447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92" name="Line 26"/>
          <p:cNvSpPr>
            <a:spLocks noChangeShapeType="1"/>
          </p:cNvSpPr>
          <p:nvPr/>
        </p:nvSpPr>
        <p:spPr bwMode="auto">
          <a:xfrm flipH="1">
            <a:off x="5453063" y="3049588"/>
            <a:ext cx="377825" cy="2492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93" name="Line 27"/>
          <p:cNvSpPr>
            <a:spLocks noChangeShapeType="1"/>
          </p:cNvSpPr>
          <p:nvPr/>
        </p:nvSpPr>
        <p:spPr bwMode="auto">
          <a:xfrm flipH="1">
            <a:off x="5591175" y="3049588"/>
            <a:ext cx="280988" cy="6683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94" name="Rectangle 29"/>
          <p:cNvSpPr>
            <a:spLocks noChangeArrowheads="1"/>
          </p:cNvSpPr>
          <p:nvPr/>
        </p:nvSpPr>
        <p:spPr bwMode="auto">
          <a:xfrm>
            <a:off x="4587875" y="4711700"/>
            <a:ext cx="1906588" cy="579438"/>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00099"/>
                </a:solidFill>
                <a:ea typeface="宋体" panose="02010600030101010101" pitchFamily="2" charset="-122"/>
              </a:rPr>
              <a:t>y.abc.com</a:t>
            </a:r>
          </a:p>
          <a:p>
            <a:pPr algn="ctr"/>
            <a:r>
              <a:rPr lang="zh-CN" altLang="en-US" sz="2000" b="1">
                <a:solidFill>
                  <a:srgbClr val="000099"/>
                </a:solidFill>
                <a:ea typeface="宋体" panose="02010600030101010101" pitchFamily="2" charset="-122"/>
              </a:rPr>
              <a:t>域名服务器</a:t>
            </a:r>
          </a:p>
        </p:txBody>
      </p:sp>
      <p:sp>
        <p:nvSpPr>
          <p:cNvPr id="1619995" name="Line 30"/>
          <p:cNvSpPr>
            <a:spLocks noChangeShapeType="1"/>
          </p:cNvSpPr>
          <p:nvPr/>
        </p:nvSpPr>
        <p:spPr bwMode="auto">
          <a:xfrm>
            <a:off x="5538788" y="4211638"/>
            <a:ext cx="0" cy="49847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96" name="Line 32"/>
          <p:cNvSpPr>
            <a:spLocks noChangeShapeType="1"/>
          </p:cNvSpPr>
          <p:nvPr/>
        </p:nvSpPr>
        <p:spPr bwMode="auto">
          <a:xfrm flipH="1" flipV="1">
            <a:off x="6556375" y="3919538"/>
            <a:ext cx="1395413" cy="180975"/>
          </a:xfrm>
          <a:prstGeom prst="line">
            <a:avLst/>
          </a:prstGeom>
          <a:noFill/>
          <a:ln w="2857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19997" name="Text Box 33"/>
          <p:cNvSpPr txBox="1">
            <a:spLocks noChangeArrowheads="1"/>
          </p:cNvSpPr>
          <p:nvPr/>
        </p:nvSpPr>
        <p:spPr bwMode="auto">
          <a:xfrm>
            <a:off x="7908925" y="3832225"/>
            <a:ext cx="1981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宋体" panose="02010600030101010101" pitchFamily="2" charset="-122"/>
              </a:rPr>
              <a:t>abc </a:t>
            </a:r>
            <a:r>
              <a:rPr lang="zh-CN" altLang="en-US" sz="2000" b="1">
                <a:solidFill>
                  <a:srgbClr val="000099"/>
                </a:solidFill>
                <a:ea typeface="宋体" panose="02010600030101010101" pitchFamily="2" charset="-122"/>
              </a:rPr>
              <a:t>公司有两个</a:t>
            </a:r>
          </a:p>
          <a:p>
            <a:pPr algn="ctr"/>
            <a:r>
              <a:rPr lang="zh-CN" altLang="en-US" sz="2000" b="1">
                <a:solidFill>
                  <a:srgbClr val="000099"/>
                </a:solidFill>
                <a:ea typeface="宋体" panose="02010600030101010101" pitchFamily="2" charset="-122"/>
              </a:rPr>
              <a:t>权限域名服务器</a:t>
            </a:r>
          </a:p>
        </p:txBody>
      </p:sp>
      <p:grpSp>
        <p:nvGrpSpPr>
          <p:cNvPr id="1619998" name="Group 34"/>
          <p:cNvGrpSpPr>
            <a:grpSpLocks/>
          </p:cNvGrpSpPr>
          <p:nvPr/>
        </p:nvGrpSpPr>
        <p:grpSpPr bwMode="auto">
          <a:xfrm>
            <a:off x="128588" y="2386013"/>
            <a:ext cx="9872662" cy="830262"/>
            <a:chOff x="158" y="799"/>
            <a:chExt cx="5444" cy="454"/>
          </a:xfrm>
        </p:grpSpPr>
        <p:sp>
          <p:nvSpPr>
            <p:cNvPr id="1619999" name="Line 35"/>
            <p:cNvSpPr>
              <a:spLocks noChangeShapeType="1"/>
            </p:cNvSpPr>
            <p:nvPr/>
          </p:nvSpPr>
          <p:spPr bwMode="auto">
            <a:xfrm>
              <a:off x="158" y="799"/>
              <a:ext cx="5444"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20000" name="Line 36"/>
            <p:cNvSpPr>
              <a:spLocks noChangeShapeType="1"/>
            </p:cNvSpPr>
            <p:nvPr/>
          </p:nvSpPr>
          <p:spPr bwMode="auto">
            <a:xfrm>
              <a:off x="158" y="1253"/>
              <a:ext cx="5444"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620001" name="Text Box 37"/>
          <p:cNvSpPr txBox="1">
            <a:spLocks noChangeArrowheads="1"/>
          </p:cNvSpPr>
          <p:nvPr/>
        </p:nvSpPr>
        <p:spPr bwMode="auto">
          <a:xfrm>
            <a:off x="198438" y="4064000"/>
            <a:ext cx="1979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权限域名服务器</a:t>
            </a:r>
          </a:p>
        </p:txBody>
      </p:sp>
      <p:sp>
        <p:nvSpPr>
          <p:cNvPr id="1620002" name="Text Box 38"/>
          <p:cNvSpPr txBox="1">
            <a:spLocks noChangeArrowheads="1"/>
          </p:cNvSpPr>
          <p:nvPr/>
        </p:nvSpPr>
        <p:spPr bwMode="auto">
          <a:xfrm>
            <a:off x="315913" y="1697038"/>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根域名服务器</a:t>
            </a:r>
          </a:p>
        </p:txBody>
      </p:sp>
      <p:sp>
        <p:nvSpPr>
          <p:cNvPr id="1620003" name="Text Box 39"/>
          <p:cNvSpPr txBox="1">
            <a:spLocks noChangeArrowheads="1"/>
          </p:cNvSpPr>
          <p:nvPr/>
        </p:nvSpPr>
        <p:spPr bwMode="auto">
          <a:xfrm>
            <a:off x="198438" y="2584450"/>
            <a:ext cx="1979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宋体" panose="02010600030101010101" pitchFamily="2" charset="-122"/>
              </a:rPr>
              <a:t>顶级域名服务器</a:t>
            </a:r>
          </a:p>
        </p:txBody>
      </p:sp>
      <p:sp>
        <p:nvSpPr>
          <p:cNvPr id="1620004" name="Line 40"/>
          <p:cNvSpPr>
            <a:spLocks noChangeShapeType="1"/>
          </p:cNvSpPr>
          <p:nvPr/>
        </p:nvSpPr>
        <p:spPr bwMode="auto">
          <a:xfrm>
            <a:off x="2241550" y="1557338"/>
            <a:ext cx="0" cy="3900487"/>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20005" name="Line 41"/>
          <p:cNvSpPr>
            <a:spLocks noChangeShapeType="1"/>
          </p:cNvSpPr>
          <p:nvPr/>
        </p:nvSpPr>
        <p:spPr bwMode="auto">
          <a:xfrm flipH="1">
            <a:off x="6530975" y="4378325"/>
            <a:ext cx="1427163" cy="658813"/>
          </a:xfrm>
          <a:prstGeom prst="line">
            <a:avLst/>
          </a:prstGeom>
          <a:noFill/>
          <a:ln w="2857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20006" name="Rectangle 43"/>
          <p:cNvSpPr>
            <a:spLocks noChangeArrowheads="1"/>
          </p:cNvSpPr>
          <p:nvPr/>
        </p:nvSpPr>
        <p:spPr bwMode="auto">
          <a:xfrm>
            <a:off x="4575175" y="3714750"/>
            <a:ext cx="1908175" cy="579438"/>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b="1">
                <a:solidFill>
                  <a:srgbClr val="000099"/>
                </a:solidFill>
                <a:ea typeface="宋体" panose="02010600030101010101" pitchFamily="2" charset="-122"/>
              </a:rPr>
              <a:t>abc.com</a:t>
            </a:r>
          </a:p>
          <a:p>
            <a:pPr algn="ctr"/>
            <a:r>
              <a:rPr lang="zh-CN" altLang="en-US" sz="2000" b="1">
                <a:solidFill>
                  <a:srgbClr val="000099"/>
                </a:solidFill>
                <a:ea typeface="宋体" panose="02010600030101010101" pitchFamily="2" charset="-122"/>
              </a:rPr>
              <a:t>域名服务器</a:t>
            </a:r>
          </a:p>
        </p:txBody>
      </p:sp>
      <p:sp>
        <p:nvSpPr>
          <p:cNvPr id="16200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3D3F08-AA9C-4E62-B0B4-2898820A74F5}" type="slidenum">
              <a:rPr lang="zh-CN" altLang="en-US" smtClean="0"/>
              <a:pPr eaLnBrk="1" hangingPunct="1"/>
              <a:t>14</a:t>
            </a:fld>
            <a:endParaRPr lang="en-US" altLang="zh-CN" smtClean="0"/>
          </a:p>
        </p:txBody>
      </p:sp>
      <p:sp>
        <p:nvSpPr>
          <p:cNvPr id="16200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09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域名服务器有以下四种类型 </a:t>
            </a:r>
          </a:p>
        </p:txBody>
      </p:sp>
      <p:sp>
        <p:nvSpPr>
          <p:cNvPr id="1620994" name="Rectangle 3"/>
          <p:cNvSpPr>
            <a:spLocks noGrp="1" noChangeArrowheads="1"/>
          </p:cNvSpPr>
          <p:nvPr>
            <p:ph idx="1"/>
          </p:nvPr>
        </p:nvSpPr>
        <p:spPr>
          <a:xfrm>
            <a:off x="495300" y="1196975"/>
            <a:ext cx="9066213" cy="4933950"/>
          </a:xfrm>
        </p:spPr>
        <p:txBody>
          <a:bodyPr/>
          <a:lstStyle/>
          <a:p>
            <a:pPr marL="315913" indent="-315913">
              <a:spcBef>
                <a:spcPts val="550"/>
              </a:spcBef>
            </a:pPr>
            <a:r>
              <a:rPr lang="zh-CN" altLang="en-US" smtClean="0">
                <a:ea typeface="黑体" panose="02010609060101010101" pitchFamily="49" charset="-122"/>
              </a:rPr>
              <a:t>根域名服务器 </a:t>
            </a:r>
          </a:p>
          <a:p>
            <a:pPr marL="315913" indent="-315913">
              <a:spcBef>
                <a:spcPts val="550"/>
              </a:spcBef>
            </a:pPr>
            <a:r>
              <a:rPr lang="zh-CN" altLang="en-US" smtClean="0">
                <a:ea typeface="黑体" panose="02010609060101010101" pitchFamily="49" charset="-122"/>
              </a:rPr>
              <a:t>顶级域名服务器 </a:t>
            </a:r>
          </a:p>
          <a:p>
            <a:pPr marL="315913" indent="-315913">
              <a:spcBef>
                <a:spcPts val="550"/>
              </a:spcBef>
            </a:pPr>
            <a:r>
              <a:rPr lang="zh-CN" altLang="en-US" smtClean="0">
                <a:ea typeface="黑体" panose="02010609060101010101" pitchFamily="49" charset="-122"/>
              </a:rPr>
              <a:t>权限域名服务器 </a:t>
            </a:r>
          </a:p>
          <a:p>
            <a:pPr marL="315913" indent="-315913">
              <a:spcBef>
                <a:spcPts val="550"/>
              </a:spcBef>
            </a:pPr>
            <a:r>
              <a:rPr lang="zh-CN" altLang="en-US" smtClean="0">
                <a:ea typeface="黑体" panose="02010609060101010101" pitchFamily="49" charset="-122"/>
              </a:rPr>
              <a:t>本地域名服务器 </a:t>
            </a:r>
          </a:p>
        </p:txBody>
      </p:sp>
      <p:sp>
        <p:nvSpPr>
          <p:cNvPr id="1620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733978-B2FC-49DE-8A1C-7174D94498E7}" type="slidenum">
              <a:rPr lang="zh-CN" altLang="en-US" smtClean="0"/>
              <a:pPr eaLnBrk="1" hangingPunct="1"/>
              <a:t>15</a:t>
            </a:fld>
            <a:endParaRPr lang="en-US" altLang="zh-CN" smtClean="0"/>
          </a:p>
        </p:txBody>
      </p:sp>
      <p:sp>
        <p:nvSpPr>
          <p:cNvPr id="1620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20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根域名服务器</a:t>
            </a:r>
            <a:endParaRPr lang="en-US" altLang="zh-CN" sz="3200" smtClean="0">
              <a:ea typeface="黑体" panose="02010609060101010101" pitchFamily="49" charset="-122"/>
            </a:endParaRPr>
          </a:p>
        </p:txBody>
      </p:sp>
      <p:sp>
        <p:nvSpPr>
          <p:cNvPr id="16220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根域名服务器是</a:t>
            </a:r>
            <a:r>
              <a:rPr lang="zh-CN" altLang="en-US" dirty="0" smtClean="0">
                <a:solidFill>
                  <a:srgbClr val="FF0000"/>
                </a:solidFill>
                <a:ea typeface="黑体" panose="02010609060101010101" pitchFamily="49" charset="-122"/>
              </a:rPr>
              <a:t>最高层次</a:t>
            </a:r>
            <a:r>
              <a:rPr lang="zh-CN" altLang="en-US" dirty="0" smtClean="0">
                <a:ea typeface="黑体" panose="02010609060101010101" pitchFamily="49" charset="-122"/>
              </a:rPr>
              <a:t>的域名服务器，也是</a:t>
            </a:r>
            <a:r>
              <a:rPr lang="zh-CN" altLang="en-US" dirty="0" smtClean="0">
                <a:solidFill>
                  <a:srgbClr val="FF0000"/>
                </a:solidFill>
                <a:ea typeface="黑体" panose="02010609060101010101" pitchFamily="49" charset="-122"/>
              </a:rPr>
              <a:t>最重要</a:t>
            </a:r>
            <a:r>
              <a:rPr lang="zh-CN" altLang="en-US" dirty="0" smtClean="0">
                <a:ea typeface="黑体" panose="02010609060101010101" pitchFamily="49" charset="-122"/>
              </a:rPr>
              <a:t>的域名服务器。所有的根域名服务器都</a:t>
            </a:r>
            <a:r>
              <a:rPr lang="zh-CN" altLang="en-US" dirty="0" smtClean="0">
                <a:solidFill>
                  <a:srgbClr val="0000FF"/>
                </a:solidFill>
                <a:ea typeface="黑体" panose="02010609060101010101" pitchFamily="49" charset="-122"/>
              </a:rPr>
              <a:t>知道所有的顶级域名服务器的域名和 </a:t>
            </a:r>
            <a:r>
              <a:rPr lang="en-US" altLang="zh-CN" dirty="0" smtClean="0">
                <a:solidFill>
                  <a:srgbClr val="0000FF"/>
                </a:solidFill>
                <a:ea typeface="黑体" panose="02010609060101010101" pitchFamily="49" charset="-122"/>
              </a:rPr>
              <a:t>IP </a:t>
            </a:r>
            <a:r>
              <a:rPr lang="zh-CN" altLang="en-US" dirty="0" smtClean="0">
                <a:solidFill>
                  <a:srgbClr val="0000FF"/>
                </a:solidFill>
                <a:ea typeface="黑体" panose="02010609060101010101" pitchFamily="49" charset="-122"/>
              </a:rPr>
              <a:t>地址</a:t>
            </a:r>
            <a:r>
              <a:rPr lang="zh-CN" altLang="en-US" dirty="0" smtClean="0">
                <a:ea typeface="黑体" panose="02010609060101010101" pitchFamily="49" charset="-122"/>
              </a:rPr>
              <a:t>。</a:t>
            </a:r>
          </a:p>
          <a:p>
            <a:r>
              <a:rPr lang="zh-CN" altLang="en-US" dirty="0" smtClean="0">
                <a:ea typeface="黑体" panose="02010609060101010101" pitchFamily="49" charset="-122"/>
              </a:rPr>
              <a:t>不管是哪一个</a:t>
            </a:r>
            <a:r>
              <a:rPr lang="zh-CN" altLang="en-US" dirty="0" smtClean="0">
                <a:solidFill>
                  <a:srgbClr val="0000FF"/>
                </a:solidFill>
                <a:ea typeface="黑体" panose="02010609060101010101" pitchFamily="49" charset="-122"/>
              </a:rPr>
              <a:t>本地域名服务器</a:t>
            </a:r>
            <a:r>
              <a:rPr lang="zh-CN" altLang="en-US" dirty="0" smtClean="0">
                <a:ea typeface="黑体" panose="02010609060101010101" pitchFamily="49" charset="-122"/>
              </a:rPr>
              <a:t>，若要对互联网上任何一个域名进行解析，只要自己</a:t>
            </a:r>
            <a:r>
              <a:rPr lang="zh-CN" altLang="en-US" dirty="0" smtClean="0">
                <a:solidFill>
                  <a:srgbClr val="0000FF"/>
                </a:solidFill>
                <a:ea typeface="黑体" panose="02010609060101010101" pitchFamily="49" charset="-122"/>
              </a:rPr>
              <a:t>无法解析</a:t>
            </a:r>
            <a:r>
              <a:rPr lang="zh-CN" altLang="en-US" dirty="0" smtClean="0">
                <a:ea typeface="黑体" panose="02010609060101010101" pitchFamily="49" charset="-122"/>
              </a:rPr>
              <a:t>，就</a:t>
            </a:r>
            <a:r>
              <a:rPr lang="zh-CN" altLang="en-US" dirty="0" smtClean="0">
                <a:solidFill>
                  <a:srgbClr val="0000FF"/>
                </a:solidFill>
                <a:ea typeface="黑体" panose="02010609060101010101" pitchFamily="49" charset="-122"/>
              </a:rPr>
              <a:t>首先求助于根域名服务器</a:t>
            </a:r>
            <a:r>
              <a:rPr lang="zh-CN" altLang="en-US" dirty="0" smtClean="0">
                <a:ea typeface="黑体" panose="02010609060101010101" pitchFamily="49" charset="-122"/>
              </a:rPr>
              <a:t>。</a:t>
            </a:r>
          </a:p>
          <a:p>
            <a:r>
              <a:rPr lang="zh-CN" altLang="en-US" dirty="0" smtClean="0">
                <a:ea typeface="黑体" panose="02010609060101010101" pitchFamily="49" charset="-122"/>
              </a:rPr>
              <a:t>在互联网上共有 </a:t>
            </a:r>
            <a:r>
              <a:rPr lang="en-US" altLang="zh-CN" dirty="0" smtClean="0">
                <a:solidFill>
                  <a:srgbClr val="0000FF"/>
                </a:solidFill>
                <a:ea typeface="黑体" panose="02010609060101010101" pitchFamily="49" charset="-122"/>
              </a:rPr>
              <a:t>13</a:t>
            </a:r>
            <a:r>
              <a:rPr lang="en-US" altLang="zh-CN" dirty="0" smtClean="0">
                <a:ea typeface="黑体" panose="02010609060101010101" pitchFamily="49" charset="-122"/>
              </a:rPr>
              <a:t> </a:t>
            </a:r>
            <a:r>
              <a:rPr lang="zh-CN" altLang="en-US" dirty="0" smtClean="0">
                <a:ea typeface="黑体" panose="02010609060101010101" pitchFamily="49" charset="-122"/>
              </a:rPr>
              <a:t>个不同 </a:t>
            </a:r>
            <a:r>
              <a:rPr lang="en-US" altLang="zh-CN" dirty="0" smtClean="0">
                <a:ea typeface="黑体" panose="02010609060101010101" pitchFamily="49" charset="-122"/>
              </a:rPr>
              <a:t>IP </a:t>
            </a:r>
            <a:r>
              <a:rPr lang="zh-CN" altLang="en-US" dirty="0" smtClean="0">
                <a:ea typeface="黑体" panose="02010609060101010101" pitchFamily="49" charset="-122"/>
              </a:rPr>
              <a:t>地址的根域名服务器，它们的名字是用一个英文字母命名，从 </a:t>
            </a:r>
            <a:r>
              <a:rPr lang="en-US" altLang="zh-CN" dirty="0" smtClean="0">
                <a:ea typeface="黑体" panose="02010609060101010101" pitchFamily="49" charset="-122"/>
              </a:rPr>
              <a:t>a  </a:t>
            </a:r>
            <a:r>
              <a:rPr lang="zh-CN" altLang="en-US" dirty="0" smtClean="0">
                <a:ea typeface="黑体" panose="02010609060101010101" pitchFamily="49" charset="-122"/>
              </a:rPr>
              <a:t>一直到 </a:t>
            </a:r>
            <a:r>
              <a:rPr lang="en-US" altLang="zh-CN" dirty="0" smtClean="0">
                <a:ea typeface="黑体" panose="02010609060101010101" pitchFamily="49" charset="-122"/>
              </a:rPr>
              <a:t>m</a:t>
            </a:r>
            <a:r>
              <a:rPr lang="zh-CN" altLang="en-US" dirty="0" smtClean="0">
                <a:ea typeface="黑体" panose="02010609060101010101" pitchFamily="49" charset="-122"/>
              </a:rPr>
              <a:t>（前 </a:t>
            </a:r>
            <a:r>
              <a:rPr lang="en-US" altLang="zh-CN" dirty="0" smtClean="0">
                <a:ea typeface="黑体" panose="02010609060101010101" pitchFamily="49" charset="-122"/>
              </a:rPr>
              <a:t>13 </a:t>
            </a:r>
            <a:r>
              <a:rPr lang="zh-CN" altLang="en-US" dirty="0" smtClean="0">
                <a:ea typeface="黑体" panose="02010609060101010101" pitchFamily="49" charset="-122"/>
              </a:rPr>
              <a:t>个字母）。</a:t>
            </a:r>
          </a:p>
        </p:txBody>
      </p:sp>
      <p:sp>
        <p:nvSpPr>
          <p:cNvPr id="16220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E52831-B583-4EF9-82E4-709D68515804}" type="slidenum">
              <a:rPr lang="zh-CN" altLang="en-US" smtClean="0"/>
              <a:pPr eaLnBrk="1" hangingPunct="1"/>
              <a:t>16</a:t>
            </a:fld>
            <a:endParaRPr lang="en-US" altLang="zh-CN" smtClean="0"/>
          </a:p>
        </p:txBody>
      </p:sp>
      <p:sp>
        <p:nvSpPr>
          <p:cNvPr id="16220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30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根域名服务器共有 </a:t>
            </a:r>
            <a:r>
              <a:rPr lang="en-US" altLang="zh-CN" smtClean="0">
                <a:ea typeface="黑体" panose="02010609060101010101" pitchFamily="49" charset="-122"/>
              </a:rPr>
              <a:t>13 </a:t>
            </a:r>
            <a:r>
              <a:rPr lang="zh-CN" altLang="en-US" smtClean="0">
                <a:ea typeface="黑体" panose="02010609060101010101" pitchFamily="49" charset="-122"/>
              </a:rPr>
              <a:t>套装置</a:t>
            </a:r>
          </a:p>
        </p:txBody>
      </p:sp>
      <p:sp>
        <p:nvSpPr>
          <p:cNvPr id="162304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根域名服务器共有 </a:t>
            </a:r>
            <a:r>
              <a:rPr lang="en-US" altLang="zh-CN" sz="2800" dirty="0" smtClean="0">
                <a:solidFill>
                  <a:srgbClr val="FF0000"/>
                </a:solidFill>
                <a:ea typeface="黑体" panose="02010609060101010101" pitchFamily="49" charset="-122"/>
              </a:rPr>
              <a:t>13 </a:t>
            </a:r>
            <a:r>
              <a:rPr lang="zh-CN" altLang="en-US" sz="2800" dirty="0" smtClean="0">
                <a:solidFill>
                  <a:srgbClr val="FF0000"/>
                </a:solidFill>
                <a:ea typeface="黑体" panose="02010609060101010101" pitchFamily="49" charset="-122"/>
              </a:rPr>
              <a:t>套装置，不是 </a:t>
            </a:r>
            <a:r>
              <a:rPr lang="en-US" altLang="zh-CN" sz="2800" dirty="0" smtClean="0">
                <a:solidFill>
                  <a:srgbClr val="FF0000"/>
                </a:solidFill>
                <a:ea typeface="黑体" panose="02010609060101010101" pitchFamily="49" charset="-122"/>
              </a:rPr>
              <a:t>13 </a:t>
            </a:r>
            <a:r>
              <a:rPr lang="zh-CN" altLang="en-US" sz="2800" dirty="0" smtClean="0">
                <a:solidFill>
                  <a:srgbClr val="FF0000"/>
                </a:solidFill>
                <a:ea typeface="黑体" panose="02010609060101010101" pitchFamily="49" charset="-122"/>
              </a:rPr>
              <a:t>个机器。</a:t>
            </a:r>
            <a:endParaRPr lang="en-US" altLang="zh-CN" sz="2800" dirty="0" smtClean="0">
              <a:solidFill>
                <a:srgbClr val="FF0000"/>
              </a:solidFill>
              <a:ea typeface="黑体" panose="02010609060101010101" pitchFamily="49" charset="-122"/>
            </a:endParaRPr>
          </a:p>
          <a:p>
            <a:r>
              <a:rPr lang="zh-CN" altLang="en-US" sz="2800" dirty="0" smtClean="0">
                <a:ea typeface="黑体" panose="02010609060101010101" pitchFamily="49" charset="-122"/>
              </a:rPr>
              <a:t>这些根域名服务器相应的</a:t>
            </a:r>
            <a:r>
              <a:rPr lang="zh-CN" altLang="en-US" sz="2800" dirty="0" smtClean="0">
                <a:solidFill>
                  <a:srgbClr val="FF0000"/>
                </a:solidFill>
                <a:ea typeface="黑体" panose="02010609060101010101" pitchFamily="49" charset="-122"/>
              </a:rPr>
              <a:t>域名</a:t>
            </a:r>
            <a:r>
              <a:rPr lang="zh-CN" altLang="en-US" sz="2800" dirty="0" smtClean="0">
                <a:ea typeface="黑体" panose="02010609060101010101" pitchFamily="49" charset="-122"/>
              </a:rPr>
              <a:t>分别是：</a:t>
            </a:r>
          </a:p>
          <a:p>
            <a:pPr>
              <a:buFont typeface="Wingdings" panose="05000000000000000000" pitchFamily="2" charset="2"/>
              <a:buNone/>
            </a:pPr>
            <a:r>
              <a:rPr lang="zh-CN" altLang="en-US" sz="2800" dirty="0" smtClean="0">
                <a:ea typeface="黑体" panose="02010609060101010101" pitchFamily="49" charset="-122"/>
              </a:rPr>
              <a:t>    </a:t>
            </a:r>
            <a:r>
              <a:rPr lang="en-US" altLang="zh-CN" sz="2800" dirty="0" smtClean="0">
                <a:ea typeface="黑体" panose="02010609060101010101" pitchFamily="49" charset="-122"/>
              </a:rPr>
              <a:t>a.rootservers.net</a:t>
            </a:r>
          </a:p>
          <a:p>
            <a:pPr>
              <a:buFont typeface="Wingdings" panose="05000000000000000000" pitchFamily="2" charset="2"/>
              <a:buNone/>
            </a:pPr>
            <a:r>
              <a:rPr lang="en-US" altLang="zh-CN" sz="2800" dirty="0" smtClean="0">
                <a:ea typeface="黑体" panose="02010609060101010101" pitchFamily="49" charset="-122"/>
              </a:rPr>
              <a:t>    b.rootservers.net</a:t>
            </a:r>
          </a:p>
          <a:p>
            <a:pPr>
              <a:buFont typeface="Wingdings" panose="05000000000000000000" pitchFamily="2" charset="2"/>
              <a:buNone/>
            </a:pPr>
            <a:r>
              <a:rPr lang="en-US" altLang="zh-CN" sz="2800" dirty="0" smtClean="0">
                <a:ea typeface="黑体" panose="02010609060101010101" pitchFamily="49" charset="-122"/>
              </a:rPr>
              <a:t>    … </a:t>
            </a:r>
          </a:p>
          <a:p>
            <a:pPr>
              <a:buFont typeface="Wingdings" panose="05000000000000000000" pitchFamily="2" charset="2"/>
              <a:buNone/>
            </a:pPr>
            <a:r>
              <a:rPr lang="en-US" altLang="zh-CN" sz="2800" dirty="0" smtClean="0">
                <a:ea typeface="黑体" panose="02010609060101010101" pitchFamily="49" charset="-122"/>
              </a:rPr>
              <a:t>    m.rootservers.net</a:t>
            </a:r>
          </a:p>
          <a:p>
            <a:r>
              <a:rPr lang="zh-CN" altLang="zh-CN" sz="2800" dirty="0" smtClean="0">
                <a:ea typeface="黑体" panose="02010609060101010101" pitchFamily="49" charset="-122"/>
              </a:rPr>
              <a:t>到</a:t>
            </a:r>
            <a:r>
              <a:rPr lang="en-US" altLang="zh-CN" sz="2800" dirty="0" smtClean="0">
                <a:ea typeface="黑体" panose="02010609060101010101" pitchFamily="49" charset="-122"/>
              </a:rPr>
              <a:t>2016</a:t>
            </a:r>
            <a:r>
              <a:rPr lang="zh-CN" altLang="zh-CN" sz="2800" dirty="0" smtClean="0">
                <a:ea typeface="黑体" panose="02010609060101010101" pitchFamily="49" charset="-122"/>
              </a:rPr>
              <a:t>年</a:t>
            </a:r>
            <a:r>
              <a:rPr lang="en-US" altLang="zh-CN" sz="2800" dirty="0" smtClean="0">
                <a:ea typeface="黑体" panose="02010609060101010101" pitchFamily="49" charset="-122"/>
              </a:rPr>
              <a:t>2</a:t>
            </a:r>
            <a:r>
              <a:rPr lang="zh-CN" altLang="zh-CN" sz="2800" dirty="0" smtClean="0">
                <a:ea typeface="黑体" panose="02010609060101010101" pitchFamily="49" charset="-122"/>
              </a:rPr>
              <a:t>月，全世界已经在</a:t>
            </a:r>
            <a:r>
              <a:rPr lang="en-US" altLang="zh-CN" sz="2800" dirty="0" smtClean="0">
                <a:solidFill>
                  <a:srgbClr val="0000FF"/>
                </a:solidFill>
                <a:ea typeface="黑体" panose="02010609060101010101" pitchFamily="49" charset="-122"/>
              </a:rPr>
              <a:t> 588 </a:t>
            </a:r>
            <a:r>
              <a:rPr lang="zh-CN" altLang="zh-CN" sz="2800" dirty="0" smtClean="0">
                <a:ea typeface="黑体" panose="02010609060101010101" pitchFamily="49" charset="-122"/>
              </a:rPr>
              <a:t>个地点安装了根域名服务器</a:t>
            </a:r>
            <a:r>
              <a:rPr lang="zh-CN" altLang="en-US" sz="2800" dirty="0" smtClean="0">
                <a:ea typeface="黑体" panose="02010609060101010101" pitchFamily="49" charset="-122"/>
              </a:rPr>
              <a:t>，使世界上大部分 </a:t>
            </a:r>
            <a:r>
              <a:rPr lang="en-US" altLang="zh-CN" sz="2800" dirty="0" smtClean="0">
                <a:ea typeface="黑体" panose="02010609060101010101" pitchFamily="49" charset="-122"/>
              </a:rPr>
              <a:t>DNS </a:t>
            </a:r>
            <a:r>
              <a:rPr lang="zh-CN" altLang="en-US" sz="2800" dirty="0" smtClean="0">
                <a:ea typeface="黑体" panose="02010609060101010101" pitchFamily="49" charset="-122"/>
              </a:rPr>
              <a:t>域名服务器都能</a:t>
            </a:r>
            <a:r>
              <a:rPr lang="zh-CN" altLang="en-US" sz="2800" dirty="0" smtClean="0">
                <a:solidFill>
                  <a:srgbClr val="FF0000"/>
                </a:solidFill>
                <a:ea typeface="黑体" panose="02010609060101010101" pitchFamily="49" charset="-122"/>
              </a:rPr>
              <a:t>就近</a:t>
            </a:r>
            <a:r>
              <a:rPr lang="zh-CN" altLang="en-US" sz="2800" dirty="0" smtClean="0">
                <a:ea typeface="黑体" panose="02010609060101010101" pitchFamily="49" charset="-122"/>
              </a:rPr>
              <a:t>找到一个根域名服务器。 </a:t>
            </a:r>
          </a:p>
          <a:p>
            <a:endParaRPr lang="en-US" altLang="zh-CN" sz="2800" dirty="0" smtClean="0">
              <a:ea typeface="黑体" panose="02010609060101010101" pitchFamily="49" charset="-122"/>
            </a:endParaRPr>
          </a:p>
        </p:txBody>
      </p:sp>
      <p:sp>
        <p:nvSpPr>
          <p:cNvPr id="1623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9C5ED0-136A-4C1B-B668-145EC2C15429}" type="slidenum">
              <a:rPr lang="zh-CN" altLang="en-US" smtClean="0"/>
              <a:pPr eaLnBrk="1" hangingPunct="1"/>
              <a:t>17</a:t>
            </a:fld>
            <a:endParaRPr lang="en-US" altLang="zh-CN" smtClean="0"/>
          </a:p>
        </p:txBody>
      </p:sp>
      <p:sp>
        <p:nvSpPr>
          <p:cNvPr id="1623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4065" name="Rectangle 4"/>
          <p:cNvSpPr>
            <a:spLocks noGrp="1" noChangeArrowheads="1"/>
          </p:cNvSpPr>
          <p:nvPr>
            <p:ph type="title"/>
          </p:nvPr>
        </p:nvSpPr>
        <p:spPr/>
        <p:txBody>
          <a:bodyPr/>
          <a:lstStyle/>
          <a:p>
            <a:pPr algn="ctr"/>
            <a:r>
              <a:rPr lang="zh-CN" altLang="zh-CN" sz="3600" smtClean="0">
                <a:ea typeface="黑体" panose="02010609060101010101" pitchFamily="49" charset="-122"/>
              </a:rPr>
              <a:t>举例：根域名服务器 </a:t>
            </a:r>
            <a:r>
              <a:rPr lang="en-US" altLang="zh-CN" sz="3600" smtClean="0">
                <a:ea typeface="黑体" panose="02010609060101010101" pitchFamily="49" charset="-122"/>
              </a:rPr>
              <a:t>L </a:t>
            </a:r>
            <a:r>
              <a:rPr lang="zh-CN" altLang="zh-CN" sz="3600" smtClean="0">
                <a:ea typeface="黑体" panose="02010609060101010101" pitchFamily="49" charset="-122"/>
              </a:rPr>
              <a:t>的地点分布图</a:t>
            </a:r>
          </a:p>
        </p:txBody>
      </p:sp>
      <p:sp>
        <p:nvSpPr>
          <p:cNvPr id="1624066" name="Text Box 6"/>
          <p:cNvSpPr txBox="1">
            <a:spLocks noChangeArrowheads="1"/>
          </p:cNvSpPr>
          <p:nvPr/>
        </p:nvSpPr>
        <p:spPr bwMode="auto">
          <a:xfrm>
            <a:off x="704850" y="4792663"/>
            <a:ext cx="8580438" cy="1384300"/>
          </a:xfrm>
          <a:prstGeom prst="rect">
            <a:avLst/>
          </a:prstGeom>
          <a:solidFill>
            <a:srgbClr val="FFFF99"/>
          </a:solidFill>
          <a:ln w="9525">
            <a:solidFill>
              <a:schemeClr val="folHlink"/>
            </a:solidFill>
            <a:miter lim="800000"/>
            <a:headEnd/>
            <a:tailEnd/>
          </a:ln>
        </p:spPr>
        <p:txBody>
          <a:bodyPr wrap="none">
            <a:spAutoFit/>
          </a:bodyPr>
          <a:lstStyle/>
          <a:p>
            <a:pPr algn="just">
              <a:buFontTx/>
              <a:buChar char="•"/>
            </a:pPr>
            <a:r>
              <a:rPr lang="en-US" altLang="zh-CN" sz="2800" b="1" dirty="0">
                <a:solidFill>
                  <a:srgbClr val="000099"/>
                </a:solidFill>
                <a:ea typeface="黑体" panose="02010609060101010101" pitchFamily="49" charset="-122"/>
              </a:rPr>
              <a:t>  </a:t>
            </a:r>
            <a:r>
              <a:rPr lang="zh-CN" altLang="en-US" sz="2800" b="1" dirty="0">
                <a:solidFill>
                  <a:srgbClr val="000099"/>
                </a:solidFill>
                <a:ea typeface="黑体" panose="02010609060101010101" pitchFamily="49" charset="-122"/>
              </a:rPr>
              <a:t>根域名服务器并不直接把域名直接转换成 </a:t>
            </a:r>
            <a:r>
              <a:rPr lang="en-US" altLang="zh-CN" sz="2800" b="1" dirty="0">
                <a:solidFill>
                  <a:srgbClr val="000099"/>
                </a:solidFill>
                <a:ea typeface="黑体" panose="02010609060101010101" pitchFamily="49" charset="-122"/>
              </a:rPr>
              <a:t>IP </a:t>
            </a:r>
            <a:r>
              <a:rPr lang="zh-CN" altLang="en-US" sz="2800" b="1" dirty="0">
                <a:solidFill>
                  <a:srgbClr val="000099"/>
                </a:solidFill>
                <a:ea typeface="黑体" panose="02010609060101010101" pitchFamily="49" charset="-122"/>
              </a:rPr>
              <a:t>地址。</a:t>
            </a:r>
          </a:p>
          <a:p>
            <a:pPr algn="just">
              <a:buFontTx/>
              <a:buChar char="•"/>
            </a:pPr>
            <a:r>
              <a:rPr lang="zh-CN" altLang="en-US" sz="2800" b="1" dirty="0">
                <a:solidFill>
                  <a:srgbClr val="000099"/>
                </a:solidFill>
                <a:ea typeface="黑体" panose="02010609060101010101" pitchFamily="49" charset="-122"/>
              </a:rPr>
              <a:t>  在使用迭代查询时，根域名服务器把下一步应当找</a:t>
            </a:r>
          </a:p>
          <a:p>
            <a:pPr algn="just"/>
            <a:r>
              <a:rPr lang="zh-CN" altLang="en-US" sz="2800" b="1" dirty="0">
                <a:solidFill>
                  <a:srgbClr val="000099"/>
                </a:solidFill>
                <a:ea typeface="黑体" panose="02010609060101010101" pitchFamily="49" charset="-122"/>
              </a:rPr>
              <a:t>   的顶级域名服务器的 </a:t>
            </a:r>
            <a:r>
              <a:rPr lang="en-US" altLang="zh-CN" sz="2800" b="1" dirty="0">
                <a:solidFill>
                  <a:srgbClr val="000099"/>
                </a:solidFill>
                <a:ea typeface="黑体" panose="02010609060101010101" pitchFamily="49" charset="-122"/>
              </a:rPr>
              <a:t>IP </a:t>
            </a:r>
            <a:r>
              <a:rPr lang="zh-CN" altLang="en-US" sz="2800" b="1" dirty="0">
                <a:solidFill>
                  <a:srgbClr val="000099"/>
                </a:solidFill>
                <a:ea typeface="黑体" panose="02010609060101010101" pitchFamily="49" charset="-122"/>
              </a:rPr>
              <a:t>地址告诉本地域名服务器。</a:t>
            </a:r>
          </a:p>
        </p:txBody>
      </p:sp>
      <p:sp>
        <p:nvSpPr>
          <p:cNvPr id="1624067" name="Text Box 7"/>
          <p:cNvSpPr txBox="1">
            <a:spLocks noChangeArrowheads="1"/>
          </p:cNvSpPr>
          <p:nvPr/>
        </p:nvSpPr>
        <p:spPr bwMode="auto">
          <a:xfrm>
            <a:off x="2144713" y="4149725"/>
            <a:ext cx="6445250" cy="523875"/>
          </a:xfrm>
          <a:prstGeom prst="rect">
            <a:avLst/>
          </a:prstGeom>
          <a:solidFill>
            <a:schemeClr val="bg1"/>
          </a:solidFill>
          <a:ln w="9525">
            <a:solidFill>
              <a:schemeClr val="folHlink"/>
            </a:solidFill>
            <a:miter lim="800000"/>
            <a:headEnd/>
            <a:tailEnd/>
          </a:ln>
        </p:spPr>
        <p:txBody>
          <a:bodyPr wrap="none">
            <a:spAutoFit/>
          </a:bodyPr>
          <a:lstStyle/>
          <a:p>
            <a:r>
              <a:rPr lang="zh-CN" altLang="en-US" sz="2800" b="1">
                <a:solidFill>
                  <a:srgbClr val="000099"/>
                </a:solidFill>
                <a:ea typeface="黑体" panose="02010609060101010101" pitchFamily="49" charset="-122"/>
              </a:rPr>
              <a:t>根域名服务器 </a:t>
            </a:r>
            <a:r>
              <a:rPr lang="en-US" altLang="zh-CN" sz="2800" b="1">
                <a:solidFill>
                  <a:srgbClr val="000099"/>
                </a:solidFill>
                <a:ea typeface="黑体" panose="02010609060101010101" pitchFamily="49" charset="-122"/>
              </a:rPr>
              <a:t>L </a:t>
            </a:r>
            <a:r>
              <a:rPr lang="zh-CN" altLang="zh-CN" sz="2800" b="1">
                <a:solidFill>
                  <a:srgbClr val="000099"/>
                </a:solidFill>
                <a:ea typeface="黑体" panose="02010609060101010101" pitchFamily="49" charset="-122"/>
              </a:rPr>
              <a:t>分布</a:t>
            </a:r>
            <a:r>
              <a:rPr lang="zh-CN" altLang="en-US" sz="2800" b="1">
                <a:solidFill>
                  <a:srgbClr val="000099"/>
                </a:solidFill>
                <a:ea typeface="黑体" panose="02010609060101010101" pitchFamily="49" charset="-122"/>
              </a:rPr>
              <a:t>在世界 </a:t>
            </a:r>
            <a:r>
              <a:rPr lang="en-US" altLang="zh-CN" sz="2800" b="1">
                <a:solidFill>
                  <a:srgbClr val="000099"/>
                </a:solidFill>
                <a:ea typeface="黑体" panose="02010609060101010101" pitchFamily="49" charset="-122"/>
              </a:rPr>
              <a:t>150 </a:t>
            </a:r>
            <a:r>
              <a:rPr lang="zh-CN" altLang="zh-CN" sz="2800" b="1">
                <a:solidFill>
                  <a:srgbClr val="000099"/>
                </a:solidFill>
                <a:ea typeface="黑体" panose="02010609060101010101" pitchFamily="49" charset="-122"/>
              </a:rPr>
              <a:t>个地点</a:t>
            </a:r>
            <a:endParaRPr lang="zh-CN" altLang="en-US" sz="2800" b="1">
              <a:solidFill>
                <a:srgbClr val="000099"/>
              </a:solidFill>
              <a:ea typeface="黑体" panose="02010609060101010101" pitchFamily="49" charset="-122"/>
            </a:endParaRPr>
          </a:p>
        </p:txBody>
      </p:sp>
      <p:pic>
        <p:nvPicPr>
          <p:cNvPr id="1624068" name="图片 5" descr="L-rootserver.jp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75" y="1166813"/>
            <a:ext cx="8423275"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406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6B77D5-F502-46B9-9DB2-01F51ACE6FB3}" type="slidenum">
              <a:rPr lang="zh-CN" altLang="en-US" smtClean="0"/>
              <a:pPr eaLnBrk="1" hangingPunct="1"/>
              <a:t>18</a:t>
            </a:fld>
            <a:endParaRPr lang="en-US" altLang="zh-CN" smtClean="0"/>
          </a:p>
        </p:txBody>
      </p:sp>
      <p:sp>
        <p:nvSpPr>
          <p:cNvPr id="162407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50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顶级域名服务器</a:t>
            </a:r>
          </a:p>
        </p:txBody>
      </p:sp>
      <p:sp>
        <p:nvSpPr>
          <p:cNvPr id="1625090" name="Rectangle 3"/>
          <p:cNvSpPr>
            <a:spLocks noGrp="1" noChangeArrowheads="1"/>
          </p:cNvSpPr>
          <p:nvPr>
            <p:ph idx="1"/>
          </p:nvPr>
        </p:nvSpPr>
        <p:spPr>
          <a:xfrm>
            <a:off x="495300" y="1196975"/>
            <a:ext cx="9066213" cy="4933950"/>
          </a:xfrm>
        </p:spPr>
        <p:txBody>
          <a:bodyPr/>
          <a:lstStyle/>
          <a:p>
            <a:pPr marL="315913" indent="-315913"/>
            <a:r>
              <a:rPr lang="zh-CN" altLang="en-US" dirty="0" smtClean="0">
                <a:ea typeface="黑体" panose="02010609060101010101" pitchFamily="49" charset="-122"/>
              </a:rPr>
              <a:t>顶级域名服务器（即 </a:t>
            </a:r>
            <a:r>
              <a:rPr lang="en-US" altLang="zh-CN" dirty="0" smtClean="0">
                <a:solidFill>
                  <a:srgbClr val="FF0000"/>
                </a:solidFill>
                <a:ea typeface="黑体" panose="02010609060101010101" pitchFamily="49" charset="-122"/>
              </a:rPr>
              <a:t>TLD </a:t>
            </a:r>
            <a:r>
              <a:rPr lang="zh-CN" altLang="en-US" dirty="0" smtClean="0">
                <a:solidFill>
                  <a:srgbClr val="FF0000"/>
                </a:solidFill>
                <a:ea typeface="黑体" panose="02010609060101010101" pitchFamily="49" charset="-122"/>
              </a:rPr>
              <a:t>服务器</a:t>
            </a:r>
            <a:r>
              <a:rPr lang="zh-CN" altLang="en-US" dirty="0" smtClean="0">
                <a:ea typeface="黑体" panose="02010609060101010101" pitchFamily="49" charset="-122"/>
              </a:rPr>
              <a:t>）</a:t>
            </a:r>
            <a:r>
              <a:rPr lang="zh-CN" altLang="en-US" dirty="0" smtClean="0">
                <a:solidFill>
                  <a:srgbClr val="0000FF"/>
                </a:solidFill>
                <a:ea typeface="黑体" panose="02010609060101010101" pitchFamily="49" charset="-122"/>
              </a:rPr>
              <a:t>负责管理在该顶级域名服务器注册的所有二级域名</a:t>
            </a:r>
            <a:r>
              <a:rPr lang="zh-CN" altLang="en-US" dirty="0" smtClean="0">
                <a:ea typeface="黑体" panose="02010609060101010101" pitchFamily="49" charset="-122"/>
              </a:rPr>
              <a:t>。</a:t>
            </a:r>
          </a:p>
          <a:p>
            <a:pPr marL="315913" indent="-315913"/>
            <a:r>
              <a:rPr lang="zh-CN" altLang="en-US" dirty="0" smtClean="0">
                <a:ea typeface="黑体" panose="02010609060101010101" pitchFamily="49" charset="-122"/>
              </a:rPr>
              <a:t>当收到 </a:t>
            </a:r>
            <a:r>
              <a:rPr lang="en-US" altLang="zh-CN" dirty="0" smtClean="0">
                <a:ea typeface="黑体" panose="02010609060101010101" pitchFamily="49" charset="-122"/>
              </a:rPr>
              <a:t>DNS </a:t>
            </a:r>
            <a:r>
              <a:rPr lang="zh-CN" altLang="en-US" dirty="0" smtClean="0">
                <a:ea typeface="黑体" panose="02010609060101010101" pitchFamily="49" charset="-122"/>
              </a:rPr>
              <a:t>查询请求时，就给出相应的回答（可能是最后的结果，也可能是下一步应当找的域名服务器的 </a:t>
            </a:r>
            <a:r>
              <a:rPr lang="en-US" altLang="zh-CN" dirty="0" smtClean="0">
                <a:ea typeface="黑体" panose="02010609060101010101" pitchFamily="49" charset="-122"/>
              </a:rPr>
              <a:t>IP </a:t>
            </a:r>
            <a:r>
              <a:rPr lang="zh-CN" altLang="en-US" dirty="0" smtClean="0">
                <a:ea typeface="黑体" panose="02010609060101010101" pitchFamily="49" charset="-122"/>
              </a:rPr>
              <a:t>地址）。 </a:t>
            </a:r>
          </a:p>
        </p:txBody>
      </p:sp>
      <p:sp>
        <p:nvSpPr>
          <p:cNvPr id="1625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64CB03-EFC4-4DB9-9E85-6812E010953C}" type="slidenum">
              <a:rPr lang="zh-CN" altLang="en-US" smtClean="0"/>
              <a:pPr eaLnBrk="1" hangingPunct="1"/>
              <a:t>19</a:t>
            </a:fld>
            <a:endParaRPr lang="en-US" altLang="zh-CN" smtClean="0"/>
          </a:p>
        </p:txBody>
      </p:sp>
      <p:sp>
        <p:nvSpPr>
          <p:cNvPr id="1625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61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权限域名服务器 </a:t>
            </a:r>
          </a:p>
        </p:txBody>
      </p:sp>
      <p:sp>
        <p:nvSpPr>
          <p:cNvPr id="1626114" name="Rectangle 3"/>
          <p:cNvSpPr>
            <a:spLocks noGrp="1" noChangeArrowheads="1"/>
          </p:cNvSpPr>
          <p:nvPr>
            <p:ph idx="1"/>
          </p:nvPr>
        </p:nvSpPr>
        <p:spPr>
          <a:xfrm>
            <a:off x="495300" y="1196975"/>
            <a:ext cx="9066213" cy="4933950"/>
          </a:xfrm>
        </p:spPr>
        <p:txBody>
          <a:bodyPr/>
          <a:lstStyle/>
          <a:p>
            <a:pPr marL="315913" indent="-315913">
              <a:spcBef>
                <a:spcPts val="550"/>
              </a:spcBef>
            </a:pPr>
            <a:r>
              <a:rPr lang="zh-CN" altLang="en-US" dirty="0" smtClean="0">
                <a:solidFill>
                  <a:srgbClr val="0000FF"/>
                </a:solidFill>
                <a:ea typeface="黑体" panose="02010609060101010101" pitchFamily="49" charset="-122"/>
              </a:rPr>
              <a:t>负责一个区的域名服务器</a:t>
            </a:r>
            <a:r>
              <a:rPr lang="zh-CN" altLang="en-US" dirty="0" smtClean="0">
                <a:ea typeface="黑体" panose="02010609060101010101" pitchFamily="49" charset="-122"/>
              </a:rPr>
              <a:t>。</a:t>
            </a:r>
          </a:p>
          <a:p>
            <a:pPr marL="315913" indent="-315913">
              <a:spcBef>
                <a:spcPts val="550"/>
              </a:spcBef>
            </a:pPr>
            <a:r>
              <a:rPr lang="zh-CN" altLang="en-US" dirty="0" smtClean="0">
                <a:ea typeface="黑体" panose="02010609060101010101" pitchFamily="49" charset="-122"/>
              </a:rPr>
              <a:t>当一个权限域名服务器还不能给出最后的查询回答时，就会告诉发出查询请求的 </a:t>
            </a:r>
            <a:r>
              <a:rPr lang="en-US" altLang="zh-CN" dirty="0" smtClean="0">
                <a:ea typeface="黑体" panose="02010609060101010101" pitchFamily="49" charset="-122"/>
              </a:rPr>
              <a:t>DNS </a:t>
            </a:r>
            <a:r>
              <a:rPr lang="zh-CN" altLang="en-US" dirty="0" smtClean="0">
                <a:ea typeface="黑体" panose="02010609060101010101" pitchFamily="49" charset="-122"/>
              </a:rPr>
              <a:t>客户，下一步应当找哪一个权限域名服务器。 </a:t>
            </a:r>
          </a:p>
        </p:txBody>
      </p:sp>
      <p:sp>
        <p:nvSpPr>
          <p:cNvPr id="16261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807996-3241-4D29-BD6A-5AD9B0BC20D4}" type="slidenum">
              <a:rPr lang="zh-CN" altLang="en-US" smtClean="0"/>
              <a:pPr eaLnBrk="1" hangingPunct="1"/>
              <a:t>20</a:t>
            </a:fld>
            <a:endParaRPr lang="en-US" altLang="zh-CN" smtClean="0"/>
          </a:p>
        </p:txBody>
      </p:sp>
      <p:sp>
        <p:nvSpPr>
          <p:cNvPr id="16261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71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本地域名服务器 </a:t>
            </a:r>
          </a:p>
        </p:txBody>
      </p:sp>
      <p:sp>
        <p:nvSpPr>
          <p:cNvPr id="1627138" name="Rectangle 3"/>
          <p:cNvSpPr>
            <a:spLocks noGrp="1" noChangeArrowheads="1"/>
          </p:cNvSpPr>
          <p:nvPr>
            <p:ph idx="1"/>
          </p:nvPr>
        </p:nvSpPr>
        <p:spPr>
          <a:xfrm>
            <a:off x="495300" y="1196975"/>
            <a:ext cx="9066213" cy="4933950"/>
          </a:xfrm>
        </p:spPr>
        <p:txBody>
          <a:bodyPr/>
          <a:lstStyle/>
          <a:p>
            <a:pPr marL="315913" indent="-315913">
              <a:spcBef>
                <a:spcPts val="550"/>
              </a:spcBef>
            </a:pPr>
            <a:r>
              <a:rPr lang="zh-CN" altLang="en-US" dirty="0" smtClean="0">
                <a:ea typeface="黑体" panose="02010609060101010101" pitchFamily="49" charset="-122"/>
              </a:rPr>
              <a:t>本地域名服务器对域名系统非常重要。</a:t>
            </a:r>
          </a:p>
          <a:p>
            <a:pPr marL="315913" indent="-315913">
              <a:spcBef>
                <a:spcPts val="550"/>
              </a:spcBef>
            </a:pPr>
            <a:r>
              <a:rPr lang="zh-CN" altLang="en-US" dirty="0" smtClean="0">
                <a:ea typeface="黑体" panose="02010609060101010101" pitchFamily="49" charset="-122"/>
              </a:rPr>
              <a:t>当一个</a:t>
            </a:r>
            <a:r>
              <a:rPr lang="zh-CN" altLang="en-US" dirty="0" smtClean="0">
                <a:solidFill>
                  <a:srgbClr val="0000FF"/>
                </a:solidFill>
                <a:ea typeface="黑体" panose="02010609060101010101" pitchFamily="49" charset="-122"/>
              </a:rPr>
              <a:t>主机发出 </a:t>
            </a:r>
            <a:r>
              <a:rPr lang="en-US" altLang="zh-CN" dirty="0" smtClean="0">
                <a:solidFill>
                  <a:srgbClr val="0000FF"/>
                </a:solidFill>
                <a:ea typeface="黑体" panose="02010609060101010101" pitchFamily="49" charset="-122"/>
              </a:rPr>
              <a:t>DNS </a:t>
            </a:r>
            <a:r>
              <a:rPr lang="zh-CN" altLang="en-US" dirty="0" smtClean="0">
                <a:solidFill>
                  <a:srgbClr val="0000FF"/>
                </a:solidFill>
                <a:ea typeface="黑体" panose="02010609060101010101" pitchFamily="49" charset="-122"/>
              </a:rPr>
              <a:t>查询请求</a:t>
            </a:r>
            <a:r>
              <a:rPr lang="zh-CN" altLang="en-US" dirty="0" smtClean="0">
                <a:ea typeface="黑体" panose="02010609060101010101" pitchFamily="49" charset="-122"/>
              </a:rPr>
              <a:t>时，这个查询请求报文就发送</a:t>
            </a:r>
            <a:r>
              <a:rPr lang="zh-CN" altLang="en-US" dirty="0" smtClean="0">
                <a:solidFill>
                  <a:srgbClr val="0000FF"/>
                </a:solidFill>
                <a:ea typeface="黑体" panose="02010609060101010101" pitchFamily="49" charset="-122"/>
              </a:rPr>
              <a:t>给本地域名服务器</a:t>
            </a:r>
            <a:r>
              <a:rPr lang="zh-CN" altLang="en-US" dirty="0" smtClean="0">
                <a:ea typeface="黑体" panose="02010609060101010101" pitchFamily="49" charset="-122"/>
              </a:rPr>
              <a:t>。</a:t>
            </a:r>
          </a:p>
          <a:p>
            <a:pPr marL="315913" indent="-315913">
              <a:spcBef>
                <a:spcPts val="550"/>
              </a:spcBef>
            </a:pPr>
            <a:r>
              <a:rPr lang="zh-CN" altLang="en-US" dirty="0" smtClean="0">
                <a:ea typeface="黑体" panose="02010609060101010101" pitchFamily="49" charset="-122"/>
              </a:rPr>
              <a:t>每一个互联网服务提供者 </a:t>
            </a:r>
            <a:r>
              <a:rPr lang="en-US" altLang="zh-CN" dirty="0" smtClean="0">
                <a:ea typeface="黑体" panose="02010609060101010101" pitchFamily="49" charset="-122"/>
              </a:rPr>
              <a:t>ISP</a:t>
            </a:r>
            <a:r>
              <a:rPr lang="zh-CN" altLang="en-US" dirty="0" smtClean="0">
                <a:ea typeface="黑体" panose="02010609060101010101" pitchFamily="49" charset="-122"/>
              </a:rPr>
              <a:t>，或一个大学，甚至一个大学里的系，都可以拥有一个本地域名服务器，</a:t>
            </a:r>
          </a:p>
          <a:p>
            <a:pPr marL="315913" indent="-315913">
              <a:spcBef>
                <a:spcPts val="550"/>
              </a:spcBef>
            </a:pPr>
            <a:r>
              <a:rPr lang="zh-CN" altLang="en-US" dirty="0" smtClean="0">
                <a:ea typeface="黑体" panose="02010609060101010101" pitchFamily="49" charset="-122"/>
              </a:rPr>
              <a:t>这种域名服务器有时也称为</a:t>
            </a:r>
            <a:r>
              <a:rPr lang="zh-CN" altLang="en-US" dirty="0" smtClean="0">
                <a:solidFill>
                  <a:srgbClr val="FF0000"/>
                </a:solidFill>
                <a:ea typeface="黑体" panose="02010609060101010101" pitchFamily="49" charset="-122"/>
              </a:rPr>
              <a:t>默认域名服务器。</a:t>
            </a:r>
            <a:r>
              <a:rPr lang="zh-CN" altLang="en-US" dirty="0" smtClean="0">
                <a:ea typeface="黑体" panose="02010609060101010101" pitchFamily="49" charset="-122"/>
              </a:rPr>
              <a:t> </a:t>
            </a:r>
          </a:p>
        </p:txBody>
      </p:sp>
      <p:sp>
        <p:nvSpPr>
          <p:cNvPr id="16271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C37F0A-8C0D-491E-801D-CC9EBBD37ECD}" type="slidenum">
              <a:rPr lang="zh-CN" altLang="en-US" smtClean="0"/>
              <a:pPr eaLnBrk="1" hangingPunct="1"/>
              <a:t>21</a:t>
            </a:fld>
            <a:endParaRPr lang="en-US" altLang="zh-CN" smtClean="0"/>
          </a:p>
        </p:txBody>
      </p:sp>
      <p:sp>
        <p:nvSpPr>
          <p:cNvPr id="16271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提高域名服务器的可靠性</a:t>
            </a:r>
          </a:p>
        </p:txBody>
      </p:sp>
      <p:sp>
        <p:nvSpPr>
          <p:cNvPr id="1628162"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DNS </a:t>
            </a:r>
            <a:r>
              <a:rPr lang="zh-CN" altLang="en-US" dirty="0" smtClean="0">
                <a:ea typeface="黑体" panose="02010609060101010101" pitchFamily="49" charset="-122"/>
              </a:rPr>
              <a:t>域名服务器都把数据复制到几个域名服务器来保存，其中的一个是</a:t>
            </a:r>
            <a:r>
              <a:rPr lang="zh-CN" altLang="en-US" dirty="0" smtClean="0">
                <a:solidFill>
                  <a:srgbClr val="FF0000"/>
                </a:solidFill>
                <a:ea typeface="黑体" panose="02010609060101010101" pitchFamily="49" charset="-122"/>
              </a:rPr>
              <a:t>主域名服务器</a:t>
            </a:r>
            <a:r>
              <a:rPr lang="zh-CN" altLang="en-US" dirty="0" smtClean="0">
                <a:ea typeface="黑体" panose="02010609060101010101" pitchFamily="49" charset="-122"/>
              </a:rPr>
              <a:t>，其他的是</a:t>
            </a:r>
            <a:r>
              <a:rPr lang="zh-CN" altLang="en-US" dirty="0" smtClean="0">
                <a:solidFill>
                  <a:srgbClr val="FF0000"/>
                </a:solidFill>
                <a:ea typeface="黑体" panose="02010609060101010101" pitchFamily="49" charset="-122"/>
              </a:rPr>
              <a:t>辅助域名服务器</a:t>
            </a:r>
            <a:r>
              <a:rPr lang="zh-CN" altLang="en-US" dirty="0" smtClean="0">
                <a:ea typeface="黑体" panose="02010609060101010101" pitchFamily="49" charset="-122"/>
              </a:rPr>
              <a:t>。</a:t>
            </a:r>
          </a:p>
          <a:p>
            <a:r>
              <a:rPr lang="zh-CN" altLang="en-US" dirty="0" smtClean="0">
                <a:ea typeface="黑体" panose="02010609060101010101" pitchFamily="49" charset="-122"/>
              </a:rPr>
              <a:t>当主域名服务器出故障时，辅助域名服务器可以保证 </a:t>
            </a:r>
            <a:r>
              <a:rPr lang="en-US" altLang="zh-CN" dirty="0" smtClean="0">
                <a:ea typeface="黑体" panose="02010609060101010101" pitchFamily="49" charset="-122"/>
              </a:rPr>
              <a:t>DNS </a:t>
            </a:r>
            <a:r>
              <a:rPr lang="zh-CN" altLang="en-US" dirty="0" smtClean="0">
                <a:ea typeface="黑体" panose="02010609060101010101" pitchFamily="49" charset="-122"/>
              </a:rPr>
              <a:t>的查询工作不会中断。</a:t>
            </a:r>
          </a:p>
          <a:p>
            <a:r>
              <a:rPr lang="zh-CN" altLang="en-US" dirty="0" smtClean="0">
                <a:ea typeface="黑体" panose="02010609060101010101" pitchFamily="49" charset="-122"/>
              </a:rPr>
              <a:t>主域名服务器定</a:t>
            </a:r>
            <a:r>
              <a:rPr lang="zh-CN" altLang="en-US" dirty="0" smtClean="0">
                <a:solidFill>
                  <a:srgbClr val="0000FF"/>
                </a:solidFill>
                <a:ea typeface="黑体" panose="02010609060101010101" pitchFamily="49" charset="-122"/>
              </a:rPr>
              <a:t>期</a:t>
            </a:r>
            <a:r>
              <a:rPr lang="zh-CN" altLang="en-US" dirty="0" smtClean="0">
                <a:ea typeface="黑体" panose="02010609060101010101" pitchFamily="49" charset="-122"/>
              </a:rPr>
              <a:t>把数据</a:t>
            </a:r>
            <a:r>
              <a:rPr lang="zh-CN" altLang="en-US" dirty="0" smtClean="0">
                <a:solidFill>
                  <a:srgbClr val="0000FF"/>
                </a:solidFill>
                <a:ea typeface="黑体" panose="02010609060101010101" pitchFamily="49" charset="-122"/>
              </a:rPr>
              <a:t>复制</a:t>
            </a:r>
            <a:r>
              <a:rPr lang="zh-CN" altLang="en-US" dirty="0" smtClean="0">
                <a:ea typeface="黑体" panose="02010609060101010101" pitchFamily="49" charset="-122"/>
              </a:rPr>
              <a:t>到辅助域名服务器中，而更改数据只能在主域名服务器中进行。这样就</a:t>
            </a:r>
            <a:r>
              <a:rPr lang="zh-CN" altLang="en-US" dirty="0" smtClean="0">
                <a:solidFill>
                  <a:srgbClr val="0000FF"/>
                </a:solidFill>
                <a:ea typeface="黑体" panose="02010609060101010101" pitchFamily="49" charset="-122"/>
              </a:rPr>
              <a:t>保证</a:t>
            </a:r>
            <a:r>
              <a:rPr lang="zh-CN" altLang="en-US" dirty="0" smtClean="0">
                <a:ea typeface="黑体" panose="02010609060101010101" pitchFamily="49" charset="-122"/>
              </a:rPr>
              <a:t>了数据的</a:t>
            </a:r>
            <a:r>
              <a:rPr lang="zh-CN" altLang="en-US" dirty="0" smtClean="0">
                <a:solidFill>
                  <a:srgbClr val="0000FF"/>
                </a:solidFill>
                <a:ea typeface="黑体" panose="02010609060101010101" pitchFamily="49" charset="-122"/>
              </a:rPr>
              <a:t>一致性</a:t>
            </a:r>
            <a:r>
              <a:rPr lang="zh-CN" altLang="en-US" dirty="0" smtClean="0">
                <a:ea typeface="黑体" panose="02010609060101010101" pitchFamily="49" charset="-122"/>
              </a:rPr>
              <a:t>。 </a:t>
            </a:r>
          </a:p>
        </p:txBody>
      </p:sp>
      <p:sp>
        <p:nvSpPr>
          <p:cNvPr id="1628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25597C-FEC6-4A0D-9059-497FC63A0315}" type="slidenum">
              <a:rPr lang="zh-CN" altLang="en-US" smtClean="0"/>
              <a:pPr eaLnBrk="1" hangingPunct="1"/>
              <a:t>22</a:t>
            </a:fld>
            <a:endParaRPr lang="en-US" altLang="zh-CN" smtClean="0"/>
          </a:p>
        </p:txBody>
      </p:sp>
      <p:sp>
        <p:nvSpPr>
          <p:cNvPr id="1628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91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域名的解析过程 </a:t>
            </a:r>
          </a:p>
        </p:txBody>
      </p:sp>
      <p:sp>
        <p:nvSpPr>
          <p:cNvPr id="1629186" name="Rectangle 3"/>
          <p:cNvSpPr>
            <a:spLocks noGrp="1" noChangeArrowheads="1"/>
          </p:cNvSpPr>
          <p:nvPr>
            <p:ph idx="1"/>
          </p:nvPr>
        </p:nvSpPr>
        <p:spPr>
          <a:xfrm>
            <a:off x="495300" y="1196975"/>
            <a:ext cx="9066213" cy="4933950"/>
          </a:xfrm>
        </p:spPr>
        <p:txBody>
          <a:bodyPr/>
          <a:lstStyle/>
          <a:p>
            <a:r>
              <a:rPr lang="zh-CN" altLang="en-US" sz="2800" smtClean="0">
                <a:solidFill>
                  <a:srgbClr val="FF0000"/>
                </a:solidFill>
                <a:ea typeface="黑体" panose="02010609060101010101" pitchFamily="49" charset="-122"/>
              </a:rPr>
              <a:t>主机向本地域名服务器的查询一般都是采用</a:t>
            </a:r>
            <a:r>
              <a:rPr lang="zh-CN" altLang="en-US" sz="2800" smtClean="0">
                <a:solidFill>
                  <a:srgbClr val="0000FF"/>
                </a:solidFill>
                <a:ea typeface="黑体" panose="02010609060101010101" pitchFamily="49" charset="-122"/>
              </a:rPr>
              <a:t>递归查询。</a:t>
            </a:r>
            <a:r>
              <a:rPr lang="zh-CN" altLang="en-US" sz="2800" smtClean="0">
                <a:ea typeface="黑体" panose="02010609060101010101" pitchFamily="49" charset="-122"/>
              </a:rPr>
              <a:t>如果主机所询问的本地域名服务器不知道被查询域名的 </a:t>
            </a:r>
            <a:r>
              <a:rPr lang="en-US" altLang="zh-CN" sz="2800" smtClean="0">
                <a:ea typeface="黑体" panose="02010609060101010101" pitchFamily="49" charset="-122"/>
              </a:rPr>
              <a:t>IP </a:t>
            </a:r>
            <a:r>
              <a:rPr lang="zh-CN" altLang="en-US" sz="2800" smtClean="0">
                <a:ea typeface="黑体" panose="02010609060101010101" pitchFamily="49" charset="-122"/>
              </a:rPr>
              <a:t>地址，那么本地域名服务器就以 </a:t>
            </a:r>
            <a:r>
              <a:rPr lang="en-US" altLang="zh-CN" sz="2800" smtClean="0">
                <a:ea typeface="黑体" panose="02010609060101010101" pitchFamily="49" charset="-122"/>
              </a:rPr>
              <a:t>DNS </a:t>
            </a:r>
            <a:r>
              <a:rPr lang="zh-CN" altLang="en-US" sz="2800" smtClean="0">
                <a:ea typeface="黑体" panose="02010609060101010101" pitchFamily="49" charset="-122"/>
              </a:rPr>
              <a:t>客户的身份，向其他根域名服务器继续发出查询请求报文。</a:t>
            </a:r>
          </a:p>
          <a:p>
            <a:r>
              <a:rPr lang="zh-CN" altLang="en-US" sz="2800" smtClean="0">
                <a:solidFill>
                  <a:srgbClr val="FF0000"/>
                </a:solidFill>
                <a:ea typeface="黑体" panose="02010609060101010101" pitchFamily="49" charset="-122"/>
              </a:rPr>
              <a:t>本地域名服务器向根域名服务器的查询通常是采用</a:t>
            </a:r>
            <a:r>
              <a:rPr lang="zh-CN" altLang="en-US" sz="2800" smtClean="0">
                <a:solidFill>
                  <a:srgbClr val="0000FF"/>
                </a:solidFill>
                <a:ea typeface="黑体" panose="02010609060101010101" pitchFamily="49" charset="-122"/>
              </a:rPr>
              <a:t>迭代查询。</a:t>
            </a:r>
            <a:r>
              <a:rPr lang="zh-CN" altLang="en-US" sz="2800" smtClean="0">
                <a:ea typeface="黑体" panose="02010609060101010101" pitchFamily="49" charset="-122"/>
              </a:rPr>
              <a:t>当根域名服务器收到本地域名服务器的迭代查询请求报文时，要么给出所要查询的 </a:t>
            </a:r>
            <a:r>
              <a:rPr lang="en-US" altLang="zh-CN" sz="2800" smtClean="0">
                <a:ea typeface="黑体" panose="02010609060101010101" pitchFamily="49" charset="-122"/>
              </a:rPr>
              <a:t>IP </a:t>
            </a:r>
            <a:r>
              <a:rPr lang="zh-CN" altLang="en-US" sz="2800" smtClean="0">
                <a:ea typeface="黑体" panose="02010609060101010101" pitchFamily="49" charset="-122"/>
              </a:rPr>
              <a:t>地址，要么告诉本地域名服务器：“你下一步应当向哪一个域名服务器进行查询”。然后让本地域名服务器进行后续的查询。</a:t>
            </a:r>
          </a:p>
        </p:txBody>
      </p:sp>
      <p:sp>
        <p:nvSpPr>
          <p:cNvPr id="16291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23AF42-5CCB-4170-A208-8E9C01479E31}" type="slidenum">
              <a:rPr lang="zh-CN" altLang="en-US" smtClean="0"/>
              <a:pPr eaLnBrk="1" hangingPunct="1"/>
              <a:t>23</a:t>
            </a:fld>
            <a:endParaRPr lang="en-US" altLang="zh-CN" smtClean="0"/>
          </a:p>
        </p:txBody>
      </p:sp>
      <p:sp>
        <p:nvSpPr>
          <p:cNvPr id="16291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0209" name="Rectangle 4"/>
          <p:cNvSpPr>
            <a:spLocks noGrp="1" noChangeArrowheads="1"/>
          </p:cNvSpPr>
          <p:nvPr>
            <p:ph type="title"/>
          </p:nvPr>
        </p:nvSpPr>
        <p:spPr/>
        <p:txBody>
          <a:bodyPr/>
          <a:lstStyle/>
          <a:p>
            <a:pPr algn="ctr"/>
            <a:r>
              <a:rPr lang="zh-CN" altLang="zh-CN" smtClean="0">
                <a:ea typeface="黑体" panose="02010609060101010101" pitchFamily="49" charset="-122"/>
              </a:rPr>
              <a:t>本地域名服务器采用迭代查询 </a:t>
            </a:r>
          </a:p>
        </p:txBody>
      </p:sp>
      <p:sp>
        <p:nvSpPr>
          <p:cNvPr id="1630210" name="Rectangle 5"/>
          <p:cNvSpPr>
            <a:spLocks noChangeArrowheads="1"/>
          </p:cNvSpPr>
          <p:nvPr/>
        </p:nvSpPr>
        <p:spPr bwMode="auto">
          <a:xfrm flipH="1">
            <a:off x="2997200" y="1519238"/>
            <a:ext cx="3325813" cy="30241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30211" name="Text Box 7"/>
          <p:cNvSpPr txBox="1">
            <a:spLocks noChangeArrowheads="1"/>
          </p:cNvSpPr>
          <p:nvPr/>
        </p:nvSpPr>
        <p:spPr bwMode="auto">
          <a:xfrm flipH="1">
            <a:off x="6423025" y="1633538"/>
            <a:ext cx="1800225"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b="1">
                <a:solidFill>
                  <a:srgbClr val="000099"/>
                </a:solidFill>
                <a:ea typeface="黑体" panose="02010609060101010101" pitchFamily="49" charset="-122"/>
              </a:rPr>
              <a:t>顶级域名服务器</a:t>
            </a:r>
          </a:p>
          <a:p>
            <a:pPr algn="ctr">
              <a:lnSpc>
                <a:spcPct val="85000"/>
              </a:lnSpc>
            </a:pPr>
            <a:r>
              <a:rPr lang="en-US" altLang="zh-CN" b="1">
                <a:solidFill>
                  <a:srgbClr val="000099"/>
                </a:solidFill>
                <a:ea typeface="黑体" panose="02010609060101010101" pitchFamily="49" charset="-122"/>
              </a:rPr>
              <a:t>dns.com</a:t>
            </a:r>
          </a:p>
        </p:txBody>
      </p:sp>
      <p:sp>
        <p:nvSpPr>
          <p:cNvPr id="1630212" name="Text Box 8"/>
          <p:cNvSpPr txBox="1">
            <a:spLocks noChangeArrowheads="1"/>
          </p:cNvSpPr>
          <p:nvPr/>
        </p:nvSpPr>
        <p:spPr bwMode="auto">
          <a:xfrm flipH="1">
            <a:off x="6045200" y="3722688"/>
            <a:ext cx="234156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80000"/>
              </a:lnSpc>
            </a:pPr>
            <a:r>
              <a:rPr lang="zh-CN" altLang="en-US" b="1">
                <a:solidFill>
                  <a:srgbClr val="000099"/>
                </a:solidFill>
                <a:ea typeface="黑体" panose="02010609060101010101" pitchFamily="49" charset="-122"/>
              </a:rPr>
              <a:t>权限</a:t>
            </a:r>
            <a:r>
              <a:rPr lang="zh-CN" altLang="zh-CN" b="1">
                <a:solidFill>
                  <a:srgbClr val="000099"/>
                </a:solidFill>
                <a:ea typeface="黑体" panose="02010609060101010101" pitchFamily="49" charset="-122"/>
              </a:rPr>
              <a:t>域名服务</a:t>
            </a:r>
            <a:r>
              <a:rPr lang="en-US" altLang="zh-CN" b="1">
                <a:solidFill>
                  <a:srgbClr val="000099"/>
                </a:solidFill>
                <a:ea typeface="黑体" panose="02010609060101010101" pitchFamily="49" charset="-122"/>
              </a:rPr>
              <a:t>dns.abc.com</a:t>
            </a:r>
          </a:p>
        </p:txBody>
      </p:sp>
      <p:sp>
        <p:nvSpPr>
          <p:cNvPr id="1630213" name="Text Box 9"/>
          <p:cNvSpPr txBox="1">
            <a:spLocks noChangeArrowheads="1"/>
          </p:cNvSpPr>
          <p:nvPr/>
        </p:nvSpPr>
        <p:spPr bwMode="auto">
          <a:xfrm flipH="1">
            <a:off x="1058863" y="3690938"/>
            <a:ext cx="18002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0000"/>
              </a:lnSpc>
            </a:pPr>
            <a:r>
              <a:rPr lang="zh-CN" altLang="en-US" b="1">
                <a:solidFill>
                  <a:srgbClr val="FF0000"/>
                </a:solidFill>
                <a:ea typeface="黑体" panose="02010609060101010101" pitchFamily="49" charset="-122"/>
              </a:rPr>
              <a:t>本地域名服务器</a:t>
            </a:r>
          </a:p>
          <a:p>
            <a:pPr algn="ctr">
              <a:lnSpc>
                <a:spcPct val="80000"/>
              </a:lnSpc>
            </a:pPr>
            <a:r>
              <a:rPr lang="en-US" altLang="zh-CN" b="1">
                <a:solidFill>
                  <a:srgbClr val="FF0000"/>
                </a:solidFill>
                <a:ea typeface="黑体" panose="02010609060101010101" pitchFamily="49" charset="-122"/>
              </a:rPr>
              <a:t>dns.xyz.com</a:t>
            </a:r>
          </a:p>
        </p:txBody>
      </p:sp>
      <p:sp>
        <p:nvSpPr>
          <p:cNvPr id="1630214" name="Text Box 12"/>
          <p:cNvSpPr txBox="1">
            <a:spLocks noChangeArrowheads="1"/>
          </p:cNvSpPr>
          <p:nvPr/>
        </p:nvSpPr>
        <p:spPr bwMode="auto">
          <a:xfrm flipH="1">
            <a:off x="1374775" y="1646238"/>
            <a:ext cx="157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根域名服务器</a:t>
            </a:r>
          </a:p>
        </p:txBody>
      </p:sp>
      <p:pic>
        <p:nvPicPr>
          <p:cNvPr id="1630215" name="Picture 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092450" y="3397250"/>
            <a:ext cx="735013"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0216" name="Picture 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092450" y="1484313"/>
            <a:ext cx="735013"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0217" name="Picture 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434013" y="1484313"/>
            <a:ext cx="738187"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08" name="Group 40"/>
          <p:cNvGrpSpPr>
            <a:grpSpLocks/>
          </p:cNvGrpSpPr>
          <p:nvPr/>
        </p:nvGrpSpPr>
        <p:grpSpPr bwMode="auto">
          <a:xfrm>
            <a:off x="2976563" y="2644775"/>
            <a:ext cx="458787" cy="901700"/>
            <a:chOff x="1731" y="1927"/>
            <a:chExt cx="267" cy="568"/>
          </a:xfrm>
        </p:grpSpPr>
        <p:sp>
          <p:nvSpPr>
            <p:cNvPr id="1630219" name="Text Box 18"/>
            <p:cNvSpPr txBox="1">
              <a:spLocks noChangeArrowheads="1"/>
            </p:cNvSpPr>
            <p:nvPr/>
          </p:nvSpPr>
          <p:spPr bwMode="auto">
            <a:xfrm flipH="1">
              <a:off x="1731" y="2190"/>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20" name="Line 20"/>
            <p:cNvSpPr>
              <a:spLocks noChangeShapeType="1"/>
            </p:cNvSpPr>
            <p:nvPr/>
          </p:nvSpPr>
          <p:spPr bwMode="auto">
            <a:xfrm rot="10800000" flipH="1">
              <a:off x="1996" y="1927"/>
              <a:ext cx="0" cy="568"/>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082409" name="Group 41"/>
          <p:cNvGrpSpPr>
            <a:grpSpLocks/>
          </p:cNvGrpSpPr>
          <p:nvPr/>
        </p:nvGrpSpPr>
        <p:grpSpPr bwMode="auto">
          <a:xfrm>
            <a:off x="3500438" y="2492375"/>
            <a:ext cx="458787" cy="1054100"/>
            <a:chOff x="2035" y="1831"/>
            <a:chExt cx="267" cy="664"/>
          </a:xfrm>
        </p:grpSpPr>
        <p:sp>
          <p:nvSpPr>
            <p:cNvPr id="1630222" name="Text Box 19"/>
            <p:cNvSpPr txBox="1">
              <a:spLocks noChangeArrowheads="1"/>
            </p:cNvSpPr>
            <p:nvPr/>
          </p:nvSpPr>
          <p:spPr bwMode="auto">
            <a:xfrm flipH="1">
              <a:off x="2035" y="1831"/>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23" name="Line 21"/>
            <p:cNvSpPr>
              <a:spLocks noChangeShapeType="1"/>
            </p:cNvSpPr>
            <p:nvPr/>
          </p:nvSpPr>
          <p:spPr bwMode="auto">
            <a:xfrm rot="10800000" flipH="1" flipV="1">
              <a:off x="2089" y="1927"/>
              <a:ext cx="0" cy="568"/>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082410" name="Group 42"/>
          <p:cNvGrpSpPr>
            <a:grpSpLocks/>
          </p:cNvGrpSpPr>
          <p:nvPr/>
        </p:nvGrpSpPr>
        <p:grpSpPr bwMode="auto">
          <a:xfrm>
            <a:off x="3705225" y="2463800"/>
            <a:ext cx="1935163" cy="1112838"/>
            <a:chOff x="2154" y="1813"/>
            <a:chExt cx="1126" cy="701"/>
          </a:xfrm>
        </p:grpSpPr>
        <p:sp>
          <p:nvSpPr>
            <p:cNvPr id="1630225" name="Text Box 14"/>
            <p:cNvSpPr txBox="1">
              <a:spLocks noChangeArrowheads="1"/>
            </p:cNvSpPr>
            <p:nvPr/>
          </p:nvSpPr>
          <p:spPr bwMode="auto">
            <a:xfrm flipH="1">
              <a:off x="2154" y="2205"/>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26" name="Line 22"/>
            <p:cNvSpPr>
              <a:spLocks noChangeShapeType="1"/>
            </p:cNvSpPr>
            <p:nvPr/>
          </p:nvSpPr>
          <p:spPr bwMode="auto">
            <a:xfrm rot="10800000" flipH="1">
              <a:off x="2245" y="1813"/>
              <a:ext cx="1035" cy="701"/>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082411" name="Group 43"/>
          <p:cNvGrpSpPr>
            <a:grpSpLocks/>
          </p:cNvGrpSpPr>
          <p:nvPr/>
        </p:nvGrpSpPr>
        <p:grpSpPr bwMode="auto">
          <a:xfrm>
            <a:off x="3841750" y="2492375"/>
            <a:ext cx="2084388" cy="1268413"/>
            <a:chOff x="2234" y="1831"/>
            <a:chExt cx="1212" cy="799"/>
          </a:xfrm>
        </p:grpSpPr>
        <p:sp>
          <p:nvSpPr>
            <p:cNvPr id="1630228" name="Text Box 13"/>
            <p:cNvSpPr txBox="1">
              <a:spLocks noChangeArrowheads="1"/>
            </p:cNvSpPr>
            <p:nvPr/>
          </p:nvSpPr>
          <p:spPr bwMode="auto">
            <a:xfrm flipH="1">
              <a:off x="3179" y="1831"/>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29" name="Line 23"/>
            <p:cNvSpPr>
              <a:spLocks noChangeShapeType="1"/>
            </p:cNvSpPr>
            <p:nvPr/>
          </p:nvSpPr>
          <p:spPr bwMode="auto">
            <a:xfrm flipH="1">
              <a:off x="2234" y="1870"/>
              <a:ext cx="1100" cy="760"/>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pic>
        <p:nvPicPr>
          <p:cNvPr id="1630230"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527675" y="3397250"/>
            <a:ext cx="738188"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13" name="Group 45"/>
          <p:cNvGrpSpPr>
            <a:grpSpLocks/>
          </p:cNvGrpSpPr>
          <p:nvPr/>
        </p:nvGrpSpPr>
        <p:grpSpPr bwMode="auto">
          <a:xfrm>
            <a:off x="3841750" y="3636963"/>
            <a:ext cx="1733550" cy="461962"/>
            <a:chOff x="2234" y="2552"/>
            <a:chExt cx="1008" cy="291"/>
          </a:xfrm>
        </p:grpSpPr>
        <p:sp>
          <p:nvSpPr>
            <p:cNvPr id="1630232" name="Text Box 25"/>
            <p:cNvSpPr txBox="1">
              <a:spLocks noChangeArrowheads="1"/>
            </p:cNvSpPr>
            <p:nvPr/>
          </p:nvSpPr>
          <p:spPr bwMode="auto">
            <a:xfrm flipH="1">
              <a:off x="2275" y="2552"/>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33" name="Line 27"/>
            <p:cNvSpPr>
              <a:spLocks noChangeShapeType="1"/>
            </p:cNvSpPr>
            <p:nvPr/>
          </p:nvSpPr>
          <p:spPr bwMode="auto">
            <a:xfrm rot="16200000" flipH="1">
              <a:off x="2738" y="2283"/>
              <a:ext cx="0" cy="1008"/>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082414" name="Group 46"/>
          <p:cNvGrpSpPr>
            <a:grpSpLocks/>
          </p:cNvGrpSpPr>
          <p:nvPr/>
        </p:nvGrpSpPr>
        <p:grpSpPr bwMode="auto">
          <a:xfrm>
            <a:off x="3841750" y="4094163"/>
            <a:ext cx="1733550" cy="461962"/>
            <a:chOff x="2234" y="2840"/>
            <a:chExt cx="1008" cy="291"/>
          </a:xfrm>
        </p:grpSpPr>
        <p:sp>
          <p:nvSpPr>
            <p:cNvPr id="1630235" name="Line 28"/>
            <p:cNvSpPr>
              <a:spLocks noChangeShapeType="1"/>
            </p:cNvSpPr>
            <p:nvPr/>
          </p:nvSpPr>
          <p:spPr bwMode="auto">
            <a:xfrm rot="5400000">
              <a:off x="2738" y="2379"/>
              <a:ext cx="0" cy="1008"/>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30236" name="Text Box 29"/>
            <p:cNvSpPr txBox="1">
              <a:spLocks noChangeArrowheads="1"/>
            </p:cNvSpPr>
            <p:nvPr/>
          </p:nvSpPr>
          <p:spPr bwMode="auto">
            <a:xfrm flipH="1">
              <a:off x="2971" y="2840"/>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grpSp>
      <p:sp>
        <p:nvSpPr>
          <p:cNvPr id="1082398" name="Text Box 30"/>
          <p:cNvSpPr txBox="1">
            <a:spLocks noChangeArrowheads="1"/>
          </p:cNvSpPr>
          <p:nvPr/>
        </p:nvSpPr>
        <p:spPr bwMode="auto">
          <a:xfrm flipH="1">
            <a:off x="4137025" y="1568450"/>
            <a:ext cx="110807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迭代查询</a:t>
            </a:r>
          </a:p>
        </p:txBody>
      </p:sp>
      <p:grpSp>
        <p:nvGrpSpPr>
          <p:cNvPr id="1082417" name="Group 49"/>
          <p:cNvGrpSpPr>
            <a:grpSpLocks/>
          </p:cNvGrpSpPr>
          <p:nvPr/>
        </p:nvGrpSpPr>
        <p:grpSpPr bwMode="auto">
          <a:xfrm>
            <a:off x="3530600" y="4502150"/>
            <a:ext cx="2747963" cy="1011238"/>
            <a:chOff x="2053" y="3097"/>
            <a:chExt cx="1598" cy="637"/>
          </a:xfrm>
        </p:grpSpPr>
        <p:grpSp>
          <p:nvGrpSpPr>
            <p:cNvPr id="1630239" name="Group 48"/>
            <p:cNvGrpSpPr>
              <a:grpSpLocks/>
            </p:cNvGrpSpPr>
            <p:nvPr/>
          </p:nvGrpSpPr>
          <p:grpSpPr bwMode="auto">
            <a:xfrm>
              <a:off x="2053" y="3097"/>
              <a:ext cx="1598" cy="637"/>
              <a:chOff x="2053" y="3097"/>
              <a:chExt cx="1598" cy="637"/>
            </a:xfrm>
          </p:grpSpPr>
          <p:sp>
            <p:nvSpPr>
              <p:cNvPr id="1630240" name="Rectangle 36"/>
              <p:cNvSpPr>
                <a:spLocks noChangeArrowheads="1"/>
              </p:cNvSpPr>
              <p:nvPr/>
            </p:nvSpPr>
            <p:spPr bwMode="auto">
              <a:xfrm>
                <a:off x="2135" y="3356"/>
                <a:ext cx="1516" cy="263"/>
              </a:xfrm>
              <a:prstGeom prst="rect">
                <a:avLst/>
              </a:prstGeom>
              <a:solidFill>
                <a:srgbClr val="CCECFF"/>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grpSp>
            <p:nvGrpSpPr>
              <p:cNvPr id="1630241" name="Group 47"/>
              <p:cNvGrpSpPr>
                <a:grpSpLocks/>
              </p:cNvGrpSpPr>
              <p:nvPr/>
            </p:nvGrpSpPr>
            <p:grpSpPr bwMode="auto">
              <a:xfrm>
                <a:off x="2053" y="3097"/>
                <a:ext cx="267" cy="637"/>
                <a:chOff x="2053" y="3097"/>
                <a:chExt cx="267" cy="637"/>
              </a:xfrm>
            </p:grpSpPr>
            <p:sp>
              <p:nvSpPr>
                <p:cNvPr id="1630242" name="Text Box 33"/>
                <p:cNvSpPr txBox="1">
                  <a:spLocks noChangeArrowheads="1"/>
                </p:cNvSpPr>
                <p:nvPr/>
              </p:nvSpPr>
              <p:spPr bwMode="auto">
                <a:xfrm flipH="1">
                  <a:off x="2053" y="3097"/>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43" name="Line 35"/>
                <p:cNvSpPr>
                  <a:spLocks noChangeShapeType="1"/>
                </p:cNvSpPr>
                <p:nvPr/>
              </p:nvSpPr>
              <p:spPr bwMode="auto">
                <a:xfrm rot="10800000" flipH="1" flipV="1">
                  <a:off x="2089" y="3166"/>
                  <a:ext cx="0" cy="568"/>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sp>
          <p:nvSpPr>
            <p:cNvPr id="1630244" name="Text Box 6"/>
            <p:cNvSpPr txBox="1">
              <a:spLocks noChangeArrowheads="1"/>
            </p:cNvSpPr>
            <p:nvPr/>
          </p:nvSpPr>
          <p:spPr bwMode="auto">
            <a:xfrm flipH="1">
              <a:off x="2104" y="3417"/>
              <a:ext cx="143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b="1">
                  <a:solidFill>
                    <a:srgbClr val="000099"/>
                  </a:solidFill>
                  <a:ea typeface="黑体" panose="02010609060101010101" pitchFamily="49" charset="-122"/>
                </a:rPr>
                <a:t> y.abc.com</a:t>
              </a:r>
              <a:r>
                <a:rPr lang="en-US" altLang="zh-CN" sz="900"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的</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IP</a:t>
              </a:r>
              <a:r>
                <a:rPr lang="en-US" altLang="zh-CN" sz="1400"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地址 </a:t>
              </a:r>
            </a:p>
          </p:txBody>
        </p:sp>
      </p:grpSp>
      <p:pic>
        <p:nvPicPr>
          <p:cNvPr id="1630245"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230563" y="5603875"/>
            <a:ext cx="5175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0246" name="Text Box 11"/>
          <p:cNvSpPr txBox="1">
            <a:spLocks noChangeArrowheads="1"/>
          </p:cNvSpPr>
          <p:nvPr/>
        </p:nvSpPr>
        <p:spPr bwMode="auto">
          <a:xfrm flipH="1">
            <a:off x="2925763" y="6111875"/>
            <a:ext cx="14287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b="1">
                <a:solidFill>
                  <a:srgbClr val="000099"/>
                </a:solidFill>
                <a:ea typeface="黑体" panose="02010609060101010101" pitchFamily="49" charset="-122"/>
              </a:rPr>
              <a:t>m.xyz.com </a:t>
            </a:r>
          </a:p>
        </p:txBody>
      </p:sp>
      <p:sp>
        <p:nvSpPr>
          <p:cNvPr id="1082399" name="Text Box 31"/>
          <p:cNvSpPr txBox="1">
            <a:spLocks noChangeArrowheads="1"/>
          </p:cNvSpPr>
          <p:nvPr/>
        </p:nvSpPr>
        <p:spPr bwMode="auto">
          <a:xfrm flipH="1">
            <a:off x="2714625" y="4743450"/>
            <a:ext cx="64611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递归</a:t>
            </a:r>
          </a:p>
          <a:p>
            <a:pPr algn="ctr">
              <a:lnSpc>
                <a:spcPct val="90000"/>
              </a:lnSpc>
            </a:pPr>
            <a:r>
              <a:rPr lang="zh-CN" altLang="en-US" b="1">
                <a:solidFill>
                  <a:srgbClr val="000099"/>
                </a:solidFill>
                <a:ea typeface="黑体" panose="02010609060101010101" pitchFamily="49" charset="-122"/>
              </a:rPr>
              <a:t>查询</a:t>
            </a:r>
          </a:p>
        </p:txBody>
      </p:sp>
      <p:grpSp>
        <p:nvGrpSpPr>
          <p:cNvPr id="1082407" name="Group 39"/>
          <p:cNvGrpSpPr>
            <a:grpSpLocks/>
          </p:cNvGrpSpPr>
          <p:nvPr/>
        </p:nvGrpSpPr>
        <p:grpSpPr bwMode="auto">
          <a:xfrm>
            <a:off x="3001963" y="4611688"/>
            <a:ext cx="460375" cy="1071562"/>
            <a:chOff x="1746" y="3166"/>
            <a:chExt cx="267" cy="675"/>
          </a:xfrm>
        </p:grpSpPr>
        <p:sp>
          <p:nvSpPr>
            <p:cNvPr id="1630249" name="Text Box 32"/>
            <p:cNvSpPr txBox="1">
              <a:spLocks noChangeArrowheads="1"/>
            </p:cNvSpPr>
            <p:nvPr/>
          </p:nvSpPr>
          <p:spPr bwMode="auto">
            <a:xfrm flipH="1">
              <a:off x="1746" y="3550"/>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sym typeface="Wingdings" panose="05000000000000000000" pitchFamily="2" charset="2"/>
                </a:rPr>
                <a:t></a:t>
              </a:r>
            </a:p>
          </p:txBody>
        </p:sp>
        <p:sp>
          <p:nvSpPr>
            <p:cNvPr id="1630250" name="Line 34"/>
            <p:cNvSpPr>
              <a:spLocks noChangeShapeType="1"/>
            </p:cNvSpPr>
            <p:nvPr/>
          </p:nvSpPr>
          <p:spPr bwMode="auto">
            <a:xfrm rot="10800000" flipH="1">
              <a:off x="1996" y="3166"/>
              <a:ext cx="0" cy="568"/>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630251" name="Text Box 50"/>
          <p:cNvSpPr txBox="1">
            <a:spLocks noChangeArrowheads="1"/>
          </p:cNvSpPr>
          <p:nvPr/>
        </p:nvSpPr>
        <p:spPr bwMode="auto">
          <a:xfrm flipH="1">
            <a:off x="3549650" y="5751513"/>
            <a:ext cx="3821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80000"/>
              </a:lnSpc>
            </a:pPr>
            <a:r>
              <a:rPr lang="zh-CN" altLang="en-US" b="1">
                <a:solidFill>
                  <a:srgbClr val="000099"/>
                </a:solidFill>
                <a:ea typeface="黑体" panose="02010609060101010101" pitchFamily="49" charset="-122"/>
              </a:rPr>
              <a:t>需要查找 </a:t>
            </a:r>
            <a:r>
              <a:rPr lang="en-US" altLang="zh-CN" b="1">
                <a:solidFill>
                  <a:srgbClr val="000099"/>
                </a:solidFill>
                <a:ea typeface="黑体" panose="02010609060101010101" pitchFamily="49" charset="-122"/>
              </a:rPr>
              <a:t>y.abc.com </a:t>
            </a:r>
            <a:r>
              <a:rPr lang="zh-CN" altLang="en-US" b="1">
                <a:solidFill>
                  <a:srgbClr val="000099"/>
                </a:solidFill>
                <a:ea typeface="黑体" panose="02010609060101010101" pitchFamily="49" charset="-122"/>
              </a:rPr>
              <a:t>的 </a:t>
            </a: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地址</a:t>
            </a:r>
          </a:p>
        </p:txBody>
      </p:sp>
      <p:sp>
        <p:nvSpPr>
          <p:cNvPr id="163025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0D345C-E376-433F-B296-612E6A3C0427}" type="slidenum">
              <a:rPr lang="zh-CN" altLang="en-US" smtClean="0"/>
              <a:pPr eaLnBrk="1" hangingPunct="1"/>
              <a:t>24</a:t>
            </a:fld>
            <a:endParaRPr lang="en-US" altLang="zh-CN" smtClean="0"/>
          </a:p>
        </p:txBody>
      </p:sp>
      <p:sp>
        <p:nvSpPr>
          <p:cNvPr id="163025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nodeType="afterGroup">
                            <p:stCondLst>
                              <p:cond delay="1001"/>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nodeType="afterGroup">
                            <p:stCondLst>
                              <p:cond delay="2501"/>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nodeType="afterGroup">
                            <p:stCondLst>
                              <p:cond delay="2502"/>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nodeType="afterGroup">
                            <p:stCondLst>
                              <p:cond delay="3502"/>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nodeType="afterGroup">
                            <p:stCondLst>
                              <p:cond delay="4502"/>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nodeType="afterGroup">
                            <p:stCondLst>
                              <p:cond delay="6002"/>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nodeType="afterGroup">
                            <p:stCondLst>
                              <p:cond delay="7002"/>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nodeType="afterGroup">
                            <p:stCondLst>
                              <p:cond delay="8502"/>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1233" name="Rectangle 2"/>
          <p:cNvSpPr>
            <a:spLocks noGrp="1" noChangeArrowheads="1"/>
          </p:cNvSpPr>
          <p:nvPr>
            <p:ph type="title"/>
          </p:nvPr>
        </p:nvSpPr>
        <p:spPr>
          <a:xfrm>
            <a:off x="506413" y="188913"/>
            <a:ext cx="9048750" cy="1511300"/>
          </a:xfrm>
        </p:spPr>
        <p:txBody>
          <a:bodyPr/>
          <a:lstStyle/>
          <a:p>
            <a:pPr algn="ctr"/>
            <a:r>
              <a:rPr lang="zh-CN" altLang="zh-CN" smtClean="0">
                <a:ea typeface="黑体" panose="02010609060101010101" pitchFamily="49" charset="-122"/>
              </a:rPr>
              <a:t>本地域名服务器采用递归查询</a:t>
            </a:r>
            <a:br>
              <a:rPr lang="zh-CN" altLang="zh-CN" smtClean="0">
                <a:ea typeface="黑体" panose="02010609060101010101" pitchFamily="49" charset="-122"/>
              </a:rPr>
            </a:br>
            <a:r>
              <a:rPr lang="zh-CN" altLang="zh-CN" smtClean="0">
                <a:ea typeface="黑体" panose="02010609060101010101" pitchFamily="49" charset="-122"/>
              </a:rPr>
              <a:t>（比较少用） </a:t>
            </a:r>
          </a:p>
        </p:txBody>
      </p:sp>
      <p:sp>
        <p:nvSpPr>
          <p:cNvPr id="1631234" name="Rectangle 4"/>
          <p:cNvSpPr>
            <a:spLocks noChangeArrowheads="1"/>
          </p:cNvSpPr>
          <p:nvPr/>
        </p:nvSpPr>
        <p:spPr bwMode="auto">
          <a:xfrm flipH="1">
            <a:off x="3368675" y="1878013"/>
            <a:ext cx="3289300" cy="286543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631235" name="Text Box 6"/>
          <p:cNvSpPr txBox="1">
            <a:spLocks noChangeArrowheads="1"/>
          </p:cNvSpPr>
          <p:nvPr/>
        </p:nvSpPr>
        <p:spPr bwMode="auto">
          <a:xfrm flipH="1">
            <a:off x="6657975" y="2063750"/>
            <a:ext cx="180022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zh-CN" altLang="en-US" b="1">
                <a:solidFill>
                  <a:schemeClr val="folHlink"/>
                </a:solidFill>
                <a:ea typeface="黑体" panose="02010609060101010101" pitchFamily="49" charset="-122"/>
              </a:rPr>
              <a:t>顶级域名服务器</a:t>
            </a:r>
          </a:p>
          <a:p>
            <a:pPr algn="ctr">
              <a:lnSpc>
                <a:spcPct val="85000"/>
              </a:lnSpc>
            </a:pPr>
            <a:r>
              <a:rPr lang="en-US" altLang="zh-CN" b="1">
                <a:solidFill>
                  <a:schemeClr val="folHlink"/>
                </a:solidFill>
                <a:ea typeface="黑体" panose="02010609060101010101" pitchFamily="49" charset="-122"/>
              </a:rPr>
              <a:t>dns.com</a:t>
            </a:r>
          </a:p>
        </p:txBody>
      </p:sp>
      <p:sp>
        <p:nvSpPr>
          <p:cNvPr id="1631236" name="Text Box 7"/>
          <p:cNvSpPr txBox="1">
            <a:spLocks noChangeArrowheads="1"/>
          </p:cNvSpPr>
          <p:nvPr/>
        </p:nvSpPr>
        <p:spPr bwMode="auto">
          <a:xfrm flipH="1">
            <a:off x="6356350" y="3935413"/>
            <a:ext cx="23161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80000"/>
              </a:lnSpc>
            </a:pPr>
            <a:r>
              <a:rPr lang="zh-CN" altLang="en-US" b="1">
                <a:solidFill>
                  <a:schemeClr val="folHlink"/>
                </a:solidFill>
                <a:ea typeface="黑体" panose="02010609060101010101" pitchFamily="49" charset="-122"/>
              </a:rPr>
              <a:t>权限</a:t>
            </a:r>
            <a:r>
              <a:rPr lang="zh-CN" altLang="zh-CN" b="1">
                <a:solidFill>
                  <a:schemeClr val="folHlink"/>
                </a:solidFill>
                <a:ea typeface="黑体" panose="02010609060101010101" pitchFamily="49" charset="-122"/>
              </a:rPr>
              <a:t>域名服务</a:t>
            </a:r>
            <a:r>
              <a:rPr lang="en-US" altLang="zh-CN" b="1">
                <a:solidFill>
                  <a:schemeClr val="folHlink"/>
                </a:solidFill>
                <a:ea typeface="黑体" panose="02010609060101010101" pitchFamily="49" charset="-122"/>
              </a:rPr>
              <a:t>dns.abc.com</a:t>
            </a:r>
          </a:p>
        </p:txBody>
      </p:sp>
      <p:sp>
        <p:nvSpPr>
          <p:cNvPr id="1631237" name="Text Box 8"/>
          <p:cNvSpPr txBox="1">
            <a:spLocks noChangeArrowheads="1"/>
          </p:cNvSpPr>
          <p:nvPr/>
        </p:nvSpPr>
        <p:spPr bwMode="auto">
          <a:xfrm flipH="1">
            <a:off x="1603375" y="3863975"/>
            <a:ext cx="18002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80000"/>
              </a:lnSpc>
            </a:pPr>
            <a:r>
              <a:rPr lang="zh-CN" altLang="en-US" b="1">
                <a:solidFill>
                  <a:schemeClr val="hlink"/>
                </a:solidFill>
                <a:ea typeface="黑体" panose="02010609060101010101" pitchFamily="49" charset="-122"/>
              </a:rPr>
              <a:t>本地域名服务器</a:t>
            </a:r>
          </a:p>
          <a:p>
            <a:pPr algn="ctr">
              <a:lnSpc>
                <a:spcPct val="80000"/>
              </a:lnSpc>
            </a:pPr>
            <a:r>
              <a:rPr lang="en-US" altLang="zh-CN" b="1">
                <a:solidFill>
                  <a:schemeClr val="hlink"/>
                </a:solidFill>
                <a:ea typeface="黑体" panose="02010609060101010101" pitchFamily="49" charset="-122"/>
              </a:rPr>
              <a:t>dns.xyz.com</a:t>
            </a:r>
          </a:p>
        </p:txBody>
      </p:sp>
      <p:pic>
        <p:nvPicPr>
          <p:cNvPr id="1631238"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597275" y="5734050"/>
            <a:ext cx="5127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1239" name="Text Box 10"/>
          <p:cNvSpPr txBox="1">
            <a:spLocks noChangeArrowheads="1"/>
          </p:cNvSpPr>
          <p:nvPr/>
        </p:nvSpPr>
        <p:spPr bwMode="auto">
          <a:xfrm flipH="1">
            <a:off x="3294063" y="6216650"/>
            <a:ext cx="142716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b="1">
                <a:solidFill>
                  <a:schemeClr val="folHlink"/>
                </a:solidFill>
                <a:ea typeface="黑体" panose="02010609060101010101" pitchFamily="49" charset="-122"/>
              </a:rPr>
              <a:t>m.xyz.com </a:t>
            </a:r>
          </a:p>
        </p:txBody>
      </p:sp>
      <p:sp>
        <p:nvSpPr>
          <p:cNvPr id="1631240" name="Text Box 11"/>
          <p:cNvSpPr txBox="1">
            <a:spLocks noChangeArrowheads="1"/>
          </p:cNvSpPr>
          <p:nvPr/>
        </p:nvSpPr>
        <p:spPr bwMode="auto">
          <a:xfrm flipH="1">
            <a:off x="1843088" y="2063750"/>
            <a:ext cx="157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chemeClr val="folHlink"/>
                </a:solidFill>
                <a:ea typeface="黑体" panose="02010609060101010101" pitchFamily="49" charset="-122"/>
              </a:rPr>
              <a:t>根域名服务器</a:t>
            </a:r>
          </a:p>
        </p:txBody>
      </p:sp>
      <p:pic>
        <p:nvPicPr>
          <p:cNvPr id="1631241"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62338" y="3657600"/>
            <a:ext cx="7270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1242"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462338" y="1844675"/>
            <a:ext cx="7270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1243" name="Picture 1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778500" y="1844675"/>
            <a:ext cx="72866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4453" name="Group 37"/>
          <p:cNvGrpSpPr>
            <a:grpSpLocks/>
          </p:cNvGrpSpPr>
          <p:nvPr/>
        </p:nvGrpSpPr>
        <p:grpSpPr bwMode="auto">
          <a:xfrm>
            <a:off x="3367088" y="2944813"/>
            <a:ext cx="458787" cy="925512"/>
            <a:chOff x="1958" y="1944"/>
            <a:chExt cx="267" cy="583"/>
          </a:xfrm>
        </p:grpSpPr>
        <p:sp>
          <p:nvSpPr>
            <p:cNvPr id="1631245" name="Text Box 17"/>
            <p:cNvSpPr txBox="1">
              <a:spLocks noChangeArrowheads="1"/>
            </p:cNvSpPr>
            <p:nvPr/>
          </p:nvSpPr>
          <p:spPr bwMode="auto">
            <a:xfrm flipH="1">
              <a:off x="1958" y="2236"/>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46" name="Line 19"/>
            <p:cNvSpPr>
              <a:spLocks noChangeShapeType="1"/>
            </p:cNvSpPr>
            <p:nvPr/>
          </p:nvSpPr>
          <p:spPr bwMode="auto">
            <a:xfrm rot="10800000" flipH="1">
              <a:off x="2209" y="1944"/>
              <a:ext cx="0" cy="539"/>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084458" name="Group 42"/>
          <p:cNvGrpSpPr>
            <a:grpSpLocks/>
          </p:cNvGrpSpPr>
          <p:nvPr/>
        </p:nvGrpSpPr>
        <p:grpSpPr bwMode="auto">
          <a:xfrm>
            <a:off x="3865563" y="2830513"/>
            <a:ext cx="460375" cy="969962"/>
            <a:chOff x="2248" y="1872"/>
            <a:chExt cx="267" cy="611"/>
          </a:xfrm>
        </p:grpSpPr>
        <p:sp>
          <p:nvSpPr>
            <p:cNvPr id="1631248" name="Text Box 18"/>
            <p:cNvSpPr txBox="1">
              <a:spLocks noChangeArrowheads="1"/>
            </p:cNvSpPr>
            <p:nvPr/>
          </p:nvSpPr>
          <p:spPr bwMode="auto">
            <a:xfrm flipH="1">
              <a:off x="2248" y="1872"/>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49" name="Line 20"/>
            <p:cNvSpPr>
              <a:spLocks noChangeShapeType="1"/>
            </p:cNvSpPr>
            <p:nvPr/>
          </p:nvSpPr>
          <p:spPr bwMode="auto">
            <a:xfrm rot="10800000" flipH="1" flipV="1">
              <a:off x="2301" y="1944"/>
              <a:ext cx="0" cy="539"/>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084454" name="Group 38"/>
          <p:cNvGrpSpPr>
            <a:grpSpLocks/>
          </p:cNvGrpSpPr>
          <p:nvPr/>
        </p:nvGrpSpPr>
        <p:grpSpPr bwMode="auto">
          <a:xfrm>
            <a:off x="4048125" y="2184400"/>
            <a:ext cx="1820863" cy="461963"/>
            <a:chOff x="2354" y="1465"/>
            <a:chExt cx="1059" cy="291"/>
          </a:xfrm>
        </p:grpSpPr>
        <p:sp>
          <p:nvSpPr>
            <p:cNvPr id="1631251" name="Text Box 13"/>
            <p:cNvSpPr txBox="1">
              <a:spLocks noChangeArrowheads="1"/>
            </p:cNvSpPr>
            <p:nvPr/>
          </p:nvSpPr>
          <p:spPr bwMode="auto">
            <a:xfrm flipH="1">
              <a:off x="2354" y="1465"/>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52" name="Line 21"/>
            <p:cNvSpPr>
              <a:spLocks noChangeShapeType="1"/>
            </p:cNvSpPr>
            <p:nvPr/>
          </p:nvSpPr>
          <p:spPr bwMode="auto">
            <a:xfrm rot="10800000" flipH="1">
              <a:off x="2444" y="1728"/>
              <a:ext cx="969" cy="0"/>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pic>
        <p:nvPicPr>
          <p:cNvPr id="1631253" name="Picture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868988" y="3657600"/>
            <a:ext cx="7302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39" name="Text Box 23"/>
          <p:cNvSpPr txBox="1">
            <a:spLocks noChangeArrowheads="1"/>
          </p:cNvSpPr>
          <p:nvPr/>
        </p:nvSpPr>
        <p:spPr bwMode="auto">
          <a:xfrm flipH="1">
            <a:off x="4505325" y="1912938"/>
            <a:ext cx="1108075"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chemeClr val="folHlink"/>
                </a:solidFill>
                <a:ea typeface="黑体" panose="02010609060101010101" pitchFamily="49" charset="-122"/>
              </a:rPr>
              <a:t>递归查询</a:t>
            </a:r>
          </a:p>
        </p:txBody>
      </p:sp>
      <p:sp>
        <p:nvSpPr>
          <p:cNvPr id="1084440" name="Text Box 24"/>
          <p:cNvSpPr txBox="1">
            <a:spLocks noChangeArrowheads="1"/>
          </p:cNvSpPr>
          <p:nvPr/>
        </p:nvSpPr>
        <p:spPr bwMode="auto">
          <a:xfrm flipH="1">
            <a:off x="3113088" y="4800600"/>
            <a:ext cx="64611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chemeClr val="folHlink"/>
                </a:solidFill>
                <a:ea typeface="黑体" panose="02010609060101010101" pitchFamily="49" charset="-122"/>
              </a:rPr>
              <a:t>递归</a:t>
            </a:r>
          </a:p>
          <a:p>
            <a:pPr algn="ctr">
              <a:lnSpc>
                <a:spcPct val="90000"/>
              </a:lnSpc>
            </a:pPr>
            <a:r>
              <a:rPr lang="zh-CN" altLang="en-US" b="1">
                <a:solidFill>
                  <a:schemeClr val="folHlink"/>
                </a:solidFill>
                <a:ea typeface="黑体" panose="02010609060101010101" pitchFamily="49" charset="-122"/>
              </a:rPr>
              <a:t>查询</a:t>
            </a:r>
          </a:p>
        </p:txBody>
      </p:sp>
      <p:grpSp>
        <p:nvGrpSpPr>
          <p:cNvPr id="1084452" name="Group 36"/>
          <p:cNvGrpSpPr>
            <a:grpSpLocks/>
          </p:cNvGrpSpPr>
          <p:nvPr/>
        </p:nvGrpSpPr>
        <p:grpSpPr bwMode="auto">
          <a:xfrm>
            <a:off x="3367088" y="4792663"/>
            <a:ext cx="458787" cy="957262"/>
            <a:chOff x="1958" y="3108"/>
            <a:chExt cx="267" cy="603"/>
          </a:xfrm>
        </p:grpSpPr>
        <p:sp>
          <p:nvSpPr>
            <p:cNvPr id="1631257" name="Text Box 25"/>
            <p:cNvSpPr txBox="1">
              <a:spLocks noChangeArrowheads="1"/>
            </p:cNvSpPr>
            <p:nvPr/>
          </p:nvSpPr>
          <p:spPr bwMode="auto">
            <a:xfrm flipH="1">
              <a:off x="1958" y="3420"/>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58" name="Line 27"/>
            <p:cNvSpPr>
              <a:spLocks noChangeShapeType="1"/>
            </p:cNvSpPr>
            <p:nvPr/>
          </p:nvSpPr>
          <p:spPr bwMode="auto">
            <a:xfrm rot="10800000" flipH="1">
              <a:off x="2209" y="3108"/>
              <a:ext cx="0" cy="539"/>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084459" name="Group 43"/>
          <p:cNvGrpSpPr>
            <a:grpSpLocks/>
          </p:cNvGrpSpPr>
          <p:nvPr/>
        </p:nvGrpSpPr>
        <p:grpSpPr bwMode="auto">
          <a:xfrm>
            <a:off x="3895725" y="4703763"/>
            <a:ext cx="2624138" cy="944562"/>
            <a:chOff x="2265" y="3052"/>
            <a:chExt cx="1526" cy="595"/>
          </a:xfrm>
        </p:grpSpPr>
        <p:sp>
          <p:nvSpPr>
            <p:cNvPr id="1631260" name="Text Box 5"/>
            <p:cNvSpPr txBox="1">
              <a:spLocks noChangeArrowheads="1"/>
            </p:cNvSpPr>
            <p:nvPr/>
          </p:nvSpPr>
          <p:spPr bwMode="auto">
            <a:xfrm flipH="1">
              <a:off x="2339" y="3327"/>
              <a:ext cx="143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b="1">
                  <a:solidFill>
                    <a:schemeClr val="folHlink"/>
                  </a:solidFill>
                  <a:ea typeface="黑体" panose="02010609060101010101" pitchFamily="49" charset="-122"/>
                </a:rPr>
                <a:t> y.abc.com</a:t>
              </a:r>
              <a:r>
                <a:rPr lang="en-US" altLang="zh-CN" sz="900" b="1">
                  <a:solidFill>
                    <a:schemeClr val="folHlink"/>
                  </a:solidFill>
                  <a:ea typeface="黑体" panose="02010609060101010101" pitchFamily="49" charset="-122"/>
                </a:rPr>
                <a:t> </a:t>
              </a:r>
              <a:r>
                <a:rPr lang="zh-CN" altLang="en-US" b="1">
                  <a:solidFill>
                    <a:schemeClr val="folHlink"/>
                  </a:solidFill>
                  <a:ea typeface="黑体" panose="02010609060101010101" pitchFamily="49" charset="-122"/>
                </a:rPr>
                <a:t>的</a:t>
              </a:r>
              <a:r>
                <a:rPr lang="zh-CN" altLang="en-US" sz="1400" b="1">
                  <a:solidFill>
                    <a:schemeClr val="folHlink"/>
                  </a:solidFill>
                  <a:ea typeface="黑体" panose="02010609060101010101" pitchFamily="49" charset="-122"/>
                </a:rPr>
                <a:t> </a:t>
              </a:r>
              <a:r>
                <a:rPr lang="en-US" altLang="zh-CN" b="1">
                  <a:solidFill>
                    <a:schemeClr val="folHlink"/>
                  </a:solidFill>
                  <a:ea typeface="黑体" panose="02010609060101010101" pitchFamily="49" charset="-122"/>
                </a:rPr>
                <a:t>IP</a:t>
              </a:r>
              <a:r>
                <a:rPr lang="en-US" altLang="zh-CN" sz="1400" b="1">
                  <a:solidFill>
                    <a:schemeClr val="folHlink"/>
                  </a:solidFill>
                  <a:ea typeface="黑体" panose="02010609060101010101" pitchFamily="49" charset="-122"/>
                </a:rPr>
                <a:t> </a:t>
              </a:r>
              <a:r>
                <a:rPr lang="zh-CN" altLang="en-US" b="1">
                  <a:solidFill>
                    <a:schemeClr val="folHlink"/>
                  </a:solidFill>
                  <a:ea typeface="黑体" panose="02010609060101010101" pitchFamily="49" charset="-122"/>
                </a:rPr>
                <a:t>地址 </a:t>
              </a:r>
            </a:p>
          </p:txBody>
        </p:sp>
        <p:sp>
          <p:nvSpPr>
            <p:cNvPr id="1631261" name="Text Box 26"/>
            <p:cNvSpPr txBox="1">
              <a:spLocks noChangeArrowheads="1"/>
            </p:cNvSpPr>
            <p:nvPr/>
          </p:nvSpPr>
          <p:spPr bwMode="auto">
            <a:xfrm flipH="1">
              <a:off x="2265" y="3052"/>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62" name="Line 28"/>
            <p:cNvSpPr>
              <a:spLocks noChangeShapeType="1"/>
            </p:cNvSpPr>
            <p:nvPr/>
          </p:nvSpPr>
          <p:spPr bwMode="auto">
            <a:xfrm rot="10800000" flipH="1" flipV="1">
              <a:off x="2301" y="3108"/>
              <a:ext cx="0" cy="539"/>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631263" name="Rectangle 29"/>
            <p:cNvSpPr>
              <a:spLocks noChangeArrowheads="1"/>
            </p:cNvSpPr>
            <p:nvPr/>
          </p:nvSpPr>
          <p:spPr bwMode="auto">
            <a:xfrm>
              <a:off x="2393" y="3321"/>
              <a:ext cx="1398" cy="2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grpSp>
      <p:grpSp>
        <p:nvGrpSpPr>
          <p:cNvPr id="1084457" name="Group 41"/>
          <p:cNvGrpSpPr>
            <a:grpSpLocks/>
          </p:cNvGrpSpPr>
          <p:nvPr/>
        </p:nvGrpSpPr>
        <p:grpSpPr bwMode="auto">
          <a:xfrm>
            <a:off x="4203700" y="2686050"/>
            <a:ext cx="1785938" cy="461963"/>
            <a:chOff x="2444" y="1781"/>
            <a:chExt cx="1039" cy="291"/>
          </a:xfrm>
        </p:grpSpPr>
        <p:sp>
          <p:nvSpPr>
            <p:cNvPr id="1631265" name="Text Box 12"/>
            <p:cNvSpPr txBox="1">
              <a:spLocks noChangeArrowheads="1"/>
            </p:cNvSpPr>
            <p:nvPr/>
          </p:nvSpPr>
          <p:spPr bwMode="auto">
            <a:xfrm flipH="1">
              <a:off x="3216" y="1781"/>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66" name="Line 30"/>
            <p:cNvSpPr>
              <a:spLocks noChangeShapeType="1"/>
            </p:cNvSpPr>
            <p:nvPr/>
          </p:nvSpPr>
          <p:spPr bwMode="auto">
            <a:xfrm rot="10800000">
              <a:off x="2444" y="1836"/>
              <a:ext cx="969" cy="0"/>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084456" name="Group 40"/>
          <p:cNvGrpSpPr>
            <a:grpSpLocks/>
          </p:cNvGrpSpPr>
          <p:nvPr/>
        </p:nvGrpSpPr>
        <p:grpSpPr bwMode="auto">
          <a:xfrm>
            <a:off x="5708650" y="2867025"/>
            <a:ext cx="458788" cy="954088"/>
            <a:chOff x="3319" y="1895"/>
            <a:chExt cx="267" cy="601"/>
          </a:xfrm>
        </p:grpSpPr>
        <p:sp>
          <p:nvSpPr>
            <p:cNvPr id="1631268" name="Text Box 31"/>
            <p:cNvSpPr txBox="1">
              <a:spLocks noChangeArrowheads="1"/>
            </p:cNvSpPr>
            <p:nvPr/>
          </p:nvSpPr>
          <p:spPr bwMode="auto">
            <a:xfrm flipH="1">
              <a:off x="3319" y="2205"/>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69" name="Line 33"/>
            <p:cNvSpPr>
              <a:spLocks noChangeShapeType="1"/>
            </p:cNvSpPr>
            <p:nvPr/>
          </p:nvSpPr>
          <p:spPr bwMode="auto">
            <a:xfrm rot="10800000" flipH="1">
              <a:off x="3586" y="1895"/>
              <a:ext cx="0" cy="539"/>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084455" name="Group 39"/>
          <p:cNvGrpSpPr>
            <a:grpSpLocks/>
          </p:cNvGrpSpPr>
          <p:nvPr/>
        </p:nvGrpSpPr>
        <p:grpSpPr bwMode="auto">
          <a:xfrm>
            <a:off x="6245225" y="2800350"/>
            <a:ext cx="458788" cy="922338"/>
            <a:chOff x="3631" y="1853"/>
            <a:chExt cx="267" cy="581"/>
          </a:xfrm>
        </p:grpSpPr>
        <p:sp>
          <p:nvSpPr>
            <p:cNvPr id="1631271" name="Text Box 32"/>
            <p:cNvSpPr txBox="1">
              <a:spLocks noChangeArrowheads="1"/>
            </p:cNvSpPr>
            <p:nvPr/>
          </p:nvSpPr>
          <p:spPr bwMode="auto">
            <a:xfrm flipH="1">
              <a:off x="3631" y="1853"/>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chemeClr val="folHlink"/>
                  </a:solidFill>
                  <a:ea typeface="黑体" panose="02010609060101010101" pitchFamily="49" charset="-122"/>
                  <a:sym typeface="Wingdings" panose="05000000000000000000" pitchFamily="2" charset="2"/>
                </a:rPr>
                <a:t></a:t>
              </a:r>
            </a:p>
          </p:txBody>
        </p:sp>
        <p:sp>
          <p:nvSpPr>
            <p:cNvPr id="1631272" name="Line 34"/>
            <p:cNvSpPr>
              <a:spLocks noChangeShapeType="1"/>
            </p:cNvSpPr>
            <p:nvPr/>
          </p:nvSpPr>
          <p:spPr bwMode="auto">
            <a:xfrm rot="10800000" flipH="1" flipV="1">
              <a:off x="3677" y="1895"/>
              <a:ext cx="0" cy="539"/>
            </a:xfrm>
            <a:prstGeom prst="line">
              <a:avLst/>
            </a:prstGeom>
            <a:noFill/>
            <a:ln w="38100">
              <a:solidFill>
                <a:schemeClr val="folHlink"/>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sp>
        <p:nvSpPr>
          <p:cNvPr id="1631273" name="Text Box 44"/>
          <p:cNvSpPr txBox="1">
            <a:spLocks noChangeArrowheads="1"/>
          </p:cNvSpPr>
          <p:nvPr/>
        </p:nvSpPr>
        <p:spPr bwMode="auto">
          <a:xfrm flipH="1">
            <a:off x="3940175" y="5808663"/>
            <a:ext cx="3821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80000"/>
              </a:lnSpc>
            </a:pPr>
            <a:r>
              <a:rPr lang="zh-CN" altLang="en-US" b="1">
                <a:solidFill>
                  <a:schemeClr val="folHlink"/>
                </a:solidFill>
                <a:ea typeface="黑体" panose="02010609060101010101" pitchFamily="49" charset="-122"/>
              </a:rPr>
              <a:t>需要查找 </a:t>
            </a:r>
            <a:r>
              <a:rPr lang="en-US" altLang="zh-CN" b="1">
                <a:solidFill>
                  <a:schemeClr val="folHlink"/>
                </a:solidFill>
                <a:ea typeface="黑体" panose="02010609060101010101" pitchFamily="49" charset="-122"/>
              </a:rPr>
              <a:t>y.abc.com </a:t>
            </a:r>
            <a:r>
              <a:rPr lang="zh-CN" altLang="en-US" b="1">
                <a:solidFill>
                  <a:schemeClr val="folHlink"/>
                </a:solidFill>
                <a:ea typeface="黑体" panose="02010609060101010101" pitchFamily="49" charset="-122"/>
              </a:rPr>
              <a:t>的 </a:t>
            </a:r>
            <a:r>
              <a:rPr lang="en-US" altLang="zh-CN" b="1">
                <a:solidFill>
                  <a:schemeClr val="folHlink"/>
                </a:solidFill>
                <a:ea typeface="黑体" panose="02010609060101010101" pitchFamily="49" charset="-122"/>
              </a:rPr>
              <a:t>IP </a:t>
            </a:r>
            <a:r>
              <a:rPr lang="zh-CN" altLang="en-US" b="1">
                <a:solidFill>
                  <a:schemeClr val="folHlink"/>
                </a:solidFill>
                <a:ea typeface="黑体" panose="02010609060101010101" pitchFamily="49" charset="-122"/>
              </a:rPr>
              <a:t>地址</a:t>
            </a:r>
          </a:p>
        </p:txBody>
      </p:sp>
      <p:sp>
        <p:nvSpPr>
          <p:cNvPr id="163127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9C1023-90DB-4F9E-BF89-B854454F92C2}" type="slidenum">
              <a:rPr lang="zh-CN" altLang="en-US" smtClean="0"/>
              <a:pPr eaLnBrk="1" hangingPunct="1"/>
              <a:t>25</a:t>
            </a:fld>
            <a:endParaRPr lang="en-US" altLang="zh-CN" smtClean="0"/>
          </a:p>
        </p:txBody>
      </p:sp>
      <p:sp>
        <p:nvSpPr>
          <p:cNvPr id="163127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nodeType="afterGroup">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nodeType="afterGroup">
                            <p:stCondLst>
                              <p:cond delay="1501"/>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nodeType="afterGroup">
                            <p:stCondLst>
                              <p:cond delay="3001"/>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nodeType="afterGroup">
                            <p:stCondLst>
                              <p:cond delay="3502"/>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nodeType="afterGroup">
                            <p:stCondLst>
                              <p:cond delay="5002"/>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nodeType="afterGroup">
                            <p:stCondLst>
                              <p:cond delay="6502"/>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nodeType="afterGroup">
                            <p:stCondLst>
                              <p:cond delay="8002"/>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nodeType="afterGroup">
                            <p:stCondLst>
                              <p:cond delay="9502"/>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childTnLst>
                          </p:cTn>
                        </p:par>
                        <p:par>
                          <p:cTn id="38" fill="hold" nodeType="afterGroup">
                            <p:stCondLst>
                              <p:cond delay="10502"/>
                            </p:stCondLst>
                            <p:childTnLst>
                              <p:par>
                                <p:cTn id="39" presetID="22" presetClass="entr" presetSubtype="1" fill="hold" nodeType="afterEffect">
                                  <p:stCondLst>
                                    <p:cond delay="500"/>
                                  </p:stCondLst>
                                  <p:childTnLst>
                                    <p:set>
                                      <p:cBhvr>
                                        <p:cTn id="40" dur="1" fill="hold">
                                          <p:stCondLst>
                                            <p:cond delay="0"/>
                                          </p:stCondLst>
                                        </p:cTn>
                                        <p:tgtEl>
                                          <p:spTgt spid="1084459"/>
                                        </p:tgtEl>
                                        <p:attrNameLst>
                                          <p:attrName>style.visibility</p:attrName>
                                        </p:attrNameLst>
                                      </p:cBhvr>
                                      <p:to>
                                        <p:strVal val="visible"/>
                                      </p:to>
                                    </p:set>
                                    <p:animEffect transition="in" filter="wipe(up)">
                                      <p:cBhvr>
                                        <p:cTn id="41" dur="1000"/>
                                        <p:tgtEl>
                                          <p:spTgt spid="108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22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名字的高速缓存 </a:t>
            </a:r>
          </a:p>
        </p:txBody>
      </p:sp>
      <p:sp>
        <p:nvSpPr>
          <p:cNvPr id="1632258"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每个域名服务器都维护一个高速缓存，</a:t>
            </a:r>
            <a:r>
              <a:rPr lang="zh-CN" altLang="en-US" sz="2800" dirty="0" smtClean="0">
                <a:ea typeface="黑体" panose="02010609060101010101" pitchFamily="49" charset="-122"/>
              </a:rPr>
              <a:t>存放最近用过的名字以及从何处获得名字映射信息的记录。</a:t>
            </a:r>
          </a:p>
          <a:p>
            <a:r>
              <a:rPr lang="zh-CN" altLang="en-US" sz="2800" dirty="0" smtClean="0">
                <a:ea typeface="黑体" panose="02010609060101010101" pitchFamily="49" charset="-122"/>
              </a:rPr>
              <a:t>可大大</a:t>
            </a:r>
            <a:r>
              <a:rPr lang="zh-CN" altLang="en-US" sz="2800" dirty="0" smtClean="0">
                <a:solidFill>
                  <a:srgbClr val="0000FF"/>
                </a:solidFill>
                <a:ea typeface="黑体" panose="02010609060101010101" pitchFamily="49" charset="-122"/>
              </a:rPr>
              <a:t>减轻根域名服务器的负荷</a:t>
            </a:r>
            <a:r>
              <a:rPr lang="zh-CN" altLang="en-US" sz="2800" dirty="0" smtClean="0">
                <a:ea typeface="黑体" panose="02010609060101010101" pitchFamily="49" charset="-122"/>
              </a:rPr>
              <a:t>，使互联网上的 </a:t>
            </a:r>
            <a:r>
              <a:rPr lang="en-US" altLang="zh-CN" sz="2800" dirty="0" smtClean="0">
                <a:ea typeface="黑体" panose="02010609060101010101" pitchFamily="49" charset="-122"/>
              </a:rPr>
              <a:t>DNS </a:t>
            </a:r>
            <a:r>
              <a:rPr lang="zh-CN" altLang="en-US" sz="2800" dirty="0" smtClean="0">
                <a:ea typeface="黑体" panose="02010609060101010101" pitchFamily="49" charset="-122"/>
              </a:rPr>
              <a:t>查询请求和回答报文的数量大为减少。 </a:t>
            </a:r>
          </a:p>
          <a:p>
            <a:r>
              <a:rPr lang="zh-CN" altLang="en-US" sz="2800" dirty="0" smtClean="0">
                <a:ea typeface="黑体" panose="02010609060101010101" pitchFamily="49" charset="-122"/>
              </a:rPr>
              <a:t>为保持高速缓存中的内容正确，域名服务器应为</a:t>
            </a:r>
            <a:r>
              <a:rPr lang="zh-CN" altLang="en-US" sz="2800" dirty="0" smtClean="0">
                <a:solidFill>
                  <a:srgbClr val="0000FF"/>
                </a:solidFill>
                <a:ea typeface="黑体" panose="02010609060101010101" pitchFamily="49" charset="-122"/>
              </a:rPr>
              <a:t>每项内容设置计时器</a:t>
            </a:r>
            <a:r>
              <a:rPr lang="zh-CN" altLang="en-US" sz="2800" dirty="0" smtClean="0">
                <a:ea typeface="黑体" panose="02010609060101010101" pitchFamily="49" charset="-122"/>
              </a:rPr>
              <a:t>，并</a:t>
            </a:r>
            <a:r>
              <a:rPr lang="zh-CN" altLang="en-US" sz="2800" dirty="0" smtClean="0">
                <a:solidFill>
                  <a:srgbClr val="0000FF"/>
                </a:solidFill>
                <a:ea typeface="黑体" panose="02010609060101010101" pitchFamily="49" charset="-122"/>
              </a:rPr>
              <a:t>处理超过合理时间的项</a:t>
            </a:r>
            <a:r>
              <a:rPr lang="zh-CN" altLang="en-US" sz="2800" dirty="0" smtClean="0">
                <a:ea typeface="黑体" panose="02010609060101010101" pitchFamily="49" charset="-122"/>
              </a:rPr>
              <a:t>（例如，每个项目只存放两天）。</a:t>
            </a:r>
          </a:p>
          <a:p>
            <a:r>
              <a:rPr lang="zh-CN" altLang="en-US" sz="2800" dirty="0" smtClean="0">
                <a:ea typeface="黑体" panose="02010609060101010101" pitchFamily="49" charset="-122"/>
              </a:rPr>
              <a:t>当权限域名服务器</a:t>
            </a:r>
            <a:r>
              <a:rPr lang="zh-CN" altLang="en-US" sz="2800" dirty="0" smtClean="0">
                <a:solidFill>
                  <a:srgbClr val="0000FF"/>
                </a:solidFill>
                <a:ea typeface="黑体" panose="02010609060101010101" pitchFamily="49" charset="-122"/>
              </a:rPr>
              <a:t>回答</a:t>
            </a:r>
            <a:r>
              <a:rPr lang="zh-CN" altLang="en-US" sz="2800" dirty="0" smtClean="0">
                <a:ea typeface="黑体" panose="02010609060101010101" pitchFamily="49" charset="-122"/>
              </a:rPr>
              <a:t>一个查询请求</a:t>
            </a:r>
            <a:r>
              <a:rPr lang="zh-CN" altLang="en-US" sz="2800" dirty="0" smtClean="0">
                <a:solidFill>
                  <a:srgbClr val="0000FF"/>
                </a:solidFill>
                <a:ea typeface="黑体" panose="02010609060101010101" pitchFamily="49" charset="-122"/>
              </a:rPr>
              <a:t>时</a:t>
            </a:r>
            <a:r>
              <a:rPr lang="zh-CN" altLang="en-US" sz="2800" dirty="0" smtClean="0">
                <a:ea typeface="黑体" panose="02010609060101010101" pitchFamily="49" charset="-122"/>
              </a:rPr>
              <a:t>，在响应中都指明绑定</a:t>
            </a:r>
            <a:r>
              <a:rPr lang="zh-CN" altLang="en-US" sz="2800" dirty="0" smtClean="0">
                <a:solidFill>
                  <a:srgbClr val="0000FF"/>
                </a:solidFill>
                <a:ea typeface="黑体" panose="02010609060101010101" pitchFamily="49" charset="-122"/>
              </a:rPr>
              <a:t>有效</a:t>
            </a:r>
            <a:r>
              <a:rPr lang="zh-CN" altLang="en-US" sz="2800" dirty="0" smtClean="0">
                <a:ea typeface="黑体" panose="02010609060101010101" pitchFamily="49" charset="-122"/>
              </a:rPr>
              <a:t>存在的</a:t>
            </a:r>
            <a:r>
              <a:rPr lang="zh-CN" altLang="en-US" sz="2800" dirty="0" smtClean="0">
                <a:solidFill>
                  <a:srgbClr val="0000FF"/>
                </a:solidFill>
                <a:ea typeface="黑体" panose="02010609060101010101" pitchFamily="49" charset="-122"/>
              </a:rPr>
              <a:t>时间值</a:t>
            </a:r>
            <a:r>
              <a:rPr lang="zh-CN" altLang="en-US" sz="2800" dirty="0" smtClean="0">
                <a:ea typeface="黑体" panose="02010609060101010101" pitchFamily="49" charset="-122"/>
              </a:rPr>
              <a:t>。增加此时间值可减少网络开销，而减少此时间值可提高域名转换的准确性。 </a:t>
            </a:r>
          </a:p>
        </p:txBody>
      </p:sp>
      <p:sp>
        <p:nvSpPr>
          <p:cNvPr id="1632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150FD0-EFD0-4963-AD1B-33A8D5C2427A}" type="slidenum">
              <a:rPr lang="zh-CN" altLang="en-US" smtClean="0"/>
              <a:pPr eaLnBrk="1" hangingPunct="1"/>
              <a:t>26</a:t>
            </a:fld>
            <a:endParaRPr lang="en-US" altLang="zh-CN" smtClean="0"/>
          </a:p>
        </p:txBody>
      </p:sp>
      <p:sp>
        <p:nvSpPr>
          <p:cNvPr id="1632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3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6.2  </a:t>
            </a:r>
            <a:r>
              <a:rPr lang="zh-CN" altLang="en-US" smtClean="0">
                <a:ea typeface="黑体" panose="02010609060101010101" pitchFamily="49" charset="-122"/>
              </a:rPr>
              <a:t>文件传送协议</a:t>
            </a:r>
          </a:p>
        </p:txBody>
      </p:sp>
      <p:sp>
        <p:nvSpPr>
          <p:cNvPr id="163430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6.2.1  FTP </a:t>
            </a:r>
            <a:r>
              <a:rPr lang="zh-CN" altLang="en-US" smtClean="0">
                <a:ea typeface="黑体" panose="02010609060101010101" pitchFamily="49" charset="-122"/>
              </a:rPr>
              <a:t>概述</a:t>
            </a:r>
            <a:endParaRPr lang="en-US" altLang="zh-CN" smtClean="0">
              <a:ea typeface="黑体" panose="02010609060101010101" pitchFamily="49" charset="-122"/>
            </a:endParaRPr>
          </a:p>
          <a:p>
            <a:r>
              <a:rPr lang="en-US" altLang="zh-CN" smtClean="0">
                <a:ea typeface="黑体" panose="02010609060101010101" pitchFamily="49" charset="-122"/>
              </a:rPr>
              <a:t>6.2.2  FTP </a:t>
            </a:r>
            <a:r>
              <a:rPr lang="zh-CN" altLang="en-US" smtClean="0">
                <a:ea typeface="黑体" panose="02010609060101010101" pitchFamily="49" charset="-122"/>
              </a:rPr>
              <a:t>的基本工作原理</a:t>
            </a:r>
            <a:endParaRPr lang="en-US" altLang="zh-CN" smtClean="0">
              <a:ea typeface="黑体" panose="02010609060101010101" pitchFamily="49" charset="-122"/>
            </a:endParaRPr>
          </a:p>
          <a:p>
            <a:r>
              <a:rPr lang="en-US" altLang="zh-CN" smtClean="0">
                <a:ea typeface="黑体" panose="02010609060101010101" pitchFamily="49" charset="-122"/>
              </a:rPr>
              <a:t>6.2.3  </a:t>
            </a:r>
            <a:r>
              <a:rPr lang="zh-CN" altLang="en-US" smtClean="0">
                <a:ea typeface="黑体" panose="02010609060101010101" pitchFamily="49" charset="-122"/>
              </a:rPr>
              <a:t>简单文件传送协议 </a:t>
            </a:r>
            <a:r>
              <a:rPr lang="en-US" altLang="zh-CN" smtClean="0">
                <a:ea typeface="黑体" panose="02010609060101010101" pitchFamily="49" charset="-122"/>
              </a:rPr>
              <a:t>TFTP</a:t>
            </a:r>
            <a:endParaRPr lang="zh-CN" altLang="en-US" smtClean="0">
              <a:ea typeface="黑体" panose="02010609060101010101" pitchFamily="49" charset="-122"/>
            </a:endParaRPr>
          </a:p>
        </p:txBody>
      </p:sp>
      <p:sp>
        <p:nvSpPr>
          <p:cNvPr id="163430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031E03-8752-4D19-9554-0D9CC60AFB68}" type="slidenum">
              <a:rPr lang="zh-CN" altLang="en-US" smtClean="0"/>
              <a:pPr eaLnBrk="1" hangingPunct="1"/>
              <a:t>27</a:t>
            </a:fld>
            <a:endParaRPr lang="en-US" altLang="zh-CN" smtClean="0"/>
          </a:p>
        </p:txBody>
      </p:sp>
      <p:sp>
        <p:nvSpPr>
          <p:cNvPr id="163430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5329"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 </a:t>
            </a:r>
            <a:br>
              <a:rPr lang="zh-CN" altLang="en-US" smtClean="0">
                <a:ea typeface="黑体" panose="02010609060101010101" pitchFamily="49" charset="-122"/>
              </a:rPr>
            </a:br>
            <a:r>
              <a:rPr lang="en-US" altLang="zh-CN" smtClean="0">
                <a:ea typeface="黑体" panose="02010609060101010101" pitchFamily="49" charset="-122"/>
              </a:rPr>
              <a:t>6.2.1  FTP</a:t>
            </a:r>
            <a:r>
              <a:rPr lang="zh-CN" altLang="en-US" smtClean="0">
                <a:ea typeface="黑体" panose="02010609060101010101" pitchFamily="49" charset="-122"/>
              </a:rPr>
              <a:t>概述</a:t>
            </a:r>
          </a:p>
        </p:txBody>
      </p:sp>
      <p:sp>
        <p:nvSpPr>
          <p:cNvPr id="1635330"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文件传送协议</a:t>
            </a:r>
            <a:r>
              <a:rPr lang="zh-CN" altLang="en-US" u="sng" dirty="0" smtClean="0">
                <a:ea typeface="黑体" panose="02010609060101010101" pitchFamily="49" charset="-122"/>
              </a:rPr>
              <a:t> </a:t>
            </a:r>
            <a:r>
              <a:rPr lang="en-US" altLang="zh-CN" u="sng" dirty="0" smtClean="0">
                <a:ea typeface="黑体" panose="02010609060101010101" pitchFamily="49" charset="-122"/>
              </a:rPr>
              <a:t>FTP (File Transfer Protocol) </a:t>
            </a:r>
            <a:r>
              <a:rPr lang="zh-CN" altLang="en-US" dirty="0" smtClean="0">
                <a:ea typeface="黑体" panose="02010609060101010101" pitchFamily="49" charset="-122"/>
              </a:rPr>
              <a:t>是互联网上使用得最广泛的文件传送协议。</a:t>
            </a:r>
          </a:p>
          <a:p>
            <a:r>
              <a:rPr lang="en-US" altLang="zh-CN" dirty="0" smtClean="0">
                <a:ea typeface="黑体" panose="02010609060101010101" pitchFamily="49" charset="-122"/>
              </a:rPr>
              <a:t>FTP </a:t>
            </a:r>
            <a:r>
              <a:rPr lang="zh-CN" altLang="en-US" dirty="0" smtClean="0">
                <a:ea typeface="黑体" panose="02010609060101010101" pitchFamily="49" charset="-122"/>
              </a:rPr>
              <a:t>提供</a:t>
            </a:r>
            <a:r>
              <a:rPr lang="zh-CN" altLang="en-US" dirty="0" smtClean="0">
                <a:solidFill>
                  <a:srgbClr val="FF0000"/>
                </a:solidFill>
                <a:ea typeface="黑体" panose="02010609060101010101" pitchFamily="49" charset="-122"/>
              </a:rPr>
              <a:t>交互式</a:t>
            </a:r>
            <a:r>
              <a:rPr lang="zh-CN" altLang="en-US" dirty="0" smtClean="0">
                <a:ea typeface="黑体" panose="02010609060101010101" pitchFamily="49" charset="-122"/>
              </a:rPr>
              <a:t>的访问，允许客户指明文件的类型与格式，并允许文件具有存取权限。</a:t>
            </a:r>
          </a:p>
          <a:p>
            <a:r>
              <a:rPr lang="en-US" altLang="zh-CN" dirty="0" smtClean="0">
                <a:ea typeface="黑体" panose="02010609060101010101" pitchFamily="49" charset="-122"/>
              </a:rPr>
              <a:t>FTP </a:t>
            </a:r>
            <a:r>
              <a:rPr lang="zh-CN" altLang="en-US" dirty="0" smtClean="0">
                <a:ea typeface="黑体" panose="02010609060101010101" pitchFamily="49" charset="-122"/>
              </a:rPr>
              <a:t>屏蔽了各计算机系统的细节，因而</a:t>
            </a:r>
            <a:r>
              <a:rPr lang="zh-CN" altLang="en-US" dirty="0" smtClean="0">
                <a:solidFill>
                  <a:srgbClr val="0000FF"/>
                </a:solidFill>
                <a:ea typeface="黑体" panose="02010609060101010101" pitchFamily="49" charset="-122"/>
              </a:rPr>
              <a:t>适合于在异构网络中任意计算机之间传送文件</a:t>
            </a:r>
            <a:r>
              <a:rPr lang="zh-CN" altLang="en-US" dirty="0" smtClean="0">
                <a:ea typeface="黑体" panose="02010609060101010101" pitchFamily="49" charset="-122"/>
              </a:rPr>
              <a:t>。</a:t>
            </a:r>
          </a:p>
          <a:p>
            <a:r>
              <a:rPr lang="en-US" altLang="zh-CN" dirty="0" smtClean="0">
                <a:ea typeface="黑体" panose="02010609060101010101" pitchFamily="49" charset="-122"/>
              </a:rPr>
              <a:t>RFC 959 </a:t>
            </a:r>
            <a:r>
              <a:rPr lang="zh-CN" altLang="en-US" dirty="0" smtClean="0">
                <a:ea typeface="黑体" panose="02010609060101010101" pitchFamily="49" charset="-122"/>
              </a:rPr>
              <a:t>很早就成为了互联网的正式标准。 </a:t>
            </a:r>
          </a:p>
        </p:txBody>
      </p:sp>
      <p:sp>
        <p:nvSpPr>
          <p:cNvPr id="1635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A031FF-4839-4942-A826-DF3BEA7EA173}" type="slidenum">
              <a:rPr lang="zh-CN" altLang="en-US" smtClean="0"/>
              <a:pPr eaLnBrk="1" hangingPunct="1"/>
              <a:t>28</a:t>
            </a:fld>
            <a:endParaRPr lang="en-US" altLang="zh-CN" smtClean="0"/>
          </a:p>
        </p:txBody>
      </p:sp>
      <p:sp>
        <p:nvSpPr>
          <p:cNvPr id="1635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63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文件传送并非很简单的问题</a:t>
            </a:r>
          </a:p>
        </p:txBody>
      </p:sp>
      <p:sp>
        <p:nvSpPr>
          <p:cNvPr id="1089539"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网络环境中的一项</a:t>
            </a:r>
            <a:r>
              <a:rPr lang="zh-CN" altLang="en-US" dirty="0" smtClean="0">
                <a:solidFill>
                  <a:srgbClr val="0000FF"/>
                </a:solidFill>
                <a:ea typeface="黑体" panose="02010609060101010101" pitchFamily="49" charset="-122"/>
              </a:rPr>
              <a:t>基本应用</a:t>
            </a:r>
            <a:r>
              <a:rPr lang="zh-CN" altLang="en-US" dirty="0" smtClean="0">
                <a:ea typeface="黑体" panose="02010609060101010101" pitchFamily="49" charset="-122"/>
              </a:rPr>
              <a:t>就是将</a:t>
            </a:r>
            <a:r>
              <a:rPr lang="zh-CN" altLang="en-US" dirty="0" smtClean="0">
                <a:solidFill>
                  <a:srgbClr val="0000FF"/>
                </a:solidFill>
                <a:ea typeface="黑体" panose="02010609060101010101" pitchFamily="49" charset="-122"/>
              </a:rPr>
              <a:t>文件</a:t>
            </a:r>
            <a:r>
              <a:rPr lang="zh-CN" altLang="en-US" dirty="0" smtClean="0">
                <a:ea typeface="黑体" panose="02010609060101010101" pitchFamily="49" charset="-122"/>
              </a:rPr>
              <a:t>从一台计算机中</a:t>
            </a:r>
            <a:r>
              <a:rPr lang="zh-CN" altLang="en-US" dirty="0" smtClean="0">
                <a:solidFill>
                  <a:srgbClr val="0000FF"/>
                </a:solidFill>
                <a:ea typeface="黑体" panose="02010609060101010101" pitchFamily="49" charset="-122"/>
              </a:rPr>
              <a:t>复制</a:t>
            </a:r>
            <a:r>
              <a:rPr lang="zh-CN" altLang="en-US" dirty="0" smtClean="0">
                <a:ea typeface="黑体" panose="02010609060101010101" pitchFamily="49" charset="-122"/>
              </a:rPr>
              <a:t>到另一台可能相距很远的计算机中。</a:t>
            </a:r>
          </a:p>
          <a:p>
            <a:r>
              <a:rPr lang="zh-CN" altLang="en-US" dirty="0" smtClean="0">
                <a:ea typeface="黑体" panose="02010609060101010101" pitchFamily="49" charset="-122"/>
              </a:rPr>
              <a:t>初看起来，在两个主机之间传送文件是很简单的事情。</a:t>
            </a:r>
          </a:p>
          <a:p>
            <a:r>
              <a:rPr lang="zh-CN" altLang="en-US" dirty="0" smtClean="0">
                <a:solidFill>
                  <a:srgbClr val="0000FF"/>
                </a:solidFill>
                <a:ea typeface="黑体" panose="02010609060101010101" pitchFamily="49" charset="-122"/>
              </a:rPr>
              <a:t>其实这往往非常困难</a:t>
            </a:r>
            <a:r>
              <a:rPr lang="zh-CN" altLang="en-US" dirty="0" smtClean="0">
                <a:ea typeface="黑体" panose="02010609060101010101" pitchFamily="49" charset="-122"/>
              </a:rPr>
              <a:t>。原因是众多的计算机厂商研制出的文件系统多达数百种，且差别很大。 </a:t>
            </a:r>
          </a:p>
        </p:txBody>
      </p:sp>
      <p:sp>
        <p:nvSpPr>
          <p:cNvPr id="16363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EA64B9-B2CD-432A-A943-C6EC9CBED958}" type="slidenum">
              <a:rPr lang="zh-CN" altLang="en-US" smtClean="0"/>
              <a:pPr eaLnBrk="1" hangingPunct="1"/>
              <a:t>29</a:t>
            </a:fld>
            <a:endParaRPr lang="en-US" altLang="zh-CN" smtClean="0"/>
          </a:p>
        </p:txBody>
      </p:sp>
      <p:sp>
        <p:nvSpPr>
          <p:cNvPr id="16363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95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895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6.2.2  FTP </a:t>
            </a:r>
            <a:r>
              <a:rPr lang="zh-CN" altLang="en-US" smtClean="0">
                <a:ea typeface="黑体" panose="02010609060101010101" pitchFamily="49" charset="-122"/>
              </a:rPr>
              <a:t>的基本工作原理 </a:t>
            </a:r>
            <a:endParaRPr lang="zh-CN" altLang="en-US" sz="4000" smtClean="0">
              <a:ea typeface="黑体" panose="02010609060101010101" pitchFamily="49" charset="-122"/>
            </a:endParaRPr>
          </a:p>
        </p:txBody>
      </p:sp>
      <p:sp>
        <p:nvSpPr>
          <p:cNvPr id="1091587" name="Rectangle 3"/>
          <p:cNvSpPr>
            <a:spLocks noGrp="1" noChangeArrowheads="1"/>
          </p:cNvSpPr>
          <p:nvPr>
            <p:ph idx="1"/>
          </p:nvPr>
        </p:nvSpPr>
        <p:spPr>
          <a:xfrm>
            <a:off x="495300" y="1196975"/>
            <a:ext cx="9066213" cy="4933950"/>
          </a:xfrm>
        </p:spPr>
        <p:txBody>
          <a:bodyPr/>
          <a:lstStyle/>
          <a:p>
            <a:pPr marL="316230" indent="-316230">
              <a:spcBef>
                <a:spcPts val="555"/>
              </a:spcBef>
              <a:buFont typeface="Wingdings" panose="05000000000000000000" pitchFamily="2" charset="2"/>
              <a:buNone/>
              <a:defRPr/>
            </a:pPr>
            <a:r>
              <a:rPr lang="en-US" altLang="zh-CN" noProof="1"/>
              <a:t>	</a:t>
            </a:r>
            <a:r>
              <a:rPr lang="zh-CN" altLang="en-US" noProof="1"/>
              <a:t>网络环境下复制文件的复杂性：</a:t>
            </a:r>
            <a:endParaRPr lang="zh-CN" altLang="en-US" sz="3600" noProof="1"/>
          </a:p>
          <a:p>
            <a:pPr>
              <a:spcBef>
                <a:spcPts val="555"/>
              </a:spcBef>
              <a:defRPr/>
            </a:pPr>
            <a:r>
              <a:rPr lang="en-US" altLang="zh-CN" noProof="1"/>
              <a:t>(1) </a:t>
            </a:r>
            <a:r>
              <a:rPr lang="zh-CN" altLang="en-US" noProof="1"/>
              <a:t>计算机存储数据的格式不同。</a:t>
            </a:r>
          </a:p>
          <a:p>
            <a:pPr>
              <a:spcBef>
                <a:spcPts val="555"/>
              </a:spcBef>
              <a:defRPr/>
            </a:pPr>
            <a:r>
              <a:rPr lang="en-US" altLang="zh-CN" noProof="1"/>
              <a:t>(2) </a:t>
            </a:r>
            <a:r>
              <a:rPr lang="zh-CN" altLang="en-US" noProof="1"/>
              <a:t>文件的目录结构和文件命名的规定不同。</a:t>
            </a:r>
          </a:p>
          <a:p>
            <a:pPr>
              <a:spcBef>
                <a:spcPts val="555"/>
              </a:spcBef>
              <a:defRPr/>
            </a:pPr>
            <a:r>
              <a:rPr lang="en-US" altLang="zh-CN" noProof="1"/>
              <a:t>(3) </a:t>
            </a:r>
            <a:r>
              <a:rPr lang="zh-CN" altLang="en-US" noProof="1"/>
              <a:t>对于相同的文件存取功能，操作系统使用的命令不同。</a:t>
            </a:r>
          </a:p>
          <a:p>
            <a:pPr>
              <a:spcBef>
                <a:spcPts val="555"/>
              </a:spcBef>
              <a:defRPr/>
            </a:pPr>
            <a:r>
              <a:rPr lang="en-US" altLang="zh-CN" noProof="1"/>
              <a:t>(4) </a:t>
            </a:r>
            <a:r>
              <a:rPr lang="zh-CN" altLang="en-US" noProof="1"/>
              <a:t>访问控制方法不同。 </a:t>
            </a:r>
            <a:endParaRPr lang="zh-CN" altLang="en-US" sz="2800" noProof="1"/>
          </a:p>
        </p:txBody>
      </p:sp>
      <p:sp>
        <p:nvSpPr>
          <p:cNvPr id="16384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2EA695-8DB2-433F-B34E-1D0F4BF6855C}" type="slidenum">
              <a:rPr lang="zh-CN" altLang="en-US" smtClean="0"/>
              <a:pPr eaLnBrk="1" hangingPunct="1"/>
              <a:t>30</a:t>
            </a:fld>
            <a:endParaRPr lang="en-US" altLang="zh-CN" smtClean="0"/>
          </a:p>
        </p:txBody>
      </p:sp>
      <p:sp>
        <p:nvSpPr>
          <p:cNvPr id="16384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449"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FTP </a:t>
            </a:r>
            <a:r>
              <a:rPr lang="zh-CN" altLang="en-US" dirty="0" smtClean="0">
                <a:ea typeface="黑体" panose="02010609060101010101" pitchFamily="49" charset="-122"/>
              </a:rPr>
              <a:t>特点</a:t>
            </a:r>
          </a:p>
        </p:txBody>
      </p:sp>
      <p:sp>
        <p:nvSpPr>
          <p:cNvPr id="164045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文件传送协议 </a:t>
            </a:r>
            <a:r>
              <a:rPr lang="en-US" altLang="zh-CN" dirty="0" smtClean="0">
                <a:solidFill>
                  <a:srgbClr val="FF0000"/>
                </a:solidFill>
                <a:ea typeface="黑体" panose="02010609060101010101" pitchFamily="49" charset="-122"/>
              </a:rPr>
              <a:t>FTP </a:t>
            </a:r>
            <a:r>
              <a:rPr lang="zh-CN" altLang="en-US" dirty="0" smtClean="0">
                <a:solidFill>
                  <a:srgbClr val="FF0000"/>
                </a:solidFill>
                <a:ea typeface="黑体" panose="02010609060101010101" pitchFamily="49" charset="-122"/>
              </a:rPr>
              <a:t>只提供文件传送</a:t>
            </a:r>
            <a:r>
              <a:rPr lang="zh-CN" altLang="en-US" dirty="0" smtClean="0">
                <a:ea typeface="黑体" panose="02010609060101010101" pitchFamily="49" charset="-122"/>
              </a:rPr>
              <a:t>的一些</a:t>
            </a:r>
            <a:r>
              <a:rPr lang="zh-CN" altLang="en-US" dirty="0" smtClean="0">
                <a:solidFill>
                  <a:srgbClr val="FF0000"/>
                </a:solidFill>
                <a:ea typeface="黑体" panose="02010609060101010101" pitchFamily="49" charset="-122"/>
              </a:rPr>
              <a:t>基本的服务</a:t>
            </a:r>
            <a:r>
              <a:rPr lang="zh-CN" altLang="en-US" dirty="0" smtClean="0">
                <a:ea typeface="黑体" panose="02010609060101010101" pitchFamily="49" charset="-122"/>
              </a:rPr>
              <a:t>，它使用 </a:t>
            </a:r>
            <a:r>
              <a:rPr lang="en-US" altLang="zh-CN" dirty="0" smtClean="0">
                <a:solidFill>
                  <a:srgbClr val="FF0000"/>
                </a:solidFill>
                <a:ea typeface="黑体" panose="02010609060101010101" pitchFamily="49" charset="-122"/>
              </a:rPr>
              <a:t>TCP </a:t>
            </a:r>
            <a:r>
              <a:rPr lang="zh-CN" altLang="en-US" dirty="0" smtClean="0">
                <a:ea typeface="黑体" panose="02010609060101010101" pitchFamily="49" charset="-122"/>
              </a:rPr>
              <a:t>可靠的运输服务。</a:t>
            </a:r>
          </a:p>
          <a:p>
            <a:r>
              <a:rPr lang="en-US" altLang="zh-CN" dirty="0" smtClean="0">
                <a:ea typeface="黑体" panose="02010609060101010101" pitchFamily="49" charset="-122"/>
              </a:rPr>
              <a:t>FTP </a:t>
            </a:r>
            <a:r>
              <a:rPr lang="zh-CN" altLang="en-US" dirty="0" smtClean="0">
                <a:ea typeface="黑体" panose="02010609060101010101" pitchFamily="49" charset="-122"/>
              </a:rPr>
              <a:t>的主要功能是</a:t>
            </a:r>
            <a:r>
              <a:rPr lang="zh-CN" altLang="en-US" dirty="0" smtClean="0">
                <a:solidFill>
                  <a:srgbClr val="0000FF"/>
                </a:solidFill>
                <a:ea typeface="黑体" panose="02010609060101010101" pitchFamily="49" charset="-122"/>
              </a:rPr>
              <a:t>减少或消除在不同操作系统下处理文件的不兼容性</a:t>
            </a:r>
            <a:r>
              <a:rPr lang="zh-CN" altLang="en-US" dirty="0" smtClean="0">
                <a:ea typeface="黑体" panose="02010609060101010101" pitchFamily="49" charset="-122"/>
              </a:rPr>
              <a:t>。</a:t>
            </a:r>
          </a:p>
          <a:p>
            <a:r>
              <a:rPr lang="en-US" altLang="zh-CN" dirty="0" smtClean="0">
                <a:ea typeface="黑体" panose="02010609060101010101" pitchFamily="49" charset="-122"/>
              </a:rPr>
              <a:t>FTP </a:t>
            </a:r>
            <a:r>
              <a:rPr lang="zh-CN" altLang="en-US" dirty="0" smtClean="0">
                <a:ea typeface="黑体" panose="02010609060101010101" pitchFamily="49" charset="-122"/>
              </a:rPr>
              <a:t>使用</a:t>
            </a:r>
            <a:r>
              <a:rPr lang="zh-CN" altLang="en-US" dirty="0" smtClean="0">
                <a:solidFill>
                  <a:srgbClr val="FF0000"/>
                </a:solidFill>
                <a:ea typeface="黑体" panose="02010609060101010101" pitchFamily="49" charset="-122"/>
              </a:rPr>
              <a:t>客户服务器方式。</a:t>
            </a:r>
            <a:r>
              <a:rPr lang="zh-CN" altLang="en-US" dirty="0" smtClean="0">
                <a:ea typeface="黑体" panose="02010609060101010101" pitchFamily="49" charset="-122"/>
              </a:rPr>
              <a:t>一个 </a:t>
            </a:r>
            <a:r>
              <a:rPr lang="en-US" altLang="zh-CN" dirty="0" smtClean="0">
                <a:ea typeface="黑体" panose="02010609060101010101" pitchFamily="49" charset="-122"/>
              </a:rPr>
              <a:t>FTP </a:t>
            </a:r>
            <a:r>
              <a:rPr lang="zh-CN" altLang="en-US" dirty="0" smtClean="0">
                <a:ea typeface="黑体" panose="02010609060101010101" pitchFamily="49" charset="-122"/>
              </a:rPr>
              <a:t>服务器进程可同时为多个客户进程提供服务。</a:t>
            </a:r>
            <a:r>
              <a:rPr lang="en-US" altLang="zh-CN" dirty="0" smtClean="0">
                <a:ea typeface="黑体" panose="02010609060101010101" pitchFamily="49" charset="-122"/>
              </a:rPr>
              <a:t>FTP </a:t>
            </a:r>
            <a:r>
              <a:rPr lang="zh-CN" altLang="en-US" dirty="0" smtClean="0">
                <a:ea typeface="黑体" panose="02010609060101010101" pitchFamily="49" charset="-122"/>
              </a:rPr>
              <a:t>的服务器进程由两大部分组成：</a:t>
            </a:r>
            <a:r>
              <a:rPr lang="zh-CN" altLang="en-US" dirty="0" smtClean="0">
                <a:solidFill>
                  <a:srgbClr val="0000FF"/>
                </a:solidFill>
                <a:ea typeface="黑体" panose="02010609060101010101" pitchFamily="49" charset="-122"/>
              </a:rPr>
              <a:t>一个主进程</a:t>
            </a:r>
            <a:r>
              <a:rPr lang="zh-CN" altLang="en-US" dirty="0" smtClean="0">
                <a:ea typeface="黑体" panose="02010609060101010101" pitchFamily="49" charset="-122"/>
              </a:rPr>
              <a:t>，负责接受新的请求；另外有</a:t>
            </a:r>
            <a:r>
              <a:rPr lang="zh-CN" altLang="en-US" dirty="0" smtClean="0">
                <a:solidFill>
                  <a:srgbClr val="0000FF"/>
                </a:solidFill>
                <a:ea typeface="黑体" panose="02010609060101010101" pitchFamily="49" charset="-122"/>
              </a:rPr>
              <a:t>若干个从属进程</a:t>
            </a:r>
            <a:r>
              <a:rPr lang="zh-CN" altLang="en-US" dirty="0" smtClean="0">
                <a:ea typeface="黑体" panose="02010609060101010101" pitchFamily="49" charset="-122"/>
              </a:rPr>
              <a:t>，负责处理单个请求。</a:t>
            </a:r>
          </a:p>
        </p:txBody>
      </p:sp>
      <p:sp>
        <p:nvSpPr>
          <p:cNvPr id="16404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249C75-C10D-42D5-9883-A4A6BD584EB8}" type="slidenum">
              <a:rPr lang="zh-CN" altLang="en-US" smtClean="0"/>
              <a:pPr eaLnBrk="1" hangingPunct="1"/>
              <a:t>31</a:t>
            </a:fld>
            <a:endParaRPr lang="en-US" altLang="zh-CN" smtClean="0"/>
          </a:p>
        </p:txBody>
      </p:sp>
      <p:sp>
        <p:nvSpPr>
          <p:cNvPr id="16404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49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主进程的工作步骤</a:t>
            </a:r>
          </a:p>
        </p:txBody>
      </p:sp>
      <p:sp>
        <p:nvSpPr>
          <p:cNvPr id="1095683"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打开熟知端口（端口号为 </a:t>
            </a:r>
            <a:r>
              <a:rPr lang="en-US" altLang="zh-CN" dirty="0" smtClean="0">
                <a:ea typeface="黑体" panose="02010609060101010101" pitchFamily="49" charset="-122"/>
              </a:rPr>
              <a:t>21</a:t>
            </a:r>
            <a:r>
              <a:rPr lang="zh-CN" altLang="en-US" dirty="0" smtClean="0">
                <a:ea typeface="黑体" panose="02010609060101010101" pitchFamily="49" charset="-122"/>
              </a:rPr>
              <a:t>），使客户进程能够连接上。</a:t>
            </a:r>
          </a:p>
          <a:p>
            <a:r>
              <a:rPr lang="zh-CN" altLang="en-US" dirty="0" smtClean="0">
                <a:ea typeface="黑体" panose="02010609060101010101" pitchFamily="49" charset="-122"/>
              </a:rPr>
              <a:t>等待客户进程发出连接请求。</a:t>
            </a:r>
          </a:p>
          <a:p>
            <a:r>
              <a:rPr lang="zh-CN" altLang="en-US" dirty="0" smtClean="0">
                <a:ea typeface="黑体" panose="02010609060101010101" pitchFamily="49" charset="-122"/>
              </a:rPr>
              <a:t>启动从属进程来处理客户进程发来的请求。从属进程对客户进程的请求处理完毕后即终止，但</a:t>
            </a:r>
            <a:r>
              <a:rPr lang="zh-CN" altLang="en-US" dirty="0" smtClean="0">
                <a:solidFill>
                  <a:srgbClr val="0000FF"/>
                </a:solidFill>
                <a:ea typeface="黑体" panose="02010609060101010101" pitchFamily="49" charset="-122"/>
              </a:rPr>
              <a:t>从属进程</a:t>
            </a:r>
            <a:r>
              <a:rPr lang="zh-CN" altLang="en-US" dirty="0" smtClean="0">
                <a:ea typeface="黑体" panose="02010609060101010101" pitchFamily="49" charset="-122"/>
              </a:rPr>
              <a:t>在运行期间根据需要还</a:t>
            </a:r>
            <a:r>
              <a:rPr lang="zh-CN" altLang="en-US" dirty="0" smtClean="0">
                <a:solidFill>
                  <a:srgbClr val="0000FF"/>
                </a:solidFill>
                <a:ea typeface="黑体" panose="02010609060101010101" pitchFamily="49" charset="-122"/>
              </a:rPr>
              <a:t>可能创建</a:t>
            </a:r>
            <a:r>
              <a:rPr lang="zh-CN" altLang="en-US" dirty="0" smtClean="0">
                <a:ea typeface="黑体" panose="02010609060101010101" pitchFamily="49" charset="-122"/>
              </a:rPr>
              <a:t>其他一些</a:t>
            </a:r>
            <a:r>
              <a:rPr lang="zh-CN" altLang="en-US" dirty="0" smtClean="0">
                <a:solidFill>
                  <a:srgbClr val="0000FF"/>
                </a:solidFill>
                <a:ea typeface="黑体" panose="02010609060101010101" pitchFamily="49" charset="-122"/>
              </a:rPr>
              <a:t>子进程</a:t>
            </a:r>
            <a:r>
              <a:rPr lang="zh-CN" altLang="en-US" dirty="0" smtClean="0">
                <a:ea typeface="黑体" panose="02010609060101010101" pitchFamily="49" charset="-122"/>
              </a:rPr>
              <a:t>。</a:t>
            </a:r>
          </a:p>
          <a:p>
            <a:r>
              <a:rPr lang="zh-CN" altLang="en-US" dirty="0" smtClean="0">
                <a:ea typeface="黑体" panose="02010609060101010101" pitchFamily="49" charset="-122"/>
              </a:rPr>
              <a:t>回到等待状态，继续接受其他客户进程发来的请求。</a:t>
            </a:r>
            <a:r>
              <a:rPr lang="zh-CN" altLang="en-US" dirty="0" smtClean="0">
                <a:solidFill>
                  <a:srgbClr val="0000FF"/>
                </a:solidFill>
                <a:ea typeface="黑体" panose="02010609060101010101" pitchFamily="49" charset="-122"/>
              </a:rPr>
              <a:t>主进程与从属进程的处理是并发地进行。 </a:t>
            </a:r>
          </a:p>
        </p:txBody>
      </p:sp>
      <p:sp>
        <p:nvSpPr>
          <p:cNvPr id="1642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545816-E15E-4A88-B87F-410307C620F2}" type="slidenum">
              <a:rPr lang="zh-CN" altLang="en-US" smtClean="0"/>
              <a:pPr eaLnBrk="1" hangingPunct="1"/>
              <a:t>32</a:t>
            </a:fld>
            <a:endParaRPr lang="en-US" altLang="zh-CN" smtClean="0"/>
          </a:p>
        </p:txBody>
      </p:sp>
      <p:sp>
        <p:nvSpPr>
          <p:cNvPr id="1642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5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5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5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两个连接</a:t>
            </a:r>
          </a:p>
        </p:txBody>
      </p:sp>
      <p:sp>
        <p:nvSpPr>
          <p:cNvPr id="1097731" name="Rectangle 3"/>
          <p:cNvSpPr>
            <a:spLocks noGrp="1" noChangeArrowheads="1"/>
          </p:cNvSpPr>
          <p:nvPr>
            <p:ph idx="1"/>
          </p:nvPr>
        </p:nvSpPr>
        <p:spPr>
          <a:xfrm>
            <a:off x="495300" y="1196975"/>
            <a:ext cx="9066213" cy="4933950"/>
          </a:xfrm>
        </p:spPr>
        <p:txBody>
          <a:bodyPr/>
          <a:lstStyle/>
          <a:p>
            <a:pPr algn="just">
              <a:spcBef>
                <a:spcPts val="1200"/>
              </a:spcBef>
            </a:pPr>
            <a:r>
              <a:rPr lang="zh-CN" altLang="en-US" sz="2800" dirty="0" smtClean="0">
                <a:solidFill>
                  <a:srgbClr val="FF0000"/>
                </a:solidFill>
                <a:ea typeface="黑体" panose="02010609060101010101" pitchFamily="49" charset="-122"/>
              </a:rPr>
              <a:t>控制连接</a:t>
            </a:r>
            <a:r>
              <a:rPr lang="zh-CN" altLang="en-US" sz="2800" dirty="0" smtClean="0">
                <a:ea typeface="黑体" panose="02010609060101010101" pitchFamily="49" charset="-122"/>
              </a:rPr>
              <a:t>在整个会话期间一直保持打开，</a:t>
            </a:r>
            <a:r>
              <a:rPr lang="en-US" altLang="zh-CN" sz="2800" dirty="0" smtClean="0">
                <a:ea typeface="黑体" panose="02010609060101010101" pitchFamily="49" charset="-122"/>
              </a:rPr>
              <a:t>FTP </a:t>
            </a:r>
            <a:r>
              <a:rPr lang="zh-CN" altLang="en-US" sz="2800" dirty="0" smtClean="0">
                <a:ea typeface="黑体" panose="02010609060101010101" pitchFamily="49" charset="-122"/>
              </a:rPr>
              <a:t>客户发出的传送请求通过控制连接发送给服务器端的控制进程，但控制连接不用来传送文件。</a:t>
            </a:r>
          </a:p>
          <a:p>
            <a:pPr algn="just">
              <a:spcBef>
                <a:spcPts val="1200"/>
              </a:spcBef>
            </a:pPr>
            <a:r>
              <a:rPr lang="zh-CN" altLang="en-US" sz="2800" dirty="0" smtClean="0">
                <a:ea typeface="黑体" panose="02010609060101010101" pitchFamily="49" charset="-122"/>
              </a:rPr>
              <a:t>实际用于传输文件的是“</a:t>
            </a:r>
            <a:r>
              <a:rPr lang="zh-CN" altLang="en-US" sz="2800" dirty="0" smtClean="0">
                <a:solidFill>
                  <a:srgbClr val="FF0000"/>
                </a:solidFill>
                <a:ea typeface="黑体" panose="02010609060101010101" pitchFamily="49" charset="-122"/>
              </a:rPr>
              <a:t>数据连接</a:t>
            </a:r>
            <a:r>
              <a:rPr lang="zh-CN" altLang="en-US" sz="2800" dirty="0" smtClean="0">
                <a:ea typeface="黑体" panose="02010609060101010101" pitchFamily="49" charset="-122"/>
              </a:rPr>
              <a:t>”。服务器端的</a:t>
            </a:r>
            <a:r>
              <a:rPr lang="zh-CN" altLang="en-US" sz="2800" dirty="0" smtClean="0">
                <a:solidFill>
                  <a:srgbClr val="0000FF"/>
                </a:solidFill>
                <a:ea typeface="黑体" panose="02010609060101010101" pitchFamily="49" charset="-122"/>
              </a:rPr>
              <a:t>控制进程</a:t>
            </a:r>
            <a:r>
              <a:rPr lang="zh-CN" altLang="en-US" sz="2800" dirty="0" smtClean="0">
                <a:ea typeface="黑体" panose="02010609060101010101" pitchFamily="49" charset="-122"/>
              </a:rPr>
              <a:t>在接收到 </a:t>
            </a:r>
            <a:r>
              <a:rPr lang="en-US" altLang="zh-CN" sz="2800" dirty="0" smtClean="0">
                <a:ea typeface="黑体" panose="02010609060101010101" pitchFamily="49" charset="-122"/>
              </a:rPr>
              <a:t>FTP </a:t>
            </a:r>
            <a:r>
              <a:rPr lang="zh-CN" altLang="en-US" sz="2800" dirty="0" smtClean="0">
                <a:ea typeface="黑体" panose="02010609060101010101" pitchFamily="49" charset="-122"/>
              </a:rPr>
              <a:t>客户发送来的文件传输请求后就</a:t>
            </a:r>
            <a:r>
              <a:rPr lang="zh-CN" altLang="en-US" sz="2800" dirty="0" smtClean="0">
                <a:solidFill>
                  <a:srgbClr val="0000FF"/>
                </a:solidFill>
                <a:ea typeface="黑体" panose="02010609060101010101" pitchFamily="49" charset="-122"/>
              </a:rPr>
              <a:t>创建</a:t>
            </a:r>
            <a:r>
              <a:rPr lang="zh-CN" altLang="en-US" sz="2800" dirty="0" smtClean="0">
                <a:ea typeface="黑体" panose="02010609060101010101" pitchFamily="49" charset="-122"/>
              </a:rPr>
              <a:t>“</a:t>
            </a:r>
            <a:r>
              <a:rPr lang="zh-CN" altLang="en-US" sz="2800" dirty="0" smtClean="0">
                <a:solidFill>
                  <a:srgbClr val="0000FF"/>
                </a:solidFill>
                <a:ea typeface="黑体" panose="02010609060101010101" pitchFamily="49" charset="-122"/>
              </a:rPr>
              <a:t>数据传送进程</a:t>
            </a:r>
            <a:r>
              <a:rPr lang="zh-CN" altLang="en-US" sz="2800" dirty="0" smtClean="0">
                <a:ea typeface="黑体" panose="02010609060101010101" pitchFamily="49" charset="-122"/>
              </a:rPr>
              <a:t>”和“</a:t>
            </a:r>
            <a:r>
              <a:rPr lang="zh-CN" altLang="en-US" sz="2800" dirty="0" smtClean="0">
                <a:solidFill>
                  <a:srgbClr val="0000FF"/>
                </a:solidFill>
                <a:ea typeface="黑体" panose="02010609060101010101" pitchFamily="49" charset="-122"/>
              </a:rPr>
              <a:t>数据连接</a:t>
            </a:r>
            <a:r>
              <a:rPr lang="zh-CN" altLang="en-US" sz="2800" dirty="0" smtClean="0">
                <a:ea typeface="黑体" panose="02010609060101010101" pitchFamily="49" charset="-122"/>
              </a:rPr>
              <a:t>”，用来连接客户端和服务器端的数据传送进程。</a:t>
            </a:r>
          </a:p>
          <a:p>
            <a:pPr algn="just">
              <a:spcBef>
                <a:spcPts val="1200"/>
              </a:spcBef>
            </a:pPr>
            <a:r>
              <a:rPr lang="zh-CN" altLang="en-US" sz="2800" dirty="0" smtClean="0">
                <a:ea typeface="黑体" panose="02010609060101010101" pitchFamily="49" charset="-122"/>
              </a:rPr>
              <a:t>数据传送进程实际完成文件的传送，在传送完毕后关闭“数据传送连接”并结束运行。 </a:t>
            </a:r>
          </a:p>
        </p:txBody>
      </p:sp>
      <p:sp>
        <p:nvSpPr>
          <p:cNvPr id="1644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591B16-572F-4090-86FB-5F5FE70B6C79}" type="slidenum">
              <a:rPr lang="zh-CN" altLang="en-US" smtClean="0"/>
              <a:pPr eaLnBrk="1" hangingPunct="1"/>
              <a:t>33</a:t>
            </a:fld>
            <a:endParaRPr lang="en-US" altLang="zh-CN" smtClean="0"/>
          </a:p>
        </p:txBody>
      </p:sp>
      <p:sp>
        <p:nvSpPr>
          <p:cNvPr id="1644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7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7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6593" name="Rectangle 2"/>
          <p:cNvSpPr>
            <a:spLocks noGrp="1" noChangeArrowheads="1"/>
          </p:cNvSpPr>
          <p:nvPr>
            <p:ph type="title"/>
          </p:nvPr>
        </p:nvSpPr>
        <p:spPr/>
        <p:txBody>
          <a:bodyPr/>
          <a:lstStyle/>
          <a:p>
            <a:pPr algn="ctr"/>
            <a:r>
              <a:rPr lang="en-US" altLang="zh-CN" smtClean="0">
                <a:ea typeface="黑体" panose="02010609060101010101" pitchFamily="49" charset="-122"/>
              </a:rPr>
              <a:t>FTP </a:t>
            </a:r>
            <a:r>
              <a:rPr lang="zh-CN" altLang="zh-CN" smtClean="0">
                <a:ea typeface="黑体" panose="02010609060101010101" pitchFamily="49" charset="-122"/>
              </a:rPr>
              <a:t>使用的两个 </a:t>
            </a:r>
            <a:r>
              <a:rPr lang="en-US" altLang="zh-CN" smtClean="0">
                <a:ea typeface="黑体" panose="02010609060101010101" pitchFamily="49" charset="-122"/>
              </a:rPr>
              <a:t>TCP </a:t>
            </a:r>
            <a:r>
              <a:rPr lang="zh-CN" altLang="zh-CN" smtClean="0">
                <a:ea typeface="黑体" panose="02010609060101010101" pitchFamily="49" charset="-122"/>
              </a:rPr>
              <a:t>连接 </a:t>
            </a:r>
          </a:p>
        </p:txBody>
      </p:sp>
      <p:sp>
        <p:nvSpPr>
          <p:cNvPr id="1646594" name="Text Box 57"/>
          <p:cNvSpPr txBox="1">
            <a:spLocks noChangeArrowheads="1"/>
          </p:cNvSpPr>
          <p:nvPr/>
        </p:nvSpPr>
        <p:spPr bwMode="auto">
          <a:xfrm>
            <a:off x="3390900" y="6183313"/>
            <a:ext cx="185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zh-CN" sz="3200">
              <a:latin typeface="Times New Roman" panose="02020603050405020304" pitchFamily="18" charset="0"/>
              <a:ea typeface="黑体" panose="02010609060101010101" pitchFamily="49" charset="-122"/>
            </a:endParaRPr>
          </a:p>
        </p:txBody>
      </p:sp>
      <p:sp>
        <p:nvSpPr>
          <p:cNvPr id="1646595" name="Rectangle 82"/>
          <p:cNvSpPr>
            <a:spLocks noChangeArrowheads="1"/>
          </p:cNvSpPr>
          <p:nvPr/>
        </p:nvSpPr>
        <p:spPr bwMode="auto">
          <a:xfrm>
            <a:off x="6970713" y="2565400"/>
            <a:ext cx="1641475" cy="1760538"/>
          </a:xfrm>
          <a:prstGeom prst="rect">
            <a:avLst/>
          </a:prstGeom>
          <a:solidFill>
            <a:srgbClr val="FFFF99"/>
          </a:solidFill>
          <a:ln w="9525">
            <a:solidFill>
              <a:schemeClr val="folHlink"/>
            </a:solidFill>
            <a:prstDash val="sysDot"/>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646596" name="Oval 83"/>
          <p:cNvSpPr>
            <a:spLocks noChangeArrowheads="1"/>
          </p:cNvSpPr>
          <p:nvPr/>
        </p:nvSpPr>
        <p:spPr bwMode="auto">
          <a:xfrm>
            <a:off x="7062788" y="2749550"/>
            <a:ext cx="1366837" cy="557213"/>
          </a:xfrm>
          <a:prstGeom prst="ellipse">
            <a:avLst/>
          </a:prstGeom>
          <a:solidFill>
            <a:srgbClr val="FFCCCC"/>
          </a:solidFill>
          <a:ln w="9525">
            <a:solidFill>
              <a:schemeClr val="folHlink"/>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控制进程</a:t>
            </a:r>
          </a:p>
        </p:txBody>
      </p:sp>
      <p:grpSp>
        <p:nvGrpSpPr>
          <p:cNvPr id="1646597" name="Group 84"/>
          <p:cNvGrpSpPr>
            <a:grpSpLocks/>
          </p:cNvGrpSpPr>
          <p:nvPr/>
        </p:nvGrpSpPr>
        <p:grpSpPr bwMode="auto">
          <a:xfrm>
            <a:off x="317500" y="2008188"/>
            <a:ext cx="820738" cy="1204912"/>
            <a:chOff x="480" y="1395"/>
            <a:chExt cx="511" cy="728"/>
          </a:xfrm>
        </p:grpSpPr>
        <p:grpSp>
          <p:nvGrpSpPr>
            <p:cNvPr id="1646598" name="Group 85"/>
            <p:cNvGrpSpPr>
              <a:grpSpLocks/>
            </p:cNvGrpSpPr>
            <p:nvPr/>
          </p:nvGrpSpPr>
          <p:grpSpPr bwMode="auto">
            <a:xfrm>
              <a:off x="717" y="1446"/>
              <a:ext cx="274" cy="237"/>
              <a:chOff x="717" y="1446"/>
              <a:chExt cx="274" cy="237"/>
            </a:xfrm>
          </p:grpSpPr>
          <p:sp>
            <p:nvSpPr>
              <p:cNvPr id="1646599" name="Arc 86"/>
              <p:cNvSpPr>
                <a:spLocks noChangeArrowheads="1"/>
              </p:cNvSpPr>
              <p:nvPr/>
            </p:nvSpPr>
            <p:spPr bwMode="auto">
              <a:xfrm>
                <a:off x="930" y="1618"/>
                <a:ext cx="58" cy="39"/>
              </a:xfrm>
              <a:custGeom>
                <a:avLst/>
                <a:gdLst>
                  <a:gd name="T0" fmla="*/ -1 w 38273"/>
                  <a:gd name="T1" fmla="*/ 7867 h 35142"/>
                  <a:gd name="T2" fmla="*/ 16673 w 38273"/>
                  <a:gd name="T3" fmla="*/ 0 h 35142"/>
                  <a:gd name="T4" fmla="*/ 38273 w 38273"/>
                  <a:gd name="T5" fmla="*/ 21600 h 35142"/>
                  <a:gd name="T6" fmla="*/ 33500 w 38273"/>
                  <a:gd name="T7" fmla="*/ 35141 h 35142"/>
                  <a:gd name="T8" fmla="*/ -1 w 38273"/>
                  <a:gd name="T9" fmla="*/ 7867 h 35142"/>
                  <a:gd name="T10" fmla="*/ 16673 w 38273"/>
                  <a:gd name="T11" fmla="*/ 0 h 35142"/>
                  <a:gd name="T12" fmla="*/ 38273 w 38273"/>
                  <a:gd name="T13" fmla="*/ 21600 h 35142"/>
                  <a:gd name="T14" fmla="*/ 33500 w 38273"/>
                  <a:gd name="T15" fmla="*/ 35141 h 35142"/>
                  <a:gd name="T16" fmla="*/ 16673 w 38273"/>
                  <a:gd name="T17" fmla="*/ 21600 h 35142"/>
                  <a:gd name="T18" fmla="*/ -1 w 38273"/>
                  <a:gd name="T19" fmla="*/ 7867 h 35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273" h="35142" fill="none">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00" name="Arc 87"/>
              <p:cNvSpPr>
                <a:spLocks noChangeArrowheads="1"/>
              </p:cNvSpPr>
              <p:nvPr/>
            </p:nvSpPr>
            <p:spPr bwMode="auto">
              <a:xfrm>
                <a:off x="929" y="1618"/>
                <a:ext cx="55" cy="36"/>
              </a:xfrm>
              <a:custGeom>
                <a:avLst/>
                <a:gdLst>
                  <a:gd name="T0" fmla="*/ 0 w 38146"/>
                  <a:gd name="T1" fmla="*/ 7715 h 34928"/>
                  <a:gd name="T2" fmla="*/ 16546 w 38146"/>
                  <a:gd name="T3" fmla="*/ 0 h 34928"/>
                  <a:gd name="T4" fmla="*/ 38146 w 38146"/>
                  <a:gd name="T5" fmla="*/ 21600 h 34928"/>
                  <a:gd name="T6" fmla="*/ 33543 w 38146"/>
                  <a:gd name="T7" fmla="*/ 34927 h 34928"/>
                  <a:gd name="T8" fmla="*/ 0 w 38146"/>
                  <a:gd name="T9" fmla="*/ 7715 h 34928"/>
                  <a:gd name="T10" fmla="*/ 16546 w 38146"/>
                  <a:gd name="T11" fmla="*/ 0 h 34928"/>
                  <a:gd name="T12" fmla="*/ 38146 w 38146"/>
                  <a:gd name="T13" fmla="*/ 21600 h 34928"/>
                  <a:gd name="T14" fmla="*/ 33543 w 38146"/>
                  <a:gd name="T15" fmla="*/ 34927 h 34928"/>
                  <a:gd name="T16" fmla="*/ 16546 w 38146"/>
                  <a:gd name="T17" fmla="*/ 21600 h 34928"/>
                  <a:gd name="T18" fmla="*/ 0 w 38146"/>
                  <a:gd name="T19" fmla="*/ 7715 h 34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146" h="34928" fill="none">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01" name="Freeform 88"/>
              <p:cNvSpPr>
                <a:spLocks noChangeArrowheads="1"/>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Lst>
                <a:ahLst/>
                <a:cxnLst>
                  <a:cxn ang="0">
                    <a:pos x="T0" y="T1"/>
                  </a:cxn>
                  <a:cxn ang="0">
                    <a:pos x="T2" y="T3"/>
                  </a:cxn>
                  <a:cxn ang="0">
                    <a:pos x="T4" y="T5"/>
                  </a:cxn>
                  <a:cxn ang="0">
                    <a:pos x="T6" y="T7"/>
                  </a:cxn>
                  <a:cxn ang="0">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02" name="Freeform 89"/>
              <p:cNvSpPr>
                <a:spLocks noChangeArrowheads="1"/>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Lst>
                <a:ahLst/>
                <a:cxnLst>
                  <a:cxn ang="0">
                    <a:pos x="T0" y="T1"/>
                  </a:cxn>
                  <a:cxn ang="0">
                    <a:pos x="T2" y="T3"/>
                  </a:cxn>
                  <a:cxn ang="0">
                    <a:pos x="T4" y="T5"/>
                  </a:cxn>
                  <a:cxn ang="0">
                    <a:pos x="T6" y="T7"/>
                  </a:cxn>
                  <a:cxn ang="0">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03" name="Rectangle 90"/>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646604" name="Rectangle 91"/>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646605" name="Freeform 92"/>
              <p:cNvSpPr>
                <a:spLocks noChangeArrowheads="1"/>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Lst>
                <a:ahLst/>
                <a:cxnLst>
                  <a:cxn ang="0">
                    <a:pos x="T0" y="T1"/>
                  </a:cxn>
                  <a:cxn ang="0">
                    <a:pos x="T2" y="T3"/>
                  </a:cxn>
                  <a:cxn ang="0">
                    <a:pos x="T4" y="T5"/>
                  </a:cxn>
                  <a:cxn ang="0">
                    <a:pos x="T6" y="T7"/>
                  </a:cxn>
                  <a:cxn ang="0">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06" name="Freeform 93"/>
              <p:cNvSpPr>
                <a:spLocks noChangeArrowheads="1"/>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Lst>
                <a:ahLst/>
                <a:cxnLst>
                  <a:cxn ang="0">
                    <a:pos x="T0" y="T1"/>
                  </a:cxn>
                  <a:cxn ang="0">
                    <a:pos x="T2" y="T3"/>
                  </a:cxn>
                  <a:cxn ang="0">
                    <a:pos x="T4" y="T5"/>
                  </a:cxn>
                  <a:cxn ang="0">
                    <a:pos x="T6" y="T7"/>
                  </a:cxn>
                  <a:cxn ang="0">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07" name="Freeform 94"/>
              <p:cNvSpPr>
                <a:spLocks noChangeArrowheads="1"/>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Lst>
                <a:ahLst/>
                <a:cxnLst>
                  <a:cxn ang="0">
                    <a:pos x="T0" y="T1"/>
                  </a:cxn>
                  <a:cxn ang="0">
                    <a:pos x="T2" y="T3"/>
                  </a:cxn>
                  <a:cxn ang="0">
                    <a:pos x="T4" y="T5"/>
                  </a:cxn>
                  <a:cxn ang="0">
                    <a:pos x="T6" y="T7"/>
                  </a:cxn>
                  <a:cxn ang="0">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08" name="Freeform 95"/>
              <p:cNvSpPr>
                <a:spLocks noChangeArrowheads="1"/>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Lst>
                <a:ahLst/>
                <a:cxnLst>
                  <a:cxn ang="0">
                    <a:pos x="T0" y="T1"/>
                  </a:cxn>
                  <a:cxn ang="0">
                    <a:pos x="T2" y="T3"/>
                  </a:cxn>
                  <a:cxn ang="0">
                    <a:pos x="T4" y="T5"/>
                  </a:cxn>
                  <a:cxn ang="0">
                    <a:pos x="T6" y="T7"/>
                  </a:cxn>
                  <a:cxn ang="0">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09" name="Freeform 96"/>
              <p:cNvSpPr>
                <a:spLocks noChangeArrowheads="1"/>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Lst>
                <a:ahLst/>
                <a:cxnLst>
                  <a:cxn ang="0">
                    <a:pos x="T0" y="T1"/>
                  </a:cxn>
                  <a:cxn ang="0">
                    <a:pos x="T2" y="T3"/>
                  </a:cxn>
                  <a:cxn ang="0">
                    <a:pos x="T4" y="T5"/>
                  </a:cxn>
                  <a:cxn ang="0">
                    <a:pos x="T6" y="T7"/>
                  </a:cxn>
                  <a:cxn ang="0">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10" name="Freeform 97"/>
              <p:cNvSpPr>
                <a:spLocks noChangeArrowheads="1"/>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Lst>
                <a:ahLst/>
                <a:cxnLst>
                  <a:cxn ang="0">
                    <a:pos x="T0" y="T1"/>
                  </a:cxn>
                  <a:cxn ang="0">
                    <a:pos x="T2" y="T3"/>
                  </a:cxn>
                  <a:cxn ang="0">
                    <a:pos x="T4" y="T5"/>
                  </a:cxn>
                  <a:cxn ang="0">
                    <a:pos x="T6" y="T7"/>
                  </a:cxn>
                  <a:cxn ang="0">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11" name="Rectangle 98"/>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646612" name="Rectangle 99"/>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646613" name="Freeform 100"/>
              <p:cNvSpPr>
                <a:spLocks noChangeArrowheads="1"/>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Lst>
                <a:ahLst/>
                <a:cxnLst>
                  <a:cxn ang="0">
                    <a:pos x="T0" y="T1"/>
                  </a:cxn>
                  <a:cxn ang="0">
                    <a:pos x="T2" y="T3"/>
                  </a:cxn>
                  <a:cxn ang="0">
                    <a:pos x="T4" y="T5"/>
                  </a:cxn>
                  <a:cxn ang="0">
                    <a:pos x="T6" y="T7"/>
                  </a:cxn>
                  <a:cxn ang="0">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14" name="Freeform 101"/>
              <p:cNvSpPr>
                <a:spLocks noChangeArrowheads="1"/>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Lst>
                <a:ahLst/>
                <a:cxnLst>
                  <a:cxn ang="0">
                    <a:pos x="T0" y="T1"/>
                  </a:cxn>
                  <a:cxn ang="0">
                    <a:pos x="T2" y="T3"/>
                  </a:cxn>
                  <a:cxn ang="0">
                    <a:pos x="T4" y="T5"/>
                  </a:cxn>
                  <a:cxn ang="0">
                    <a:pos x="T6" y="T7"/>
                  </a:cxn>
                  <a:cxn ang="0">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15" name="Freeform 102"/>
              <p:cNvSpPr>
                <a:spLocks noChangeArrowheads="1"/>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Lst>
                <a:ahLst/>
                <a:cxnLst>
                  <a:cxn ang="0">
                    <a:pos x="T0" y="T1"/>
                  </a:cxn>
                  <a:cxn ang="0">
                    <a:pos x="T2" y="T3"/>
                  </a:cxn>
                  <a:cxn ang="0">
                    <a:pos x="T4" y="T5"/>
                  </a:cxn>
                  <a:cxn ang="0">
                    <a:pos x="T6" y="T7"/>
                  </a:cxn>
                  <a:cxn ang="0">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16" name="Freeform 103"/>
              <p:cNvSpPr>
                <a:spLocks noChangeArrowheads="1"/>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Lst>
                <a:ahLst/>
                <a:cxnLst>
                  <a:cxn ang="0">
                    <a:pos x="T0" y="T1"/>
                  </a:cxn>
                  <a:cxn ang="0">
                    <a:pos x="T2" y="T3"/>
                  </a:cxn>
                  <a:cxn ang="0">
                    <a:pos x="T4" y="T5"/>
                  </a:cxn>
                  <a:cxn ang="0">
                    <a:pos x="T6" y="T7"/>
                  </a:cxn>
                  <a:cxn ang="0">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17" name="Freeform 104"/>
              <p:cNvSpPr>
                <a:spLocks noChangeArrowheads="1"/>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Lst>
                <a:ahLst/>
                <a:cxnLst>
                  <a:cxn ang="0">
                    <a:pos x="T0" y="T1"/>
                  </a:cxn>
                  <a:cxn ang="0">
                    <a:pos x="T2" y="T3"/>
                  </a:cxn>
                  <a:cxn ang="0">
                    <a:pos x="T4" y="T5"/>
                  </a:cxn>
                  <a:cxn ang="0">
                    <a:pos x="T6" y="T7"/>
                  </a:cxn>
                  <a:cxn ang="0">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18" name="Freeform 105"/>
              <p:cNvSpPr>
                <a:spLocks noChangeArrowheads="1"/>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Lst>
                <a:ahLst/>
                <a:cxnLst>
                  <a:cxn ang="0">
                    <a:pos x="T0" y="T1"/>
                  </a:cxn>
                  <a:cxn ang="0">
                    <a:pos x="T2" y="T3"/>
                  </a:cxn>
                  <a:cxn ang="0">
                    <a:pos x="T4" y="T5"/>
                  </a:cxn>
                  <a:cxn ang="0">
                    <a:pos x="T6" y="T7"/>
                  </a:cxn>
                  <a:cxn ang="0">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19" name="Rectangle 106"/>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646620" name="Rectangle 107"/>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646621" name="Freeform 108"/>
              <p:cNvSpPr>
                <a:spLocks noChangeArrowheads="1"/>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Lst>
                <a:ahLst/>
                <a:cxnLst>
                  <a:cxn ang="0">
                    <a:pos x="T0" y="T1"/>
                  </a:cxn>
                  <a:cxn ang="0">
                    <a:pos x="T2" y="T3"/>
                  </a:cxn>
                  <a:cxn ang="0">
                    <a:pos x="T4" y="T5"/>
                  </a:cxn>
                  <a:cxn ang="0">
                    <a:pos x="T6" y="T7"/>
                  </a:cxn>
                  <a:cxn ang="0">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22" name="Freeform 109"/>
              <p:cNvSpPr>
                <a:spLocks noChangeArrowheads="1"/>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Lst>
                <a:ahLst/>
                <a:cxnLst>
                  <a:cxn ang="0">
                    <a:pos x="T0" y="T1"/>
                  </a:cxn>
                  <a:cxn ang="0">
                    <a:pos x="T2" y="T3"/>
                  </a:cxn>
                  <a:cxn ang="0">
                    <a:pos x="T4" y="T5"/>
                  </a:cxn>
                  <a:cxn ang="0">
                    <a:pos x="T6" y="T7"/>
                  </a:cxn>
                  <a:cxn ang="0">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23" name="Freeform 110"/>
              <p:cNvSpPr>
                <a:spLocks noChangeArrowheads="1"/>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Lst>
                <a:ahLst/>
                <a:cxnLst>
                  <a:cxn ang="0">
                    <a:pos x="T0" y="T1"/>
                  </a:cxn>
                  <a:cxn ang="0">
                    <a:pos x="T2" y="T3"/>
                  </a:cxn>
                  <a:cxn ang="0">
                    <a:pos x="T4" y="T5"/>
                  </a:cxn>
                  <a:cxn ang="0">
                    <a:pos x="T6" y="T7"/>
                  </a:cxn>
                  <a:cxn ang="0">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24" name="Freeform 111"/>
              <p:cNvSpPr>
                <a:spLocks noChangeArrowheads="1"/>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Lst>
                <a:ahLst/>
                <a:cxnLst>
                  <a:cxn ang="0">
                    <a:pos x="T0" y="T1"/>
                  </a:cxn>
                  <a:cxn ang="0">
                    <a:pos x="T2" y="T3"/>
                  </a:cxn>
                  <a:cxn ang="0">
                    <a:pos x="T4" y="T5"/>
                  </a:cxn>
                  <a:cxn ang="0">
                    <a:pos x="T6" y="T7"/>
                  </a:cxn>
                  <a:cxn ang="0">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25" name="Rectangle 112"/>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646626" name="Rectangle 113"/>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p>
                <a:endParaRPr lang="zh-CN" altLang="en-US" b="1">
                  <a:solidFill>
                    <a:srgbClr val="000099"/>
                  </a:solidFill>
                  <a:ea typeface="宋体" panose="02010600030101010101" pitchFamily="2" charset="-122"/>
                </a:endParaRPr>
              </a:p>
            </p:txBody>
          </p:sp>
        </p:grpSp>
        <p:sp>
          <p:nvSpPr>
            <p:cNvPr id="1646627" name="Freeform 114"/>
            <p:cNvSpPr>
              <a:spLocks noChangeArrowheads="1"/>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28" name="Freeform 115"/>
            <p:cNvSpPr>
              <a:spLocks noChangeArrowheads="1"/>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29" name="Freeform 116"/>
            <p:cNvSpPr>
              <a:spLocks noChangeArrowheads="1"/>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Lst>
              <a:ahLst/>
              <a:cxnLst>
                <a:cxn ang="0">
                  <a:pos x="T0" y="T1"/>
                </a:cxn>
                <a:cxn ang="0">
                  <a:pos x="T2" y="T3"/>
                </a:cxn>
                <a:cxn ang="0">
                  <a:pos x="T4" y="T5"/>
                </a:cxn>
                <a:cxn ang="0">
                  <a:pos x="T6" y="T7"/>
                </a:cxn>
                <a:cxn ang="0">
                  <a:pos x="T8" y="T9"/>
                </a:cxn>
                <a:cxn ang="0">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30" name="Freeform 117"/>
            <p:cNvSpPr>
              <a:spLocks noChangeArrowheads="1"/>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Lst>
              <a:ahLst/>
              <a:cxnLst>
                <a:cxn ang="0">
                  <a:pos x="T0" y="T1"/>
                </a:cxn>
                <a:cxn ang="0">
                  <a:pos x="T2" y="T3"/>
                </a:cxn>
                <a:cxn ang="0">
                  <a:pos x="T4" y="T5"/>
                </a:cxn>
                <a:cxn ang="0">
                  <a:pos x="T6" y="T7"/>
                </a:cxn>
                <a:cxn ang="0">
                  <a:pos x="T8" y="T9"/>
                </a:cxn>
                <a:cxn ang="0">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31" name="Freeform 118"/>
            <p:cNvSpPr>
              <a:spLocks noChangeArrowheads="1"/>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32" name="Freeform 119"/>
            <p:cNvSpPr>
              <a:spLocks noChangeArrowheads="1"/>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33" name="Freeform 120"/>
            <p:cNvSpPr>
              <a:spLocks noChangeArrowheads="1"/>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34" name="Freeform 121"/>
            <p:cNvSpPr>
              <a:spLocks noChangeArrowheads="1"/>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35" name="Freeform 122"/>
            <p:cNvSpPr>
              <a:spLocks noChangeArrowheads="1"/>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Lst>
              <a:ahLst/>
              <a:cxnLst>
                <a:cxn ang="0">
                  <a:pos x="T0" y="T1"/>
                </a:cxn>
                <a:cxn ang="0">
                  <a:pos x="T2" y="T3"/>
                </a:cxn>
                <a:cxn ang="0">
                  <a:pos x="T4" y="T5"/>
                </a:cxn>
                <a:cxn ang="0">
                  <a:pos x="T6" y="T7"/>
                </a:cxn>
                <a:cxn ang="0">
                  <a:pos x="T8" y="T9"/>
                </a:cxn>
                <a:cxn ang="0">
                  <a:pos x="T10" y="T11"/>
                </a:cxn>
                <a:cxn ang="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36" name="Freeform 123"/>
            <p:cNvSpPr>
              <a:spLocks noChangeArrowheads="1"/>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Lst>
              <a:ahLst/>
              <a:cxnLst>
                <a:cxn ang="0">
                  <a:pos x="T0" y="T1"/>
                </a:cxn>
                <a:cxn ang="0">
                  <a:pos x="T2" y="T3"/>
                </a:cxn>
                <a:cxn ang="0">
                  <a:pos x="T4" y="T5"/>
                </a:cxn>
                <a:cxn ang="0">
                  <a:pos x="T6" y="T7"/>
                </a:cxn>
                <a:cxn ang="0">
                  <a:pos x="T8" y="T9"/>
                </a:cxn>
                <a:cxn ang="0">
                  <a:pos x="T10" y="T11"/>
                </a:cxn>
                <a:cxn ang="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37" name="Freeform 124"/>
            <p:cNvSpPr>
              <a:spLocks noChangeArrowheads="1"/>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38" name="Freeform 125"/>
            <p:cNvSpPr>
              <a:spLocks noChangeArrowheads="1"/>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39" name="Freeform 126"/>
            <p:cNvSpPr>
              <a:spLocks noChangeArrowheads="1"/>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40" name="Freeform 127"/>
            <p:cNvSpPr>
              <a:spLocks noChangeArrowheads="1"/>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41" name="Freeform 128"/>
            <p:cNvSpPr>
              <a:spLocks noChangeArrowheads="1"/>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42" name="Freeform 129"/>
            <p:cNvSpPr>
              <a:spLocks noChangeArrowheads="1"/>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43" name="Freeform 130"/>
            <p:cNvSpPr>
              <a:spLocks noChangeArrowheads="1"/>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44" name="Freeform 131"/>
            <p:cNvSpPr>
              <a:spLocks noChangeArrowheads="1"/>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45" name="Freeform 132"/>
            <p:cNvSpPr>
              <a:spLocks noChangeArrowheads="1"/>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46" name="Freeform 133"/>
            <p:cNvSpPr>
              <a:spLocks noChangeArrowheads="1"/>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47" name="Freeform 134"/>
            <p:cNvSpPr>
              <a:spLocks noChangeArrowheads="1"/>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48" name="Freeform 135"/>
            <p:cNvSpPr>
              <a:spLocks noChangeArrowheads="1"/>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646649" name="Freeform 136"/>
            <p:cNvSpPr>
              <a:spLocks noChangeArrowheads="1"/>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646650" name="Freeform 137"/>
            <p:cNvSpPr>
              <a:spLocks noChangeArrowheads="1"/>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646651" name="Rectangle 138"/>
          <p:cNvSpPr>
            <a:spLocks noChangeArrowheads="1"/>
          </p:cNvSpPr>
          <p:nvPr/>
        </p:nvSpPr>
        <p:spPr bwMode="auto">
          <a:xfrm>
            <a:off x="1593850" y="1916113"/>
            <a:ext cx="1639888" cy="2409825"/>
          </a:xfrm>
          <a:prstGeom prst="rect">
            <a:avLst/>
          </a:prstGeom>
          <a:solidFill>
            <a:srgbClr val="FFFF99"/>
          </a:solidFill>
          <a:ln w="9525">
            <a:solidFill>
              <a:schemeClr val="folHlink"/>
            </a:solidFill>
            <a:prstDash val="sysDot"/>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646652" name="Line 139"/>
          <p:cNvSpPr>
            <a:spLocks noChangeShapeType="1"/>
          </p:cNvSpPr>
          <p:nvPr/>
        </p:nvSpPr>
        <p:spPr bwMode="auto">
          <a:xfrm>
            <a:off x="1046163" y="2287588"/>
            <a:ext cx="638175" cy="0"/>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53" name="Text Box 140"/>
          <p:cNvSpPr txBox="1">
            <a:spLocks noChangeArrowheads="1"/>
          </p:cNvSpPr>
          <p:nvPr/>
        </p:nvSpPr>
        <p:spPr bwMode="auto">
          <a:xfrm>
            <a:off x="1565275" y="4337050"/>
            <a:ext cx="176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FTP </a:t>
            </a:r>
            <a:r>
              <a:rPr lang="zh-CN" altLang="en-US" sz="2400" b="1">
                <a:solidFill>
                  <a:srgbClr val="000099"/>
                </a:solidFill>
                <a:ea typeface="黑体" panose="02010609060101010101" pitchFamily="49" charset="-122"/>
              </a:rPr>
              <a:t>客户端</a:t>
            </a:r>
          </a:p>
        </p:txBody>
      </p:sp>
      <p:sp>
        <p:nvSpPr>
          <p:cNvPr id="1646654" name="Text Box 141"/>
          <p:cNvSpPr txBox="1">
            <a:spLocks noChangeArrowheads="1"/>
          </p:cNvSpPr>
          <p:nvPr/>
        </p:nvSpPr>
        <p:spPr bwMode="auto">
          <a:xfrm>
            <a:off x="6715125" y="4337050"/>
            <a:ext cx="20748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FTP </a:t>
            </a:r>
            <a:r>
              <a:rPr lang="zh-CN" altLang="en-US" sz="2400" b="1">
                <a:solidFill>
                  <a:srgbClr val="000099"/>
                </a:solidFill>
                <a:ea typeface="黑体" panose="02010609060101010101" pitchFamily="49" charset="-122"/>
              </a:rPr>
              <a:t>服务器端</a:t>
            </a:r>
          </a:p>
        </p:txBody>
      </p:sp>
      <p:sp>
        <p:nvSpPr>
          <p:cNvPr id="1646655" name="AutoShape 142"/>
          <p:cNvSpPr>
            <a:spLocks noChangeArrowheads="1"/>
          </p:cNvSpPr>
          <p:nvPr/>
        </p:nvSpPr>
        <p:spPr bwMode="auto">
          <a:xfrm>
            <a:off x="407988" y="3398838"/>
            <a:ext cx="638175" cy="835025"/>
          </a:xfrm>
          <a:prstGeom prst="can">
            <a:avLst>
              <a:gd name="adj" fmla="val 35437"/>
            </a:avLst>
          </a:prstGeom>
          <a:gradFill rotWithShape="1">
            <a:gsLst>
              <a:gs pos="0">
                <a:srgbClr val="5E5E76"/>
              </a:gs>
              <a:gs pos="50000">
                <a:srgbClr val="CCCCFF"/>
              </a:gs>
              <a:gs pos="100000">
                <a:srgbClr val="5E5E76"/>
              </a:gs>
            </a:gsLst>
            <a:lin ang="0" scaled="1"/>
          </a:gra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646656" name="Line 143"/>
          <p:cNvSpPr>
            <a:spLocks noChangeShapeType="1"/>
          </p:cNvSpPr>
          <p:nvPr/>
        </p:nvSpPr>
        <p:spPr bwMode="auto">
          <a:xfrm>
            <a:off x="1046163" y="3816350"/>
            <a:ext cx="638175" cy="0"/>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57" name="Line 144"/>
          <p:cNvSpPr>
            <a:spLocks noChangeShapeType="1"/>
          </p:cNvSpPr>
          <p:nvPr/>
        </p:nvSpPr>
        <p:spPr bwMode="auto">
          <a:xfrm>
            <a:off x="8429625" y="3816350"/>
            <a:ext cx="638175" cy="0"/>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58" name="AutoShape 145"/>
          <p:cNvSpPr>
            <a:spLocks noChangeArrowheads="1"/>
          </p:cNvSpPr>
          <p:nvPr/>
        </p:nvSpPr>
        <p:spPr bwMode="auto">
          <a:xfrm>
            <a:off x="9067800" y="3398838"/>
            <a:ext cx="638175" cy="835025"/>
          </a:xfrm>
          <a:prstGeom prst="can">
            <a:avLst>
              <a:gd name="adj" fmla="val 35437"/>
            </a:avLst>
          </a:prstGeom>
          <a:gradFill rotWithShape="1">
            <a:gsLst>
              <a:gs pos="0">
                <a:srgbClr val="5E5E76"/>
              </a:gs>
              <a:gs pos="50000">
                <a:srgbClr val="CCCCFF"/>
              </a:gs>
              <a:gs pos="100000">
                <a:srgbClr val="5E5E76"/>
              </a:gs>
            </a:gsLst>
            <a:lin ang="0" scaled="1"/>
          </a:gra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646659" name="Line 146"/>
          <p:cNvSpPr>
            <a:spLocks noChangeShapeType="1"/>
          </p:cNvSpPr>
          <p:nvPr/>
        </p:nvSpPr>
        <p:spPr bwMode="auto">
          <a:xfrm>
            <a:off x="3051175" y="3862388"/>
            <a:ext cx="4011613" cy="0"/>
          </a:xfrm>
          <a:prstGeom prst="line">
            <a:avLst/>
          </a:prstGeom>
          <a:noFill/>
          <a:ln w="571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60" name="Line 147"/>
          <p:cNvSpPr>
            <a:spLocks noChangeShapeType="1"/>
          </p:cNvSpPr>
          <p:nvPr/>
        </p:nvSpPr>
        <p:spPr bwMode="auto">
          <a:xfrm>
            <a:off x="3051175" y="3028950"/>
            <a:ext cx="4011613" cy="0"/>
          </a:xfrm>
          <a:prstGeom prst="line">
            <a:avLst/>
          </a:prstGeom>
          <a:noFill/>
          <a:ln w="5715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aphicFrame>
        <p:nvGraphicFramePr>
          <p:cNvPr id="1646661" name="Object 148"/>
          <p:cNvGraphicFramePr>
            <a:graphicFrameLocks noChangeAspect="1"/>
          </p:cNvGraphicFramePr>
          <p:nvPr/>
        </p:nvGraphicFramePr>
        <p:xfrm>
          <a:off x="3871913" y="2657475"/>
          <a:ext cx="2370137" cy="1746250"/>
        </p:xfrm>
        <a:graphic>
          <a:graphicData uri="http://schemas.openxmlformats.org/presentationml/2006/ole">
            <mc:AlternateContent xmlns:mc="http://schemas.openxmlformats.org/markup-compatibility/2006">
              <mc:Choice xmlns:v="urn:schemas-microsoft-com:vml" Requires="v">
                <p:oleObj spid="_x0000_s1646713" r:id="rId4" imgW="1687068" imgH="964692" progId="Visio.Drawing.6">
                  <p:embed/>
                </p:oleObj>
              </mc:Choice>
              <mc:Fallback>
                <p:oleObj r:id="rId4" imgW="1687068" imgH="964692" progId="Visio.Drawing.6">
                  <p:embed/>
                  <p:pic>
                    <p:nvPicPr>
                      <p:cNvPr id="0" name="Object 1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1913" y="2657475"/>
                        <a:ext cx="2370137"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6662" name="Text Box 149"/>
          <p:cNvSpPr txBox="1">
            <a:spLocks noChangeArrowheads="1"/>
          </p:cNvSpPr>
          <p:nvPr/>
        </p:nvSpPr>
        <p:spPr bwMode="auto">
          <a:xfrm>
            <a:off x="4564063" y="3057525"/>
            <a:ext cx="1260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ea typeface="黑体" panose="02010609060101010101" pitchFamily="49" charset="-122"/>
              </a:rPr>
              <a:t>互联网</a:t>
            </a:r>
          </a:p>
        </p:txBody>
      </p:sp>
      <p:sp>
        <p:nvSpPr>
          <p:cNvPr id="1646663" name="Text Box 150"/>
          <p:cNvSpPr txBox="1">
            <a:spLocks noChangeArrowheads="1"/>
          </p:cNvSpPr>
          <p:nvPr/>
        </p:nvSpPr>
        <p:spPr bwMode="auto">
          <a:xfrm>
            <a:off x="3983038" y="2019300"/>
            <a:ext cx="211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TCP </a:t>
            </a:r>
            <a:r>
              <a:rPr lang="zh-CN" altLang="en-US" sz="2400" b="1">
                <a:solidFill>
                  <a:srgbClr val="000099"/>
                </a:solidFill>
                <a:ea typeface="黑体" panose="02010609060101010101" pitchFamily="49" charset="-122"/>
              </a:rPr>
              <a:t>控制连接</a:t>
            </a:r>
          </a:p>
        </p:txBody>
      </p:sp>
      <p:sp>
        <p:nvSpPr>
          <p:cNvPr id="1646664" name="Text Box 151"/>
          <p:cNvSpPr txBox="1">
            <a:spLocks noChangeArrowheads="1"/>
          </p:cNvSpPr>
          <p:nvPr/>
        </p:nvSpPr>
        <p:spPr bwMode="auto">
          <a:xfrm>
            <a:off x="4062413" y="4592638"/>
            <a:ext cx="2111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TCP </a:t>
            </a:r>
            <a:r>
              <a:rPr lang="zh-CN" altLang="en-US" sz="2400" b="1">
                <a:solidFill>
                  <a:srgbClr val="000099"/>
                </a:solidFill>
                <a:ea typeface="黑体" panose="02010609060101010101" pitchFamily="49" charset="-122"/>
              </a:rPr>
              <a:t>数据连接</a:t>
            </a:r>
          </a:p>
        </p:txBody>
      </p:sp>
      <p:sp>
        <p:nvSpPr>
          <p:cNvPr id="1646665" name="Line 152"/>
          <p:cNvSpPr>
            <a:spLocks noChangeShapeType="1"/>
          </p:cNvSpPr>
          <p:nvPr/>
        </p:nvSpPr>
        <p:spPr bwMode="auto">
          <a:xfrm flipH="1" flipV="1">
            <a:off x="3689350" y="3862388"/>
            <a:ext cx="1003300" cy="649287"/>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66" name="Line 153"/>
          <p:cNvSpPr>
            <a:spLocks noChangeShapeType="1"/>
          </p:cNvSpPr>
          <p:nvPr/>
        </p:nvSpPr>
        <p:spPr bwMode="auto">
          <a:xfrm flipV="1">
            <a:off x="5330825" y="3862388"/>
            <a:ext cx="1093788" cy="649287"/>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67" name="Line 154"/>
          <p:cNvSpPr>
            <a:spLocks noChangeShapeType="1"/>
          </p:cNvSpPr>
          <p:nvPr/>
        </p:nvSpPr>
        <p:spPr bwMode="auto">
          <a:xfrm>
            <a:off x="5238750" y="2471738"/>
            <a:ext cx="1185863" cy="557212"/>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68" name="Line 155"/>
          <p:cNvSpPr>
            <a:spLocks noChangeShapeType="1"/>
          </p:cNvSpPr>
          <p:nvPr/>
        </p:nvSpPr>
        <p:spPr bwMode="auto">
          <a:xfrm flipH="1">
            <a:off x="3598863" y="2471738"/>
            <a:ext cx="1093787" cy="557212"/>
          </a:xfrm>
          <a:prstGeom prst="line">
            <a:avLst/>
          </a:prstGeom>
          <a:noFill/>
          <a:ln w="9525">
            <a:solidFill>
              <a:schemeClr val="folHlink"/>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69" name="Oval 156"/>
          <p:cNvSpPr>
            <a:spLocks noChangeArrowheads="1"/>
          </p:cNvSpPr>
          <p:nvPr/>
        </p:nvSpPr>
        <p:spPr bwMode="auto">
          <a:xfrm>
            <a:off x="1684338" y="2008188"/>
            <a:ext cx="1366837" cy="557212"/>
          </a:xfrm>
          <a:prstGeom prst="ellipse">
            <a:avLst/>
          </a:prstGeom>
          <a:solidFill>
            <a:srgbClr val="99FF33"/>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用户界面</a:t>
            </a:r>
          </a:p>
        </p:txBody>
      </p:sp>
      <p:sp>
        <p:nvSpPr>
          <p:cNvPr id="1646670" name="Line 157"/>
          <p:cNvSpPr>
            <a:spLocks noChangeShapeType="1"/>
          </p:cNvSpPr>
          <p:nvPr/>
        </p:nvSpPr>
        <p:spPr bwMode="auto">
          <a:xfrm>
            <a:off x="2413000" y="3306763"/>
            <a:ext cx="0" cy="2778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71" name="Oval 158"/>
          <p:cNvSpPr>
            <a:spLocks noChangeArrowheads="1"/>
          </p:cNvSpPr>
          <p:nvPr/>
        </p:nvSpPr>
        <p:spPr bwMode="auto">
          <a:xfrm>
            <a:off x="1684338" y="2749550"/>
            <a:ext cx="1366837" cy="557213"/>
          </a:xfrm>
          <a:prstGeom prst="ellipse">
            <a:avLst/>
          </a:prstGeom>
          <a:solidFill>
            <a:srgbClr val="FFCCCC"/>
          </a:solidFill>
          <a:ln w="9525">
            <a:solidFill>
              <a:schemeClr val="folHlink"/>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控制进程</a:t>
            </a:r>
          </a:p>
        </p:txBody>
      </p:sp>
      <p:sp>
        <p:nvSpPr>
          <p:cNvPr id="1646672" name="Oval 159"/>
          <p:cNvSpPr>
            <a:spLocks noChangeArrowheads="1"/>
          </p:cNvSpPr>
          <p:nvPr/>
        </p:nvSpPr>
        <p:spPr bwMode="auto">
          <a:xfrm>
            <a:off x="1684338" y="3492500"/>
            <a:ext cx="1366837" cy="741363"/>
          </a:xfrm>
          <a:prstGeom prst="ellipse">
            <a:avLst/>
          </a:prstGeom>
          <a:solidFill>
            <a:srgbClr val="CCECFF"/>
          </a:solidFill>
          <a:ln w="9525">
            <a:solidFill>
              <a:schemeClr val="folHlink"/>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数据传送</a:t>
            </a:r>
          </a:p>
          <a:p>
            <a:pPr algn="ctr"/>
            <a:r>
              <a:rPr lang="zh-CN" altLang="en-US" sz="2000" b="1">
                <a:solidFill>
                  <a:srgbClr val="000099"/>
                </a:solidFill>
                <a:ea typeface="黑体" panose="02010609060101010101" pitchFamily="49" charset="-122"/>
              </a:rPr>
              <a:t>进程</a:t>
            </a:r>
          </a:p>
        </p:txBody>
      </p:sp>
      <p:sp>
        <p:nvSpPr>
          <p:cNvPr id="1646673" name="Line 160"/>
          <p:cNvSpPr>
            <a:spLocks noChangeShapeType="1"/>
          </p:cNvSpPr>
          <p:nvPr/>
        </p:nvSpPr>
        <p:spPr bwMode="auto">
          <a:xfrm>
            <a:off x="7791450" y="3306763"/>
            <a:ext cx="0" cy="2778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46674" name="Oval 161"/>
          <p:cNvSpPr>
            <a:spLocks noChangeArrowheads="1"/>
          </p:cNvSpPr>
          <p:nvPr/>
        </p:nvSpPr>
        <p:spPr bwMode="auto">
          <a:xfrm>
            <a:off x="7062788" y="3492500"/>
            <a:ext cx="1366837" cy="741363"/>
          </a:xfrm>
          <a:prstGeom prst="ellipse">
            <a:avLst/>
          </a:prstGeom>
          <a:solidFill>
            <a:srgbClr val="CCECFF"/>
          </a:solidFill>
          <a:ln w="9525">
            <a:solidFill>
              <a:schemeClr val="folHlink"/>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数据传送</a:t>
            </a:r>
          </a:p>
          <a:p>
            <a:pPr algn="ctr"/>
            <a:r>
              <a:rPr lang="zh-CN" altLang="en-US" sz="2000" b="1">
                <a:solidFill>
                  <a:srgbClr val="000099"/>
                </a:solidFill>
                <a:ea typeface="黑体" panose="02010609060101010101" pitchFamily="49" charset="-122"/>
              </a:rPr>
              <a:t>进程</a:t>
            </a:r>
          </a:p>
        </p:txBody>
      </p:sp>
      <p:sp>
        <p:nvSpPr>
          <p:cNvPr id="16466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D078B7-B5D3-4622-962C-44CD469D0F39}" type="slidenum">
              <a:rPr lang="zh-CN" altLang="en-US" smtClean="0"/>
              <a:pPr eaLnBrk="1" hangingPunct="1"/>
              <a:t>34</a:t>
            </a:fld>
            <a:endParaRPr lang="en-US" altLang="zh-CN" smtClean="0"/>
          </a:p>
        </p:txBody>
      </p:sp>
      <p:sp>
        <p:nvSpPr>
          <p:cNvPr id="16466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7" name="Rectangle 3"/>
          <p:cNvSpPr>
            <a:spLocks noGrp="1" noChangeArrowheads="1"/>
          </p:cNvSpPr>
          <p:nvPr>
            <p:ph type="title"/>
          </p:nvPr>
        </p:nvSpPr>
        <p:spPr>
          <a:xfrm>
            <a:off x="495300" y="188913"/>
            <a:ext cx="9066213" cy="792162"/>
          </a:xfrm>
        </p:spPr>
        <p:txBody>
          <a:bodyPr/>
          <a:lstStyle/>
          <a:p>
            <a:pPr algn="ctr">
              <a:defRPr/>
            </a:pPr>
            <a:r>
              <a:rPr lang="en-US" altLang="zh-CN" sz="4060" noProof="1"/>
              <a:t> </a:t>
            </a:r>
            <a:r>
              <a:rPr lang="zh-CN" altLang="en-US" sz="4060" noProof="1"/>
              <a:t>两个不同的端口号 </a:t>
            </a:r>
          </a:p>
        </p:txBody>
      </p:sp>
      <p:sp>
        <p:nvSpPr>
          <p:cNvPr id="1101826" name="Rectangle 2"/>
          <p:cNvSpPr>
            <a:spLocks noGrp="1" noChangeArrowheads="1"/>
          </p:cNvSpPr>
          <p:nvPr>
            <p:ph idx="1"/>
          </p:nvPr>
        </p:nvSpPr>
        <p:spPr>
          <a:xfrm>
            <a:off x="495300" y="1196975"/>
            <a:ext cx="9066213" cy="4933950"/>
          </a:xfrm>
        </p:spPr>
        <p:txBody>
          <a:bodyPr/>
          <a:lstStyle/>
          <a:p>
            <a:pPr algn="just">
              <a:spcBef>
                <a:spcPct val="0"/>
              </a:spcBef>
              <a:spcAft>
                <a:spcPct val="20000"/>
              </a:spcAft>
            </a:pPr>
            <a:r>
              <a:rPr lang="en-US" altLang="zh-CN" sz="2800" dirty="0" smtClean="0">
                <a:ea typeface="黑体" panose="02010609060101010101" pitchFamily="49" charset="-122"/>
              </a:rPr>
              <a:t> </a:t>
            </a:r>
            <a:r>
              <a:rPr lang="zh-CN" altLang="en-US" sz="2800" dirty="0" smtClean="0">
                <a:ea typeface="黑体" panose="02010609060101010101" pitchFamily="49" charset="-122"/>
              </a:rPr>
              <a:t>当客户进程向服务器进程发出建立连接请求时，要寻找连接服务器进程的</a:t>
            </a:r>
            <a:r>
              <a:rPr lang="zh-CN" altLang="en-US" sz="2800" dirty="0" smtClean="0">
                <a:solidFill>
                  <a:srgbClr val="FF0000"/>
                </a:solidFill>
                <a:ea typeface="黑体" panose="02010609060101010101" pitchFamily="49" charset="-122"/>
              </a:rPr>
              <a:t>熟知端口 </a:t>
            </a:r>
            <a:r>
              <a:rPr lang="en-US" altLang="zh-CN" sz="2800" dirty="0" smtClean="0">
                <a:ea typeface="黑体" panose="02010609060101010101" pitchFamily="49" charset="-122"/>
              </a:rPr>
              <a:t>(</a:t>
            </a:r>
            <a:r>
              <a:rPr lang="en-US" altLang="zh-CN" sz="2800" dirty="0" smtClean="0">
                <a:solidFill>
                  <a:srgbClr val="0000FF"/>
                </a:solidFill>
                <a:ea typeface="黑体" panose="02010609060101010101" pitchFamily="49" charset="-122"/>
              </a:rPr>
              <a:t>21</a:t>
            </a:r>
            <a:r>
              <a:rPr lang="en-US" altLang="zh-CN" sz="2800" dirty="0" smtClean="0">
                <a:ea typeface="黑体" panose="02010609060101010101" pitchFamily="49" charset="-122"/>
              </a:rPr>
              <a:t>)</a:t>
            </a:r>
            <a:r>
              <a:rPr lang="zh-CN" altLang="en-US" sz="2800" dirty="0" smtClean="0">
                <a:ea typeface="黑体" panose="02010609060101010101" pitchFamily="49" charset="-122"/>
              </a:rPr>
              <a:t>，同时还要</a:t>
            </a:r>
            <a:r>
              <a:rPr lang="zh-CN" altLang="en-US" sz="2800" dirty="0" smtClean="0">
                <a:solidFill>
                  <a:srgbClr val="0000FF"/>
                </a:solidFill>
                <a:ea typeface="黑体" panose="02010609060101010101" pitchFamily="49" charset="-122"/>
              </a:rPr>
              <a:t>告诉</a:t>
            </a:r>
            <a:r>
              <a:rPr lang="zh-CN" altLang="en-US" sz="2800" dirty="0" smtClean="0">
                <a:ea typeface="黑体" panose="02010609060101010101" pitchFamily="49" charset="-122"/>
              </a:rPr>
              <a:t>服务器进程自己的</a:t>
            </a:r>
            <a:r>
              <a:rPr lang="zh-CN" altLang="en-US" sz="2800" dirty="0" smtClean="0">
                <a:solidFill>
                  <a:srgbClr val="0000FF"/>
                </a:solidFill>
                <a:ea typeface="黑体" panose="02010609060101010101" pitchFamily="49" charset="-122"/>
              </a:rPr>
              <a:t>另一个端口号码</a:t>
            </a:r>
            <a:r>
              <a:rPr lang="zh-CN" altLang="en-US" sz="2800" dirty="0" smtClean="0">
                <a:ea typeface="黑体" panose="02010609060101010101" pitchFamily="49" charset="-122"/>
              </a:rPr>
              <a:t>，用于建立数据传送连接。</a:t>
            </a:r>
          </a:p>
          <a:p>
            <a:pPr algn="just">
              <a:spcBef>
                <a:spcPct val="0"/>
              </a:spcBef>
              <a:spcAft>
                <a:spcPct val="20000"/>
              </a:spcAft>
            </a:pPr>
            <a:r>
              <a:rPr lang="zh-CN" altLang="en-US" sz="2800" dirty="0" smtClean="0">
                <a:ea typeface="黑体" panose="02010609060101010101" pitchFamily="49" charset="-122"/>
              </a:rPr>
              <a:t>接着，服务器进程用自己传送数据的</a:t>
            </a:r>
            <a:r>
              <a:rPr lang="zh-CN" altLang="en-US" sz="2800" dirty="0" smtClean="0">
                <a:solidFill>
                  <a:srgbClr val="FF0000"/>
                </a:solidFill>
                <a:ea typeface="黑体" panose="02010609060101010101" pitchFamily="49" charset="-122"/>
              </a:rPr>
              <a:t>熟知端口 </a:t>
            </a:r>
            <a:r>
              <a:rPr lang="en-US" altLang="zh-CN" sz="2800" dirty="0" smtClean="0">
                <a:ea typeface="黑体" panose="02010609060101010101" pitchFamily="49" charset="-122"/>
              </a:rPr>
              <a:t>(</a:t>
            </a:r>
            <a:r>
              <a:rPr lang="en-US" altLang="zh-CN" sz="2800" dirty="0" smtClean="0">
                <a:solidFill>
                  <a:srgbClr val="0000FF"/>
                </a:solidFill>
                <a:ea typeface="黑体" panose="02010609060101010101" pitchFamily="49" charset="-122"/>
              </a:rPr>
              <a:t>20</a:t>
            </a:r>
            <a:r>
              <a:rPr lang="en-US" altLang="zh-CN" sz="2800" dirty="0" smtClean="0">
                <a:ea typeface="黑体" panose="02010609060101010101" pitchFamily="49" charset="-122"/>
              </a:rPr>
              <a:t>) </a:t>
            </a:r>
            <a:r>
              <a:rPr lang="zh-CN" altLang="en-US" sz="2800" dirty="0" smtClean="0">
                <a:ea typeface="黑体" panose="02010609060101010101" pitchFamily="49" charset="-122"/>
              </a:rPr>
              <a:t>与客户进程所提供的端口号码建立数据传送连接。</a:t>
            </a:r>
          </a:p>
          <a:p>
            <a:pPr algn="just">
              <a:spcBef>
                <a:spcPct val="0"/>
              </a:spcBef>
              <a:spcAft>
                <a:spcPct val="20000"/>
              </a:spcAft>
            </a:pPr>
            <a:r>
              <a:rPr lang="zh-CN" altLang="en-US" sz="2800" dirty="0" smtClean="0">
                <a:ea typeface="黑体" panose="02010609060101010101" pitchFamily="49" charset="-122"/>
              </a:rPr>
              <a:t>由于</a:t>
            </a:r>
            <a:r>
              <a:rPr lang="zh-CN" altLang="en-US" sz="1600" dirty="0" smtClean="0">
                <a:ea typeface="黑体" panose="02010609060101010101" pitchFamily="49" charset="-122"/>
              </a:rPr>
              <a:t> </a:t>
            </a:r>
            <a:r>
              <a:rPr lang="en-US" altLang="zh-CN" sz="2800" dirty="0" smtClean="0">
                <a:ea typeface="黑体" panose="02010609060101010101" pitchFamily="49" charset="-122"/>
              </a:rPr>
              <a:t>FTP</a:t>
            </a:r>
            <a:r>
              <a:rPr lang="en-US" altLang="zh-CN" sz="1600" dirty="0" smtClean="0">
                <a:ea typeface="黑体" panose="02010609060101010101" pitchFamily="49" charset="-122"/>
              </a:rPr>
              <a:t> </a:t>
            </a:r>
            <a:r>
              <a:rPr lang="zh-CN" altLang="en-US" sz="2800" dirty="0" smtClean="0">
                <a:ea typeface="黑体" panose="02010609060101010101" pitchFamily="49" charset="-122"/>
              </a:rPr>
              <a:t>使用了</a:t>
            </a:r>
            <a:r>
              <a:rPr lang="zh-CN" altLang="en-US" sz="2800" dirty="0" smtClean="0">
                <a:solidFill>
                  <a:srgbClr val="0000FF"/>
                </a:solidFill>
                <a:ea typeface="黑体" panose="02010609060101010101" pitchFamily="49" charset="-122"/>
              </a:rPr>
              <a:t>两个不同的端口号</a:t>
            </a:r>
            <a:r>
              <a:rPr lang="zh-CN" altLang="en-US" sz="2800" dirty="0" smtClean="0">
                <a:ea typeface="黑体" panose="02010609060101010101" pitchFamily="49" charset="-122"/>
              </a:rPr>
              <a:t>，所以数据连接与控制连接不会发生混乱。</a:t>
            </a:r>
          </a:p>
        </p:txBody>
      </p:sp>
      <p:sp>
        <p:nvSpPr>
          <p:cNvPr id="16486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30A876-1AF7-4C66-992C-D609F31867BD}" type="slidenum">
              <a:rPr lang="zh-CN" altLang="en-US" smtClean="0"/>
              <a:pPr eaLnBrk="1" hangingPunct="1"/>
              <a:t>35</a:t>
            </a:fld>
            <a:endParaRPr lang="en-US" altLang="zh-CN" smtClean="0"/>
          </a:p>
        </p:txBody>
      </p:sp>
      <p:sp>
        <p:nvSpPr>
          <p:cNvPr id="16486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182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1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0689"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 </a:t>
            </a:r>
            <a:r>
              <a:rPr lang="zh-CN" altLang="en-US" smtClean="0">
                <a:ea typeface="黑体" panose="02010609060101010101" pitchFamily="49" charset="-122"/>
              </a:rPr>
              <a:t>使用两个不同端口号的好处 </a:t>
            </a:r>
          </a:p>
        </p:txBody>
      </p:sp>
      <p:sp>
        <p:nvSpPr>
          <p:cNvPr id="1650690" name="Rectangle 2"/>
          <p:cNvSpPr>
            <a:spLocks noGrp="1" noChangeArrowheads="1"/>
          </p:cNvSpPr>
          <p:nvPr>
            <p:ph idx="1"/>
          </p:nvPr>
        </p:nvSpPr>
        <p:spPr>
          <a:xfrm>
            <a:off x="495300" y="1196975"/>
            <a:ext cx="9066213" cy="4933950"/>
          </a:xfrm>
        </p:spPr>
        <p:txBody>
          <a:bodyPr/>
          <a:lstStyle/>
          <a:p>
            <a:pPr marL="315913" indent="-315913" algn="just">
              <a:spcBef>
                <a:spcPct val="0"/>
              </a:spcBef>
              <a:spcAft>
                <a:spcPct val="20000"/>
              </a:spcAft>
            </a:pPr>
            <a:r>
              <a:rPr lang="zh-CN" altLang="en-US" smtClean="0">
                <a:ea typeface="黑体" panose="02010609060101010101" pitchFamily="49" charset="-122"/>
              </a:rPr>
              <a:t>使协议更加简单和更容易实现。</a:t>
            </a:r>
          </a:p>
          <a:p>
            <a:pPr marL="315913" indent="-315913" algn="just">
              <a:spcBef>
                <a:spcPct val="0"/>
              </a:spcBef>
              <a:spcAft>
                <a:spcPct val="20000"/>
              </a:spcAft>
            </a:pPr>
            <a:r>
              <a:rPr lang="zh-CN" altLang="en-US" smtClean="0">
                <a:ea typeface="黑体" panose="02010609060101010101" pitchFamily="49" charset="-122"/>
              </a:rPr>
              <a:t>在传输文件时还可以利用控制连接（例如，客户发送请求终止传输）。 </a:t>
            </a:r>
          </a:p>
        </p:txBody>
      </p:sp>
      <p:sp>
        <p:nvSpPr>
          <p:cNvPr id="1650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437ABF-EDAE-407F-8785-D793F4A0C7E7}" type="slidenum">
              <a:rPr lang="zh-CN" altLang="en-US" smtClean="0"/>
              <a:pPr eaLnBrk="1" hangingPunct="1"/>
              <a:t>36</a:t>
            </a:fld>
            <a:endParaRPr lang="en-US" altLang="zh-CN" smtClean="0"/>
          </a:p>
        </p:txBody>
      </p:sp>
      <p:sp>
        <p:nvSpPr>
          <p:cNvPr id="1650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27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NFS </a:t>
            </a:r>
            <a:r>
              <a:rPr lang="zh-CN" altLang="en-US" smtClean="0">
                <a:ea typeface="黑体" panose="02010609060101010101" pitchFamily="49" charset="-122"/>
              </a:rPr>
              <a:t>采用另一种思路</a:t>
            </a:r>
          </a:p>
        </p:txBody>
      </p:sp>
      <p:sp>
        <p:nvSpPr>
          <p:cNvPr id="1105923"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网络文件系统</a:t>
            </a:r>
            <a:r>
              <a:rPr lang="en-US" altLang="zh-CN" sz="2800" dirty="0" smtClean="0">
                <a:ea typeface="黑体" panose="02010609060101010101" pitchFamily="49" charset="-122"/>
              </a:rPr>
              <a:t>NFS </a:t>
            </a:r>
            <a:r>
              <a:rPr lang="zh-CN" altLang="en-US" sz="2800" dirty="0" smtClean="0">
                <a:ea typeface="黑体" panose="02010609060101010101" pitchFamily="49" charset="-122"/>
              </a:rPr>
              <a:t>允许应用进程打开一个远地文件，并能在该文件的某一个特定的位置上开始读写数据。</a:t>
            </a:r>
          </a:p>
          <a:p>
            <a:r>
              <a:rPr lang="en-US" altLang="zh-CN" sz="2800" dirty="0" smtClean="0">
                <a:ea typeface="黑体" panose="02010609060101010101" pitchFamily="49" charset="-122"/>
              </a:rPr>
              <a:t>NFS </a:t>
            </a:r>
            <a:r>
              <a:rPr lang="zh-CN" altLang="en-US" sz="2800" dirty="0" smtClean="0">
                <a:ea typeface="黑体" panose="02010609060101010101" pitchFamily="49" charset="-122"/>
              </a:rPr>
              <a:t>可使用户只复制一个大文件中的一个很小的片段，而不需要复制整个大文件。</a:t>
            </a:r>
          </a:p>
          <a:p>
            <a:r>
              <a:rPr lang="zh-CN" altLang="en-US" sz="2800" dirty="0" smtClean="0">
                <a:ea typeface="黑体" panose="02010609060101010101" pitchFamily="49" charset="-122"/>
              </a:rPr>
              <a:t>例如，计算机 </a:t>
            </a:r>
            <a:r>
              <a:rPr lang="en-US" altLang="zh-CN" sz="2800" dirty="0" smtClean="0">
                <a:ea typeface="黑体" panose="02010609060101010101" pitchFamily="49" charset="-122"/>
              </a:rPr>
              <a:t>A </a:t>
            </a:r>
            <a:r>
              <a:rPr lang="zh-CN" altLang="en-US" sz="2800" dirty="0" smtClean="0">
                <a:ea typeface="黑体" panose="02010609060101010101" pitchFamily="49" charset="-122"/>
              </a:rPr>
              <a:t>的 </a:t>
            </a:r>
            <a:r>
              <a:rPr lang="en-US" altLang="zh-CN" sz="2800" dirty="0" smtClean="0">
                <a:ea typeface="黑体" panose="02010609060101010101" pitchFamily="49" charset="-122"/>
              </a:rPr>
              <a:t>NFS </a:t>
            </a:r>
            <a:r>
              <a:rPr lang="zh-CN" altLang="en-US" sz="2800" dirty="0" smtClean="0">
                <a:ea typeface="黑体" panose="02010609060101010101" pitchFamily="49" charset="-122"/>
              </a:rPr>
              <a:t>客户软件，把要添加的数据和在文件后面写数据的请求一起发送到远地的计算机 </a:t>
            </a:r>
            <a:r>
              <a:rPr lang="en-US" altLang="zh-CN" sz="2800" dirty="0" smtClean="0">
                <a:ea typeface="黑体" panose="02010609060101010101" pitchFamily="49" charset="-122"/>
              </a:rPr>
              <a:t>B </a:t>
            </a:r>
            <a:r>
              <a:rPr lang="zh-CN" altLang="en-US" sz="2800" dirty="0" smtClean="0">
                <a:ea typeface="黑体" panose="02010609060101010101" pitchFamily="49" charset="-122"/>
              </a:rPr>
              <a:t>的 </a:t>
            </a:r>
            <a:r>
              <a:rPr lang="en-US" altLang="zh-CN" sz="2800" dirty="0" smtClean="0">
                <a:ea typeface="黑体" panose="02010609060101010101" pitchFamily="49" charset="-122"/>
              </a:rPr>
              <a:t>NFS </a:t>
            </a:r>
            <a:r>
              <a:rPr lang="zh-CN" altLang="en-US" sz="2800" dirty="0" smtClean="0">
                <a:ea typeface="黑体" panose="02010609060101010101" pitchFamily="49" charset="-122"/>
              </a:rPr>
              <a:t>服务器。</a:t>
            </a:r>
            <a:r>
              <a:rPr lang="en-US" altLang="zh-CN" sz="2800" dirty="0" smtClean="0">
                <a:ea typeface="黑体" panose="02010609060101010101" pitchFamily="49" charset="-122"/>
              </a:rPr>
              <a:t>NFS </a:t>
            </a:r>
            <a:r>
              <a:rPr lang="zh-CN" altLang="en-US" sz="2800" dirty="0" smtClean="0">
                <a:ea typeface="黑体" panose="02010609060101010101" pitchFamily="49" charset="-122"/>
              </a:rPr>
              <a:t>服务器更新文件后返回应答信息。</a:t>
            </a:r>
          </a:p>
          <a:p>
            <a:r>
              <a:rPr lang="en-US" altLang="zh-CN" sz="2800" dirty="0" smtClean="0">
                <a:solidFill>
                  <a:srgbClr val="FF0000"/>
                </a:solidFill>
                <a:ea typeface="黑体" panose="02010609060101010101" pitchFamily="49" charset="-122"/>
              </a:rPr>
              <a:t>NFS </a:t>
            </a:r>
            <a:r>
              <a:rPr lang="zh-CN" altLang="en-US" sz="2800" dirty="0" smtClean="0">
                <a:solidFill>
                  <a:srgbClr val="FF0000"/>
                </a:solidFill>
                <a:ea typeface="黑体" panose="02010609060101010101" pitchFamily="49" charset="-122"/>
              </a:rPr>
              <a:t>在网络上传送的只是少量的修改数据。</a:t>
            </a:r>
            <a:r>
              <a:rPr lang="zh-CN" altLang="en-US" sz="2800" dirty="0" smtClean="0">
                <a:ea typeface="黑体" panose="02010609060101010101" pitchFamily="49" charset="-122"/>
              </a:rPr>
              <a:t> </a:t>
            </a:r>
          </a:p>
        </p:txBody>
      </p:sp>
      <p:sp>
        <p:nvSpPr>
          <p:cNvPr id="1652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C42C9D-EC23-4BD0-954F-4ADDA85DFEE1}" type="slidenum">
              <a:rPr lang="zh-CN" altLang="en-US" smtClean="0"/>
              <a:pPr eaLnBrk="1" hangingPunct="1"/>
              <a:t>37</a:t>
            </a:fld>
            <a:endParaRPr lang="en-US" altLang="zh-CN" smtClean="0"/>
          </a:p>
        </p:txBody>
      </p:sp>
      <p:sp>
        <p:nvSpPr>
          <p:cNvPr id="1652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59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2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4785"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6.2.3  </a:t>
            </a:r>
            <a:r>
              <a:rPr lang="zh-CN" altLang="en-US" u="sng" dirty="0" smtClean="0">
                <a:solidFill>
                  <a:srgbClr val="FF0000"/>
                </a:solidFill>
                <a:ea typeface="黑体" panose="02010609060101010101" pitchFamily="49" charset="-122"/>
              </a:rPr>
              <a:t>简单文件传送协议 </a:t>
            </a:r>
            <a:r>
              <a:rPr lang="en-US" altLang="zh-CN" dirty="0" smtClean="0">
                <a:ea typeface="黑体" panose="02010609060101010101" pitchFamily="49" charset="-122"/>
              </a:rPr>
              <a:t>TFTP  </a:t>
            </a:r>
          </a:p>
        </p:txBody>
      </p:sp>
      <p:sp>
        <p:nvSpPr>
          <p:cNvPr id="1107971" name="Rectangle 3"/>
          <p:cNvSpPr>
            <a:spLocks noGrp="1" noChangeArrowheads="1"/>
          </p:cNvSpPr>
          <p:nvPr>
            <p:ph idx="1"/>
          </p:nvPr>
        </p:nvSpPr>
        <p:spPr>
          <a:xfrm>
            <a:off x="495300" y="1196975"/>
            <a:ext cx="9066213" cy="4933950"/>
          </a:xfrm>
        </p:spPr>
        <p:txBody>
          <a:bodyPr/>
          <a:lstStyle/>
          <a:p>
            <a:r>
              <a:rPr lang="en-US" altLang="zh-CN" u="sng" dirty="0" smtClean="0">
                <a:solidFill>
                  <a:srgbClr val="FF0000"/>
                </a:solidFill>
                <a:ea typeface="黑体" panose="02010609060101010101" pitchFamily="49" charset="-122"/>
              </a:rPr>
              <a:t>TFTP</a:t>
            </a:r>
            <a:r>
              <a:rPr lang="en-US" altLang="zh-CN" u="sng" dirty="0" smtClean="0">
                <a:ea typeface="黑体" panose="02010609060101010101" pitchFamily="49" charset="-122"/>
              </a:rPr>
              <a:t> (Trivial File Transfer Protocol) </a:t>
            </a:r>
            <a:r>
              <a:rPr lang="zh-CN" altLang="en-US" dirty="0" smtClean="0">
                <a:ea typeface="黑体" panose="02010609060101010101" pitchFamily="49" charset="-122"/>
              </a:rPr>
              <a:t>是一个很小且易于实现的文件传送协议。</a:t>
            </a:r>
          </a:p>
          <a:p>
            <a:r>
              <a:rPr lang="en-US" altLang="zh-CN" dirty="0" smtClean="0">
                <a:ea typeface="黑体" panose="02010609060101010101" pitchFamily="49" charset="-122"/>
              </a:rPr>
              <a:t>TFTP </a:t>
            </a:r>
            <a:r>
              <a:rPr lang="zh-CN" altLang="en-US" dirty="0" smtClean="0">
                <a:ea typeface="黑体" panose="02010609060101010101" pitchFamily="49" charset="-122"/>
              </a:rPr>
              <a:t>使用</a:t>
            </a:r>
            <a:r>
              <a:rPr lang="zh-CN" altLang="en-US" dirty="0" smtClean="0">
                <a:solidFill>
                  <a:srgbClr val="0000FF"/>
                </a:solidFill>
                <a:ea typeface="黑体" panose="02010609060101010101" pitchFamily="49" charset="-122"/>
              </a:rPr>
              <a:t>客户服务器方式</a:t>
            </a:r>
            <a:r>
              <a:rPr lang="zh-CN" altLang="en-US" dirty="0" smtClean="0">
                <a:ea typeface="黑体" panose="02010609060101010101" pitchFamily="49" charset="-122"/>
              </a:rPr>
              <a:t>和使用 </a:t>
            </a:r>
            <a:r>
              <a:rPr lang="en-US" altLang="zh-CN" dirty="0" smtClean="0">
                <a:solidFill>
                  <a:srgbClr val="0000FF"/>
                </a:solidFill>
                <a:ea typeface="黑体" panose="02010609060101010101" pitchFamily="49" charset="-122"/>
              </a:rPr>
              <a:t>UDP </a:t>
            </a:r>
            <a:r>
              <a:rPr lang="zh-CN" altLang="en-US" dirty="0" smtClean="0">
                <a:ea typeface="黑体" panose="02010609060101010101" pitchFamily="49" charset="-122"/>
              </a:rPr>
              <a:t>数据报，因此 </a:t>
            </a:r>
            <a:r>
              <a:rPr lang="en-US" altLang="zh-CN" dirty="0" smtClean="0">
                <a:ea typeface="黑体" panose="02010609060101010101" pitchFamily="49" charset="-122"/>
              </a:rPr>
              <a:t>TFTP </a:t>
            </a:r>
            <a:r>
              <a:rPr lang="zh-CN" altLang="en-US" dirty="0" smtClean="0">
                <a:ea typeface="黑体" panose="02010609060101010101" pitchFamily="49" charset="-122"/>
              </a:rPr>
              <a:t>需要有自己的差错改正措施。</a:t>
            </a:r>
          </a:p>
          <a:p>
            <a:r>
              <a:rPr lang="en-US" altLang="zh-CN" dirty="0" smtClean="0">
                <a:ea typeface="黑体" panose="02010609060101010101" pitchFamily="49" charset="-122"/>
              </a:rPr>
              <a:t>TFTP </a:t>
            </a:r>
            <a:r>
              <a:rPr lang="zh-CN" altLang="en-US" dirty="0" smtClean="0">
                <a:ea typeface="黑体" panose="02010609060101010101" pitchFamily="49" charset="-122"/>
              </a:rPr>
              <a:t>只支持</a:t>
            </a:r>
            <a:r>
              <a:rPr lang="zh-CN" altLang="en-US" dirty="0" smtClean="0">
                <a:solidFill>
                  <a:srgbClr val="0000FF"/>
                </a:solidFill>
                <a:ea typeface="黑体" panose="02010609060101010101" pitchFamily="49" charset="-122"/>
              </a:rPr>
              <a:t>文件传输</a:t>
            </a:r>
            <a:r>
              <a:rPr lang="zh-CN" altLang="en-US" dirty="0" smtClean="0">
                <a:ea typeface="黑体" panose="02010609060101010101" pitchFamily="49" charset="-122"/>
              </a:rPr>
              <a:t>而</a:t>
            </a:r>
            <a:r>
              <a:rPr lang="zh-CN" altLang="en-US" dirty="0" smtClean="0">
                <a:solidFill>
                  <a:srgbClr val="0000FF"/>
                </a:solidFill>
                <a:ea typeface="黑体" panose="02010609060101010101" pitchFamily="49" charset="-122"/>
              </a:rPr>
              <a:t>不支持交互</a:t>
            </a:r>
            <a:r>
              <a:rPr lang="zh-CN" altLang="en-US" dirty="0" smtClean="0">
                <a:ea typeface="黑体" panose="02010609060101010101" pitchFamily="49" charset="-122"/>
              </a:rPr>
              <a:t>。</a:t>
            </a:r>
          </a:p>
          <a:p>
            <a:pPr algn="just"/>
            <a:r>
              <a:rPr lang="en-US" altLang="zh-CN" dirty="0" smtClean="0">
                <a:ea typeface="黑体" panose="02010609060101010101" pitchFamily="49" charset="-122"/>
              </a:rPr>
              <a:t>TFTP </a:t>
            </a:r>
            <a:r>
              <a:rPr lang="zh-CN" altLang="en-US" dirty="0" smtClean="0">
                <a:ea typeface="黑体" panose="02010609060101010101" pitchFamily="49" charset="-122"/>
              </a:rPr>
              <a:t>没有一个庞大的命令集，没有列目录的功能，也不能对用户进行身份鉴别。 </a:t>
            </a:r>
          </a:p>
        </p:txBody>
      </p:sp>
      <p:sp>
        <p:nvSpPr>
          <p:cNvPr id="1654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62707F-EED9-4DA3-87FB-C7EFE8D7942F}" type="slidenum">
              <a:rPr lang="zh-CN" altLang="en-US" smtClean="0"/>
              <a:pPr eaLnBrk="1" hangingPunct="1"/>
              <a:t>38</a:t>
            </a:fld>
            <a:endParaRPr lang="en-US" altLang="zh-CN" smtClean="0"/>
          </a:p>
        </p:txBody>
      </p:sp>
      <p:sp>
        <p:nvSpPr>
          <p:cNvPr id="1654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79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79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79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97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683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TFTP </a:t>
            </a:r>
            <a:r>
              <a:rPr lang="zh-CN" altLang="en-US" smtClean="0">
                <a:ea typeface="黑体" panose="02010609060101010101" pitchFamily="49" charset="-122"/>
              </a:rPr>
              <a:t>的主要特点</a:t>
            </a:r>
          </a:p>
        </p:txBody>
      </p:sp>
      <p:sp>
        <p:nvSpPr>
          <p:cNvPr id="1110019" name="Rectangle 3"/>
          <p:cNvSpPr>
            <a:spLocks noGrp="1" noChangeArrowheads="1"/>
          </p:cNvSpPr>
          <p:nvPr>
            <p:ph idx="1"/>
          </p:nvPr>
        </p:nvSpPr>
        <p:spPr>
          <a:xfrm>
            <a:off x="495300" y="1196975"/>
            <a:ext cx="9066213" cy="4933950"/>
          </a:xfrm>
        </p:spPr>
        <p:txBody>
          <a:bodyPr/>
          <a:lstStyle/>
          <a:p>
            <a:pPr>
              <a:spcBef>
                <a:spcPts val="550"/>
              </a:spcBef>
            </a:pPr>
            <a:r>
              <a:rPr lang="en-US" altLang="zh-CN" smtClean="0">
                <a:ea typeface="黑体" panose="02010609060101010101" pitchFamily="49" charset="-122"/>
              </a:rPr>
              <a:t>(1) </a:t>
            </a:r>
            <a:r>
              <a:rPr lang="zh-CN" altLang="en-US" smtClean="0">
                <a:ea typeface="黑体" panose="02010609060101010101" pitchFamily="49" charset="-122"/>
              </a:rPr>
              <a:t>每次传送的数据 </a:t>
            </a:r>
            <a:r>
              <a:rPr lang="en-US" altLang="zh-CN" smtClean="0">
                <a:ea typeface="黑体" panose="02010609060101010101" pitchFamily="49" charset="-122"/>
              </a:rPr>
              <a:t>PDU </a:t>
            </a:r>
            <a:r>
              <a:rPr lang="zh-CN" altLang="en-US" smtClean="0">
                <a:ea typeface="黑体" panose="02010609060101010101" pitchFamily="49" charset="-122"/>
              </a:rPr>
              <a:t>中有 </a:t>
            </a:r>
            <a:r>
              <a:rPr lang="en-US" altLang="zh-CN" smtClean="0">
                <a:ea typeface="黑体" panose="02010609060101010101" pitchFamily="49" charset="-122"/>
              </a:rPr>
              <a:t>512 </a:t>
            </a:r>
            <a:r>
              <a:rPr lang="zh-CN" altLang="en-US" smtClean="0">
                <a:ea typeface="黑体" panose="02010609060101010101" pitchFamily="49" charset="-122"/>
              </a:rPr>
              <a:t>字节的数据，但最后一次可不足 </a:t>
            </a:r>
            <a:r>
              <a:rPr lang="en-US" altLang="zh-CN" smtClean="0">
                <a:ea typeface="黑体" panose="02010609060101010101" pitchFamily="49" charset="-122"/>
              </a:rPr>
              <a:t>512 </a:t>
            </a:r>
            <a:r>
              <a:rPr lang="zh-CN" altLang="en-US" smtClean="0">
                <a:ea typeface="黑体" panose="02010609060101010101" pitchFamily="49" charset="-122"/>
              </a:rPr>
              <a:t>字节。</a:t>
            </a:r>
          </a:p>
          <a:p>
            <a:pPr>
              <a:spcBef>
                <a:spcPts val="550"/>
              </a:spcBef>
            </a:pPr>
            <a:r>
              <a:rPr lang="en-US" altLang="zh-CN" smtClean="0">
                <a:ea typeface="黑体" panose="02010609060101010101" pitchFamily="49" charset="-122"/>
              </a:rPr>
              <a:t>(2) </a:t>
            </a:r>
            <a:r>
              <a:rPr lang="zh-CN" altLang="en-US" smtClean="0">
                <a:ea typeface="黑体" panose="02010609060101010101" pitchFamily="49" charset="-122"/>
              </a:rPr>
              <a:t>数据 </a:t>
            </a:r>
            <a:r>
              <a:rPr lang="en-US" altLang="zh-CN" smtClean="0">
                <a:ea typeface="黑体" panose="02010609060101010101" pitchFamily="49" charset="-122"/>
              </a:rPr>
              <a:t>PDU </a:t>
            </a:r>
            <a:r>
              <a:rPr lang="zh-CN" altLang="en-US" smtClean="0">
                <a:ea typeface="黑体" panose="02010609060101010101" pitchFamily="49" charset="-122"/>
              </a:rPr>
              <a:t>也称为</a:t>
            </a:r>
            <a:r>
              <a:rPr lang="zh-CN" altLang="en-US" smtClean="0">
                <a:solidFill>
                  <a:srgbClr val="FF0000"/>
                </a:solidFill>
                <a:ea typeface="黑体" panose="02010609060101010101" pitchFamily="49" charset="-122"/>
              </a:rPr>
              <a:t>文件块 </a:t>
            </a:r>
            <a:r>
              <a:rPr lang="en-US" altLang="zh-CN" smtClean="0">
                <a:ea typeface="黑体" panose="02010609060101010101" pitchFamily="49" charset="-122"/>
              </a:rPr>
              <a:t>(block)</a:t>
            </a:r>
            <a:r>
              <a:rPr lang="zh-CN" altLang="en-US" smtClean="0">
                <a:ea typeface="黑体" panose="02010609060101010101" pitchFamily="49" charset="-122"/>
              </a:rPr>
              <a:t>，每个块按序编号，从 </a:t>
            </a:r>
            <a:r>
              <a:rPr lang="en-US" altLang="zh-CN" smtClean="0">
                <a:ea typeface="黑体" panose="02010609060101010101" pitchFamily="49" charset="-122"/>
              </a:rPr>
              <a:t>1 </a:t>
            </a:r>
            <a:r>
              <a:rPr lang="zh-CN" altLang="en-US" smtClean="0">
                <a:ea typeface="黑体" panose="02010609060101010101" pitchFamily="49" charset="-122"/>
              </a:rPr>
              <a:t>开始。</a:t>
            </a:r>
          </a:p>
          <a:p>
            <a:pPr>
              <a:spcBef>
                <a:spcPts val="550"/>
              </a:spcBef>
            </a:pPr>
            <a:r>
              <a:rPr lang="en-US" altLang="zh-CN" smtClean="0">
                <a:ea typeface="黑体" panose="02010609060101010101" pitchFamily="49" charset="-122"/>
              </a:rPr>
              <a:t>(3) </a:t>
            </a:r>
            <a:r>
              <a:rPr lang="zh-CN" altLang="en-US" smtClean="0">
                <a:ea typeface="黑体" panose="02010609060101010101" pitchFamily="49" charset="-122"/>
              </a:rPr>
              <a:t>支持 </a:t>
            </a:r>
            <a:r>
              <a:rPr lang="en-US" altLang="zh-CN" smtClean="0">
                <a:ea typeface="黑体" panose="02010609060101010101" pitchFamily="49" charset="-122"/>
              </a:rPr>
              <a:t>ASCII </a:t>
            </a:r>
            <a:r>
              <a:rPr lang="zh-CN" altLang="en-US" smtClean="0">
                <a:ea typeface="黑体" panose="02010609060101010101" pitchFamily="49" charset="-122"/>
              </a:rPr>
              <a:t>码或二进制传送。</a:t>
            </a:r>
          </a:p>
          <a:p>
            <a:pPr>
              <a:spcBef>
                <a:spcPts val="550"/>
              </a:spcBef>
            </a:pPr>
            <a:r>
              <a:rPr lang="en-US" altLang="zh-CN" smtClean="0">
                <a:ea typeface="黑体" panose="02010609060101010101" pitchFamily="49" charset="-122"/>
              </a:rPr>
              <a:t>(4) </a:t>
            </a:r>
            <a:r>
              <a:rPr lang="zh-CN" altLang="en-US" smtClean="0">
                <a:ea typeface="黑体" panose="02010609060101010101" pitchFamily="49" charset="-122"/>
              </a:rPr>
              <a:t>可对文件进行读或写。</a:t>
            </a:r>
          </a:p>
          <a:p>
            <a:pPr>
              <a:spcBef>
                <a:spcPts val="550"/>
              </a:spcBef>
            </a:pPr>
            <a:r>
              <a:rPr lang="en-US" altLang="zh-CN" smtClean="0">
                <a:ea typeface="黑体" panose="02010609060101010101" pitchFamily="49" charset="-122"/>
              </a:rPr>
              <a:t>(5) </a:t>
            </a:r>
            <a:r>
              <a:rPr lang="zh-CN" altLang="en-US" smtClean="0">
                <a:ea typeface="黑体" panose="02010609060101010101" pitchFamily="49" charset="-122"/>
              </a:rPr>
              <a:t>使用很简单的首部。 </a:t>
            </a:r>
          </a:p>
        </p:txBody>
      </p:sp>
      <p:sp>
        <p:nvSpPr>
          <p:cNvPr id="1656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BDBEAF-BB95-4877-BD51-8517BCA925C5}" type="slidenum">
              <a:rPr lang="zh-CN" altLang="en-US" smtClean="0"/>
              <a:pPr eaLnBrk="1" hangingPunct="1"/>
              <a:t>39</a:t>
            </a:fld>
            <a:endParaRPr lang="en-US" altLang="zh-CN" smtClean="0"/>
          </a:p>
        </p:txBody>
      </p:sp>
      <p:sp>
        <p:nvSpPr>
          <p:cNvPr id="1656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00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00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001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00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01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8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TFTP </a:t>
            </a:r>
            <a:r>
              <a:rPr lang="zh-CN" altLang="en-US" smtClean="0">
                <a:ea typeface="黑体" panose="02010609060101010101" pitchFamily="49" charset="-122"/>
              </a:rPr>
              <a:t>的工作很像停止等待协议</a:t>
            </a:r>
          </a:p>
        </p:txBody>
      </p:sp>
      <p:sp>
        <p:nvSpPr>
          <p:cNvPr id="1112067" name="Rectangle 3"/>
          <p:cNvSpPr>
            <a:spLocks noGrp="1" noChangeArrowheads="1"/>
          </p:cNvSpPr>
          <p:nvPr>
            <p:ph idx="1"/>
          </p:nvPr>
        </p:nvSpPr>
        <p:spPr>
          <a:xfrm>
            <a:off x="495300" y="1196975"/>
            <a:ext cx="9066213" cy="4933950"/>
          </a:xfrm>
        </p:spPr>
        <p:txBody>
          <a:bodyPr/>
          <a:lstStyle/>
          <a:p>
            <a:pPr marL="315913" indent="-315913">
              <a:spcBef>
                <a:spcPts val="550"/>
              </a:spcBef>
            </a:pPr>
            <a:r>
              <a:rPr lang="zh-CN" altLang="en-US" dirty="0" smtClean="0">
                <a:ea typeface="黑体" panose="02010609060101010101" pitchFamily="49" charset="-122"/>
              </a:rPr>
              <a:t>发送完一个文件块后就等待对方的确认，确认时应指明所确认的块编号。</a:t>
            </a:r>
          </a:p>
          <a:p>
            <a:pPr marL="315913" indent="-315913">
              <a:spcBef>
                <a:spcPts val="550"/>
              </a:spcBef>
            </a:pPr>
            <a:r>
              <a:rPr lang="zh-CN" altLang="en-US" dirty="0" smtClean="0">
                <a:ea typeface="黑体" panose="02010609060101010101" pitchFamily="49" charset="-122"/>
              </a:rPr>
              <a:t>发完数据后在规定时间内收不到确认就要重发数据 </a:t>
            </a:r>
            <a:r>
              <a:rPr lang="en-US" altLang="zh-CN" dirty="0" smtClean="0">
                <a:ea typeface="黑体" panose="02010609060101010101" pitchFamily="49" charset="-122"/>
              </a:rPr>
              <a:t>PDU</a:t>
            </a:r>
            <a:r>
              <a:rPr lang="zh-CN" altLang="en-US" dirty="0" smtClean="0">
                <a:ea typeface="黑体" panose="02010609060101010101" pitchFamily="49" charset="-122"/>
              </a:rPr>
              <a:t>。</a:t>
            </a:r>
          </a:p>
          <a:p>
            <a:pPr marL="315913" indent="-315913">
              <a:spcBef>
                <a:spcPts val="550"/>
              </a:spcBef>
            </a:pPr>
            <a:r>
              <a:rPr lang="zh-CN" altLang="en-US" dirty="0" smtClean="0">
                <a:ea typeface="黑体" panose="02010609060101010101" pitchFamily="49" charset="-122"/>
              </a:rPr>
              <a:t>发送确认 </a:t>
            </a:r>
            <a:r>
              <a:rPr lang="en-US" altLang="zh-CN" dirty="0" smtClean="0">
                <a:ea typeface="黑体" panose="02010609060101010101" pitchFamily="49" charset="-122"/>
              </a:rPr>
              <a:t>PDU </a:t>
            </a:r>
            <a:r>
              <a:rPr lang="zh-CN" altLang="en-US" dirty="0" smtClean="0">
                <a:ea typeface="黑体" panose="02010609060101010101" pitchFamily="49" charset="-122"/>
              </a:rPr>
              <a:t>的一方若在规定时间内收不到下一个文件块，也要重发确认 </a:t>
            </a:r>
            <a:r>
              <a:rPr lang="en-US" altLang="zh-CN" dirty="0" smtClean="0">
                <a:ea typeface="黑体" panose="02010609060101010101" pitchFamily="49" charset="-122"/>
              </a:rPr>
              <a:t>PDU</a:t>
            </a:r>
            <a:r>
              <a:rPr lang="zh-CN" altLang="en-US" dirty="0" smtClean="0">
                <a:ea typeface="黑体" panose="02010609060101010101" pitchFamily="49" charset="-122"/>
              </a:rPr>
              <a:t>。这样就可保证文件的传送不致因某一个数据报的丢失而告失败。 </a:t>
            </a:r>
          </a:p>
        </p:txBody>
      </p:sp>
      <p:sp>
        <p:nvSpPr>
          <p:cNvPr id="16588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82343D-5127-44AC-8A6B-85AE10998740}" type="slidenum">
              <a:rPr lang="zh-CN" altLang="en-US" smtClean="0"/>
              <a:pPr eaLnBrk="1" hangingPunct="1"/>
              <a:t>40</a:t>
            </a:fld>
            <a:endParaRPr lang="en-US" altLang="zh-CN" smtClean="0"/>
          </a:p>
        </p:txBody>
      </p:sp>
      <p:sp>
        <p:nvSpPr>
          <p:cNvPr id="16588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20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2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206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2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TFTP </a:t>
            </a:r>
            <a:r>
              <a:rPr lang="zh-CN" altLang="en-US" smtClean="0">
                <a:ea typeface="黑体" panose="02010609060101010101" pitchFamily="49" charset="-122"/>
              </a:rPr>
              <a:t>的工作很像停止等待协议</a:t>
            </a:r>
          </a:p>
        </p:txBody>
      </p:sp>
      <p:sp>
        <p:nvSpPr>
          <p:cNvPr id="1114115" name="Rectangle 3"/>
          <p:cNvSpPr>
            <a:spLocks noGrp="1" noChangeArrowheads="1"/>
          </p:cNvSpPr>
          <p:nvPr>
            <p:ph idx="1"/>
          </p:nvPr>
        </p:nvSpPr>
        <p:spPr>
          <a:xfrm>
            <a:off x="495300" y="1196975"/>
            <a:ext cx="9066213" cy="4933950"/>
          </a:xfrm>
        </p:spPr>
        <p:txBody>
          <a:bodyPr/>
          <a:lstStyle/>
          <a:p>
            <a:pPr algn="just">
              <a:lnSpc>
                <a:spcPct val="100000"/>
              </a:lnSpc>
            </a:pPr>
            <a:r>
              <a:rPr lang="zh-CN" altLang="en-US" sz="2800" dirty="0" smtClean="0">
                <a:ea typeface="黑体" panose="02010609060101010101" pitchFamily="49" charset="-122"/>
              </a:rPr>
              <a:t>开始工作时，</a:t>
            </a:r>
            <a:r>
              <a:rPr lang="en-US" altLang="zh-CN" sz="2800" dirty="0" smtClean="0">
                <a:ea typeface="黑体" panose="02010609060101010101" pitchFamily="49" charset="-122"/>
              </a:rPr>
              <a:t>TFTP </a:t>
            </a:r>
            <a:r>
              <a:rPr lang="zh-CN" altLang="en-US" sz="2800" dirty="0" smtClean="0">
                <a:ea typeface="黑体" panose="02010609060101010101" pitchFamily="49" charset="-122"/>
              </a:rPr>
              <a:t>客户进程发送一个读请求 </a:t>
            </a:r>
            <a:r>
              <a:rPr lang="en-US" altLang="zh-CN" sz="2800" dirty="0" smtClean="0">
                <a:ea typeface="黑体" panose="02010609060101010101" pitchFamily="49" charset="-122"/>
              </a:rPr>
              <a:t>PDU </a:t>
            </a:r>
            <a:r>
              <a:rPr lang="zh-CN" altLang="en-US" sz="2800" dirty="0" smtClean="0">
                <a:ea typeface="黑体" panose="02010609060101010101" pitchFamily="49" charset="-122"/>
              </a:rPr>
              <a:t>或写请求 </a:t>
            </a:r>
            <a:r>
              <a:rPr lang="en-US" altLang="zh-CN" sz="2800" dirty="0" smtClean="0">
                <a:ea typeface="黑体" panose="02010609060101010101" pitchFamily="49" charset="-122"/>
              </a:rPr>
              <a:t>PDU </a:t>
            </a:r>
            <a:r>
              <a:rPr lang="zh-CN" altLang="en-US" sz="2800" dirty="0" smtClean="0">
                <a:ea typeface="黑体" panose="02010609060101010101" pitchFamily="49" charset="-122"/>
              </a:rPr>
              <a:t>给 </a:t>
            </a:r>
            <a:r>
              <a:rPr lang="en-US" altLang="zh-CN" sz="2800" dirty="0" smtClean="0">
                <a:ea typeface="黑体" panose="02010609060101010101" pitchFamily="49" charset="-122"/>
              </a:rPr>
              <a:t>TFTP </a:t>
            </a:r>
            <a:r>
              <a:rPr lang="zh-CN" altLang="en-US" sz="2800" dirty="0" smtClean="0">
                <a:ea typeface="黑体" panose="02010609060101010101" pitchFamily="49" charset="-122"/>
              </a:rPr>
              <a:t>服务器进程，其熟知端口号码为  </a:t>
            </a:r>
            <a:r>
              <a:rPr lang="en-US" altLang="zh-CN" sz="2800" dirty="0" smtClean="0">
                <a:solidFill>
                  <a:srgbClr val="0000FF"/>
                </a:solidFill>
                <a:ea typeface="黑体" panose="02010609060101010101" pitchFamily="49" charset="-122"/>
              </a:rPr>
              <a:t>69</a:t>
            </a:r>
            <a:r>
              <a:rPr lang="zh-CN" altLang="en-US" sz="2800" dirty="0" smtClean="0">
                <a:ea typeface="黑体" panose="02010609060101010101" pitchFamily="49" charset="-122"/>
              </a:rPr>
              <a:t>。</a:t>
            </a:r>
          </a:p>
          <a:p>
            <a:pPr algn="just">
              <a:lnSpc>
                <a:spcPct val="100000"/>
              </a:lnSpc>
            </a:pPr>
            <a:r>
              <a:rPr lang="en-US" altLang="zh-CN" sz="2800" dirty="0" smtClean="0">
                <a:ea typeface="黑体" panose="02010609060101010101" pitchFamily="49" charset="-122"/>
              </a:rPr>
              <a:t>TFTP</a:t>
            </a:r>
            <a:r>
              <a:rPr lang="en-US" altLang="zh-CN" sz="1600" dirty="0" smtClean="0">
                <a:ea typeface="黑体" panose="02010609060101010101" pitchFamily="49" charset="-122"/>
              </a:rPr>
              <a:t> </a:t>
            </a:r>
            <a:r>
              <a:rPr lang="zh-CN" altLang="en-US" sz="2800" dirty="0" smtClean="0">
                <a:ea typeface="黑体" panose="02010609060101010101" pitchFamily="49" charset="-122"/>
              </a:rPr>
              <a:t>服务器进程要选择一个</a:t>
            </a:r>
            <a:r>
              <a:rPr lang="zh-CN" altLang="en-US" sz="2800" dirty="0" smtClean="0">
                <a:solidFill>
                  <a:srgbClr val="0000FF"/>
                </a:solidFill>
                <a:ea typeface="黑体" panose="02010609060101010101" pitchFamily="49" charset="-122"/>
              </a:rPr>
              <a:t>新的端口</a:t>
            </a:r>
            <a:r>
              <a:rPr lang="zh-CN" altLang="en-US" sz="2800" dirty="0" smtClean="0">
                <a:ea typeface="黑体" panose="02010609060101010101" pitchFamily="49" charset="-122"/>
              </a:rPr>
              <a:t>和</a:t>
            </a:r>
            <a:r>
              <a:rPr lang="zh-CN" altLang="en-US" sz="1800" dirty="0" smtClean="0">
                <a:ea typeface="黑体" panose="02010609060101010101" pitchFamily="49" charset="-122"/>
              </a:rPr>
              <a:t> </a:t>
            </a:r>
            <a:r>
              <a:rPr lang="en-US" altLang="zh-CN" sz="2800" dirty="0" smtClean="0">
                <a:ea typeface="黑体" panose="02010609060101010101" pitchFamily="49" charset="-122"/>
              </a:rPr>
              <a:t>TFTP</a:t>
            </a:r>
            <a:r>
              <a:rPr lang="en-US" altLang="zh-CN" sz="1600" dirty="0" smtClean="0">
                <a:ea typeface="黑体" panose="02010609060101010101" pitchFamily="49" charset="-122"/>
              </a:rPr>
              <a:t> </a:t>
            </a:r>
            <a:r>
              <a:rPr lang="zh-CN" altLang="en-US" sz="2800" dirty="0" smtClean="0">
                <a:ea typeface="黑体" panose="02010609060101010101" pitchFamily="49" charset="-122"/>
              </a:rPr>
              <a:t>客户进程进行通信。</a:t>
            </a:r>
          </a:p>
          <a:p>
            <a:pPr algn="just">
              <a:lnSpc>
                <a:spcPct val="100000"/>
              </a:lnSpc>
            </a:pPr>
            <a:r>
              <a:rPr lang="zh-CN" altLang="en-US" sz="2800" dirty="0" smtClean="0">
                <a:ea typeface="黑体" panose="02010609060101010101" pitchFamily="49" charset="-122"/>
              </a:rPr>
              <a:t>若文件长度恰好为 </a:t>
            </a:r>
            <a:r>
              <a:rPr lang="en-US" altLang="zh-CN" sz="2800" dirty="0" smtClean="0">
                <a:ea typeface="黑体" panose="02010609060101010101" pitchFamily="49" charset="-122"/>
              </a:rPr>
              <a:t>512 </a:t>
            </a:r>
            <a:r>
              <a:rPr lang="zh-CN" altLang="en-US" sz="2800" dirty="0" smtClean="0">
                <a:ea typeface="黑体" panose="02010609060101010101" pitchFamily="49" charset="-122"/>
              </a:rPr>
              <a:t>字节的整数倍，则在文件传送完毕后，还必须在最后发送一个只含首部而无数据的数据 </a:t>
            </a:r>
            <a:r>
              <a:rPr lang="en-US" altLang="zh-CN" sz="2800" dirty="0" smtClean="0">
                <a:ea typeface="黑体" panose="02010609060101010101" pitchFamily="49" charset="-122"/>
              </a:rPr>
              <a:t>PDU</a:t>
            </a:r>
            <a:r>
              <a:rPr lang="zh-CN" altLang="en-US" sz="2800" dirty="0" smtClean="0">
                <a:ea typeface="黑体" panose="02010609060101010101" pitchFamily="49" charset="-122"/>
              </a:rPr>
              <a:t>。</a:t>
            </a:r>
          </a:p>
          <a:p>
            <a:pPr algn="just">
              <a:lnSpc>
                <a:spcPct val="100000"/>
              </a:lnSpc>
            </a:pPr>
            <a:r>
              <a:rPr lang="zh-CN" altLang="en-US" sz="2800" dirty="0" smtClean="0">
                <a:ea typeface="黑体" panose="02010609060101010101" pitchFamily="49" charset="-122"/>
              </a:rPr>
              <a:t>若文件长度不是 </a:t>
            </a:r>
            <a:r>
              <a:rPr lang="en-US" altLang="zh-CN" sz="2800" dirty="0" smtClean="0">
                <a:ea typeface="黑体" panose="02010609060101010101" pitchFamily="49" charset="-122"/>
              </a:rPr>
              <a:t>512 </a:t>
            </a:r>
            <a:r>
              <a:rPr lang="zh-CN" altLang="en-US" sz="2800" dirty="0" smtClean="0">
                <a:ea typeface="黑体" panose="02010609060101010101" pitchFamily="49" charset="-122"/>
              </a:rPr>
              <a:t>字节的整数倍，则最后传送数据 </a:t>
            </a:r>
            <a:r>
              <a:rPr lang="en-US" altLang="zh-CN" sz="2800" dirty="0" smtClean="0">
                <a:ea typeface="黑体" panose="02010609060101010101" pitchFamily="49" charset="-122"/>
              </a:rPr>
              <a:t>PDU </a:t>
            </a:r>
            <a:r>
              <a:rPr lang="zh-CN" altLang="en-US" sz="2800" dirty="0" smtClean="0">
                <a:ea typeface="黑体" panose="02010609060101010101" pitchFamily="49" charset="-122"/>
              </a:rPr>
              <a:t>的数据字段一定不满 </a:t>
            </a:r>
            <a:r>
              <a:rPr lang="en-US" altLang="zh-CN" sz="2800" dirty="0" smtClean="0">
                <a:ea typeface="黑体" panose="02010609060101010101" pitchFamily="49" charset="-122"/>
              </a:rPr>
              <a:t>512 </a:t>
            </a:r>
            <a:r>
              <a:rPr lang="zh-CN" altLang="en-US" sz="2800" dirty="0" smtClean="0">
                <a:ea typeface="黑体" panose="02010609060101010101" pitchFamily="49" charset="-122"/>
              </a:rPr>
              <a:t>字节，这正好可作为文件结束的标志。</a:t>
            </a:r>
          </a:p>
        </p:txBody>
      </p:sp>
      <p:sp>
        <p:nvSpPr>
          <p:cNvPr id="16609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957C04-BDFF-4E58-87B2-16447C7F9B6B}" type="slidenum">
              <a:rPr lang="zh-CN" altLang="en-US" smtClean="0"/>
              <a:pPr eaLnBrk="1" hangingPunct="1"/>
              <a:t>41</a:t>
            </a:fld>
            <a:endParaRPr lang="en-US" altLang="zh-CN" smtClean="0"/>
          </a:p>
        </p:txBody>
      </p:sp>
      <p:sp>
        <p:nvSpPr>
          <p:cNvPr id="16609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41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41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141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4115" grpId="0" build="p"/>
    </p:bld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226</TotalTime>
  <Words>3085</Words>
  <Application>Microsoft Office PowerPoint</Application>
  <PresentationFormat>A4 纸张(210x297 毫米)</PresentationFormat>
  <Paragraphs>410</Paragraphs>
  <Slides>41</Slides>
  <Notes>22</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48" baseType="lpstr">
      <vt:lpstr>黑体</vt:lpstr>
      <vt:lpstr>宋体</vt:lpstr>
      <vt:lpstr>Arial</vt:lpstr>
      <vt:lpstr>Times New Roman</vt:lpstr>
      <vt:lpstr>Wingdings</vt:lpstr>
      <vt:lpstr>Presentation</vt:lpstr>
      <vt:lpstr>Microsoft Visio 2000/2002 Drawing</vt:lpstr>
      <vt:lpstr>第 6 章 应用层</vt:lpstr>
      <vt:lpstr>应用层协议的特点 </vt:lpstr>
      <vt:lpstr>6.1  域名系统 DNS</vt:lpstr>
      <vt:lpstr> 6.1.1  域名系统概述</vt:lpstr>
      <vt:lpstr>6.1.2   互联网的域名结构</vt:lpstr>
      <vt:lpstr>域名只是个逻辑概念</vt:lpstr>
      <vt:lpstr>顶级域名 TLD(Top Level Domain)</vt:lpstr>
      <vt:lpstr>顶级域名 TLD (Top Level Domain)</vt:lpstr>
      <vt:lpstr>顶级域名 TLD （续）</vt:lpstr>
      <vt:lpstr>新增加了下列的通用顶级域名 </vt:lpstr>
      <vt:lpstr>互联网的域名空间 </vt:lpstr>
      <vt:lpstr>6.1.3  域名服务器 </vt:lpstr>
      <vt:lpstr>区的不同划分方法举例 </vt:lpstr>
      <vt:lpstr>树状结构的 DNS 域名服务器 </vt:lpstr>
      <vt:lpstr>域名服务器有以下四种类型 </vt:lpstr>
      <vt:lpstr>根域名服务器</vt:lpstr>
      <vt:lpstr>根域名服务器共有 13 套装置</vt:lpstr>
      <vt:lpstr>举例：根域名服务器 L 的地点分布图</vt:lpstr>
      <vt:lpstr>顶级域名服务器</vt:lpstr>
      <vt:lpstr>权限域名服务器 </vt:lpstr>
      <vt:lpstr>本地域名服务器 </vt:lpstr>
      <vt:lpstr>提高域名服务器的可靠性</vt:lpstr>
      <vt:lpstr>域名的解析过程 </vt:lpstr>
      <vt:lpstr>本地域名服务器采用迭代查询 </vt:lpstr>
      <vt:lpstr>本地域名服务器采用递归查询 （比较少用） </vt:lpstr>
      <vt:lpstr>名字的高速缓存 </vt:lpstr>
      <vt:lpstr>6.2  文件传送协议</vt:lpstr>
      <vt:lpstr>  6.2.1  FTP概述</vt:lpstr>
      <vt:lpstr>文件传送并非很简单的问题</vt:lpstr>
      <vt:lpstr>6.2.2  FTP 的基本工作原理 </vt:lpstr>
      <vt:lpstr>FTP 特点</vt:lpstr>
      <vt:lpstr>主进程的工作步骤</vt:lpstr>
      <vt:lpstr>两个连接</vt:lpstr>
      <vt:lpstr>FTP 使用的两个 TCP 连接 </vt:lpstr>
      <vt:lpstr> 两个不同的端口号 </vt:lpstr>
      <vt:lpstr> 使用两个不同端口号的好处 </vt:lpstr>
      <vt:lpstr>NFS 采用另一种思路</vt:lpstr>
      <vt:lpstr>6.2.3  简单文件传送协议 TFTP  </vt:lpstr>
      <vt:lpstr>TFTP 的主要特点</vt:lpstr>
      <vt:lpstr>TFTP 的工作很像停止等待协议</vt:lpstr>
      <vt:lpstr>TFTP 的工作很像停止等待协议</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78</cp:revision>
  <dcterms:created xsi:type="dcterms:W3CDTF">2016-10-01T05:27:00Z</dcterms:created>
  <dcterms:modified xsi:type="dcterms:W3CDTF">2021-01-25T13:15:45Z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
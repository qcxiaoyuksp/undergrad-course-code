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8"/>
  </p:notesMasterIdLst>
  <p:handoutMasterIdLst>
    <p:handoutMasterId r:id="rId59"/>
  </p:handoutMasterIdLst>
  <p:sldIdLst>
    <p:sldId id="921" r:id="rId2"/>
    <p:sldId id="922" r:id="rId3"/>
    <p:sldId id="971" r:id="rId4"/>
    <p:sldId id="972" r:id="rId5"/>
    <p:sldId id="973" r:id="rId6"/>
    <p:sldId id="974" r:id="rId7"/>
    <p:sldId id="975" r:id="rId8"/>
    <p:sldId id="976" r:id="rId9"/>
    <p:sldId id="977" r:id="rId10"/>
    <p:sldId id="978" r:id="rId11"/>
    <p:sldId id="979" r:id="rId12"/>
    <p:sldId id="980" r:id="rId13"/>
    <p:sldId id="981" r:id="rId14"/>
    <p:sldId id="982" r:id="rId15"/>
    <p:sldId id="983" r:id="rId16"/>
    <p:sldId id="984" r:id="rId17"/>
    <p:sldId id="985" r:id="rId18"/>
    <p:sldId id="986" r:id="rId19"/>
    <p:sldId id="987" r:id="rId20"/>
    <p:sldId id="988" r:id="rId21"/>
    <p:sldId id="989" r:id="rId22"/>
    <p:sldId id="990" r:id="rId23"/>
    <p:sldId id="991" r:id="rId24"/>
    <p:sldId id="992" r:id="rId25"/>
    <p:sldId id="993" r:id="rId26"/>
    <p:sldId id="994" r:id="rId27"/>
    <p:sldId id="995" r:id="rId28"/>
    <p:sldId id="996" r:id="rId29"/>
    <p:sldId id="997" r:id="rId30"/>
    <p:sldId id="998" r:id="rId31"/>
    <p:sldId id="999" r:id="rId32"/>
    <p:sldId id="1000" r:id="rId33"/>
    <p:sldId id="1001" r:id="rId34"/>
    <p:sldId id="1002" r:id="rId35"/>
    <p:sldId id="1003" r:id="rId36"/>
    <p:sldId id="1004" r:id="rId37"/>
    <p:sldId id="1005" r:id="rId38"/>
    <p:sldId id="1006" r:id="rId39"/>
    <p:sldId id="1007" r:id="rId40"/>
    <p:sldId id="1008" r:id="rId41"/>
    <p:sldId id="1009" r:id="rId42"/>
    <p:sldId id="1010" r:id="rId43"/>
    <p:sldId id="1011" r:id="rId44"/>
    <p:sldId id="1012" r:id="rId45"/>
    <p:sldId id="1024" r:id="rId46"/>
    <p:sldId id="1013" r:id="rId47"/>
    <p:sldId id="1014" r:id="rId48"/>
    <p:sldId id="1015" r:id="rId49"/>
    <p:sldId id="1016" r:id="rId50"/>
    <p:sldId id="1017" r:id="rId51"/>
    <p:sldId id="1018" r:id="rId52"/>
    <p:sldId id="1019" r:id="rId53"/>
    <p:sldId id="1020" r:id="rId54"/>
    <p:sldId id="1021" r:id="rId55"/>
    <p:sldId id="1022" r:id="rId56"/>
    <p:sldId id="1023" r:id="rId57"/>
  </p:sldIdLst>
  <p:sldSz cx="9906000" cy="6858000" type="A4"/>
  <p:notesSz cx="9296400" cy="7010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CC"/>
    <a:srgbClr val="0000FF"/>
    <a:srgbClr val="000099"/>
    <a:srgbClr val="FFFF66"/>
    <a:srgbClr val="66FF66"/>
    <a:srgbClr val="00FF00"/>
    <a:srgbClr val="33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498" autoAdjust="0"/>
    <p:restoredTop sz="93175" autoAdjust="0"/>
  </p:normalViewPr>
  <p:slideViewPr>
    <p:cSldViewPr>
      <p:cViewPr varScale="1">
        <p:scale>
          <a:sx n="87" d="100"/>
          <a:sy n="87" d="100"/>
        </p:scale>
        <p:origin x="309" y="60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6" cy="72006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4029282" cy="3507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265014" y="0"/>
            <a:ext cx="4029282" cy="3507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560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6658443"/>
            <a:ext cx="4029282" cy="3507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56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265014" y="6658443"/>
            <a:ext cx="4029282" cy="3507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fld id="{247E18CD-0C18-4915-AB38-46FC6350B9AD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4029282" cy="3507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265014" y="0"/>
            <a:ext cx="4029282" cy="3507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12292" name="Rectangle 4"/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xfrm>
            <a:off x="2749550" y="525463"/>
            <a:ext cx="3797300" cy="26289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3" name="Rectangle 5"/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930482" y="3330419"/>
            <a:ext cx="7435436" cy="3154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en-US" altLang="zh-CN" smtClean="0"/>
          </a:p>
          <a:p>
            <a:pPr lvl="1"/>
            <a:r>
              <a:rPr lang="en-US" altLang="zh-CN" smtClean="0"/>
              <a:t>5656</a:t>
            </a:r>
          </a:p>
          <a:p>
            <a:pPr lvl="2"/>
            <a:r>
              <a:rPr lang="zh-CN" altLang="en-US" smtClean="0"/>
              <a:t>第三级</a:t>
            </a:r>
            <a:endParaRPr lang="en-US" altLang="zh-CN" smtClean="0"/>
          </a:p>
          <a:p>
            <a:pPr lvl="3"/>
            <a:r>
              <a:rPr lang="zh-CN" altLang="en-US" smtClean="0"/>
              <a:t>第四级</a:t>
            </a:r>
            <a:endParaRPr lang="en-US" altLang="zh-CN" smtClean="0"/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235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6658443"/>
            <a:ext cx="4029282" cy="3507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35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265014" y="6658443"/>
            <a:ext cx="4029282" cy="3507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fld id="{A143603D-CCA6-45D5-A59D-3B4CD9332246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9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7E34327-42A0-4EE6-949E-80DFB8CA1CF6}" type="slidenum">
              <a:rPr lang="zh-CN" altLang="en-US" smtClean="0">
                <a:latin typeface="宋体" panose="02010600030101010101" pitchFamily="2" charset="-122"/>
              </a:rPr>
              <a:pPr eaLnBrk="1" hangingPunct="1"/>
              <a:t>1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681986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681987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0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5476548-CD35-43C0-BB80-B9281B467141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3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770050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770051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09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4A55B92-4AF4-4982-A040-B87BBFBC04E3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4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772098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772099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1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fld id="{736F406D-02D1-41D7-80FC-C5802CFCC408}" type="slidenum">
              <a:rPr lang="en-US" altLang="zh-CN" smtClean="0"/>
              <a:pPr/>
              <a:t>5</a:t>
            </a:fld>
            <a:endParaRPr lang="en-US" altLang="zh-CN" smtClean="0"/>
          </a:p>
        </p:txBody>
      </p:sp>
      <p:sp>
        <p:nvSpPr>
          <p:cNvPr id="774146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774147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1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fld id="{A1A67471-3596-4E44-A9E3-631B731A20BE}" type="slidenum">
              <a:rPr lang="en-US" altLang="zh-CN" smtClean="0"/>
              <a:pPr/>
              <a:t>6</a:t>
            </a:fld>
            <a:endParaRPr lang="en-US" altLang="zh-CN" smtClean="0"/>
          </a:p>
        </p:txBody>
      </p:sp>
      <p:sp>
        <p:nvSpPr>
          <p:cNvPr id="776194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776195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fld id="{8C91944D-8B9A-4B8A-8983-DB1CB2DB9DC6}" type="slidenum">
              <a:rPr lang="en-US" altLang="zh-CN" smtClean="0"/>
              <a:pPr/>
              <a:t>7</a:t>
            </a:fld>
            <a:endParaRPr lang="en-US" altLang="zh-CN" smtClean="0"/>
          </a:p>
        </p:txBody>
      </p:sp>
      <p:sp>
        <p:nvSpPr>
          <p:cNvPr id="778242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778243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28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fld id="{3B955FED-6472-4FD8-A21E-F385B6DFEBF3}" type="slidenum">
              <a:rPr lang="en-US" altLang="zh-CN" smtClean="0"/>
              <a:pPr/>
              <a:t>8</a:t>
            </a:fld>
            <a:endParaRPr lang="en-US" altLang="zh-CN" smtClean="0"/>
          </a:p>
        </p:txBody>
      </p:sp>
      <p:sp>
        <p:nvSpPr>
          <p:cNvPr id="780290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780291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3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E82C6AE-083C-49DE-BF16-8554CBB18AB6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9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782338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782339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3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7FEF8D0-FCCF-41EA-B631-D37B9E19DFED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10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784386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784387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4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C5ED9FA-430E-4266-A205-0C0F42DDEB19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11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786434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786435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8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021B025-E8DF-4F23-AC65-1FB8D50A2821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12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788482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788483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5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69B7FEC-74B3-4E36-BE22-9A49E8F67AEB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14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791554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791555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60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563A055-3DDA-4192-8B6F-A478BB52892A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15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793602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793603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6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E08AED0-BBBA-47AD-883B-EB72C45AE49A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16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795650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795651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69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C81D63C-C8C7-4B8C-A0D8-B29C08FF8DD7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17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797698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797699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76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5F5190A-5802-458E-A211-23C55F3C95D3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19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800770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800771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8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32F6DFB-2CB8-4270-A1F3-C6B0C46C65CB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20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802818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802819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8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F541EDB-8B2D-4852-855B-799F8A5EC9C5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21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804866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804867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91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5CB1E3B-D169-4A06-8219-C351DD0690B9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22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806914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806915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EC8C43AF-D443-49BB-926B-B814057085CA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23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808962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808963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00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0860223-A8FD-49AD-B40B-760E80C048B6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24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811010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811011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0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BDA3851-A64C-4235-A1BE-6E39CFC29AFA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25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813058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813059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1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E14FD9D-9ECD-4F3E-A34E-ED329CF86EA3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26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815106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815107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1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fld id="{C7FC5186-95DD-4B2B-8D95-0CD375A898A7}" type="slidenum">
              <a:rPr lang="en-US" altLang="zh-CN" smtClean="0"/>
              <a:pPr/>
              <a:t>27</a:t>
            </a:fld>
            <a:endParaRPr lang="en-US" altLang="zh-CN" smtClean="0"/>
          </a:p>
        </p:txBody>
      </p:sp>
      <p:sp>
        <p:nvSpPr>
          <p:cNvPr id="817154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817155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0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fld id="{3BAC92E9-300E-4020-83C4-8F93737CECF2}" type="slidenum">
              <a:rPr lang="en-US" altLang="zh-CN" smtClean="0"/>
              <a:pPr/>
              <a:t>28</a:t>
            </a:fld>
            <a:endParaRPr lang="en-US" altLang="zh-CN" smtClean="0"/>
          </a:p>
        </p:txBody>
      </p:sp>
      <p:sp>
        <p:nvSpPr>
          <p:cNvPr id="819202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819203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2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fld id="{2AC2CA33-923E-4152-83BA-9434831FCFB0}" type="slidenum">
              <a:rPr lang="en-US" altLang="zh-CN" smtClean="0"/>
              <a:pPr/>
              <a:t>29</a:t>
            </a:fld>
            <a:endParaRPr lang="en-US" altLang="zh-CN" smtClean="0"/>
          </a:p>
        </p:txBody>
      </p:sp>
      <p:sp>
        <p:nvSpPr>
          <p:cNvPr id="821250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821251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29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F2927C6-3EEE-49DA-91DA-CFE7A2A166F1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30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823298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823299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3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3E01B9C-58CA-41F9-A6A3-AFE07C788CAA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31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825346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825347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3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B8EA395-3FA1-4ACD-A0BC-DA0A3E05E075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32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827394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827395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87B7264-B539-46AF-84D6-8B8CEAD240C5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33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829442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829443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48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CAD0678-6DA1-4248-9C5A-33B6CCAA62C2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34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831490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831491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5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50AD70B-128B-4202-8EC3-13A62A4BE75C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35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833538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833539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5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E272F6F-F6AF-4393-A781-684E4D813E53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36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835586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835587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6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CB19E22-B804-4F8B-9B8D-2A6F4B341A5A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38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838658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838659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72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E96E94B3-B4B3-4647-A9CC-B18BA6AEF3E3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40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841730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841731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7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60B8E03-304A-4C5F-A64C-4D9039A55019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41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843778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843779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8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fld id="{1E9F6F67-4C72-4C0C-99B6-802A310B6F6C}" type="slidenum">
              <a:rPr lang="en-US" altLang="zh-CN" smtClean="0"/>
              <a:pPr/>
              <a:t>42</a:t>
            </a:fld>
            <a:endParaRPr lang="en-US" altLang="zh-CN" smtClean="0"/>
          </a:p>
        </p:txBody>
      </p:sp>
      <p:sp>
        <p:nvSpPr>
          <p:cNvPr id="845826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845827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8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FF64376-5923-4963-97A7-40D1FE593D8C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43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847874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847875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fld id="{333E2632-FCAF-4B08-937F-19E5F656BC78}" type="slidenum">
              <a:rPr lang="en-US" altLang="zh-CN" smtClean="0"/>
              <a:pPr/>
              <a:t>44</a:t>
            </a:fld>
            <a:endParaRPr lang="en-US" altLang="zh-CN" smtClean="0"/>
          </a:p>
        </p:txBody>
      </p:sp>
      <p:sp>
        <p:nvSpPr>
          <p:cNvPr id="849922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849923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96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912826D-CC2C-4DA9-BEBA-E0BD059C05A9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46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851970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851971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0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96056E7-BA2E-4311-9C7D-A5E67C28382E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47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854018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854019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0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FD47C39-473A-4557-9E34-C727B7E482A9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48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856066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856067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11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fld id="{C77C1AE0-28AA-4B90-8A04-7BBFF6DD4B3D}" type="slidenum">
              <a:rPr lang="en-US" altLang="zh-CN" smtClean="0"/>
              <a:pPr/>
              <a:t>49</a:t>
            </a:fld>
            <a:endParaRPr lang="en-US" altLang="zh-CN" smtClean="0"/>
          </a:p>
        </p:txBody>
      </p:sp>
      <p:sp>
        <p:nvSpPr>
          <p:cNvPr id="858114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858115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BA5AB1E-D3D7-4759-A3C6-EA4877D083A9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50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860162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860163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20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F007FBB-4B26-4CA5-9127-278E018A532E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51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862210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862211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2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428A0AA-5C7C-4FD6-B90C-2F01702FCFFC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52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864258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864259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3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8243095-953D-442D-BEE5-8141461B33C0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53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866306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866307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3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B99D72C-F991-4302-AA31-9A795614B039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54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868354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868355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0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7E6767A-1D3B-48ED-B2E3-F5FA613702E8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55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870402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870403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 descr="Gold bar"/>
          <p:cNvSpPr>
            <a:spLocks noChangeArrowheads="1"/>
          </p:cNvSpPr>
          <p:nvPr/>
        </p:nvSpPr>
        <p:spPr bwMode="auto">
          <a:xfrm>
            <a:off x="247650" y="2889250"/>
            <a:ext cx="3109913" cy="2016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" name="Rectangle 9" descr="Orange bar"/>
          <p:cNvSpPr>
            <a:spLocks noChangeArrowheads="1"/>
          </p:cNvSpPr>
          <p:nvPr/>
        </p:nvSpPr>
        <p:spPr bwMode="auto">
          <a:xfrm>
            <a:off x="3357563" y="2889250"/>
            <a:ext cx="3108325" cy="20161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" name="Rectangle 10" descr="Slate bar"/>
          <p:cNvSpPr>
            <a:spLocks noChangeArrowheads="1"/>
          </p:cNvSpPr>
          <p:nvPr/>
        </p:nvSpPr>
        <p:spPr bwMode="auto">
          <a:xfrm>
            <a:off x="6465888" y="2889250"/>
            <a:ext cx="3109912" cy="201613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>
              <a:solidFill>
                <a:srgbClr val="333399"/>
              </a:solidFill>
              <a:ea typeface="宋体" panose="02010600030101010101" pitchFamily="2" charset="-122"/>
            </a:endParaRPr>
          </a:p>
        </p:txBody>
      </p:sp>
      <p:sp>
        <p:nvSpPr>
          <p:cNvPr id="1638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42950" y="685800"/>
            <a:ext cx="8420100" cy="2127250"/>
          </a:xfrm>
        </p:spPr>
        <p:txBody>
          <a:bodyPr/>
          <a:lstStyle>
            <a:lvl1pPr algn="ctr">
              <a:defRPr sz="5400" b="1">
                <a:solidFill>
                  <a:srgbClr val="333399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pPr lvl="0"/>
            <a:r>
              <a:rPr lang="zh-CN" altLang="en-US" noProof="0" dirty="0"/>
              <a:t>单击此处编辑母版标题样式</a:t>
            </a:r>
            <a:endParaRPr lang="en-US" altLang="zh-CN" noProof="0" dirty="0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85900" y="3270250"/>
            <a:ext cx="6934200" cy="22098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3600" b="1"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pPr lvl="0"/>
            <a:r>
              <a:rPr lang="zh-CN" altLang="en-US" noProof="0" dirty="0"/>
              <a:t>单击此处编辑母版副标题样式</a:t>
            </a:r>
            <a:endParaRPr lang="en-US" altLang="zh-CN" noProof="0" dirty="0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D2C440-9E6A-4430-8BAD-CF78432C284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89173260"/>
      </p:ext>
    </p:extLst>
  </p:cSld>
  <p:clrMapOvr>
    <a:masterClrMapping/>
  </p:clrMapOvr>
  <p:hf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5300" y="1196752"/>
            <a:ext cx="9066212" cy="4934173"/>
          </a:xfrm>
        </p:spPr>
        <p:txBody>
          <a:bodyPr/>
          <a:lstStyle>
            <a:lvl1pPr>
              <a:lnSpc>
                <a:spcPct val="110000"/>
              </a:lnSpc>
              <a:spcBef>
                <a:spcPts val="600"/>
              </a:spcBef>
              <a:defRPr sz="32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lnSpc>
                <a:spcPct val="110000"/>
              </a:lnSpc>
              <a:spcBef>
                <a:spcPts val="600"/>
              </a:spcBef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lnSpc>
                <a:spcPct val="110000"/>
              </a:lnSpc>
              <a:spcBef>
                <a:spcPts val="600"/>
              </a:spcBef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lnSpc>
                <a:spcPct val="110000"/>
              </a:lnSpc>
              <a:spcBef>
                <a:spcPts val="600"/>
              </a:spcBef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lnSpc>
                <a:spcPct val="110000"/>
              </a:lnSpc>
              <a:spcBef>
                <a:spcPts val="600"/>
              </a:spcBef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dirty="0"/>
            </a:lvl1pPr>
          </a:lstStyle>
          <a:p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324A7B3-BB3D-430C-9416-57B4A4106B8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63474879"/>
      </p:ext>
    </p:extLst>
  </p:cSld>
  <p:clrMapOvr>
    <a:masterClrMapping/>
  </p:clrMapOvr>
  <p:hf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634858" cy="1362075"/>
          </a:xfrm>
        </p:spPr>
        <p:txBody>
          <a:bodyPr anchor="t"/>
          <a:lstStyle>
            <a:lvl1pPr algn="l">
              <a:defRPr sz="4400" b="1" cap="all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634858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31B3705-864E-4D65-9C72-61CB65F1C9F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77824084"/>
      </p:ext>
    </p:extLst>
  </p:cSld>
  <p:clrMapOvr>
    <a:masterClrMapping/>
  </p:clrMapOvr>
  <p:hf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95300" y="1196752"/>
            <a:ext cx="4460304" cy="4934173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buClr>
                <a:schemeClr val="accent2"/>
              </a:buCl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buClr>
                <a:srgbClr val="333399"/>
              </a:buCl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01208" y="1196752"/>
            <a:ext cx="4460304" cy="4934173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buClr>
                <a:schemeClr val="accent2"/>
              </a:buCl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buClr>
                <a:srgbClr val="333399"/>
              </a:buCl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8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D5D87F-0A7A-4AA9-BC3A-2693AF527683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49220879"/>
      </p:ext>
    </p:extLst>
  </p:cSld>
  <p:clrMapOvr>
    <a:masterClrMapping/>
  </p:clrMapOvr>
  <p:hf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95299" y="1207874"/>
            <a:ext cx="4455513" cy="639762"/>
          </a:xfrm>
        </p:spPr>
        <p:txBody>
          <a:bodyPr anchor="b"/>
          <a:lstStyle>
            <a:lvl1pPr marL="0" indent="0">
              <a:buNone/>
              <a:defRPr sz="2800" b="1">
                <a:latin typeface="+mn-lt"/>
                <a:ea typeface="黑体" panose="02010609060101010101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5299" y="1872534"/>
            <a:ext cx="4455513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104383" y="1207874"/>
            <a:ext cx="4457129" cy="639762"/>
          </a:xfrm>
        </p:spPr>
        <p:txBody>
          <a:bodyPr anchor="b"/>
          <a:lstStyle>
            <a:lvl1pPr marL="0" indent="0">
              <a:buNone/>
              <a:defRPr sz="2800" b="1">
                <a:latin typeface="+mn-lt"/>
                <a:ea typeface="黑体" panose="02010609060101010101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04383" y="1872534"/>
            <a:ext cx="4457129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8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10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22B1608-A69B-485F-95FB-95438C61343E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49984336"/>
      </p:ext>
    </p:extLst>
  </p:cSld>
  <p:clrMapOvr>
    <a:masterClrMapping/>
  </p:clrMapOvr>
  <p:hf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95299" y="1207874"/>
            <a:ext cx="9066213" cy="639762"/>
          </a:xfrm>
        </p:spPr>
        <p:txBody>
          <a:bodyPr anchor="b"/>
          <a:lstStyle>
            <a:lvl1pPr marL="0" indent="0">
              <a:buNone/>
              <a:defRPr sz="3200" b="1">
                <a:latin typeface="+mn-lt"/>
                <a:ea typeface="黑体" panose="02010609060101010101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5299" y="1872534"/>
            <a:ext cx="4455513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04383" y="1872534"/>
            <a:ext cx="4457129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8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10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B6D876-83A9-45DC-A9A8-45B00DF3B1A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10569552"/>
      </p:ext>
    </p:extLst>
  </p:cSld>
  <p:clrMapOvr>
    <a:masterClrMapping/>
  </p:clrMapOvr>
  <p:hf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661C98-5699-4428-B37E-AF7B2204936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63861348"/>
      </p:ext>
    </p:extLst>
  </p:cSld>
  <p:clrMapOvr>
    <a:masterClrMapping/>
  </p:clrMapOvr>
  <p:hf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F377DAC-F69D-47B1-9C81-D9ECC8A84006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42894119"/>
      </p:ext>
    </p:extLst>
  </p:cSld>
  <p:clrMapOvr>
    <a:masterClrMapping/>
  </p:clrMapOvr>
  <p:hf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73500" y="273050"/>
            <a:ext cx="56880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03CC55C-0818-484B-95B1-0D6AEF3A512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88653774"/>
      </p:ext>
    </p:extLst>
  </p:cSld>
  <p:clrMapOvr>
    <a:masterClrMapping/>
  </p:clrMapOvr>
  <p:hf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noProof="1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AABBE44-C760-482C-BBF4-1AD90914546D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36825503"/>
      </p:ext>
    </p:extLst>
  </p:cSld>
  <p:clrMapOvr>
    <a:masterClrMapping/>
  </p:clrMapOvr>
  <p:hf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AE9711-D2FE-4E38-90AE-D1E297BAFE8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73581823"/>
      </p:ext>
    </p:extLst>
  </p:cSld>
  <p:clrMapOvr>
    <a:masterClrMapping/>
  </p:clrMapOvr>
  <p:hf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181850" y="277813"/>
            <a:ext cx="2379662" cy="5853112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95300" y="277813"/>
            <a:ext cx="6534150" cy="5853112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4B43DEA-F75B-4EB0-9B6A-B5DA8DF75583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3245461"/>
      </p:ext>
    </p:extLst>
  </p:cSld>
  <p:clrMapOvr>
    <a:masterClrMapping/>
  </p:clrMapOvr>
  <p:hf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8504" y="188640"/>
            <a:ext cx="8915400" cy="792088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95300" y="1196752"/>
            <a:ext cx="4381500" cy="493417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5029200" y="1196752"/>
            <a:ext cx="4381500" cy="23765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5029200" y="3754339"/>
            <a:ext cx="4381500" cy="2376586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日期占位符 5"/>
          <p:cNvSpPr>
            <a:spLocks noGrp="1"/>
          </p:cNvSpPr>
          <p:nvPr>
            <p:ph type="dt" sz="half" idx="10"/>
          </p:nvPr>
        </p:nvSpPr>
        <p:spPr>
          <a:xfrm>
            <a:off x="495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6"/>
          <p:cNvSpPr>
            <a:spLocks noGrp="1"/>
          </p:cNvSpPr>
          <p:nvPr>
            <p:ph type="ftr" sz="quarter" idx="11"/>
          </p:nvPr>
        </p:nvSpPr>
        <p:spPr>
          <a:xfrm>
            <a:off x="3384550" y="6248400"/>
            <a:ext cx="31369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9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7099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fld id="{81D9F3F7-388B-412F-8C50-0C2AA03CD55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37343236"/>
      </p:ext>
    </p:extLst>
  </p:cSld>
  <p:clrMapOvr>
    <a:masterClrMapping/>
  </p:clrMapOvr>
  <p:hf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标题，文本与剪贴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1"/>
            <a:ext cx="8915400" cy="792087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95300" y="1196752"/>
            <a:ext cx="4381500" cy="493417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剪贴画占位符 3"/>
          <p:cNvSpPr>
            <a:spLocks noGrp="1"/>
          </p:cNvSpPr>
          <p:nvPr>
            <p:ph type="clipArt" sz="half" idx="2" hasCustomPrompt="1"/>
          </p:nvPr>
        </p:nvSpPr>
        <p:spPr>
          <a:xfrm>
            <a:off x="5029200" y="1196752"/>
            <a:ext cx="4381500" cy="4934173"/>
          </a:xfrm>
        </p:spPr>
        <p:txBody>
          <a:bodyPr/>
          <a:lstStyle/>
          <a:p>
            <a:r>
              <a:rPr lang="zh-CN" altLang="en-US" noProof="1"/>
              <a:t>单击图标添加剪 贴画</a:t>
            </a:r>
          </a:p>
        </p:txBody>
      </p:sp>
      <p:sp>
        <p:nvSpPr>
          <p:cNvPr id="6" name="日期占位符 4"/>
          <p:cNvSpPr>
            <a:spLocks noGrp="1"/>
          </p:cNvSpPr>
          <p:nvPr>
            <p:ph type="dt" sz="half" idx="10"/>
          </p:nvPr>
        </p:nvSpPr>
        <p:spPr>
          <a:xfrm>
            <a:off x="495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384550" y="6248400"/>
            <a:ext cx="31369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8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7099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fld id="{1662586B-82D2-4BB4-820A-EB888FEA84BB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84524900"/>
      </p:ext>
    </p:extLst>
  </p:cSld>
  <p:clrMapOvr>
    <a:masterClrMapping/>
  </p:clrMapOvr>
  <p:hf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95300" y="188913"/>
            <a:ext cx="9066213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en-US" altLang="zh-CN" smtClean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95300" y="1196975"/>
            <a:ext cx="9066213" cy="493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en-US" altLang="zh-CN" smtClean="0"/>
          </a:p>
          <a:p>
            <a:pPr lvl="1"/>
            <a:r>
              <a:rPr lang="zh-CN" altLang="en-US" smtClean="0"/>
              <a:t>第二级</a:t>
            </a:r>
            <a:endParaRPr lang="en-US" altLang="zh-CN" smtClean="0"/>
          </a:p>
          <a:p>
            <a:pPr lvl="2"/>
            <a:r>
              <a:rPr lang="zh-CN" altLang="en-US" smtClean="0"/>
              <a:t>第三级</a:t>
            </a:r>
            <a:endParaRPr lang="en-US" altLang="zh-CN" smtClean="0"/>
          </a:p>
          <a:p>
            <a:pPr lvl="3"/>
            <a:r>
              <a:rPr lang="zh-CN" altLang="en-US" smtClean="0"/>
              <a:t>第四级</a:t>
            </a:r>
            <a:endParaRPr lang="en-US" altLang="zh-CN" smtClean="0"/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95300" y="6356350"/>
            <a:ext cx="2311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000" noProof="1" dirty="0"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1536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84550" y="6356350"/>
            <a:ext cx="3136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000" noProof="1">
                <a:ea typeface="宋体" panose="02010600030101010101" pitchFamily="2" charset="-122"/>
              </a:defRPr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99300" y="6356350"/>
            <a:ext cx="2311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000" noProof="1">
                <a:ea typeface="宋体" panose="02010600030101010101" pitchFamily="2" charset="-122"/>
              </a:defRPr>
            </a:lvl1pPr>
          </a:lstStyle>
          <a:p>
            <a:fld id="{64D427D7-2ECD-47CB-B1DF-7A19DDD78A9B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1031" name="Rectangle 7" descr="Gold bar"/>
          <p:cNvSpPr>
            <a:spLocks noChangeArrowheads="1"/>
          </p:cNvSpPr>
          <p:nvPr/>
        </p:nvSpPr>
        <p:spPr bwMode="auto">
          <a:xfrm>
            <a:off x="0" y="0"/>
            <a:ext cx="247650" cy="2286000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32" name="Rectangle 9" descr="Orange bar"/>
          <p:cNvSpPr>
            <a:spLocks noChangeArrowheads="1"/>
          </p:cNvSpPr>
          <p:nvPr/>
        </p:nvSpPr>
        <p:spPr bwMode="auto">
          <a:xfrm>
            <a:off x="0" y="2286000"/>
            <a:ext cx="247650" cy="2286000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33" name="Rectangle 10" descr="Slate bar"/>
          <p:cNvSpPr>
            <a:spLocks noChangeArrowheads="1"/>
          </p:cNvSpPr>
          <p:nvPr/>
        </p:nvSpPr>
        <p:spPr bwMode="auto">
          <a:xfrm>
            <a:off x="0" y="4572000"/>
            <a:ext cx="247650" cy="2286000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034" name="Picture 2" descr="computer networking 的图像结果"/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4900" y="188913"/>
            <a:ext cx="1123950" cy="81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5" name="AutoShape 5" descr="https://publicrelationssydney.com.au/wp-content/uploads/2013/01/shutterstock_80434384.jpg"/>
          <p:cNvSpPr>
            <a:spLocks noChangeAspect="1" noChangeArrowheads="1"/>
          </p:cNvSpPr>
          <p:nvPr userDrawn="1"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69" r:id="rId3"/>
    <p:sldLayoutId id="2147483672" r:id="rId4"/>
    <p:sldLayoutId id="2147483673" r:id="rId5"/>
    <p:sldLayoutId id="2147483674" r:id="rId6"/>
    <p:sldLayoutId id="2147483675" r:id="rId7"/>
    <p:sldLayoutId id="2147483668" r:id="rId8"/>
    <p:sldLayoutId id="2147483667" r:id="rId9"/>
    <p:sldLayoutId id="2147483666" r:id="rId10"/>
    <p:sldLayoutId id="2147483665" r:id="rId11"/>
    <p:sldLayoutId id="2147483664" r:id="rId12"/>
    <p:sldLayoutId id="2147483676" r:id="rId13"/>
    <p:sldLayoutId id="2147483677" r:id="rId14"/>
  </p:sldLayoutIdLst>
  <p:hf/>
  <p:txStyles>
    <p:titleStyle>
      <a:lvl1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+mn-lt"/>
          <a:ea typeface="黑体" panose="02010609060101010101" pitchFamily="2" charset="-122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49" charset="-122"/>
        </a:defRPr>
      </a:lvl2pPr>
      <a:lvl3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49" charset="-122"/>
        </a:defRPr>
      </a:lvl3pPr>
      <a:lvl4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49" charset="-122"/>
        </a:defRPr>
      </a:lvl4pPr>
      <a:lvl5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49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rgbClr val="333399"/>
        </a:buClr>
        <a:buSzPct val="75000"/>
        <a:buFont typeface="Wingdings" panose="05000000000000000000" pitchFamily="2" charset="2"/>
        <a:buChar char="n"/>
        <a:defRPr sz="3200" b="1">
          <a:solidFill>
            <a:schemeClr val="tx1"/>
          </a:solidFill>
          <a:latin typeface="+mn-lt"/>
          <a:ea typeface="黑体" panose="02010609060101010101" pitchFamily="2" charset="-122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n"/>
        <a:defRPr sz="2800" b="1">
          <a:solidFill>
            <a:schemeClr val="tx1"/>
          </a:solidFill>
          <a:latin typeface="+mn-lt"/>
          <a:ea typeface="黑体" panose="02010609060101010101" pitchFamily="2" charset="-122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rgbClr val="333399"/>
        </a:buClr>
        <a:buSzPct val="65000"/>
        <a:buFont typeface="Wingdings" panose="05000000000000000000" pitchFamily="2" charset="2"/>
        <a:buChar char="p"/>
        <a:defRPr sz="2400" b="1">
          <a:solidFill>
            <a:schemeClr val="tx1"/>
          </a:solidFill>
          <a:latin typeface="+mn-lt"/>
          <a:ea typeface="黑体" panose="02010609060101010101" pitchFamily="2" charset="-122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黑体" panose="02010609060101010101" pitchFamily="2" charset="-122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rgbClr val="333399"/>
        </a:buClr>
        <a:buSzPct val="60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黑体" panose="02010609060101010101" pitchFamily="2" charset="-122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w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wmf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8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8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8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7.xml"/><Relationship Id="rId7" Type="http://schemas.openxmlformats.org/officeDocument/2006/relationships/image" Target="../media/image2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7.e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3.wmf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961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>
                <a:latin typeface="Arial" panose="020B0604020202020204" pitchFamily="34" charset="0"/>
                <a:ea typeface="黑体" panose="02010609060101010101" pitchFamily="49" charset="-122"/>
              </a:rPr>
              <a:t>第 </a:t>
            </a:r>
            <a:r>
              <a:rPr lang="en-US" altLang="zh-CN" dirty="0" smtClean="0">
                <a:latin typeface="Arial" panose="020B0604020202020204" pitchFamily="34" charset="0"/>
                <a:ea typeface="黑体" panose="02010609060101010101" pitchFamily="49" charset="-122"/>
              </a:rPr>
              <a:t>4 </a:t>
            </a:r>
            <a:r>
              <a:rPr lang="zh-CN" altLang="en-US" dirty="0" smtClean="0">
                <a:latin typeface="Arial" panose="020B0604020202020204" pitchFamily="34" charset="0"/>
                <a:ea typeface="黑体" panose="02010609060101010101" pitchFamily="49" charset="-122"/>
              </a:rPr>
              <a:t>章  网络层</a:t>
            </a:r>
          </a:p>
        </p:txBody>
      </p:sp>
      <p:sp>
        <p:nvSpPr>
          <p:cNvPr id="680962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 smtClean="0">
                <a:latin typeface="黑体" panose="02010609060101010101" pitchFamily="49" charset="-122"/>
                <a:ea typeface="宋体" panose="02010600030101010101" pitchFamily="2" charset="-122"/>
              </a:rPr>
              <a:t>4.2.3-4.2.6</a:t>
            </a:r>
            <a:endParaRPr lang="zh-CN" altLang="en-US" dirty="0" smtClean="0">
              <a:latin typeface="黑体" panose="02010609060101010101" pitchFamily="49" charset="-122"/>
              <a:ea typeface="宋体" panose="02010600030101010101" pitchFamily="2" charset="-122"/>
            </a:endParaRPr>
          </a:p>
        </p:txBody>
      </p:sp>
      <p:sp>
        <p:nvSpPr>
          <p:cNvPr id="680963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B03E797-DCB6-47D1-8B6D-3149BD091FE8}" type="slidenum">
              <a:rPr lang="zh-CN" altLang="en-US" smtClean="0"/>
              <a:pPr eaLnBrk="1" hangingPunct="1"/>
              <a:t>1</a:t>
            </a:fld>
            <a:endParaRPr lang="en-US" altLang="zh-CN" smtClean="0"/>
          </a:p>
        </p:txBody>
      </p:sp>
      <p:sp>
        <p:nvSpPr>
          <p:cNvPr id="680964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009" name="标题 1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r>
              <a:rPr lang="zh-CN" altLang="zh-CN" smtClean="0">
                <a:ea typeface="黑体" panose="02010609060101010101" pitchFamily="49" charset="-122"/>
              </a:rPr>
              <a:t>第</a:t>
            </a:r>
            <a:r>
              <a:rPr lang="en-US" altLang="zh-CN" smtClean="0">
                <a:ea typeface="黑体" panose="02010609060101010101" pitchFamily="49" charset="-122"/>
              </a:rPr>
              <a:t> 4 </a:t>
            </a:r>
            <a:r>
              <a:rPr lang="zh-CN" altLang="zh-CN" smtClean="0">
                <a:ea typeface="黑体" panose="02010609060101010101" pitchFamily="49" charset="-122"/>
              </a:rPr>
              <a:t>章</a:t>
            </a:r>
            <a:r>
              <a:rPr lang="en-US" altLang="zh-CN" smtClean="0">
                <a:ea typeface="黑体" panose="02010609060101010101" pitchFamily="49" charset="-122"/>
              </a:rPr>
              <a:t>  </a:t>
            </a:r>
            <a:r>
              <a:rPr lang="zh-CN" altLang="en-US" smtClean="0">
                <a:ea typeface="黑体" panose="02010609060101010101" pitchFamily="49" charset="-122"/>
              </a:rPr>
              <a:t>网络</a:t>
            </a:r>
            <a:r>
              <a:rPr lang="zh-CN" altLang="zh-CN" smtClean="0">
                <a:ea typeface="黑体" panose="02010609060101010101" pitchFamily="49" charset="-122"/>
              </a:rPr>
              <a:t>层</a:t>
            </a:r>
            <a:endParaRPr lang="zh-CN" altLang="en-US" smtClean="0">
              <a:ea typeface="黑体" panose="02010609060101010101" pitchFamily="49" charset="-122"/>
            </a:endParaRPr>
          </a:p>
        </p:txBody>
      </p:sp>
      <p:sp>
        <p:nvSpPr>
          <p:cNvPr id="683010" name="内容占位符 2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altLang="zh-CN" dirty="0" smtClean="0">
                <a:ea typeface="黑体" panose="02010609060101010101" pitchFamily="49" charset="-122"/>
              </a:rPr>
              <a:t>4.2  </a:t>
            </a:r>
            <a:r>
              <a:rPr lang="zh-CN" altLang="zh-CN" dirty="0" smtClean="0">
                <a:ea typeface="黑体" panose="02010609060101010101" pitchFamily="49" charset="-122"/>
              </a:rPr>
              <a:t>网际协议</a:t>
            </a:r>
            <a:r>
              <a:rPr lang="en-US" altLang="zh-CN" dirty="0" smtClean="0">
                <a:ea typeface="黑体" panose="02010609060101010101" pitchFamily="49" charset="-122"/>
              </a:rPr>
              <a:t> IP</a:t>
            </a:r>
            <a:endParaRPr lang="zh-CN" altLang="zh-CN" dirty="0" smtClean="0">
              <a:ea typeface="黑体" panose="02010609060101010101" pitchFamily="49" charset="-122"/>
            </a:endParaRPr>
          </a:p>
        </p:txBody>
      </p:sp>
      <p:sp>
        <p:nvSpPr>
          <p:cNvPr id="683011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03C0B59-1926-4796-88E3-866E465222EE}" type="slidenum">
              <a:rPr lang="zh-CN" altLang="en-US" smtClean="0"/>
              <a:pPr eaLnBrk="1" hangingPunct="1"/>
              <a:t>2</a:t>
            </a:fld>
            <a:endParaRPr lang="en-US" altLang="zh-CN" smtClean="0"/>
          </a:p>
        </p:txBody>
      </p:sp>
      <p:sp>
        <p:nvSpPr>
          <p:cNvPr id="683012" name="页脚占位符 6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025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r>
              <a:rPr lang="en-US" altLang="zh-CN" smtClean="0">
                <a:ea typeface="黑体" panose="02010609060101010101" pitchFamily="49" charset="-122"/>
              </a:rPr>
              <a:t>4.2.3  IP </a:t>
            </a:r>
            <a:r>
              <a:rPr lang="zh-CN" altLang="zh-CN" smtClean="0">
                <a:ea typeface="黑体" panose="02010609060101010101" pitchFamily="49" charset="-122"/>
              </a:rPr>
              <a:t>地址与硬件地址</a:t>
            </a:r>
            <a:endParaRPr lang="zh-CN" altLang="en-US" smtClean="0">
              <a:ea typeface="黑体" panose="02010609060101010101" pitchFamily="49" charset="-122"/>
            </a:endParaRPr>
          </a:p>
        </p:txBody>
      </p:sp>
      <p:sp>
        <p:nvSpPr>
          <p:cNvPr id="769026" name="内容占位符 1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en-US" altLang="zh-CN" dirty="0" smtClean="0">
                <a:ea typeface="黑体" panose="02010609060101010101" pitchFamily="49" charset="-122"/>
              </a:rPr>
              <a:t>IP </a:t>
            </a:r>
            <a:r>
              <a:rPr lang="zh-CN" altLang="zh-CN" dirty="0" smtClean="0">
                <a:ea typeface="黑体" panose="02010609060101010101" pitchFamily="49" charset="-122"/>
              </a:rPr>
              <a:t>地址与硬件地址</a:t>
            </a:r>
            <a:r>
              <a:rPr lang="zh-CN" altLang="en-US" dirty="0" smtClean="0">
                <a:ea typeface="黑体" panose="02010609060101010101" pitchFamily="49" charset="-122"/>
              </a:rPr>
              <a:t>是不同的地址。</a:t>
            </a:r>
            <a:endParaRPr lang="en-US" altLang="zh-CN" dirty="0" smtClean="0">
              <a:ea typeface="黑体" panose="02010609060101010101" pitchFamily="49" charset="-122"/>
            </a:endParaRPr>
          </a:p>
          <a:p>
            <a:r>
              <a:rPr lang="zh-CN" altLang="zh-CN" dirty="0" smtClean="0">
                <a:ea typeface="黑体" panose="02010609060101010101" pitchFamily="49" charset="-122"/>
              </a:rPr>
              <a:t>从层次的角度看，</a:t>
            </a:r>
            <a:endParaRPr lang="en-US" altLang="zh-CN" dirty="0" smtClean="0">
              <a:ea typeface="黑体" panose="02010609060101010101" pitchFamily="49" charset="-122"/>
            </a:endParaRPr>
          </a:p>
          <a:p>
            <a:pPr lvl="1"/>
            <a:r>
              <a:rPr lang="zh-CN" altLang="en-US" dirty="0" smtClean="0">
                <a:solidFill>
                  <a:srgbClr val="FF0000"/>
                </a:solidFill>
                <a:ea typeface="黑体" panose="02010609060101010101" pitchFamily="49" charset="-122"/>
              </a:rPr>
              <a:t>硬件地址（或</a:t>
            </a:r>
            <a:r>
              <a:rPr lang="zh-CN" altLang="zh-CN" dirty="0" smtClean="0">
                <a:solidFill>
                  <a:srgbClr val="FF0000"/>
                </a:solidFill>
                <a:ea typeface="黑体" panose="02010609060101010101" pitchFamily="49" charset="-122"/>
              </a:rPr>
              <a:t>物理地址</a:t>
            </a:r>
            <a:r>
              <a:rPr lang="zh-CN" altLang="en-US" dirty="0" smtClean="0">
                <a:solidFill>
                  <a:srgbClr val="FF0000"/>
                </a:solidFill>
                <a:ea typeface="黑体" panose="02010609060101010101" pitchFamily="49" charset="-122"/>
              </a:rPr>
              <a:t>）</a:t>
            </a:r>
            <a:r>
              <a:rPr lang="zh-CN" altLang="zh-CN" dirty="0" smtClean="0">
                <a:ea typeface="黑体" panose="02010609060101010101" pitchFamily="49" charset="-122"/>
              </a:rPr>
              <a:t>是数据链路层和物理层使用的地址</a:t>
            </a:r>
            <a:r>
              <a:rPr lang="zh-CN" altLang="en-US" dirty="0" smtClean="0">
                <a:ea typeface="黑体" panose="02010609060101010101" pitchFamily="49" charset="-122"/>
              </a:rPr>
              <a:t>。</a:t>
            </a:r>
            <a:endParaRPr lang="en-US" altLang="zh-CN" dirty="0" smtClean="0">
              <a:ea typeface="黑体" panose="02010609060101010101" pitchFamily="49" charset="-122"/>
            </a:endParaRPr>
          </a:p>
          <a:p>
            <a:pPr lvl="1"/>
            <a:r>
              <a:rPr lang="en-US" altLang="zh-CN" dirty="0" smtClean="0">
                <a:solidFill>
                  <a:srgbClr val="FF0000"/>
                </a:solidFill>
                <a:ea typeface="黑体" panose="02010609060101010101" pitchFamily="49" charset="-122"/>
              </a:rPr>
              <a:t>IP </a:t>
            </a:r>
            <a:r>
              <a:rPr lang="zh-CN" altLang="zh-CN" dirty="0" smtClean="0">
                <a:solidFill>
                  <a:srgbClr val="FF0000"/>
                </a:solidFill>
                <a:ea typeface="黑体" panose="02010609060101010101" pitchFamily="49" charset="-122"/>
              </a:rPr>
              <a:t>地址</a:t>
            </a:r>
            <a:r>
              <a:rPr lang="zh-CN" altLang="zh-CN" dirty="0" smtClean="0">
                <a:ea typeface="黑体" panose="02010609060101010101" pitchFamily="49" charset="-122"/>
              </a:rPr>
              <a:t>是网络层和以上各层使用的地址，是一种</a:t>
            </a:r>
            <a:r>
              <a:rPr lang="zh-CN" altLang="zh-CN" dirty="0" smtClean="0">
                <a:solidFill>
                  <a:srgbClr val="0000FF"/>
                </a:solidFill>
                <a:ea typeface="黑体" panose="02010609060101010101" pitchFamily="49" charset="-122"/>
              </a:rPr>
              <a:t>逻辑地址</a:t>
            </a:r>
            <a:r>
              <a:rPr lang="zh-CN" altLang="zh-CN" dirty="0" smtClean="0">
                <a:ea typeface="黑体" panose="02010609060101010101" pitchFamily="49" charset="-122"/>
              </a:rPr>
              <a:t>（称</a:t>
            </a:r>
            <a:r>
              <a:rPr lang="en-US" altLang="zh-CN" dirty="0" smtClean="0">
                <a:ea typeface="黑体" panose="02010609060101010101" pitchFamily="49" charset="-122"/>
              </a:rPr>
              <a:t> IP </a:t>
            </a:r>
            <a:r>
              <a:rPr lang="zh-CN" altLang="zh-CN" dirty="0" smtClean="0">
                <a:ea typeface="黑体" panose="02010609060101010101" pitchFamily="49" charset="-122"/>
              </a:rPr>
              <a:t>地址是逻辑地址是因为</a:t>
            </a:r>
            <a:r>
              <a:rPr lang="en-US" altLang="zh-CN" dirty="0" smtClean="0">
                <a:ea typeface="黑体" panose="02010609060101010101" pitchFamily="49" charset="-122"/>
              </a:rPr>
              <a:t> IP </a:t>
            </a:r>
            <a:r>
              <a:rPr lang="zh-CN" altLang="zh-CN" dirty="0" smtClean="0">
                <a:ea typeface="黑体" panose="02010609060101010101" pitchFamily="49" charset="-122"/>
              </a:rPr>
              <a:t>地址是用软件实现的）。</a:t>
            </a:r>
          </a:p>
          <a:p>
            <a:endParaRPr lang="zh-CN" altLang="en-US" dirty="0" smtClean="0">
              <a:ea typeface="黑体" panose="02010609060101010101" pitchFamily="49" charset="-122"/>
            </a:endParaRPr>
          </a:p>
        </p:txBody>
      </p:sp>
      <p:sp>
        <p:nvSpPr>
          <p:cNvPr id="769027" name="灯片编号占位符 4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FEAB0A2-54B5-484B-9194-1493E34E9D83}" type="slidenum">
              <a:rPr lang="zh-CN" altLang="en-US" smtClean="0"/>
              <a:pPr eaLnBrk="1" hangingPunct="1"/>
              <a:t>3</a:t>
            </a:fld>
            <a:endParaRPr lang="en-US" altLang="zh-CN" smtClean="0"/>
          </a:p>
        </p:txBody>
      </p:sp>
      <p:sp>
        <p:nvSpPr>
          <p:cNvPr id="769028" name="页脚占位符 5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0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黑体" panose="02010609060101010101" pitchFamily="49" charset="-122"/>
              </a:rPr>
              <a:t>4.2.3  IP </a:t>
            </a:r>
            <a:r>
              <a:rPr lang="zh-CN" altLang="zh-CN" smtClean="0">
                <a:ea typeface="黑体" panose="02010609060101010101" pitchFamily="49" charset="-122"/>
              </a:rPr>
              <a:t>地址与硬件地址</a:t>
            </a:r>
            <a:endParaRPr lang="zh-CN" altLang="en-US" smtClean="0">
              <a:ea typeface="黑体" panose="02010609060101010101" pitchFamily="49" charset="-122"/>
            </a:endParaRPr>
          </a:p>
        </p:txBody>
      </p:sp>
      <p:sp>
        <p:nvSpPr>
          <p:cNvPr id="771074" name="Line 5"/>
          <p:cNvSpPr>
            <a:spLocks noChangeShapeType="1"/>
          </p:cNvSpPr>
          <p:nvPr/>
        </p:nvSpPr>
        <p:spPr bwMode="auto">
          <a:xfrm>
            <a:off x="1849438" y="4316413"/>
            <a:ext cx="5646737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 type="triangl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sz="2000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771075" name="Line 6"/>
          <p:cNvSpPr>
            <a:spLocks noChangeShapeType="1"/>
          </p:cNvSpPr>
          <p:nvPr/>
        </p:nvSpPr>
        <p:spPr bwMode="auto">
          <a:xfrm>
            <a:off x="2603500" y="3341688"/>
            <a:ext cx="41386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 type="triangl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sz="2000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771076" name="Line 7"/>
          <p:cNvSpPr>
            <a:spLocks noChangeShapeType="1"/>
          </p:cNvSpPr>
          <p:nvPr/>
        </p:nvSpPr>
        <p:spPr bwMode="auto">
          <a:xfrm>
            <a:off x="3333750" y="2259013"/>
            <a:ext cx="3429000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 type="triangl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sz="2000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771077" name="Rectangle 8"/>
          <p:cNvSpPr>
            <a:spLocks noChangeArrowheads="1"/>
          </p:cNvSpPr>
          <p:nvPr/>
        </p:nvSpPr>
        <p:spPr bwMode="auto">
          <a:xfrm>
            <a:off x="4498975" y="2133600"/>
            <a:ext cx="1128713" cy="1809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 sz="2000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771078" name="Text Box 9"/>
          <p:cNvSpPr txBox="1">
            <a:spLocks noChangeArrowheads="1"/>
          </p:cNvSpPr>
          <p:nvPr/>
        </p:nvSpPr>
        <p:spPr bwMode="auto">
          <a:xfrm>
            <a:off x="4394200" y="2028825"/>
            <a:ext cx="1498600" cy="4603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2400" b="1">
                <a:solidFill>
                  <a:srgbClr val="0000CC"/>
                </a:solidFill>
                <a:ea typeface="黑体" panose="02010609060101010101" pitchFamily="49" charset="-122"/>
              </a:rPr>
              <a:t>TCP </a:t>
            </a:r>
            <a:r>
              <a:rPr lang="zh-CN" altLang="en-US" sz="2400" b="1">
                <a:solidFill>
                  <a:srgbClr val="0000CC"/>
                </a:solidFill>
                <a:ea typeface="黑体" panose="02010609060101010101" pitchFamily="49" charset="-122"/>
              </a:rPr>
              <a:t>报文</a:t>
            </a:r>
          </a:p>
        </p:txBody>
      </p:sp>
      <p:sp>
        <p:nvSpPr>
          <p:cNvPr id="771079" name="Rectangle 10"/>
          <p:cNvSpPr>
            <a:spLocks noChangeArrowheads="1"/>
          </p:cNvSpPr>
          <p:nvPr/>
        </p:nvSpPr>
        <p:spPr bwMode="auto">
          <a:xfrm>
            <a:off x="4156075" y="3238500"/>
            <a:ext cx="1047750" cy="1730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 sz="2000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771080" name="Text Box 11"/>
          <p:cNvSpPr txBox="1">
            <a:spLocks noChangeArrowheads="1"/>
          </p:cNvSpPr>
          <p:nvPr/>
        </p:nvSpPr>
        <p:spPr bwMode="auto">
          <a:xfrm>
            <a:off x="4022725" y="3106738"/>
            <a:ext cx="1482725" cy="4603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2400" b="1">
                <a:solidFill>
                  <a:srgbClr val="0000CC"/>
                </a:solidFill>
                <a:ea typeface="黑体" panose="02010609060101010101" pitchFamily="49" charset="-122"/>
              </a:rPr>
              <a:t>IP </a:t>
            </a:r>
            <a:r>
              <a:rPr lang="zh-CN" altLang="en-US" sz="2400" b="1">
                <a:solidFill>
                  <a:srgbClr val="0000CC"/>
                </a:solidFill>
                <a:ea typeface="黑体" panose="02010609060101010101" pitchFamily="49" charset="-122"/>
              </a:rPr>
              <a:t>数据报</a:t>
            </a:r>
          </a:p>
        </p:txBody>
      </p:sp>
      <p:sp>
        <p:nvSpPr>
          <p:cNvPr id="771081" name="Rectangle 12"/>
          <p:cNvSpPr>
            <a:spLocks noChangeArrowheads="1"/>
          </p:cNvSpPr>
          <p:nvPr/>
        </p:nvSpPr>
        <p:spPr bwMode="auto">
          <a:xfrm>
            <a:off x="4221163" y="4225925"/>
            <a:ext cx="889000" cy="1825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 sz="2000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771082" name="Text Box 13"/>
          <p:cNvSpPr txBox="1">
            <a:spLocks noChangeArrowheads="1"/>
          </p:cNvSpPr>
          <p:nvPr/>
        </p:nvSpPr>
        <p:spPr bwMode="auto">
          <a:xfrm>
            <a:off x="4114800" y="4079875"/>
            <a:ext cx="1281113" cy="4603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2400" b="1">
                <a:solidFill>
                  <a:srgbClr val="0000CC"/>
                </a:solidFill>
                <a:ea typeface="黑体" panose="02010609060101010101" pitchFamily="49" charset="-122"/>
              </a:rPr>
              <a:t>MAC </a:t>
            </a:r>
            <a:r>
              <a:rPr lang="zh-CN" altLang="en-US" sz="2400" b="1">
                <a:solidFill>
                  <a:srgbClr val="0000CC"/>
                </a:solidFill>
                <a:ea typeface="黑体" panose="02010609060101010101" pitchFamily="49" charset="-122"/>
              </a:rPr>
              <a:t>帧</a:t>
            </a:r>
          </a:p>
        </p:txBody>
      </p:sp>
      <p:sp>
        <p:nvSpPr>
          <p:cNvPr id="771083" name="Line 18"/>
          <p:cNvSpPr>
            <a:spLocks noChangeShapeType="1"/>
          </p:cNvSpPr>
          <p:nvPr/>
        </p:nvSpPr>
        <p:spPr bwMode="auto">
          <a:xfrm>
            <a:off x="2603500" y="3178175"/>
            <a:ext cx="0" cy="4064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sz="2000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771084" name="Line 19"/>
          <p:cNvSpPr>
            <a:spLocks noChangeShapeType="1"/>
          </p:cNvSpPr>
          <p:nvPr/>
        </p:nvSpPr>
        <p:spPr bwMode="auto">
          <a:xfrm>
            <a:off x="6742113" y="3178175"/>
            <a:ext cx="0" cy="4064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sz="2000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771085" name="Line 20"/>
          <p:cNvSpPr>
            <a:spLocks noChangeShapeType="1"/>
          </p:cNvSpPr>
          <p:nvPr/>
        </p:nvSpPr>
        <p:spPr bwMode="auto">
          <a:xfrm>
            <a:off x="3346450" y="2052638"/>
            <a:ext cx="14288" cy="5588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sz="2000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771086" name="Line 21"/>
          <p:cNvSpPr>
            <a:spLocks noChangeShapeType="1"/>
          </p:cNvSpPr>
          <p:nvPr/>
        </p:nvSpPr>
        <p:spPr bwMode="auto">
          <a:xfrm>
            <a:off x="6742113" y="2052638"/>
            <a:ext cx="0" cy="5588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sz="2000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771087" name="Line 22"/>
          <p:cNvSpPr>
            <a:spLocks noChangeShapeType="1"/>
          </p:cNvSpPr>
          <p:nvPr/>
        </p:nvSpPr>
        <p:spPr bwMode="auto">
          <a:xfrm flipV="1">
            <a:off x="7138988" y="3359150"/>
            <a:ext cx="2495550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sz="2000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771088" name="Rectangle 23"/>
          <p:cNvSpPr>
            <a:spLocks noChangeArrowheads="1"/>
          </p:cNvSpPr>
          <p:nvPr/>
        </p:nvSpPr>
        <p:spPr bwMode="auto">
          <a:xfrm>
            <a:off x="3346450" y="1557338"/>
            <a:ext cx="3395663" cy="487362"/>
          </a:xfrm>
          <a:prstGeom prst="rect">
            <a:avLst/>
          </a:prstGeom>
          <a:solidFill>
            <a:srgbClr val="66FF99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sz="2000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771089" name="Line 24"/>
          <p:cNvSpPr>
            <a:spLocks noChangeShapeType="1"/>
          </p:cNvSpPr>
          <p:nvPr/>
        </p:nvSpPr>
        <p:spPr bwMode="auto">
          <a:xfrm flipH="1">
            <a:off x="4089400" y="1557338"/>
            <a:ext cx="0" cy="4873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sz="2000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771090" name="Text Box 25"/>
          <p:cNvSpPr txBox="1">
            <a:spLocks noChangeArrowheads="1"/>
          </p:cNvSpPr>
          <p:nvPr/>
        </p:nvSpPr>
        <p:spPr bwMode="auto">
          <a:xfrm>
            <a:off x="4637088" y="1558925"/>
            <a:ext cx="173037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>
                <a:solidFill>
                  <a:srgbClr val="0000CC"/>
                </a:solidFill>
                <a:ea typeface="黑体" panose="02010609060101010101" pitchFamily="49" charset="-122"/>
              </a:rPr>
              <a:t>应用层数据</a:t>
            </a:r>
          </a:p>
        </p:txBody>
      </p:sp>
      <p:sp>
        <p:nvSpPr>
          <p:cNvPr id="771091" name="Text Box 26"/>
          <p:cNvSpPr txBox="1">
            <a:spLocks noChangeArrowheads="1"/>
          </p:cNvSpPr>
          <p:nvPr/>
        </p:nvSpPr>
        <p:spPr bwMode="auto">
          <a:xfrm>
            <a:off x="3319463" y="1560513"/>
            <a:ext cx="80327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>
                <a:solidFill>
                  <a:srgbClr val="0000CC"/>
                </a:solidFill>
                <a:ea typeface="黑体" panose="02010609060101010101" pitchFamily="49" charset="-122"/>
              </a:rPr>
              <a:t>首部</a:t>
            </a:r>
          </a:p>
        </p:txBody>
      </p:sp>
      <p:sp>
        <p:nvSpPr>
          <p:cNvPr id="771092" name="Rectangle 27"/>
          <p:cNvSpPr>
            <a:spLocks noChangeArrowheads="1"/>
          </p:cNvSpPr>
          <p:nvPr/>
        </p:nvSpPr>
        <p:spPr bwMode="auto">
          <a:xfrm>
            <a:off x="2603500" y="2611438"/>
            <a:ext cx="4138613" cy="487362"/>
          </a:xfrm>
          <a:prstGeom prst="rect">
            <a:avLst/>
          </a:prstGeom>
          <a:solidFill>
            <a:srgbClr val="FFFF66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sz="2000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771093" name="Line 28"/>
          <p:cNvSpPr>
            <a:spLocks noChangeShapeType="1"/>
          </p:cNvSpPr>
          <p:nvPr/>
        </p:nvSpPr>
        <p:spPr bwMode="auto">
          <a:xfrm>
            <a:off x="3346450" y="2611438"/>
            <a:ext cx="0" cy="4873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sz="2000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771094" name="Text Box 29"/>
          <p:cNvSpPr txBox="1">
            <a:spLocks noChangeArrowheads="1"/>
          </p:cNvSpPr>
          <p:nvPr/>
        </p:nvSpPr>
        <p:spPr bwMode="auto">
          <a:xfrm>
            <a:off x="2578100" y="2603500"/>
            <a:ext cx="80327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>
                <a:solidFill>
                  <a:srgbClr val="0000CC"/>
                </a:solidFill>
                <a:ea typeface="黑体" panose="02010609060101010101" pitchFamily="49" charset="-122"/>
              </a:rPr>
              <a:t>首部</a:t>
            </a:r>
          </a:p>
        </p:txBody>
      </p:sp>
      <p:sp>
        <p:nvSpPr>
          <p:cNvPr id="771095" name="Rectangle 30"/>
          <p:cNvSpPr>
            <a:spLocks noChangeArrowheads="1"/>
          </p:cNvSpPr>
          <p:nvPr/>
        </p:nvSpPr>
        <p:spPr bwMode="auto">
          <a:xfrm>
            <a:off x="1873250" y="3614738"/>
            <a:ext cx="741363" cy="457200"/>
          </a:xfrm>
          <a:prstGeom prst="rect">
            <a:avLst/>
          </a:prstGeom>
          <a:solidFill>
            <a:srgbClr val="66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 sz="2000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771096" name="Rectangle 31"/>
          <p:cNvSpPr>
            <a:spLocks noChangeArrowheads="1"/>
          </p:cNvSpPr>
          <p:nvPr/>
        </p:nvSpPr>
        <p:spPr bwMode="auto">
          <a:xfrm>
            <a:off x="1862138" y="3584575"/>
            <a:ext cx="5622925" cy="487363"/>
          </a:xfrm>
          <a:prstGeom prst="rect">
            <a:avLst/>
          </a:prstGeom>
          <a:solidFill>
            <a:srgbClr val="66FF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sz="2000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771097" name="Line 32"/>
          <p:cNvSpPr>
            <a:spLocks noChangeShapeType="1"/>
          </p:cNvSpPr>
          <p:nvPr/>
        </p:nvSpPr>
        <p:spPr bwMode="auto">
          <a:xfrm>
            <a:off x="2603500" y="3584575"/>
            <a:ext cx="0" cy="4873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sz="2000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771098" name="Line 33"/>
          <p:cNvSpPr>
            <a:spLocks noChangeShapeType="1"/>
          </p:cNvSpPr>
          <p:nvPr/>
        </p:nvSpPr>
        <p:spPr bwMode="auto">
          <a:xfrm>
            <a:off x="6742113" y="3584575"/>
            <a:ext cx="0" cy="4873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sz="2000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771099" name="Text Box 34"/>
          <p:cNvSpPr txBox="1">
            <a:spLocks noChangeArrowheads="1"/>
          </p:cNvSpPr>
          <p:nvPr/>
        </p:nvSpPr>
        <p:spPr bwMode="auto">
          <a:xfrm>
            <a:off x="6681788" y="3573463"/>
            <a:ext cx="8032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>
                <a:solidFill>
                  <a:srgbClr val="0000CC"/>
                </a:solidFill>
                <a:ea typeface="黑体" panose="02010609060101010101" pitchFamily="49" charset="-122"/>
              </a:rPr>
              <a:t>尾部</a:t>
            </a:r>
          </a:p>
        </p:txBody>
      </p:sp>
      <p:sp>
        <p:nvSpPr>
          <p:cNvPr id="771100" name="Text Box 35"/>
          <p:cNvSpPr txBox="1">
            <a:spLocks noChangeArrowheads="1"/>
          </p:cNvSpPr>
          <p:nvPr/>
        </p:nvSpPr>
        <p:spPr bwMode="auto">
          <a:xfrm>
            <a:off x="1851025" y="3579813"/>
            <a:ext cx="80327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>
                <a:solidFill>
                  <a:srgbClr val="0000CC"/>
                </a:solidFill>
                <a:ea typeface="黑体" panose="02010609060101010101" pitchFamily="49" charset="-122"/>
              </a:rPr>
              <a:t>首部</a:t>
            </a:r>
          </a:p>
        </p:txBody>
      </p:sp>
      <p:grpSp>
        <p:nvGrpSpPr>
          <p:cNvPr id="218161" name="Group 49"/>
          <p:cNvGrpSpPr>
            <a:grpSpLocks/>
          </p:cNvGrpSpPr>
          <p:nvPr/>
        </p:nvGrpSpPr>
        <p:grpSpPr bwMode="auto">
          <a:xfrm>
            <a:off x="312738" y="2890838"/>
            <a:ext cx="9334500" cy="1820862"/>
            <a:chOff x="182" y="2409"/>
            <a:chExt cx="5428" cy="1147"/>
          </a:xfrm>
        </p:grpSpPr>
        <p:grpSp>
          <p:nvGrpSpPr>
            <p:cNvPr id="771102" name="Group 45"/>
            <p:cNvGrpSpPr>
              <a:grpSpLocks/>
            </p:cNvGrpSpPr>
            <p:nvPr/>
          </p:nvGrpSpPr>
          <p:grpSpPr bwMode="auto">
            <a:xfrm>
              <a:off x="4423" y="2709"/>
              <a:ext cx="1187" cy="847"/>
              <a:chOff x="4423" y="2709"/>
              <a:chExt cx="1187" cy="847"/>
            </a:xfrm>
          </p:grpSpPr>
          <p:sp>
            <p:nvSpPr>
              <p:cNvPr id="771103" name="AutoShape 15"/>
              <p:cNvSpPr>
                <a:spLocks noChangeArrowheads="1"/>
              </p:cNvSpPr>
              <p:nvPr/>
            </p:nvSpPr>
            <p:spPr bwMode="auto">
              <a:xfrm flipV="1">
                <a:off x="4831" y="2709"/>
                <a:ext cx="186" cy="358"/>
              </a:xfrm>
              <a:prstGeom prst="upArrow">
                <a:avLst>
                  <a:gd name="adj1" fmla="val 50000"/>
                  <a:gd name="adj2" fmla="val 81792"/>
                </a:avLst>
              </a:prstGeom>
              <a:solidFill>
                <a:srgbClr val="3333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vert="eaVert" wrap="none" anchor="ctr"/>
              <a:lstStyle/>
              <a:p>
                <a:pPr eaLnBrk="0" hangingPunct="0"/>
                <a:endPara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771104" name="Text Box 17"/>
              <p:cNvSpPr txBox="1">
                <a:spLocks noChangeArrowheads="1"/>
              </p:cNvSpPr>
              <p:nvPr/>
            </p:nvSpPr>
            <p:spPr bwMode="auto">
              <a:xfrm>
                <a:off x="4423" y="3033"/>
                <a:ext cx="1187" cy="5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zh-CN" altLang="en-US" sz="2400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链路层及以下</a:t>
                </a:r>
              </a:p>
              <a:p>
                <a:pPr eaLnBrk="0" hangingPunct="0"/>
                <a:r>
                  <a:rPr lang="zh-CN" altLang="en-US" sz="2400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使用硬件地址</a:t>
                </a:r>
              </a:p>
            </p:txBody>
          </p:sp>
        </p:grpSp>
        <p:grpSp>
          <p:nvGrpSpPr>
            <p:cNvPr id="771105" name="Group 47"/>
            <p:cNvGrpSpPr>
              <a:grpSpLocks/>
            </p:cNvGrpSpPr>
            <p:nvPr/>
          </p:nvGrpSpPr>
          <p:grpSpPr bwMode="auto">
            <a:xfrm>
              <a:off x="182" y="2409"/>
              <a:ext cx="835" cy="291"/>
              <a:chOff x="182" y="2409"/>
              <a:chExt cx="835" cy="291"/>
            </a:xfrm>
          </p:grpSpPr>
          <p:sp>
            <p:nvSpPr>
              <p:cNvPr id="771106" name="AutoShape 37"/>
              <p:cNvSpPr>
                <a:spLocks noChangeArrowheads="1"/>
              </p:cNvSpPr>
              <p:nvPr/>
            </p:nvSpPr>
            <p:spPr bwMode="auto">
              <a:xfrm>
                <a:off x="182" y="2427"/>
                <a:ext cx="802" cy="273"/>
              </a:xfrm>
              <a:prstGeom prst="wedgeRoundRectCallout">
                <a:avLst>
                  <a:gd name="adj1" fmla="val 72116"/>
                  <a:gd name="adj2" fmla="val 129167"/>
                  <a:gd name="adj3" fmla="val 16667"/>
                </a:avLst>
              </a:prstGeom>
              <a:solidFill>
                <a:srgbClr val="66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/>
              <a:lstStyle/>
              <a:p>
                <a:pPr algn="ctr" eaLnBrk="0" hangingPunct="0"/>
                <a:endParaRPr lang="zh-CN" altLang="zh-CN" sz="2400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771107" name="Text Box 38"/>
              <p:cNvSpPr txBox="1">
                <a:spLocks noChangeArrowheads="1"/>
              </p:cNvSpPr>
              <p:nvPr/>
            </p:nvSpPr>
            <p:spPr bwMode="auto">
              <a:xfrm>
                <a:off x="190" y="2409"/>
                <a:ext cx="827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zh-CN" altLang="en-US" sz="2400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硬件地址</a:t>
                </a:r>
              </a:p>
            </p:txBody>
          </p:sp>
        </p:grpSp>
      </p:grpSp>
      <p:grpSp>
        <p:nvGrpSpPr>
          <p:cNvPr id="218160" name="Group 48"/>
          <p:cNvGrpSpPr>
            <a:grpSpLocks/>
          </p:cNvGrpSpPr>
          <p:nvPr/>
        </p:nvGrpSpPr>
        <p:grpSpPr bwMode="auto">
          <a:xfrm>
            <a:off x="1584325" y="1954213"/>
            <a:ext cx="8074025" cy="1412875"/>
            <a:chOff x="921" y="1819"/>
            <a:chExt cx="4695" cy="890"/>
          </a:xfrm>
        </p:grpSpPr>
        <p:grpSp>
          <p:nvGrpSpPr>
            <p:cNvPr id="771109" name="Group 44"/>
            <p:cNvGrpSpPr>
              <a:grpSpLocks/>
            </p:cNvGrpSpPr>
            <p:nvPr/>
          </p:nvGrpSpPr>
          <p:grpSpPr bwMode="auto">
            <a:xfrm>
              <a:off x="4429" y="1854"/>
              <a:ext cx="1187" cy="855"/>
              <a:chOff x="4429" y="1854"/>
              <a:chExt cx="1187" cy="855"/>
            </a:xfrm>
          </p:grpSpPr>
          <p:sp>
            <p:nvSpPr>
              <p:cNvPr id="771110" name="AutoShape 14"/>
              <p:cNvSpPr>
                <a:spLocks noChangeArrowheads="1"/>
              </p:cNvSpPr>
              <p:nvPr/>
            </p:nvSpPr>
            <p:spPr bwMode="auto">
              <a:xfrm>
                <a:off x="4831" y="2352"/>
                <a:ext cx="186" cy="357"/>
              </a:xfrm>
              <a:prstGeom prst="upArrow">
                <a:avLst>
                  <a:gd name="adj1" fmla="val 50000"/>
                  <a:gd name="adj2" fmla="val 69479"/>
                </a:avLst>
              </a:prstGeom>
              <a:solidFill>
                <a:srgbClr val="FF99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vert="eaVert" wrap="none" anchor="ctr"/>
              <a:lstStyle/>
              <a:p>
                <a:pPr eaLnBrk="0" hangingPunct="0"/>
                <a:endPara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771111" name="Text Box 16"/>
              <p:cNvSpPr txBox="1">
                <a:spLocks noChangeArrowheads="1"/>
              </p:cNvSpPr>
              <p:nvPr/>
            </p:nvSpPr>
            <p:spPr bwMode="auto">
              <a:xfrm>
                <a:off x="4429" y="1854"/>
                <a:ext cx="1187" cy="5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zh-CN" altLang="en-US" sz="2400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网络层及以上</a:t>
                </a:r>
              </a:p>
              <a:p>
                <a:pPr eaLnBrk="0" hangingPunct="0"/>
                <a:r>
                  <a:rPr lang="zh-CN" altLang="en-US" sz="2400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 使用 </a:t>
                </a:r>
                <a:r>
                  <a:rPr lang="en-US" altLang="zh-CN" sz="2400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IP </a:t>
                </a:r>
                <a:r>
                  <a:rPr lang="zh-CN" altLang="en-US" sz="2400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地址</a:t>
                </a:r>
              </a:p>
            </p:txBody>
          </p:sp>
        </p:grpSp>
        <p:grpSp>
          <p:nvGrpSpPr>
            <p:cNvPr id="771112" name="Group 46"/>
            <p:cNvGrpSpPr>
              <a:grpSpLocks/>
            </p:cNvGrpSpPr>
            <p:nvPr/>
          </p:nvGrpSpPr>
          <p:grpSpPr bwMode="auto">
            <a:xfrm>
              <a:off x="921" y="1819"/>
              <a:ext cx="688" cy="291"/>
              <a:chOff x="921" y="1819"/>
              <a:chExt cx="688" cy="291"/>
            </a:xfrm>
          </p:grpSpPr>
          <p:sp>
            <p:nvSpPr>
              <p:cNvPr id="771113" name="AutoShape 40"/>
              <p:cNvSpPr>
                <a:spLocks noChangeArrowheads="1"/>
              </p:cNvSpPr>
              <p:nvPr/>
            </p:nvSpPr>
            <p:spPr bwMode="auto">
              <a:xfrm>
                <a:off x="921" y="1826"/>
                <a:ext cx="654" cy="254"/>
              </a:xfrm>
              <a:prstGeom prst="wedgeRoundRectCallout">
                <a:avLst>
                  <a:gd name="adj1" fmla="val 72171"/>
                  <a:gd name="adj2" fmla="val 129134"/>
                  <a:gd name="adj3" fmla="val 16667"/>
                </a:avLst>
              </a:prstGeom>
              <a:solidFill>
                <a:srgbClr val="FF99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/>
              <a:lstStyle/>
              <a:p>
                <a:pPr algn="ctr" eaLnBrk="0" hangingPunct="0"/>
                <a:endParaRPr lang="zh-CN" altLang="zh-CN" sz="2400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771114" name="Text Box 41"/>
              <p:cNvSpPr txBox="1">
                <a:spLocks noChangeArrowheads="1"/>
              </p:cNvSpPr>
              <p:nvPr/>
            </p:nvSpPr>
            <p:spPr bwMode="auto">
              <a:xfrm>
                <a:off x="927" y="1819"/>
                <a:ext cx="682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altLang="zh-CN" sz="2400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IP </a:t>
                </a:r>
                <a:r>
                  <a:rPr lang="zh-CN" altLang="en-US" sz="2400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地址</a:t>
                </a:r>
              </a:p>
            </p:txBody>
          </p:sp>
        </p:grpSp>
      </p:grpSp>
      <p:sp>
        <p:nvSpPr>
          <p:cNvPr id="771115" name="Rectangle 43"/>
          <p:cNvSpPr>
            <a:spLocks noChangeArrowheads="1"/>
          </p:cNvSpPr>
          <p:nvPr/>
        </p:nvSpPr>
        <p:spPr bwMode="auto">
          <a:xfrm>
            <a:off x="2625725" y="3614738"/>
            <a:ext cx="4090988" cy="433387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 sz="2000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771116" name="矩形 3"/>
          <p:cNvSpPr>
            <a:spLocks noChangeArrowheads="1"/>
          </p:cNvSpPr>
          <p:nvPr/>
        </p:nvSpPr>
        <p:spPr bwMode="auto">
          <a:xfrm>
            <a:off x="2432050" y="5703888"/>
            <a:ext cx="54737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eaLnBrk="0" hangingPunct="0"/>
            <a:r>
              <a:rPr lang="en-US" altLang="zh-CN" sz="2400" b="1">
                <a:ea typeface="黑体" panose="02010609060101010101" pitchFamily="49" charset="-122"/>
              </a:rPr>
              <a:t>IP </a:t>
            </a:r>
            <a:r>
              <a:rPr lang="zh-CN" altLang="zh-CN" sz="2400" b="1">
                <a:ea typeface="黑体" panose="02010609060101010101" pitchFamily="49" charset="-122"/>
              </a:rPr>
              <a:t>地址与硬件地址的区别</a:t>
            </a:r>
            <a:endParaRPr lang="zh-CN" altLang="en-US" sz="2400" b="1">
              <a:ea typeface="黑体" panose="02010609060101010101" pitchFamily="49" charset="-122"/>
            </a:endParaRPr>
          </a:p>
        </p:txBody>
      </p:sp>
      <p:sp>
        <p:nvSpPr>
          <p:cNvPr id="771117" name="矩形 4"/>
          <p:cNvSpPr>
            <a:spLocks noChangeArrowheads="1"/>
          </p:cNvSpPr>
          <p:nvPr/>
        </p:nvSpPr>
        <p:spPr bwMode="auto">
          <a:xfrm>
            <a:off x="344488" y="4437063"/>
            <a:ext cx="3376612" cy="1200150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altLang="zh-CN" sz="2400" b="1">
                <a:solidFill>
                  <a:schemeClr val="bg1"/>
                </a:solidFill>
                <a:ea typeface="黑体" panose="02010609060101010101" pitchFamily="49" charset="-122"/>
              </a:rPr>
              <a:t>IP </a:t>
            </a:r>
            <a:r>
              <a:rPr lang="zh-CN" altLang="zh-CN" sz="2400" b="1">
                <a:solidFill>
                  <a:schemeClr val="bg1"/>
                </a:solidFill>
                <a:ea typeface="黑体" panose="02010609060101010101" pitchFamily="49" charset="-122"/>
              </a:rPr>
              <a:t>地址放在</a:t>
            </a:r>
            <a:r>
              <a:rPr lang="en-US" altLang="zh-CN" sz="2400" b="1">
                <a:solidFill>
                  <a:schemeClr val="bg1"/>
                </a:solidFill>
                <a:ea typeface="黑体" panose="02010609060101010101" pitchFamily="49" charset="-122"/>
              </a:rPr>
              <a:t> IP </a:t>
            </a:r>
            <a:r>
              <a:rPr lang="zh-CN" altLang="zh-CN" sz="2400" b="1">
                <a:solidFill>
                  <a:schemeClr val="bg1"/>
                </a:solidFill>
                <a:ea typeface="黑体" panose="02010609060101010101" pitchFamily="49" charset="-122"/>
              </a:rPr>
              <a:t>数据报的首部，而硬件地址则放在</a:t>
            </a:r>
            <a:r>
              <a:rPr lang="en-US" altLang="zh-CN" sz="2400" b="1">
                <a:solidFill>
                  <a:schemeClr val="bg1"/>
                </a:solidFill>
                <a:ea typeface="黑体" panose="02010609060101010101" pitchFamily="49" charset="-122"/>
              </a:rPr>
              <a:t> MAC </a:t>
            </a:r>
            <a:r>
              <a:rPr lang="zh-CN" altLang="zh-CN" sz="2400" b="1">
                <a:solidFill>
                  <a:schemeClr val="bg1"/>
                </a:solidFill>
                <a:ea typeface="黑体" panose="02010609060101010101" pitchFamily="49" charset="-122"/>
              </a:rPr>
              <a:t>帧的首部</a:t>
            </a:r>
            <a:r>
              <a:rPr lang="zh-CN" altLang="en-US" sz="2400" b="1">
                <a:solidFill>
                  <a:schemeClr val="bg1"/>
                </a:solidFill>
                <a:ea typeface="黑体" panose="02010609060101010101" pitchFamily="49" charset="-122"/>
              </a:rPr>
              <a:t>。</a:t>
            </a:r>
          </a:p>
        </p:txBody>
      </p:sp>
      <p:sp>
        <p:nvSpPr>
          <p:cNvPr id="771118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F60DC6B-33BA-4016-9332-72E149E79378}" type="slidenum">
              <a:rPr lang="zh-CN" altLang="en-US" smtClean="0"/>
              <a:pPr eaLnBrk="1" hangingPunct="1"/>
              <a:t>4</a:t>
            </a:fld>
            <a:endParaRPr lang="en-US" altLang="zh-CN" smtClean="0"/>
          </a:p>
        </p:txBody>
      </p:sp>
      <p:sp>
        <p:nvSpPr>
          <p:cNvPr id="771119" name="页脚占位符 6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4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218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35" presetClass="emph" presetSubtype="0" repeatCount="4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0" dur="1000" fill="hold"/>
                                        <p:tgtEl>
                                          <p:spTgt spid="218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3121" name="组合 1"/>
          <p:cNvGrpSpPr>
            <a:grpSpLocks/>
          </p:cNvGrpSpPr>
          <p:nvPr/>
        </p:nvGrpSpPr>
        <p:grpSpPr bwMode="auto">
          <a:xfrm>
            <a:off x="104775" y="115888"/>
            <a:ext cx="9663113" cy="1658937"/>
            <a:chOff x="104908" y="116632"/>
            <a:chExt cx="9663509" cy="1658194"/>
          </a:xfrm>
        </p:grpSpPr>
        <p:sp>
          <p:nvSpPr>
            <p:cNvPr id="773122" name="Freeform 2"/>
            <p:cNvSpPr>
              <a:spLocks noChangeArrowheads="1"/>
            </p:cNvSpPr>
            <p:nvPr/>
          </p:nvSpPr>
          <p:spPr bwMode="auto">
            <a:xfrm>
              <a:off x="2801542" y="1239838"/>
              <a:ext cx="270007" cy="533400"/>
            </a:xfrm>
            <a:custGeom>
              <a:avLst/>
              <a:gdLst>
                <a:gd name="T0" fmla="*/ 0 w 249"/>
                <a:gd name="T1" fmla="*/ 176 h 176"/>
                <a:gd name="T2" fmla="*/ 1 w 249"/>
                <a:gd name="T3" fmla="*/ 0 h 176"/>
                <a:gd name="T4" fmla="*/ 249 w 249"/>
                <a:gd name="T5" fmla="*/ 9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9" h="176">
                  <a:moveTo>
                    <a:pt x="0" y="176"/>
                  </a:moveTo>
                  <a:lnTo>
                    <a:pt x="1" y="0"/>
                  </a:lnTo>
                  <a:lnTo>
                    <a:pt x="249" y="9"/>
                  </a:lnTo>
                </a:path>
              </a:pathLst>
            </a:cu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3123" name="Freeform 3"/>
            <p:cNvSpPr>
              <a:spLocks noChangeArrowheads="1"/>
            </p:cNvSpPr>
            <p:nvPr/>
          </p:nvSpPr>
          <p:spPr bwMode="auto">
            <a:xfrm>
              <a:off x="5775061" y="1239838"/>
              <a:ext cx="184018" cy="531812"/>
            </a:xfrm>
            <a:custGeom>
              <a:avLst/>
              <a:gdLst>
                <a:gd name="T0" fmla="*/ 0 w 249"/>
                <a:gd name="T1" fmla="*/ 176 h 176"/>
                <a:gd name="T2" fmla="*/ 1 w 249"/>
                <a:gd name="T3" fmla="*/ 0 h 176"/>
                <a:gd name="T4" fmla="*/ 249 w 249"/>
                <a:gd name="T5" fmla="*/ 9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9" h="176">
                  <a:moveTo>
                    <a:pt x="0" y="176"/>
                  </a:moveTo>
                  <a:lnTo>
                    <a:pt x="1" y="0"/>
                  </a:lnTo>
                  <a:lnTo>
                    <a:pt x="249" y="9"/>
                  </a:lnTo>
                </a:path>
              </a:pathLst>
            </a:cu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3124" name="Line 4"/>
            <p:cNvSpPr>
              <a:spLocks noChangeShapeType="1"/>
            </p:cNvSpPr>
            <p:nvPr/>
          </p:nvSpPr>
          <p:spPr bwMode="auto">
            <a:xfrm rot="-5400000">
              <a:off x="9075209" y="1504818"/>
              <a:ext cx="533400" cy="344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3125" name="Line 5"/>
            <p:cNvSpPr>
              <a:spLocks noChangeShapeType="1"/>
            </p:cNvSpPr>
            <p:nvPr/>
          </p:nvSpPr>
          <p:spPr bwMode="auto">
            <a:xfrm rot="-5400000">
              <a:off x="242359" y="1504818"/>
              <a:ext cx="533400" cy="344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3126" name="Line 6"/>
            <p:cNvSpPr>
              <a:spLocks noChangeShapeType="1"/>
            </p:cNvSpPr>
            <p:nvPr/>
          </p:nvSpPr>
          <p:spPr bwMode="auto">
            <a:xfrm>
              <a:off x="252811" y="1773238"/>
              <a:ext cx="2803260" cy="0"/>
            </a:xfrm>
            <a:prstGeom prst="line">
              <a:avLst/>
            </a:prstGeom>
            <a:noFill/>
            <a:ln w="57150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3127" name="Text Box 7"/>
            <p:cNvSpPr txBox="1">
              <a:spLocks noChangeArrowheads="1"/>
            </p:cNvSpPr>
            <p:nvPr/>
          </p:nvSpPr>
          <p:spPr bwMode="auto">
            <a:xfrm>
              <a:off x="529696" y="1258888"/>
              <a:ext cx="6030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HA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1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3128" name="Text Box 8"/>
            <p:cNvSpPr txBox="1">
              <a:spLocks noChangeArrowheads="1"/>
            </p:cNvSpPr>
            <p:nvPr/>
          </p:nvSpPr>
          <p:spPr bwMode="auto">
            <a:xfrm>
              <a:off x="5180012" y="1258888"/>
              <a:ext cx="6030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HA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5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3129" name="Text Box 9"/>
            <p:cNvSpPr txBox="1">
              <a:spLocks noChangeArrowheads="1"/>
            </p:cNvSpPr>
            <p:nvPr/>
          </p:nvSpPr>
          <p:spPr bwMode="auto">
            <a:xfrm>
              <a:off x="3807619" y="1258888"/>
              <a:ext cx="6030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HA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4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3130" name="Text Box 10"/>
            <p:cNvSpPr txBox="1">
              <a:spLocks noChangeArrowheads="1"/>
            </p:cNvSpPr>
            <p:nvPr/>
          </p:nvSpPr>
          <p:spPr bwMode="auto">
            <a:xfrm>
              <a:off x="2206494" y="1258888"/>
              <a:ext cx="6030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HA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3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3131" name="Line 11"/>
            <p:cNvSpPr>
              <a:spLocks noChangeShapeType="1"/>
            </p:cNvSpPr>
            <p:nvPr/>
          </p:nvSpPr>
          <p:spPr bwMode="auto">
            <a:xfrm>
              <a:off x="6540368" y="1773238"/>
              <a:ext cx="3143779" cy="0"/>
            </a:xfrm>
            <a:prstGeom prst="line">
              <a:avLst/>
            </a:prstGeom>
            <a:noFill/>
            <a:ln w="57150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3132" name="Text Box 12"/>
            <p:cNvSpPr txBox="1">
              <a:spLocks noChangeArrowheads="1"/>
            </p:cNvSpPr>
            <p:nvPr/>
          </p:nvSpPr>
          <p:spPr bwMode="auto">
            <a:xfrm>
              <a:off x="6781139" y="1258888"/>
              <a:ext cx="6030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HA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6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3133" name="Text Box 13"/>
            <p:cNvSpPr txBox="1">
              <a:spLocks noChangeArrowheads="1"/>
            </p:cNvSpPr>
            <p:nvPr/>
          </p:nvSpPr>
          <p:spPr bwMode="auto">
            <a:xfrm>
              <a:off x="174453" y="116632"/>
              <a:ext cx="96212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主机 </a:t>
              </a:r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1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3134" name="Text Box 14"/>
            <p:cNvSpPr txBox="1">
              <a:spLocks noChangeArrowheads="1"/>
            </p:cNvSpPr>
            <p:nvPr/>
          </p:nvSpPr>
          <p:spPr bwMode="auto">
            <a:xfrm>
              <a:off x="8481392" y="116632"/>
              <a:ext cx="96212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主机 </a:t>
              </a:r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2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3135" name="Line 15"/>
            <p:cNvSpPr>
              <a:spLocks noChangeShapeType="1"/>
            </p:cNvSpPr>
            <p:nvPr/>
          </p:nvSpPr>
          <p:spPr bwMode="auto">
            <a:xfrm>
              <a:off x="3566848" y="1773238"/>
              <a:ext cx="2462742" cy="0"/>
            </a:xfrm>
            <a:prstGeom prst="line">
              <a:avLst/>
            </a:prstGeom>
            <a:noFill/>
            <a:ln w="57150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3136" name="Freeform 16"/>
            <p:cNvSpPr>
              <a:spLocks noChangeArrowheads="1"/>
            </p:cNvSpPr>
            <p:nvPr/>
          </p:nvSpPr>
          <p:spPr bwMode="auto">
            <a:xfrm flipH="1">
              <a:off x="6540368" y="1239838"/>
              <a:ext cx="254529" cy="533400"/>
            </a:xfrm>
            <a:custGeom>
              <a:avLst/>
              <a:gdLst>
                <a:gd name="T0" fmla="*/ 0 w 249"/>
                <a:gd name="T1" fmla="*/ 176 h 176"/>
                <a:gd name="T2" fmla="*/ 1 w 249"/>
                <a:gd name="T3" fmla="*/ 0 h 176"/>
                <a:gd name="T4" fmla="*/ 249 w 249"/>
                <a:gd name="T5" fmla="*/ 9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9" h="176">
                  <a:moveTo>
                    <a:pt x="0" y="176"/>
                  </a:moveTo>
                  <a:lnTo>
                    <a:pt x="1" y="0"/>
                  </a:lnTo>
                  <a:lnTo>
                    <a:pt x="249" y="9"/>
                  </a:lnTo>
                </a:path>
              </a:pathLst>
            </a:cu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3137" name="Freeform 17"/>
            <p:cNvSpPr>
              <a:spLocks noChangeArrowheads="1"/>
            </p:cNvSpPr>
            <p:nvPr/>
          </p:nvSpPr>
          <p:spPr bwMode="auto">
            <a:xfrm flipH="1">
              <a:off x="3635639" y="1239839"/>
              <a:ext cx="185738" cy="534987"/>
            </a:xfrm>
            <a:custGeom>
              <a:avLst/>
              <a:gdLst>
                <a:gd name="T0" fmla="*/ 0 w 249"/>
                <a:gd name="T1" fmla="*/ 176 h 176"/>
                <a:gd name="T2" fmla="*/ 1 w 249"/>
                <a:gd name="T3" fmla="*/ 0 h 176"/>
                <a:gd name="T4" fmla="*/ 249 w 249"/>
                <a:gd name="T5" fmla="*/ 9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9" h="176">
                  <a:moveTo>
                    <a:pt x="0" y="176"/>
                  </a:moveTo>
                  <a:lnTo>
                    <a:pt x="1" y="0"/>
                  </a:lnTo>
                  <a:lnTo>
                    <a:pt x="249" y="9"/>
                  </a:lnTo>
                </a:path>
              </a:pathLst>
            </a:cu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3138" name="Text Box 18"/>
            <p:cNvSpPr txBox="1">
              <a:spLocks noChangeArrowheads="1"/>
            </p:cNvSpPr>
            <p:nvPr/>
          </p:nvSpPr>
          <p:spPr bwMode="auto">
            <a:xfrm>
              <a:off x="2768865" y="679451"/>
              <a:ext cx="119295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路由器 </a:t>
              </a:r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R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1</a:t>
              </a:r>
            </a:p>
          </p:txBody>
        </p:sp>
        <p:pic>
          <p:nvPicPr>
            <p:cNvPr id="773139" name="Picture 19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4908" y="496888"/>
              <a:ext cx="926967" cy="838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73140" name="Picture 20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59331" y="985839"/>
              <a:ext cx="835819" cy="434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73141" name="Picture 21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43169" y="477838"/>
              <a:ext cx="925248" cy="838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73142" name="Picture 22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01290" y="963614"/>
              <a:ext cx="834098" cy="434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73143" name="AutoShape 23"/>
            <p:cNvSpPr>
              <a:spLocks noChangeArrowheads="1"/>
            </p:cNvSpPr>
            <p:nvPr/>
          </p:nvSpPr>
          <p:spPr bwMode="auto">
            <a:xfrm flipV="1">
              <a:off x="1084633" y="548679"/>
              <a:ext cx="1716909" cy="348258"/>
            </a:xfrm>
            <a:prstGeom prst="wedgeRoundRectCallout">
              <a:avLst>
                <a:gd name="adj1" fmla="val -53218"/>
                <a:gd name="adj2" fmla="val -195611"/>
                <a:gd name="adj3" fmla="val 16667"/>
              </a:avLst>
            </a:prstGeom>
            <a:solidFill>
              <a:srgbClr val="66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pPr algn="ctr"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HA</a:t>
              </a:r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为硬件地址</a:t>
              </a:r>
            </a:p>
          </p:txBody>
        </p:sp>
        <p:sp>
          <p:nvSpPr>
            <p:cNvPr id="773144" name="Text Box 25"/>
            <p:cNvSpPr txBox="1">
              <a:spLocks noChangeArrowheads="1"/>
            </p:cNvSpPr>
            <p:nvPr/>
          </p:nvSpPr>
          <p:spPr bwMode="auto">
            <a:xfrm>
              <a:off x="5673594" y="685801"/>
              <a:ext cx="119295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路由器 </a:t>
              </a:r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R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2</a:t>
              </a:r>
            </a:p>
          </p:txBody>
        </p:sp>
        <p:sp>
          <p:nvSpPr>
            <p:cNvPr id="773145" name="Text Box 26"/>
            <p:cNvSpPr txBox="1">
              <a:spLocks noChangeArrowheads="1"/>
            </p:cNvSpPr>
            <p:nvPr/>
          </p:nvSpPr>
          <p:spPr bwMode="auto">
            <a:xfrm>
              <a:off x="8726223" y="1258888"/>
              <a:ext cx="6030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HA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2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3146" name="Text Box 27"/>
            <p:cNvSpPr txBox="1">
              <a:spLocks noChangeArrowheads="1"/>
            </p:cNvSpPr>
            <p:nvPr/>
          </p:nvSpPr>
          <p:spPr bwMode="auto">
            <a:xfrm>
              <a:off x="304404" y="560388"/>
              <a:ext cx="49564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IP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1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3147" name="Text Box 28"/>
            <p:cNvSpPr txBox="1">
              <a:spLocks noChangeArrowheads="1"/>
            </p:cNvSpPr>
            <p:nvPr/>
          </p:nvSpPr>
          <p:spPr bwMode="auto">
            <a:xfrm>
              <a:off x="9061583" y="544513"/>
              <a:ext cx="49564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IP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2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3148" name="Text Box 29"/>
            <p:cNvSpPr txBox="1">
              <a:spLocks noChangeArrowheads="1"/>
            </p:cNvSpPr>
            <p:nvPr/>
          </p:nvSpPr>
          <p:spPr bwMode="auto">
            <a:xfrm>
              <a:off x="1320800" y="1377951"/>
              <a:ext cx="87716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局域网</a:t>
              </a:r>
              <a:endParaRPr lang="zh-CN" altLang="en-US" b="1" baseline="-25000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3149" name="Text Box 30"/>
            <p:cNvSpPr txBox="1">
              <a:spLocks noChangeArrowheads="1"/>
            </p:cNvSpPr>
            <p:nvPr/>
          </p:nvSpPr>
          <p:spPr bwMode="auto">
            <a:xfrm>
              <a:off x="4380310" y="1377951"/>
              <a:ext cx="87716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局域网</a:t>
              </a:r>
              <a:endParaRPr lang="zh-CN" altLang="en-US" b="1" baseline="-25000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3150" name="Text Box 31"/>
            <p:cNvSpPr txBox="1">
              <a:spLocks noChangeArrowheads="1"/>
            </p:cNvSpPr>
            <p:nvPr/>
          </p:nvSpPr>
          <p:spPr bwMode="auto">
            <a:xfrm>
              <a:off x="7644474" y="1377951"/>
              <a:ext cx="87716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局域网</a:t>
              </a:r>
              <a:endParaRPr lang="zh-CN" altLang="en-US" b="1" baseline="-25000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</p:grpSp>
      <p:sp>
        <p:nvSpPr>
          <p:cNvPr id="453740" name="Text Box 108"/>
          <p:cNvSpPr txBox="1">
            <a:spLocks noChangeArrowheads="1"/>
          </p:cNvSpPr>
          <p:nvPr/>
        </p:nvSpPr>
        <p:spPr bwMode="auto">
          <a:xfrm>
            <a:off x="1906588" y="2133600"/>
            <a:ext cx="5524500" cy="904875"/>
          </a:xfrm>
          <a:prstGeom prst="rect">
            <a:avLst/>
          </a:prstGeom>
          <a:solidFill>
            <a:srgbClr val="FFFF99"/>
          </a:solidFill>
          <a:ln w="9525">
            <a:solidFill>
              <a:srgbClr val="333399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>
              <a:lnSpc>
                <a:spcPct val="110000"/>
              </a:lnSpc>
            </a:pPr>
            <a:r>
              <a:rPr lang="zh-CN" altLang="en-US" sz="2400" b="1">
                <a:solidFill>
                  <a:srgbClr val="0000CC"/>
                </a:solidFill>
                <a:ea typeface="黑体" panose="02010609060101010101" pitchFamily="49" charset="-122"/>
              </a:rPr>
              <a:t>通信的路径：</a:t>
            </a:r>
          </a:p>
          <a:p>
            <a:pPr algn="ctr" eaLnBrk="0" hangingPunct="0">
              <a:lnSpc>
                <a:spcPct val="110000"/>
              </a:lnSpc>
              <a:spcAft>
                <a:spcPct val="30000"/>
              </a:spcAft>
            </a:pPr>
            <a:r>
              <a:rPr lang="en-US" altLang="zh-CN" sz="2400" b="1">
                <a:solidFill>
                  <a:srgbClr val="0000CC"/>
                </a:solidFill>
                <a:ea typeface="黑体" panose="02010609060101010101" pitchFamily="49" charset="-122"/>
              </a:rPr>
              <a:t>H</a:t>
            </a:r>
            <a:r>
              <a:rPr lang="en-US" altLang="zh-CN" sz="2400" b="1" baseline="-25000">
                <a:solidFill>
                  <a:srgbClr val="0000CC"/>
                </a:solidFill>
                <a:ea typeface="黑体" panose="02010609060101010101" pitchFamily="49" charset="-122"/>
              </a:rPr>
              <a:t>1</a:t>
            </a:r>
            <a:r>
              <a:rPr lang="en-US" altLang="zh-CN" sz="2400" b="1">
                <a:solidFill>
                  <a:srgbClr val="0000CC"/>
                </a:solidFill>
                <a:ea typeface="黑体" panose="02010609060101010101" pitchFamily="49" charset="-122"/>
              </a:rPr>
              <a:t>→</a:t>
            </a:r>
            <a:r>
              <a:rPr lang="zh-CN" altLang="en-US" sz="2400" b="1">
                <a:solidFill>
                  <a:srgbClr val="0000CC"/>
                </a:solidFill>
                <a:ea typeface="黑体" panose="02010609060101010101" pitchFamily="49" charset="-122"/>
              </a:rPr>
              <a:t>经过 </a:t>
            </a:r>
            <a:r>
              <a:rPr lang="en-US" altLang="zh-CN" sz="2400" b="1">
                <a:solidFill>
                  <a:srgbClr val="0000CC"/>
                </a:solidFill>
                <a:ea typeface="黑体" panose="02010609060101010101" pitchFamily="49" charset="-122"/>
              </a:rPr>
              <a:t>R</a:t>
            </a:r>
            <a:r>
              <a:rPr lang="en-US" altLang="zh-CN" sz="2400" b="1" baseline="-25000">
                <a:solidFill>
                  <a:srgbClr val="0000CC"/>
                </a:solidFill>
                <a:ea typeface="黑体" panose="02010609060101010101" pitchFamily="49" charset="-122"/>
              </a:rPr>
              <a:t>1 </a:t>
            </a:r>
            <a:r>
              <a:rPr lang="zh-CN" altLang="en-US" sz="2400" b="1">
                <a:solidFill>
                  <a:srgbClr val="0000CC"/>
                </a:solidFill>
                <a:ea typeface="黑体" panose="02010609060101010101" pitchFamily="49" charset="-122"/>
              </a:rPr>
              <a:t>转发→再经过 </a:t>
            </a:r>
            <a:r>
              <a:rPr lang="en-US" altLang="zh-CN" sz="2400" b="1">
                <a:solidFill>
                  <a:srgbClr val="0000CC"/>
                </a:solidFill>
                <a:ea typeface="黑体" panose="02010609060101010101" pitchFamily="49" charset="-122"/>
              </a:rPr>
              <a:t>R</a:t>
            </a:r>
            <a:r>
              <a:rPr lang="en-US" altLang="zh-CN" sz="2400" b="1" baseline="-25000">
                <a:solidFill>
                  <a:srgbClr val="0000CC"/>
                </a:solidFill>
                <a:ea typeface="黑体" panose="02010609060101010101" pitchFamily="49" charset="-122"/>
              </a:rPr>
              <a:t>2 </a:t>
            </a:r>
            <a:r>
              <a:rPr lang="zh-CN" altLang="en-US" sz="2400" b="1">
                <a:solidFill>
                  <a:srgbClr val="0000CC"/>
                </a:solidFill>
                <a:ea typeface="黑体" panose="02010609060101010101" pitchFamily="49" charset="-122"/>
              </a:rPr>
              <a:t>转发→</a:t>
            </a:r>
            <a:r>
              <a:rPr lang="en-US" altLang="zh-CN" sz="2400" b="1">
                <a:solidFill>
                  <a:srgbClr val="0000CC"/>
                </a:solidFill>
                <a:ea typeface="黑体" panose="02010609060101010101" pitchFamily="49" charset="-122"/>
              </a:rPr>
              <a:t>H</a:t>
            </a:r>
            <a:r>
              <a:rPr lang="en-US" altLang="zh-CN" sz="2400" b="1" baseline="-25000">
                <a:solidFill>
                  <a:srgbClr val="0000CC"/>
                </a:solidFill>
                <a:ea typeface="黑体" panose="02010609060101010101" pitchFamily="49" charset="-122"/>
              </a:rPr>
              <a:t>2</a:t>
            </a:r>
            <a:endParaRPr lang="en-US" altLang="zh-CN" sz="2400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453741" name="Arc 109"/>
          <p:cNvSpPr>
            <a:spLocks noChangeArrowheads="1"/>
          </p:cNvSpPr>
          <p:nvPr/>
        </p:nvSpPr>
        <p:spPr bwMode="auto">
          <a:xfrm rot="2655715" flipV="1">
            <a:off x="1008063" y="293688"/>
            <a:ext cx="1716087" cy="1728787"/>
          </a:xfrm>
          <a:custGeom>
            <a:avLst/>
            <a:gdLst>
              <a:gd name="T0" fmla="*/ 0 w 27804"/>
              <a:gd name="T1" fmla="*/ 910 h 26910"/>
              <a:gd name="T2" fmla="*/ 6204 w 27804"/>
              <a:gd name="T3" fmla="*/ 0 h 26910"/>
              <a:gd name="T4" fmla="*/ 27804 w 27804"/>
              <a:gd name="T5" fmla="*/ 21600 h 26910"/>
              <a:gd name="T6" fmla="*/ 27141 w 27804"/>
              <a:gd name="T7" fmla="*/ 26910 h 26910"/>
              <a:gd name="T8" fmla="*/ 0 w 27804"/>
              <a:gd name="T9" fmla="*/ 910 h 26910"/>
              <a:gd name="T10" fmla="*/ 6204 w 27804"/>
              <a:gd name="T11" fmla="*/ 0 h 26910"/>
              <a:gd name="T12" fmla="*/ 27804 w 27804"/>
              <a:gd name="T13" fmla="*/ 21600 h 26910"/>
              <a:gd name="T14" fmla="*/ 27141 w 27804"/>
              <a:gd name="T15" fmla="*/ 26910 h 26910"/>
              <a:gd name="T16" fmla="*/ 6204 w 27804"/>
              <a:gd name="T17" fmla="*/ 21600 h 269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7804" h="26910" fill="none">
                <a:moveTo>
                  <a:pt x="0" y="910"/>
                </a:moveTo>
                <a:cubicBezTo>
                  <a:pt x="2012" y="306"/>
                  <a:pt x="4102" y="-1"/>
                  <a:pt x="6204" y="0"/>
                </a:cubicBezTo>
                <a:cubicBezTo>
                  <a:pt x="18133" y="0"/>
                  <a:pt x="27804" y="9670"/>
                  <a:pt x="27804" y="21600"/>
                </a:cubicBezTo>
                <a:cubicBezTo>
                  <a:pt x="27804" y="23390"/>
                  <a:pt x="27581" y="25174"/>
                  <a:pt x="27141" y="26910"/>
                </a:cubicBezTo>
              </a:path>
              <a:path w="27804" h="26910" stroke="0">
                <a:moveTo>
                  <a:pt x="0" y="910"/>
                </a:moveTo>
                <a:cubicBezTo>
                  <a:pt x="2012" y="306"/>
                  <a:pt x="4102" y="-1"/>
                  <a:pt x="6204" y="0"/>
                </a:cubicBezTo>
                <a:cubicBezTo>
                  <a:pt x="18133" y="0"/>
                  <a:pt x="27804" y="9670"/>
                  <a:pt x="27804" y="21600"/>
                </a:cubicBezTo>
                <a:cubicBezTo>
                  <a:pt x="27804" y="23390"/>
                  <a:pt x="27581" y="25174"/>
                  <a:pt x="27141" y="26910"/>
                </a:cubicBezTo>
                <a:lnTo>
                  <a:pt x="6204" y="21600"/>
                </a:lnTo>
                <a:close/>
              </a:path>
            </a:pathLst>
          </a:custGeom>
          <a:noFill/>
          <a:ln w="76200">
            <a:solidFill>
              <a:srgbClr val="C0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453742" name="Arc 110"/>
          <p:cNvSpPr>
            <a:spLocks noChangeArrowheads="1"/>
          </p:cNvSpPr>
          <p:nvPr/>
        </p:nvSpPr>
        <p:spPr bwMode="auto">
          <a:xfrm rot="2655715" flipV="1">
            <a:off x="4017963" y="260350"/>
            <a:ext cx="1716087" cy="1728788"/>
          </a:xfrm>
          <a:custGeom>
            <a:avLst/>
            <a:gdLst>
              <a:gd name="T0" fmla="*/ 0 w 27804"/>
              <a:gd name="T1" fmla="*/ 910 h 26910"/>
              <a:gd name="T2" fmla="*/ 6204 w 27804"/>
              <a:gd name="T3" fmla="*/ 0 h 26910"/>
              <a:gd name="T4" fmla="*/ 27804 w 27804"/>
              <a:gd name="T5" fmla="*/ 21600 h 26910"/>
              <a:gd name="T6" fmla="*/ 27141 w 27804"/>
              <a:gd name="T7" fmla="*/ 26910 h 26910"/>
              <a:gd name="T8" fmla="*/ 0 w 27804"/>
              <a:gd name="T9" fmla="*/ 910 h 26910"/>
              <a:gd name="T10" fmla="*/ 6204 w 27804"/>
              <a:gd name="T11" fmla="*/ 0 h 26910"/>
              <a:gd name="T12" fmla="*/ 27804 w 27804"/>
              <a:gd name="T13" fmla="*/ 21600 h 26910"/>
              <a:gd name="T14" fmla="*/ 27141 w 27804"/>
              <a:gd name="T15" fmla="*/ 26910 h 26910"/>
              <a:gd name="T16" fmla="*/ 6204 w 27804"/>
              <a:gd name="T17" fmla="*/ 21600 h 269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7804" h="26910" fill="none">
                <a:moveTo>
                  <a:pt x="0" y="910"/>
                </a:moveTo>
                <a:cubicBezTo>
                  <a:pt x="2012" y="306"/>
                  <a:pt x="4102" y="-1"/>
                  <a:pt x="6204" y="0"/>
                </a:cubicBezTo>
                <a:cubicBezTo>
                  <a:pt x="18133" y="0"/>
                  <a:pt x="27804" y="9670"/>
                  <a:pt x="27804" y="21600"/>
                </a:cubicBezTo>
                <a:cubicBezTo>
                  <a:pt x="27804" y="23390"/>
                  <a:pt x="27581" y="25174"/>
                  <a:pt x="27141" y="26910"/>
                </a:cubicBezTo>
              </a:path>
              <a:path w="27804" h="26910" stroke="0">
                <a:moveTo>
                  <a:pt x="0" y="910"/>
                </a:moveTo>
                <a:cubicBezTo>
                  <a:pt x="2012" y="306"/>
                  <a:pt x="4102" y="-1"/>
                  <a:pt x="6204" y="0"/>
                </a:cubicBezTo>
                <a:cubicBezTo>
                  <a:pt x="18133" y="0"/>
                  <a:pt x="27804" y="9670"/>
                  <a:pt x="27804" y="21600"/>
                </a:cubicBezTo>
                <a:cubicBezTo>
                  <a:pt x="27804" y="23390"/>
                  <a:pt x="27581" y="25174"/>
                  <a:pt x="27141" y="26910"/>
                </a:cubicBezTo>
                <a:lnTo>
                  <a:pt x="6204" y="21600"/>
                </a:lnTo>
                <a:close/>
              </a:path>
            </a:pathLst>
          </a:custGeom>
          <a:noFill/>
          <a:ln w="76200">
            <a:solidFill>
              <a:srgbClr val="C0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453743" name="Arc 111"/>
          <p:cNvSpPr>
            <a:spLocks noChangeArrowheads="1"/>
          </p:cNvSpPr>
          <p:nvPr/>
        </p:nvSpPr>
        <p:spPr bwMode="auto">
          <a:xfrm rot="2655715" flipV="1">
            <a:off x="7027863" y="227013"/>
            <a:ext cx="1716087" cy="1728787"/>
          </a:xfrm>
          <a:custGeom>
            <a:avLst/>
            <a:gdLst>
              <a:gd name="T0" fmla="*/ 0 w 27804"/>
              <a:gd name="T1" fmla="*/ 910 h 26910"/>
              <a:gd name="T2" fmla="*/ 6204 w 27804"/>
              <a:gd name="T3" fmla="*/ 0 h 26910"/>
              <a:gd name="T4" fmla="*/ 27804 w 27804"/>
              <a:gd name="T5" fmla="*/ 21600 h 26910"/>
              <a:gd name="T6" fmla="*/ 27141 w 27804"/>
              <a:gd name="T7" fmla="*/ 26910 h 26910"/>
              <a:gd name="T8" fmla="*/ 0 w 27804"/>
              <a:gd name="T9" fmla="*/ 910 h 26910"/>
              <a:gd name="T10" fmla="*/ 6204 w 27804"/>
              <a:gd name="T11" fmla="*/ 0 h 26910"/>
              <a:gd name="T12" fmla="*/ 27804 w 27804"/>
              <a:gd name="T13" fmla="*/ 21600 h 26910"/>
              <a:gd name="T14" fmla="*/ 27141 w 27804"/>
              <a:gd name="T15" fmla="*/ 26910 h 26910"/>
              <a:gd name="T16" fmla="*/ 6204 w 27804"/>
              <a:gd name="T17" fmla="*/ 21600 h 269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7804" h="26910" fill="none">
                <a:moveTo>
                  <a:pt x="0" y="910"/>
                </a:moveTo>
                <a:cubicBezTo>
                  <a:pt x="2012" y="306"/>
                  <a:pt x="4102" y="-1"/>
                  <a:pt x="6204" y="0"/>
                </a:cubicBezTo>
                <a:cubicBezTo>
                  <a:pt x="18133" y="0"/>
                  <a:pt x="27804" y="9670"/>
                  <a:pt x="27804" y="21600"/>
                </a:cubicBezTo>
                <a:cubicBezTo>
                  <a:pt x="27804" y="23390"/>
                  <a:pt x="27581" y="25174"/>
                  <a:pt x="27141" y="26910"/>
                </a:cubicBezTo>
              </a:path>
              <a:path w="27804" h="26910" stroke="0">
                <a:moveTo>
                  <a:pt x="0" y="910"/>
                </a:moveTo>
                <a:cubicBezTo>
                  <a:pt x="2012" y="306"/>
                  <a:pt x="4102" y="-1"/>
                  <a:pt x="6204" y="0"/>
                </a:cubicBezTo>
                <a:cubicBezTo>
                  <a:pt x="18133" y="0"/>
                  <a:pt x="27804" y="9670"/>
                  <a:pt x="27804" y="21600"/>
                </a:cubicBezTo>
                <a:cubicBezTo>
                  <a:pt x="27804" y="23390"/>
                  <a:pt x="27581" y="25174"/>
                  <a:pt x="27141" y="26910"/>
                </a:cubicBezTo>
                <a:lnTo>
                  <a:pt x="6204" y="21600"/>
                </a:lnTo>
                <a:close/>
              </a:path>
            </a:pathLst>
          </a:custGeom>
          <a:noFill/>
          <a:ln w="76200">
            <a:solidFill>
              <a:srgbClr val="C0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453744" name="Text Box 112"/>
          <p:cNvSpPr txBox="1">
            <a:spLocks noChangeArrowheads="1"/>
          </p:cNvSpPr>
          <p:nvPr/>
        </p:nvSpPr>
        <p:spPr bwMode="auto">
          <a:xfrm>
            <a:off x="2552700" y="28575"/>
            <a:ext cx="1474788" cy="447675"/>
          </a:xfrm>
          <a:prstGeom prst="rect">
            <a:avLst/>
          </a:prstGeom>
          <a:solidFill>
            <a:srgbClr val="FFFF99"/>
          </a:solidFill>
          <a:ln w="9525">
            <a:solidFill>
              <a:srgbClr val="333399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>
              <a:lnSpc>
                <a:spcPct val="130000"/>
              </a:lnSpc>
            </a:pPr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查找路由表</a:t>
            </a:r>
          </a:p>
        </p:txBody>
      </p:sp>
      <p:sp>
        <p:nvSpPr>
          <p:cNvPr id="453745" name="Text Box 113"/>
          <p:cNvSpPr txBox="1">
            <a:spLocks noChangeArrowheads="1"/>
          </p:cNvSpPr>
          <p:nvPr/>
        </p:nvSpPr>
        <p:spPr bwMode="auto">
          <a:xfrm>
            <a:off x="5440363" y="28575"/>
            <a:ext cx="1474787" cy="447675"/>
          </a:xfrm>
          <a:prstGeom prst="rect">
            <a:avLst/>
          </a:prstGeom>
          <a:solidFill>
            <a:srgbClr val="FFFF99"/>
          </a:solidFill>
          <a:ln w="9525">
            <a:solidFill>
              <a:srgbClr val="333399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>
              <a:lnSpc>
                <a:spcPct val="130000"/>
              </a:lnSpc>
            </a:pPr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查找路由表</a:t>
            </a:r>
          </a:p>
        </p:txBody>
      </p:sp>
      <p:sp>
        <p:nvSpPr>
          <p:cNvPr id="773157" name="灯片编号占位符 4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fld id="{76FBC7BD-CE20-44A5-82CF-0FA708515E0A}" type="slidenum">
              <a:rPr lang="zh-CN" altLang="en-US" smtClean="0"/>
              <a:pPr/>
              <a:t>5</a:t>
            </a:fld>
            <a:endParaRPr lang="en-US" altLang="zh-CN" smtClean="0"/>
          </a:p>
        </p:txBody>
      </p:sp>
      <p:sp>
        <p:nvSpPr>
          <p:cNvPr id="773158" name="页脚占位符 5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4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453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453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12" presetID="1" presetClass="exit" presetSubtype="0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501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6002"/>
                            </p:stCondLst>
                            <p:childTnLst>
                              <p:par>
                                <p:cTn id="18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7003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453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8003"/>
                            </p:stCondLst>
                            <p:childTnLst>
                              <p:par>
                                <p:cTn id="25" presetID="1" presetClass="exit" presetSubtype="0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8504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9005"/>
                            </p:stCondLst>
                            <p:childTnLst>
                              <p:par>
                                <p:cTn id="31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10006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453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1006"/>
                            </p:stCondLst>
                            <p:childTnLst>
                              <p:par>
                                <p:cTn id="38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3740" grpId="0" animBg="1"/>
      <p:bldP spid="453741" grpId="0" animBg="1"/>
      <p:bldP spid="453741" grpId="1" animBg="1"/>
      <p:bldP spid="453742" grpId="0" animBg="1"/>
      <p:bldP spid="453742" grpId="1" animBg="1"/>
      <p:bldP spid="453743" grpId="0" animBg="1"/>
      <p:bldP spid="453743" grpId="1" animBg="1"/>
      <p:bldP spid="453744" grpId="0" animBg="1"/>
      <p:bldP spid="453744" grpId="1" animBg="1"/>
      <p:bldP spid="453745" grpId="0" animBg="1"/>
      <p:bldP spid="453745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5169" name="组合 2"/>
          <p:cNvGrpSpPr>
            <a:grpSpLocks/>
          </p:cNvGrpSpPr>
          <p:nvPr/>
        </p:nvGrpSpPr>
        <p:grpSpPr bwMode="auto">
          <a:xfrm>
            <a:off x="39688" y="2035175"/>
            <a:ext cx="9882187" cy="4352925"/>
            <a:chOff x="39556" y="2035176"/>
            <a:chExt cx="9881923" cy="4352369"/>
          </a:xfrm>
        </p:grpSpPr>
        <p:sp>
          <p:nvSpPr>
            <p:cNvPr id="775170" name="Freeform 77"/>
            <p:cNvSpPr>
              <a:spLocks noChangeArrowheads="1"/>
            </p:cNvSpPr>
            <p:nvPr/>
          </p:nvSpPr>
          <p:spPr bwMode="auto">
            <a:xfrm>
              <a:off x="2559050" y="5160963"/>
              <a:ext cx="428229" cy="279400"/>
            </a:xfrm>
            <a:custGeom>
              <a:avLst/>
              <a:gdLst>
                <a:gd name="T0" fmla="*/ 0 w 249"/>
                <a:gd name="T1" fmla="*/ 176 h 176"/>
                <a:gd name="T2" fmla="*/ 1 w 249"/>
                <a:gd name="T3" fmla="*/ 0 h 176"/>
                <a:gd name="T4" fmla="*/ 249 w 249"/>
                <a:gd name="T5" fmla="*/ 9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9" h="176">
                  <a:moveTo>
                    <a:pt x="0" y="176"/>
                  </a:moveTo>
                  <a:lnTo>
                    <a:pt x="1" y="0"/>
                  </a:lnTo>
                  <a:lnTo>
                    <a:pt x="249" y="9"/>
                  </a:lnTo>
                </a:path>
              </a:pathLst>
            </a:cu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5171" name="Freeform 78"/>
            <p:cNvSpPr>
              <a:spLocks noChangeArrowheads="1"/>
            </p:cNvSpPr>
            <p:nvPr/>
          </p:nvSpPr>
          <p:spPr bwMode="auto">
            <a:xfrm>
              <a:off x="5364031" y="5159375"/>
              <a:ext cx="428228" cy="279400"/>
            </a:xfrm>
            <a:custGeom>
              <a:avLst/>
              <a:gdLst>
                <a:gd name="T0" fmla="*/ 0 w 249"/>
                <a:gd name="T1" fmla="*/ 176 h 176"/>
                <a:gd name="T2" fmla="*/ 1 w 249"/>
                <a:gd name="T3" fmla="*/ 0 h 176"/>
                <a:gd name="T4" fmla="*/ 249 w 249"/>
                <a:gd name="T5" fmla="*/ 9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9" h="176">
                  <a:moveTo>
                    <a:pt x="0" y="176"/>
                  </a:moveTo>
                  <a:lnTo>
                    <a:pt x="1" y="0"/>
                  </a:lnTo>
                  <a:lnTo>
                    <a:pt x="249" y="9"/>
                  </a:lnTo>
                </a:path>
              </a:pathLst>
            </a:cu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5172" name="Line 79"/>
            <p:cNvSpPr>
              <a:spLocks noChangeShapeType="1"/>
            </p:cNvSpPr>
            <p:nvPr/>
          </p:nvSpPr>
          <p:spPr bwMode="auto">
            <a:xfrm rot="-5400000">
              <a:off x="8812081" y="5171943"/>
              <a:ext cx="533400" cy="344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5173" name="Line 80"/>
            <p:cNvSpPr>
              <a:spLocks noChangeShapeType="1"/>
            </p:cNvSpPr>
            <p:nvPr/>
          </p:nvSpPr>
          <p:spPr bwMode="auto">
            <a:xfrm rot="-5400000">
              <a:off x="230320" y="5171943"/>
              <a:ext cx="533400" cy="344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5174" name="AutoShape 81"/>
            <p:cNvSpPr>
              <a:spLocks noChangeArrowheads="1"/>
            </p:cNvSpPr>
            <p:nvPr/>
          </p:nvSpPr>
          <p:spPr bwMode="auto">
            <a:xfrm>
              <a:off x="247650" y="3306763"/>
              <a:ext cx="742950" cy="1905000"/>
            </a:xfrm>
            <a:prstGeom prst="cube">
              <a:avLst>
                <a:gd name="adj" fmla="val 25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5175" name="AutoShape 82"/>
            <p:cNvSpPr>
              <a:spLocks noChangeArrowheads="1"/>
            </p:cNvSpPr>
            <p:nvPr/>
          </p:nvSpPr>
          <p:spPr bwMode="auto">
            <a:xfrm>
              <a:off x="2889250" y="3382963"/>
              <a:ext cx="742950" cy="1905000"/>
            </a:xfrm>
            <a:prstGeom prst="cube">
              <a:avLst>
                <a:gd name="adj" fmla="val 25000"/>
              </a:avLst>
            </a:prstGeom>
            <a:solidFill>
              <a:srgbClr val="66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5176" name="AutoShape 83"/>
            <p:cNvSpPr>
              <a:spLocks noChangeArrowheads="1"/>
            </p:cNvSpPr>
            <p:nvPr/>
          </p:nvSpPr>
          <p:spPr bwMode="auto">
            <a:xfrm>
              <a:off x="8832850" y="3306763"/>
              <a:ext cx="742950" cy="1905000"/>
            </a:xfrm>
            <a:prstGeom prst="cube">
              <a:avLst>
                <a:gd name="adj" fmla="val 25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5177" name="AutoShape 84"/>
            <p:cNvSpPr>
              <a:spLocks noChangeArrowheads="1"/>
            </p:cNvSpPr>
            <p:nvPr/>
          </p:nvSpPr>
          <p:spPr bwMode="auto">
            <a:xfrm>
              <a:off x="5776781" y="3611563"/>
              <a:ext cx="742950" cy="1676400"/>
            </a:xfrm>
            <a:prstGeom prst="cube">
              <a:avLst>
                <a:gd name="adj" fmla="val 25000"/>
              </a:avLst>
            </a:prstGeom>
            <a:solidFill>
              <a:srgbClr val="66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grpSp>
          <p:nvGrpSpPr>
            <p:cNvPr id="220245" name="Group 85"/>
            <p:cNvGrpSpPr/>
            <p:nvPr/>
          </p:nvGrpSpPr>
          <p:grpSpPr bwMode="auto">
            <a:xfrm>
              <a:off x="39556" y="2420938"/>
              <a:ext cx="9881923" cy="2438400"/>
              <a:chOff x="96" y="1056"/>
              <a:chExt cx="5472" cy="1536"/>
            </a:xfrm>
            <a:solidFill>
              <a:srgbClr val="FFFF66"/>
            </a:solidFill>
          </p:grpSpPr>
          <p:sp>
            <p:nvSpPr>
              <p:cNvPr id="220246" name="Oval 86"/>
              <p:cNvSpPr>
                <a:spLocks noChangeArrowheads="1"/>
              </p:cNvSpPr>
              <p:nvPr/>
            </p:nvSpPr>
            <p:spPr bwMode="auto">
              <a:xfrm>
                <a:off x="3662" y="1674"/>
                <a:ext cx="1906" cy="756"/>
              </a:xfrm>
              <a:prstGeom prst="ellipse">
                <a:avLst/>
              </a:prstGeom>
              <a:grpFill/>
              <a:ln w="317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220247" name="Oval 87"/>
              <p:cNvSpPr>
                <a:spLocks noChangeArrowheads="1"/>
              </p:cNvSpPr>
              <p:nvPr/>
            </p:nvSpPr>
            <p:spPr bwMode="auto">
              <a:xfrm>
                <a:off x="96" y="1430"/>
                <a:ext cx="1870" cy="760"/>
              </a:xfrm>
              <a:prstGeom prst="ellipse">
                <a:avLst/>
              </a:prstGeom>
              <a:grpFill/>
              <a:ln w="317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220248" name="Oval 88"/>
              <p:cNvSpPr>
                <a:spLocks noChangeArrowheads="1"/>
              </p:cNvSpPr>
              <p:nvPr/>
            </p:nvSpPr>
            <p:spPr bwMode="auto">
              <a:xfrm>
                <a:off x="3365" y="1163"/>
                <a:ext cx="1903" cy="731"/>
              </a:xfrm>
              <a:prstGeom prst="ellipse">
                <a:avLst/>
              </a:prstGeom>
              <a:grpFill/>
              <a:ln w="317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220249" name="Oval 89"/>
              <p:cNvSpPr>
                <a:spLocks noChangeArrowheads="1"/>
              </p:cNvSpPr>
              <p:nvPr/>
            </p:nvSpPr>
            <p:spPr bwMode="auto">
              <a:xfrm>
                <a:off x="2365" y="1821"/>
                <a:ext cx="1900" cy="771"/>
              </a:xfrm>
              <a:prstGeom prst="ellipse">
                <a:avLst/>
              </a:prstGeom>
              <a:grpFill/>
              <a:ln w="317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220250" name="Oval 90"/>
              <p:cNvSpPr>
                <a:spLocks noChangeArrowheads="1"/>
              </p:cNvSpPr>
              <p:nvPr/>
            </p:nvSpPr>
            <p:spPr bwMode="auto">
              <a:xfrm>
                <a:off x="729" y="1752"/>
                <a:ext cx="1900" cy="731"/>
              </a:xfrm>
              <a:prstGeom prst="ellipse">
                <a:avLst/>
              </a:prstGeom>
              <a:grpFill/>
              <a:ln w="317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220251" name="Oval 91"/>
              <p:cNvSpPr>
                <a:spLocks noChangeArrowheads="1"/>
              </p:cNvSpPr>
              <p:nvPr/>
            </p:nvSpPr>
            <p:spPr bwMode="auto">
              <a:xfrm>
                <a:off x="2197" y="1056"/>
                <a:ext cx="1870" cy="758"/>
              </a:xfrm>
              <a:prstGeom prst="ellipse">
                <a:avLst/>
              </a:prstGeom>
              <a:grpFill/>
              <a:ln w="317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220252" name="Oval 92"/>
              <p:cNvSpPr>
                <a:spLocks noChangeArrowheads="1"/>
              </p:cNvSpPr>
              <p:nvPr/>
            </p:nvSpPr>
            <p:spPr bwMode="auto">
              <a:xfrm>
                <a:off x="996" y="1056"/>
                <a:ext cx="1867" cy="731"/>
              </a:xfrm>
              <a:prstGeom prst="ellipse">
                <a:avLst/>
              </a:prstGeom>
              <a:grpFill/>
              <a:ln w="317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220253" name="Oval 93"/>
              <p:cNvSpPr>
                <a:spLocks noChangeArrowheads="1"/>
              </p:cNvSpPr>
              <p:nvPr/>
            </p:nvSpPr>
            <p:spPr bwMode="auto">
              <a:xfrm>
                <a:off x="597" y="1226"/>
                <a:ext cx="4536" cy="106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</p:grpSp>
        <p:sp>
          <p:nvSpPr>
            <p:cNvPr id="775179" name="Line 94"/>
            <p:cNvSpPr>
              <a:spLocks noChangeShapeType="1"/>
            </p:cNvSpPr>
            <p:nvPr/>
          </p:nvSpPr>
          <p:spPr bwMode="auto">
            <a:xfrm>
              <a:off x="165100" y="5440363"/>
              <a:ext cx="2806700" cy="0"/>
            </a:xfrm>
            <a:prstGeom prst="line">
              <a:avLst/>
            </a:prstGeom>
            <a:noFill/>
            <a:ln w="57150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grpSp>
          <p:nvGrpSpPr>
            <p:cNvPr id="775180" name="Group 95"/>
            <p:cNvGrpSpPr>
              <a:grpSpLocks/>
            </p:cNvGrpSpPr>
            <p:nvPr/>
          </p:nvGrpSpPr>
          <p:grpSpPr bwMode="auto">
            <a:xfrm>
              <a:off x="247650" y="2420938"/>
              <a:ext cx="742950" cy="1447800"/>
              <a:chOff x="672" y="528"/>
              <a:chExt cx="432" cy="912"/>
            </a:xfrm>
          </p:grpSpPr>
          <p:sp>
            <p:nvSpPr>
              <p:cNvPr id="775181" name="AutoShape 96"/>
              <p:cNvSpPr>
                <a:spLocks noChangeArrowheads="1"/>
              </p:cNvSpPr>
              <p:nvPr/>
            </p:nvSpPr>
            <p:spPr bwMode="auto">
              <a:xfrm>
                <a:off x="672" y="1008"/>
                <a:ext cx="432" cy="432"/>
              </a:xfrm>
              <a:prstGeom prst="cube">
                <a:avLst>
                  <a:gd name="adj" fmla="val 25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775182" name="AutoShape 97"/>
              <p:cNvSpPr>
                <a:spLocks noChangeArrowheads="1"/>
              </p:cNvSpPr>
              <p:nvPr/>
            </p:nvSpPr>
            <p:spPr bwMode="auto">
              <a:xfrm>
                <a:off x="672" y="720"/>
                <a:ext cx="432" cy="432"/>
              </a:xfrm>
              <a:prstGeom prst="cube">
                <a:avLst>
                  <a:gd name="adj" fmla="val 25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775183" name="AutoShape 98"/>
              <p:cNvSpPr>
                <a:spLocks noChangeArrowheads="1"/>
              </p:cNvSpPr>
              <p:nvPr/>
            </p:nvSpPr>
            <p:spPr bwMode="auto">
              <a:xfrm>
                <a:off x="672" y="528"/>
                <a:ext cx="432" cy="432"/>
              </a:xfrm>
              <a:prstGeom prst="cube">
                <a:avLst>
                  <a:gd name="adj" fmla="val 25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775184" name="Text Box 99"/>
            <p:cNvSpPr txBox="1">
              <a:spLocks noChangeArrowheads="1"/>
            </p:cNvSpPr>
            <p:nvPr/>
          </p:nvSpPr>
          <p:spPr bwMode="auto">
            <a:xfrm>
              <a:off x="287206" y="3430588"/>
              <a:ext cx="49564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IP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1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5185" name="Text Box 100"/>
            <p:cNvSpPr txBox="1">
              <a:spLocks noChangeArrowheads="1"/>
            </p:cNvSpPr>
            <p:nvPr/>
          </p:nvSpPr>
          <p:spPr bwMode="auto">
            <a:xfrm>
              <a:off x="233892" y="4849813"/>
              <a:ext cx="6030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HA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1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5186" name="Text Box 101"/>
            <p:cNvSpPr txBox="1">
              <a:spLocks noChangeArrowheads="1"/>
            </p:cNvSpPr>
            <p:nvPr/>
          </p:nvSpPr>
          <p:spPr bwMode="auto">
            <a:xfrm>
              <a:off x="5226448" y="4811713"/>
              <a:ext cx="6030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HA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5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5187" name="Text Box 102"/>
            <p:cNvSpPr txBox="1">
              <a:spLocks noChangeArrowheads="1"/>
            </p:cNvSpPr>
            <p:nvPr/>
          </p:nvSpPr>
          <p:spPr bwMode="auto">
            <a:xfrm>
              <a:off x="3604683" y="4805363"/>
              <a:ext cx="6030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HA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4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5188" name="Text Box 103"/>
            <p:cNvSpPr txBox="1">
              <a:spLocks noChangeArrowheads="1"/>
            </p:cNvSpPr>
            <p:nvPr/>
          </p:nvSpPr>
          <p:spPr bwMode="auto">
            <a:xfrm>
              <a:off x="2311400" y="4805363"/>
              <a:ext cx="6030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HA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3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5189" name="Line 104"/>
            <p:cNvSpPr>
              <a:spLocks noChangeShapeType="1"/>
            </p:cNvSpPr>
            <p:nvPr/>
          </p:nvSpPr>
          <p:spPr bwMode="auto">
            <a:xfrm>
              <a:off x="908050" y="3611563"/>
              <a:ext cx="206375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5190" name="Line 105"/>
            <p:cNvSpPr>
              <a:spLocks noChangeShapeType="1"/>
            </p:cNvSpPr>
            <p:nvPr/>
          </p:nvSpPr>
          <p:spPr bwMode="auto">
            <a:xfrm>
              <a:off x="6438900" y="5440363"/>
              <a:ext cx="3219450" cy="0"/>
            </a:xfrm>
            <a:prstGeom prst="line">
              <a:avLst/>
            </a:prstGeom>
            <a:noFill/>
            <a:ln w="57150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5191" name="Text Box 106"/>
            <p:cNvSpPr txBox="1">
              <a:spLocks noChangeArrowheads="1"/>
            </p:cNvSpPr>
            <p:nvPr/>
          </p:nvSpPr>
          <p:spPr bwMode="auto">
            <a:xfrm>
              <a:off x="6507692" y="4799013"/>
              <a:ext cx="6030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HA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6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5192" name="Text Box 107"/>
            <p:cNvSpPr txBox="1">
              <a:spLocks noChangeArrowheads="1"/>
            </p:cNvSpPr>
            <p:nvPr/>
          </p:nvSpPr>
          <p:spPr bwMode="auto">
            <a:xfrm>
              <a:off x="8805333" y="4814888"/>
              <a:ext cx="6030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HA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2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5193" name="Text Box 108"/>
            <p:cNvSpPr txBox="1">
              <a:spLocks noChangeArrowheads="1"/>
            </p:cNvSpPr>
            <p:nvPr/>
          </p:nvSpPr>
          <p:spPr bwMode="auto">
            <a:xfrm>
              <a:off x="6507692" y="3709988"/>
              <a:ext cx="49564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IP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6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5194" name="Text Box 109"/>
            <p:cNvSpPr txBox="1">
              <a:spLocks noChangeArrowheads="1"/>
            </p:cNvSpPr>
            <p:nvPr/>
          </p:nvSpPr>
          <p:spPr bwMode="auto">
            <a:xfrm>
              <a:off x="116946" y="2060576"/>
              <a:ext cx="96212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主机 </a:t>
              </a:r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1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5195" name="Text Box 110"/>
            <p:cNvSpPr txBox="1">
              <a:spLocks noChangeArrowheads="1"/>
            </p:cNvSpPr>
            <p:nvPr/>
          </p:nvSpPr>
          <p:spPr bwMode="auto">
            <a:xfrm>
              <a:off x="8702146" y="2035176"/>
              <a:ext cx="96212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主机 </a:t>
              </a:r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2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5196" name="AutoShape 111"/>
            <p:cNvSpPr>
              <a:spLocks noChangeArrowheads="1"/>
            </p:cNvSpPr>
            <p:nvPr/>
          </p:nvSpPr>
          <p:spPr bwMode="auto">
            <a:xfrm>
              <a:off x="2889250" y="3259138"/>
              <a:ext cx="742950" cy="609600"/>
            </a:xfrm>
            <a:prstGeom prst="cube">
              <a:avLst>
                <a:gd name="adj" fmla="val 25000"/>
              </a:avLst>
            </a:prstGeom>
            <a:solidFill>
              <a:srgbClr val="66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5197" name="Text Box 112"/>
            <p:cNvSpPr txBox="1">
              <a:spLocks noChangeArrowheads="1"/>
            </p:cNvSpPr>
            <p:nvPr/>
          </p:nvSpPr>
          <p:spPr bwMode="auto">
            <a:xfrm>
              <a:off x="2834217" y="2887663"/>
              <a:ext cx="119295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路由器 </a:t>
              </a:r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R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1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5198" name="Text Box 113"/>
            <p:cNvSpPr txBox="1">
              <a:spLocks noChangeArrowheads="1"/>
            </p:cNvSpPr>
            <p:nvPr/>
          </p:nvSpPr>
          <p:spPr bwMode="auto">
            <a:xfrm>
              <a:off x="4485217" y="4186239"/>
              <a:ext cx="2410468" cy="461665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rgbClr val="333399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IP </a:t>
              </a:r>
              <a:r>
                <a:rPr lang="zh-CN" altLang="en-US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层上的互联网</a:t>
              </a:r>
            </a:p>
          </p:txBody>
        </p:sp>
        <p:sp>
          <p:nvSpPr>
            <p:cNvPr id="775199" name="Text Box 114"/>
            <p:cNvSpPr txBox="1">
              <a:spLocks noChangeArrowheads="1"/>
            </p:cNvSpPr>
            <p:nvPr/>
          </p:nvSpPr>
          <p:spPr bwMode="auto">
            <a:xfrm>
              <a:off x="1073150" y="5948363"/>
              <a:ext cx="100700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MAC </a:t>
              </a:r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帧</a:t>
              </a:r>
            </a:p>
          </p:txBody>
        </p:sp>
        <p:grpSp>
          <p:nvGrpSpPr>
            <p:cNvPr id="775200" name="Group 115"/>
            <p:cNvGrpSpPr>
              <a:grpSpLocks/>
            </p:cNvGrpSpPr>
            <p:nvPr/>
          </p:nvGrpSpPr>
          <p:grpSpPr bwMode="auto">
            <a:xfrm>
              <a:off x="8832850" y="2420938"/>
              <a:ext cx="742950" cy="1447800"/>
              <a:chOff x="672" y="528"/>
              <a:chExt cx="432" cy="912"/>
            </a:xfrm>
          </p:grpSpPr>
          <p:sp>
            <p:nvSpPr>
              <p:cNvPr id="775201" name="AutoShape 116"/>
              <p:cNvSpPr>
                <a:spLocks noChangeArrowheads="1"/>
              </p:cNvSpPr>
              <p:nvPr/>
            </p:nvSpPr>
            <p:spPr bwMode="auto">
              <a:xfrm>
                <a:off x="672" y="1008"/>
                <a:ext cx="432" cy="432"/>
              </a:xfrm>
              <a:prstGeom prst="cube">
                <a:avLst>
                  <a:gd name="adj" fmla="val 25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775202" name="AutoShape 117"/>
              <p:cNvSpPr>
                <a:spLocks noChangeArrowheads="1"/>
              </p:cNvSpPr>
              <p:nvPr/>
            </p:nvSpPr>
            <p:spPr bwMode="auto">
              <a:xfrm>
                <a:off x="672" y="720"/>
                <a:ext cx="432" cy="432"/>
              </a:xfrm>
              <a:prstGeom prst="cube">
                <a:avLst>
                  <a:gd name="adj" fmla="val 25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775203" name="AutoShape 118"/>
              <p:cNvSpPr>
                <a:spLocks noChangeArrowheads="1"/>
              </p:cNvSpPr>
              <p:nvPr/>
            </p:nvSpPr>
            <p:spPr bwMode="auto">
              <a:xfrm>
                <a:off x="672" y="528"/>
                <a:ext cx="432" cy="432"/>
              </a:xfrm>
              <a:prstGeom prst="cube">
                <a:avLst>
                  <a:gd name="adj" fmla="val 25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775204" name="Text Box 119"/>
            <p:cNvSpPr txBox="1">
              <a:spLocks noChangeArrowheads="1"/>
            </p:cNvSpPr>
            <p:nvPr/>
          </p:nvSpPr>
          <p:spPr bwMode="auto">
            <a:xfrm>
              <a:off x="8886165" y="3435351"/>
              <a:ext cx="49564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IP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2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5205" name="Text Box 120"/>
            <p:cNvSpPr txBox="1">
              <a:spLocks noChangeArrowheads="1"/>
            </p:cNvSpPr>
            <p:nvPr/>
          </p:nvSpPr>
          <p:spPr bwMode="auto">
            <a:xfrm>
              <a:off x="3597804" y="3697288"/>
              <a:ext cx="49564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IP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4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5206" name="Text Box 121"/>
            <p:cNvSpPr txBox="1">
              <a:spLocks noChangeArrowheads="1"/>
            </p:cNvSpPr>
            <p:nvPr/>
          </p:nvSpPr>
          <p:spPr bwMode="auto">
            <a:xfrm>
              <a:off x="2476500" y="3697288"/>
              <a:ext cx="49564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IP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3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5207" name="Line 122"/>
            <p:cNvSpPr>
              <a:spLocks noChangeShapeType="1"/>
            </p:cNvSpPr>
            <p:nvPr/>
          </p:nvSpPr>
          <p:spPr bwMode="auto">
            <a:xfrm>
              <a:off x="3549650" y="3611563"/>
              <a:ext cx="222885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5208" name="AutoShape 123"/>
            <p:cNvSpPr>
              <a:spLocks noChangeArrowheads="1"/>
            </p:cNvSpPr>
            <p:nvPr/>
          </p:nvSpPr>
          <p:spPr bwMode="auto">
            <a:xfrm>
              <a:off x="5776781" y="3230563"/>
              <a:ext cx="742950" cy="609600"/>
            </a:xfrm>
            <a:prstGeom prst="cube">
              <a:avLst>
                <a:gd name="adj" fmla="val 25000"/>
              </a:avLst>
            </a:prstGeom>
            <a:solidFill>
              <a:srgbClr val="66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5209" name="Line 124"/>
            <p:cNvSpPr>
              <a:spLocks noChangeShapeType="1"/>
            </p:cNvSpPr>
            <p:nvPr/>
          </p:nvSpPr>
          <p:spPr bwMode="auto">
            <a:xfrm>
              <a:off x="6438900" y="3611563"/>
              <a:ext cx="239395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5210" name="Text Box 125"/>
            <p:cNvSpPr txBox="1">
              <a:spLocks noChangeArrowheads="1"/>
            </p:cNvSpPr>
            <p:nvPr/>
          </p:nvSpPr>
          <p:spPr bwMode="auto">
            <a:xfrm>
              <a:off x="5365750" y="3697288"/>
              <a:ext cx="49564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IP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5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5211" name="Line 126"/>
            <p:cNvSpPr>
              <a:spLocks noChangeShapeType="1"/>
            </p:cNvSpPr>
            <p:nvPr/>
          </p:nvSpPr>
          <p:spPr bwMode="auto">
            <a:xfrm>
              <a:off x="3632200" y="5440363"/>
              <a:ext cx="2063750" cy="0"/>
            </a:xfrm>
            <a:prstGeom prst="line">
              <a:avLst/>
            </a:prstGeom>
            <a:noFill/>
            <a:ln w="57150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5212" name="Freeform 127"/>
            <p:cNvSpPr>
              <a:spLocks noChangeArrowheads="1"/>
            </p:cNvSpPr>
            <p:nvPr/>
          </p:nvSpPr>
          <p:spPr bwMode="auto">
            <a:xfrm flipH="1">
              <a:off x="6414823" y="5156201"/>
              <a:ext cx="369756" cy="284163"/>
            </a:xfrm>
            <a:custGeom>
              <a:avLst/>
              <a:gdLst>
                <a:gd name="T0" fmla="*/ 0 w 249"/>
                <a:gd name="T1" fmla="*/ 176 h 176"/>
                <a:gd name="T2" fmla="*/ 1 w 249"/>
                <a:gd name="T3" fmla="*/ 0 h 176"/>
                <a:gd name="T4" fmla="*/ 249 w 249"/>
                <a:gd name="T5" fmla="*/ 9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9" h="176">
                  <a:moveTo>
                    <a:pt x="0" y="176"/>
                  </a:moveTo>
                  <a:lnTo>
                    <a:pt x="1" y="0"/>
                  </a:lnTo>
                  <a:lnTo>
                    <a:pt x="249" y="9"/>
                  </a:lnTo>
                </a:path>
              </a:pathLst>
            </a:cu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5213" name="Freeform 128"/>
            <p:cNvSpPr>
              <a:spLocks noChangeArrowheads="1"/>
            </p:cNvSpPr>
            <p:nvPr/>
          </p:nvSpPr>
          <p:spPr bwMode="auto">
            <a:xfrm flipH="1">
              <a:off x="3503216" y="5162550"/>
              <a:ext cx="459184" cy="279400"/>
            </a:xfrm>
            <a:custGeom>
              <a:avLst/>
              <a:gdLst>
                <a:gd name="T0" fmla="*/ 0 w 249"/>
                <a:gd name="T1" fmla="*/ 176 h 176"/>
                <a:gd name="T2" fmla="*/ 1 w 249"/>
                <a:gd name="T3" fmla="*/ 0 h 176"/>
                <a:gd name="T4" fmla="*/ 249 w 249"/>
                <a:gd name="T5" fmla="*/ 9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9" h="176">
                  <a:moveTo>
                    <a:pt x="0" y="176"/>
                  </a:moveTo>
                  <a:lnTo>
                    <a:pt x="1" y="0"/>
                  </a:lnTo>
                  <a:lnTo>
                    <a:pt x="249" y="9"/>
                  </a:lnTo>
                </a:path>
              </a:pathLst>
            </a:cu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5214" name="Text Box 129"/>
            <p:cNvSpPr txBox="1">
              <a:spLocks noChangeArrowheads="1"/>
            </p:cNvSpPr>
            <p:nvPr/>
          </p:nvSpPr>
          <p:spPr bwMode="auto">
            <a:xfrm>
              <a:off x="5652956" y="2862263"/>
              <a:ext cx="119295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路由器 </a:t>
              </a:r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R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2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grpSp>
          <p:nvGrpSpPr>
            <p:cNvPr id="775215" name="Group 130"/>
            <p:cNvGrpSpPr>
              <a:grpSpLocks/>
            </p:cNvGrpSpPr>
            <p:nvPr/>
          </p:nvGrpSpPr>
          <p:grpSpPr bwMode="auto">
            <a:xfrm>
              <a:off x="1238250" y="3154363"/>
              <a:ext cx="1568450" cy="381000"/>
              <a:chOff x="1632" y="2688"/>
              <a:chExt cx="912" cy="240"/>
            </a:xfrm>
          </p:grpSpPr>
          <p:sp>
            <p:nvSpPr>
              <p:cNvPr id="775216" name="Rectangle 131"/>
              <p:cNvSpPr>
                <a:spLocks noChangeArrowheads="1"/>
              </p:cNvSpPr>
              <p:nvPr/>
            </p:nvSpPr>
            <p:spPr bwMode="auto">
              <a:xfrm>
                <a:off x="1632" y="2688"/>
                <a:ext cx="720" cy="240"/>
              </a:xfrm>
              <a:prstGeom prst="rect">
                <a:avLst/>
              </a:prstGeom>
              <a:solidFill>
                <a:srgbClr val="FF99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  IP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1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 → IP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2</a:t>
                </a:r>
              </a:p>
            </p:txBody>
          </p:sp>
          <p:sp>
            <p:nvSpPr>
              <p:cNvPr id="775217" name="AutoShape 132"/>
              <p:cNvSpPr>
                <a:spLocks noChangeArrowheads="1"/>
              </p:cNvSpPr>
              <p:nvPr/>
            </p:nvSpPr>
            <p:spPr bwMode="auto">
              <a:xfrm>
                <a:off x="2352" y="2736"/>
                <a:ext cx="192" cy="144"/>
              </a:xfrm>
              <a:prstGeom prst="rightArrow">
                <a:avLst>
                  <a:gd name="adj1" fmla="val 50000"/>
                  <a:gd name="adj2" fmla="val 54167"/>
                </a:avLst>
              </a:prstGeom>
              <a:solidFill>
                <a:srgbClr val="FF99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775218" name="Group 133"/>
            <p:cNvGrpSpPr>
              <a:grpSpLocks/>
            </p:cNvGrpSpPr>
            <p:nvPr/>
          </p:nvGrpSpPr>
          <p:grpSpPr bwMode="auto">
            <a:xfrm>
              <a:off x="4044950" y="3154363"/>
              <a:ext cx="1568450" cy="381000"/>
              <a:chOff x="1632" y="2688"/>
              <a:chExt cx="912" cy="240"/>
            </a:xfrm>
          </p:grpSpPr>
          <p:sp>
            <p:nvSpPr>
              <p:cNvPr id="775219" name="Rectangle 134"/>
              <p:cNvSpPr>
                <a:spLocks noChangeArrowheads="1"/>
              </p:cNvSpPr>
              <p:nvPr/>
            </p:nvSpPr>
            <p:spPr bwMode="auto">
              <a:xfrm>
                <a:off x="1632" y="2688"/>
                <a:ext cx="720" cy="240"/>
              </a:xfrm>
              <a:prstGeom prst="rect">
                <a:avLst/>
              </a:prstGeom>
              <a:solidFill>
                <a:srgbClr val="FF99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IP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1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 → IP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2</a:t>
                </a:r>
              </a:p>
            </p:txBody>
          </p:sp>
          <p:sp>
            <p:nvSpPr>
              <p:cNvPr id="775220" name="AutoShape 135"/>
              <p:cNvSpPr>
                <a:spLocks noChangeArrowheads="1"/>
              </p:cNvSpPr>
              <p:nvPr/>
            </p:nvSpPr>
            <p:spPr bwMode="auto">
              <a:xfrm>
                <a:off x="2352" y="2736"/>
                <a:ext cx="192" cy="144"/>
              </a:xfrm>
              <a:prstGeom prst="rightArrow">
                <a:avLst>
                  <a:gd name="adj1" fmla="val 50000"/>
                  <a:gd name="adj2" fmla="val 54167"/>
                </a:avLst>
              </a:prstGeom>
              <a:solidFill>
                <a:srgbClr val="FF99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775221" name="Group 136"/>
            <p:cNvGrpSpPr>
              <a:grpSpLocks/>
            </p:cNvGrpSpPr>
            <p:nvPr/>
          </p:nvGrpSpPr>
          <p:grpSpPr bwMode="auto">
            <a:xfrm>
              <a:off x="7016750" y="3154363"/>
              <a:ext cx="1568450" cy="381000"/>
              <a:chOff x="1632" y="2688"/>
              <a:chExt cx="912" cy="240"/>
            </a:xfrm>
          </p:grpSpPr>
          <p:sp>
            <p:nvSpPr>
              <p:cNvPr id="775222" name="Rectangle 137"/>
              <p:cNvSpPr>
                <a:spLocks noChangeArrowheads="1"/>
              </p:cNvSpPr>
              <p:nvPr/>
            </p:nvSpPr>
            <p:spPr bwMode="auto">
              <a:xfrm>
                <a:off x="1632" y="2688"/>
                <a:ext cx="720" cy="240"/>
              </a:xfrm>
              <a:prstGeom prst="rect">
                <a:avLst/>
              </a:prstGeom>
              <a:solidFill>
                <a:srgbClr val="FF99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IP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1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 → IP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2</a:t>
                </a:r>
              </a:p>
            </p:txBody>
          </p:sp>
          <p:sp>
            <p:nvSpPr>
              <p:cNvPr id="775223" name="AutoShape 138"/>
              <p:cNvSpPr>
                <a:spLocks noChangeArrowheads="1"/>
              </p:cNvSpPr>
              <p:nvPr/>
            </p:nvSpPr>
            <p:spPr bwMode="auto">
              <a:xfrm>
                <a:off x="2352" y="2736"/>
                <a:ext cx="192" cy="144"/>
              </a:xfrm>
              <a:prstGeom prst="rightArrow">
                <a:avLst>
                  <a:gd name="adj1" fmla="val 50000"/>
                  <a:gd name="adj2" fmla="val 54167"/>
                </a:avLst>
              </a:prstGeom>
              <a:solidFill>
                <a:srgbClr val="FF99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775224" name="Group 139"/>
            <p:cNvGrpSpPr>
              <a:grpSpLocks/>
            </p:cNvGrpSpPr>
            <p:nvPr/>
          </p:nvGrpSpPr>
          <p:grpSpPr bwMode="auto">
            <a:xfrm>
              <a:off x="660400" y="5592763"/>
              <a:ext cx="2146300" cy="381000"/>
              <a:chOff x="480" y="3120"/>
              <a:chExt cx="1248" cy="240"/>
            </a:xfrm>
          </p:grpSpPr>
          <p:sp>
            <p:nvSpPr>
              <p:cNvPr id="775225" name="Rectangle 140"/>
              <p:cNvSpPr>
                <a:spLocks noChangeArrowheads="1"/>
              </p:cNvSpPr>
              <p:nvPr/>
            </p:nvSpPr>
            <p:spPr bwMode="auto">
              <a:xfrm>
                <a:off x="480" y="3120"/>
                <a:ext cx="1056" cy="240"/>
              </a:xfrm>
              <a:prstGeom prst="rect">
                <a:avLst/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从 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HA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1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 </a:t>
                </a:r>
                <a:r>
                  <a: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到 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HA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3</a:t>
                </a:r>
              </a:p>
            </p:txBody>
          </p:sp>
          <p:sp>
            <p:nvSpPr>
              <p:cNvPr id="775226" name="AutoShape 141"/>
              <p:cNvSpPr>
                <a:spLocks noChangeArrowheads="1"/>
              </p:cNvSpPr>
              <p:nvPr/>
            </p:nvSpPr>
            <p:spPr bwMode="auto">
              <a:xfrm>
                <a:off x="1536" y="3168"/>
                <a:ext cx="192" cy="144"/>
              </a:xfrm>
              <a:prstGeom prst="rightArrow">
                <a:avLst>
                  <a:gd name="adj1" fmla="val 50000"/>
                  <a:gd name="adj2" fmla="val 54167"/>
                </a:avLst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775227" name="Group 142"/>
            <p:cNvGrpSpPr>
              <a:grpSpLocks/>
            </p:cNvGrpSpPr>
            <p:nvPr/>
          </p:nvGrpSpPr>
          <p:grpSpPr bwMode="auto">
            <a:xfrm>
              <a:off x="3797300" y="5592763"/>
              <a:ext cx="2146300" cy="381000"/>
              <a:chOff x="480" y="3120"/>
              <a:chExt cx="1248" cy="240"/>
            </a:xfrm>
          </p:grpSpPr>
          <p:sp>
            <p:nvSpPr>
              <p:cNvPr id="775228" name="Rectangle 143"/>
              <p:cNvSpPr>
                <a:spLocks noChangeArrowheads="1"/>
              </p:cNvSpPr>
              <p:nvPr/>
            </p:nvSpPr>
            <p:spPr bwMode="auto">
              <a:xfrm>
                <a:off x="480" y="3120"/>
                <a:ext cx="1056" cy="240"/>
              </a:xfrm>
              <a:prstGeom prst="rect">
                <a:avLst/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从 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HA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4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 </a:t>
                </a:r>
                <a:r>
                  <a: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到 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HA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5</a:t>
                </a:r>
              </a:p>
            </p:txBody>
          </p:sp>
          <p:sp>
            <p:nvSpPr>
              <p:cNvPr id="775229" name="AutoShape 144"/>
              <p:cNvSpPr>
                <a:spLocks noChangeArrowheads="1"/>
              </p:cNvSpPr>
              <p:nvPr/>
            </p:nvSpPr>
            <p:spPr bwMode="auto">
              <a:xfrm>
                <a:off x="1536" y="3168"/>
                <a:ext cx="192" cy="144"/>
              </a:xfrm>
              <a:prstGeom prst="rightArrow">
                <a:avLst>
                  <a:gd name="adj1" fmla="val 50000"/>
                  <a:gd name="adj2" fmla="val 54167"/>
                </a:avLst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775230" name="Group 145"/>
            <p:cNvGrpSpPr>
              <a:grpSpLocks/>
            </p:cNvGrpSpPr>
            <p:nvPr/>
          </p:nvGrpSpPr>
          <p:grpSpPr bwMode="auto">
            <a:xfrm>
              <a:off x="6934200" y="5592763"/>
              <a:ext cx="2146300" cy="381000"/>
              <a:chOff x="480" y="3120"/>
              <a:chExt cx="1248" cy="240"/>
            </a:xfrm>
          </p:grpSpPr>
          <p:sp>
            <p:nvSpPr>
              <p:cNvPr id="775231" name="Rectangle 146"/>
              <p:cNvSpPr>
                <a:spLocks noChangeArrowheads="1"/>
              </p:cNvSpPr>
              <p:nvPr/>
            </p:nvSpPr>
            <p:spPr bwMode="auto">
              <a:xfrm>
                <a:off x="480" y="3120"/>
                <a:ext cx="1056" cy="240"/>
              </a:xfrm>
              <a:prstGeom prst="rect">
                <a:avLst/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从 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HA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6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 </a:t>
                </a:r>
                <a:r>
                  <a: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到 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HA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2</a:t>
                </a:r>
              </a:p>
            </p:txBody>
          </p:sp>
          <p:sp>
            <p:nvSpPr>
              <p:cNvPr id="775232" name="AutoShape 147"/>
              <p:cNvSpPr>
                <a:spLocks noChangeArrowheads="1"/>
              </p:cNvSpPr>
              <p:nvPr/>
            </p:nvSpPr>
            <p:spPr bwMode="auto">
              <a:xfrm>
                <a:off x="1536" y="3168"/>
                <a:ext cx="192" cy="144"/>
              </a:xfrm>
              <a:prstGeom prst="rightArrow">
                <a:avLst>
                  <a:gd name="adj1" fmla="val 50000"/>
                  <a:gd name="adj2" fmla="val 54167"/>
                </a:avLst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775233" name="Text Box 148"/>
            <p:cNvSpPr txBox="1">
              <a:spLocks noChangeArrowheads="1"/>
            </p:cNvSpPr>
            <p:nvPr/>
          </p:nvSpPr>
          <p:spPr bwMode="auto">
            <a:xfrm>
              <a:off x="7429500" y="6018213"/>
              <a:ext cx="100700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MAC </a:t>
              </a:r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帧</a:t>
              </a:r>
            </a:p>
          </p:txBody>
        </p:sp>
        <p:sp>
          <p:nvSpPr>
            <p:cNvPr id="775234" name="Text Box 149"/>
            <p:cNvSpPr txBox="1">
              <a:spLocks noChangeArrowheads="1"/>
            </p:cNvSpPr>
            <p:nvPr/>
          </p:nvSpPr>
          <p:spPr bwMode="auto">
            <a:xfrm>
              <a:off x="4308079" y="6018213"/>
              <a:ext cx="100700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MAC </a:t>
              </a:r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帧</a:t>
              </a:r>
            </a:p>
          </p:txBody>
        </p:sp>
        <p:sp>
          <p:nvSpPr>
            <p:cNvPr id="775235" name="AutoShape 150"/>
            <p:cNvSpPr>
              <a:spLocks noChangeArrowheads="1"/>
            </p:cNvSpPr>
            <p:nvPr/>
          </p:nvSpPr>
          <p:spPr bwMode="auto">
            <a:xfrm flipV="1">
              <a:off x="2228850" y="2292351"/>
              <a:ext cx="1320800" cy="377825"/>
            </a:xfrm>
            <a:prstGeom prst="wedgeRoundRectCallout">
              <a:avLst>
                <a:gd name="adj1" fmla="val -75782"/>
                <a:gd name="adj2" fmla="val -203782"/>
                <a:gd name="adj3" fmla="val 16667"/>
              </a:avLst>
            </a:prstGeom>
            <a:solidFill>
              <a:srgbClr val="66FF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pPr algn="ctr" eaLnBrk="0" hangingPunct="0"/>
              <a:endParaRPr lang="zh-CN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5236" name="Text Box 151"/>
            <p:cNvSpPr txBox="1">
              <a:spLocks noChangeArrowheads="1"/>
            </p:cNvSpPr>
            <p:nvPr/>
          </p:nvSpPr>
          <p:spPr bwMode="auto">
            <a:xfrm>
              <a:off x="2270125" y="2316163"/>
              <a:ext cx="115993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IP </a:t>
              </a:r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数据报</a:t>
              </a:r>
            </a:p>
          </p:txBody>
        </p:sp>
      </p:grpSp>
      <p:sp>
        <p:nvSpPr>
          <p:cNvPr id="220318" name="Text Box 158"/>
          <p:cNvSpPr txBox="1">
            <a:spLocks noChangeArrowheads="1"/>
          </p:cNvSpPr>
          <p:nvPr/>
        </p:nvSpPr>
        <p:spPr bwMode="auto">
          <a:xfrm>
            <a:off x="2865438" y="44450"/>
            <a:ext cx="5233987" cy="523875"/>
          </a:xfrm>
          <a:prstGeom prst="rect">
            <a:avLst/>
          </a:prstGeom>
          <a:solidFill>
            <a:srgbClr val="FFFF00"/>
          </a:solidFill>
          <a:ln w="9525">
            <a:solidFill>
              <a:srgbClr val="333399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800" b="1">
                <a:solidFill>
                  <a:srgbClr val="000099"/>
                </a:solidFill>
                <a:ea typeface="黑体" panose="02010609060101010101" pitchFamily="49" charset="-122"/>
              </a:rPr>
              <a:t>从协议栈的层次上看数据的流动</a:t>
            </a:r>
          </a:p>
        </p:txBody>
      </p:sp>
      <p:sp>
        <p:nvSpPr>
          <p:cNvPr id="220319" name="Line 159"/>
          <p:cNvSpPr>
            <a:spLocks noChangeShapeType="1"/>
          </p:cNvSpPr>
          <p:nvPr/>
        </p:nvSpPr>
        <p:spPr bwMode="auto">
          <a:xfrm>
            <a:off x="508000" y="2708275"/>
            <a:ext cx="0" cy="2665413"/>
          </a:xfrm>
          <a:prstGeom prst="line">
            <a:avLst/>
          </a:prstGeom>
          <a:noFill/>
          <a:ln w="76200">
            <a:solidFill>
              <a:srgbClr val="C0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220321" name="Line 161"/>
          <p:cNvSpPr>
            <a:spLocks noChangeShapeType="1"/>
          </p:cNvSpPr>
          <p:nvPr/>
        </p:nvSpPr>
        <p:spPr bwMode="auto">
          <a:xfrm>
            <a:off x="508000" y="5445125"/>
            <a:ext cx="2027238" cy="0"/>
          </a:xfrm>
          <a:prstGeom prst="line">
            <a:avLst/>
          </a:prstGeom>
          <a:noFill/>
          <a:ln w="76200">
            <a:solidFill>
              <a:srgbClr val="C0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220323" name="Line 163"/>
          <p:cNvSpPr>
            <a:spLocks noChangeShapeType="1"/>
          </p:cNvSpPr>
          <p:nvPr/>
        </p:nvSpPr>
        <p:spPr bwMode="auto">
          <a:xfrm flipV="1">
            <a:off x="3079750" y="3500438"/>
            <a:ext cx="0" cy="1800225"/>
          </a:xfrm>
          <a:prstGeom prst="line">
            <a:avLst/>
          </a:prstGeom>
          <a:noFill/>
          <a:ln w="76200">
            <a:solidFill>
              <a:srgbClr val="C0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220324" name="Line 164"/>
          <p:cNvSpPr>
            <a:spLocks noChangeShapeType="1"/>
          </p:cNvSpPr>
          <p:nvPr/>
        </p:nvSpPr>
        <p:spPr bwMode="auto">
          <a:xfrm>
            <a:off x="3314700" y="3500438"/>
            <a:ext cx="0" cy="1800225"/>
          </a:xfrm>
          <a:prstGeom prst="line">
            <a:avLst/>
          </a:prstGeom>
          <a:noFill/>
          <a:ln w="76200">
            <a:solidFill>
              <a:srgbClr val="C0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220325" name="Line 165"/>
          <p:cNvSpPr>
            <a:spLocks noChangeShapeType="1"/>
          </p:cNvSpPr>
          <p:nvPr/>
        </p:nvSpPr>
        <p:spPr bwMode="auto">
          <a:xfrm>
            <a:off x="3706813" y="5445125"/>
            <a:ext cx="2027237" cy="0"/>
          </a:xfrm>
          <a:prstGeom prst="line">
            <a:avLst/>
          </a:prstGeom>
          <a:noFill/>
          <a:ln w="76200">
            <a:solidFill>
              <a:srgbClr val="C0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220328" name="Line 168"/>
          <p:cNvSpPr>
            <a:spLocks noChangeShapeType="1"/>
          </p:cNvSpPr>
          <p:nvPr/>
        </p:nvSpPr>
        <p:spPr bwMode="auto">
          <a:xfrm flipV="1">
            <a:off x="5967413" y="3500438"/>
            <a:ext cx="0" cy="1800225"/>
          </a:xfrm>
          <a:prstGeom prst="line">
            <a:avLst/>
          </a:prstGeom>
          <a:noFill/>
          <a:ln w="76200">
            <a:solidFill>
              <a:srgbClr val="C0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220329" name="Line 169"/>
          <p:cNvSpPr>
            <a:spLocks noChangeShapeType="1"/>
          </p:cNvSpPr>
          <p:nvPr/>
        </p:nvSpPr>
        <p:spPr bwMode="auto">
          <a:xfrm>
            <a:off x="6202363" y="3500438"/>
            <a:ext cx="0" cy="1800225"/>
          </a:xfrm>
          <a:prstGeom prst="line">
            <a:avLst/>
          </a:prstGeom>
          <a:noFill/>
          <a:ln w="76200">
            <a:solidFill>
              <a:srgbClr val="C0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220330" name="Line 170"/>
          <p:cNvSpPr>
            <a:spLocks noChangeShapeType="1"/>
          </p:cNvSpPr>
          <p:nvPr/>
        </p:nvSpPr>
        <p:spPr bwMode="auto">
          <a:xfrm>
            <a:off x="6904038" y="5445125"/>
            <a:ext cx="2027237" cy="0"/>
          </a:xfrm>
          <a:prstGeom prst="line">
            <a:avLst/>
          </a:prstGeom>
          <a:noFill/>
          <a:ln w="76200">
            <a:solidFill>
              <a:srgbClr val="C0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220331" name="Line 171"/>
          <p:cNvSpPr>
            <a:spLocks noChangeShapeType="1"/>
          </p:cNvSpPr>
          <p:nvPr/>
        </p:nvSpPr>
        <p:spPr bwMode="auto">
          <a:xfrm flipV="1">
            <a:off x="9086850" y="2779713"/>
            <a:ext cx="0" cy="2665412"/>
          </a:xfrm>
          <a:prstGeom prst="line">
            <a:avLst/>
          </a:prstGeom>
          <a:noFill/>
          <a:ln w="76200">
            <a:solidFill>
              <a:srgbClr val="C0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grpSp>
        <p:nvGrpSpPr>
          <p:cNvPr id="775247" name="组合 1"/>
          <p:cNvGrpSpPr>
            <a:grpSpLocks/>
          </p:cNvGrpSpPr>
          <p:nvPr/>
        </p:nvGrpSpPr>
        <p:grpSpPr bwMode="auto">
          <a:xfrm>
            <a:off x="104775" y="115888"/>
            <a:ext cx="9663113" cy="1658937"/>
            <a:chOff x="104908" y="116632"/>
            <a:chExt cx="9663509" cy="1658194"/>
          </a:xfrm>
        </p:grpSpPr>
        <p:sp>
          <p:nvSpPr>
            <p:cNvPr id="775248" name="Freeform 2"/>
            <p:cNvSpPr>
              <a:spLocks noChangeArrowheads="1"/>
            </p:cNvSpPr>
            <p:nvPr/>
          </p:nvSpPr>
          <p:spPr bwMode="auto">
            <a:xfrm>
              <a:off x="2801542" y="1239838"/>
              <a:ext cx="270007" cy="533400"/>
            </a:xfrm>
            <a:custGeom>
              <a:avLst/>
              <a:gdLst>
                <a:gd name="T0" fmla="*/ 0 w 249"/>
                <a:gd name="T1" fmla="*/ 176 h 176"/>
                <a:gd name="T2" fmla="*/ 1 w 249"/>
                <a:gd name="T3" fmla="*/ 0 h 176"/>
                <a:gd name="T4" fmla="*/ 249 w 249"/>
                <a:gd name="T5" fmla="*/ 9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9" h="176">
                  <a:moveTo>
                    <a:pt x="0" y="176"/>
                  </a:moveTo>
                  <a:lnTo>
                    <a:pt x="1" y="0"/>
                  </a:lnTo>
                  <a:lnTo>
                    <a:pt x="249" y="9"/>
                  </a:lnTo>
                </a:path>
              </a:pathLst>
            </a:cu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5249" name="Freeform 3"/>
            <p:cNvSpPr>
              <a:spLocks noChangeArrowheads="1"/>
            </p:cNvSpPr>
            <p:nvPr/>
          </p:nvSpPr>
          <p:spPr bwMode="auto">
            <a:xfrm>
              <a:off x="5775061" y="1239838"/>
              <a:ext cx="184018" cy="531812"/>
            </a:xfrm>
            <a:custGeom>
              <a:avLst/>
              <a:gdLst>
                <a:gd name="T0" fmla="*/ 0 w 249"/>
                <a:gd name="T1" fmla="*/ 176 h 176"/>
                <a:gd name="T2" fmla="*/ 1 w 249"/>
                <a:gd name="T3" fmla="*/ 0 h 176"/>
                <a:gd name="T4" fmla="*/ 249 w 249"/>
                <a:gd name="T5" fmla="*/ 9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9" h="176">
                  <a:moveTo>
                    <a:pt x="0" y="176"/>
                  </a:moveTo>
                  <a:lnTo>
                    <a:pt x="1" y="0"/>
                  </a:lnTo>
                  <a:lnTo>
                    <a:pt x="249" y="9"/>
                  </a:lnTo>
                </a:path>
              </a:pathLst>
            </a:cu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5250" name="Line 4"/>
            <p:cNvSpPr>
              <a:spLocks noChangeShapeType="1"/>
            </p:cNvSpPr>
            <p:nvPr/>
          </p:nvSpPr>
          <p:spPr bwMode="auto">
            <a:xfrm rot="-5400000">
              <a:off x="9075209" y="1504818"/>
              <a:ext cx="533400" cy="344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5251" name="Line 5"/>
            <p:cNvSpPr>
              <a:spLocks noChangeShapeType="1"/>
            </p:cNvSpPr>
            <p:nvPr/>
          </p:nvSpPr>
          <p:spPr bwMode="auto">
            <a:xfrm rot="-5400000">
              <a:off x="242359" y="1504818"/>
              <a:ext cx="533400" cy="344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5252" name="Line 6"/>
            <p:cNvSpPr>
              <a:spLocks noChangeShapeType="1"/>
            </p:cNvSpPr>
            <p:nvPr/>
          </p:nvSpPr>
          <p:spPr bwMode="auto">
            <a:xfrm>
              <a:off x="252811" y="1773238"/>
              <a:ext cx="2803260" cy="0"/>
            </a:xfrm>
            <a:prstGeom prst="line">
              <a:avLst/>
            </a:prstGeom>
            <a:noFill/>
            <a:ln w="57150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5253" name="Text Box 7"/>
            <p:cNvSpPr txBox="1">
              <a:spLocks noChangeArrowheads="1"/>
            </p:cNvSpPr>
            <p:nvPr/>
          </p:nvSpPr>
          <p:spPr bwMode="auto">
            <a:xfrm>
              <a:off x="529696" y="1258888"/>
              <a:ext cx="6030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HA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1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5254" name="Text Box 8"/>
            <p:cNvSpPr txBox="1">
              <a:spLocks noChangeArrowheads="1"/>
            </p:cNvSpPr>
            <p:nvPr/>
          </p:nvSpPr>
          <p:spPr bwMode="auto">
            <a:xfrm>
              <a:off x="5180012" y="1258888"/>
              <a:ext cx="6030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HA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5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5255" name="Text Box 9"/>
            <p:cNvSpPr txBox="1">
              <a:spLocks noChangeArrowheads="1"/>
            </p:cNvSpPr>
            <p:nvPr/>
          </p:nvSpPr>
          <p:spPr bwMode="auto">
            <a:xfrm>
              <a:off x="3807619" y="1258888"/>
              <a:ext cx="6030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HA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4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5256" name="Text Box 10"/>
            <p:cNvSpPr txBox="1">
              <a:spLocks noChangeArrowheads="1"/>
            </p:cNvSpPr>
            <p:nvPr/>
          </p:nvSpPr>
          <p:spPr bwMode="auto">
            <a:xfrm>
              <a:off x="2206494" y="1258888"/>
              <a:ext cx="6030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HA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3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5257" name="Line 11"/>
            <p:cNvSpPr>
              <a:spLocks noChangeShapeType="1"/>
            </p:cNvSpPr>
            <p:nvPr/>
          </p:nvSpPr>
          <p:spPr bwMode="auto">
            <a:xfrm>
              <a:off x="6540368" y="1773238"/>
              <a:ext cx="3143779" cy="0"/>
            </a:xfrm>
            <a:prstGeom prst="line">
              <a:avLst/>
            </a:prstGeom>
            <a:noFill/>
            <a:ln w="57150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5258" name="Text Box 12"/>
            <p:cNvSpPr txBox="1">
              <a:spLocks noChangeArrowheads="1"/>
            </p:cNvSpPr>
            <p:nvPr/>
          </p:nvSpPr>
          <p:spPr bwMode="auto">
            <a:xfrm>
              <a:off x="6781139" y="1258888"/>
              <a:ext cx="6030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HA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6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5259" name="Text Box 13"/>
            <p:cNvSpPr txBox="1">
              <a:spLocks noChangeArrowheads="1"/>
            </p:cNvSpPr>
            <p:nvPr/>
          </p:nvSpPr>
          <p:spPr bwMode="auto">
            <a:xfrm>
              <a:off x="174453" y="116632"/>
              <a:ext cx="96212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主机 </a:t>
              </a:r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1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5260" name="Text Box 14"/>
            <p:cNvSpPr txBox="1">
              <a:spLocks noChangeArrowheads="1"/>
            </p:cNvSpPr>
            <p:nvPr/>
          </p:nvSpPr>
          <p:spPr bwMode="auto">
            <a:xfrm>
              <a:off x="8481392" y="116632"/>
              <a:ext cx="96212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主机 </a:t>
              </a:r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2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5261" name="Line 15"/>
            <p:cNvSpPr>
              <a:spLocks noChangeShapeType="1"/>
            </p:cNvSpPr>
            <p:nvPr/>
          </p:nvSpPr>
          <p:spPr bwMode="auto">
            <a:xfrm>
              <a:off x="3566848" y="1773238"/>
              <a:ext cx="2462742" cy="0"/>
            </a:xfrm>
            <a:prstGeom prst="line">
              <a:avLst/>
            </a:prstGeom>
            <a:noFill/>
            <a:ln w="57150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5262" name="Freeform 16"/>
            <p:cNvSpPr>
              <a:spLocks noChangeArrowheads="1"/>
            </p:cNvSpPr>
            <p:nvPr/>
          </p:nvSpPr>
          <p:spPr bwMode="auto">
            <a:xfrm flipH="1">
              <a:off x="6540368" y="1239838"/>
              <a:ext cx="254529" cy="533400"/>
            </a:xfrm>
            <a:custGeom>
              <a:avLst/>
              <a:gdLst>
                <a:gd name="T0" fmla="*/ 0 w 249"/>
                <a:gd name="T1" fmla="*/ 176 h 176"/>
                <a:gd name="T2" fmla="*/ 1 w 249"/>
                <a:gd name="T3" fmla="*/ 0 h 176"/>
                <a:gd name="T4" fmla="*/ 249 w 249"/>
                <a:gd name="T5" fmla="*/ 9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9" h="176">
                  <a:moveTo>
                    <a:pt x="0" y="176"/>
                  </a:moveTo>
                  <a:lnTo>
                    <a:pt x="1" y="0"/>
                  </a:lnTo>
                  <a:lnTo>
                    <a:pt x="249" y="9"/>
                  </a:lnTo>
                </a:path>
              </a:pathLst>
            </a:cu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5263" name="Freeform 17"/>
            <p:cNvSpPr>
              <a:spLocks noChangeArrowheads="1"/>
            </p:cNvSpPr>
            <p:nvPr/>
          </p:nvSpPr>
          <p:spPr bwMode="auto">
            <a:xfrm flipH="1">
              <a:off x="3635639" y="1239839"/>
              <a:ext cx="185738" cy="534987"/>
            </a:xfrm>
            <a:custGeom>
              <a:avLst/>
              <a:gdLst>
                <a:gd name="T0" fmla="*/ 0 w 249"/>
                <a:gd name="T1" fmla="*/ 176 h 176"/>
                <a:gd name="T2" fmla="*/ 1 w 249"/>
                <a:gd name="T3" fmla="*/ 0 h 176"/>
                <a:gd name="T4" fmla="*/ 249 w 249"/>
                <a:gd name="T5" fmla="*/ 9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9" h="176">
                  <a:moveTo>
                    <a:pt x="0" y="176"/>
                  </a:moveTo>
                  <a:lnTo>
                    <a:pt x="1" y="0"/>
                  </a:lnTo>
                  <a:lnTo>
                    <a:pt x="249" y="9"/>
                  </a:lnTo>
                </a:path>
              </a:pathLst>
            </a:cu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5264" name="Text Box 18"/>
            <p:cNvSpPr txBox="1">
              <a:spLocks noChangeArrowheads="1"/>
            </p:cNvSpPr>
            <p:nvPr/>
          </p:nvSpPr>
          <p:spPr bwMode="auto">
            <a:xfrm>
              <a:off x="2768865" y="679451"/>
              <a:ext cx="119295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路由器 </a:t>
              </a:r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R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1</a:t>
              </a:r>
            </a:p>
          </p:txBody>
        </p:sp>
        <p:pic>
          <p:nvPicPr>
            <p:cNvPr id="775265" name="Picture 19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4908" y="496888"/>
              <a:ext cx="926967" cy="838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75266" name="Picture 20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59331" y="985839"/>
              <a:ext cx="835819" cy="434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75267" name="Picture 21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43169" y="477838"/>
              <a:ext cx="925248" cy="838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75268" name="Picture 22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01290" y="963614"/>
              <a:ext cx="834098" cy="434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75269" name="AutoShape 23"/>
            <p:cNvSpPr>
              <a:spLocks noChangeArrowheads="1"/>
            </p:cNvSpPr>
            <p:nvPr/>
          </p:nvSpPr>
          <p:spPr bwMode="auto">
            <a:xfrm flipV="1">
              <a:off x="1084633" y="548679"/>
              <a:ext cx="1716909" cy="348258"/>
            </a:xfrm>
            <a:prstGeom prst="wedgeRoundRectCallout">
              <a:avLst>
                <a:gd name="adj1" fmla="val -53218"/>
                <a:gd name="adj2" fmla="val -195611"/>
                <a:gd name="adj3" fmla="val 16667"/>
              </a:avLst>
            </a:prstGeom>
            <a:solidFill>
              <a:srgbClr val="66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pPr algn="ctr"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HA</a:t>
              </a:r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为硬件地址</a:t>
              </a:r>
            </a:p>
          </p:txBody>
        </p:sp>
        <p:sp>
          <p:nvSpPr>
            <p:cNvPr id="775270" name="Text Box 25"/>
            <p:cNvSpPr txBox="1">
              <a:spLocks noChangeArrowheads="1"/>
            </p:cNvSpPr>
            <p:nvPr/>
          </p:nvSpPr>
          <p:spPr bwMode="auto">
            <a:xfrm>
              <a:off x="5673594" y="685801"/>
              <a:ext cx="119295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路由器 </a:t>
              </a:r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R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2</a:t>
              </a:r>
            </a:p>
          </p:txBody>
        </p:sp>
        <p:sp>
          <p:nvSpPr>
            <p:cNvPr id="775271" name="Text Box 26"/>
            <p:cNvSpPr txBox="1">
              <a:spLocks noChangeArrowheads="1"/>
            </p:cNvSpPr>
            <p:nvPr/>
          </p:nvSpPr>
          <p:spPr bwMode="auto">
            <a:xfrm>
              <a:off x="8726223" y="1258888"/>
              <a:ext cx="6030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HA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2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5272" name="Text Box 27"/>
            <p:cNvSpPr txBox="1">
              <a:spLocks noChangeArrowheads="1"/>
            </p:cNvSpPr>
            <p:nvPr/>
          </p:nvSpPr>
          <p:spPr bwMode="auto">
            <a:xfrm>
              <a:off x="304404" y="560388"/>
              <a:ext cx="49564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IP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1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5273" name="Text Box 28"/>
            <p:cNvSpPr txBox="1">
              <a:spLocks noChangeArrowheads="1"/>
            </p:cNvSpPr>
            <p:nvPr/>
          </p:nvSpPr>
          <p:spPr bwMode="auto">
            <a:xfrm>
              <a:off x="9061583" y="544513"/>
              <a:ext cx="49564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IP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2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5274" name="Text Box 29"/>
            <p:cNvSpPr txBox="1">
              <a:spLocks noChangeArrowheads="1"/>
            </p:cNvSpPr>
            <p:nvPr/>
          </p:nvSpPr>
          <p:spPr bwMode="auto">
            <a:xfrm>
              <a:off x="1320800" y="1377951"/>
              <a:ext cx="87716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局域网</a:t>
              </a:r>
              <a:endParaRPr lang="zh-CN" altLang="en-US" b="1" baseline="-25000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5275" name="Text Box 30"/>
            <p:cNvSpPr txBox="1">
              <a:spLocks noChangeArrowheads="1"/>
            </p:cNvSpPr>
            <p:nvPr/>
          </p:nvSpPr>
          <p:spPr bwMode="auto">
            <a:xfrm>
              <a:off x="4380310" y="1377951"/>
              <a:ext cx="87716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局域网</a:t>
              </a:r>
              <a:endParaRPr lang="zh-CN" altLang="en-US" b="1" baseline="-25000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5276" name="Text Box 31"/>
            <p:cNvSpPr txBox="1">
              <a:spLocks noChangeArrowheads="1"/>
            </p:cNvSpPr>
            <p:nvPr/>
          </p:nvSpPr>
          <p:spPr bwMode="auto">
            <a:xfrm>
              <a:off x="7644474" y="1377951"/>
              <a:ext cx="87716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局域网</a:t>
              </a:r>
              <a:endParaRPr lang="zh-CN" altLang="en-US" b="1" baseline="-25000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</p:grpSp>
      <p:sp>
        <p:nvSpPr>
          <p:cNvPr id="775277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fld id="{BB4D8C7D-2624-4BE8-9E1A-F7EB8A3E4AB2}" type="slidenum">
              <a:rPr lang="zh-CN" altLang="en-US" smtClean="0"/>
              <a:pPr/>
              <a:t>6</a:t>
            </a:fld>
            <a:endParaRPr lang="en-US" altLang="zh-CN" smtClean="0"/>
          </a:p>
        </p:txBody>
      </p:sp>
      <p:sp>
        <p:nvSpPr>
          <p:cNvPr id="775278" name="页脚占位符 6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4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220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1000"/>
                                        <p:tgtEl>
                                          <p:spTgt spid="220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000"/>
                                        <p:tgtEl>
                                          <p:spTgt spid="220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1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1000"/>
                                        <p:tgtEl>
                                          <p:spTgt spid="220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2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000"/>
                                        <p:tgtEl>
                                          <p:spTgt spid="220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220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9000"/>
                            </p:stCondLst>
                            <p:childTnLst>
                              <p:par>
                                <p:cTn id="2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1000"/>
                                        <p:tgtEl>
                                          <p:spTgt spid="220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0000"/>
                            </p:stCondLst>
                            <p:childTnLst>
                              <p:par>
                                <p:cTn id="3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1000"/>
                                        <p:tgtEl>
                                          <p:spTgt spid="220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11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220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12000"/>
                            </p:stCondLst>
                            <p:childTnLst>
                              <p:par>
                                <p:cTn id="4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1000"/>
                                        <p:tgtEl>
                                          <p:spTgt spid="220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0318" grpId="0" animBg="1"/>
      <p:bldP spid="220319" grpId="0" animBg="1"/>
      <p:bldP spid="220321" grpId="0" animBg="1"/>
      <p:bldP spid="220323" grpId="0" animBg="1"/>
      <p:bldP spid="220324" grpId="0" animBg="1"/>
      <p:bldP spid="220325" grpId="0" animBg="1"/>
      <p:bldP spid="220328" grpId="0" animBg="1"/>
      <p:bldP spid="220329" grpId="0" animBg="1"/>
      <p:bldP spid="220330" grpId="0" animBg="1"/>
      <p:bldP spid="22033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787" name="Text Box 107"/>
          <p:cNvSpPr txBox="1">
            <a:spLocks noChangeArrowheads="1"/>
          </p:cNvSpPr>
          <p:nvPr/>
        </p:nvSpPr>
        <p:spPr bwMode="auto">
          <a:xfrm>
            <a:off x="2576513" y="44450"/>
            <a:ext cx="5934075" cy="523875"/>
          </a:xfrm>
          <a:prstGeom prst="rect">
            <a:avLst/>
          </a:prstGeom>
          <a:solidFill>
            <a:srgbClr val="FFFF00"/>
          </a:solidFill>
          <a:ln w="9525">
            <a:solidFill>
              <a:srgbClr val="333399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800" b="1">
                <a:solidFill>
                  <a:srgbClr val="000099"/>
                </a:solidFill>
                <a:ea typeface="黑体" panose="02010609060101010101" pitchFamily="49" charset="-122"/>
              </a:rPr>
              <a:t>从虚拟的 </a:t>
            </a:r>
            <a:r>
              <a:rPr lang="en-US" altLang="zh-CN" sz="2800" b="1">
                <a:solidFill>
                  <a:srgbClr val="000099"/>
                </a:solidFill>
                <a:ea typeface="黑体" panose="02010609060101010101" pitchFamily="49" charset="-122"/>
              </a:rPr>
              <a:t>IP </a:t>
            </a:r>
            <a:r>
              <a:rPr lang="zh-CN" altLang="en-US" sz="2800" b="1">
                <a:solidFill>
                  <a:srgbClr val="000099"/>
                </a:solidFill>
                <a:ea typeface="黑体" panose="02010609060101010101" pitchFamily="49" charset="-122"/>
              </a:rPr>
              <a:t>层上看 </a:t>
            </a:r>
            <a:r>
              <a:rPr lang="en-US" altLang="zh-CN" sz="2800" b="1">
                <a:solidFill>
                  <a:srgbClr val="000099"/>
                </a:solidFill>
                <a:ea typeface="黑体" panose="02010609060101010101" pitchFamily="49" charset="-122"/>
              </a:rPr>
              <a:t>IP </a:t>
            </a:r>
            <a:r>
              <a:rPr lang="zh-CN" altLang="en-US" sz="2800" b="1">
                <a:solidFill>
                  <a:srgbClr val="000099"/>
                </a:solidFill>
                <a:ea typeface="黑体" panose="02010609060101010101" pitchFamily="49" charset="-122"/>
              </a:rPr>
              <a:t>数据报的流动</a:t>
            </a:r>
          </a:p>
        </p:txBody>
      </p:sp>
      <p:grpSp>
        <p:nvGrpSpPr>
          <p:cNvPr id="777218" name="组合 110"/>
          <p:cNvGrpSpPr>
            <a:grpSpLocks/>
          </p:cNvGrpSpPr>
          <p:nvPr/>
        </p:nvGrpSpPr>
        <p:grpSpPr bwMode="auto">
          <a:xfrm>
            <a:off x="104775" y="115888"/>
            <a:ext cx="9663113" cy="1658937"/>
            <a:chOff x="104908" y="116632"/>
            <a:chExt cx="9663509" cy="1658194"/>
          </a:xfrm>
        </p:grpSpPr>
        <p:sp>
          <p:nvSpPr>
            <p:cNvPr id="777219" name="Freeform 2"/>
            <p:cNvSpPr>
              <a:spLocks noChangeArrowheads="1"/>
            </p:cNvSpPr>
            <p:nvPr/>
          </p:nvSpPr>
          <p:spPr bwMode="auto">
            <a:xfrm>
              <a:off x="2801542" y="1239838"/>
              <a:ext cx="270007" cy="533400"/>
            </a:xfrm>
            <a:custGeom>
              <a:avLst/>
              <a:gdLst>
                <a:gd name="T0" fmla="*/ 0 w 249"/>
                <a:gd name="T1" fmla="*/ 176 h 176"/>
                <a:gd name="T2" fmla="*/ 1 w 249"/>
                <a:gd name="T3" fmla="*/ 0 h 176"/>
                <a:gd name="T4" fmla="*/ 249 w 249"/>
                <a:gd name="T5" fmla="*/ 9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9" h="176">
                  <a:moveTo>
                    <a:pt x="0" y="176"/>
                  </a:moveTo>
                  <a:lnTo>
                    <a:pt x="1" y="0"/>
                  </a:lnTo>
                  <a:lnTo>
                    <a:pt x="249" y="9"/>
                  </a:lnTo>
                </a:path>
              </a:pathLst>
            </a:cu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7220" name="Freeform 3"/>
            <p:cNvSpPr>
              <a:spLocks noChangeArrowheads="1"/>
            </p:cNvSpPr>
            <p:nvPr/>
          </p:nvSpPr>
          <p:spPr bwMode="auto">
            <a:xfrm>
              <a:off x="5775061" y="1239838"/>
              <a:ext cx="184018" cy="531812"/>
            </a:xfrm>
            <a:custGeom>
              <a:avLst/>
              <a:gdLst>
                <a:gd name="T0" fmla="*/ 0 w 249"/>
                <a:gd name="T1" fmla="*/ 176 h 176"/>
                <a:gd name="T2" fmla="*/ 1 w 249"/>
                <a:gd name="T3" fmla="*/ 0 h 176"/>
                <a:gd name="T4" fmla="*/ 249 w 249"/>
                <a:gd name="T5" fmla="*/ 9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9" h="176">
                  <a:moveTo>
                    <a:pt x="0" y="176"/>
                  </a:moveTo>
                  <a:lnTo>
                    <a:pt x="1" y="0"/>
                  </a:lnTo>
                  <a:lnTo>
                    <a:pt x="249" y="9"/>
                  </a:lnTo>
                </a:path>
              </a:pathLst>
            </a:cu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7221" name="Line 4"/>
            <p:cNvSpPr>
              <a:spLocks noChangeShapeType="1"/>
            </p:cNvSpPr>
            <p:nvPr/>
          </p:nvSpPr>
          <p:spPr bwMode="auto">
            <a:xfrm rot="-5400000">
              <a:off x="9075209" y="1504818"/>
              <a:ext cx="533400" cy="344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7222" name="Line 5"/>
            <p:cNvSpPr>
              <a:spLocks noChangeShapeType="1"/>
            </p:cNvSpPr>
            <p:nvPr/>
          </p:nvSpPr>
          <p:spPr bwMode="auto">
            <a:xfrm rot="-5400000">
              <a:off x="242359" y="1504818"/>
              <a:ext cx="533400" cy="344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7223" name="Line 6"/>
            <p:cNvSpPr>
              <a:spLocks noChangeShapeType="1"/>
            </p:cNvSpPr>
            <p:nvPr/>
          </p:nvSpPr>
          <p:spPr bwMode="auto">
            <a:xfrm>
              <a:off x="252811" y="1773238"/>
              <a:ext cx="2803260" cy="0"/>
            </a:xfrm>
            <a:prstGeom prst="line">
              <a:avLst/>
            </a:prstGeom>
            <a:noFill/>
            <a:ln w="57150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7224" name="Text Box 7"/>
            <p:cNvSpPr txBox="1">
              <a:spLocks noChangeArrowheads="1"/>
            </p:cNvSpPr>
            <p:nvPr/>
          </p:nvSpPr>
          <p:spPr bwMode="auto">
            <a:xfrm>
              <a:off x="529696" y="1258888"/>
              <a:ext cx="6030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HA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1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7225" name="Text Box 8"/>
            <p:cNvSpPr txBox="1">
              <a:spLocks noChangeArrowheads="1"/>
            </p:cNvSpPr>
            <p:nvPr/>
          </p:nvSpPr>
          <p:spPr bwMode="auto">
            <a:xfrm>
              <a:off x="5180012" y="1258888"/>
              <a:ext cx="6030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HA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5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7226" name="Text Box 9"/>
            <p:cNvSpPr txBox="1">
              <a:spLocks noChangeArrowheads="1"/>
            </p:cNvSpPr>
            <p:nvPr/>
          </p:nvSpPr>
          <p:spPr bwMode="auto">
            <a:xfrm>
              <a:off x="3807619" y="1258888"/>
              <a:ext cx="6030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HA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4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7227" name="Text Box 10"/>
            <p:cNvSpPr txBox="1">
              <a:spLocks noChangeArrowheads="1"/>
            </p:cNvSpPr>
            <p:nvPr/>
          </p:nvSpPr>
          <p:spPr bwMode="auto">
            <a:xfrm>
              <a:off x="2206494" y="1258888"/>
              <a:ext cx="6030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HA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3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7228" name="Line 11"/>
            <p:cNvSpPr>
              <a:spLocks noChangeShapeType="1"/>
            </p:cNvSpPr>
            <p:nvPr/>
          </p:nvSpPr>
          <p:spPr bwMode="auto">
            <a:xfrm>
              <a:off x="6540368" y="1773238"/>
              <a:ext cx="3143779" cy="0"/>
            </a:xfrm>
            <a:prstGeom prst="line">
              <a:avLst/>
            </a:prstGeom>
            <a:noFill/>
            <a:ln w="57150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7229" name="Text Box 12"/>
            <p:cNvSpPr txBox="1">
              <a:spLocks noChangeArrowheads="1"/>
            </p:cNvSpPr>
            <p:nvPr/>
          </p:nvSpPr>
          <p:spPr bwMode="auto">
            <a:xfrm>
              <a:off x="6781139" y="1258888"/>
              <a:ext cx="6030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HA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6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7230" name="Text Box 13"/>
            <p:cNvSpPr txBox="1">
              <a:spLocks noChangeArrowheads="1"/>
            </p:cNvSpPr>
            <p:nvPr/>
          </p:nvSpPr>
          <p:spPr bwMode="auto">
            <a:xfrm>
              <a:off x="174453" y="116632"/>
              <a:ext cx="96212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主机 </a:t>
              </a:r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1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7231" name="Text Box 14"/>
            <p:cNvSpPr txBox="1">
              <a:spLocks noChangeArrowheads="1"/>
            </p:cNvSpPr>
            <p:nvPr/>
          </p:nvSpPr>
          <p:spPr bwMode="auto">
            <a:xfrm>
              <a:off x="8481392" y="116632"/>
              <a:ext cx="96212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主机 </a:t>
              </a:r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2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7232" name="Line 15"/>
            <p:cNvSpPr>
              <a:spLocks noChangeShapeType="1"/>
            </p:cNvSpPr>
            <p:nvPr/>
          </p:nvSpPr>
          <p:spPr bwMode="auto">
            <a:xfrm>
              <a:off x="3566848" y="1773238"/>
              <a:ext cx="2462742" cy="0"/>
            </a:xfrm>
            <a:prstGeom prst="line">
              <a:avLst/>
            </a:prstGeom>
            <a:noFill/>
            <a:ln w="57150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7233" name="Freeform 16"/>
            <p:cNvSpPr>
              <a:spLocks noChangeArrowheads="1"/>
            </p:cNvSpPr>
            <p:nvPr/>
          </p:nvSpPr>
          <p:spPr bwMode="auto">
            <a:xfrm flipH="1">
              <a:off x="6540368" y="1239838"/>
              <a:ext cx="254529" cy="533400"/>
            </a:xfrm>
            <a:custGeom>
              <a:avLst/>
              <a:gdLst>
                <a:gd name="T0" fmla="*/ 0 w 249"/>
                <a:gd name="T1" fmla="*/ 176 h 176"/>
                <a:gd name="T2" fmla="*/ 1 w 249"/>
                <a:gd name="T3" fmla="*/ 0 h 176"/>
                <a:gd name="T4" fmla="*/ 249 w 249"/>
                <a:gd name="T5" fmla="*/ 9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9" h="176">
                  <a:moveTo>
                    <a:pt x="0" y="176"/>
                  </a:moveTo>
                  <a:lnTo>
                    <a:pt x="1" y="0"/>
                  </a:lnTo>
                  <a:lnTo>
                    <a:pt x="249" y="9"/>
                  </a:lnTo>
                </a:path>
              </a:pathLst>
            </a:cu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7234" name="Freeform 17"/>
            <p:cNvSpPr>
              <a:spLocks noChangeArrowheads="1"/>
            </p:cNvSpPr>
            <p:nvPr/>
          </p:nvSpPr>
          <p:spPr bwMode="auto">
            <a:xfrm flipH="1">
              <a:off x="3635639" y="1239839"/>
              <a:ext cx="185738" cy="534987"/>
            </a:xfrm>
            <a:custGeom>
              <a:avLst/>
              <a:gdLst>
                <a:gd name="T0" fmla="*/ 0 w 249"/>
                <a:gd name="T1" fmla="*/ 176 h 176"/>
                <a:gd name="T2" fmla="*/ 1 w 249"/>
                <a:gd name="T3" fmla="*/ 0 h 176"/>
                <a:gd name="T4" fmla="*/ 249 w 249"/>
                <a:gd name="T5" fmla="*/ 9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9" h="176">
                  <a:moveTo>
                    <a:pt x="0" y="176"/>
                  </a:moveTo>
                  <a:lnTo>
                    <a:pt x="1" y="0"/>
                  </a:lnTo>
                  <a:lnTo>
                    <a:pt x="249" y="9"/>
                  </a:lnTo>
                </a:path>
              </a:pathLst>
            </a:cu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7235" name="Text Box 18"/>
            <p:cNvSpPr txBox="1">
              <a:spLocks noChangeArrowheads="1"/>
            </p:cNvSpPr>
            <p:nvPr/>
          </p:nvSpPr>
          <p:spPr bwMode="auto">
            <a:xfrm>
              <a:off x="2768865" y="679451"/>
              <a:ext cx="119295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路由器 </a:t>
              </a:r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R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1</a:t>
              </a:r>
            </a:p>
          </p:txBody>
        </p:sp>
        <p:pic>
          <p:nvPicPr>
            <p:cNvPr id="777236" name="Picture 19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4908" y="496888"/>
              <a:ext cx="926967" cy="838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77237" name="Picture 20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59331" y="985839"/>
              <a:ext cx="835819" cy="434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77238" name="Picture 21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43169" y="477838"/>
              <a:ext cx="925248" cy="838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77239" name="Picture 22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01290" y="963614"/>
              <a:ext cx="834098" cy="434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77240" name="AutoShape 23"/>
            <p:cNvSpPr>
              <a:spLocks noChangeArrowheads="1"/>
            </p:cNvSpPr>
            <p:nvPr/>
          </p:nvSpPr>
          <p:spPr bwMode="auto">
            <a:xfrm flipV="1">
              <a:off x="1084633" y="548679"/>
              <a:ext cx="1716909" cy="348258"/>
            </a:xfrm>
            <a:prstGeom prst="wedgeRoundRectCallout">
              <a:avLst>
                <a:gd name="adj1" fmla="val -53218"/>
                <a:gd name="adj2" fmla="val -195611"/>
                <a:gd name="adj3" fmla="val 16667"/>
              </a:avLst>
            </a:prstGeom>
            <a:solidFill>
              <a:srgbClr val="66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pPr algn="ctr"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HA</a:t>
              </a:r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为硬件地址</a:t>
              </a:r>
            </a:p>
          </p:txBody>
        </p:sp>
        <p:sp>
          <p:nvSpPr>
            <p:cNvPr id="777241" name="Text Box 25"/>
            <p:cNvSpPr txBox="1">
              <a:spLocks noChangeArrowheads="1"/>
            </p:cNvSpPr>
            <p:nvPr/>
          </p:nvSpPr>
          <p:spPr bwMode="auto">
            <a:xfrm>
              <a:off x="5673594" y="685801"/>
              <a:ext cx="119295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路由器 </a:t>
              </a:r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R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2</a:t>
              </a:r>
            </a:p>
          </p:txBody>
        </p:sp>
        <p:sp>
          <p:nvSpPr>
            <p:cNvPr id="777242" name="Text Box 26"/>
            <p:cNvSpPr txBox="1">
              <a:spLocks noChangeArrowheads="1"/>
            </p:cNvSpPr>
            <p:nvPr/>
          </p:nvSpPr>
          <p:spPr bwMode="auto">
            <a:xfrm>
              <a:off x="8726223" y="1258888"/>
              <a:ext cx="6030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HA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2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7243" name="Text Box 27"/>
            <p:cNvSpPr txBox="1">
              <a:spLocks noChangeArrowheads="1"/>
            </p:cNvSpPr>
            <p:nvPr/>
          </p:nvSpPr>
          <p:spPr bwMode="auto">
            <a:xfrm>
              <a:off x="304404" y="560388"/>
              <a:ext cx="49564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IP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1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7244" name="Text Box 28"/>
            <p:cNvSpPr txBox="1">
              <a:spLocks noChangeArrowheads="1"/>
            </p:cNvSpPr>
            <p:nvPr/>
          </p:nvSpPr>
          <p:spPr bwMode="auto">
            <a:xfrm>
              <a:off x="9061583" y="544513"/>
              <a:ext cx="49564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IP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2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7245" name="Text Box 29"/>
            <p:cNvSpPr txBox="1">
              <a:spLocks noChangeArrowheads="1"/>
            </p:cNvSpPr>
            <p:nvPr/>
          </p:nvSpPr>
          <p:spPr bwMode="auto">
            <a:xfrm>
              <a:off x="1320800" y="1377951"/>
              <a:ext cx="87716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局域网</a:t>
              </a:r>
              <a:endParaRPr lang="zh-CN" altLang="en-US" b="1" baseline="-25000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7246" name="Text Box 30"/>
            <p:cNvSpPr txBox="1">
              <a:spLocks noChangeArrowheads="1"/>
            </p:cNvSpPr>
            <p:nvPr/>
          </p:nvSpPr>
          <p:spPr bwMode="auto">
            <a:xfrm>
              <a:off x="4380310" y="1377951"/>
              <a:ext cx="87716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局域网</a:t>
              </a:r>
              <a:endParaRPr lang="zh-CN" altLang="en-US" b="1" baseline="-25000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7247" name="Text Box 31"/>
            <p:cNvSpPr txBox="1">
              <a:spLocks noChangeArrowheads="1"/>
            </p:cNvSpPr>
            <p:nvPr/>
          </p:nvSpPr>
          <p:spPr bwMode="auto">
            <a:xfrm>
              <a:off x="7644474" y="1377951"/>
              <a:ext cx="87716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局域网</a:t>
              </a:r>
              <a:endParaRPr lang="zh-CN" altLang="en-US" b="1" baseline="-25000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</p:grpSp>
      <p:grpSp>
        <p:nvGrpSpPr>
          <p:cNvPr id="777248" name="组合 140"/>
          <p:cNvGrpSpPr>
            <a:grpSpLocks/>
          </p:cNvGrpSpPr>
          <p:nvPr/>
        </p:nvGrpSpPr>
        <p:grpSpPr bwMode="auto">
          <a:xfrm>
            <a:off x="39688" y="2035175"/>
            <a:ext cx="9882187" cy="4352925"/>
            <a:chOff x="39556" y="2035176"/>
            <a:chExt cx="9881923" cy="4352369"/>
          </a:xfrm>
        </p:grpSpPr>
        <p:sp>
          <p:nvSpPr>
            <p:cNvPr id="777249" name="Freeform 77"/>
            <p:cNvSpPr>
              <a:spLocks noChangeArrowheads="1"/>
            </p:cNvSpPr>
            <p:nvPr/>
          </p:nvSpPr>
          <p:spPr bwMode="auto">
            <a:xfrm>
              <a:off x="2559050" y="5160963"/>
              <a:ext cx="428229" cy="279400"/>
            </a:xfrm>
            <a:custGeom>
              <a:avLst/>
              <a:gdLst>
                <a:gd name="T0" fmla="*/ 0 w 249"/>
                <a:gd name="T1" fmla="*/ 176 h 176"/>
                <a:gd name="T2" fmla="*/ 1 w 249"/>
                <a:gd name="T3" fmla="*/ 0 h 176"/>
                <a:gd name="T4" fmla="*/ 249 w 249"/>
                <a:gd name="T5" fmla="*/ 9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9" h="176">
                  <a:moveTo>
                    <a:pt x="0" y="176"/>
                  </a:moveTo>
                  <a:lnTo>
                    <a:pt x="1" y="0"/>
                  </a:lnTo>
                  <a:lnTo>
                    <a:pt x="249" y="9"/>
                  </a:lnTo>
                </a:path>
              </a:pathLst>
            </a:cu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7250" name="Freeform 78"/>
            <p:cNvSpPr>
              <a:spLocks noChangeArrowheads="1"/>
            </p:cNvSpPr>
            <p:nvPr/>
          </p:nvSpPr>
          <p:spPr bwMode="auto">
            <a:xfrm>
              <a:off x="5364031" y="5159375"/>
              <a:ext cx="428228" cy="279400"/>
            </a:xfrm>
            <a:custGeom>
              <a:avLst/>
              <a:gdLst>
                <a:gd name="T0" fmla="*/ 0 w 249"/>
                <a:gd name="T1" fmla="*/ 176 h 176"/>
                <a:gd name="T2" fmla="*/ 1 w 249"/>
                <a:gd name="T3" fmla="*/ 0 h 176"/>
                <a:gd name="T4" fmla="*/ 249 w 249"/>
                <a:gd name="T5" fmla="*/ 9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9" h="176">
                  <a:moveTo>
                    <a:pt x="0" y="176"/>
                  </a:moveTo>
                  <a:lnTo>
                    <a:pt x="1" y="0"/>
                  </a:lnTo>
                  <a:lnTo>
                    <a:pt x="249" y="9"/>
                  </a:lnTo>
                </a:path>
              </a:pathLst>
            </a:cu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7251" name="Line 79"/>
            <p:cNvSpPr>
              <a:spLocks noChangeShapeType="1"/>
            </p:cNvSpPr>
            <p:nvPr/>
          </p:nvSpPr>
          <p:spPr bwMode="auto">
            <a:xfrm rot="-5400000">
              <a:off x="8812081" y="5171943"/>
              <a:ext cx="533400" cy="344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7252" name="Line 80"/>
            <p:cNvSpPr>
              <a:spLocks noChangeShapeType="1"/>
            </p:cNvSpPr>
            <p:nvPr/>
          </p:nvSpPr>
          <p:spPr bwMode="auto">
            <a:xfrm rot="-5400000">
              <a:off x="230320" y="5171943"/>
              <a:ext cx="533400" cy="344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7253" name="AutoShape 81"/>
            <p:cNvSpPr>
              <a:spLocks noChangeArrowheads="1"/>
            </p:cNvSpPr>
            <p:nvPr/>
          </p:nvSpPr>
          <p:spPr bwMode="auto">
            <a:xfrm>
              <a:off x="247650" y="3306763"/>
              <a:ext cx="742950" cy="1905000"/>
            </a:xfrm>
            <a:prstGeom prst="cube">
              <a:avLst>
                <a:gd name="adj" fmla="val 25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7254" name="AutoShape 82"/>
            <p:cNvSpPr>
              <a:spLocks noChangeArrowheads="1"/>
            </p:cNvSpPr>
            <p:nvPr/>
          </p:nvSpPr>
          <p:spPr bwMode="auto">
            <a:xfrm>
              <a:off x="2889250" y="3382963"/>
              <a:ext cx="742950" cy="1905000"/>
            </a:xfrm>
            <a:prstGeom prst="cube">
              <a:avLst>
                <a:gd name="adj" fmla="val 25000"/>
              </a:avLst>
            </a:prstGeom>
            <a:solidFill>
              <a:srgbClr val="66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7255" name="AutoShape 83"/>
            <p:cNvSpPr>
              <a:spLocks noChangeArrowheads="1"/>
            </p:cNvSpPr>
            <p:nvPr/>
          </p:nvSpPr>
          <p:spPr bwMode="auto">
            <a:xfrm>
              <a:off x="8832850" y="3306763"/>
              <a:ext cx="742950" cy="1905000"/>
            </a:xfrm>
            <a:prstGeom prst="cube">
              <a:avLst>
                <a:gd name="adj" fmla="val 25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7256" name="AutoShape 84"/>
            <p:cNvSpPr>
              <a:spLocks noChangeArrowheads="1"/>
            </p:cNvSpPr>
            <p:nvPr/>
          </p:nvSpPr>
          <p:spPr bwMode="auto">
            <a:xfrm>
              <a:off x="5776781" y="3611563"/>
              <a:ext cx="742950" cy="1676400"/>
            </a:xfrm>
            <a:prstGeom prst="cube">
              <a:avLst>
                <a:gd name="adj" fmla="val 25000"/>
              </a:avLst>
            </a:prstGeom>
            <a:solidFill>
              <a:srgbClr val="66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grpSp>
          <p:nvGrpSpPr>
            <p:cNvPr id="150" name="Group 85"/>
            <p:cNvGrpSpPr/>
            <p:nvPr/>
          </p:nvGrpSpPr>
          <p:grpSpPr bwMode="auto">
            <a:xfrm>
              <a:off x="39556" y="2420938"/>
              <a:ext cx="9881923" cy="2438400"/>
              <a:chOff x="96" y="1056"/>
              <a:chExt cx="5472" cy="1536"/>
            </a:xfrm>
            <a:solidFill>
              <a:srgbClr val="FFFF66"/>
            </a:solidFill>
          </p:grpSpPr>
          <p:sp>
            <p:nvSpPr>
              <p:cNvPr id="209" name="Oval 86"/>
              <p:cNvSpPr>
                <a:spLocks noChangeArrowheads="1"/>
              </p:cNvSpPr>
              <p:nvPr/>
            </p:nvSpPr>
            <p:spPr bwMode="auto">
              <a:xfrm>
                <a:off x="3662" y="1674"/>
                <a:ext cx="1906" cy="756"/>
              </a:xfrm>
              <a:prstGeom prst="ellipse">
                <a:avLst/>
              </a:prstGeom>
              <a:grpFill/>
              <a:ln w="317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210" name="Oval 87"/>
              <p:cNvSpPr>
                <a:spLocks noChangeArrowheads="1"/>
              </p:cNvSpPr>
              <p:nvPr/>
            </p:nvSpPr>
            <p:spPr bwMode="auto">
              <a:xfrm>
                <a:off x="96" y="1430"/>
                <a:ext cx="1870" cy="760"/>
              </a:xfrm>
              <a:prstGeom prst="ellipse">
                <a:avLst/>
              </a:prstGeom>
              <a:grpFill/>
              <a:ln w="317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211" name="Oval 88"/>
              <p:cNvSpPr>
                <a:spLocks noChangeArrowheads="1"/>
              </p:cNvSpPr>
              <p:nvPr/>
            </p:nvSpPr>
            <p:spPr bwMode="auto">
              <a:xfrm>
                <a:off x="3365" y="1163"/>
                <a:ext cx="1903" cy="731"/>
              </a:xfrm>
              <a:prstGeom prst="ellipse">
                <a:avLst/>
              </a:prstGeom>
              <a:grpFill/>
              <a:ln w="317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212" name="Oval 89"/>
              <p:cNvSpPr>
                <a:spLocks noChangeArrowheads="1"/>
              </p:cNvSpPr>
              <p:nvPr/>
            </p:nvSpPr>
            <p:spPr bwMode="auto">
              <a:xfrm>
                <a:off x="2365" y="1821"/>
                <a:ext cx="1900" cy="771"/>
              </a:xfrm>
              <a:prstGeom prst="ellipse">
                <a:avLst/>
              </a:prstGeom>
              <a:grpFill/>
              <a:ln w="317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213" name="Oval 90"/>
              <p:cNvSpPr>
                <a:spLocks noChangeArrowheads="1"/>
              </p:cNvSpPr>
              <p:nvPr/>
            </p:nvSpPr>
            <p:spPr bwMode="auto">
              <a:xfrm>
                <a:off x="729" y="1752"/>
                <a:ext cx="1900" cy="731"/>
              </a:xfrm>
              <a:prstGeom prst="ellipse">
                <a:avLst/>
              </a:prstGeom>
              <a:grpFill/>
              <a:ln w="317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214" name="Oval 91"/>
              <p:cNvSpPr>
                <a:spLocks noChangeArrowheads="1"/>
              </p:cNvSpPr>
              <p:nvPr/>
            </p:nvSpPr>
            <p:spPr bwMode="auto">
              <a:xfrm>
                <a:off x="2197" y="1056"/>
                <a:ext cx="1870" cy="758"/>
              </a:xfrm>
              <a:prstGeom prst="ellipse">
                <a:avLst/>
              </a:prstGeom>
              <a:grpFill/>
              <a:ln w="317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215" name="Oval 92"/>
              <p:cNvSpPr>
                <a:spLocks noChangeArrowheads="1"/>
              </p:cNvSpPr>
              <p:nvPr/>
            </p:nvSpPr>
            <p:spPr bwMode="auto">
              <a:xfrm>
                <a:off x="996" y="1056"/>
                <a:ext cx="1867" cy="731"/>
              </a:xfrm>
              <a:prstGeom prst="ellipse">
                <a:avLst/>
              </a:prstGeom>
              <a:grpFill/>
              <a:ln w="317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216" name="Oval 93"/>
              <p:cNvSpPr>
                <a:spLocks noChangeArrowheads="1"/>
              </p:cNvSpPr>
              <p:nvPr/>
            </p:nvSpPr>
            <p:spPr bwMode="auto">
              <a:xfrm>
                <a:off x="597" y="1226"/>
                <a:ext cx="4536" cy="106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</p:grpSp>
        <p:sp>
          <p:nvSpPr>
            <p:cNvPr id="777258" name="Line 94"/>
            <p:cNvSpPr>
              <a:spLocks noChangeShapeType="1"/>
            </p:cNvSpPr>
            <p:nvPr/>
          </p:nvSpPr>
          <p:spPr bwMode="auto">
            <a:xfrm>
              <a:off x="165100" y="5440363"/>
              <a:ext cx="2806700" cy="0"/>
            </a:xfrm>
            <a:prstGeom prst="line">
              <a:avLst/>
            </a:prstGeom>
            <a:noFill/>
            <a:ln w="57150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grpSp>
          <p:nvGrpSpPr>
            <p:cNvPr id="777259" name="Group 95"/>
            <p:cNvGrpSpPr>
              <a:grpSpLocks/>
            </p:cNvGrpSpPr>
            <p:nvPr/>
          </p:nvGrpSpPr>
          <p:grpSpPr bwMode="auto">
            <a:xfrm>
              <a:off x="247650" y="2420938"/>
              <a:ext cx="742950" cy="1447800"/>
              <a:chOff x="672" y="528"/>
              <a:chExt cx="432" cy="912"/>
            </a:xfrm>
          </p:grpSpPr>
          <p:sp>
            <p:nvSpPr>
              <p:cNvPr id="777260" name="AutoShape 96"/>
              <p:cNvSpPr>
                <a:spLocks noChangeArrowheads="1"/>
              </p:cNvSpPr>
              <p:nvPr/>
            </p:nvSpPr>
            <p:spPr bwMode="auto">
              <a:xfrm>
                <a:off x="672" y="1008"/>
                <a:ext cx="432" cy="432"/>
              </a:xfrm>
              <a:prstGeom prst="cube">
                <a:avLst>
                  <a:gd name="adj" fmla="val 25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777261" name="AutoShape 97"/>
              <p:cNvSpPr>
                <a:spLocks noChangeArrowheads="1"/>
              </p:cNvSpPr>
              <p:nvPr/>
            </p:nvSpPr>
            <p:spPr bwMode="auto">
              <a:xfrm>
                <a:off x="672" y="720"/>
                <a:ext cx="432" cy="432"/>
              </a:xfrm>
              <a:prstGeom prst="cube">
                <a:avLst>
                  <a:gd name="adj" fmla="val 25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777262" name="AutoShape 98"/>
              <p:cNvSpPr>
                <a:spLocks noChangeArrowheads="1"/>
              </p:cNvSpPr>
              <p:nvPr/>
            </p:nvSpPr>
            <p:spPr bwMode="auto">
              <a:xfrm>
                <a:off x="672" y="528"/>
                <a:ext cx="432" cy="432"/>
              </a:xfrm>
              <a:prstGeom prst="cube">
                <a:avLst>
                  <a:gd name="adj" fmla="val 25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777263" name="Text Box 99"/>
            <p:cNvSpPr txBox="1">
              <a:spLocks noChangeArrowheads="1"/>
            </p:cNvSpPr>
            <p:nvPr/>
          </p:nvSpPr>
          <p:spPr bwMode="auto">
            <a:xfrm>
              <a:off x="287206" y="3430588"/>
              <a:ext cx="49564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IP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1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7264" name="Text Box 100"/>
            <p:cNvSpPr txBox="1">
              <a:spLocks noChangeArrowheads="1"/>
            </p:cNvSpPr>
            <p:nvPr/>
          </p:nvSpPr>
          <p:spPr bwMode="auto">
            <a:xfrm>
              <a:off x="233892" y="4849813"/>
              <a:ext cx="6030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HA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1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7265" name="Text Box 101"/>
            <p:cNvSpPr txBox="1">
              <a:spLocks noChangeArrowheads="1"/>
            </p:cNvSpPr>
            <p:nvPr/>
          </p:nvSpPr>
          <p:spPr bwMode="auto">
            <a:xfrm>
              <a:off x="5226448" y="4811713"/>
              <a:ext cx="6030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HA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5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7266" name="Text Box 102"/>
            <p:cNvSpPr txBox="1">
              <a:spLocks noChangeArrowheads="1"/>
            </p:cNvSpPr>
            <p:nvPr/>
          </p:nvSpPr>
          <p:spPr bwMode="auto">
            <a:xfrm>
              <a:off x="3604683" y="4805363"/>
              <a:ext cx="6030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HA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4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7267" name="Text Box 103"/>
            <p:cNvSpPr txBox="1">
              <a:spLocks noChangeArrowheads="1"/>
            </p:cNvSpPr>
            <p:nvPr/>
          </p:nvSpPr>
          <p:spPr bwMode="auto">
            <a:xfrm>
              <a:off x="2311400" y="4805363"/>
              <a:ext cx="6030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HA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3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7268" name="Line 104"/>
            <p:cNvSpPr>
              <a:spLocks noChangeShapeType="1"/>
            </p:cNvSpPr>
            <p:nvPr/>
          </p:nvSpPr>
          <p:spPr bwMode="auto">
            <a:xfrm>
              <a:off x="908050" y="3611563"/>
              <a:ext cx="206375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7269" name="Line 105"/>
            <p:cNvSpPr>
              <a:spLocks noChangeShapeType="1"/>
            </p:cNvSpPr>
            <p:nvPr/>
          </p:nvSpPr>
          <p:spPr bwMode="auto">
            <a:xfrm>
              <a:off x="6438900" y="5440363"/>
              <a:ext cx="3219450" cy="0"/>
            </a:xfrm>
            <a:prstGeom prst="line">
              <a:avLst/>
            </a:prstGeom>
            <a:noFill/>
            <a:ln w="57150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7270" name="Text Box 106"/>
            <p:cNvSpPr txBox="1">
              <a:spLocks noChangeArrowheads="1"/>
            </p:cNvSpPr>
            <p:nvPr/>
          </p:nvSpPr>
          <p:spPr bwMode="auto">
            <a:xfrm>
              <a:off x="6507692" y="4799013"/>
              <a:ext cx="6030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HA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6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7271" name="Text Box 107"/>
            <p:cNvSpPr txBox="1">
              <a:spLocks noChangeArrowheads="1"/>
            </p:cNvSpPr>
            <p:nvPr/>
          </p:nvSpPr>
          <p:spPr bwMode="auto">
            <a:xfrm>
              <a:off x="8805333" y="4814888"/>
              <a:ext cx="6030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HA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2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7272" name="Text Box 108"/>
            <p:cNvSpPr txBox="1">
              <a:spLocks noChangeArrowheads="1"/>
            </p:cNvSpPr>
            <p:nvPr/>
          </p:nvSpPr>
          <p:spPr bwMode="auto">
            <a:xfrm>
              <a:off x="6507692" y="3709988"/>
              <a:ext cx="49564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IP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6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7273" name="Text Box 109"/>
            <p:cNvSpPr txBox="1">
              <a:spLocks noChangeArrowheads="1"/>
            </p:cNvSpPr>
            <p:nvPr/>
          </p:nvSpPr>
          <p:spPr bwMode="auto">
            <a:xfrm>
              <a:off x="116946" y="2060576"/>
              <a:ext cx="96212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主机 </a:t>
              </a:r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1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7274" name="Text Box 110"/>
            <p:cNvSpPr txBox="1">
              <a:spLocks noChangeArrowheads="1"/>
            </p:cNvSpPr>
            <p:nvPr/>
          </p:nvSpPr>
          <p:spPr bwMode="auto">
            <a:xfrm>
              <a:off x="8702146" y="2035176"/>
              <a:ext cx="96212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主机 </a:t>
              </a:r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2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7275" name="AutoShape 111"/>
            <p:cNvSpPr>
              <a:spLocks noChangeArrowheads="1"/>
            </p:cNvSpPr>
            <p:nvPr/>
          </p:nvSpPr>
          <p:spPr bwMode="auto">
            <a:xfrm>
              <a:off x="2889250" y="3259138"/>
              <a:ext cx="742950" cy="609600"/>
            </a:xfrm>
            <a:prstGeom prst="cube">
              <a:avLst>
                <a:gd name="adj" fmla="val 25000"/>
              </a:avLst>
            </a:prstGeom>
            <a:solidFill>
              <a:srgbClr val="66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7276" name="Text Box 112"/>
            <p:cNvSpPr txBox="1">
              <a:spLocks noChangeArrowheads="1"/>
            </p:cNvSpPr>
            <p:nvPr/>
          </p:nvSpPr>
          <p:spPr bwMode="auto">
            <a:xfrm>
              <a:off x="2834217" y="2887663"/>
              <a:ext cx="119295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路由器 </a:t>
              </a:r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R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1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7277" name="Text Box 113"/>
            <p:cNvSpPr txBox="1">
              <a:spLocks noChangeArrowheads="1"/>
            </p:cNvSpPr>
            <p:nvPr/>
          </p:nvSpPr>
          <p:spPr bwMode="auto">
            <a:xfrm>
              <a:off x="4485217" y="4186239"/>
              <a:ext cx="2410468" cy="461665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rgbClr val="333399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IP </a:t>
              </a:r>
              <a:r>
                <a:rPr lang="zh-CN" altLang="en-US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层上的互联网</a:t>
              </a:r>
            </a:p>
          </p:txBody>
        </p:sp>
        <p:sp>
          <p:nvSpPr>
            <p:cNvPr id="777278" name="Text Box 114"/>
            <p:cNvSpPr txBox="1">
              <a:spLocks noChangeArrowheads="1"/>
            </p:cNvSpPr>
            <p:nvPr/>
          </p:nvSpPr>
          <p:spPr bwMode="auto">
            <a:xfrm>
              <a:off x="1073150" y="5948363"/>
              <a:ext cx="100700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MAC </a:t>
              </a:r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帧</a:t>
              </a:r>
            </a:p>
          </p:txBody>
        </p:sp>
        <p:grpSp>
          <p:nvGrpSpPr>
            <p:cNvPr id="777279" name="Group 115"/>
            <p:cNvGrpSpPr>
              <a:grpSpLocks/>
            </p:cNvGrpSpPr>
            <p:nvPr/>
          </p:nvGrpSpPr>
          <p:grpSpPr bwMode="auto">
            <a:xfrm>
              <a:off x="8832850" y="2420938"/>
              <a:ext cx="742950" cy="1447800"/>
              <a:chOff x="672" y="528"/>
              <a:chExt cx="432" cy="912"/>
            </a:xfrm>
          </p:grpSpPr>
          <p:sp>
            <p:nvSpPr>
              <p:cNvPr id="777280" name="AutoShape 116"/>
              <p:cNvSpPr>
                <a:spLocks noChangeArrowheads="1"/>
              </p:cNvSpPr>
              <p:nvPr/>
            </p:nvSpPr>
            <p:spPr bwMode="auto">
              <a:xfrm>
                <a:off x="672" y="1008"/>
                <a:ext cx="432" cy="432"/>
              </a:xfrm>
              <a:prstGeom prst="cube">
                <a:avLst>
                  <a:gd name="adj" fmla="val 25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777281" name="AutoShape 117"/>
              <p:cNvSpPr>
                <a:spLocks noChangeArrowheads="1"/>
              </p:cNvSpPr>
              <p:nvPr/>
            </p:nvSpPr>
            <p:spPr bwMode="auto">
              <a:xfrm>
                <a:off x="672" y="720"/>
                <a:ext cx="432" cy="432"/>
              </a:xfrm>
              <a:prstGeom prst="cube">
                <a:avLst>
                  <a:gd name="adj" fmla="val 25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777282" name="AutoShape 118"/>
              <p:cNvSpPr>
                <a:spLocks noChangeArrowheads="1"/>
              </p:cNvSpPr>
              <p:nvPr/>
            </p:nvSpPr>
            <p:spPr bwMode="auto">
              <a:xfrm>
                <a:off x="672" y="528"/>
                <a:ext cx="432" cy="432"/>
              </a:xfrm>
              <a:prstGeom prst="cube">
                <a:avLst>
                  <a:gd name="adj" fmla="val 25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777283" name="Text Box 119"/>
            <p:cNvSpPr txBox="1">
              <a:spLocks noChangeArrowheads="1"/>
            </p:cNvSpPr>
            <p:nvPr/>
          </p:nvSpPr>
          <p:spPr bwMode="auto">
            <a:xfrm>
              <a:off x="8886165" y="3435351"/>
              <a:ext cx="49564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IP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2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7284" name="Text Box 120"/>
            <p:cNvSpPr txBox="1">
              <a:spLocks noChangeArrowheads="1"/>
            </p:cNvSpPr>
            <p:nvPr/>
          </p:nvSpPr>
          <p:spPr bwMode="auto">
            <a:xfrm>
              <a:off x="3597804" y="3697288"/>
              <a:ext cx="49564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IP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4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7285" name="Text Box 121"/>
            <p:cNvSpPr txBox="1">
              <a:spLocks noChangeArrowheads="1"/>
            </p:cNvSpPr>
            <p:nvPr/>
          </p:nvSpPr>
          <p:spPr bwMode="auto">
            <a:xfrm>
              <a:off x="2476500" y="3697288"/>
              <a:ext cx="49564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IP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3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7286" name="Line 122"/>
            <p:cNvSpPr>
              <a:spLocks noChangeShapeType="1"/>
            </p:cNvSpPr>
            <p:nvPr/>
          </p:nvSpPr>
          <p:spPr bwMode="auto">
            <a:xfrm>
              <a:off x="3549650" y="3611563"/>
              <a:ext cx="222885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7287" name="AutoShape 123"/>
            <p:cNvSpPr>
              <a:spLocks noChangeArrowheads="1"/>
            </p:cNvSpPr>
            <p:nvPr/>
          </p:nvSpPr>
          <p:spPr bwMode="auto">
            <a:xfrm>
              <a:off x="5776781" y="3230563"/>
              <a:ext cx="742950" cy="609600"/>
            </a:xfrm>
            <a:prstGeom prst="cube">
              <a:avLst>
                <a:gd name="adj" fmla="val 25000"/>
              </a:avLst>
            </a:prstGeom>
            <a:solidFill>
              <a:srgbClr val="66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7288" name="Line 124"/>
            <p:cNvSpPr>
              <a:spLocks noChangeShapeType="1"/>
            </p:cNvSpPr>
            <p:nvPr/>
          </p:nvSpPr>
          <p:spPr bwMode="auto">
            <a:xfrm>
              <a:off x="6438900" y="3611563"/>
              <a:ext cx="239395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7289" name="Text Box 125"/>
            <p:cNvSpPr txBox="1">
              <a:spLocks noChangeArrowheads="1"/>
            </p:cNvSpPr>
            <p:nvPr/>
          </p:nvSpPr>
          <p:spPr bwMode="auto">
            <a:xfrm>
              <a:off x="5365750" y="3697288"/>
              <a:ext cx="49564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IP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5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7290" name="Line 126"/>
            <p:cNvSpPr>
              <a:spLocks noChangeShapeType="1"/>
            </p:cNvSpPr>
            <p:nvPr/>
          </p:nvSpPr>
          <p:spPr bwMode="auto">
            <a:xfrm>
              <a:off x="3632200" y="5440363"/>
              <a:ext cx="2063750" cy="0"/>
            </a:xfrm>
            <a:prstGeom prst="line">
              <a:avLst/>
            </a:prstGeom>
            <a:noFill/>
            <a:ln w="57150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7291" name="Freeform 127"/>
            <p:cNvSpPr>
              <a:spLocks noChangeArrowheads="1"/>
            </p:cNvSpPr>
            <p:nvPr/>
          </p:nvSpPr>
          <p:spPr bwMode="auto">
            <a:xfrm flipH="1">
              <a:off x="6414823" y="5156201"/>
              <a:ext cx="369756" cy="284163"/>
            </a:xfrm>
            <a:custGeom>
              <a:avLst/>
              <a:gdLst>
                <a:gd name="T0" fmla="*/ 0 w 249"/>
                <a:gd name="T1" fmla="*/ 176 h 176"/>
                <a:gd name="T2" fmla="*/ 1 w 249"/>
                <a:gd name="T3" fmla="*/ 0 h 176"/>
                <a:gd name="T4" fmla="*/ 249 w 249"/>
                <a:gd name="T5" fmla="*/ 9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9" h="176">
                  <a:moveTo>
                    <a:pt x="0" y="176"/>
                  </a:moveTo>
                  <a:lnTo>
                    <a:pt x="1" y="0"/>
                  </a:lnTo>
                  <a:lnTo>
                    <a:pt x="249" y="9"/>
                  </a:lnTo>
                </a:path>
              </a:pathLst>
            </a:cu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7292" name="Freeform 128"/>
            <p:cNvSpPr>
              <a:spLocks noChangeArrowheads="1"/>
            </p:cNvSpPr>
            <p:nvPr/>
          </p:nvSpPr>
          <p:spPr bwMode="auto">
            <a:xfrm flipH="1">
              <a:off x="3503216" y="5162550"/>
              <a:ext cx="459184" cy="279400"/>
            </a:xfrm>
            <a:custGeom>
              <a:avLst/>
              <a:gdLst>
                <a:gd name="T0" fmla="*/ 0 w 249"/>
                <a:gd name="T1" fmla="*/ 176 h 176"/>
                <a:gd name="T2" fmla="*/ 1 w 249"/>
                <a:gd name="T3" fmla="*/ 0 h 176"/>
                <a:gd name="T4" fmla="*/ 249 w 249"/>
                <a:gd name="T5" fmla="*/ 9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9" h="176">
                  <a:moveTo>
                    <a:pt x="0" y="176"/>
                  </a:moveTo>
                  <a:lnTo>
                    <a:pt x="1" y="0"/>
                  </a:lnTo>
                  <a:lnTo>
                    <a:pt x="249" y="9"/>
                  </a:lnTo>
                </a:path>
              </a:pathLst>
            </a:cu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7293" name="Text Box 129"/>
            <p:cNvSpPr txBox="1">
              <a:spLocks noChangeArrowheads="1"/>
            </p:cNvSpPr>
            <p:nvPr/>
          </p:nvSpPr>
          <p:spPr bwMode="auto">
            <a:xfrm>
              <a:off x="5652956" y="2862263"/>
              <a:ext cx="119295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路由器 </a:t>
              </a:r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R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2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grpSp>
          <p:nvGrpSpPr>
            <p:cNvPr id="777294" name="Group 130"/>
            <p:cNvGrpSpPr>
              <a:grpSpLocks/>
            </p:cNvGrpSpPr>
            <p:nvPr/>
          </p:nvGrpSpPr>
          <p:grpSpPr bwMode="auto">
            <a:xfrm>
              <a:off x="1238250" y="3154363"/>
              <a:ext cx="1568450" cy="381000"/>
              <a:chOff x="1632" y="2688"/>
              <a:chExt cx="912" cy="240"/>
            </a:xfrm>
          </p:grpSpPr>
          <p:sp>
            <p:nvSpPr>
              <p:cNvPr id="777295" name="Rectangle 131"/>
              <p:cNvSpPr>
                <a:spLocks noChangeArrowheads="1"/>
              </p:cNvSpPr>
              <p:nvPr/>
            </p:nvSpPr>
            <p:spPr bwMode="auto">
              <a:xfrm>
                <a:off x="1632" y="2688"/>
                <a:ext cx="720" cy="240"/>
              </a:xfrm>
              <a:prstGeom prst="rect">
                <a:avLst/>
              </a:prstGeom>
              <a:solidFill>
                <a:srgbClr val="FF99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  IP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1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 → IP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2</a:t>
                </a:r>
              </a:p>
            </p:txBody>
          </p:sp>
          <p:sp>
            <p:nvSpPr>
              <p:cNvPr id="777296" name="AutoShape 132"/>
              <p:cNvSpPr>
                <a:spLocks noChangeArrowheads="1"/>
              </p:cNvSpPr>
              <p:nvPr/>
            </p:nvSpPr>
            <p:spPr bwMode="auto">
              <a:xfrm>
                <a:off x="2352" y="2736"/>
                <a:ext cx="192" cy="144"/>
              </a:xfrm>
              <a:prstGeom prst="rightArrow">
                <a:avLst>
                  <a:gd name="adj1" fmla="val 50000"/>
                  <a:gd name="adj2" fmla="val 54167"/>
                </a:avLst>
              </a:prstGeom>
              <a:solidFill>
                <a:srgbClr val="FF99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777297" name="Group 133"/>
            <p:cNvGrpSpPr>
              <a:grpSpLocks/>
            </p:cNvGrpSpPr>
            <p:nvPr/>
          </p:nvGrpSpPr>
          <p:grpSpPr bwMode="auto">
            <a:xfrm>
              <a:off x="4044950" y="3154363"/>
              <a:ext cx="1568450" cy="381000"/>
              <a:chOff x="1632" y="2688"/>
              <a:chExt cx="912" cy="240"/>
            </a:xfrm>
          </p:grpSpPr>
          <p:sp>
            <p:nvSpPr>
              <p:cNvPr id="777298" name="Rectangle 134"/>
              <p:cNvSpPr>
                <a:spLocks noChangeArrowheads="1"/>
              </p:cNvSpPr>
              <p:nvPr/>
            </p:nvSpPr>
            <p:spPr bwMode="auto">
              <a:xfrm>
                <a:off x="1632" y="2688"/>
                <a:ext cx="720" cy="240"/>
              </a:xfrm>
              <a:prstGeom prst="rect">
                <a:avLst/>
              </a:prstGeom>
              <a:solidFill>
                <a:srgbClr val="FF99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IP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1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 → IP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2</a:t>
                </a:r>
              </a:p>
            </p:txBody>
          </p:sp>
          <p:sp>
            <p:nvSpPr>
              <p:cNvPr id="777299" name="AutoShape 135"/>
              <p:cNvSpPr>
                <a:spLocks noChangeArrowheads="1"/>
              </p:cNvSpPr>
              <p:nvPr/>
            </p:nvSpPr>
            <p:spPr bwMode="auto">
              <a:xfrm>
                <a:off x="2352" y="2736"/>
                <a:ext cx="192" cy="144"/>
              </a:xfrm>
              <a:prstGeom prst="rightArrow">
                <a:avLst>
                  <a:gd name="adj1" fmla="val 50000"/>
                  <a:gd name="adj2" fmla="val 54167"/>
                </a:avLst>
              </a:prstGeom>
              <a:solidFill>
                <a:srgbClr val="FF99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777300" name="Group 136"/>
            <p:cNvGrpSpPr>
              <a:grpSpLocks/>
            </p:cNvGrpSpPr>
            <p:nvPr/>
          </p:nvGrpSpPr>
          <p:grpSpPr bwMode="auto">
            <a:xfrm>
              <a:off x="7016750" y="3154363"/>
              <a:ext cx="1568450" cy="381000"/>
              <a:chOff x="1632" y="2688"/>
              <a:chExt cx="912" cy="240"/>
            </a:xfrm>
          </p:grpSpPr>
          <p:sp>
            <p:nvSpPr>
              <p:cNvPr id="777301" name="Rectangle 137"/>
              <p:cNvSpPr>
                <a:spLocks noChangeArrowheads="1"/>
              </p:cNvSpPr>
              <p:nvPr/>
            </p:nvSpPr>
            <p:spPr bwMode="auto">
              <a:xfrm>
                <a:off x="1632" y="2688"/>
                <a:ext cx="720" cy="240"/>
              </a:xfrm>
              <a:prstGeom prst="rect">
                <a:avLst/>
              </a:prstGeom>
              <a:solidFill>
                <a:srgbClr val="FF99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IP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1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 → IP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2</a:t>
                </a:r>
              </a:p>
            </p:txBody>
          </p:sp>
          <p:sp>
            <p:nvSpPr>
              <p:cNvPr id="777302" name="AutoShape 138"/>
              <p:cNvSpPr>
                <a:spLocks noChangeArrowheads="1"/>
              </p:cNvSpPr>
              <p:nvPr/>
            </p:nvSpPr>
            <p:spPr bwMode="auto">
              <a:xfrm>
                <a:off x="2352" y="2736"/>
                <a:ext cx="192" cy="144"/>
              </a:xfrm>
              <a:prstGeom prst="rightArrow">
                <a:avLst>
                  <a:gd name="adj1" fmla="val 50000"/>
                  <a:gd name="adj2" fmla="val 54167"/>
                </a:avLst>
              </a:prstGeom>
              <a:solidFill>
                <a:srgbClr val="FF99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777303" name="Group 139"/>
            <p:cNvGrpSpPr>
              <a:grpSpLocks/>
            </p:cNvGrpSpPr>
            <p:nvPr/>
          </p:nvGrpSpPr>
          <p:grpSpPr bwMode="auto">
            <a:xfrm>
              <a:off x="660400" y="5592763"/>
              <a:ext cx="2146300" cy="381000"/>
              <a:chOff x="480" y="3120"/>
              <a:chExt cx="1248" cy="240"/>
            </a:xfrm>
          </p:grpSpPr>
          <p:sp>
            <p:nvSpPr>
              <p:cNvPr id="777304" name="Rectangle 140"/>
              <p:cNvSpPr>
                <a:spLocks noChangeArrowheads="1"/>
              </p:cNvSpPr>
              <p:nvPr/>
            </p:nvSpPr>
            <p:spPr bwMode="auto">
              <a:xfrm>
                <a:off x="480" y="3120"/>
                <a:ext cx="1056" cy="240"/>
              </a:xfrm>
              <a:prstGeom prst="rect">
                <a:avLst/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从 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HA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1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 </a:t>
                </a:r>
                <a:r>
                  <a: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到 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HA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3</a:t>
                </a:r>
              </a:p>
            </p:txBody>
          </p:sp>
          <p:sp>
            <p:nvSpPr>
              <p:cNvPr id="777305" name="AutoShape 141"/>
              <p:cNvSpPr>
                <a:spLocks noChangeArrowheads="1"/>
              </p:cNvSpPr>
              <p:nvPr/>
            </p:nvSpPr>
            <p:spPr bwMode="auto">
              <a:xfrm>
                <a:off x="1536" y="3168"/>
                <a:ext cx="192" cy="144"/>
              </a:xfrm>
              <a:prstGeom prst="rightArrow">
                <a:avLst>
                  <a:gd name="adj1" fmla="val 50000"/>
                  <a:gd name="adj2" fmla="val 54167"/>
                </a:avLst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777306" name="Group 142"/>
            <p:cNvGrpSpPr>
              <a:grpSpLocks/>
            </p:cNvGrpSpPr>
            <p:nvPr/>
          </p:nvGrpSpPr>
          <p:grpSpPr bwMode="auto">
            <a:xfrm>
              <a:off x="3797300" y="5592763"/>
              <a:ext cx="2146300" cy="381000"/>
              <a:chOff x="480" y="3120"/>
              <a:chExt cx="1248" cy="240"/>
            </a:xfrm>
          </p:grpSpPr>
          <p:sp>
            <p:nvSpPr>
              <p:cNvPr id="777307" name="Rectangle 143"/>
              <p:cNvSpPr>
                <a:spLocks noChangeArrowheads="1"/>
              </p:cNvSpPr>
              <p:nvPr/>
            </p:nvSpPr>
            <p:spPr bwMode="auto">
              <a:xfrm>
                <a:off x="480" y="3120"/>
                <a:ext cx="1056" cy="240"/>
              </a:xfrm>
              <a:prstGeom prst="rect">
                <a:avLst/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从 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HA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4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 </a:t>
                </a:r>
                <a:r>
                  <a: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到 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HA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5</a:t>
                </a:r>
              </a:p>
            </p:txBody>
          </p:sp>
          <p:sp>
            <p:nvSpPr>
              <p:cNvPr id="777308" name="AutoShape 144"/>
              <p:cNvSpPr>
                <a:spLocks noChangeArrowheads="1"/>
              </p:cNvSpPr>
              <p:nvPr/>
            </p:nvSpPr>
            <p:spPr bwMode="auto">
              <a:xfrm>
                <a:off x="1536" y="3168"/>
                <a:ext cx="192" cy="144"/>
              </a:xfrm>
              <a:prstGeom prst="rightArrow">
                <a:avLst>
                  <a:gd name="adj1" fmla="val 50000"/>
                  <a:gd name="adj2" fmla="val 54167"/>
                </a:avLst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777309" name="Group 145"/>
            <p:cNvGrpSpPr>
              <a:grpSpLocks/>
            </p:cNvGrpSpPr>
            <p:nvPr/>
          </p:nvGrpSpPr>
          <p:grpSpPr bwMode="auto">
            <a:xfrm>
              <a:off x="6934200" y="5592763"/>
              <a:ext cx="2146300" cy="381000"/>
              <a:chOff x="480" y="3120"/>
              <a:chExt cx="1248" cy="240"/>
            </a:xfrm>
          </p:grpSpPr>
          <p:sp>
            <p:nvSpPr>
              <p:cNvPr id="777310" name="Rectangle 146"/>
              <p:cNvSpPr>
                <a:spLocks noChangeArrowheads="1"/>
              </p:cNvSpPr>
              <p:nvPr/>
            </p:nvSpPr>
            <p:spPr bwMode="auto">
              <a:xfrm>
                <a:off x="480" y="3120"/>
                <a:ext cx="1056" cy="240"/>
              </a:xfrm>
              <a:prstGeom prst="rect">
                <a:avLst/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从 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HA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6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 </a:t>
                </a:r>
                <a:r>
                  <a: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到 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HA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2</a:t>
                </a:r>
              </a:p>
            </p:txBody>
          </p:sp>
          <p:sp>
            <p:nvSpPr>
              <p:cNvPr id="777311" name="AutoShape 147"/>
              <p:cNvSpPr>
                <a:spLocks noChangeArrowheads="1"/>
              </p:cNvSpPr>
              <p:nvPr/>
            </p:nvSpPr>
            <p:spPr bwMode="auto">
              <a:xfrm>
                <a:off x="1536" y="3168"/>
                <a:ext cx="192" cy="144"/>
              </a:xfrm>
              <a:prstGeom prst="rightArrow">
                <a:avLst>
                  <a:gd name="adj1" fmla="val 50000"/>
                  <a:gd name="adj2" fmla="val 54167"/>
                </a:avLst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777312" name="Text Box 148"/>
            <p:cNvSpPr txBox="1">
              <a:spLocks noChangeArrowheads="1"/>
            </p:cNvSpPr>
            <p:nvPr/>
          </p:nvSpPr>
          <p:spPr bwMode="auto">
            <a:xfrm>
              <a:off x="7429500" y="6018213"/>
              <a:ext cx="100700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MAC </a:t>
              </a:r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帧</a:t>
              </a:r>
            </a:p>
          </p:txBody>
        </p:sp>
        <p:sp>
          <p:nvSpPr>
            <p:cNvPr id="777313" name="Text Box 149"/>
            <p:cNvSpPr txBox="1">
              <a:spLocks noChangeArrowheads="1"/>
            </p:cNvSpPr>
            <p:nvPr/>
          </p:nvSpPr>
          <p:spPr bwMode="auto">
            <a:xfrm>
              <a:off x="4308079" y="6018213"/>
              <a:ext cx="100700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MAC </a:t>
              </a:r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帧</a:t>
              </a:r>
            </a:p>
          </p:txBody>
        </p:sp>
        <p:sp>
          <p:nvSpPr>
            <p:cNvPr id="777314" name="AutoShape 150"/>
            <p:cNvSpPr>
              <a:spLocks noChangeArrowheads="1"/>
            </p:cNvSpPr>
            <p:nvPr/>
          </p:nvSpPr>
          <p:spPr bwMode="auto">
            <a:xfrm flipV="1">
              <a:off x="2228850" y="2292351"/>
              <a:ext cx="1320800" cy="377825"/>
            </a:xfrm>
            <a:prstGeom prst="wedgeRoundRectCallout">
              <a:avLst>
                <a:gd name="adj1" fmla="val -75782"/>
                <a:gd name="adj2" fmla="val -203782"/>
                <a:gd name="adj3" fmla="val 16667"/>
              </a:avLst>
            </a:prstGeom>
            <a:solidFill>
              <a:srgbClr val="66FF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pPr algn="ctr" eaLnBrk="0" hangingPunct="0"/>
              <a:endParaRPr lang="zh-CN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7315" name="Text Box 151"/>
            <p:cNvSpPr txBox="1">
              <a:spLocks noChangeArrowheads="1"/>
            </p:cNvSpPr>
            <p:nvPr/>
          </p:nvSpPr>
          <p:spPr bwMode="auto">
            <a:xfrm>
              <a:off x="2270125" y="2316163"/>
              <a:ext cx="115993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IP </a:t>
              </a:r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数据报</a:t>
              </a:r>
            </a:p>
          </p:txBody>
        </p:sp>
      </p:grpSp>
      <p:sp>
        <p:nvSpPr>
          <p:cNvPr id="455797" name="Line 117"/>
          <p:cNvSpPr>
            <a:spLocks noChangeShapeType="1"/>
          </p:cNvSpPr>
          <p:nvPr/>
        </p:nvSpPr>
        <p:spPr bwMode="auto">
          <a:xfrm>
            <a:off x="661988" y="3500438"/>
            <a:ext cx="2574925" cy="0"/>
          </a:xfrm>
          <a:prstGeom prst="line">
            <a:avLst/>
          </a:prstGeom>
          <a:noFill/>
          <a:ln w="76200">
            <a:solidFill>
              <a:srgbClr val="C0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455798" name="Line 118"/>
          <p:cNvSpPr>
            <a:spLocks noChangeShapeType="1"/>
          </p:cNvSpPr>
          <p:nvPr/>
        </p:nvSpPr>
        <p:spPr bwMode="auto">
          <a:xfrm>
            <a:off x="3470275" y="3500438"/>
            <a:ext cx="2574925" cy="0"/>
          </a:xfrm>
          <a:prstGeom prst="line">
            <a:avLst/>
          </a:prstGeom>
          <a:noFill/>
          <a:ln w="76200">
            <a:solidFill>
              <a:srgbClr val="C0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455799" name="Line 119"/>
          <p:cNvSpPr>
            <a:spLocks noChangeShapeType="1"/>
          </p:cNvSpPr>
          <p:nvPr/>
        </p:nvSpPr>
        <p:spPr bwMode="auto">
          <a:xfrm>
            <a:off x="6435725" y="3500438"/>
            <a:ext cx="2574925" cy="0"/>
          </a:xfrm>
          <a:prstGeom prst="line">
            <a:avLst/>
          </a:prstGeom>
          <a:noFill/>
          <a:ln w="76200">
            <a:solidFill>
              <a:srgbClr val="C0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777319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fld id="{5D304106-34BB-4669-88EF-96C042E4751E}" type="slidenum">
              <a:rPr lang="zh-CN" altLang="en-US" smtClean="0"/>
              <a:pPr/>
              <a:t>7</a:t>
            </a:fld>
            <a:endParaRPr lang="en-US" altLang="zh-CN" smtClean="0"/>
          </a:p>
        </p:txBody>
      </p:sp>
      <p:sp>
        <p:nvSpPr>
          <p:cNvPr id="777320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3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455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455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000"/>
                                        <p:tgtEl>
                                          <p:spTgt spid="455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000"/>
                                        <p:tgtEl>
                                          <p:spTgt spid="455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5787" grpId="0" animBg="1"/>
      <p:bldP spid="455797" grpId="0" animBg="1"/>
      <p:bldP spid="455798" grpId="0" animBg="1"/>
      <p:bldP spid="45579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835" name="Text Box 107"/>
          <p:cNvSpPr txBox="1">
            <a:spLocks noChangeArrowheads="1"/>
          </p:cNvSpPr>
          <p:nvPr/>
        </p:nvSpPr>
        <p:spPr bwMode="auto">
          <a:xfrm>
            <a:off x="2952750" y="52388"/>
            <a:ext cx="4448175" cy="523875"/>
          </a:xfrm>
          <a:prstGeom prst="rect">
            <a:avLst/>
          </a:prstGeom>
          <a:solidFill>
            <a:srgbClr val="FFFF00"/>
          </a:solidFill>
          <a:ln w="9525">
            <a:solidFill>
              <a:srgbClr val="333399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800" b="1">
                <a:solidFill>
                  <a:srgbClr val="000099"/>
                </a:solidFill>
                <a:ea typeface="黑体" panose="02010609060101010101" pitchFamily="49" charset="-122"/>
              </a:rPr>
              <a:t>在链路上看 </a:t>
            </a:r>
            <a:r>
              <a:rPr lang="en-US" altLang="zh-CN" sz="2800" b="1">
                <a:solidFill>
                  <a:srgbClr val="000099"/>
                </a:solidFill>
                <a:ea typeface="黑体" panose="02010609060101010101" pitchFamily="49" charset="-122"/>
              </a:rPr>
              <a:t>MAC </a:t>
            </a:r>
            <a:r>
              <a:rPr lang="zh-CN" altLang="en-US" sz="2800" b="1">
                <a:solidFill>
                  <a:srgbClr val="000099"/>
                </a:solidFill>
                <a:ea typeface="黑体" panose="02010609060101010101" pitchFamily="49" charset="-122"/>
              </a:rPr>
              <a:t>帧的流动</a:t>
            </a:r>
          </a:p>
        </p:txBody>
      </p:sp>
      <p:grpSp>
        <p:nvGrpSpPr>
          <p:cNvPr id="779266" name="组合 110"/>
          <p:cNvGrpSpPr>
            <a:grpSpLocks/>
          </p:cNvGrpSpPr>
          <p:nvPr/>
        </p:nvGrpSpPr>
        <p:grpSpPr bwMode="auto">
          <a:xfrm>
            <a:off x="104775" y="115888"/>
            <a:ext cx="9663113" cy="1658937"/>
            <a:chOff x="104908" y="116632"/>
            <a:chExt cx="9663509" cy="1658194"/>
          </a:xfrm>
        </p:grpSpPr>
        <p:sp>
          <p:nvSpPr>
            <p:cNvPr id="779267" name="Freeform 2"/>
            <p:cNvSpPr>
              <a:spLocks noChangeArrowheads="1"/>
            </p:cNvSpPr>
            <p:nvPr/>
          </p:nvSpPr>
          <p:spPr bwMode="auto">
            <a:xfrm>
              <a:off x="2801542" y="1239838"/>
              <a:ext cx="270007" cy="533400"/>
            </a:xfrm>
            <a:custGeom>
              <a:avLst/>
              <a:gdLst>
                <a:gd name="T0" fmla="*/ 0 w 249"/>
                <a:gd name="T1" fmla="*/ 176 h 176"/>
                <a:gd name="T2" fmla="*/ 1 w 249"/>
                <a:gd name="T3" fmla="*/ 0 h 176"/>
                <a:gd name="T4" fmla="*/ 249 w 249"/>
                <a:gd name="T5" fmla="*/ 9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9" h="176">
                  <a:moveTo>
                    <a:pt x="0" y="176"/>
                  </a:moveTo>
                  <a:lnTo>
                    <a:pt x="1" y="0"/>
                  </a:lnTo>
                  <a:lnTo>
                    <a:pt x="249" y="9"/>
                  </a:lnTo>
                </a:path>
              </a:pathLst>
            </a:cu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9268" name="Freeform 3"/>
            <p:cNvSpPr>
              <a:spLocks noChangeArrowheads="1"/>
            </p:cNvSpPr>
            <p:nvPr/>
          </p:nvSpPr>
          <p:spPr bwMode="auto">
            <a:xfrm>
              <a:off x="5775061" y="1239838"/>
              <a:ext cx="184018" cy="531812"/>
            </a:xfrm>
            <a:custGeom>
              <a:avLst/>
              <a:gdLst>
                <a:gd name="T0" fmla="*/ 0 w 249"/>
                <a:gd name="T1" fmla="*/ 176 h 176"/>
                <a:gd name="T2" fmla="*/ 1 w 249"/>
                <a:gd name="T3" fmla="*/ 0 h 176"/>
                <a:gd name="T4" fmla="*/ 249 w 249"/>
                <a:gd name="T5" fmla="*/ 9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9" h="176">
                  <a:moveTo>
                    <a:pt x="0" y="176"/>
                  </a:moveTo>
                  <a:lnTo>
                    <a:pt x="1" y="0"/>
                  </a:lnTo>
                  <a:lnTo>
                    <a:pt x="249" y="9"/>
                  </a:lnTo>
                </a:path>
              </a:pathLst>
            </a:cu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9269" name="Line 4"/>
            <p:cNvSpPr>
              <a:spLocks noChangeShapeType="1"/>
            </p:cNvSpPr>
            <p:nvPr/>
          </p:nvSpPr>
          <p:spPr bwMode="auto">
            <a:xfrm rot="-5400000">
              <a:off x="9075209" y="1504818"/>
              <a:ext cx="533400" cy="344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9270" name="Line 5"/>
            <p:cNvSpPr>
              <a:spLocks noChangeShapeType="1"/>
            </p:cNvSpPr>
            <p:nvPr/>
          </p:nvSpPr>
          <p:spPr bwMode="auto">
            <a:xfrm rot="-5400000">
              <a:off x="242359" y="1504818"/>
              <a:ext cx="533400" cy="344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9271" name="Line 6"/>
            <p:cNvSpPr>
              <a:spLocks noChangeShapeType="1"/>
            </p:cNvSpPr>
            <p:nvPr/>
          </p:nvSpPr>
          <p:spPr bwMode="auto">
            <a:xfrm>
              <a:off x="252811" y="1773238"/>
              <a:ext cx="2803260" cy="0"/>
            </a:xfrm>
            <a:prstGeom prst="line">
              <a:avLst/>
            </a:prstGeom>
            <a:noFill/>
            <a:ln w="57150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9272" name="Text Box 7"/>
            <p:cNvSpPr txBox="1">
              <a:spLocks noChangeArrowheads="1"/>
            </p:cNvSpPr>
            <p:nvPr/>
          </p:nvSpPr>
          <p:spPr bwMode="auto">
            <a:xfrm>
              <a:off x="529696" y="1258888"/>
              <a:ext cx="6030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HA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1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9273" name="Text Box 8"/>
            <p:cNvSpPr txBox="1">
              <a:spLocks noChangeArrowheads="1"/>
            </p:cNvSpPr>
            <p:nvPr/>
          </p:nvSpPr>
          <p:spPr bwMode="auto">
            <a:xfrm>
              <a:off x="5180012" y="1258888"/>
              <a:ext cx="6030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HA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5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9274" name="Text Box 9"/>
            <p:cNvSpPr txBox="1">
              <a:spLocks noChangeArrowheads="1"/>
            </p:cNvSpPr>
            <p:nvPr/>
          </p:nvSpPr>
          <p:spPr bwMode="auto">
            <a:xfrm>
              <a:off x="3807619" y="1258888"/>
              <a:ext cx="6030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HA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4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9275" name="Text Box 10"/>
            <p:cNvSpPr txBox="1">
              <a:spLocks noChangeArrowheads="1"/>
            </p:cNvSpPr>
            <p:nvPr/>
          </p:nvSpPr>
          <p:spPr bwMode="auto">
            <a:xfrm>
              <a:off x="2206494" y="1258888"/>
              <a:ext cx="6030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HA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3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9276" name="Line 11"/>
            <p:cNvSpPr>
              <a:spLocks noChangeShapeType="1"/>
            </p:cNvSpPr>
            <p:nvPr/>
          </p:nvSpPr>
          <p:spPr bwMode="auto">
            <a:xfrm>
              <a:off x="6540368" y="1773238"/>
              <a:ext cx="3143779" cy="0"/>
            </a:xfrm>
            <a:prstGeom prst="line">
              <a:avLst/>
            </a:prstGeom>
            <a:noFill/>
            <a:ln w="57150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9277" name="Text Box 12"/>
            <p:cNvSpPr txBox="1">
              <a:spLocks noChangeArrowheads="1"/>
            </p:cNvSpPr>
            <p:nvPr/>
          </p:nvSpPr>
          <p:spPr bwMode="auto">
            <a:xfrm>
              <a:off x="6781139" y="1258888"/>
              <a:ext cx="6030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HA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6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9278" name="Text Box 13"/>
            <p:cNvSpPr txBox="1">
              <a:spLocks noChangeArrowheads="1"/>
            </p:cNvSpPr>
            <p:nvPr/>
          </p:nvSpPr>
          <p:spPr bwMode="auto">
            <a:xfrm>
              <a:off x="174453" y="116632"/>
              <a:ext cx="96212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主机 </a:t>
              </a:r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1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9279" name="Text Box 14"/>
            <p:cNvSpPr txBox="1">
              <a:spLocks noChangeArrowheads="1"/>
            </p:cNvSpPr>
            <p:nvPr/>
          </p:nvSpPr>
          <p:spPr bwMode="auto">
            <a:xfrm>
              <a:off x="8481392" y="116632"/>
              <a:ext cx="96212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主机 </a:t>
              </a:r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2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9280" name="Line 15"/>
            <p:cNvSpPr>
              <a:spLocks noChangeShapeType="1"/>
            </p:cNvSpPr>
            <p:nvPr/>
          </p:nvSpPr>
          <p:spPr bwMode="auto">
            <a:xfrm>
              <a:off x="3566848" y="1773238"/>
              <a:ext cx="2462742" cy="0"/>
            </a:xfrm>
            <a:prstGeom prst="line">
              <a:avLst/>
            </a:prstGeom>
            <a:noFill/>
            <a:ln w="57150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9281" name="Freeform 16"/>
            <p:cNvSpPr>
              <a:spLocks noChangeArrowheads="1"/>
            </p:cNvSpPr>
            <p:nvPr/>
          </p:nvSpPr>
          <p:spPr bwMode="auto">
            <a:xfrm flipH="1">
              <a:off x="6540368" y="1239838"/>
              <a:ext cx="254529" cy="533400"/>
            </a:xfrm>
            <a:custGeom>
              <a:avLst/>
              <a:gdLst>
                <a:gd name="T0" fmla="*/ 0 w 249"/>
                <a:gd name="T1" fmla="*/ 176 h 176"/>
                <a:gd name="T2" fmla="*/ 1 w 249"/>
                <a:gd name="T3" fmla="*/ 0 h 176"/>
                <a:gd name="T4" fmla="*/ 249 w 249"/>
                <a:gd name="T5" fmla="*/ 9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9" h="176">
                  <a:moveTo>
                    <a:pt x="0" y="176"/>
                  </a:moveTo>
                  <a:lnTo>
                    <a:pt x="1" y="0"/>
                  </a:lnTo>
                  <a:lnTo>
                    <a:pt x="249" y="9"/>
                  </a:lnTo>
                </a:path>
              </a:pathLst>
            </a:cu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9282" name="Freeform 17"/>
            <p:cNvSpPr>
              <a:spLocks noChangeArrowheads="1"/>
            </p:cNvSpPr>
            <p:nvPr/>
          </p:nvSpPr>
          <p:spPr bwMode="auto">
            <a:xfrm flipH="1">
              <a:off x="3635639" y="1239839"/>
              <a:ext cx="185738" cy="534987"/>
            </a:xfrm>
            <a:custGeom>
              <a:avLst/>
              <a:gdLst>
                <a:gd name="T0" fmla="*/ 0 w 249"/>
                <a:gd name="T1" fmla="*/ 176 h 176"/>
                <a:gd name="T2" fmla="*/ 1 w 249"/>
                <a:gd name="T3" fmla="*/ 0 h 176"/>
                <a:gd name="T4" fmla="*/ 249 w 249"/>
                <a:gd name="T5" fmla="*/ 9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9" h="176">
                  <a:moveTo>
                    <a:pt x="0" y="176"/>
                  </a:moveTo>
                  <a:lnTo>
                    <a:pt x="1" y="0"/>
                  </a:lnTo>
                  <a:lnTo>
                    <a:pt x="249" y="9"/>
                  </a:lnTo>
                </a:path>
              </a:pathLst>
            </a:cu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9283" name="Text Box 18"/>
            <p:cNvSpPr txBox="1">
              <a:spLocks noChangeArrowheads="1"/>
            </p:cNvSpPr>
            <p:nvPr/>
          </p:nvSpPr>
          <p:spPr bwMode="auto">
            <a:xfrm>
              <a:off x="2768865" y="679451"/>
              <a:ext cx="119295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路由器 </a:t>
              </a:r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R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1</a:t>
              </a:r>
            </a:p>
          </p:txBody>
        </p:sp>
        <p:pic>
          <p:nvPicPr>
            <p:cNvPr id="779284" name="Picture 19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4908" y="496888"/>
              <a:ext cx="926967" cy="838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79285" name="Picture 20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59331" y="985839"/>
              <a:ext cx="835819" cy="434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79286" name="Picture 21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43169" y="477838"/>
              <a:ext cx="925248" cy="838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79287" name="Picture 22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01290" y="963614"/>
              <a:ext cx="834098" cy="434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79288" name="AutoShape 23"/>
            <p:cNvSpPr>
              <a:spLocks noChangeArrowheads="1"/>
            </p:cNvSpPr>
            <p:nvPr/>
          </p:nvSpPr>
          <p:spPr bwMode="auto">
            <a:xfrm flipV="1">
              <a:off x="1084633" y="548679"/>
              <a:ext cx="1716909" cy="348258"/>
            </a:xfrm>
            <a:prstGeom prst="wedgeRoundRectCallout">
              <a:avLst>
                <a:gd name="adj1" fmla="val -53218"/>
                <a:gd name="adj2" fmla="val -195611"/>
                <a:gd name="adj3" fmla="val 16667"/>
              </a:avLst>
            </a:prstGeom>
            <a:solidFill>
              <a:srgbClr val="66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pPr algn="ctr"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HA</a:t>
              </a:r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为硬件地址</a:t>
              </a:r>
            </a:p>
          </p:txBody>
        </p:sp>
        <p:sp>
          <p:nvSpPr>
            <p:cNvPr id="779289" name="Text Box 25"/>
            <p:cNvSpPr txBox="1">
              <a:spLocks noChangeArrowheads="1"/>
            </p:cNvSpPr>
            <p:nvPr/>
          </p:nvSpPr>
          <p:spPr bwMode="auto">
            <a:xfrm>
              <a:off x="5673594" y="685801"/>
              <a:ext cx="119295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路由器 </a:t>
              </a:r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R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2</a:t>
              </a:r>
            </a:p>
          </p:txBody>
        </p:sp>
        <p:sp>
          <p:nvSpPr>
            <p:cNvPr id="779290" name="Text Box 26"/>
            <p:cNvSpPr txBox="1">
              <a:spLocks noChangeArrowheads="1"/>
            </p:cNvSpPr>
            <p:nvPr/>
          </p:nvSpPr>
          <p:spPr bwMode="auto">
            <a:xfrm>
              <a:off x="8726223" y="1258888"/>
              <a:ext cx="6030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HA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2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9291" name="Text Box 27"/>
            <p:cNvSpPr txBox="1">
              <a:spLocks noChangeArrowheads="1"/>
            </p:cNvSpPr>
            <p:nvPr/>
          </p:nvSpPr>
          <p:spPr bwMode="auto">
            <a:xfrm>
              <a:off x="304404" y="560388"/>
              <a:ext cx="49564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IP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1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9292" name="Text Box 28"/>
            <p:cNvSpPr txBox="1">
              <a:spLocks noChangeArrowheads="1"/>
            </p:cNvSpPr>
            <p:nvPr/>
          </p:nvSpPr>
          <p:spPr bwMode="auto">
            <a:xfrm>
              <a:off x="9061583" y="544513"/>
              <a:ext cx="49564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IP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2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9293" name="Text Box 29"/>
            <p:cNvSpPr txBox="1">
              <a:spLocks noChangeArrowheads="1"/>
            </p:cNvSpPr>
            <p:nvPr/>
          </p:nvSpPr>
          <p:spPr bwMode="auto">
            <a:xfrm>
              <a:off x="1320800" y="1377951"/>
              <a:ext cx="87716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局域网</a:t>
              </a:r>
              <a:endParaRPr lang="zh-CN" altLang="en-US" b="1" baseline="-25000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9294" name="Text Box 30"/>
            <p:cNvSpPr txBox="1">
              <a:spLocks noChangeArrowheads="1"/>
            </p:cNvSpPr>
            <p:nvPr/>
          </p:nvSpPr>
          <p:spPr bwMode="auto">
            <a:xfrm>
              <a:off x="4380310" y="1377951"/>
              <a:ext cx="87716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局域网</a:t>
              </a:r>
              <a:endParaRPr lang="zh-CN" altLang="en-US" b="1" baseline="-25000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9295" name="Text Box 31"/>
            <p:cNvSpPr txBox="1">
              <a:spLocks noChangeArrowheads="1"/>
            </p:cNvSpPr>
            <p:nvPr/>
          </p:nvSpPr>
          <p:spPr bwMode="auto">
            <a:xfrm>
              <a:off x="7644474" y="1377951"/>
              <a:ext cx="87716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局域网</a:t>
              </a:r>
              <a:endParaRPr lang="zh-CN" altLang="en-US" b="1" baseline="-25000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</p:grpSp>
      <p:grpSp>
        <p:nvGrpSpPr>
          <p:cNvPr id="779296" name="组合 140"/>
          <p:cNvGrpSpPr>
            <a:grpSpLocks/>
          </p:cNvGrpSpPr>
          <p:nvPr/>
        </p:nvGrpSpPr>
        <p:grpSpPr bwMode="auto">
          <a:xfrm>
            <a:off x="39688" y="2035175"/>
            <a:ext cx="9882187" cy="4352925"/>
            <a:chOff x="39556" y="2035176"/>
            <a:chExt cx="9881923" cy="4352369"/>
          </a:xfrm>
        </p:grpSpPr>
        <p:sp>
          <p:nvSpPr>
            <p:cNvPr id="779297" name="Freeform 77"/>
            <p:cNvSpPr>
              <a:spLocks noChangeArrowheads="1"/>
            </p:cNvSpPr>
            <p:nvPr/>
          </p:nvSpPr>
          <p:spPr bwMode="auto">
            <a:xfrm>
              <a:off x="2559050" y="5160963"/>
              <a:ext cx="428229" cy="279400"/>
            </a:xfrm>
            <a:custGeom>
              <a:avLst/>
              <a:gdLst>
                <a:gd name="T0" fmla="*/ 0 w 249"/>
                <a:gd name="T1" fmla="*/ 176 h 176"/>
                <a:gd name="T2" fmla="*/ 1 w 249"/>
                <a:gd name="T3" fmla="*/ 0 h 176"/>
                <a:gd name="T4" fmla="*/ 249 w 249"/>
                <a:gd name="T5" fmla="*/ 9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9" h="176">
                  <a:moveTo>
                    <a:pt x="0" y="176"/>
                  </a:moveTo>
                  <a:lnTo>
                    <a:pt x="1" y="0"/>
                  </a:lnTo>
                  <a:lnTo>
                    <a:pt x="249" y="9"/>
                  </a:lnTo>
                </a:path>
              </a:pathLst>
            </a:cu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9298" name="Freeform 78"/>
            <p:cNvSpPr>
              <a:spLocks noChangeArrowheads="1"/>
            </p:cNvSpPr>
            <p:nvPr/>
          </p:nvSpPr>
          <p:spPr bwMode="auto">
            <a:xfrm>
              <a:off x="5364031" y="5159375"/>
              <a:ext cx="428228" cy="279400"/>
            </a:xfrm>
            <a:custGeom>
              <a:avLst/>
              <a:gdLst>
                <a:gd name="T0" fmla="*/ 0 w 249"/>
                <a:gd name="T1" fmla="*/ 176 h 176"/>
                <a:gd name="T2" fmla="*/ 1 w 249"/>
                <a:gd name="T3" fmla="*/ 0 h 176"/>
                <a:gd name="T4" fmla="*/ 249 w 249"/>
                <a:gd name="T5" fmla="*/ 9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9" h="176">
                  <a:moveTo>
                    <a:pt x="0" y="176"/>
                  </a:moveTo>
                  <a:lnTo>
                    <a:pt x="1" y="0"/>
                  </a:lnTo>
                  <a:lnTo>
                    <a:pt x="249" y="9"/>
                  </a:lnTo>
                </a:path>
              </a:pathLst>
            </a:cu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9299" name="Line 79"/>
            <p:cNvSpPr>
              <a:spLocks noChangeShapeType="1"/>
            </p:cNvSpPr>
            <p:nvPr/>
          </p:nvSpPr>
          <p:spPr bwMode="auto">
            <a:xfrm rot="-5400000">
              <a:off x="8812081" y="5171943"/>
              <a:ext cx="533400" cy="344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9300" name="Line 80"/>
            <p:cNvSpPr>
              <a:spLocks noChangeShapeType="1"/>
            </p:cNvSpPr>
            <p:nvPr/>
          </p:nvSpPr>
          <p:spPr bwMode="auto">
            <a:xfrm rot="-5400000">
              <a:off x="230320" y="5171943"/>
              <a:ext cx="533400" cy="344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9301" name="AutoShape 81"/>
            <p:cNvSpPr>
              <a:spLocks noChangeArrowheads="1"/>
            </p:cNvSpPr>
            <p:nvPr/>
          </p:nvSpPr>
          <p:spPr bwMode="auto">
            <a:xfrm>
              <a:off x="247650" y="3306763"/>
              <a:ext cx="742950" cy="1905000"/>
            </a:xfrm>
            <a:prstGeom prst="cube">
              <a:avLst>
                <a:gd name="adj" fmla="val 25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9302" name="AutoShape 82"/>
            <p:cNvSpPr>
              <a:spLocks noChangeArrowheads="1"/>
            </p:cNvSpPr>
            <p:nvPr/>
          </p:nvSpPr>
          <p:spPr bwMode="auto">
            <a:xfrm>
              <a:off x="2889250" y="3382963"/>
              <a:ext cx="742950" cy="1905000"/>
            </a:xfrm>
            <a:prstGeom prst="cube">
              <a:avLst>
                <a:gd name="adj" fmla="val 25000"/>
              </a:avLst>
            </a:prstGeom>
            <a:solidFill>
              <a:srgbClr val="66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9303" name="AutoShape 83"/>
            <p:cNvSpPr>
              <a:spLocks noChangeArrowheads="1"/>
            </p:cNvSpPr>
            <p:nvPr/>
          </p:nvSpPr>
          <p:spPr bwMode="auto">
            <a:xfrm>
              <a:off x="8832850" y="3306763"/>
              <a:ext cx="742950" cy="1905000"/>
            </a:xfrm>
            <a:prstGeom prst="cube">
              <a:avLst>
                <a:gd name="adj" fmla="val 25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9304" name="AutoShape 84"/>
            <p:cNvSpPr>
              <a:spLocks noChangeArrowheads="1"/>
            </p:cNvSpPr>
            <p:nvPr/>
          </p:nvSpPr>
          <p:spPr bwMode="auto">
            <a:xfrm>
              <a:off x="5776781" y="3611563"/>
              <a:ext cx="742950" cy="1676400"/>
            </a:xfrm>
            <a:prstGeom prst="cube">
              <a:avLst>
                <a:gd name="adj" fmla="val 25000"/>
              </a:avLst>
            </a:prstGeom>
            <a:solidFill>
              <a:srgbClr val="66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grpSp>
          <p:nvGrpSpPr>
            <p:cNvPr id="150" name="Group 85"/>
            <p:cNvGrpSpPr/>
            <p:nvPr/>
          </p:nvGrpSpPr>
          <p:grpSpPr bwMode="auto">
            <a:xfrm>
              <a:off x="39556" y="2420938"/>
              <a:ext cx="9881923" cy="2438400"/>
              <a:chOff x="96" y="1056"/>
              <a:chExt cx="5472" cy="1536"/>
            </a:xfrm>
            <a:solidFill>
              <a:srgbClr val="FFFF66"/>
            </a:solidFill>
          </p:grpSpPr>
          <p:sp>
            <p:nvSpPr>
              <p:cNvPr id="209" name="Oval 86"/>
              <p:cNvSpPr>
                <a:spLocks noChangeArrowheads="1"/>
              </p:cNvSpPr>
              <p:nvPr/>
            </p:nvSpPr>
            <p:spPr bwMode="auto">
              <a:xfrm>
                <a:off x="3662" y="1674"/>
                <a:ext cx="1906" cy="756"/>
              </a:xfrm>
              <a:prstGeom prst="ellipse">
                <a:avLst/>
              </a:prstGeom>
              <a:grpFill/>
              <a:ln w="317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210" name="Oval 87"/>
              <p:cNvSpPr>
                <a:spLocks noChangeArrowheads="1"/>
              </p:cNvSpPr>
              <p:nvPr/>
            </p:nvSpPr>
            <p:spPr bwMode="auto">
              <a:xfrm>
                <a:off x="96" y="1430"/>
                <a:ext cx="1870" cy="760"/>
              </a:xfrm>
              <a:prstGeom prst="ellipse">
                <a:avLst/>
              </a:prstGeom>
              <a:grpFill/>
              <a:ln w="317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211" name="Oval 88"/>
              <p:cNvSpPr>
                <a:spLocks noChangeArrowheads="1"/>
              </p:cNvSpPr>
              <p:nvPr/>
            </p:nvSpPr>
            <p:spPr bwMode="auto">
              <a:xfrm>
                <a:off x="3365" y="1163"/>
                <a:ext cx="1903" cy="731"/>
              </a:xfrm>
              <a:prstGeom prst="ellipse">
                <a:avLst/>
              </a:prstGeom>
              <a:grpFill/>
              <a:ln w="317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212" name="Oval 89"/>
              <p:cNvSpPr>
                <a:spLocks noChangeArrowheads="1"/>
              </p:cNvSpPr>
              <p:nvPr/>
            </p:nvSpPr>
            <p:spPr bwMode="auto">
              <a:xfrm>
                <a:off x="2365" y="1821"/>
                <a:ext cx="1900" cy="771"/>
              </a:xfrm>
              <a:prstGeom prst="ellipse">
                <a:avLst/>
              </a:prstGeom>
              <a:grpFill/>
              <a:ln w="317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213" name="Oval 90"/>
              <p:cNvSpPr>
                <a:spLocks noChangeArrowheads="1"/>
              </p:cNvSpPr>
              <p:nvPr/>
            </p:nvSpPr>
            <p:spPr bwMode="auto">
              <a:xfrm>
                <a:off x="729" y="1752"/>
                <a:ext cx="1900" cy="731"/>
              </a:xfrm>
              <a:prstGeom prst="ellipse">
                <a:avLst/>
              </a:prstGeom>
              <a:grpFill/>
              <a:ln w="317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214" name="Oval 91"/>
              <p:cNvSpPr>
                <a:spLocks noChangeArrowheads="1"/>
              </p:cNvSpPr>
              <p:nvPr/>
            </p:nvSpPr>
            <p:spPr bwMode="auto">
              <a:xfrm>
                <a:off x="2197" y="1056"/>
                <a:ext cx="1870" cy="758"/>
              </a:xfrm>
              <a:prstGeom prst="ellipse">
                <a:avLst/>
              </a:prstGeom>
              <a:grpFill/>
              <a:ln w="317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215" name="Oval 92"/>
              <p:cNvSpPr>
                <a:spLocks noChangeArrowheads="1"/>
              </p:cNvSpPr>
              <p:nvPr/>
            </p:nvSpPr>
            <p:spPr bwMode="auto">
              <a:xfrm>
                <a:off x="996" y="1056"/>
                <a:ext cx="1867" cy="731"/>
              </a:xfrm>
              <a:prstGeom prst="ellipse">
                <a:avLst/>
              </a:prstGeom>
              <a:grpFill/>
              <a:ln w="317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216" name="Oval 93"/>
              <p:cNvSpPr>
                <a:spLocks noChangeArrowheads="1"/>
              </p:cNvSpPr>
              <p:nvPr/>
            </p:nvSpPr>
            <p:spPr bwMode="auto">
              <a:xfrm>
                <a:off x="597" y="1226"/>
                <a:ext cx="4536" cy="106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</p:grpSp>
        <p:sp>
          <p:nvSpPr>
            <p:cNvPr id="779306" name="Line 94"/>
            <p:cNvSpPr>
              <a:spLocks noChangeShapeType="1"/>
            </p:cNvSpPr>
            <p:nvPr/>
          </p:nvSpPr>
          <p:spPr bwMode="auto">
            <a:xfrm>
              <a:off x="165100" y="5440363"/>
              <a:ext cx="2806700" cy="0"/>
            </a:xfrm>
            <a:prstGeom prst="line">
              <a:avLst/>
            </a:prstGeom>
            <a:noFill/>
            <a:ln w="57150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grpSp>
          <p:nvGrpSpPr>
            <p:cNvPr id="779307" name="Group 95"/>
            <p:cNvGrpSpPr>
              <a:grpSpLocks/>
            </p:cNvGrpSpPr>
            <p:nvPr/>
          </p:nvGrpSpPr>
          <p:grpSpPr bwMode="auto">
            <a:xfrm>
              <a:off x="247650" y="2420938"/>
              <a:ext cx="742950" cy="1447800"/>
              <a:chOff x="672" y="528"/>
              <a:chExt cx="432" cy="912"/>
            </a:xfrm>
          </p:grpSpPr>
          <p:sp>
            <p:nvSpPr>
              <p:cNvPr id="779308" name="AutoShape 96"/>
              <p:cNvSpPr>
                <a:spLocks noChangeArrowheads="1"/>
              </p:cNvSpPr>
              <p:nvPr/>
            </p:nvSpPr>
            <p:spPr bwMode="auto">
              <a:xfrm>
                <a:off x="672" y="1008"/>
                <a:ext cx="432" cy="432"/>
              </a:xfrm>
              <a:prstGeom prst="cube">
                <a:avLst>
                  <a:gd name="adj" fmla="val 25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779309" name="AutoShape 97"/>
              <p:cNvSpPr>
                <a:spLocks noChangeArrowheads="1"/>
              </p:cNvSpPr>
              <p:nvPr/>
            </p:nvSpPr>
            <p:spPr bwMode="auto">
              <a:xfrm>
                <a:off x="672" y="720"/>
                <a:ext cx="432" cy="432"/>
              </a:xfrm>
              <a:prstGeom prst="cube">
                <a:avLst>
                  <a:gd name="adj" fmla="val 25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779310" name="AutoShape 98"/>
              <p:cNvSpPr>
                <a:spLocks noChangeArrowheads="1"/>
              </p:cNvSpPr>
              <p:nvPr/>
            </p:nvSpPr>
            <p:spPr bwMode="auto">
              <a:xfrm>
                <a:off x="672" y="528"/>
                <a:ext cx="432" cy="432"/>
              </a:xfrm>
              <a:prstGeom prst="cube">
                <a:avLst>
                  <a:gd name="adj" fmla="val 25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779311" name="Text Box 99"/>
            <p:cNvSpPr txBox="1">
              <a:spLocks noChangeArrowheads="1"/>
            </p:cNvSpPr>
            <p:nvPr/>
          </p:nvSpPr>
          <p:spPr bwMode="auto">
            <a:xfrm>
              <a:off x="287206" y="3430588"/>
              <a:ext cx="49564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IP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1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9312" name="Text Box 100"/>
            <p:cNvSpPr txBox="1">
              <a:spLocks noChangeArrowheads="1"/>
            </p:cNvSpPr>
            <p:nvPr/>
          </p:nvSpPr>
          <p:spPr bwMode="auto">
            <a:xfrm>
              <a:off x="233892" y="4849813"/>
              <a:ext cx="6030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HA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1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9313" name="Text Box 101"/>
            <p:cNvSpPr txBox="1">
              <a:spLocks noChangeArrowheads="1"/>
            </p:cNvSpPr>
            <p:nvPr/>
          </p:nvSpPr>
          <p:spPr bwMode="auto">
            <a:xfrm>
              <a:off x="5226448" y="4811713"/>
              <a:ext cx="6030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HA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5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9314" name="Text Box 102"/>
            <p:cNvSpPr txBox="1">
              <a:spLocks noChangeArrowheads="1"/>
            </p:cNvSpPr>
            <p:nvPr/>
          </p:nvSpPr>
          <p:spPr bwMode="auto">
            <a:xfrm>
              <a:off x="3604683" y="4805363"/>
              <a:ext cx="6030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HA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4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9315" name="Text Box 103"/>
            <p:cNvSpPr txBox="1">
              <a:spLocks noChangeArrowheads="1"/>
            </p:cNvSpPr>
            <p:nvPr/>
          </p:nvSpPr>
          <p:spPr bwMode="auto">
            <a:xfrm>
              <a:off x="2311400" y="4805363"/>
              <a:ext cx="6030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HA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3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9316" name="Line 104"/>
            <p:cNvSpPr>
              <a:spLocks noChangeShapeType="1"/>
            </p:cNvSpPr>
            <p:nvPr/>
          </p:nvSpPr>
          <p:spPr bwMode="auto">
            <a:xfrm>
              <a:off x="908050" y="3611563"/>
              <a:ext cx="206375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9317" name="Line 105"/>
            <p:cNvSpPr>
              <a:spLocks noChangeShapeType="1"/>
            </p:cNvSpPr>
            <p:nvPr/>
          </p:nvSpPr>
          <p:spPr bwMode="auto">
            <a:xfrm>
              <a:off x="6438900" y="5440363"/>
              <a:ext cx="3219450" cy="0"/>
            </a:xfrm>
            <a:prstGeom prst="line">
              <a:avLst/>
            </a:prstGeom>
            <a:noFill/>
            <a:ln w="57150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9318" name="Text Box 106"/>
            <p:cNvSpPr txBox="1">
              <a:spLocks noChangeArrowheads="1"/>
            </p:cNvSpPr>
            <p:nvPr/>
          </p:nvSpPr>
          <p:spPr bwMode="auto">
            <a:xfrm>
              <a:off x="6507692" y="4799013"/>
              <a:ext cx="6030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HA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6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9319" name="Text Box 107"/>
            <p:cNvSpPr txBox="1">
              <a:spLocks noChangeArrowheads="1"/>
            </p:cNvSpPr>
            <p:nvPr/>
          </p:nvSpPr>
          <p:spPr bwMode="auto">
            <a:xfrm>
              <a:off x="8805333" y="4814888"/>
              <a:ext cx="6030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HA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2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9320" name="Text Box 108"/>
            <p:cNvSpPr txBox="1">
              <a:spLocks noChangeArrowheads="1"/>
            </p:cNvSpPr>
            <p:nvPr/>
          </p:nvSpPr>
          <p:spPr bwMode="auto">
            <a:xfrm>
              <a:off x="6507692" y="3709988"/>
              <a:ext cx="49564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IP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6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9321" name="Text Box 109"/>
            <p:cNvSpPr txBox="1">
              <a:spLocks noChangeArrowheads="1"/>
            </p:cNvSpPr>
            <p:nvPr/>
          </p:nvSpPr>
          <p:spPr bwMode="auto">
            <a:xfrm>
              <a:off x="116946" y="2060576"/>
              <a:ext cx="96212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主机 </a:t>
              </a:r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1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9322" name="Text Box 110"/>
            <p:cNvSpPr txBox="1">
              <a:spLocks noChangeArrowheads="1"/>
            </p:cNvSpPr>
            <p:nvPr/>
          </p:nvSpPr>
          <p:spPr bwMode="auto">
            <a:xfrm>
              <a:off x="8702146" y="2035176"/>
              <a:ext cx="96212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主机 </a:t>
              </a:r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2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9323" name="AutoShape 111"/>
            <p:cNvSpPr>
              <a:spLocks noChangeArrowheads="1"/>
            </p:cNvSpPr>
            <p:nvPr/>
          </p:nvSpPr>
          <p:spPr bwMode="auto">
            <a:xfrm>
              <a:off x="2889250" y="3259138"/>
              <a:ext cx="742950" cy="609600"/>
            </a:xfrm>
            <a:prstGeom prst="cube">
              <a:avLst>
                <a:gd name="adj" fmla="val 25000"/>
              </a:avLst>
            </a:prstGeom>
            <a:solidFill>
              <a:srgbClr val="66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9324" name="Text Box 112"/>
            <p:cNvSpPr txBox="1">
              <a:spLocks noChangeArrowheads="1"/>
            </p:cNvSpPr>
            <p:nvPr/>
          </p:nvSpPr>
          <p:spPr bwMode="auto">
            <a:xfrm>
              <a:off x="2834217" y="2887663"/>
              <a:ext cx="119295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路由器 </a:t>
              </a:r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R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1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9325" name="Text Box 113"/>
            <p:cNvSpPr txBox="1">
              <a:spLocks noChangeArrowheads="1"/>
            </p:cNvSpPr>
            <p:nvPr/>
          </p:nvSpPr>
          <p:spPr bwMode="auto">
            <a:xfrm>
              <a:off x="4485217" y="4186239"/>
              <a:ext cx="2410468" cy="461665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rgbClr val="333399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IP </a:t>
              </a:r>
              <a:r>
                <a:rPr lang="zh-CN" altLang="en-US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层上的互联网</a:t>
              </a:r>
            </a:p>
          </p:txBody>
        </p:sp>
        <p:sp>
          <p:nvSpPr>
            <p:cNvPr id="779326" name="Text Box 114"/>
            <p:cNvSpPr txBox="1">
              <a:spLocks noChangeArrowheads="1"/>
            </p:cNvSpPr>
            <p:nvPr/>
          </p:nvSpPr>
          <p:spPr bwMode="auto">
            <a:xfrm>
              <a:off x="1073150" y="5948363"/>
              <a:ext cx="100700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MAC </a:t>
              </a:r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帧</a:t>
              </a:r>
            </a:p>
          </p:txBody>
        </p:sp>
        <p:grpSp>
          <p:nvGrpSpPr>
            <p:cNvPr id="779327" name="Group 115"/>
            <p:cNvGrpSpPr>
              <a:grpSpLocks/>
            </p:cNvGrpSpPr>
            <p:nvPr/>
          </p:nvGrpSpPr>
          <p:grpSpPr bwMode="auto">
            <a:xfrm>
              <a:off x="8832850" y="2420938"/>
              <a:ext cx="742950" cy="1447800"/>
              <a:chOff x="672" y="528"/>
              <a:chExt cx="432" cy="912"/>
            </a:xfrm>
          </p:grpSpPr>
          <p:sp>
            <p:nvSpPr>
              <p:cNvPr id="779328" name="AutoShape 116"/>
              <p:cNvSpPr>
                <a:spLocks noChangeArrowheads="1"/>
              </p:cNvSpPr>
              <p:nvPr/>
            </p:nvSpPr>
            <p:spPr bwMode="auto">
              <a:xfrm>
                <a:off x="672" y="1008"/>
                <a:ext cx="432" cy="432"/>
              </a:xfrm>
              <a:prstGeom prst="cube">
                <a:avLst>
                  <a:gd name="adj" fmla="val 25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779329" name="AutoShape 117"/>
              <p:cNvSpPr>
                <a:spLocks noChangeArrowheads="1"/>
              </p:cNvSpPr>
              <p:nvPr/>
            </p:nvSpPr>
            <p:spPr bwMode="auto">
              <a:xfrm>
                <a:off x="672" y="720"/>
                <a:ext cx="432" cy="432"/>
              </a:xfrm>
              <a:prstGeom prst="cube">
                <a:avLst>
                  <a:gd name="adj" fmla="val 25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779330" name="AutoShape 118"/>
              <p:cNvSpPr>
                <a:spLocks noChangeArrowheads="1"/>
              </p:cNvSpPr>
              <p:nvPr/>
            </p:nvSpPr>
            <p:spPr bwMode="auto">
              <a:xfrm>
                <a:off x="672" y="528"/>
                <a:ext cx="432" cy="432"/>
              </a:xfrm>
              <a:prstGeom prst="cube">
                <a:avLst>
                  <a:gd name="adj" fmla="val 25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779331" name="Text Box 119"/>
            <p:cNvSpPr txBox="1">
              <a:spLocks noChangeArrowheads="1"/>
            </p:cNvSpPr>
            <p:nvPr/>
          </p:nvSpPr>
          <p:spPr bwMode="auto">
            <a:xfrm>
              <a:off x="8886165" y="3435351"/>
              <a:ext cx="49564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IP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2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9332" name="Text Box 120"/>
            <p:cNvSpPr txBox="1">
              <a:spLocks noChangeArrowheads="1"/>
            </p:cNvSpPr>
            <p:nvPr/>
          </p:nvSpPr>
          <p:spPr bwMode="auto">
            <a:xfrm>
              <a:off x="3597804" y="3697288"/>
              <a:ext cx="49564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IP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4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9333" name="Text Box 121"/>
            <p:cNvSpPr txBox="1">
              <a:spLocks noChangeArrowheads="1"/>
            </p:cNvSpPr>
            <p:nvPr/>
          </p:nvSpPr>
          <p:spPr bwMode="auto">
            <a:xfrm>
              <a:off x="2476500" y="3697288"/>
              <a:ext cx="49564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IP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3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9334" name="Line 122"/>
            <p:cNvSpPr>
              <a:spLocks noChangeShapeType="1"/>
            </p:cNvSpPr>
            <p:nvPr/>
          </p:nvSpPr>
          <p:spPr bwMode="auto">
            <a:xfrm>
              <a:off x="3549650" y="3611563"/>
              <a:ext cx="222885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9335" name="AutoShape 123"/>
            <p:cNvSpPr>
              <a:spLocks noChangeArrowheads="1"/>
            </p:cNvSpPr>
            <p:nvPr/>
          </p:nvSpPr>
          <p:spPr bwMode="auto">
            <a:xfrm>
              <a:off x="5776781" y="3230563"/>
              <a:ext cx="742950" cy="609600"/>
            </a:xfrm>
            <a:prstGeom prst="cube">
              <a:avLst>
                <a:gd name="adj" fmla="val 25000"/>
              </a:avLst>
            </a:prstGeom>
            <a:solidFill>
              <a:srgbClr val="66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9336" name="Line 124"/>
            <p:cNvSpPr>
              <a:spLocks noChangeShapeType="1"/>
            </p:cNvSpPr>
            <p:nvPr/>
          </p:nvSpPr>
          <p:spPr bwMode="auto">
            <a:xfrm>
              <a:off x="6438900" y="3611563"/>
              <a:ext cx="239395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9337" name="Text Box 125"/>
            <p:cNvSpPr txBox="1">
              <a:spLocks noChangeArrowheads="1"/>
            </p:cNvSpPr>
            <p:nvPr/>
          </p:nvSpPr>
          <p:spPr bwMode="auto">
            <a:xfrm>
              <a:off x="5365750" y="3697288"/>
              <a:ext cx="49564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IP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5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9338" name="Line 126"/>
            <p:cNvSpPr>
              <a:spLocks noChangeShapeType="1"/>
            </p:cNvSpPr>
            <p:nvPr/>
          </p:nvSpPr>
          <p:spPr bwMode="auto">
            <a:xfrm>
              <a:off x="3632200" y="5440363"/>
              <a:ext cx="2063750" cy="0"/>
            </a:xfrm>
            <a:prstGeom prst="line">
              <a:avLst/>
            </a:prstGeom>
            <a:noFill/>
            <a:ln w="57150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9339" name="Freeform 127"/>
            <p:cNvSpPr>
              <a:spLocks noChangeArrowheads="1"/>
            </p:cNvSpPr>
            <p:nvPr/>
          </p:nvSpPr>
          <p:spPr bwMode="auto">
            <a:xfrm flipH="1">
              <a:off x="6414823" y="5156201"/>
              <a:ext cx="369756" cy="284163"/>
            </a:xfrm>
            <a:custGeom>
              <a:avLst/>
              <a:gdLst>
                <a:gd name="T0" fmla="*/ 0 w 249"/>
                <a:gd name="T1" fmla="*/ 176 h 176"/>
                <a:gd name="T2" fmla="*/ 1 w 249"/>
                <a:gd name="T3" fmla="*/ 0 h 176"/>
                <a:gd name="T4" fmla="*/ 249 w 249"/>
                <a:gd name="T5" fmla="*/ 9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9" h="176">
                  <a:moveTo>
                    <a:pt x="0" y="176"/>
                  </a:moveTo>
                  <a:lnTo>
                    <a:pt x="1" y="0"/>
                  </a:lnTo>
                  <a:lnTo>
                    <a:pt x="249" y="9"/>
                  </a:lnTo>
                </a:path>
              </a:pathLst>
            </a:cu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9340" name="Freeform 128"/>
            <p:cNvSpPr>
              <a:spLocks noChangeArrowheads="1"/>
            </p:cNvSpPr>
            <p:nvPr/>
          </p:nvSpPr>
          <p:spPr bwMode="auto">
            <a:xfrm flipH="1">
              <a:off x="3503216" y="5162550"/>
              <a:ext cx="459184" cy="279400"/>
            </a:xfrm>
            <a:custGeom>
              <a:avLst/>
              <a:gdLst>
                <a:gd name="T0" fmla="*/ 0 w 249"/>
                <a:gd name="T1" fmla="*/ 176 h 176"/>
                <a:gd name="T2" fmla="*/ 1 w 249"/>
                <a:gd name="T3" fmla="*/ 0 h 176"/>
                <a:gd name="T4" fmla="*/ 249 w 249"/>
                <a:gd name="T5" fmla="*/ 9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9" h="176">
                  <a:moveTo>
                    <a:pt x="0" y="176"/>
                  </a:moveTo>
                  <a:lnTo>
                    <a:pt x="1" y="0"/>
                  </a:lnTo>
                  <a:lnTo>
                    <a:pt x="249" y="9"/>
                  </a:lnTo>
                </a:path>
              </a:pathLst>
            </a:cu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9341" name="Text Box 129"/>
            <p:cNvSpPr txBox="1">
              <a:spLocks noChangeArrowheads="1"/>
            </p:cNvSpPr>
            <p:nvPr/>
          </p:nvSpPr>
          <p:spPr bwMode="auto">
            <a:xfrm>
              <a:off x="5652956" y="2862263"/>
              <a:ext cx="119295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路由器 </a:t>
              </a:r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R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2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grpSp>
          <p:nvGrpSpPr>
            <p:cNvPr id="779342" name="Group 130"/>
            <p:cNvGrpSpPr>
              <a:grpSpLocks/>
            </p:cNvGrpSpPr>
            <p:nvPr/>
          </p:nvGrpSpPr>
          <p:grpSpPr bwMode="auto">
            <a:xfrm>
              <a:off x="1238250" y="3154363"/>
              <a:ext cx="1568450" cy="381000"/>
              <a:chOff x="1632" y="2688"/>
              <a:chExt cx="912" cy="240"/>
            </a:xfrm>
          </p:grpSpPr>
          <p:sp>
            <p:nvSpPr>
              <p:cNvPr id="779343" name="Rectangle 131"/>
              <p:cNvSpPr>
                <a:spLocks noChangeArrowheads="1"/>
              </p:cNvSpPr>
              <p:nvPr/>
            </p:nvSpPr>
            <p:spPr bwMode="auto">
              <a:xfrm>
                <a:off x="1632" y="2688"/>
                <a:ext cx="720" cy="240"/>
              </a:xfrm>
              <a:prstGeom prst="rect">
                <a:avLst/>
              </a:prstGeom>
              <a:solidFill>
                <a:srgbClr val="FF99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  IP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1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 → IP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2</a:t>
                </a:r>
              </a:p>
            </p:txBody>
          </p:sp>
          <p:sp>
            <p:nvSpPr>
              <p:cNvPr id="779344" name="AutoShape 132"/>
              <p:cNvSpPr>
                <a:spLocks noChangeArrowheads="1"/>
              </p:cNvSpPr>
              <p:nvPr/>
            </p:nvSpPr>
            <p:spPr bwMode="auto">
              <a:xfrm>
                <a:off x="2352" y="2736"/>
                <a:ext cx="192" cy="144"/>
              </a:xfrm>
              <a:prstGeom prst="rightArrow">
                <a:avLst>
                  <a:gd name="adj1" fmla="val 50000"/>
                  <a:gd name="adj2" fmla="val 54167"/>
                </a:avLst>
              </a:prstGeom>
              <a:solidFill>
                <a:srgbClr val="FF99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779345" name="Group 133"/>
            <p:cNvGrpSpPr>
              <a:grpSpLocks/>
            </p:cNvGrpSpPr>
            <p:nvPr/>
          </p:nvGrpSpPr>
          <p:grpSpPr bwMode="auto">
            <a:xfrm>
              <a:off x="4044950" y="3154363"/>
              <a:ext cx="1568450" cy="381000"/>
              <a:chOff x="1632" y="2688"/>
              <a:chExt cx="912" cy="240"/>
            </a:xfrm>
          </p:grpSpPr>
          <p:sp>
            <p:nvSpPr>
              <p:cNvPr id="779346" name="Rectangle 134"/>
              <p:cNvSpPr>
                <a:spLocks noChangeArrowheads="1"/>
              </p:cNvSpPr>
              <p:nvPr/>
            </p:nvSpPr>
            <p:spPr bwMode="auto">
              <a:xfrm>
                <a:off x="1632" y="2688"/>
                <a:ext cx="720" cy="240"/>
              </a:xfrm>
              <a:prstGeom prst="rect">
                <a:avLst/>
              </a:prstGeom>
              <a:solidFill>
                <a:srgbClr val="FF99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IP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1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 → IP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2</a:t>
                </a:r>
              </a:p>
            </p:txBody>
          </p:sp>
          <p:sp>
            <p:nvSpPr>
              <p:cNvPr id="779347" name="AutoShape 135"/>
              <p:cNvSpPr>
                <a:spLocks noChangeArrowheads="1"/>
              </p:cNvSpPr>
              <p:nvPr/>
            </p:nvSpPr>
            <p:spPr bwMode="auto">
              <a:xfrm>
                <a:off x="2352" y="2736"/>
                <a:ext cx="192" cy="144"/>
              </a:xfrm>
              <a:prstGeom prst="rightArrow">
                <a:avLst>
                  <a:gd name="adj1" fmla="val 50000"/>
                  <a:gd name="adj2" fmla="val 54167"/>
                </a:avLst>
              </a:prstGeom>
              <a:solidFill>
                <a:srgbClr val="FF99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779348" name="Group 136"/>
            <p:cNvGrpSpPr>
              <a:grpSpLocks/>
            </p:cNvGrpSpPr>
            <p:nvPr/>
          </p:nvGrpSpPr>
          <p:grpSpPr bwMode="auto">
            <a:xfrm>
              <a:off x="7016750" y="3154363"/>
              <a:ext cx="1568450" cy="381000"/>
              <a:chOff x="1632" y="2688"/>
              <a:chExt cx="912" cy="240"/>
            </a:xfrm>
          </p:grpSpPr>
          <p:sp>
            <p:nvSpPr>
              <p:cNvPr id="779349" name="Rectangle 137"/>
              <p:cNvSpPr>
                <a:spLocks noChangeArrowheads="1"/>
              </p:cNvSpPr>
              <p:nvPr/>
            </p:nvSpPr>
            <p:spPr bwMode="auto">
              <a:xfrm>
                <a:off x="1632" y="2688"/>
                <a:ext cx="720" cy="240"/>
              </a:xfrm>
              <a:prstGeom prst="rect">
                <a:avLst/>
              </a:prstGeom>
              <a:solidFill>
                <a:srgbClr val="FF99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IP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1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 → IP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2</a:t>
                </a:r>
              </a:p>
            </p:txBody>
          </p:sp>
          <p:sp>
            <p:nvSpPr>
              <p:cNvPr id="779350" name="AutoShape 138"/>
              <p:cNvSpPr>
                <a:spLocks noChangeArrowheads="1"/>
              </p:cNvSpPr>
              <p:nvPr/>
            </p:nvSpPr>
            <p:spPr bwMode="auto">
              <a:xfrm>
                <a:off x="2352" y="2736"/>
                <a:ext cx="192" cy="144"/>
              </a:xfrm>
              <a:prstGeom prst="rightArrow">
                <a:avLst>
                  <a:gd name="adj1" fmla="val 50000"/>
                  <a:gd name="adj2" fmla="val 54167"/>
                </a:avLst>
              </a:prstGeom>
              <a:solidFill>
                <a:srgbClr val="FF99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779351" name="Group 139"/>
            <p:cNvGrpSpPr>
              <a:grpSpLocks/>
            </p:cNvGrpSpPr>
            <p:nvPr/>
          </p:nvGrpSpPr>
          <p:grpSpPr bwMode="auto">
            <a:xfrm>
              <a:off x="660400" y="5592763"/>
              <a:ext cx="2146300" cy="381000"/>
              <a:chOff x="480" y="3120"/>
              <a:chExt cx="1248" cy="240"/>
            </a:xfrm>
          </p:grpSpPr>
          <p:sp>
            <p:nvSpPr>
              <p:cNvPr id="779352" name="Rectangle 140"/>
              <p:cNvSpPr>
                <a:spLocks noChangeArrowheads="1"/>
              </p:cNvSpPr>
              <p:nvPr/>
            </p:nvSpPr>
            <p:spPr bwMode="auto">
              <a:xfrm>
                <a:off x="480" y="3120"/>
                <a:ext cx="1056" cy="240"/>
              </a:xfrm>
              <a:prstGeom prst="rect">
                <a:avLst/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从 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HA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1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 </a:t>
                </a:r>
                <a:r>
                  <a: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到 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HA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3</a:t>
                </a:r>
              </a:p>
            </p:txBody>
          </p:sp>
          <p:sp>
            <p:nvSpPr>
              <p:cNvPr id="779353" name="AutoShape 141"/>
              <p:cNvSpPr>
                <a:spLocks noChangeArrowheads="1"/>
              </p:cNvSpPr>
              <p:nvPr/>
            </p:nvSpPr>
            <p:spPr bwMode="auto">
              <a:xfrm>
                <a:off x="1536" y="3168"/>
                <a:ext cx="192" cy="144"/>
              </a:xfrm>
              <a:prstGeom prst="rightArrow">
                <a:avLst>
                  <a:gd name="adj1" fmla="val 50000"/>
                  <a:gd name="adj2" fmla="val 54167"/>
                </a:avLst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779354" name="Group 142"/>
            <p:cNvGrpSpPr>
              <a:grpSpLocks/>
            </p:cNvGrpSpPr>
            <p:nvPr/>
          </p:nvGrpSpPr>
          <p:grpSpPr bwMode="auto">
            <a:xfrm>
              <a:off x="3797300" y="5592763"/>
              <a:ext cx="2146300" cy="381000"/>
              <a:chOff x="480" y="3120"/>
              <a:chExt cx="1248" cy="240"/>
            </a:xfrm>
          </p:grpSpPr>
          <p:sp>
            <p:nvSpPr>
              <p:cNvPr id="779355" name="Rectangle 143"/>
              <p:cNvSpPr>
                <a:spLocks noChangeArrowheads="1"/>
              </p:cNvSpPr>
              <p:nvPr/>
            </p:nvSpPr>
            <p:spPr bwMode="auto">
              <a:xfrm>
                <a:off x="480" y="3120"/>
                <a:ext cx="1056" cy="240"/>
              </a:xfrm>
              <a:prstGeom prst="rect">
                <a:avLst/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从 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HA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4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 </a:t>
                </a:r>
                <a:r>
                  <a: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到 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HA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5</a:t>
                </a:r>
              </a:p>
            </p:txBody>
          </p:sp>
          <p:sp>
            <p:nvSpPr>
              <p:cNvPr id="779356" name="AutoShape 144"/>
              <p:cNvSpPr>
                <a:spLocks noChangeArrowheads="1"/>
              </p:cNvSpPr>
              <p:nvPr/>
            </p:nvSpPr>
            <p:spPr bwMode="auto">
              <a:xfrm>
                <a:off x="1536" y="3168"/>
                <a:ext cx="192" cy="144"/>
              </a:xfrm>
              <a:prstGeom prst="rightArrow">
                <a:avLst>
                  <a:gd name="adj1" fmla="val 50000"/>
                  <a:gd name="adj2" fmla="val 54167"/>
                </a:avLst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779357" name="Group 145"/>
            <p:cNvGrpSpPr>
              <a:grpSpLocks/>
            </p:cNvGrpSpPr>
            <p:nvPr/>
          </p:nvGrpSpPr>
          <p:grpSpPr bwMode="auto">
            <a:xfrm>
              <a:off x="6934200" y="5592763"/>
              <a:ext cx="2146300" cy="381000"/>
              <a:chOff x="480" y="3120"/>
              <a:chExt cx="1248" cy="240"/>
            </a:xfrm>
          </p:grpSpPr>
          <p:sp>
            <p:nvSpPr>
              <p:cNvPr id="779358" name="Rectangle 146"/>
              <p:cNvSpPr>
                <a:spLocks noChangeArrowheads="1"/>
              </p:cNvSpPr>
              <p:nvPr/>
            </p:nvSpPr>
            <p:spPr bwMode="auto">
              <a:xfrm>
                <a:off x="480" y="3120"/>
                <a:ext cx="1056" cy="240"/>
              </a:xfrm>
              <a:prstGeom prst="rect">
                <a:avLst/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从 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HA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6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 </a:t>
                </a:r>
                <a:r>
                  <a: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到 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HA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2</a:t>
                </a:r>
              </a:p>
            </p:txBody>
          </p:sp>
          <p:sp>
            <p:nvSpPr>
              <p:cNvPr id="779359" name="AutoShape 147"/>
              <p:cNvSpPr>
                <a:spLocks noChangeArrowheads="1"/>
              </p:cNvSpPr>
              <p:nvPr/>
            </p:nvSpPr>
            <p:spPr bwMode="auto">
              <a:xfrm>
                <a:off x="1536" y="3168"/>
                <a:ext cx="192" cy="144"/>
              </a:xfrm>
              <a:prstGeom prst="rightArrow">
                <a:avLst>
                  <a:gd name="adj1" fmla="val 50000"/>
                  <a:gd name="adj2" fmla="val 54167"/>
                </a:avLst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779360" name="Text Box 148"/>
            <p:cNvSpPr txBox="1">
              <a:spLocks noChangeArrowheads="1"/>
            </p:cNvSpPr>
            <p:nvPr/>
          </p:nvSpPr>
          <p:spPr bwMode="auto">
            <a:xfrm>
              <a:off x="7429500" y="6018213"/>
              <a:ext cx="100700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MAC </a:t>
              </a:r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帧</a:t>
              </a:r>
            </a:p>
          </p:txBody>
        </p:sp>
        <p:sp>
          <p:nvSpPr>
            <p:cNvPr id="779361" name="Text Box 149"/>
            <p:cNvSpPr txBox="1">
              <a:spLocks noChangeArrowheads="1"/>
            </p:cNvSpPr>
            <p:nvPr/>
          </p:nvSpPr>
          <p:spPr bwMode="auto">
            <a:xfrm>
              <a:off x="4308079" y="6018213"/>
              <a:ext cx="100700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MAC </a:t>
              </a:r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帧</a:t>
              </a:r>
            </a:p>
          </p:txBody>
        </p:sp>
        <p:sp>
          <p:nvSpPr>
            <p:cNvPr id="779362" name="AutoShape 150"/>
            <p:cNvSpPr>
              <a:spLocks noChangeArrowheads="1"/>
            </p:cNvSpPr>
            <p:nvPr/>
          </p:nvSpPr>
          <p:spPr bwMode="auto">
            <a:xfrm flipV="1">
              <a:off x="2228850" y="2292351"/>
              <a:ext cx="1320800" cy="377825"/>
            </a:xfrm>
            <a:prstGeom prst="wedgeRoundRectCallout">
              <a:avLst>
                <a:gd name="adj1" fmla="val -75782"/>
                <a:gd name="adj2" fmla="val -203782"/>
                <a:gd name="adj3" fmla="val 16667"/>
              </a:avLst>
            </a:prstGeom>
            <a:solidFill>
              <a:srgbClr val="66FF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pPr algn="ctr" eaLnBrk="0" hangingPunct="0"/>
              <a:endParaRPr lang="zh-CN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79363" name="Text Box 151"/>
            <p:cNvSpPr txBox="1">
              <a:spLocks noChangeArrowheads="1"/>
            </p:cNvSpPr>
            <p:nvPr/>
          </p:nvSpPr>
          <p:spPr bwMode="auto">
            <a:xfrm>
              <a:off x="2270125" y="2316163"/>
              <a:ext cx="115993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IP </a:t>
              </a:r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数据报</a:t>
              </a:r>
            </a:p>
          </p:txBody>
        </p:sp>
      </p:grpSp>
      <p:sp>
        <p:nvSpPr>
          <p:cNvPr id="457836" name="Line 108"/>
          <p:cNvSpPr>
            <a:spLocks noChangeShapeType="1"/>
          </p:cNvSpPr>
          <p:nvPr/>
        </p:nvSpPr>
        <p:spPr bwMode="auto">
          <a:xfrm>
            <a:off x="506413" y="5445125"/>
            <a:ext cx="1951037" cy="0"/>
          </a:xfrm>
          <a:prstGeom prst="line">
            <a:avLst/>
          </a:prstGeom>
          <a:noFill/>
          <a:ln w="76200">
            <a:solidFill>
              <a:srgbClr val="C0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457837" name="Line 109"/>
          <p:cNvSpPr>
            <a:spLocks noChangeShapeType="1"/>
          </p:cNvSpPr>
          <p:nvPr/>
        </p:nvSpPr>
        <p:spPr bwMode="auto">
          <a:xfrm>
            <a:off x="3938588" y="5445125"/>
            <a:ext cx="1404937" cy="0"/>
          </a:xfrm>
          <a:prstGeom prst="line">
            <a:avLst/>
          </a:prstGeom>
          <a:noFill/>
          <a:ln w="76200">
            <a:solidFill>
              <a:srgbClr val="C0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457838" name="Line 110"/>
          <p:cNvSpPr>
            <a:spLocks noChangeShapeType="1"/>
          </p:cNvSpPr>
          <p:nvPr/>
        </p:nvSpPr>
        <p:spPr bwMode="auto">
          <a:xfrm>
            <a:off x="6746875" y="5445125"/>
            <a:ext cx="2339975" cy="0"/>
          </a:xfrm>
          <a:prstGeom prst="line">
            <a:avLst/>
          </a:prstGeom>
          <a:noFill/>
          <a:ln w="76200">
            <a:solidFill>
              <a:srgbClr val="C0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779367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fld id="{389DDC81-ADCC-4249-B8AD-927CE6469C33}" type="slidenum">
              <a:rPr lang="zh-CN" altLang="en-US" smtClean="0"/>
              <a:pPr/>
              <a:t>8</a:t>
            </a:fld>
            <a:endParaRPr lang="en-US" altLang="zh-CN" smtClean="0"/>
          </a:p>
        </p:txBody>
      </p:sp>
      <p:sp>
        <p:nvSpPr>
          <p:cNvPr id="779368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3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457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457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000"/>
                                        <p:tgtEl>
                                          <p:spTgt spid="457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000"/>
                                        <p:tgtEl>
                                          <p:spTgt spid="457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7835" grpId="0" animBg="1"/>
      <p:bldP spid="457836" grpId="0" animBg="1"/>
      <p:bldP spid="457837" grpId="0" animBg="1"/>
      <p:bldP spid="45783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313" name="Rectangle 111"/>
          <p:cNvSpPr>
            <a:spLocks noChangeArrowheads="1"/>
          </p:cNvSpPr>
          <p:nvPr/>
        </p:nvSpPr>
        <p:spPr bwMode="auto">
          <a:xfrm>
            <a:off x="0" y="0"/>
            <a:ext cx="9906000" cy="1989138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781314" name="Text Box 112"/>
          <p:cNvSpPr txBox="1">
            <a:spLocks noChangeArrowheads="1"/>
          </p:cNvSpPr>
          <p:nvPr/>
        </p:nvSpPr>
        <p:spPr bwMode="auto">
          <a:xfrm>
            <a:off x="514350" y="317500"/>
            <a:ext cx="8918575" cy="1473200"/>
          </a:xfrm>
          <a:prstGeom prst="rect">
            <a:avLst/>
          </a:prstGeom>
          <a:solidFill>
            <a:srgbClr val="CCECFF"/>
          </a:solidFill>
          <a:ln w="9525">
            <a:solidFill>
              <a:srgbClr val="333399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>
              <a:lnSpc>
                <a:spcPct val="110000"/>
              </a:lnSpc>
            </a:pPr>
            <a:r>
              <a:rPr lang="zh-CN" altLang="en-US" sz="2800" b="1">
                <a:solidFill>
                  <a:srgbClr val="000099"/>
                </a:solidFill>
                <a:ea typeface="黑体" panose="02010609060101010101" pitchFamily="49" charset="-122"/>
              </a:rPr>
              <a:t>在 </a:t>
            </a:r>
            <a:r>
              <a:rPr lang="en-US" altLang="zh-CN" sz="2800" b="1">
                <a:solidFill>
                  <a:srgbClr val="000099"/>
                </a:solidFill>
                <a:ea typeface="黑体" panose="02010609060101010101" pitchFamily="49" charset="-122"/>
              </a:rPr>
              <a:t>IP </a:t>
            </a:r>
            <a:r>
              <a:rPr lang="zh-CN" altLang="en-US" sz="2800" b="1">
                <a:solidFill>
                  <a:srgbClr val="000099"/>
                </a:solidFill>
                <a:ea typeface="黑体" panose="02010609060101010101" pitchFamily="49" charset="-122"/>
              </a:rPr>
              <a:t>层抽象的互联网上只能看到 </a:t>
            </a:r>
            <a:r>
              <a:rPr lang="en-US" altLang="zh-CN" sz="2800" b="1">
                <a:solidFill>
                  <a:srgbClr val="000099"/>
                </a:solidFill>
                <a:ea typeface="黑体" panose="02010609060101010101" pitchFamily="49" charset="-122"/>
              </a:rPr>
              <a:t>IP </a:t>
            </a:r>
            <a:r>
              <a:rPr lang="zh-CN" altLang="en-US" sz="2800" b="1">
                <a:solidFill>
                  <a:srgbClr val="000099"/>
                </a:solidFill>
                <a:ea typeface="黑体" panose="02010609060101010101" pitchFamily="49" charset="-122"/>
              </a:rPr>
              <a:t>数据报。</a:t>
            </a:r>
          </a:p>
          <a:p>
            <a:pPr algn="ctr" eaLnBrk="0" hangingPunct="0">
              <a:lnSpc>
                <a:spcPct val="110000"/>
              </a:lnSpc>
            </a:pPr>
            <a:r>
              <a:rPr lang="zh-CN" altLang="en-US" sz="2800" b="1">
                <a:solidFill>
                  <a:srgbClr val="000099"/>
                </a:solidFill>
                <a:ea typeface="黑体" panose="02010609060101010101" pitchFamily="49" charset="-122"/>
              </a:rPr>
              <a:t>图中的  </a:t>
            </a:r>
            <a:r>
              <a:rPr lang="en-US" altLang="zh-CN" sz="2800" b="1">
                <a:solidFill>
                  <a:srgbClr val="000099"/>
                </a:solidFill>
                <a:ea typeface="黑体" panose="02010609060101010101" pitchFamily="49" charset="-122"/>
              </a:rPr>
              <a:t>IP</a:t>
            </a:r>
            <a:r>
              <a:rPr lang="en-US" altLang="zh-CN" sz="2800" b="1" baseline="-25000">
                <a:solidFill>
                  <a:srgbClr val="000099"/>
                </a:solidFill>
                <a:ea typeface="黑体" panose="02010609060101010101" pitchFamily="49" charset="-122"/>
              </a:rPr>
              <a:t>1</a:t>
            </a:r>
            <a:r>
              <a:rPr lang="en-US" altLang="zh-CN" sz="2800" b="1">
                <a:solidFill>
                  <a:srgbClr val="000099"/>
                </a:solidFill>
                <a:ea typeface="黑体" panose="02010609060101010101" pitchFamily="49" charset="-122"/>
              </a:rPr>
              <a:t>→IP</a:t>
            </a:r>
            <a:r>
              <a:rPr lang="en-US" altLang="zh-CN" sz="2800" b="1" baseline="-25000">
                <a:solidFill>
                  <a:srgbClr val="000099"/>
                </a:solidFill>
                <a:ea typeface="黑体" panose="02010609060101010101" pitchFamily="49" charset="-122"/>
              </a:rPr>
              <a:t>2</a:t>
            </a:r>
            <a:r>
              <a:rPr lang="en-US" altLang="zh-CN" sz="2800" b="1">
                <a:solidFill>
                  <a:srgbClr val="000099"/>
                </a:solidFill>
                <a:ea typeface="黑体" panose="02010609060101010101" pitchFamily="49" charset="-122"/>
              </a:rPr>
              <a:t>  </a:t>
            </a:r>
            <a:r>
              <a:rPr lang="zh-CN" altLang="en-US" sz="2800" b="1">
                <a:solidFill>
                  <a:srgbClr val="000099"/>
                </a:solidFill>
                <a:ea typeface="黑体" panose="02010609060101010101" pitchFamily="49" charset="-122"/>
              </a:rPr>
              <a:t>表示从源地址 </a:t>
            </a:r>
            <a:r>
              <a:rPr lang="en-US" altLang="zh-CN" sz="2800" b="1">
                <a:solidFill>
                  <a:srgbClr val="000099"/>
                </a:solidFill>
                <a:ea typeface="黑体" panose="02010609060101010101" pitchFamily="49" charset="-122"/>
              </a:rPr>
              <a:t>IP</a:t>
            </a:r>
            <a:r>
              <a:rPr lang="en-US" altLang="zh-CN" sz="2800" b="1" baseline="-25000">
                <a:solidFill>
                  <a:srgbClr val="000099"/>
                </a:solidFill>
                <a:ea typeface="黑体" panose="02010609060101010101" pitchFamily="49" charset="-122"/>
              </a:rPr>
              <a:t>1</a:t>
            </a:r>
            <a:r>
              <a:rPr lang="en-US" altLang="zh-CN" sz="2800" b="1">
                <a:solidFill>
                  <a:srgbClr val="000099"/>
                </a:solidFill>
                <a:ea typeface="黑体" panose="02010609060101010101" pitchFamily="49" charset="-122"/>
              </a:rPr>
              <a:t> </a:t>
            </a:r>
            <a:r>
              <a:rPr lang="zh-CN" altLang="en-US" sz="2800" b="1">
                <a:solidFill>
                  <a:srgbClr val="000099"/>
                </a:solidFill>
                <a:ea typeface="黑体" panose="02010609060101010101" pitchFamily="49" charset="-122"/>
              </a:rPr>
              <a:t>到目的地址 </a:t>
            </a:r>
            <a:r>
              <a:rPr lang="en-US" altLang="zh-CN" sz="2800" b="1">
                <a:solidFill>
                  <a:srgbClr val="000099"/>
                </a:solidFill>
                <a:ea typeface="黑体" panose="02010609060101010101" pitchFamily="49" charset="-122"/>
              </a:rPr>
              <a:t>IP</a:t>
            </a:r>
            <a:r>
              <a:rPr lang="en-US" altLang="zh-CN" sz="2800" b="1" baseline="-25000">
                <a:solidFill>
                  <a:srgbClr val="000099"/>
                </a:solidFill>
                <a:ea typeface="黑体" panose="02010609060101010101" pitchFamily="49" charset="-122"/>
              </a:rPr>
              <a:t>2</a:t>
            </a:r>
            <a:r>
              <a:rPr lang="en-US" altLang="zh-CN" sz="2800" b="1">
                <a:solidFill>
                  <a:srgbClr val="000099"/>
                </a:solidFill>
                <a:ea typeface="黑体" panose="02010609060101010101" pitchFamily="49" charset="-122"/>
              </a:rPr>
              <a:t> </a:t>
            </a:r>
            <a:r>
              <a:rPr lang="zh-CN" altLang="en-US" sz="2800" b="1">
                <a:solidFill>
                  <a:srgbClr val="000099"/>
                </a:solidFill>
                <a:ea typeface="黑体" panose="02010609060101010101" pitchFamily="49" charset="-122"/>
              </a:rPr>
              <a:t>。</a:t>
            </a:r>
            <a:endParaRPr lang="en-US" altLang="zh-CN" sz="2800" b="1">
              <a:solidFill>
                <a:srgbClr val="000099"/>
              </a:solidFill>
              <a:ea typeface="黑体" panose="02010609060101010101" pitchFamily="49" charset="-122"/>
            </a:endParaRPr>
          </a:p>
          <a:p>
            <a:pPr algn="ctr" eaLnBrk="0" hangingPunct="0">
              <a:lnSpc>
                <a:spcPct val="110000"/>
              </a:lnSpc>
            </a:pPr>
            <a:r>
              <a:rPr lang="zh-CN" altLang="en-US" sz="2800" b="1">
                <a:solidFill>
                  <a:srgbClr val="C00000"/>
                </a:solidFill>
                <a:ea typeface="黑体" panose="02010609060101010101" pitchFamily="49" charset="-122"/>
              </a:rPr>
              <a:t>两个路由器的 </a:t>
            </a:r>
            <a:r>
              <a:rPr lang="en-US" altLang="zh-CN" sz="2800" b="1">
                <a:solidFill>
                  <a:srgbClr val="C00000"/>
                </a:solidFill>
                <a:ea typeface="黑体" panose="02010609060101010101" pitchFamily="49" charset="-122"/>
              </a:rPr>
              <a:t>IP </a:t>
            </a:r>
            <a:r>
              <a:rPr lang="zh-CN" altLang="en-US" sz="2800" b="1">
                <a:solidFill>
                  <a:srgbClr val="C00000"/>
                </a:solidFill>
                <a:ea typeface="黑体" panose="02010609060101010101" pitchFamily="49" charset="-122"/>
              </a:rPr>
              <a:t>地址并不出现在 </a:t>
            </a:r>
            <a:r>
              <a:rPr lang="en-US" altLang="zh-CN" sz="2800" b="1">
                <a:solidFill>
                  <a:srgbClr val="C00000"/>
                </a:solidFill>
                <a:ea typeface="黑体" panose="02010609060101010101" pitchFamily="49" charset="-122"/>
              </a:rPr>
              <a:t>IP </a:t>
            </a:r>
            <a:r>
              <a:rPr lang="zh-CN" altLang="en-US" sz="2800" b="1">
                <a:solidFill>
                  <a:srgbClr val="C00000"/>
                </a:solidFill>
                <a:ea typeface="黑体" panose="02010609060101010101" pitchFamily="49" charset="-122"/>
              </a:rPr>
              <a:t>数据报的首部中。 </a:t>
            </a:r>
          </a:p>
        </p:txBody>
      </p:sp>
      <p:grpSp>
        <p:nvGrpSpPr>
          <p:cNvPr id="781315" name="组合 2"/>
          <p:cNvGrpSpPr>
            <a:grpSpLocks/>
          </p:cNvGrpSpPr>
          <p:nvPr/>
        </p:nvGrpSpPr>
        <p:grpSpPr bwMode="auto">
          <a:xfrm>
            <a:off x="39688" y="2035175"/>
            <a:ext cx="9882187" cy="4352925"/>
            <a:chOff x="39556" y="2035176"/>
            <a:chExt cx="9881923" cy="4352369"/>
          </a:xfrm>
        </p:grpSpPr>
        <p:sp>
          <p:nvSpPr>
            <p:cNvPr id="781316" name="Freeform 77"/>
            <p:cNvSpPr>
              <a:spLocks noChangeArrowheads="1"/>
            </p:cNvSpPr>
            <p:nvPr/>
          </p:nvSpPr>
          <p:spPr bwMode="auto">
            <a:xfrm>
              <a:off x="2559050" y="5160963"/>
              <a:ext cx="428229" cy="279400"/>
            </a:xfrm>
            <a:custGeom>
              <a:avLst/>
              <a:gdLst>
                <a:gd name="T0" fmla="*/ 0 w 249"/>
                <a:gd name="T1" fmla="*/ 176 h 176"/>
                <a:gd name="T2" fmla="*/ 1 w 249"/>
                <a:gd name="T3" fmla="*/ 0 h 176"/>
                <a:gd name="T4" fmla="*/ 249 w 249"/>
                <a:gd name="T5" fmla="*/ 9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9" h="176">
                  <a:moveTo>
                    <a:pt x="0" y="176"/>
                  </a:moveTo>
                  <a:lnTo>
                    <a:pt x="1" y="0"/>
                  </a:lnTo>
                  <a:lnTo>
                    <a:pt x="249" y="9"/>
                  </a:lnTo>
                </a:path>
              </a:pathLst>
            </a:cu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1317" name="Freeform 78"/>
            <p:cNvSpPr>
              <a:spLocks noChangeArrowheads="1"/>
            </p:cNvSpPr>
            <p:nvPr/>
          </p:nvSpPr>
          <p:spPr bwMode="auto">
            <a:xfrm>
              <a:off x="5364031" y="5159375"/>
              <a:ext cx="428228" cy="279400"/>
            </a:xfrm>
            <a:custGeom>
              <a:avLst/>
              <a:gdLst>
                <a:gd name="T0" fmla="*/ 0 w 249"/>
                <a:gd name="T1" fmla="*/ 176 h 176"/>
                <a:gd name="T2" fmla="*/ 1 w 249"/>
                <a:gd name="T3" fmla="*/ 0 h 176"/>
                <a:gd name="T4" fmla="*/ 249 w 249"/>
                <a:gd name="T5" fmla="*/ 9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9" h="176">
                  <a:moveTo>
                    <a:pt x="0" y="176"/>
                  </a:moveTo>
                  <a:lnTo>
                    <a:pt x="1" y="0"/>
                  </a:lnTo>
                  <a:lnTo>
                    <a:pt x="249" y="9"/>
                  </a:lnTo>
                </a:path>
              </a:pathLst>
            </a:cu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1318" name="Line 79"/>
            <p:cNvSpPr>
              <a:spLocks noChangeShapeType="1"/>
            </p:cNvSpPr>
            <p:nvPr/>
          </p:nvSpPr>
          <p:spPr bwMode="auto">
            <a:xfrm rot="-5400000">
              <a:off x="8812081" y="5171943"/>
              <a:ext cx="533400" cy="344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1319" name="Line 80"/>
            <p:cNvSpPr>
              <a:spLocks noChangeShapeType="1"/>
            </p:cNvSpPr>
            <p:nvPr/>
          </p:nvSpPr>
          <p:spPr bwMode="auto">
            <a:xfrm rot="-5400000">
              <a:off x="230320" y="5171943"/>
              <a:ext cx="533400" cy="344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1320" name="AutoShape 81"/>
            <p:cNvSpPr>
              <a:spLocks noChangeArrowheads="1"/>
            </p:cNvSpPr>
            <p:nvPr/>
          </p:nvSpPr>
          <p:spPr bwMode="auto">
            <a:xfrm>
              <a:off x="247650" y="3306763"/>
              <a:ext cx="742950" cy="1905000"/>
            </a:xfrm>
            <a:prstGeom prst="cube">
              <a:avLst>
                <a:gd name="adj" fmla="val 25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1321" name="AutoShape 82"/>
            <p:cNvSpPr>
              <a:spLocks noChangeArrowheads="1"/>
            </p:cNvSpPr>
            <p:nvPr/>
          </p:nvSpPr>
          <p:spPr bwMode="auto">
            <a:xfrm>
              <a:off x="2889250" y="3382963"/>
              <a:ext cx="742950" cy="1905000"/>
            </a:xfrm>
            <a:prstGeom prst="cube">
              <a:avLst>
                <a:gd name="adj" fmla="val 25000"/>
              </a:avLst>
            </a:prstGeom>
            <a:solidFill>
              <a:srgbClr val="66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1322" name="AutoShape 83"/>
            <p:cNvSpPr>
              <a:spLocks noChangeArrowheads="1"/>
            </p:cNvSpPr>
            <p:nvPr/>
          </p:nvSpPr>
          <p:spPr bwMode="auto">
            <a:xfrm>
              <a:off x="8832850" y="3306763"/>
              <a:ext cx="742950" cy="1905000"/>
            </a:xfrm>
            <a:prstGeom prst="cube">
              <a:avLst>
                <a:gd name="adj" fmla="val 25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1323" name="AutoShape 84"/>
            <p:cNvSpPr>
              <a:spLocks noChangeArrowheads="1"/>
            </p:cNvSpPr>
            <p:nvPr/>
          </p:nvSpPr>
          <p:spPr bwMode="auto">
            <a:xfrm>
              <a:off x="5776781" y="3611563"/>
              <a:ext cx="742950" cy="1676400"/>
            </a:xfrm>
            <a:prstGeom prst="cube">
              <a:avLst>
                <a:gd name="adj" fmla="val 25000"/>
              </a:avLst>
            </a:prstGeom>
            <a:solidFill>
              <a:srgbClr val="66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grpSp>
          <p:nvGrpSpPr>
            <p:cNvPr id="89" name="Group 85"/>
            <p:cNvGrpSpPr/>
            <p:nvPr/>
          </p:nvGrpSpPr>
          <p:grpSpPr bwMode="auto">
            <a:xfrm>
              <a:off x="39556" y="2420938"/>
              <a:ext cx="9881923" cy="2438400"/>
              <a:chOff x="96" y="1056"/>
              <a:chExt cx="5472" cy="1536"/>
            </a:xfrm>
            <a:solidFill>
              <a:srgbClr val="FFFF66"/>
            </a:solidFill>
          </p:grpSpPr>
          <p:sp>
            <p:nvSpPr>
              <p:cNvPr id="148" name="Oval 86"/>
              <p:cNvSpPr>
                <a:spLocks noChangeArrowheads="1"/>
              </p:cNvSpPr>
              <p:nvPr/>
            </p:nvSpPr>
            <p:spPr bwMode="auto">
              <a:xfrm>
                <a:off x="3662" y="1674"/>
                <a:ext cx="1906" cy="756"/>
              </a:xfrm>
              <a:prstGeom prst="ellipse">
                <a:avLst/>
              </a:prstGeom>
              <a:grpFill/>
              <a:ln w="317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149" name="Oval 87"/>
              <p:cNvSpPr>
                <a:spLocks noChangeArrowheads="1"/>
              </p:cNvSpPr>
              <p:nvPr/>
            </p:nvSpPr>
            <p:spPr bwMode="auto">
              <a:xfrm>
                <a:off x="96" y="1430"/>
                <a:ext cx="1870" cy="760"/>
              </a:xfrm>
              <a:prstGeom prst="ellipse">
                <a:avLst/>
              </a:prstGeom>
              <a:grpFill/>
              <a:ln w="317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150" name="Oval 88"/>
              <p:cNvSpPr>
                <a:spLocks noChangeArrowheads="1"/>
              </p:cNvSpPr>
              <p:nvPr/>
            </p:nvSpPr>
            <p:spPr bwMode="auto">
              <a:xfrm>
                <a:off x="3365" y="1163"/>
                <a:ext cx="1903" cy="731"/>
              </a:xfrm>
              <a:prstGeom prst="ellipse">
                <a:avLst/>
              </a:prstGeom>
              <a:grpFill/>
              <a:ln w="317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151" name="Oval 89"/>
              <p:cNvSpPr>
                <a:spLocks noChangeArrowheads="1"/>
              </p:cNvSpPr>
              <p:nvPr/>
            </p:nvSpPr>
            <p:spPr bwMode="auto">
              <a:xfrm>
                <a:off x="2365" y="1821"/>
                <a:ext cx="1900" cy="771"/>
              </a:xfrm>
              <a:prstGeom prst="ellipse">
                <a:avLst/>
              </a:prstGeom>
              <a:grpFill/>
              <a:ln w="317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152" name="Oval 90"/>
              <p:cNvSpPr>
                <a:spLocks noChangeArrowheads="1"/>
              </p:cNvSpPr>
              <p:nvPr/>
            </p:nvSpPr>
            <p:spPr bwMode="auto">
              <a:xfrm>
                <a:off x="729" y="1752"/>
                <a:ext cx="1900" cy="731"/>
              </a:xfrm>
              <a:prstGeom prst="ellipse">
                <a:avLst/>
              </a:prstGeom>
              <a:grpFill/>
              <a:ln w="317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153" name="Oval 91"/>
              <p:cNvSpPr>
                <a:spLocks noChangeArrowheads="1"/>
              </p:cNvSpPr>
              <p:nvPr/>
            </p:nvSpPr>
            <p:spPr bwMode="auto">
              <a:xfrm>
                <a:off x="2197" y="1056"/>
                <a:ext cx="1870" cy="758"/>
              </a:xfrm>
              <a:prstGeom prst="ellipse">
                <a:avLst/>
              </a:prstGeom>
              <a:grpFill/>
              <a:ln w="317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154" name="Oval 92"/>
              <p:cNvSpPr>
                <a:spLocks noChangeArrowheads="1"/>
              </p:cNvSpPr>
              <p:nvPr/>
            </p:nvSpPr>
            <p:spPr bwMode="auto">
              <a:xfrm>
                <a:off x="996" y="1056"/>
                <a:ext cx="1867" cy="731"/>
              </a:xfrm>
              <a:prstGeom prst="ellipse">
                <a:avLst/>
              </a:prstGeom>
              <a:grpFill/>
              <a:ln w="317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155" name="Oval 93"/>
              <p:cNvSpPr>
                <a:spLocks noChangeArrowheads="1"/>
              </p:cNvSpPr>
              <p:nvPr/>
            </p:nvSpPr>
            <p:spPr bwMode="auto">
              <a:xfrm>
                <a:off x="597" y="1226"/>
                <a:ext cx="4536" cy="106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</p:grpSp>
        <p:sp>
          <p:nvSpPr>
            <p:cNvPr id="781325" name="Line 94"/>
            <p:cNvSpPr>
              <a:spLocks noChangeShapeType="1"/>
            </p:cNvSpPr>
            <p:nvPr/>
          </p:nvSpPr>
          <p:spPr bwMode="auto">
            <a:xfrm>
              <a:off x="165100" y="5440363"/>
              <a:ext cx="2806700" cy="0"/>
            </a:xfrm>
            <a:prstGeom prst="line">
              <a:avLst/>
            </a:prstGeom>
            <a:noFill/>
            <a:ln w="57150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grpSp>
          <p:nvGrpSpPr>
            <p:cNvPr id="781326" name="Group 95"/>
            <p:cNvGrpSpPr>
              <a:grpSpLocks/>
            </p:cNvGrpSpPr>
            <p:nvPr/>
          </p:nvGrpSpPr>
          <p:grpSpPr bwMode="auto">
            <a:xfrm>
              <a:off x="247650" y="2420938"/>
              <a:ext cx="742950" cy="1447800"/>
              <a:chOff x="672" y="528"/>
              <a:chExt cx="432" cy="912"/>
            </a:xfrm>
          </p:grpSpPr>
          <p:sp>
            <p:nvSpPr>
              <p:cNvPr id="781327" name="AutoShape 96"/>
              <p:cNvSpPr>
                <a:spLocks noChangeArrowheads="1"/>
              </p:cNvSpPr>
              <p:nvPr/>
            </p:nvSpPr>
            <p:spPr bwMode="auto">
              <a:xfrm>
                <a:off x="672" y="1008"/>
                <a:ext cx="432" cy="432"/>
              </a:xfrm>
              <a:prstGeom prst="cube">
                <a:avLst>
                  <a:gd name="adj" fmla="val 25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781328" name="AutoShape 97"/>
              <p:cNvSpPr>
                <a:spLocks noChangeArrowheads="1"/>
              </p:cNvSpPr>
              <p:nvPr/>
            </p:nvSpPr>
            <p:spPr bwMode="auto">
              <a:xfrm>
                <a:off x="672" y="720"/>
                <a:ext cx="432" cy="432"/>
              </a:xfrm>
              <a:prstGeom prst="cube">
                <a:avLst>
                  <a:gd name="adj" fmla="val 25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781329" name="AutoShape 98"/>
              <p:cNvSpPr>
                <a:spLocks noChangeArrowheads="1"/>
              </p:cNvSpPr>
              <p:nvPr/>
            </p:nvSpPr>
            <p:spPr bwMode="auto">
              <a:xfrm>
                <a:off x="672" y="528"/>
                <a:ext cx="432" cy="432"/>
              </a:xfrm>
              <a:prstGeom prst="cube">
                <a:avLst>
                  <a:gd name="adj" fmla="val 25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781330" name="Text Box 99"/>
            <p:cNvSpPr txBox="1">
              <a:spLocks noChangeArrowheads="1"/>
            </p:cNvSpPr>
            <p:nvPr/>
          </p:nvSpPr>
          <p:spPr bwMode="auto">
            <a:xfrm>
              <a:off x="287206" y="3430588"/>
              <a:ext cx="49564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IP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1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1331" name="Text Box 100"/>
            <p:cNvSpPr txBox="1">
              <a:spLocks noChangeArrowheads="1"/>
            </p:cNvSpPr>
            <p:nvPr/>
          </p:nvSpPr>
          <p:spPr bwMode="auto">
            <a:xfrm>
              <a:off x="233892" y="4849813"/>
              <a:ext cx="6030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HA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1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1332" name="Text Box 101"/>
            <p:cNvSpPr txBox="1">
              <a:spLocks noChangeArrowheads="1"/>
            </p:cNvSpPr>
            <p:nvPr/>
          </p:nvSpPr>
          <p:spPr bwMode="auto">
            <a:xfrm>
              <a:off x="5226448" y="4811713"/>
              <a:ext cx="6030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HA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5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1333" name="Text Box 102"/>
            <p:cNvSpPr txBox="1">
              <a:spLocks noChangeArrowheads="1"/>
            </p:cNvSpPr>
            <p:nvPr/>
          </p:nvSpPr>
          <p:spPr bwMode="auto">
            <a:xfrm>
              <a:off x="3604683" y="4805363"/>
              <a:ext cx="6030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HA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4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1334" name="Text Box 103"/>
            <p:cNvSpPr txBox="1">
              <a:spLocks noChangeArrowheads="1"/>
            </p:cNvSpPr>
            <p:nvPr/>
          </p:nvSpPr>
          <p:spPr bwMode="auto">
            <a:xfrm>
              <a:off x="2311400" y="4805363"/>
              <a:ext cx="6030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HA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3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1335" name="Line 104"/>
            <p:cNvSpPr>
              <a:spLocks noChangeShapeType="1"/>
            </p:cNvSpPr>
            <p:nvPr/>
          </p:nvSpPr>
          <p:spPr bwMode="auto">
            <a:xfrm>
              <a:off x="908050" y="3611563"/>
              <a:ext cx="206375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1336" name="Line 105"/>
            <p:cNvSpPr>
              <a:spLocks noChangeShapeType="1"/>
            </p:cNvSpPr>
            <p:nvPr/>
          </p:nvSpPr>
          <p:spPr bwMode="auto">
            <a:xfrm>
              <a:off x="6438900" y="5440363"/>
              <a:ext cx="3219450" cy="0"/>
            </a:xfrm>
            <a:prstGeom prst="line">
              <a:avLst/>
            </a:prstGeom>
            <a:noFill/>
            <a:ln w="57150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1337" name="Text Box 106"/>
            <p:cNvSpPr txBox="1">
              <a:spLocks noChangeArrowheads="1"/>
            </p:cNvSpPr>
            <p:nvPr/>
          </p:nvSpPr>
          <p:spPr bwMode="auto">
            <a:xfrm>
              <a:off x="6507692" y="4799013"/>
              <a:ext cx="6030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HA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6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1338" name="Text Box 107"/>
            <p:cNvSpPr txBox="1">
              <a:spLocks noChangeArrowheads="1"/>
            </p:cNvSpPr>
            <p:nvPr/>
          </p:nvSpPr>
          <p:spPr bwMode="auto">
            <a:xfrm>
              <a:off x="8805333" y="4814888"/>
              <a:ext cx="6030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HA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2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1339" name="Text Box 108"/>
            <p:cNvSpPr txBox="1">
              <a:spLocks noChangeArrowheads="1"/>
            </p:cNvSpPr>
            <p:nvPr/>
          </p:nvSpPr>
          <p:spPr bwMode="auto">
            <a:xfrm>
              <a:off x="6507692" y="3709988"/>
              <a:ext cx="49564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IP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6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1340" name="Text Box 109"/>
            <p:cNvSpPr txBox="1">
              <a:spLocks noChangeArrowheads="1"/>
            </p:cNvSpPr>
            <p:nvPr/>
          </p:nvSpPr>
          <p:spPr bwMode="auto">
            <a:xfrm>
              <a:off x="116946" y="2060576"/>
              <a:ext cx="96212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主机 </a:t>
              </a:r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1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1341" name="Text Box 110"/>
            <p:cNvSpPr txBox="1">
              <a:spLocks noChangeArrowheads="1"/>
            </p:cNvSpPr>
            <p:nvPr/>
          </p:nvSpPr>
          <p:spPr bwMode="auto">
            <a:xfrm>
              <a:off x="8702146" y="2035176"/>
              <a:ext cx="96212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主机 </a:t>
              </a:r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2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1342" name="AutoShape 111"/>
            <p:cNvSpPr>
              <a:spLocks noChangeArrowheads="1"/>
            </p:cNvSpPr>
            <p:nvPr/>
          </p:nvSpPr>
          <p:spPr bwMode="auto">
            <a:xfrm>
              <a:off x="2889250" y="3259138"/>
              <a:ext cx="742950" cy="609600"/>
            </a:xfrm>
            <a:prstGeom prst="cube">
              <a:avLst>
                <a:gd name="adj" fmla="val 25000"/>
              </a:avLst>
            </a:prstGeom>
            <a:solidFill>
              <a:srgbClr val="66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1343" name="Text Box 112"/>
            <p:cNvSpPr txBox="1">
              <a:spLocks noChangeArrowheads="1"/>
            </p:cNvSpPr>
            <p:nvPr/>
          </p:nvSpPr>
          <p:spPr bwMode="auto">
            <a:xfrm>
              <a:off x="2834217" y="2887663"/>
              <a:ext cx="119295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路由器 </a:t>
              </a:r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R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1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1344" name="Text Box 113"/>
            <p:cNvSpPr txBox="1">
              <a:spLocks noChangeArrowheads="1"/>
            </p:cNvSpPr>
            <p:nvPr/>
          </p:nvSpPr>
          <p:spPr bwMode="auto">
            <a:xfrm>
              <a:off x="4485217" y="4186239"/>
              <a:ext cx="2410468" cy="461665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rgbClr val="333399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IP </a:t>
              </a:r>
              <a:r>
                <a:rPr lang="zh-CN" altLang="en-US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层上的互联网</a:t>
              </a:r>
            </a:p>
          </p:txBody>
        </p:sp>
        <p:sp>
          <p:nvSpPr>
            <p:cNvPr id="781345" name="Text Box 114"/>
            <p:cNvSpPr txBox="1">
              <a:spLocks noChangeArrowheads="1"/>
            </p:cNvSpPr>
            <p:nvPr/>
          </p:nvSpPr>
          <p:spPr bwMode="auto">
            <a:xfrm>
              <a:off x="1073150" y="5948363"/>
              <a:ext cx="100700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MAC </a:t>
              </a:r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帧</a:t>
              </a:r>
            </a:p>
          </p:txBody>
        </p:sp>
        <p:grpSp>
          <p:nvGrpSpPr>
            <p:cNvPr id="781346" name="Group 115"/>
            <p:cNvGrpSpPr>
              <a:grpSpLocks/>
            </p:cNvGrpSpPr>
            <p:nvPr/>
          </p:nvGrpSpPr>
          <p:grpSpPr bwMode="auto">
            <a:xfrm>
              <a:off x="8832850" y="2420938"/>
              <a:ext cx="742950" cy="1447800"/>
              <a:chOff x="672" y="528"/>
              <a:chExt cx="432" cy="912"/>
            </a:xfrm>
          </p:grpSpPr>
          <p:sp>
            <p:nvSpPr>
              <p:cNvPr id="781347" name="AutoShape 116"/>
              <p:cNvSpPr>
                <a:spLocks noChangeArrowheads="1"/>
              </p:cNvSpPr>
              <p:nvPr/>
            </p:nvSpPr>
            <p:spPr bwMode="auto">
              <a:xfrm>
                <a:off x="672" y="1008"/>
                <a:ext cx="432" cy="432"/>
              </a:xfrm>
              <a:prstGeom prst="cube">
                <a:avLst>
                  <a:gd name="adj" fmla="val 25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781348" name="AutoShape 117"/>
              <p:cNvSpPr>
                <a:spLocks noChangeArrowheads="1"/>
              </p:cNvSpPr>
              <p:nvPr/>
            </p:nvSpPr>
            <p:spPr bwMode="auto">
              <a:xfrm>
                <a:off x="672" y="720"/>
                <a:ext cx="432" cy="432"/>
              </a:xfrm>
              <a:prstGeom prst="cube">
                <a:avLst>
                  <a:gd name="adj" fmla="val 25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781349" name="AutoShape 118"/>
              <p:cNvSpPr>
                <a:spLocks noChangeArrowheads="1"/>
              </p:cNvSpPr>
              <p:nvPr/>
            </p:nvSpPr>
            <p:spPr bwMode="auto">
              <a:xfrm>
                <a:off x="672" y="528"/>
                <a:ext cx="432" cy="432"/>
              </a:xfrm>
              <a:prstGeom prst="cube">
                <a:avLst>
                  <a:gd name="adj" fmla="val 25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781350" name="Text Box 119"/>
            <p:cNvSpPr txBox="1">
              <a:spLocks noChangeArrowheads="1"/>
            </p:cNvSpPr>
            <p:nvPr/>
          </p:nvSpPr>
          <p:spPr bwMode="auto">
            <a:xfrm>
              <a:off x="8886165" y="3435351"/>
              <a:ext cx="49564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IP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2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1351" name="Text Box 120"/>
            <p:cNvSpPr txBox="1">
              <a:spLocks noChangeArrowheads="1"/>
            </p:cNvSpPr>
            <p:nvPr/>
          </p:nvSpPr>
          <p:spPr bwMode="auto">
            <a:xfrm>
              <a:off x="3597804" y="3697288"/>
              <a:ext cx="49564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IP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4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1352" name="Text Box 121"/>
            <p:cNvSpPr txBox="1">
              <a:spLocks noChangeArrowheads="1"/>
            </p:cNvSpPr>
            <p:nvPr/>
          </p:nvSpPr>
          <p:spPr bwMode="auto">
            <a:xfrm>
              <a:off x="2476500" y="3697288"/>
              <a:ext cx="49564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IP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3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1353" name="Line 122"/>
            <p:cNvSpPr>
              <a:spLocks noChangeShapeType="1"/>
            </p:cNvSpPr>
            <p:nvPr/>
          </p:nvSpPr>
          <p:spPr bwMode="auto">
            <a:xfrm>
              <a:off x="3549650" y="3611563"/>
              <a:ext cx="222885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1354" name="AutoShape 123"/>
            <p:cNvSpPr>
              <a:spLocks noChangeArrowheads="1"/>
            </p:cNvSpPr>
            <p:nvPr/>
          </p:nvSpPr>
          <p:spPr bwMode="auto">
            <a:xfrm>
              <a:off x="5776781" y="3230563"/>
              <a:ext cx="742950" cy="609600"/>
            </a:xfrm>
            <a:prstGeom prst="cube">
              <a:avLst>
                <a:gd name="adj" fmla="val 25000"/>
              </a:avLst>
            </a:prstGeom>
            <a:solidFill>
              <a:srgbClr val="66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1355" name="Line 124"/>
            <p:cNvSpPr>
              <a:spLocks noChangeShapeType="1"/>
            </p:cNvSpPr>
            <p:nvPr/>
          </p:nvSpPr>
          <p:spPr bwMode="auto">
            <a:xfrm>
              <a:off x="6438900" y="3611563"/>
              <a:ext cx="239395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1356" name="Text Box 125"/>
            <p:cNvSpPr txBox="1">
              <a:spLocks noChangeArrowheads="1"/>
            </p:cNvSpPr>
            <p:nvPr/>
          </p:nvSpPr>
          <p:spPr bwMode="auto">
            <a:xfrm>
              <a:off x="5365750" y="3697288"/>
              <a:ext cx="49564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IP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5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1357" name="Line 126"/>
            <p:cNvSpPr>
              <a:spLocks noChangeShapeType="1"/>
            </p:cNvSpPr>
            <p:nvPr/>
          </p:nvSpPr>
          <p:spPr bwMode="auto">
            <a:xfrm>
              <a:off x="3632200" y="5440363"/>
              <a:ext cx="2063750" cy="0"/>
            </a:xfrm>
            <a:prstGeom prst="line">
              <a:avLst/>
            </a:prstGeom>
            <a:noFill/>
            <a:ln w="57150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1358" name="Freeform 127"/>
            <p:cNvSpPr>
              <a:spLocks noChangeArrowheads="1"/>
            </p:cNvSpPr>
            <p:nvPr/>
          </p:nvSpPr>
          <p:spPr bwMode="auto">
            <a:xfrm flipH="1">
              <a:off x="6414823" y="5156201"/>
              <a:ext cx="369756" cy="284163"/>
            </a:xfrm>
            <a:custGeom>
              <a:avLst/>
              <a:gdLst>
                <a:gd name="T0" fmla="*/ 0 w 249"/>
                <a:gd name="T1" fmla="*/ 176 h 176"/>
                <a:gd name="T2" fmla="*/ 1 w 249"/>
                <a:gd name="T3" fmla="*/ 0 h 176"/>
                <a:gd name="T4" fmla="*/ 249 w 249"/>
                <a:gd name="T5" fmla="*/ 9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9" h="176">
                  <a:moveTo>
                    <a:pt x="0" y="176"/>
                  </a:moveTo>
                  <a:lnTo>
                    <a:pt x="1" y="0"/>
                  </a:lnTo>
                  <a:lnTo>
                    <a:pt x="249" y="9"/>
                  </a:lnTo>
                </a:path>
              </a:pathLst>
            </a:cu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1359" name="Freeform 128"/>
            <p:cNvSpPr>
              <a:spLocks noChangeArrowheads="1"/>
            </p:cNvSpPr>
            <p:nvPr/>
          </p:nvSpPr>
          <p:spPr bwMode="auto">
            <a:xfrm flipH="1">
              <a:off x="3503216" y="5162550"/>
              <a:ext cx="459184" cy="279400"/>
            </a:xfrm>
            <a:custGeom>
              <a:avLst/>
              <a:gdLst>
                <a:gd name="T0" fmla="*/ 0 w 249"/>
                <a:gd name="T1" fmla="*/ 176 h 176"/>
                <a:gd name="T2" fmla="*/ 1 w 249"/>
                <a:gd name="T3" fmla="*/ 0 h 176"/>
                <a:gd name="T4" fmla="*/ 249 w 249"/>
                <a:gd name="T5" fmla="*/ 9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9" h="176">
                  <a:moveTo>
                    <a:pt x="0" y="176"/>
                  </a:moveTo>
                  <a:lnTo>
                    <a:pt x="1" y="0"/>
                  </a:lnTo>
                  <a:lnTo>
                    <a:pt x="249" y="9"/>
                  </a:lnTo>
                </a:path>
              </a:pathLst>
            </a:cu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1360" name="Text Box 129"/>
            <p:cNvSpPr txBox="1">
              <a:spLocks noChangeArrowheads="1"/>
            </p:cNvSpPr>
            <p:nvPr/>
          </p:nvSpPr>
          <p:spPr bwMode="auto">
            <a:xfrm>
              <a:off x="5652956" y="2862263"/>
              <a:ext cx="119295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路由器 </a:t>
              </a:r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R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2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grpSp>
          <p:nvGrpSpPr>
            <p:cNvPr id="781361" name="Group 139"/>
            <p:cNvGrpSpPr>
              <a:grpSpLocks/>
            </p:cNvGrpSpPr>
            <p:nvPr/>
          </p:nvGrpSpPr>
          <p:grpSpPr bwMode="auto">
            <a:xfrm>
              <a:off x="660400" y="5592763"/>
              <a:ext cx="2146300" cy="381000"/>
              <a:chOff x="480" y="3120"/>
              <a:chExt cx="1248" cy="240"/>
            </a:xfrm>
          </p:grpSpPr>
          <p:sp>
            <p:nvSpPr>
              <p:cNvPr id="781362" name="Rectangle 140"/>
              <p:cNvSpPr>
                <a:spLocks noChangeArrowheads="1"/>
              </p:cNvSpPr>
              <p:nvPr/>
            </p:nvSpPr>
            <p:spPr bwMode="auto">
              <a:xfrm>
                <a:off x="480" y="3120"/>
                <a:ext cx="1056" cy="240"/>
              </a:xfrm>
              <a:prstGeom prst="rect">
                <a:avLst/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从 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HA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1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 </a:t>
                </a:r>
                <a:r>
                  <a: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到 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HA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3</a:t>
                </a:r>
              </a:p>
            </p:txBody>
          </p:sp>
          <p:sp>
            <p:nvSpPr>
              <p:cNvPr id="781363" name="AutoShape 141"/>
              <p:cNvSpPr>
                <a:spLocks noChangeArrowheads="1"/>
              </p:cNvSpPr>
              <p:nvPr/>
            </p:nvSpPr>
            <p:spPr bwMode="auto">
              <a:xfrm>
                <a:off x="1536" y="3168"/>
                <a:ext cx="192" cy="144"/>
              </a:xfrm>
              <a:prstGeom prst="rightArrow">
                <a:avLst>
                  <a:gd name="adj1" fmla="val 50000"/>
                  <a:gd name="adj2" fmla="val 54167"/>
                </a:avLst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781364" name="Group 142"/>
            <p:cNvGrpSpPr>
              <a:grpSpLocks/>
            </p:cNvGrpSpPr>
            <p:nvPr/>
          </p:nvGrpSpPr>
          <p:grpSpPr bwMode="auto">
            <a:xfrm>
              <a:off x="3797300" y="5592763"/>
              <a:ext cx="2146300" cy="381000"/>
              <a:chOff x="480" y="3120"/>
              <a:chExt cx="1248" cy="240"/>
            </a:xfrm>
          </p:grpSpPr>
          <p:sp>
            <p:nvSpPr>
              <p:cNvPr id="781365" name="Rectangle 143"/>
              <p:cNvSpPr>
                <a:spLocks noChangeArrowheads="1"/>
              </p:cNvSpPr>
              <p:nvPr/>
            </p:nvSpPr>
            <p:spPr bwMode="auto">
              <a:xfrm>
                <a:off x="480" y="3120"/>
                <a:ext cx="1056" cy="240"/>
              </a:xfrm>
              <a:prstGeom prst="rect">
                <a:avLst/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从 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HA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4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 </a:t>
                </a:r>
                <a:r>
                  <a: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到 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HA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5</a:t>
                </a:r>
              </a:p>
            </p:txBody>
          </p:sp>
          <p:sp>
            <p:nvSpPr>
              <p:cNvPr id="781366" name="AutoShape 144"/>
              <p:cNvSpPr>
                <a:spLocks noChangeArrowheads="1"/>
              </p:cNvSpPr>
              <p:nvPr/>
            </p:nvSpPr>
            <p:spPr bwMode="auto">
              <a:xfrm>
                <a:off x="1536" y="3168"/>
                <a:ext cx="192" cy="144"/>
              </a:xfrm>
              <a:prstGeom prst="rightArrow">
                <a:avLst>
                  <a:gd name="adj1" fmla="val 50000"/>
                  <a:gd name="adj2" fmla="val 54167"/>
                </a:avLst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781367" name="Group 145"/>
            <p:cNvGrpSpPr>
              <a:grpSpLocks/>
            </p:cNvGrpSpPr>
            <p:nvPr/>
          </p:nvGrpSpPr>
          <p:grpSpPr bwMode="auto">
            <a:xfrm>
              <a:off x="6934200" y="5592763"/>
              <a:ext cx="2146300" cy="381000"/>
              <a:chOff x="480" y="3120"/>
              <a:chExt cx="1248" cy="240"/>
            </a:xfrm>
          </p:grpSpPr>
          <p:sp>
            <p:nvSpPr>
              <p:cNvPr id="781368" name="Rectangle 146"/>
              <p:cNvSpPr>
                <a:spLocks noChangeArrowheads="1"/>
              </p:cNvSpPr>
              <p:nvPr/>
            </p:nvSpPr>
            <p:spPr bwMode="auto">
              <a:xfrm>
                <a:off x="480" y="3120"/>
                <a:ext cx="1056" cy="240"/>
              </a:xfrm>
              <a:prstGeom prst="rect">
                <a:avLst/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从 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HA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6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 </a:t>
                </a:r>
                <a:r>
                  <a: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到 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HA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2</a:t>
                </a:r>
              </a:p>
            </p:txBody>
          </p:sp>
          <p:sp>
            <p:nvSpPr>
              <p:cNvPr id="781369" name="AutoShape 147"/>
              <p:cNvSpPr>
                <a:spLocks noChangeArrowheads="1"/>
              </p:cNvSpPr>
              <p:nvPr/>
            </p:nvSpPr>
            <p:spPr bwMode="auto">
              <a:xfrm>
                <a:off x="1536" y="3168"/>
                <a:ext cx="192" cy="144"/>
              </a:xfrm>
              <a:prstGeom prst="rightArrow">
                <a:avLst>
                  <a:gd name="adj1" fmla="val 50000"/>
                  <a:gd name="adj2" fmla="val 54167"/>
                </a:avLst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781370" name="Text Box 148"/>
            <p:cNvSpPr txBox="1">
              <a:spLocks noChangeArrowheads="1"/>
            </p:cNvSpPr>
            <p:nvPr/>
          </p:nvSpPr>
          <p:spPr bwMode="auto">
            <a:xfrm>
              <a:off x="7429500" y="6018213"/>
              <a:ext cx="100700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MAC </a:t>
              </a:r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帧</a:t>
              </a:r>
            </a:p>
          </p:txBody>
        </p:sp>
        <p:sp>
          <p:nvSpPr>
            <p:cNvPr id="781371" name="Text Box 149"/>
            <p:cNvSpPr txBox="1">
              <a:spLocks noChangeArrowheads="1"/>
            </p:cNvSpPr>
            <p:nvPr/>
          </p:nvSpPr>
          <p:spPr bwMode="auto">
            <a:xfrm>
              <a:off x="4308079" y="6018213"/>
              <a:ext cx="100700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MAC </a:t>
              </a:r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帧</a:t>
              </a:r>
            </a:p>
          </p:txBody>
        </p:sp>
      </p:grpSp>
      <p:grpSp>
        <p:nvGrpSpPr>
          <p:cNvPr id="4" name="组合 3"/>
          <p:cNvGrpSpPr>
            <a:grpSpLocks/>
          </p:cNvGrpSpPr>
          <p:nvPr/>
        </p:nvGrpSpPr>
        <p:grpSpPr bwMode="auto">
          <a:xfrm>
            <a:off x="1238250" y="3154363"/>
            <a:ext cx="7346950" cy="381000"/>
            <a:chOff x="1238250" y="3154363"/>
            <a:chExt cx="7346950" cy="381000"/>
          </a:xfrm>
        </p:grpSpPr>
        <p:grpSp>
          <p:nvGrpSpPr>
            <p:cNvPr id="781373" name="Group 130"/>
            <p:cNvGrpSpPr>
              <a:grpSpLocks/>
            </p:cNvGrpSpPr>
            <p:nvPr/>
          </p:nvGrpSpPr>
          <p:grpSpPr bwMode="auto">
            <a:xfrm>
              <a:off x="1238250" y="3154363"/>
              <a:ext cx="1568450" cy="381000"/>
              <a:chOff x="1632" y="2688"/>
              <a:chExt cx="912" cy="240"/>
            </a:xfrm>
          </p:grpSpPr>
          <p:sp>
            <p:nvSpPr>
              <p:cNvPr id="781374" name="Rectangle 131"/>
              <p:cNvSpPr>
                <a:spLocks noChangeArrowheads="1"/>
              </p:cNvSpPr>
              <p:nvPr/>
            </p:nvSpPr>
            <p:spPr bwMode="auto">
              <a:xfrm>
                <a:off x="1632" y="2688"/>
                <a:ext cx="720" cy="240"/>
              </a:xfrm>
              <a:prstGeom prst="rect">
                <a:avLst/>
              </a:prstGeom>
              <a:solidFill>
                <a:srgbClr val="FF99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  IP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1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 → IP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2</a:t>
                </a:r>
              </a:p>
            </p:txBody>
          </p:sp>
          <p:sp>
            <p:nvSpPr>
              <p:cNvPr id="781375" name="AutoShape 132"/>
              <p:cNvSpPr>
                <a:spLocks noChangeArrowheads="1"/>
              </p:cNvSpPr>
              <p:nvPr/>
            </p:nvSpPr>
            <p:spPr bwMode="auto">
              <a:xfrm>
                <a:off x="2352" y="2736"/>
                <a:ext cx="192" cy="144"/>
              </a:xfrm>
              <a:prstGeom prst="rightArrow">
                <a:avLst>
                  <a:gd name="adj1" fmla="val 50000"/>
                  <a:gd name="adj2" fmla="val 54167"/>
                </a:avLst>
              </a:prstGeom>
              <a:solidFill>
                <a:srgbClr val="FF99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781376" name="Group 133"/>
            <p:cNvGrpSpPr>
              <a:grpSpLocks/>
            </p:cNvGrpSpPr>
            <p:nvPr/>
          </p:nvGrpSpPr>
          <p:grpSpPr bwMode="auto">
            <a:xfrm>
              <a:off x="4044950" y="3154363"/>
              <a:ext cx="1568450" cy="381000"/>
              <a:chOff x="1632" y="2688"/>
              <a:chExt cx="912" cy="240"/>
            </a:xfrm>
          </p:grpSpPr>
          <p:sp>
            <p:nvSpPr>
              <p:cNvPr id="781377" name="Rectangle 134"/>
              <p:cNvSpPr>
                <a:spLocks noChangeArrowheads="1"/>
              </p:cNvSpPr>
              <p:nvPr/>
            </p:nvSpPr>
            <p:spPr bwMode="auto">
              <a:xfrm>
                <a:off x="1632" y="2688"/>
                <a:ext cx="720" cy="240"/>
              </a:xfrm>
              <a:prstGeom prst="rect">
                <a:avLst/>
              </a:prstGeom>
              <a:solidFill>
                <a:srgbClr val="FF99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IP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1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 → IP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2</a:t>
                </a:r>
              </a:p>
            </p:txBody>
          </p:sp>
          <p:sp>
            <p:nvSpPr>
              <p:cNvPr id="781378" name="AutoShape 135"/>
              <p:cNvSpPr>
                <a:spLocks noChangeArrowheads="1"/>
              </p:cNvSpPr>
              <p:nvPr/>
            </p:nvSpPr>
            <p:spPr bwMode="auto">
              <a:xfrm>
                <a:off x="2352" y="2736"/>
                <a:ext cx="192" cy="144"/>
              </a:xfrm>
              <a:prstGeom prst="rightArrow">
                <a:avLst>
                  <a:gd name="adj1" fmla="val 50000"/>
                  <a:gd name="adj2" fmla="val 54167"/>
                </a:avLst>
              </a:prstGeom>
              <a:solidFill>
                <a:srgbClr val="FF99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781379" name="Group 136"/>
            <p:cNvGrpSpPr>
              <a:grpSpLocks/>
            </p:cNvGrpSpPr>
            <p:nvPr/>
          </p:nvGrpSpPr>
          <p:grpSpPr bwMode="auto">
            <a:xfrm>
              <a:off x="7016750" y="3154363"/>
              <a:ext cx="1568450" cy="381000"/>
              <a:chOff x="1632" y="2688"/>
              <a:chExt cx="912" cy="240"/>
            </a:xfrm>
          </p:grpSpPr>
          <p:sp>
            <p:nvSpPr>
              <p:cNvPr id="781380" name="Rectangle 137"/>
              <p:cNvSpPr>
                <a:spLocks noChangeArrowheads="1"/>
              </p:cNvSpPr>
              <p:nvPr/>
            </p:nvSpPr>
            <p:spPr bwMode="auto">
              <a:xfrm>
                <a:off x="1632" y="2688"/>
                <a:ext cx="720" cy="240"/>
              </a:xfrm>
              <a:prstGeom prst="rect">
                <a:avLst/>
              </a:prstGeom>
              <a:solidFill>
                <a:srgbClr val="FF99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IP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1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 → IP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2</a:t>
                </a:r>
              </a:p>
            </p:txBody>
          </p:sp>
          <p:sp>
            <p:nvSpPr>
              <p:cNvPr id="781381" name="AutoShape 138"/>
              <p:cNvSpPr>
                <a:spLocks noChangeArrowheads="1"/>
              </p:cNvSpPr>
              <p:nvPr/>
            </p:nvSpPr>
            <p:spPr bwMode="auto">
              <a:xfrm>
                <a:off x="2352" y="2736"/>
                <a:ext cx="192" cy="144"/>
              </a:xfrm>
              <a:prstGeom prst="rightArrow">
                <a:avLst>
                  <a:gd name="adj1" fmla="val 50000"/>
                  <a:gd name="adj2" fmla="val 54167"/>
                </a:avLst>
              </a:prstGeom>
              <a:solidFill>
                <a:srgbClr val="FF99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</p:grpSp>
      </p:grpSp>
      <p:grpSp>
        <p:nvGrpSpPr>
          <p:cNvPr id="781382" name="组合 4"/>
          <p:cNvGrpSpPr>
            <a:grpSpLocks/>
          </p:cNvGrpSpPr>
          <p:nvPr/>
        </p:nvGrpSpPr>
        <p:grpSpPr bwMode="auto">
          <a:xfrm>
            <a:off x="2228850" y="2292350"/>
            <a:ext cx="1320800" cy="393700"/>
            <a:chOff x="2228850" y="2292351"/>
            <a:chExt cx="1320800" cy="393144"/>
          </a:xfrm>
        </p:grpSpPr>
        <p:sp>
          <p:nvSpPr>
            <p:cNvPr id="781383" name="AutoShape 150"/>
            <p:cNvSpPr>
              <a:spLocks noChangeArrowheads="1"/>
            </p:cNvSpPr>
            <p:nvPr/>
          </p:nvSpPr>
          <p:spPr bwMode="auto">
            <a:xfrm flipV="1">
              <a:off x="2228850" y="2292351"/>
              <a:ext cx="1320800" cy="377825"/>
            </a:xfrm>
            <a:prstGeom prst="wedgeRoundRectCallout">
              <a:avLst>
                <a:gd name="adj1" fmla="val -75782"/>
                <a:gd name="adj2" fmla="val -203782"/>
                <a:gd name="adj3" fmla="val 16667"/>
              </a:avLst>
            </a:prstGeom>
            <a:solidFill>
              <a:srgbClr val="66FF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pPr algn="ctr" eaLnBrk="0" hangingPunct="0"/>
              <a:endParaRPr lang="zh-CN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1384" name="Text Box 151"/>
            <p:cNvSpPr txBox="1">
              <a:spLocks noChangeArrowheads="1"/>
            </p:cNvSpPr>
            <p:nvPr/>
          </p:nvSpPr>
          <p:spPr bwMode="auto">
            <a:xfrm>
              <a:off x="2270125" y="2316163"/>
              <a:ext cx="115993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IP </a:t>
              </a:r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数据报</a:t>
              </a:r>
            </a:p>
          </p:txBody>
        </p:sp>
      </p:grpSp>
      <p:sp>
        <p:nvSpPr>
          <p:cNvPr id="781385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54F4AB0-74B1-435F-A12D-1A10AD80B0D5}" type="slidenum">
              <a:rPr lang="zh-CN" altLang="en-US" smtClean="0"/>
              <a:pPr eaLnBrk="1" hangingPunct="1"/>
              <a:t>9</a:t>
            </a:fld>
            <a:endParaRPr lang="en-US" altLang="zh-CN" smtClean="0"/>
          </a:p>
        </p:txBody>
      </p:sp>
      <p:sp>
        <p:nvSpPr>
          <p:cNvPr id="781386" name="页脚占位符 7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4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361" name="Rectangle 111"/>
          <p:cNvSpPr>
            <a:spLocks noChangeArrowheads="1"/>
          </p:cNvSpPr>
          <p:nvPr/>
        </p:nvSpPr>
        <p:spPr bwMode="auto">
          <a:xfrm>
            <a:off x="0" y="0"/>
            <a:ext cx="9906000" cy="1989138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783362" name="Text Box 112"/>
          <p:cNvSpPr txBox="1">
            <a:spLocks noChangeArrowheads="1"/>
          </p:cNvSpPr>
          <p:nvPr/>
        </p:nvSpPr>
        <p:spPr bwMode="auto">
          <a:xfrm>
            <a:off x="438150" y="849313"/>
            <a:ext cx="9110663" cy="558800"/>
          </a:xfrm>
          <a:prstGeom prst="rect">
            <a:avLst/>
          </a:prstGeom>
          <a:solidFill>
            <a:srgbClr val="CCECFF"/>
          </a:solidFill>
          <a:ln w="9525">
            <a:solidFill>
              <a:srgbClr val="333399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>
              <a:lnSpc>
                <a:spcPct val="120000"/>
              </a:lnSpc>
            </a:pPr>
            <a:r>
              <a:rPr lang="zh-CN" altLang="en-US" sz="2800" b="1">
                <a:solidFill>
                  <a:srgbClr val="000099"/>
                </a:solidFill>
                <a:ea typeface="黑体" panose="02010609060101010101" pitchFamily="49" charset="-122"/>
              </a:rPr>
              <a:t>路由器只根据目的站的 </a:t>
            </a:r>
            <a:r>
              <a:rPr lang="en-US" altLang="zh-CN" sz="2800" b="1">
                <a:solidFill>
                  <a:srgbClr val="000099"/>
                </a:solidFill>
                <a:ea typeface="黑体" panose="02010609060101010101" pitchFamily="49" charset="-122"/>
              </a:rPr>
              <a:t>IP </a:t>
            </a:r>
            <a:r>
              <a:rPr lang="zh-CN" altLang="en-US" sz="2800" b="1">
                <a:solidFill>
                  <a:srgbClr val="000099"/>
                </a:solidFill>
                <a:ea typeface="黑体" panose="02010609060101010101" pitchFamily="49" charset="-122"/>
              </a:rPr>
              <a:t>地址的网络号进行路由选择。 </a:t>
            </a:r>
          </a:p>
        </p:txBody>
      </p:sp>
      <p:grpSp>
        <p:nvGrpSpPr>
          <p:cNvPr id="783363" name="组合 2"/>
          <p:cNvGrpSpPr>
            <a:grpSpLocks/>
          </p:cNvGrpSpPr>
          <p:nvPr/>
        </p:nvGrpSpPr>
        <p:grpSpPr bwMode="auto">
          <a:xfrm>
            <a:off x="39688" y="2035175"/>
            <a:ext cx="9882187" cy="4352925"/>
            <a:chOff x="39556" y="2035176"/>
            <a:chExt cx="9881923" cy="4352369"/>
          </a:xfrm>
        </p:grpSpPr>
        <p:sp>
          <p:nvSpPr>
            <p:cNvPr id="783364" name="Freeform 77"/>
            <p:cNvSpPr>
              <a:spLocks noChangeArrowheads="1"/>
            </p:cNvSpPr>
            <p:nvPr/>
          </p:nvSpPr>
          <p:spPr bwMode="auto">
            <a:xfrm>
              <a:off x="2559050" y="5160963"/>
              <a:ext cx="428229" cy="279400"/>
            </a:xfrm>
            <a:custGeom>
              <a:avLst/>
              <a:gdLst>
                <a:gd name="T0" fmla="*/ 0 w 249"/>
                <a:gd name="T1" fmla="*/ 176 h 176"/>
                <a:gd name="T2" fmla="*/ 1 w 249"/>
                <a:gd name="T3" fmla="*/ 0 h 176"/>
                <a:gd name="T4" fmla="*/ 249 w 249"/>
                <a:gd name="T5" fmla="*/ 9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9" h="176">
                  <a:moveTo>
                    <a:pt x="0" y="176"/>
                  </a:moveTo>
                  <a:lnTo>
                    <a:pt x="1" y="0"/>
                  </a:lnTo>
                  <a:lnTo>
                    <a:pt x="249" y="9"/>
                  </a:lnTo>
                </a:path>
              </a:pathLst>
            </a:cu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3365" name="Freeform 78"/>
            <p:cNvSpPr>
              <a:spLocks noChangeArrowheads="1"/>
            </p:cNvSpPr>
            <p:nvPr/>
          </p:nvSpPr>
          <p:spPr bwMode="auto">
            <a:xfrm>
              <a:off x="5364031" y="5159375"/>
              <a:ext cx="428228" cy="279400"/>
            </a:xfrm>
            <a:custGeom>
              <a:avLst/>
              <a:gdLst>
                <a:gd name="T0" fmla="*/ 0 w 249"/>
                <a:gd name="T1" fmla="*/ 176 h 176"/>
                <a:gd name="T2" fmla="*/ 1 w 249"/>
                <a:gd name="T3" fmla="*/ 0 h 176"/>
                <a:gd name="T4" fmla="*/ 249 w 249"/>
                <a:gd name="T5" fmla="*/ 9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9" h="176">
                  <a:moveTo>
                    <a:pt x="0" y="176"/>
                  </a:moveTo>
                  <a:lnTo>
                    <a:pt x="1" y="0"/>
                  </a:lnTo>
                  <a:lnTo>
                    <a:pt x="249" y="9"/>
                  </a:lnTo>
                </a:path>
              </a:pathLst>
            </a:cu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3366" name="Line 79"/>
            <p:cNvSpPr>
              <a:spLocks noChangeShapeType="1"/>
            </p:cNvSpPr>
            <p:nvPr/>
          </p:nvSpPr>
          <p:spPr bwMode="auto">
            <a:xfrm rot="-5400000">
              <a:off x="8812081" y="5171943"/>
              <a:ext cx="533400" cy="344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3367" name="Line 80"/>
            <p:cNvSpPr>
              <a:spLocks noChangeShapeType="1"/>
            </p:cNvSpPr>
            <p:nvPr/>
          </p:nvSpPr>
          <p:spPr bwMode="auto">
            <a:xfrm rot="-5400000">
              <a:off x="230320" y="5171943"/>
              <a:ext cx="533400" cy="344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3368" name="AutoShape 81"/>
            <p:cNvSpPr>
              <a:spLocks noChangeArrowheads="1"/>
            </p:cNvSpPr>
            <p:nvPr/>
          </p:nvSpPr>
          <p:spPr bwMode="auto">
            <a:xfrm>
              <a:off x="247650" y="3306763"/>
              <a:ext cx="742950" cy="1905000"/>
            </a:xfrm>
            <a:prstGeom prst="cube">
              <a:avLst>
                <a:gd name="adj" fmla="val 25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3369" name="AutoShape 82"/>
            <p:cNvSpPr>
              <a:spLocks noChangeArrowheads="1"/>
            </p:cNvSpPr>
            <p:nvPr/>
          </p:nvSpPr>
          <p:spPr bwMode="auto">
            <a:xfrm>
              <a:off x="2889250" y="3382963"/>
              <a:ext cx="742950" cy="1905000"/>
            </a:xfrm>
            <a:prstGeom prst="cube">
              <a:avLst>
                <a:gd name="adj" fmla="val 25000"/>
              </a:avLst>
            </a:prstGeom>
            <a:solidFill>
              <a:srgbClr val="66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3370" name="AutoShape 83"/>
            <p:cNvSpPr>
              <a:spLocks noChangeArrowheads="1"/>
            </p:cNvSpPr>
            <p:nvPr/>
          </p:nvSpPr>
          <p:spPr bwMode="auto">
            <a:xfrm>
              <a:off x="8832850" y="3306763"/>
              <a:ext cx="742950" cy="1905000"/>
            </a:xfrm>
            <a:prstGeom prst="cube">
              <a:avLst>
                <a:gd name="adj" fmla="val 25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3371" name="AutoShape 84"/>
            <p:cNvSpPr>
              <a:spLocks noChangeArrowheads="1"/>
            </p:cNvSpPr>
            <p:nvPr/>
          </p:nvSpPr>
          <p:spPr bwMode="auto">
            <a:xfrm>
              <a:off x="5776781" y="3611563"/>
              <a:ext cx="742950" cy="1676400"/>
            </a:xfrm>
            <a:prstGeom prst="cube">
              <a:avLst>
                <a:gd name="adj" fmla="val 25000"/>
              </a:avLst>
            </a:prstGeom>
            <a:solidFill>
              <a:srgbClr val="66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grpSp>
          <p:nvGrpSpPr>
            <p:cNvPr id="89" name="Group 85"/>
            <p:cNvGrpSpPr/>
            <p:nvPr/>
          </p:nvGrpSpPr>
          <p:grpSpPr bwMode="auto">
            <a:xfrm>
              <a:off x="39556" y="2420938"/>
              <a:ext cx="9881923" cy="2438400"/>
              <a:chOff x="96" y="1056"/>
              <a:chExt cx="5472" cy="1536"/>
            </a:xfrm>
            <a:solidFill>
              <a:srgbClr val="FFFF66"/>
            </a:solidFill>
          </p:grpSpPr>
          <p:sp>
            <p:nvSpPr>
              <p:cNvPr id="148" name="Oval 86"/>
              <p:cNvSpPr>
                <a:spLocks noChangeArrowheads="1"/>
              </p:cNvSpPr>
              <p:nvPr/>
            </p:nvSpPr>
            <p:spPr bwMode="auto">
              <a:xfrm>
                <a:off x="3662" y="1674"/>
                <a:ext cx="1906" cy="756"/>
              </a:xfrm>
              <a:prstGeom prst="ellipse">
                <a:avLst/>
              </a:prstGeom>
              <a:grpFill/>
              <a:ln w="317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149" name="Oval 87"/>
              <p:cNvSpPr>
                <a:spLocks noChangeArrowheads="1"/>
              </p:cNvSpPr>
              <p:nvPr/>
            </p:nvSpPr>
            <p:spPr bwMode="auto">
              <a:xfrm>
                <a:off x="96" y="1430"/>
                <a:ext cx="1870" cy="760"/>
              </a:xfrm>
              <a:prstGeom prst="ellipse">
                <a:avLst/>
              </a:prstGeom>
              <a:grpFill/>
              <a:ln w="317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150" name="Oval 88"/>
              <p:cNvSpPr>
                <a:spLocks noChangeArrowheads="1"/>
              </p:cNvSpPr>
              <p:nvPr/>
            </p:nvSpPr>
            <p:spPr bwMode="auto">
              <a:xfrm>
                <a:off x="3365" y="1163"/>
                <a:ext cx="1903" cy="731"/>
              </a:xfrm>
              <a:prstGeom prst="ellipse">
                <a:avLst/>
              </a:prstGeom>
              <a:grpFill/>
              <a:ln w="317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151" name="Oval 89"/>
              <p:cNvSpPr>
                <a:spLocks noChangeArrowheads="1"/>
              </p:cNvSpPr>
              <p:nvPr/>
            </p:nvSpPr>
            <p:spPr bwMode="auto">
              <a:xfrm>
                <a:off x="2365" y="1821"/>
                <a:ext cx="1900" cy="771"/>
              </a:xfrm>
              <a:prstGeom prst="ellipse">
                <a:avLst/>
              </a:prstGeom>
              <a:grpFill/>
              <a:ln w="317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152" name="Oval 90"/>
              <p:cNvSpPr>
                <a:spLocks noChangeArrowheads="1"/>
              </p:cNvSpPr>
              <p:nvPr/>
            </p:nvSpPr>
            <p:spPr bwMode="auto">
              <a:xfrm>
                <a:off x="729" y="1752"/>
                <a:ext cx="1900" cy="731"/>
              </a:xfrm>
              <a:prstGeom prst="ellipse">
                <a:avLst/>
              </a:prstGeom>
              <a:grpFill/>
              <a:ln w="317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153" name="Oval 91"/>
              <p:cNvSpPr>
                <a:spLocks noChangeArrowheads="1"/>
              </p:cNvSpPr>
              <p:nvPr/>
            </p:nvSpPr>
            <p:spPr bwMode="auto">
              <a:xfrm>
                <a:off x="2197" y="1056"/>
                <a:ext cx="1870" cy="758"/>
              </a:xfrm>
              <a:prstGeom prst="ellipse">
                <a:avLst/>
              </a:prstGeom>
              <a:grpFill/>
              <a:ln w="317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154" name="Oval 92"/>
              <p:cNvSpPr>
                <a:spLocks noChangeArrowheads="1"/>
              </p:cNvSpPr>
              <p:nvPr/>
            </p:nvSpPr>
            <p:spPr bwMode="auto">
              <a:xfrm>
                <a:off x="996" y="1056"/>
                <a:ext cx="1867" cy="731"/>
              </a:xfrm>
              <a:prstGeom prst="ellipse">
                <a:avLst/>
              </a:prstGeom>
              <a:grpFill/>
              <a:ln w="317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155" name="Oval 93"/>
              <p:cNvSpPr>
                <a:spLocks noChangeArrowheads="1"/>
              </p:cNvSpPr>
              <p:nvPr/>
            </p:nvSpPr>
            <p:spPr bwMode="auto">
              <a:xfrm>
                <a:off x="597" y="1226"/>
                <a:ext cx="4536" cy="106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</p:grpSp>
        <p:sp>
          <p:nvSpPr>
            <p:cNvPr id="783373" name="Line 94"/>
            <p:cNvSpPr>
              <a:spLocks noChangeShapeType="1"/>
            </p:cNvSpPr>
            <p:nvPr/>
          </p:nvSpPr>
          <p:spPr bwMode="auto">
            <a:xfrm>
              <a:off x="165100" y="5440363"/>
              <a:ext cx="2806700" cy="0"/>
            </a:xfrm>
            <a:prstGeom prst="line">
              <a:avLst/>
            </a:prstGeom>
            <a:noFill/>
            <a:ln w="57150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grpSp>
          <p:nvGrpSpPr>
            <p:cNvPr id="783374" name="Group 95"/>
            <p:cNvGrpSpPr>
              <a:grpSpLocks/>
            </p:cNvGrpSpPr>
            <p:nvPr/>
          </p:nvGrpSpPr>
          <p:grpSpPr bwMode="auto">
            <a:xfrm>
              <a:off x="247650" y="2420938"/>
              <a:ext cx="742950" cy="1447800"/>
              <a:chOff x="672" y="528"/>
              <a:chExt cx="432" cy="912"/>
            </a:xfrm>
          </p:grpSpPr>
          <p:sp>
            <p:nvSpPr>
              <p:cNvPr id="783375" name="AutoShape 96"/>
              <p:cNvSpPr>
                <a:spLocks noChangeArrowheads="1"/>
              </p:cNvSpPr>
              <p:nvPr/>
            </p:nvSpPr>
            <p:spPr bwMode="auto">
              <a:xfrm>
                <a:off x="672" y="1008"/>
                <a:ext cx="432" cy="432"/>
              </a:xfrm>
              <a:prstGeom prst="cube">
                <a:avLst>
                  <a:gd name="adj" fmla="val 25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783376" name="AutoShape 97"/>
              <p:cNvSpPr>
                <a:spLocks noChangeArrowheads="1"/>
              </p:cNvSpPr>
              <p:nvPr/>
            </p:nvSpPr>
            <p:spPr bwMode="auto">
              <a:xfrm>
                <a:off x="672" y="720"/>
                <a:ext cx="432" cy="432"/>
              </a:xfrm>
              <a:prstGeom prst="cube">
                <a:avLst>
                  <a:gd name="adj" fmla="val 25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783377" name="AutoShape 98"/>
              <p:cNvSpPr>
                <a:spLocks noChangeArrowheads="1"/>
              </p:cNvSpPr>
              <p:nvPr/>
            </p:nvSpPr>
            <p:spPr bwMode="auto">
              <a:xfrm>
                <a:off x="672" y="528"/>
                <a:ext cx="432" cy="432"/>
              </a:xfrm>
              <a:prstGeom prst="cube">
                <a:avLst>
                  <a:gd name="adj" fmla="val 25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783378" name="Text Box 99"/>
            <p:cNvSpPr txBox="1">
              <a:spLocks noChangeArrowheads="1"/>
            </p:cNvSpPr>
            <p:nvPr/>
          </p:nvSpPr>
          <p:spPr bwMode="auto">
            <a:xfrm>
              <a:off x="287206" y="3430588"/>
              <a:ext cx="49564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IP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1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3379" name="Text Box 100"/>
            <p:cNvSpPr txBox="1">
              <a:spLocks noChangeArrowheads="1"/>
            </p:cNvSpPr>
            <p:nvPr/>
          </p:nvSpPr>
          <p:spPr bwMode="auto">
            <a:xfrm>
              <a:off x="233892" y="4849813"/>
              <a:ext cx="6030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HA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1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3380" name="Text Box 101"/>
            <p:cNvSpPr txBox="1">
              <a:spLocks noChangeArrowheads="1"/>
            </p:cNvSpPr>
            <p:nvPr/>
          </p:nvSpPr>
          <p:spPr bwMode="auto">
            <a:xfrm>
              <a:off x="5226448" y="4811713"/>
              <a:ext cx="6030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HA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5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3381" name="Text Box 102"/>
            <p:cNvSpPr txBox="1">
              <a:spLocks noChangeArrowheads="1"/>
            </p:cNvSpPr>
            <p:nvPr/>
          </p:nvSpPr>
          <p:spPr bwMode="auto">
            <a:xfrm>
              <a:off x="3604683" y="4805363"/>
              <a:ext cx="6030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HA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4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3382" name="Text Box 103"/>
            <p:cNvSpPr txBox="1">
              <a:spLocks noChangeArrowheads="1"/>
            </p:cNvSpPr>
            <p:nvPr/>
          </p:nvSpPr>
          <p:spPr bwMode="auto">
            <a:xfrm>
              <a:off x="2311400" y="4805363"/>
              <a:ext cx="6030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HA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3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3383" name="Line 104"/>
            <p:cNvSpPr>
              <a:spLocks noChangeShapeType="1"/>
            </p:cNvSpPr>
            <p:nvPr/>
          </p:nvSpPr>
          <p:spPr bwMode="auto">
            <a:xfrm>
              <a:off x="908050" y="3611563"/>
              <a:ext cx="206375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3384" name="Line 105"/>
            <p:cNvSpPr>
              <a:spLocks noChangeShapeType="1"/>
            </p:cNvSpPr>
            <p:nvPr/>
          </p:nvSpPr>
          <p:spPr bwMode="auto">
            <a:xfrm>
              <a:off x="6438900" y="5440363"/>
              <a:ext cx="3219450" cy="0"/>
            </a:xfrm>
            <a:prstGeom prst="line">
              <a:avLst/>
            </a:prstGeom>
            <a:noFill/>
            <a:ln w="57150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3385" name="Text Box 106"/>
            <p:cNvSpPr txBox="1">
              <a:spLocks noChangeArrowheads="1"/>
            </p:cNvSpPr>
            <p:nvPr/>
          </p:nvSpPr>
          <p:spPr bwMode="auto">
            <a:xfrm>
              <a:off x="6507692" y="4799013"/>
              <a:ext cx="6030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HA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6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3386" name="Text Box 107"/>
            <p:cNvSpPr txBox="1">
              <a:spLocks noChangeArrowheads="1"/>
            </p:cNvSpPr>
            <p:nvPr/>
          </p:nvSpPr>
          <p:spPr bwMode="auto">
            <a:xfrm>
              <a:off x="8805333" y="4814888"/>
              <a:ext cx="6030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HA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2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3387" name="Text Box 108"/>
            <p:cNvSpPr txBox="1">
              <a:spLocks noChangeArrowheads="1"/>
            </p:cNvSpPr>
            <p:nvPr/>
          </p:nvSpPr>
          <p:spPr bwMode="auto">
            <a:xfrm>
              <a:off x="6507692" y="3709988"/>
              <a:ext cx="49564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IP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6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3388" name="Text Box 109"/>
            <p:cNvSpPr txBox="1">
              <a:spLocks noChangeArrowheads="1"/>
            </p:cNvSpPr>
            <p:nvPr/>
          </p:nvSpPr>
          <p:spPr bwMode="auto">
            <a:xfrm>
              <a:off x="116946" y="2060576"/>
              <a:ext cx="96212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主机 </a:t>
              </a:r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1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3389" name="Text Box 110"/>
            <p:cNvSpPr txBox="1">
              <a:spLocks noChangeArrowheads="1"/>
            </p:cNvSpPr>
            <p:nvPr/>
          </p:nvSpPr>
          <p:spPr bwMode="auto">
            <a:xfrm>
              <a:off x="8702146" y="2035176"/>
              <a:ext cx="96212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主机 </a:t>
              </a:r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2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3390" name="AutoShape 111"/>
            <p:cNvSpPr>
              <a:spLocks noChangeArrowheads="1"/>
            </p:cNvSpPr>
            <p:nvPr/>
          </p:nvSpPr>
          <p:spPr bwMode="auto">
            <a:xfrm>
              <a:off x="2889250" y="3259138"/>
              <a:ext cx="742950" cy="609600"/>
            </a:xfrm>
            <a:prstGeom prst="cube">
              <a:avLst>
                <a:gd name="adj" fmla="val 25000"/>
              </a:avLst>
            </a:prstGeom>
            <a:solidFill>
              <a:srgbClr val="66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3391" name="Text Box 112"/>
            <p:cNvSpPr txBox="1">
              <a:spLocks noChangeArrowheads="1"/>
            </p:cNvSpPr>
            <p:nvPr/>
          </p:nvSpPr>
          <p:spPr bwMode="auto">
            <a:xfrm>
              <a:off x="2834217" y="2887663"/>
              <a:ext cx="119295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路由器 </a:t>
              </a:r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R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1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3392" name="Text Box 113"/>
            <p:cNvSpPr txBox="1">
              <a:spLocks noChangeArrowheads="1"/>
            </p:cNvSpPr>
            <p:nvPr/>
          </p:nvSpPr>
          <p:spPr bwMode="auto">
            <a:xfrm>
              <a:off x="4485217" y="4186239"/>
              <a:ext cx="2410468" cy="461665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rgbClr val="333399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IP </a:t>
              </a:r>
              <a:r>
                <a:rPr lang="zh-CN" altLang="en-US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层上的互联网</a:t>
              </a:r>
            </a:p>
          </p:txBody>
        </p:sp>
        <p:sp>
          <p:nvSpPr>
            <p:cNvPr id="783393" name="Text Box 114"/>
            <p:cNvSpPr txBox="1">
              <a:spLocks noChangeArrowheads="1"/>
            </p:cNvSpPr>
            <p:nvPr/>
          </p:nvSpPr>
          <p:spPr bwMode="auto">
            <a:xfrm>
              <a:off x="1073150" y="5948363"/>
              <a:ext cx="100700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MAC </a:t>
              </a:r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帧</a:t>
              </a:r>
            </a:p>
          </p:txBody>
        </p:sp>
        <p:grpSp>
          <p:nvGrpSpPr>
            <p:cNvPr id="783394" name="Group 115"/>
            <p:cNvGrpSpPr>
              <a:grpSpLocks/>
            </p:cNvGrpSpPr>
            <p:nvPr/>
          </p:nvGrpSpPr>
          <p:grpSpPr bwMode="auto">
            <a:xfrm>
              <a:off x="8832850" y="2420938"/>
              <a:ext cx="742950" cy="1447800"/>
              <a:chOff x="672" y="528"/>
              <a:chExt cx="432" cy="912"/>
            </a:xfrm>
          </p:grpSpPr>
          <p:sp>
            <p:nvSpPr>
              <p:cNvPr id="783395" name="AutoShape 116"/>
              <p:cNvSpPr>
                <a:spLocks noChangeArrowheads="1"/>
              </p:cNvSpPr>
              <p:nvPr/>
            </p:nvSpPr>
            <p:spPr bwMode="auto">
              <a:xfrm>
                <a:off x="672" y="1008"/>
                <a:ext cx="432" cy="432"/>
              </a:xfrm>
              <a:prstGeom prst="cube">
                <a:avLst>
                  <a:gd name="adj" fmla="val 25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783396" name="AutoShape 117"/>
              <p:cNvSpPr>
                <a:spLocks noChangeArrowheads="1"/>
              </p:cNvSpPr>
              <p:nvPr/>
            </p:nvSpPr>
            <p:spPr bwMode="auto">
              <a:xfrm>
                <a:off x="672" y="720"/>
                <a:ext cx="432" cy="432"/>
              </a:xfrm>
              <a:prstGeom prst="cube">
                <a:avLst>
                  <a:gd name="adj" fmla="val 25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783397" name="AutoShape 118"/>
              <p:cNvSpPr>
                <a:spLocks noChangeArrowheads="1"/>
              </p:cNvSpPr>
              <p:nvPr/>
            </p:nvSpPr>
            <p:spPr bwMode="auto">
              <a:xfrm>
                <a:off x="672" y="528"/>
                <a:ext cx="432" cy="432"/>
              </a:xfrm>
              <a:prstGeom prst="cube">
                <a:avLst>
                  <a:gd name="adj" fmla="val 25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783398" name="Text Box 119"/>
            <p:cNvSpPr txBox="1">
              <a:spLocks noChangeArrowheads="1"/>
            </p:cNvSpPr>
            <p:nvPr/>
          </p:nvSpPr>
          <p:spPr bwMode="auto">
            <a:xfrm>
              <a:off x="8886165" y="3435351"/>
              <a:ext cx="49564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IP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2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3399" name="Text Box 120"/>
            <p:cNvSpPr txBox="1">
              <a:spLocks noChangeArrowheads="1"/>
            </p:cNvSpPr>
            <p:nvPr/>
          </p:nvSpPr>
          <p:spPr bwMode="auto">
            <a:xfrm>
              <a:off x="3597804" y="3697288"/>
              <a:ext cx="49564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IP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4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3400" name="Text Box 121"/>
            <p:cNvSpPr txBox="1">
              <a:spLocks noChangeArrowheads="1"/>
            </p:cNvSpPr>
            <p:nvPr/>
          </p:nvSpPr>
          <p:spPr bwMode="auto">
            <a:xfrm>
              <a:off x="2476500" y="3697288"/>
              <a:ext cx="49564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IP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3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3401" name="Line 122"/>
            <p:cNvSpPr>
              <a:spLocks noChangeShapeType="1"/>
            </p:cNvSpPr>
            <p:nvPr/>
          </p:nvSpPr>
          <p:spPr bwMode="auto">
            <a:xfrm>
              <a:off x="3549650" y="3611563"/>
              <a:ext cx="222885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3402" name="AutoShape 123"/>
            <p:cNvSpPr>
              <a:spLocks noChangeArrowheads="1"/>
            </p:cNvSpPr>
            <p:nvPr/>
          </p:nvSpPr>
          <p:spPr bwMode="auto">
            <a:xfrm>
              <a:off x="5776781" y="3230563"/>
              <a:ext cx="742950" cy="609600"/>
            </a:xfrm>
            <a:prstGeom prst="cube">
              <a:avLst>
                <a:gd name="adj" fmla="val 25000"/>
              </a:avLst>
            </a:prstGeom>
            <a:solidFill>
              <a:srgbClr val="66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3403" name="Line 124"/>
            <p:cNvSpPr>
              <a:spLocks noChangeShapeType="1"/>
            </p:cNvSpPr>
            <p:nvPr/>
          </p:nvSpPr>
          <p:spPr bwMode="auto">
            <a:xfrm>
              <a:off x="6438900" y="3611563"/>
              <a:ext cx="239395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3404" name="Text Box 125"/>
            <p:cNvSpPr txBox="1">
              <a:spLocks noChangeArrowheads="1"/>
            </p:cNvSpPr>
            <p:nvPr/>
          </p:nvSpPr>
          <p:spPr bwMode="auto">
            <a:xfrm>
              <a:off x="5365750" y="3697288"/>
              <a:ext cx="49564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IP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5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3405" name="Line 126"/>
            <p:cNvSpPr>
              <a:spLocks noChangeShapeType="1"/>
            </p:cNvSpPr>
            <p:nvPr/>
          </p:nvSpPr>
          <p:spPr bwMode="auto">
            <a:xfrm>
              <a:off x="3632200" y="5440363"/>
              <a:ext cx="2063750" cy="0"/>
            </a:xfrm>
            <a:prstGeom prst="line">
              <a:avLst/>
            </a:prstGeom>
            <a:noFill/>
            <a:ln w="57150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3406" name="Freeform 127"/>
            <p:cNvSpPr>
              <a:spLocks noChangeArrowheads="1"/>
            </p:cNvSpPr>
            <p:nvPr/>
          </p:nvSpPr>
          <p:spPr bwMode="auto">
            <a:xfrm flipH="1">
              <a:off x="6414823" y="5156201"/>
              <a:ext cx="369756" cy="284163"/>
            </a:xfrm>
            <a:custGeom>
              <a:avLst/>
              <a:gdLst>
                <a:gd name="T0" fmla="*/ 0 w 249"/>
                <a:gd name="T1" fmla="*/ 176 h 176"/>
                <a:gd name="T2" fmla="*/ 1 w 249"/>
                <a:gd name="T3" fmla="*/ 0 h 176"/>
                <a:gd name="T4" fmla="*/ 249 w 249"/>
                <a:gd name="T5" fmla="*/ 9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9" h="176">
                  <a:moveTo>
                    <a:pt x="0" y="176"/>
                  </a:moveTo>
                  <a:lnTo>
                    <a:pt x="1" y="0"/>
                  </a:lnTo>
                  <a:lnTo>
                    <a:pt x="249" y="9"/>
                  </a:lnTo>
                </a:path>
              </a:pathLst>
            </a:cu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3407" name="Freeform 128"/>
            <p:cNvSpPr>
              <a:spLocks noChangeArrowheads="1"/>
            </p:cNvSpPr>
            <p:nvPr/>
          </p:nvSpPr>
          <p:spPr bwMode="auto">
            <a:xfrm flipH="1">
              <a:off x="3503216" y="5162550"/>
              <a:ext cx="459184" cy="279400"/>
            </a:xfrm>
            <a:custGeom>
              <a:avLst/>
              <a:gdLst>
                <a:gd name="T0" fmla="*/ 0 w 249"/>
                <a:gd name="T1" fmla="*/ 176 h 176"/>
                <a:gd name="T2" fmla="*/ 1 w 249"/>
                <a:gd name="T3" fmla="*/ 0 h 176"/>
                <a:gd name="T4" fmla="*/ 249 w 249"/>
                <a:gd name="T5" fmla="*/ 9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9" h="176">
                  <a:moveTo>
                    <a:pt x="0" y="176"/>
                  </a:moveTo>
                  <a:lnTo>
                    <a:pt x="1" y="0"/>
                  </a:lnTo>
                  <a:lnTo>
                    <a:pt x="249" y="9"/>
                  </a:lnTo>
                </a:path>
              </a:pathLst>
            </a:cu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3408" name="Text Box 129"/>
            <p:cNvSpPr txBox="1">
              <a:spLocks noChangeArrowheads="1"/>
            </p:cNvSpPr>
            <p:nvPr/>
          </p:nvSpPr>
          <p:spPr bwMode="auto">
            <a:xfrm>
              <a:off x="5652956" y="2862263"/>
              <a:ext cx="119295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路由器 </a:t>
              </a:r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R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2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grpSp>
          <p:nvGrpSpPr>
            <p:cNvPr id="783409" name="Group 139"/>
            <p:cNvGrpSpPr>
              <a:grpSpLocks/>
            </p:cNvGrpSpPr>
            <p:nvPr/>
          </p:nvGrpSpPr>
          <p:grpSpPr bwMode="auto">
            <a:xfrm>
              <a:off x="660400" y="5592763"/>
              <a:ext cx="2146300" cy="381000"/>
              <a:chOff x="480" y="3120"/>
              <a:chExt cx="1248" cy="240"/>
            </a:xfrm>
          </p:grpSpPr>
          <p:sp>
            <p:nvSpPr>
              <p:cNvPr id="783410" name="Rectangle 140"/>
              <p:cNvSpPr>
                <a:spLocks noChangeArrowheads="1"/>
              </p:cNvSpPr>
              <p:nvPr/>
            </p:nvSpPr>
            <p:spPr bwMode="auto">
              <a:xfrm>
                <a:off x="480" y="3120"/>
                <a:ext cx="1056" cy="240"/>
              </a:xfrm>
              <a:prstGeom prst="rect">
                <a:avLst/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从 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HA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1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 </a:t>
                </a:r>
                <a:r>
                  <a: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到 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HA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3</a:t>
                </a:r>
              </a:p>
            </p:txBody>
          </p:sp>
          <p:sp>
            <p:nvSpPr>
              <p:cNvPr id="783411" name="AutoShape 141"/>
              <p:cNvSpPr>
                <a:spLocks noChangeArrowheads="1"/>
              </p:cNvSpPr>
              <p:nvPr/>
            </p:nvSpPr>
            <p:spPr bwMode="auto">
              <a:xfrm>
                <a:off x="1536" y="3168"/>
                <a:ext cx="192" cy="144"/>
              </a:xfrm>
              <a:prstGeom prst="rightArrow">
                <a:avLst>
                  <a:gd name="adj1" fmla="val 50000"/>
                  <a:gd name="adj2" fmla="val 54167"/>
                </a:avLst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783412" name="Group 142"/>
            <p:cNvGrpSpPr>
              <a:grpSpLocks/>
            </p:cNvGrpSpPr>
            <p:nvPr/>
          </p:nvGrpSpPr>
          <p:grpSpPr bwMode="auto">
            <a:xfrm>
              <a:off x="3797300" y="5592763"/>
              <a:ext cx="2146300" cy="381000"/>
              <a:chOff x="480" y="3120"/>
              <a:chExt cx="1248" cy="240"/>
            </a:xfrm>
          </p:grpSpPr>
          <p:sp>
            <p:nvSpPr>
              <p:cNvPr id="783413" name="Rectangle 143"/>
              <p:cNvSpPr>
                <a:spLocks noChangeArrowheads="1"/>
              </p:cNvSpPr>
              <p:nvPr/>
            </p:nvSpPr>
            <p:spPr bwMode="auto">
              <a:xfrm>
                <a:off x="480" y="3120"/>
                <a:ext cx="1056" cy="240"/>
              </a:xfrm>
              <a:prstGeom prst="rect">
                <a:avLst/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从 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HA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4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 </a:t>
                </a:r>
                <a:r>
                  <a: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到 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HA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5</a:t>
                </a:r>
              </a:p>
            </p:txBody>
          </p:sp>
          <p:sp>
            <p:nvSpPr>
              <p:cNvPr id="783414" name="AutoShape 144"/>
              <p:cNvSpPr>
                <a:spLocks noChangeArrowheads="1"/>
              </p:cNvSpPr>
              <p:nvPr/>
            </p:nvSpPr>
            <p:spPr bwMode="auto">
              <a:xfrm>
                <a:off x="1536" y="3168"/>
                <a:ext cx="192" cy="144"/>
              </a:xfrm>
              <a:prstGeom prst="rightArrow">
                <a:avLst>
                  <a:gd name="adj1" fmla="val 50000"/>
                  <a:gd name="adj2" fmla="val 54167"/>
                </a:avLst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783415" name="Group 145"/>
            <p:cNvGrpSpPr>
              <a:grpSpLocks/>
            </p:cNvGrpSpPr>
            <p:nvPr/>
          </p:nvGrpSpPr>
          <p:grpSpPr bwMode="auto">
            <a:xfrm>
              <a:off x="6934200" y="5592763"/>
              <a:ext cx="2146300" cy="381000"/>
              <a:chOff x="480" y="3120"/>
              <a:chExt cx="1248" cy="240"/>
            </a:xfrm>
          </p:grpSpPr>
          <p:sp>
            <p:nvSpPr>
              <p:cNvPr id="783416" name="Rectangle 146"/>
              <p:cNvSpPr>
                <a:spLocks noChangeArrowheads="1"/>
              </p:cNvSpPr>
              <p:nvPr/>
            </p:nvSpPr>
            <p:spPr bwMode="auto">
              <a:xfrm>
                <a:off x="480" y="3120"/>
                <a:ext cx="1056" cy="240"/>
              </a:xfrm>
              <a:prstGeom prst="rect">
                <a:avLst/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从 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HA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6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 </a:t>
                </a:r>
                <a:r>
                  <a: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到 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HA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2</a:t>
                </a:r>
              </a:p>
            </p:txBody>
          </p:sp>
          <p:sp>
            <p:nvSpPr>
              <p:cNvPr id="783417" name="AutoShape 147"/>
              <p:cNvSpPr>
                <a:spLocks noChangeArrowheads="1"/>
              </p:cNvSpPr>
              <p:nvPr/>
            </p:nvSpPr>
            <p:spPr bwMode="auto">
              <a:xfrm>
                <a:off x="1536" y="3168"/>
                <a:ext cx="192" cy="144"/>
              </a:xfrm>
              <a:prstGeom prst="rightArrow">
                <a:avLst>
                  <a:gd name="adj1" fmla="val 50000"/>
                  <a:gd name="adj2" fmla="val 54167"/>
                </a:avLst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783418" name="Text Box 148"/>
            <p:cNvSpPr txBox="1">
              <a:spLocks noChangeArrowheads="1"/>
            </p:cNvSpPr>
            <p:nvPr/>
          </p:nvSpPr>
          <p:spPr bwMode="auto">
            <a:xfrm>
              <a:off x="7429500" y="6018213"/>
              <a:ext cx="100700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MAC </a:t>
              </a:r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帧</a:t>
              </a:r>
            </a:p>
          </p:txBody>
        </p:sp>
        <p:sp>
          <p:nvSpPr>
            <p:cNvPr id="783419" name="Text Box 149"/>
            <p:cNvSpPr txBox="1">
              <a:spLocks noChangeArrowheads="1"/>
            </p:cNvSpPr>
            <p:nvPr/>
          </p:nvSpPr>
          <p:spPr bwMode="auto">
            <a:xfrm>
              <a:off x="4308079" y="6018213"/>
              <a:ext cx="100700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MAC </a:t>
              </a:r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帧</a:t>
              </a:r>
            </a:p>
          </p:txBody>
        </p:sp>
      </p:grpSp>
      <p:grpSp>
        <p:nvGrpSpPr>
          <p:cNvPr id="783420" name="组合 3"/>
          <p:cNvGrpSpPr>
            <a:grpSpLocks/>
          </p:cNvGrpSpPr>
          <p:nvPr/>
        </p:nvGrpSpPr>
        <p:grpSpPr bwMode="auto">
          <a:xfrm>
            <a:off x="1238250" y="3154363"/>
            <a:ext cx="7346950" cy="381000"/>
            <a:chOff x="1238250" y="3154363"/>
            <a:chExt cx="7346950" cy="381000"/>
          </a:xfrm>
        </p:grpSpPr>
        <p:grpSp>
          <p:nvGrpSpPr>
            <p:cNvPr id="783421" name="Group 130"/>
            <p:cNvGrpSpPr>
              <a:grpSpLocks/>
            </p:cNvGrpSpPr>
            <p:nvPr/>
          </p:nvGrpSpPr>
          <p:grpSpPr bwMode="auto">
            <a:xfrm>
              <a:off x="1238250" y="3154363"/>
              <a:ext cx="1568450" cy="381000"/>
              <a:chOff x="1632" y="2688"/>
              <a:chExt cx="912" cy="240"/>
            </a:xfrm>
          </p:grpSpPr>
          <p:sp>
            <p:nvSpPr>
              <p:cNvPr id="783422" name="Rectangle 131"/>
              <p:cNvSpPr>
                <a:spLocks noChangeArrowheads="1"/>
              </p:cNvSpPr>
              <p:nvPr/>
            </p:nvSpPr>
            <p:spPr bwMode="auto">
              <a:xfrm>
                <a:off x="1632" y="2688"/>
                <a:ext cx="720" cy="240"/>
              </a:xfrm>
              <a:prstGeom prst="rect">
                <a:avLst/>
              </a:prstGeom>
              <a:solidFill>
                <a:srgbClr val="FF99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  IP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1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 → IP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2</a:t>
                </a:r>
              </a:p>
            </p:txBody>
          </p:sp>
          <p:sp>
            <p:nvSpPr>
              <p:cNvPr id="783423" name="AutoShape 132"/>
              <p:cNvSpPr>
                <a:spLocks noChangeArrowheads="1"/>
              </p:cNvSpPr>
              <p:nvPr/>
            </p:nvSpPr>
            <p:spPr bwMode="auto">
              <a:xfrm>
                <a:off x="2352" y="2736"/>
                <a:ext cx="192" cy="144"/>
              </a:xfrm>
              <a:prstGeom prst="rightArrow">
                <a:avLst>
                  <a:gd name="adj1" fmla="val 50000"/>
                  <a:gd name="adj2" fmla="val 54167"/>
                </a:avLst>
              </a:prstGeom>
              <a:solidFill>
                <a:srgbClr val="FF99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783424" name="Group 133"/>
            <p:cNvGrpSpPr>
              <a:grpSpLocks/>
            </p:cNvGrpSpPr>
            <p:nvPr/>
          </p:nvGrpSpPr>
          <p:grpSpPr bwMode="auto">
            <a:xfrm>
              <a:off x="4044950" y="3154363"/>
              <a:ext cx="1568450" cy="381000"/>
              <a:chOff x="1632" y="2688"/>
              <a:chExt cx="912" cy="240"/>
            </a:xfrm>
          </p:grpSpPr>
          <p:sp>
            <p:nvSpPr>
              <p:cNvPr id="783425" name="Rectangle 134"/>
              <p:cNvSpPr>
                <a:spLocks noChangeArrowheads="1"/>
              </p:cNvSpPr>
              <p:nvPr/>
            </p:nvSpPr>
            <p:spPr bwMode="auto">
              <a:xfrm>
                <a:off x="1632" y="2688"/>
                <a:ext cx="720" cy="240"/>
              </a:xfrm>
              <a:prstGeom prst="rect">
                <a:avLst/>
              </a:prstGeom>
              <a:solidFill>
                <a:srgbClr val="FF99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IP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1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 → IP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2</a:t>
                </a:r>
              </a:p>
            </p:txBody>
          </p:sp>
          <p:sp>
            <p:nvSpPr>
              <p:cNvPr id="783426" name="AutoShape 135"/>
              <p:cNvSpPr>
                <a:spLocks noChangeArrowheads="1"/>
              </p:cNvSpPr>
              <p:nvPr/>
            </p:nvSpPr>
            <p:spPr bwMode="auto">
              <a:xfrm>
                <a:off x="2352" y="2736"/>
                <a:ext cx="192" cy="144"/>
              </a:xfrm>
              <a:prstGeom prst="rightArrow">
                <a:avLst>
                  <a:gd name="adj1" fmla="val 50000"/>
                  <a:gd name="adj2" fmla="val 54167"/>
                </a:avLst>
              </a:prstGeom>
              <a:solidFill>
                <a:srgbClr val="FF99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783427" name="Group 136"/>
            <p:cNvGrpSpPr>
              <a:grpSpLocks/>
            </p:cNvGrpSpPr>
            <p:nvPr/>
          </p:nvGrpSpPr>
          <p:grpSpPr bwMode="auto">
            <a:xfrm>
              <a:off x="7016750" y="3154363"/>
              <a:ext cx="1568450" cy="381000"/>
              <a:chOff x="1632" y="2688"/>
              <a:chExt cx="912" cy="240"/>
            </a:xfrm>
          </p:grpSpPr>
          <p:sp>
            <p:nvSpPr>
              <p:cNvPr id="783428" name="Rectangle 137"/>
              <p:cNvSpPr>
                <a:spLocks noChangeArrowheads="1"/>
              </p:cNvSpPr>
              <p:nvPr/>
            </p:nvSpPr>
            <p:spPr bwMode="auto">
              <a:xfrm>
                <a:off x="1632" y="2688"/>
                <a:ext cx="720" cy="240"/>
              </a:xfrm>
              <a:prstGeom prst="rect">
                <a:avLst/>
              </a:prstGeom>
              <a:solidFill>
                <a:srgbClr val="FF99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IP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1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 → IP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2</a:t>
                </a:r>
              </a:p>
            </p:txBody>
          </p:sp>
          <p:sp>
            <p:nvSpPr>
              <p:cNvPr id="783429" name="AutoShape 138"/>
              <p:cNvSpPr>
                <a:spLocks noChangeArrowheads="1"/>
              </p:cNvSpPr>
              <p:nvPr/>
            </p:nvSpPr>
            <p:spPr bwMode="auto">
              <a:xfrm>
                <a:off x="2352" y="2736"/>
                <a:ext cx="192" cy="144"/>
              </a:xfrm>
              <a:prstGeom prst="rightArrow">
                <a:avLst>
                  <a:gd name="adj1" fmla="val 50000"/>
                  <a:gd name="adj2" fmla="val 54167"/>
                </a:avLst>
              </a:prstGeom>
              <a:solidFill>
                <a:srgbClr val="FF99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</p:grpSp>
      </p:grpSp>
      <p:grpSp>
        <p:nvGrpSpPr>
          <p:cNvPr id="783430" name="组合 4"/>
          <p:cNvGrpSpPr>
            <a:grpSpLocks/>
          </p:cNvGrpSpPr>
          <p:nvPr/>
        </p:nvGrpSpPr>
        <p:grpSpPr bwMode="auto">
          <a:xfrm>
            <a:off x="2228850" y="2292350"/>
            <a:ext cx="1320800" cy="393700"/>
            <a:chOff x="2228850" y="2292351"/>
            <a:chExt cx="1320800" cy="393144"/>
          </a:xfrm>
        </p:grpSpPr>
        <p:sp>
          <p:nvSpPr>
            <p:cNvPr id="783431" name="AutoShape 150"/>
            <p:cNvSpPr>
              <a:spLocks noChangeArrowheads="1"/>
            </p:cNvSpPr>
            <p:nvPr/>
          </p:nvSpPr>
          <p:spPr bwMode="auto">
            <a:xfrm flipV="1">
              <a:off x="2228850" y="2292351"/>
              <a:ext cx="1320800" cy="377825"/>
            </a:xfrm>
            <a:prstGeom prst="wedgeRoundRectCallout">
              <a:avLst>
                <a:gd name="adj1" fmla="val -75782"/>
                <a:gd name="adj2" fmla="val -203782"/>
                <a:gd name="adj3" fmla="val 16667"/>
              </a:avLst>
            </a:prstGeom>
            <a:solidFill>
              <a:srgbClr val="66FF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pPr algn="ctr" eaLnBrk="0" hangingPunct="0"/>
              <a:endParaRPr lang="zh-CN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3432" name="Text Box 151"/>
            <p:cNvSpPr txBox="1">
              <a:spLocks noChangeArrowheads="1"/>
            </p:cNvSpPr>
            <p:nvPr/>
          </p:nvSpPr>
          <p:spPr bwMode="auto">
            <a:xfrm>
              <a:off x="2270125" y="2316163"/>
              <a:ext cx="115993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IP </a:t>
              </a:r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数据报</a:t>
              </a:r>
            </a:p>
          </p:txBody>
        </p:sp>
      </p:grpSp>
      <p:sp>
        <p:nvSpPr>
          <p:cNvPr id="783433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60CC33C-7B5D-4125-8AA4-0BEEE63033B2}" type="slidenum">
              <a:rPr lang="zh-CN" altLang="en-US" smtClean="0"/>
              <a:pPr eaLnBrk="1" hangingPunct="1"/>
              <a:t>10</a:t>
            </a:fld>
            <a:endParaRPr lang="en-US" altLang="zh-CN" smtClean="0"/>
          </a:p>
        </p:txBody>
      </p:sp>
      <p:sp>
        <p:nvSpPr>
          <p:cNvPr id="783434" name="页脚占位符 7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409" name="Rectangle 111"/>
          <p:cNvSpPr>
            <a:spLocks noChangeArrowheads="1"/>
          </p:cNvSpPr>
          <p:nvPr/>
        </p:nvSpPr>
        <p:spPr bwMode="auto">
          <a:xfrm>
            <a:off x="0" y="0"/>
            <a:ext cx="9906000" cy="1989138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785410" name="Text Box 112"/>
          <p:cNvSpPr txBox="1">
            <a:spLocks noChangeArrowheads="1"/>
          </p:cNvSpPr>
          <p:nvPr/>
        </p:nvSpPr>
        <p:spPr bwMode="auto">
          <a:xfrm>
            <a:off x="653993" y="188730"/>
            <a:ext cx="8678979" cy="1643527"/>
          </a:xfrm>
          <a:prstGeom prst="rect">
            <a:avLst/>
          </a:prstGeom>
          <a:solidFill>
            <a:srgbClr val="CCECFF"/>
          </a:solidFill>
          <a:ln w="9525">
            <a:solidFill>
              <a:srgbClr val="333399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>
              <a:lnSpc>
                <a:spcPct val="120000"/>
              </a:lnSpc>
            </a:pPr>
            <a:r>
              <a:rPr lang="zh-CN" altLang="en-US" sz="2800" b="1" dirty="0">
                <a:solidFill>
                  <a:srgbClr val="000099"/>
                </a:solidFill>
                <a:ea typeface="黑体" panose="02010609060101010101" pitchFamily="49" charset="-122"/>
              </a:rPr>
              <a:t>在具体的物理网络的链路层</a:t>
            </a:r>
          </a:p>
          <a:p>
            <a:pPr algn="ctr" eaLnBrk="0" hangingPunct="0">
              <a:lnSpc>
                <a:spcPct val="120000"/>
              </a:lnSpc>
            </a:pPr>
            <a:r>
              <a:rPr lang="zh-CN" altLang="en-US" sz="2800" b="1" dirty="0">
                <a:solidFill>
                  <a:srgbClr val="000099"/>
                </a:solidFill>
                <a:ea typeface="黑体" panose="02010609060101010101" pitchFamily="49" charset="-122"/>
              </a:rPr>
              <a:t>只能看见 </a:t>
            </a:r>
            <a:r>
              <a:rPr lang="en-US" altLang="zh-CN" sz="2800" b="1" dirty="0">
                <a:solidFill>
                  <a:srgbClr val="000099"/>
                </a:solidFill>
                <a:ea typeface="黑体" panose="02010609060101010101" pitchFamily="49" charset="-122"/>
              </a:rPr>
              <a:t>MAC </a:t>
            </a:r>
            <a:r>
              <a:rPr lang="zh-CN" altLang="en-US" sz="2800" b="1" dirty="0">
                <a:solidFill>
                  <a:srgbClr val="000099"/>
                </a:solidFill>
                <a:ea typeface="黑体" panose="02010609060101010101" pitchFamily="49" charset="-122"/>
              </a:rPr>
              <a:t>帧而看不见 </a:t>
            </a:r>
            <a:r>
              <a:rPr lang="en-US" altLang="zh-CN" sz="2800" b="1" dirty="0">
                <a:solidFill>
                  <a:srgbClr val="000099"/>
                </a:solidFill>
                <a:ea typeface="黑体" panose="02010609060101010101" pitchFamily="49" charset="-122"/>
              </a:rPr>
              <a:t>IP </a:t>
            </a:r>
            <a:r>
              <a:rPr lang="zh-CN" altLang="en-US" sz="2800" b="1" dirty="0" smtClean="0">
                <a:solidFill>
                  <a:srgbClr val="000099"/>
                </a:solidFill>
                <a:ea typeface="黑体" panose="02010609060101010101" pitchFamily="49" charset="-122"/>
              </a:rPr>
              <a:t>数据报</a:t>
            </a:r>
            <a:endParaRPr lang="en-US" altLang="zh-CN" sz="2800" b="1" dirty="0" smtClean="0">
              <a:solidFill>
                <a:srgbClr val="000099"/>
              </a:solidFill>
              <a:ea typeface="黑体" panose="02010609060101010101" pitchFamily="49" charset="-122"/>
            </a:endParaRPr>
          </a:p>
          <a:p>
            <a:pPr algn="ctr" eaLnBrk="0" hangingPunct="0">
              <a:lnSpc>
                <a:spcPct val="120000"/>
              </a:lnSpc>
            </a:pPr>
            <a:r>
              <a:rPr lang="zh-CN" altLang="en-US" sz="2800" b="1" dirty="0">
                <a:solidFill>
                  <a:srgbClr val="C00000"/>
                </a:solidFill>
                <a:ea typeface="黑体" panose="02010609060101010101" pitchFamily="49" charset="-122"/>
              </a:rPr>
              <a:t>每</a:t>
            </a:r>
            <a:r>
              <a:rPr lang="zh-CN" altLang="en-US" sz="2800" b="1" dirty="0" smtClean="0">
                <a:solidFill>
                  <a:srgbClr val="C00000"/>
                </a:solidFill>
                <a:ea typeface="黑体" panose="02010609060101010101" pitchFamily="49" charset="-122"/>
              </a:rPr>
              <a:t>一段链路上，帧的源地址和目的地址都要发生变化  </a:t>
            </a:r>
            <a:endParaRPr lang="zh-CN" altLang="en-US" sz="2800" b="1" dirty="0">
              <a:solidFill>
                <a:srgbClr val="C00000"/>
              </a:solidFill>
              <a:ea typeface="黑体" panose="02010609060101010101" pitchFamily="49" charset="-122"/>
            </a:endParaRPr>
          </a:p>
        </p:txBody>
      </p:sp>
      <p:grpSp>
        <p:nvGrpSpPr>
          <p:cNvPr id="785411" name="组合 1"/>
          <p:cNvGrpSpPr>
            <a:grpSpLocks/>
          </p:cNvGrpSpPr>
          <p:nvPr/>
        </p:nvGrpSpPr>
        <p:grpSpPr bwMode="auto">
          <a:xfrm>
            <a:off x="39688" y="2035175"/>
            <a:ext cx="9882187" cy="3406775"/>
            <a:chOff x="39556" y="2035176"/>
            <a:chExt cx="9881923" cy="3406774"/>
          </a:xfrm>
        </p:grpSpPr>
        <p:sp>
          <p:nvSpPr>
            <p:cNvPr id="785412" name="Freeform 77"/>
            <p:cNvSpPr>
              <a:spLocks noChangeArrowheads="1"/>
            </p:cNvSpPr>
            <p:nvPr/>
          </p:nvSpPr>
          <p:spPr bwMode="auto">
            <a:xfrm>
              <a:off x="2559050" y="5160963"/>
              <a:ext cx="428229" cy="279400"/>
            </a:xfrm>
            <a:custGeom>
              <a:avLst/>
              <a:gdLst>
                <a:gd name="T0" fmla="*/ 0 w 249"/>
                <a:gd name="T1" fmla="*/ 176 h 176"/>
                <a:gd name="T2" fmla="*/ 1 w 249"/>
                <a:gd name="T3" fmla="*/ 0 h 176"/>
                <a:gd name="T4" fmla="*/ 249 w 249"/>
                <a:gd name="T5" fmla="*/ 9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9" h="176">
                  <a:moveTo>
                    <a:pt x="0" y="176"/>
                  </a:moveTo>
                  <a:lnTo>
                    <a:pt x="1" y="0"/>
                  </a:lnTo>
                  <a:lnTo>
                    <a:pt x="249" y="9"/>
                  </a:lnTo>
                </a:path>
              </a:pathLst>
            </a:cu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5413" name="Freeform 78"/>
            <p:cNvSpPr>
              <a:spLocks noChangeArrowheads="1"/>
            </p:cNvSpPr>
            <p:nvPr/>
          </p:nvSpPr>
          <p:spPr bwMode="auto">
            <a:xfrm>
              <a:off x="5364031" y="5159375"/>
              <a:ext cx="428228" cy="279400"/>
            </a:xfrm>
            <a:custGeom>
              <a:avLst/>
              <a:gdLst>
                <a:gd name="T0" fmla="*/ 0 w 249"/>
                <a:gd name="T1" fmla="*/ 176 h 176"/>
                <a:gd name="T2" fmla="*/ 1 w 249"/>
                <a:gd name="T3" fmla="*/ 0 h 176"/>
                <a:gd name="T4" fmla="*/ 249 w 249"/>
                <a:gd name="T5" fmla="*/ 9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9" h="176">
                  <a:moveTo>
                    <a:pt x="0" y="176"/>
                  </a:moveTo>
                  <a:lnTo>
                    <a:pt x="1" y="0"/>
                  </a:lnTo>
                  <a:lnTo>
                    <a:pt x="249" y="9"/>
                  </a:lnTo>
                </a:path>
              </a:pathLst>
            </a:cu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5414" name="Line 79"/>
            <p:cNvSpPr>
              <a:spLocks noChangeShapeType="1"/>
            </p:cNvSpPr>
            <p:nvPr/>
          </p:nvSpPr>
          <p:spPr bwMode="auto">
            <a:xfrm rot="-5400000">
              <a:off x="8812081" y="5171943"/>
              <a:ext cx="533400" cy="344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5415" name="Line 80"/>
            <p:cNvSpPr>
              <a:spLocks noChangeShapeType="1"/>
            </p:cNvSpPr>
            <p:nvPr/>
          </p:nvSpPr>
          <p:spPr bwMode="auto">
            <a:xfrm rot="-5400000">
              <a:off x="230320" y="5171943"/>
              <a:ext cx="533400" cy="344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5416" name="AutoShape 81"/>
            <p:cNvSpPr>
              <a:spLocks noChangeArrowheads="1"/>
            </p:cNvSpPr>
            <p:nvPr/>
          </p:nvSpPr>
          <p:spPr bwMode="auto">
            <a:xfrm>
              <a:off x="247650" y="3306763"/>
              <a:ext cx="742950" cy="1905000"/>
            </a:xfrm>
            <a:prstGeom prst="cube">
              <a:avLst>
                <a:gd name="adj" fmla="val 25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5417" name="AutoShape 82"/>
            <p:cNvSpPr>
              <a:spLocks noChangeArrowheads="1"/>
            </p:cNvSpPr>
            <p:nvPr/>
          </p:nvSpPr>
          <p:spPr bwMode="auto">
            <a:xfrm>
              <a:off x="2889250" y="3382963"/>
              <a:ext cx="742950" cy="1905000"/>
            </a:xfrm>
            <a:prstGeom prst="cube">
              <a:avLst>
                <a:gd name="adj" fmla="val 25000"/>
              </a:avLst>
            </a:prstGeom>
            <a:solidFill>
              <a:srgbClr val="66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5418" name="AutoShape 83"/>
            <p:cNvSpPr>
              <a:spLocks noChangeArrowheads="1"/>
            </p:cNvSpPr>
            <p:nvPr/>
          </p:nvSpPr>
          <p:spPr bwMode="auto">
            <a:xfrm>
              <a:off x="8832850" y="3306763"/>
              <a:ext cx="742950" cy="1905000"/>
            </a:xfrm>
            <a:prstGeom prst="cube">
              <a:avLst>
                <a:gd name="adj" fmla="val 25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5419" name="AutoShape 84"/>
            <p:cNvSpPr>
              <a:spLocks noChangeArrowheads="1"/>
            </p:cNvSpPr>
            <p:nvPr/>
          </p:nvSpPr>
          <p:spPr bwMode="auto">
            <a:xfrm>
              <a:off x="5776781" y="3611563"/>
              <a:ext cx="742950" cy="1676400"/>
            </a:xfrm>
            <a:prstGeom prst="cube">
              <a:avLst>
                <a:gd name="adj" fmla="val 25000"/>
              </a:avLst>
            </a:prstGeom>
            <a:solidFill>
              <a:srgbClr val="66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grpSp>
          <p:nvGrpSpPr>
            <p:cNvPr id="89" name="Group 85"/>
            <p:cNvGrpSpPr/>
            <p:nvPr/>
          </p:nvGrpSpPr>
          <p:grpSpPr bwMode="auto">
            <a:xfrm>
              <a:off x="39556" y="2420938"/>
              <a:ext cx="9881923" cy="2438400"/>
              <a:chOff x="96" y="1056"/>
              <a:chExt cx="5472" cy="1536"/>
            </a:xfrm>
            <a:solidFill>
              <a:srgbClr val="FFFF66"/>
            </a:solidFill>
          </p:grpSpPr>
          <p:sp>
            <p:nvSpPr>
              <p:cNvPr id="148" name="Oval 86"/>
              <p:cNvSpPr>
                <a:spLocks noChangeArrowheads="1"/>
              </p:cNvSpPr>
              <p:nvPr/>
            </p:nvSpPr>
            <p:spPr bwMode="auto">
              <a:xfrm>
                <a:off x="3662" y="1674"/>
                <a:ext cx="1906" cy="756"/>
              </a:xfrm>
              <a:prstGeom prst="ellipse">
                <a:avLst/>
              </a:prstGeom>
              <a:grpFill/>
              <a:ln w="317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149" name="Oval 87"/>
              <p:cNvSpPr>
                <a:spLocks noChangeArrowheads="1"/>
              </p:cNvSpPr>
              <p:nvPr/>
            </p:nvSpPr>
            <p:spPr bwMode="auto">
              <a:xfrm>
                <a:off x="96" y="1430"/>
                <a:ext cx="1870" cy="760"/>
              </a:xfrm>
              <a:prstGeom prst="ellipse">
                <a:avLst/>
              </a:prstGeom>
              <a:grpFill/>
              <a:ln w="317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150" name="Oval 88"/>
              <p:cNvSpPr>
                <a:spLocks noChangeArrowheads="1"/>
              </p:cNvSpPr>
              <p:nvPr/>
            </p:nvSpPr>
            <p:spPr bwMode="auto">
              <a:xfrm>
                <a:off x="3365" y="1163"/>
                <a:ext cx="1903" cy="731"/>
              </a:xfrm>
              <a:prstGeom prst="ellipse">
                <a:avLst/>
              </a:prstGeom>
              <a:grpFill/>
              <a:ln w="317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151" name="Oval 89"/>
              <p:cNvSpPr>
                <a:spLocks noChangeArrowheads="1"/>
              </p:cNvSpPr>
              <p:nvPr/>
            </p:nvSpPr>
            <p:spPr bwMode="auto">
              <a:xfrm>
                <a:off x="2365" y="1821"/>
                <a:ext cx="1900" cy="771"/>
              </a:xfrm>
              <a:prstGeom prst="ellipse">
                <a:avLst/>
              </a:prstGeom>
              <a:grpFill/>
              <a:ln w="317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152" name="Oval 90"/>
              <p:cNvSpPr>
                <a:spLocks noChangeArrowheads="1"/>
              </p:cNvSpPr>
              <p:nvPr/>
            </p:nvSpPr>
            <p:spPr bwMode="auto">
              <a:xfrm>
                <a:off x="729" y="1752"/>
                <a:ext cx="1900" cy="731"/>
              </a:xfrm>
              <a:prstGeom prst="ellipse">
                <a:avLst/>
              </a:prstGeom>
              <a:grpFill/>
              <a:ln w="317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153" name="Oval 91"/>
              <p:cNvSpPr>
                <a:spLocks noChangeArrowheads="1"/>
              </p:cNvSpPr>
              <p:nvPr/>
            </p:nvSpPr>
            <p:spPr bwMode="auto">
              <a:xfrm>
                <a:off x="2197" y="1056"/>
                <a:ext cx="1870" cy="758"/>
              </a:xfrm>
              <a:prstGeom prst="ellipse">
                <a:avLst/>
              </a:prstGeom>
              <a:grpFill/>
              <a:ln w="317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154" name="Oval 92"/>
              <p:cNvSpPr>
                <a:spLocks noChangeArrowheads="1"/>
              </p:cNvSpPr>
              <p:nvPr/>
            </p:nvSpPr>
            <p:spPr bwMode="auto">
              <a:xfrm>
                <a:off x="996" y="1056"/>
                <a:ext cx="1867" cy="731"/>
              </a:xfrm>
              <a:prstGeom prst="ellipse">
                <a:avLst/>
              </a:prstGeom>
              <a:grpFill/>
              <a:ln w="317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155" name="Oval 93"/>
              <p:cNvSpPr>
                <a:spLocks noChangeArrowheads="1"/>
              </p:cNvSpPr>
              <p:nvPr/>
            </p:nvSpPr>
            <p:spPr bwMode="auto">
              <a:xfrm>
                <a:off x="597" y="1226"/>
                <a:ext cx="4536" cy="106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</p:grpSp>
        <p:sp>
          <p:nvSpPr>
            <p:cNvPr id="785421" name="Line 94"/>
            <p:cNvSpPr>
              <a:spLocks noChangeShapeType="1"/>
            </p:cNvSpPr>
            <p:nvPr/>
          </p:nvSpPr>
          <p:spPr bwMode="auto">
            <a:xfrm>
              <a:off x="165100" y="5440363"/>
              <a:ext cx="2806700" cy="0"/>
            </a:xfrm>
            <a:prstGeom prst="line">
              <a:avLst/>
            </a:prstGeom>
            <a:noFill/>
            <a:ln w="57150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grpSp>
          <p:nvGrpSpPr>
            <p:cNvPr id="785422" name="Group 95"/>
            <p:cNvGrpSpPr>
              <a:grpSpLocks/>
            </p:cNvGrpSpPr>
            <p:nvPr/>
          </p:nvGrpSpPr>
          <p:grpSpPr bwMode="auto">
            <a:xfrm>
              <a:off x="247650" y="2420938"/>
              <a:ext cx="742950" cy="1447800"/>
              <a:chOff x="672" y="528"/>
              <a:chExt cx="432" cy="912"/>
            </a:xfrm>
          </p:grpSpPr>
          <p:sp>
            <p:nvSpPr>
              <p:cNvPr id="785423" name="AutoShape 96"/>
              <p:cNvSpPr>
                <a:spLocks noChangeArrowheads="1"/>
              </p:cNvSpPr>
              <p:nvPr/>
            </p:nvSpPr>
            <p:spPr bwMode="auto">
              <a:xfrm>
                <a:off x="672" y="1008"/>
                <a:ext cx="432" cy="432"/>
              </a:xfrm>
              <a:prstGeom prst="cube">
                <a:avLst>
                  <a:gd name="adj" fmla="val 25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785424" name="AutoShape 97"/>
              <p:cNvSpPr>
                <a:spLocks noChangeArrowheads="1"/>
              </p:cNvSpPr>
              <p:nvPr/>
            </p:nvSpPr>
            <p:spPr bwMode="auto">
              <a:xfrm>
                <a:off x="672" y="720"/>
                <a:ext cx="432" cy="432"/>
              </a:xfrm>
              <a:prstGeom prst="cube">
                <a:avLst>
                  <a:gd name="adj" fmla="val 25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785425" name="AutoShape 98"/>
              <p:cNvSpPr>
                <a:spLocks noChangeArrowheads="1"/>
              </p:cNvSpPr>
              <p:nvPr/>
            </p:nvSpPr>
            <p:spPr bwMode="auto">
              <a:xfrm>
                <a:off x="672" y="528"/>
                <a:ext cx="432" cy="432"/>
              </a:xfrm>
              <a:prstGeom prst="cube">
                <a:avLst>
                  <a:gd name="adj" fmla="val 25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785426" name="Text Box 99"/>
            <p:cNvSpPr txBox="1">
              <a:spLocks noChangeArrowheads="1"/>
            </p:cNvSpPr>
            <p:nvPr/>
          </p:nvSpPr>
          <p:spPr bwMode="auto">
            <a:xfrm>
              <a:off x="287206" y="3430588"/>
              <a:ext cx="49564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IP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1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5427" name="Text Box 100"/>
            <p:cNvSpPr txBox="1">
              <a:spLocks noChangeArrowheads="1"/>
            </p:cNvSpPr>
            <p:nvPr/>
          </p:nvSpPr>
          <p:spPr bwMode="auto">
            <a:xfrm>
              <a:off x="233892" y="4849813"/>
              <a:ext cx="6030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HA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1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5428" name="Text Box 101"/>
            <p:cNvSpPr txBox="1">
              <a:spLocks noChangeArrowheads="1"/>
            </p:cNvSpPr>
            <p:nvPr/>
          </p:nvSpPr>
          <p:spPr bwMode="auto">
            <a:xfrm>
              <a:off x="5226448" y="4811713"/>
              <a:ext cx="6030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HA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5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5429" name="Text Box 102"/>
            <p:cNvSpPr txBox="1">
              <a:spLocks noChangeArrowheads="1"/>
            </p:cNvSpPr>
            <p:nvPr/>
          </p:nvSpPr>
          <p:spPr bwMode="auto">
            <a:xfrm>
              <a:off x="3604683" y="4805363"/>
              <a:ext cx="6030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HA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4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5430" name="Text Box 103"/>
            <p:cNvSpPr txBox="1">
              <a:spLocks noChangeArrowheads="1"/>
            </p:cNvSpPr>
            <p:nvPr/>
          </p:nvSpPr>
          <p:spPr bwMode="auto">
            <a:xfrm>
              <a:off x="2311400" y="4805363"/>
              <a:ext cx="6030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HA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3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5431" name="Line 104"/>
            <p:cNvSpPr>
              <a:spLocks noChangeShapeType="1"/>
            </p:cNvSpPr>
            <p:nvPr/>
          </p:nvSpPr>
          <p:spPr bwMode="auto">
            <a:xfrm>
              <a:off x="908050" y="3611563"/>
              <a:ext cx="206375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5432" name="Line 105"/>
            <p:cNvSpPr>
              <a:spLocks noChangeShapeType="1"/>
            </p:cNvSpPr>
            <p:nvPr/>
          </p:nvSpPr>
          <p:spPr bwMode="auto">
            <a:xfrm>
              <a:off x="6438900" y="5440363"/>
              <a:ext cx="3219450" cy="0"/>
            </a:xfrm>
            <a:prstGeom prst="line">
              <a:avLst/>
            </a:prstGeom>
            <a:noFill/>
            <a:ln w="57150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5433" name="Text Box 106"/>
            <p:cNvSpPr txBox="1">
              <a:spLocks noChangeArrowheads="1"/>
            </p:cNvSpPr>
            <p:nvPr/>
          </p:nvSpPr>
          <p:spPr bwMode="auto">
            <a:xfrm>
              <a:off x="6507692" y="4799013"/>
              <a:ext cx="6030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HA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6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5434" name="Text Box 107"/>
            <p:cNvSpPr txBox="1">
              <a:spLocks noChangeArrowheads="1"/>
            </p:cNvSpPr>
            <p:nvPr/>
          </p:nvSpPr>
          <p:spPr bwMode="auto">
            <a:xfrm>
              <a:off x="8805333" y="4814888"/>
              <a:ext cx="6030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HA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2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5435" name="Text Box 108"/>
            <p:cNvSpPr txBox="1">
              <a:spLocks noChangeArrowheads="1"/>
            </p:cNvSpPr>
            <p:nvPr/>
          </p:nvSpPr>
          <p:spPr bwMode="auto">
            <a:xfrm>
              <a:off x="6507692" y="3709988"/>
              <a:ext cx="49564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IP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6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5436" name="Text Box 109"/>
            <p:cNvSpPr txBox="1">
              <a:spLocks noChangeArrowheads="1"/>
            </p:cNvSpPr>
            <p:nvPr/>
          </p:nvSpPr>
          <p:spPr bwMode="auto">
            <a:xfrm>
              <a:off x="116946" y="2060576"/>
              <a:ext cx="96212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主机 </a:t>
              </a:r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1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5437" name="Text Box 110"/>
            <p:cNvSpPr txBox="1">
              <a:spLocks noChangeArrowheads="1"/>
            </p:cNvSpPr>
            <p:nvPr/>
          </p:nvSpPr>
          <p:spPr bwMode="auto">
            <a:xfrm>
              <a:off x="8702146" y="2035176"/>
              <a:ext cx="96212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主机 </a:t>
              </a:r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2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5438" name="AutoShape 111"/>
            <p:cNvSpPr>
              <a:spLocks noChangeArrowheads="1"/>
            </p:cNvSpPr>
            <p:nvPr/>
          </p:nvSpPr>
          <p:spPr bwMode="auto">
            <a:xfrm>
              <a:off x="2889250" y="3259138"/>
              <a:ext cx="742950" cy="609600"/>
            </a:xfrm>
            <a:prstGeom prst="cube">
              <a:avLst>
                <a:gd name="adj" fmla="val 25000"/>
              </a:avLst>
            </a:prstGeom>
            <a:solidFill>
              <a:srgbClr val="66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5439" name="Text Box 112"/>
            <p:cNvSpPr txBox="1">
              <a:spLocks noChangeArrowheads="1"/>
            </p:cNvSpPr>
            <p:nvPr/>
          </p:nvSpPr>
          <p:spPr bwMode="auto">
            <a:xfrm>
              <a:off x="2834217" y="2887663"/>
              <a:ext cx="119295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路由器 </a:t>
              </a:r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R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1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5440" name="Text Box 113"/>
            <p:cNvSpPr txBox="1">
              <a:spLocks noChangeArrowheads="1"/>
            </p:cNvSpPr>
            <p:nvPr/>
          </p:nvSpPr>
          <p:spPr bwMode="auto">
            <a:xfrm>
              <a:off x="4485217" y="4186239"/>
              <a:ext cx="2410468" cy="461665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rgbClr val="333399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IP </a:t>
              </a:r>
              <a:r>
                <a:rPr lang="zh-CN" altLang="en-US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层上的互联网</a:t>
              </a:r>
            </a:p>
          </p:txBody>
        </p:sp>
        <p:grpSp>
          <p:nvGrpSpPr>
            <p:cNvPr id="785441" name="Group 115"/>
            <p:cNvGrpSpPr>
              <a:grpSpLocks/>
            </p:cNvGrpSpPr>
            <p:nvPr/>
          </p:nvGrpSpPr>
          <p:grpSpPr bwMode="auto">
            <a:xfrm>
              <a:off x="8832850" y="2420938"/>
              <a:ext cx="742950" cy="1447800"/>
              <a:chOff x="672" y="528"/>
              <a:chExt cx="432" cy="912"/>
            </a:xfrm>
          </p:grpSpPr>
          <p:sp>
            <p:nvSpPr>
              <p:cNvPr id="785442" name="AutoShape 116"/>
              <p:cNvSpPr>
                <a:spLocks noChangeArrowheads="1"/>
              </p:cNvSpPr>
              <p:nvPr/>
            </p:nvSpPr>
            <p:spPr bwMode="auto">
              <a:xfrm>
                <a:off x="672" y="1008"/>
                <a:ext cx="432" cy="432"/>
              </a:xfrm>
              <a:prstGeom prst="cube">
                <a:avLst>
                  <a:gd name="adj" fmla="val 25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785443" name="AutoShape 117"/>
              <p:cNvSpPr>
                <a:spLocks noChangeArrowheads="1"/>
              </p:cNvSpPr>
              <p:nvPr/>
            </p:nvSpPr>
            <p:spPr bwMode="auto">
              <a:xfrm>
                <a:off x="672" y="720"/>
                <a:ext cx="432" cy="432"/>
              </a:xfrm>
              <a:prstGeom prst="cube">
                <a:avLst>
                  <a:gd name="adj" fmla="val 25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785444" name="AutoShape 118"/>
              <p:cNvSpPr>
                <a:spLocks noChangeArrowheads="1"/>
              </p:cNvSpPr>
              <p:nvPr/>
            </p:nvSpPr>
            <p:spPr bwMode="auto">
              <a:xfrm>
                <a:off x="672" y="528"/>
                <a:ext cx="432" cy="432"/>
              </a:xfrm>
              <a:prstGeom prst="cube">
                <a:avLst>
                  <a:gd name="adj" fmla="val 25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785445" name="Text Box 119"/>
            <p:cNvSpPr txBox="1">
              <a:spLocks noChangeArrowheads="1"/>
            </p:cNvSpPr>
            <p:nvPr/>
          </p:nvSpPr>
          <p:spPr bwMode="auto">
            <a:xfrm>
              <a:off x="8886165" y="3435351"/>
              <a:ext cx="49564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IP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2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5446" name="Text Box 120"/>
            <p:cNvSpPr txBox="1">
              <a:spLocks noChangeArrowheads="1"/>
            </p:cNvSpPr>
            <p:nvPr/>
          </p:nvSpPr>
          <p:spPr bwMode="auto">
            <a:xfrm>
              <a:off x="3597804" y="3697288"/>
              <a:ext cx="49564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IP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4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5447" name="Text Box 121"/>
            <p:cNvSpPr txBox="1">
              <a:spLocks noChangeArrowheads="1"/>
            </p:cNvSpPr>
            <p:nvPr/>
          </p:nvSpPr>
          <p:spPr bwMode="auto">
            <a:xfrm>
              <a:off x="2476500" y="3697288"/>
              <a:ext cx="49564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IP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3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5448" name="Line 122"/>
            <p:cNvSpPr>
              <a:spLocks noChangeShapeType="1"/>
            </p:cNvSpPr>
            <p:nvPr/>
          </p:nvSpPr>
          <p:spPr bwMode="auto">
            <a:xfrm>
              <a:off x="3549650" y="3611563"/>
              <a:ext cx="222885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5449" name="AutoShape 123"/>
            <p:cNvSpPr>
              <a:spLocks noChangeArrowheads="1"/>
            </p:cNvSpPr>
            <p:nvPr/>
          </p:nvSpPr>
          <p:spPr bwMode="auto">
            <a:xfrm>
              <a:off x="5776781" y="3230563"/>
              <a:ext cx="742950" cy="609600"/>
            </a:xfrm>
            <a:prstGeom prst="cube">
              <a:avLst>
                <a:gd name="adj" fmla="val 25000"/>
              </a:avLst>
            </a:prstGeom>
            <a:solidFill>
              <a:srgbClr val="66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5450" name="Line 124"/>
            <p:cNvSpPr>
              <a:spLocks noChangeShapeType="1"/>
            </p:cNvSpPr>
            <p:nvPr/>
          </p:nvSpPr>
          <p:spPr bwMode="auto">
            <a:xfrm>
              <a:off x="6438900" y="3611563"/>
              <a:ext cx="239395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5451" name="Text Box 125"/>
            <p:cNvSpPr txBox="1">
              <a:spLocks noChangeArrowheads="1"/>
            </p:cNvSpPr>
            <p:nvPr/>
          </p:nvSpPr>
          <p:spPr bwMode="auto">
            <a:xfrm>
              <a:off x="5365750" y="3697288"/>
              <a:ext cx="49564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IP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5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5452" name="Line 126"/>
            <p:cNvSpPr>
              <a:spLocks noChangeShapeType="1"/>
            </p:cNvSpPr>
            <p:nvPr/>
          </p:nvSpPr>
          <p:spPr bwMode="auto">
            <a:xfrm>
              <a:off x="3632200" y="5440363"/>
              <a:ext cx="2063750" cy="0"/>
            </a:xfrm>
            <a:prstGeom prst="line">
              <a:avLst/>
            </a:prstGeom>
            <a:noFill/>
            <a:ln w="57150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5453" name="Freeform 127"/>
            <p:cNvSpPr>
              <a:spLocks noChangeArrowheads="1"/>
            </p:cNvSpPr>
            <p:nvPr/>
          </p:nvSpPr>
          <p:spPr bwMode="auto">
            <a:xfrm flipH="1">
              <a:off x="6414823" y="5156201"/>
              <a:ext cx="369756" cy="284163"/>
            </a:xfrm>
            <a:custGeom>
              <a:avLst/>
              <a:gdLst>
                <a:gd name="T0" fmla="*/ 0 w 249"/>
                <a:gd name="T1" fmla="*/ 176 h 176"/>
                <a:gd name="T2" fmla="*/ 1 w 249"/>
                <a:gd name="T3" fmla="*/ 0 h 176"/>
                <a:gd name="T4" fmla="*/ 249 w 249"/>
                <a:gd name="T5" fmla="*/ 9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9" h="176">
                  <a:moveTo>
                    <a:pt x="0" y="176"/>
                  </a:moveTo>
                  <a:lnTo>
                    <a:pt x="1" y="0"/>
                  </a:lnTo>
                  <a:lnTo>
                    <a:pt x="249" y="9"/>
                  </a:lnTo>
                </a:path>
              </a:pathLst>
            </a:cu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5454" name="Freeform 128"/>
            <p:cNvSpPr>
              <a:spLocks noChangeArrowheads="1"/>
            </p:cNvSpPr>
            <p:nvPr/>
          </p:nvSpPr>
          <p:spPr bwMode="auto">
            <a:xfrm flipH="1">
              <a:off x="3503216" y="5162550"/>
              <a:ext cx="459184" cy="279400"/>
            </a:xfrm>
            <a:custGeom>
              <a:avLst/>
              <a:gdLst>
                <a:gd name="T0" fmla="*/ 0 w 249"/>
                <a:gd name="T1" fmla="*/ 176 h 176"/>
                <a:gd name="T2" fmla="*/ 1 w 249"/>
                <a:gd name="T3" fmla="*/ 0 h 176"/>
                <a:gd name="T4" fmla="*/ 249 w 249"/>
                <a:gd name="T5" fmla="*/ 9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9" h="176">
                  <a:moveTo>
                    <a:pt x="0" y="176"/>
                  </a:moveTo>
                  <a:lnTo>
                    <a:pt x="1" y="0"/>
                  </a:lnTo>
                  <a:lnTo>
                    <a:pt x="249" y="9"/>
                  </a:lnTo>
                </a:path>
              </a:pathLst>
            </a:cu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5455" name="Text Box 129"/>
            <p:cNvSpPr txBox="1">
              <a:spLocks noChangeArrowheads="1"/>
            </p:cNvSpPr>
            <p:nvPr/>
          </p:nvSpPr>
          <p:spPr bwMode="auto">
            <a:xfrm>
              <a:off x="5652956" y="2862263"/>
              <a:ext cx="119295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路由器 </a:t>
              </a:r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R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2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</p:grpSp>
      <p:grpSp>
        <p:nvGrpSpPr>
          <p:cNvPr id="6" name="组合 5"/>
          <p:cNvGrpSpPr>
            <a:grpSpLocks/>
          </p:cNvGrpSpPr>
          <p:nvPr/>
        </p:nvGrpSpPr>
        <p:grpSpPr bwMode="auto">
          <a:xfrm>
            <a:off x="660400" y="5592763"/>
            <a:ext cx="8420100" cy="795337"/>
            <a:chOff x="660400" y="5592763"/>
            <a:chExt cx="8420100" cy="794782"/>
          </a:xfrm>
        </p:grpSpPr>
        <p:sp>
          <p:nvSpPr>
            <p:cNvPr id="785457" name="Text Box 114"/>
            <p:cNvSpPr txBox="1">
              <a:spLocks noChangeArrowheads="1"/>
            </p:cNvSpPr>
            <p:nvPr/>
          </p:nvSpPr>
          <p:spPr bwMode="auto">
            <a:xfrm>
              <a:off x="1073150" y="5948363"/>
              <a:ext cx="100700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MAC </a:t>
              </a:r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帧</a:t>
              </a:r>
            </a:p>
          </p:txBody>
        </p:sp>
        <p:grpSp>
          <p:nvGrpSpPr>
            <p:cNvPr id="785458" name="Group 139"/>
            <p:cNvGrpSpPr>
              <a:grpSpLocks/>
            </p:cNvGrpSpPr>
            <p:nvPr/>
          </p:nvGrpSpPr>
          <p:grpSpPr bwMode="auto">
            <a:xfrm>
              <a:off x="660400" y="5592763"/>
              <a:ext cx="2146300" cy="381000"/>
              <a:chOff x="480" y="3120"/>
              <a:chExt cx="1248" cy="240"/>
            </a:xfrm>
          </p:grpSpPr>
          <p:sp>
            <p:nvSpPr>
              <p:cNvPr id="785459" name="Rectangle 140"/>
              <p:cNvSpPr>
                <a:spLocks noChangeArrowheads="1"/>
              </p:cNvSpPr>
              <p:nvPr/>
            </p:nvSpPr>
            <p:spPr bwMode="auto">
              <a:xfrm>
                <a:off x="480" y="3120"/>
                <a:ext cx="1056" cy="240"/>
              </a:xfrm>
              <a:prstGeom prst="rect">
                <a:avLst/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从 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HA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1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 </a:t>
                </a:r>
                <a:r>
                  <a: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到 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HA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3</a:t>
                </a:r>
              </a:p>
            </p:txBody>
          </p:sp>
          <p:sp>
            <p:nvSpPr>
              <p:cNvPr id="785460" name="AutoShape 141"/>
              <p:cNvSpPr>
                <a:spLocks noChangeArrowheads="1"/>
              </p:cNvSpPr>
              <p:nvPr/>
            </p:nvSpPr>
            <p:spPr bwMode="auto">
              <a:xfrm>
                <a:off x="1536" y="3168"/>
                <a:ext cx="192" cy="144"/>
              </a:xfrm>
              <a:prstGeom prst="rightArrow">
                <a:avLst>
                  <a:gd name="adj1" fmla="val 50000"/>
                  <a:gd name="adj2" fmla="val 54167"/>
                </a:avLst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785461" name="Group 142"/>
            <p:cNvGrpSpPr>
              <a:grpSpLocks/>
            </p:cNvGrpSpPr>
            <p:nvPr/>
          </p:nvGrpSpPr>
          <p:grpSpPr bwMode="auto">
            <a:xfrm>
              <a:off x="3797300" y="5592763"/>
              <a:ext cx="2146300" cy="381000"/>
              <a:chOff x="480" y="3120"/>
              <a:chExt cx="1248" cy="240"/>
            </a:xfrm>
          </p:grpSpPr>
          <p:sp>
            <p:nvSpPr>
              <p:cNvPr id="785462" name="Rectangle 143"/>
              <p:cNvSpPr>
                <a:spLocks noChangeArrowheads="1"/>
              </p:cNvSpPr>
              <p:nvPr/>
            </p:nvSpPr>
            <p:spPr bwMode="auto">
              <a:xfrm>
                <a:off x="480" y="3120"/>
                <a:ext cx="1056" cy="240"/>
              </a:xfrm>
              <a:prstGeom prst="rect">
                <a:avLst/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从 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HA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4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 </a:t>
                </a:r>
                <a:r>
                  <a: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到 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HA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5</a:t>
                </a:r>
              </a:p>
            </p:txBody>
          </p:sp>
          <p:sp>
            <p:nvSpPr>
              <p:cNvPr id="785463" name="AutoShape 144"/>
              <p:cNvSpPr>
                <a:spLocks noChangeArrowheads="1"/>
              </p:cNvSpPr>
              <p:nvPr/>
            </p:nvSpPr>
            <p:spPr bwMode="auto">
              <a:xfrm>
                <a:off x="1536" y="3168"/>
                <a:ext cx="192" cy="144"/>
              </a:xfrm>
              <a:prstGeom prst="rightArrow">
                <a:avLst>
                  <a:gd name="adj1" fmla="val 50000"/>
                  <a:gd name="adj2" fmla="val 54167"/>
                </a:avLst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785464" name="Group 145"/>
            <p:cNvGrpSpPr>
              <a:grpSpLocks/>
            </p:cNvGrpSpPr>
            <p:nvPr/>
          </p:nvGrpSpPr>
          <p:grpSpPr bwMode="auto">
            <a:xfrm>
              <a:off x="6934200" y="5592763"/>
              <a:ext cx="2146300" cy="381000"/>
              <a:chOff x="480" y="3120"/>
              <a:chExt cx="1248" cy="240"/>
            </a:xfrm>
          </p:grpSpPr>
          <p:sp>
            <p:nvSpPr>
              <p:cNvPr id="785465" name="Rectangle 146"/>
              <p:cNvSpPr>
                <a:spLocks noChangeArrowheads="1"/>
              </p:cNvSpPr>
              <p:nvPr/>
            </p:nvSpPr>
            <p:spPr bwMode="auto">
              <a:xfrm>
                <a:off x="480" y="3120"/>
                <a:ext cx="1056" cy="240"/>
              </a:xfrm>
              <a:prstGeom prst="rect">
                <a:avLst/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从 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HA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6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 </a:t>
                </a:r>
                <a:r>
                  <a: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到 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HA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2</a:t>
                </a:r>
              </a:p>
            </p:txBody>
          </p:sp>
          <p:sp>
            <p:nvSpPr>
              <p:cNvPr id="785466" name="AutoShape 147"/>
              <p:cNvSpPr>
                <a:spLocks noChangeArrowheads="1"/>
              </p:cNvSpPr>
              <p:nvPr/>
            </p:nvSpPr>
            <p:spPr bwMode="auto">
              <a:xfrm>
                <a:off x="1536" y="3168"/>
                <a:ext cx="192" cy="144"/>
              </a:xfrm>
              <a:prstGeom prst="rightArrow">
                <a:avLst>
                  <a:gd name="adj1" fmla="val 50000"/>
                  <a:gd name="adj2" fmla="val 54167"/>
                </a:avLst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785467" name="Text Box 148"/>
            <p:cNvSpPr txBox="1">
              <a:spLocks noChangeArrowheads="1"/>
            </p:cNvSpPr>
            <p:nvPr/>
          </p:nvSpPr>
          <p:spPr bwMode="auto">
            <a:xfrm>
              <a:off x="7429500" y="6018213"/>
              <a:ext cx="100700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MAC </a:t>
              </a:r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帧</a:t>
              </a:r>
            </a:p>
          </p:txBody>
        </p:sp>
        <p:sp>
          <p:nvSpPr>
            <p:cNvPr id="785468" name="Text Box 149"/>
            <p:cNvSpPr txBox="1">
              <a:spLocks noChangeArrowheads="1"/>
            </p:cNvSpPr>
            <p:nvPr/>
          </p:nvSpPr>
          <p:spPr bwMode="auto">
            <a:xfrm>
              <a:off x="4308079" y="6018213"/>
              <a:ext cx="100700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MAC </a:t>
              </a:r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帧</a:t>
              </a:r>
            </a:p>
          </p:txBody>
        </p:sp>
      </p:grpSp>
      <p:grpSp>
        <p:nvGrpSpPr>
          <p:cNvPr id="785469" name="组合 3"/>
          <p:cNvGrpSpPr>
            <a:grpSpLocks/>
          </p:cNvGrpSpPr>
          <p:nvPr/>
        </p:nvGrpSpPr>
        <p:grpSpPr bwMode="auto">
          <a:xfrm>
            <a:off x="1238250" y="3154363"/>
            <a:ext cx="7346950" cy="381000"/>
            <a:chOff x="1238250" y="3154363"/>
            <a:chExt cx="7346950" cy="381000"/>
          </a:xfrm>
        </p:grpSpPr>
        <p:grpSp>
          <p:nvGrpSpPr>
            <p:cNvPr id="785470" name="Group 130"/>
            <p:cNvGrpSpPr>
              <a:grpSpLocks/>
            </p:cNvGrpSpPr>
            <p:nvPr/>
          </p:nvGrpSpPr>
          <p:grpSpPr bwMode="auto">
            <a:xfrm>
              <a:off x="1238250" y="3154363"/>
              <a:ext cx="1568450" cy="381000"/>
              <a:chOff x="1632" y="2688"/>
              <a:chExt cx="912" cy="240"/>
            </a:xfrm>
          </p:grpSpPr>
          <p:sp>
            <p:nvSpPr>
              <p:cNvPr id="785471" name="Rectangle 131"/>
              <p:cNvSpPr>
                <a:spLocks noChangeArrowheads="1"/>
              </p:cNvSpPr>
              <p:nvPr/>
            </p:nvSpPr>
            <p:spPr bwMode="auto">
              <a:xfrm>
                <a:off x="1632" y="2688"/>
                <a:ext cx="720" cy="240"/>
              </a:xfrm>
              <a:prstGeom prst="rect">
                <a:avLst/>
              </a:prstGeom>
              <a:solidFill>
                <a:srgbClr val="FF99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  IP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1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 → IP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2</a:t>
                </a:r>
              </a:p>
            </p:txBody>
          </p:sp>
          <p:sp>
            <p:nvSpPr>
              <p:cNvPr id="785472" name="AutoShape 132"/>
              <p:cNvSpPr>
                <a:spLocks noChangeArrowheads="1"/>
              </p:cNvSpPr>
              <p:nvPr/>
            </p:nvSpPr>
            <p:spPr bwMode="auto">
              <a:xfrm>
                <a:off x="2352" y="2736"/>
                <a:ext cx="192" cy="144"/>
              </a:xfrm>
              <a:prstGeom prst="rightArrow">
                <a:avLst>
                  <a:gd name="adj1" fmla="val 50000"/>
                  <a:gd name="adj2" fmla="val 54167"/>
                </a:avLst>
              </a:prstGeom>
              <a:solidFill>
                <a:srgbClr val="FF99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785473" name="Group 133"/>
            <p:cNvGrpSpPr>
              <a:grpSpLocks/>
            </p:cNvGrpSpPr>
            <p:nvPr/>
          </p:nvGrpSpPr>
          <p:grpSpPr bwMode="auto">
            <a:xfrm>
              <a:off x="4044950" y="3154363"/>
              <a:ext cx="1568450" cy="381000"/>
              <a:chOff x="1632" y="2688"/>
              <a:chExt cx="912" cy="240"/>
            </a:xfrm>
          </p:grpSpPr>
          <p:sp>
            <p:nvSpPr>
              <p:cNvPr id="785474" name="Rectangle 134"/>
              <p:cNvSpPr>
                <a:spLocks noChangeArrowheads="1"/>
              </p:cNvSpPr>
              <p:nvPr/>
            </p:nvSpPr>
            <p:spPr bwMode="auto">
              <a:xfrm>
                <a:off x="1632" y="2688"/>
                <a:ext cx="720" cy="240"/>
              </a:xfrm>
              <a:prstGeom prst="rect">
                <a:avLst/>
              </a:prstGeom>
              <a:solidFill>
                <a:srgbClr val="FF99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IP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1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 → IP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2</a:t>
                </a:r>
              </a:p>
            </p:txBody>
          </p:sp>
          <p:sp>
            <p:nvSpPr>
              <p:cNvPr id="785475" name="AutoShape 135"/>
              <p:cNvSpPr>
                <a:spLocks noChangeArrowheads="1"/>
              </p:cNvSpPr>
              <p:nvPr/>
            </p:nvSpPr>
            <p:spPr bwMode="auto">
              <a:xfrm>
                <a:off x="2352" y="2736"/>
                <a:ext cx="192" cy="144"/>
              </a:xfrm>
              <a:prstGeom prst="rightArrow">
                <a:avLst>
                  <a:gd name="adj1" fmla="val 50000"/>
                  <a:gd name="adj2" fmla="val 54167"/>
                </a:avLst>
              </a:prstGeom>
              <a:solidFill>
                <a:srgbClr val="FF99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785476" name="Group 136"/>
            <p:cNvGrpSpPr>
              <a:grpSpLocks/>
            </p:cNvGrpSpPr>
            <p:nvPr/>
          </p:nvGrpSpPr>
          <p:grpSpPr bwMode="auto">
            <a:xfrm>
              <a:off x="7016750" y="3154363"/>
              <a:ext cx="1568450" cy="381000"/>
              <a:chOff x="1632" y="2688"/>
              <a:chExt cx="912" cy="240"/>
            </a:xfrm>
          </p:grpSpPr>
          <p:sp>
            <p:nvSpPr>
              <p:cNvPr id="785477" name="Rectangle 137"/>
              <p:cNvSpPr>
                <a:spLocks noChangeArrowheads="1"/>
              </p:cNvSpPr>
              <p:nvPr/>
            </p:nvSpPr>
            <p:spPr bwMode="auto">
              <a:xfrm>
                <a:off x="1632" y="2688"/>
                <a:ext cx="720" cy="240"/>
              </a:xfrm>
              <a:prstGeom prst="rect">
                <a:avLst/>
              </a:prstGeom>
              <a:solidFill>
                <a:srgbClr val="FF99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IP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1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 → IP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2</a:t>
                </a:r>
              </a:p>
            </p:txBody>
          </p:sp>
          <p:sp>
            <p:nvSpPr>
              <p:cNvPr id="785478" name="AutoShape 138"/>
              <p:cNvSpPr>
                <a:spLocks noChangeArrowheads="1"/>
              </p:cNvSpPr>
              <p:nvPr/>
            </p:nvSpPr>
            <p:spPr bwMode="auto">
              <a:xfrm>
                <a:off x="2352" y="2736"/>
                <a:ext cx="192" cy="144"/>
              </a:xfrm>
              <a:prstGeom prst="rightArrow">
                <a:avLst>
                  <a:gd name="adj1" fmla="val 50000"/>
                  <a:gd name="adj2" fmla="val 54167"/>
                </a:avLst>
              </a:prstGeom>
              <a:solidFill>
                <a:srgbClr val="FF99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</p:grpSp>
      </p:grpSp>
      <p:grpSp>
        <p:nvGrpSpPr>
          <p:cNvPr id="785479" name="组合 4"/>
          <p:cNvGrpSpPr>
            <a:grpSpLocks/>
          </p:cNvGrpSpPr>
          <p:nvPr/>
        </p:nvGrpSpPr>
        <p:grpSpPr bwMode="auto">
          <a:xfrm>
            <a:off x="2228850" y="2292350"/>
            <a:ext cx="1320800" cy="393700"/>
            <a:chOff x="2228850" y="2292351"/>
            <a:chExt cx="1320800" cy="393144"/>
          </a:xfrm>
        </p:grpSpPr>
        <p:sp>
          <p:nvSpPr>
            <p:cNvPr id="785480" name="AutoShape 150"/>
            <p:cNvSpPr>
              <a:spLocks noChangeArrowheads="1"/>
            </p:cNvSpPr>
            <p:nvPr/>
          </p:nvSpPr>
          <p:spPr bwMode="auto">
            <a:xfrm flipV="1">
              <a:off x="2228850" y="2292351"/>
              <a:ext cx="1320800" cy="377825"/>
            </a:xfrm>
            <a:prstGeom prst="wedgeRoundRectCallout">
              <a:avLst>
                <a:gd name="adj1" fmla="val -75782"/>
                <a:gd name="adj2" fmla="val -203782"/>
                <a:gd name="adj3" fmla="val 16667"/>
              </a:avLst>
            </a:prstGeom>
            <a:solidFill>
              <a:srgbClr val="66FF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pPr algn="ctr" eaLnBrk="0" hangingPunct="0"/>
              <a:endParaRPr lang="zh-CN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5481" name="Text Box 151"/>
            <p:cNvSpPr txBox="1">
              <a:spLocks noChangeArrowheads="1"/>
            </p:cNvSpPr>
            <p:nvPr/>
          </p:nvSpPr>
          <p:spPr bwMode="auto">
            <a:xfrm>
              <a:off x="2270125" y="2316163"/>
              <a:ext cx="115993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IP </a:t>
              </a:r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数据报</a:t>
              </a:r>
            </a:p>
          </p:txBody>
        </p:sp>
      </p:grpSp>
      <p:sp>
        <p:nvSpPr>
          <p:cNvPr id="785482" name="灯片编号占位符 7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40F52F2-E82A-473B-8C37-D3256FD75ED8}" type="slidenum">
              <a:rPr lang="zh-CN" altLang="en-US" smtClean="0"/>
              <a:pPr eaLnBrk="1" hangingPunct="1"/>
              <a:t>11</a:t>
            </a:fld>
            <a:endParaRPr lang="en-US" altLang="zh-CN" smtClean="0"/>
          </a:p>
        </p:txBody>
      </p:sp>
      <p:sp>
        <p:nvSpPr>
          <p:cNvPr id="785483" name="页脚占位符 8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4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457" name="Rectangle 111"/>
          <p:cNvSpPr>
            <a:spLocks noChangeArrowheads="1"/>
          </p:cNvSpPr>
          <p:nvPr/>
        </p:nvSpPr>
        <p:spPr bwMode="auto">
          <a:xfrm>
            <a:off x="0" y="0"/>
            <a:ext cx="9906000" cy="1989138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787458" name="Text Box 112"/>
          <p:cNvSpPr txBox="1">
            <a:spLocks noChangeArrowheads="1"/>
          </p:cNvSpPr>
          <p:nvPr/>
        </p:nvSpPr>
        <p:spPr bwMode="auto">
          <a:xfrm>
            <a:off x="1568450" y="115888"/>
            <a:ext cx="7134225" cy="1717675"/>
          </a:xfrm>
          <a:prstGeom prst="rect">
            <a:avLst/>
          </a:prstGeom>
          <a:solidFill>
            <a:srgbClr val="CCECFF"/>
          </a:solidFill>
          <a:ln w="9525">
            <a:solidFill>
              <a:srgbClr val="333399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0" hangingPunct="0">
              <a:lnSpc>
                <a:spcPct val="110000"/>
              </a:lnSpc>
            </a:pPr>
            <a:r>
              <a:rPr lang="en-US" altLang="zh-CN" sz="2400" b="1">
                <a:solidFill>
                  <a:srgbClr val="C00000"/>
                </a:solidFill>
                <a:ea typeface="黑体" panose="02010609060101010101" pitchFamily="49" charset="-122"/>
              </a:rPr>
              <a:t>IP </a:t>
            </a:r>
            <a:r>
              <a:rPr lang="zh-CN" altLang="en-US" sz="2400" b="1">
                <a:solidFill>
                  <a:srgbClr val="C00000"/>
                </a:solidFill>
                <a:ea typeface="黑体" panose="02010609060101010101" pitchFamily="49" charset="-122"/>
              </a:rPr>
              <a:t>层抽象的互联网屏蔽了下层很复杂的细节。</a:t>
            </a:r>
          </a:p>
          <a:p>
            <a:pPr algn="ctr" eaLnBrk="0" hangingPunct="0">
              <a:lnSpc>
                <a:spcPct val="110000"/>
              </a:lnSpc>
            </a:pPr>
            <a:r>
              <a:rPr lang="zh-CN" altLang="en-US" sz="2400" b="1">
                <a:solidFill>
                  <a:srgbClr val="000099"/>
                </a:solidFill>
                <a:ea typeface="黑体" panose="02010609060101010101" pitchFamily="49" charset="-122"/>
              </a:rPr>
              <a:t>在抽象的网络层上讨论问题，就能够使用</a:t>
            </a:r>
          </a:p>
          <a:p>
            <a:pPr algn="ctr" eaLnBrk="0" hangingPunct="0">
              <a:lnSpc>
                <a:spcPct val="110000"/>
              </a:lnSpc>
            </a:pPr>
            <a:r>
              <a:rPr lang="zh-CN" altLang="en-US" sz="2400" b="1">
                <a:solidFill>
                  <a:srgbClr val="000099"/>
                </a:solidFill>
                <a:ea typeface="黑体" panose="02010609060101010101" pitchFamily="49" charset="-122"/>
              </a:rPr>
              <a:t>统一的、抽象的 </a:t>
            </a:r>
            <a:r>
              <a:rPr lang="en-US" altLang="zh-CN" sz="2400" b="1">
                <a:solidFill>
                  <a:srgbClr val="000099"/>
                </a:solidFill>
                <a:ea typeface="黑体" panose="02010609060101010101" pitchFamily="49" charset="-122"/>
              </a:rPr>
              <a:t>IP </a:t>
            </a:r>
            <a:r>
              <a:rPr lang="zh-CN" altLang="en-US" sz="2400" b="1">
                <a:solidFill>
                  <a:srgbClr val="000099"/>
                </a:solidFill>
                <a:ea typeface="黑体" panose="02010609060101010101" pitchFamily="49" charset="-122"/>
              </a:rPr>
              <a:t>地址</a:t>
            </a:r>
          </a:p>
          <a:p>
            <a:pPr algn="ctr" eaLnBrk="0" hangingPunct="0">
              <a:lnSpc>
                <a:spcPct val="110000"/>
              </a:lnSpc>
            </a:pPr>
            <a:r>
              <a:rPr lang="zh-CN" altLang="en-US" sz="2400" b="1">
                <a:solidFill>
                  <a:srgbClr val="000099"/>
                </a:solidFill>
                <a:ea typeface="黑体" panose="02010609060101010101" pitchFamily="49" charset="-122"/>
              </a:rPr>
              <a:t>研究主机和主机或主机和路由器之间的通信 。</a:t>
            </a:r>
          </a:p>
        </p:txBody>
      </p:sp>
      <p:grpSp>
        <p:nvGrpSpPr>
          <p:cNvPr id="787459" name="组合 2"/>
          <p:cNvGrpSpPr>
            <a:grpSpLocks/>
          </p:cNvGrpSpPr>
          <p:nvPr/>
        </p:nvGrpSpPr>
        <p:grpSpPr bwMode="auto">
          <a:xfrm>
            <a:off x="39688" y="2035175"/>
            <a:ext cx="9882187" cy="4352925"/>
            <a:chOff x="39556" y="2035176"/>
            <a:chExt cx="9881923" cy="4352369"/>
          </a:xfrm>
        </p:grpSpPr>
        <p:sp>
          <p:nvSpPr>
            <p:cNvPr id="787460" name="Freeform 77"/>
            <p:cNvSpPr>
              <a:spLocks noChangeArrowheads="1"/>
            </p:cNvSpPr>
            <p:nvPr/>
          </p:nvSpPr>
          <p:spPr bwMode="auto">
            <a:xfrm>
              <a:off x="2559050" y="5160963"/>
              <a:ext cx="428229" cy="279400"/>
            </a:xfrm>
            <a:custGeom>
              <a:avLst/>
              <a:gdLst>
                <a:gd name="T0" fmla="*/ 0 w 249"/>
                <a:gd name="T1" fmla="*/ 176 h 176"/>
                <a:gd name="T2" fmla="*/ 1 w 249"/>
                <a:gd name="T3" fmla="*/ 0 h 176"/>
                <a:gd name="T4" fmla="*/ 249 w 249"/>
                <a:gd name="T5" fmla="*/ 9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9" h="176">
                  <a:moveTo>
                    <a:pt x="0" y="176"/>
                  </a:moveTo>
                  <a:lnTo>
                    <a:pt x="1" y="0"/>
                  </a:lnTo>
                  <a:lnTo>
                    <a:pt x="249" y="9"/>
                  </a:lnTo>
                </a:path>
              </a:pathLst>
            </a:cu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7461" name="Freeform 78"/>
            <p:cNvSpPr>
              <a:spLocks noChangeArrowheads="1"/>
            </p:cNvSpPr>
            <p:nvPr/>
          </p:nvSpPr>
          <p:spPr bwMode="auto">
            <a:xfrm>
              <a:off x="5364031" y="5159375"/>
              <a:ext cx="428228" cy="279400"/>
            </a:xfrm>
            <a:custGeom>
              <a:avLst/>
              <a:gdLst>
                <a:gd name="T0" fmla="*/ 0 w 249"/>
                <a:gd name="T1" fmla="*/ 176 h 176"/>
                <a:gd name="T2" fmla="*/ 1 w 249"/>
                <a:gd name="T3" fmla="*/ 0 h 176"/>
                <a:gd name="T4" fmla="*/ 249 w 249"/>
                <a:gd name="T5" fmla="*/ 9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9" h="176">
                  <a:moveTo>
                    <a:pt x="0" y="176"/>
                  </a:moveTo>
                  <a:lnTo>
                    <a:pt x="1" y="0"/>
                  </a:lnTo>
                  <a:lnTo>
                    <a:pt x="249" y="9"/>
                  </a:lnTo>
                </a:path>
              </a:pathLst>
            </a:cu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7462" name="Line 79"/>
            <p:cNvSpPr>
              <a:spLocks noChangeShapeType="1"/>
            </p:cNvSpPr>
            <p:nvPr/>
          </p:nvSpPr>
          <p:spPr bwMode="auto">
            <a:xfrm rot="-5400000">
              <a:off x="8812081" y="5171943"/>
              <a:ext cx="533400" cy="344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7463" name="Line 80"/>
            <p:cNvSpPr>
              <a:spLocks noChangeShapeType="1"/>
            </p:cNvSpPr>
            <p:nvPr/>
          </p:nvSpPr>
          <p:spPr bwMode="auto">
            <a:xfrm rot="-5400000">
              <a:off x="230320" y="5171943"/>
              <a:ext cx="533400" cy="344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7464" name="AutoShape 81"/>
            <p:cNvSpPr>
              <a:spLocks noChangeArrowheads="1"/>
            </p:cNvSpPr>
            <p:nvPr/>
          </p:nvSpPr>
          <p:spPr bwMode="auto">
            <a:xfrm>
              <a:off x="247650" y="3306763"/>
              <a:ext cx="742950" cy="1905000"/>
            </a:xfrm>
            <a:prstGeom prst="cube">
              <a:avLst>
                <a:gd name="adj" fmla="val 25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7465" name="AutoShape 82"/>
            <p:cNvSpPr>
              <a:spLocks noChangeArrowheads="1"/>
            </p:cNvSpPr>
            <p:nvPr/>
          </p:nvSpPr>
          <p:spPr bwMode="auto">
            <a:xfrm>
              <a:off x="2889250" y="3382963"/>
              <a:ext cx="742950" cy="1905000"/>
            </a:xfrm>
            <a:prstGeom prst="cube">
              <a:avLst>
                <a:gd name="adj" fmla="val 25000"/>
              </a:avLst>
            </a:prstGeom>
            <a:solidFill>
              <a:srgbClr val="66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7466" name="AutoShape 83"/>
            <p:cNvSpPr>
              <a:spLocks noChangeArrowheads="1"/>
            </p:cNvSpPr>
            <p:nvPr/>
          </p:nvSpPr>
          <p:spPr bwMode="auto">
            <a:xfrm>
              <a:off x="8832850" y="3306763"/>
              <a:ext cx="742950" cy="1905000"/>
            </a:xfrm>
            <a:prstGeom prst="cube">
              <a:avLst>
                <a:gd name="adj" fmla="val 25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7467" name="AutoShape 84"/>
            <p:cNvSpPr>
              <a:spLocks noChangeArrowheads="1"/>
            </p:cNvSpPr>
            <p:nvPr/>
          </p:nvSpPr>
          <p:spPr bwMode="auto">
            <a:xfrm>
              <a:off x="5776781" y="3611563"/>
              <a:ext cx="742950" cy="1676400"/>
            </a:xfrm>
            <a:prstGeom prst="cube">
              <a:avLst>
                <a:gd name="adj" fmla="val 25000"/>
              </a:avLst>
            </a:prstGeom>
            <a:solidFill>
              <a:srgbClr val="66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grpSp>
          <p:nvGrpSpPr>
            <p:cNvPr id="89" name="Group 85"/>
            <p:cNvGrpSpPr/>
            <p:nvPr/>
          </p:nvGrpSpPr>
          <p:grpSpPr bwMode="auto">
            <a:xfrm>
              <a:off x="39556" y="2420938"/>
              <a:ext cx="9881923" cy="2438400"/>
              <a:chOff x="96" y="1056"/>
              <a:chExt cx="5472" cy="1536"/>
            </a:xfrm>
            <a:solidFill>
              <a:srgbClr val="FFFF66"/>
            </a:solidFill>
          </p:grpSpPr>
          <p:sp>
            <p:nvSpPr>
              <p:cNvPr id="148" name="Oval 86"/>
              <p:cNvSpPr>
                <a:spLocks noChangeArrowheads="1"/>
              </p:cNvSpPr>
              <p:nvPr/>
            </p:nvSpPr>
            <p:spPr bwMode="auto">
              <a:xfrm>
                <a:off x="3662" y="1674"/>
                <a:ext cx="1906" cy="756"/>
              </a:xfrm>
              <a:prstGeom prst="ellipse">
                <a:avLst/>
              </a:prstGeom>
              <a:grpFill/>
              <a:ln w="317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149" name="Oval 87"/>
              <p:cNvSpPr>
                <a:spLocks noChangeArrowheads="1"/>
              </p:cNvSpPr>
              <p:nvPr/>
            </p:nvSpPr>
            <p:spPr bwMode="auto">
              <a:xfrm>
                <a:off x="96" y="1430"/>
                <a:ext cx="1870" cy="760"/>
              </a:xfrm>
              <a:prstGeom prst="ellipse">
                <a:avLst/>
              </a:prstGeom>
              <a:grpFill/>
              <a:ln w="317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150" name="Oval 88"/>
              <p:cNvSpPr>
                <a:spLocks noChangeArrowheads="1"/>
              </p:cNvSpPr>
              <p:nvPr/>
            </p:nvSpPr>
            <p:spPr bwMode="auto">
              <a:xfrm>
                <a:off x="3365" y="1163"/>
                <a:ext cx="1903" cy="731"/>
              </a:xfrm>
              <a:prstGeom prst="ellipse">
                <a:avLst/>
              </a:prstGeom>
              <a:grpFill/>
              <a:ln w="317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151" name="Oval 89"/>
              <p:cNvSpPr>
                <a:spLocks noChangeArrowheads="1"/>
              </p:cNvSpPr>
              <p:nvPr/>
            </p:nvSpPr>
            <p:spPr bwMode="auto">
              <a:xfrm>
                <a:off x="2365" y="1821"/>
                <a:ext cx="1900" cy="771"/>
              </a:xfrm>
              <a:prstGeom prst="ellipse">
                <a:avLst/>
              </a:prstGeom>
              <a:grpFill/>
              <a:ln w="317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152" name="Oval 90"/>
              <p:cNvSpPr>
                <a:spLocks noChangeArrowheads="1"/>
              </p:cNvSpPr>
              <p:nvPr/>
            </p:nvSpPr>
            <p:spPr bwMode="auto">
              <a:xfrm>
                <a:off x="729" y="1752"/>
                <a:ext cx="1900" cy="731"/>
              </a:xfrm>
              <a:prstGeom prst="ellipse">
                <a:avLst/>
              </a:prstGeom>
              <a:grpFill/>
              <a:ln w="317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153" name="Oval 91"/>
              <p:cNvSpPr>
                <a:spLocks noChangeArrowheads="1"/>
              </p:cNvSpPr>
              <p:nvPr/>
            </p:nvSpPr>
            <p:spPr bwMode="auto">
              <a:xfrm>
                <a:off x="2197" y="1056"/>
                <a:ext cx="1870" cy="758"/>
              </a:xfrm>
              <a:prstGeom prst="ellipse">
                <a:avLst/>
              </a:prstGeom>
              <a:grpFill/>
              <a:ln w="317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154" name="Oval 92"/>
              <p:cNvSpPr>
                <a:spLocks noChangeArrowheads="1"/>
              </p:cNvSpPr>
              <p:nvPr/>
            </p:nvSpPr>
            <p:spPr bwMode="auto">
              <a:xfrm>
                <a:off x="996" y="1056"/>
                <a:ext cx="1867" cy="731"/>
              </a:xfrm>
              <a:prstGeom prst="ellipse">
                <a:avLst/>
              </a:prstGeom>
              <a:grpFill/>
              <a:ln w="317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155" name="Oval 93"/>
              <p:cNvSpPr>
                <a:spLocks noChangeArrowheads="1"/>
              </p:cNvSpPr>
              <p:nvPr/>
            </p:nvSpPr>
            <p:spPr bwMode="auto">
              <a:xfrm>
                <a:off x="597" y="1226"/>
                <a:ext cx="4536" cy="106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</p:grpSp>
        <p:sp>
          <p:nvSpPr>
            <p:cNvPr id="787469" name="Line 94"/>
            <p:cNvSpPr>
              <a:spLocks noChangeShapeType="1"/>
            </p:cNvSpPr>
            <p:nvPr/>
          </p:nvSpPr>
          <p:spPr bwMode="auto">
            <a:xfrm>
              <a:off x="165100" y="5440363"/>
              <a:ext cx="2806700" cy="0"/>
            </a:xfrm>
            <a:prstGeom prst="line">
              <a:avLst/>
            </a:prstGeom>
            <a:noFill/>
            <a:ln w="57150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grpSp>
          <p:nvGrpSpPr>
            <p:cNvPr id="787470" name="Group 95"/>
            <p:cNvGrpSpPr>
              <a:grpSpLocks/>
            </p:cNvGrpSpPr>
            <p:nvPr/>
          </p:nvGrpSpPr>
          <p:grpSpPr bwMode="auto">
            <a:xfrm>
              <a:off x="247650" y="2420938"/>
              <a:ext cx="742950" cy="1447800"/>
              <a:chOff x="672" y="528"/>
              <a:chExt cx="432" cy="912"/>
            </a:xfrm>
          </p:grpSpPr>
          <p:sp>
            <p:nvSpPr>
              <p:cNvPr id="787471" name="AutoShape 96"/>
              <p:cNvSpPr>
                <a:spLocks noChangeArrowheads="1"/>
              </p:cNvSpPr>
              <p:nvPr/>
            </p:nvSpPr>
            <p:spPr bwMode="auto">
              <a:xfrm>
                <a:off x="672" y="1008"/>
                <a:ext cx="432" cy="432"/>
              </a:xfrm>
              <a:prstGeom prst="cube">
                <a:avLst>
                  <a:gd name="adj" fmla="val 25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787472" name="AutoShape 97"/>
              <p:cNvSpPr>
                <a:spLocks noChangeArrowheads="1"/>
              </p:cNvSpPr>
              <p:nvPr/>
            </p:nvSpPr>
            <p:spPr bwMode="auto">
              <a:xfrm>
                <a:off x="672" y="720"/>
                <a:ext cx="432" cy="432"/>
              </a:xfrm>
              <a:prstGeom prst="cube">
                <a:avLst>
                  <a:gd name="adj" fmla="val 25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787473" name="AutoShape 98"/>
              <p:cNvSpPr>
                <a:spLocks noChangeArrowheads="1"/>
              </p:cNvSpPr>
              <p:nvPr/>
            </p:nvSpPr>
            <p:spPr bwMode="auto">
              <a:xfrm>
                <a:off x="672" y="528"/>
                <a:ext cx="432" cy="432"/>
              </a:xfrm>
              <a:prstGeom prst="cube">
                <a:avLst>
                  <a:gd name="adj" fmla="val 25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787474" name="Text Box 99"/>
            <p:cNvSpPr txBox="1">
              <a:spLocks noChangeArrowheads="1"/>
            </p:cNvSpPr>
            <p:nvPr/>
          </p:nvSpPr>
          <p:spPr bwMode="auto">
            <a:xfrm>
              <a:off x="287206" y="3430588"/>
              <a:ext cx="49564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IP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1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7475" name="Text Box 100"/>
            <p:cNvSpPr txBox="1">
              <a:spLocks noChangeArrowheads="1"/>
            </p:cNvSpPr>
            <p:nvPr/>
          </p:nvSpPr>
          <p:spPr bwMode="auto">
            <a:xfrm>
              <a:off x="233892" y="4849813"/>
              <a:ext cx="6030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HA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1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7476" name="Text Box 101"/>
            <p:cNvSpPr txBox="1">
              <a:spLocks noChangeArrowheads="1"/>
            </p:cNvSpPr>
            <p:nvPr/>
          </p:nvSpPr>
          <p:spPr bwMode="auto">
            <a:xfrm>
              <a:off x="5226448" y="4811713"/>
              <a:ext cx="6030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HA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5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7477" name="Text Box 102"/>
            <p:cNvSpPr txBox="1">
              <a:spLocks noChangeArrowheads="1"/>
            </p:cNvSpPr>
            <p:nvPr/>
          </p:nvSpPr>
          <p:spPr bwMode="auto">
            <a:xfrm>
              <a:off x="3604683" y="4805363"/>
              <a:ext cx="6030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HA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4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7478" name="Text Box 103"/>
            <p:cNvSpPr txBox="1">
              <a:spLocks noChangeArrowheads="1"/>
            </p:cNvSpPr>
            <p:nvPr/>
          </p:nvSpPr>
          <p:spPr bwMode="auto">
            <a:xfrm>
              <a:off x="2311400" y="4805363"/>
              <a:ext cx="6030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HA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3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7479" name="Line 104"/>
            <p:cNvSpPr>
              <a:spLocks noChangeShapeType="1"/>
            </p:cNvSpPr>
            <p:nvPr/>
          </p:nvSpPr>
          <p:spPr bwMode="auto">
            <a:xfrm>
              <a:off x="908050" y="3611563"/>
              <a:ext cx="206375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7480" name="Line 105"/>
            <p:cNvSpPr>
              <a:spLocks noChangeShapeType="1"/>
            </p:cNvSpPr>
            <p:nvPr/>
          </p:nvSpPr>
          <p:spPr bwMode="auto">
            <a:xfrm>
              <a:off x="6438900" y="5440363"/>
              <a:ext cx="3219450" cy="0"/>
            </a:xfrm>
            <a:prstGeom prst="line">
              <a:avLst/>
            </a:prstGeom>
            <a:noFill/>
            <a:ln w="57150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7481" name="Text Box 106"/>
            <p:cNvSpPr txBox="1">
              <a:spLocks noChangeArrowheads="1"/>
            </p:cNvSpPr>
            <p:nvPr/>
          </p:nvSpPr>
          <p:spPr bwMode="auto">
            <a:xfrm>
              <a:off x="6507692" y="4799013"/>
              <a:ext cx="6030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HA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6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7482" name="Text Box 107"/>
            <p:cNvSpPr txBox="1">
              <a:spLocks noChangeArrowheads="1"/>
            </p:cNvSpPr>
            <p:nvPr/>
          </p:nvSpPr>
          <p:spPr bwMode="auto">
            <a:xfrm>
              <a:off x="8805333" y="4814888"/>
              <a:ext cx="6030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HA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2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7483" name="Text Box 108"/>
            <p:cNvSpPr txBox="1">
              <a:spLocks noChangeArrowheads="1"/>
            </p:cNvSpPr>
            <p:nvPr/>
          </p:nvSpPr>
          <p:spPr bwMode="auto">
            <a:xfrm>
              <a:off x="6507692" y="3709988"/>
              <a:ext cx="49564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IP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6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7484" name="Text Box 109"/>
            <p:cNvSpPr txBox="1">
              <a:spLocks noChangeArrowheads="1"/>
            </p:cNvSpPr>
            <p:nvPr/>
          </p:nvSpPr>
          <p:spPr bwMode="auto">
            <a:xfrm>
              <a:off x="116946" y="2060576"/>
              <a:ext cx="96212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主机 </a:t>
              </a:r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1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7485" name="Text Box 110"/>
            <p:cNvSpPr txBox="1">
              <a:spLocks noChangeArrowheads="1"/>
            </p:cNvSpPr>
            <p:nvPr/>
          </p:nvSpPr>
          <p:spPr bwMode="auto">
            <a:xfrm>
              <a:off x="8702146" y="2035176"/>
              <a:ext cx="96212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主机 </a:t>
              </a:r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H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2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7486" name="AutoShape 111"/>
            <p:cNvSpPr>
              <a:spLocks noChangeArrowheads="1"/>
            </p:cNvSpPr>
            <p:nvPr/>
          </p:nvSpPr>
          <p:spPr bwMode="auto">
            <a:xfrm>
              <a:off x="2889250" y="3259138"/>
              <a:ext cx="742950" cy="609600"/>
            </a:xfrm>
            <a:prstGeom prst="cube">
              <a:avLst>
                <a:gd name="adj" fmla="val 25000"/>
              </a:avLst>
            </a:prstGeom>
            <a:solidFill>
              <a:srgbClr val="66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7487" name="Text Box 112"/>
            <p:cNvSpPr txBox="1">
              <a:spLocks noChangeArrowheads="1"/>
            </p:cNvSpPr>
            <p:nvPr/>
          </p:nvSpPr>
          <p:spPr bwMode="auto">
            <a:xfrm>
              <a:off x="2834217" y="2887663"/>
              <a:ext cx="119295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路由器 </a:t>
              </a:r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R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1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7488" name="Text Box 113"/>
            <p:cNvSpPr txBox="1">
              <a:spLocks noChangeArrowheads="1"/>
            </p:cNvSpPr>
            <p:nvPr/>
          </p:nvSpPr>
          <p:spPr bwMode="auto">
            <a:xfrm>
              <a:off x="4485217" y="4186239"/>
              <a:ext cx="2410468" cy="461665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rgbClr val="333399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IP </a:t>
              </a:r>
              <a:r>
                <a:rPr lang="zh-CN" altLang="en-US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层上的互联网</a:t>
              </a:r>
            </a:p>
          </p:txBody>
        </p:sp>
        <p:sp>
          <p:nvSpPr>
            <p:cNvPr id="787489" name="Text Box 114"/>
            <p:cNvSpPr txBox="1">
              <a:spLocks noChangeArrowheads="1"/>
            </p:cNvSpPr>
            <p:nvPr/>
          </p:nvSpPr>
          <p:spPr bwMode="auto">
            <a:xfrm>
              <a:off x="1073150" y="5948363"/>
              <a:ext cx="100700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MAC </a:t>
              </a:r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帧</a:t>
              </a:r>
            </a:p>
          </p:txBody>
        </p:sp>
        <p:grpSp>
          <p:nvGrpSpPr>
            <p:cNvPr id="787490" name="Group 115"/>
            <p:cNvGrpSpPr>
              <a:grpSpLocks/>
            </p:cNvGrpSpPr>
            <p:nvPr/>
          </p:nvGrpSpPr>
          <p:grpSpPr bwMode="auto">
            <a:xfrm>
              <a:off x="8832850" y="2420938"/>
              <a:ext cx="742950" cy="1447800"/>
              <a:chOff x="672" y="528"/>
              <a:chExt cx="432" cy="912"/>
            </a:xfrm>
          </p:grpSpPr>
          <p:sp>
            <p:nvSpPr>
              <p:cNvPr id="787491" name="AutoShape 116"/>
              <p:cNvSpPr>
                <a:spLocks noChangeArrowheads="1"/>
              </p:cNvSpPr>
              <p:nvPr/>
            </p:nvSpPr>
            <p:spPr bwMode="auto">
              <a:xfrm>
                <a:off x="672" y="1008"/>
                <a:ext cx="432" cy="432"/>
              </a:xfrm>
              <a:prstGeom prst="cube">
                <a:avLst>
                  <a:gd name="adj" fmla="val 25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787492" name="AutoShape 117"/>
              <p:cNvSpPr>
                <a:spLocks noChangeArrowheads="1"/>
              </p:cNvSpPr>
              <p:nvPr/>
            </p:nvSpPr>
            <p:spPr bwMode="auto">
              <a:xfrm>
                <a:off x="672" y="720"/>
                <a:ext cx="432" cy="432"/>
              </a:xfrm>
              <a:prstGeom prst="cube">
                <a:avLst>
                  <a:gd name="adj" fmla="val 25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787493" name="AutoShape 118"/>
              <p:cNvSpPr>
                <a:spLocks noChangeArrowheads="1"/>
              </p:cNvSpPr>
              <p:nvPr/>
            </p:nvSpPr>
            <p:spPr bwMode="auto">
              <a:xfrm>
                <a:off x="672" y="528"/>
                <a:ext cx="432" cy="432"/>
              </a:xfrm>
              <a:prstGeom prst="cube">
                <a:avLst>
                  <a:gd name="adj" fmla="val 25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787494" name="Text Box 119"/>
            <p:cNvSpPr txBox="1">
              <a:spLocks noChangeArrowheads="1"/>
            </p:cNvSpPr>
            <p:nvPr/>
          </p:nvSpPr>
          <p:spPr bwMode="auto">
            <a:xfrm>
              <a:off x="8886165" y="3435351"/>
              <a:ext cx="49564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IP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2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7495" name="Text Box 120"/>
            <p:cNvSpPr txBox="1">
              <a:spLocks noChangeArrowheads="1"/>
            </p:cNvSpPr>
            <p:nvPr/>
          </p:nvSpPr>
          <p:spPr bwMode="auto">
            <a:xfrm>
              <a:off x="3597804" y="3697288"/>
              <a:ext cx="49564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IP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4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7496" name="Text Box 121"/>
            <p:cNvSpPr txBox="1">
              <a:spLocks noChangeArrowheads="1"/>
            </p:cNvSpPr>
            <p:nvPr/>
          </p:nvSpPr>
          <p:spPr bwMode="auto">
            <a:xfrm>
              <a:off x="2476500" y="3697288"/>
              <a:ext cx="49564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IP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3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7497" name="Line 122"/>
            <p:cNvSpPr>
              <a:spLocks noChangeShapeType="1"/>
            </p:cNvSpPr>
            <p:nvPr/>
          </p:nvSpPr>
          <p:spPr bwMode="auto">
            <a:xfrm>
              <a:off x="3549650" y="3611563"/>
              <a:ext cx="222885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7498" name="AutoShape 123"/>
            <p:cNvSpPr>
              <a:spLocks noChangeArrowheads="1"/>
            </p:cNvSpPr>
            <p:nvPr/>
          </p:nvSpPr>
          <p:spPr bwMode="auto">
            <a:xfrm>
              <a:off x="5776781" y="3230563"/>
              <a:ext cx="742950" cy="609600"/>
            </a:xfrm>
            <a:prstGeom prst="cube">
              <a:avLst>
                <a:gd name="adj" fmla="val 25000"/>
              </a:avLst>
            </a:prstGeom>
            <a:solidFill>
              <a:srgbClr val="66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7499" name="Line 124"/>
            <p:cNvSpPr>
              <a:spLocks noChangeShapeType="1"/>
            </p:cNvSpPr>
            <p:nvPr/>
          </p:nvSpPr>
          <p:spPr bwMode="auto">
            <a:xfrm>
              <a:off x="6438900" y="3611563"/>
              <a:ext cx="239395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7500" name="Text Box 125"/>
            <p:cNvSpPr txBox="1">
              <a:spLocks noChangeArrowheads="1"/>
            </p:cNvSpPr>
            <p:nvPr/>
          </p:nvSpPr>
          <p:spPr bwMode="auto">
            <a:xfrm>
              <a:off x="5365750" y="3697288"/>
              <a:ext cx="49564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IP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5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7501" name="Line 126"/>
            <p:cNvSpPr>
              <a:spLocks noChangeShapeType="1"/>
            </p:cNvSpPr>
            <p:nvPr/>
          </p:nvSpPr>
          <p:spPr bwMode="auto">
            <a:xfrm>
              <a:off x="3632200" y="5440363"/>
              <a:ext cx="2063750" cy="0"/>
            </a:xfrm>
            <a:prstGeom prst="line">
              <a:avLst/>
            </a:prstGeom>
            <a:noFill/>
            <a:ln w="57150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7502" name="Freeform 127"/>
            <p:cNvSpPr>
              <a:spLocks noChangeArrowheads="1"/>
            </p:cNvSpPr>
            <p:nvPr/>
          </p:nvSpPr>
          <p:spPr bwMode="auto">
            <a:xfrm flipH="1">
              <a:off x="6414823" y="5156201"/>
              <a:ext cx="369756" cy="284163"/>
            </a:xfrm>
            <a:custGeom>
              <a:avLst/>
              <a:gdLst>
                <a:gd name="T0" fmla="*/ 0 w 249"/>
                <a:gd name="T1" fmla="*/ 176 h 176"/>
                <a:gd name="T2" fmla="*/ 1 w 249"/>
                <a:gd name="T3" fmla="*/ 0 h 176"/>
                <a:gd name="T4" fmla="*/ 249 w 249"/>
                <a:gd name="T5" fmla="*/ 9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9" h="176">
                  <a:moveTo>
                    <a:pt x="0" y="176"/>
                  </a:moveTo>
                  <a:lnTo>
                    <a:pt x="1" y="0"/>
                  </a:lnTo>
                  <a:lnTo>
                    <a:pt x="249" y="9"/>
                  </a:lnTo>
                </a:path>
              </a:pathLst>
            </a:cu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7503" name="Freeform 128"/>
            <p:cNvSpPr>
              <a:spLocks noChangeArrowheads="1"/>
            </p:cNvSpPr>
            <p:nvPr/>
          </p:nvSpPr>
          <p:spPr bwMode="auto">
            <a:xfrm flipH="1">
              <a:off x="3503216" y="5162550"/>
              <a:ext cx="459184" cy="279400"/>
            </a:xfrm>
            <a:custGeom>
              <a:avLst/>
              <a:gdLst>
                <a:gd name="T0" fmla="*/ 0 w 249"/>
                <a:gd name="T1" fmla="*/ 176 h 176"/>
                <a:gd name="T2" fmla="*/ 1 w 249"/>
                <a:gd name="T3" fmla="*/ 0 h 176"/>
                <a:gd name="T4" fmla="*/ 249 w 249"/>
                <a:gd name="T5" fmla="*/ 9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9" h="176">
                  <a:moveTo>
                    <a:pt x="0" y="176"/>
                  </a:moveTo>
                  <a:lnTo>
                    <a:pt x="1" y="0"/>
                  </a:lnTo>
                  <a:lnTo>
                    <a:pt x="249" y="9"/>
                  </a:lnTo>
                </a:path>
              </a:pathLst>
            </a:cu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7504" name="Text Box 129"/>
            <p:cNvSpPr txBox="1">
              <a:spLocks noChangeArrowheads="1"/>
            </p:cNvSpPr>
            <p:nvPr/>
          </p:nvSpPr>
          <p:spPr bwMode="auto">
            <a:xfrm>
              <a:off x="5652956" y="2862263"/>
              <a:ext cx="119295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路由器 </a:t>
              </a:r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R</a:t>
              </a:r>
              <a:r>
                <a:rPr lang="en-US" altLang="zh-CN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2</a:t>
              </a:r>
              <a:endParaRPr lang="en-US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grpSp>
          <p:nvGrpSpPr>
            <p:cNvPr id="787505" name="Group 139"/>
            <p:cNvGrpSpPr>
              <a:grpSpLocks/>
            </p:cNvGrpSpPr>
            <p:nvPr/>
          </p:nvGrpSpPr>
          <p:grpSpPr bwMode="auto">
            <a:xfrm>
              <a:off x="660400" y="5592763"/>
              <a:ext cx="2146300" cy="381000"/>
              <a:chOff x="480" y="3120"/>
              <a:chExt cx="1248" cy="240"/>
            </a:xfrm>
          </p:grpSpPr>
          <p:sp>
            <p:nvSpPr>
              <p:cNvPr id="787506" name="Rectangle 140"/>
              <p:cNvSpPr>
                <a:spLocks noChangeArrowheads="1"/>
              </p:cNvSpPr>
              <p:nvPr/>
            </p:nvSpPr>
            <p:spPr bwMode="auto">
              <a:xfrm>
                <a:off x="480" y="3120"/>
                <a:ext cx="1056" cy="240"/>
              </a:xfrm>
              <a:prstGeom prst="rect">
                <a:avLst/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从 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HA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1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 </a:t>
                </a:r>
                <a:r>
                  <a: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到 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HA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3</a:t>
                </a:r>
              </a:p>
            </p:txBody>
          </p:sp>
          <p:sp>
            <p:nvSpPr>
              <p:cNvPr id="787507" name="AutoShape 141"/>
              <p:cNvSpPr>
                <a:spLocks noChangeArrowheads="1"/>
              </p:cNvSpPr>
              <p:nvPr/>
            </p:nvSpPr>
            <p:spPr bwMode="auto">
              <a:xfrm>
                <a:off x="1536" y="3168"/>
                <a:ext cx="192" cy="144"/>
              </a:xfrm>
              <a:prstGeom prst="rightArrow">
                <a:avLst>
                  <a:gd name="adj1" fmla="val 50000"/>
                  <a:gd name="adj2" fmla="val 54167"/>
                </a:avLst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787508" name="Group 142"/>
            <p:cNvGrpSpPr>
              <a:grpSpLocks/>
            </p:cNvGrpSpPr>
            <p:nvPr/>
          </p:nvGrpSpPr>
          <p:grpSpPr bwMode="auto">
            <a:xfrm>
              <a:off x="3797300" y="5592763"/>
              <a:ext cx="2146300" cy="381000"/>
              <a:chOff x="480" y="3120"/>
              <a:chExt cx="1248" cy="240"/>
            </a:xfrm>
          </p:grpSpPr>
          <p:sp>
            <p:nvSpPr>
              <p:cNvPr id="787509" name="Rectangle 143"/>
              <p:cNvSpPr>
                <a:spLocks noChangeArrowheads="1"/>
              </p:cNvSpPr>
              <p:nvPr/>
            </p:nvSpPr>
            <p:spPr bwMode="auto">
              <a:xfrm>
                <a:off x="480" y="3120"/>
                <a:ext cx="1056" cy="240"/>
              </a:xfrm>
              <a:prstGeom prst="rect">
                <a:avLst/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从 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HA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4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 </a:t>
                </a:r>
                <a:r>
                  <a: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到 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HA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5</a:t>
                </a:r>
              </a:p>
            </p:txBody>
          </p:sp>
          <p:sp>
            <p:nvSpPr>
              <p:cNvPr id="787510" name="AutoShape 144"/>
              <p:cNvSpPr>
                <a:spLocks noChangeArrowheads="1"/>
              </p:cNvSpPr>
              <p:nvPr/>
            </p:nvSpPr>
            <p:spPr bwMode="auto">
              <a:xfrm>
                <a:off x="1536" y="3168"/>
                <a:ext cx="192" cy="144"/>
              </a:xfrm>
              <a:prstGeom prst="rightArrow">
                <a:avLst>
                  <a:gd name="adj1" fmla="val 50000"/>
                  <a:gd name="adj2" fmla="val 54167"/>
                </a:avLst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787511" name="Group 145"/>
            <p:cNvGrpSpPr>
              <a:grpSpLocks/>
            </p:cNvGrpSpPr>
            <p:nvPr/>
          </p:nvGrpSpPr>
          <p:grpSpPr bwMode="auto">
            <a:xfrm>
              <a:off x="6934200" y="5592763"/>
              <a:ext cx="2146300" cy="381000"/>
              <a:chOff x="480" y="3120"/>
              <a:chExt cx="1248" cy="240"/>
            </a:xfrm>
          </p:grpSpPr>
          <p:sp>
            <p:nvSpPr>
              <p:cNvPr id="787512" name="Rectangle 146"/>
              <p:cNvSpPr>
                <a:spLocks noChangeArrowheads="1"/>
              </p:cNvSpPr>
              <p:nvPr/>
            </p:nvSpPr>
            <p:spPr bwMode="auto">
              <a:xfrm>
                <a:off x="480" y="3120"/>
                <a:ext cx="1056" cy="240"/>
              </a:xfrm>
              <a:prstGeom prst="rect">
                <a:avLst/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从 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HA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6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 </a:t>
                </a:r>
                <a:r>
                  <a: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到 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HA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2</a:t>
                </a:r>
              </a:p>
            </p:txBody>
          </p:sp>
          <p:sp>
            <p:nvSpPr>
              <p:cNvPr id="787513" name="AutoShape 147"/>
              <p:cNvSpPr>
                <a:spLocks noChangeArrowheads="1"/>
              </p:cNvSpPr>
              <p:nvPr/>
            </p:nvSpPr>
            <p:spPr bwMode="auto">
              <a:xfrm>
                <a:off x="1536" y="3168"/>
                <a:ext cx="192" cy="144"/>
              </a:xfrm>
              <a:prstGeom prst="rightArrow">
                <a:avLst>
                  <a:gd name="adj1" fmla="val 50000"/>
                  <a:gd name="adj2" fmla="val 54167"/>
                </a:avLst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787514" name="Text Box 148"/>
            <p:cNvSpPr txBox="1">
              <a:spLocks noChangeArrowheads="1"/>
            </p:cNvSpPr>
            <p:nvPr/>
          </p:nvSpPr>
          <p:spPr bwMode="auto">
            <a:xfrm>
              <a:off x="7429500" y="6018213"/>
              <a:ext cx="100700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MAC </a:t>
              </a:r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帧</a:t>
              </a:r>
            </a:p>
          </p:txBody>
        </p:sp>
        <p:sp>
          <p:nvSpPr>
            <p:cNvPr id="787515" name="Text Box 149"/>
            <p:cNvSpPr txBox="1">
              <a:spLocks noChangeArrowheads="1"/>
            </p:cNvSpPr>
            <p:nvPr/>
          </p:nvSpPr>
          <p:spPr bwMode="auto">
            <a:xfrm>
              <a:off x="4308079" y="6018213"/>
              <a:ext cx="100700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MAC </a:t>
              </a:r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帧</a:t>
              </a:r>
            </a:p>
          </p:txBody>
        </p:sp>
      </p:grpSp>
      <p:grpSp>
        <p:nvGrpSpPr>
          <p:cNvPr id="787516" name="组合 3"/>
          <p:cNvGrpSpPr>
            <a:grpSpLocks/>
          </p:cNvGrpSpPr>
          <p:nvPr/>
        </p:nvGrpSpPr>
        <p:grpSpPr bwMode="auto">
          <a:xfrm>
            <a:off x="1238250" y="3154363"/>
            <a:ext cx="7346950" cy="381000"/>
            <a:chOff x="1238250" y="3154363"/>
            <a:chExt cx="7346950" cy="381000"/>
          </a:xfrm>
        </p:grpSpPr>
        <p:grpSp>
          <p:nvGrpSpPr>
            <p:cNvPr id="787517" name="Group 130"/>
            <p:cNvGrpSpPr>
              <a:grpSpLocks/>
            </p:cNvGrpSpPr>
            <p:nvPr/>
          </p:nvGrpSpPr>
          <p:grpSpPr bwMode="auto">
            <a:xfrm>
              <a:off x="1238250" y="3154363"/>
              <a:ext cx="1568450" cy="381000"/>
              <a:chOff x="1632" y="2688"/>
              <a:chExt cx="912" cy="240"/>
            </a:xfrm>
          </p:grpSpPr>
          <p:sp>
            <p:nvSpPr>
              <p:cNvPr id="787518" name="Rectangle 131"/>
              <p:cNvSpPr>
                <a:spLocks noChangeArrowheads="1"/>
              </p:cNvSpPr>
              <p:nvPr/>
            </p:nvSpPr>
            <p:spPr bwMode="auto">
              <a:xfrm>
                <a:off x="1632" y="2688"/>
                <a:ext cx="720" cy="240"/>
              </a:xfrm>
              <a:prstGeom prst="rect">
                <a:avLst/>
              </a:prstGeom>
              <a:solidFill>
                <a:srgbClr val="FF99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  IP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1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 → IP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2</a:t>
                </a:r>
              </a:p>
            </p:txBody>
          </p:sp>
          <p:sp>
            <p:nvSpPr>
              <p:cNvPr id="787519" name="AutoShape 132"/>
              <p:cNvSpPr>
                <a:spLocks noChangeArrowheads="1"/>
              </p:cNvSpPr>
              <p:nvPr/>
            </p:nvSpPr>
            <p:spPr bwMode="auto">
              <a:xfrm>
                <a:off x="2352" y="2736"/>
                <a:ext cx="192" cy="144"/>
              </a:xfrm>
              <a:prstGeom prst="rightArrow">
                <a:avLst>
                  <a:gd name="adj1" fmla="val 50000"/>
                  <a:gd name="adj2" fmla="val 54167"/>
                </a:avLst>
              </a:prstGeom>
              <a:solidFill>
                <a:srgbClr val="FF99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787520" name="Group 133"/>
            <p:cNvGrpSpPr>
              <a:grpSpLocks/>
            </p:cNvGrpSpPr>
            <p:nvPr/>
          </p:nvGrpSpPr>
          <p:grpSpPr bwMode="auto">
            <a:xfrm>
              <a:off x="4044950" y="3154363"/>
              <a:ext cx="1568450" cy="381000"/>
              <a:chOff x="1632" y="2688"/>
              <a:chExt cx="912" cy="240"/>
            </a:xfrm>
          </p:grpSpPr>
          <p:sp>
            <p:nvSpPr>
              <p:cNvPr id="787521" name="Rectangle 134"/>
              <p:cNvSpPr>
                <a:spLocks noChangeArrowheads="1"/>
              </p:cNvSpPr>
              <p:nvPr/>
            </p:nvSpPr>
            <p:spPr bwMode="auto">
              <a:xfrm>
                <a:off x="1632" y="2688"/>
                <a:ext cx="720" cy="240"/>
              </a:xfrm>
              <a:prstGeom prst="rect">
                <a:avLst/>
              </a:prstGeom>
              <a:solidFill>
                <a:srgbClr val="FF99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IP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1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 → IP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2</a:t>
                </a:r>
              </a:p>
            </p:txBody>
          </p:sp>
          <p:sp>
            <p:nvSpPr>
              <p:cNvPr id="787522" name="AutoShape 135"/>
              <p:cNvSpPr>
                <a:spLocks noChangeArrowheads="1"/>
              </p:cNvSpPr>
              <p:nvPr/>
            </p:nvSpPr>
            <p:spPr bwMode="auto">
              <a:xfrm>
                <a:off x="2352" y="2736"/>
                <a:ext cx="192" cy="144"/>
              </a:xfrm>
              <a:prstGeom prst="rightArrow">
                <a:avLst>
                  <a:gd name="adj1" fmla="val 50000"/>
                  <a:gd name="adj2" fmla="val 54167"/>
                </a:avLst>
              </a:prstGeom>
              <a:solidFill>
                <a:srgbClr val="FF99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787523" name="Group 136"/>
            <p:cNvGrpSpPr>
              <a:grpSpLocks/>
            </p:cNvGrpSpPr>
            <p:nvPr/>
          </p:nvGrpSpPr>
          <p:grpSpPr bwMode="auto">
            <a:xfrm>
              <a:off x="7016750" y="3154363"/>
              <a:ext cx="1568450" cy="381000"/>
              <a:chOff x="1632" y="2688"/>
              <a:chExt cx="912" cy="240"/>
            </a:xfrm>
          </p:grpSpPr>
          <p:sp>
            <p:nvSpPr>
              <p:cNvPr id="787524" name="Rectangle 137"/>
              <p:cNvSpPr>
                <a:spLocks noChangeArrowheads="1"/>
              </p:cNvSpPr>
              <p:nvPr/>
            </p:nvSpPr>
            <p:spPr bwMode="auto">
              <a:xfrm>
                <a:off x="1632" y="2688"/>
                <a:ext cx="720" cy="240"/>
              </a:xfrm>
              <a:prstGeom prst="rect">
                <a:avLst/>
              </a:prstGeom>
              <a:solidFill>
                <a:srgbClr val="FF99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IP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1</a:t>
                </a:r>
                <a:r>
                  <a:rPr lang="en-US" altLang="zh-CN" b="1">
                    <a:solidFill>
                      <a:srgbClr val="0000CC"/>
                    </a:solidFill>
                    <a:ea typeface="黑体" panose="02010609060101010101" pitchFamily="49" charset="-122"/>
                  </a:rPr>
                  <a:t> → IP</a:t>
                </a:r>
                <a:r>
                  <a:rPr lang="en-US" altLang="zh-CN" b="1" baseline="-25000">
                    <a:solidFill>
                      <a:srgbClr val="0000CC"/>
                    </a:solidFill>
                    <a:ea typeface="黑体" panose="02010609060101010101" pitchFamily="49" charset="-122"/>
                  </a:rPr>
                  <a:t>2</a:t>
                </a:r>
              </a:p>
            </p:txBody>
          </p:sp>
          <p:sp>
            <p:nvSpPr>
              <p:cNvPr id="787525" name="AutoShape 138"/>
              <p:cNvSpPr>
                <a:spLocks noChangeArrowheads="1"/>
              </p:cNvSpPr>
              <p:nvPr/>
            </p:nvSpPr>
            <p:spPr bwMode="auto">
              <a:xfrm>
                <a:off x="2352" y="2736"/>
                <a:ext cx="192" cy="144"/>
              </a:xfrm>
              <a:prstGeom prst="rightArrow">
                <a:avLst>
                  <a:gd name="adj1" fmla="val 50000"/>
                  <a:gd name="adj2" fmla="val 54167"/>
                </a:avLst>
              </a:prstGeom>
              <a:solidFill>
                <a:srgbClr val="FF99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</p:grpSp>
      </p:grpSp>
      <p:grpSp>
        <p:nvGrpSpPr>
          <p:cNvPr id="787526" name="组合 4"/>
          <p:cNvGrpSpPr>
            <a:grpSpLocks/>
          </p:cNvGrpSpPr>
          <p:nvPr/>
        </p:nvGrpSpPr>
        <p:grpSpPr bwMode="auto">
          <a:xfrm>
            <a:off x="2228850" y="2292350"/>
            <a:ext cx="1320800" cy="393700"/>
            <a:chOff x="2228850" y="2292351"/>
            <a:chExt cx="1320800" cy="393144"/>
          </a:xfrm>
        </p:grpSpPr>
        <p:sp>
          <p:nvSpPr>
            <p:cNvPr id="787527" name="AutoShape 150"/>
            <p:cNvSpPr>
              <a:spLocks noChangeArrowheads="1"/>
            </p:cNvSpPr>
            <p:nvPr/>
          </p:nvSpPr>
          <p:spPr bwMode="auto">
            <a:xfrm flipV="1">
              <a:off x="2228850" y="2292351"/>
              <a:ext cx="1320800" cy="377825"/>
            </a:xfrm>
            <a:prstGeom prst="wedgeRoundRectCallout">
              <a:avLst>
                <a:gd name="adj1" fmla="val -75782"/>
                <a:gd name="adj2" fmla="val -203782"/>
                <a:gd name="adj3" fmla="val 16667"/>
              </a:avLst>
            </a:prstGeom>
            <a:solidFill>
              <a:srgbClr val="66FF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pPr algn="ctr" eaLnBrk="0" hangingPunct="0"/>
              <a:endParaRPr lang="zh-CN" altLang="zh-CN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87528" name="Text Box 151"/>
            <p:cNvSpPr txBox="1">
              <a:spLocks noChangeArrowheads="1"/>
            </p:cNvSpPr>
            <p:nvPr/>
          </p:nvSpPr>
          <p:spPr bwMode="auto">
            <a:xfrm>
              <a:off x="2270125" y="2316163"/>
              <a:ext cx="115993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CC"/>
                  </a:solidFill>
                  <a:ea typeface="黑体" panose="02010609060101010101" pitchFamily="49" charset="-122"/>
                </a:rPr>
                <a:t>IP </a:t>
              </a:r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数据报</a:t>
              </a:r>
            </a:p>
          </p:txBody>
        </p:sp>
      </p:grpSp>
      <p:sp>
        <p:nvSpPr>
          <p:cNvPr id="787529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5A2BD58-EA2D-4E1F-9CAA-CF4971376FBE}" type="slidenum">
              <a:rPr lang="zh-CN" altLang="en-US" smtClean="0"/>
              <a:pPr eaLnBrk="1" hangingPunct="1"/>
              <a:t>12</a:t>
            </a:fld>
            <a:endParaRPr lang="en-US" altLang="zh-CN" smtClean="0"/>
          </a:p>
        </p:txBody>
      </p:sp>
      <p:sp>
        <p:nvSpPr>
          <p:cNvPr id="787530" name="页脚占位符 7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505" name="标题 1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1511300"/>
          </a:xfrm>
        </p:spPr>
        <p:txBody>
          <a:bodyPr/>
          <a:lstStyle/>
          <a:p>
            <a:pPr algn="ctr"/>
            <a:r>
              <a:rPr lang="zh-CN" altLang="en-US" smtClean="0">
                <a:ea typeface="黑体" panose="02010609060101010101" pitchFamily="49" charset="-122"/>
              </a:rPr>
              <a:t>主机 </a:t>
            </a:r>
            <a:r>
              <a:rPr lang="en-US" altLang="zh-CN" smtClean="0">
                <a:ea typeface="黑体" panose="02010609060101010101" pitchFamily="49" charset="-122"/>
              </a:rPr>
              <a:t>H</a:t>
            </a:r>
            <a:r>
              <a:rPr lang="en-US" altLang="zh-CN" baseline="-25000" smtClean="0">
                <a:ea typeface="黑体" panose="02010609060101010101" pitchFamily="49" charset="-122"/>
              </a:rPr>
              <a:t>1</a:t>
            </a:r>
            <a:r>
              <a:rPr lang="en-US" altLang="zh-CN" smtClean="0">
                <a:ea typeface="黑体" panose="02010609060101010101" pitchFamily="49" charset="-122"/>
              </a:rPr>
              <a:t> </a:t>
            </a:r>
            <a:r>
              <a:rPr lang="zh-CN" altLang="en-US" smtClean="0">
                <a:ea typeface="黑体" panose="02010609060101010101" pitchFamily="49" charset="-122"/>
              </a:rPr>
              <a:t>与 </a:t>
            </a:r>
            <a:r>
              <a:rPr lang="en-US" altLang="zh-CN" smtClean="0">
                <a:ea typeface="黑体" panose="02010609060101010101" pitchFamily="49" charset="-122"/>
              </a:rPr>
              <a:t>H</a:t>
            </a:r>
            <a:r>
              <a:rPr lang="en-US" altLang="zh-CN" baseline="-25000" smtClean="0">
                <a:ea typeface="黑体" panose="02010609060101010101" pitchFamily="49" charset="-122"/>
              </a:rPr>
              <a:t>2</a:t>
            </a:r>
            <a:r>
              <a:rPr lang="en-US" altLang="zh-CN" smtClean="0">
                <a:ea typeface="黑体" panose="02010609060101010101" pitchFamily="49" charset="-122"/>
              </a:rPr>
              <a:t> </a:t>
            </a:r>
            <a:r>
              <a:rPr lang="zh-CN" altLang="en-US" smtClean="0">
                <a:ea typeface="黑体" panose="02010609060101010101" pitchFamily="49" charset="-122"/>
              </a:rPr>
              <a:t>通信中使用的</a:t>
            </a:r>
            <a:r>
              <a:rPr lang="en-US" altLang="zh-CN" smtClean="0">
                <a:ea typeface="黑体" panose="02010609060101010101" pitchFamily="49" charset="-122"/>
              </a:rPr>
              <a:t/>
            </a:r>
            <a:br>
              <a:rPr lang="en-US" altLang="zh-CN" smtClean="0">
                <a:ea typeface="黑体" panose="02010609060101010101" pitchFamily="49" charset="-122"/>
              </a:rPr>
            </a:br>
            <a:r>
              <a:rPr lang="en-US" altLang="zh-CN" smtClean="0">
                <a:ea typeface="黑体" panose="02010609060101010101" pitchFamily="49" charset="-122"/>
              </a:rPr>
              <a:t>IP</a:t>
            </a:r>
            <a:r>
              <a:rPr lang="zh-CN" altLang="zh-CN" smtClean="0">
                <a:ea typeface="黑体" panose="02010609060101010101" pitchFamily="49" charset="-122"/>
              </a:rPr>
              <a:t>地址</a:t>
            </a:r>
            <a:r>
              <a:rPr lang="en-US" altLang="zh-CN" smtClean="0">
                <a:ea typeface="黑体" panose="02010609060101010101" pitchFamily="49" charset="-122"/>
              </a:rPr>
              <a:t> </a:t>
            </a:r>
            <a:r>
              <a:rPr lang="zh-CN" altLang="zh-CN" smtClean="0">
                <a:ea typeface="黑体" panose="02010609060101010101" pitchFamily="49" charset="-122"/>
              </a:rPr>
              <a:t>与</a:t>
            </a:r>
            <a:r>
              <a:rPr lang="en-US" altLang="zh-CN" smtClean="0">
                <a:ea typeface="黑体" panose="02010609060101010101" pitchFamily="49" charset="-122"/>
              </a:rPr>
              <a:t> </a:t>
            </a:r>
            <a:r>
              <a:rPr lang="zh-CN" altLang="zh-CN" smtClean="0">
                <a:ea typeface="黑体" panose="02010609060101010101" pitchFamily="49" charset="-122"/>
              </a:rPr>
              <a:t>硬件地址</a:t>
            </a:r>
            <a:r>
              <a:rPr lang="en-US" altLang="zh-CN" smtClean="0">
                <a:ea typeface="黑体" panose="02010609060101010101" pitchFamily="49" charset="-122"/>
              </a:rPr>
              <a:t>HA</a:t>
            </a:r>
            <a:endParaRPr lang="zh-CN" altLang="en-US" smtClean="0">
              <a:ea typeface="黑体" panose="02010609060101010101" pitchFamily="49" charset="-122"/>
            </a:endParaRPr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</p:nvPr>
        </p:nvGraphicFramePr>
        <p:xfrm>
          <a:off x="631825" y="2133600"/>
          <a:ext cx="8642351" cy="29511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59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15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15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9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697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83720"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 </a:t>
                      </a:r>
                      <a:endParaRPr lang="zh-CN" sz="2400" b="1" dirty="0">
                        <a:solidFill>
                          <a:schemeClr val="tx1"/>
                        </a:solidFill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91" marR="68591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24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在网络层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24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写入</a:t>
                      </a:r>
                      <a:r>
                        <a:rPr lang="en-US" sz="24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IP</a:t>
                      </a:r>
                      <a:r>
                        <a:rPr lang="zh-CN" sz="24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数据报首部的地址</a:t>
                      </a:r>
                    </a:p>
                  </a:txBody>
                  <a:tcPr marL="68591" marR="68591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24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在数据链路层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24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写入</a:t>
                      </a:r>
                      <a:r>
                        <a:rPr lang="en-US" sz="24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MAC</a:t>
                      </a:r>
                      <a:r>
                        <a:rPr lang="zh-CN" sz="24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帧首部的地址</a:t>
                      </a:r>
                    </a:p>
                  </a:txBody>
                  <a:tcPr marL="68591" marR="68591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861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2400" b="1">
                          <a:solidFill>
                            <a:schemeClr val="tx1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源地址</a:t>
                      </a:r>
                    </a:p>
                  </a:txBody>
                  <a:tcPr marL="68591" marR="68591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2400" b="1">
                          <a:solidFill>
                            <a:schemeClr val="tx1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目的地址</a:t>
                      </a:r>
                    </a:p>
                  </a:txBody>
                  <a:tcPr marL="68591" marR="68591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2400" b="1">
                          <a:solidFill>
                            <a:schemeClr val="tx1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源地址</a:t>
                      </a:r>
                    </a:p>
                  </a:txBody>
                  <a:tcPr marL="68591" marR="68591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24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目的地址</a:t>
                      </a:r>
                    </a:p>
                  </a:txBody>
                  <a:tcPr marL="68591" marR="68591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86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2400" b="1">
                          <a:solidFill>
                            <a:schemeClr val="tx1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从</a:t>
                      </a:r>
                      <a:r>
                        <a:rPr lang="en-US" sz="2400" b="1">
                          <a:solidFill>
                            <a:schemeClr val="tx1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H</a:t>
                      </a:r>
                      <a:r>
                        <a:rPr lang="en-US" sz="2400" b="1" baseline="-25000">
                          <a:solidFill>
                            <a:schemeClr val="tx1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1</a:t>
                      </a:r>
                      <a:r>
                        <a:rPr lang="zh-CN" sz="2400" b="1">
                          <a:solidFill>
                            <a:schemeClr val="tx1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到</a:t>
                      </a:r>
                      <a:r>
                        <a:rPr lang="en-US" sz="2400" b="1">
                          <a:solidFill>
                            <a:schemeClr val="tx1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R</a:t>
                      </a:r>
                      <a:r>
                        <a:rPr lang="en-US" sz="2400" b="1" baseline="-25000">
                          <a:solidFill>
                            <a:schemeClr val="tx1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1</a:t>
                      </a:r>
                      <a:endParaRPr lang="zh-CN" sz="2400" b="1">
                        <a:solidFill>
                          <a:schemeClr val="tx1"/>
                        </a:solidFill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91" marR="68591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rgbClr val="000099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IP</a:t>
                      </a:r>
                      <a:r>
                        <a:rPr lang="en-US" sz="2800" b="1" baseline="-25000" dirty="0">
                          <a:solidFill>
                            <a:srgbClr val="000099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1</a:t>
                      </a:r>
                      <a:endParaRPr lang="zh-CN" sz="2800" b="1" dirty="0">
                        <a:solidFill>
                          <a:srgbClr val="000099"/>
                        </a:solidFill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91" marR="68591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rgbClr val="000099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IP</a:t>
                      </a:r>
                      <a:r>
                        <a:rPr lang="en-US" sz="2800" b="1" baseline="-25000" dirty="0">
                          <a:solidFill>
                            <a:srgbClr val="000099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2</a:t>
                      </a:r>
                      <a:endParaRPr lang="zh-CN" sz="2800" b="1" dirty="0">
                        <a:solidFill>
                          <a:srgbClr val="000099"/>
                        </a:solidFill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91" marR="68591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rgbClr val="000099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HA</a:t>
                      </a:r>
                      <a:r>
                        <a:rPr lang="en-US" sz="2800" b="1" baseline="-25000" dirty="0">
                          <a:solidFill>
                            <a:srgbClr val="000099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1</a:t>
                      </a:r>
                      <a:endParaRPr lang="zh-CN" sz="2800" b="1" dirty="0">
                        <a:solidFill>
                          <a:srgbClr val="000099"/>
                        </a:solidFill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91" marR="68591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800" b="1">
                          <a:solidFill>
                            <a:srgbClr val="000099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HA</a:t>
                      </a:r>
                      <a:r>
                        <a:rPr lang="en-US" sz="2800" b="1" baseline="-25000">
                          <a:solidFill>
                            <a:srgbClr val="000099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3</a:t>
                      </a:r>
                      <a:endParaRPr lang="zh-CN" sz="2800" b="1">
                        <a:solidFill>
                          <a:srgbClr val="000099"/>
                        </a:solidFill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91" marR="68591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186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2400" b="1">
                          <a:solidFill>
                            <a:schemeClr val="tx1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从</a:t>
                      </a:r>
                      <a:r>
                        <a:rPr lang="en-US" sz="2400" b="1">
                          <a:solidFill>
                            <a:schemeClr val="tx1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R</a:t>
                      </a:r>
                      <a:r>
                        <a:rPr lang="en-US" sz="2400" b="1" baseline="-25000">
                          <a:solidFill>
                            <a:schemeClr val="tx1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1</a:t>
                      </a:r>
                      <a:r>
                        <a:rPr lang="zh-CN" sz="2400" b="1">
                          <a:solidFill>
                            <a:schemeClr val="tx1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到</a:t>
                      </a:r>
                      <a:r>
                        <a:rPr lang="en-US" sz="2400" b="1">
                          <a:solidFill>
                            <a:schemeClr val="tx1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R</a:t>
                      </a:r>
                      <a:r>
                        <a:rPr lang="en-US" sz="2400" b="1" baseline="-25000">
                          <a:solidFill>
                            <a:schemeClr val="tx1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2</a:t>
                      </a:r>
                      <a:endParaRPr lang="zh-CN" sz="2400" b="1">
                        <a:solidFill>
                          <a:schemeClr val="tx1"/>
                        </a:solidFill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91" marR="68591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800" b="1">
                          <a:solidFill>
                            <a:srgbClr val="000099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IP</a:t>
                      </a:r>
                      <a:r>
                        <a:rPr lang="en-US" sz="2800" b="1" baseline="-25000">
                          <a:solidFill>
                            <a:srgbClr val="000099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1</a:t>
                      </a:r>
                      <a:endParaRPr lang="zh-CN" sz="2800" b="1">
                        <a:solidFill>
                          <a:srgbClr val="000099"/>
                        </a:solidFill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91" marR="68591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800" b="1">
                          <a:solidFill>
                            <a:srgbClr val="000099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IP</a:t>
                      </a:r>
                      <a:r>
                        <a:rPr lang="en-US" sz="2800" b="1" baseline="-25000">
                          <a:solidFill>
                            <a:srgbClr val="000099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2</a:t>
                      </a:r>
                      <a:endParaRPr lang="zh-CN" sz="2800" b="1">
                        <a:solidFill>
                          <a:srgbClr val="000099"/>
                        </a:solidFill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91" marR="68591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rgbClr val="000099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HA</a:t>
                      </a:r>
                      <a:r>
                        <a:rPr lang="en-US" sz="2800" b="1" baseline="-25000" dirty="0">
                          <a:solidFill>
                            <a:srgbClr val="000099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4</a:t>
                      </a:r>
                      <a:endParaRPr lang="zh-CN" sz="2800" b="1" dirty="0">
                        <a:solidFill>
                          <a:srgbClr val="000099"/>
                        </a:solidFill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91" marR="68591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rgbClr val="000099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HA</a:t>
                      </a:r>
                      <a:r>
                        <a:rPr lang="en-US" sz="2800" b="1" baseline="-25000" dirty="0">
                          <a:solidFill>
                            <a:srgbClr val="000099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5</a:t>
                      </a:r>
                      <a:endParaRPr lang="zh-CN" sz="2800" b="1" dirty="0">
                        <a:solidFill>
                          <a:srgbClr val="000099"/>
                        </a:solidFill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91" marR="68591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186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2400" b="1">
                          <a:solidFill>
                            <a:schemeClr val="tx1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从</a:t>
                      </a:r>
                      <a:r>
                        <a:rPr lang="en-US" sz="2400" b="1">
                          <a:solidFill>
                            <a:schemeClr val="tx1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R</a:t>
                      </a:r>
                      <a:r>
                        <a:rPr lang="en-US" sz="2400" b="1" baseline="-25000">
                          <a:solidFill>
                            <a:schemeClr val="tx1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2</a:t>
                      </a:r>
                      <a:r>
                        <a:rPr lang="zh-CN" sz="2400" b="1">
                          <a:solidFill>
                            <a:schemeClr val="tx1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到</a:t>
                      </a:r>
                      <a:r>
                        <a:rPr lang="en-US" sz="2400" b="1">
                          <a:solidFill>
                            <a:schemeClr val="tx1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H</a:t>
                      </a:r>
                      <a:r>
                        <a:rPr lang="en-US" sz="2400" b="1" baseline="-25000">
                          <a:solidFill>
                            <a:schemeClr val="tx1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2</a:t>
                      </a:r>
                      <a:endParaRPr lang="zh-CN" sz="2400" b="1">
                        <a:solidFill>
                          <a:schemeClr val="tx1"/>
                        </a:solidFill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91" marR="68591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800" b="1">
                          <a:solidFill>
                            <a:srgbClr val="000099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IP</a:t>
                      </a:r>
                      <a:r>
                        <a:rPr lang="en-US" sz="2800" b="1" baseline="-25000">
                          <a:solidFill>
                            <a:srgbClr val="000099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1</a:t>
                      </a:r>
                      <a:endParaRPr lang="zh-CN" sz="2800" b="1">
                        <a:solidFill>
                          <a:srgbClr val="000099"/>
                        </a:solidFill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91" marR="68591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rgbClr val="000099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IP</a:t>
                      </a:r>
                      <a:r>
                        <a:rPr lang="en-US" sz="2800" b="1" baseline="-25000" dirty="0">
                          <a:solidFill>
                            <a:srgbClr val="000099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2</a:t>
                      </a:r>
                      <a:endParaRPr lang="zh-CN" sz="2800" b="1" dirty="0">
                        <a:solidFill>
                          <a:srgbClr val="000099"/>
                        </a:solidFill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91" marR="68591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800" b="1">
                          <a:solidFill>
                            <a:srgbClr val="000099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HA</a:t>
                      </a:r>
                      <a:r>
                        <a:rPr lang="en-US" sz="2800" b="1" baseline="-25000">
                          <a:solidFill>
                            <a:srgbClr val="000099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6</a:t>
                      </a:r>
                      <a:endParaRPr lang="zh-CN" sz="2800" b="1">
                        <a:solidFill>
                          <a:srgbClr val="000099"/>
                        </a:solidFill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91" marR="68591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rgbClr val="000099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HA</a:t>
                      </a:r>
                      <a:r>
                        <a:rPr lang="en-US" sz="2800" b="1" baseline="-25000" dirty="0">
                          <a:solidFill>
                            <a:srgbClr val="000099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2</a:t>
                      </a:r>
                      <a:endParaRPr lang="zh-CN" sz="2800" b="1" dirty="0">
                        <a:solidFill>
                          <a:srgbClr val="000099"/>
                        </a:solidFill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91" marR="68591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89543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67D77F7-DCA3-4802-9B06-C0DD210AB6CA}" type="slidenum">
              <a:rPr lang="zh-CN" altLang="en-US" smtClean="0"/>
              <a:pPr eaLnBrk="1" hangingPunct="1"/>
              <a:t>13</a:t>
            </a:fld>
            <a:endParaRPr lang="en-US" altLang="zh-CN" smtClean="0"/>
          </a:p>
        </p:txBody>
      </p:sp>
      <p:sp>
        <p:nvSpPr>
          <p:cNvPr id="789544" name="页脚占位符 6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529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r>
              <a:rPr lang="en-US" altLang="zh-CN" smtClean="0">
                <a:ea typeface="黑体" panose="02010609060101010101" pitchFamily="49" charset="-122"/>
              </a:rPr>
              <a:t>4.2.4  </a:t>
            </a:r>
            <a:r>
              <a:rPr lang="zh-CN" altLang="zh-CN" smtClean="0">
                <a:ea typeface="黑体" panose="02010609060101010101" pitchFamily="49" charset="-122"/>
              </a:rPr>
              <a:t>地址解析协议</a:t>
            </a:r>
            <a:r>
              <a:rPr lang="en-US" altLang="zh-CN" smtClean="0">
                <a:ea typeface="黑体" panose="02010609060101010101" pitchFamily="49" charset="-122"/>
              </a:rPr>
              <a:t> ARP</a:t>
            </a:r>
          </a:p>
        </p:txBody>
      </p:sp>
      <p:sp>
        <p:nvSpPr>
          <p:cNvPr id="790530" name="内容占位符 1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pPr>
              <a:spcBef>
                <a:spcPct val="10000"/>
              </a:spcBef>
            </a:pPr>
            <a:r>
              <a:rPr lang="zh-CN" altLang="en-US" sz="2800" smtClean="0">
                <a:latin typeface="Tahoma" panose="020B0604030504040204" pitchFamily="34" charset="0"/>
                <a:ea typeface="黑体" panose="02010609060101010101" pitchFamily="49" charset="-122"/>
              </a:rPr>
              <a:t>通信时使用了两个地址：</a:t>
            </a:r>
            <a:endParaRPr lang="en-US" altLang="zh-CN" sz="2800" smtClean="0">
              <a:latin typeface="Tahoma" panose="020B0604030504040204" pitchFamily="34" charset="0"/>
              <a:ea typeface="黑体" panose="02010609060101010101" pitchFamily="49" charset="-122"/>
            </a:endParaRPr>
          </a:p>
          <a:p>
            <a:pPr lvl="1">
              <a:spcBef>
                <a:spcPct val="10000"/>
              </a:spcBef>
            </a:pPr>
            <a:r>
              <a:rPr lang="en-US" altLang="zh-CN" sz="2400" smtClean="0">
                <a:solidFill>
                  <a:srgbClr val="FF0000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IP </a:t>
            </a:r>
            <a:r>
              <a:rPr lang="zh-CN" altLang="en-US" sz="2400" smtClean="0">
                <a:solidFill>
                  <a:srgbClr val="FF0000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地址</a:t>
            </a:r>
            <a:r>
              <a:rPr lang="zh-CN" altLang="en-US" sz="2400" smtClean="0">
                <a:latin typeface="Tahoma" panose="020B0604030504040204" pitchFamily="34" charset="0"/>
                <a:ea typeface="黑体" panose="02010609060101010101" pitchFamily="49" charset="-122"/>
              </a:rPr>
              <a:t>（网络层地址）</a:t>
            </a:r>
            <a:endParaRPr lang="en-US" altLang="zh-CN" sz="2400" smtClean="0">
              <a:latin typeface="Tahoma" panose="020B0604030504040204" pitchFamily="34" charset="0"/>
              <a:ea typeface="黑体" panose="02010609060101010101" pitchFamily="49" charset="-122"/>
            </a:endParaRPr>
          </a:p>
          <a:p>
            <a:pPr lvl="1">
              <a:spcBef>
                <a:spcPct val="10000"/>
              </a:spcBef>
            </a:pPr>
            <a:r>
              <a:rPr lang="en-US" altLang="zh-CN" sz="2400" smtClean="0">
                <a:solidFill>
                  <a:srgbClr val="FF0000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MAC </a:t>
            </a:r>
            <a:r>
              <a:rPr lang="zh-CN" altLang="en-US" sz="2400" smtClean="0">
                <a:solidFill>
                  <a:srgbClr val="FF0000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地址</a:t>
            </a:r>
            <a:r>
              <a:rPr lang="zh-CN" altLang="en-US" sz="2400" smtClean="0">
                <a:latin typeface="Tahoma" panose="020B0604030504040204" pitchFamily="34" charset="0"/>
                <a:ea typeface="黑体" panose="02010609060101010101" pitchFamily="49" charset="-122"/>
              </a:rPr>
              <a:t>（数据链路层地址）</a:t>
            </a:r>
            <a:endParaRPr lang="en-US" altLang="zh-CN" sz="2400" smtClean="0">
              <a:solidFill>
                <a:srgbClr val="FF0000"/>
              </a:solidFill>
              <a:ea typeface="黑体" panose="02010609060101010101" pitchFamily="49" charset="-122"/>
            </a:endParaRPr>
          </a:p>
        </p:txBody>
      </p:sp>
      <p:grpSp>
        <p:nvGrpSpPr>
          <p:cNvPr id="790531" name="组合 57"/>
          <p:cNvGrpSpPr>
            <a:grpSpLocks/>
          </p:cNvGrpSpPr>
          <p:nvPr/>
        </p:nvGrpSpPr>
        <p:grpSpPr bwMode="auto">
          <a:xfrm>
            <a:off x="1217613" y="2420938"/>
            <a:ext cx="7551737" cy="3960812"/>
            <a:chOff x="1301914" y="2348880"/>
            <a:chExt cx="7551705" cy="3960440"/>
          </a:xfrm>
        </p:grpSpPr>
        <p:sp>
          <p:nvSpPr>
            <p:cNvPr id="790532" name="矩形 52"/>
            <p:cNvSpPr>
              <a:spLocks noChangeArrowheads="1"/>
            </p:cNvSpPr>
            <p:nvPr/>
          </p:nvSpPr>
          <p:spPr bwMode="auto">
            <a:xfrm>
              <a:off x="2981245" y="5847655"/>
              <a:ext cx="413199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 eaLnBrk="0" hangingPunct="0"/>
              <a:r>
                <a:rPr lang="zh-CN" altLang="en-US" sz="2400" b="1">
                  <a:ea typeface="黑体" panose="02010609060101010101" pitchFamily="49" charset="-122"/>
                </a:rPr>
                <a:t>每个接口都有两个地址</a:t>
              </a:r>
            </a:p>
          </p:txBody>
        </p:sp>
        <p:pic>
          <p:nvPicPr>
            <p:cNvPr id="790533" name="Picture 50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79510" y="4252719"/>
              <a:ext cx="853704" cy="7604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90534" name="Picture 51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19034" y="2799780"/>
              <a:ext cx="720081" cy="917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90535" name="Picture 52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1699" y="4252719"/>
              <a:ext cx="1024445" cy="7604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90536" name="矩形 2"/>
            <p:cNvSpPr>
              <a:spLocks noChangeArrowheads="1"/>
            </p:cNvSpPr>
            <p:nvPr/>
          </p:nvSpPr>
          <p:spPr bwMode="auto">
            <a:xfrm>
              <a:off x="5427146" y="2875581"/>
              <a:ext cx="182293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000" b="1">
                  <a:solidFill>
                    <a:srgbClr val="FF0000"/>
                  </a:solidFill>
                  <a:ea typeface="宋体" panose="02010600030101010101" pitchFamily="2" charset="-122"/>
                </a:rPr>
                <a:t>220.168.10.10</a:t>
              </a:r>
              <a:endParaRPr lang="zh-CN" altLang="en-US" sz="2000" b="1">
                <a:solidFill>
                  <a:srgbClr val="FF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90537" name="矩形 3"/>
            <p:cNvSpPr>
              <a:spLocks noChangeArrowheads="1"/>
            </p:cNvSpPr>
            <p:nvPr/>
          </p:nvSpPr>
          <p:spPr bwMode="auto">
            <a:xfrm>
              <a:off x="5427146" y="3244914"/>
              <a:ext cx="249459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000" b="1">
                  <a:solidFill>
                    <a:srgbClr val="0000FF"/>
                  </a:solidFill>
                  <a:ea typeface="宋体" panose="02010600030101010101" pitchFamily="2" charset="-122"/>
                </a:rPr>
                <a:t>00-15-C5-C6-CC-07</a:t>
              </a:r>
              <a:endParaRPr lang="zh-CN" altLang="en-US" sz="2000" b="1">
                <a:solidFill>
                  <a:srgbClr val="0000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90538" name="矩形 49"/>
            <p:cNvSpPr>
              <a:spLocks noChangeArrowheads="1"/>
            </p:cNvSpPr>
            <p:nvPr/>
          </p:nvSpPr>
          <p:spPr bwMode="auto">
            <a:xfrm>
              <a:off x="6435258" y="3923764"/>
              <a:ext cx="16594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b="1">
                  <a:ea typeface="宋体" panose="02010600030101010101" pitchFamily="2" charset="-122"/>
                </a:rPr>
                <a:t>220.168.10.20</a:t>
              </a:r>
              <a:endParaRPr lang="zh-CN" altLang="en-US" b="1">
                <a:ea typeface="宋体" panose="02010600030101010101" pitchFamily="2" charset="-122"/>
              </a:endParaRPr>
            </a:p>
          </p:txBody>
        </p:sp>
        <p:sp>
          <p:nvSpPr>
            <p:cNvPr id="790539" name="矩形 51"/>
            <p:cNvSpPr>
              <a:spLocks noChangeArrowheads="1"/>
            </p:cNvSpPr>
            <p:nvPr/>
          </p:nvSpPr>
          <p:spPr bwMode="auto">
            <a:xfrm>
              <a:off x="6166462" y="5003884"/>
              <a:ext cx="222368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b="1">
                  <a:ea typeface="宋体" panose="02010600030101010101" pitchFamily="2" charset="-122"/>
                </a:rPr>
                <a:t>00-15-C5-C8-C4-95</a:t>
              </a:r>
              <a:endParaRPr lang="zh-CN" altLang="en-US" b="1">
                <a:ea typeface="宋体" panose="02010600030101010101" pitchFamily="2" charset="-122"/>
              </a:endParaRPr>
            </a:p>
          </p:txBody>
        </p:sp>
        <p:sp>
          <p:nvSpPr>
            <p:cNvPr id="790540" name="矩形 53"/>
            <p:cNvSpPr>
              <a:spLocks noChangeArrowheads="1"/>
            </p:cNvSpPr>
            <p:nvPr/>
          </p:nvSpPr>
          <p:spPr bwMode="auto">
            <a:xfrm>
              <a:off x="1705673" y="3923764"/>
              <a:ext cx="16594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b="1">
                  <a:ea typeface="宋体" panose="02010600030101010101" pitchFamily="2" charset="-122"/>
                </a:rPr>
                <a:t>220.168.10.16</a:t>
              </a:r>
              <a:endParaRPr lang="zh-CN" altLang="en-US" b="1">
                <a:ea typeface="宋体" panose="02010600030101010101" pitchFamily="2" charset="-122"/>
              </a:endParaRPr>
            </a:p>
          </p:txBody>
        </p:sp>
        <p:sp>
          <p:nvSpPr>
            <p:cNvPr id="790541" name="矩形 54"/>
            <p:cNvSpPr>
              <a:spLocks noChangeArrowheads="1"/>
            </p:cNvSpPr>
            <p:nvPr/>
          </p:nvSpPr>
          <p:spPr bwMode="auto">
            <a:xfrm>
              <a:off x="1301914" y="5003884"/>
              <a:ext cx="221092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b="1">
                  <a:ea typeface="宋体" panose="02010600030101010101" pitchFamily="2" charset="-122"/>
                </a:rPr>
                <a:t>00-15-C5-C6-C8-11</a:t>
              </a:r>
              <a:endParaRPr lang="zh-CN" altLang="en-US" b="1">
                <a:ea typeface="宋体" panose="02010600030101010101" pitchFamily="2" charset="-122"/>
              </a:endParaRPr>
            </a:p>
          </p:txBody>
        </p:sp>
        <p:sp>
          <p:nvSpPr>
            <p:cNvPr id="790542" name="矩形标注 4"/>
            <p:cNvSpPr>
              <a:spLocks noChangeArrowheads="1"/>
            </p:cNvSpPr>
            <p:nvPr/>
          </p:nvSpPr>
          <p:spPr bwMode="auto">
            <a:xfrm>
              <a:off x="6249144" y="2348880"/>
              <a:ext cx="1081319" cy="378892"/>
            </a:xfrm>
            <a:prstGeom prst="wedgeRectCallout">
              <a:avLst>
                <a:gd name="adj1" fmla="val -47727"/>
                <a:gd name="adj2" fmla="val 100032"/>
              </a:avLst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b="1">
                  <a:ea typeface="宋体" panose="02010600030101010101" pitchFamily="2" charset="-122"/>
                </a:rPr>
                <a:t>IP </a:t>
              </a:r>
              <a:r>
                <a:rPr lang="zh-CN" altLang="en-US" b="1">
                  <a:ea typeface="宋体" panose="02010600030101010101" pitchFamily="2" charset="-122"/>
                </a:rPr>
                <a:t>地址</a:t>
              </a:r>
            </a:p>
          </p:txBody>
        </p:sp>
        <p:sp>
          <p:nvSpPr>
            <p:cNvPr id="790543" name="矩形标注 55"/>
            <p:cNvSpPr>
              <a:spLocks noChangeArrowheads="1"/>
            </p:cNvSpPr>
            <p:nvPr/>
          </p:nvSpPr>
          <p:spPr bwMode="auto">
            <a:xfrm>
              <a:off x="7545288" y="2618060"/>
              <a:ext cx="1308331" cy="378892"/>
            </a:xfrm>
            <a:prstGeom prst="wedgeRectCallout">
              <a:avLst>
                <a:gd name="adj1" fmla="val -64019"/>
                <a:gd name="adj2" fmla="val 132278"/>
              </a:avLst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b="1">
                  <a:ea typeface="宋体" panose="02010600030101010101" pitchFamily="2" charset="-122"/>
                </a:rPr>
                <a:t>MAC </a:t>
              </a:r>
              <a:r>
                <a:rPr lang="zh-CN" altLang="en-US" b="1">
                  <a:ea typeface="宋体" panose="02010600030101010101" pitchFamily="2" charset="-122"/>
                </a:rPr>
                <a:t>地址</a:t>
              </a:r>
            </a:p>
          </p:txBody>
        </p:sp>
        <p:cxnSp>
          <p:nvCxnSpPr>
            <p:cNvPr id="790544" name="直接箭头连接符 8"/>
            <p:cNvCxnSpPr>
              <a:cxnSpLocks noChangeShapeType="1"/>
            </p:cNvCxnSpPr>
            <p:nvPr/>
          </p:nvCxnSpPr>
          <p:spPr bwMode="auto">
            <a:xfrm flipH="1">
              <a:off x="5090594" y="3068960"/>
              <a:ext cx="381534" cy="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arrow" w="med" len="med"/>
            </a:ln>
          </p:spPr>
        </p:cxnSp>
        <p:cxnSp>
          <p:nvCxnSpPr>
            <p:cNvPr id="790545" name="直接箭头连接符 56"/>
            <p:cNvCxnSpPr>
              <a:cxnSpLocks noChangeShapeType="1"/>
            </p:cNvCxnSpPr>
            <p:nvPr/>
          </p:nvCxnSpPr>
          <p:spPr bwMode="auto">
            <a:xfrm flipH="1">
              <a:off x="5090594" y="3460358"/>
              <a:ext cx="381534" cy="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arrow" w="med" len="med"/>
            </a:ln>
          </p:spPr>
        </p:cxnSp>
        <p:sp>
          <p:nvSpPr>
            <p:cNvPr id="790546" name="椭圆 11"/>
            <p:cNvSpPr>
              <a:spLocks noChangeArrowheads="1"/>
            </p:cNvSpPr>
            <p:nvPr/>
          </p:nvSpPr>
          <p:spPr bwMode="auto">
            <a:xfrm>
              <a:off x="4088904" y="4092887"/>
              <a:ext cx="1800200" cy="108012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2400" b="1">
                  <a:ea typeface="宋体" panose="02010600030101010101" pitchFamily="2" charset="-122"/>
                </a:rPr>
                <a:t>LAN</a:t>
              </a:r>
              <a:endParaRPr lang="zh-CN" altLang="en-US" sz="2400" b="1">
                <a:ea typeface="宋体" panose="02010600030101010101" pitchFamily="2" charset="-122"/>
              </a:endParaRPr>
            </a:p>
          </p:txBody>
        </p:sp>
        <p:cxnSp>
          <p:nvCxnSpPr>
            <p:cNvPr id="790547" name="直接连接符 13"/>
            <p:cNvCxnSpPr>
              <a:cxnSpLocks noChangeShapeType="1"/>
              <a:stCxn id="790535" idx="3"/>
              <a:endCxn id="790546" idx="2"/>
            </p:cNvCxnSpPr>
            <p:nvPr/>
          </p:nvCxnSpPr>
          <p:spPr bwMode="auto">
            <a:xfrm flipV="1">
              <a:off x="3156144" y="4632947"/>
              <a:ext cx="932760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790548" name="直接连接符 15"/>
            <p:cNvCxnSpPr>
              <a:cxnSpLocks noChangeShapeType="1"/>
              <a:stCxn id="790533" idx="1"/>
              <a:endCxn id="790546" idx="6"/>
            </p:cNvCxnSpPr>
            <p:nvPr/>
          </p:nvCxnSpPr>
          <p:spPr bwMode="auto">
            <a:xfrm flipH="1" flipV="1">
              <a:off x="5889104" y="4632947"/>
              <a:ext cx="690406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790549" name="直接连接符 17"/>
            <p:cNvCxnSpPr>
              <a:cxnSpLocks noChangeShapeType="1"/>
              <a:stCxn id="790533" idx="1"/>
              <a:endCxn id="790546" idx="0"/>
            </p:cNvCxnSpPr>
            <p:nvPr/>
          </p:nvCxnSpPr>
          <p:spPr bwMode="auto">
            <a:xfrm>
              <a:off x="4989004" y="3717032"/>
              <a:ext cx="0" cy="37585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</p:cxnSp>
      </p:grpSp>
      <p:sp>
        <p:nvSpPr>
          <p:cNvPr id="790550" name="灯片编号占位符 7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BFEAA6D-4254-41FC-9C40-1DD117DEF1FA}" type="slidenum">
              <a:rPr lang="zh-CN" altLang="en-US" smtClean="0"/>
              <a:pPr eaLnBrk="1" hangingPunct="1"/>
              <a:t>14</a:t>
            </a:fld>
            <a:endParaRPr lang="en-US" altLang="zh-CN" smtClean="0"/>
          </a:p>
        </p:txBody>
      </p:sp>
      <p:sp>
        <p:nvSpPr>
          <p:cNvPr id="790551" name="页脚占位符 9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577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zh-CN" altLang="zh-CN" smtClean="0">
                <a:ea typeface="黑体" panose="02010609060101010101" pitchFamily="49" charset="-122"/>
              </a:rPr>
              <a:t>地址解析协议</a:t>
            </a:r>
            <a:r>
              <a:rPr lang="en-US" altLang="zh-CN" smtClean="0">
                <a:ea typeface="黑体" panose="02010609060101010101" pitchFamily="49" charset="-122"/>
              </a:rPr>
              <a:t> ARP </a:t>
            </a:r>
            <a:r>
              <a:rPr lang="zh-CN" altLang="en-US" smtClean="0">
                <a:ea typeface="黑体" panose="02010609060101010101" pitchFamily="49" charset="-122"/>
              </a:rPr>
              <a:t>的作用</a:t>
            </a:r>
            <a:endParaRPr lang="en-US" altLang="zh-CN" smtClean="0">
              <a:ea typeface="黑体" panose="02010609060101010101" pitchFamily="49" charset="-122"/>
            </a:endParaRPr>
          </a:p>
        </p:txBody>
      </p:sp>
      <p:sp>
        <p:nvSpPr>
          <p:cNvPr id="792578" name="内容占位符 1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zh-CN" smtClean="0">
                <a:solidFill>
                  <a:srgbClr val="FF0000"/>
                </a:solidFill>
                <a:ea typeface="黑体" panose="02010609060101010101" pitchFamily="49" charset="-122"/>
              </a:rPr>
              <a:t>已经知道了一个机器（主机或路由器）的</a:t>
            </a:r>
            <a:r>
              <a:rPr lang="en-US" altLang="zh-CN" smtClean="0">
                <a:solidFill>
                  <a:srgbClr val="FF0000"/>
                </a:solidFill>
                <a:ea typeface="黑体" panose="02010609060101010101" pitchFamily="49" charset="-122"/>
              </a:rPr>
              <a:t>IP</a:t>
            </a:r>
            <a:r>
              <a:rPr lang="zh-CN" altLang="zh-CN" smtClean="0">
                <a:solidFill>
                  <a:srgbClr val="FF0000"/>
                </a:solidFill>
                <a:ea typeface="黑体" panose="02010609060101010101" pitchFamily="49" charset="-122"/>
              </a:rPr>
              <a:t>地址，</a:t>
            </a:r>
            <a:r>
              <a:rPr lang="zh-CN" altLang="en-US" smtClean="0">
                <a:solidFill>
                  <a:srgbClr val="FF0000"/>
                </a:solidFill>
                <a:ea typeface="黑体" panose="02010609060101010101" pitchFamily="49" charset="-122"/>
              </a:rPr>
              <a:t>如何</a:t>
            </a:r>
            <a:r>
              <a:rPr lang="zh-CN" altLang="zh-CN" smtClean="0">
                <a:solidFill>
                  <a:srgbClr val="FF0000"/>
                </a:solidFill>
                <a:ea typeface="黑体" panose="02010609060101010101" pitchFamily="49" charset="-122"/>
              </a:rPr>
              <a:t>找出其相应的硬件地址</a:t>
            </a:r>
            <a:r>
              <a:rPr lang="zh-CN" altLang="en-US" smtClean="0">
                <a:solidFill>
                  <a:srgbClr val="FF0000"/>
                </a:solidFill>
                <a:ea typeface="黑体" panose="02010609060101010101" pitchFamily="49" charset="-122"/>
              </a:rPr>
              <a:t>？</a:t>
            </a:r>
            <a:endParaRPr lang="en-US" altLang="zh-CN" smtClean="0">
              <a:solidFill>
                <a:srgbClr val="FF0000"/>
              </a:solidFill>
              <a:ea typeface="黑体" panose="02010609060101010101" pitchFamily="49" charset="-122"/>
            </a:endParaRPr>
          </a:p>
          <a:p>
            <a:r>
              <a:rPr lang="zh-CN" altLang="zh-CN" smtClean="0">
                <a:ea typeface="黑体" panose="02010609060101010101" pitchFamily="49" charset="-122"/>
              </a:rPr>
              <a:t>地址解析协议</a:t>
            </a:r>
            <a:r>
              <a:rPr lang="en-US" altLang="zh-CN" smtClean="0">
                <a:ea typeface="黑体" panose="02010609060101010101" pitchFamily="49" charset="-122"/>
              </a:rPr>
              <a:t> ARP </a:t>
            </a:r>
            <a:r>
              <a:rPr lang="zh-CN" altLang="zh-CN" smtClean="0">
                <a:ea typeface="黑体" panose="02010609060101010101" pitchFamily="49" charset="-122"/>
              </a:rPr>
              <a:t>就是用来解决这样的问题的。</a:t>
            </a:r>
            <a:endParaRPr lang="zh-CN" altLang="en-US" smtClean="0">
              <a:ea typeface="黑体" panose="02010609060101010101" pitchFamily="49" charset="-122"/>
            </a:endParaRPr>
          </a:p>
        </p:txBody>
      </p:sp>
      <p:grpSp>
        <p:nvGrpSpPr>
          <p:cNvPr id="792579" name="组合 2"/>
          <p:cNvGrpSpPr>
            <a:grpSpLocks/>
          </p:cNvGrpSpPr>
          <p:nvPr/>
        </p:nvGrpSpPr>
        <p:grpSpPr bwMode="auto">
          <a:xfrm>
            <a:off x="631825" y="3100388"/>
            <a:ext cx="6802438" cy="2705100"/>
            <a:chOff x="887867" y="3068960"/>
            <a:chExt cx="6801437" cy="2704366"/>
          </a:xfrm>
        </p:grpSpPr>
        <p:sp>
          <p:nvSpPr>
            <p:cNvPr id="792580" name="Line 16"/>
            <p:cNvSpPr>
              <a:spLocks noChangeShapeType="1"/>
            </p:cNvSpPr>
            <p:nvPr/>
          </p:nvSpPr>
          <p:spPr bwMode="auto">
            <a:xfrm>
              <a:off x="1442906" y="3068960"/>
              <a:ext cx="0" cy="2088233"/>
            </a:xfrm>
            <a:prstGeom prst="line">
              <a:avLst/>
            </a:prstGeom>
            <a:noFill/>
            <a:ln w="19050">
              <a:solidFill>
                <a:srgbClr val="0000CC"/>
              </a:solidFill>
              <a:round/>
              <a:headEnd type="triangl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92581" name="Text Box 17"/>
            <p:cNvSpPr txBox="1">
              <a:spLocks noChangeArrowheads="1"/>
            </p:cNvSpPr>
            <p:nvPr/>
          </p:nvSpPr>
          <p:spPr bwMode="auto">
            <a:xfrm>
              <a:off x="887867" y="3872235"/>
              <a:ext cx="1112805" cy="4616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400" b="1">
                  <a:solidFill>
                    <a:srgbClr val="000099"/>
                  </a:solidFill>
                  <a:ea typeface="黑体" panose="02010609060101010101" pitchFamily="49" charset="-122"/>
                </a:rPr>
                <a:t>网络层</a:t>
              </a:r>
            </a:p>
          </p:txBody>
        </p:sp>
        <p:sp>
          <p:nvSpPr>
            <p:cNvPr id="792582" name="Rectangle 18"/>
            <p:cNvSpPr>
              <a:spLocks noChangeArrowheads="1"/>
            </p:cNvSpPr>
            <p:nvPr/>
          </p:nvSpPr>
          <p:spPr bwMode="auto">
            <a:xfrm>
              <a:off x="2067190" y="3068961"/>
              <a:ext cx="5622114" cy="1980219"/>
            </a:xfrm>
            <a:prstGeom prst="rect">
              <a:avLst/>
            </a:prstGeom>
            <a:solidFill>
              <a:srgbClr val="FFFF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b="1">
                  <a:solidFill>
                    <a:srgbClr val="000099"/>
                  </a:solidFill>
                  <a:ea typeface="黑体" panose="02010609060101010101" pitchFamily="49" charset="-122"/>
                </a:rPr>
                <a:t>ARP</a:t>
              </a:r>
            </a:p>
            <a:p>
              <a:pPr algn="ctr" eaLnBrk="0" hangingPunct="0"/>
              <a:endParaRPr lang="en-US" altLang="zh-CN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92583" name="Text Box 19"/>
            <p:cNvSpPr txBox="1">
              <a:spLocks noChangeArrowheads="1"/>
            </p:cNvSpPr>
            <p:nvPr/>
          </p:nvSpPr>
          <p:spPr bwMode="auto">
            <a:xfrm>
              <a:off x="6351166" y="3645024"/>
              <a:ext cx="94288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IP</a:t>
              </a:r>
              <a:r>
                <a:rPr lang="zh-CN" altLang="en-US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地址</a:t>
              </a:r>
            </a:p>
          </p:txBody>
        </p:sp>
        <p:sp>
          <p:nvSpPr>
            <p:cNvPr id="792584" name="Text Box 20"/>
            <p:cNvSpPr txBox="1">
              <a:spLocks noChangeArrowheads="1"/>
            </p:cNvSpPr>
            <p:nvPr/>
          </p:nvSpPr>
          <p:spPr bwMode="auto">
            <a:xfrm>
              <a:off x="6321152" y="5373216"/>
              <a:ext cx="121700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硬件地址</a:t>
              </a:r>
            </a:p>
          </p:txBody>
        </p:sp>
        <p:sp>
          <p:nvSpPr>
            <p:cNvPr id="792585" name="Rectangle 22"/>
            <p:cNvSpPr>
              <a:spLocks noChangeArrowheads="1"/>
            </p:cNvSpPr>
            <p:nvPr/>
          </p:nvSpPr>
          <p:spPr bwMode="auto">
            <a:xfrm>
              <a:off x="3296816" y="3651385"/>
              <a:ext cx="2651919" cy="785728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 eaLnBrk="0" hangingPunct="0"/>
              <a:r>
                <a:rPr lang="en-US" altLang="zh-CN" sz="2400" b="1">
                  <a:solidFill>
                    <a:srgbClr val="000099"/>
                  </a:solidFill>
                  <a:ea typeface="黑体" panose="02010609060101010101" pitchFamily="49" charset="-122"/>
                </a:rPr>
                <a:t>IP</a:t>
              </a:r>
            </a:p>
          </p:txBody>
        </p:sp>
        <p:sp>
          <p:nvSpPr>
            <p:cNvPr id="792586" name="Rectangle 24"/>
            <p:cNvSpPr>
              <a:spLocks noChangeArrowheads="1"/>
            </p:cNvSpPr>
            <p:nvPr/>
          </p:nvSpPr>
          <p:spPr bwMode="auto">
            <a:xfrm>
              <a:off x="3160977" y="3141985"/>
              <a:ext cx="779066" cy="309563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 eaLnBrk="0" hangingPunct="0"/>
              <a:r>
                <a:rPr lang="en-US" altLang="zh-CN" b="1">
                  <a:solidFill>
                    <a:srgbClr val="000099"/>
                  </a:solidFill>
                  <a:ea typeface="黑体" panose="02010609060101010101" pitchFamily="49" charset="-122"/>
                </a:rPr>
                <a:t>IGMP</a:t>
              </a:r>
            </a:p>
          </p:txBody>
        </p:sp>
        <p:sp>
          <p:nvSpPr>
            <p:cNvPr id="792587" name="Freeform 25"/>
            <p:cNvSpPr>
              <a:spLocks noChangeArrowheads="1"/>
            </p:cNvSpPr>
            <p:nvPr/>
          </p:nvSpPr>
          <p:spPr bwMode="auto">
            <a:xfrm>
              <a:off x="5950453" y="4077072"/>
              <a:ext cx="1012958" cy="360041"/>
            </a:xfrm>
            <a:custGeom>
              <a:avLst/>
              <a:gdLst>
                <a:gd name="T0" fmla="*/ 0 w 500"/>
                <a:gd name="T1" fmla="*/ 0 h 203"/>
                <a:gd name="T2" fmla="*/ 497 w 500"/>
                <a:gd name="T3" fmla="*/ 0 h 203"/>
                <a:gd name="T4" fmla="*/ 500 w 500"/>
                <a:gd name="T5" fmla="*/ 203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00" h="203">
                  <a:moveTo>
                    <a:pt x="0" y="0"/>
                  </a:moveTo>
                  <a:lnTo>
                    <a:pt x="497" y="0"/>
                  </a:lnTo>
                  <a:lnTo>
                    <a:pt x="500" y="203"/>
                  </a:lnTo>
                </a:path>
              </a:pathLst>
            </a:custGeom>
            <a:noFill/>
            <a:ln w="5715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92588" name="Line 26"/>
            <p:cNvSpPr>
              <a:spLocks noChangeShapeType="1"/>
            </p:cNvSpPr>
            <p:nvPr/>
          </p:nvSpPr>
          <p:spPr bwMode="auto">
            <a:xfrm>
              <a:off x="6969224" y="4725144"/>
              <a:ext cx="0" cy="648072"/>
            </a:xfrm>
            <a:prstGeom prst="line">
              <a:avLst/>
            </a:prstGeom>
            <a:noFill/>
            <a:ln w="5715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92589" name="Rectangle 29"/>
            <p:cNvSpPr>
              <a:spLocks noChangeArrowheads="1"/>
            </p:cNvSpPr>
            <p:nvPr/>
          </p:nvSpPr>
          <p:spPr bwMode="auto">
            <a:xfrm>
              <a:off x="2301081" y="3141985"/>
              <a:ext cx="779066" cy="309563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 eaLnBrk="0" hangingPunct="0"/>
              <a:r>
                <a:rPr lang="en-US" altLang="zh-CN" b="1">
                  <a:solidFill>
                    <a:srgbClr val="000099"/>
                  </a:solidFill>
                  <a:ea typeface="黑体" panose="02010609060101010101" pitchFamily="49" charset="-122"/>
                </a:rPr>
                <a:t>ICMP</a:t>
              </a:r>
            </a:p>
          </p:txBody>
        </p:sp>
        <p:sp>
          <p:nvSpPr>
            <p:cNvPr id="792590" name="Rectangle 30"/>
            <p:cNvSpPr>
              <a:spLocks noChangeArrowheads="1"/>
            </p:cNvSpPr>
            <p:nvPr/>
          </p:nvSpPr>
          <p:spPr bwMode="auto">
            <a:xfrm>
              <a:off x="6506120" y="4437112"/>
              <a:ext cx="895152" cy="432048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ARP</a:t>
              </a:r>
            </a:p>
          </p:txBody>
        </p:sp>
      </p:grpSp>
      <p:sp>
        <p:nvSpPr>
          <p:cNvPr id="792591" name="矩形 3"/>
          <p:cNvSpPr>
            <a:spLocks noChangeArrowheads="1"/>
          </p:cNvSpPr>
          <p:nvPr/>
        </p:nvSpPr>
        <p:spPr bwMode="auto">
          <a:xfrm>
            <a:off x="2333625" y="5805488"/>
            <a:ext cx="413226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eaLnBrk="0" hangingPunct="0"/>
            <a:r>
              <a:rPr lang="en-US" altLang="zh-CN" sz="2400" b="1">
                <a:ea typeface="黑体" panose="02010609060101010101" pitchFamily="49" charset="-122"/>
              </a:rPr>
              <a:t>ARP </a:t>
            </a:r>
            <a:r>
              <a:rPr lang="zh-CN" altLang="zh-CN" sz="2400" b="1">
                <a:ea typeface="黑体" panose="02010609060101010101" pitchFamily="49" charset="-122"/>
              </a:rPr>
              <a:t>协议的作用</a:t>
            </a:r>
            <a:endParaRPr lang="zh-CN" altLang="en-US" sz="2400" b="1">
              <a:ea typeface="黑体" panose="02010609060101010101" pitchFamily="49" charset="-122"/>
            </a:endParaRPr>
          </a:p>
        </p:txBody>
      </p:sp>
      <p:sp>
        <p:nvSpPr>
          <p:cNvPr id="792592" name="矩形 4"/>
          <p:cNvSpPr>
            <a:spLocks noChangeArrowheads="1"/>
          </p:cNvSpPr>
          <p:nvPr/>
        </p:nvSpPr>
        <p:spPr bwMode="auto">
          <a:xfrm>
            <a:off x="7616825" y="3068638"/>
            <a:ext cx="2144713" cy="2530475"/>
          </a:xfrm>
          <a:prstGeom prst="rect">
            <a:avLst/>
          </a:prstGeom>
          <a:solidFill>
            <a:srgbClr val="66FF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lnSpc>
                <a:spcPct val="110000"/>
              </a:lnSpc>
            </a:pPr>
            <a:r>
              <a:rPr lang="en-US" altLang="zh-CN" sz="2400" b="1">
                <a:solidFill>
                  <a:srgbClr val="C00000"/>
                </a:solidFill>
                <a:ea typeface="黑体" panose="02010609060101010101" pitchFamily="49" charset="-122"/>
              </a:rPr>
              <a:t>ARP </a:t>
            </a:r>
            <a:r>
              <a:rPr lang="zh-CN" altLang="en-US" sz="2400" b="1">
                <a:solidFill>
                  <a:srgbClr val="C00000"/>
                </a:solidFill>
                <a:ea typeface="黑体" panose="02010609060101010101" pitchFamily="49" charset="-122"/>
              </a:rPr>
              <a:t>作用：</a:t>
            </a:r>
            <a:endParaRPr lang="en-US" altLang="zh-CN" sz="2400" b="1">
              <a:solidFill>
                <a:srgbClr val="C00000"/>
              </a:solidFill>
              <a:ea typeface="黑体" panose="02010609060101010101" pitchFamily="49" charset="-122"/>
            </a:endParaRPr>
          </a:p>
          <a:p>
            <a:pPr eaLnBrk="0" hangingPunct="0">
              <a:lnSpc>
                <a:spcPct val="110000"/>
              </a:lnSpc>
            </a:pPr>
            <a:r>
              <a:rPr lang="zh-CN" altLang="zh-CN" sz="2400" b="1">
                <a:solidFill>
                  <a:srgbClr val="000099"/>
                </a:solidFill>
                <a:ea typeface="黑体" panose="02010609060101010101" pitchFamily="49" charset="-122"/>
              </a:rPr>
              <a:t>从网络层使用的</a:t>
            </a:r>
            <a:r>
              <a:rPr lang="en-US" altLang="zh-CN" sz="2400" b="1">
                <a:solidFill>
                  <a:srgbClr val="000099"/>
                </a:solidFill>
                <a:ea typeface="黑体" panose="02010609060101010101" pitchFamily="49" charset="-122"/>
              </a:rPr>
              <a:t> IP </a:t>
            </a:r>
            <a:r>
              <a:rPr lang="zh-CN" altLang="zh-CN" sz="2400" b="1">
                <a:solidFill>
                  <a:srgbClr val="000099"/>
                </a:solidFill>
                <a:ea typeface="黑体" panose="02010609060101010101" pitchFamily="49" charset="-122"/>
              </a:rPr>
              <a:t>地址，解析出在数据链路层使用的硬件地址</a:t>
            </a:r>
            <a:r>
              <a:rPr lang="zh-CN" altLang="en-US" sz="2400" b="1">
                <a:solidFill>
                  <a:srgbClr val="000099"/>
                </a:solidFill>
                <a:ea typeface="黑体" panose="02010609060101010101" pitchFamily="49" charset="-122"/>
              </a:rPr>
              <a:t>。</a:t>
            </a:r>
          </a:p>
        </p:txBody>
      </p:sp>
      <p:sp>
        <p:nvSpPr>
          <p:cNvPr id="792593" name="灯片编号占位符 7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C72FF46-199A-4407-89EC-8CC56F41A898}" type="slidenum">
              <a:rPr lang="zh-CN" altLang="en-US" smtClean="0"/>
              <a:pPr eaLnBrk="1" hangingPunct="1"/>
              <a:t>15</a:t>
            </a:fld>
            <a:endParaRPr lang="en-US" altLang="zh-CN" smtClean="0"/>
          </a:p>
        </p:txBody>
      </p:sp>
      <p:sp>
        <p:nvSpPr>
          <p:cNvPr id="792594" name="页脚占位符 8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625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zh-CN" altLang="en-US" smtClean="0">
                <a:ea typeface="黑体" panose="02010609060101010101" pitchFamily="49" charset="-122"/>
              </a:rPr>
              <a:t>地址解析协议 </a:t>
            </a:r>
            <a:r>
              <a:rPr lang="en-US" altLang="zh-CN" smtClean="0">
                <a:ea typeface="黑体" panose="02010609060101010101" pitchFamily="49" charset="-122"/>
              </a:rPr>
              <a:t>ARP </a:t>
            </a:r>
            <a:r>
              <a:rPr lang="zh-CN" altLang="en-US" smtClean="0">
                <a:ea typeface="黑体" panose="02010609060101010101" pitchFamily="49" charset="-122"/>
              </a:rPr>
              <a:t>要点</a:t>
            </a:r>
            <a:endParaRPr lang="en-US" altLang="zh-CN" smtClean="0">
              <a:ea typeface="黑体" panose="02010609060101010101" pitchFamily="49" charset="-122"/>
            </a:endParaRPr>
          </a:p>
        </p:txBody>
      </p:sp>
      <p:sp>
        <p:nvSpPr>
          <p:cNvPr id="974851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en-US" dirty="0" smtClean="0">
                <a:ea typeface="黑体" panose="02010609060101010101" pitchFamily="49" charset="-122"/>
              </a:rPr>
              <a:t>不管网络层使用的是什么协议，在实际网络的链路上传送数据帧时，最终还是必须使用硬件地址。 </a:t>
            </a:r>
          </a:p>
          <a:p>
            <a:r>
              <a:rPr lang="zh-CN" altLang="en-US" dirty="0" smtClean="0">
                <a:ea typeface="黑体" panose="02010609060101010101" pitchFamily="49" charset="-122"/>
              </a:rPr>
              <a:t>每一个主机都设有一个 </a:t>
            </a:r>
            <a:r>
              <a:rPr lang="en-US" altLang="zh-CN" dirty="0" smtClean="0">
                <a:solidFill>
                  <a:srgbClr val="FF0000"/>
                </a:solidFill>
                <a:ea typeface="黑体" panose="02010609060101010101" pitchFamily="49" charset="-122"/>
              </a:rPr>
              <a:t>ARP </a:t>
            </a:r>
            <a:r>
              <a:rPr lang="zh-CN" altLang="en-US" dirty="0" smtClean="0">
                <a:solidFill>
                  <a:srgbClr val="FF0000"/>
                </a:solidFill>
                <a:ea typeface="黑体" panose="02010609060101010101" pitchFamily="49" charset="-122"/>
              </a:rPr>
              <a:t>高速缓存 </a:t>
            </a:r>
            <a:r>
              <a:rPr lang="en-US" altLang="zh-CN" dirty="0" smtClean="0">
                <a:ea typeface="黑体" panose="02010609060101010101" pitchFamily="49" charset="-122"/>
              </a:rPr>
              <a:t>(ARP cache)</a:t>
            </a:r>
            <a:r>
              <a:rPr lang="zh-CN" altLang="en-US" dirty="0" smtClean="0">
                <a:ea typeface="黑体" panose="02010609060101010101" pitchFamily="49" charset="-122"/>
              </a:rPr>
              <a:t>，里面有</a:t>
            </a:r>
            <a:r>
              <a:rPr lang="zh-CN" altLang="en-US" dirty="0" smtClean="0">
                <a:solidFill>
                  <a:srgbClr val="FF0000"/>
                </a:solidFill>
                <a:ea typeface="黑体" panose="02010609060101010101" pitchFamily="49" charset="-122"/>
              </a:rPr>
              <a:t>所在的局域网</a:t>
            </a:r>
            <a:r>
              <a:rPr lang="zh-CN" altLang="en-US" dirty="0" smtClean="0">
                <a:ea typeface="黑体" panose="02010609060101010101" pitchFamily="49" charset="-122"/>
              </a:rPr>
              <a:t>上的各主机和路由器的 </a:t>
            </a:r>
            <a:r>
              <a:rPr lang="en-US" altLang="zh-CN" dirty="0" smtClean="0">
                <a:ea typeface="黑体" panose="02010609060101010101" pitchFamily="49" charset="-122"/>
              </a:rPr>
              <a:t>IP </a:t>
            </a:r>
            <a:r>
              <a:rPr lang="zh-CN" altLang="en-US" dirty="0" smtClean="0">
                <a:ea typeface="黑体" panose="02010609060101010101" pitchFamily="49" charset="-122"/>
              </a:rPr>
              <a:t>地址到硬件地址的映射表。</a:t>
            </a:r>
          </a:p>
        </p:txBody>
      </p:sp>
      <p:grpSp>
        <p:nvGrpSpPr>
          <p:cNvPr id="2" name="组合 1"/>
          <p:cNvGrpSpPr>
            <a:grpSpLocks/>
          </p:cNvGrpSpPr>
          <p:nvPr/>
        </p:nvGrpSpPr>
        <p:grpSpPr bwMode="auto">
          <a:xfrm>
            <a:off x="1336675" y="4581525"/>
            <a:ext cx="7432675" cy="1184275"/>
            <a:chOff x="1192732" y="4009802"/>
            <a:chExt cx="7432675" cy="1185462"/>
          </a:xfrm>
        </p:grpSpPr>
        <p:sp>
          <p:nvSpPr>
            <p:cNvPr id="794628" name="Rectangle 4"/>
            <p:cNvSpPr>
              <a:spLocks noChangeArrowheads="1"/>
            </p:cNvSpPr>
            <p:nvPr/>
          </p:nvSpPr>
          <p:spPr bwMode="auto">
            <a:xfrm>
              <a:off x="1192732" y="4009802"/>
              <a:ext cx="7432675" cy="584775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pPr algn="ctr" eaLnBrk="0" hangingPunct="0"/>
              <a:r>
                <a:rPr lang="en-US" altLang="zh-CN" sz="3200" b="1">
                  <a:solidFill>
                    <a:srgbClr val="0000CC"/>
                  </a:solidFill>
                  <a:ea typeface="宋体" panose="02010600030101010101" pitchFamily="2" charset="-122"/>
                </a:rPr>
                <a:t>&lt; IP address</a:t>
              </a:r>
              <a:r>
                <a:rPr lang="zh-CN" altLang="en-US" sz="3200" b="1">
                  <a:solidFill>
                    <a:srgbClr val="0000CC"/>
                  </a:solidFill>
                  <a:ea typeface="宋体" panose="02010600030101010101" pitchFamily="2" charset="-122"/>
                </a:rPr>
                <a:t>；</a:t>
              </a:r>
              <a:r>
                <a:rPr lang="en-US" altLang="zh-CN" sz="3200" b="1">
                  <a:solidFill>
                    <a:srgbClr val="0000CC"/>
                  </a:solidFill>
                  <a:ea typeface="宋体" panose="02010600030101010101" pitchFamily="2" charset="-122"/>
                </a:rPr>
                <a:t>MAC address</a:t>
              </a:r>
              <a:r>
                <a:rPr lang="zh-CN" altLang="en-US" sz="3200" b="1">
                  <a:solidFill>
                    <a:srgbClr val="0000CC"/>
                  </a:solidFill>
                  <a:ea typeface="宋体" panose="02010600030101010101" pitchFamily="2" charset="-122"/>
                </a:rPr>
                <a:t>；</a:t>
              </a:r>
              <a:r>
                <a:rPr lang="en-US" altLang="zh-CN" sz="3200" b="1">
                  <a:solidFill>
                    <a:srgbClr val="0000CC"/>
                  </a:solidFill>
                  <a:ea typeface="宋体" panose="02010600030101010101" pitchFamily="2" charset="-122"/>
                </a:rPr>
                <a:t>TTL &gt;</a:t>
              </a:r>
            </a:p>
          </p:txBody>
        </p:sp>
        <p:sp>
          <p:nvSpPr>
            <p:cNvPr id="794629" name="Rectangle 5"/>
            <p:cNvSpPr>
              <a:spLocks noChangeArrowheads="1"/>
            </p:cNvSpPr>
            <p:nvPr/>
          </p:nvSpPr>
          <p:spPr bwMode="auto">
            <a:xfrm>
              <a:off x="1421333" y="4585866"/>
              <a:ext cx="7204074" cy="6093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lnSpc>
                  <a:spcPct val="120000"/>
                </a:lnSpc>
                <a:spcBef>
                  <a:spcPct val="20000"/>
                </a:spcBef>
              </a:pPr>
              <a:r>
                <a:rPr lang="en-US" altLang="zh-CN" sz="2800" b="1">
                  <a:ea typeface="黑体" panose="02010609060101010101" pitchFamily="49" charset="-122"/>
                </a:rPr>
                <a:t>TTL (Time To Live)</a:t>
              </a:r>
              <a:r>
                <a:rPr lang="zh-CN" altLang="en-US" sz="2800" b="1">
                  <a:ea typeface="黑体" panose="02010609060101010101" pitchFamily="49" charset="-122"/>
                </a:rPr>
                <a:t>：地址映射有效时间 。</a:t>
              </a:r>
            </a:p>
          </p:txBody>
        </p:sp>
      </p:grpSp>
      <p:sp>
        <p:nvSpPr>
          <p:cNvPr id="794630" name="灯片编号占位符 4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D82427C-9EF2-4E82-968C-56F3AE7CEECA}" type="slidenum">
              <a:rPr lang="zh-CN" altLang="en-US" smtClean="0"/>
              <a:pPr eaLnBrk="1" hangingPunct="1"/>
              <a:t>16</a:t>
            </a:fld>
            <a:endParaRPr lang="en-US" altLang="zh-CN" smtClean="0"/>
          </a:p>
        </p:txBody>
      </p:sp>
      <p:sp>
        <p:nvSpPr>
          <p:cNvPr id="794631" name="页脚占位符 7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8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4851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673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zh-CN" altLang="en-US" smtClean="0">
                <a:ea typeface="黑体" panose="02010609060101010101" pitchFamily="49" charset="-122"/>
              </a:rPr>
              <a:t>地址解析协议 </a:t>
            </a:r>
            <a:r>
              <a:rPr lang="en-US" altLang="zh-CN" smtClean="0">
                <a:ea typeface="黑体" panose="02010609060101010101" pitchFamily="49" charset="-122"/>
              </a:rPr>
              <a:t>ARP </a:t>
            </a:r>
            <a:r>
              <a:rPr lang="zh-CN" altLang="en-US" smtClean="0">
                <a:ea typeface="黑体" panose="02010609060101010101" pitchFamily="49" charset="-122"/>
              </a:rPr>
              <a:t>要点</a:t>
            </a:r>
            <a:endParaRPr lang="en-US" altLang="zh-CN" smtClean="0">
              <a:ea typeface="黑体" panose="02010609060101010101" pitchFamily="49" charset="-122"/>
            </a:endParaRPr>
          </a:p>
        </p:txBody>
      </p:sp>
      <p:sp>
        <p:nvSpPr>
          <p:cNvPr id="974851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en-US" dirty="0" smtClean="0">
                <a:ea typeface="黑体" panose="02010609060101010101" pitchFamily="49" charset="-122"/>
              </a:rPr>
              <a:t>当主机 </a:t>
            </a:r>
            <a:r>
              <a:rPr lang="en-US" altLang="zh-CN" dirty="0" smtClean="0">
                <a:ea typeface="黑体" panose="02010609060101010101" pitchFamily="49" charset="-122"/>
              </a:rPr>
              <a:t>A </a:t>
            </a:r>
            <a:r>
              <a:rPr lang="zh-CN" altLang="en-US" dirty="0" smtClean="0">
                <a:ea typeface="黑体" panose="02010609060101010101" pitchFamily="49" charset="-122"/>
              </a:rPr>
              <a:t>欲向</a:t>
            </a:r>
            <a:r>
              <a:rPr lang="zh-CN" altLang="en-US" dirty="0" smtClean="0">
                <a:solidFill>
                  <a:srgbClr val="FF0000"/>
                </a:solidFill>
                <a:ea typeface="黑体" panose="02010609060101010101" pitchFamily="49" charset="-122"/>
              </a:rPr>
              <a:t>本局域网上</a:t>
            </a:r>
            <a:r>
              <a:rPr lang="zh-CN" altLang="en-US" dirty="0" smtClean="0">
                <a:ea typeface="黑体" panose="02010609060101010101" pitchFamily="49" charset="-122"/>
              </a:rPr>
              <a:t>的某个主机 </a:t>
            </a:r>
            <a:r>
              <a:rPr lang="en-US" altLang="zh-CN" dirty="0" smtClean="0">
                <a:ea typeface="黑体" panose="02010609060101010101" pitchFamily="49" charset="-122"/>
              </a:rPr>
              <a:t>B </a:t>
            </a:r>
            <a:r>
              <a:rPr lang="zh-CN" altLang="en-US" dirty="0" smtClean="0">
                <a:ea typeface="黑体" panose="02010609060101010101" pitchFamily="49" charset="-122"/>
              </a:rPr>
              <a:t>发送 </a:t>
            </a:r>
            <a:r>
              <a:rPr lang="en-US" altLang="zh-CN" dirty="0" smtClean="0">
                <a:ea typeface="黑体" panose="02010609060101010101" pitchFamily="49" charset="-122"/>
              </a:rPr>
              <a:t>IP </a:t>
            </a:r>
            <a:r>
              <a:rPr lang="zh-CN" altLang="en-US" dirty="0" smtClean="0">
                <a:ea typeface="黑体" panose="02010609060101010101" pitchFamily="49" charset="-122"/>
              </a:rPr>
              <a:t>数据报时，就先在其 </a:t>
            </a:r>
            <a:r>
              <a:rPr lang="en-US" altLang="zh-CN" dirty="0" smtClean="0">
                <a:ea typeface="黑体" panose="02010609060101010101" pitchFamily="49" charset="-122"/>
              </a:rPr>
              <a:t>ARP </a:t>
            </a:r>
            <a:r>
              <a:rPr lang="zh-CN" altLang="en-US" dirty="0" smtClean="0">
                <a:ea typeface="黑体" panose="02010609060101010101" pitchFamily="49" charset="-122"/>
              </a:rPr>
              <a:t>高速缓存中查看有无主机 </a:t>
            </a:r>
            <a:r>
              <a:rPr lang="en-US" altLang="zh-CN" dirty="0" smtClean="0">
                <a:ea typeface="黑体" panose="02010609060101010101" pitchFamily="49" charset="-122"/>
              </a:rPr>
              <a:t>B </a:t>
            </a:r>
            <a:r>
              <a:rPr lang="zh-CN" altLang="en-US" dirty="0" smtClean="0">
                <a:ea typeface="黑体" panose="02010609060101010101" pitchFamily="49" charset="-122"/>
              </a:rPr>
              <a:t>的 </a:t>
            </a:r>
            <a:r>
              <a:rPr lang="en-US" altLang="zh-CN" dirty="0" smtClean="0">
                <a:ea typeface="黑体" panose="02010609060101010101" pitchFamily="49" charset="-122"/>
              </a:rPr>
              <a:t>IP </a:t>
            </a:r>
            <a:r>
              <a:rPr lang="zh-CN" altLang="en-US" dirty="0" smtClean="0">
                <a:ea typeface="黑体" panose="02010609060101010101" pitchFamily="49" charset="-122"/>
              </a:rPr>
              <a:t>地址。</a:t>
            </a:r>
            <a:endParaRPr lang="en-US" altLang="zh-CN" dirty="0" smtClean="0">
              <a:ea typeface="黑体" panose="02010609060101010101" pitchFamily="49" charset="-122"/>
            </a:endParaRPr>
          </a:p>
          <a:p>
            <a:pPr lvl="1"/>
            <a:r>
              <a:rPr lang="zh-CN" altLang="en-US" dirty="0" smtClean="0">
                <a:solidFill>
                  <a:srgbClr val="FF0000"/>
                </a:solidFill>
                <a:ea typeface="黑体" panose="02010609060101010101" pitchFamily="49" charset="-122"/>
              </a:rPr>
              <a:t>如有，</a:t>
            </a:r>
            <a:r>
              <a:rPr lang="zh-CN" altLang="en-US" dirty="0" smtClean="0">
                <a:ea typeface="黑体" panose="02010609060101010101" pitchFamily="49" charset="-122"/>
              </a:rPr>
              <a:t>就可查出其对应的硬件地址，再将此硬件地址写入 </a:t>
            </a:r>
            <a:r>
              <a:rPr lang="en-US" altLang="zh-CN" dirty="0" smtClean="0">
                <a:ea typeface="黑体" panose="02010609060101010101" pitchFamily="49" charset="-122"/>
              </a:rPr>
              <a:t>MAC </a:t>
            </a:r>
            <a:r>
              <a:rPr lang="zh-CN" altLang="en-US" dirty="0" smtClean="0">
                <a:ea typeface="黑体" panose="02010609060101010101" pitchFamily="49" charset="-122"/>
              </a:rPr>
              <a:t>帧，然后通过局域网将该 </a:t>
            </a:r>
            <a:r>
              <a:rPr lang="en-US" altLang="zh-CN" dirty="0" smtClean="0">
                <a:ea typeface="黑体" panose="02010609060101010101" pitchFamily="49" charset="-122"/>
              </a:rPr>
              <a:t>MAC </a:t>
            </a:r>
            <a:r>
              <a:rPr lang="zh-CN" altLang="en-US" dirty="0" smtClean="0">
                <a:ea typeface="黑体" panose="02010609060101010101" pitchFamily="49" charset="-122"/>
              </a:rPr>
              <a:t>帧发往此硬件地址。</a:t>
            </a:r>
            <a:endParaRPr lang="en-US" altLang="zh-CN" dirty="0" smtClean="0">
              <a:ea typeface="黑体" panose="02010609060101010101" pitchFamily="49" charset="-122"/>
            </a:endParaRPr>
          </a:p>
          <a:p>
            <a:pPr lvl="1"/>
            <a:r>
              <a:rPr lang="zh-CN" altLang="en-US" dirty="0" smtClean="0">
                <a:solidFill>
                  <a:srgbClr val="FF0000"/>
                </a:solidFill>
                <a:ea typeface="黑体" panose="02010609060101010101" pitchFamily="49" charset="-122"/>
              </a:rPr>
              <a:t>如没有，</a:t>
            </a:r>
            <a:r>
              <a:rPr lang="en-US" altLang="zh-CN" dirty="0" smtClean="0">
                <a:solidFill>
                  <a:srgbClr val="FF0000"/>
                </a:solidFill>
                <a:ea typeface="黑体" panose="02010609060101010101" pitchFamily="49" charset="-122"/>
              </a:rPr>
              <a:t> </a:t>
            </a:r>
            <a:r>
              <a:rPr lang="en-US" altLang="zh-CN" dirty="0" smtClean="0">
                <a:ea typeface="黑体" panose="02010609060101010101" pitchFamily="49" charset="-122"/>
              </a:rPr>
              <a:t>ARP </a:t>
            </a:r>
            <a:r>
              <a:rPr lang="zh-CN" altLang="zh-CN" dirty="0" smtClean="0">
                <a:ea typeface="黑体" panose="02010609060101010101" pitchFamily="49" charset="-122"/>
              </a:rPr>
              <a:t>进程在本局域网上</a:t>
            </a:r>
            <a:r>
              <a:rPr lang="zh-CN" altLang="zh-CN" dirty="0" smtClean="0">
                <a:solidFill>
                  <a:srgbClr val="0000FF"/>
                </a:solidFill>
                <a:ea typeface="黑体" panose="02010609060101010101" pitchFamily="49" charset="-122"/>
              </a:rPr>
              <a:t>广播发送</a:t>
            </a:r>
            <a:r>
              <a:rPr lang="zh-CN" altLang="zh-CN" dirty="0" smtClean="0">
                <a:ea typeface="黑体" panose="02010609060101010101" pitchFamily="49" charset="-122"/>
              </a:rPr>
              <a:t>一个</a:t>
            </a:r>
            <a:r>
              <a:rPr lang="en-US" altLang="zh-CN" dirty="0" smtClean="0">
                <a:ea typeface="黑体" panose="02010609060101010101" pitchFamily="49" charset="-122"/>
              </a:rPr>
              <a:t> </a:t>
            </a:r>
            <a:r>
              <a:rPr lang="en-US" altLang="zh-CN" dirty="0" smtClean="0">
                <a:solidFill>
                  <a:srgbClr val="0000FF"/>
                </a:solidFill>
                <a:ea typeface="黑体" panose="02010609060101010101" pitchFamily="49" charset="-122"/>
              </a:rPr>
              <a:t>ARP </a:t>
            </a:r>
            <a:r>
              <a:rPr lang="zh-CN" altLang="zh-CN" dirty="0" smtClean="0">
                <a:solidFill>
                  <a:srgbClr val="0000FF"/>
                </a:solidFill>
                <a:ea typeface="黑体" panose="02010609060101010101" pitchFamily="49" charset="-122"/>
              </a:rPr>
              <a:t>请求分组</a:t>
            </a:r>
            <a:r>
              <a:rPr lang="zh-CN" altLang="en-US" dirty="0" smtClean="0">
                <a:solidFill>
                  <a:srgbClr val="0000FF"/>
                </a:solidFill>
                <a:ea typeface="黑体" panose="02010609060101010101" pitchFamily="49" charset="-122"/>
              </a:rPr>
              <a:t>。</a:t>
            </a:r>
            <a:r>
              <a:rPr lang="zh-CN" altLang="zh-CN" dirty="0" smtClean="0">
                <a:ea typeface="黑体" panose="02010609060101010101" pitchFamily="49" charset="-122"/>
              </a:rPr>
              <a:t>收到</a:t>
            </a:r>
            <a:r>
              <a:rPr lang="en-US" altLang="zh-CN" dirty="0" smtClean="0">
                <a:ea typeface="黑体" panose="02010609060101010101" pitchFamily="49" charset="-122"/>
              </a:rPr>
              <a:t> </a:t>
            </a:r>
            <a:r>
              <a:rPr lang="en-US" altLang="zh-CN" dirty="0" smtClean="0">
                <a:solidFill>
                  <a:srgbClr val="0000FF"/>
                </a:solidFill>
                <a:ea typeface="黑体" panose="02010609060101010101" pitchFamily="49" charset="-122"/>
              </a:rPr>
              <a:t>ARP </a:t>
            </a:r>
            <a:r>
              <a:rPr lang="zh-CN" altLang="zh-CN" dirty="0" smtClean="0">
                <a:solidFill>
                  <a:srgbClr val="0000FF"/>
                </a:solidFill>
                <a:ea typeface="黑体" panose="02010609060101010101" pitchFamily="49" charset="-122"/>
              </a:rPr>
              <a:t>响应分组</a:t>
            </a:r>
            <a:r>
              <a:rPr lang="zh-CN" altLang="zh-CN" dirty="0" smtClean="0">
                <a:ea typeface="黑体" panose="02010609060101010101" pitchFamily="49" charset="-122"/>
              </a:rPr>
              <a:t>后，</a:t>
            </a:r>
            <a:r>
              <a:rPr lang="zh-CN" altLang="en-US" dirty="0" smtClean="0">
                <a:ea typeface="黑体" panose="02010609060101010101" pitchFamily="49" charset="-122"/>
              </a:rPr>
              <a:t>将得到的 </a:t>
            </a:r>
            <a:r>
              <a:rPr lang="en-US" altLang="zh-CN" dirty="0" smtClean="0">
                <a:ea typeface="黑体" panose="02010609060101010101" pitchFamily="49" charset="-122"/>
              </a:rPr>
              <a:t>IP </a:t>
            </a:r>
            <a:r>
              <a:rPr lang="zh-CN" altLang="zh-CN" dirty="0" smtClean="0">
                <a:ea typeface="黑体" panose="02010609060101010101" pitchFamily="49" charset="-122"/>
              </a:rPr>
              <a:t>地址到硬件地址的映射</a:t>
            </a:r>
            <a:r>
              <a:rPr lang="zh-CN" altLang="en-US" dirty="0" smtClean="0">
                <a:ea typeface="黑体" panose="02010609060101010101" pitchFamily="49" charset="-122"/>
              </a:rPr>
              <a:t>写入 </a:t>
            </a:r>
            <a:r>
              <a:rPr lang="en-US" altLang="zh-CN" dirty="0" smtClean="0">
                <a:ea typeface="黑体" panose="02010609060101010101" pitchFamily="49" charset="-122"/>
              </a:rPr>
              <a:t>ARP </a:t>
            </a:r>
            <a:r>
              <a:rPr lang="zh-CN" altLang="zh-CN" dirty="0" smtClean="0">
                <a:ea typeface="黑体" panose="02010609060101010101" pitchFamily="49" charset="-122"/>
              </a:rPr>
              <a:t>高速缓存</a:t>
            </a:r>
            <a:r>
              <a:rPr lang="zh-CN" altLang="en-US" dirty="0" smtClean="0">
                <a:ea typeface="黑体" panose="02010609060101010101" pitchFamily="49" charset="-122"/>
              </a:rPr>
              <a:t>。</a:t>
            </a:r>
          </a:p>
        </p:txBody>
      </p:sp>
      <p:sp>
        <p:nvSpPr>
          <p:cNvPr id="796675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72A4B7A-C183-49B7-9836-2837B30A260C}" type="slidenum">
              <a:rPr lang="zh-CN" altLang="en-US" smtClean="0"/>
              <a:pPr eaLnBrk="1" hangingPunct="1"/>
              <a:t>17</a:t>
            </a:fld>
            <a:endParaRPr lang="en-US" altLang="zh-CN" smtClean="0"/>
          </a:p>
        </p:txBody>
      </p:sp>
      <p:sp>
        <p:nvSpPr>
          <p:cNvPr id="796676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8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8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4851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21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zh-CN" altLang="en-US" smtClean="0">
                <a:ea typeface="黑体" panose="02010609060101010101" pitchFamily="49" charset="-122"/>
              </a:rPr>
              <a:t>地址解析协议 </a:t>
            </a:r>
            <a:r>
              <a:rPr lang="en-US" altLang="zh-CN" smtClean="0">
                <a:ea typeface="黑体" panose="02010609060101010101" pitchFamily="49" charset="-122"/>
              </a:rPr>
              <a:t>ARP </a:t>
            </a:r>
            <a:r>
              <a:rPr lang="zh-CN" altLang="en-US" smtClean="0">
                <a:ea typeface="黑体" panose="02010609060101010101" pitchFamily="49" charset="-122"/>
              </a:rPr>
              <a:t>要点</a:t>
            </a:r>
          </a:p>
        </p:txBody>
      </p:sp>
      <p:sp>
        <p:nvSpPr>
          <p:cNvPr id="798722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altLang="zh-CN" smtClean="0">
                <a:solidFill>
                  <a:srgbClr val="FF0000"/>
                </a:solidFill>
                <a:ea typeface="黑体" panose="02010609060101010101" pitchFamily="49" charset="-122"/>
              </a:rPr>
              <a:t>ARP</a:t>
            </a:r>
            <a:r>
              <a:rPr lang="zh-CN" altLang="en-US" smtClean="0">
                <a:solidFill>
                  <a:srgbClr val="FF0000"/>
                </a:solidFill>
                <a:ea typeface="黑体" panose="02010609060101010101" pitchFamily="49" charset="-122"/>
              </a:rPr>
              <a:t>请求分组：</a:t>
            </a:r>
            <a:r>
              <a:rPr lang="zh-CN" altLang="en-US" smtClean="0">
                <a:ea typeface="黑体" panose="02010609060101010101" pitchFamily="49" charset="-122"/>
              </a:rPr>
              <a:t>包含发送方硬件地址 </a:t>
            </a:r>
            <a:r>
              <a:rPr lang="en-US" altLang="zh-CN" smtClean="0">
                <a:ea typeface="黑体" panose="02010609060101010101" pitchFamily="49" charset="-122"/>
              </a:rPr>
              <a:t>/ </a:t>
            </a:r>
            <a:r>
              <a:rPr lang="zh-CN" altLang="en-US" smtClean="0">
                <a:ea typeface="黑体" panose="02010609060101010101" pitchFamily="49" charset="-122"/>
              </a:rPr>
              <a:t>发送方 </a:t>
            </a:r>
            <a:r>
              <a:rPr lang="en-US" altLang="zh-CN" smtClean="0">
                <a:ea typeface="黑体" panose="02010609060101010101" pitchFamily="49" charset="-122"/>
              </a:rPr>
              <a:t>IP </a:t>
            </a:r>
            <a:r>
              <a:rPr lang="zh-CN" altLang="en-US" smtClean="0">
                <a:ea typeface="黑体" panose="02010609060101010101" pitchFamily="49" charset="-122"/>
              </a:rPr>
              <a:t>地址 </a:t>
            </a:r>
            <a:r>
              <a:rPr lang="en-US" altLang="zh-CN" smtClean="0">
                <a:ea typeface="黑体" panose="02010609060101010101" pitchFamily="49" charset="-122"/>
              </a:rPr>
              <a:t>/ </a:t>
            </a:r>
            <a:r>
              <a:rPr lang="zh-CN" altLang="en-US" smtClean="0">
                <a:solidFill>
                  <a:srgbClr val="0000FF"/>
                </a:solidFill>
                <a:ea typeface="黑体" panose="02010609060101010101" pitchFamily="49" charset="-122"/>
              </a:rPr>
              <a:t>目标方硬件地址</a:t>
            </a:r>
            <a:r>
              <a:rPr lang="en-US" altLang="zh-CN" smtClean="0">
                <a:solidFill>
                  <a:srgbClr val="0000FF"/>
                </a:solidFill>
                <a:ea typeface="黑体" panose="02010609060101010101" pitchFamily="49" charset="-122"/>
              </a:rPr>
              <a:t>(</a:t>
            </a:r>
            <a:r>
              <a:rPr lang="zh-CN" altLang="en-US" smtClean="0">
                <a:solidFill>
                  <a:srgbClr val="0000FF"/>
                </a:solidFill>
                <a:ea typeface="黑体" panose="02010609060101010101" pitchFamily="49" charset="-122"/>
              </a:rPr>
              <a:t>未知时填 </a:t>
            </a:r>
            <a:r>
              <a:rPr lang="en-US" altLang="zh-CN" smtClean="0">
                <a:solidFill>
                  <a:srgbClr val="0000FF"/>
                </a:solidFill>
                <a:ea typeface="黑体" panose="02010609060101010101" pitchFamily="49" charset="-122"/>
              </a:rPr>
              <a:t>0) </a:t>
            </a:r>
            <a:r>
              <a:rPr lang="en-US" altLang="zh-CN" smtClean="0">
                <a:ea typeface="黑体" panose="02010609060101010101" pitchFamily="49" charset="-122"/>
              </a:rPr>
              <a:t>/ </a:t>
            </a:r>
            <a:r>
              <a:rPr lang="zh-CN" altLang="en-US" smtClean="0">
                <a:ea typeface="黑体" panose="02010609060101010101" pitchFamily="49" charset="-122"/>
              </a:rPr>
              <a:t>目标方 </a:t>
            </a:r>
            <a:r>
              <a:rPr lang="en-US" altLang="zh-CN" smtClean="0">
                <a:ea typeface="黑体" panose="02010609060101010101" pitchFamily="49" charset="-122"/>
              </a:rPr>
              <a:t>IP </a:t>
            </a:r>
            <a:r>
              <a:rPr lang="zh-CN" altLang="en-US" smtClean="0">
                <a:ea typeface="黑体" panose="02010609060101010101" pitchFamily="49" charset="-122"/>
              </a:rPr>
              <a:t>地址。</a:t>
            </a:r>
          </a:p>
          <a:p>
            <a:pPr>
              <a:spcBef>
                <a:spcPts val="1200"/>
              </a:spcBef>
            </a:pPr>
            <a:r>
              <a:rPr lang="zh-CN" altLang="en-US" smtClean="0">
                <a:solidFill>
                  <a:srgbClr val="FF0000"/>
                </a:solidFill>
                <a:ea typeface="黑体" panose="02010609060101010101" pitchFamily="49" charset="-122"/>
              </a:rPr>
              <a:t>本地广播 </a:t>
            </a:r>
            <a:r>
              <a:rPr lang="en-US" altLang="zh-CN" smtClean="0">
                <a:solidFill>
                  <a:srgbClr val="FF0000"/>
                </a:solidFill>
                <a:ea typeface="黑体" panose="02010609060101010101" pitchFamily="49" charset="-122"/>
              </a:rPr>
              <a:t>ARP </a:t>
            </a:r>
            <a:r>
              <a:rPr lang="zh-CN" altLang="en-US" smtClean="0">
                <a:solidFill>
                  <a:srgbClr val="FF0000"/>
                </a:solidFill>
                <a:ea typeface="黑体" panose="02010609060101010101" pitchFamily="49" charset="-122"/>
              </a:rPr>
              <a:t>请求</a:t>
            </a:r>
            <a:r>
              <a:rPr lang="zh-CN" altLang="en-US" smtClean="0">
                <a:ea typeface="黑体" panose="02010609060101010101" pitchFamily="49" charset="-122"/>
              </a:rPr>
              <a:t>（路由器不转发</a:t>
            </a:r>
            <a:r>
              <a:rPr lang="en-US" altLang="zh-CN" smtClean="0">
                <a:ea typeface="黑体" panose="02010609060101010101" pitchFamily="49" charset="-122"/>
              </a:rPr>
              <a:t>ARP</a:t>
            </a:r>
            <a:r>
              <a:rPr lang="zh-CN" altLang="en-US" smtClean="0">
                <a:ea typeface="黑体" panose="02010609060101010101" pitchFamily="49" charset="-122"/>
              </a:rPr>
              <a:t>请求）。</a:t>
            </a:r>
          </a:p>
          <a:p>
            <a:pPr>
              <a:spcBef>
                <a:spcPts val="1200"/>
              </a:spcBef>
            </a:pPr>
            <a:r>
              <a:rPr lang="en-US" altLang="zh-CN" smtClean="0">
                <a:solidFill>
                  <a:srgbClr val="FF0000"/>
                </a:solidFill>
                <a:ea typeface="黑体" panose="02010609060101010101" pitchFamily="49" charset="-122"/>
              </a:rPr>
              <a:t>ARP </a:t>
            </a:r>
            <a:r>
              <a:rPr lang="zh-CN" altLang="en-US" smtClean="0">
                <a:solidFill>
                  <a:srgbClr val="FF0000"/>
                </a:solidFill>
                <a:ea typeface="黑体" panose="02010609060101010101" pitchFamily="49" charset="-122"/>
              </a:rPr>
              <a:t>响应分组：</a:t>
            </a:r>
            <a:r>
              <a:rPr lang="zh-CN" altLang="en-US" smtClean="0">
                <a:ea typeface="黑体" panose="02010609060101010101" pitchFamily="49" charset="-122"/>
              </a:rPr>
              <a:t>包含发送方硬件地址 </a:t>
            </a:r>
            <a:r>
              <a:rPr lang="en-US" altLang="zh-CN" smtClean="0">
                <a:ea typeface="黑体" panose="02010609060101010101" pitchFamily="49" charset="-122"/>
              </a:rPr>
              <a:t>/ </a:t>
            </a:r>
            <a:r>
              <a:rPr lang="zh-CN" altLang="en-US" smtClean="0">
                <a:ea typeface="黑体" panose="02010609060101010101" pitchFamily="49" charset="-122"/>
              </a:rPr>
              <a:t>发送方 </a:t>
            </a:r>
            <a:r>
              <a:rPr lang="en-US" altLang="zh-CN" smtClean="0">
                <a:ea typeface="黑体" panose="02010609060101010101" pitchFamily="49" charset="-122"/>
              </a:rPr>
              <a:t>IP</a:t>
            </a:r>
            <a:r>
              <a:rPr lang="zh-CN" altLang="en-US" smtClean="0">
                <a:ea typeface="黑体" panose="02010609060101010101" pitchFamily="49" charset="-122"/>
              </a:rPr>
              <a:t>地址 </a:t>
            </a:r>
            <a:r>
              <a:rPr lang="en-US" altLang="zh-CN" smtClean="0">
                <a:ea typeface="黑体" panose="02010609060101010101" pitchFamily="49" charset="-122"/>
              </a:rPr>
              <a:t>/ </a:t>
            </a:r>
            <a:r>
              <a:rPr lang="zh-CN" altLang="en-US" smtClean="0">
                <a:ea typeface="黑体" panose="02010609060101010101" pitchFamily="49" charset="-122"/>
              </a:rPr>
              <a:t>目标方硬件地址 </a:t>
            </a:r>
            <a:r>
              <a:rPr lang="en-US" altLang="zh-CN" smtClean="0">
                <a:ea typeface="黑体" panose="02010609060101010101" pitchFamily="49" charset="-122"/>
              </a:rPr>
              <a:t>/ </a:t>
            </a:r>
            <a:r>
              <a:rPr lang="zh-CN" altLang="en-US" smtClean="0">
                <a:ea typeface="黑体" panose="02010609060101010101" pitchFamily="49" charset="-122"/>
              </a:rPr>
              <a:t>目标方 </a:t>
            </a:r>
            <a:r>
              <a:rPr lang="en-US" altLang="zh-CN" smtClean="0">
                <a:ea typeface="黑体" panose="02010609060101010101" pitchFamily="49" charset="-122"/>
              </a:rPr>
              <a:t>IP </a:t>
            </a:r>
            <a:r>
              <a:rPr lang="zh-CN" altLang="en-US" smtClean="0">
                <a:ea typeface="黑体" panose="02010609060101010101" pitchFamily="49" charset="-122"/>
              </a:rPr>
              <a:t>地址。</a:t>
            </a:r>
            <a:endParaRPr lang="zh-CN" altLang="en-US" smtClean="0">
              <a:solidFill>
                <a:srgbClr val="0000FF"/>
              </a:solidFill>
              <a:ea typeface="黑体" panose="02010609060101010101" pitchFamily="49" charset="-122"/>
            </a:endParaRPr>
          </a:p>
          <a:p>
            <a:pPr>
              <a:spcBef>
                <a:spcPts val="1200"/>
              </a:spcBef>
            </a:pPr>
            <a:r>
              <a:rPr lang="en-US" altLang="zh-CN" smtClean="0">
                <a:solidFill>
                  <a:srgbClr val="FF0000"/>
                </a:solidFill>
                <a:ea typeface="黑体" panose="02010609060101010101" pitchFamily="49" charset="-122"/>
              </a:rPr>
              <a:t>ARP </a:t>
            </a:r>
            <a:r>
              <a:rPr lang="zh-CN" altLang="en-US" smtClean="0">
                <a:solidFill>
                  <a:srgbClr val="FF0000"/>
                </a:solidFill>
                <a:ea typeface="黑体" panose="02010609060101010101" pitchFamily="49" charset="-122"/>
              </a:rPr>
              <a:t>分组封装在物理网络的帧中传输。</a:t>
            </a:r>
          </a:p>
        </p:txBody>
      </p:sp>
      <p:sp>
        <p:nvSpPr>
          <p:cNvPr id="798723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57E97D5-8E18-4A2C-90F1-EA31C03B312F}" type="slidenum">
              <a:rPr lang="zh-CN" altLang="en-US" smtClean="0"/>
              <a:pPr eaLnBrk="1" hangingPunct="1"/>
              <a:t>18</a:t>
            </a:fld>
            <a:endParaRPr lang="en-US" altLang="zh-CN" smtClean="0"/>
          </a:p>
        </p:txBody>
      </p:sp>
      <p:sp>
        <p:nvSpPr>
          <p:cNvPr id="798724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745" name="Rectangle 105"/>
          <p:cNvSpPr>
            <a:spLocks noChangeArrowheads="1"/>
          </p:cNvSpPr>
          <p:nvPr/>
        </p:nvSpPr>
        <p:spPr bwMode="auto">
          <a:xfrm>
            <a:off x="-15875" y="0"/>
            <a:ext cx="9921875" cy="3500438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grpSp>
        <p:nvGrpSpPr>
          <p:cNvPr id="219230" name="Group 94"/>
          <p:cNvGrpSpPr/>
          <p:nvPr/>
        </p:nvGrpSpPr>
        <p:grpSpPr bwMode="auto">
          <a:xfrm>
            <a:off x="3996723" y="4794251"/>
            <a:ext cx="1723231" cy="409575"/>
            <a:chOff x="249" y="663"/>
            <a:chExt cx="1002" cy="258"/>
          </a:xfrm>
          <a:solidFill>
            <a:srgbClr val="FF99FF"/>
          </a:solidFill>
        </p:grpSpPr>
        <p:sp>
          <p:nvSpPr>
            <p:cNvPr id="219231" name="AutoShape 95"/>
            <p:cNvSpPr>
              <a:spLocks noChangeArrowheads="1"/>
            </p:cNvSpPr>
            <p:nvPr/>
          </p:nvSpPr>
          <p:spPr bwMode="auto">
            <a:xfrm flipH="1">
              <a:off x="249" y="709"/>
              <a:ext cx="138" cy="139"/>
            </a:xfrm>
            <a:prstGeom prst="rightArrow">
              <a:avLst>
                <a:gd name="adj1" fmla="val 50000"/>
                <a:gd name="adj2" fmla="val 25000"/>
              </a:avLst>
            </a:prstGeom>
            <a:grpFill/>
            <a:ln w="1270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 noProof="1">
                <a:solidFill>
                  <a:srgbClr val="0000CC"/>
                </a:solidFill>
                <a:latin typeface="+mn-lt"/>
                <a:ea typeface="黑体" panose="02010609060101010101" pitchFamily="2" charset="-122"/>
              </a:endParaRPr>
            </a:p>
          </p:txBody>
        </p:sp>
        <p:sp>
          <p:nvSpPr>
            <p:cNvPr id="219232" name="Text Box 96"/>
            <p:cNvSpPr txBox="1">
              <a:spLocks noChangeArrowheads="1"/>
            </p:cNvSpPr>
            <p:nvPr/>
          </p:nvSpPr>
          <p:spPr bwMode="auto">
            <a:xfrm flipH="1">
              <a:off x="386" y="663"/>
              <a:ext cx="865" cy="258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>
              <a:spAutoFit/>
            </a:bodyPr>
            <a:lstStyle/>
            <a:p>
              <a:r>
                <a:rPr kumimoji="1" lang="en-US" altLang="zh-CN" sz="2000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rPr>
                <a:t>ARP </a:t>
              </a:r>
              <a:r>
                <a:rPr kumimoji="1" lang="zh-CN" altLang="en-US" sz="2000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rPr>
                <a:t>响应</a:t>
              </a:r>
            </a:p>
          </p:txBody>
        </p:sp>
      </p:grpSp>
      <p:sp>
        <p:nvSpPr>
          <p:cNvPr id="799747" name="Line 7"/>
          <p:cNvSpPr>
            <a:spLocks noChangeShapeType="1"/>
          </p:cNvSpPr>
          <p:nvPr/>
        </p:nvSpPr>
        <p:spPr bwMode="auto">
          <a:xfrm rot="5400000">
            <a:off x="2079625" y="2311401"/>
            <a:ext cx="587375" cy="0"/>
          </a:xfrm>
          <a:prstGeom prst="line">
            <a:avLst/>
          </a:prstGeom>
          <a:noFill/>
          <a:ln w="381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799748" name="Line 8"/>
          <p:cNvSpPr>
            <a:spLocks noChangeShapeType="1"/>
          </p:cNvSpPr>
          <p:nvPr/>
        </p:nvSpPr>
        <p:spPr bwMode="auto">
          <a:xfrm rot="5400000">
            <a:off x="4263232" y="2302669"/>
            <a:ext cx="588962" cy="0"/>
          </a:xfrm>
          <a:prstGeom prst="line">
            <a:avLst/>
          </a:prstGeom>
          <a:noFill/>
          <a:ln w="381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799749" name="Line 9"/>
          <p:cNvSpPr>
            <a:spLocks noChangeShapeType="1"/>
          </p:cNvSpPr>
          <p:nvPr/>
        </p:nvSpPr>
        <p:spPr bwMode="auto">
          <a:xfrm rot="5400000">
            <a:off x="6140450" y="2311401"/>
            <a:ext cx="587375" cy="0"/>
          </a:xfrm>
          <a:prstGeom prst="line">
            <a:avLst/>
          </a:prstGeom>
          <a:noFill/>
          <a:ln w="381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799750" name="Line 10"/>
          <p:cNvSpPr>
            <a:spLocks noChangeShapeType="1"/>
          </p:cNvSpPr>
          <p:nvPr/>
        </p:nvSpPr>
        <p:spPr bwMode="auto">
          <a:xfrm rot="5400000">
            <a:off x="8353425" y="2311401"/>
            <a:ext cx="587375" cy="0"/>
          </a:xfrm>
          <a:prstGeom prst="line">
            <a:avLst/>
          </a:prstGeom>
          <a:noFill/>
          <a:ln w="381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799751" name="Line 11"/>
          <p:cNvSpPr>
            <a:spLocks noChangeShapeType="1"/>
          </p:cNvSpPr>
          <p:nvPr/>
        </p:nvSpPr>
        <p:spPr bwMode="auto">
          <a:xfrm rot="5400000">
            <a:off x="663575" y="2311401"/>
            <a:ext cx="587375" cy="0"/>
          </a:xfrm>
          <a:prstGeom prst="line">
            <a:avLst/>
          </a:prstGeom>
          <a:noFill/>
          <a:ln w="381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pic>
        <p:nvPicPr>
          <p:cNvPr id="799752" name="Picture 12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038" y="2459038"/>
            <a:ext cx="546100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99753" name="Picture 13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5775" y="2459038"/>
            <a:ext cx="544513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99754" name="Picture 14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9500" y="2459038"/>
            <a:ext cx="544513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99755" name="Picture 15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8350" y="2459038"/>
            <a:ext cx="544513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99756" name="Line 16"/>
          <p:cNvSpPr>
            <a:spLocks noChangeShapeType="1"/>
          </p:cNvSpPr>
          <p:nvPr/>
        </p:nvSpPr>
        <p:spPr bwMode="auto">
          <a:xfrm>
            <a:off x="131763" y="2017713"/>
            <a:ext cx="9297987" cy="20637"/>
          </a:xfrm>
          <a:prstGeom prst="line">
            <a:avLst/>
          </a:prstGeom>
          <a:noFill/>
          <a:ln w="381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799757" name="Text Box 17"/>
          <p:cNvSpPr txBox="1">
            <a:spLocks noChangeArrowheads="1"/>
          </p:cNvSpPr>
          <p:nvPr/>
        </p:nvSpPr>
        <p:spPr bwMode="auto">
          <a:xfrm>
            <a:off x="2589213" y="2528888"/>
            <a:ext cx="3698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A</a:t>
            </a:r>
          </a:p>
        </p:txBody>
      </p:sp>
      <p:sp>
        <p:nvSpPr>
          <p:cNvPr id="799758" name="Text Box 18"/>
          <p:cNvSpPr txBox="1">
            <a:spLocks noChangeArrowheads="1"/>
          </p:cNvSpPr>
          <p:nvPr/>
        </p:nvSpPr>
        <p:spPr bwMode="auto">
          <a:xfrm>
            <a:off x="4743450" y="2405063"/>
            <a:ext cx="3556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Y</a:t>
            </a:r>
          </a:p>
        </p:txBody>
      </p:sp>
      <p:sp>
        <p:nvSpPr>
          <p:cNvPr id="799759" name="Text Box 19"/>
          <p:cNvSpPr txBox="1">
            <a:spLocks noChangeArrowheads="1"/>
          </p:cNvSpPr>
          <p:nvPr/>
        </p:nvSpPr>
        <p:spPr bwMode="auto">
          <a:xfrm>
            <a:off x="1150938" y="2405063"/>
            <a:ext cx="3556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X</a:t>
            </a:r>
          </a:p>
        </p:txBody>
      </p:sp>
      <p:sp>
        <p:nvSpPr>
          <p:cNvPr id="799760" name="Text Box 20"/>
          <p:cNvSpPr txBox="1">
            <a:spLocks noChangeArrowheads="1"/>
          </p:cNvSpPr>
          <p:nvPr/>
        </p:nvSpPr>
        <p:spPr bwMode="auto">
          <a:xfrm>
            <a:off x="6627813" y="2528888"/>
            <a:ext cx="3714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B</a:t>
            </a:r>
          </a:p>
        </p:txBody>
      </p:sp>
      <p:sp>
        <p:nvSpPr>
          <p:cNvPr id="799761" name="Text Box 21"/>
          <p:cNvSpPr txBox="1">
            <a:spLocks noChangeArrowheads="1"/>
          </p:cNvSpPr>
          <p:nvPr/>
        </p:nvSpPr>
        <p:spPr bwMode="auto">
          <a:xfrm>
            <a:off x="8848725" y="2405063"/>
            <a:ext cx="3413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Z</a:t>
            </a:r>
          </a:p>
        </p:txBody>
      </p:sp>
      <p:sp>
        <p:nvSpPr>
          <p:cNvPr id="219181" name="Text Box 45"/>
          <p:cNvSpPr txBox="1">
            <a:spLocks noChangeArrowheads="1"/>
          </p:cNvSpPr>
          <p:nvPr/>
        </p:nvSpPr>
        <p:spPr bwMode="auto">
          <a:xfrm>
            <a:off x="960438" y="3789363"/>
            <a:ext cx="2495550" cy="757237"/>
          </a:xfrm>
          <a:prstGeom prst="rect">
            <a:avLst/>
          </a:prstGeom>
          <a:solidFill>
            <a:srgbClr val="66FFFF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>
              <a:lnSpc>
                <a:spcPct val="90000"/>
              </a:lnSpc>
            </a:pPr>
            <a:r>
              <a:rPr lang="zh-CN" altLang="en-US" sz="2400" b="1">
                <a:solidFill>
                  <a:srgbClr val="0000CC"/>
                </a:solidFill>
                <a:ea typeface="黑体" panose="02010609060101010101" pitchFamily="49" charset="-122"/>
              </a:rPr>
              <a:t>主机 </a:t>
            </a:r>
            <a:r>
              <a:rPr lang="en-US" altLang="zh-CN" sz="2400" b="1">
                <a:solidFill>
                  <a:srgbClr val="0000CC"/>
                </a:solidFill>
                <a:ea typeface="黑体" panose="02010609060101010101" pitchFamily="49" charset="-122"/>
              </a:rPr>
              <a:t>B </a:t>
            </a:r>
            <a:r>
              <a:rPr lang="zh-CN" altLang="en-US" sz="2400" b="1">
                <a:solidFill>
                  <a:srgbClr val="0000CC"/>
                </a:solidFill>
                <a:ea typeface="黑体" panose="02010609060101010101" pitchFamily="49" charset="-122"/>
              </a:rPr>
              <a:t>向 </a:t>
            </a:r>
            <a:r>
              <a:rPr lang="en-US" altLang="zh-CN" sz="2400" b="1">
                <a:solidFill>
                  <a:srgbClr val="0000CC"/>
                </a:solidFill>
                <a:ea typeface="黑体" panose="02010609060101010101" pitchFamily="49" charset="-122"/>
              </a:rPr>
              <a:t>A </a:t>
            </a:r>
            <a:r>
              <a:rPr lang="zh-CN" altLang="en-US" sz="2400" b="1">
                <a:solidFill>
                  <a:srgbClr val="C00000"/>
                </a:solidFill>
                <a:ea typeface="黑体" panose="02010609060101010101" pitchFamily="49" charset="-122"/>
              </a:rPr>
              <a:t>发送</a:t>
            </a:r>
          </a:p>
          <a:p>
            <a:pPr algn="ctr" eaLnBrk="0" hangingPunct="0">
              <a:lnSpc>
                <a:spcPct val="90000"/>
              </a:lnSpc>
            </a:pPr>
            <a:r>
              <a:rPr lang="en-US" altLang="zh-CN" sz="2400" b="1">
                <a:solidFill>
                  <a:srgbClr val="C00000"/>
                </a:solidFill>
                <a:ea typeface="黑体" panose="02010609060101010101" pitchFamily="49" charset="-122"/>
              </a:rPr>
              <a:t>ARP </a:t>
            </a:r>
            <a:r>
              <a:rPr lang="zh-CN" altLang="en-US" sz="2400" b="1">
                <a:solidFill>
                  <a:srgbClr val="C00000"/>
                </a:solidFill>
                <a:ea typeface="黑体" panose="02010609060101010101" pitchFamily="49" charset="-122"/>
              </a:rPr>
              <a:t>响应分组 </a:t>
            </a:r>
          </a:p>
        </p:txBody>
      </p:sp>
      <p:sp>
        <p:nvSpPr>
          <p:cNvPr id="219182" name="Text Box 46"/>
          <p:cNvSpPr txBox="1">
            <a:spLocks noChangeArrowheads="1"/>
          </p:cNvSpPr>
          <p:nvPr/>
        </p:nvSpPr>
        <p:spPr bwMode="auto">
          <a:xfrm>
            <a:off x="468313" y="219075"/>
            <a:ext cx="2411412" cy="757238"/>
          </a:xfrm>
          <a:prstGeom prst="rect">
            <a:avLst/>
          </a:prstGeom>
          <a:solidFill>
            <a:srgbClr val="66FFFF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>
              <a:lnSpc>
                <a:spcPct val="90000"/>
              </a:lnSpc>
            </a:pPr>
            <a:r>
              <a:rPr lang="zh-CN" altLang="en-US" sz="2400" b="1">
                <a:solidFill>
                  <a:srgbClr val="0000CC"/>
                </a:solidFill>
                <a:ea typeface="黑体" panose="02010609060101010101" pitchFamily="49" charset="-122"/>
              </a:rPr>
              <a:t>主机 </a:t>
            </a:r>
            <a:r>
              <a:rPr lang="en-US" altLang="zh-CN" sz="2400" b="1">
                <a:solidFill>
                  <a:srgbClr val="0000CC"/>
                </a:solidFill>
                <a:ea typeface="黑体" panose="02010609060101010101" pitchFamily="49" charset="-122"/>
              </a:rPr>
              <a:t>A </a:t>
            </a:r>
            <a:r>
              <a:rPr lang="zh-CN" altLang="en-US" sz="2400" b="1">
                <a:solidFill>
                  <a:srgbClr val="C00000"/>
                </a:solidFill>
                <a:ea typeface="黑体" panose="02010609060101010101" pitchFamily="49" charset="-122"/>
              </a:rPr>
              <a:t>广播发送</a:t>
            </a:r>
          </a:p>
          <a:p>
            <a:pPr algn="ctr" eaLnBrk="0" hangingPunct="0">
              <a:lnSpc>
                <a:spcPct val="90000"/>
              </a:lnSpc>
            </a:pPr>
            <a:r>
              <a:rPr lang="en-US" altLang="zh-CN" sz="2400" b="1">
                <a:solidFill>
                  <a:srgbClr val="C00000"/>
                </a:solidFill>
                <a:ea typeface="黑体" panose="02010609060101010101" pitchFamily="49" charset="-122"/>
              </a:rPr>
              <a:t>ARP </a:t>
            </a:r>
            <a:r>
              <a:rPr lang="zh-CN" altLang="en-US" sz="2400" b="1">
                <a:solidFill>
                  <a:srgbClr val="C00000"/>
                </a:solidFill>
                <a:ea typeface="黑体" panose="02010609060101010101" pitchFamily="49" charset="-122"/>
              </a:rPr>
              <a:t>请求分组 </a:t>
            </a:r>
          </a:p>
        </p:txBody>
      </p:sp>
      <p:sp>
        <p:nvSpPr>
          <p:cNvPr id="799764" name="Text Box 48"/>
          <p:cNvSpPr txBox="1">
            <a:spLocks noChangeArrowheads="1"/>
          </p:cNvSpPr>
          <p:nvPr/>
        </p:nvSpPr>
        <p:spPr bwMode="auto">
          <a:xfrm>
            <a:off x="2882900" y="1473200"/>
            <a:ext cx="1309688" cy="400050"/>
          </a:xfrm>
          <a:prstGeom prst="rect">
            <a:avLst/>
          </a:prstGeom>
          <a:solidFill>
            <a:srgbClr val="FF99FF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ARP </a:t>
            </a:r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请求</a:t>
            </a:r>
          </a:p>
        </p:txBody>
      </p:sp>
      <p:sp>
        <p:nvSpPr>
          <p:cNvPr id="799765" name="AutoShape 49"/>
          <p:cNvSpPr>
            <a:spLocks noChangeArrowheads="1"/>
          </p:cNvSpPr>
          <p:nvPr/>
        </p:nvSpPr>
        <p:spPr bwMode="auto">
          <a:xfrm>
            <a:off x="4302125" y="1570038"/>
            <a:ext cx="234950" cy="204787"/>
          </a:xfrm>
          <a:prstGeom prst="rightArrow">
            <a:avLst>
              <a:gd name="adj1" fmla="val 50000"/>
              <a:gd name="adj2" fmla="val 26473"/>
            </a:avLst>
          </a:prstGeom>
          <a:solidFill>
            <a:srgbClr val="FF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799766" name="Text Box 50"/>
          <p:cNvSpPr txBox="1">
            <a:spLocks noChangeArrowheads="1"/>
          </p:cNvSpPr>
          <p:nvPr/>
        </p:nvSpPr>
        <p:spPr bwMode="auto">
          <a:xfrm>
            <a:off x="4967288" y="1473200"/>
            <a:ext cx="1309687" cy="400050"/>
          </a:xfrm>
          <a:prstGeom prst="rect">
            <a:avLst/>
          </a:prstGeom>
          <a:solidFill>
            <a:srgbClr val="FF99FF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ARP </a:t>
            </a:r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请求</a:t>
            </a:r>
          </a:p>
        </p:txBody>
      </p:sp>
      <p:sp>
        <p:nvSpPr>
          <p:cNvPr id="799767" name="AutoShape 51"/>
          <p:cNvSpPr>
            <a:spLocks noChangeArrowheads="1"/>
          </p:cNvSpPr>
          <p:nvPr/>
        </p:nvSpPr>
        <p:spPr bwMode="auto">
          <a:xfrm>
            <a:off x="6353175" y="1595438"/>
            <a:ext cx="234950" cy="220662"/>
          </a:xfrm>
          <a:prstGeom prst="rightArrow">
            <a:avLst>
              <a:gd name="adj1" fmla="val 50000"/>
              <a:gd name="adj2" fmla="val 24928"/>
            </a:avLst>
          </a:prstGeom>
          <a:solidFill>
            <a:srgbClr val="FF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799768" name="Text Box 52"/>
          <p:cNvSpPr txBox="1">
            <a:spLocks noChangeArrowheads="1"/>
          </p:cNvSpPr>
          <p:nvPr/>
        </p:nvSpPr>
        <p:spPr bwMode="auto">
          <a:xfrm>
            <a:off x="7010400" y="1473200"/>
            <a:ext cx="1309688" cy="400050"/>
          </a:xfrm>
          <a:prstGeom prst="rect">
            <a:avLst/>
          </a:prstGeom>
          <a:solidFill>
            <a:srgbClr val="FF99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ARP </a:t>
            </a:r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请求</a:t>
            </a:r>
          </a:p>
        </p:txBody>
      </p:sp>
      <p:sp>
        <p:nvSpPr>
          <p:cNvPr id="799769" name="AutoShape 53"/>
          <p:cNvSpPr>
            <a:spLocks noChangeArrowheads="1"/>
          </p:cNvSpPr>
          <p:nvPr/>
        </p:nvSpPr>
        <p:spPr bwMode="auto">
          <a:xfrm>
            <a:off x="8418513" y="1558925"/>
            <a:ext cx="236537" cy="220663"/>
          </a:xfrm>
          <a:prstGeom prst="rightArrow">
            <a:avLst>
              <a:gd name="adj1" fmla="val 50000"/>
              <a:gd name="adj2" fmla="val 25096"/>
            </a:avLst>
          </a:prstGeom>
          <a:solidFill>
            <a:srgbClr val="FF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grpSp>
        <p:nvGrpSpPr>
          <p:cNvPr id="219229" name="Group 93"/>
          <p:cNvGrpSpPr/>
          <p:nvPr/>
        </p:nvGrpSpPr>
        <p:grpSpPr bwMode="auto">
          <a:xfrm>
            <a:off x="559229" y="1485901"/>
            <a:ext cx="1723231" cy="409575"/>
            <a:chOff x="249" y="663"/>
            <a:chExt cx="1002" cy="258"/>
          </a:xfrm>
          <a:solidFill>
            <a:srgbClr val="FF99FF"/>
          </a:solidFill>
        </p:grpSpPr>
        <p:sp>
          <p:nvSpPr>
            <p:cNvPr id="219141" name="AutoShape 5"/>
            <p:cNvSpPr>
              <a:spLocks noChangeArrowheads="1"/>
            </p:cNvSpPr>
            <p:nvPr/>
          </p:nvSpPr>
          <p:spPr bwMode="auto">
            <a:xfrm flipH="1">
              <a:off x="249" y="709"/>
              <a:ext cx="138" cy="139"/>
            </a:xfrm>
            <a:prstGeom prst="rightArrow">
              <a:avLst>
                <a:gd name="adj1" fmla="val 50000"/>
                <a:gd name="adj2" fmla="val 25000"/>
              </a:avLst>
            </a:prstGeom>
            <a:grpFill/>
            <a:ln w="1270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 noProof="1">
                <a:solidFill>
                  <a:srgbClr val="0000CC"/>
                </a:solidFill>
                <a:latin typeface="+mn-lt"/>
                <a:ea typeface="黑体" panose="02010609060101010101" pitchFamily="2" charset="-122"/>
              </a:endParaRPr>
            </a:p>
          </p:txBody>
        </p:sp>
        <p:sp>
          <p:nvSpPr>
            <p:cNvPr id="219190" name="Text Box 54"/>
            <p:cNvSpPr txBox="1">
              <a:spLocks noChangeArrowheads="1"/>
            </p:cNvSpPr>
            <p:nvPr/>
          </p:nvSpPr>
          <p:spPr bwMode="auto">
            <a:xfrm flipH="1">
              <a:off x="386" y="663"/>
              <a:ext cx="865" cy="258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2000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rPr>
                <a:t>ARP </a:t>
              </a:r>
              <a:r>
                <a:rPr kumimoji="1" lang="zh-CN" altLang="en-US" sz="2000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rPr>
                <a:t>请求</a:t>
              </a:r>
            </a:p>
          </p:txBody>
        </p:sp>
      </p:grpSp>
      <p:sp>
        <p:nvSpPr>
          <p:cNvPr id="799771" name="Text Box 55"/>
          <p:cNvSpPr txBox="1">
            <a:spLocks noChangeArrowheads="1"/>
          </p:cNvSpPr>
          <p:nvPr/>
        </p:nvSpPr>
        <p:spPr bwMode="auto">
          <a:xfrm>
            <a:off x="2413000" y="2241550"/>
            <a:ext cx="12525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209.0.0.5</a:t>
            </a:r>
          </a:p>
        </p:txBody>
      </p:sp>
      <p:sp>
        <p:nvSpPr>
          <p:cNvPr id="799772" name="Text Box 56"/>
          <p:cNvSpPr txBox="1">
            <a:spLocks noChangeArrowheads="1"/>
          </p:cNvSpPr>
          <p:nvPr/>
        </p:nvSpPr>
        <p:spPr bwMode="auto">
          <a:xfrm>
            <a:off x="6391275" y="2135188"/>
            <a:ext cx="12525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209.0.0.6</a:t>
            </a:r>
          </a:p>
        </p:txBody>
      </p:sp>
      <p:sp>
        <p:nvSpPr>
          <p:cNvPr id="799773" name="Text Box 57"/>
          <p:cNvSpPr txBox="1">
            <a:spLocks noChangeArrowheads="1"/>
          </p:cNvSpPr>
          <p:nvPr/>
        </p:nvSpPr>
        <p:spPr bwMode="auto">
          <a:xfrm>
            <a:off x="1184275" y="2960688"/>
            <a:ext cx="24368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00-00-C0-15-AD-18</a:t>
            </a:r>
          </a:p>
        </p:txBody>
      </p:sp>
      <p:sp>
        <p:nvSpPr>
          <p:cNvPr id="219194" name="Text Box 58"/>
          <p:cNvSpPr txBox="1">
            <a:spLocks noChangeArrowheads="1"/>
          </p:cNvSpPr>
          <p:nvPr/>
        </p:nvSpPr>
        <p:spPr bwMode="auto">
          <a:xfrm>
            <a:off x="5094288" y="6237288"/>
            <a:ext cx="24653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08-00-2B-00-EE-0A</a:t>
            </a:r>
          </a:p>
        </p:txBody>
      </p:sp>
      <p:sp>
        <p:nvSpPr>
          <p:cNvPr id="799775" name="AutoShape 59"/>
          <p:cNvSpPr>
            <a:spLocks noChangeArrowheads="1"/>
          </p:cNvSpPr>
          <p:nvPr/>
        </p:nvSpPr>
        <p:spPr bwMode="auto">
          <a:xfrm>
            <a:off x="3435350" y="592138"/>
            <a:ext cx="6103938" cy="661987"/>
          </a:xfrm>
          <a:prstGeom prst="wedgeRoundRectCallout">
            <a:avLst>
              <a:gd name="adj1" fmla="val -51181"/>
              <a:gd name="adj2" fmla="val 85972"/>
              <a:gd name="adj3" fmla="val 16667"/>
            </a:avLst>
          </a:prstGeom>
          <a:solidFill>
            <a:srgbClr val="FF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 eaLnBrk="0" hangingPunct="0"/>
            <a:endParaRPr lang="zh-CN" altLang="zh-CN" sz="2000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799776" name="Text Box 60"/>
          <p:cNvSpPr txBox="1">
            <a:spLocks noChangeArrowheads="1"/>
          </p:cNvSpPr>
          <p:nvPr/>
        </p:nvSpPr>
        <p:spPr bwMode="auto">
          <a:xfrm>
            <a:off x="3511550" y="558800"/>
            <a:ext cx="5884863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我是 </a:t>
            </a:r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209.0.0.5</a:t>
            </a:r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，硬件地址是 </a:t>
            </a:r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00-00-C0-15-AD-18</a:t>
            </a:r>
          </a:p>
          <a:p>
            <a:pPr eaLnBrk="0" hangingPunct="0"/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我想知道主机 </a:t>
            </a:r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209.0.0.6 </a:t>
            </a:r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的硬件地址</a:t>
            </a:r>
          </a:p>
        </p:txBody>
      </p:sp>
      <p:sp>
        <p:nvSpPr>
          <p:cNvPr id="799777" name="AutoShape 61"/>
          <p:cNvSpPr>
            <a:spLocks noChangeArrowheads="1"/>
          </p:cNvSpPr>
          <p:nvPr/>
        </p:nvSpPr>
        <p:spPr bwMode="auto">
          <a:xfrm>
            <a:off x="5248275" y="3933825"/>
            <a:ext cx="4217988" cy="727075"/>
          </a:xfrm>
          <a:prstGeom prst="wedgeRoundRectCallout">
            <a:avLst>
              <a:gd name="adj1" fmla="val -44574"/>
              <a:gd name="adj2" fmla="val 81657"/>
              <a:gd name="adj3" fmla="val 16667"/>
            </a:avLst>
          </a:prstGeom>
          <a:solidFill>
            <a:srgbClr val="FF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 eaLnBrk="0" hangingPunct="0"/>
            <a:endParaRPr lang="zh-CN" altLang="zh-CN" sz="2000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799778" name="Text Box 62"/>
          <p:cNvSpPr txBox="1">
            <a:spLocks noChangeArrowheads="1"/>
          </p:cNvSpPr>
          <p:nvPr/>
        </p:nvSpPr>
        <p:spPr bwMode="auto">
          <a:xfrm>
            <a:off x="5318125" y="3933825"/>
            <a:ext cx="4221163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我是 </a:t>
            </a:r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209.0.0.6</a:t>
            </a:r>
          </a:p>
          <a:p>
            <a:pPr eaLnBrk="0" hangingPunct="0"/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硬件地址是 </a:t>
            </a:r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08-00-2B-00-EE-0A</a:t>
            </a:r>
          </a:p>
        </p:txBody>
      </p:sp>
      <p:pic>
        <p:nvPicPr>
          <p:cNvPr id="799779" name="Picture 63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3438" y="2459038"/>
            <a:ext cx="546100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99780" name="Line 74"/>
          <p:cNvSpPr>
            <a:spLocks noChangeShapeType="1"/>
          </p:cNvSpPr>
          <p:nvPr/>
        </p:nvSpPr>
        <p:spPr bwMode="auto">
          <a:xfrm rot="5400000">
            <a:off x="1955800" y="5621338"/>
            <a:ext cx="587375" cy="0"/>
          </a:xfrm>
          <a:prstGeom prst="line">
            <a:avLst/>
          </a:prstGeom>
          <a:noFill/>
          <a:ln w="381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799781" name="Line 75"/>
          <p:cNvSpPr>
            <a:spLocks noChangeShapeType="1"/>
          </p:cNvSpPr>
          <p:nvPr/>
        </p:nvSpPr>
        <p:spPr bwMode="auto">
          <a:xfrm rot="5400000">
            <a:off x="4139406" y="5612607"/>
            <a:ext cx="588963" cy="0"/>
          </a:xfrm>
          <a:prstGeom prst="line">
            <a:avLst/>
          </a:prstGeom>
          <a:noFill/>
          <a:ln w="381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799782" name="Line 76"/>
          <p:cNvSpPr>
            <a:spLocks noChangeShapeType="1"/>
          </p:cNvSpPr>
          <p:nvPr/>
        </p:nvSpPr>
        <p:spPr bwMode="auto">
          <a:xfrm rot="5400000">
            <a:off x="6016625" y="5621338"/>
            <a:ext cx="587375" cy="0"/>
          </a:xfrm>
          <a:prstGeom prst="line">
            <a:avLst/>
          </a:prstGeom>
          <a:noFill/>
          <a:ln w="381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799783" name="Line 77"/>
          <p:cNvSpPr>
            <a:spLocks noChangeShapeType="1"/>
          </p:cNvSpPr>
          <p:nvPr/>
        </p:nvSpPr>
        <p:spPr bwMode="auto">
          <a:xfrm rot="5400000">
            <a:off x="8229600" y="5621338"/>
            <a:ext cx="587375" cy="0"/>
          </a:xfrm>
          <a:prstGeom prst="line">
            <a:avLst/>
          </a:prstGeom>
          <a:noFill/>
          <a:ln w="381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799784" name="Line 78"/>
          <p:cNvSpPr>
            <a:spLocks noChangeShapeType="1"/>
          </p:cNvSpPr>
          <p:nvPr/>
        </p:nvSpPr>
        <p:spPr bwMode="auto">
          <a:xfrm rot="5400000">
            <a:off x="538162" y="5621338"/>
            <a:ext cx="587375" cy="0"/>
          </a:xfrm>
          <a:prstGeom prst="line">
            <a:avLst/>
          </a:prstGeom>
          <a:noFill/>
          <a:ln w="381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pic>
        <p:nvPicPr>
          <p:cNvPr id="799785" name="Picture 79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213" y="5768975"/>
            <a:ext cx="544512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99786" name="Picture 80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1950" y="5768975"/>
            <a:ext cx="542925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99787" name="Picture 81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4088" y="5768975"/>
            <a:ext cx="546100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99788" name="Picture 82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2938" y="5768975"/>
            <a:ext cx="546100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99789" name="Line 83"/>
          <p:cNvSpPr>
            <a:spLocks noChangeShapeType="1"/>
          </p:cNvSpPr>
          <p:nvPr/>
        </p:nvSpPr>
        <p:spPr bwMode="auto">
          <a:xfrm>
            <a:off x="6350" y="5327650"/>
            <a:ext cx="9299575" cy="20638"/>
          </a:xfrm>
          <a:prstGeom prst="line">
            <a:avLst/>
          </a:prstGeom>
          <a:noFill/>
          <a:ln w="381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799790" name="Text Box 84"/>
          <p:cNvSpPr txBox="1">
            <a:spLocks noChangeArrowheads="1"/>
          </p:cNvSpPr>
          <p:nvPr/>
        </p:nvSpPr>
        <p:spPr bwMode="auto">
          <a:xfrm>
            <a:off x="2463800" y="5838825"/>
            <a:ext cx="3714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A</a:t>
            </a:r>
          </a:p>
        </p:txBody>
      </p:sp>
      <p:sp>
        <p:nvSpPr>
          <p:cNvPr id="799791" name="Text Box 85"/>
          <p:cNvSpPr txBox="1">
            <a:spLocks noChangeArrowheads="1"/>
          </p:cNvSpPr>
          <p:nvPr/>
        </p:nvSpPr>
        <p:spPr bwMode="auto">
          <a:xfrm>
            <a:off x="4619625" y="5715000"/>
            <a:ext cx="3556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Y</a:t>
            </a:r>
          </a:p>
        </p:txBody>
      </p:sp>
      <p:sp>
        <p:nvSpPr>
          <p:cNvPr id="799792" name="Text Box 86"/>
          <p:cNvSpPr txBox="1">
            <a:spLocks noChangeArrowheads="1"/>
          </p:cNvSpPr>
          <p:nvPr/>
        </p:nvSpPr>
        <p:spPr bwMode="auto">
          <a:xfrm>
            <a:off x="1027113" y="5715000"/>
            <a:ext cx="3556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X</a:t>
            </a:r>
          </a:p>
        </p:txBody>
      </p:sp>
      <p:sp>
        <p:nvSpPr>
          <p:cNvPr id="799793" name="Text Box 87"/>
          <p:cNvSpPr txBox="1">
            <a:spLocks noChangeArrowheads="1"/>
          </p:cNvSpPr>
          <p:nvPr/>
        </p:nvSpPr>
        <p:spPr bwMode="auto">
          <a:xfrm>
            <a:off x="6503988" y="5838825"/>
            <a:ext cx="3714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B</a:t>
            </a:r>
          </a:p>
        </p:txBody>
      </p:sp>
      <p:sp>
        <p:nvSpPr>
          <p:cNvPr id="799794" name="Text Box 88"/>
          <p:cNvSpPr txBox="1">
            <a:spLocks noChangeArrowheads="1"/>
          </p:cNvSpPr>
          <p:nvPr/>
        </p:nvSpPr>
        <p:spPr bwMode="auto">
          <a:xfrm>
            <a:off x="8724900" y="5715000"/>
            <a:ext cx="3413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Z</a:t>
            </a:r>
          </a:p>
        </p:txBody>
      </p:sp>
      <p:sp>
        <p:nvSpPr>
          <p:cNvPr id="799795" name="Text Box 89"/>
          <p:cNvSpPr txBox="1">
            <a:spLocks noChangeArrowheads="1"/>
          </p:cNvSpPr>
          <p:nvPr/>
        </p:nvSpPr>
        <p:spPr bwMode="auto">
          <a:xfrm>
            <a:off x="2289175" y="5551488"/>
            <a:ext cx="12525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209.0.0.5</a:t>
            </a:r>
          </a:p>
        </p:txBody>
      </p:sp>
      <p:sp>
        <p:nvSpPr>
          <p:cNvPr id="799796" name="Text Box 90"/>
          <p:cNvSpPr txBox="1">
            <a:spLocks noChangeArrowheads="1"/>
          </p:cNvSpPr>
          <p:nvPr/>
        </p:nvSpPr>
        <p:spPr bwMode="auto">
          <a:xfrm>
            <a:off x="6267450" y="5445125"/>
            <a:ext cx="12509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209.0.0.6</a:t>
            </a:r>
          </a:p>
        </p:txBody>
      </p:sp>
      <p:sp>
        <p:nvSpPr>
          <p:cNvPr id="799797" name="Text Box 91"/>
          <p:cNvSpPr txBox="1">
            <a:spLocks noChangeArrowheads="1"/>
          </p:cNvSpPr>
          <p:nvPr/>
        </p:nvSpPr>
        <p:spPr bwMode="auto">
          <a:xfrm>
            <a:off x="1265238" y="6270625"/>
            <a:ext cx="24368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00-00-C0-15-AD-18</a:t>
            </a:r>
          </a:p>
        </p:txBody>
      </p:sp>
      <p:pic>
        <p:nvPicPr>
          <p:cNvPr id="799798" name="Picture 92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613" y="5768975"/>
            <a:ext cx="544512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9233" name="Freeform 97"/>
          <p:cNvSpPr>
            <a:spLocks noChangeArrowheads="1"/>
          </p:cNvSpPr>
          <p:nvPr/>
        </p:nvSpPr>
        <p:spPr bwMode="auto">
          <a:xfrm>
            <a:off x="2354263" y="2095500"/>
            <a:ext cx="2105025" cy="687388"/>
          </a:xfrm>
          <a:custGeom>
            <a:avLst/>
            <a:gdLst>
              <a:gd name="T0" fmla="*/ 6 w 1224"/>
              <a:gd name="T1" fmla="*/ 375 h 433"/>
              <a:gd name="T2" fmla="*/ 27 w 1224"/>
              <a:gd name="T3" fmla="*/ 126 h 433"/>
              <a:gd name="T4" fmla="*/ 171 w 1224"/>
              <a:gd name="T5" fmla="*/ 30 h 433"/>
              <a:gd name="T6" fmla="*/ 513 w 1224"/>
              <a:gd name="T7" fmla="*/ 3 h 433"/>
              <a:gd name="T8" fmla="*/ 852 w 1224"/>
              <a:gd name="T9" fmla="*/ 9 h 433"/>
              <a:gd name="T10" fmla="*/ 1041 w 1224"/>
              <a:gd name="T11" fmla="*/ 27 h 433"/>
              <a:gd name="T12" fmla="*/ 1167 w 1224"/>
              <a:gd name="T13" fmla="*/ 93 h 433"/>
              <a:gd name="T14" fmla="*/ 1215 w 1224"/>
              <a:gd name="T15" fmla="*/ 234 h 433"/>
              <a:gd name="T16" fmla="*/ 1224 w 1224"/>
              <a:gd name="T17" fmla="*/ 433 h 4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24" h="433">
                <a:moveTo>
                  <a:pt x="6" y="375"/>
                </a:moveTo>
                <a:cubicBezTo>
                  <a:pt x="9" y="334"/>
                  <a:pt x="0" y="183"/>
                  <a:pt x="27" y="126"/>
                </a:cubicBezTo>
                <a:cubicBezTo>
                  <a:pt x="54" y="69"/>
                  <a:pt x="90" y="50"/>
                  <a:pt x="171" y="30"/>
                </a:cubicBezTo>
                <a:cubicBezTo>
                  <a:pt x="252" y="10"/>
                  <a:pt x="400" y="6"/>
                  <a:pt x="513" y="3"/>
                </a:cubicBezTo>
                <a:cubicBezTo>
                  <a:pt x="626" y="0"/>
                  <a:pt x="764" y="5"/>
                  <a:pt x="852" y="9"/>
                </a:cubicBezTo>
                <a:cubicBezTo>
                  <a:pt x="940" y="13"/>
                  <a:pt x="989" y="13"/>
                  <a:pt x="1041" y="27"/>
                </a:cubicBezTo>
                <a:cubicBezTo>
                  <a:pt x="1093" y="41"/>
                  <a:pt x="1138" y="59"/>
                  <a:pt x="1167" y="93"/>
                </a:cubicBezTo>
                <a:cubicBezTo>
                  <a:pt x="1196" y="127"/>
                  <a:pt x="1206" y="177"/>
                  <a:pt x="1215" y="234"/>
                </a:cubicBezTo>
                <a:cubicBezTo>
                  <a:pt x="1224" y="291"/>
                  <a:pt x="1222" y="392"/>
                  <a:pt x="1224" y="433"/>
                </a:cubicBezTo>
              </a:path>
            </a:pathLst>
          </a:custGeom>
          <a:noFill/>
          <a:ln w="76200">
            <a:solidFill>
              <a:srgbClr val="C0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219234" name="Freeform 98"/>
          <p:cNvSpPr>
            <a:spLocks noChangeArrowheads="1"/>
          </p:cNvSpPr>
          <p:nvPr/>
        </p:nvSpPr>
        <p:spPr bwMode="auto">
          <a:xfrm>
            <a:off x="2352675" y="2095500"/>
            <a:ext cx="3979863" cy="687388"/>
          </a:xfrm>
          <a:custGeom>
            <a:avLst/>
            <a:gdLst>
              <a:gd name="T0" fmla="*/ 6 w 1224"/>
              <a:gd name="T1" fmla="*/ 375 h 433"/>
              <a:gd name="T2" fmla="*/ 27 w 1224"/>
              <a:gd name="T3" fmla="*/ 126 h 433"/>
              <a:gd name="T4" fmla="*/ 171 w 1224"/>
              <a:gd name="T5" fmla="*/ 30 h 433"/>
              <a:gd name="T6" fmla="*/ 513 w 1224"/>
              <a:gd name="T7" fmla="*/ 3 h 433"/>
              <a:gd name="T8" fmla="*/ 852 w 1224"/>
              <a:gd name="T9" fmla="*/ 9 h 433"/>
              <a:gd name="T10" fmla="*/ 1041 w 1224"/>
              <a:gd name="T11" fmla="*/ 27 h 433"/>
              <a:gd name="T12" fmla="*/ 1167 w 1224"/>
              <a:gd name="T13" fmla="*/ 93 h 433"/>
              <a:gd name="T14" fmla="*/ 1215 w 1224"/>
              <a:gd name="T15" fmla="*/ 234 h 433"/>
              <a:gd name="T16" fmla="*/ 1224 w 1224"/>
              <a:gd name="T17" fmla="*/ 433 h 4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24" h="433">
                <a:moveTo>
                  <a:pt x="6" y="375"/>
                </a:moveTo>
                <a:cubicBezTo>
                  <a:pt x="9" y="334"/>
                  <a:pt x="0" y="183"/>
                  <a:pt x="27" y="126"/>
                </a:cubicBezTo>
                <a:cubicBezTo>
                  <a:pt x="54" y="69"/>
                  <a:pt x="90" y="50"/>
                  <a:pt x="171" y="30"/>
                </a:cubicBezTo>
                <a:cubicBezTo>
                  <a:pt x="252" y="10"/>
                  <a:pt x="400" y="6"/>
                  <a:pt x="513" y="3"/>
                </a:cubicBezTo>
                <a:cubicBezTo>
                  <a:pt x="626" y="0"/>
                  <a:pt x="764" y="5"/>
                  <a:pt x="852" y="9"/>
                </a:cubicBezTo>
                <a:cubicBezTo>
                  <a:pt x="940" y="13"/>
                  <a:pt x="989" y="13"/>
                  <a:pt x="1041" y="27"/>
                </a:cubicBezTo>
                <a:cubicBezTo>
                  <a:pt x="1093" y="41"/>
                  <a:pt x="1138" y="59"/>
                  <a:pt x="1167" y="93"/>
                </a:cubicBezTo>
                <a:cubicBezTo>
                  <a:pt x="1196" y="127"/>
                  <a:pt x="1206" y="177"/>
                  <a:pt x="1215" y="234"/>
                </a:cubicBezTo>
                <a:cubicBezTo>
                  <a:pt x="1224" y="291"/>
                  <a:pt x="1222" y="392"/>
                  <a:pt x="1224" y="433"/>
                </a:cubicBezTo>
              </a:path>
            </a:pathLst>
          </a:custGeom>
          <a:noFill/>
          <a:ln w="76200">
            <a:solidFill>
              <a:srgbClr val="C0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219237" name="Freeform 101"/>
          <p:cNvSpPr>
            <a:spLocks noChangeArrowheads="1"/>
          </p:cNvSpPr>
          <p:nvPr/>
        </p:nvSpPr>
        <p:spPr bwMode="auto">
          <a:xfrm>
            <a:off x="2352675" y="2095500"/>
            <a:ext cx="6319838" cy="687388"/>
          </a:xfrm>
          <a:custGeom>
            <a:avLst/>
            <a:gdLst>
              <a:gd name="T0" fmla="*/ 6 w 1224"/>
              <a:gd name="T1" fmla="*/ 375 h 433"/>
              <a:gd name="T2" fmla="*/ 27 w 1224"/>
              <a:gd name="T3" fmla="*/ 126 h 433"/>
              <a:gd name="T4" fmla="*/ 171 w 1224"/>
              <a:gd name="T5" fmla="*/ 30 h 433"/>
              <a:gd name="T6" fmla="*/ 513 w 1224"/>
              <a:gd name="T7" fmla="*/ 3 h 433"/>
              <a:gd name="T8" fmla="*/ 852 w 1224"/>
              <a:gd name="T9" fmla="*/ 9 h 433"/>
              <a:gd name="T10" fmla="*/ 1041 w 1224"/>
              <a:gd name="T11" fmla="*/ 27 h 433"/>
              <a:gd name="T12" fmla="*/ 1167 w 1224"/>
              <a:gd name="T13" fmla="*/ 93 h 433"/>
              <a:gd name="T14" fmla="*/ 1215 w 1224"/>
              <a:gd name="T15" fmla="*/ 234 h 433"/>
              <a:gd name="T16" fmla="*/ 1224 w 1224"/>
              <a:gd name="T17" fmla="*/ 433 h 4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24" h="433">
                <a:moveTo>
                  <a:pt x="6" y="375"/>
                </a:moveTo>
                <a:cubicBezTo>
                  <a:pt x="9" y="334"/>
                  <a:pt x="0" y="183"/>
                  <a:pt x="27" y="126"/>
                </a:cubicBezTo>
                <a:cubicBezTo>
                  <a:pt x="54" y="69"/>
                  <a:pt x="90" y="50"/>
                  <a:pt x="171" y="30"/>
                </a:cubicBezTo>
                <a:cubicBezTo>
                  <a:pt x="252" y="10"/>
                  <a:pt x="400" y="6"/>
                  <a:pt x="513" y="3"/>
                </a:cubicBezTo>
                <a:cubicBezTo>
                  <a:pt x="626" y="0"/>
                  <a:pt x="764" y="5"/>
                  <a:pt x="852" y="9"/>
                </a:cubicBezTo>
                <a:cubicBezTo>
                  <a:pt x="940" y="13"/>
                  <a:pt x="989" y="13"/>
                  <a:pt x="1041" y="27"/>
                </a:cubicBezTo>
                <a:cubicBezTo>
                  <a:pt x="1093" y="41"/>
                  <a:pt x="1138" y="59"/>
                  <a:pt x="1167" y="93"/>
                </a:cubicBezTo>
                <a:cubicBezTo>
                  <a:pt x="1196" y="127"/>
                  <a:pt x="1206" y="177"/>
                  <a:pt x="1215" y="234"/>
                </a:cubicBezTo>
                <a:cubicBezTo>
                  <a:pt x="1224" y="291"/>
                  <a:pt x="1222" y="392"/>
                  <a:pt x="1224" y="433"/>
                </a:cubicBezTo>
              </a:path>
            </a:pathLst>
          </a:custGeom>
          <a:noFill/>
          <a:ln w="76200">
            <a:solidFill>
              <a:srgbClr val="C0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219238" name="Freeform 102"/>
          <p:cNvSpPr>
            <a:spLocks noChangeArrowheads="1"/>
          </p:cNvSpPr>
          <p:nvPr/>
        </p:nvSpPr>
        <p:spPr bwMode="auto">
          <a:xfrm flipH="1">
            <a:off x="871538" y="2095500"/>
            <a:ext cx="1481137" cy="687388"/>
          </a:xfrm>
          <a:custGeom>
            <a:avLst/>
            <a:gdLst>
              <a:gd name="T0" fmla="*/ 6 w 1224"/>
              <a:gd name="T1" fmla="*/ 375 h 433"/>
              <a:gd name="T2" fmla="*/ 27 w 1224"/>
              <a:gd name="T3" fmla="*/ 126 h 433"/>
              <a:gd name="T4" fmla="*/ 171 w 1224"/>
              <a:gd name="T5" fmla="*/ 30 h 433"/>
              <a:gd name="T6" fmla="*/ 513 w 1224"/>
              <a:gd name="T7" fmla="*/ 3 h 433"/>
              <a:gd name="T8" fmla="*/ 852 w 1224"/>
              <a:gd name="T9" fmla="*/ 9 h 433"/>
              <a:gd name="T10" fmla="*/ 1041 w 1224"/>
              <a:gd name="T11" fmla="*/ 27 h 433"/>
              <a:gd name="T12" fmla="*/ 1167 w 1224"/>
              <a:gd name="T13" fmla="*/ 93 h 433"/>
              <a:gd name="T14" fmla="*/ 1215 w 1224"/>
              <a:gd name="T15" fmla="*/ 234 h 433"/>
              <a:gd name="T16" fmla="*/ 1224 w 1224"/>
              <a:gd name="T17" fmla="*/ 433 h 4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24" h="433">
                <a:moveTo>
                  <a:pt x="6" y="375"/>
                </a:moveTo>
                <a:cubicBezTo>
                  <a:pt x="9" y="334"/>
                  <a:pt x="0" y="183"/>
                  <a:pt x="27" y="126"/>
                </a:cubicBezTo>
                <a:cubicBezTo>
                  <a:pt x="54" y="69"/>
                  <a:pt x="90" y="50"/>
                  <a:pt x="171" y="30"/>
                </a:cubicBezTo>
                <a:cubicBezTo>
                  <a:pt x="252" y="10"/>
                  <a:pt x="400" y="6"/>
                  <a:pt x="513" y="3"/>
                </a:cubicBezTo>
                <a:cubicBezTo>
                  <a:pt x="626" y="0"/>
                  <a:pt x="764" y="5"/>
                  <a:pt x="852" y="9"/>
                </a:cubicBezTo>
                <a:cubicBezTo>
                  <a:pt x="940" y="13"/>
                  <a:pt x="989" y="13"/>
                  <a:pt x="1041" y="27"/>
                </a:cubicBezTo>
                <a:cubicBezTo>
                  <a:pt x="1093" y="41"/>
                  <a:pt x="1138" y="59"/>
                  <a:pt x="1167" y="93"/>
                </a:cubicBezTo>
                <a:cubicBezTo>
                  <a:pt x="1196" y="127"/>
                  <a:pt x="1206" y="177"/>
                  <a:pt x="1215" y="234"/>
                </a:cubicBezTo>
                <a:cubicBezTo>
                  <a:pt x="1224" y="291"/>
                  <a:pt x="1222" y="392"/>
                  <a:pt x="1224" y="433"/>
                </a:cubicBezTo>
              </a:path>
            </a:pathLst>
          </a:custGeom>
          <a:noFill/>
          <a:ln w="76200">
            <a:solidFill>
              <a:srgbClr val="C0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219239" name="Freeform 103"/>
          <p:cNvSpPr>
            <a:spLocks noChangeArrowheads="1"/>
          </p:cNvSpPr>
          <p:nvPr/>
        </p:nvSpPr>
        <p:spPr bwMode="auto">
          <a:xfrm flipH="1">
            <a:off x="2206625" y="5407025"/>
            <a:ext cx="3979863" cy="687388"/>
          </a:xfrm>
          <a:custGeom>
            <a:avLst/>
            <a:gdLst>
              <a:gd name="T0" fmla="*/ 6 w 1224"/>
              <a:gd name="T1" fmla="*/ 375 h 433"/>
              <a:gd name="T2" fmla="*/ 27 w 1224"/>
              <a:gd name="T3" fmla="*/ 126 h 433"/>
              <a:gd name="T4" fmla="*/ 171 w 1224"/>
              <a:gd name="T5" fmla="*/ 30 h 433"/>
              <a:gd name="T6" fmla="*/ 513 w 1224"/>
              <a:gd name="T7" fmla="*/ 3 h 433"/>
              <a:gd name="T8" fmla="*/ 852 w 1224"/>
              <a:gd name="T9" fmla="*/ 9 h 433"/>
              <a:gd name="T10" fmla="*/ 1041 w 1224"/>
              <a:gd name="T11" fmla="*/ 27 h 433"/>
              <a:gd name="T12" fmla="*/ 1167 w 1224"/>
              <a:gd name="T13" fmla="*/ 93 h 433"/>
              <a:gd name="T14" fmla="*/ 1215 w 1224"/>
              <a:gd name="T15" fmla="*/ 234 h 433"/>
              <a:gd name="T16" fmla="*/ 1224 w 1224"/>
              <a:gd name="T17" fmla="*/ 433 h 4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24" h="433">
                <a:moveTo>
                  <a:pt x="6" y="375"/>
                </a:moveTo>
                <a:cubicBezTo>
                  <a:pt x="9" y="334"/>
                  <a:pt x="0" y="183"/>
                  <a:pt x="27" y="126"/>
                </a:cubicBezTo>
                <a:cubicBezTo>
                  <a:pt x="54" y="69"/>
                  <a:pt x="90" y="50"/>
                  <a:pt x="171" y="30"/>
                </a:cubicBezTo>
                <a:cubicBezTo>
                  <a:pt x="252" y="10"/>
                  <a:pt x="400" y="6"/>
                  <a:pt x="513" y="3"/>
                </a:cubicBezTo>
                <a:cubicBezTo>
                  <a:pt x="626" y="0"/>
                  <a:pt x="764" y="5"/>
                  <a:pt x="852" y="9"/>
                </a:cubicBezTo>
                <a:cubicBezTo>
                  <a:pt x="940" y="13"/>
                  <a:pt x="989" y="13"/>
                  <a:pt x="1041" y="27"/>
                </a:cubicBezTo>
                <a:cubicBezTo>
                  <a:pt x="1093" y="41"/>
                  <a:pt x="1138" y="59"/>
                  <a:pt x="1167" y="93"/>
                </a:cubicBezTo>
                <a:cubicBezTo>
                  <a:pt x="1196" y="127"/>
                  <a:pt x="1206" y="177"/>
                  <a:pt x="1215" y="234"/>
                </a:cubicBezTo>
                <a:cubicBezTo>
                  <a:pt x="1224" y="291"/>
                  <a:pt x="1222" y="392"/>
                  <a:pt x="1224" y="433"/>
                </a:cubicBezTo>
              </a:path>
            </a:pathLst>
          </a:custGeom>
          <a:noFill/>
          <a:ln w="76200">
            <a:solidFill>
              <a:srgbClr val="C0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799804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E72C7C5-83A0-4E8A-95B4-77ACD26F7931}" type="slidenum">
              <a:rPr lang="zh-CN" altLang="en-US" smtClean="0"/>
              <a:pPr eaLnBrk="1" hangingPunct="1"/>
              <a:t>19</a:t>
            </a:fld>
            <a:endParaRPr lang="en-US" altLang="zh-CN" smtClean="0"/>
          </a:p>
        </p:txBody>
      </p:sp>
      <p:sp>
        <p:nvSpPr>
          <p:cNvPr id="799805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4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219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219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219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1000"/>
                                        <p:tgtEl>
                                          <p:spTgt spid="219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219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21" presetID="35" presetClass="emph" presetSubtype="0" repeatCount="4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2" dur="1000" fill="hold"/>
                                        <p:tgtEl>
                                          <p:spTgt spid="219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9500"/>
                            </p:stCondLst>
                            <p:childTnLst>
                              <p:par>
                                <p:cTn id="2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1000"/>
                                        <p:tgtEl>
                                          <p:spTgt spid="219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0500"/>
                            </p:stCondLst>
                            <p:childTnLst>
                              <p:par>
                                <p:cTn id="28" presetID="35" presetClass="emph" presetSubtype="0" repeatCount="3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9" dur="1000" fill="hold"/>
                                        <p:tgtEl>
                                          <p:spTgt spid="219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9181" grpId="0" animBg="1"/>
      <p:bldP spid="219182" grpId="0" animBg="1"/>
      <p:bldP spid="219194" grpId="0"/>
      <p:bldP spid="219233" grpId="0" animBg="1"/>
      <p:bldP spid="219234" grpId="0" animBg="1"/>
      <p:bldP spid="219237" grpId="0" animBg="1"/>
      <p:bldP spid="219238" grpId="0" animBg="1"/>
      <p:bldP spid="21923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793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en-US" altLang="zh-CN" smtClean="0">
                <a:ea typeface="黑体" panose="02010609060101010101" pitchFamily="49" charset="-122"/>
              </a:rPr>
              <a:t>ARP </a:t>
            </a:r>
            <a:r>
              <a:rPr lang="zh-CN" altLang="en-US" smtClean="0">
                <a:ea typeface="黑体" panose="02010609060101010101" pitchFamily="49" charset="-122"/>
              </a:rPr>
              <a:t>高速缓存的作用</a:t>
            </a:r>
          </a:p>
        </p:txBody>
      </p:sp>
      <p:sp>
        <p:nvSpPr>
          <p:cNvPr id="221187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pPr marL="342900" lvl="1" indent="-342900">
              <a:buClr>
                <a:srgbClr val="333399"/>
              </a:buClr>
              <a:buSzPct val="75000"/>
            </a:pPr>
            <a:r>
              <a:rPr lang="zh-CN" altLang="en-US" sz="3200" smtClean="0">
                <a:solidFill>
                  <a:srgbClr val="FF0000"/>
                </a:solidFill>
                <a:ea typeface="黑体" panose="02010609060101010101" pitchFamily="49" charset="-122"/>
              </a:rPr>
              <a:t>存放最近获得的 </a:t>
            </a:r>
            <a:r>
              <a:rPr lang="en-US" altLang="zh-CN" sz="3200" smtClean="0">
                <a:solidFill>
                  <a:srgbClr val="FF0000"/>
                </a:solidFill>
                <a:ea typeface="黑体" panose="02010609060101010101" pitchFamily="49" charset="-122"/>
              </a:rPr>
              <a:t>IP </a:t>
            </a:r>
            <a:r>
              <a:rPr lang="zh-CN" altLang="en-US" sz="3200" smtClean="0">
                <a:solidFill>
                  <a:srgbClr val="FF0000"/>
                </a:solidFill>
                <a:ea typeface="黑体" panose="02010609060101010101" pitchFamily="49" charset="-122"/>
              </a:rPr>
              <a:t>地址到 </a:t>
            </a:r>
            <a:r>
              <a:rPr lang="en-US" altLang="zh-CN" sz="3200" smtClean="0">
                <a:solidFill>
                  <a:srgbClr val="FF0000"/>
                </a:solidFill>
                <a:ea typeface="黑体" panose="02010609060101010101" pitchFamily="49" charset="-122"/>
              </a:rPr>
              <a:t>MAC </a:t>
            </a:r>
            <a:r>
              <a:rPr lang="zh-CN" altLang="en-US" sz="3200" smtClean="0">
                <a:solidFill>
                  <a:srgbClr val="FF0000"/>
                </a:solidFill>
                <a:ea typeface="黑体" panose="02010609060101010101" pitchFamily="49" charset="-122"/>
              </a:rPr>
              <a:t>地址的绑定，以减少 </a:t>
            </a:r>
            <a:r>
              <a:rPr lang="en-US" altLang="zh-CN" sz="3200" smtClean="0">
                <a:solidFill>
                  <a:srgbClr val="FF0000"/>
                </a:solidFill>
                <a:ea typeface="黑体" panose="02010609060101010101" pitchFamily="49" charset="-122"/>
              </a:rPr>
              <a:t>ARP </a:t>
            </a:r>
            <a:r>
              <a:rPr lang="zh-CN" altLang="en-US" sz="3200" smtClean="0">
                <a:solidFill>
                  <a:srgbClr val="FF0000"/>
                </a:solidFill>
                <a:ea typeface="黑体" panose="02010609060101010101" pitchFamily="49" charset="-122"/>
              </a:rPr>
              <a:t>广播的数量。</a:t>
            </a:r>
          </a:p>
          <a:p>
            <a:r>
              <a:rPr lang="zh-CN" altLang="en-US" smtClean="0">
                <a:ea typeface="黑体" panose="02010609060101010101" pitchFamily="49" charset="-122"/>
              </a:rPr>
              <a:t>为了减少网络上的通信量，主机 </a:t>
            </a:r>
            <a:r>
              <a:rPr lang="en-US" altLang="zh-CN" smtClean="0">
                <a:ea typeface="黑体" panose="02010609060101010101" pitchFamily="49" charset="-122"/>
              </a:rPr>
              <a:t>A </a:t>
            </a:r>
            <a:r>
              <a:rPr lang="zh-CN" altLang="en-US" smtClean="0">
                <a:ea typeface="黑体" panose="02010609060101010101" pitchFamily="49" charset="-122"/>
              </a:rPr>
              <a:t>在发送其 </a:t>
            </a:r>
            <a:r>
              <a:rPr lang="en-US" altLang="zh-CN" smtClean="0">
                <a:ea typeface="黑体" panose="02010609060101010101" pitchFamily="49" charset="-122"/>
              </a:rPr>
              <a:t>ARP </a:t>
            </a:r>
            <a:r>
              <a:rPr lang="zh-CN" altLang="en-US" smtClean="0">
                <a:ea typeface="黑体" panose="02010609060101010101" pitchFamily="49" charset="-122"/>
              </a:rPr>
              <a:t>请求分组时，就将自己的 </a:t>
            </a:r>
            <a:r>
              <a:rPr lang="en-US" altLang="zh-CN" smtClean="0">
                <a:ea typeface="黑体" panose="02010609060101010101" pitchFamily="49" charset="-122"/>
              </a:rPr>
              <a:t>IP </a:t>
            </a:r>
            <a:r>
              <a:rPr lang="zh-CN" altLang="en-US" smtClean="0">
                <a:ea typeface="黑体" panose="02010609060101010101" pitchFamily="49" charset="-122"/>
              </a:rPr>
              <a:t>地址到硬件地址的映射写入 </a:t>
            </a:r>
            <a:r>
              <a:rPr lang="en-US" altLang="zh-CN" smtClean="0">
                <a:ea typeface="黑体" panose="02010609060101010101" pitchFamily="49" charset="-122"/>
              </a:rPr>
              <a:t>ARP </a:t>
            </a:r>
            <a:r>
              <a:rPr lang="zh-CN" altLang="en-US" smtClean="0">
                <a:ea typeface="黑体" panose="02010609060101010101" pitchFamily="49" charset="-122"/>
              </a:rPr>
              <a:t>请求分组。</a:t>
            </a:r>
          </a:p>
          <a:p>
            <a:r>
              <a:rPr lang="zh-CN" altLang="en-US" smtClean="0">
                <a:ea typeface="黑体" panose="02010609060101010101" pitchFamily="49" charset="-122"/>
              </a:rPr>
              <a:t>当主机 </a:t>
            </a:r>
            <a:r>
              <a:rPr lang="en-US" altLang="zh-CN" smtClean="0">
                <a:ea typeface="黑体" panose="02010609060101010101" pitchFamily="49" charset="-122"/>
              </a:rPr>
              <a:t>B </a:t>
            </a:r>
            <a:r>
              <a:rPr lang="zh-CN" altLang="en-US" smtClean="0">
                <a:ea typeface="黑体" panose="02010609060101010101" pitchFamily="49" charset="-122"/>
              </a:rPr>
              <a:t>收到 </a:t>
            </a:r>
            <a:r>
              <a:rPr lang="en-US" altLang="zh-CN" smtClean="0">
                <a:ea typeface="黑体" panose="02010609060101010101" pitchFamily="49" charset="-122"/>
              </a:rPr>
              <a:t>A </a:t>
            </a:r>
            <a:r>
              <a:rPr lang="zh-CN" altLang="en-US" smtClean="0">
                <a:ea typeface="黑体" panose="02010609060101010101" pitchFamily="49" charset="-122"/>
              </a:rPr>
              <a:t>的 </a:t>
            </a:r>
            <a:r>
              <a:rPr lang="en-US" altLang="zh-CN" smtClean="0">
                <a:ea typeface="黑体" panose="02010609060101010101" pitchFamily="49" charset="-122"/>
              </a:rPr>
              <a:t>ARP </a:t>
            </a:r>
            <a:r>
              <a:rPr lang="zh-CN" altLang="en-US" smtClean="0">
                <a:ea typeface="黑体" panose="02010609060101010101" pitchFamily="49" charset="-122"/>
              </a:rPr>
              <a:t>请求分组时，就将主机 </a:t>
            </a:r>
            <a:r>
              <a:rPr lang="en-US" altLang="zh-CN" smtClean="0">
                <a:ea typeface="黑体" panose="02010609060101010101" pitchFamily="49" charset="-122"/>
              </a:rPr>
              <a:t>A </a:t>
            </a:r>
            <a:r>
              <a:rPr lang="zh-CN" altLang="en-US" smtClean="0">
                <a:ea typeface="黑体" panose="02010609060101010101" pitchFamily="49" charset="-122"/>
              </a:rPr>
              <a:t>的这一地址映射写入主机 </a:t>
            </a:r>
            <a:r>
              <a:rPr lang="en-US" altLang="zh-CN" smtClean="0">
                <a:ea typeface="黑体" panose="02010609060101010101" pitchFamily="49" charset="-122"/>
              </a:rPr>
              <a:t>B </a:t>
            </a:r>
            <a:r>
              <a:rPr lang="zh-CN" altLang="en-US" smtClean="0">
                <a:ea typeface="黑体" panose="02010609060101010101" pitchFamily="49" charset="-122"/>
              </a:rPr>
              <a:t>自己的 </a:t>
            </a:r>
            <a:r>
              <a:rPr lang="en-US" altLang="zh-CN" smtClean="0">
                <a:ea typeface="黑体" panose="02010609060101010101" pitchFamily="49" charset="-122"/>
              </a:rPr>
              <a:t>ARP </a:t>
            </a:r>
            <a:r>
              <a:rPr lang="zh-CN" altLang="en-US" smtClean="0">
                <a:ea typeface="黑体" panose="02010609060101010101" pitchFamily="49" charset="-122"/>
              </a:rPr>
              <a:t>高速缓存中。这对主机 </a:t>
            </a:r>
            <a:r>
              <a:rPr lang="en-US" altLang="zh-CN" smtClean="0">
                <a:ea typeface="黑体" panose="02010609060101010101" pitchFamily="49" charset="-122"/>
              </a:rPr>
              <a:t>B </a:t>
            </a:r>
            <a:r>
              <a:rPr lang="zh-CN" altLang="en-US" smtClean="0">
                <a:ea typeface="黑体" panose="02010609060101010101" pitchFamily="49" charset="-122"/>
              </a:rPr>
              <a:t>以后向 </a:t>
            </a:r>
            <a:r>
              <a:rPr lang="en-US" altLang="zh-CN" smtClean="0">
                <a:ea typeface="黑体" panose="02010609060101010101" pitchFamily="49" charset="-122"/>
              </a:rPr>
              <a:t>A </a:t>
            </a:r>
            <a:r>
              <a:rPr lang="zh-CN" altLang="en-US" smtClean="0">
                <a:ea typeface="黑体" panose="02010609060101010101" pitchFamily="49" charset="-122"/>
              </a:rPr>
              <a:t>发送数据报时就更方便了。 </a:t>
            </a:r>
          </a:p>
        </p:txBody>
      </p:sp>
      <p:sp>
        <p:nvSpPr>
          <p:cNvPr id="801795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EAFBAD87-A0C4-4D02-93D8-C8C7BD43278A}" type="slidenum">
              <a:rPr lang="zh-CN" altLang="en-US" smtClean="0"/>
              <a:pPr eaLnBrk="1" hangingPunct="1"/>
              <a:t>20</a:t>
            </a:fld>
            <a:endParaRPr lang="en-US" altLang="zh-CN" smtClean="0"/>
          </a:p>
        </p:txBody>
      </p:sp>
      <p:sp>
        <p:nvSpPr>
          <p:cNvPr id="801796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841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zh-CN" altLang="en-US" smtClean="0">
                <a:ea typeface="黑体" panose="02010609060101010101" pitchFamily="49" charset="-122"/>
              </a:rPr>
              <a:t>应当注意的问题</a:t>
            </a:r>
            <a:endParaRPr lang="zh-CN" altLang="en-US" sz="3600" smtClean="0">
              <a:ea typeface="黑体" panose="02010609060101010101" pitchFamily="49" charset="-122"/>
            </a:endParaRPr>
          </a:p>
        </p:txBody>
      </p:sp>
      <p:sp>
        <p:nvSpPr>
          <p:cNvPr id="224259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en-US" altLang="zh-CN" smtClean="0">
                <a:solidFill>
                  <a:srgbClr val="0000FF"/>
                </a:solidFill>
                <a:ea typeface="黑体" panose="02010609060101010101" pitchFamily="49" charset="-122"/>
              </a:rPr>
              <a:t>ARP </a:t>
            </a:r>
            <a:r>
              <a:rPr lang="zh-CN" altLang="en-US" smtClean="0">
                <a:solidFill>
                  <a:srgbClr val="0000FF"/>
                </a:solidFill>
                <a:ea typeface="黑体" panose="02010609060101010101" pitchFamily="49" charset="-122"/>
              </a:rPr>
              <a:t>是解决</a:t>
            </a:r>
            <a:r>
              <a:rPr lang="zh-CN" altLang="en-US" smtClean="0">
                <a:solidFill>
                  <a:srgbClr val="FF0000"/>
                </a:solidFill>
                <a:ea typeface="黑体" panose="02010609060101010101" pitchFamily="49" charset="-122"/>
              </a:rPr>
              <a:t>同一个局域网</a:t>
            </a:r>
            <a:r>
              <a:rPr lang="zh-CN" altLang="en-US" smtClean="0">
                <a:solidFill>
                  <a:srgbClr val="0000FF"/>
                </a:solidFill>
                <a:ea typeface="黑体" panose="02010609060101010101" pitchFamily="49" charset="-122"/>
              </a:rPr>
              <a:t>上的主机或路由器的 </a:t>
            </a:r>
            <a:r>
              <a:rPr lang="en-US" altLang="zh-CN" smtClean="0">
                <a:solidFill>
                  <a:srgbClr val="0000FF"/>
                </a:solidFill>
                <a:ea typeface="黑体" panose="02010609060101010101" pitchFamily="49" charset="-122"/>
              </a:rPr>
              <a:t>IP </a:t>
            </a:r>
            <a:r>
              <a:rPr lang="zh-CN" altLang="en-US" smtClean="0">
                <a:solidFill>
                  <a:srgbClr val="0000FF"/>
                </a:solidFill>
                <a:ea typeface="黑体" panose="02010609060101010101" pitchFamily="49" charset="-122"/>
              </a:rPr>
              <a:t>地址和硬件地址的映射问题。</a:t>
            </a:r>
          </a:p>
          <a:p>
            <a:r>
              <a:rPr lang="zh-CN" altLang="en-US" smtClean="0">
                <a:ea typeface="黑体" panose="02010609060101010101" pitchFamily="49" charset="-122"/>
              </a:rPr>
              <a:t>如果所要找的主机和源主机不在同一个局域网上，那么</a:t>
            </a:r>
            <a:r>
              <a:rPr lang="zh-CN" altLang="en-US" smtClean="0">
                <a:solidFill>
                  <a:srgbClr val="FF0000"/>
                </a:solidFill>
                <a:ea typeface="黑体" panose="02010609060101010101" pitchFamily="49" charset="-122"/>
              </a:rPr>
              <a:t>就要通过 </a:t>
            </a:r>
            <a:r>
              <a:rPr lang="en-US" altLang="zh-CN" smtClean="0">
                <a:solidFill>
                  <a:srgbClr val="FF0000"/>
                </a:solidFill>
                <a:ea typeface="黑体" panose="02010609060101010101" pitchFamily="49" charset="-122"/>
              </a:rPr>
              <a:t>ARP </a:t>
            </a:r>
            <a:r>
              <a:rPr lang="zh-CN" altLang="en-US" smtClean="0">
                <a:solidFill>
                  <a:srgbClr val="FF0000"/>
                </a:solidFill>
                <a:ea typeface="黑体" panose="02010609060101010101" pitchFamily="49" charset="-122"/>
              </a:rPr>
              <a:t>找到一个位于本局域网上的某个路由器的硬件地址，</a:t>
            </a:r>
            <a:r>
              <a:rPr lang="zh-CN" altLang="en-US" smtClean="0">
                <a:ea typeface="黑体" panose="02010609060101010101" pitchFamily="49" charset="-122"/>
              </a:rPr>
              <a:t>然后把分组发送给这个路由器，让这个路由器把分组转发给下一个网络。剩下的工作就由下一个网络来做。</a:t>
            </a:r>
          </a:p>
        </p:txBody>
      </p:sp>
      <p:sp>
        <p:nvSpPr>
          <p:cNvPr id="803843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7B738D7-6662-4F0B-B49F-333D935552D0}" type="slidenum">
              <a:rPr lang="zh-CN" altLang="en-US" smtClean="0"/>
              <a:pPr eaLnBrk="1" hangingPunct="1"/>
              <a:t>21</a:t>
            </a:fld>
            <a:endParaRPr lang="en-US" altLang="zh-CN" smtClean="0"/>
          </a:p>
        </p:txBody>
      </p:sp>
      <p:sp>
        <p:nvSpPr>
          <p:cNvPr id="803844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4259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889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zh-CN" altLang="en-US" smtClean="0">
                <a:ea typeface="黑体" panose="02010609060101010101" pitchFamily="49" charset="-122"/>
              </a:rPr>
              <a:t>应当注意的问题（续）</a:t>
            </a:r>
            <a:endParaRPr lang="zh-CN" altLang="en-US" sz="3600" smtClean="0">
              <a:ea typeface="黑体" panose="02010609060101010101" pitchFamily="49" charset="-122"/>
            </a:endParaRPr>
          </a:p>
        </p:txBody>
      </p:sp>
      <p:sp>
        <p:nvSpPr>
          <p:cNvPr id="463875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en-US" smtClean="0">
                <a:ea typeface="黑体" panose="02010609060101010101" pitchFamily="49" charset="-122"/>
              </a:rPr>
              <a:t>从 </a:t>
            </a:r>
            <a:r>
              <a:rPr lang="en-US" altLang="zh-CN" smtClean="0">
                <a:ea typeface="黑体" panose="02010609060101010101" pitchFamily="49" charset="-122"/>
              </a:rPr>
              <a:t>IP </a:t>
            </a:r>
            <a:r>
              <a:rPr lang="zh-CN" altLang="en-US" smtClean="0">
                <a:ea typeface="黑体" panose="02010609060101010101" pitchFamily="49" charset="-122"/>
              </a:rPr>
              <a:t>地址到硬件地址的</a:t>
            </a:r>
            <a:r>
              <a:rPr lang="zh-CN" altLang="en-US" smtClean="0">
                <a:solidFill>
                  <a:srgbClr val="FF0000"/>
                </a:solidFill>
                <a:ea typeface="黑体" panose="02010609060101010101" pitchFamily="49" charset="-122"/>
              </a:rPr>
              <a:t>解析是自动进行</a:t>
            </a:r>
            <a:r>
              <a:rPr lang="zh-CN" altLang="en-US" smtClean="0">
                <a:ea typeface="黑体" panose="02010609060101010101" pitchFamily="49" charset="-122"/>
              </a:rPr>
              <a:t>的，主机的用户对这种地址解析过程是不知道的。</a:t>
            </a:r>
          </a:p>
          <a:p>
            <a:r>
              <a:rPr lang="zh-CN" altLang="en-US" smtClean="0">
                <a:ea typeface="黑体" panose="02010609060101010101" pitchFamily="49" charset="-122"/>
              </a:rPr>
              <a:t>只要主机或路由器要和本网络上的另一个已知 </a:t>
            </a:r>
            <a:r>
              <a:rPr lang="en-US" altLang="zh-CN" smtClean="0">
                <a:ea typeface="黑体" panose="02010609060101010101" pitchFamily="49" charset="-122"/>
              </a:rPr>
              <a:t>IP </a:t>
            </a:r>
            <a:r>
              <a:rPr lang="zh-CN" altLang="en-US" smtClean="0">
                <a:ea typeface="黑体" panose="02010609060101010101" pitchFamily="49" charset="-122"/>
              </a:rPr>
              <a:t>地址的主机或路由器进行通信，</a:t>
            </a:r>
            <a:r>
              <a:rPr lang="en-US" altLang="zh-CN" smtClean="0">
                <a:ea typeface="黑体" panose="02010609060101010101" pitchFamily="49" charset="-122"/>
              </a:rPr>
              <a:t>ARP </a:t>
            </a:r>
            <a:r>
              <a:rPr lang="zh-CN" altLang="en-US" smtClean="0">
                <a:ea typeface="黑体" panose="02010609060101010101" pitchFamily="49" charset="-122"/>
              </a:rPr>
              <a:t>协议就会自动地将该 </a:t>
            </a:r>
            <a:r>
              <a:rPr lang="en-US" altLang="zh-CN" smtClean="0">
                <a:ea typeface="黑体" panose="02010609060101010101" pitchFamily="49" charset="-122"/>
              </a:rPr>
              <a:t>IP </a:t>
            </a:r>
            <a:r>
              <a:rPr lang="zh-CN" altLang="en-US" smtClean="0">
                <a:ea typeface="黑体" panose="02010609060101010101" pitchFamily="49" charset="-122"/>
              </a:rPr>
              <a:t>地址解析为链路层所需要的硬件地址。  </a:t>
            </a:r>
          </a:p>
        </p:txBody>
      </p:sp>
      <p:sp>
        <p:nvSpPr>
          <p:cNvPr id="805891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757B961-79F8-4FAF-A124-A9B36C7DD6AE}" type="slidenum">
              <a:rPr lang="zh-CN" altLang="en-US" smtClean="0"/>
              <a:pPr eaLnBrk="1" hangingPunct="1"/>
              <a:t>22</a:t>
            </a:fld>
            <a:endParaRPr lang="en-US" altLang="zh-CN" smtClean="0"/>
          </a:p>
        </p:txBody>
      </p:sp>
      <p:sp>
        <p:nvSpPr>
          <p:cNvPr id="805892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3875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9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sz="4000" smtClean="0">
                <a:ea typeface="黑体" panose="02010609060101010101" pitchFamily="49" charset="-122"/>
              </a:rPr>
              <a:t>使用 </a:t>
            </a:r>
            <a:r>
              <a:rPr lang="en-US" altLang="zh-CN" sz="4000" smtClean="0">
                <a:ea typeface="黑体" panose="02010609060101010101" pitchFamily="49" charset="-122"/>
              </a:rPr>
              <a:t>ARP </a:t>
            </a:r>
            <a:r>
              <a:rPr lang="zh-CN" altLang="en-US" sz="4000" smtClean="0">
                <a:ea typeface="黑体" panose="02010609060101010101" pitchFamily="49" charset="-122"/>
              </a:rPr>
              <a:t>的四种典型情况 </a:t>
            </a:r>
          </a:p>
        </p:txBody>
      </p:sp>
      <p:grpSp>
        <p:nvGrpSpPr>
          <p:cNvPr id="807938" name="组合 2"/>
          <p:cNvGrpSpPr>
            <a:grpSpLocks/>
          </p:cNvGrpSpPr>
          <p:nvPr/>
        </p:nvGrpSpPr>
        <p:grpSpPr bwMode="auto">
          <a:xfrm>
            <a:off x="704850" y="1700213"/>
            <a:ext cx="8640763" cy="2038350"/>
            <a:chOff x="1356026" y="1812432"/>
            <a:chExt cx="6915630" cy="1472875"/>
          </a:xfrm>
        </p:grpSpPr>
        <p:grpSp>
          <p:nvGrpSpPr>
            <p:cNvPr id="807939" name="Group 244"/>
            <p:cNvGrpSpPr>
              <a:grpSpLocks/>
            </p:cNvGrpSpPr>
            <p:nvPr/>
          </p:nvGrpSpPr>
          <p:grpSpPr bwMode="auto">
            <a:xfrm>
              <a:off x="1812118" y="2193107"/>
              <a:ext cx="1231900" cy="863600"/>
              <a:chOff x="912" y="768"/>
              <a:chExt cx="2400" cy="1584"/>
            </a:xfrm>
          </p:grpSpPr>
          <p:sp>
            <p:nvSpPr>
              <p:cNvPr id="807940" name="Oval 245"/>
              <p:cNvSpPr>
                <a:spLocks noChangeArrowheads="1"/>
              </p:cNvSpPr>
              <p:nvPr/>
            </p:nvSpPr>
            <p:spPr bwMode="auto">
              <a:xfrm>
                <a:off x="1751" y="799"/>
                <a:ext cx="1026" cy="628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sz="2800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807941" name="Oval 246"/>
              <p:cNvSpPr>
                <a:spLocks noChangeArrowheads="1"/>
              </p:cNvSpPr>
              <p:nvPr/>
            </p:nvSpPr>
            <p:spPr bwMode="auto">
              <a:xfrm>
                <a:off x="1172" y="972"/>
                <a:ext cx="781" cy="627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sz="2800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807942" name="Oval 247"/>
              <p:cNvSpPr>
                <a:spLocks noChangeArrowheads="1"/>
              </p:cNvSpPr>
              <p:nvPr/>
            </p:nvSpPr>
            <p:spPr bwMode="auto">
              <a:xfrm>
                <a:off x="926" y="1364"/>
                <a:ext cx="521" cy="502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sz="2800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807943" name="Oval 248"/>
              <p:cNvSpPr>
                <a:spLocks noChangeArrowheads="1"/>
              </p:cNvSpPr>
              <p:nvPr/>
            </p:nvSpPr>
            <p:spPr bwMode="auto">
              <a:xfrm>
                <a:off x="1085" y="1599"/>
                <a:ext cx="796" cy="549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sz="2800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807944" name="Oval 249"/>
              <p:cNvSpPr>
                <a:spLocks noChangeArrowheads="1"/>
              </p:cNvSpPr>
              <p:nvPr/>
            </p:nvSpPr>
            <p:spPr bwMode="auto">
              <a:xfrm>
                <a:off x="1664" y="1693"/>
                <a:ext cx="1200" cy="659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sz="2800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807945" name="Oval 250"/>
              <p:cNvSpPr>
                <a:spLocks noChangeArrowheads="1"/>
              </p:cNvSpPr>
              <p:nvPr/>
            </p:nvSpPr>
            <p:spPr bwMode="auto">
              <a:xfrm>
                <a:off x="2445" y="988"/>
                <a:ext cx="751" cy="486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sz="2800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807946" name="Oval 251"/>
              <p:cNvSpPr>
                <a:spLocks noChangeArrowheads="1"/>
              </p:cNvSpPr>
              <p:nvPr/>
            </p:nvSpPr>
            <p:spPr bwMode="auto">
              <a:xfrm>
                <a:off x="2560" y="1317"/>
                <a:ext cx="752" cy="486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sz="2800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807947" name="Oval 252"/>
              <p:cNvSpPr>
                <a:spLocks noChangeArrowheads="1"/>
              </p:cNvSpPr>
              <p:nvPr/>
            </p:nvSpPr>
            <p:spPr bwMode="auto">
              <a:xfrm>
                <a:off x="2488" y="1427"/>
                <a:ext cx="752" cy="815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sz="2800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807948" name="Oval 253"/>
              <p:cNvSpPr>
                <a:spLocks noChangeArrowheads="1"/>
              </p:cNvSpPr>
              <p:nvPr/>
            </p:nvSpPr>
            <p:spPr bwMode="auto">
              <a:xfrm>
                <a:off x="1360" y="1176"/>
                <a:ext cx="1547" cy="815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sz="2800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grpSp>
            <p:nvGrpSpPr>
              <p:cNvPr id="807949" name="Group 254"/>
              <p:cNvGrpSpPr>
                <a:grpSpLocks/>
              </p:cNvGrpSpPr>
              <p:nvPr/>
            </p:nvGrpSpPr>
            <p:grpSpPr bwMode="auto">
              <a:xfrm>
                <a:off x="912" y="768"/>
                <a:ext cx="2386" cy="1553"/>
                <a:chOff x="912" y="768"/>
                <a:chExt cx="2386" cy="1553"/>
              </a:xfrm>
            </p:grpSpPr>
            <p:sp>
              <p:nvSpPr>
                <p:cNvPr id="807950" name="Oval 255"/>
                <p:cNvSpPr>
                  <a:spLocks noChangeArrowheads="1"/>
                </p:cNvSpPr>
                <p:nvPr/>
              </p:nvSpPr>
              <p:spPr bwMode="auto">
                <a:xfrm>
                  <a:off x="1736" y="768"/>
                  <a:ext cx="1027" cy="627"/>
                </a:xfrm>
                <a:prstGeom prst="ellipse">
                  <a:avLst/>
                </a:prstGeom>
                <a:solidFill>
                  <a:srgbClr val="DDDDD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8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807951" name="Oval 256"/>
                <p:cNvSpPr>
                  <a:spLocks noChangeArrowheads="1"/>
                </p:cNvSpPr>
                <p:nvPr/>
              </p:nvSpPr>
              <p:spPr bwMode="auto">
                <a:xfrm>
                  <a:off x="1158" y="941"/>
                  <a:ext cx="781" cy="627"/>
                </a:xfrm>
                <a:prstGeom prst="ellipse">
                  <a:avLst/>
                </a:prstGeom>
                <a:solidFill>
                  <a:srgbClr val="DDDDD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8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807952" name="Oval 257"/>
                <p:cNvSpPr>
                  <a:spLocks noChangeArrowheads="1"/>
                </p:cNvSpPr>
                <p:nvPr/>
              </p:nvSpPr>
              <p:spPr bwMode="auto">
                <a:xfrm>
                  <a:off x="912" y="1333"/>
                  <a:ext cx="520" cy="501"/>
                </a:xfrm>
                <a:prstGeom prst="ellipse">
                  <a:avLst/>
                </a:prstGeom>
                <a:solidFill>
                  <a:srgbClr val="DDDDD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8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807953" name="Oval 258"/>
                <p:cNvSpPr>
                  <a:spLocks noChangeArrowheads="1"/>
                </p:cNvSpPr>
                <p:nvPr/>
              </p:nvSpPr>
              <p:spPr bwMode="auto">
                <a:xfrm>
                  <a:off x="1071" y="1568"/>
                  <a:ext cx="795" cy="549"/>
                </a:xfrm>
                <a:prstGeom prst="ellipse">
                  <a:avLst/>
                </a:prstGeom>
                <a:solidFill>
                  <a:srgbClr val="DDDDD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8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807954" name="Oval 259"/>
                <p:cNvSpPr>
                  <a:spLocks noChangeArrowheads="1"/>
                </p:cNvSpPr>
                <p:nvPr/>
              </p:nvSpPr>
              <p:spPr bwMode="auto">
                <a:xfrm>
                  <a:off x="1649" y="1662"/>
                  <a:ext cx="1200" cy="659"/>
                </a:xfrm>
                <a:prstGeom prst="ellipse">
                  <a:avLst/>
                </a:prstGeom>
                <a:solidFill>
                  <a:srgbClr val="DDDDD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8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807955" name="Oval 260"/>
                <p:cNvSpPr>
                  <a:spLocks noChangeArrowheads="1"/>
                </p:cNvSpPr>
                <p:nvPr/>
              </p:nvSpPr>
              <p:spPr bwMode="auto">
                <a:xfrm>
                  <a:off x="2430" y="956"/>
                  <a:ext cx="752" cy="486"/>
                </a:xfrm>
                <a:prstGeom prst="ellipse">
                  <a:avLst/>
                </a:prstGeom>
                <a:solidFill>
                  <a:srgbClr val="DDDDD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8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807956" name="Oval 261"/>
                <p:cNvSpPr>
                  <a:spLocks noChangeArrowheads="1"/>
                </p:cNvSpPr>
                <p:nvPr/>
              </p:nvSpPr>
              <p:spPr bwMode="auto">
                <a:xfrm>
                  <a:off x="2546" y="1286"/>
                  <a:ext cx="752" cy="486"/>
                </a:xfrm>
                <a:prstGeom prst="ellipse">
                  <a:avLst/>
                </a:prstGeom>
                <a:solidFill>
                  <a:srgbClr val="DDDDD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8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807957" name="Oval 262"/>
                <p:cNvSpPr>
                  <a:spLocks noChangeArrowheads="1"/>
                </p:cNvSpPr>
                <p:nvPr/>
              </p:nvSpPr>
              <p:spPr bwMode="auto">
                <a:xfrm>
                  <a:off x="2473" y="1395"/>
                  <a:ext cx="752" cy="816"/>
                </a:xfrm>
                <a:prstGeom prst="ellipse">
                  <a:avLst/>
                </a:prstGeom>
                <a:solidFill>
                  <a:srgbClr val="DDDDD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8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807958" name="Oval 263"/>
                <p:cNvSpPr>
                  <a:spLocks noChangeArrowheads="1"/>
                </p:cNvSpPr>
                <p:nvPr/>
              </p:nvSpPr>
              <p:spPr bwMode="auto">
                <a:xfrm>
                  <a:off x="1346" y="1144"/>
                  <a:ext cx="1547" cy="816"/>
                </a:xfrm>
                <a:prstGeom prst="ellipse">
                  <a:avLst/>
                </a:prstGeom>
                <a:solidFill>
                  <a:srgbClr val="DDDDD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8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</p:grpSp>
        </p:grpSp>
        <p:sp>
          <p:nvSpPr>
            <p:cNvPr id="807959" name="Line 95"/>
            <p:cNvSpPr>
              <a:spLocks noChangeShapeType="1"/>
            </p:cNvSpPr>
            <p:nvPr/>
          </p:nvSpPr>
          <p:spPr bwMode="auto">
            <a:xfrm flipV="1">
              <a:off x="3044018" y="2588394"/>
              <a:ext cx="4810125" cy="1111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sz="28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grpSp>
          <p:nvGrpSpPr>
            <p:cNvPr id="807960" name="Group 284"/>
            <p:cNvGrpSpPr>
              <a:grpSpLocks/>
            </p:cNvGrpSpPr>
            <p:nvPr/>
          </p:nvGrpSpPr>
          <p:grpSpPr bwMode="auto">
            <a:xfrm>
              <a:off x="6917518" y="2218507"/>
              <a:ext cx="1231900" cy="863600"/>
              <a:chOff x="912" y="768"/>
              <a:chExt cx="2400" cy="1584"/>
            </a:xfrm>
          </p:grpSpPr>
          <p:sp>
            <p:nvSpPr>
              <p:cNvPr id="807961" name="Oval 285"/>
              <p:cNvSpPr>
                <a:spLocks noChangeArrowheads="1"/>
              </p:cNvSpPr>
              <p:nvPr/>
            </p:nvSpPr>
            <p:spPr bwMode="auto">
              <a:xfrm>
                <a:off x="1751" y="799"/>
                <a:ext cx="1026" cy="628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sz="2800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807962" name="Oval 286"/>
              <p:cNvSpPr>
                <a:spLocks noChangeArrowheads="1"/>
              </p:cNvSpPr>
              <p:nvPr/>
            </p:nvSpPr>
            <p:spPr bwMode="auto">
              <a:xfrm>
                <a:off x="1172" y="972"/>
                <a:ext cx="781" cy="627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sz="2800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807963" name="Oval 287"/>
              <p:cNvSpPr>
                <a:spLocks noChangeArrowheads="1"/>
              </p:cNvSpPr>
              <p:nvPr/>
            </p:nvSpPr>
            <p:spPr bwMode="auto">
              <a:xfrm>
                <a:off x="926" y="1364"/>
                <a:ext cx="521" cy="502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sz="2800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807964" name="Oval 288"/>
              <p:cNvSpPr>
                <a:spLocks noChangeArrowheads="1"/>
              </p:cNvSpPr>
              <p:nvPr/>
            </p:nvSpPr>
            <p:spPr bwMode="auto">
              <a:xfrm>
                <a:off x="1085" y="1599"/>
                <a:ext cx="796" cy="549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sz="2800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807965" name="Oval 289"/>
              <p:cNvSpPr>
                <a:spLocks noChangeArrowheads="1"/>
              </p:cNvSpPr>
              <p:nvPr/>
            </p:nvSpPr>
            <p:spPr bwMode="auto">
              <a:xfrm>
                <a:off x="1664" y="1693"/>
                <a:ext cx="1200" cy="659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sz="2800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807966" name="Oval 290"/>
              <p:cNvSpPr>
                <a:spLocks noChangeArrowheads="1"/>
              </p:cNvSpPr>
              <p:nvPr/>
            </p:nvSpPr>
            <p:spPr bwMode="auto">
              <a:xfrm>
                <a:off x="2445" y="988"/>
                <a:ext cx="751" cy="486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sz="2800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807967" name="Oval 291"/>
              <p:cNvSpPr>
                <a:spLocks noChangeArrowheads="1"/>
              </p:cNvSpPr>
              <p:nvPr/>
            </p:nvSpPr>
            <p:spPr bwMode="auto">
              <a:xfrm>
                <a:off x="2560" y="1317"/>
                <a:ext cx="752" cy="486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sz="2800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807968" name="Oval 292"/>
              <p:cNvSpPr>
                <a:spLocks noChangeArrowheads="1"/>
              </p:cNvSpPr>
              <p:nvPr/>
            </p:nvSpPr>
            <p:spPr bwMode="auto">
              <a:xfrm>
                <a:off x="2488" y="1427"/>
                <a:ext cx="752" cy="815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sz="2800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807969" name="Oval 293"/>
              <p:cNvSpPr>
                <a:spLocks noChangeArrowheads="1"/>
              </p:cNvSpPr>
              <p:nvPr/>
            </p:nvSpPr>
            <p:spPr bwMode="auto">
              <a:xfrm>
                <a:off x="1360" y="1176"/>
                <a:ext cx="1547" cy="815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sz="2800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grpSp>
            <p:nvGrpSpPr>
              <p:cNvPr id="807970" name="Group 294"/>
              <p:cNvGrpSpPr>
                <a:grpSpLocks/>
              </p:cNvGrpSpPr>
              <p:nvPr/>
            </p:nvGrpSpPr>
            <p:grpSpPr bwMode="auto">
              <a:xfrm>
                <a:off x="912" y="768"/>
                <a:ext cx="2386" cy="1553"/>
                <a:chOff x="912" y="768"/>
                <a:chExt cx="2386" cy="1553"/>
              </a:xfrm>
            </p:grpSpPr>
            <p:sp>
              <p:nvSpPr>
                <p:cNvPr id="807971" name="Oval 295"/>
                <p:cNvSpPr>
                  <a:spLocks noChangeArrowheads="1"/>
                </p:cNvSpPr>
                <p:nvPr/>
              </p:nvSpPr>
              <p:spPr bwMode="auto">
                <a:xfrm>
                  <a:off x="1736" y="768"/>
                  <a:ext cx="1027" cy="627"/>
                </a:xfrm>
                <a:prstGeom prst="ellipse">
                  <a:avLst/>
                </a:prstGeom>
                <a:solidFill>
                  <a:srgbClr val="DDDDD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8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807972" name="Oval 296"/>
                <p:cNvSpPr>
                  <a:spLocks noChangeArrowheads="1"/>
                </p:cNvSpPr>
                <p:nvPr/>
              </p:nvSpPr>
              <p:spPr bwMode="auto">
                <a:xfrm>
                  <a:off x="1158" y="941"/>
                  <a:ext cx="781" cy="627"/>
                </a:xfrm>
                <a:prstGeom prst="ellipse">
                  <a:avLst/>
                </a:prstGeom>
                <a:solidFill>
                  <a:srgbClr val="DDDDD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8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807973" name="Oval 297"/>
                <p:cNvSpPr>
                  <a:spLocks noChangeArrowheads="1"/>
                </p:cNvSpPr>
                <p:nvPr/>
              </p:nvSpPr>
              <p:spPr bwMode="auto">
                <a:xfrm>
                  <a:off x="912" y="1333"/>
                  <a:ext cx="520" cy="501"/>
                </a:xfrm>
                <a:prstGeom prst="ellipse">
                  <a:avLst/>
                </a:prstGeom>
                <a:solidFill>
                  <a:srgbClr val="DDDDD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8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807974" name="Oval 298"/>
                <p:cNvSpPr>
                  <a:spLocks noChangeArrowheads="1"/>
                </p:cNvSpPr>
                <p:nvPr/>
              </p:nvSpPr>
              <p:spPr bwMode="auto">
                <a:xfrm>
                  <a:off x="1071" y="1568"/>
                  <a:ext cx="795" cy="549"/>
                </a:xfrm>
                <a:prstGeom prst="ellipse">
                  <a:avLst/>
                </a:prstGeom>
                <a:solidFill>
                  <a:srgbClr val="DDDDD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8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807975" name="Oval 299"/>
                <p:cNvSpPr>
                  <a:spLocks noChangeArrowheads="1"/>
                </p:cNvSpPr>
                <p:nvPr/>
              </p:nvSpPr>
              <p:spPr bwMode="auto">
                <a:xfrm>
                  <a:off x="1649" y="1662"/>
                  <a:ext cx="1200" cy="659"/>
                </a:xfrm>
                <a:prstGeom prst="ellipse">
                  <a:avLst/>
                </a:prstGeom>
                <a:solidFill>
                  <a:srgbClr val="DDDDD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8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807976" name="Oval 300"/>
                <p:cNvSpPr>
                  <a:spLocks noChangeArrowheads="1"/>
                </p:cNvSpPr>
                <p:nvPr/>
              </p:nvSpPr>
              <p:spPr bwMode="auto">
                <a:xfrm>
                  <a:off x="2430" y="956"/>
                  <a:ext cx="752" cy="486"/>
                </a:xfrm>
                <a:prstGeom prst="ellipse">
                  <a:avLst/>
                </a:prstGeom>
                <a:solidFill>
                  <a:srgbClr val="DDDDD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8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807977" name="Oval 301"/>
                <p:cNvSpPr>
                  <a:spLocks noChangeArrowheads="1"/>
                </p:cNvSpPr>
                <p:nvPr/>
              </p:nvSpPr>
              <p:spPr bwMode="auto">
                <a:xfrm>
                  <a:off x="2546" y="1286"/>
                  <a:ext cx="752" cy="486"/>
                </a:xfrm>
                <a:prstGeom prst="ellipse">
                  <a:avLst/>
                </a:prstGeom>
                <a:solidFill>
                  <a:srgbClr val="DDDDD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8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807978" name="Oval 302"/>
                <p:cNvSpPr>
                  <a:spLocks noChangeArrowheads="1"/>
                </p:cNvSpPr>
                <p:nvPr/>
              </p:nvSpPr>
              <p:spPr bwMode="auto">
                <a:xfrm>
                  <a:off x="2473" y="1395"/>
                  <a:ext cx="752" cy="816"/>
                </a:xfrm>
                <a:prstGeom prst="ellipse">
                  <a:avLst/>
                </a:prstGeom>
                <a:solidFill>
                  <a:srgbClr val="DDDDD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8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807979" name="Oval 303"/>
                <p:cNvSpPr>
                  <a:spLocks noChangeArrowheads="1"/>
                </p:cNvSpPr>
                <p:nvPr/>
              </p:nvSpPr>
              <p:spPr bwMode="auto">
                <a:xfrm>
                  <a:off x="1346" y="1144"/>
                  <a:ext cx="1547" cy="816"/>
                </a:xfrm>
                <a:prstGeom prst="ellipse">
                  <a:avLst/>
                </a:prstGeom>
                <a:solidFill>
                  <a:srgbClr val="DDDDD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8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</p:grpSp>
        </p:grpSp>
        <p:grpSp>
          <p:nvGrpSpPr>
            <p:cNvPr id="807980" name="Group 264"/>
            <p:cNvGrpSpPr>
              <a:grpSpLocks/>
            </p:cNvGrpSpPr>
            <p:nvPr/>
          </p:nvGrpSpPr>
          <p:grpSpPr bwMode="auto">
            <a:xfrm>
              <a:off x="4402918" y="2193107"/>
              <a:ext cx="1231900" cy="863600"/>
              <a:chOff x="912" y="768"/>
              <a:chExt cx="2400" cy="1584"/>
            </a:xfrm>
          </p:grpSpPr>
          <p:sp>
            <p:nvSpPr>
              <p:cNvPr id="807981" name="Oval 265"/>
              <p:cNvSpPr>
                <a:spLocks noChangeArrowheads="1"/>
              </p:cNvSpPr>
              <p:nvPr/>
            </p:nvSpPr>
            <p:spPr bwMode="auto">
              <a:xfrm>
                <a:off x="1751" y="799"/>
                <a:ext cx="1026" cy="628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sz="2800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807982" name="Oval 266"/>
              <p:cNvSpPr>
                <a:spLocks noChangeArrowheads="1"/>
              </p:cNvSpPr>
              <p:nvPr/>
            </p:nvSpPr>
            <p:spPr bwMode="auto">
              <a:xfrm>
                <a:off x="1172" y="972"/>
                <a:ext cx="781" cy="627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sz="2800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807983" name="Oval 267"/>
              <p:cNvSpPr>
                <a:spLocks noChangeArrowheads="1"/>
              </p:cNvSpPr>
              <p:nvPr/>
            </p:nvSpPr>
            <p:spPr bwMode="auto">
              <a:xfrm>
                <a:off x="926" y="1364"/>
                <a:ext cx="521" cy="502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sz="2800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807984" name="Oval 268"/>
              <p:cNvSpPr>
                <a:spLocks noChangeArrowheads="1"/>
              </p:cNvSpPr>
              <p:nvPr/>
            </p:nvSpPr>
            <p:spPr bwMode="auto">
              <a:xfrm>
                <a:off x="1085" y="1599"/>
                <a:ext cx="796" cy="549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sz="2800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807985" name="Oval 269"/>
              <p:cNvSpPr>
                <a:spLocks noChangeArrowheads="1"/>
              </p:cNvSpPr>
              <p:nvPr/>
            </p:nvSpPr>
            <p:spPr bwMode="auto">
              <a:xfrm>
                <a:off x="1664" y="1693"/>
                <a:ext cx="1200" cy="659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sz="2800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807986" name="Oval 270"/>
              <p:cNvSpPr>
                <a:spLocks noChangeArrowheads="1"/>
              </p:cNvSpPr>
              <p:nvPr/>
            </p:nvSpPr>
            <p:spPr bwMode="auto">
              <a:xfrm>
                <a:off x="2445" y="988"/>
                <a:ext cx="751" cy="486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sz="2800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807987" name="Oval 271"/>
              <p:cNvSpPr>
                <a:spLocks noChangeArrowheads="1"/>
              </p:cNvSpPr>
              <p:nvPr/>
            </p:nvSpPr>
            <p:spPr bwMode="auto">
              <a:xfrm>
                <a:off x="2560" y="1317"/>
                <a:ext cx="752" cy="486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sz="2800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807988" name="Oval 272"/>
              <p:cNvSpPr>
                <a:spLocks noChangeArrowheads="1"/>
              </p:cNvSpPr>
              <p:nvPr/>
            </p:nvSpPr>
            <p:spPr bwMode="auto">
              <a:xfrm>
                <a:off x="2488" y="1427"/>
                <a:ext cx="752" cy="815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sz="2800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807989" name="Oval 273"/>
              <p:cNvSpPr>
                <a:spLocks noChangeArrowheads="1"/>
              </p:cNvSpPr>
              <p:nvPr/>
            </p:nvSpPr>
            <p:spPr bwMode="auto">
              <a:xfrm>
                <a:off x="1360" y="1176"/>
                <a:ext cx="1547" cy="815"/>
              </a:xfrm>
              <a:prstGeom prst="ellipse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sz="2800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grpSp>
            <p:nvGrpSpPr>
              <p:cNvPr id="807990" name="Group 274"/>
              <p:cNvGrpSpPr>
                <a:grpSpLocks/>
              </p:cNvGrpSpPr>
              <p:nvPr/>
            </p:nvGrpSpPr>
            <p:grpSpPr bwMode="auto">
              <a:xfrm>
                <a:off x="912" y="768"/>
                <a:ext cx="2386" cy="1553"/>
                <a:chOff x="912" y="768"/>
                <a:chExt cx="2386" cy="1553"/>
              </a:xfrm>
            </p:grpSpPr>
            <p:sp>
              <p:nvSpPr>
                <p:cNvPr id="807991" name="Oval 275"/>
                <p:cNvSpPr>
                  <a:spLocks noChangeArrowheads="1"/>
                </p:cNvSpPr>
                <p:nvPr/>
              </p:nvSpPr>
              <p:spPr bwMode="auto">
                <a:xfrm>
                  <a:off x="1736" y="768"/>
                  <a:ext cx="1027" cy="627"/>
                </a:xfrm>
                <a:prstGeom prst="ellipse">
                  <a:avLst/>
                </a:prstGeom>
                <a:solidFill>
                  <a:srgbClr val="DDDDD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8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807992" name="Oval 276"/>
                <p:cNvSpPr>
                  <a:spLocks noChangeArrowheads="1"/>
                </p:cNvSpPr>
                <p:nvPr/>
              </p:nvSpPr>
              <p:spPr bwMode="auto">
                <a:xfrm>
                  <a:off x="1158" y="941"/>
                  <a:ext cx="781" cy="627"/>
                </a:xfrm>
                <a:prstGeom prst="ellipse">
                  <a:avLst/>
                </a:prstGeom>
                <a:solidFill>
                  <a:srgbClr val="DDDDD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8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807993" name="Oval 277"/>
                <p:cNvSpPr>
                  <a:spLocks noChangeArrowheads="1"/>
                </p:cNvSpPr>
                <p:nvPr/>
              </p:nvSpPr>
              <p:spPr bwMode="auto">
                <a:xfrm>
                  <a:off x="912" y="1333"/>
                  <a:ext cx="520" cy="501"/>
                </a:xfrm>
                <a:prstGeom prst="ellipse">
                  <a:avLst/>
                </a:prstGeom>
                <a:solidFill>
                  <a:srgbClr val="DDDDD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8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807994" name="Oval 278"/>
                <p:cNvSpPr>
                  <a:spLocks noChangeArrowheads="1"/>
                </p:cNvSpPr>
                <p:nvPr/>
              </p:nvSpPr>
              <p:spPr bwMode="auto">
                <a:xfrm>
                  <a:off x="1071" y="1568"/>
                  <a:ext cx="795" cy="549"/>
                </a:xfrm>
                <a:prstGeom prst="ellipse">
                  <a:avLst/>
                </a:prstGeom>
                <a:solidFill>
                  <a:srgbClr val="DDDDD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8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807995" name="Oval 279"/>
                <p:cNvSpPr>
                  <a:spLocks noChangeArrowheads="1"/>
                </p:cNvSpPr>
                <p:nvPr/>
              </p:nvSpPr>
              <p:spPr bwMode="auto">
                <a:xfrm>
                  <a:off x="1649" y="1662"/>
                  <a:ext cx="1200" cy="659"/>
                </a:xfrm>
                <a:prstGeom prst="ellipse">
                  <a:avLst/>
                </a:prstGeom>
                <a:solidFill>
                  <a:srgbClr val="DDDDD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8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807996" name="Oval 280"/>
                <p:cNvSpPr>
                  <a:spLocks noChangeArrowheads="1"/>
                </p:cNvSpPr>
                <p:nvPr/>
              </p:nvSpPr>
              <p:spPr bwMode="auto">
                <a:xfrm>
                  <a:off x="2430" y="956"/>
                  <a:ext cx="752" cy="486"/>
                </a:xfrm>
                <a:prstGeom prst="ellipse">
                  <a:avLst/>
                </a:prstGeom>
                <a:solidFill>
                  <a:srgbClr val="DDDDD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8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807997" name="Oval 281"/>
                <p:cNvSpPr>
                  <a:spLocks noChangeArrowheads="1"/>
                </p:cNvSpPr>
                <p:nvPr/>
              </p:nvSpPr>
              <p:spPr bwMode="auto">
                <a:xfrm>
                  <a:off x="2546" y="1286"/>
                  <a:ext cx="752" cy="486"/>
                </a:xfrm>
                <a:prstGeom prst="ellipse">
                  <a:avLst/>
                </a:prstGeom>
                <a:solidFill>
                  <a:srgbClr val="DDDDD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8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807998" name="Oval 282"/>
                <p:cNvSpPr>
                  <a:spLocks noChangeArrowheads="1"/>
                </p:cNvSpPr>
                <p:nvPr/>
              </p:nvSpPr>
              <p:spPr bwMode="auto">
                <a:xfrm>
                  <a:off x="2473" y="1395"/>
                  <a:ext cx="752" cy="816"/>
                </a:xfrm>
                <a:prstGeom prst="ellipse">
                  <a:avLst/>
                </a:prstGeom>
                <a:solidFill>
                  <a:srgbClr val="DDDDD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8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807999" name="Oval 283"/>
                <p:cNvSpPr>
                  <a:spLocks noChangeArrowheads="1"/>
                </p:cNvSpPr>
                <p:nvPr/>
              </p:nvSpPr>
              <p:spPr bwMode="auto">
                <a:xfrm>
                  <a:off x="1346" y="1144"/>
                  <a:ext cx="1547" cy="816"/>
                </a:xfrm>
                <a:prstGeom prst="ellipse">
                  <a:avLst/>
                </a:prstGeom>
                <a:solidFill>
                  <a:srgbClr val="DDDDD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8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</p:grpSp>
        </p:grpSp>
        <p:sp>
          <p:nvSpPr>
            <p:cNvPr id="808000" name="Text Box 96"/>
            <p:cNvSpPr txBox="1">
              <a:spLocks noChangeArrowheads="1"/>
            </p:cNvSpPr>
            <p:nvPr/>
          </p:nvSpPr>
          <p:spPr bwMode="auto">
            <a:xfrm>
              <a:off x="2118699" y="2512334"/>
              <a:ext cx="600669" cy="3337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zh-CN" altLang="en-US" sz="2400" b="1">
                  <a:solidFill>
                    <a:srgbClr val="000099"/>
                  </a:solidFill>
                  <a:ea typeface="黑体" panose="02010609060101010101" pitchFamily="49" charset="-122"/>
                </a:rPr>
                <a:t>网 </a:t>
              </a:r>
              <a:r>
                <a:rPr lang="en-US" altLang="zh-CN" sz="2400" b="1">
                  <a:solidFill>
                    <a:srgbClr val="000099"/>
                  </a:solidFill>
                  <a:ea typeface="黑体" panose="02010609060101010101" pitchFamily="49" charset="-122"/>
                </a:rPr>
                <a:t>1</a:t>
              </a:r>
            </a:p>
          </p:txBody>
        </p:sp>
        <p:sp>
          <p:nvSpPr>
            <p:cNvPr id="808001" name="Text Box 98"/>
            <p:cNvSpPr txBox="1">
              <a:spLocks noChangeArrowheads="1"/>
            </p:cNvSpPr>
            <p:nvPr/>
          </p:nvSpPr>
          <p:spPr bwMode="auto">
            <a:xfrm>
              <a:off x="7285638" y="2489243"/>
              <a:ext cx="600669" cy="3337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400" b="1">
                  <a:solidFill>
                    <a:srgbClr val="000099"/>
                  </a:solidFill>
                  <a:ea typeface="黑体" panose="02010609060101010101" pitchFamily="49" charset="-122"/>
                </a:rPr>
                <a:t>网 </a:t>
              </a:r>
              <a:r>
                <a:rPr lang="en-US" altLang="zh-CN" sz="2400" b="1">
                  <a:solidFill>
                    <a:srgbClr val="000099"/>
                  </a:solidFill>
                  <a:ea typeface="黑体" panose="02010609060101010101" pitchFamily="49" charset="-122"/>
                </a:rPr>
                <a:t>3</a:t>
              </a:r>
            </a:p>
          </p:txBody>
        </p:sp>
        <p:sp>
          <p:nvSpPr>
            <p:cNvPr id="808002" name="Text Box 99"/>
            <p:cNvSpPr txBox="1">
              <a:spLocks noChangeArrowheads="1"/>
            </p:cNvSpPr>
            <p:nvPr/>
          </p:nvSpPr>
          <p:spPr bwMode="auto">
            <a:xfrm>
              <a:off x="4764687" y="2489243"/>
              <a:ext cx="600669" cy="3337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400" b="1">
                  <a:solidFill>
                    <a:srgbClr val="000099"/>
                  </a:solidFill>
                  <a:ea typeface="黑体" panose="02010609060101010101" pitchFamily="49" charset="-122"/>
                </a:rPr>
                <a:t>网 </a:t>
              </a:r>
              <a:r>
                <a:rPr lang="en-US" altLang="zh-CN" sz="2400" b="1">
                  <a:solidFill>
                    <a:srgbClr val="000099"/>
                  </a:solidFill>
                  <a:ea typeface="黑体" panose="02010609060101010101" pitchFamily="49" charset="-122"/>
                </a:rPr>
                <a:t>2</a:t>
              </a:r>
            </a:p>
          </p:txBody>
        </p:sp>
        <p:pic>
          <p:nvPicPr>
            <p:cNvPr id="808003" name="Picture 231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25018" y="2428057"/>
              <a:ext cx="695325" cy="346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08004" name="Text Box 235"/>
            <p:cNvSpPr txBox="1">
              <a:spLocks noChangeArrowheads="1"/>
            </p:cNvSpPr>
            <p:nvPr/>
          </p:nvSpPr>
          <p:spPr bwMode="auto">
            <a:xfrm>
              <a:off x="6176156" y="2080394"/>
              <a:ext cx="417210" cy="3337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400" b="1">
                  <a:solidFill>
                    <a:srgbClr val="C00000"/>
                  </a:solidFill>
                  <a:ea typeface="黑体" panose="02010609060101010101" pitchFamily="49" charset="-122"/>
                </a:rPr>
                <a:t>R</a:t>
              </a:r>
              <a:r>
                <a:rPr lang="en-US" altLang="zh-CN" sz="2400" b="1" baseline="-25000">
                  <a:solidFill>
                    <a:srgbClr val="C00000"/>
                  </a:solidFill>
                  <a:ea typeface="黑体" panose="02010609060101010101" pitchFamily="49" charset="-122"/>
                </a:rPr>
                <a:t>2</a:t>
              </a:r>
              <a:endParaRPr lang="en-US" altLang="zh-CN" sz="2400" b="1">
                <a:solidFill>
                  <a:srgbClr val="C00000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08005" name="Text Box 237"/>
            <p:cNvSpPr txBox="1">
              <a:spLocks noChangeArrowheads="1"/>
            </p:cNvSpPr>
            <p:nvPr/>
          </p:nvSpPr>
          <p:spPr bwMode="auto">
            <a:xfrm>
              <a:off x="3526618" y="2089919"/>
              <a:ext cx="417210" cy="3337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400" b="1">
                  <a:solidFill>
                    <a:srgbClr val="C00000"/>
                  </a:solidFill>
                  <a:ea typeface="黑体" panose="02010609060101010101" pitchFamily="49" charset="-122"/>
                </a:rPr>
                <a:t>R</a:t>
              </a:r>
              <a:r>
                <a:rPr lang="en-US" altLang="zh-CN" sz="2400" b="1" baseline="-25000">
                  <a:solidFill>
                    <a:srgbClr val="C00000"/>
                  </a:solidFill>
                  <a:ea typeface="黑体" panose="02010609060101010101" pitchFamily="49" charset="-122"/>
                </a:rPr>
                <a:t>1</a:t>
              </a:r>
              <a:endParaRPr lang="en-US" altLang="zh-CN" sz="2400" b="1">
                <a:solidFill>
                  <a:srgbClr val="C00000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08006" name="Text Box 325"/>
            <p:cNvSpPr txBox="1">
              <a:spLocks noChangeArrowheads="1"/>
            </p:cNvSpPr>
            <p:nvPr/>
          </p:nvSpPr>
          <p:spPr bwMode="auto">
            <a:xfrm>
              <a:off x="1356026" y="1886719"/>
              <a:ext cx="417210" cy="3337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400" b="1">
                  <a:solidFill>
                    <a:srgbClr val="000099"/>
                  </a:solidFill>
                  <a:ea typeface="黑体" panose="02010609060101010101" pitchFamily="49" charset="-122"/>
                </a:rPr>
                <a:t>H</a:t>
              </a:r>
              <a:r>
                <a:rPr lang="en-US" altLang="zh-CN" sz="2400" b="1" baseline="-25000">
                  <a:solidFill>
                    <a:srgbClr val="000099"/>
                  </a:solidFill>
                  <a:ea typeface="黑体" panose="02010609060101010101" pitchFamily="49" charset="-122"/>
                </a:rPr>
                <a:t>1</a:t>
              </a:r>
            </a:p>
          </p:txBody>
        </p:sp>
        <p:pic>
          <p:nvPicPr>
            <p:cNvPr id="808007" name="Picture 327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72956" y="2405832"/>
              <a:ext cx="695325" cy="346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08008" name="Oval 333"/>
            <p:cNvSpPr>
              <a:spLocks noChangeArrowheads="1"/>
            </p:cNvSpPr>
            <p:nvPr/>
          </p:nvSpPr>
          <p:spPr bwMode="auto">
            <a:xfrm>
              <a:off x="4225118" y="2559819"/>
              <a:ext cx="71438" cy="7143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sz="28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08009" name="Oval 335"/>
            <p:cNvSpPr>
              <a:spLocks noChangeArrowheads="1"/>
            </p:cNvSpPr>
            <p:nvPr/>
          </p:nvSpPr>
          <p:spPr bwMode="auto">
            <a:xfrm>
              <a:off x="3156731" y="2567757"/>
              <a:ext cx="71437" cy="7143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sz="28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08010" name="Oval 337"/>
            <p:cNvSpPr>
              <a:spLocks noChangeArrowheads="1"/>
            </p:cNvSpPr>
            <p:nvPr/>
          </p:nvSpPr>
          <p:spPr bwMode="auto">
            <a:xfrm>
              <a:off x="6817506" y="2570932"/>
              <a:ext cx="71437" cy="7143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sz="28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08011" name="Oval 338"/>
            <p:cNvSpPr>
              <a:spLocks noChangeArrowheads="1"/>
            </p:cNvSpPr>
            <p:nvPr/>
          </p:nvSpPr>
          <p:spPr bwMode="auto">
            <a:xfrm>
              <a:off x="5823731" y="2567757"/>
              <a:ext cx="71437" cy="7143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sz="28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pic>
          <p:nvPicPr>
            <p:cNvPr id="808012" name="Picture 347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91468" y="2026419"/>
              <a:ext cx="409575" cy="412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08013" name="Picture 348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6581" y="2872557"/>
              <a:ext cx="409575" cy="412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08014" name="Picture 349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98256" y="1935932"/>
              <a:ext cx="409575" cy="412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08015" name="Picture 350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62081" y="2007369"/>
              <a:ext cx="409575" cy="412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08016" name="Text Box 351"/>
            <p:cNvSpPr txBox="1">
              <a:spLocks noChangeArrowheads="1"/>
            </p:cNvSpPr>
            <p:nvPr/>
          </p:nvSpPr>
          <p:spPr bwMode="auto">
            <a:xfrm>
              <a:off x="1643363" y="2799532"/>
              <a:ext cx="417210" cy="3337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400" b="1">
                  <a:solidFill>
                    <a:srgbClr val="000099"/>
                  </a:solidFill>
                  <a:ea typeface="黑体" panose="02010609060101010101" pitchFamily="49" charset="-122"/>
                </a:rPr>
                <a:t>H</a:t>
              </a:r>
              <a:r>
                <a:rPr lang="en-US" altLang="zh-CN" sz="2400" b="1" baseline="-25000">
                  <a:solidFill>
                    <a:srgbClr val="000099"/>
                  </a:solidFill>
                  <a:ea typeface="黑体" panose="02010609060101010101" pitchFamily="49" charset="-122"/>
                </a:rPr>
                <a:t>2</a:t>
              </a:r>
            </a:p>
          </p:txBody>
        </p:sp>
        <p:sp>
          <p:nvSpPr>
            <p:cNvPr id="808017" name="Text Box 352"/>
            <p:cNvSpPr txBox="1">
              <a:spLocks noChangeArrowheads="1"/>
            </p:cNvSpPr>
            <p:nvPr/>
          </p:nvSpPr>
          <p:spPr bwMode="auto">
            <a:xfrm>
              <a:off x="4871471" y="1812432"/>
              <a:ext cx="417210" cy="3337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400" b="1">
                  <a:solidFill>
                    <a:srgbClr val="000099"/>
                  </a:solidFill>
                  <a:ea typeface="黑体" panose="02010609060101010101" pitchFamily="49" charset="-122"/>
                </a:rPr>
                <a:t>H</a:t>
              </a:r>
              <a:r>
                <a:rPr lang="en-US" altLang="zh-CN" sz="2400" b="1" baseline="-25000">
                  <a:solidFill>
                    <a:srgbClr val="000099"/>
                  </a:solidFill>
                  <a:ea typeface="黑体" panose="02010609060101010101" pitchFamily="49" charset="-122"/>
                </a:rPr>
                <a:t>3</a:t>
              </a:r>
            </a:p>
          </p:txBody>
        </p:sp>
        <p:sp>
          <p:nvSpPr>
            <p:cNvPr id="808018" name="Text Box 353"/>
            <p:cNvSpPr txBox="1">
              <a:spLocks noChangeArrowheads="1"/>
            </p:cNvSpPr>
            <p:nvPr/>
          </p:nvSpPr>
          <p:spPr bwMode="auto">
            <a:xfrm>
              <a:off x="7522463" y="1916557"/>
              <a:ext cx="417210" cy="3337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400" b="1">
                  <a:solidFill>
                    <a:srgbClr val="000099"/>
                  </a:solidFill>
                  <a:ea typeface="黑体" panose="02010609060101010101" pitchFamily="49" charset="-122"/>
                </a:rPr>
                <a:t>H</a:t>
              </a:r>
              <a:r>
                <a:rPr lang="en-US" altLang="zh-CN" sz="2400" b="1" baseline="-25000">
                  <a:solidFill>
                    <a:srgbClr val="000099"/>
                  </a:solidFill>
                  <a:ea typeface="黑体" panose="02010609060101010101" pitchFamily="49" charset="-122"/>
                </a:rPr>
                <a:t>4</a:t>
              </a:r>
            </a:p>
          </p:txBody>
        </p:sp>
      </p:grpSp>
      <p:sp>
        <p:nvSpPr>
          <p:cNvPr id="808019" name="灯片编号占位符 4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4B77C5F-B62A-4A06-9A6E-A810AC2734C0}" type="slidenum">
              <a:rPr lang="zh-CN" altLang="en-US" smtClean="0"/>
              <a:pPr eaLnBrk="1" hangingPunct="1"/>
              <a:t>23</a:t>
            </a:fld>
            <a:endParaRPr lang="en-US" altLang="zh-CN" smtClean="0"/>
          </a:p>
        </p:txBody>
      </p:sp>
      <p:sp>
        <p:nvSpPr>
          <p:cNvPr id="808020" name="页脚占位符 85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985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zh-CN" altLang="en-US" sz="4000" smtClean="0">
                <a:ea typeface="黑体" panose="02010609060101010101" pitchFamily="49" charset="-122"/>
              </a:rPr>
              <a:t>使用 </a:t>
            </a:r>
            <a:r>
              <a:rPr lang="en-US" altLang="zh-CN" sz="4000" smtClean="0">
                <a:ea typeface="黑体" panose="02010609060101010101" pitchFamily="49" charset="-122"/>
              </a:rPr>
              <a:t>ARP </a:t>
            </a:r>
            <a:r>
              <a:rPr lang="zh-CN" altLang="en-US" sz="4000" smtClean="0">
                <a:ea typeface="黑体" panose="02010609060101010101" pitchFamily="49" charset="-122"/>
              </a:rPr>
              <a:t>的四种典型情况 </a:t>
            </a:r>
          </a:p>
        </p:txBody>
      </p:sp>
      <p:sp>
        <p:nvSpPr>
          <p:cNvPr id="809986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en-US" sz="2600" dirty="0" smtClean="0">
                <a:solidFill>
                  <a:srgbClr val="000099"/>
                </a:solidFill>
                <a:ea typeface="黑体" panose="02010609060101010101" pitchFamily="49" charset="-122"/>
              </a:rPr>
              <a:t>发送方是主机</a:t>
            </a:r>
            <a:r>
              <a:rPr lang="zh-CN" altLang="en-US" sz="2600" dirty="0" smtClean="0">
                <a:ea typeface="黑体" panose="02010609060101010101" pitchFamily="49" charset="-122"/>
              </a:rPr>
              <a:t>，要把 </a:t>
            </a:r>
            <a:r>
              <a:rPr lang="en-US" altLang="zh-CN" sz="2600" dirty="0" smtClean="0">
                <a:ea typeface="黑体" panose="02010609060101010101" pitchFamily="49" charset="-122"/>
              </a:rPr>
              <a:t>IP </a:t>
            </a:r>
            <a:r>
              <a:rPr lang="zh-CN" altLang="en-US" sz="2600" dirty="0" smtClean="0">
                <a:ea typeface="黑体" panose="02010609060101010101" pitchFamily="49" charset="-122"/>
              </a:rPr>
              <a:t>数据报发送到</a:t>
            </a:r>
            <a:r>
              <a:rPr lang="zh-CN" altLang="en-US" sz="2600" dirty="0" smtClean="0">
                <a:solidFill>
                  <a:srgbClr val="000099"/>
                </a:solidFill>
                <a:ea typeface="黑体" panose="02010609060101010101" pitchFamily="49" charset="-122"/>
              </a:rPr>
              <a:t>本网络上的另一个主机</a:t>
            </a:r>
            <a:r>
              <a:rPr lang="zh-CN" altLang="en-US" sz="2600" dirty="0" smtClean="0">
                <a:ea typeface="黑体" panose="02010609060101010101" pitchFamily="49" charset="-122"/>
              </a:rPr>
              <a:t>。这时用 </a:t>
            </a:r>
            <a:r>
              <a:rPr lang="en-US" altLang="zh-CN" sz="2600" dirty="0" smtClean="0">
                <a:ea typeface="黑体" panose="02010609060101010101" pitchFamily="49" charset="-122"/>
              </a:rPr>
              <a:t>ARP </a:t>
            </a:r>
            <a:r>
              <a:rPr lang="zh-CN" altLang="en-US" sz="2600" dirty="0" smtClean="0">
                <a:ea typeface="黑体" panose="02010609060101010101" pitchFamily="49" charset="-122"/>
              </a:rPr>
              <a:t>找到</a:t>
            </a:r>
            <a:r>
              <a:rPr lang="zh-CN" altLang="en-US" sz="2600" dirty="0" smtClean="0">
                <a:solidFill>
                  <a:srgbClr val="000099"/>
                </a:solidFill>
                <a:ea typeface="黑体" panose="02010609060101010101" pitchFamily="49" charset="-122"/>
              </a:rPr>
              <a:t>目的主机</a:t>
            </a:r>
            <a:r>
              <a:rPr lang="zh-CN" altLang="en-US" sz="2600" dirty="0" smtClean="0">
                <a:ea typeface="黑体" panose="02010609060101010101" pitchFamily="49" charset="-122"/>
              </a:rPr>
              <a:t>的硬件地址。 </a:t>
            </a:r>
          </a:p>
          <a:p>
            <a:r>
              <a:rPr lang="zh-CN" altLang="en-US" sz="2600" dirty="0" smtClean="0">
                <a:solidFill>
                  <a:srgbClr val="000099"/>
                </a:solidFill>
                <a:ea typeface="黑体" panose="02010609060101010101" pitchFamily="49" charset="-122"/>
              </a:rPr>
              <a:t>发送方是主机</a:t>
            </a:r>
            <a:r>
              <a:rPr lang="zh-CN" altLang="en-US" sz="2600" dirty="0" smtClean="0">
                <a:ea typeface="黑体" panose="02010609060101010101" pitchFamily="49" charset="-122"/>
              </a:rPr>
              <a:t>，要把 </a:t>
            </a:r>
            <a:r>
              <a:rPr lang="en-US" altLang="zh-CN" sz="2600" dirty="0" smtClean="0">
                <a:ea typeface="黑体" panose="02010609060101010101" pitchFamily="49" charset="-122"/>
              </a:rPr>
              <a:t>IP </a:t>
            </a:r>
            <a:r>
              <a:rPr lang="zh-CN" altLang="en-US" sz="2600" dirty="0" smtClean="0">
                <a:ea typeface="黑体" panose="02010609060101010101" pitchFamily="49" charset="-122"/>
              </a:rPr>
              <a:t>数据报发送到</a:t>
            </a:r>
            <a:r>
              <a:rPr lang="zh-CN" altLang="en-US" sz="2600" dirty="0" smtClean="0">
                <a:solidFill>
                  <a:srgbClr val="000099"/>
                </a:solidFill>
                <a:ea typeface="黑体" panose="02010609060101010101" pitchFamily="49" charset="-122"/>
              </a:rPr>
              <a:t>另一个网络上的一个主机</a:t>
            </a:r>
            <a:r>
              <a:rPr lang="zh-CN" altLang="en-US" sz="2600" dirty="0" smtClean="0">
                <a:ea typeface="黑体" panose="02010609060101010101" pitchFamily="49" charset="-122"/>
              </a:rPr>
              <a:t>。这时用 </a:t>
            </a:r>
            <a:r>
              <a:rPr lang="en-US" altLang="zh-CN" sz="2600" dirty="0" smtClean="0">
                <a:ea typeface="黑体" panose="02010609060101010101" pitchFamily="49" charset="-122"/>
              </a:rPr>
              <a:t>ARP </a:t>
            </a:r>
            <a:r>
              <a:rPr lang="zh-CN" altLang="en-US" sz="2600" dirty="0" smtClean="0">
                <a:ea typeface="黑体" panose="02010609060101010101" pitchFamily="49" charset="-122"/>
              </a:rPr>
              <a:t>找到本网络上的</a:t>
            </a:r>
            <a:r>
              <a:rPr lang="zh-CN" altLang="en-US" sz="2600" dirty="0" smtClean="0">
                <a:solidFill>
                  <a:srgbClr val="000099"/>
                </a:solidFill>
                <a:ea typeface="黑体" panose="02010609060101010101" pitchFamily="49" charset="-122"/>
              </a:rPr>
              <a:t>一个路由器</a:t>
            </a:r>
            <a:r>
              <a:rPr lang="zh-CN" altLang="en-US" sz="2600" dirty="0" smtClean="0">
                <a:ea typeface="黑体" panose="02010609060101010101" pitchFamily="49" charset="-122"/>
              </a:rPr>
              <a:t>的硬件地址。剩下的工作由这个路由器来完成。 </a:t>
            </a:r>
          </a:p>
          <a:p>
            <a:r>
              <a:rPr lang="zh-CN" altLang="en-US" sz="2600" dirty="0" smtClean="0">
                <a:solidFill>
                  <a:srgbClr val="000099"/>
                </a:solidFill>
                <a:ea typeface="黑体" panose="02010609060101010101" pitchFamily="49" charset="-122"/>
              </a:rPr>
              <a:t>发送方是路由器</a:t>
            </a:r>
            <a:r>
              <a:rPr lang="zh-CN" altLang="en-US" sz="2600" dirty="0" smtClean="0">
                <a:ea typeface="黑体" panose="02010609060101010101" pitchFamily="49" charset="-122"/>
              </a:rPr>
              <a:t>，要把 </a:t>
            </a:r>
            <a:r>
              <a:rPr lang="en-US" altLang="zh-CN" sz="2600" dirty="0" smtClean="0">
                <a:ea typeface="黑体" panose="02010609060101010101" pitchFamily="49" charset="-122"/>
              </a:rPr>
              <a:t>IP </a:t>
            </a:r>
            <a:r>
              <a:rPr lang="zh-CN" altLang="en-US" sz="2600" dirty="0" smtClean="0">
                <a:ea typeface="黑体" panose="02010609060101010101" pitchFamily="49" charset="-122"/>
              </a:rPr>
              <a:t>数据报转发到</a:t>
            </a:r>
            <a:r>
              <a:rPr lang="zh-CN" altLang="en-US" sz="2600" dirty="0" smtClean="0">
                <a:solidFill>
                  <a:srgbClr val="000099"/>
                </a:solidFill>
                <a:ea typeface="黑体" panose="02010609060101010101" pitchFamily="49" charset="-122"/>
              </a:rPr>
              <a:t>本网络上的一个主机</a:t>
            </a:r>
            <a:r>
              <a:rPr lang="zh-CN" altLang="en-US" sz="2600" dirty="0" smtClean="0">
                <a:ea typeface="黑体" panose="02010609060101010101" pitchFamily="49" charset="-122"/>
              </a:rPr>
              <a:t>。这时用 </a:t>
            </a:r>
            <a:r>
              <a:rPr lang="en-US" altLang="zh-CN" sz="2600" dirty="0" smtClean="0">
                <a:ea typeface="黑体" panose="02010609060101010101" pitchFamily="49" charset="-122"/>
              </a:rPr>
              <a:t>ARP </a:t>
            </a:r>
            <a:r>
              <a:rPr lang="zh-CN" altLang="en-US" sz="2600" dirty="0" smtClean="0">
                <a:ea typeface="黑体" panose="02010609060101010101" pitchFamily="49" charset="-122"/>
              </a:rPr>
              <a:t>找到</a:t>
            </a:r>
            <a:r>
              <a:rPr lang="zh-CN" altLang="en-US" sz="2600" dirty="0" smtClean="0">
                <a:solidFill>
                  <a:srgbClr val="000099"/>
                </a:solidFill>
                <a:ea typeface="黑体" panose="02010609060101010101" pitchFamily="49" charset="-122"/>
              </a:rPr>
              <a:t>目的主机</a:t>
            </a:r>
            <a:r>
              <a:rPr lang="zh-CN" altLang="en-US" sz="2600" dirty="0" smtClean="0">
                <a:ea typeface="黑体" panose="02010609060101010101" pitchFamily="49" charset="-122"/>
              </a:rPr>
              <a:t>的硬件地址。 </a:t>
            </a:r>
          </a:p>
          <a:p>
            <a:r>
              <a:rPr lang="zh-CN" altLang="en-US" sz="2600" dirty="0" smtClean="0">
                <a:solidFill>
                  <a:srgbClr val="000099"/>
                </a:solidFill>
                <a:ea typeface="黑体" panose="02010609060101010101" pitchFamily="49" charset="-122"/>
              </a:rPr>
              <a:t>发送方是路由器</a:t>
            </a:r>
            <a:r>
              <a:rPr lang="zh-CN" altLang="en-US" sz="2600" dirty="0" smtClean="0">
                <a:ea typeface="黑体" panose="02010609060101010101" pitchFamily="49" charset="-122"/>
              </a:rPr>
              <a:t>，要把 </a:t>
            </a:r>
            <a:r>
              <a:rPr lang="en-US" altLang="zh-CN" sz="2600" dirty="0" smtClean="0">
                <a:ea typeface="黑体" panose="02010609060101010101" pitchFamily="49" charset="-122"/>
              </a:rPr>
              <a:t>IP </a:t>
            </a:r>
            <a:r>
              <a:rPr lang="zh-CN" altLang="en-US" sz="2600" dirty="0" smtClean="0">
                <a:ea typeface="黑体" panose="02010609060101010101" pitchFamily="49" charset="-122"/>
              </a:rPr>
              <a:t>数据报转发到</a:t>
            </a:r>
            <a:r>
              <a:rPr lang="zh-CN" altLang="en-US" sz="2600" dirty="0" smtClean="0">
                <a:solidFill>
                  <a:srgbClr val="000099"/>
                </a:solidFill>
                <a:ea typeface="黑体" panose="02010609060101010101" pitchFamily="49" charset="-122"/>
              </a:rPr>
              <a:t>另一个网络上的一个主机</a:t>
            </a:r>
            <a:r>
              <a:rPr lang="zh-CN" altLang="en-US" sz="2600" dirty="0" smtClean="0">
                <a:ea typeface="黑体" panose="02010609060101010101" pitchFamily="49" charset="-122"/>
              </a:rPr>
              <a:t>。这时用 </a:t>
            </a:r>
            <a:r>
              <a:rPr lang="en-US" altLang="zh-CN" sz="2600" dirty="0" smtClean="0">
                <a:ea typeface="黑体" panose="02010609060101010101" pitchFamily="49" charset="-122"/>
              </a:rPr>
              <a:t>ARP </a:t>
            </a:r>
            <a:r>
              <a:rPr lang="zh-CN" altLang="en-US" sz="2600" dirty="0" smtClean="0">
                <a:ea typeface="黑体" panose="02010609060101010101" pitchFamily="49" charset="-122"/>
              </a:rPr>
              <a:t>找到本网络上</a:t>
            </a:r>
            <a:r>
              <a:rPr lang="zh-CN" altLang="en-US" sz="2600" dirty="0" smtClean="0">
                <a:solidFill>
                  <a:srgbClr val="000099"/>
                </a:solidFill>
                <a:ea typeface="黑体" panose="02010609060101010101" pitchFamily="49" charset="-122"/>
              </a:rPr>
              <a:t>另一个路由器</a:t>
            </a:r>
            <a:r>
              <a:rPr lang="zh-CN" altLang="en-US" sz="2600" dirty="0" smtClean="0">
                <a:ea typeface="黑体" panose="02010609060101010101" pitchFamily="49" charset="-122"/>
              </a:rPr>
              <a:t>的硬件地址。剩下的工作由这个路由器来完成。 </a:t>
            </a:r>
          </a:p>
        </p:txBody>
      </p:sp>
      <p:sp>
        <p:nvSpPr>
          <p:cNvPr id="809987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62A522F-EA10-46D6-A10C-E3D81F7E0877}" type="slidenum">
              <a:rPr lang="zh-CN" altLang="en-US" smtClean="0"/>
              <a:pPr eaLnBrk="1" hangingPunct="1"/>
              <a:t>24</a:t>
            </a:fld>
            <a:endParaRPr lang="en-US" altLang="zh-CN" smtClean="0"/>
          </a:p>
        </p:txBody>
      </p:sp>
      <p:sp>
        <p:nvSpPr>
          <p:cNvPr id="809988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033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r>
              <a:rPr lang="zh-CN" altLang="en-US" sz="3200" dirty="0" smtClean="0">
                <a:ea typeface="黑体" panose="02010609060101010101" pitchFamily="49" charset="-122"/>
              </a:rPr>
              <a:t>为什么我们不直接使用硬件地址进行通信？ </a:t>
            </a:r>
          </a:p>
        </p:txBody>
      </p:sp>
      <p:sp>
        <p:nvSpPr>
          <p:cNvPr id="376835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en-US" sz="2600" dirty="0" smtClean="0">
                <a:ea typeface="黑体" panose="02010609060101010101" pitchFamily="49" charset="-122"/>
              </a:rPr>
              <a:t>由于全世界存在着各式各样的网络，它们使用不同的硬件地址。要使这些</a:t>
            </a:r>
            <a:r>
              <a:rPr lang="zh-CN" altLang="en-US" sz="2600" dirty="0" smtClean="0">
                <a:solidFill>
                  <a:srgbClr val="000099"/>
                </a:solidFill>
                <a:ea typeface="黑体" panose="02010609060101010101" pitchFamily="49" charset="-122"/>
              </a:rPr>
              <a:t>异构网络</a:t>
            </a:r>
            <a:r>
              <a:rPr lang="zh-CN" altLang="en-US" sz="2600" dirty="0" smtClean="0">
                <a:ea typeface="黑体" panose="02010609060101010101" pitchFamily="49" charset="-122"/>
              </a:rPr>
              <a:t>能够互相通信就必须进行非常</a:t>
            </a:r>
            <a:r>
              <a:rPr lang="zh-CN" altLang="en-US" sz="2600" dirty="0" smtClean="0">
                <a:solidFill>
                  <a:srgbClr val="000099"/>
                </a:solidFill>
                <a:ea typeface="黑体" panose="02010609060101010101" pitchFamily="49" charset="-122"/>
              </a:rPr>
              <a:t>复杂的硬件地址转换</a:t>
            </a:r>
            <a:r>
              <a:rPr lang="zh-CN" altLang="en-US" sz="2600" dirty="0" smtClean="0">
                <a:ea typeface="黑体" panose="02010609060101010101" pitchFamily="49" charset="-122"/>
              </a:rPr>
              <a:t>工作，因此几乎是不可能的事。</a:t>
            </a:r>
          </a:p>
          <a:p>
            <a:r>
              <a:rPr lang="en-US" altLang="zh-CN" sz="2600" dirty="0" smtClean="0">
                <a:solidFill>
                  <a:srgbClr val="FF0000"/>
                </a:solidFill>
                <a:ea typeface="黑体" panose="02010609060101010101" pitchFamily="49" charset="-122"/>
              </a:rPr>
              <a:t>IP </a:t>
            </a:r>
            <a:r>
              <a:rPr lang="zh-CN" altLang="zh-CN" sz="2600" dirty="0" smtClean="0">
                <a:solidFill>
                  <a:srgbClr val="FF0000"/>
                </a:solidFill>
                <a:ea typeface="黑体" panose="02010609060101010101" pitchFamily="49" charset="-122"/>
              </a:rPr>
              <a:t>编址把这个复杂问题解决了</a:t>
            </a:r>
            <a:r>
              <a:rPr lang="zh-CN" altLang="en-US" sz="2600" dirty="0" smtClean="0">
                <a:solidFill>
                  <a:srgbClr val="FF0000"/>
                </a:solidFill>
                <a:ea typeface="黑体" panose="02010609060101010101" pitchFamily="49" charset="-122"/>
              </a:rPr>
              <a:t>。</a:t>
            </a:r>
            <a:r>
              <a:rPr lang="zh-CN" altLang="zh-CN" sz="2600" dirty="0" smtClean="0">
                <a:ea typeface="黑体" panose="02010609060101010101" pitchFamily="49" charset="-122"/>
              </a:rPr>
              <a:t>连接到互联网的主机只需各自拥有一个唯一的</a:t>
            </a:r>
            <a:r>
              <a:rPr lang="en-US" altLang="zh-CN" sz="2600" dirty="0" smtClean="0">
                <a:ea typeface="黑体" panose="02010609060101010101" pitchFamily="49" charset="-122"/>
              </a:rPr>
              <a:t> IP </a:t>
            </a:r>
            <a:r>
              <a:rPr lang="zh-CN" altLang="zh-CN" sz="2600" dirty="0" smtClean="0">
                <a:ea typeface="黑体" panose="02010609060101010101" pitchFamily="49" charset="-122"/>
              </a:rPr>
              <a:t>地址，它们之间的通信就像连接在同一个网络上那样简单方便，因为上述的调用</a:t>
            </a:r>
            <a:r>
              <a:rPr lang="en-US" altLang="zh-CN" sz="2600" dirty="0" smtClean="0">
                <a:ea typeface="黑体" panose="02010609060101010101" pitchFamily="49" charset="-122"/>
              </a:rPr>
              <a:t> ARP </a:t>
            </a:r>
            <a:r>
              <a:rPr lang="zh-CN" altLang="zh-CN" sz="2600" dirty="0" smtClean="0">
                <a:ea typeface="黑体" panose="02010609060101010101" pitchFamily="49" charset="-122"/>
              </a:rPr>
              <a:t>的复杂过程都是由计算机软件自动进行的，对用户来说是看不见这种调用过程的</a:t>
            </a:r>
            <a:r>
              <a:rPr lang="zh-CN" altLang="en-US" sz="2600" dirty="0" smtClean="0">
                <a:ea typeface="黑体" panose="02010609060101010101" pitchFamily="49" charset="-122"/>
              </a:rPr>
              <a:t>。</a:t>
            </a:r>
            <a:endParaRPr lang="en-US" altLang="zh-CN" sz="2600" dirty="0" smtClean="0">
              <a:ea typeface="黑体" panose="02010609060101010101" pitchFamily="49" charset="-122"/>
            </a:endParaRPr>
          </a:p>
          <a:p>
            <a:r>
              <a:rPr lang="zh-CN" altLang="zh-CN" sz="2600" dirty="0" smtClean="0">
                <a:solidFill>
                  <a:srgbClr val="FF0000"/>
                </a:solidFill>
                <a:ea typeface="黑体" panose="02010609060101010101" pitchFamily="49" charset="-122"/>
              </a:rPr>
              <a:t>因此，在虚拟的</a:t>
            </a:r>
            <a:r>
              <a:rPr lang="en-US" altLang="zh-CN" sz="2600" dirty="0" smtClean="0">
                <a:solidFill>
                  <a:srgbClr val="FF0000"/>
                </a:solidFill>
                <a:ea typeface="黑体" panose="02010609060101010101" pitchFamily="49" charset="-122"/>
              </a:rPr>
              <a:t> IP </a:t>
            </a:r>
            <a:r>
              <a:rPr lang="zh-CN" altLang="zh-CN" sz="2600" dirty="0" smtClean="0">
                <a:solidFill>
                  <a:srgbClr val="FF0000"/>
                </a:solidFill>
                <a:ea typeface="黑体" panose="02010609060101010101" pitchFamily="49" charset="-122"/>
              </a:rPr>
              <a:t>网络上用</a:t>
            </a:r>
            <a:r>
              <a:rPr lang="en-US" altLang="zh-CN" sz="2600" dirty="0" smtClean="0">
                <a:solidFill>
                  <a:srgbClr val="FF0000"/>
                </a:solidFill>
                <a:ea typeface="黑体" panose="02010609060101010101" pitchFamily="49" charset="-122"/>
              </a:rPr>
              <a:t> IP </a:t>
            </a:r>
            <a:r>
              <a:rPr lang="zh-CN" altLang="zh-CN" sz="2600" dirty="0" smtClean="0">
                <a:solidFill>
                  <a:srgbClr val="FF0000"/>
                </a:solidFill>
                <a:ea typeface="黑体" panose="02010609060101010101" pitchFamily="49" charset="-122"/>
              </a:rPr>
              <a:t>地址进行通信给广大的计算机用户带来</a:t>
            </a:r>
            <a:r>
              <a:rPr lang="zh-CN" altLang="en-US" sz="2600" dirty="0" smtClean="0">
                <a:solidFill>
                  <a:srgbClr val="FF0000"/>
                </a:solidFill>
                <a:ea typeface="黑体" panose="02010609060101010101" pitchFamily="49" charset="-122"/>
              </a:rPr>
              <a:t>了</a:t>
            </a:r>
            <a:r>
              <a:rPr lang="zh-CN" altLang="zh-CN" sz="2600" dirty="0" smtClean="0">
                <a:solidFill>
                  <a:srgbClr val="FF0000"/>
                </a:solidFill>
                <a:ea typeface="黑体" panose="02010609060101010101" pitchFamily="49" charset="-122"/>
              </a:rPr>
              <a:t>很大的方便</a:t>
            </a:r>
            <a:r>
              <a:rPr lang="zh-CN" altLang="en-US" sz="2600" dirty="0" smtClean="0">
                <a:solidFill>
                  <a:srgbClr val="FF0000"/>
                </a:solidFill>
                <a:ea typeface="黑体" panose="02010609060101010101" pitchFamily="49" charset="-122"/>
              </a:rPr>
              <a:t>。</a:t>
            </a:r>
          </a:p>
        </p:txBody>
      </p:sp>
      <p:sp>
        <p:nvSpPr>
          <p:cNvPr id="812035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60288CB-6F0C-458A-B77F-31BA24CDE00A}" type="slidenum">
              <a:rPr lang="zh-CN" altLang="en-US" smtClean="0"/>
              <a:pPr eaLnBrk="1" hangingPunct="1"/>
              <a:t>25</a:t>
            </a:fld>
            <a:endParaRPr lang="en-US" altLang="zh-CN" smtClean="0"/>
          </a:p>
        </p:txBody>
      </p:sp>
      <p:sp>
        <p:nvSpPr>
          <p:cNvPr id="812036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6835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081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r>
              <a:rPr lang="en-US" altLang="zh-CN" smtClean="0">
                <a:ea typeface="黑体" panose="02010609060101010101" pitchFamily="49" charset="-122"/>
              </a:rPr>
              <a:t>4.2.5  IP </a:t>
            </a:r>
            <a:r>
              <a:rPr lang="zh-CN" altLang="en-US" smtClean="0">
                <a:ea typeface="黑体" panose="02010609060101010101" pitchFamily="49" charset="-122"/>
              </a:rPr>
              <a:t>数据报的格式 </a:t>
            </a:r>
          </a:p>
        </p:txBody>
      </p:sp>
      <p:sp>
        <p:nvSpPr>
          <p:cNvPr id="814082" name="Rectangle 4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en-US" dirty="0" smtClean="0">
                <a:ea typeface="黑体" panose="02010609060101010101" pitchFamily="49" charset="-122"/>
              </a:rPr>
              <a:t>一个 </a:t>
            </a:r>
            <a:r>
              <a:rPr lang="en-US" altLang="zh-CN" dirty="0" smtClean="0">
                <a:ea typeface="黑体" panose="02010609060101010101" pitchFamily="49" charset="-122"/>
              </a:rPr>
              <a:t>IP </a:t>
            </a:r>
            <a:r>
              <a:rPr lang="zh-CN" altLang="en-US" dirty="0" smtClean="0">
                <a:ea typeface="黑体" panose="02010609060101010101" pitchFamily="49" charset="-122"/>
              </a:rPr>
              <a:t>数据报由</a:t>
            </a:r>
            <a:r>
              <a:rPr lang="zh-CN" altLang="en-US" dirty="0" smtClean="0">
                <a:solidFill>
                  <a:srgbClr val="FF0000"/>
                </a:solidFill>
                <a:ea typeface="黑体" panose="02010609060101010101" pitchFamily="49" charset="-122"/>
              </a:rPr>
              <a:t>首部</a:t>
            </a:r>
            <a:r>
              <a:rPr lang="zh-CN" altLang="en-US" dirty="0" smtClean="0">
                <a:ea typeface="黑体" panose="02010609060101010101" pitchFamily="49" charset="-122"/>
              </a:rPr>
              <a:t>和</a:t>
            </a:r>
            <a:r>
              <a:rPr lang="zh-CN" altLang="en-US" dirty="0" smtClean="0">
                <a:solidFill>
                  <a:srgbClr val="FF0000"/>
                </a:solidFill>
                <a:ea typeface="黑体" panose="02010609060101010101" pitchFamily="49" charset="-122"/>
              </a:rPr>
              <a:t>数据</a:t>
            </a:r>
            <a:r>
              <a:rPr lang="zh-CN" altLang="en-US" dirty="0" smtClean="0">
                <a:ea typeface="黑体" panose="02010609060101010101" pitchFamily="49" charset="-122"/>
              </a:rPr>
              <a:t>两部分组成。</a:t>
            </a:r>
          </a:p>
          <a:p>
            <a:r>
              <a:rPr lang="zh-CN" altLang="en-US" dirty="0" smtClean="0">
                <a:solidFill>
                  <a:srgbClr val="0000FF"/>
                </a:solidFill>
                <a:ea typeface="黑体" panose="02010609060101010101" pitchFamily="49" charset="-122"/>
              </a:rPr>
              <a:t>首部的前一部分是固定长度，共 </a:t>
            </a:r>
            <a:r>
              <a:rPr lang="en-US" altLang="zh-CN" dirty="0" smtClean="0">
                <a:solidFill>
                  <a:srgbClr val="0000FF"/>
                </a:solidFill>
                <a:ea typeface="黑体" panose="02010609060101010101" pitchFamily="49" charset="-122"/>
              </a:rPr>
              <a:t>20 </a:t>
            </a:r>
            <a:r>
              <a:rPr lang="zh-CN" altLang="en-US" dirty="0" smtClean="0">
                <a:solidFill>
                  <a:srgbClr val="0000FF"/>
                </a:solidFill>
                <a:ea typeface="黑体" panose="02010609060101010101" pitchFamily="49" charset="-122"/>
              </a:rPr>
              <a:t>字节，是所有 </a:t>
            </a:r>
            <a:r>
              <a:rPr lang="en-US" altLang="zh-CN" dirty="0" smtClean="0">
                <a:solidFill>
                  <a:srgbClr val="0000FF"/>
                </a:solidFill>
                <a:ea typeface="黑体" panose="02010609060101010101" pitchFamily="49" charset="-122"/>
              </a:rPr>
              <a:t>IP </a:t>
            </a:r>
            <a:r>
              <a:rPr lang="zh-CN" altLang="en-US" dirty="0" smtClean="0">
                <a:solidFill>
                  <a:srgbClr val="0000FF"/>
                </a:solidFill>
                <a:ea typeface="黑体" panose="02010609060101010101" pitchFamily="49" charset="-122"/>
              </a:rPr>
              <a:t>数据报必须具有的。</a:t>
            </a:r>
          </a:p>
          <a:p>
            <a:r>
              <a:rPr lang="zh-CN" altLang="en-US" dirty="0" smtClean="0">
                <a:ea typeface="黑体" panose="02010609060101010101" pitchFamily="49" charset="-122"/>
              </a:rPr>
              <a:t>在首部的固定部分的后面是一些</a:t>
            </a:r>
            <a:r>
              <a:rPr lang="zh-CN" altLang="en-US" dirty="0" smtClean="0">
                <a:solidFill>
                  <a:srgbClr val="0000FF"/>
                </a:solidFill>
                <a:ea typeface="黑体" panose="02010609060101010101" pitchFamily="49" charset="-122"/>
              </a:rPr>
              <a:t>可选字段</a:t>
            </a:r>
            <a:r>
              <a:rPr lang="zh-CN" altLang="en-US" dirty="0" smtClean="0">
                <a:ea typeface="黑体" panose="02010609060101010101" pitchFamily="49" charset="-122"/>
              </a:rPr>
              <a:t>，其</a:t>
            </a:r>
            <a:r>
              <a:rPr lang="zh-CN" altLang="en-US" dirty="0" smtClean="0">
                <a:solidFill>
                  <a:srgbClr val="0000FF"/>
                </a:solidFill>
                <a:ea typeface="黑体" panose="02010609060101010101" pitchFamily="49" charset="-122"/>
              </a:rPr>
              <a:t>长度是可变</a:t>
            </a:r>
            <a:r>
              <a:rPr lang="zh-CN" altLang="en-US" dirty="0" smtClean="0">
                <a:ea typeface="黑体" panose="02010609060101010101" pitchFamily="49" charset="-122"/>
              </a:rPr>
              <a:t>的。 </a:t>
            </a:r>
          </a:p>
        </p:txBody>
      </p:sp>
      <p:sp>
        <p:nvSpPr>
          <p:cNvPr id="814083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AA3E18F-791C-4244-B6FB-94C5ACADC9CE}" type="slidenum">
              <a:rPr lang="zh-CN" altLang="en-US" smtClean="0"/>
              <a:pPr eaLnBrk="1" hangingPunct="1"/>
              <a:t>26</a:t>
            </a:fld>
            <a:endParaRPr lang="en-US" altLang="zh-CN" smtClean="0"/>
          </a:p>
        </p:txBody>
      </p:sp>
      <p:sp>
        <p:nvSpPr>
          <p:cNvPr id="814084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129" name="Rectangle 45"/>
          <p:cNvSpPr>
            <a:spLocks noChangeArrowheads="1"/>
          </p:cNvSpPr>
          <p:nvPr/>
        </p:nvSpPr>
        <p:spPr bwMode="auto">
          <a:xfrm>
            <a:off x="631825" y="1998663"/>
            <a:ext cx="439738" cy="1196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固</a:t>
            </a:r>
          </a:p>
          <a:p>
            <a:pPr>
              <a:lnSpc>
                <a:spcPct val="90000"/>
              </a:lnSpc>
            </a:pPr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定</a:t>
            </a:r>
          </a:p>
          <a:p>
            <a:pPr>
              <a:lnSpc>
                <a:spcPct val="90000"/>
              </a:lnSpc>
            </a:pPr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部</a:t>
            </a:r>
          </a:p>
          <a:p>
            <a:pPr>
              <a:lnSpc>
                <a:spcPct val="90000"/>
              </a:lnSpc>
            </a:pPr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分</a:t>
            </a:r>
          </a:p>
        </p:txBody>
      </p:sp>
      <p:sp>
        <p:nvSpPr>
          <p:cNvPr id="816130" name="Rectangle 54"/>
          <p:cNvSpPr>
            <a:spLocks noChangeArrowheads="1"/>
          </p:cNvSpPr>
          <p:nvPr/>
        </p:nvSpPr>
        <p:spPr bwMode="auto">
          <a:xfrm>
            <a:off x="508000" y="3654425"/>
            <a:ext cx="695325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可变</a:t>
            </a:r>
          </a:p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部分</a:t>
            </a:r>
          </a:p>
        </p:txBody>
      </p:sp>
      <p:sp>
        <p:nvSpPr>
          <p:cNvPr id="816131" name="Line 6"/>
          <p:cNvSpPr>
            <a:spLocks noChangeShapeType="1"/>
          </p:cNvSpPr>
          <p:nvPr/>
        </p:nvSpPr>
        <p:spPr bwMode="auto">
          <a:xfrm>
            <a:off x="2490788" y="5911850"/>
            <a:ext cx="58705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16132" name="Rectangle 8"/>
          <p:cNvSpPr>
            <a:spLocks noChangeArrowheads="1"/>
          </p:cNvSpPr>
          <p:nvPr/>
        </p:nvSpPr>
        <p:spPr bwMode="auto">
          <a:xfrm>
            <a:off x="3351213" y="1597025"/>
            <a:ext cx="2132012" cy="434975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16133" name="Rectangle 90"/>
          <p:cNvSpPr>
            <a:spLocks noChangeArrowheads="1"/>
          </p:cNvSpPr>
          <p:nvPr/>
        </p:nvSpPr>
        <p:spPr bwMode="auto">
          <a:xfrm>
            <a:off x="2457450" y="5221288"/>
            <a:ext cx="1560513" cy="449262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16134" name="Rectangle 10"/>
          <p:cNvSpPr>
            <a:spLocks noChangeArrowheads="1"/>
          </p:cNvSpPr>
          <p:nvPr/>
        </p:nvSpPr>
        <p:spPr bwMode="auto">
          <a:xfrm>
            <a:off x="1231900" y="1587500"/>
            <a:ext cx="8520113" cy="2643188"/>
          </a:xfrm>
          <a:prstGeom prst="rect">
            <a:avLst/>
          </a:prstGeom>
          <a:solidFill>
            <a:srgbClr val="CCE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16135" name="Rectangle 11"/>
          <p:cNvSpPr>
            <a:spLocks noChangeArrowheads="1"/>
          </p:cNvSpPr>
          <p:nvPr/>
        </p:nvSpPr>
        <p:spPr bwMode="auto">
          <a:xfrm>
            <a:off x="1246188" y="4241800"/>
            <a:ext cx="8486775" cy="681038"/>
          </a:xfrm>
          <a:prstGeom prst="rect">
            <a:avLst/>
          </a:prstGeom>
          <a:solidFill>
            <a:srgbClr val="FFFF99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16136" name="Line 12"/>
          <p:cNvSpPr>
            <a:spLocks noChangeShapeType="1"/>
          </p:cNvSpPr>
          <p:nvPr/>
        </p:nvSpPr>
        <p:spPr bwMode="auto">
          <a:xfrm>
            <a:off x="1225550" y="2038350"/>
            <a:ext cx="8535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16137" name="Line 13"/>
          <p:cNvSpPr>
            <a:spLocks noChangeShapeType="1"/>
          </p:cNvSpPr>
          <p:nvPr/>
        </p:nvSpPr>
        <p:spPr bwMode="auto">
          <a:xfrm>
            <a:off x="1225550" y="2481263"/>
            <a:ext cx="8535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16138" name="Line 14"/>
          <p:cNvSpPr>
            <a:spLocks noChangeShapeType="1"/>
          </p:cNvSpPr>
          <p:nvPr/>
        </p:nvSpPr>
        <p:spPr bwMode="auto">
          <a:xfrm>
            <a:off x="1225550" y="2925763"/>
            <a:ext cx="8535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16139" name="Line 15"/>
          <p:cNvSpPr>
            <a:spLocks noChangeShapeType="1"/>
          </p:cNvSpPr>
          <p:nvPr/>
        </p:nvSpPr>
        <p:spPr bwMode="auto">
          <a:xfrm>
            <a:off x="1225550" y="3363913"/>
            <a:ext cx="8535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16140" name="Line 16"/>
          <p:cNvSpPr>
            <a:spLocks noChangeShapeType="1"/>
          </p:cNvSpPr>
          <p:nvPr/>
        </p:nvSpPr>
        <p:spPr bwMode="auto">
          <a:xfrm>
            <a:off x="1225550" y="3808413"/>
            <a:ext cx="8535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16141" name="Line 17"/>
          <p:cNvSpPr>
            <a:spLocks noChangeShapeType="1"/>
          </p:cNvSpPr>
          <p:nvPr/>
        </p:nvSpPr>
        <p:spPr bwMode="auto">
          <a:xfrm>
            <a:off x="2274888" y="1595438"/>
            <a:ext cx="0" cy="4429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16142" name="Line 18"/>
          <p:cNvSpPr>
            <a:spLocks noChangeShapeType="1"/>
          </p:cNvSpPr>
          <p:nvPr/>
        </p:nvSpPr>
        <p:spPr bwMode="auto">
          <a:xfrm>
            <a:off x="3341688" y="1595438"/>
            <a:ext cx="0" cy="4429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16143" name="Line 19"/>
          <p:cNvSpPr>
            <a:spLocks noChangeShapeType="1"/>
          </p:cNvSpPr>
          <p:nvPr/>
        </p:nvSpPr>
        <p:spPr bwMode="auto">
          <a:xfrm>
            <a:off x="3341688" y="2490788"/>
            <a:ext cx="0" cy="431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16144" name="Line 20"/>
          <p:cNvSpPr>
            <a:spLocks noChangeShapeType="1"/>
          </p:cNvSpPr>
          <p:nvPr/>
        </p:nvSpPr>
        <p:spPr bwMode="auto">
          <a:xfrm>
            <a:off x="5478463" y="1595438"/>
            <a:ext cx="0" cy="13271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16145" name="Line 21"/>
          <p:cNvSpPr>
            <a:spLocks noChangeShapeType="1"/>
          </p:cNvSpPr>
          <p:nvPr/>
        </p:nvSpPr>
        <p:spPr bwMode="auto">
          <a:xfrm flipV="1">
            <a:off x="7615238" y="3803650"/>
            <a:ext cx="0" cy="4413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16146" name="Line 22"/>
          <p:cNvSpPr>
            <a:spLocks noChangeShapeType="1"/>
          </p:cNvSpPr>
          <p:nvPr/>
        </p:nvSpPr>
        <p:spPr bwMode="auto">
          <a:xfrm>
            <a:off x="6348413" y="2047875"/>
            <a:ext cx="0" cy="4333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16147" name="Rectangle 23"/>
          <p:cNvSpPr>
            <a:spLocks noChangeArrowheads="1"/>
          </p:cNvSpPr>
          <p:nvPr/>
        </p:nvSpPr>
        <p:spPr bwMode="auto">
          <a:xfrm>
            <a:off x="1169988" y="1208088"/>
            <a:ext cx="3254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0</a:t>
            </a:r>
          </a:p>
        </p:txBody>
      </p:sp>
      <p:sp>
        <p:nvSpPr>
          <p:cNvPr id="816148" name="Rectangle 24"/>
          <p:cNvSpPr>
            <a:spLocks noChangeArrowheads="1"/>
          </p:cNvSpPr>
          <p:nvPr/>
        </p:nvSpPr>
        <p:spPr bwMode="auto">
          <a:xfrm>
            <a:off x="2182813" y="1208088"/>
            <a:ext cx="3254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4</a:t>
            </a:r>
          </a:p>
        </p:txBody>
      </p:sp>
      <p:sp>
        <p:nvSpPr>
          <p:cNvPr id="816149" name="Rectangle 25"/>
          <p:cNvSpPr>
            <a:spLocks noChangeArrowheads="1"/>
          </p:cNvSpPr>
          <p:nvPr/>
        </p:nvSpPr>
        <p:spPr bwMode="auto">
          <a:xfrm>
            <a:off x="3260725" y="1208088"/>
            <a:ext cx="3254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8</a:t>
            </a:r>
          </a:p>
        </p:txBody>
      </p:sp>
      <p:sp>
        <p:nvSpPr>
          <p:cNvPr id="816150" name="Rectangle 26"/>
          <p:cNvSpPr>
            <a:spLocks noChangeArrowheads="1"/>
          </p:cNvSpPr>
          <p:nvPr/>
        </p:nvSpPr>
        <p:spPr bwMode="auto">
          <a:xfrm>
            <a:off x="5373688" y="1208088"/>
            <a:ext cx="4683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16</a:t>
            </a:r>
          </a:p>
        </p:txBody>
      </p:sp>
      <p:sp>
        <p:nvSpPr>
          <p:cNvPr id="816151" name="Rectangle 27"/>
          <p:cNvSpPr>
            <a:spLocks noChangeArrowheads="1"/>
          </p:cNvSpPr>
          <p:nvPr/>
        </p:nvSpPr>
        <p:spPr bwMode="auto">
          <a:xfrm>
            <a:off x="6237288" y="1208088"/>
            <a:ext cx="4683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19</a:t>
            </a:r>
          </a:p>
        </p:txBody>
      </p:sp>
      <p:sp>
        <p:nvSpPr>
          <p:cNvPr id="816152" name="Rectangle 28"/>
          <p:cNvSpPr>
            <a:spLocks noChangeArrowheads="1"/>
          </p:cNvSpPr>
          <p:nvPr/>
        </p:nvSpPr>
        <p:spPr bwMode="auto">
          <a:xfrm>
            <a:off x="7510463" y="1208088"/>
            <a:ext cx="4683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24</a:t>
            </a:r>
          </a:p>
        </p:txBody>
      </p:sp>
      <p:sp>
        <p:nvSpPr>
          <p:cNvPr id="816153" name="Rectangle 29"/>
          <p:cNvSpPr>
            <a:spLocks noChangeArrowheads="1"/>
          </p:cNvSpPr>
          <p:nvPr/>
        </p:nvSpPr>
        <p:spPr bwMode="auto">
          <a:xfrm>
            <a:off x="9366250" y="1208088"/>
            <a:ext cx="4683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31</a:t>
            </a:r>
          </a:p>
        </p:txBody>
      </p:sp>
      <p:sp>
        <p:nvSpPr>
          <p:cNvPr id="816154" name="Rectangle 30"/>
          <p:cNvSpPr>
            <a:spLocks noChangeArrowheads="1"/>
          </p:cNvSpPr>
          <p:nvPr/>
        </p:nvSpPr>
        <p:spPr bwMode="auto">
          <a:xfrm>
            <a:off x="1331913" y="1622425"/>
            <a:ext cx="7683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版 本</a:t>
            </a:r>
          </a:p>
        </p:txBody>
      </p:sp>
      <p:sp>
        <p:nvSpPr>
          <p:cNvPr id="816155" name="Rectangle 31"/>
          <p:cNvSpPr>
            <a:spLocks noChangeArrowheads="1"/>
          </p:cNvSpPr>
          <p:nvPr/>
        </p:nvSpPr>
        <p:spPr bwMode="auto">
          <a:xfrm>
            <a:off x="5543550" y="2098675"/>
            <a:ext cx="6953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标志</a:t>
            </a:r>
          </a:p>
        </p:txBody>
      </p:sp>
      <p:sp>
        <p:nvSpPr>
          <p:cNvPr id="816156" name="Rectangle 32"/>
          <p:cNvSpPr>
            <a:spLocks noChangeArrowheads="1"/>
          </p:cNvSpPr>
          <p:nvPr/>
        </p:nvSpPr>
        <p:spPr bwMode="auto">
          <a:xfrm>
            <a:off x="1544638" y="2503488"/>
            <a:ext cx="14271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生 存 时 间</a:t>
            </a:r>
          </a:p>
        </p:txBody>
      </p:sp>
      <p:sp>
        <p:nvSpPr>
          <p:cNvPr id="816157" name="Rectangle 33"/>
          <p:cNvSpPr>
            <a:spLocks noChangeArrowheads="1"/>
          </p:cNvSpPr>
          <p:nvPr/>
        </p:nvSpPr>
        <p:spPr bwMode="auto">
          <a:xfrm>
            <a:off x="3852863" y="2503488"/>
            <a:ext cx="9810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协    议</a:t>
            </a:r>
          </a:p>
        </p:txBody>
      </p:sp>
      <p:sp>
        <p:nvSpPr>
          <p:cNvPr id="816158" name="Rectangle 34"/>
          <p:cNvSpPr>
            <a:spLocks noChangeArrowheads="1"/>
          </p:cNvSpPr>
          <p:nvPr/>
        </p:nvSpPr>
        <p:spPr bwMode="auto">
          <a:xfrm>
            <a:off x="2784475" y="2098675"/>
            <a:ext cx="9810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标    识</a:t>
            </a:r>
          </a:p>
        </p:txBody>
      </p:sp>
      <p:sp>
        <p:nvSpPr>
          <p:cNvPr id="816159" name="Rectangle 35"/>
          <p:cNvSpPr>
            <a:spLocks noChangeArrowheads="1"/>
          </p:cNvSpPr>
          <p:nvPr/>
        </p:nvSpPr>
        <p:spPr bwMode="auto">
          <a:xfrm>
            <a:off x="3663950" y="1622425"/>
            <a:ext cx="1425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区 分 服 务</a:t>
            </a:r>
          </a:p>
        </p:txBody>
      </p:sp>
      <p:sp>
        <p:nvSpPr>
          <p:cNvPr id="816160" name="Rectangle 36"/>
          <p:cNvSpPr>
            <a:spLocks noChangeArrowheads="1"/>
          </p:cNvSpPr>
          <p:nvPr/>
        </p:nvSpPr>
        <p:spPr bwMode="auto">
          <a:xfrm>
            <a:off x="7050088" y="1622425"/>
            <a:ext cx="13795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总   长   度</a:t>
            </a:r>
          </a:p>
        </p:txBody>
      </p:sp>
      <p:sp>
        <p:nvSpPr>
          <p:cNvPr id="816161" name="Rectangle 37"/>
          <p:cNvSpPr>
            <a:spLocks noChangeArrowheads="1"/>
          </p:cNvSpPr>
          <p:nvPr/>
        </p:nvSpPr>
        <p:spPr bwMode="auto">
          <a:xfrm>
            <a:off x="7343775" y="2098675"/>
            <a:ext cx="13795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片   偏   移</a:t>
            </a:r>
          </a:p>
        </p:txBody>
      </p:sp>
      <p:sp>
        <p:nvSpPr>
          <p:cNvPr id="816162" name="Rectangle 38"/>
          <p:cNvSpPr>
            <a:spLocks noChangeArrowheads="1"/>
          </p:cNvSpPr>
          <p:nvPr/>
        </p:nvSpPr>
        <p:spPr bwMode="auto">
          <a:xfrm>
            <a:off x="8128000" y="3832225"/>
            <a:ext cx="9810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C00000"/>
                </a:solidFill>
                <a:ea typeface="黑体" panose="02010609060101010101" pitchFamily="49" charset="-122"/>
              </a:rPr>
              <a:t>填    充</a:t>
            </a:r>
          </a:p>
        </p:txBody>
      </p:sp>
      <p:sp>
        <p:nvSpPr>
          <p:cNvPr id="816163" name="Rectangle 39"/>
          <p:cNvSpPr>
            <a:spLocks noChangeArrowheads="1"/>
          </p:cNvSpPr>
          <p:nvPr/>
        </p:nvSpPr>
        <p:spPr bwMode="auto">
          <a:xfrm>
            <a:off x="6419850" y="2503488"/>
            <a:ext cx="23193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首   部   检   验   和</a:t>
            </a:r>
          </a:p>
        </p:txBody>
      </p:sp>
      <p:sp>
        <p:nvSpPr>
          <p:cNvPr id="816164" name="Rectangle 40"/>
          <p:cNvSpPr>
            <a:spLocks noChangeArrowheads="1"/>
          </p:cNvSpPr>
          <p:nvPr/>
        </p:nvSpPr>
        <p:spPr bwMode="auto">
          <a:xfrm>
            <a:off x="4784725" y="2962275"/>
            <a:ext cx="13795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源   地   址</a:t>
            </a:r>
          </a:p>
        </p:txBody>
      </p:sp>
      <p:sp>
        <p:nvSpPr>
          <p:cNvPr id="816165" name="Rectangle 41"/>
          <p:cNvSpPr>
            <a:spLocks noChangeArrowheads="1"/>
          </p:cNvSpPr>
          <p:nvPr/>
        </p:nvSpPr>
        <p:spPr bwMode="auto">
          <a:xfrm>
            <a:off x="4506913" y="3403600"/>
            <a:ext cx="18510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目   的   地   址</a:t>
            </a:r>
          </a:p>
        </p:txBody>
      </p:sp>
      <p:sp>
        <p:nvSpPr>
          <p:cNvPr id="816166" name="Rectangle 42"/>
          <p:cNvSpPr>
            <a:spLocks noChangeArrowheads="1"/>
          </p:cNvSpPr>
          <p:nvPr/>
        </p:nvSpPr>
        <p:spPr bwMode="auto">
          <a:xfrm>
            <a:off x="2414588" y="3832225"/>
            <a:ext cx="41735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C00000"/>
                </a:solidFill>
                <a:ea typeface="黑体" panose="02010609060101010101" pitchFamily="49" charset="-122"/>
              </a:rPr>
              <a:t>可   选   字   段  （长   度   可   变）</a:t>
            </a:r>
          </a:p>
        </p:txBody>
      </p:sp>
      <p:sp>
        <p:nvSpPr>
          <p:cNvPr id="816167" name="Rectangle 43"/>
          <p:cNvSpPr>
            <a:spLocks noChangeArrowheads="1"/>
          </p:cNvSpPr>
          <p:nvPr/>
        </p:nvSpPr>
        <p:spPr bwMode="auto">
          <a:xfrm>
            <a:off x="658813" y="1193800"/>
            <a:ext cx="4397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位</a:t>
            </a:r>
          </a:p>
        </p:txBody>
      </p:sp>
      <p:sp>
        <p:nvSpPr>
          <p:cNvPr id="816168" name="Rectangle 44"/>
          <p:cNvSpPr>
            <a:spLocks noChangeArrowheads="1"/>
          </p:cNvSpPr>
          <p:nvPr/>
        </p:nvSpPr>
        <p:spPr bwMode="auto">
          <a:xfrm>
            <a:off x="2170113" y="1603375"/>
            <a:ext cx="12096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首部长度</a:t>
            </a:r>
          </a:p>
        </p:txBody>
      </p:sp>
      <p:grpSp>
        <p:nvGrpSpPr>
          <p:cNvPr id="816169" name="Group 46"/>
          <p:cNvGrpSpPr>
            <a:grpSpLocks/>
          </p:cNvGrpSpPr>
          <p:nvPr/>
        </p:nvGrpSpPr>
        <p:grpSpPr bwMode="auto">
          <a:xfrm>
            <a:off x="1158875" y="3973513"/>
            <a:ext cx="142875" cy="69850"/>
            <a:chOff x="833" y="3024"/>
            <a:chExt cx="78" cy="51"/>
          </a:xfrm>
        </p:grpSpPr>
        <p:sp>
          <p:nvSpPr>
            <p:cNvPr id="816170" name="Rectangle 47"/>
            <p:cNvSpPr>
              <a:spLocks noChangeArrowheads="1"/>
            </p:cNvSpPr>
            <p:nvPr/>
          </p:nvSpPr>
          <p:spPr bwMode="auto">
            <a:xfrm>
              <a:off x="833" y="3024"/>
              <a:ext cx="78" cy="5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16171" name="Line 48"/>
            <p:cNvSpPr>
              <a:spLocks noChangeShapeType="1"/>
            </p:cNvSpPr>
            <p:nvPr/>
          </p:nvSpPr>
          <p:spPr bwMode="auto">
            <a:xfrm>
              <a:off x="839" y="3030"/>
              <a:ext cx="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16172" name="Line 49"/>
            <p:cNvSpPr>
              <a:spLocks noChangeShapeType="1"/>
            </p:cNvSpPr>
            <p:nvPr/>
          </p:nvSpPr>
          <p:spPr bwMode="auto">
            <a:xfrm>
              <a:off x="839" y="3075"/>
              <a:ext cx="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</p:grpSp>
      <p:grpSp>
        <p:nvGrpSpPr>
          <p:cNvPr id="816173" name="Group 50"/>
          <p:cNvGrpSpPr>
            <a:grpSpLocks/>
          </p:cNvGrpSpPr>
          <p:nvPr/>
        </p:nvGrpSpPr>
        <p:grpSpPr bwMode="auto">
          <a:xfrm>
            <a:off x="9682163" y="3983038"/>
            <a:ext cx="142875" cy="66675"/>
            <a:chOff x="5432" y="3030"/>
            <a:chExt cx="78" cy="51"/>
          </a:xfrm>
        </p:grpSpPr>
        <p:sp>
          <p:nvSpPr>
            <p:cNvPr id="816174" name="Rectangle 51"/>
            <p:cNvSpPr>
              <a:spLocks noChangeArrowheads="1"/>
            </p:cNvSpPr>
            <p:nvPr/>
          </p:nvSpPr>
          <p:spPr bwMode="auto">
            <a:xfrm>
              <a:off x="5432" y="3030"/>
              <a:ext cx="78" cy="5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16175" name="Line 52"/>
            <p:cNvSpPr>
              <a:spLocks noChangeShapeType="1"/>
            </p:cNvSpPr>
            <p:nvPr/>
          </p:nvSpPr>
          <p:spPr bwMode="auto">
            <a:xfrm>
              <a:off x="5438" y="3036"/>
              <a:ext cx="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16176" name="Line 53"/>
            <p:cNvSpPr>
              <a:spLocks noChangeShapeType="1"/>
            </p:cNvSpPr>
            <p:nvPr/>
          </p:nvSpPr>
          <p:spPr bwMode="auto">
            <a:xfrm>
              <a:off x="5438" y="3081"/>
              <a:ext cx="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</p:grpSp>
      <p:sp>
        <p:nvSpPr>
          <p:cNvPr id="816177" name="Rectangle 75"/>
          <p:cNvSpPr>
            <a:spLocks noChangeArrowheads="1"/>
          </p:cNvSpPr>
          <p:nvPr/>
        </p:nvSpPr>
        <p:spPr bwMode="auto">
          <a:xfrm>
            <a:off x="4129088" y="4375150"/>
            <a:ext cx="31511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数       据       部       分</a:t>
            </a:r>
          </a:p>
        </p:txBody>
      </p:sp>
      <p:sp>
        <p:nvSpPr>
          <p:cNvPr id="816178" name="Rectangle 80"/>
          <p:cNvSpPr>
            <a:spLocks noChangeArrowheads="1"/>
          </p:cNvSpPr>
          <p:nvPr/>
        </p:nvSpPr>
        <p:spPr bwMode="auto">
          <a:xfrm>
            <a:off x="4017963" y="5221288"/>
            <a:ext cx="4314825" cy="449262"/>
          </a:xfrm>
          <a:prstGeom prst="rect">
            <a:avLst/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16179" name="Rectangle 82"/>
          <p:cNvSpPr>
            <a:spLocks noChangeArrowheads="1"/>
          </p:cNvSpPr>
          <p:nvPr/>
        </p:nvSpPr>
        <p:spPr bwMode="auto">
          <a:xfrm>
            <a:off x="4635500" y="5238750"/>
            <a:ext cx="3352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数       据       部       分</a:t>
            </a:r>
          </a:p>
        </p:txBody>
      </p:sp>
      <p:sp>
        <p:nvSpPr>
          <p:cNvPr id="816180" name="Rectangle 83"/>
          <p:cNvSpPr>
            <a:spLocks noChangeArrowheads="1"/>
          </p:cNvSpPr>
          <p:nvPr/>
        </p:nvSpPr>
        <p:spPr bwMode="auto">
          <a:xfrm>
            <a:off x="2690813" y="5238750"/>
            <a:ext cx="9112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首   部</a:t>
            </a:r>
          </a:p>
        </p:txBody>
      </p:sp>
      <p:sp>
        <p:nvSpPr>
          <p:cNvPr id="816181" name="Rectangle 85"/>
          <p:cNvSpPr>
            <a:spLocks noChangeArrowheads="1"/>
          </p:cNvSpPr>
          <p:nvPr/>
        </p:nvSpPr>
        <p:spPr bwMode="auto">
          <a:xfrm>
            <a:off x="4637088" y="5707063"/>
            <a:ext cx="1263650" cy="3968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IP </a:t>
            </a:r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数据报</a:t>
            </a:r>
          </a:p>
        </p:txBody>
      </p:sp>
      <p:grpSp>
        <p:nvGrpSpPr>
          <p:cNvPr id="379998" name="Group 94"/>
          <p:cNvGrpSpPr>
            <a:grpSpLocks/>
          </p:cNvGrpSpPr>
          <p:nvPr/>
        </p:nvGrpSpPr>
        <p:grpSpPr bwMode="auto">
          <a:xfrm>
            <a:off x="266700" y="1566863"/>
            <a:ext cx="438150" cy="2663825"/>
            <a:chOff x="111" y="845"/>
            <a:chExt cx="255" cy="1678"/>
          </a:xfrm>
        </p:grpSpPr>
        <p:sp>
          <p:nvSpPr>
            <p:cNvPr id="816183" name="Line 89"/>
            <p:cNvSpPr>
              <a:spLocks noChangeShapeType="1"/>
            </p:cNvSpPr>
            <p:nvPr/>
          </p:nvSpPr>
          <p:spPr bwMode="auto">
            <a:xfrm>
              <a:off x="249" y="845"/>
              <a:ext cx="0" cy="167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16184" name="Rectangle 78"/>
            <p:cNvSpPr>
              <a:spLocks noChangeArrowheads="1"/>
            </p:cNvSpPr>
            <p:nvPr/>
          </p:nvSpPr>
          <p:spPr bwMode="auto">
            <a:xfrm>
              <a:off x="111" y="1389"/>
              <a:ext cx="255" cy="4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首</a:t>
              </a:r>
            </a:p>
            <a:p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部</a:t>
              </a:r>
            </a:p>
          </p:txBody>
        </p:sp>
      </p:grpSp>
      <p:grpSp>
        <p:nvGrpSpPr>
          <p:cNvPr id="379997" name="Group 93"/>
          <p:cNvGrpSpPr>
            <a:grpSpLocks/>
          </p:cNvGrpSpPr>
          <p:nvPr/>
        </p:nvGrpSpPr>
        <p:grpSpPr bwMode="auto">
          <a:xfrm>
            <a:off x="1209675" y="1566863"/>
            <a:ext cx="8553450" cy="4102100"/>
            <a:chOff x="703" y="845"/>
            <a:chExt cx="4974" cy="2584"/>
          </a:xfrm>
        </p:grpSpPr>
        <p:sp>
          <p:nvSpPr>
            <p:cNvPr id="816186" name="Rectangle 91"/>
            <p:cNvSpPr>
              <a:spLocks noChangeArrowheads="1"/>
            </p:cNvSpPr>
            <p:nvPr/>
          </p:nvSpPr>
          <p:spPr bwMode="auto">
            <a:xfrm>
              <a:off x="703" y="845"/>
              <a:ext cx="4974" cy="1678"/>
            </a:xfrm>
            <a:prstGeom prst="rect">
              <a:avLst/>
            </a:prstGeom>
            <a:noFill/>
            <a:ln w="5715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16187" name="Rectangle 92"/>
            <p:cNvSpPr>
              <a:spLocks noChangeArrowheads="1"/>
            </p:cNvSpPr>
            <p:nvPr/>
          </p:nvSpPr>
          <p:spPr bwMode="auto">
            <a:xfrm>
              <a:off x="1426" y="3145"/>
              <a:ext cx="915" cy="284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</p:grpSp>
      <p:sp>
        <p:nvSpPr>
          <p:cNvPr id="816188" name="AutoShape 97"/>
          <p:cNvSpPr>
            <a:spLocks/>
          </p:cNvSpPr>
          <p:nvPr/>
        </p:nvSpPr>
        <p:spPr bwMode="auto">
          <a:xfrm>
            <a:off x="998538" y="1638300"/>
            <a:ext cx="180975" cy="2160588"/>
          </a:xfrm>
          <a:prstGeom prst="leftBrace">
            <a:avLst>
              <a:gd name="adj1" fmla="val 107779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grpSp>
        <p:nvGrpSpPr>
          <p:cNvPr id="816189" name="Group 100"/>
          <p:cNvGrpSpPr>
            <a:grpSpLocks/>
          </p:cNvGrpSpPr>
          <p:nvPr/>
        </p:nvGrpSpPr>
        <p:grpSpPr bwMode="auto">
          <a:xfrm>
            <a:off x="1782763" y="5741988"/>
            <a:ext cx="1209675" cy="855662"/>
            <a:chOff x="1037" y="3475"/>
            <a:chExt cx="703" cy="539"/>
          </a:xfrm>
        </p:grpSpPr>
        <p:sp>
          <p:nvSpPr>
            <p:cNvPr id="816190" name="Line 98"/>
            <p:cNvSpPr>
              <a:spLocks noChangeShapeType="1"/>
            </p:cNvSpPr>
            <p:nvPr/>
          </p:nvSpPr>
          <p:spPr bwMode="auto">
            <a:xfrm flipV="1">
              <a:off x="1428" y="3475"/>
              <a:ext cx="0" cy="317"/>
            </a:xfrm>
            <a:prstGeom prst="line">
              <a:avLst/>
            </a:prstGeom>
            <a:noFill/>
            <a:ln w="57150">
              <a:solidFill>
                <a:srgbClr val="C0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16191" name="Rectangle 99"/>
            <p:cNvSpPr>
              <a:spLocks noChangeArrowheads="1"/>
            </p:cNvSpPr>
            <p:nvPr/>
          </p:nvSpPr>
          <p:spPr bwMode="auto">
            <a:xfrm>
              <a:off x="1037" y="3764"/>
              <a:ext cx="70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发送在前</a:t>
              </a:r>
            </a:p>
          </p:txBody>
        </p:sp>
      </p:grpSp>
      <p:sp>
        <p:nvSpPr>
          <p:cNvPr id="816192" name="矩形 1"/>
          <p:cNvSpPr>
            <a:spLocks noChangeArrowheads="1"/>
          </p:cNvSpPr>
          <p:nvPr/>
        </p:nvSpPr>
        <p:spPr bwMode="auto">
          <a:xfrm>
            <a:off x="1890713" y="252413"/>
            <a:ext cx="6446837" cy="584200"/>
          </a:xfrm>
          <a:prstGeom prst="rect">
            <a:avLst/>
          </a:prstGeom>
          <a:solidFill>
            <a:srgbClr val="FFFFCC"/>
          </a:solidFill>
          <a:ln w="9525">
            <a:solidFill>
              <a:schemeClr val="folHlink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3200" b="1">
                <a:solidFill>
                  <a:srgbClr val="0000CC"/>
                </a:solidFill>
                <a:ea typeface="黑体" panose="02010609060101010101" pitchFamily="49" charset="-122"/>
              </a:rPr>
              <a:t>IP </a:t>
            </a:r>
            <a:r>
              <a:rPr lang="zh-CN" altLang="en-US" sz="3200" b="1">
                <a:solidFill>
                  <a:srgbClr val="0000CC"/>
                </a:solidFill>
                <a:ea typeface="黑体" panose="02010609060101010101" pitchFamily="49" charset="-122"/>
              </a:rPr>
              <a:t>数据报由首部和数据两部分组成</a:t>
            </a:r>
          </a:p>
        </p:txBody>
      </p:sp>
      <p:sp>
        <p:nvSpPr>
          <p:cNvPr id="816193" name="灯片编号占位符 4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fld id="{2CE14501-889C-4F5D-A8A2-ECAB9EC4254A}" type="slidenum">
              <a:rPr lang="zh-CN" altLang="en-US" smtClean="0"/>
              <a:pPr/>
              <a:t>27</a:t>
            </a:fld>
            <a:endParaRPr lang="en-US" altLang="zh-CN" smtClean="0"/>
          </a:p>
        </p:txBody>
      </p:sp>
      <p:sp>
        <p:nvSpPr>
          <p:cNvPr id="816194" name="页脚占位符 5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1"/>
                            </p:stCondLst>
                            <p:childTnLst>
                              <p:par>
                                <p:cTn id="8" presetID="35" presetClass="emph" presetSubtype="0" repeatCount="400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379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35" presetClass="emph" presetSubtype="0" repeatCount="4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1" dur="1000" fill="hold"/>
                                        <p:tgtEl>
                                          <p:spTgt spid="379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177" name="Rectangle 45"/>
          <p:cNvSpPr>
            <a:spLocks noChangeArrowheads="1"/>
          </p:cNvSpPr>
          <p:nvPr/>
        </p:nvSpPr>
        <p:spPr bwMode="auto">
          <a:xfrm>
            <a:off x="631825" y="1998663"/>
            <a:ext cx="439738" cy="1196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固</a:t>
            </a:r>
          </a:p>
          <a:p>
            <a:pPr>
              <a:lnSpc>
                <a:spcPct val="90000"/>
              </a:lnSpc>
            </a:pPr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定</a:t>
            </a:r>
          </a:p>
          <a:p>
            <a:pPr>
              <a:lnSpc>
                <a:spcPct val="90000"/>
              </a:lnSpc>
            </a:pPr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部</a:t>
            </a:r>
          </a:p>
          <a:p>
            <a:pPr>
              <a:lnSpc>
                <a:spcPct val="90000"/>
              </a:lnSpc>
            </a:pPr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分</a:t>
            </a:r>
          </a:p>
        </p:txBody>
      </p:sp>
      <p:sp>
        <p:nvSpPr>
          <p:cNvPr id="818178" name="Rectangle 54"/>
          <p:cNvSpPr>
            <a:spLocks noChangeArrowheads="1"/>
          </p:cNvSpPr>
          <p:nvPr/>
        </p:nvSpPr>
        <p:spPr bwMode="auto">
          <a:xfrm>
            <a:off x="508000" y="3654425"/>
            <a:ext cx="695325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可变</a:t>
            </a:r>
          </a:p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部分</a:t>
            </a:r>
          </a:p>
        </p:txBody>
      </p:sp>
      <p:sp>
        <p:nvSpPr>
          <p:cNvPr id="818179" name="Line 6"/>
          <p:cNvSpPr>
            <a:spLocks noChangeShapeType="1"/>
          </p:cNvSpPr>
          <p:nvPr/>
        </p:nvSpPr>
        <p:spPr bwMode="auto">
          <a:xfrm>
            <a:off x="2490788" y="5911850"/>
            <a:ext cx="58705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18180" name="Rectangle 8"/>
          <p:cNvSpPr>
            <a:spLocks noChangeArrowheads="1"/>
          </p:cNvSpPr>
          <p:nvPr/>
        </p:nvSpPr>
        <p:spPr bwMode="auto">
          <a:xfrm>
            <a:off x="3351213" y="1597025"/>
            <a:ext cx="2132012" cy="434975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18181" name="Rectangle 90"/>
          <p:cNvSpPr>
            <a:spLocks noChangeArrowheads="1"/>
          </p:cNvSpPr>
          <p:nvPr/>
        </p:nvSpPr>
        <p:spPr bwMode="auto">
          <a:xfrm>
            <a:off x="2457450" y="5221288"/>
            <a:ext cx="1560513" cy="449262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18182" name="Rectangle 10"/>
          <p:cNvSpPr>
            <a:spLocks noChangeArrowheads="1"/>
          </p:cNvSpPr>
          <p:nvPr/>
        </p:nvSpPr>
        <p:spPr bwMode="auto">
          <a:xfrm>
            <a:off x="1231900" y="1587500"/>
            <a:ext cx="8520113" cy="2643188"/>
          </a:xfrm>
          <a:prstGeom prst="rect">
            <a:avLst/>
          </a:prstGeom>
          <a:solidFill>
            <a:srgbClr val="CCE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18183" name="Rectangle 11"/>
          <p:cNvSpPr>
            <a:spLocks noChangeArrowheads="1"/>
          </p:cNvSpPr>
          <p:nvPr/>
        </p:nvSpPr>
        <p:spPr bwMode="auto">
          <a:xfrm>
            <a:off x="1246188" y="4241800"/>
            <a:ext cx="8486775" cy="681038"/>
          </a:xfrm>
          <a:prstGeom prst="rect">
            <a:avLst/>
          </a:prstGeom>
          <a:solidFill>
            <a:srgbClr val="FFFF99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18184" name="Line 12"/>
          <p:cNvSpPr>
            <a:spLocks noChangeShapeType="1"/>
          </p:cNvSpPr>
          <p:nvPr/>
        </p:nvSpPr>
        <p:spPr bwMode="auto">
          <a:xfrm>
            <a:off x="1225550" y="2038350"/>
            <a:ext cx="8535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18185" name="Line 13"/>
          <p:cNvSpPr>
            <a:spLocks noChangeShapeType="1"/>
          </p:cNvSpPr>
          <p:nvPr/>
        </p:nvSpPr>
        <p:spPr bwMode="auto">
          <a:xfrm>
            <a:off x="1225550" y="2481263"/>
            <a:ext cx="8535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18186" name="Line 14"/>
          <p:cNvSpPr>
            <a:spLocks noChangeShapeType="1"/>
          </p:cNvSpPr>
          <p:nvPr/>
        </p:nvSpPr>
        <p:spPr bwMode="auto">
          <a:xfrm>
            <a:off x="1225550" y="2925763"/>
            <a:ext cx="8535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18187" name="Line 15"/>
          <p:cNvSpPr>
            <a:spLocks noChangeShapeType="1"/>
          </p:cNvSpPr>
          <p:nvPr/>
        </p:nvSpPr>
        <p:spPr bwMode="auto">
          <a:xfrm>
            <a:off x="1225550" y="3363913"/>
            <a:ext cx="8535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18188" name="Line 16"/>
          <p:cNvSpPr>
            <a:spLocks noChangeShapeType="1"/>
          </p:cNvSpPr>
          <p:nvPr/>
        </p:nvSpPr>
        <p:spPr bwMode="auto">
          <a:xfrm>
            <a:off x="1225550" y="3808413"/>
            <a:ext cx="8535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18189" name="Line 17"/>
          <p:cNvSpPr>
            <a:spLocks noChangeShapeType="1"/>
          </p:cNvSpPr>
          <p:nvPr/>
        </p:nvSpPr>
        <p:spPr bwMode="auto">
          <a:xfrm>
            <a:off x="2274888" y="1595438"/>
            <a:ext cx="0" cy="4429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18190" name="Line 18"/>
          <p:cNvSpPr>
            <a:spLocks noChangeShapeType="1"/>
          </p:cNvSpPr>
          <p:nvPr/>
        </p:nvSpPr>
        <p:spPr bwMode="auto">
          <a:xfrm>
            <a:off x="3341688" y="1595438"/>
            <a:ext cx="0" cy="4429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18191" name="Line 19"/>
          <p:cNvSpPr>
            <a:spLocks noChangeShapeType="1"/>
          </p:cNvSpPr>
          <p:nvPr/>
        </p:nvSpPr>
        <p:spPr bwMode="auto">
          <a:xfrm>
            <a:off x="3341688" y="2490788"/>
            <a:ext cx="0" cy="431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18192" name="Line 20"/>
          <p:cNvSpPr>
            <a:spLocks noChangeShapeType="1"/>
          </p:cNvSpPr>
          <p:nvPr/>
        </p:nvSpPr>
        <p:spPr bwMode="auto">
          <a:xfrm>
            <a:off x="5478463" y="1595438"/>
            <a:ext cx="0" cy="13271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18193" name="Line 21"/>
          <p:cNvSpPr>
            <a:spLocks noChangeShapeType="1"/>
          </p:cNvSpPr>
          <p:nvPr/>
        </p:nvSpPr>
        <p:spPr bwMode="auto">
          <a:xfrm flipV="1">
            <a:off x="7615238" y="3803650"/>
            <a:ext cx="0" cy="4413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18194" name="Line 22"/>
          <p:cNvSpPr>
            <a:spLocks noChangeShapeType="1"/>
          </p:cNvSpPr>
          <p:nvPr/>
        </p:nvSpPr>
        <p:spPr bwMode="auto">
          <a:xfrm>
            <a:off x="6348413" y="2047875"/>
            <a:ext cx="0" cy="4333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18195" name="Rectangle 23"/>
          <p:cNvSpPr>
            <a:spLocks noChangeArrowheads="1"/>
          </p:cNvSpPr>
          <p:nvPr/>
        </p:nvSpPr>
        <p:spPr bwMode="auto">
          <a:xfrm>
            <a:off x="1169988" y="1208088"/>
            <a:ext cx="3254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0</a:t>
            </a:r>
          </a:p>
        </p:txBody>
      </p:sp>
      <p:sp>
        <p:nvSpPr>
          <p:cNvPr id="818196" name="Rectangle 24"/>
          <p:cNvSpPr>
            <a:spLocks noChangeArrowheads="1"/>
          </p:cNvSpPr>
          <p:nvPr/>
        </p:nvSpPr>
        <p:spPr bwMode="auto">
          <a:xfrm>
            <a:off x="2182813" y="1208088"/>
            <a:ext cx="3254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4</a:t>
            </a:r>
          </a:p>
        </p:txBody>
      </p:sp>
      <p:sp>
        <p:nvSpPr>
          <p:cNvPr id="818197" name="Rectangle 25"/>
          <p:cNvSpPr>
            <a:spLocks noChangeArrowheads="1"/>
          </p:cNvSpPr>
          <p:nvPr/>
        </p:nvSpPr>
        <p:spPr bwMode="auto">
          <a:xfrm>
            <a:off x="3260725" y="1208088"/>
            <a:ext cx="3254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8</a:t>
            </a:r>
          </a:p>
        </p:txBody>
      </p:sp>
      <p:sp>
        <p:nvSpPr>
          <p:cNvPr id="818198" name="Rectangle 26"/>
          <p:cNvSpPr>
            <a:spLocks noChangeArrowheads="1"/>
          </p:cNvSpPr>
          <p:nvPr/>
        </p:nvSpPr>
        <p:spPr bwMode="auto">
          <a:xfrm>
            <a:off x="5373688" y="1208088"/>
            <a:ext cx="4683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16</a:t>
            </a:r>
          </a:p>
        </p:txBody>
      </p:sp>
      <p:sp>
        <p:nvSpPr>
          <p:cNvPr id="818199" name="Rectangle 27"/>
          <p:cNvSpPr>
            <a:spLocks noChangeArrowheads="1"/>
          </p:cNvSpPr>
          <p:nvPr/>
        </p:nvSpPr>
        <p:spPr bwMode="auto">
          <a:xfrm>
            <a:off x="6237288" y="1208088"/>
            <a:ext cx="4683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19</a:t>
            </a:r>
          </a:p>
        </p:txBody>
      </p:sp>
      <p:sp>
        <p:nvSpPr>
          <p:cNvPr id="818200" name="Rectangle 28"/>
          <p:cNvSpPr>
            <a:spLocks noChangeArrowheads="1"/>
          </p:cNvSpPr>
          <p:nvPr/>
        </p:nvSpPr>
        <p:spPr bwMode="auto">
          <a:xfrm>
            <a:off x="7510463" y="1208088"/>
            <a:ext cx="4683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24</a:t>
            </a:r>
          </a:p>
        </p:txBody>
      </p:sp>
      <p:sp>
        <p:nvSpPr>
          <p:cNvPr id="818201" name="Rectangle 29"/>
          <p:cNvSpPr>
            <a:spLocks noChangeArrowheads="1"/>
          </p:cNvSpPr>
          <p:nvPr/>
        </p:nvSpPr>
        <p:spPr bwMode="auto">
          <a:xfrm>
            <a:off x="9366250" y="1208088"/>
            <a:ext cx="4683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31</a:t>
            </a:r>
          </a:p>
        </p:txBody>
      </p:sp>
      <p:sp>
        <p:nvSpPr>
          <p:cNvPr id="818202" name="Rectangle 30"/>
          <p:cNvSpPr>
            <a:spLocks noChangeArrowheads="1"/>
          </p:cNvSpPr>
          <p:nvPr/>
        </p:nvSpPr>
        <p:spPr bwMode="auto">
          <a:xfrm>
            <a:off x="1331913" y="1622425"/>
            <a:ext cx="7683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版 本</a:t>
            </a:r>
          </a:p>
        </p:txBody>
      </p:sp>
      <p:sp>
        <p:nvSpPr>
          <p:cNvPr id="818203" name="Rectangle 31"/>
          <p:cNvSpPr>
            <a:spLocks noChangeArrowheads="1"/>
          </p:cNvSpPr>
          <p:nvPr/>
        </p:nvSpPr>
        <p:spPr bwMode="auto">
          <a:xfrm>
            <a:off x="5543550" y="2098675"/>
            <a:ext cx="6953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标志</a:t>
            </a:r>
          </a:p>
        </p:txBody>
      </p:sp>
      <p:sp>
        <p:nvSpPr>
          <p:cNvPr id="818204" name="Rectangle 32"/>
          <p:cNvSpPr>
            <a:spLocks noChangeArrowheads="1"/>
          </p:cNvSpPr>
          <p:nvPr/>
        </p:nvSpPr>
        <p:spPr bwMode="auto">
          <a:xfrm>
            <a:off x="1544638" y="2503488"/>
            <a:ext cx="14271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生 存 时 间</a:t>
            </a:r>
          </a:p>
        </p:txBody>
      </p:sp>
      <p:sp>
        <p:nvSpPr>
          <p:cNvPr id="818205" name="Rectangle 33"/>
          <p:cNvSpPr>
            <a:spLocks noChangeArrowheads="1"/>
          </p:cNvSpPr>
          <p:nvPr/>
        </p:nvSpPr>
        <p:spPr bwMode="auto">
          <a:xfrm>
            <a:off x="3852863" y="2503488"/>
            <a:ext cx="9810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协    议</a:t>
            </a:r>
          </a:p>
        </p:txBody>
      </p:sp>
      <p:sp>
        <p:nvSpPr>
          <p:cNvPr id="818206" name="Rectangle 34"/>
          <p:cNvSpPr>
            <a:spLocks noChangeArrowheads="1"/>
          </p:cNvSpPr>
          <p:nvPr/>
        </p:nvSpPr>
        <p:spPr bwMode="auto">
          <a:xfrm>
            <a:off x="2784475" y="2098675"/>
            <a:ext cx="9810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标    识</a:t>
            </a:r>
          </a:p>
        </p:txBody>
      </p:sp>
      <p:sp>
        <p:nvSpPr>
          <p:cNvPr id="818207" name="Rectangle 35"/>
          <p:cNvSpPr>
            <a:spLocks noChangeArrowheads="1"/>
          </p:cNvSpPr>
          <p:nvPr/>
        </p:nvSpPr>
        <p:spPr bwMode="auto">
          <a:xfrm>
            <a:off x="3663950" y="1622425"/>
            <a:ext cx="1425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区 分 服 务</a:t>
            </a:r>
          </a:p>
        </p:txBody>
      </p:sp>
      <p:sp>
        <p:nvSpPr>
          <p:cNvPr id="818208" name="Rectangle 36"/>
          <p:cNvSpPr>
            <a:spLocks noChangeArrowheads="1"/>
          </p:cNvSpPr>
          <p:nvPr/>
        </p:nvSpPr>
        <p:spPr bwMode="auto">
          <a:xfrm>
            <a:off x="7050088" y="1622425"/>
            <a:ext cx="13795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总   长   度</a:t>
            </a:r>
          </a:p>
        </p:txBody>
      </p:sp>
      <p:sp>
        <p:nvSpPr>
          <p:cNvPr id="818209" name="Rectangle 37"/>
          <p:cNvSpPr>
            <a:spLocks noChangeArrowheads="1"/>
          </p:cNvSpPr>
          <p:nvPr/>
        </p:nvSpPr>
        <p:spPr bwMode="auto">
          <a:xfrm>
            <a:off x="7343775" y="2098675"/>
            <a:ext cx="13795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片   偏   移</a:t>
            </a:r>
          </a:p>
        </p:txBody>
      </p:sp>
      <p:sp>
        <p:nvSpPr>
          <p:cNvPr id="818210" name="Rectangle 38"/>
          <p:cNvSpPr>
            <a:spLocks noChangeArrowheads="1"/>
          </p:cNvSpPr>
          <p:nvPr/>
        </p:nvSpPr>
        <p:spPr bwMode="auto">
          <a:xfrm>
            <a:off x="8128000" y="3832225"/>
            <a:ext cx="9810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C00000"/>
                </a:solidFill>
                <a:ea typeface="黑体" panose="02010609060101010101" pitchFamily="49" charset="-122"/>
              </a:rPr>
              <a:t>填    充</a:t>
            </a:r>
          </a:p>
        </p:txBody>
      </p:sp>
      <p:sp>
        <p:nvSpPr>
          <p:cNvPr id="818211" name="Rectangle 39"/>
          <p:cNvSpPr>
            <a:spLocks noChangeArrowheads="1"/>
          </p:cNvSpPr>
          <p:nvPr/>
        </p:nvSpPr>
        <p:spPr bwMode="auto">
          <a:xfrm>
            <a:off x="6419850" y="2503488"/>
            <a:ext cx="23193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首   部   检   验   和</a:t>
            </a:r>
          </a:p>
        </p:txBody>
      </p:sp>
      <p:sp>
        <p:nvSpPr>
          <p:cNvPr id="818212" name="Rectangle 40"/>
          <p:cNvSpPr>
            <a:spLocks noChangeArrowheads="1"/>
          </p:cNvSpPr>
          <p:nvPr/>
        </p:nvSpPr>
        <p:spPr bwMode="auto">
          <a:xfrm>
            <a:off x="4784725" y="2962275"/>
            <a:ext cx="13795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源   地   址</a:t>
            </a:r>
          </a:p>
        </p:txBody>
      </p:sp>
      <p:sp>
        <p:nvSpPr>
          <p:cNvPr id="818213" name="Rectangle 41"/>
          <p:cNvSpPr>
            <a:spLocks noChangeArrowheads="1"/>
          </p:cNvSpPr>
          <p:nvPr/>
        </p:nvSpPr>
        <p:spPr bwMode="auto">
          <a:xfrm>
            <a:off x="4506913" y="3403600"/>
            <a:ext cx="18510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目   的   地   址</a:t>
            </a:r>
          </a:p>
        </p:txBody>
      </p:sp>
      <p:sp>
        <p:nvSpPr>
          <p:cNvPr id="818214" name="Rectangle 42"/>
          <p:cNvSpPr>
            <a:spLocks noChangeArrowheads="1"/>
          </p:cNvSpPr>
          <p:nvPr/>
        </p:nvSpPr>
        <p:spPr bwMode="auto">
          <a:xfrm>
            <a:off x="2414588" y="3832225"/>
            <a:ext cx="41735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C00000"/>
                </a:solidFill>
                <a:ea typeface="黑体" panose="02010609060101010101" pitchFamily="49" charset="-122"/>
              </a:rPr>
              <a:t>可   选   字   段  （长   度   可   变）</a:t>
            </a:r>
          </a:p>
        </p:txBody>
      </p:sp>
      <p:sp>
        <p:nvSpPr>
          <p:cNvPr id="818215" name="Rectangle 43"/>
          <p:cNvSpPr>
            <a:spLocks noChangeArrowheads="1"/>
          </p:cNvSpPr>
          <p:nvPr/>
        </p:nvSpPr>
        <p:spPr bwMode="auto">
          <a:xfrm>
            <a:off x="658813" y="1193800"/>
            <a:ext cx="4397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位</a:t>
            </a:r>
          </a:p>
        </p:txBody>
      </p:sp>
      <p:sp>
        <p:nvSpPr>
          <p:cNvPr id="818216" name="Rectangle 44"/>
          <p:cNvSpPr>
            <a:spLocks noChangeArrowheads="1"/>
          </p:cNvSpPr>
          <p:nvPr/>
        </p:nvSpPr>
        <p:spPr bwMode="auto">
          <a:xfrm>
            <a:off x="2170113" y="1603375"/>
            <a:ext cx="12096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首部长度</a:t>
            </a:r>
          </a:p>
        </p:txBody>
      </p:sp>
      <p:grpSp>
        <p:nvGrpSpPr>
          <p:cNvPr id="818217" name="Group 46"/>
          <p:cNvGrpSpPr>
            <a:grpSpLocks/>
          </p:cNvGrpSpPr>
          <p:nvPr/>
        </p:nvGrpSpPr>
        <p:grpSpPr bwMode="auto">
          <a:xfrm>
            <a:off x="1158875" y="3973513"/>
            <a:ext cx="142875" cy="69850"/>
            <a:chOff x="833" y="3024"/>
            <a:chExt cx="78" cy="51"/>
          </a:xfrm>
        </p:grpSpPr>
        <p:sp>
          <p:nvSpPr>
            <p:cNvPr id="818218" name="Rectangle 47"/>
            <p:cNvSpPr>
              <a:spLocks noChangeArrowheads="1"/>
            </p:cNvSpPr>
            <p:nvPr/>
          </p:nvSpPr>
          <p:spPr bwMode="auto">
            <a:xfrm>
              <a:off x="833" y="3024"/>
              <a:ext cx="78" cy="5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18219" name="Line 48"/>
            <p:cNvSpPr>
              <a:spLocks noChangeShapeType="1"/>
            </p:cNvSpPr>
            <p:nvPr/>
          </p:nvSpPr>
          <p:spPr bwMode="auto">
            <a:xfrm>
              <a:off x="839" y="3030"/>
              <a:ext cx="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18220" name="Line 49"/>
            <p:cNvSpPr>
              <a:spLocks noChangeShapeType="1"/>
            </p:cNvSpPr>
            <p:nvPr/>
          </p:nvSpPr>
          <p:spPr bwMode="auto">
            <a:xfrm>
              <a:off x="839" y="3075"/>
              <a:ext cx="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</p:grpSp>
      <p:grpSp>
        <p:nvGrpSpPr>
          <p:cNvPr id="818221" name="Group 50"/>
          <p:cNvGrpSpPr>
            <a:grpSpLocks/>
          </p:cNvGrpSpPr>
          <p:nvPr/>
        </p:nvGrpSpPr>
        <p:grpSpPr bwMode="auto">
          <a:xfrm>
            <a:off x="9682163" y="3983038"/>
            <a:ext cx="142875" cy="66675"/>
            <a:chOff x="5432" y="3030"/>
            <a:chExt cx="78" cy="51"/>
          </a:xfrm>
        </p:grpSpPr>
        <p:sp>
          <p:nvSpPr>
            <p:cNvPr id="818222" name="Rectangle 51"/>
            <p:cNvSpPr>
              <a:spLocks noChangeArrowheads="1"/>
            </p:cNvSpPr>
            <p:nvPr/>
          </p:nvSpPr>
          <p:spPr bwMode="auto">
            <a:xfrm>
              <a:off x="5432" y="3030"/>
              <a:ext cx="78" cy="5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18223" name="Line 52"/>
            <p:cNvSpPr>
              <a:spLocks noChangeShapeType="1"/>
            </p:cNvSpPr>
            <p:nvPr/>
          </p:nvSpPr>
          <p:spPr bwMode="auto">
            <a:xfrm>
              <a:off x="5438" y="3036"/>
              <a:ext cx="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18224" name="Line 53"/>
            <p:cNvSpPr>
              <a:spLocks noChangeShapeType="1"/>
            </p:cNvSpPr>
            <p:nvPr/>
          </p:nvSpPr>
          <p:spPr bwMode="auto">
            <a:xfrm>
              <a:off x="5438" y="3081"/>
              <a:ext cx="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</p:grpSp>
      <p:sp>
        <p:nvSpPr>
          <p:cNvPr id="818225" name="Rectangle 75"/>
          <p:cNvSpPr>
            <a:spLocks noChangeArrowheads="1"/>
          </p:cNvSpPr>
          <p:nvPr/>
        </p:nvSpPr>
        <p:spPr bwMode="auto">
          <a:xfrm>
            <a:off x="4129088" y="4375150"/>
            <a:ext cx="31511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数       据       部       分</a:t>
            </a:r>
          </a:p>
        </p:txBody>
      </p:sp>
      <p:sp>
        <p:nvSpPr>
          <p:cNvPr id="818226" name="Rectangle 80"/>
          <p:cNvSpPr>
            <a:spLocks noChangeArrowheads="1"/>
          </p:cNvSpPr>
          <p:nvPr/>
        </p:nvSpPr>
        <p:spPr bwMode="auto">
          <a:xfrm>
            <a:off x="4017963" y="5221288"/>
            <a:ext cx="4314825" cy="449262"/>
          </a:xfrm>
          <a:prstGeom prst="rect">
            <a:avLst/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18227" name="Rectangle 82"/>
          <p:cNvSpPr>
            <a:spLocks noChangeArrowheads="1"/>
          </p:cNvSpPr>
          <p:nvPr/>
        </p:nvSpPr>
        <p:spPr bwMode="auto">
          <a:xfrm>
            <a:off x="4635500" y="5238750"/>
            <a:ext cx="3352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数       据       部       分</a:t>
            </a:r>
          </a:p>
        </p:txBody>
      </p:sp>
      <p:sp>
        <p:nvSpPr>
          <p:cNvPr id="818228" name="Rectangle 83"/>
          <p:cNvSpPr>
            <a:spLocks noChangeArrowheads="1"/>
          </p:cNvSpPr>
          <p:nvPr/>
        </p:nvSpPr>
        <p:spPr bwMode="auto">
          <a:xfrm>
            <a:off x="2690813" y="5238750"/>
            <a:ext cx="9112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首   部</a:t>
            </a:r>
          </a:p>
        </p:txBody>
      </p:sp>
      <p:sp>
        <p:nvSpPr>
          <p:cNvPr id="818229" name="Rectangle 85"/>
          <p:cNvSpPr>
            <a:spLocks noChangeArrowheads="1"/>
          </p:cNvSpPr>
          <p:nvPr/>
        </p:nvSpPr>
        <p:spPr bwMode="auto">
          <a:xfrm>
            <a:off x="4637088" y="5707063"/>
            <a:ext cx="1263650" cy="3968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IP </a:t>
            </a:r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数据报</a:t>
            </a:r>
          </a:p>
        </p:txBody>
      </p:sp>
      <p:grpSp>
        <p:nvGrpSpPr>
          <p:cNvPr id="379998" name="Group 94"/>
          <p:cNvGrpSpPr>
            <a:grpSpLocks/>
          </p:cNvGrpSpPr>
          <p:nvPr/>
        </p:nvGrpSpPr>
        <p:grpSpPr bwMode="auto">
          <a:xfrm>
            <a:off x="266700" y="1566863"/>
            <a:ext cx="438150" cy="2663825"/>
            <a:chOff x="111" y="845"/>
            <a:chExt cx="255" cy="1678"/>
          </a:xfrm>
        </p:grpSpPr>
        <p:sp>
          <p:nvSpPr>
            <p:cNvPr id="818231" name="Line 89"/>
            <p:cNvSpPr>
              <a:spLocks noChangeShapeType="1"/>
            </p:cNvSpPr>
            <p:nvPr/>
          </p:nvSpPr>
          <p:spPr bwMode="auto">
            <a:xfrm>
              <a:off x="249" y="845"/>
              <a:ext cx="0" cy="167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18232" name="Rectangle 78"/>
            <p:cNvSpPr>
              <a:spLocks noChangeArrowheads="1"/>
            </p:cNvSpPr>
            <p:nvPr/>
          </p:nvSpPr>
          <p:spPr bwMode="auto">
            <a:xfrm>
              <a:off x="111" y="1389"/>
              <a:ext cx="255" cy="4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首</a:t>
              </a:r>
            </a:p>
            <a:p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部</a:t>
              </a:r>
            </a:p>
          </p:txBody>
        </p:sp>
      </p:grpSp>
      <p:grpSp>
        <p:nvGrpSpPr>
          <p:cNvPr id="379997" name="Group 93"/>
          <p:cNvGrpSpPr>
            <a:grpSpLocks/>
          </p:cNvGrpSpPr>
          <p:nvPr/>
        </p:nvGrpSpPr>
        <p:grpSpPr bwMode="auto">
          <a:xfrm>
            <a:off x="1209675" y="1566863"/>
            <a:ext cx="8553450" cy="4102100"/>
            <a:chOff x="703" y="845"/>
            <a:chExt cx="4974" cy="2584"/>
          </a:xfrm>
        </p:grpSpPr>
        <p:sp>
          <p:nvSpPr>
            <p:cNvPr id="818234" name="Rectangle 91"/>
            <p:cNvSpPr>
              <a:spLocks noChangeArrowheads="1"/>
            </p:cNvSpPr>
            <p:nvPr/>
          </p:nvSpPr>
          <p:spPr bwMode="auto">
            <a:xfrm>
              <a:off x="703" y="845"/>
              <a:ext cx="4974" cy="1427"/>
            </a:xfrm>
            <a:prstGeom prst="rect">
              <a:avLst/>
            </a:prstGeom>
            <a:noFill/>
            <a:ln w="5715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18235" name="Rectangle 92"/>
            <p:cNvSpPr>
              <a:spLocks noChangeArrowheads="1"/>
            </p:cNvSpPr>
            <p:nvPr/>
          </p:nvSpPr>
          <p:spPr bwMode="auto">
            <a:xfrm>
              <a:off x="1426" y="3145"/>
              <a:ext cx="915" cy="284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</p:grpSp>
      <p:sp>
        <p:nvSpPr>
          <p:cNvPr id="818236" name="AutoShape 97"/>
          <p:cNvSpPr>
            <a:spLocks/>
          </p:cNvSpPr>
          <p:nvPr/>
        </p:nvSpPr>
        <p:spPr bwMode="auto">
          <a:xfrm>
            <a:off x="998538" y="1638300"/>
            <a:ext cx="180975" cy="2160588"/>
          </a:xfrm>
          <a:prstGeom prst="leftBrace">
            <a:avLst>
              <a:gd name="adj1" fmla="val 107779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grpSp>
        <p:nvGrpSpPr>
          <p:cNvPr id="818237" name="Group 100"/>
          <p:cNvGrpSpPr>
            <a:grpSpLocks/>
          </p:cNvGrpSpPr>
          <p:nvPr/>
        </p:nvGrpSpPr>
        <p:grpSpPr bwMode="auto">
          <a:xfrm>
            <a:off x="1782763" y="5741988"/>
            <a:ext cx="1209675" cy="855662"/>
            <a:chOff x="1037" y="3475"/>
            <a:chExt cx="703" cy="539"/>
          </a:xfrm>
        </p:grpSpPr>
        <p:sp>
          <p:nvSpPr>
            <p:cNvPr id="818238" name="Line 98"/>
            <p:cNvSpPr>
              <a:spLocks noChangeShapeType="1"/>
            </p:cNvSpPr>
            <p:nvPr/>
          </p:nvSpPr>
          <p:spPr bwMode="auto">
            <a:xfrm flipV="1">
              <a:off x="1428" y="3475"/>
              <a:ext cx="0" cy="317"/>
            </a:xfrm>
            <a:prstGeom prst="line">
              <a:avLst/>
            </a:prstGeom>
            <a:noFill/>
            <a:ln w="57150">
              <a:solidFill>
                <a:srgbClr val="C0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18239" name="Rectangle 99"/>
            <p:cNvSpPr>
              <a:spLocks noChangeArrowheads="1"/>
            </p:cNvSpPr>
            <p:nvPr/>
          </p:nvSpPr>
          <p:spPr bwMode="auto">
            <a:xfrm>
              <a:off x="1037" y="3764"/>
              <a:ext cx="70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发送在前</a:t>
              </a:r>
            </a:p>
          </p:txBody>
        </p:sp>
      </p:grpSp>
      <p:sp>
        <p:nvSpPr>
          <p:cNvPr id="818240" name="矩形 1"/>
          <p:cNvSpPr>
            <a:spLocks noChangeArrowheads="1"/>
          </p:cNvSpPr>
          <p:nvPr/>
        </p:nvSpPr>
        <p:spPr bwMode="auto">
          <a:xfrm>
            <a:off x="1716088" y="231775"/>
            <a:ext cx="6902450" cy="954088"/>
          </a:xfrm>
          <a:prstGeom prst="rect">
            <a:avLst/>
          </a:prstGeom>
          <a:solidFill>
            <a:srgbClr val="FFFFCC"/>
          </a:solidFill>
          <a:ln w="9525">
            <a:solidFill>
              <a:schemeClr val="folHlink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 eaLnBrk="0" hangingPunct="0"/>
            <a:r>
              <a:rPr lang="zh-CN" altLang="en-US" sz="2800" b="1">
                <a:solidFill>
                  <a:srgbClr val="0000CC"/>
                </a:solidFill>
                <a:ea typeface="黑体" panose="02010609060101010101" pitchFamily="49" charset="-122"/>
              </a:rPr>
              <a:t>首部的前一部分是固定长度，共 </a:t>
            </a:r>
            <a:r>
              <a:rPr lang="en-US" altLang="zh-CN" sz="2800" b="1">
                <a:solidFill>
                  <a:srgbClr val="0000CC"/>
                </a:solidFill>
                <a:ea typeface="黑体" panose="02010609060101010101" pitchFamily="49" charset="-122"/>
              </a:rPr>
              <a:t>20 </a:t>
            </a:r>
            <a:r>
              <a:rPr lang="zh-CN" altLang="en-US" sz="2800" b="1">
                <a:solidFill>
                  <a:srgbClr val="0000CC"/>
                </a:solidFill>
                <a:ea typeface="黑体" panose="02010609060101010101" pitchFamily="49" charset="-122"/>
              </a:rPr>
              <a:t>字节，是所有 </a:t>
            </a:r>
            <a:r>
              <a:rPr lang="en-US" altLang="zh-CN" sz="2800" b="1">
                <a:solidFill>
                  <a:srgbClr val="0000CC"/>
                </a:solidFill>
                <a:ea typeface="黑体" panose="02010609060101010101" pitchFamily="49" charset="-122"/>
              </a:rPr>
              <a:t>IP </a:t>
            </a:r>
            <a:r>
              <a:rPr lang="zh-CN" altLang="en-US" sz="2800" b="1">
                <a:solidFill>
                  <a:srgbClr val="0000CC"/>
                </a:solidFill>
                <a:ea typeface="黑体" panose="02010609060101010101" pitchFamily="49" charset="-122"/>
              </a:rPr>
              <a:t>数据报必须具有的。</a:t>
            </a:r>
          </a:p>
        </p:txBody>
      </p:sp>
      <p:sp>
        <p:nvSpPr>
          <p:cNvPr id="818241" name="灯片编号占位符 4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fld id="{4B1072EE-8740-4DE1-974E-4458C7544514}" type="slidenum">
              <a:rPr lang="zh-CN" altLang="en-US" smtClean="0"/>
              <a:pPr/>
              <a:t>28</a:t>
            </a:fld>
            <a:endParaRPr lang="en-US" altLang="zh-CN" smtClean="0"/>
          </a:p>
        </p:txBody>
      </p:sp>
      <p:sp>
        <p:nvSpPr>
          <p:cNvPr id="818242" name="页脚占位符 5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1"/>
                            </p:stCondLst>
                            <p:childTnLst>
                              <p:par>
                                <p:cTn id="8" presetID="35" presetClass="emph" presetSubtype="0" repeatCount="400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379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35" presetClass="emph" presetSubtype="0" repeatCount="4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1" dur="1000" fill="hold"/>
                                        <p:tgtEl>
                                          <p:spTgt spid="379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225" name="Rectangle 45"/>
          <p:cNvSpPr>
            <a:spLocks noChangeArrowheads="1"/>
          </p:cNvSpPr>
          <p:nvPr/>
        </p:nvSpPr>
        <p:spPr bwMode="auto">
          <a:xfrm>
            <a:off x="631825" y="2001838"/>
            <a:ext cx="439738" cy="1196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固</a:t>
            </a:r>
          </a:p>
          <a:p>
            <a:pPr>
              <a:lnSpc>
                <a:spcPct val="90000"/>
              </a:lnSpc>
            </a:pPr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定</a:t>
            </a:r>
          </a:p>
          <a:p>
            <a:pPr>
              <a:lnSpc>
                <a:spcPct val="90000"/>
              </a:lnSpc>
            </a:pPr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部</a:t>
            </a:r>
          </a:p>
          <a:p>
            <a:pPr>
              <a:lnSpc>
                <a:spcPct val="90000"/>
              </a:lnSpc>
            </a:pPr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分</a:t>
            </a:r>
          </a:p>
        </p:txBody>
      </p:sp>
      <p:sp>
        <p:nvSpPr>
          <p:cNvPr id="820226" name="Rectangle 54"/>
          <p:cNvSpPr>
            <a:spLocks noChangeArrowheads="1"/>
          </p:cNvSpPr>
          <p:nvPr/>
        </p:nvSpPr>
        <p:spPr bwMode="auto">
          <a:xfrm>
            <a:off x="508000" y="3657600"/>
            <a:ext cx="695325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可变</a:t>
            </a:r>
          </a:p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部分</a:t>
            </a:r>
          </a:p>
        </p:txBody>
      </p:sp>
      <p:sp>
        <p:nvSpPr>
          <p:cNvPr id="820227" name="Line 6"/>
          <p:cNvSpPr>
            <a:spLocks noChangeShapeType="1"/>
          </p:cNvSpPr>
          <p:nvPr/>
        </p:nvSpPr>
        <p:spPr bwMode="auto">
          <a:xfrm>
            <a:off x="2490788" y="5915025"/>
            <a:ext cx="58705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20228" name="Rectangle 8"/>
          <p:cNvSpPr>
            <a:spLocks noChangeArrowheads="1"/>
          </p:cNvSpPr>
          <p:nvPr/>
        </p:nvSpPr>
        <p:spPr bwMode="auto">
          <a:xfrm>
            <a:off x="3351213" y="1600200"/>
            <a:ext cx="2132012" cy="434975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20229" name="Rectangle 90"/>
          <p:cNvSpPr>
            <a:spLocks noChangeArrowheads="1"/>
          </p:cNvSpPr>
          <p:nvPr/>
        </p:nvSpPr>
        <p:spPr bwMode="auto">
          <a:xfrm>
            <a:off x="2457450" y="5224463"/>
            <a:ext cx="1560513" cy="449262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20230" name="Rectangle 10"/>
          <p:cNvSpPr>
            <a:spLocks noChangeArrowheads="1"/>
          </p:cNvSpPr>
          <p:nvPr/>
        </p:nvSpPr>
        <p:spPr bwMode="auto">
          <a:xfrm>
            <a:off x="1231900" y="1590675"/>
            <a:ext cx="8520113" cy="2643188"/>
          </a:xfrm>
          <a:prstGeom prst="rect">
            <a:avLst/>
          </a:prstGeom>
          <a:solidFill>
            <a:srgbClr val="CCE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20231" name="Rectangle 11"/>
          <p:cNvSpPr>
            <a:spLocks noChangeArrowheads="1"/>
          </p:cNvSpPr>
          <p:nvPr/>
        </p:nvSpPr>
        <p:spPr bwMode="auto">
          <a:xfrm>
            <a:off x="1246188" y="4244975"/>
            <a:ext cx="8486775" cy="681038"/>
          </a:xfrm>
          <a:prstGeom prst="rect">
            <a:avLst/>
          </a:prstGeom>
          <a:solidFill>
            <a:srgbClr val="FFFF99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20232" name="Line 12"/>
          <p:cNvSpPr>
            <a:spLocks noChangeShapeType="1"/>
          </p:cNvSpPr>
          <p:nvPr/>
        </p:nvSpPr>
        <p:spPr bwMode="auto">
          <a:xfrm>
            <a:off x="1225550" y="2041525"/>
            <a:ext cx="8535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20233" name="Line 13"/>
          <p:cNvSpPr>
            <a:spLocks noChangeShapeType="1"/>
          </p:cNvSpPr>
          <p:nvPr/>
        </p:nvSpPr>
        <p:spPr bwMode="auto">
          <a:xfrm>
            <a:off x="1225550" y="2484438"/>
            <a:ext cx="8535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20234" name="Line 14"/>
          <p:cNvSpPr>
            <a:spLocks noChangeShapeType="1"/>
          </p:cNvSpPr>
          <p:nvPr/>
        </p:nvSpPr>
        <p:spPr bwMode="auto">
          <a:xfrm>
            <a:off x="1225550" y="2928938"/>
            <a:ext cx="8535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20235" name="Line 15"/>
          <p:cNvSpPr>
            <a:spLocks noChangeShapeType="1"/>
          </p:cNvSpPr>
          <p:nvPr/>
        </p:nvSpPr>
        <p:spPr bwMode="auto">
          <a:xfrm>
            <a:off x="1225550" y="3367088"/>
            <a:ext cx="8535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20236" name="Line 16"/>
          <p:cNvSpPr>
            <a:spLocks noChangeShapeType="1"/>
          </p:cNvSpPr>
          <p:nvPr/>
        </p:nvSpPr>
        <p:spPr bwMode="auto">
          <a:xfrm>
            <a:off x="1225550" y="3811588"/>
            <a:ext cx="8535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20237" name="Line 17"/>
          <p:cNvSpPr>
            <a:spLocks noChangeShapeType="1"/>
          </p:cNvSpPr>
          <p:nvPr/>
        </p:nvSpPr>
        <p:spPr bwMode="auto">
          <a:xfrm>
            <a:off x="2274888" y="1598613"/>
            <a:ext cx="0" cy="4429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20238" name="Line 18"/>
          <p:cNvSpPr>
            <a:spLocks noChangeShapeType="1"/>
          </p:cNvSpPr>
          <p:nvPr/>
        </p:nvSpPr>
        <p:spPr bwMode="auto">
          <a:xfrm>
            <a:off x="3341688" y="1598613"/>
            <a:ext cx="0" cy="4429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20239" name="Line 19"/>
          <p:cNvSpPr>
            <a:spLocks noChangeShapeType="1"/>
          </p:cNvSpPr>
          <p:nvPr/>
        </p:nvSpPr>
        <p:spPr bwMode="auto">
          <a:xfrm>
            <a:off x="3341688" y="2493963"/>
            <a:ext cx="0" cy="431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20240" name="Line 20"/>
          <p:cNvSpPr>
            <a:spLocks noChangeShapeType="1"/>
          </p:cNvSpPr>
          <p:nvPr/>
        </p:nvSpPr>
        <p:spPr bwMode="auto">
          <a:xfrm>
            <a:off x="5478463" y="1598613"/>
            <a:ext cx="0" cy="13271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20241" name="Line 21"/>
          <p:cNvSpPr>
            <a:spLocks noChangeShapeType="1"/>
          </p:cNvSpPr>
          <p:nvPr/>
        </p:nvSpPr>
        <p:spPr bwMode="auto">
          <a:xfrm flipV="1">
            <a:off x="7615238" y="3806825"/>
            <a:ext cx="0" cy="4413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20242" name="Line 22"/>
          <p:cNvSpPr>
            <a:spLocks noChangeShapeType="1"/>
          </p:cNvSpPr>
          <p:nvPr/>
        </p:nvSpPr>
        <p:spPr bwMode="auto">
          <a:xfrm>
            <a:off x="6348413" y="2051050"/>
            <a:ext cx="0" cy="4333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20243" name="Rectangle 23"/>
          <p:cNvSpPr>
            <a:spLocks noChangeArrowheads="1"/>
          </p:cNvSpPr>
          <p:nvPr/>
        </p:nvSpPr>
        <p:spPr bwMode="auto">
          <a:xfrm>
            <a:off x="1169988" y="1211263"/>
            <a:ext cx="3254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0</a:t>
            </a:r>
          </a:p>
        </p:txBody>
      </p:sp>
      <p:sp>
        <p:nvSpPr>
          <p:cNvPr id="820244" name="Rectangle 24"/>
          <p:cNvSpPr>
            <a:spLocks noChangeArrowheads="1"/>
          </p:cNvSpPr>
          <p:nvPr/>
        </p:nvSpPr>
        <p:spPr bwMode="auto">
          <a:xfrm>
            <a:off x="2182813" y="1211263"/>
            <a:ext cx="3254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4</a:t>
            </a:r>
          </a:p>
        </p:txBody>
      </p:sp>
      <p:sp>
        <p:nvSpPr>
          <p:cNvPr id="820245" name="Rectangle 25"/>
          <p:cNvSpPr>
            <a:spLocks noChangeArrowheads="1"/>
          </p:cNvSpPr>
          <p:nvPr/>
        </p:nvSpPr>
        <p:spPr bwMode="auto">
          <a:xfrm>
            <a:off x="3260725" y="1211263"/>
            <a:ext cx="3254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8</a:t>
            </a:r>
          </a:p>
        </p:txBody>
      </p:sp>
      <p:sp>
        <p:nvSpPr>
          <p:cNvPr id="820246" name="Rectangle 26"/>
          <p:cNvSpPr>
            <a:spLocks noChangeArrowheads="1"/>
          </p:cNvSpPr>
          <p:nvPr/>
        </p:nvSpPr>
        <p:spPr bwMode="auto">
          <a:xfrm>
            <a:off x="5373688" y="1211263"/>
            <a:ext cx="4683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16</a:t>
            </a:r>
          </a:p>
        </p:txBody>
      </p:sp>
      <p:sp>
        <p:nvSpPr>
          <p:cNvPr id="820247" name="Rectangle 27"/>
          <p:cNvSpPr>
            <a:spLocks noChangeArrowheads="1"/>
          </p:cNvSpPr>
          <p:nvPr/>
        </p:nvSpPr>
        <p:spPr bwMode="auto">
          <a:xfrm>
            <a:off x="6237288" y="1211263"/>
            <a:ext cx="4683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19</a:t>
            </a:r>
          </a:p>
        </p:txBody>
      </p:sp>
      <p:sp>
        <p:nvSpPr>
          <p:cNvPr id="820248" name="Rectangle 28"/>
          <p:cNvSpPr>
            <a:spLocks noChangeArrowheads="1"/>
          </p:cNvSpPr>
          <p:nvPr/>
        </p:nvSpPr>
        <p:spPr bwMode="auto">
          <a:xfrm>
            <a:off x="7510463" y="1211263"/>
            <a:ext cx="4683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24</a:t>
            </a:r>
          </a:p>
        </p:txBody>
      </p:sp>
      <p:sp>
        <p:nvSpPr>
          <p:cNvPr id="820249" name="Rectangle 29"/>
          <p:cNvSpPr>
            <a:spLocks noChangeArrowheads="1"/>
          </p:cNvSpPr>
          <p:nvPr/>
        </p:nvSpPr>
        <p:spPr bwMode="auto">
          <a:xfrm>
            <a:off x="9366250" y="1211263"/>
            <a:ext cx="4683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31</a:t>
            </a:r>
          </a:p>
        </p:txBody>
      </p:sp>
      <p:sp>
        <p:nvSpPr>
          <p:cNvPr id="820250" name="Rectangle 30"/>
          <p:cNvSpPr>
            <a:spLocks noChangeArrowheads="1"/>
          </p:cNvSpPr>
          <p:nvPr/>
        </p:nvSpPr>
        <p:spPr bwMode="auto">
          <a:xfrm>
            <a:off x="1331913" y="1625600"/>
            <a:ext cx="7683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版 本</a:t>
            </a:r>
          </a:p>
        </p:txBody>
      </p:sp>
      <p:sp>
        <p:nvSpPr>
          <p:cNvPr id="820251" name="Rectangle 31"/>
          <p:cNvSpPr>
            <a:spLocks noChangeArrowheads="1"/>
          </p:cNvSpPr>
          <p:nvPr/>
        </p:nvSpPr>
        <p:spPr bwMode="auto">
          <a:xfrm>
            <a:off x="5543550" y="2101850"/>
            <a:ext cx="6953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标志</a:t>
            </a:r>
          </a:p>
        </p:txBody>
      </p:sp>
      <p:sp>
        <p:nvSpPr>
          <p:cNvPr id="820252" name="Rectangle 32"/>
          <p:cNvSpPr>
            <a:spLocks noChangeArrowheads="1"/>
          </p:cNvSpPr>
          <p:nvPr/>
        </p:nvSpPr>
        <p:spPr bwMode="auto">
          <a:xfrm>
            <a:off x="1544638" y="2506663"/>
            <a:ext cx="14271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生 存 时 间</a:t>
            </a:r>
          </a:p>
        </p:txBody>
      </p:sp>
      <p:sp>
        <p:nvSpPr>
          <p:cNvPr id="820253" name="Rectangle 33"/>
          <p:cNvSpPr>
            <a:spLocks noChangeArrowheads="1"/>
          </p:cNvSpPr>
          <p:nvPr/>
        </p:nvSpPr>
        <p:spPr bwMode="auto">
          <a:xfrm>
            <a:off x="3852863" y="2506663"/>
            <a:ext cx="9810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协    议</a:t>
            </a:r>
          </a:p>
        </p:txBody>
      </p:sp>
      <p:sp>
        <p:nvSpPr>
          <p:cNvPr id="820254" name="Rectangle 34"/>
          <p:cNvSpPr>
            <a:spLocks noChangeArrowheads="1"/>
          </p:cNvSpPr>
          <p:nvPr/>
        </p:nvSpPr>
        <p:spPr bwMode="auto">
          <a:xfrm>
            <a:off x="2784475" y="2101850"/>
            <a:ext cx="9810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标    识</a:t>
            </a:r>
          </a:p>
        </p:txBody>
      </p:sp>
      <p:sp>
        <p:nvSpPr>
          <p:cNvPr id="820255" name="Rectangle 35"/>
          <p:cNvSpPr>
            <a:spLocks noChangeArrowheads="1"/>
          </p:cNvSpPr>
          <p:nvPr/>
        </p:nvSpPr>
        <p:spPr bwMode="auto">
          <a:xfrm>
            <a:off x="3663950" y="1625600"/>
            <a:ext cx="1425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区 分 服 务</a:t>
            </a:r>
          </a:p>
        </p:txBody>
      </p:sp>
      <p:sp>
        <p:nvSpPr>
          <p:cNvPr id="820256" name="Rectangle 36"/>
          <p:cNvSpPr>
            <a:spLocks noChangeArrowheads="1"/>
          </p:cNvSpPr>
          <p:nvPr/>
        </p:nvSpPr>
        <p:spPr bwMode="auto">
          <a:xfrm>
            <a:off x="7050088" y="1625600"/>
            <a:ext cx="13795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总   长   度</a:t>
            </a:r>
          </a:p>
        </p:txBody>
      </p:sp>
      <p:sp>
        <p:nvSpPr>
          <p:cNvPr id="820257" name="Rectangle 37"/>
          <p:cNvSpPr>
            <a:spLocks noChangeArrowheads="1"/>
          </p:cNvSpPr>
          <p:nvPr/>
        </p:nvSpPr>
        <p:spPr bwMode="auto">
          <a:xfrm>
            <a:off x="7343775" y="2101850"/>
            <a:ext cx="13795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片   偏   移</a:t>
            </a:r>
          </a:p>
        </p:txBody>
      </p:sp>
      <p:sp>
        <p:nvSpPr>
          <p:cNvPr id="820258" name="Rectangle 38"/>
          <p:cNvSpPr>
            <a:spLocks noChangeArrowheads="1"/>
          </p:cNvSpPr>
          <p:nvPr/>
        </p:nvSpPr>
        <p:spPr bwMode="auto">
          <a:xfrm>
            <a:off x="8128000" y="3835400"/>
            <a:ext cx="9810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C00000"/>
                </a:solidFill>
                <a:ea typeface="黑体" panose="02010609060101010101" pitchFamily="49" charset="-122"/>
              </a:rPr>
              <a:t>填    充</a:t>
            </a:r>
          </a:p>
        </p:txBody>
      </p:sp>
      <p:sp>
        <p:nvSpPr>
          <p:cNvPr id="820259" name="Rectangle 39"/>
          <p:cNvSpPr>
            <a:spLocks noChangeArrowheads="1"/>
          </p:cNvSpPr>
          <p:nvPr/>
        </p:nvSpPr>
        <p:spPr bwMode="auto">
          <a:xfrm>
            <a:off x="6419850" y="2506663"/>
            <a:ext cx="23193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首   部   检   验   和</a:t>
            </a:r>
          </a:p>
        </p:txBody>
      </p:sp>
      <p:sp>
        <p:nvSpPr>
          <p:cNvPr id="820260" name="Rectangle 40"/>
          <p:cNvSpPr>
            <a:spLocks noChangeArrowheads="1"/>
          </p:cNvSpPr>
          <p:nvPr/>
        </p:nvSpPr>
        <p:spPr bwMode="auto">
          <a:xfrm>
            <a:off x="4784725" y="2965450"/>
            <a:ext cx="13795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源   地   址</a:t>
            </a:r>
          </a:p>
        </p:txBody>
      </p:sp>
      <p:sp>
        <p:nvSpPr>
          <p:cNvPr id="820261" name="Rectangle 41"/>
          <p:cNvSpPr>
            <a:spLocks noChangeArrowheads="1"/>
          </p:cNvSpPr>
          <p:nvPr/>
        </p:nvSpPr>
        <p:spPr bwMode="auto">
          <a:xfrm>
            <a:off x="4506913" y="3406775"/>
            <a:ext cx="18510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目   的   地   址</a:t>
            </a:r>
          </a:p>
        </p:txBody>
      </p:sp>
      <p:sp>
        <p:nvSpPr>
          <p:cNvPr id="820262" name="Rectangle 42"/>
          <p:cNvSpPr>
            <a:spLocks noChangeArrowheads="1"/>
          </p:cNvSpPr>
          <p:nvPr/>
        </p:nvSpPr>
        <p:spPr bwMode="auto">
          <a:xfrm>
            <a:off x="2414588" y="3835400"/>
            <a:ext cx="41735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C00000"/>
                </a:solidFill>
                <a:ea typeface="黑体" panose="02010609060101010101" pitchFamily="49" charset="-122"/>
              </a:rPr>
              <a:t>可   选   字   段  （长   度   可   变）</a:t>
            </a:r>
          </a:p>
        </p:txBody>
      </p:sp>
      <p:sp>
        <p:nvSpPr>
          <p:cNvPr id="820263" name="Rectangle 43"/>
          <p:cNvSpPr>
            <a:spLocks noChangeArrowheads="1"/>
          </p:cNvSpPr>
          <p:nvPr/>
        </p:nvSpPr>
        <p:spPr bwMode="auto">
          <a:xfrm>
            <a:off x="658813" y="1196975"/>
            <a:ext cx="4397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位</a:t>
            </a:r>
          </a:p>
        </p:txBody>
      </p:sp>
      <p:sp>
        <p:nvSpPr>
          <p:cNvPr id="820264" name="Rectangle 44"/>
          <p:cNvSpPr>
            <a:spLocks noChangeArrowheads="1"/>
          </p:cNvSpPr>
          <p:nvPr/>
        </p:nvSpPr>
        <p:spPr bwMode="auto">
          <a:xfrm>
            <a:off x="2170113" y="1606550"/>
            <a:ext cx="12096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首部长度</a:t>
            </a:r>
          </a:p>
        </p:txBody>
      </p:sp>
      <p:grpSp>
        <p:nvGrpSpPr>
          <p:cNvPr id="820265" name="Group 46"/>
          <p:cNvGrpSpPr>
            <a:grpSpLocks/>
          </p:cNvGrpSpPr>
          <p:nvPr/>
        </p:nvGrpSpPr>
        <p:grpSpPr bwMode="auto">
          <a:xfrm>
            <a:off x="1158875" y="3976688"/>
            <a:ext cx="142875" cy="69850"/>
            <a:chOff x="833" y="3024"/>
            <a:chExt cx="78" cy="51"/>
          </a:xfrm>
        </p:grpSpPr>
        <p:sp>
          <p:nvSpPr>
            <p:cNvPr id="820266" name="Rectangle 47"/>
            <p:cNvSpPr>
              <a:spLocks noChangeArrowheads="1"/>
            </p:cNvSpPr>
            <p:nvPr/>
          </p:nvSpPr>
          <p:spPr bwMode="auto">
            <a:xfrm>
              <a:off x="833" y="3024"/>
              <a:ext cx="78" cy="5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20267" name="Line 48"/>
            <p:cNvSpPr>
              <a:spLocks noChangeShapeType="1"/>
            </p:cNvSpPr>
            <p:nvPr/>
          </p:nvSpPr>
          <p:spPr bwMode="auto">
            <a:xfrm>
              <a:off x="839" y="3030"/>
              <a:ext cx="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20268" name="Line 49"/>
            <p:cNvSpPr>
              <a:spLocks noChangeShapeType="1"/>
            </p:cNvSpPr>
            <p:nvPr/>
          </p:nvSpPr>
          <p:spPr bwMode="auto">
            <a:xfrm>
              <a:off x="839" y="3075"/>
              <a:ext cx="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</p:grpSp>
      <p:grpSp>
        <p:nvGrpSpPr>
          <p:cNvPr id="820269" name="Group 50"/>
          <p:cNvGrpSpPr>
            <a:grpSpLocks/>
          </p:cNvGrpSpPr>
          <p:nvPr/>
        </p:nvGrpSpPr>
        <p:grpSpPr bwMode="auto">
          <a:xfrm>
            <a:off x="9682163" y="3986213"/>
            <a:ext cx="142875" cy="66675"/>
            <a:chOff x="5432" y="3030"/>
            <a:chExt cx="78" cy="51"/>
          </a:xfrm>
        </p:grpSpPr>
        <p:sp>
          <p:nvSpPr>
            <p:cNvPr id="820270" name="Rectangle 51"/>
            <p:cNvSpPr>
              <a:spLocks noChangeArrowheads="1"/>
            </p:cNvSpPr>
            <p:nvPr/>
          </p:nvSpPr>
          <p:spPr bwMode="auto">
            <a:xfrm>
              <a:off x="5432" y="3030"/>
              <a:ext cx="78" cy="5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20271" name="Line 52"/>
            <p:cNvSpPr>
              <a:spLocks noChangeShapeType="1"/>
            </p:cNvSpPr>
            <p:nvPr/>
          </p:nvSpPr>
          <p:spPr bwMode="auto">
            <a:xfrm>
              <a:off x="5438" y="3036"/>
              <a:ext cx="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20272" name="Line 53"/>
            <p:cNvSpPr>
              <a:spLocks noChangeShapeType="1"/>
            </p:cNvSpPr>
            <p:nvPr/>
          </p:nvSpPr>
          <p:spPr bwMode="auto">
            <a:xfrm>
              <a:off x="5438" y="3081"/>
              <a:ext cx="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</p:grpSp>
      <p:sp>
        <p:nvSpPr>
          <p:cNvPr id="820273" name="Rectangle 75"/>
          <p:cNvSpPr>
            <a:spLocks noChangeArrowheads="1"/>
          </p:cNvSpPr>
          <p:nvPr/>
        </p:nvSpPr>
        <p:spPr bwMode="auto">
          <a:xfrm>
            <a:off x="4129088" y="4378325"/>
            <a:ext cx="31511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数       据       部       分</a:t>
            </a:r>
          </a:p>
        </p:txBody>
      </p:sp>
      <p:sp>
        <p:nvSpPr>
          <p:cNvPr id="820274" name="Rectangle 80"/>
          <p:cNvSpPr>
            <a:spLocks noChangeArrowheads="1"/>
          </p:cNvSpPr>
          <p:nvPr/>
        </p:nvSpPr>
        <p:spPr bwMode="auto">
          <a:xfrm>
            <a:off x="4017963" y="5224463"/>
            <a:ext cx="4314825" cy="449262"/>
          </a:xfrm>
          <a:prstGeom prst="rect">
            <a:avLst/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20275" name="Rectangle 82"/>
          <p:cNvSpPr>
            <a:spLocks noChangeArrowheads="1"/>
          </p:cNvSpPr>
          <p:nvPr/>
        </p:nvSpPr>
        <p:spPr bwMode="auto">
          <a:xfrm>
            <a:off x="4635500" y="5241925"/>
            <a:ext cx="3352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数       据       部       分</a:t>
            </a:r>
          </a:p>
        </p:txBody>
      </p:sp>
      <p:sp>
        <p:nvSpPr>
          <p:cNvPr id="820276" name="Rectangle 83"/>
          <p:cNvSpPr>
            <a:spLocks noChangeArrowheads="1"/>
          </p:cNvSpPr>
          <p:nvPr/>
        </p:nvSpPr>
        <p:spPr bwMode="auto">
          <a:xfrm>
            <a:off x="2690813" y="5241925"/>
            <a:ext cx="9112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首   部</a:t>
            </a:r>
          </a:p>
        </p:txBody>
      </p:sp>
      <p:sp>
        <p:nvSpPr>
          <p:cNvPr id="820277" name="Rectangle 85"/>
          <p:cNvSpPr>
            <a:spLocks noChangeArrowheads="1"/>
          </p:cNvSpPr>
          <p:nvPr/>
        </p:nvSpPr>
        <p:spPr bwMode="auto">
          <a:xfrm>
            <a:off x="4637088" y="5710238"/>
            <a:ext cx="1263650" cy="3968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IP </a:t>
            </a:r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数据报</a:t>
            </a:r>
          </a:p>
        </p:txBody>
      </p:sp>
      <p:grpSp>
        <p:nvGrpSpPr>
          <p:cNvPr id="379998" name="Group 94"/>
          <p:cNvGrpSpPr>
            <a:grpSpLocks/>
          </p:cNvGrpSpPr>
          <p:nvPr/>
        </p:nvGrpSpPr>
        <p:grpSpPr bwMode="auto">
          <a:xfrm>
            <a:off x="266700" y="1570038"/>
            <a:ext cx="438150" cy="2663825"/>
            <a:chOff x="111" y="845"/>
            <a:chExt cx="255" cy="1678"/>
          </a:xfrm>
        </p:grpSpPr>
        <p:sp>
          <p:nvSpPr>
            <p:cNvPr id="820279" name="Line 89"/>
            <p:cNvSpPr>
              <a:spLocks noChangeShapeType="1"/>
            </p:cNvSpPr>
            <p:nvPr/>
          </p:nvSpPr>
          <p:spPr bwMode="auto">
            <a:xfrm>
              <a:off x="249" y="845"/>
              <a:ext cx="0" cy="167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20280" name="Rectangle 78"/>
            <p:cNvSpPr>
              <a:spLocks noChangeArrowheads="1"/>
            </p:cNvSpPr>
            <p:nvPr/>
          </p:nvSpPr>
          <p:spPr bwMode="auto">
            <a:xfrm>
              <a:off x="111" y="1389"/>
              <a:ext cx="255" cy="4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首</a:t>
              </a:r>
            </a:p>
            <a:p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部</a:t>
              </a:r>
            </a:p>
          </p:txBody>
        </p:sp>
      </p:grpSp>
      <p:grpSp>
        <p:nvGrpSpPr>
          <p:cNvPr id="379997" name="Group 93"/>
          <p:cNvGrpSpPr>
            <a:grpSpLocks/>
          </p:cNvGrpSpPr>
          <p:nvPr/>
        </p:nvGrpSpPr>
        <p:grpSpPr bwMode="auto">
          <a:xfrm>
            <a:off x="1209675" y="3811588"/>
            <a:ext cx="8553450" cy="1860550"/>
            <a:chOff x="703" y="2257"/>
            <a:chExt cx="4974" cy="1172"/>
          </a:xfrm>
        </p:grpSpPr>
        <p:sp>
          <p:nvSpPr>
            <p:cNvPr id="820282" name="Rectangle 91"/>
            <p:cNvSpPr>
              <a:spLocks noChangeArrowheads="1"/>
            </p:cNvSpPr>
            <p:nvPr/>
          </p:nvSpPr>
          <p:spPr bwMode="auto">
            <a:xfrm>
              <a:off x="703" y="2257"/>
              <a:ext cx="4974" cy="265"/>
            </a:xfrm>
            <a:prstGeom prst="rect">
              <a:avLst/>
            </a:prstGeom>
            <a:noFill/>
            <a:ln w="5715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20283" name="Rectangle 92"/>
            <p:cNvSpPr>
              <a:spLocks noChangeArrowheads="1"/>
            </p:cNvSpPr>
            <p:nvPr/>
          </p:nvSpPr>
          <p:spPr bwMode="auto">
            <a:xfrm>
              <a:off x="1426" y="3145"/>
              <a:ext cx="915" cy="284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</p:grpSp>
      <p:sp>
        <p:nvSpPr>
          <p:cNvPr id="820284" name="AutoShape 97"/>
          <p:cNvSpPr>
            <a:spLocks/>
          </p:cNvSpPr>
          <p:nvPr/>
        </p:nvSpPr>
        <p:spPr bwMode="auto">
          <a:xfrm>
            <a:off x="998538" y="1641475"/>
            <a:ext cx="180975" cy="2160588"/>
          </a:xfrm>
          <a:prstGeom prst="leftBrace">
            <a:avLst>
              <a:gd name="adj1" fmla="val 107779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grpSp>
        <p:nvGrpSpPr>
          <p:cNvPr id="820285" name="Group 100"/>
          <p:cNvGrpSpPr>
            <a:grpSpLocks/>
          </p:cNvGrpSpPr>
          <p:nvPr/>
        </p:nvGrpSpPr>
        <p:grpSpPr bwMode="auto">
          <a:xfrm>
            <a:off x="1782763" y="5745163"/>
            <a:ext cx="1209675" cy="855662"/>
            <a:chOff x="1037" y="3475"/>
            <a:chExt cx="703" cy="539"/>
          </a:xfrm>
        </p:grpSpPr>
        <p:sp>
          <p:nvSpPr>
            <p:cNvPr id="820286" name="Line 98"/>
            <p:cNvSpPr>
              <a:spLocks noChangeShapeType="1"/>
            </p:cNvSpPr>
            <p:nvPr/>
          </p:nvSpPr>
          <p:spPr bwMode="auto">
            <a:xfrm flipV="1">
              <a:off x="1428" y="3475"/>
              <a:ext cx="0" cy="317"/>
            </a:xfrm>
            <a:prstGeom prst="line">
              <a:avLst/>
            </a:prstGeom>
            <a:noFill/>
            <a:ln w="57150">
              <a:solidFill>
                <a:srgbClr val="C0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20287" name="Rectangle 99"/>
            <p:cNvSpPr>
              <a:spLocks noChangeArrowheads="1"/>
            </p:cNvSpPr>
            <p:nvPr/>
          </p:nvSpPr>
          <p:spPr bwMode="auto">
            <a:xfrm>
              <a:off x="1037" y="3764"/>
              <a:ext cx="70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发送在前</a:t>
              </a:r>
            </a:p>
          </p:txBody>
        </p:sp>
      </p:grpSp>
      <p:sp>
        <p:nvSpPr>
          <p:cNvPr id="820288" name="矩形 1"/>
          <p:cNvSpPr>
            <a:spLocks noChangeArrowheads="1"/>
          </p:cNvSpPr>
          <p:nvPr/>
        </p:nvSpPr>
        <p:spPr bwMode="auto">
          <a:xfrm>
            <a:off x="2274888" y="252413"/>
            <a:ext cx="5853112" cy="584200"/>
          </a:xfrm>
          <a:prstGeom prst="rect">
            <a:avLst/>
          </a:prstGeom>
          <a:solidFill>
            <a:srgbClr val="FFFFCC"/>
          </a:solidFill>
          <a:ln w="9525">
            <a:solidFill>
              <a:schemeClr val="folHlink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 eaLnBrk="0" hangingPunct="0"/>
            <a:r>
              <a:rPr lang="zh-CN" altLang="en-US" sz="3200" b="1">
                <a:solidFill>
                  <a:srgbClr val="0000CC"/>
                </a:solidFill>
                <a:ea typeface="黑体" panose="02010609060101010101" pitchFamily="49" charset="-122"/>
              </a:rPr>
              <a:t>可选字段，其长度是可变的</a:t>
            </a:r>
          </a:p>
        </p:txBody>
      </p:sp>
      <p:sp>
        <p:nvSpPr>
          <p:cNvPr id="820289" name="灯片编号占位符 4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fld id="{0172B460-3723-4454-A3FF-E40DE61003FC}" type="slidenum">
              <a:rPr lang="zh-CN" altLang="en-US" smtClean="0"/>
              <a:pPr/>
              <a:t>29</a:t>
            </a:fld>
            <a:endParaRPr lang="en-US" altLang="zh-CN" smtClean="0"/>
          </a:p>
        </p:txBody>
      </p:sp>
      <p:sp>
        <p:nvSpPr>
          <p:cNvPr id="820290" name="页脚占位符 5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1"/>
                            </p:stCondLst>
                            <p:childTnLst>
                              <p:par>
                                <p:cTn id="8" presetID="35" presetClass="emph" presetSubtype="0" repeatCount="400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379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35" presetClass="emph" presetSubtype="0" repeatCount="4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1" dur="1000" fill="hold"/>
                                        <p:tgtEl>
                                          <p:spTgt spid="379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273" name="Rectangle 45"/>
          <p:cNvSpPr>
            <a:spLocks noChangeArrowheads="1"/>
          </p:cNvSpPr>
          <p:nvPr/>
        </p:nvSpPr>
        <p:spPr bwMode="auto">
          <a:xfrm>
            <a:off x="631825" y="2022475"/>
            <a:ext cx="439738" cy="1196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固</a:t>
            </a:r>
          </a:p>
          <a:p>
            <a:pPr>
              <a:lnSpc>
                <a:spcPct val="90000"/>
              </a:lnSpc>
            </a:pPr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定</a:t>
            </a:r>
          </a:p>
          <a:p>
            <a:pPr>
              <a:lnSpc>
                <a:spcPct val="90000"/>
              </a:lnSpc>
            </a:pPr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部</a:t>
            </a:r>
          </a:p>
          <a:p>
            <a:pPr>
              <a:lnSpc>
                <a:spcPct val="90000"/>
              </a:lnSpc>
            </a:pPr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分</a:t>
            </a:r>
          </a:p>
        </p:txBody>
      </p:sp>
      <p:sp>
        <p:nvSpPr>
          <p:cNvPr id="822274" name="Rectangle 54"/>
          <p:cNvSpPr>
            <a:spLocks noChangeArrowheads="1"/>
          </p:cNvSpPr>
          <p:nvPr/>
        </p:nvSpPr>
        <p:spPr bwMode="auto">
          <a:xfrm>
            <a:off x="508000" y="3678238"/>
            <a:ext cx="695325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可变</a:t>
            </a:r>
          </a:p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部分</a:t>
            </a:r>
          </a:p>
        </p:txBody>
      </p:sp>
      <p:sp>
        <p:nvSpPr>
          <p:cNvPr id="822275" name="Rectangle 8"/>
          <p:cNvSpPr>
            <a:spLocks noChangeArrowheads="1"/>
          </p:cNvSpPr>
          <p:nvPr/>
        </p:nvSpPr>
        <p:spPr bwMode="auto">
          <a:xfrm>
            <a:off x="3351213" y="1620838"/>
            <a:ext cx="2132012" cy="434975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22276" name="Rectangle 10"/>
          <p:cNvSpPr>
            <a:spLocks noChangeArrowheads="1"/>
          </p:cNvSpPr>
          <p:nvPr/>
        </p:nvSpPr>
        <p:spPr bwMode="auto">
          <a:xfrm>
            <a:off x="1231900" y="1611313"/>
            <a:ext cx="8520113" cy="2643187"/>
          </a:xfrm>
          <a:prstGeom prst="rect">
            <a:avLst/>
          </a:prstGeom>
          <a:solidFill>
            <a:srgbClr val="CCE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22277" name="Rectangle 11"/>
          <p:cNvSpPr>
            <a:spLocks noChangeArrowheads="1"/>
          </p:cNvSpPr>
          <p:nvPr/>
        </p:nvSpPr>
        <p:spPr bwMode="auto">
          <a:xfrm>
            <a:off x="1246188" y="4265613"/>
            <a:ext cx="8486775" cy="681037"/>
          </a:xfrm>
          <a:prstGeom prst="rect">
            <a:avLst/>
          </a:prstGeom>
          <a:solidFill>
            <a:srgbClr val="FFFF99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22278" name="Line 12"/>
          <p:cNvSpPr>
            <a:spLocks noChangeShapeType="1"/>
          </p:cNvSpPr>
          <p:nvPr/>
        </p:nvSpPr>
        <p:spPr bwMode="auto">
          <a:xfrm>
            <a:off x="1225550" y="2062163"/>
            <a:ext cx="8535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22279" name="Line 13"/>
          <p:cNvSpPr>
            <a:spLocks noChangeShapeType="1"/>
          </p:cNvSpPr>
          <p:nvPr/>
        </p:nvSpPr>
        <p:spPr bwMode="auto">
          <a:xfrm>
            <a:off x="1225550" y="2505075"/>
            <a:ext cx="8535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22280" name="Line 14"/>
          <p:cNvSpPr>
            <a:spLocks noChangeShapeType="1"/>
          </p:cNvSpPr>
          <p:nvPr/>
        </p:nvSpPr>
        <p:spPr bwMode="auto">
          <a:xfrm>
            <a:off x="1225550" y="2949575"/>
            <a:ext cx="8535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22281" name="Line 15"/>
          <p:cNvSpPr>
            <a:spLocks noChangeShapeType="1"/>
          </p:cNvSpPr>
          <p:nvPr/>
        </p:nvSpPr>
        <p:spPr bwMode="auto">
          <a:xfrm>
            <a:off x="1225550" y="3387725"/>
            <a:ext cx="8535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22282" name="Line 16"/>
          <p:cNvSpPr>
            <a:spLocks noChangeShapeType="1"/>
          </p:cNvSpPr>
          <p:nvPr/>
        </p:nvSpPr>
        <p:spPr bwMode="auto">
          <a:xfrm>
            <a:off x="1225550" y="3832225"/>
            <a:ext cx="8535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22283" name="Line 17"/>
          <p:cNvSpPr>
            <a:spLocks noChangeShapeType="1"/>
          </p:cNvSpPr>
          <p:nvPr/>
        </p:nvSpPr>
        <p:spPr bwMode="auto">
          <a:xfrm>
            <a:off x="2274888" y="1619250"/>
            <a:ext cx="0" cy="4429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22284" name="Line 18"/>
          <p:cNvSpPr>
            <a:spLocks noChangeShapeType="1"/>
          </p:cNvSpPr>
          <p:nvPr/>
        </p:nvSpPr>
        <p:spPr bwMode="auto">
          <a:xfrm>
            <a:off x="3341688" y="1619250"/>
            <a:ext cx="0" cy="4429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22285" name="Line 19"/>
          <p:cNvSpPr>
            <a:spLocks noChangeShapeType="1"/>
          </p:cNvSpPr>
          <p:nvPr/>
        </p:nvSpPr>
        <p:spPr bwMode="auto">
          <a:xfrm>
            <a:off x="3341688" y="2514600"/>
            <a:ext cx="0" cy="431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22286" name="Line 20"/>
          <p:cNvSpPr>
            <a:spLocks noChangeShapeType="1"/>
          </p:cNvSpPr>
          <p:nvPr/>
        </p:nvSpPr>
        <p:spPr bwMode="auto">
          <a:xfrm>
            <a:off x="5478463" y="1619250"/>
            <a:ext cx="0" cy="13271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22287" name="Line 21"/>
          <p:cNvSpPr>
            <a:spLocks noChangeShapeType="1"/>
          </p:cNvSpPr>
          <p:nvPr/>
        </p:nvSpPr>
        <p:spPr bwMode="auto">
          <a:xfrm flipV="1">
            <a:off x="7615238" y="3827463"/>
            <a:ext cx="0" cy="4413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22288" name="Line 22"/>
          <p:cNvSpPr>
            <a:spLocks noChangeShapeType="1"/>
          </p:cNvSpPr>
          <p:nvPr/>
        </p:nvSpPr>
        <p:spPr bwMode="auto">
          <a:xfrm>
            <a:off x="6348413" y="2071688"/>
            <a:ext cx="0" cy="4333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22289" name="Rectangle 23"/>
          <p:cNvSpPr>
            <a:spLocks noChangeArrowheads="1"/>
          </p:cNvSpPr>
          <p:nvPr/>
        </p:nvSpPr>
        <p:spPr bwMode="auto">
          <a:xfrm>
            <a:off x="1169988" y="1231900"/>
            <a:ext cx="3254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0</a:t>
            </a:r>
          </a:p>
        </p:txBody>
      </p:sp>
      <p:sp>
        <p:nvSpPr>
          <p:cNvPr id="822290" name="Rectangle 24"/>
          <p:cNvSpPr>
            <a:spLocks noChangeArrowheads="1"/>
          </p:cNvSpPr>
          <p:nvPr/>
        </p:nvSpPr>
        <p:spPr bwMode="auto">
          <a:xfrm>
            <a:off x="2182813" y="1231900"/>
            <a:ext cx="3254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4</a:t>
            </a:r>
          </a:p>
        </p:txBody>
      </p:sp>
      <p:sp>
        <p:nvSpPr>
          <p:cNvPr id="822291" name="Rectangle 25"/>
          <p:cNvSpPr>
            <a:spLocks noChangeArrowheads="1"/>
          </p:cNvSpPr>
          <p:nvPr/>
        </p:nvSpPr>
        <p:spPr bwMode="auto">
          <a:xfrm>
            <a:off x="3260725" y="1231900"/>
            <a:ext cx="3254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8</a:t>
            </a:r>
          </a:p>
        </p:txBody>
      </p:sp>
      <p:sp>
        <p:nvSpPr>
          <p:cNvPr id="822292" name="Rectangle 26"/>
          <p:cNvSpPr>
            <a:spLocks noChangeArrowheads="1"/>
          </p:cNvSpPr>
          <p:nvPr/>
        </p:nvSpPr>
        <p:spPr bwMode="auto">
          <a:xfrm>
            <a:off x="5373688" y="1231900"/>
            <a:ext cx="4683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16</a:t>
            </a:r>
          </a:p>
        </p:txBody>
      </p:sp>
      <p:sp>
        <p:nvSpPr>
          <p:cNvPr id="822293" name="Rectangle 27"/>
          <p:cNvSpPr>
            <a:spLocks noChangeArrowheads="1"/>
          </p:cNvSpPr>
          <p:nvPr/>
        </p:nvSpPr>
        <p:spPr bwMode="auto">
          <a:xfrm>
            <a:off x="6237288" y="1231900"/>
            <a:ext cx="4683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19</a:t>
            </a:r>
          </a:p>
        </p:txBody>
      </p:sp>
      <p:sp>
        <p:nvSpPr>
          <p:cNvPr id="822294" name="Rectangle 28"/>
          <p:cNvSpPr>
            <a:spLocks noChangeArrowheads="1"/>
          </p:cNvSpPr>
          <p:nvPr/>
        </p:nvSpPr>
        <p:spPr bwMode="auto">
          <a:xfrm>
            <a:off x="7510463" y="1231900"/>
            <a:ext cx="4683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24</a:t>
            </a:r>
          </a:p>
        </p:txBody>
      </p:sp>
      <p:sp>
        <p:nvSpPr>
          <p:cNvPr id="822295" name="Rectangle 29"/>
          <p:cNvSpPr>
            <a:spLocks noChangeArrowheads="1"/>
          </p:cNvSpPr>
          <p:nvPr/>
        </p:nvSpPr>
        <p:spPr bwMode="auto">
          <a:xfrm>
            <a:off x="9366250" y="1231900"/>
            <a:ext cx="4683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31</a:t>
            </a:r>
          </a:p>
        </p:txBody>
      </p:sp>
      <p:sp>
        <p:nvSpPr>
          <p:cNvPr id="822296" name="Rectangle 30"/>
          <p:cNvSpPr>
            <a:spLocks noChangeArrowheads="1"/>
          </p:cNvSpPr>
          <p:nvPr/>
        </p:nvSpPr>
        <p:spPr bwMode="auto">
          <a:xfrm>
            <a:off x="1331913" y="1646238"/>
            <a:ext cx="7683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版 本</a:t>
            </a:r>
          </a:p>
        </p:txBody>
      </p:sp>
      <p:sp>
        <p:nvSpPr>
          <p:cNvPr id="822297" name="Rectangle 31"/>
          <p:cNvSpPr>
            <a:spLocks noChangeArrowheads="1"/>
          </p:cNvSpPr>
          <p:nvPr/>
        </p:nvSpPr>
        <p:spPr bwMode="auto">
          <a:xfrm>
            <a:off x="5543550" y="2122488"/>
            <a:ext cx="6953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标志</a:t>
            </a:r>
          </a:p>
        </p:txBody>
      </p:sp>
      <p:sp>
        <p:nvSpPr>
          <p:cNvPr id="822298" name="Rectangle 32"/>
          <p:cNvSpPr>
            <a:spLocks noChangeArrowheads="1"/>
          </p:cNvSpPr>
          <p:nvPr/>
        </p:nvSpPr>
        <p:spPr bwMode="auto">
          <a:xfrm>
            <a:off x="1544638" y="2527300"/>
            <a:ext cx="14271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生 存 时 间</a:t>
            </a:r>
          </a:p>
        </p:txBody>
      </p:sp>
      <p:sp>
        <p:nvSpPr>
          <p:cNvPr id="822299" name="Rectangle 33"/>
          <p:cNvSpPr>
            <a:spLocks noChangeArrowheads="1"/>
          </p:cNvSpPr>
          <p:nvPr/>
        </p:nvSpPr>
        <p:spPr bwMode="auto">
          <a:xfrm>
            <a:off x="3852863" y="2527300"/>
            <a:ext cx="9810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协    议</a:t>
            </a:r>
          </a:p>
        </p:txBody>
      </p:sp>
      <p:sp>
        <p:nvSpPr>
          <p:cNvPr id="822300" name="Rectangle 34"/>
          <p:cNvSpPr>
            <a:spLocks noChangeArrowheads="1"/>
          </p:cNvSpPr>
          <p:nvPr/>
        </p:nvSpPr>
        <p:spPr bwMode="auto">
          <a:xfrm>
            <a:off x="2784475" y="2122488"/>
            <a:ext cx="9810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标    识</a:t>
            </a:r>
          </a:p>
        </p:txBody>
      </p:sp>
      <p:sp>
        <p:nvSpPr>
          <p:cNvPr id="822301" name="Rectangle 35"/>
          <p:cNvSpPr>
            <a:spLocks noChangeArrowheads="1"/>
          </p:cNvSpPr>
          <p:nvPr/>
        </p:nvSpPr>
        <p:spPr bwMode="auto">
          <a:xfrm>
            <a:off x="3663950" y="1646238"/>
            <a:ext cx="1425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区 分 服 务</a:t>
            </a:r>
          </a:p>
        </p:txBody>
      </p:sp>
      <p:sp>
        <p:nvSpPr>
          <p:cNvPr id="822302" name="Rectangle 36"/>
          <p:cNvSpPr>
            <a:spLocks noChangeArrowheads="1"/>
          </p:cNvSpPr>
          <p:nvPr/>
        </p:nvSpPr>
        <p:spPr bwMode="auto">
          <a:xfrm>
            <a:off x="7050088" y="1646238"/>
            <a:ext cx="13795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总   长   度</a:t>
            </a:r>
          </a:p>
        </p:txBody>
      </p:sp>
      <p:sp>
        <p:nvSpPr>
          <p:cNvPr id="822303" name="Rectangle 37"/>
          <p:cNvSpPr>
            <a:spLocks noChangeArrowheads="1"/>
          </p:cNvSpPr>
          <p:nvPr/>
        </p:nvSpPr>
        <p:spPr bwMode="auto">
          <a:xfrm>
            <a:off x="7343775" y="2122488"/>
            <a:ext cx="13795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片   偏   移</a:t>
            </a:r>
          </a:p>
        </p:txBody>
      </p:sp>
      <p:sp>
        <p:nvSpPr>
          <p:cNvPr id="822304" name="Rectangle 38"/>
          <p:cNvSpPr>
            <a:spLocks noChangeArrowheads="1"/>
          </p:cNvSpPr>
          <p:nvPr/>
        </p:nvSpPr>
        <p:spPr bwMode="auto">
          <a:xfrm>
            <a:off x="8128000" y="3856038"/>
            <a:ext cx="9810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C00000"/>
                </a:solidFill>
                <a:ea typeface="黑体" panose="02010609060101010101" pitchFamily="49" charset="-122"/>
              </a:rPr>
              <a:t>填    充</a:t>
            </a:r>
          </a:p>
        </p:txBody>
      </p:sp>
      <p:sp>
        <p:nvSpPr>
          <p:cNvPr id="822305" name="Rectangle 39"/>
          <p:cNvSpPr>
            <a:spLocks noChangeArrowheads="1"/>
          </p:cNvSpPr>
          <p:nvPr/>
        </p:nvSpPr>
        <p:spPr bwMode="auto">
          <a:xfrm>
            <a:off x="6419850" y="2527300"/>
            <a:ext cx="23193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首   部   检   验   和</a:t>
            </a:r>
          </a:p>
        </p:txBody>
      </p:sp>
      <p:sp>
        <p:nvSpPr>
          <p:cNvPr id="822306" name="Rectangle 40"/>
          <p:cNvSpPr>
            <a:spLocks noChangeArrowheads="1"/>
          </p:cNvSpPr>
          <p:nvPr/>
        </p:nvSpPr>
        <p:spPr bwMode="auto">
          <a:xfrm>
            <a:off x="4784725" y="2986088"/>
            <a:ext cx="13795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源   地   址</a:t>
            </a:r>
          </a:p>
        </p:txBody>
      </p:sp>
      <p:sp>
        <p:nvSpPr>
          <p:cNvPr id="822307" name="Rectangle 41"/>
          <p:cNvSpPr>
            <a:spLocks noChangeArrowheads="1"/>
          </p:cNvSpPr>
          <p:nvPr/>
        </p:nvSpPr>
        <p:spPr bwMode="auto">
          <a:xfrm>
            <a:off x="4506913" y="3427413"/>
            <a:ext cx="18510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目   的   地   址</a:t>
            </a:r>
          </a:p>
        </p:txBody>
      </p:sp>
      <p:sp>
        <p:nvSpPr>
          <p:cNvPr id="822308" name="Rectangle 42"/>
          <p:cNvSpPr>
            <a:spLocks noChangeArrowheads="1"/>
          </p:cNvSpPr>
          <p:nvPr/>
        </p:nvSpPr>
        <p:spPr bwMode="auto">
          <a:xfrm>
            <a:off x="2414588" y="3856038"/>
            <a:ext cx="41735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C00000"/>
                </a:solidFill>
                <a:ea typeface="黑体" panose="02010609060101010101" pitchFamily="49" charset="-122"/>
              </a:rPr>
              <a:t>可   选   字   段  （长   度   可   变）</a:t>
            </a:r>
          </a:p>
        </p:txBody>
      </p:sp>
      <p:sp>
        <p:nvSpPr>
          <p:cNvPr id="822309" name="Rectangle 43"/>
          <p:cNvSpPr>
            <a:spLocks noChangeArrowheads="1"/>
          </p:cNvSpPr>
          <p:nvPr/>
        </p:nvSpPr>
        <p:spPr bwMode="auto">
          <a:xfrm>
            <a:off x="658813" y="1217613"/>
            <a:ext cx="4397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位</a:t>
            </a:r>
          </a:p>
        </p:txBody>
      </p:sp>
      <p:sp>
        <p:nvSpPr>
          <p:cNvPr id="822310" name="Rectangle 44"/>
          <p:cNvSpPr>
            <a:spLocks noChangeArrowheads="1"/>
          </p:cNvSpPr>
          <p:nvPr/>
        </p:nvSpPr>
        <p:spPr bwMode="auto">
          <a:xfrm>
            <a:off x="2170113" y="1627188"/>
            <a:ext cx="12096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首部长度</a:t>
            </a:r>
          </a:p>
        </p:txBody>
      </p:sp>
      <p:grpSp>
        <p:nvGrpSpPr>
          <p:cNvPr id="822311" name="Group 46"/>
          <p:cNvGrpSpPr>
            <a:grpSpLocks/>
          </p:cNvGrpSpPr>
          <p:nvPr/>
        </p:nvGrpSpPr>
        <p:grpSpPr bwMode="auto">
          <a:xfrm>
            <a:off x="1158875" y="3997325"/>
            <a:ext cx="142875" cy="69850"/>
            <a:chOff x="833" y="3024"/>
            <a:chExt cx="78" cy="51"/>
          </a:xfrm>
        </p:grpSpPr>
        <p:sp>
          <p:nvSpPr>
            <p:cNvPr id="822312" name="Rectangle 47"/>
            <p:cNvSpPr>
              <a:spLocks noChangeArrowheads="1"/>
            </p:cNvSpPr>
            <p:nvPr/>
          </p:nvSpPr>
          <p:spPr bwMode="auto">
            <a:xfrm>
              <a:off x="833" y="3024"/>
              <a:ext cx="78" cy="5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22313" name="Line 48"/>
            <p:cNvSpPr>
              <a:spLocks noChangeShapeType="1"/>
            </p:cNvSpPr>
            <p:nvPr/>
          </p:nvSpPr>
          <p:spPr bwMode="auto">
            <a:xfrm>
              <a:off x="839" y="3030"/>
              <a:ext cx="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22314" name="Line 49"/>
            <p:cNvSpPr>
              <a:spLocks noChangeShapeType="1"/>
            </p:cNvSpPr>
            <p:nvPr/>
          </p:nvSpPr>
          <p:spPr bwMode="auto">
            <a:xfrm>
              <a:off x="839" y="3075"/>
              <a:ext cx="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</p:grpSp>
      <p:grpSp>
        <p:nvGrpSpPr>
          <p:cNvPr id="822315" name="Group 50"/>
          <p:cNvGrpSpPr>
            <a:grpSpLocks/>
          </p:cNvGrpSpPr>
          <p:nvPr/>
        </p:nvGrpSpPr>
        <p:grpSpPr bwMode="auto">
          <a:xfrm>
            <a:off x="9682163" y="4006850"/>
            <a:ext cx="142875" cy="66675"/>
            <a:chOff x="5432" y="3030"/>
            <a:chExt cx="78" cy="51"/>
          </a:xfrm>
        </p:grpSpPr>
        <p:sp>
          <p:nvSpPr>
            <p:cNvPr id="822316" name="Rectangle 51"/>
            <p:cNvSpPr>
              <a:spLocks noChangeArrowheads="1"/>
            </p:cNvSpPr>
            <p:nvPr/>
          </p:nvSpPr>
          <p:spPr bwMode="auto">
            <a:xfrm>
              <a:off x="5432" y="3030"/>
              <a:ext cx="78" cy="5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22317" name="Line 52"/>
            <p:cNvSpPr>
              <a:spLocks noChangeShapeType="1"/>
            </p:cNvSpPr>
            <p:nvPr/>
          </p:nvSpPr>
          <p:spPr bwMode="auto">
            <a:xfrm>
              <a:off x="5438" y="3036"/>
              <a:ext cx="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22318" name="Line 53"/>
            <p:cNvSpPr>
              <a:spLocks noChangeShapeType="1"/>
            </p:cNvSpPr>
            <p:nvPr/>
          </p:nvSpPr>
          <p:spPr bwMode="auto">
            <a:xfrm>
              <a:off x="5438" y="3081"/>
              <a:ext cx="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</p:grpSp>
      <p:sp>
        <p:nvSpPr>
          <p:cNvPr id="822319" name="Rectangle 75"/>
          <p:cNvSpPr>
            <a:spLocks noChangeArrowheads="1"/>
          </p:cNvSpPr>
          <p:nvPr/>
        </p:nvSpPr>
        <p:spPr bwMode="auto">
          <a:xfrm>
            <a:off x="4129088" y="4398963"/>
            <a:ext cx="31511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数       据       部       分</a:t>
            </a:r>
          </a:p>
        </p:txBody>
      </p:sp>
      <p:grpSp>
        <p:nvGrpSpPr>
          <p:cNvPr id="822320" name="Group 94"/>
          <p:cNvGrpSpPr>
            <a:grpSpLocks/>
          </p:cNvGrpSpPr>
          <p:nvPr/>
        </p:nvGrpSpPr>
        <p:grpSpPr bwMode="auto">
          <a:xfrm>
            <a:off x="266700" y="1590675"/>
            <a:ext cx="438150" cy="2663825"/>
            <a:chOff x="111" y="845"/>
            <a:chExt cx="255" cy="1678"/>
          </a:xfrm>
        </p:grpSpPr>
        <p:sp>
          <p:nvSpPr>
            <p:cNvPr id="822321" name="Line 89"/>
            <p:cNvSpPr>
              <a:spLocks noChangeShapeType="1"/>
            </p:cNvSpPr>
            <p:nvPr/>
          </p:nvSpPr>
          <p:spPr bwMode="auto">
            <a:xfrm>
              <a:off x="249" y="845"/>
              <a:ext cx="0" cy="167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22322" name="Rectangle 78"/>
            <p:cNvSpPr>
              <a:spLocks noChangeArrowheads="1"/>
            </p:cNvSpPr>
            <p:nvPr/>
          </p:nvSpPr>
          <p:spPr bwMode="auto">
            <a:xfrm>
              <a:off x="111" y="1389"/>
              <a:ext cx="255" cy="4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首</a:t>
              </a:r>
            </a:p>
            <a:p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部</a:t>
              </a:r>
            </a:p>
          </p:txBody>
        </p:sp>
      </p:grpSp>
      <p:sp>
        <p:nvSpPr>
          <p:cNvPr id="822323" name="AutoShape 97"/>
          <p:cNvSpPr>
            <a:spLocks/>
          </p:cNvSpPr>
          <p:nvPr/>
        </p:nvSpPr>
        <p:spPr bwMode="auto">
          <a:xfrm>
            <a:off x="998538" y="1662113"/>
            <a:ext cx="180975" cy="2160587"/>
          </a:xfrm>
          <a:prstGeom prst="leftBrace">
            <a:avLst>
              <a:gd name="adj1" fmla="val 107779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grpSp>
        <p:nvGrpSpPr>
          <p:cNvPr id="67" name="Group 90"/>
          <p:cNvGrpSpPr>
            <a:grpSpLocks/>
          </p:cNvGrpSpPr>
          <p:nvPr/>
        </p:nvGrpSpPr>
        <p:grpSpPr bwMode="auto">
          <a:xfrm>
            <a:off x="1209675" y="1590675"/>
            <a:ext cx="5619750" cy="4430713"/>
            <a:chOff x="703" y="845"/>
            <a:chExt cx="3268" cy="2791"/>
          </a:xfrm>
        </p:grpSpPr>
        <p:sp>
          <p:nvSpPr>
            <p:cNvPr id="822325" name="Text Box 85"/>
            <p:cNvSpPr txBox="1">
              <a:spLocks noChangeArrowheads="1"/>
            </p:cNvSpPr>
            <p:nvPr/>
          </p:nvSpPr>
          <p:spPr bwMode="auto">
            <a:xfrm>
              <a:off x="884" y="3113"/>
              <a:ext cx="3087" cy="5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版本</a:t>
              </a:r>
              <a:r>
                <a:rPr lang="en-US" altLang="zh-CN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——</a:t>
              </a:r>
              <a:r>
                <a:rPr lang="zh-CN" altLang="en-US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占 </a:t>
              </a:r>
              <a:r>
                <a:rPr lang="en-US" altLang="zh-CN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4 </a:t>
              </a:r>
              <a:r>
                <a:rPr lang="zh-CN" altLang="en-US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位，指 </a:t>
              </a:r>
              <a:r>
                <a:rPr lang="en-US" altLang="zh-CN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IP </a:t>
              </a:r>
              <a:r>
                <a:rPr lang="zh-CN" altLang="en-US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协议的版本。</a:t>
              </a:r>
            </a:p>
            <a:p>
              <a:pPr eaLnBrk="0" hangingPunct="0"/>
              <a:r>
                <a:rPr lang="zh-CN" altLang="en-US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目前的 </a:t>
              </a:r>
              <a:r>
                <a:rPr lang="en-US" altLang="zh-CN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IP </a:t>
              </a:r>
              <a:r>
                <a:rPr lang="zh-CN" altLang="en-US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协议版本号为 </a:t>
              </a:r>
              <a:r>
                <a:rPr lang="en-US" altLang="zh-CN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4 (</a:t>
              </a:r>
              <a:r>
                <a:rPr lang="zh-CN" altLang="en-US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即 </a:t>
              </a:r>
              <a:r>
                <a:rPr lang="en-US" altLang="zh-CN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IPv4)</a:t>
              </a:r>
              <a:r>
                <a:rPr lang="zh-CN" altLang="en-US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。</a:t>
              </a:r>
              <a:endParaRPr lang="en-US" altLang="zh-CN" sz="2400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22326" name="Rectangle 89"/>
            <p:cNvSpPr>
              <a:spLocks noChangeArrowheads="1"/>
            </p:cNvSpPr>
            <p:nvPr/>
          </p:nvSpPr>
          <p:spPr bwMode="auto">
            <a:xfrm>
              <a:off x="703" y="845"/>
              <a:ext cx="635" cy="317"/>
            </a:xfrm>
            <a:prstGeom prst="rect">
              <a:avLst/>
            </a:prstGeom>
            <a:noFill/>
            <a:ln w="762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>
                <a:ea typeface="宋体" panose="02010600030101010101" pitchFamily="2" charset="-122"/>
              </a:endParaRPr>
            </a:p>
          </p:txBody>
        </p:sp>
      </p:grpSp>
      <p:sp>
        <p:nvSpPr>
          <p:cNvPr id="822327" name="标题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smtClean="0">
                <a:ea typeface="黑体" panose="02010609060101010101" pitchFamily="49" charset="-122"/>
              </a:rPr>
              <a:t>1.  IP </a:t>
            </a:r>
            <a:r>
              <a:rPr lang="zh-CN" altLang="en-US" sz="3600" smtClean="0">
                <a:ea typeface="黑体" panose="02010609060101010101" pitchFamily="49" charset="-122"/>
              </a:rPr>
              <a:t>数据报首部的固定部分中的各字段 </a:t>
            </a:r>
          </a:p>
        </p:txBody>
      </p:sp>
      <p:sp>
        <p:nvSpPr>
          <p:cNvPr id="822328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EA39E95-1EAF-44DA-AE89-A9240945A55A}" type="slidenum">
              <a:rPr lang="zh-CN" altLang="en-US" smtClean="0"/>
              <a:pPr eaLnBrk="1" hangingPunct="1"/>
              <a:t>30</a:t>
            </a:fld>
            <a:endParaRPr lang="en-US" altLang="zh-CN" smtClean="0"/>
          </a:p>
        </p:txBody>
      </p:sp>
      <p:sp>
        <p:nvSpPr>
          <p:cNvPr id="822329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4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321" name="Rectangle 45"/>
          <p:cNvSpPr>
            <a:spLocks noChangeArrowheads="1"/>
          </p:cNvSpPr>
          <p:nvPr/>
        </p:nvSpPr>
        <p:spPr bwMode="auto">
          <a:xfrm>
            <a:off x="631825" y="2060575"/>
            <a:ext cx="439738" cy="1198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固</a:t>
            </a:r>
          </a:p>
          <a:p>
            <a:pPr>
              <a:lnSpc>
                <a:spcPct val="90000"/>
              </a:lnSpc>
            </a:pPr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定</a:t>
            </a:r>
          </a:p>
          <a:p>
            <a:pPr>
              <a:lnSpc>
                <a:spcPct val="90000"/>
              </a:lnSpc>
            </a:pPr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部</a:t>
            </a:r>
          </a:p>
          <a:p>
            <a:pPr>
              <a:lnSpc>
                <a:spcPct val="90000"/>
              </a:lnSpc>
            </a:pPr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分</a:t>
            </a:r>
          </a:p>
        </p:txBody>
      </p:sp>
      <p:sp>
        <p:nvSpPr>
          <p:cNvPr id="824322" name="Rectangle 54"/>
          <p:cNvSpPr>
            <a:spLocks noChangeArrowheads="1"/>
          </p:cNvSpPr>
          <p:nvPr/>
        </p:nvSpPr>
        <p:spPr bwMode="auto">
          <a:xfrm>
            <a:off x="508000" y="3716338"/>
            <a:ext cx="695325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可变</a:t>
            </a:r>
          </a:p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部分</a:t>
            </a:r>
          </a:p>
        </p:txBody>
      </p:sp>
      <p:sp>
        <p:nvSpPr>
          <p:cNvPr id="824323" name="Rectangle 8"/>
          <p:cNvSpPr>
            <a:spLocks noChangeArrowheads="1"/>
          </p:cNvSpPr>
          <p:nvPr/>
        </p:nvSpPr>
        <p:spPr bwMode="auto">
          <a:xfrm>
            <a:off x="3351213" y="1658938"/>
            <a:ext cx="2132012" cy="434975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24324" name="Rectangle 10"/>
          <p:cNvSpPr>
            <a:spLocks noChangeArrowheads="1"/>
          </p:cNvSpPr>
          <p:nvPr/>
        </p:nvSpPr>
        <p:spPr bwMode="auto">
          <a:xfrm>
            <a:off x="1231900" y="1649413"/>
            <a:ext cx="8520113" cy="2643187"/>
          </a:xfrm>
          <a:prstGeom prst="rect">
            <a:avLst/>
          </a:prstGeom>
          <a:solidFill>
            <a:srgbClr val="CCE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24325" name="Rectangle 11"/>
          <p:cNvSpPr>
            <a:spLocks noChangeArrowheads="1"/>
          </p:cNvSpPr>
          <p:nvPr/>
        </p:nvSpPr>
        <p:spPr bwMode="auto">
          <a:xfrm>
            <a:off x="1246188" y="4303713"/>
            <a:ext cx="8486775" cy="681037"/>
          </a:xfrm>
          <a:prstGeom prst="rect">
            <a:avLst/>
          </a:prstGeom>
          <a:solidFill>
            <a:srgbClr val="FFFF99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24326" name="Line 12"/>
          <p:cNvSpPr>
            <a:spLocks noChangeShapeType="1"/>
          </p:cNvSpPr>
          <p:nvPr/>
        </p:nvSpPr>
        <p:spPr bwMode="auto">
          <a:xfrm>
            <a:off x="1225550" y="2100263"/>
            <a:ext cx="8535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24327" name="Line 13"/>
          <p:cNvSpPr>
            <a:spLocks noChangeShapeType="1"/>
          </p:cNvSpPr>
          <p:nvPr/>
        </p:nvSpPr>
        <p:spPr bwMode="auto">
          <a:xfrm>
            <a:off x="1225550" y="2543175"/>
            <a:ext cx="8535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24328" name="Line 14"/>
          <p:cNvSpPr>
            <a:spLocks noChangeShapeType="1"/>
          </p:cNvSpPr>
          <p:nvPr/>
        </p:nvSpPr>
        <p:spPr bwMode="auto">
          <a:xfrm>
            <a:off x="1225550" y="2987675"/>
            <a:ext cx="8535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24329" name="Line 15"/>
          <p:cNvSpPr>
            <a:spLocks noChangeShapeType="1"/>
          </p:cNvSpPr>
          <p:nvPr/>
        </p:nvSpPr>
        <p:spPr bwMode="auto">
          <a:xfrm>
            <a:off x="1225550" y="3425825"/>
            <a:ext cx="8535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24330" name="Line 16"/>
          <p:cNvSpPr>
            <a:spLocks noChangeShapeType="1"/>
          </p:cNvSpPr>
          <p:nvPr/>
        </p:nvSpPr>
        <p:spPr bwMode="auto">
          <a:xfrm>
            <a:off x="1225550" y="3870325"/>
            <a:ext cx="8535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24331" name="Line 17"/>
          <p:cNvSpPr>
            <a:spLocks noChangeShapeType="1"/>
          </p:cNvSpPr>
          <p:nvPr/>
        </p:nvSpPr>
        <p:spPr bwMode="auto">
          <a:xfrm>
            <a:off x="2274888" y="1657350"/>
            <a:ext cx="0" cy="4429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24332" name="Line 18"/>
          <p:cNvSpPr>
            <a:spLocks noChangeShapeType="1"/>
          </p:cNvSpPr>
          <p:nvPr/>
        </p:nvSpPr>
        <p:spPr bwMode="auto">
          <a:xfrm>
            <a:off x="3341688" y="1657350"/>
            <a:ext cx="0" cy="4429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24333" name="Line 19"/>
          <p:cNvSpPr>
            <a:spLocks noChangeShapeType="1"/>
          </p:cNvSpPr>
          <p:nvPr/>
        </p:nvSpPr>
        <p:spPr bwMode="auto">
          <a:xfrm>
            <a:off x="3341688" y="2552700"/>
            <a:ext cx="0" cy="431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24334" name="Line 20"/>
          <p:cNvSpPr>
            <a:spLocks noChangeShapeType="1"/>
          </p:cNvSpPr>
          <p:nvPr/>
        </p:nvSpPr>
        <p:spPr bwMode="auto">
          <a:xfrm>
            <a:off x="5478463" y="1657350"/>
            <a:ext cx="0" cy="13271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24335" name="Line 21"/>
          <p:cNvSpPr>
            <a:spLocks noChangeShapeType="1"/>
          </p:cNvSpPr>
          <p:nvPr/>
        </p:nvSpPr>
        <p:spPr bwMode="auto">
          <a:xfrm flipV="1">
            <a:off x="7615238" y="3865563"/>
            <a:ext cx="0" cy="4413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24336" name="Line 22"/>
          <p:cNvSpPr>
            <a:spLocks noChangeShapeType="1"/>
          </p:cNvSpPr>
          <p:nvPr/>
        </p:nvSpPr>
        <p:spPr bwMode="auto">
          <a:xfrm>
            <a:off x="6348413" y="2109788"/>
            <a:ext cx="0" cy="4333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24337" name="Rectangle 23"/>
          <p:cNvSpPr>
            <a:spLocks noChangeArrowheads="1"/>
          </p:cNvSpPr>
          <p:nvPr/>
        </p:nvSpPr>
        <p:spPr bwMode="auto">
          <a:xfrm>
            <a:off x="1169988" y="1270000"/>
            <a:ext cx="325437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0</a:t>
            </a:r>
          </a:p>
        </p:txBody>
      </p:sp>
      <p:sp>
        <p:nvSpPr>
          <p:cNvPr id="824338" name="Rectangle 24"/>
          <p:cNvSpPr>
            <a:spLocks noChangeArrowheads="1"/>
          </p:cNvSpPr>
          <p:nvPr/>
        </p:nvSpPr>
        <p:spPr bwMode="auto">
          <a:xfrm>
            <a:off x="2182813" y="1270000"/>
            <a:ext cx="325437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4</a:t>
            </a:r>
          </a:p>
        </p:txBody>
      </p:sp>
      <p:sp>
        <p:nvSpPr>
          <p:cNvPr id="824339" name="Rectangle 25"/>
          <p:cNvSpPr>
            <a:spLocks noChangeArrowheads="1"/>
          </p:cNvSpPr>
          <p:nvPr/>
        </p:nvSpPr>
        <p:spPr bwMode="auto">
          <a:xfrm>
            <a:off x="3260725" y="1270000"/>
            <a:ext cx="325438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8</a:t>
            </a:r>
          </a:p>
        </p:txBody>
      </p:sp>
      <p:sp>
        <p:nvSpPr>
          <p:cNvPr id="824340" name="Rectangle 26"/>
          <p:cNvSpPr>
            <a:spLocks noChangeArrowheads="1"/>
          </p:cNvSpPr>
          <p:nvPr/>
        </p:nvSpPr>
        <p:spPr bwMode="auto">
          <a:xfrm>
            <a:off x="5373688" y="1270000"/>
            <a:ext cx="468312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16</a:t>
            </a:r>
          </a:p>
        </p:txBody>
      </p:sp>
      <p:sp>
        <p:nvSpPr>
          <p:cNvPr id="824341" name="Rectangle 27"/>
          <p:cNvSpPr>
            <a:spLocks noChangeArrowheads="1"/>
          </p:cNvSpPr>
          <p:nvPr/>
        </p:nvSpPr>
        <p:spPr bwMode="auto">
          <a:xfrm>
            <a:off x="6237288" y="1270000"/>
            <a:ext cx="468312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19</a:t>
            </a:r>
          </a:p>
        </p:txBody>
      </p:sp>
      <p:sp>
        <p:nvSpPr>
          <p:cNvPr id="824342" name="Rectangle 28"/>
          <p:cNvSpPr>
            <a:spLocks noChangeArrowheads="1"/>
          </p:cNvSpPr>
          <p:nvPr/>
        </p:nvSpPr>
        <p:spPr bwMode="auto">
          <a:xfrm>
            <a:off x="7510463" y="1270000"/>
            <a:ext cx="468312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24</a:t>
            </a:r>
          </a:p>
        </p:txBody>
      </p:sp>
      <p:sp>
        <p:nvSpPr>
          <p:cNvPr id="824343" name="Rectangle 29"/>
          <p:cNvSpPr>
            <a:spLocks noChangeArrowheads="1"/>
          </p:cNvSpPr>
          <p:nvPr/>
        </p:nvSpPr>
        <p:spPr bwMode="auto">
          <a:xfrm>
            <a:off x="9366250" y="1270000"/>
            <a:ext cx="468313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31</a:t>
            </a:r>
          </a:p>
        </p:txBody>
      </p:sp>
      <p:sp>
        <p:nvSpPr>
          <p:cNvPr id="824344" name="Rectangle 30"/>
          <p:cNvSpPr>
            <a:spLocks noChangeArrowheads="1"/>
          </p:cNvSpPr>
          <p:nvPr/>
        </p:nvSpPr>
        <p:spPr bwMode="auto">
          <a:xfrm>
            <a:off x="1331913" y="1684338"/>
            <a:ext cx="768350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版 本</a:t>
            </a:r>
          </a:p>
        </p:txBody>
      </p:sp>
      <p:sp>
        <p:nvSpPr>
          <p:cNvPr id="824345" name="Rectangle 31"/>
          <p:cNvSpPr>
            <a:spLocks noChangeArrowheads="1"/>
          </p:cNvSpPr>
          <p:nvPr/>
        </p:nvSpPr>
        <p:spPr bwMode="auto">
          <a:xfrm>
            <a:off x="5543550" y="2160588"/>
            <a:ext cx="695325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标志</a:t>
            </a:r>
          </a:p>
        </p:txBody>
      </p:sp>
      <p:sp>
        <p:nvSpPr>
          <p:cNvPr id="824346" name="Rectangle 32"/>
          <p:cNvSpPr>
            <a:spLocks noChangeArrowheads="1"/>
          </p:cNvSpPr>
          <p:nvPr/>
        </p:nvSpPr>
        <p:spPr bwMode="auto">
          <a:xfrm>
            <a:off x="1544638" y="2565400"/>
            <a:ext cx="1427162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生 存 时 间</a:t>
            </a:r>
          </a:p>
        </p:txBody>
      </p:sp>
      <p:sp>
        <p:nvSpPr>
          <p:cNvPr id="824347" name="Rectangle 33"/>
          <p:cNvSpPr>
            <a:spLocks noChangeArrowheads="1"/>
          </p:cNvSpPr>
          <p:nvPr/>
        </p:nvSpPr>
        <p:spPr bwMode="auto">
          <a:xfrm>
            <a:off x="3852863" y="2565400"/>
            <a:ext cx="981075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协    议</a:t>
            </a:r>
          </a:p>
        </p:txBody>
      </p:sp>
      <p:sp>
        <p:nvSpPr>
          <p:cNvPr id="824348" name="Rectangle 34"/>
          <p:cNvSpPr>
            <a:spLocks noChangeArrowheads="1"/>
          </p:cNvSpPr>
          <p:nvPr/>
        </p:nvSpPr>
        <p:spPr bwMode="auto">
          <a:xfrm>
            <a:off x="2784475" y="2160588"/>
            <a:ext cx="981075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标    识</a:t>
            </a:r>
          </a:p>
        </p:txBody>
      </p:sp>
      <p:sp>
        <p:nvSpPr>
          <p:cNvPr id="824349" name="Rectangle 35"/>
          <p:cNvSpPr>
            <a:spLocks noChangeArrowheads="1"/>
          </p:cNvSpPr>
          <p:nvPr/>
        </p:nvSpPr>
        <p:spPr bwMode="auto">
          <a:xfrm>
            <a:off x="3663950" y="1684338"/>
            <a:ext cx="1425575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区 分 服 务</a:t>
            </a:r>
          </a:p>
        </p:txBody>
      </p:sp>
      <p:sp>
        <p:nvSpPr>
          <p:cNvPr id="824350" name="Rectangle 36"/>
          <p:cNvSpPr>
            <a:spLocks noChangeArrowheads="1"/>
          </p:cNvSpPr>
          <p:nvPr/>
        </p:nvSpPr>
        <p:spPr bwMode="auto">
          <a:xfrm>
            <a:off x="7050088" y="1684338"/>
            <a:ext cx="1379537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总   长   度</a:t>
            </a:r>
          </a:p>
        </p:txBody>
      </p:sp>
      <p:sp>
        <p:nvSpPr>
          <p:cNvPr id="824351" name="Rectangle 37"/>
          <p:cNvSpPr>
            <a:spLocks noChangeArrowheads="1"/>
          </p:cNvSpPr>
          <p:nvPr/>
        </p:nvSpPr>
        <p:spPr bwMode="auto">
          <a:xfrm>
            <a:off x="7343775" y="2160588"/>
            <a:ext cx="1379538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片   偏   移</a:t>
            </a:r>
          </a:p>
        </p:txBody>
      </p:sp>
      <p:sp>
        <p:nvSpPr>
          <p:cNvPr id="824352" name="Rectangle 38"/>
          <p:cNvSpPr>
            <a:spLocks noChangeArrowheads="1"/>
          </p:cNvSpPr>
          <p:nvPr/>
        </p:nvSpPr>
        <p:spPr bwMode="auto">
          <a:xfrm>
            <a:off x="8128000" y="3894138"/>
            <a:ext cx="981075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C00000"/>
                </a:solidFill>
                <a:ea typeface="黑体" panose="02010609060101010101" pitchFamily="49" charset="-122"/>
              </a:rPr>
              <a:t>填    充</a:t>
            </a:r>
          </a:p>
        </p:txBody>
      </p:sp>
      <p:sp>
        <p:nvSpPr>
          <p:cNvPr id="824353" name="Rectangle 39"/>
          <p:cNvSpPr>
            <a:spLocks noChangeArrowheads="1"/>
          </p:cNvSpPr>
          <p:nvPr/>
        </p:nvSpPr>
        <p:spPr bwMode="auto">
          <a:xfrm>
            <a:off x="6419850" y="2565400"/>
            <a:ext cx="2319338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首   部   检   验   和</a:t>
            </a:r>
          </a:p>
        </p:txBody>
      </p:sp>
      <p:sp>
        <p:nvSpPr>
          <p:cNvPr id="824354" name="Rectangle 40"/>
          <p:cNvSpPr>
            <a:spLocks noChangeArrowheads="1"/>
          </p:cNvSpPr>
          <p:nvPr/>
        </p:nvSpPr>
        <p:spPr bwMode="auto">
          <a:xfrm>
            <a:off x="4784725" y="3024188"/>
            <a:ext cx="1379538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源   地   址</a:t>
            </a:r>
          </a:p>
        </p:txBody>
      </p:sp>
      <p:sp>
        <p:nvSpPr>
          <p:cNvPr id="824355" name="Rectangle 41"/>
          <p:cNvSpPr>
            <a:spLocks noChangeArrowheads="1"/>
          </p:cNvSpPr>
          <p:nvPr/>
        </p:nvSpPr>
        <p:spPr bwMode="auto">
          <a:xfrm>
            <a:off x="4506913" y="3465513"/>
            <a:ext cx="1851025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目   的   地   址</a:t>
            </a:r>
          </a:p>
        </p:txBody>
      </p:sp>
      <p:sp>
        <p:nvSpPr>
          <p:cNvPr id="824356" name="Rectangle 42"/>
          <p:cNvSpPr>
            <a:spLocks noChangeArrowheads="1"/>
          </p:cNvSpPr>
          <p:nvPr/>
        </p:nvSpPr>
        <p:spPr bwMode="auto">
          <a:xfrm>
            <a:off x="2414588" y="3894138"/>
            <a:ext cx="4173537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C00000"/>
                </a:solidFill>
                <a:ea typeface="黑体" panose="02010609060101010101" pitchFamily="49" charset="-122"/>
              </a:rPr>
              <a:t>可   选   字   段  （长   度   可   变）</a:t>
            </a:r>
          </a:p>
        </p:txBody>
      </p:sp>
      <p:sp>
        <p:nvSpPr>
          <p:cNvPr id="824357" name="Rectangle 43"/>
          <p:cNvSpPr>
            <a:spLocks noChangeArrowheads="1"/>
          </p:cNvSpPr>
          <p:nvPr/>
        </p:nvSpPr>
        <p:spPr bwMode="auto">
          <a:xfrm>
            <a:off x="658813" y="1255713"/>
            <a:ext cx="439737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位</a:t>
            </a:r>
          </a:p>
        </p:txBody>
      </p:sp>
      <p:sp>
        <p:nvSpPr>
          <p:cNvPr id="824358" name="Rectangle 44"/>
          <p:cNvSpPr>
            <a:spLocks noChangeArrowheads="1"/>
          </p:cNvSpPr>
          <p:nvPr/>
        </p:nvSpPr>
        <p:spPr bwMode="auto">
          <a:xfrm>
            <a:off x="2170113" y="1665288"/>
            <a:ext cx="1209675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首部长度</a:t>
            </a:r>
          </a:p>
        </p:txBody>
      </p:sp>
      <p:grpSp>
        <p:nvGrpSpPr>
          <p:cNvPr id="824359" name="Group 46"/>
          <p:cNvGrpSpPr>
            <a:grpSpLocks/>
          </p:cNvGrpSpPr>
          <p:nvPr/>
        </p:nvGrpSpPr>
        <p:grpSpPr bwMode="auto">
          <a:xfrm>
            <a:off x="1158875" y="4035425"/>
            <a:ext cx="142875" cy="69850"/>
            <a:chOff x="833" y="3024"/>
            <a:chExt cx="78" cy="51"/>
          </a:xfrm>
        </p:grpSpPr>
        <p:sp>
          <p:nvSpPr>
            <p:cNvPr id="824360" name="Rectangle 47"/>
            <p:cNvSpPr>
              <a:spLocks noChangeArrowheads="1"/>
            </p:cNvSpPr>
            <p:nvPr/>
          </p:nvSpPr>
          <p:spPr bwMode="auto">
            <a:xfrm>
              <a:off x="833" y="3024"/>
              <a:ext cx="78" cy="5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24361" name="Line 48"/>
            <p:cNvSpPr>
              <a:spLocks noChangeShapeType="1"/>
            </p:cNvSpPr>
            <p:nvPr/>
          </p:nvSpPr>
          <p:spPr bwMode="auto">
            <a:xfrm>
              <a:off x="839" y="3030"/>
              <a:ext cx="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24362" name="Line 49"/>
            <p:cNvSpPr>
              <a:spLocks noChangeShapeType="1"/>
            </p:cNvSpPr>
            <p:nvPr/>
          </p:nvSpPr>
          <p:spPr bwMode="auto">
            <a:xfrm>
              <a:off x="839" y="3075"/>
              <a:ext cx="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</p:grpSp>
      <p:grpSp>
        <p:nvGrpSpPr>
          <p:cNvPr id="824363" name="Group 50"/>
          <p:cNvGrpSpPr>
            <a:grpSpLocks/>
          </p:cNvGrpSpPr>
          <p:nvPr/>
        </p:nvGrpSpPr>
        <p:grpSpPr bwMode="auto">
          <a:xfrm>
            <a:off x="9682163" y="4044950"/>
            <a:ext cx="142875" cy="66675"/>
            <a:chOff x="5432" y="3030"/>
            <a:chExt cx="78" cy="51"/>
          </a:xfrm>
        </p:grpSpPr>
        <p:sp>
          <p:nvSpPr>
            <p:cNvPr id="824364" name="Rectangle 51"/>
            <p:cNvSpPr>
              <a:spLocks noChangeArrowheads="1"/>
            </p:cNvSpPr>
            <p:nvPr/>
          </p:nvSpPr>
          <p:spPr bwMode="auto">
            <a:xfrm>
              <a:off x="5432" y="3030"/>
              <a:ext cx="78" cy="5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24365" name="Line 52"/>
            <p:cNvSpPr>
              <a:spLocks noChangeShapeType="1"/>
            </p:cNvSpPr>
            <p:nvPr/>
          </p:nvSpPr>
          <p:spPr bwMode="auto">
            <a:xfrm>
              <a:off x="5438" y="3036"/>
              <a:ext cx="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24366" name="Line 53"/>
            <p:cNvSpPr>
              <a:spLocks noChangeShapeType="1"/>
            </p:cNvSpPr>
            <p:nvPr/>
          </p:nvSpPr>
          <p:spPr bwMode="auto">
            <a:xfrm>
              <a:off x="5438" y="3081"/>
              <a:ext cx="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</p:grpSp>
      <p:sp>
        <p:nvSpPr>
          <p:cNvPr id="824367" name="Rectangle 75"/>
          <p:cNvSpPr>
            <a:spLocks noChangeArrowheads="1"/>
          </p:cNvSpPr>
          <p:nvPr/>
        </p:nvSpPr>
        <p:spPr bwMode="auto">
          <a:xfrm>
            <a:off x="4129088" y="4437063"/>
            <a:ext cx="3151187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数       据       部       分</a:t>
            </a:r>
          </a:p>
        </p:txBody>
      </p:sp>
      <p:grpSp>
        <p:nvGrpSpPr>
          <p:cNvPr id="824368" name="Group 94"/>
          <p:cNvGrpSpPr>
            <a:grpSpLocks/>
          </p:cNvGrpSpPr>
          <p:nvPr/>
        </p:nvGrpSpPr>
        <p:grpSpPr bwMode="auto">
          <a:xfrm>
            <a:off x="266700" y="1628775"/>
            <a:ext cx="438150" cy="2663825"/>
            <a:chOff x="111" y="845"/>
            <a:chExt cx="255" cy="1678"/>
          </a:xfrm>
        </p:grpSpPr>
        <p:sp>
          <p:nvSpPr>
            <p:cNvPr id="824369" name="Line 89"/>
            <p:cNvSpPr>
              <a:spLocks noChangeShapeType="1"/>
            </p:cNvSpPr>
            <p:nvPr/>
          </p:nvSpPr>
          <p:spPr bwMode="auto">
            <a:xfrm>
              <a:off x="249" y="845"/>
              <a:ext cx="0" cy="167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24370" name="Rectangle 78"/>
            <p:cNvSpPr>
              <a:spLocks noChangeArrowheads="1"/>
            </p:cNvSpPr>
            <p:nvPr/>
          </p:nvSpPr>
          <p:spPr bwMode="auto">
            <a:xfrm>
              <a:off x="111" y="1389"/>
              <a:ext cx="255" cy="4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首</a:t>
              </a:r>
            </a:p>
            <a:p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部</a:t>
              </a:r>
            </a:p>
          </p:txBody>
        </p:sp>
      </p:grpSp>
      <p:sp>
        <p:nvSpPr>
          <p:cNvPr id="824371" name="AutoShape 97"/>
          <p:cNvSpPr>
            <a:spLocks/>
          </p:cNvSpPr>
          <p:nvPr/>
        </p:nvSpPr>
        <p:spPr bwMode="auto">
          <a:xfrm>
            <a:off x="998538" y="1700213"/>
            <a:ext cx="180975" cy="2160587"/>
          </a:xfrm>
          <a:prstGeom prst="leftBrace">
            <a:avLst>
              <a:gd name="adj1" fmla="val 107779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grpSp>
        <p:nvGrpSpPr>
          <p:cNvPr id="57" name="Group 79"/>
          <p:cNvGrpSpPr>
            <a:grpSpLocks/>
          </p:cNvGrpSpPr>
          <p:nvPr/>
        </p:nvGrpSpPr>
        <p:grpSpPr bwMode="auto">
          <a:xfrm>
            <a:off x="1665288" y="1628775"/>
            <a:ext cx="5791200" cy="4824413"/>
            <a:chOff x="968" y="845"/>
            <a:chExt cx="3368" cy="3039"/>
          </a:xfrm>
        </p:grpSpPr>
        <p:sp>
          <p:nvSpPr>
            <p:cNvPr id="824373" name="Text Box 74"/>
            <p:cNvSpPr txBox="1">
              <a:spLocks noChangeArrowheads="1"/>
            </p:cNvSpPr>
            <p:nvPr/>
          </p:nvSpPr>
          <p:spPr bwMode="auto">
            <a:xfrm>
              <a:off x="968" y="3128"/>
              <a:ext cx="3368" cy="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zh-CN" altLang="en-US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首部长度</a:t>
              </a:r>
              <a:r>
                <a:rPr lang="en-US" altLang="zh-CN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——</a:t>
              </a:r>
              <a:r>
                <a:rPr lang="zh-CN" altLang="en-US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占 </a:t>
              </a:r>
              <a:r>
                <a:rPr lang="en-US" altLang="zh-CN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4 </a:t>
              </a:r>
              <a:r>
                <a:rPr lang="zh-CN" altLang="en-US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位，可表示的最大数值</a:t>
              </a:r>
            </a:p>
            <a:p>
              <a:pPr algn="ctr" eaLnBrk="0" hangingPunct="0"/>
              <a:r>
                <a:rPr lang="zh-CN" altLang="en-US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是 </a:t>
              </a:r>
              <a:r>
                <a:rPr lang="en-US" altLang="zh-CN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15 </a:t>
              </a:r>
              <a:r>
                <a:rPr lang="zh-CN" altLang="en-US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个单位</a:t>
              </a:r>
              <a:r>
                <a:rPr lang="en-US" altLang="zh-CN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(</a:t>
              </a:r>
              <a:r>
                <a:rPr lang="zh-CN" altLang="en-US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一个单位为 </a:t>
              </a:r>
              <a:r>
                <a:rPr lang="en-US" altLang="zh-CN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4 </a:t>
              </a:r>
              <a:r>
                <a:rPr lang="zh-CN" altLang="en-US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字节</a:t>
              </a:r>
              <a:r>
                <a:rPr lang="en-US" altLang="zh-CN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)</a:t>
              </a:r>
              <a:r>
                <a:rPr lang="zh-CN" altLang="en-US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，</a:t>
              </a:r>
              <a:endParaRPr lang="en-US" altLang="zh-CN" sz="2400" b="1">
                <a:solidFill>
                  <a:srgbClr val="0000CC"/>
                </a:solidFill>
                <a:ea typeface="黑体" panose="02010609060101010101" pitchFamily="49" charset="-122"/>
              </a:endParaRPr>
            </a:p>
            <a:p>
              <a:pPr algn="ctr" eaLnBrk="0" hangingPunct="0"/>
              <a:r>
                <a:rPr lang="zh-CN" altLang="en-US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因此 </a:t>
              </a:r>
              <a:r>
                <a:rPr lang="en-US" altLang="zh-CN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IP </a:t>
              </a:r>
              <a:r>
                <a:rPr lang="zh-CN" altLang="en-US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的首部长度的最大值是 </a:t>
              </a:r>
              <a:r>
                <a:rPr lang="en-US" altLang="zh-CN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60 </a:t>
              </a:r>
              <a:r>
                <a:rPr lang="zh-CN" altLang="en-US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字节。</a:t>
              </a:r>
            </a:p>
          </p:txBody>
        </p:sp>
        <p:sp>
          <p:nvSpPr>
            <p:cNvPr id="824374" name="Rectangle 78"/>
            <p:cNvSpPr>
              <a:spLocks noChangeArrowheads="1"/>
            </p:cNvSpPr>
            <p:nvPr/>
          </p:nvSpPr>
          <p:spPr bwMode="auto">
            <a:xfrm>
              <a:off x="1303" y="845"/>
              <a:ext cx="658" cy="317"/>
            </a:xfrm>
            <a:prstGeom prst="rect">
              <a:avLst/>
            </a:prstGeom>
            <a:noFill/>
            <a:ln w="762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>
                <a:ea typeface="宋体" panose="02010600030101010101" pitchFamily="2" charset="-122"/>
              </a:endParaRPr>
            </a:p>
          </p:txBody>
        </p:sp>
      </p:grpSp>
      <p:sp>
        <p:nvSpPr>
          <p:cNvPr id="824375" name="标题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smtClean="0">
                <a:ea typeface="黑体" panose="02010609060101010101" pitchFamily="49" charset="-122"/>
              </a:rPr>
              <a:t>1.  IP </a:t>
            </a:r>
            <a:r>
              <a:rPr lang="zh-CN" altLang="en-US" sz="3600" smtClean="0">
                <a:ea typeface="黑体" panose="02010609060101010101" pitchFamily="49" charset="-122"/>
              </a:rPr>
              <a:t>数据报首部的固定部分中的各字段 </a:t>
            </a:r>
          </a:p>
        </p:txBody>
      </p:sp>
      <p:sp>
        <p:nvSpPr>
          <p:cNvPr id="824376" name="灯片编号占位符 4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CE7C547-FB5C-45A3-9A7A-34BC97BA2A1C}" type="slidenum">
              <a:rPr lang="zh-CN" altLang="en-US" smtClean="0"/>
              <a:pPr eaLnBrk="1" hangingPunct="1"/>
              <a:t>31</a:t>
            </a:fld>
            <a:endParaRPr lang="en-US" altLang="zh-CN" smtClean="0"/>
          </a:p>
        </p:txBody>
      </p:sp>
      <p:sp>
        <p:nvSpPr>
          <p:cNvPr id="824377" name="页脚占位符 5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4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369" name="Rectangle 45"/>
          <p:cNvSpPr>
            <a:spLocks noChangeArrowheads="1"/>
          </p:cNvSpPr>
          <p:nvPr/>
        </p:nvSpPr>
        <p:spPr bwMode="auto">
          <a:xfrm>
            <a:off x="631825" y="2035175"/>
            <a:ext cx="439738" cy="1198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固</a:t>
            </a:r>
          </a:p>
          <a:p>
            <a:pPr>
              <a:lnSpc>
                <a:spcPct val="90000"/>
              </a:lnSpc>
            </a:pPr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定</a:t>
            </a:r>
          </a:p>
          <a:p>
            <a:pPr>
              <a:lnSpc>
                <a:spcPct val="90000"/>
              </a:lnSpc>
            </a:pPr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部</a:t>
            </a:r>
          </a:p>
          <a:p>
            <a:pPr>
              <a:lnSpc>
                <a:spcPct val="90000"/>
              </a:lnSpc>
            </a:pPr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分</a:t>
            </a:r>
          </a:p>
        </p:txBody>
      </p:sp>
      <p:sp>
        <p:nvSpPr>
          <p:cNvPr id="826370" name="Rectangle 54"/>
          <p:cNvSpPr>
            <a:spLocks noChangeArrowheads="1"/>
          </p:cNvSpPr>
          <p:nvPr/>
        </p:nvSpPr>
        <p:spPr bwMode="auto">
          <a:xfrm>
            <a:off x="508000" y="3690938"/>
            <a:ext cx="695325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可变</a:t>
            </a:r>
          </a:p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部分</a:t>
            </a:r>
          </a:p>
        </p:txBody>
      </p:sp>
      <p:sp>
        <p:nvSpPr>
          <p:cNvPr id="826371" name="Rectangle 8"/>
          <p:cNvSpPr>
            <a:spLocks noChangeArrowheads="1"/>
          </p:cNvSpPr>
          <p:nvPr/>
        </p:nvSpPr>
        <p:spPr bwMode="auto">
          <a:xfrm>
            <a:off x="3351213" y="1633538"/>
            <a:ext cx="2132012" cy="434975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26372" name="Rectangle 10"/>
          <p:cNvSpPr>
            <a:spLocks noChangeArrowheads="1"/>
          </p:cNvSpPr>
          <p:nvPr/>
        </p:nvSpPr>
        <p:spPr bwMode="auto">
          <a:xfrm>
            <a:off x="1231900" y="1624013"/>
            <a:ext cx="8520113" cy="2643187"/>
          </a:xfrm>
          <a:prstGeom prst="rect">
            <a:avLst/>
          </a:prstGeom>
          <a:solidFill>
            <a:srgbClr val="CCE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26373" name="Rectangle 11"/>
          <p:cNvSpPr>
            <a:spLocks noChangeArrowheads="1"/>
          </p:cNvSpPr>
          <p:nvPr/>
        </p:nvSpPr>
        <p:spPr bwMode="auto">
          <a:xfrm>
            <a:off x="1246188" y="4278313"/>
            <a:ext cx="8486775" cy="681037"/>
          </a:xfrm>
          <a:prstGeom prst="rect">
            <a:avLst/>
          </a:prstGeom>
          <a:solidFill>
            <a:srgbClr val="FFFF99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26374" name="Line 12"/>
          <p:cNvSpPr>
            <a:spLocks noChangeShapeType="1"/>
          </p:cNvSpPr>
          <p:nvPr/>
        </p:nvSpPr>
        <p:spPr bwMode="auto">
          <a:xfrm>
            <a:off x="1225550" y="2074863"/>
            <a:ext cx="8535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26375" name="Line 13"/>
          <p:cNvSpPr>
            <a:spLocks noChangeShapeType="1"/>
          </p:cNvSpPr>
          <p:nvPr/>
        </p:nvSpPr>
        <p:spPr bwMode="auto">
          <a:xfrm>
            <a:off x="1225550" y="2517775"/>
            <a:ext cx="8535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26376" name="Line 14"/>
          <p:cNvSpPr>
            <a:spLocks noChangeShapeType="1"/>
          </p:cNvSpPr>
          <p:nvPr/>
        </p:nvSpPr>
        <p:spPr bwMode="auto">
          <a:xfrm>
            <a:off x="1225550" y="2962275"/>
            <a:ext cx="8535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26377" name="Line 15"/>
          <p:cNvSpPr>
            <a:spLocks noChangeShapeType="1"/>
          </p:cNvSpPr>
          <p:nvPr/>
        </p:nvSpPr>
        <p:spPr bwMode="auto">
          <a:xfrm>
            <a:off x="1225550" y="3400425"/>
            <a:ext cx="8535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26378" name="Line 16"/>
          <p:cNvSpPr>
            <a:spLocks noChangeShapeType="1"/>
          </p:cNvSpPr>
          <p:nvPr/>
        </p:nvSpPr>
        <p:spPr bwMode="auto">
          <a:xfrm>
            <a:off x="1225550" y="3844925"/>
            <a:ext cx="8535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26379" name="Line 17"/>
          <p:cNvSpPr>
            <a:spLocks noChangeShapeType="1"/>
          </p:cNvSpPr>
          <p:nvPr/>
        </p:nvSpPr>
        <p:spPr bwMode="auto">
          <a:xfrm>
            <a:off x="2274888" y="1631950"/>
            <a:ext cx="0" cy="4429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26380" name="Line 18"/>
          <p:cNvSpPr>
            <a:spLocks noChangeShapeType="1"/>
          </p:cNvSpPr>
          <p:nvPr/>
        </p:nvSpPr>
        <p:spPr bwMode="auto">
          <a:xfrm>
            <a:off x="3341688" y="1631950"/>
            <a:ext cx="0" cy="4429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26381" name="Line 19"/>
          <p:cNvSpPr>
            <a:spLocks noChangeShapeType="1"/>
          </p:cNvSpPr>
          <p:nvPr/>
        </p:nvSpPr>
        <p:spPr bwMode="auto">
          <a:xfrm>
            <a:off x="3341688" y="2527300"/>
            <a:ext cx="0" cy="431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26382" name="Line 20"/>
          <p:cNvSpPr>
            <a:spLocks noChangeShapeType="1"/>
          </p:cNvSpPr>
          <p:nvPr/>
        </p:nvSpPr>
        <p:spPr bwMode="auto">
          <a:xfrm>
            <a:off x="5478463" y="1631950"/>
            <a:ext cx="0" cy="13271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26383" name="Line 21"/>
          <p:cNvSpPr>
            <a:spLocks noChangeShapeType="1"/>
          </p:cNvSpPr>
          <p:nvPr/>
        </p:nvSpPr>
        <p:spPr bwMode="auto">
          <a:xfrm flipV="1">
            <a:off x="7615238" y="3840163"/>
            <a:ext cx="0" cy="4413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26384" name="Line 22"/>
          <p:cNvSpPr>
            <a:spLocks noChangeShapeType="1"/>
          </p:cNvSpPr>
          <p:nvPr/>
        </p:nvSpPr>
        <p:spPr bwMode="auto">
          <a:xfrm>
            <a:off x="6348413" y="2084388"/>
            <a:ext cx="0" cy="4333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26385" name="Rectangle 23"/>
          <p:cNvSpPr>
            <a:spLocks noChangeArrowheads="1"/>
          </p:cNvSpPr>
          <p:nvPr/>
        </p:nvSpPr>
        <p:spPr bwMode="auto">
          <a:xfrm>
            <a:off x="1169988" y="1244600"/>
            <a:ext cx="325437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0</a:t>
            </a:r>
          </a:p>
        </p:txBody>
      </p:sp>
      <p:sp>
        <p:nvSpPr>
          <p:cNvPr id="826386" name="Rectangle 24"/>
          <p:cNvSpPr>
            <a:spLocks noChangeArrowheads="1"/>
          </p:cNvSpPr>
          <p:nvPr/>
        </p:nvSpPr>
        <p:spPr bwMode="auto">
          <a:xfrm>
            <a:off x="2182813" y="1244600"/>
            <a:ext cx="325437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4</a:t>
            </a:r>
          </a:p>
        </p:txBody>
      </p:sp>
      <p:sp>
        <p:nvSpPr>
          <p:cNvPr id="826387" name="Rectangle 25"/>
          <p:cNvSpPr>
            <a:spLocks noChangeArrowheads="1"/>
          </p:cNvSpPr>
          <p:nvPr/>
        </p:nvSpPr>
        <p:spPr bwMode="auto">
          <a:xfrm>
            <a:off x="3260725" y="1244600"/>
            <a:ext cx="325438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8</a:t>
            </a:r>
          </a:p>
        </p:txBody>
      </p:sp>
      <p:sp>
        <p:nvSpPr>
          <p:cNvPr id="826388" name="Rectangle 26"/>
          <p:cNvSpPr>
            <a:spLocks noChangeArrowheads="1"/>
          </p:cNvSpPr>
          <p:nvPr/>
        </p:nvSpPr>
        <p:spPr bwMode="auto">
          <a:xfrm>
            <a:off x="5373688" y="1244600"/>
            <a:ext cx="468312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16</a:t>
            </a:r>
          </a:p>
        </p:txBody>
      </p:sp>
      <p:sp>
        <p:nvSpPr>
          <p:cNvPr id="826389" name="Rectangle 27"/>
          <p:cNvSpPr>
            <a:spLocks noChangeArrowheads="1"/>
          </p:cNvSpPr>
          <p:nvPr/>
        </p:nvSpPr>
        <p:spPr bwMode="auto">
          <a:xfrm>
            <a:off x="6237288" y="1244600"/>
            <a:ext cx="468312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19</a:t>
            </a:r>
          </a:p>
        </p:txBody>
      </p:sp>
      <p:sp>
        <p:nvSpPr>
          <p:cNvPr id="826390" name="Rectangle 28"/>
          <p:cNvSpPr>
            <a:spLocks noChangeArrowheads="1"/>
          </p:cNvSpPr>
          <p:nvPr/>
        </p:nvSpPr>
        <p:spPr bwMode="auto">
          <a:xfrm>
            <a:off x="7510463" y="1244600"/>
            <a:ext cx="468312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24</a:t>
            </a:r>
          </a:p>
        </p:txBody>
      </p:sp>
      <p:sp>
        <p:nvSpPr>
          <p:cNvPr id="826391" name="Rectangle 29"/>
          <p:cNvSpPr>
            <a:spLocks noChangeArrowheads="1"/>
          </p:cNvSpPr>
          <p:nvPr/>
        </p:nvSpPr>
        <p:spPr bwMode="auto">
          <a:xfrm>
            <a:off x="9366250" y="1244600"/>
            <a:ext cx="468313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31</a:t>
            </a:r>
          </a:p>
        </p:txBody>
      </p:sp>
      <p:sp>
        <p:nvSpPr>
          <p:cNvPr id="826392" name="Rectangle 30"/>
          <p:cNvSpPr>
            <a:spLocks noChangeArrowheads="1"/>
          </p:cNvSpPr>
          <p:nvPr/>
        </p:nvSpPr>
        <p:spPr bwMode="auto">
          <a:xfrm>
            <a:off x="1331913" y="1658938"/>
            <a:ext cx="768350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版 本</a:t>
            </a:r>
          </a:p>
        </p:txBody>
      </p:sp>
      <p:sp>
        <p:nvSpPr>
          <p:cNvPr id="826393" name="Rectangle 31"/>
          <p:cNvSpPr>
            <a:spLocks noChangeArrowheads="1"/>
          </p:cNvSpPr>
          <p:nvPr/>
        </p:nvSpPr>
        <p:spPr bwMode="auto">
          <a:xfrm>
            <a:off x="5543550" y="2135188"/>
            <a:ext cx="695325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标志</a:t>
            </a:r>
          </a:p>
        </p:txBody>
      </p:sp>
      <p:sp>
        <p:nvSpPr>
          <p:cNvPr id="826394" name="Rectangle 32"/>
          <p:cNvSpPr>
            <a:spLocks noChangeArrowheads="1"/>
          </p:cNvSpPr>
          <p:nvPr/>
        </p:nvSpPr>
        <p:spPr bwMode="auto">
          <a:xfrm>
            <a:off x="1544638" y="2540000"/>
            <a:ext cx="1427162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生 存 时 间</a:t>
            </a:r>
          </a:p>
        </p:txBody>
      </p:sp>
      <p:sp>
        <p:nvSpPr>
          <p:cNvPr id="826395" name="Rectangle 33"/>
          <p:cNvSpPr>
            <a:spLocks noChangeArrowheads="1"/>
          </p:cNvSpPr>
          <p:nvPr/>
        </p:nvSpPr>
        <p:spPr bwMode="auto">
          <a:xfrm>
            <a:off x="3852863" y="2540000"/>
            <a:ext cx="981075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协    议</a:t>
            </a:r>
          </a:p>
        </p:txBody>
      </p:sp>
      <p:sp>
        <p:nvSpPr>
          <p:cNvPr id="826396" name="Rectangle 34"/>
          <p:cNvSpPr>
            <a:spLocks noChangeArrowheads="1"/>
          </p:cNvSpPr>
          <p:nvPr/>
        </p:nvSpPr>
        <p:spPr bwMode="auto">
          <a:xfrm>
            <a:off x="2784475" y="2135188"/>
            <a:ext cx="981075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标    识</a:t>
            </a:r>
          </a:p>
        </p:txBody>
      </p:sp>
      <p:sp>
        <p:nvSpPr>
          <p:cNvPr id="826397" name="Rectangle 35"/>
          <p:cNvSpPr>
            <a:spLocks noChangeArrowheads="1"/>
          </p:cNvSpPr>
          <p:nvPr/>
        </p:nvSpPr>
        <p:spPr bwMode="auto">
          <a:xfrm>
            <a:off x="3663950" y="1658938"/>
            <a:ext cx="1425575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区 分 服 务</a:t>
            </a:r>
          </a:p>
        </p:txBody>
      </p:sp>
      <p:sp>
        <p:nvSpPr>
          <p:cNvPr id="826398" name="Rectangle 36"/>
          <p:cNvSpPr>
            <a:spLocks noChangeArrowheads="1"/>
          </p:cNvSpPr>
          <p:nvPr/>
        </p:nvSpPr>
        <p:spPr bwMode="auto">
          <a:xfrm>
            <a:off x="7050088" y="1658938"/>
            <a:ext cx="1379537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总   长   度</a:t>
            </a:r>
          </a:p>
        </p:txBody>
      </p:sp>
      <p:sp>
        <p:nvSpPr>
          <p:cNvPr id="826399" name="Rectangle 37"/>
          <p:cNvSpPr>
            <a:spLocks noChangeArrowheads="1"/>
          </p:cNvSpPr>
          <p:nvPr/>
        </p:nvSpPr>
        <p:spPr bwMode="auto">
          <a:xfrm>
            <a:off x="7343775" y="2135188"/>
            <a:ext cx="1379538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片   偏   移</a:t>
            </a:r>
          </a:p>
        </p:txBody>
      </p:sp>
      <p:sp>
        <p:nvSpPr>
          <p:cNvPr id="826400" name="Rectangle 38"/>
          <p:cNvSpPr>
            <a:spLocks noChangeArrowheads="1"/>
          </p:cNvSpPr>
          <p:nvPr/>
        </p:nvSpPr>
        <p:spPr bwMode="auto">
          <a:xfrm>
            <a:off x="8128000" y="3868738"/>
            <a:ext cx="981075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C00000"/>
                </a:solidFill>
                <a:ea typeface="黑体" panose="02010609060101010101" pitchFamily="49" charset="-122"/>
              </a:rPr>
              <a:t>填    充</a:t>
            </a:r>
          </a:p>
        </p:txBody>
      </p:sp>
      <p:sp>
        <p:nvSpPr>
          <p:cNvPr id="826401" name="Rectangle 39"/>
          <p:cNvSpPr>
            <a:spLocks noChangeArrowheads="1"/>
          </p:cNvSpPr>
          <p:nvPr/>
        </p:nvSpPr>
        <p:spPr bwMode="auto">
          <a:xfrm>
            <a:off x="6419850" y="2540000"/>
            <a:ext cx="2319338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首   部   检   验   和</a:t>
            </a:r>
          </a:p>
        </p:txBody>
      </p:sp>
      <p:sp>
        <p:nvSpPr>
          <p:cNvPr id="826402" name="Rectangle 40"/>
          <p:cNvSpPr>
            <a:spLocks noChangeArrowheads="1"/>
          </p:cNvSpPr>
          <p:nvPr/>
        </p:nvSpPr>
        <p:spPr bwMode="auto">
          <a:xfrm>
            <a:off x="4784725" y="2998788"/>
            <a:ext cx="1379538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源   地   址</a:t>
            </a:r>
          </a:p>
        </p:txBody>
      </p:sp>
      <p:sp>
        <p:nvSpPr>
          <p:cNvPr id="826403" name="Rectangle 41"/>
          <p:cNvSpPr>
            <a:spLocks noChangeArrowheads="1"/>
          </p:cNvSpPr>
          <p:nvPr/>
        </p:nvSpPr>
        <p:spPr bwMode="auto">
          <a:xfrm>
            <a:off x="4506913" y="3440113"/>
            <a:ext cx="1851025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目   的   地   址</a:t>
            </a:r>
          </a:p>
        </p:txBody>
      </p:sp>
      <p:sp>
        <p:nvSpPr>
          <p:cNvPr id="826404" name="Rectangle 42"/>
          <p:cNvSpPr>
            <a:spLocks noChangeArrowheads="1"/>
          </p:cNvSpPr>
          <p:nvPr/>
        </p:nvSpPr>
        <p:spPr bwMode="auto">
          <a:xfrm>
            <a:off x="2414588" y="3868738"/>
            <a:ext cx="4173537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C00000"/>
                </a:solidFill>
                <a:ea typeface="黑体" panose="02010609060101010101" pitchFamily="49" charset="-122"/>
              </a:rPr>
              <a:t>可   选   字   段  （长   度   可   变）</a:t>
            </a:r>
          </a:p>
        </p:txBody>
      </p:sp>
      <p:sp>
        <p:nvSpPr>
          <p:cNvPr id="826405" name="Rectangle 43"/>
          <p:cNvSpPr>
            <a:spLocks noChangeArrowheads="1"/>
          </p:cNvSpPr>
          <p:nvPr/>
        </p:nvSpPr>
        <p:spPr bwMode="auto">
          <a:xfrm>
            <a:off x="658813" y="1230313"/>
            <a:ext cx="439737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位</a:t>
            </a:r>
          </a:p>
        </p:txBody>
      </p:sp>
      <p:sp>
        <p:nvSpPr>
          <p:cNvPr id="826406" name="Rectangle 44"/>
          <p:cNvSpPr>
            <a:spLocks noChangeArrowheads="1"/>
          </p:cNvSpPr>
          <p:nvPr/>
        </p:nvSpPr>
        <p:spPr bwMode="auto">
          <a:xfrm>
            <a:off x="2170113" y="1639888"/>
            <a:ext cx="1209675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首部长度</a:t>
            </a:r>
          </a:p>
        </p:txBody>
      </p:sp>
      <p:grpSp>
        <p:nvGrpSpPr>
          <p:cNvPr id="826407" name="Group 46"/>
          <p:cNvGrpSpPr>
            <a:grpSpLocks/>
          </p:cNvGrpSpPr>
          <p:nvPr/>
        </p:nvGrpSpPr>
        <p:grpSpPr bwMode="auto">
          <a:xfrm>
            <a:off x="1158875" y="4010025"/>
            <a:ext cx="142875" cy="69850"/>
            <a:chOff x="833" y="3024"/>
            <a:chExt cx="78" cy="51"/>
          </a:xfrm>
        </p:grpSpPr>
        <p:sp>
          <p:nvSpPr>
            <p:cNvPr id="826408" name="Rectangle 47"/>
            <p:cNvSpPr>
              <a:spLocks noChangeArrowheads="1"/>
            </p:cNvSpPr>
            <p:nvPr/>
          </p:nvSpPr>
          <p:spPr bwMode="auto">
            <a:xfrm>
              <a:off x="833" y="3024"/>
              <a:ext cx="78" cy="5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26409" name="Line 48"/>
            <p:cNvSpPr>
              <a:spLocks noChangeShapeType="1"/>
            </p:cNvSpPr>
            <p:nvPr/>
          </p:nvSpPr>
          <p:spPr bwMode="auto">
            <a:xfrm>
              <a:off x="839" y="3030"/>
              <a:ext cx="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26410" name="Line 49"/>
            <p:cNvSpPr>
              <a:spLocks noChangeShapeType="1"/>
            </p:cNvSpPr>
            <p:nvPr/>
          </p:nvSpPr>
          <p:spPr bwMode="auto">
            <a:xfrm>
              <a:off x="839" y="3075"/>
              <a:ext cx="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</p:grpSp>
      <p:grpSp>
        <p:nvGrpSpPr>
          <p:cNvPr id="826411" name="Group 50"/>
          <p:cNvGrpSpPr>
            <a:grpSpLocks/>
          </p:cNvGrpSpPr>
          <p:nvPr/>
        </p:nvGrpSpPr>
        <p:grpSpPr bwMode="auto">
          <a:xfrm>
            <a:off x="9682163" y="4019550"/>
            <a:ext cx="142875" cy="66675"/>
            <a:chOff x="5432" y="3030"/>
            <a:chExt cx="78" cy="51"/>
          </a:xfrm>
        </p:grpSpPr>
        <p:sp>
          <p:nvSpPr>
            <p:cNvPr id="826412" name="Rectangle 51"/>
            <p:cNvSpPr>
              <a:spLocks noChangeArrowheads="1"/>
            </p:cNvSpPr>
            <p:nvPr/>
          </p:nvSpPr>
          <p:spPr bwMode="auto">
            <a:xfrm>
              <a:off x="5432" y="3030"/>
              <a:ext cx="78" cy="5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26413" name="Line 52"/>
            <p:cNvSpPr>
              <a:spLocks noChangeShapeType="1"/>
            </p:cNvSpPr>
            <p:nvPr/>
          </p:nvSpPr>
          <p:spPr bwMode="auto">
            <a:xfrm>
              <a:off x="5438" y="3036"/>
              <a:ext cx="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26414" name="Line 53"/>
            <p:cNvSpPr>
              <a:spLocks noChangeShapeType="1"/>
            </p:cNvSpPr>
            <p:nvPr/>
          </p:nvSpPr>
          <p:spPr bwMode="auto">
            <a:xfrm>
              <a:off x="5438" y="3081"/>
              <a:ext cx="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</p:grpSp>
      <p:sp>
        <p:nvSpPr>
          <p:cNvPr id="826415" name="Rectangle 75"/>
          <p:cNvSpPr>
            <a:spLocks noChangeArrowheads="1"/>
          </p:cNvSpPr>
          <p:nvPr/>
        </p:nvSpPr>
        <p:spPr bwMode="auto">
          <a:xfrm>
            <a:off x="4129088" y="4411663"/>
            <a:ext cx="3151187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数       据       部       分</a:t>
            </a:r>
          </a:p>
        </p:txBody>
      </p:sp>
      <p:grpSp>
        <p:nvGrpSpPr>
          <p:cNvPr id="826416" name="Group 94"/>
          <p:cNvGrpSpPr>
            <a:grpSpLocks/>
          </p:cNvGrpSpPr>
          <p:nvPr/>
        </p:nvGrpSpPr>
        <p:grpSpPr bwMode="auto">
          <a:xfrm>
            <a:off x="266700" y="1603375"/>
            <a:ext cx="438150" cy="2663825"/>
            <a:chOff x="111" y="845"/>
            <a:chExt cx="255" cy="1678"/>
          </a:xfrm>
        </p:grpSpPr>
        <p:sp>
          <p:nvSpPr>
            <p:cNvPr id="826417" name="Line 89"/>
            <p:cNvSpPr>
              <a:spLocks noChangeShapeType="1"/>
            </p:cNvSpPr>
            <p:nvPr/>
          </p:nvSpPr>
          <p:spPr bwMode="auto">
            <a:xfrm>
              <a:off x="249" y="845"/>
              <a:ext cx="0" cy="167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26418" name="Rectangle 78"/>
            <p:cNvSpPr>
              <a:spLocks noChangeArrowheads="1"/>
            </p:cNvSpPr>
            <p:nvPr/>
          </p:nvSpPr>
          <p:spPr bwMode="auto">
            <a:xfrm>
              <a:off x="111" y="1389"/>
              <a:ext cx="255" cy="4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首</a:t>
              </a:r>
            </a:p>
            <a:p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部</a:t>
              </a:r>
            </a:p>
          </p:txBody>
        </p:sp>
      </p:grpSp>
      <p:sp>
        <p:nvSpPr>
          <p:cNvPr id="826419" name="AutoShape 97"/>
          <p:cNvSpPr>
            <a:spLocks/>
          </p:cNvSpPr>
          <p:nvPr/>
        </p:nvSpPr>
        <p:spPr bwMode="auto">
          <a:xfrm>
            <a:off x="998538" y="1674813"/>
            <a:ext cx="180975" cy="2160587"/>
          </a:xfrm>
          <a:prstGeom prst="leftBrace">
            <a:avLst>
              <a:gd name="adj1" fmla="val 107779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grpSp>
        <p:nvGrpSpPr>
          <p:cNvPr id="60" name="Group 80"/>
          <p:cNvGrpSpPr>
            <a:grpSpLocks/>
          </p:cNvGrpSpPr>
          <p:nvPr/>
        </p:nvGrpSpPr>
        <p:grpSpPr bwMode="auto">
          <a:xfrm>
            <a:off x="1716088" y="1603375"/>
            <a:ext cx="7065962" cy="5065713"/>
            <a:chOff x="998" y="845"/>
            <a:chExt cx="4108" cy="3191"/>
          </a:xfrm>
        </p:grpSpPr>
        <p:sp>
          <p:nvSpPr>
            <p:cNvPr id="826421" name="Text Box 74"/>
            <p:cNvSpPr txBox="1">
              <a:spLocks noChangeArrowheads="1"/>
            </p:cNvSpPr>
            <p:nvPr/>
          </p:nvSpPr>
          <p:spPr bwMode="auto">
            <a:xfrm>
              <a:off x="998" y="3008"/>
              <a:ext cx="4108" cy="10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 eaLnBrk="0" hangingPunct="0"/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区分服务</a:t>
              </a:r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——</a:t>
              </a:r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占 </a:t>
              </a:r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8 </a:t>
              </a:r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位，用来获得更好的服务。</a:t>
              </a:r>
            </a:p>
            <a:p>
              <a:pPr algn="ctr" eaLnBrk="0" hangingPunct="0"/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在旧标准中叫做服务类型，但实际上一直未被使用过。</a:t>
              </a:r>
            </a:p>
            <a:p>
              <a:pPr algn="ctr" eaLnBrk="0" hangingPunct="0"/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1998 </a:t>
              </a:r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年这个字段改名为区分服务。</a:t>
              </a:r>
            </a:p>
            <a:p>
              <a:pPr algn="ctr" eaLnBrk="0" hangingPunct="0"/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只有在使用区分服务（</a:t>
              </a:r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DiffServ</a:t>
              </a:r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）时，这个字段才起作用。</a:t>
              </a:r>
            </a:p>
            <a:p>
              <a:pPr algn="ctr" eaLnBrk="0" hangingPunct="0"/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在一般的情况下都不使用这个字段 </a:t>
              </a:r>
            </a:p>
          </p:txBody>
        </p:sp>
        <p:sp>
          <p:nvSpPr>
            <p:cNvPr id="826422" name="Rectangle 76"/>
            <p:cNvSpPr>
              <a:spLocks noChangeArrowheads="1"/>
            </p:cNvSpPr>
            <p:nvPr/>
          </p:nvSpPr>
          <p:spPr bwMode="auto">
            <a:xfrm>
              <a:off x="1950" y="845"/>
              <a:ext cx="1248" cy="317"/>
            </a:xfrm>
            <a:prstGeom prst="rect">
              <a:avLst/>
            </a:prstGeom>
            <a:noFill/>
            <a:ln w="762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>
                <a:ea typeface="宋体" panose="02010600030101010101" pitchFamily="2" charset="-122"/>
              </a:endParaRPr>
            </a:p>
          </p:txBody>
        </p:sp>
      </p:grpSp>
      <p:sp>
        <p:nvSpPr>
          <p:cNvPr id="826423" name="标题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smtClean="0">
                <a:ea typeface="黑体" panose="02010609060101010101" pitchFamily="49" charset="-122"/>
              </a:rPr>
              <a:t>1.  IP </a:t>
            </a:r>
            <a:r>
              <a:rPr lang="zh-CN" altLang="en-US" sz="3600" smtClean="0">
                <a:ea typeface="黑体" panose="02010609060101010101" pitchFamily="49" charset="-122"/>
              </a:rPr>
              <a:t>数据报首部的固定部分中的各字段 </a:t>
            </a:r>
          </a:p>
        </p:txBody>
      </p:sp>
      <p:sp>
        <p:nvSpPr>
          <p:cNvPr id="826424" name="灯片编号占位符 4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1301AFD-E372-4465-9A70-E7204975ED93}" type="slidenum">
              <a:rPr lang="zh-CN" altLang="en-US" smtClean="0"/>
              <a:pPr eaLnBrk="1" hangingPunct="1"/>
              <a:t>32</a:t>
            </a:fld>
            <a:endParaRPr lang="en-US" altLang="zh-CN" smtClean="0"/>
          </a:p>
        </p:txBody>
      </p:sp>
      <p:sp>
        <p:nvSpPr>
          <p:cNvPr id="826425" name="页脚占位符 5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4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417" name="Rectangle 45"/>
          <p:cNvSpPr>
            <a:spLocks noChangeArrowheads="1"/>
          </p:cNvSpPr>
          <p:nvPr/>
        </p:nvSpPr>
        <p:spPr bwMode="auto">
          <a:xfrm>
            <a:off x="631825" y="2012950"/>
            <a:ext cx="439738" cy="1196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固</a:t>
            </a:r>
          </a:p>
          <a:p>
            <a:pPr>
              <a:lnSpc>
                <a:spcPct val="90000"/>
              </a:lnSpc>
            </a:pPr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定</a:t>
            </a:r>
          </a:p>
          <a:p>
            <a:pPr>
              <a:lnSpc>
                <a:spcPct val="90000"/>
              </a:lnSpc>
            </a:pPr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部</a:t>
            </a:r>
          </a:p>
          <a:p>
            <a:pPr>
              <a:lnSpc>
                <a:spcPct val="90000"/>
              </a:lnSpc>
            </a:pPr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分</a:t>
            </a:r>
          </a:p>
        </p:txBody>
      </p:sp>
      <p:sp>
        <p:nvSpPr>
          <p:cNvPr id="828418" name="Rectangle 54"/>
          <p:cNvSpPr>
            <a:spLocks noChangeArrowheads="1"/>
          </p:cNvSpPr>
          <p:nvPr/>
        </p:nvSpPr>
        <p:spPr bwMode="auto">
          <a:xfrm>
            <a:off x="508000" y="3668713"/>
            <a:ext cx="695325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可变</a:t>
            </a:r>
          </a:p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部分</a:t>
            </a:r>
          </a:p>
        </p:txBody>
      </p:sp>
      <p:sp>
        <p:nvSpPr>
          <p:cNvPr id="828419" name="Rectangle 8"/>
          <p:cNvSpPr>
            <a:spLocks noChangeArrowheads="1"/>
          </p:cNvSpPr>
          <p:nvPr/>
        </p:nvSpPr>
        <p:spPr bwMode="auto">
          <a:xfrm>
            <a:off x="3351213" y="1611313"/>
            <a:ext cx="2132012" cy="434975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28420" name="Rectangle 10"/>
          <p:cNvSpPr>
            <a:spLocks noChangeArrowheads="1"/>
          </p:cNvSpPr>
          <p:nvPr/>
        </p:nvSpPr>
        <p:spPr bwMode="auto">
          <a:xfrm>
            <a:off x="1231900" y="1601788"/>
            <a:ext cx="8520113" cy="2643187"/>
          </a:xfrm>
          <a:prstGeom prst="rect">
            <a:avLst/>
          </a:prstGeom>
          <a:solidFill>
            <a:srgbClr val="CCE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28421" name="Rectangle 11"/>
          <p:cNvSpPr>
            <a:spLocks noChangeArrowheads="1"/>
          </p:cNvSpPr>
          <p:nvPr/>
        </p:nvSpPr>
        <p:spPr bwMode="auto">
          <a:xfrm>
            <a:off x="1246188" y="4256088"/>
            <a:ext cx="8486775" cy="681037"/>
          </a:xfrm>
          <a:prstGeom prst="rect">
            <a:avLst/>
          </a:prstGeom>
          <a:solidFill>
            <a:srgbClr val="FFFF99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28422" name="Line 12"/>
          <p:cNvSpPr>
            <a:spLocks noChangeShapeType="1"/>
          </p:cNvSpPr>
          <p:nvPr/>
        </p:nvSpPr>
        <p:spPr bwMode="auto">
          <a:xfrm>
            <a:off x="1225550" y="2052638"/>
            <a:ext cx="8535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28423" name="Line 13"/>
          <p:cNvSpPr>
            <a:spLocks noChangeShapeType="1"/>
          </p:cNvSpPr>
          <p:nvPr/>
        </p:nvSpPr>
        <p:spPr bwMode="auto">
          <a:xfrm>
            <a:off x="1225550" y="2495550"/>
            <a:ext cx="8535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28424" name="Line 14"/>
          <p:cNvSpPr>
            <a:spLocks noChangeShapeType="1"/>
          </p:cNvSpPr>
          <p:nvPr/>
        </p:nvSpPr>
        <p:spPr bwMode="auto">
          <a:xfrm>
            <a:off x="1225550" y="2940050"/>
            <a:ext cx="8535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28425" name="Line 15"/>
          <p:cNvSpPr>
            <a:spLocks noChangeShapeType="1"/>
          </p:cNvSpPr>
          <p:nvPr/>
        </p:nvSpPr>
        <p:spPr bwMode="auto">
          <a:xfrm>
            <a:off x="1225550" y="3378200"/>
            <a:ext cx="8535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28426" name="Line 16"/>
          <p:cNvSpPr>
            <a:spLocks noChangeShapeType="1"/>
          </p:cNvSpPr>
          <p:nvPr/>
        </p:nvSpPr>
        <p:spPr bwMode="auto">
          <a:xfrm>
            <a:off x="1225550" y="3822700"/>
            <a:ext cx="8535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28427" name="Line 17"/>
          <p:cNvSpPr>
            <a:spLocks noChangeShapeType="1"/>
          </p:cNvSpPr>
          <p:nvPr/>
        </p:nvSpPr>
        <p:spPr bwMode="auto">
          <a:xfrm>
            <a:off x="2274888" y="1609725"/>
            <a:ext cx="0" cy="4429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28428" name="Line 18"/>
          <p:cNvSpPr>
            <a:spLocks noChangeShapeType="1"/>
          </p:cNvSpPr>
          <p:nvPr/>
        </p:nvSpPr>
        <p:spPr bwMode="auto">
          <a:xfrm>
            <a:off x="3341688" y="1609725"/>
            <a:ext cx="0" cy="4429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28429" name="Line 19"/>
          <p:cNvSpPr>
            <a:spLocks noChangeShapeType="1"/>
          </p:cNvSpPr>
          <p:nvPr/>
        </p:nvSpPr>
        <p:spPr bwMode="auto">
          <a:xfrm>
            <a:off x="3341688" y="2505075"/>
            <a:ext cx="0" cy="431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28430" name="Line 20"/>
          <p:cNvSpPr>
            <a:spLocks noChangeShapeType="1"/>
          </p:cNvSpPr>
          <p:nvPr/>
        </p:nvSpPr>
        <p:spPr bwMode="auto">
          <a:xfrm>
            <a:off x="5478463" y="1609725"/>
            <a:ext cx="0" cy="13271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28431" name="Line 21"/>
          <p:cNvSpPr>
            <a:spLocks noChangeShapeType="1"/>
          </p:cNvSpPr>
          <p:nvPr/>
        </p:nvSpPr>
        <p:spPr bwMode="auto">
          <a:xfrm flipV="1">
            <a:off x="7615238" y="3817938"/>
            <a:ext cx="0" cy="4413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28432" name="Line 22"/>
          <p:cNvSpPr>
            <a:spLocks noChangeShapeType="1"/>
          </p:cNvSpPr>
          <p:nvPr/>
        </p:nvSpPr>
        <p:spPr bwMode="auto">
          <a:xfrm>
            <a:off x="6348413" y="2062163"/>
            <a:ext cx="0" cy="4333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28433" name="Rectangle 23"/>
          <p:cNvSpPr>
            <a:spLocks noChangeArrowheads="1"/>
          </p:cNvSpPr>
          <p:nvPr/>
        </p:nvSpPr>
        <p:spPr bwMode="auto">
          <a:xfrm>
            <a:off x="1169988" y="1222375"/>
            <a:ext cx="3254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0</a:t>
            </a:r>
          </a:p>
        </p:txBody>
      </p:sp>
      <p:sp>
        <p:nvSpPr>
          <p:cNvPr id="828434" name="Rectangle 24"/>
          <p:cNvSpPr>
            <a:spLocks noChangeArrowheads="1"/>
          </p:cNvSpPr>
          <p:nvPr/>
        </p:nvSpPr>
        <p:spPr bwMode="auto">
          <a:xfrm>
            <a:off x="2182813" y="1222375"/>
            <a:ext cx="3254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4</a:t>
            </a:r>
          </a:p>
        </p:txBody>
      </p:sp>
      <p:sp>
        <p:nvSpPr>
          <p:cNvPr id="828435" name="Rectangle 25"/>
          <p:cNvSpPr>
            <a:spLocks noChangeArrowheads="1"/>
          </p:cNvSpPr>
          <p:nvPr/>
        </p:nvSpPr>
        <p:spPr bwMode="auto">
          <a:xfrm>
            <a:off x="3260725" y="1222375"/>
            <a:ext cx="3254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8</a:t>
            </a:r>
          </a:p>
        </p:txBody>
      </p:sp>
      <p:sp>
        <p:nvSpPr>
          <p:cNvPr id="828436" name="Rectangle 26"/>
          <p:cNvSpPr>
            <a:spLocks noChangeArrowheads="1"/>
          </p:cNvSpPr>
          <p:nvPr/>
        </p:nvSpPr>
        <p:spPr bwMode="auto">
          <a:xfrm>
            <a:off x="5373688" y="1222375"/>
            <a:ext cx="4683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16</a:t>
            </a:r>
          </a:p>
        </p:txBody>
      </p:sp>
      <p:sp>
        <p:nvSpPr>
          <p:cNvPr id="828437" name="Rectangle 27"/>
          <p:cNvSpPr>
            <a:spLocks noChangeArrowheads="1"/>
          </p:cNvSpPr>
          <p:nvPr/>
        </p:nvSpPr>
        <p:spPr bwMode="auto">
          <a:xfrm>
            <a:off x="6237288" y="1222375"/>
            <a:ext cx="4683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19</a:t>
            </a:r>
          </a:p>
        </p:txBody>
      </p:sp>
      <p:sp>
        <p:nvSpPr>
          <p:cNvPr id="828438" name="Rectangle 28"/>
          <p:cNvSpPr>
            <a:spLocks noChangeArrowheads="1"/>
          </p:cNvSpPr>
          <p:nvPr/>
        </p:nvSpPr>
        <p:spPr bwMode="auto">
          <a:xfrm>
            <a:off x="7510463" y="1222375"/>
            <a:ext cx="4683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24</a:t>
            </a:r>
          </a:p>
        </p:txBody>
      </p:sp>
      <p:sp>
        <p:nvSpPr>
          <p:cNvPr id="828439" name="Rectangle 29"/>
          <p:cNvSpPr>
            <a:spLocks noChangeArrowheads="1"/>
          </p:cNvSpPr>
          <p:nvPr/>
        </p:nvSpPr>
        <p:spPr bwMode="auto">
          <a:xfrm>
            <a:off x="9366250" y="1222375"/>
            <a:ext cx="4683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31</a:t>
            </a:r>
          </a:p>
        </p:txBody>
      </p:sp>
      <p:sp>
        <p:nvSpPr>
          <p:cNvPr id="828440" name="Rectangle 30"/>
          <p:cNvSpPr>
            <a:spLocks noChangeArrowheads="1"/>
          </p:cNvSpPr>
          <p:nvPr/>
        </p:nvSpPr>
        <p:spPr bwMode="auto">
          <a:xfrm>
            <a:off x="1331913" y="1636713"/>
            <a:ext cx="7683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版 本</a:t>
            </a:r>
          </a:p>
        </p:txBody>
      </p:sp>
      <p:sp>
        <p:nvSpPr>
          <p:cNvPr id="828441" name="Rectangle 31"/>
          <p:cNvSpPr>
            <a:spLocks noChangeArrowheads="1"/>
          </p:cNvSpPr>
          <p:nvPr/>
        </p:nvSpPr>
        <p:spPr bwMode="auto">
          <a:xfrm>
            <a:off x="5543550" y="2112963"/>
            <a:ext cx="6953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标志</a:t>
            </a:r>
          </a:p>
        </p:txBody>
      </p:sp>
      <p:sp>
        <p:nvSpPr>
          <p:cNvPr id="828442" name="Rectangle 32"/>
          <p:cNvSpPr>
            <a:spLocks noChangeArrowheads="1"/>
          </p:cNvSpPr>
          <p:nvPr/>
        </p:nvSpPr>
        <p:spPr bwMode="auto">
          <a:xfrm>
            <a:off x="1544638" y="2517775"/>
            <a:ext cx="14271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生 存 时 间</a:t>
            </a:r>
          </a:p>
        </p:txBody>
      </p:sp>
      <p:sp>
        <p:nvSpPr>
          <p:cNvPr id="828443" name="Rectangle 33"/>
          <p:cNvSpPr>
            <a:spLocks noChangeArrowheads="1"/>
          </p:cNvSpPr>
          <p:nvPr/>
        </p:nvSpPr>
        <p:spPr bwMode="auto">
          <a:xfrm>
            <a:off x="3852863" y="2517775"/>
            <a:ext cx="9810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协    议</a:t>
            </a:r>
          </a:p>
        </p:txBody>
      </p:sp>
      <p:sp>
        <p:nvSpPr>
          <p:cNvPr id="828444" name="Rectangle 34"/>
          <p:cNvSpPr>
            <a:spLocks noChangeArrowheads="1"/>
          </p:cNvSpPr>
          <p:nvPr/>
        </p:nvSpPr>
        <p:spPr bwMode="auto">
          <a:xfrm>
            <a:off x="2784475" y="2112963"/>
            <a:ext cx="9810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标    识</a:t>
            </a:r>
          </a:p>
        </p:txBody>
      </p:sp>
      <p:sp>
        <p:nvSpPr>
          <p:cNvPr id="828445" name="Rectangle 35"/>
          <p:cNvSpPr>
            <a:spLocks noChangeArrowheads="1"/>
          </p:cNvSpPr>
          <p:nvPr/>
        </p:nvSpPr>
        <p:spPr bwMode="auto">
          <a:xfrm>
            <a:off x="3663950" y="1636713"/>
            <a:ext cx="1425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区 分 服 务</a:t>
            </a:r>
          </a:p>
        </p:txBody>
      </p:sp>
      <p:sp>
        <p:nvSpPr>
          <p:cNvPr id="828446" name="Rectangle 36"/>
          <p:cNvSpPr>
            <a:spLocks noChangeArrowheads="1"/>
          </p:cNvSpPr>
          <p:nvPr/>
        </p:nvSpPr>
        <p:spPr bwMode="auto">
          <a:xfrm>
            <a:off x="7050088" y="1636713"/>
            <a:ext cx="13795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总   长   度</a:t>
            </a:r>
          </a:p>
        </p:txBody>
      </p:sp>
      <p:sp>
        <p:nvSpPr>
          <p:cNvPr id="828447" name="Rectangle 37"/>
          <p:cNvSpPr>
            <a:spLocks noChangeArrowheads="1"/>
          </p:cNvSpPr>
          <p:nvPr/>
        </p:nvSpPr>
        <p:spPr bwMode="auto">
          <a:xfrm>
            <a:off x="7343775" y="2112963"/>
            <a:ext cx="13795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片   偏   移</a:t>
            </a:r>
          </a:p>
        </p:txBody>
      </p:sp>
      <p:sp>
        <p:nvSpPr>
          <p:cNvPr id="828448" name="Rectangle 38"/>
          <p:cNvSpPr>
            <a:spLocks noChangeArrowheads="1"/>
          </p:cNvSpPr>
          <p:nvPr/>
        </p:nvSpPr>
        <p:spPr bwMode="auto">
          <a:xfrm>
            <a:off x="8128000" y="3846513"/>
            <a:ext cx="9810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C00000"/>
                </a:solidFill>
                <a:ea typeface="黑体" panose="02010609060101010101" pitchFamily="49" charset="-122"/>
              </a:rPr>
              <a:t>填    充</a:t>
            </a:r>
          </a:p>
        </p:txBody>
      </p:sp>
      <p:sp>
        <p:nvSpPr>
          <p:cNvPr id="828449" name="Rectangle 39"/>
          <p:cNvSpPr>
            <a:spLocks noChangeArrowheads="1"/>
          </p:cNvSpPr>
          <p:nvPr/>
        </p:nvSpPr>
        <p:spPr bwMode="auto">
          <a:xfrm>
            <a:off x="6419850" y="2517775"/>
            <a:ext cx="23193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首   部   检   验   和</a:t>
            </a:r>
          </a:p>
        </p:txBody>
      </p:sp>
      <p:sp>
        <p:nvSpPr>
          <p:cNvPr id="828450" name="Rectangle 40"/>
          <p:cNvSpPr>
            <a:spLocks noChangeArrowheads="1"/>
          </p:cNvSpPr>
          <p:nvPr/>
        </p:nvSpPr>
        <p:spPr bwMode="auto">
          <a:xfrm>
            <a:off x="4784725" y="2976563"/>
            <a:ext cx="13795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源   地   址</a:t>
            </a:r>
          </a:p>
        </p:txBody>
      </p:sp>
      <p:sp>
        <p:nvSpPr>
          <p:cNvPr id="828451" name="Rectangle 41"/>
          <p:cNvSpPr>
            <a:spLocks noChangeArrowheads="1"/>
          </p:cNvSpPr>
          <p:nvPr/>
        </p:nvSpPr>
        <p:spPr bwMode="auto">
          <a:xfrm>
            <a:off x="4506913" y="3417888"/>
            <a:ext cx="18510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目   的   地   址</a:t>
            </a:r>
          </a:p>
        </p:txBody>
      </p:sp>
      <p:sp>
        <p:nvSpPr>
          <p:cNvPr id="828452" name="Rectangle 42"/>
          <p:cNvSpPr>
            <a:spLocks noChangeArrowheads="1"/>
          </p:cNvSpPr>
          <p:nvPr/>
        </p:nvSpPr>
        <p:spPr bwMode="auto">
          <a:xfrm>
            <a:off x="2414588" y="3846513"/>
            <a:ext cx="41735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C00000"/>
                </a:solidFill>
                <a:ea typeface="黑体" panose="02010609060101010101" pitchFamily="49" charset="-122"/>
              </a:rPr>
              <a:t>可   选   字   段  （长   度   可   变）</a:t>
            </a:r>
          </a:p>
        </p:txBody>
      </p:sp>
      <p:sp>
        <p:nvSpPr>
          <p:cNvPr id="828453" name="Rectangle 43"/>
          <p:cNvSpPr>
            <a:spLocks noChangeArrowheads="1"/>
          </p:cNvSpPr>
          <p:nvPr/>
        </p:nvSpPr>
        <p:spPr bwMode="auto">
          <a:xfrm>
            <a:off x="658813" y="1208088"/>
            <a:ext cx="4397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位</a:t>
            </a:r>
          </a:p>
        </p:txBody>
      </p:sp>
      <p:sp>
        <p:nvSpPr>
          <p:cNvPr id="828454" name="Rectangle 44"/>
          <p:cNvSpPr>
            <a:spLocks noChangeArrowheads="1"/>
          </p:cNvSpPr>
          <p:nvPr/>
        </p:nvSpPr>
        <p:spPr bwMode="auto">
          <a:xfrm>
            <a:off x="2170113" y="1617663"/>
            <a:ext cx="12096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首部长度</a:t>
            </a:r>
          </a:p>
        </p:txBody>
      </p:sp>
      <p:grpSp>
        <p:nvGrpSpPr>
          <p:cNvPr id="828455" name="Group 46"/>
          <p:cNvGrpSpPr>
            <a:grpSpLocks/>
          </p:cNvGrpSpPr>
          <p:nvPr/>
        </p:nvGrpSpPr>
        <p:grpSpPr bwMode="auto">
          <a:xfrm>
            <a:off x="1158875" y="3987800"/>
            <a:ext cx="142875" cy="69850"/>
            <a:chOff x="833" y="3024"/>
            <a:chExt cx="78" cy="51"/>
          </a:xfrm>
        </p:grpSpPr>
        <p:sp>
          <p:nvSpPr>
            <p:cNvPr id="828456" name="Rectangle 47"/>
            <p:cNvSpPr>
              <a:spLocks noChangeArrowheads="1"/>
            </p:cNvSpPr>
            <p:nvPr/>
          </p:nvSpPr>
          <p:spPr bwMode="auto">
            <a:xfrm>
              <a:off x="833" y="3024"/>
              <a:ext cx="78" cy="5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28457" name="Line 48"/>
            <p:cNvSpPr>
              <a:spLocks noChangeShapeType="1"/>
            </p:cNvSpPr>
            <p:nvPr/>
          </p:nvSpPr>
          <p:spPr bwMode="auto">
            <a:xfrm>
              <a:off x="839" y="3030"/>
              <a:ext cx="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28458" name="Line 49"/>
            <p:cNvSpPr>
              <a:spLocks noChangeShapeType="1"/>
            </p:cNvSpPr>
            <p:nvPr/>
          </p:nvSpPr>
          <p:spPr bwMode="auto">
            <a:xfrm>
              <a:off x="839" y="3075"/>
              <a:ext cx="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</p:grpSp>
      <p:grpSp>
        <p:nvGrpSpPr>
          <p:cNvPr id="828459" name="Group 50"/>
          <p:cNvGrpSpPr>
            <a:grpSpLocks/>
          </p:cNvGrpSpPr>
          <p:nvPr/>
        </p:nvGrpSpPr>
        <p:grpSpPr bwMode="auto">
          <a:xfrm>
            <a:off x="9682163" y="3997325"/>
            <a:ext cx="142875" cy="66675"/>
            <a:chOff x="5432" y="3030"/>
            <a:chExt cx="78" cy="51"/>
          </a:xfrm>
        </p:grpSpPr>
        <p:sp>
          <p:nvSpPr>
            <p:cNvPr id="828460" name="Rectangle 51"/>
            <p:cNvSpPr>
              <a:spLocks noChangeArrowheads="1"/>
            </p:cNvSpPr>
            <p:nvPr/>
          </p:nvSpPr>
          <p:spPr bwMode="auto">
            <a:xfrm>
              <a:off x="5432" y="3030"/>
              <a:ext cx="78" cy="5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28461" name="Line 52"/>
            <p:cNvSpPr>
              <a:spLocks noChangeShapeType="1"/>
            </p:cNvSpPr>
            <p:nvPr/>
          </p:nvSpPr>
          <p:spPr bwMode="auto">
            <a:xfrm>
              <a:off x="5438" y="3036"/>
              <a:ext cx="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28462" name="Line 53"/>
            <p:cNvSpPr>
              <a:spLocks noChangeShapeType="1"/>
            </p:cNvSpPr>
            <p:nvPr/>
          </p:nvSpPr>
          <p:spPr bwMode="auto">
            <a:xfrm>
              <a:off x="5438" y="3081"/>
              <a:ext cx="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</p:grpSp>
      <p:sp>
        <p:nvSpPr>
          <p:cNvPr id="828463" name="Rectangle 75"/>
          <p:cNvSpPr>
            <a:spLocks noChangeArrowheads="1"/>
          </p:cNvSpPr>
          <p:nvPr/>
        </p:nvSpPr>
        <p:spPr bwMode="auto">
          <a:xfrm>
            <a:off x="4129088" y="4389438"/>
            <a:ext cx="31511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数       据       部       分</a:t>
            </a:r>
          </a:p>
        </p:txBody>
      </p:sp>
      <p:grpSp>
        <p:nvGrpSpPr>
          <p:cNvPr id="828464" name="Group 94"/>
          <p:cNvGrpSpPr>
            <a:grpSpLocks/>
          </p:cNvGrpSpPr>
          <p:nvPr/>
        </p:nvGrpSpPr>
        <p:grpSpPr bwMode="auto">
          <a:xfrm>
            <a:off x="266700" y="1581150"/>
            <a:ext cx="438150" cy="2663825"/>
            <a:chOff x="111" y="845"/>
            <a:chExt cx="255" cy="1678"/>
          </a:xfrm>
        </p:grpSpPr>
        <p:sp>
          <p:nvSpPr>
            <p:cNvPr id="828465" name="Line 89"/>
            <p:cNvSpPr>
              <a:spLocks noChangeShapeType="1"/>
            </p:cNvSpPr>
            <p:nvPr/>
          </p:nvSpPr>
          <p:spPr bwMode="auto">
            <a:xfrm>
              <a:off x="249" y="845"/>
              <a:ext cx="0" cy="167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28466" name="Rectangle 78"/>
            <p:cNvSpPr>
              <a:spLocks noChangeArrowheads="1"/>
            </p:cNvSpPr>
            <p:nvPr/>
          </p:nvSpPr>
          <p:spPr bwMode="auto">
            <a:xfrm>
              <a:off x="111" y="1389"/>
              <a:ext cx="255" cy="4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首</a:t>
              </a:r>
            </a:p>
            <a:p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部</a:t>
              </a:r>
            </a:p>
          </p:txBody>
        </p:sp>
      </p:grpSp>
      <p:sp>
        <p:nvSpPr>
          <p:cNvPr id="828467" name="AutoShape 97"/>
          <p:cNvSpPr>
            <a:spLocks/>
          </p:cNvSpPr>
          <p:nvPr/>
        </p:nvSpPr>
        <p:spPr bwMode="auto">
          <a:xfrm>
            <a:off x="998538" y="1652588"/>
            <a:ext cx="180975" cy="2160587"/>
          </a:xfrm>
          <a:prstGeom prst="leftBrace">
            <a:avLst>
              <a:gd name="adj1" fmla="val 107779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grpSp>
        <p:nvGrpSpPr>
          <p:cNvPr id="57" name="Group 80"/>
          <p:cNvGrpSpPr>
            <a:grpSpLocks/>
          </p:cNvGrpSpPr>
          <p:nvPr/>
        </p:nvGrpSpPr>
        <p:grpSpPr bwMode="auto">
          <a:xfrm>
            <a:off x="2017713" y="1581150"/>
            <a:ext cx="7770812" cy="4800600"/>
            <a:chOff x="1173" y="845"/>
            <a:chExt cx="4519" cy="3024"/>
          </a:xfrm>
        </p:grpSpPr>
        <p:sp>
          <p:nvSpPr>
            <p:cNvPr id="828469" name="Text Box 74"/>
            <p:cNvSpPr txBox="1">
              <a:spLocks noChangeArrowheads="1"/>
            </p:cNvSpPr>
            <p:nvPr/>
          </p:nvSpPr>
          <p:spPr bwMode="auto">
            <a:xfrm>
              <a:off x="1173" y="3113"/>
              <a:ext cx="4303" cy="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zh-CN" altLang="en-US" sz="2400" b="1" dirty="0">
                  <a:solidFill>
                    <a:srgbClr val="0000CC"/>
                  </a:solidFill>
                  <a:ea typeface="黑体" panose="02010609060101010101" pitchFamily="49" charset="-122"/>
                </a:rPr>
                <a:t>总长度</a:t>
              </a:r>
              <a:r>
                <a:rPr lang="en-US" altLang="zh-CN" sz="2400" b="1" dirty="0">
                  <a:solidFill>
                    <a:srgbClr val="0000CC"/>
                  </a:solidFill>
                  <a:ea typeface="黑体" panose="02010609060101010101" pitchFamily="49" charset="-122"/>
                </a:rPr>
                <a:t>——</a:t>
              </a:r>
              <a:r>
                <a:rPr lang="zh-CN" altLang="en-US" sz="2400" b="1" dirty="0">
                  <a:solidFill>
                    <a:srgbClr val="0000CC"/>
                  </a:solidFill>
                  <a:ea typeface="黑体" panose="02010609060101010101" pitchFamily="49" charset="-122"/>
                </a:rPr>
                <a:t>占 </a:t>
              </a:r>
              <a:r>
                <a:rPr lang="en-US" altLang="zh-CN" sz="2400" b="1" dirty="0">
                  <a:solidFill>
                    <a:srgbClr val="0000CC"/>
                  </a:solidFill>
                  <a:ea typeface="黑体" panose="02010609060101010101" pitchFamily="49" charset="-122"/>
                </a:rPr>
                <a:t>16 </a:t>
              </a:r>
              <a:r>
                <a:rPr lang="zh-CN" altLang="en-US" sz="2400" b="1" dirty="0">
                  <a:solidFill>
                    <a:srgbClr val="0000CC"/>
                  </a:solidFill>
                  <a:ea typeface="黑体" panose="02010609060101010101" pitchFamily="49" charset="-122"/>
                </a:rPr>
                <a:t>位，指首部和数据之和的长度，</a:t>
              </a:r>
            </a:p>
            <a:p>
              <a:pPr algn="ctr" eaLnBrk="0" hangingPunct="0"/>
              <a:r>
                <a:rPr lang="zh-CN" altLang="en-US" sz="2400" b="1" dirty="0">
                  <a:solidFill>
                    <a:srgbClr val="0000CC"/>
                  </a:solidFill>
                  <a:ea typeface="黑体" panose="02010609060101010101" pitchFamily="49" charset="-122"/>
                </a:rPr>
                <a:t>单位为</a:t>
              </a:r>
              <a:r>
                <a:rPr lang="zh-CN" altLang="en-US" sz="2400" b="1" dirty="0">
                  <a:solidFill>
                    <a:srgbClr val="FF0000"/>
                  </a:solidFill>
                  <a:ea typeface="黑体" panose="02010609060101010101" pitchFamily="49" charset="-122"/>
                </a:rPr>
                <a:t>字节</a:t>
              </a:r>
              <a:r>
                <a:rPr lang="zh-CN" altLang="en-US" sz="2400" b="1" dirty="0">
                  <a:solidFill>
                    <a:srgbClr val="0000CC"/>
                  </a:solidFill>
                  <a:ea typeface="黑体" panose="02010609060101010101" pitchFamily="49" charset="-122"/>
                </a:rPr>
                <a:t>，因此数据报的最大长度为 </a:t>
              </a:r>
              <a:r>
                <a:rPr lang="en-US" altLang="zh-CN" sz="2400" b="1" dirty="0">
                  <a:solidFill>
                    <a:srgbClr val="FF0000"/>
                  </a:solidFill>
                  <a:ea typeface="黑体" panose="02010609060101010101" pitchFamily="49" charset="-122"/>
                </a:rPr>
                <a:t>65535 </a:t>
              </a:r>
              <a:r>
                <a:rPr lang="zh-CN" altLang="en-US" sz="2400" b="1" dirty="0">
                  <a:solidFill>
                    <a:srgbClr val="0000CC"/>
                  </a:solidFill>
                  <a:ea typeface="黑体" panose="02010609060101010101" pitchFamily="49" charset="-122"/>
                </a:rPr>
                <a:t>字节。</a:t>
              </a:r>
            </a:p>
            <a:p>
              <a:pPr algn="ctr" eaLnBrk="0" hangingPunct="0"/>
              <a:r>
                <a:rPr lang="zh-CN" altLang="en-US" sz="2400" b="1" dirty="0">
                  <a:solidFill>
                    <a:srgbClr val="C00000"/>
                  </a:solidFill>
                  <a:ea typeface="黑体" panose="02010609060101010101" pitchFamily="49" charset="-122"/>
                </a:rPr>
                <a:t>总长度必须不超过</a:t>
              </a:r>
              <a:r>
                <a:rPr lang="zh-CN" altLang="en-US" sz="2400" b="1" u="sng" dirty="0">
                  <a:solidFill>
                    <a:srgbClr val="C00000"/>
                  </a:solidFill>
                  <a:ea typeface="黑体" panose="02010609060101010101" pitchFamily="49" charset="-122"/>
                </a:rPr>
                <a:t>最大传送单元 </a:t>
              </a:r>
              <a:r>
                <a:rPr lang="en-US" altLang="zh-CN" sz="2400" b="1" u="sng" dirty="0">
                  <a:solidFill>
                    <a:srgbClr val="C00000"/>
                  </a:solidFill>
                  <a:ea typeface="黑体" panose="02010609060101010101" pitchFamily="49" charset="-122"/>
                </a:rPr>
                <a:t>MTU</a:t>
              </a:r>
              <a:r>
                <a:rPr lang="zh-CN" altLang="en-US" sz="2400" b="1" dirty="0">
                  <a:solidFill>
                    <a:srgbClr val="C00000"/>
                  </a:solidFill>
                  <a:ea typeface="黑体" panose="02010609060101010101" pitchFamily="49" charset="-122"/>
                </a:rPr>
                <a:t>。 </a:t>
              </a:r>
            </a:p>
          </p:txBody>
        </p:sp>
        <p:sp>
          <p:nvSpPr>
            <p:cNvPr id="828470" name="Rectangle 79"/>
            <p:cNvSpPr>
              <a:spLocks noChangeArrowheads="1"/>
            </p:cNvSpPr>
            <p:nvPr/>
          </p:nvSpPr>
          <p:spPr bwMode="auto">
            <a:xfrm>
              <a:off x="3208" y="845"/>
              <a:ext cx="2484" cy="307"/>
            </a:xfrm>
            <a:prstGeom prst="rect">
              <a:avLst/>
            </a:prstGeom>
            <a:noFill/>
            <a:ln w="762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>
                <a:ea typeface="宋体" panose="02010600030101010101" pitchFamily="2" charset="-122"/>
              </a:endParaRPr>
            </a:p>
          </p:txBody>
        </p:sp>
      </p:grpSp>
      <p:sp>
        <p:nvSpPr>
          <p:cNvPr id="828471" name="标题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smtClean="0">
                <a:ea typeface="黑体" panose="02010609060101010101" pitchFamily="49" charset="-122"/>
              </a:rPr>
              <a:t>1.  IP </a:t>
            </a:r>
            <a:r>
              <a:rPr lang="zh-CN" altLang="en-US" sz="3600" smtClean="0">
                <a:ea typeface="黑体" panose="02010609060101010101" pitchFamily="49" charset="-122"/>
              </a:rPr>
              <a:t>数据报首部的固定部分中的各字段 </a:t>
            </a:r>
          </a:p>
        </p:txBody>
      </p:sp>
      <p:sp>
        <p:nvSpPr>
          <p:cNvPr id="828472" name="灯片编号占位符 4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0A72E08-7817-405A-AA96-FE57C36AFDC1}" type="slidenum">
              <a:rPr lang="zh-CN" altLang="en-US" smtClean="0"/>
              <a:pPr eaLnBrk="1" hangingPunct="1"/>
              <a:t>33</a:t>
            </a:fld>
            <a:endParaRPr lang="en-US" altLang="zh-CN" smtClean="0"/>
          </a:p>
        </p:txBody>
      </p:sp>
      <p:sp>
        <p:nvSpPr>
          <p:cNvPr id="828473" name="页脚占位符 5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4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465" name="Rectangle 45"/>
          <p:cNvSpPr>
            <a:spLocks noChangeArrowheads="1"/>
          </p:cNvSpPr>
          <p:nvPr/>
        </p:nvSpPr>
        <p:spPr bwMode="auto">
          <a:xfrm>
            <a:off x="631825" y="2022475"/>
            <a:ext cx="439738" cy="1196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固</a:t>
            </a:r>
          </a:p>
          <a:p>
            <a:pPr>
              <a:lnSpc>
                <a:spcPct val="90000"/>
              </a:lnSpc>
            </a:pPr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定</a:t>
            </a:r>
          </a:p>
          <a:p>
            <a:pPr>
              <a:lnSpc>
                <a:spcPct val="90000"/>
              </a:lnSpc>
            </a:pPr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部</a:t>
            </a:r>
          </a:p>
          <a:p>
            <a:pPr>
              <a:lnSpc>
                <a:spcPct val="90000"/>
              </a:lnSpc>
            </a:pPr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分</a:t>
            </a:r>
          </a:p>
        </p:txBody>
      </p:sp>
      <p:sp>
        <p:nvSpPr>
          <p:cNvPr id="830466" name="Rectangle 54"/>
          <p:cNvSpPr>
            <a:spLocks noChangeArrowheads="1"/>
          </p:cNvSpPr>
          <p:nvPr/>
        </p:nvSpPr>
        <p:spPr bwMode="auto">
          <a:xfrm>
            <a:off x="508000" y="3678238"/>
            <a:ext cx="695325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可变</a:t>
            </a:r>
          </a:p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部分</a:t>
            </a:r>
          </a:p>
        </p:txBody>
      </p:sp>
      <p:sp>
        <p:nvSpPr>
          <p:cNvPr id="830467" name="Rectangle 8"/>
          <p:cNvSpPr>
            <a:spLocks noChangeArrowheads="1"/>
          </p:cNvSpPr>
          <p:nvPr/>
        </p:nvSpPr>
        <p:spPr bwMode="auto">
          <a:xfrm>
            <a:off x="3351213" y="1620838"/>
            <a:ext cx="2132012" cy="434975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30468" name="Rectangle 10"/>
          <p:cNvSpPr>
            <a:spLocks noChangeArrowheads="1"/>
          </p:cNvSpPr>
          <p:nvPr/>
        </p:nvSpPr>
        <p:spPr bwMode="auto">
          <a:xfrm>
            <a:off x="1231900" y="1611313"/>
            <a:ext cx="8520113" cy="2643187"/>
          </a:xfrm>
          <a:prstGeom prst="rect">
            <a:avLst/>
          </a:prstGeom>
          <a:solidFill>
            <a:srgbClr val="CCE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30469" name="Rectangle 11"/>
          <p:cNvSpPr>
            <a:spLocks noChangeArrowheads="1"/>
          </p:cNvSpPr>
          <p:nvPr/>
        </p:nvSpPr>
        <p:spPr bwMode="auto">
          <a:xfrm>
            <a:off x="1246188" y="4265613"/>
            <a:ext cx="8486775" cy="681037"/>
          </a:xfrm>
          <a:prstGeom prst="rect">
            <a:avLst/>
          </a:prstGeom>
          <a:solidFill>
            <a:srgbClr val="FFFF99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30470" name="Line 12"/>
          <p:cNvSpPr>
            <a:spLocks noChangeShapeType="1"/>
          </p:cNvSpPr>
          <p:nvPr/>
        </p:nvSpPr>
        <p:spPr bwMode="auto">
          <a:xfrm>
            <a:off x="1225550" y="2062163"/>
            <a:ext cx="8535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30471" name="Line 13"/>
          <p:cNvSpPr>
            <a:spLocks noChangeShapeType="1"/>
          </p:cNvSpPr>
          <p:nvPr/>
        </p:nvSpPr>
        <p:spPr bwMode="auto">
          <a:xfrm>
            <a:off x="1225550" y="2505075"/>
            <a:ext cx="8535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30472" name="Line 14"/>
          <p:cNvSpPr>
            <a:spLocks noChangeShapeType="1"/>
          </p:cNvSpPr>
          <p:nvPr/>
        </p:nvSpPr>
        <p:spPr bwMode="auto">
          <a:xfrm>
            <a:off x="1225550" y="2949575"/>
            <a:ext cx="8535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30473" name="Line 15"/>
          <p:cNvSpPr>
            <a:spLocks noChangeShapeType="1"/>
          </p:cNvSpPr>
          <p:nvPr/>
        </p:nvSpPr>
        <p:spPr bwMode="auto">
          <a:xfrm>
            <a:off x="1225550" y="3387725"/>
            <a:ext cx="8535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30474" name="Line 16"/>
          <p:cNvSpPr>
            <a:spLocks noChangeShapeType="1"/>
          </p:cNvSpPr>
          <p:nvPr/>
        </p:nvSpPr>
        <p:spPr bwMode="auto">
          <a:xfrm>
            <a:off x="1225550" y="3832225"/>
            <a:ext cx="8535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30475" name="Line 17"/>
          <p:cNvSpPr>
            <a:spLocks noChangeShapeType="1"/>
          </p:cNvSpPr>
          <p:nvPr/>
        </p:nvSpPr>
        <p:spPr bwMode="auto">
          <a:xfrm>
            <a:off x="2274888" y="1619250"/>
            <a:ext cx="0" cy="4429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30476" name="Line 18"/>
          <p:cNvSpPr>
            <a:spLocks noChangeShapeType="1"/>
          </p:cNvSpPr>
          <p:nvPr/>
        </p:nvSpPr>
        <p:spPr bwMode="auto">
          <a:xfrm>
            <a:off x="3341688" y="1619250"/>
            <a:ext cx="0" cy="4429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30477" name="Line 19"/>
          <p:cNvSpPr>
            <a:spLocks noChangeShapeType="1"/>
          </p:cNvSpPr>
          <p:nvPr/>
        </p:nvSpPr>
        <p:spPr bwMode="auto">
          <a:xfrm>
            <a:off x="3341688" y="2514600"/>
            <a:ext cx="0" cy="431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30478" name="Line 20"/>
          <p:cNvSpPr>
            <a:spLocks noChangeShapeType="1"/>
          </p:cNvSpPr>
          <p:nvPr/>
        </p:nvSpPr>
        <p:spPr bwMode="auto">
          <a:xfrm>
            <a:off x="5478463" y="1619250"/>
            <a:ext cx="0" cy="13271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30479" name="Line 21"/>
          <p:cNvSpPr>
            <a:spLocks noChangeShapeType="1"/>
          </p:cNvSpPr>
          <p:nvPr/>
        </p:nvSpPr>
        <p:spPr bwMode="auto">
          <a:xfrm flipV="1">
            <a:off x="7615238" y="3827463"/>
            <a:ext cx="0" cy="4413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30480" name="Line 22"/>
          <p:cNvSpPr>
            <a:spLocks noChangeShapeType="1"/>
          </p:cNvSpPr>
          <p:nvPr/>
        </p:nvSpPr>
        <p:spPr bwMode="auto">
          <a:xfrm>
            <a:off x="6348413" y="2071688"/>
            <a:ext cx="0" cy="4333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30481" name="Rectangle 23"/>
          <p:cNvSpPr>
            <a:spLocks noChangeArrowheads="1"/>
          </p:cNvSpPr>
          <p:nvPr/>
        </p:nvSpPr>
        <p:spPr bwMode="auto">
          <a:xfrm>
            <a:off x="1169988" y="1231900"/>
            <a:ext cx="3254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0</a:t>
            </a:r>
          </a:p>
        </p:txBody>
      </p:sp>
      <p:sp>
        <p:nvSpPr>
          <p:cNvPr id="830482" name="Rectangle 24"/>
          <p:cNvSpPr>
            <a:spLocks noChangeArrowheads="1"/>
          </p:cNvSpPr>
          <p:nvPr/>
        </p:nvSpPr>
        <p:spPr bwMode="auto">
          <a:xfrm>
            <a:off x="2182813" y="1231900"/>
            <a:ext cx="3254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4</a:t>
            </a:r>
          </a:p>
        </p:txBody>
      </p:sp>
      <p:sp>
        <p:nvSpPr>
          <p:cNvPr id="830483" name="Rectangle 25"/>
          <p:cNvSpPr>
            <a:spLocks noChangeArrowheads="1"/>
          </p:cNvSpPr>
          <p:nvPr/>
        </p:nvSpPr>
        <p:spPr bwMode="auto">
          <a:xfrm>
            <a:off x="3260725" y="1231900"/>
            <a:ext cx="3254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8</a:t>
            </a:r>
          </a:p>
        </p:txBody>
      </p:sp>
      <p:sp>
        <p:nvSpPr>
          <p:cNvPr id="830484" name="Rectangle 26"/>
          <p:cNvSpPr>
            <a:spLocks noChangeArrowheads="1"/>
          </p:cNvSpPr>
          <p:nvPr/>
        </p:nvSpPr>
        <p:spPr bwMode="auto">
          <a:xfrm>
            <a:off x="5373688" y="1231900"/>
            <a:ext cx="4683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16</a:t>
            </a:r>
          </a:p>
        </p:txBody>
      </p:sp>
      <p:sp>
        <p:nvSpPr>
          <p:cNvPr id="830485" name="Rectangle 27"/>
          <p:cNvSpPr>
            <a:spLocks noChangeArrowheads="1"/>
          </p:cNvSpPr>
          <p:nvPr/>
        </p:nvSpPr>
        <p:spPr bwMode="auto">
          <a:xfrm>
            <a:off x="6237288" y="1231900"/>
            <a:ext cx="4683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19</a:t>
            </a:r>
          </a:p>
        </p:txBody>
      </p:sp>
      <p:sp>
        <p:nvSpPr>
          <p:cNvPr id="830486" name="Rectangle 28"/>
          <p:cNvSpPr>
            <a:spLocks noChangeArrowheads="1"/>
          </p:cNvSpPr>
          <p:nvPr/>
        </p:nvSpPr>
        <p:spPr bwMode="auto">
          <a:xfrm>
            <a:off x="7510463" y="1231900"/>
            <a:ext cx="4683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24</a:t>
            </a:r>
          </a:p>
        </p:txBody>
      </p:sp>
      <p:sp>
        <p:nvSpPr>
          <p:cNvPr id="830487" name="Rectangle 29"/>
          <p:cNvSpPr>
            <a:spLocks noChangeArrowheads="1"/>
          </p:cNvSpPr>
          <p:nvPr/>
        </p:nvSpPr>
        <p:spPr bwMode="auto">
          <a:xfrm>
            <a:off x="9366250" y="1231900"/>
            <a:ext cx="4683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31</a:t>
            </a:r>
          </a:p>
        </p:txBody>
      </p:sp>
      <p:sp>
        <p:nvSpPr>
          <p:cNvPr id="830488" name="Rectangle 30"/>
          <p:cNvSpPr>
            <a:spLocks noChangeArrowheads="1"/>
          </p:cNvSpPr>
          <p:nvPr/>
        </p:nvSpPr>
        <p:spPr bwMode="auto">
          <a:xfrm>
            <a:off x="1331913" y="1646238"/>
            <a:ext cx="7683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版 本</a:t>
            </a:r>
          </a:p>
        </p:txBody>
      </p:sp>
      <p:sp>
        <p:nvSpPr>
          <p:cNvPr id="830489" name="Rectangle 31"/>
          <p:cNvSpPr>
            <a:spLocks noChangeArrowheads="1"/>
          </p:cNvSpPr>
          <p:nvPr/>
        </p:nvSpPr>
        <p:spPr bwMode="auto">
          <a:xfrm>
            <a:off x="5543550" y="2122488"/>
            <a:ext cx="6953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标志</a:t>
            </a:r>
          </a:p>
        </p:txBody>
      </p:sp>
      <p:sp>
        <p:nvSpPr>
          <p:cNvPr id="830490" name="Rectangle 32"/>
          <p:cNvSpPr>
            <a:spLocks noChangeArrowheads="1"/>
          </p:cNvSpPr>
          <p:nvPr/>
        </p:nvSpPr>
        <p:spPr bwMode="auto">
          <a:xfrm>
            <a:off x="1544638" y="2527300"/>
            <a:ext cx="14271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生 存 时 间</a:t>
            </a:r>
          </a:p>
        </p:txBody>
      </p:sp>
      <p:sp>
        <p:nvSpPr>
          <p:cNvPr id="830491" name="Rectangle 33"/>
          <p:cNvSpPr>
            <a:spLocks noChangeArrowheads="1"/>
          </p:cNvSpPr>
          <p:nvPr/>
        </p:nvSpPr>
        <p:spPr bwMode="auto">
          <a:xfrm>
            <a:off x="3852863" y="2527300"/>
            <a:ext cx="9810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协    议</a:t>
            </a:r>
          </a:p>
        </p:txBody>
      </p:sp>
      <p:sp>
        <p:nvSpPr>
          <p:cNvPr id="830492" name="Rectangle 34"/>
          <p:cNvSpPr>
            <a:spLocks noChangeArrowheads="1"/>
          </p:cNvSpPr>
          <p:nvPr/>
        </p:nvSpPr>
        <p:spPr bwMode="auto">
          <a:xfrm>
            <a:off x="2784475" y="2122488"/>
            <a:ext cx="9810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标    识</a:t>
            </a:r>
          </a:p>
        </p:txBody>
      </p:sp>
      <p:sp>
        <p:nvSpPr>
          <p:cNvPr id="830493" name="Rectangle 35"/>
          <p:cNvSpPr>
            <a:spLocks noChangeArrowheads="1"/>
          </p:cNvSpPr>
          <p:nvPr/>
        </p:nvSpPr>
        <p:spPr bwMode="auto">
          <a:xfrm>
            <a:off x="3663950" y="1646238"/>
            <a:ext cx="1425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区 分 服 务</a:t>
            </a:r>
          </a:p>
        </p:txBody>
      </p:sp>
      <p:sp>
        <p:nvSpPr>
          <p:cNvPr id="830494" name="Rectangle 36"/>
          <p:cNvSpPr>
            <a:spLocks noChangeArrowheads="1"/>
          </p:cNvSpPr>
          <p:nvPr/>
        </p:nvSpPr>
        <p:spPr bwMode="auto">
          <a:xfrm>
            <a:off x="7050088" y="1646238"/>
            <a:ext cx="13795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总   长   度</a:t>
            </a:r>
          </a:p>
        </p:txBody>
      </p:sp>
      <p:sp>
        <p:nvSpPr>
          <p:cNvPr id="830495" name="Rectangle 37"/>
          <p:cNvSpPr>
            <a:spLocks noChangeArrowheads="1"/>
          </p:cNvSpPr>
          <p:nvPr/>
        </p:nvSpPr>
        <p:spPr bwMode="auto">
          <a:xfrm>
            <a:off x="7343775" y="2122488"/>
            <a:ext cx="13795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片   偏   移</a:t>
            </a:r>
          </a:p>
        </p:txBody>
      </p:sp>
      <p:sp>
        <p:nvSpPr>
          <p:cNvPr id="830496" name="Rectangle 38"/>
          <p:cNvSpPr>
            <a:spLocks noChangeArrowheads="1"/>
          </p:cNvSpPr>
          <p:nvPr/>
        </p:nvSpPr>
        <p:spPr bwMode="auto">
          <a:xfrm>
            <a:off x="8128000" y="3856038"/>
            <a:ext cx="9810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C00000"/>
                </a:solidFill>
                <a:ea typeface="黑体" panose="02010609060101010101" pitchFamily="49" charset="-122"/>
              </a:rPr>
              <a:t>填    充</a:t>
            </a:r>
          </a:p>
        </p:txBody>
      </p:sp>
      <p:sp>
        <p:nvSpPr>
          <p:cNvPr id="830497" name="Rectangle 39"/>
          <p:cNvSpPr>
            <a:spLocks noChangeArrowheads="1"/>
          </p:cNvSpPr>
          <p:nvPr/>
        </p:nvSpPr>
        <p:spPr bwMode="auto">
          <a:xfrm>
            <a:off x="6419850" y="2527300"/>
            <a:ext cx="23193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首   部   检   验   和</a:t>
            </a:r>
          </a:p>
        </p:txBody>
      </p:sp>
      <p:sp>
        <p:nvSpPr>
          <p:cNvPr id="830498" name="Rectangle 40"/>
          <p:cNvSpPr>
            <a:spLocks noChangeArrowheads="1"/>
          </p:cNvSpPr>
          <p:nvPr/>
        </p:nvSpPr>
        <p:spPr bwMode="auto">
          <a:xfrm>
            <a:off x="4784725" y="2986088"/>
            <a:ext cx="13795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源   地   址</a:t>
            </a:r>
          </a:p>
        </p:txBody>
      </p:sp>
      <p:sp>
        <p:nvSpPr>
          <p:cNvPr id="830499" name="Rectangle 41"/>
          <p:cNvSpPr>
            <a:spLocks noChangeArrowheads="1"/>
          </p:cNvSpPr>
          <p:nvPr/>
        </p:nvSpPr>
        <p:spPr bwMode="auto">
          <a:xfrm>
            <a:off x="4506913" y="3427413"/>
            <a:ext cx="18510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目   的   地   址</a:t>
            </a:r>
          </a:p>
        </p:txBody>
      </p:sp>
      <p:sp>
        <p:nvSpPr>
          <p:cNvPr id="830500" name="Rectangle 42"/>
          <p:cNvSpPr>
            <a:spLocks noChangeArrowheads="1"/>
          </p:cNvSpPr>
          <p:nvPr/>
        </p:nvSpPr>
        <p:spPr bwMode="auto">
          <a:xfrm>
            <a:off x="2414588" y="3856038"/>
            <a:ext cx="41735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C00000"/>
                </a:solidFill>
                <a:ea typeface="黑体" panose="02010609060101010101" pitchFamily="49" charset="-122"/>
              </a:rPr>
              <a:t>可   选   字   段  （长   度   可   变）</a:t>
            </a:r>
          </a:p>
        </p:txBody>
      </p:sp>
      <p:sp>
        <p:nvSpPr>
          <p:cNvPr id="830501" name="Rectangle 43"/>
          <p:cNvSpPr>
            <a:spLocks noChangeArrowheads="1"/>
          </p:cNvSpPr>
          <p:nvPr/>
        </p:nvSpPr>
        <p:spPr bwMode="auto">
          <a:xfrm>
            <a:off x="658813" y="1217613"/>
            <a:ext cx="4397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位</a:t>
            </a:r>
          </a:p>
        </p:txBody>
      </p:sp>
      <p:sp>
        <p:nvSpPr>
          <p:cNvPr id="830502" name="Rectangle 44"/>
          <p:cNvSpPr>
            <a:spLocks noChangeArrowheads="1"/>
          </p:cNvSpPr>
          <p:nvPr/>
        </p:nvSpPr>
        <p:spPr bwMode="auto">
          <a:xfrm>
            <a:off x="2170113" y="1627188"/>
            <a:ext cx="12096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首部长度</a:t>
            </a:r>
          </a:p>
        </p:txBody>
      </p:sp>
      <p:grpSp>
        <p:nvGrpSpPr>
          <p:cNvPr id="830503" name="Group 46"/>
          <p:cNvGrpSpPr>
            <a:grpSpLocks/>
          </p:cNvGrpSpPr>
          <p:nvPr/>
        </p:nvGrpSpPr>
        <p:grpSpPr bwMode="auto">
          <a:xfrm>
            <a:off x="1158875" y="3997325"/>
            <a:ext cx="142875" cy="69850"/>
            <a:chOff x="833" y="3024"/>
            <a:chExt cx="78" cy="51"/>
          </a:xfrm>
        </p:grpSpPr>
        <p:sp>
          <p:nvSpPr>
            <p:cNvPr id="830504" name="Rectangle 47"/>
            <p:cNvSpPr>
              <a:spLocks noChangeArrowheads="1"/>
            </p:cNvSpPr>
            <p:nvPr/>
          </p:nvSpPr>
          <p:spPr bwMode="auto">
            <a:xfrm>
              <a:off x="833" y="3024"/>
              <a:ext cx="78" cy="5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30505" name="Line 48"/>
            <p:cNvSpPr>
              <a:spLocks noChangeShapeType="1"/>
            </p:cNvSpPr>
            <p:nvPr/>
          </p:nvSpPr>
          <p:spPr bwMode="auto">
            <a:xfrm>
              <a:off x="839" y="3030"/>
              <a:ext cx="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30506" name="Line 49"/>
            <p:cNvSpPr>
              <a:spLocks noChangeShapeType="1"/>
            </p:cNvSpPr>
            <p:nvPr/>
          </p:nvSpPr>
          <p:spPr bwMode="auto">
            <a:xfrm>
              <a:off x="839" y="3075"/>
              <a:ext cx="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</p:grpSp>
      <p:grpSp>
        <p:nvGrpSpPr>
          <p:cNvPr id="830507" name="Group 50"/>
          <p:cNvGrpSpPr>
            <a:grpSpLocks/>
          </p:cNvGrpSpPr>
          <p:nvPr/>
        </p:nvGrpSpPr>
        <p:grpSpPr bwMode="auto">
          <a:xfrm>
            <a:off x="9682163" y="4006850"/>
            <a:ext cx="142875" cy="66675"/>
            <a:chOff x="5432" y="3030"/>
            <a:chExt cx="78" cy="51"/>
          </a:xfrm>
        </p:grpSpPr>
        <p:sp>
          <p:nvSpPr>
            <p:cNvPr id="830508" name="Rectangle 51"/>
            <p:cNvSpPr>
              <a:spLocks noChangeArrowheads="1"/>
            </p:cNvSpPr>
            <p:nvPr/>
          </p:nvSpPr>
          <p:spPr bwMode="auto">
            <a:xfrm>
              <a:off x="5432" y="3030"/>
              <a:ext cx="78" cy="5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30509" name="Line 52"/>
            <p:cNvSpPr>
              <a:spLocks noChangeShapeType="1"/>
            </p:cNvSpPr>
            <p:nvPr/>
          </p:nvSpPr>
          <p:spPr bwMode="auto">
            <a:xfrm>
              <a:off x="5438" y="3036"/>
              <a:ext cx="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30510" name="Line 53"/>
            <p:cNvSpPr>
              <a:spLocks noChangeShapeType="1"/>
            </p:cNvSpPr>
            <p:nvPr/>
          </p:nvSpPr>
          <p:spPr bwMode="auto">
            <a:xfrm>
              <a:off x="5438" y="3081"/>
              <a:ext cx="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</p:grpSp>
      <p:sp>
        <p:nvSpPr>
          <p:cNvPr id="830511" name="Rectangle 75"/>
          <p:cNvSpPr>
            <a:spLocks noChangeArrowheads="1"/>
          </p:cNvSpPr>
          <p:nvPr/>
        </p:nvSpPr>
        <p:spPr bwMode="auto">
          <a:xfrm>
            <a:off x="4129088" y="4398963"/>
            <a:ext cx="31511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数       据       部       分</a:t>
            </a:r>
          </a:p>
        </p:txBody>
      </p:sp>
      <p:grpSp>
        <p:nvGrpSpPr>
          <p:cNvPr id="830512" name="Group 94"/>
          <p:cNvGrpSpPr>
            <a:grpSpLocks/>
          </p:cNvGrpSpPr>
          <p:nvPr/>
        </p:nvGrpSpPr>
        <p:grpSpPr bwMode="auto">
          <a:xfrm>
            <a:off x="266700" y="1590675"/>
            <a:ext cx="438150" cy="2663825"/>
            <a:chOff x="111" y="845"/>
            <a:chExt cx="255" cy="1678"/>
          </a:xfrm>
        </p:grpSpPr>
        <p:sp>
          <p:nvSpPr>
            <p:cNvPr id="830513" name="Line 89"/>
            <p:cNvSpPr>
              <a:spLocks noChangeShapeType="1"/>
            </p:cNvSpPr>
            <p:nvPr/>
          </p:nvSpPr>
          <p:spPr bwMode="auto">
            <a:xfrm>
              <a:off x="249" y="845"/>
              <a:ext cx="0" cy="167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30514" name="Rectangle 78"/>
            <p:cNvSpPr>
              <a:spLocks noChangeArrowheads="1"/>
            </p:cNvSpPr>
            <p:nvPr/>
          </p:nvSpPr>
          <p:spPr bwMode="auto">
            <a:xfrm>
              <a:off x="111" y="1389"/>
              <a:ext cx="255" cy="4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首</a:t>
              </a:r>
            </a:p>
            <a:p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部</a:t>
              </a:r>
            </a:p>
          </p:txBody>
        </p:sp>
      </p:grpSp>
      <p:sp>
        <p:nvSpPr>
          <p:cNvPr id="830515" name="AutoShape 97"/>
          <p:cNvSpPr>
            <a:spLocks/>
          </p:cNvSpPr>
          <p:nvPr/>
        </p:nvSpPr>
        <p:spPr bwMode="auto">
          <a:xfrm>
            <a:off x="998538" y="1662113"/>
            <a:ext cx="180975" cy="2160587"/>
          </a:xfrm>
          <a:prstGeom prst="leftBrace">
            <a:avLst>
              <a:gd name="adj1" fmla="val 107779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grpSp>
        <p:nvGrpSpPr>
          <p:cNvPr id="60" name="Group 77"/>
          <p:cNvGrpSpPr>
            <a:grpSpLocks/>
          </p:cNvGrpSpPr>
          <p:nvPr/>
        </p:nvGrpSpPr>
        <p:grpSpPr bwMode="auto">
          <a:xfrm>
            <a:off x="1209675" y="2038350"/>
            <a:ext cx="6661150" cy="3983038"/>
            <a:chOff x="703" y="1127"/>
            <a:chExt cx="3874" cy="2509"/>
          </a:xfrm>
        </p:grpSpPr>
        <p:sp>
          <p:nvSpPr>
            <p:cNvPr id="830517" name="Text Box 74"/>
            <p:cNvSpPr txBox="1">
              <a:spLocks noChangeArrowheads="1"/>
            </p:cNvSpPr>
            <p:nvPr/>
          </p:nvSpPr>
          <p:spPr bwMode="auto">
            <a:xfrm>
              <a:off x="738" y="3113"/>
              <a:ext cx="3839" cy="5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zh-CN" altLang="en-US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标识</a:t>
              </a:r>
              <a:r>
                <a:rPr lang="en-US" altLang="zh-CN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(identification) ——</a:t>
              </a:r>
              <a:r>
                <a:rPr lang="zh-CN" altLang="en-US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占 </a:t>
              </a:r>
              <a:r>
                <a:rPr lang="en-US" altLang="zh-CN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16 </a:t>
              </a:r>
              <a:r>
                <a:rPr lang="zh-CN" altLang="en-US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位，</a:t>
              </a:r>
            </a:p>
            <a:p>
              <a:pPr algn="ctr" eaLnBrk="0" hangingPunct="0"/>
              <a:r>
                <a:rPr lang="zh-CN" altLang="en-US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它是一个计数器，用来产生 </a:t>
              </a:r>
              <a:r>
                <a:rPr lang="en-US" altLang="zh-CN" sz="2400" b="1">
                  <a:solidFill>
                    <a:srgbClr val="C00000"/>
                  </a:solidFill>
                  <a:ea typeface="黑体" panose="02010609060101010101" pitchFamily="49" charset="-122"/>
                </a:rPr>
                <a:t>IP </a:t>
              </a:r>
              <a:r>
                <a:rPr lang="zh-CN" altLang="en-US" sz="2400" b="1">
                  <a:solidFill>
                    <a:srgbClr val="C00000"/>
                  </a:solidFill>
                  <a:ea typeface="黑体" panose="02010609060101010101" pitchFamily="49" charset="-122"/>
                </a:rPr>
                <a:t>数据报的标识。</a:t>
              </a:r>
              <a:r>
                <a:rPr lang="zh-CN" altLang="en-US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 </a:t>
              </a:r>
            </a:p>
          </p:txBody>
        </p:sp>
        <p:sp>
          <p:nvSpPr>
            <p:cNvPr id="830518" name="Rectangle 76"/>
            <p:cNvSpPr>
              <a:spLocks noChangeArrowheads="1"/>
            </p:cNvSpPr>
            <p:nvPr/>
          </p:nvSpPr>
          <p:spPr bwMode="auto">
            <a:xfrm>
              <a:off x="703" y="1127"/>
              <a:ext cx="2484" cy="307"/>
            </a:xfrm>
            <a:prstGeom prst="rect">
              <a:avLst/>
            </a:prstGeom>
            <a:noFill/>
            <a:ln w="762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>
                <a:ea typeface="宋体" panose="02010600030101010101" pitchFamily="2" charset="-122"/>
              </a:endParaRPr>
            </a:p>
          </p:txBody>
        </p:sp>
      </p:grpSp>
      <p:sp>
        <p:nvSpPr>
          <p:cNvPr id="830519" name="标题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smtClean="0">
                <a:ea typeface="黑体" panose="02010609060101010101" pitchFamily="49" charset="-122"/>
              </a:rPr>
              <a:t>1.  IP </a:t>
            </a:r>
            <a:r>
              <a:rPr lang="zh-CN" altLang="en-US" sz="3600" smtClean="0">
                <a:ea typeface="黑体" panose="02010609060101010101" pitchFamily="49" charset="-122"/>
              </a:rPr>
              <a:t>数据报首部的固定部分中的各字段 </a:t>
            </a:r>
          </a:p>
        </p:txBody>
      </p:sp>
      <p:sp>
        <p:nvSpPr>
          <p:cNvPr id="830520" name="灯片编号占位符 4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721E38C-0ABD-4EC0-BCD0-5A62AD7944B6}" type="slidenum">
              <a:rPr lang="zh-CN" altLang="en-US" smtClean="0"/>
              <a:pPr eaLnBrk="1" hangingPunct="1"/>
              <a:t>34</a:t>
            </a:fld>
            <a:endParaRPr lang="en-US" altLang="zh-CN" smtClean="0"/>
          </a:p>
        </p:txBody>
      </p:sp>
      <p:sp>
        <p:nvSpPr>
          <p:cNvPr id="830521" name="页脚占位符 5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4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513" name="Rectangle 45"/>
          <p:cNvSpPr>
            <a:spLocks noChangeArrowheads="1"/>
          </p:cNvSpPr>
          <p:nvPr/>
        </p:nvSpPr>
        <p:spPr bwMode="auto">
          <a:xfrm>
            <a:off x="631825" y="2022475"/>
            <a:ext cx="439738" cy="1196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固</a:t>
            </a:r>
          </a:p>
          <a:p>
            <a:pPr>
              <a:lnSpc>
                <a:spcPct val="90000"/>
              </a:lnSpc>
            </a:pPr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定</a:t>
            </a:r>
          </a:p>
          <a:p>
            <a:pPr>
              <a:lnSpc>
                <a:spcPct val="90000"/>
              </a:lnSpc>
            </a:pPr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部</a:t>
            </a:r>
          </a:p>
          <a:p>
            <a:pPr>
              <a:lnSpc>
                <a:spcPct val="90000"/>
              </a:lnSpc>
            </a:pPr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分</a:t>
            </a:r>
          </a:p>
        </p:txBody>
      </p:sp>
      <p:sp>
        <p:nvSpPr>
          <p:cNvPr id="832514" name="Rectangle 54"/>
          <p:cNvSpPr>
            <a:spLocks noChangeArrowheads="1"/>
          </p:cNvSpPr>
          <p:nvPr/>
        </p:nvSpPr>
        <p:spPr bwMode="auto">
          <a:xfrm>
            <a:off x="508000" y="3678238"/>
            <a:ext cx="695325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可变</a:t>
            </a:r>
          </a:p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部分</a:t>
            </a:r>
          </a:p>
        </p:txBody>
      </p:sp>
      <p:sp>
        <p:nvSpPr>
          <p:cNvPr id="832515" name="Rectangle 8"/>
          <p:cNvSpPr>
            <a:spLocks noChangeArrowheads="1"/>
          </p:cNvSpPr>
          <p:nvPr/>
        </p:nvSpPr>
        <p:spPr bwMode="auto">
          <a:xfrm>
            <a:off x="3351213" y="1620838"/>
            <a:ext cx="2132012" cy="434975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32516" name="Rectangle 10"/>
          <p:cNvSpPr>
            <a:spLocks noChangeArrowheads="1"/>
          </p:cNvSpPr>
          <p:nvPr/>
        </p:nvSpPr>
        <p:spPr bwMode="auto">
          <a:xfrm>
            <a:off x="1231900" y="1611313"/>
            <a:ext cx="8520113" cy="2643187"/>
          </a:xfrm>
          <a:prstGeom prst="rect">
            <a:avLst/>
          </a:prstGeom>
          <a:solidFill>
            <a:srgbClr val="CCE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32517" name="Rectangle 11"/>
          <p:cNvSpPr>
            <a:spLocks noChangeArrowheads="1"/>
          </p:cNvSpPr>
          <p:nvPr/>
        </p:nvSpPr>
        <p:spPr bwMode="auto">
          <a:xfrm>
            <a:off x="1246188" y="4265613"/>
            <a:ext cx="8486775" cy="681037"/>
          </a:xfrm>
          <a:prstGeom prst="rect">
            <a:avLst/>
          </a:prstGeom>
          <a:solidFill>
            <a:srgbClr val="FFFF99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32518" name="Line 12"/>
          <p:cNvSpPr>
            <a:spLocks noChangeShapeType="1"/>
          </p:cNvSpPr>
          <p:nvPr/>
        </p:nvSpPr>
        <p:spPr bwMode="auto">
          <a:xfrm>
            <a:off x="1225550" y="2062163"/>
            <a:ext cx="8535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32519" name="Line 13"/>
          <p:cNvSpPr>
            <a:spLocks noChangeShapeType="1"/>
          </p:cNvSpPr>
          <p:nvPr/>
        </p:nvSpPr>
        <p:spPr bwMode="auto">
          <a:xfrm>
            <a:off x="1225550" y="2505075"/>
            <a:ext cx="8535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32520" name="Line 14"/>
          <p:cNvSpPr>
            <a:spLocks noChangeShapeType="1"/>
          </p:cNvSpPr>
          <p:nvPr/>
        </p:nvSpPr>
        <p:spPr bwMode="auto">
          <a:xfrm>
            <a:off x="1225550" y="2949575"/>
            <a:ext cx="8535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32521" name="Line 15"/>
          <p:cNvSpPr>
            <a:spLocks noChangeShapeType="1"/>
          </p:cNvSpPr>
          <p:nvPr/>
        </p:nvSpPr>
        <p:spPr bwMode="auto">
          <a:xfrm>
            <a:off x="1225550" y="3387725"/>
            <a:ext cx="8535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32522" name="Line 16"/>
          <p:cNvSpPr>
            <a:spLocks noChangeShapeType="1"/>
          </p:cNvSpPr>
          <p:nvPr/>
        </p:nvSpPr>
        <p:spPr bwMode="auto">
          <a:xfrm>
            <a:off x="1225550" y="3832225"/>
            <a:ext cx="8535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32523" name="Line 17"/>
          <p:cNvSpPr>
            <a:spLocks noChangeShapeType="1"/>
          </p:cNvSpPr>
          <p:nvPr/>
        </p:nvSpPr>
        <p:spPr bwMode="auto">
          <a:xfrm>
            <a:off x="2274888" y="1619250"/>
            <a:ext cx="0" cy="4429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32524" name="Line 18"/>
          <p:cNvSpPr>
            <a:spLocks noChangeShapeType="1"/>
          </p:cNvSpPr>
          <p:nvPr/>
        </p:nvSpPr>
        <p:spPr bwMode="auto">
          <a:xfrm>
            <a:off x="3341688" y="1619250"/>
            <a:ext cx="0" cy="4429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32525" name="Line 19"/>
          <p:cNvSpPr>
            <a:spLocks noChangeShapeType="1"/>
          </p:cNvSpPr>
          <p:nvPr/>
        </p:nvSpPr>
        <p:spPr bwMode="auto">
          <a:xfrm>
            <a:off x="3341688" y="2514600"/>
            <a:ext cx="0" cy="431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32526" name="Line 20"/>
          <p:cNvSpPr>
            <a:spLocks noChangeShapeType="1"/>
          </p:cNvSpPr>
          <p:nvPr/>
        </p:nvSpPr>
        <p:spPr bwMode="auto">
          <a:xfrm>
            <a:off x="5478463" y="1619250"/>
            <a:ext cx="0" cy="13271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32527" name="Line 21"/>
          <p:cNvSpPr>
            <a:spLocks noChangeShapeType="1"/>
          </p:cNvSpPr>
          <p:nvPr/>
        </p:nvSpPr>
        <p:spPr bwMode="auto">
          <a:xfrm flipV="1">
            <a:off x="7615238" y="3827463"/>
            <a:ext cx="0" cy="4413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32528" name="Line 22"/>
          <p:cNvSpPr>
            <a:spLocks noChangeShapeType="1"/>
          </p:cNvSpPr>
          <p:nvPr/>
        </p:nvSpPr>
        <p:spPr bwMode="auto">
          <a:xfrm>
            <a:off x="6348413" y="2071688"/>
            <a:ext cx="0" cy="4333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32529" name="Rectangle 23"/>
          <p:cNvSpPr>
            <a:spLocks noChangeArrowheads="1"/>
          </p:cNvSpPr>
          <p:nvPr/>
        </p:nvSpPr>
        <p:spPr bwMode="auto">
          <a:xfrm>
            <a:off x="1169988" y="1231900"/>
            <a:ext cx="3254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0</a:t>
            </a:r>
          </a:p>
        </p:txBody>
      </p:sp>
      <p:sp>
        <p:nvSpPr>
          <p:cNvPr id="832530" name="Rectangle 24"/>
          <p:cNvSpPr>
            <a:spLocks noChangeArrowheads="1"/>
          </p:cNvSpPr>
          <p:nvPr/>
        </p:nvSpPr>
        <p:spPr bwMode="auto">
          <a:xfrm>
            <a:off x="2182813" y="1231900"/>
            <a:ext cx="3254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4</a:t>
            </a:r>
          </a:p>
        </p:txBody>
      </p:sp>
      <p:sp>
        <p:nvSpPr>
          <p:cNvPr id="832531" name="Rectangle 25"/>
          <p:cNvSpPr>
            <a:spLocks noChangeArrowheads="1"/>
          </p:cNvSpPr>
          <p:nvPr/>
        </p:nvSpPr>
        <p:spPr bwMode="auto">
          <a:xfrm>
            <a:off x="3260725" y="1231900"/>
            <a:ext cx="3254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8</a:t>
            </a:r>
          </a:p>
        </p:txBody>
      </p:sp>
      <p:sp>
        <p:nvSpPr>
          <p:cNvPr id="832532" name="Rectangle 26"/>
          <p:cNvSpPr>
            <a:spLocks noChangeArrowheads="1"/>
          </p:cNvSpPr>
          <p:nvPr/>
        </p:nvSpPr>
        <p:spPr bwMode="auto">
          <a:xfrm>
            <a:off x="5373688" y="1231900"/>
            <a:ext cx="4683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16</a:t>
            </a:r>
          </a:p>
        </p:txBody>
      </p:sp>
      <p:sp>
        <p:nvSpPr>
          <p:cNvPr id="832533" name="Rectangle 27"/>
          <p:cNvSpPr>
            <a:spLocks noChangeArrowheads="1"/>
          </p:cNvSpPr>
          <p:nvPr/>
        </p:nvSpPr>
        <p:spPr bwMode="auto">
          <a:xfrm>
            <a:off x="6237288" y="1231900"/>
            <a:ext cx="4683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19</a:t>
            </a:r>
          </a:p>
        </p:txBody>
      </p:sp>
      <p:sp>
        <p:nvSpPr>
          <p:cNvPr id="832534" name="Rectangle 28"/>
          <p:cNvSpPr>
            <a:spLocks noChangeArrowheads="1"/>
          </p:cNvSpPr>
          <p:nvPr/>
        </p:nvSpPr>
        <p:spPr bwMode="auto">
          <a:xfrm>
            <a:off x="7510463" y="1231900"/>
            <a:ext cx="4683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24</a:t>
            </a:r>
          </a:p>
        </p:txBody>
      </p:sp>
      <p:sp>
        <p:nvSpPr>
          <p:cNvPr id="832535" name="Rectangle 29"/>
          <p:cNvSpPr>
            <a:spLocks noChangeArrowheads="1"/>
          </p:cNvSpPr>
          <p:nvPr/>
        </p:nvSpPr>
        <p:spPr bwMode="auto">
          <a:xfrm>
            <a:off x="9366250" y="1231900"/>
            <a:ext cx="4683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31</a:t>
            </a:r>
          </a:p>
        </p:txBody>
      </p:sp>
      <p:sp>
        <p:nvSpPr>
          <p:cNvPr id="832536" name="Rectangle 30"/>
          <p:cNvSpPr>
            <a:spLocks noChangeArrowheads="1"/>
          </p:cNvSpPr>
          <p:nvPr/>
        </p:nvSpPr>
        <p:spPr bwMode="auto">
          <a:xfrm>
            <a:off x="1331913" y="1646238"/>
            <a:ext cx="7683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版 本</a:t>
            </a:r>
          </a:p>
        </p:txBody>
      </p:sp>
      <p:sp>
        <p:nvSpPr>
          <p:cNvPr id="832537" name="Rectangle 31"/>
          <p:cNvSpPr>
            <a:spLocks noChangeArrowheads="1"/>
          </p:cNvSpPr>
          <p:nvPr/>
        </p:nvSpPr>
        <p:spPr bwMode="auto">
          <a:xfrm>
            <a:off x="5543550" y="2122488"/>
            <a:ext cx="6953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标志</a:t>
            </a:r>
          </a:p>
        </p:txBody>
      </p:sp>
      <p:sp>
        <p:nvSpPr>
          <p:cNvPr id="832538" name="Rectangle 32"/>
          <p:cNvSpPr>
            <a:spLocks noChangeArrowheads="1"/>
          </p:cNvSpPr>
          <p:nvPr/>
        </p:nvSpPr>
        <p:spPr bwMode="auto">
          <a:xfrm>
            <a:off x="1544638" y="2527300"/>
            <a:ext cx="14271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生 存 时 间</a:t>
            </a:r>
          </a:p>
        </p:txBody>
      </p:sp>
      <p:sp>
        <p:nvSpPr>
          <p:cNvPr id="832539" name="Rectangle 33"/>
          <p:cNvSpPr>
            <a:spLocks noChangeArrowheads="1"/>
          </p:cNvSpPr>
          <p:nvPr/>
        </p:nvSpPr>
        <p:spPr bwMode="auto">
          <a:xfrm>
            <a:off x="3852863" y="2527300"/>
            <a:ext cx="9810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协    议</a:t>
            </a:r>
          </a:p>
        </p:txBody>
      </p:sp>
      <p:sp>
        <p:nvSpPr>
          <p:cNvPr id="832540" name="Rectangle 34"/>
          <p:cNvSpPr>
            <a:spLocks noChangeArrowheads="1"/>
          </p:cNvSpPr>
          <p:nvPr/>
        </p:nvSpPr>
        <p:spPr bwMode="auto">
          <a:xfrm>
            <a:off x="2784475" y="2122488"/>
            <a:ext cx="9810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标    识</a:t>
            </a:r>
          </a:p>
        </p:txBody>
      </p:sp>
      <p:sp>
        <p:nvSpPr>
          <p:cNvPr id="832541" name="Rectangle 35"/>
          <p:cNvSpPr>
            <a:spLocks noChangeArrowheads="1"/>
          </p:cNvSpPr>
          <p:nvPr/>
        </p:nvSpPr>
        <p:spPr bwMode="auto">
          <a:xfrm>
            <a:off x="3663950" y="1646238"/>
            <a:ext cx="1425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区 分 服 务</a:t>
            </a:r>
          </a:p>
        </p:txBody>
      </p:sp>
      <p:sp>
        <p:nvSpPr>
          <p:cNvPr id="832542" name="Rectangle 36"/>
          <p:cNvSpPr>
            <a:spLocks noChangeArrowheads="1"/>
          </p:cNvSpPr>
          <p:nvPr/>
        </p:nvSpPr>
        <p:spPr bwMode="auto">
          <a:xfrm>
            <a:off x="7050088" y="1646238"/>
            <a:ext cx="13795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总   长   度</a:t>
            </a:r>
          </a:p>
        </p:txBody>
      </p:sp>
      <p:sp>
        <p:nvSpPr>
          <p:cNvPr id="832543" name="Rectangle 37"/>
          <p:cNvSpPr>
            <a:spLocks noChangeArrowheads="1"/>
          </p:cNvSpPr>
          <p:nvPr/>
        </p:nvSpPr>
        <p:spPr bwMode="auto">
          <a:xfrm>
            <a:off x="7343775" y="2122488"/>
            <a:ext cx="13795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片   偏   移</a:t>
            </a:r>
          </a:p>
        </p:txBody>
      </p:sp>
      <p:sp>
        <p:nvSpPr>
          <p:cNvPr id="832544" name="Rectangle 38"/>
          <p:cNvSpPr>
            <a:spLocks noChangeArrowheads="1"/>
          </p:cNvSpPr>
          <p:nvPr/>
        </p:nvSpPr>
        <p:spPr bwMode="auto">
          <a:xfrm>
            <a:off x="8128000" y="3856038"/>
            <a:ext cx="9810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C00000"/>
                </a:solidFill>
                <a:ea typeface="黑体" panose="02010609060101010101" pitchFamily="49" charset="-122"/>
              </a:rPr>
              <a:t>填    充</a:t>
            </a:r>
          </a:p>
        </p:txBody>
      </p:sp>
      <p:sp>
        <p:nvSpPr>
          <p:cNvPr id="832545" name="Rectangle 39"/>
          <p:cNvSpPr>
            <a:spLocks noChangeArrowheads="1"/>
          </p:cNvSpPr>
          <p:nvPr/>
        </p:nvSpPr>
        <p:spPr bwMode="auto">
          <a:xfrm>
            <a:off x="6419850" y="2527300"/>
            <a:ext cx="23193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首   部   检   验   和</a:t>
            </a:r>
          </a:p>
        </p:txBody>
      </p:sp>
      <p:sp>
        <p:nvSpPr>
          <p:cNvPr id="832546" name="Rectangle 40"/>
          <p:cNvSpPr>
            <a:spLocks noChangeArrowheads="1"/>
          </p:cNvSpPr>
          <p:nvPr/>
        </p:nvSpPr>
        <p:spPr bwMode="auto">
          <a:xfrm>
            <a:off x="4784725" y="2986088"/>
            <a:ext cx="13795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源   地   址</a:t>
            </a:r>
          </a:p>
        </p:txBody>
      </p:sp>
      <p:sp>
        <p:nvSpPr>
          <p:cNvPr id="832547" name="Rectangle 41"/>
          <p:cNvSpPr>
            <a:spLocks noChangeArrowheads="1"/>
          </p:cNvSpPr>
          <p:nvPr/>
        </p:nvSpPr>
        <p:spPr bwMode="auto">
          <a:xfrm>
            <a:off x="4506913" y="3427413"/>
            <a:ext cx="18510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目   的   地   址</a:t>
            </a:r>
          </a:p>
        </p:txBody>
      </p:sp>
      <p:sp>
        <p:nvSpPr>
          <p:cNvPr id="832548" name="Rectangle 42"/>
          <p:cNvSpPr>
            <a:spLocks noChangeArrowheads="1"/>
          </p:cNvSpPr>
          <p:nvPr/>
        </p:nvSpPr>
        <p:spPr bwMode="auto">
          <a:xfrm>
            <a:off x="2414588" y="3856038"/>
            <a:ext cx="41735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C00000"/>
                </a:solidFill>
                <a:ea typeface="黑体" panose="02010609060101010101" pitchFamily="49" charset="-122"/>
              </a:rPr>
              <a:t>可   选   字   段  （长   度   可   变）</a:t>
            </a:r>
          </a:p>
        </p:txBody>
      </p:sp>
      <p:sp>
        <p:nvSpPr>
          <p:cNvPr id="832549" name="Rectangle 43"/>
          <p:cNvSpPr>
            <a:spLocks noChangeArrowheads="1"/>
          </p:cNvSpPr>
          <p:nvPr/>
        </p:nvSpPr>
        <p:spPr bwMode="auto">
          <a:xfrm>
            <a:off x="658813" y="1217613"/>
            <a:ext cx="4397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位</a:t>
            </a:r>
          </a:p>
        </p:txBody>
      </p:sp>
      <p:sp>
        <p:nvSpPr>
          <p:cNvPr id="832550" name="Rectangle 44"/>
          <p:cNvSpPr>
            <a:spLocks noChangeArrowheads="1"/>
          </p:cNvSpPr>
          <p:nvPr/>
        </p:nvSpPr>
        <p:spPr bwMode="auto">
          <a:xfrm>
            <a:off x="2170113" y="1627188"/>
            <a:ext cx="12096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首部长度</a:t>
            </a:r>
          </a:p>
        </p:txBody>
      </p:sp>
      <p:grpSp>
        <p:nvGrpSpPr>
          <p:cNvPr id="832551" name="Group 46"/>
          <p:cNvGrpSpPr>
            <a:grpSpLocks/>
          </p:cNvGrpSpPr>
          <p:nvPr/>
        </p:nvGrpSpPr>
        <p:grpSpPr bwMode="auto">
          <a:xfrm>
            <a:off x="1158875" y="3997325"/>
            <a:ext cx="142875" cy="69850"/>
            <a:chOff x="833" y="3024"/>
            <a:chExt cx="78" cy="51"/>
          </a:xfrm>
        </p:grpSpPr>
        <p:sp>
          <p:nvSpPr>
            <p:cNvPr id="832552" name="Rectangle 47"/>
            <p:cNvSpPr>
              <a:spLocks noChangeArrowheads="1"/>
            </p:cNvSpPr>
            <p:nvPr/>
          </p:nvSpPr>
          <p:spPr bwMode="auto">
            <a:xfrm>
              <a:off x="833" y="3024"/>
              <a:ext cx="78" cy="5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32553" name="Line 48"/>
            <p:cNvSpPr>
              <a:spLocks noChangeShapeType="1"/>
            </p:cNvSpPr>
            <p:nvPr/>
          </p:nvSpPr>
          <p:spPr bwMode="auto">
            <a:xfrm>
              <a:off x="839" y="3030"/>
              <a:ext cx="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32554" name="Line 49"/>
            <p:cNvSpPr>
              <a:spLocks noChangeShapeType="1"/>
            </p:cNvSpPr>
            <p:nvPr/>
          </p:nvSpPr>
          <p:spPr bwMode="auto">
            <a:xfrm>
              <a:off x="839" y="3075"/>
              <a:ext cx="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</p:grpSp>
      <p:grpSp>
        <p:nvGrpSpPr>
          <p:cNvPr id="832555" name="Group 50"/>
          <p:cNvGrpSpPr>
            <a:grpSpLocks/>
          </p:cNvGrpSpPr>
          <p:nvPr/>
        </p:nvGrpSpPr>
        <p:grpSpPr bwMode="auto">
          <a:xfrm>
            <a:off x="9682163" y="4006850"/>
            <a:ext cx="142875" cy="66675"/>
            <a:chOff x="5432" y="3030"/>
            <a:chExt cx="78" cy="51"/>
          </a:xfrm>
        </p:grpSpPr>
        <p:sp>
          <p:nvSpPr>
            <p:cNvPr id="832556" name="Rectangle 51"/>
            <p:cNvSpPr>
              <a:spLocks noChangeArrowheads="1"/>
            </p:cNvSpPr>
            <p:nvPr/>
          </p:nvSpPr>
          <p:spPr bwMode="auto">
            <a:xfrm>
              <a:off x="5432" y="3030"/>
              <a:ext cx="78" cy="5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32557" name="Line 52"/>
            <p:cNvSpPr>
              <a:spLocks noChangeShapeType="1"/>
            </p:cNvSpPr>
            <p:nvPr/>
          </p:nvSpPr>
          <p:spPr bwMode="auto">
            <a:xfrm>
              <a:off x="5438" y="3036"/>
              <a:ext cx="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32558" name="Line 53"/>
            <p:cNvSpPr>
              <a:spLocks noChangeShapeType="1"/>
            </p:cNvSpPr>
            <p:nvPr/>
          </p:nvSpPr>
          <p:spPr bwMode="auto">
            <a:xfrm>
              <a:off x="5438" y="3081"/>
              <a:ext cx="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</p:grpSp>
      <p:sp>
        <p:nvSpPr>
          <p:cNvPr id="832559" name="Rectangle 75"/>
          <p:cNvSpPr>
            <a:spLocks noChangeArrowheads="1"/>
          </p:cNvSpPr>
          <p:nvPr/>
        </p:nvSpPr>
        <p:spPr bwMode="auto">
          <a:xfrm>
            <a:off x="4129088" y="4398963"/>
            <a:ext cx="31511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数       据       部       分</a:t>
            </a:r>
          </a:p>
        </p:txBody>
      </p:sp>
      <p:grpSp>
        <p:nvGrpSpPr>
          <p:cNvPr id="832560" name="Group 94"/>
          <p:cNvGrpSpPr>
            <a:grpSpLocks/>
          </p:cNvGrpSpPr>
          <p:nvPr/>
        </p:nvGrpSpPr>
        <p:grpSpPr bwMode="auto">
          <a:xfrm>
            <a:off x="266700" y="1590675"/>
            <a:ext cx="438150" cy="2663825"/>
            <a:chOff x="111" y="845"/>
            <a:chExt cx="255" cy="1678"/>
          </a:xfrm>
        </p:grpSpPr>
        <p:sp>
          <p:nvSpPr>
            <p:cNvPr id="832561" name="Line 89"/>
            <p:cNvSpPr>
              <a:spLocks noChangeShapeType="1"/>
            </p:cNvSpPr>
            <p:nvPr/>
          </p:nvSpPr>
          <p:spPr bwMode="auto">
            <a:xfrm>
              <a:off x="249" y="845"/>
              <a:ext cx="0" cy="167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32562" name="Rectangle 78"/>
            <p:cNvSpPr>
              <a:spLocks noChangeArrowheads="1"/>
            </p:cNvSpPr>
            <p:nvPr/>
          </p:nvSpPr>
          <p:spPr bwMode="auto">
            <a:xfrm>
              <a:off x="111" y="1389"/>
              <a:ext cx="255" cy="4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首</a:t>
              </a:r>
            </a:p>
            <a:p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部</a:t>
              </a:r>
            </a:p>
          </p:txBody>
        </p:sp>
      </p:grpSp>
      <p:sp>
        <p:nvSpPr>
          <p:cNvPr id="832563" name="AutoShape 97"/>
          <p:cNvSpPr>
            <a:spLocks/>
          </p:cNvSpPr>
          <p:nvPr/>
        </p:nvSpPr>
        <p:spPr bwMode="auto">
          <a:xfrm>
            <a:off x="998538" y="1662113"/>
            <a:ext cx="180975" cy="2160587"/>
          </a:xfrm>
          <a:prstGeom prst="leftBrace">
            <a:avLst>
              <a:gd name="adj1" fmla="val 107779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grpSp>
        <p:nvGrpSpPr>
          <p:cNvPr id="57" name="组合 56"/>
          <p:cNvGrpSpPr>
            <a:grpSpLocks/>
          </p:cNvGrpSpPr>
          <p:nvPr/>
        </p:nvGrpSpPr>
        <p:grpSpPr bwMode="auto">
          <a:xfrm>
            <a:off x="1706563" y="2057400"/>
            <a:ext cx="7078662" cy="4668838"/>
            <a:chOff x="1706970" y="1808163"/>
            <a:chExt cx="7077579" cy="4669407"/>
          </a:xfrm>
        </p:grpSpPr>
        <p:sp>
          <p:nvSpPr>
            <p:cNvPr id="832565" name="Text Box 73"/>
            <p:cNvSpPr txBox="1">
              <a:spLocks noChangeArrowheads="1"/>
            </p:cNvSpPr>
            <p:nvPr/>
          </p:nvSpPr>
          <p:spPr bwMode="auto">
            <a:xfrm>
              <a:off x="1706970" y="4784799"/>
              <a:ext cx="7077579" cy="16927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zh-CN" altLang="en-US" sz="2000" b="1" dirty="0">
                  <a:solidFill>
                    <a:srgbClr val="0000CC"/>
                  </a:solidFill>
                  <a:ea typeface="黑体" panose="02010609060101010101" pitchFamily="49" charset="-122"/>
                </a:rPr>
                <a:t>标志</a:t>
              </a:r>
              <a:r>
                <a:rPr lang="en-US" altLang="zh-CN" sz="2000" b="1" dirty="0">
                  <a:solidFill>
                    <a:srgbClr val="0000CC"/>
                  </a:solidFill>
                  <a:ea typeface="黑体" panose="02010609060101010101" pitchFamily="49" charset="-122"/>
                </a:rPr>
                <a:t>(flag) ——</a:t>
              </a:r>
              <a:r>
                <a:rPr lang="zh-CN" altLang="en-US" sz="2000" b="1" dirty="0">
                  <a:solidFill>
                    <a:srgbClr val="0000CC"/>
                  </a:solidFill>
                  <a:ea typeface="黑体" panose="02010609060101010101" pitchFamily="49" charset="-122"/>
                </a:rPr>
                <a:t>占 </a:t>
              </a:r>
              <a:r>
                <a:rPr lang="en-US" altLang="zh-CN" sz="2000" b="1" dirty="0">
                  <a:solidFill>
                    <a:srgbClr val="0000CC"/>
                  </a:solidFill>
                  <a:ea typeface="黑体" panose="02010609060101010101" pitchFamily="49" charset="-122"/>
                </a:rPr>
                <a:t>3 </a:t>
              </a:r>
              <a:r>
                <a:rPr lang="zh-CN" altLang="en-US" sz="2000" b="1" dirty="0">
                  <a:solidFill>
                    <a:srgbClr val="0000CC"/>
                  </a:solidFill>
                  <a:ea typeface="黑体" panose="02010609060101010101" pitchFamily="49" charset="-122"/>
                </a:rPr>
                <a:t>位，目前</a:t>
              </a:r>
              <a:r>
                <a:rPr lang="zh-CN" altLang="en-US" sz="2000" b="1" dirty="0" smtClean="0">
                  <a:solidFill>
                    <a:srgbClr val="0000CC"/>
                  </a:solidFill>
                  <a:ea typeface="黑体" panose="02010609060101010101" pitchFamily="49" charset="-122"/>
                </a:rPr>
                <a:t>只有两</a:t>
              </a:r>
              <a:r>
                <a:rPr lang="zh-CN" altLang="en-US" sz="2000" b="1" dirty="0">
                  <a:solidFill>
                    <a:srgbClr val="0000CC"/>
                  </a:solidFill>
                  <a:ea typeface="黑体" panose="02010609060101010101" pitchFamily="49" charset="-122"/>
                </a:rPr>
                <a:t>位有意义。</a:t>
              </a:r>
            </a:p>
            <a:p>
              <a:pPr algn="ctr" eaLnBrk="0" hangingPunct="0"/>
              <a:r>
                <a:rPr lang="zh-CN" altLang="en-US" sz="2000" b="1" dirty="0">
                  <a:solidFill>
                    <a:srgbClr val="C00000"/>
                  </a:solidFill>
                  <a:ea typeface="黑体" panose="02010609060101010101" pitchFamily="49" charset="-122"/>
                </a:rPr>
                <a:t>标志字段的最低位是 </a:t>
              </a:r>
              <a:r>
                <a:rPr lang="en-US" altLang="zh-CN" sz="2000" b="1" dirty="0">
                  <a:solidFill>
                    <a:srgbClr val="C00000"/>
                  </a:solidFill>
                  <a:ea typeface="黑体" panose="02010609060101010101" pitchFamily="49" charset="-122"/>
                </a:rPr>
                <a:t>MF (More Fragment)</a:t>
              </a:r>
              <a:r>
                <a:rPr lang="zh-CN" altLang="en-US" sz="2000" b="1" dirty="0">
                  <a:solidFill>
                    <a:srgbClr val="C00000"/>
                  </a:solidFill>
                  <a:ea typeface="黑体" panose="02010609060101010101" pitchFamily="49" charset="-122"/>
                </a:rPr>
                <a:t>。</a:t>
              </a:r>
            </a:p>
            <a:p>
              <a:pPr algn="ctr" eaLnBrk="0" hangingPunct="0"/>
              <a:r>
                <a:rPr lang="en-US" altLang="zh-CN" sz="2000" b="1" dirty="0">
                  <a:solidFill>
                    <a:srgbClr val="0000CC"/>
                  </a:solidFill>
                  <a:ea typeface="黑体" panose="02010609060101010101" pitchFamily="49" charset="-122"/>
                </a:rPr>
                <a:t>MF </a:t>
              </a:r>
              <a:r>
                <a:rPr lang="en-US" altLang="zh-CN" sz="2000" b="1" dirty="0">
                  <a:solidFill>
                    <a:srgbClr val="0000CC"/>
                  </a:solidFill>
                  <a:ea typeface="黑体" panose="02010609060101010101" pitchFamily="49" charset="-122"/>
                  <a:sym typeface="Symbol" panose="05050102010706020507" pitchFamily="18" charset="2"/>
                </a:rPr>
                <a:t></a:t>
              </a:r>
              <a:r>
                <a:rPr lang="en-US" altLang="zh-CN" sz="2000" b="1" dirty="0">
                  <a:solidFill>
                    <a:srgbClr val="0000CC"/>
                  </a:solidFill>
                  <a:ea typeface="黑体" panose="02010609060101010101" pitchFamily="49" charset="-122"/>
                </a:rPr>
                <a:t> 1 </a:t>
              </a:r>
              <a:r>
                <a:rPr lang="zh-CN" altLang="en-US" sz="2000" b="1" dirty="0">
                  <a:solidFill>
                    <a:srgbClr val="0000CC"/>
                  </a:solidFill>
                  <a:ea typeface="黑体" panose="02010609060101010101" pitchFamily="49" charset="-122"/>
                </a:rPr>
                <a:t>表示后面“还有分片”。</a:t>
              </a:r>
              <a:r>
                <a:rPr lang="en-US" altLang="zh-CN" sz="2000" b="1" dirty="0">
                  <a:solidFill>
                    <a:srgbClr val="0000CC"/>
                  </a:solidFill>
                  <a:ea typeface="黑体" panose="02010609060101010101" pitchFamily="49" charset="-122"/>
                </a:rPr>
                <a:t>MF </a:t>
              </a:r>
              <a:r>
                <a:rPr lang="en-US" altLang="zh-CN" sz="2000" b="1" dirty="0">
                  <a:solidFill>
                    <a:srgbClr val="0000CC"/>
                  </a:solidFill>
                  <a:ea typeface="黑体" panose="02010609060101010101" pitchFamily="49" charset="-122"/>
                  <a:sym typeface="Symbol" panose="05050102010706020507" pitchFamily="18" charset="2"/>
                </a:rPr>
                <a:t></a:t>
              </a:r>
              <a:r>
                <a:rPr lang="en-US" altLang="zh-CN" sz="2000" b="1" dirty="0">
                  <a:solidFill>
                    <a:srgbClr val="0000CC"/>
                  </a:solidFill>
                  <a:ea typeface="黑体" panose="02010609060101010101" pitchFamily="49" charset="-122"/>
                </a:rPr>
                <a:t> 0 </a:t>
              </a:r>
              <a:r>
                <a:rPr lang="zh-CN" altLang="en-US" sz="2000" b="1" dirty="0">
                  <a:solidFill>
                    <a:srgbClr val="0000CC"/>
                  </a:solidFill>
                  <a:ea typeface="黑体" panose="02010609060101010101" pitchFamily="49" charset="-122"/>
                </a:rPr>
                <a:t>表示最后一个分片。</a:t>
              </a:r>
            </a:p>
            <a:p>
              <a:pPr algn="ctr" eaLnBrk="0" hangingPunct="0"/>
              <a:r>
                <a:rPr lang="zh-CN" altLang="en-US" sz="2000" b="1" dirty="0">
                  <a:solidFill>
                    <a:srgbClr val="C00000"/>
                  </a:solidFill>
                  <a:ea typeface="黑体" panose="02010609060101010101" pitchFamily="49" charset="-122"/>
                </a:rPr>
                <a:t>标志字段中间的一位是 </a:t>
              </a:r>
              <a:r>
                <a:rPr lang="en-US" altLang="zh-CN" sz="2000" b="1" dirty="0">
                  <a:solidFill>
                    <a:srgbClr val="C00000"/>
                  </a:solidFill>
                  <a:ea typeface="黑体" panose="02010609060101010101" pitchFamily="49" charset="-122"/>
                </a:rPr>
                <a:t>DF (Don't Fragment) </a:t>
              </a:r>
              <a:r>
                <a:rPr lang="zh-CN" altLang="en-US" sz="2000" b="1" dirty="0">
                  <a:solidFill>
                    <a:srgbClr val="C00000"/>
                  </a:solidFill>
                  <a:ea typeface="黑体" panose="02010609060101010101" pitchFamily="49" charset="-122"/>
                </a:rPr>
                <a:t>。</a:t>
              </a:r>
            </a:p>
            <a:p>
              <a:pPr algn="ctr" eaLnBrk="0" hangingPunct="0"/>
              <a:r>
                <a:rPr lang="zh-CN" altLang="en-US" sz="2000" b="1" dirty="0">
                  <a:solidFill>
                    <a:srgbClr val="0000CC"/>
                  </a:solidFill>
                  <a:ea typeface="黑体" panose="02010609060101010101" pitchFamily="49" charset="-122"/>
                </a:rPr>
                <a:t>只有当 </a:t>
              </a:r>
              <a:r>
                <a:rPr lang="en-US" altLang="zh-CN" sz="2000" b="1" dirty="0">
                  <a:solidFill>
                    <a:srgbClr val="0000CC"/>
                  </a:solidFill>
                  <a:ea typeface="黑体" panose="02010609060101010101" pitchFamily="49" charset="-122"/>
                </a:rPr>
                <a:t>DF </a:t>
              </a:r>
              <a:r>
                <a:rPr lang="en-US" altLang="zh-CN" sz="2000" b="1" dirty="0">
                  <a:solidFill>
                    <a:srgbClr val="0000CC"/>
                  </a:solidFill>
                  <a:ea typeface="黑体" panose="02010609060101010101" pitchFamily="49" charset="-122"/>
                  <a:sym typeface="Symbol" panose="05050102010706020507" pitchFamily="18" charset="2"/>
                </a:rPr>
                <a:t></a:t>
              </a:r>
              <a:r>
                <a:rPr lang="en-US" altLang="zh-CN" sz="2000" b="1" dirty="0">
                  <a:solidFill>
                    <a:srgbClr val="0000CC"/>
                  </a:solidFill>
                  <a:ea typeface="黑体" panose="02010609060101010101" pitchFamily="49" charset="-122"/>
                </a:rPr>
                <a:t> 0 </a:t>
              </a:r>
              <a:r>
                <a:rPr lang="zh-CN" altLang="en-US" sz="2000" b="1" dirty="0">
                  <a:solidFill>
                    <a:srgbClr val="0000CC"/>
                  </a:solidFill>
                  <a:ea typeface="黑体" panose="02010609060101010101" pitchFamily="49" charset="-122"/>
                </a:rPr>
                <a:t>时才允许分片。 </a:t>
              </a:r>
            </a:p>
          </p:txBody>
        </p:sp>
        <p:sp>
          <p:nvSpPr>
            <p:cNvPr id="832566" name="Rectangle 74"/>
            <p:cNvSpPr>
              <a:spLocks noChangeArrowheads="1"/>
            </p:cNvSpPr>
            <p:nvPr/>
          </p:nvSpPr>
          <p:spPr bwMode="auto">
            <a:xfrm>
              <a:off x="5499894" y="1808163"/>
              <a:ext cx="856456" cy="487362"/>
            </a:xfrm>
            <a:prstGeom prst="rect">
              <a:avLst/>
            </a:prstGeom>
            <a:noFill/>
            <a:ln w="762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>
                <a:ea typeface="宋体" panose="02010600030101010101" pitchFamily="2" charset="-122"/>
              </a:endParaRPr>
            </a:p>
          </p:txBody>
        </p:sp>
      </p:grpSp>
      <p:sp>
        <p:nvSpPr>
          <p:cNvPr id="832567" name="标题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smtClean="0">
                <a:ea typeface="黑体" panose="02010609060101010101" pitchFamily="49" charset="-122"/>
              </a:rPr>
              <a:t>1.  IP </a:t>
            </a:r>
            <a:r>
              <a:rPr lang="zh-CN" altLang="en-US" sz="3600" smtClean="0">
                <a:ea typeface="黑体" panose="02010609060101010101" pitchFamily="49" charset="-122"/>
              </a:rPr>
              <a:t>数据报首部的固定部分中的各字段 </a:t>
            </a:r>
          </a:p>
        </p:txBody>
      </p:sp>
      <p:sp>
        <p:nvSpPr>
          <p:cNvPr id="832568" name="灯片编号占位符 4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3DBB4BF-7E85-47F1-9F3A-1961770BF7DE}" type="slidenum">
              <a:rPr lang="zh-CN" altLang="en-US" smtClean="0"/>
              <a:pPr eaLnBrk="1" hangingPunct="1"/>
              <a:t>35</a:t>
            </a:fld>
            <a:endParaRPr lang="en-US" altLang="zh-CN" smtClean="0"/>
          </a:p>
        </p:txBody>
      </p:sp>
      <p:sp>
        <p:nvSpPr>
          <p:cNvPr id="832569" name="页脚占位符 5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4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561" name="Rectangle 45"/>
          <p:cNvSpPr>
            <a:spLocks noChangeArrowheads="1"/>
          </p:cNvSpPr>
          <p:nvPr/>
        </p:nvSpPr>
        <p:spPr bwMode="auto">
          <a:xfrm>
            <a:off x="631825" y="2012950"/>
            <a:ext cx="439738" cy="1198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固</a:t>
            </a:r>
          </a:p>
          <a:p>
            <a:pPr>
              <a:lnSpc>
                <a:spcPct val="90000"/>
              </a:lnSpc>
            </a:pPr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定</a:t>
            </a:r>
          </a:p>
          <a:p>
            <a:pPr>
              <a:lnSpc>
                <a:spcPct val="90000"/>
              </a:lnSpc>
            </a:pPr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部</a:t>
            </a:r>
          </a:p>
          <a:p>
            <a:pPr>
              <a:lnSpc>
                <a:spcPct val="90000"/>
              </a:lnSpc>
            </a:pPr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分</a:t>
            </a:r>
          </a:p>
        </p:txBody>
      </p:sp>
      <p:sp>
        <p:nvSpPr>
          <p:cNvPr id="834562" name="Rectangle 54"/>
          <p:cNvSpPr>
            <a:spLocks noChangeArrowheads="1"/>
          </p:cNvSpPr>
          <p:nvPr/>
        </p:nvSpPr>
        <p:spPr bwMode="auto">
          <a:xfrm>
            <a:off x="508000" y="3668713"/>
            <a:ext cx="695325" cy="706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可变</a:t>
            </a:r>
          </a:p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部分</a:t>
            </a:r>
          </a:p>
        </p:txBody>
      </p:sp>
      <p:sp>
        <p:nvSpPr>
          <p:cNvPr id="834563" name="Rectangle 8"/>
          <p:cNvSpPr>
            <a:spLocks noChangeArrowheads="1"/>
          </p:cNvSpPr>
          <p:nvPr/>
        </p:nvSpPr>
        <p:spPr bwMode="auto">
          <a:xfrm>
            <a:off x="3351213" y="1611313"/>
            <a:ext cx="2132012" cy="434975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34564" name="Rectangle 10"/>
          <p:cNvSpPr>
            <a:spLocks noChangeArrowheads="1"/>
          </p:cNvSpPr>
          <p:nvPr/>
        </p:nvSpPr>
        <p:spPr bwMode="auto">
          <a:xfrm>
            <a:off x="1231900" y="1601788"/>
            <a:ext cx="8520113" cy="2643187"/>
          </a:xfrm>
          <a:prstGeom prst="rect">
            <a:avLst/>
          </a:prstGeom>
          <a:solidFill>
            <a:srgbClr val="CCE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34565" name="Rectangle 11"/>
          <p:cNvSpPr>
            <a:spLocks noChangeArrowheads="1"/>
          </p:cNvSpPr>
          <p:nvPr/>
        </p:nvSpPr>
        <p:spPr bwMode="auto">
          <a:xfrm>
            <a:off x="1246188" y="4256088"/>
            <a:ext cx="8486775" cy="681037"/>
          </a:xfrm>
          <a:prstGeom prst="rect">
            <a:avLst/>
          </a:prstGeom>
          <a:solidFill>
            <a:srgbClr val="FFFF99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34566" name="Line 12"/>
          <p:cNvSpPr>
            <a:spLocks noChangeShapeType="1"/>
          </p:cNvSpPr>
          <p:nvPr/>
        </p:nvSpPr>
        <p:spPr bwMode="auto">
          <a:xfrm>
            <a:off x="1225550" y="2052638"/>
            <a:ext cx="8535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34567" name="Line 13"/>
          <p:cNvSpPr>
            <a:spLocks noChangeShapeType="1"/>
          </p:cNvSpPr>
          <p:nvPr/>
        </p:nvSpPr>
        <p:spPr bwMode="auto">
          <a:xfrm>
            <a:off x="1225550" y="2495550"/>
            <a:ext cx="8535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34568" name="Line 14"/>
          <p:cNvSpPr>
            <a:spLocks noChangeShapeType="1"/>
          </p:cNvSpPr>
          <p:nvPr/>
        </p:nvSpPr>
        <p:spPr bwMode="auto">
          <a:xfrm>
            <a:off x="1225550" y="2940050"/>
            <a:ext cx="8535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34569" name="Line 15"/>
          <p:cNvSpPr>
            <a:spLocks noChangeShapeType="1"/>
          </p:cNvSpPr>
          <p:nvPr/>
        </p:nvSpPr>
        <p:spPr bwMode="auto">
          <a:xfrm>
            <a:off x="1225550" y="3378200"/>
            <a:ext cx="8535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34570" name="Line 16"/>
          <p:cNvSpPr>
            <a:spLocks noChangeShapeType="1"/>
          </p:cNvSpPr>
          <p:nvPr/>
        </p:nvSpPr>
        <p:spPr bwMode="auto">
          <a:xfrm>
            <a:off x="1225550" y="3822700"/>
            <a:ext cx="8535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34571" name="Line 17"/>
          <p:cNvSpPr>
            <a:spLocks noChangeShapeType="1"/>
          </p:cNvSpPr>
          <p:nvPr/>
        </p:nvSpPr>
        <p:spPr bwMode="auto">
          <a:xfrm>
            <a:off x="2274888" y="1609725"/>
            <a:ext cx="0" cy="4429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34572" name="Line 18"/>
          <p:cNvSpPr>
            <a:spLocks noChangeShapeType="1"/>
          </p:cNvSpPr>
          <p:nvPr/>
        </p:nvSpPr>
        <p:spPr bwMode="auto">
          <a:xfrm>
            <a:off x="3341688" y="1609725"/>
            <a:ext cx="0" cy="4429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34573" name="Line 19"/>
          <p:cNvSpPr>
            <a:spLocks noChangeShapeType="1"/>
          </p:cNvSpPr>
          <p:nvPr/>
        </p:nvSpPr>
        <p:spPr bwMode="auto">
          <a:xfrm>
            <a:off x="3341688" y="2505075"/>
            <a:ext cx="0" cy="431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34574" name="Line 20"/>
          <p:cNvSpPr>
            <a:spLocks noChangeShapeType="1"/>
          </p:cNvSpPr>
          <p:nvPr/>
        </p:nvSpPr>
        <p:spPr bwMode="auto">
          <a:xfrm>
            <a:off x="5478463" y="1609725"/>
            <a:ext cx="0" cy="13271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34575" name="Line 21"/>
          <p:cNvSpPr>
            <a:spLocks noChangeShapeType="1"/>
          </p:cNvSpPr>
          <p:nvPr/>
        </p:nvSpPr>
        <p:spPr bwMode="auto">
          <a:xfrm flipV="1">
            <a:off x="7615238" y="3817938"/>
            <a:ext cx="0" cy="4413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34576" name="Line 22"/>
          <p:cNvSpPr>
            <a:spLocks noChangeShapeType="1"/>
          </p:cNvSpPr>
          <p:nvPr/>
        </p:nvSpPr>
        <p:spPr bwMode="auto">
          <a:xfrm>
            <a:off x="6348413" y="2062163"/>
            <a:ext cx="0" cy="4333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34577" name="Rectangle 23"/>
          <p:cNvSpPr>
            <a:spLocks noChangeArrowheads="1"/>
          </p:cNvSpPr>
          <p:nvPr/>
        </p:nvSpPr>
        <p:spPr bwMode="auto">
          <a:xfrm>
            <a:off x="1169988" y="1222375"/>
            <a:ext cx="325437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0</a:t>
            </a:r>
          </a:p>
        </p:txBody>
      </p:sp>
      <p:sp>
        <p:nvSpPr>
          <p:cNvPr id="834578" name="Rectangle 24"/>
          <p:cNvSpPr>
            <a:spLocks noChangeArrowheads="1"/>
          </p:cNvSpPr>
          <p:nvPr/>
        </p:nvSpPr>
        <p:spPr bwMode="auto">
          <a:xfrm>
            <a:off x="2182813" y="1222375"/>
            <a:ext cx="325437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4</a:t>
            </a:r>
          </a:p>
        </p:txBody>
      </p:sp>
      <p:sp>
        <p:nvSpPr>
          <p:cNvPr id="834579" name="Rectangle 25"/>
          <p:cNvSpPr>
            <a:spLocks noChangeArrowheads="1"/>
          </p:cNvSpPr>
          <p:nvPr/>
        </p:nvSpPr>
        <p:spPr bwMode="auto">
          <a:xfrm>
            <a:off x="3260725" y="1222375"/>
            <a:ext cx="325438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8</a:t>
            </a:r>
          </a:p>
        </p:txBody>
      </p:sp>
      <p:sp>
        <p:nvSpPr>
          <p:cNvPr id="834580" name="Rectangle 26"/>
          <p:cNvSpPr>
            <a:spLocks noChangeArrowheads="1"/>
          </p:cNvSpPr>
          <p:nvPr/>
        </p:nvSpPr>
        <p:spPr bwMode="auto">
          <a:xfrm>
            <a:off x="5373688" y="1222375"/>
            <a:ext cx="468312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16</a:t>
            </a:r>
          </a:p>
        </p:txBody>
      </p:sp>
      <p:sp>
        <p:nvSpPr>
          <p:cNvPr id="834581" name="Rectangle 27"/>
          <p:cNvSpPr>
            <a:spLocks noChangeArrowheads="1"/>
          </p:cNvSpPr>
          <p:nvPr/>
        </p:nvSpPr>
        <p:spPr bwMode="auto">
          <a:xfrm>
            <a:off x="6237288" y="1222375"/>
            <a:ext cx="468312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19</a:t>
            </a:r>
          </a:p>
        </p:txBody>
      </p:sp>
      <p:sp>
        <p:nvSpPr>
          <p:cNvPr id="834582" name="Rectangle 28"/>
          <p:cNvSpPr>
            <a:spLocks noChangeArrowheads="1"/>
          </p:cNvSpPr>
          <p:nvPr/>
        </p:nvSpPr>
        <p:spPr bwMode="auto">
          <a:xfrm>
            <a:off x="7510463" y="1222375"/>
            <a:ext cx="468312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24</a:t>
            </a:r>
          </a:p>
        </p:txBody>
      </p:sp>
      <p:sp>
        <p:nvSpPr>
          <p:cNvPr id="834583" name="Rectangle 29"/>
          <p:cNvSpPr>
            <a:spLocks noChangeArrowheads="1"/>
          </p:cNvSpPr>
          <p:nvPr/>
        </p:nvSpPr>
        <p:spPr bwMode="auto">
          <a:xfrm>
            <a:off x="9366250" y="1222375"/>
            <a:ext cx="468313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31</a:t>
            </a:r>
          </a:p>
        </p:txBody>
      </p:sp>
      <p:sp>
        <p:nvSpPr>
          <p:cNvPr id="834584" name="Rectangle 30"/>
          <p:cNvSpPr>
            <a:spLocks noChangeArrowheads="1"/>
          </p:cNvSpPr>
          <p:nvPr/>
        </p:nvSpPr>
        <p:spPr bwMode="auto">
          <a:xfrm>
            <a:off x="1331913" y="1636713"/>
            <a:ext cx="768350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版 本</a:t>
            </a:r>
          </a:p>
        </p:txBody>
      </p:sp>
      <p:sp>
        <p:nvSpPr>
          <p:cNvPr id="834585" name="Rectangle 31"/>
          <p:cNvSpPr>
            <a:spLocks noChangeArrowheads="1"/>
          </p:cNvSpPr>
          <p:nvPr/>
        </p:nvSpPr>
        <p:spPr bwMode="auto">
          <a:xfrm>
            <a:off x="5543550" y="2112963"/>
            <a:ext cx="695325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标志</a:t>
            </a:r>
          </a:p>
        </p:txBody>
      </p:sp>
      <p:sp>
        <p:nvSpPr>
          <p:cNvPr id="834586" name="Rectangle 32"/>
          <p:cNvSpPr>
            <a:spLocks noChangeArrowheads="1"/>
          </p:cNvSpPr>
          <p:nvPr/>
        </p:nvSpPr>
        <p:spPr bwMode="auto">
          <a:xfrm>
            <a:off x="1544638" y="2517775"/>
            <a:ext cx="1427162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生 存 时 间</a:t>
            </a:r>
          </a:p>
        </p:txBody>
      </p:sp>
      <p:sp>
        <p:nvSpPr>
          <p:cNvPr id="834587" name="Rectangle 33"/>
          <p:cNvSpPr>
            <a:spLocks noChangeArrowheads="1"/>
          </p:cNvSpPr>
          <p:nvPr/>
        </p:nvSpPr>
        <p:spPr bwMode="auto">
          <a:xfrm>
            <a:off x="3852863" y="2517775"/>
            <a:ext cx="981075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协    议</a:t>
            </a:r>
          </a:p>
        </p:txBody>
      </p:sp>
      <p:sp>
        <p:nvSpPr>
          <p:cNvPr id="834588" name="Rectangle 34"/>
          <p:cNvSpPr>
            <a:spLocks noChangeArrowheads="1"/>
          </p:cNvSpPr>
          <p:nvPr/>
        </p:nvSpPr>
        <p:spPr bwMode="auto">
          <a:xfrm>
            <a:off x="2784475" y="2112963"/>
            <a:ext cx="981075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标    识</a:t>
            </a:r>
          </a:p>
        </p:txBody>
      </p:sp>
      <p:sp>
        <p:nvSpPr>
          <p:cNvPr id="834589" name="Rectangle 35"/>
          <p:cNvSpPr>
            <a:spLocks noChangeArrowheads="1"/>
          </p:cNvSpPr>
          <p:nvPr/>
        </p:nvSpPr>
        <p:spPr bwMode="auto">
          <a:xfrm>
            <a:off x="3663950" y="1636713"/>
            <a:ext cx="1425575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区 分 服 务</a:t>
            </a:r>
          </a:p>
        </p:txBody>
      </p:sp>
      <p:sp>
        <p:nvSpPr>
          <p:cNvPr id="834590" name="Rectangle 36"/>
          <p:cNvSpPr>
            <a:spLocks noChangeArrowheads="1"/>
          </p:cNvSpPr>
          <p:nvPr/>
        </p:nvSpPr>
        <p:spPr bwMode="auto">
          <a:xfrm>
            <a:off x="7050088" y="1636713"/>
            <a:ext cx="1379537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总   长   度</a:t>
            </a:r>
          </a:p>
        </p:txBody>
      </p:sp>
      <p:sp>
        <p:nvSpPr>
          <p:cNvPr id="834591" name="Rectangle 37"/>
          <p:cNvSpPr>
            <a:spLocks noChangeArrowheads="1"/>
          </p:cNvSpPr>
          <p:nvPr/>
        </p:nvSpPr>
        <p:spPr bwMode="auto">
          <a:xfrm>
            <a:off x="7343775" y="2112963"/>
            <a:ext cx="1379538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片   偏   移</a:t>
            </a:r>
          </a:p>
        </p:txBody>
      </p:sp>
      <p:sp>
        <p:nvSpPr>
          <p:cNvPr id="834592" name="Rectangle 38"/>
          <p:cNvSpPr>
            <a:spLocks noChangeArrowheads="1"/>
          </p:cNvSpPr>
          <p:nvPr/>
        </p:nvSpPr>
        <p:spPr bwMode="auto">
          <a:xfrm>
            <a:off x="8128000" y="3846513"/>
            <a:ext cx="981075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C00000"/>
                </a:solidFill>
                <a:ea typeface="黑体" panose="02010609060101010101" pitchFamily="49" charset="-122"/>
              </a:rPr>
              <a:t>填    充</a:t>
            </a:r>
          </a:p>
        </p:txBody>
      </p:sp>
      <p:sp>
        <p:nvSpPr>
          <p:cNvPr id="834593" name="Rectangle 39"/>
          <p:cNvSpPr>
            <a:spLocks noChangeArrowheads="1"/>
          </p:cNvSpPr>
          <p:nvPr/>
        </p:nvSpPr>
        <p:spPr bwMode="auto">
          <a:xfrm>
            <a:off x="6419850" y="2517775"/>
            <a:ext cx="2319338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首   部   检   验   和</a:t>
            </a:r>
          </a:p>
        </p:txBody>
      </p:sp>
      <p:sp>
        <p:nvSpPr>
          <p:cNvPr id="834594" name="Rectangle 40"/>
          <p:cNvSpPr>
            <a:spLocks noChangeArrowheads="1"/>
          </p:cNvSpPr>
          <p:nvPr/>
        </p:nvSpPr>
        <p:spPr bwMode="auto">
          <a:xfrm>
            <a:off x="4784725" y="2976563"/>
            <a:ext cx="1379538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源   地   址</a:t>
            </a:r>
          </a:p>
        </p:txBody>
      </p:sp>
      <p:sp>
        <p:nvSpPr>
          <p:cNvPr id="834595" name="Rectangle 41"/>
          <p:cNvSpPr>
            <a:spLocks noChangeArrowheads="1"/>
          </p:cNvSpPr>
          <p:nvPr/>
        </p:nvSpPr>
        <p:spPr bwMode="auto">
          <a:xfrm>
            <a:off x="4506913" y="3417888"/>
            <a:ext cx="1851025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目   的   地   址</a:t>
            </a:r>
          </a:p>
        </p:txBody>
      </p:sp>
      <p:sp>
        <p:nvSpPr>
          <p:cNvPr id="834596" name="Rectangle 42"/>
          <p:cNvSpPr>
            <a:spLocks noChangeArrowheads="1"/>
          </p:cNvSpPr>
          <p:nvPr/>
        </p:nvSpPr>
        <p:spPr bwMode="auto">
          <a:xfrm>
            <a:off x="2414588" y="3846513"/>
            <a:ext cx="4173537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C00000"/>
                </a:solidFill>
                <a:ea typeface="黑体" panose="02010609060101010101" pitchFamily="49" charset="-122"/>
              </a:rPr>
              <a:t>可   选   字   段  （长   度   可   变）</a:t>
            </a:r>
          </a:p>
        </p:txBody>
      </p:sp>
      <p:sp>
        <p:nvSpPr>
          <p:cNvPr id="834597" name="Rectangle 43"/>
          <p:cNvSpPr>
            <a:spLocks noChangeArrowheads="1"/>
          </p:cNvSpPr>
          <p:nvPr/>
        </p:nvSpPr>
        <p:spPr bwMode="auto">
          <a:xfrm>
            <a:off x="658813" y="1208088"/>
            <a:ext cx="439737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位</a:t>
            </a:r>
          </a:p>
        </p:txBody>
      </p:sp>
      <p:sp>
        <p:nvSpPr>
          <p:cNvPr id="834598" name="Rectangle 44"/>
          <p:cNvSpPr>
            <a:spLocks noChangeArrowheads="1"/>
          </p:cNvSpPr>
          <p:nvPr/>
        </p:nvSpPr>
        <p:spPr bwMode="auto">
          <a:xfrm>
            <a:off x="2170113" y="1617663"/>
            <a:ext cx="1209675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首部长度</a:t>
            </a:r>
          </a:p>
        </p:txBody>
      </p:sp>
      <p:grpSp>
        <p:nvGrpSpPr>
          <p:cNvPr id="834599" name="Group 46"/>
          <p:cNvGrpSpPr>
            <a:grpSpLocks/>
          </p:cNvGrpSpPr>
          <p:nvPr/>
        </p:nvGrpSpPr>
        <p:grpSpPr bwMode="auto">
          <a:xfrm>
            <a:off x="1158875" y="3987800"/>
            <a:ext cx="142875" cy="69850"/>
            <a:chOff x="833" y="3024"/>
            <a:chExt cx="78" cy="51"/>
          </a:xfrm>
        </p:grpSpPr>
        <p:sp>
          <p:nvSpPr>
            <p:cNvPr id="834600" name="Rectangle 47"/>
            <p:cNvSpPr>
              <a:spLocks noChangeArrowheads="1"/>
            </p:cNvSpPr>
            <p:nvPr/>
          </p:nvSpPr>
          <p:spPr bwMode="auto">
            <a:xfrm>
              <a:off x="833" y="3024"/>
              <a:ext cx="78" cy="5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34601" name="Line 48"/>
            <p:cNvSpPr>
              <a:spLocks noChangeShapeType="1"/>
            </p:cNvSpPr>
            <p:nvPr/>
          </p:nvSpPr>
          <p:spPr bwMode="auto">
            <a:xfrm>
              <a:off x="839" y="3030"/>
              <a:ext cx="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34602" name="Line 49"/>
            <p:cNvSpPr>
              <a:spLocks noChangeShapeType="1"/>
            </p:cNvSpPr>
            <p:nvPr/>
          </p:nvSpPr>
          <p:spPr bwMode="auto">
            <a:xfrm>
              <a:off x="839" y="3075"/>
              <a:ext cx="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</p:grpSp>
      <p:grpSp>
        <p:nvGrpSpPr>
          <p:cNvPr id="834603" name="Group 50"/>
          <p:cNvGrpSpPr>
            <a:grpSpLocks/>
          </p:cNvGrpSpPr>
          <p:nvPr/>
        </p:nvGrpSpPr>
        <p:grpSpPr bwMode="auto">
          <a:xfrm>
            <a:off x="9682163" y="3997325"/>
            <a:ext cx="142875" cy="66675"/>
            <a:chOff x="5432" y="3030"/>
            <a:chExt cx="78" cy="51"/>
          </a:xfrm>
        </p:grpSpPr>
        <p:sp>
          <p:nvSpPr>
            <p:cNvPr id="834604" name="Rectangle 51"/>
            <p:cNvSpPr>
              <a:spLocks noChangeArrowheads="1"/>
            </p:cNvSpPr>
            <p:nvPr/>
          </p:nvSpPr>
          <p:spPr bwMode="auto">
            <a:xfrm>
              <a:off x="5432" y="3030"/>
              <a:ext cx="78" cy="5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34605" name="Line 52"/>
            <p:cNvSpPr>
              <a:spLocks noChangeShapeType="1"/>
            </p:cNvSpPr>
            <p:nvPr/>
          </p:nvSpPr>
          <p:spPr bwMode="auto">
            <a:xfrm>
              <a:off x="5438" y="3036"/>
              <a:ext cx="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34606" name="Line 53"/>
            <p:cNvSpPr>
              <a:spLocks noChangeShapeType="1"/>
            </p:cNvSpPr>
            <p:nvPr/>
          </p:nvSpPr>
          <p:spPr bwMode="auto">
            <a:xfrm>
              <a:off x="5438" y="3081"/>
              <a:ext cx="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</p:grpSp>
      <p:sp>
        <p:nvSpPr>
          <p:cNvPr id="834607" name="Rectangle 75"/>
          <p:cNvSpPr>
            <a:spLocks noChangeArrowheads="1"/>
          </p:cNvSpPr>
          <p:nvPr/>
        </p:nvSpPr>
        <p:spPr bwMode="auto">
          <a:xfrm>
            <a:off x="4129088" y="4389438"/>
            <a:ext cx="3151187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数       据       部       分</a:t>
            </a:r>
          </a:p>
        </p:txBody>
      </p:sp>
      <p:grpSp>
        <p:nvGrpSpPr>
          <p:cNvPr id="834608" name="Group 94"/>
          <p:cNvGrpSpPr>
            <a:grpSpLocks/>
          </p:cNvGrpSpPr>
          <p:nvPr/>
        </p:nvGrpSpPr>
        <p:grpSpPr bwMode="auto">
          <a:xfrm>
            <a:off x="266700" y="1581150"/>
            <a:ext cx="438150" cy="2663825"/>
            <a:chOff x="111" y="845"/>
            <a:chExt cx="255" cy="1678"/>
          </a:xfrm>
        </p:grpSpPr>
        <p:sp>
          <p:nvSpPr>
            <p:cNvPr id="834609" name="Line 89"/>
            <p:cNvSpPr>
              <a:spLocks noChangeShapeType="1"/>
            </p:cNvSpPr>
            <p:nvPr/>
          </p:nvSpPr>
          <p:spPr bwMode="auto">
            <a:xfrm>
              <a:off x="249" y="845"/>
              <a:ext cx="0" cy="167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34610" name="Rectangle 78"/>
            <p:cNvSpPr>
              <a:spLocks noChangeArrowheads="1"/>
            </p:cNvSpPr>
            <p:nvPr/>
          </p:nvSpPr>
          <p:spPr bwMode="auto">
            <a:xfrm>
              <a:off x="111" y="1389"/>
              <a:ext cx="255" cy="4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首</a:t>
              </a:r>
            </a:p>
            <a:p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部</a:t>
              </a:r>
            </a:p>
          </p:txBody>
        </p:sp>
      </p:grpSp>
      <p:sp>
        <p:nvSpPr>
          <p:cNvPr id="834611" name="AutoShape 97"/>
          <p:cNvSpPr>
            <a:spLocks/>
          </p:cNvSpPr>
          <p:nvPr/>
        </p:nvSpPr>
        <p:spPr bwMode="auto">
          <a:xfrm>
            <a:off x="998538" y="1652588"/>
            <a:ext cx="180975" cy="2160587"/>
          </a:xfrm>
          <a:prstGeom prst="leftBrace">
            <a:avLst>
              <a:gd name="adj1" fmla="val 107779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grpSp>
        <p:nvGrpSpPr>
          <p:cNvPr id="60" name="Group 78"/>
          <p:cNvGrpSpPr>
            <a:grpSpLocks/>
          </p:cNvGrpSpPr>
          <p:nvPr/>
        </p:nvGrpSpPr>
        <p:grpSpPr bwMode="auto">
          <a:xfrm>
            <a:off x="2660650" y="2012950"/>
            <a:ext cx="7067550" cy="4295775"/>
            <a:chOff x="1547" y="1117"/>
            <a:chExt cx="4110" cy="2706"/>
          </a:xfrm>
        </p:grpSpPr>
        <p:sp>
          <p:nvSpPr>
            <p:cNvPr id="834613" name="Text Box 74"/>
            <p:cNvSpPr txBox="1">
              <a:spLocks noChangeArrowheads="1"/>
            </p:cNvSpPr>
            <p:nvPr/>
          </p:nvSpPr>
          <p:spPr bwMode="auto">
            <a:xfrm>
              <a:off x="1547" y="3067"/>
              <a:ext cx="4002" cy="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zh-CN" altLang="en-US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片偏移</a:t>
              </a:r>
              <a:r>
                <a:rPr lang="en-US" altLang="zh-CN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—— </a:t>
              </a:r>
              <a:r>
                <a:rPr lang="zh-CN" altLang="en-US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占</a:t>
              </a:r>
              <a:r>
                <a:rPr lang="en-US" altLang="zh-CN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13 </a:t>
              </a:r>
              <a:r>
                <a:rPr lang="zh-CN" altLang="en-US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位，指出：较长的分组在分片后</a:t>
              </a:r>
            </a:p>
            <a:p>
              <a:pPr algn="ctr" eaLnBrk="0" hangingPunct="0"/>
              <a:r>
                <a:rPr lang="zh-CN" altLang="en-US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某片在原分组中的相对位置。</a:t>
              </a:r>
            </a:p>
            <a:p>
              <a:pPr algn="ctr" eaLnBrk="0" hangingPunct="0"/>
              <a:r>
                <a:rPr lang="zh-CN" altLang="en-US" sz="2400" b="1">
                  <a:solidFill>
                    <a:srgbClr val="C00000"/>
                  </a:solidFill>
                  <a:ea typeface="黑体" panose="02010609060101010101" pitchFamily="49" charset="-122"/>
                </a:rPr>
                <a:t>片偏移以 </a:t>
              </a:r>
              <a:r>
                <a:rPr lang="en-US" altLang="zh-CN" sz="2400" b="1">
                  <a:solidFill>
                    <a:srgbClr val="C00000"/>
                  </a:solidFill>
                  <a:ea typeface="黑体" panose="02010609060101010101" pitchFamily="49" charset="-122"/>
                </a:rPr>
                <a:t>8 </a:t>
              </a:r>
              <a:r>
                <a:rPr lang="zh-CN" altLang="en-US" sz="2400" b="1">
                  <a:solidFill>
                    <a:srgbClr val="C00000"/>
                  </a:solidFill>
                  <a:ea typeface="黑体" panose="02010609060101010101" pitchFamily="49" charset="-122"/>
                </a:rPr>
                <a:t>个字节为偏移单位。</a:t>
              </a:r>
            </a:p>
          </p:txBody>
        </p:sp>
        <p:sp>
          <p:nvSpPr>
            <p:cNvPr id="834614" name="Rectangle 75"/>
            <p:cNvSpPr>
              <a:spLocks noChangeArrowheads="1"/>
            </p:cNvSpPr>
            <p:nvPr/>
          </p:nvSpPr>
          <p:spPr bwMode="auto">
            <a:xfrm>
              <a:off x="3696" y="1117"/>
              <a:ext cx="1961" cy="307"/>
            </a:xfrm>
            <a:prstGeom prst="rect">
              <a:avLst/>
            </a:prstGeom>
            <a:noFill/>
            <a:ln w="762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>
                <a:ea typeface="宋体" panose="02010600030101010101" pitchFamily="2" charset="-122"/>
              </a:endParaRPr>
            </a:p>
          </p:txBody>
        </p:sp>
      </p:grpSp>
      <p:sp>
        <p:nvSpPr>
          <p:cNvPr id="834615" name="标题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smtClean="0">
                <a:ea typeface="黑体" panose="02010609060101010101" pitchFamily="49" charset="-122"/>
              </a:rPr>
              <a:t>1.  IP </a:t>
            </a:r>
            <a:r>
              <a:rPr lang="zh-CN" altLang="en-US" sz="3600" smtClean="0">
                <a:ea typeface="黑体" panose="02010609060101010101" pitchFamily="49" charset="-122"/>
              </a:rPr>
              <a:t>数据报首部的固定部分中的各字段 </a:t>
            </a:r>
          </a:p>
        </p:txBody>
      </p:sp>
      <p:sp>
        <p:nvSpPr>
          <p:cNvPr id="834616" name="灯片编号占位符 4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27F0125-98C9-4440-B721-B804966970B4}" type="slidenum">
              <a:rPr lang="zh-CN" altLang="en-US" smtClean="0"/>
              <a:pPr eaLnBrk="1" hangingPunct="1"/>
              <a:t>36</a:t>
            </a:fld>
            <a:endParaRPr lang="en-US" altLang="zh-CN" smtClean="0"/>
          </a:p>
        </p:txBody>
      </p:sp>
      <p:sp>
        <p:nvSpPr>
          <p:cNvPr id="834617" name="页脚占位符 5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400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609" name="标题 1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zh-CN" altLang="zh-CN" smtClean="0">
                <a:ea typeface="黑体" panose="02010609060101010101" pitchFamily="49" charset="-122"/>
              </a:rPr>
              <a:t>【例</a:t>
            </a:r>
            <a:r>
              <a:rPr lang="en-US" altLang="zh-CN" smtClean="0">
                <a:ea typeface="黑体" panose="02010609060101010101" pitchFamily="49" charset="-122"/>
              </a:rPr>
              <a:t>4-1</a:t>
            </a:r>
            <a:r>
              <a:rPr lang="zh-CN" altLang="zh-CN" smtClean="0">
                <a:ea typeface="黑体" panose="02010609060101010101" pitchFamily="49" charset="-122"/>
              </a:rPr>
              <a:t>】</a:t>
            </a:r>
            <a:r>
              <a:rPr lang="en-US" altLang="zh-CN" smtClean="0">
                <a:ea typeface="黑体" panose="02010609060101010101" pitchFamily="49" charset="-122"/>
              </a:rPr>
              <a:t> IP </a:t>
            </a:r>
            <a:r>
              <a:rPr lang="zh-CN" altLang="en-US" smtClean="0">
                <a:ea typeface="黑体" panose="02010609060101010101" pitchFamily="49" charset="-122"/>
              </a:rPr>
              <a:t>数据报分片</a:t>
            </a:r>
          </a:p>
        </p:txBody>
      </p:sp>
      <p:sp>
        <p:nvSpPr>
          <p:cNvPr id="836610" name="内容占位符 2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zh-CN" altLang="zh-CN" dirty="0" smtClean="0">
                <a:ea typeface="黑体" panose="02010609060101010101" pitchFamily="49" charset="-122"/>
              </a:rPr>
              <a:t>一数据报的总长度</a:t>
            </a:r>
            <a:r>
              <a:rPr lang="zh-CN" altLang="zh-CN" dirty="0" smtClean="0">
                <a:solidFill>
                  <a:srgbClr val="0000CC"/>
                </a:solidFill>
                <a:ea typeface="黑体" panose="02010609060101010101" pitchFamily="49" charset="-122"/>
              </a:rPr>
              <a:t>为</a:t>
            </a:r>
            <a:r>
              <a:rPr lang="en-US" altLang="zh-CN" dirty="0" smtClean="0">
                <a:solidFill>
                  <a:srgbClr val="0000CC"/>
                </a:solidFill>
                <a:ea typeface="黑体" panose="02010609060101010101" pitchFamily="49" charset="-122"/>
              </a:rPr>
              <a:t> 3820 </a:t>
            </a:r>
            <a:r>
              <a:rPr lang="zh-CN" altLang="zh-CN" dirty="0" smtClean="0">
                <a:ea typeface="黑体" panose="02010609060101010101" pitchFamily="49" charset="-122"/>
              </a:rPr>
              <a:t>字节，其数据部分</a:t>
            </a:r>
            <a:r>
              <a:rPr lang="zh-CN" altLang="en-US" dirty="0" smtClean="0">
                <a:ea typeface="黑体" panose="02010609060101010101" pitchFamily="49" charset="-122"/>
              </a:rPr>
              <a:t>的</a:t>
            </a:r>
            <a:r>
              <a:rPr lang="zh-CN" altLang="zh-CN" dirty="0" smtClean="0">
                <a:ea typeface="黑体" panose="02010609060101010101" pitchFamily="49" charset="-122"/>
              </a:rPr>
              <a:t>长度为</a:t>
            </a:r>
            <a:r>
              <a:rPr lang="en-US" altLang="zh-CN" dirty="0" smtClean="0">
                <a:ea typeface="黑体" panose="02010609060101010101" pitchFamily="49" charset="-122"/>
              </a:rPr>
              <a:t> </a:t>
            </a:r>
            <a:r>
              <a:rPr lang="en-US" altLang="zh-CN" dirty="0" smtClean="0">
                <a:solidFill>
                  <a:srgbClr val="0000CC"/>
                </a:solidFill>
                <a:ea typeface="黑体" panose="02010609060101010101" pitchFamily="49" charset="-122"/>
              </a:rPr>
              <a:t>3800</a:t>
            </a:r>
            <a:r>
              <a:rPr lang="en-US" altLang="zh-CN" dirty="0" smtClean="0">
                <a:ea typeface="黑体" panose="02010609060101010101" pitchFamily="49" charset="-122"/>
              </a:rPr>
              <a:t> </a:t>
            </a:r>
            <a:r>
              <a:rPr lang="zh-CN" altLang="zh-CN" dirty="0" smtClean="0">
                <a:ea typeface="黑体" panose="02010609060101010101" pitchFamily="49" charset="-122"/>
              </a:rPr>
              <a:t>字节（使用固定首部），需要分片为长度不超过</a:t>
            </a:r>
            <a:r>
              <a:rPr lang="en-US" altLang="zh-CN" dirty="0" smtClean="0">
                <a:ea typeface="黑体" panose="02010609060101010101" pitchFamily="49" charset="-122"/>
              </a:rPr>
              <a:t> </a:t>
            </a:r>
            <a:r>
              <a:rPr lang="en-US" altLang="zh-CN" dirty="0" smtClean="0">
                <a:solidFill>
                  <a:srgbClr val="0000CC"/>
                </a:solidFill>
                <a:ea typeface="黑体" panose="02010609060101010101" pitchFamily="49" charset="-122"/>
              </a:rPr>
              <a:t>1420</a:t>
            </a:r>
            <a:r>
              <a:rPr lang="en-US" altLang="zh-CN" dirty="0" smtClean="0">
                <a:ea typeface="黑体" panose="02010609060101010101" pitchFamily="49" charset="-122"/>
              </a:rPr>
              <a:t> </a:t>
            </a:r>
            <a:r>
              <a:rPr lang="zh-CN" altLang="zh-CN" dirty="0" smtClean="0">
                <a:ea typeface="黑体" panose="02010609060101010101" pitchFamily="49" charset="-122"/>
              </a:rPr>
              <a:t>字节的数据报片。</a:t>
            </a:r>
            <a:endParaRPr lang="en-US" altLang="zh-CN" dirty="0" smtClean="0">
              <a:ea typeface="黑体" panose="02010609060101010101" pitchFamily="49" charset="-122"/>
            </a:endParaRPr>
          </a:p>
          <a:p>
            <a:pPr>
              <a:lnSpc>
                <a:spcPct val="100000"/>
              </a:lnSpc>
            </a:pPr>
            <a:r>
              <a:rPr lang="zh-CN" altLang="zh-CN" dirty="0" smtClean="0">
                <a:ea typeface="黑体" panose="02010609060101010101" pitchFamily="49" charset="-122"/>
              </a:rPr>
              <a:t>因固定首部长度为</a:t>
            </a:r>
            <a:r>
              <a:rPr lang="en-US" altLang="zh-CN" dirty="0" smtClean="0">
                <a:ea typeface="黑体" panose="02010609060101010101" pitchFamily="49" charset="-122"/>
              </a:rPr>
              <a:t> 20 </a:t>
            </a:r>
            <a:r>
              <a:rPr lang="zh-CN" altLang="zh-CN" dirty="0" smtClean="0">
                <a:ea typeface="黑体" panose="02010609060101010101" pitchFamily="49" charset="-122"/>
              </a:rPr>
              <a:t>字节，因此每个数据报片的数据部分长度不能超过</a:t>
            </a:r>
            <a:r>
              <a:rPr lang="en-US" altLang="zh-CN" dirty="0" smtClean="0">
                <a:ea typeface="黑体" panose="02010609060101010101" pitchFamily="49" charset="-122"/>
              </a:rPr>
              <a:t> 1400 </a:t>
            </a:r>
            <a:r>
              <a:rPr lang="zh-CN" altLang="zh-CN" dirty="0" smtClean="0">
                <a:ea typeface="黑体" panose="02010609060101010101" pitchFamily="49" charset="-122"/>
              </a:rPr>
              <a:t>字节。</a:t>
            </a:r>
            <a:endParaRPr lang="en-US" altLang="zh-CN" dirty="0" smtClean="0">
              <a:ea typeface="黑体" panose="02010609060101010101" pitchFamily="49" charset="-122"/>
            </a:endParaRPr>
          </a:p>
          <a:p>
            <a:pPr>
              <a:lnSpc>
                <a:spcPct val="100000"/>
              </a:lnSpc>
            </a:pPr>
            <a:r>
              <a:rPr lang="zh-CN" altLang="zh-CN" dirty="0" smtClean="0">
                <a:ea typeface="黑体" panose="02010609060101010101" pitchFamily="49" charset="-122"/>
              </a:rPr>
              <a:t>于是分为</a:t>
            </a:r>
            <a:r>
              <a:rPr lang="en-US" altLang="zh-CN" dirty="0" smtClean="0">
                <a:ea typeface="黑体" panose="02010609060101010101" pitchFamily="49" charset="-122"/>
              </a:rPr>
              <a:t> 3 </a:t>
            </a:r>
            <a:r>
              <a:rPr lang="zh-CN" altLang="zh-CN" dirty="0" smtClean="0">
                <a:ea typeface="黑体" panose="02010609060101010101" pitchFamily="49" charset="-122"/>
              </a:rPr>
              <a:t>个数据报片，其数据部分的长度分别为</a:t>
            </a:r>
            <a:r>
              <a:rPr lang="en-US" altLang="zh-CN" dirty="0" smtClean="0">
                <a:ea typeface="黑体" panose="02010609060101010101" pitchFamily="49" charset="-122"/>
              </a:rPr>
              <a:t> </a:t>
            </a:r>
            <a:r>
              <a:rPr lang="en-US" altLang="zh-CN" dirty="0" smtClean="0">
                <a:solidFill>
                  <a:srgbClr val="0000CC"/>
                </a:solidFill>
                <a:ea typeface="黑体" panose="02010609060101010101" pitchFamily="49" charset="-122"/>
              </a:rPr>
              <a:t>1400</a:t>
            </a:r>
            <a:r>
              <a:rPr lang="zh-CN" altLang="en-US" dirty="0" smtClean="0">
                <a:ea typeface="黑体" panose="02010609060101010101" pitchFamily="49" charset="-122"/>
              </a:rPr>
              <a:t>、</a:t>
            </a:r>
            <a:r>
              <a:rPr lang="en-US" altLang="zh-CN" dirty="0" smtClean="0">
                <a:solidFill>
                  <a:srgbClr val="0000CC"/>
                </a:solidFill>
                <a:ea typeface="黑体" panose="02010609060101010101" pitchFamily="49" charset="-122"/>
              </a:rPr>
              <a:t>1400</a:t>
            </a:r>
            <a:r>
              <a:rPr lang="en-US" altLang="zh-CN" dirty="0" smtClean="0">
                <a:ea typeface="黑体" panose="02010609060101010101" pitchFamily="49" charset="-122"/>
              </a:rPr>
              <a:t> </a:t>
            </a:r>
            <a:r>
              <a:rPr lang="zh-CN" altLang="zh-CN" dirty="0" smtClean="0">
                <a:ea typeface="黑体" panose="02010609060101010101" pitchFamily="49" charset="-122"/>
              </a:rPr>
              <a:t>和</a:t>
            </a:r>
            <a:r>
              <a:rPr lang="en-US" altLang="zh-CN" dirty="0" smtClean="0">
                <a:ea typeface="黑体" panose="02010609060101010101" pitchFamily="49" charset="-122"/>
              </a:rPr>
              <a:t> </a:t>
            </a:r>
            <a:r>
              <a:rPr lang="en-US" altLang="zh-CN" dirty="0" smtClean="0">
                <a:solidFill>
                  <a:srgbClr val="0000CC"/>
                </a:solidFill>
                <a:ea typeface="黑体" panose="02010609060101010101" pitchFamily="49" charset="-122"/>
              </a:rPr>
              <a:t>1000</a:t>
            </a:r>
            <a:r>
              <a:rPr lang="en-US" altLang="zh-CN" dirty="0" smtClean="0">
                <a:ea typeface="黑体" panose="02010609060101010101" pitchFamily="49" charset="-122"/>
              </a:rPr>
              <a:t> </a:t>
            </a:r>
            <a:r>
              <a:rPr lang="zh-CN" altLang="zh-CN" dirty="0" smtClean="0">
                <a:ea typeface="黑体" panose="02010609060101010101" pitchFamily="49" charset="-122"/>
              </a:rPr>
              <a:t>字节。</a:t>
            </a:r>
            <a:endParaRPr lang="en-US" altLang="zh-CN" dirty="0" smtClean="0">
              <a:ea typeface="黑体" panose="02010609060101010101" pitchFamily="49" charset="-122"/>
            </a:endParaRPr>
          </a:p>
          <a:p>
            <a:pPr>
              <a:lnSpc>
                <a:spcPct val="100000"/>
              </a:lnSpc>
            </a:pPr>
            <a:r>
              <a:rPr lang="zh-CN" altLang="zh-CN" dirty="0" smtClean="0">
                <a:solidFill>
                  <a:srgbClr val="0000FF"/>
                </a:solidFill>
                <a:ea typeface="黑体" panose="02010609060101010101" pitchFamily="49" charset="-122"/>
              </a:rPr>
              <a:t>原始数据报首部被复制为各数据报片的首部，但</a:t>
            </a:r>
            <a:r>
              <a:rPr lang="zh-CN" altLang="zh-CN" dirty="0" smtClean="0">
                <a:solidFill>
                  <a:srgbClr val="FF0000"/>
                </a:solidFill>
                <a:ea typeface="黑体" panose="02010609060101010101" pitchFamily="49" charset="-122"/>
              </a:rPr>
              <a:t>必须修改有关字段的值。</a:t>
            </a:r>
            <a:endParaRPr lang="zh-CN" altLang="en-US" dirty="0" smtClean="0">
              <a:solidFill>
                <a:srgbClr val="FF0000"/>
              </a:solidFill>
              <a:ea typeface="黑体" panose="02010609060101010101" pitchFamily="49" charset="-122"/>
            </a:endParaRPr>
          </a:p>
        </p:txBody>
      </p:sp>
      <p:sp>
        <p:nvSpPr>
          <p:cNvPr id="836611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2B8374E-EFFC-488D-964A-6DE8CD26AB1D}" type="slidenum">
              <a:rPr lang="zh-CN" altLang="en-US" smtClean="0"/>
              <a:pPr eaLnBrk="1" hangingPunct="1"/>
              <a:t>37</a:t>
            </a:fld>
            <a:endParaRPr lang="en-US" altLang="zh-CN" smtClean="0"/>
          </a:p>
        </p:txBody>
      </p:sp>
      <p:sp>
        <p:nvSpPr>
          <p:cNvPr id="836612" name="页脚占位符 6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>
            <a:grpSpLocks/>
          </p:cNvGrpSpPr>
          <p:nvPr/>
        </p:nvGrpSpPr>
        <p:grpSpPr bwMode="auto">
          <a:xfrm>
            <a:off x="344488" y="2379663"/>
            <a:ext cx="4754562" cy="3527425"/>
            <a:chOff x="344488" y="2380134"/>
            <a:chExt cx="4755225" cy="3526755"/>
          </a:xfrm>
        </p:grpSpPr>
        <p:sp>
          <p:nvSpPr>
            <p:cNvPr id="837634" name="Text Box 5"/>
            <p:cNvSpPr txBox="1">
              <a:spLocks noChangeArrowheads="1"/>
            </p:cNvSpPr>
            <p:nvPr/>
          </p:nvSpPr>
          <p:spPr bwMode="auto">
            <a:xfrm>
              <a:off x="704528" y="5445224"/>
              <a:ext cx="2101857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偏移 </a:t>
              </a:r>
              <a:r>
                <a:rPr lang="en-US" altLang="zh-CN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= 0/8 = 0</a:t>
              </a:r>
            </a:p>
          </p:txBody>
        </p:sp>
        <p:sp>
          <p:nvSpPr>
            <p:cNvPr id="837635" name="Rectangle 11"/>
            <p:cNvSpPr>
              <a:spLocks noChangeArrowheads="1"/>
            </p:cNvSpPr>
            <p:nvPr/>
          </p:nvSpPr>
          <p:spPr bwMode="auto">
            <a:xfrm>
              <a:off x="1295534" y="3869208"/>
              <a:ext cx="1900369" cy="463550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37636" name="Line 12"/>
            <p:cNvSpPr>
              <a:spLocks noChangeShapeType="1"/>
            </p:cNvSpPr>
            <p:nvPr/>
          </p:nvSpPr>
          <p:spPr bwMode="auto">
            <a:xfrm>
              <a:off x="1484710" y="3869208"/>
              <a:ext cx="0" cy="463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37637" name="Line 13"/>
            <p:cNvSpPr>
              <a:spLocks noChangeShapeType="1"/>
            </p:cNvSpPr>
            <p:nvPr/>
          </p:nvSpPr>
          <p:spPr bwMode="auto">
            <a:xfrm>
              <a:off x="1675606" y="3869208"/>
              <a:ext cx="0" cy="463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37638" name="Line 14"/>
            <p:cNvSpPr>
              <a:spLocks noChangeShapeType="1"/>
            </p:cNvSpPr>
            <p:nvPr/>
          </p:nvSpPr>
          <p:spPr bwMode="auto">
            <a:xfrm>
              <a:off x="1866504" y="3869208"/>
              <a:ext cx="0" cy="463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37639" name="Line 15"/>
            <p:cNvSpPr>
              <a:spLocks noChangeShapeType="1"/>
            </p:cNvSpPr>
            <p:nvPr/>
          </p:nvSpPr>
          <p:spPr bwMode="auto">
            <a:xfrm>
              <a:off x="3005006" y="3869208"/>
              <a:ext cx="0" cy="463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37640" name="Line 21"/>
            <p:cNvSpPr>
              <a:spLocks noChangeShapeType="1"/>
            </p:cNvSpPr>
            <p:nvPr/>
          </p:nvSpPr>
          <p:spPr bwMode="auto">
            <a:xfrm flipV="1">
              <a:off x="3101314" y="4332759"/>
              <a:ext cx="0" cy="3698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37641" name="Text Box 30"/>
            <p:cNvSpPr txBox="1">
              <a:spLocks noChangeArrowheads="1"/>
            </p:cNvSpPr>
            <p:nvPr/>
          </p:nvSpPr>
          <p:spPr bwMode="auto">
            <a:xfrm>
              <a:off x="2681685" y="4586759"/>
              <a:ext cx="75533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1399</a:t>
              </a:r>
            </a:p>
          </p:txBody>
        </p:sp>
        <p:sp>
          <p:nvSpPr>
            <p:cNvPr id="837642" name="Text Box 33"/>
            <p:cNvSpPr txBox="1">
              <a:spLocks noChangeArrowheads="1"/>
            </p:cNvSpPr>
            <p:nvPr/>
          </p:nvSpPr>
          <p:spPr bwMode="auto">
            <a:xfrm>
              <a:off x="990013" y="5072534"/>
              <a:ext cx="167866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400" b="1">
                  <a:solidFill>
                    <a:srgbClr val="C00000"/>
                  </a:solidFill>
                  <a:ea typeface="黑体" panose="02010609060101010101" pitchFamily="49" charset="-122"/>
                </a:rPr>
                <a:t>数据报片 </a:t>
              </a:r>
              <a:r>
                <a:rPr lang="en-US" altLang="zh-CN" sz="2400" b="1">
                  <a:solidFill>
                    <a:srgbClr val="C00000"/>
                  </a:solidFill>
                  <a:ea typeface="黑体" panose="02010609060101010101" pitchFamily="49" charset="-122"/>
                </a:rPr>
                <a:t>1</a:t>
              </a:r>
            </a:p>
          </p:txBody>
        </p:sp>
        <p:sp>
          <p:nvSpPr>
            <p:cNvPr id="837643" name="Rectangle 36"/>
            <p:cNvSpPr>
              <a:spLocks noChangeArrowheads="1"/>
            </p:cNvSpPr>
            <p:nvPr/>
          </p:nvSpPr>
          <p:spPr bwMode="auto">
            <a:xfrm>
              <a:off x="344488" y="3869208"/>
              <a:ext cx="951045" cy="46355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37644" name="Line 39"/>
            <p:cNvSpPr>
              <a:spLocks noChangeShapeType="1"/>
            </p:cNvSpPr>
            <p:nvPr/>
          </p:nvSpPr>
          <p:spPr bwMode="auto">
            <a:xfrm flipV="1">
              <a:off x="1295534" y="2380134"/>
              <a:ext cx="1900369" cy="1489075"/>
            </a:xfrm>
            <a:prstGeom prst="line">
              <a:avLst/>
            </a:prstGeom>
            <a:noFill/>
            <a:ln w="19050">
              <a:solidFill>
                <a:srgbClr val="0000CC"/>
              </a:solidFill>
              <a:prstDash val="dash"/>
              <a:round/>
              <a:headEnd type="triangle" w="sm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37645" name="Line 40"/>
            <p:cNvSpPr>
              <a:spLocks noChangeShapeType="1"/>
            </p:cNvSpPr>
            <p:nvPr/>
          </p:nvSpPr>
          <p:spPr bwMode="auto">
            <a:xfrm flipV="1">
              <a:off x="3195903" y="2380134"/>
              <a:ext cx="1903810" cy="1489075"/>
            </a:xfrm>
            <a:prstGeom prst="line">
              <a:avLst/>
            </a:prstGeom>
            <a:noFill/>
            <a:ln w="19050">
              <a:solidFill>
                <a:srgbClr val="0000CC"/>
              </a:solidFill>
              <a:prstDash val="dash"/>
              <a:round/>
              <a:headEnd type="triangle" w="sm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37646" name="Text Box 59"/>
            <p:cNvSpPr txBox="1">
              <a:spLocks noChangeArrowheads="1"/>
            </p:cNvSpPr>
            <p:nvPr/>
          </p:nvSpPr>
          <p:spPr bwMode="auto">
            <a:xfrm>
              <a:off x="344488" y="3869209"/>
              <a:ext cx="9140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首部 </a:t>
              </a:r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1</a:t>
              </a:r>
            </a:p>
          </p:txBody>
        </p:sp>
        <p:sp>
          <p:nvSpPr>
            <p:cNvPr id="837647" name="Line 62"/>
            <p:cNvSpPr>
              <a:spLocks noChangeShapeType="1"/>
            </p:cNvSpPr>
            <p:nvPr/>
          </p:nvSpPr>
          <p:spPr bwMode="auto">
            <a:xfrm flipV="1">
              <a:off x="1384962" y="4332759"/>
              <a:ext cx="0" cy="3698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37648" name="Text Box 63"/>
            <p:cNvSpPr txBox="1">
              <a:spLocks noChangeArrowheads="1"/>
            </p:cNvSpPr>
            <p:nvPr/>
          </p:nvSpPr>
          <p:spPr bwMode="auto">
            <a:xfrm>
              <a:off x="564621" y="4626446"/>
              <a:ext cx="9140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字节 </a:t>
              </a:r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0</a:t>
              </a:r>
            </a:p>
          </p:txBody>
        </p:sp>
      </p:grpSp>
      <p:grpSp>
        <p:nvGrpSpPr>
          <p:cNvPr id="5" name="组合 4"/>
          <p:cNvGrpSpPr>
            <a:grpSpLocks/>
          </p:cNvGrpSpPr>
          <p:nvPr/>
        </p:nvGrpSpPr>
        <p:grpSpPr bwMode="auto">
          <a:xfrm>
            <a:off x="3641725" y="2379663"/>
            <a:ext cx="3360738" cy="3527425"/>
            <a:chOff x="3641329" y="2380134"/>
            <a:chExt cx="3360473" cy="3526755"/>
          </a:xfrm>
        </p:grpSpPr>
        <p:sp>
          <p:nvSpPr>
            <p:cNvPr id="837650" name="Text Box 17"/>
            <p:cNvSpPr txBox="1">
              <a:spLocks noChangeArrowheads="1"/>
            </p:cNvSpPr>
            <p:nvPr/>
          </p:nvSpPr>
          <p:spPr bwMode="auto">
            <a:xfrm>
              <a:off x="3653972" y="5445224"/>
              <a:ext cx="295946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偏移 </a:t>
              </a:r>
              <a:r>
                <a:rPr lang="en-US" altLang="zh-CN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= 1400/8 = 175</a:t>
              </a:r>
            </a:p>
          </p:txBody>
        </p:sp>
        <p:sp>
          <p:nvSpPr>
            <p:cNvPr id="837651" name="Line 22"/>
            <p:cNvSpPr>
              <a:spLocks noChangeShapeType="1"/>
            </p:cNvSpPr>
            <p:nvPr/>
          </p:nvSpPr>
          <p:spPr bwMode="auto">
            <a:xfrm flipV="1">
              <a:off x="4717918" y="4332759"/>
              <a:ext cx="0" cy="3698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37652" name="Line 23"/>
            <p:cNvSpPr>
              <a:spLocks noChangeShapeType="1"/>
            </p:cNvSpPr>
            <p:nvPr/>
          </p:nvSpPr>
          <p:spPr bwMode="auto">
            <a:xfrm flipV="1">
              <a:off x="6430831" y="4332759"/>
              <a:ext cx="0" cy="3698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37653" name="Text Box 26"/>
            <p:cNvSpPr txBox="1">
              <a:spLocks noChangeArrowheads="1"/>
            </p:cNvSpPr>
            <p:nvPr/>
          </p:nvSpPr>
          <p:spPr bwMode="auto">
            <a:xfrm>
              <a:off x="4298289" y="4608984"/>
              <a:ext cx="75533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1400</a:t>
              </a:r>
            </a:p>
          </p:txBody>
        </p:sp>
        <p:sp>
          <p:nvSpPr>
            <p:cNvPr id="837654" name="Text Box 29"/>
            <p:cNvSpPr txBox="1">
              <a:spLocks noChangeArrowheads="1"/>
            </p:cNvSpPr>
            <p:nvPr/>
          </p:nvSpPr>
          <p:spPr bwMode="auto">
            <a:xfrm>
              <a:off x="6007763" y="4586759"/>
              <a:ext cx="75533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2799</a:t>
              </a:r>
            </a:p>
          </p:txBody>
        </p:sp>
        <p:sp>
          <p:nvSpPr>
            <p:cNvPr id="837655" name="Rectangle 41"/>
            <p:cNvSpPr>
              <a:spLocks noChangeArrowheads="1"/>
            </p:cNvSpPr>
            <p:nvPr/>
          </p:nvSpPr>
          <p:spPr bwMode="auto">
            <a:xfrm>
              <a:off x="4625050" y="3869208"/>
              <a:ext cx="1900369" cy="463550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37656" name="Line 42"/>
            <p:cNvSpPr>
              <a:spLocks noChangeShapeType="1"/>
            </p:cNvSpPr>
            <p:nvPr/>
          </p:nvSpPr>
          <p:spPr bwMode="auto">
            <a:xfrm>
              <a:off x="4814227" y="3869208"/>
              <a:ext cx="0" cy="463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37657" name="Line 43"/>
            <p:cNvSpPr>
              <a:spLocks noChangeShapeType="1"/>
            </p:cNvSpPr>
            <p:nvPr/>
          </p:nvSpPr>
          <p:spPr bwMode="auto">
            <a:xfrm>
              <a:off x="5003404" y="3869208"/>
              <a:ext cx="0" cy="463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37658" name="Line 44"/>
            <p:cNvSpPr>
              <a:spLocks noChangeShapeType="1"/>
            </p:cNvSpPr>
            <p:nvPr/>
          </p:nvSpPr>
          <p:spPr bwMode="auto">
            <a:xfrm>
              <a:off x="5194300" y="3869208"/>
              <a:ext cx="0" cy="463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37659" name="Line 45"/>
            <p:cNvSpPr>
              <a:spLocks noChangeShapeType="1"/>
            </p:cNvSpPr>
            <p:nvPr/>
          </p:nvSpPr>
          <p:spPr bwMode="auto">
            <a:xfrm>
              <a:off x="6334522" y="3869208"/>
              <a:ext cx="0" cy="463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37660" name="Rectangle 46"/>
            <p:cNvSpPr>
              <a:spLocks noChangeArrowheads="1"/>
            </p:cNvSpPr>
            <p:nvPr/>
          </p:nvSpPr>
          <p:spPr bwMode="auto">
            <a:xfrm>
              <a:off x="3674004" y="3869208"/>
              <a:ext cx="951045" cy="46355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37661" name="Line 47"/>
            <p:cNvSpPr>
              <a:spLocks noChangeShapeType="1"/>
            </p:cNvSpPr>
            <p:nvPr/>
          </p:nvSpPr>
          <p:spPr bwMode="auto">
            <a:xfrm flipV="1">
              <a:off x="4625049" y="2380134"/>
              <a:ext cx="474663" cy="1489075"/>
            </a:xfrm>
            <a:prstGeom prst="line">
              <a:avLst/>
            </a:prstGeom>
            <a:noFill/>
            <a:ln w="19050">
              <a:solidFill>
                <a:srgbClr val="0000CC"/>
              </a:solidFill>
              <a:prstDash val="dash"/>
              <a:round/>
              <a:headEnd type="triangle" w="sm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37662" name="Line 48"/>
            <p:cNvSpPr>
              <a:spLocks noChangeShapeType="1"/>
            </p:cNvSpPr>
            <p:nvPr/>
          </p:nvSpPr>
          <p:spPr bwMode="auto">
            <a:xfrm flipV="1">
              <a:off x="6525419" y="2380134"/>
              <a:ext cx="476383" cy="1489075"/>
            </a:xfrm>
            <a:prstGeom prst="line">
              <a:avLst/>
            </a:prstGeom>
            <a:noFill/>
            <a:ln w="19050">
              <a:solidFill>
                <a:srgbClr val="0000CC"/>
              </a:solidFill>
              <a:prstDash val="dash"/>
              <a:round/>
              <a:headEnd type="triangle" w="sm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37663" name="Text Box 60"/>
            <p:cNvSpPr txBox="1">
              <a:spLocks noChangeArrowheads="1"/>
            </p:cNvSpPr>
            <p:nvPr/>
          </p:nvSpPr>
          <p:spPr bwMode="auto">
            <a:xfrm>
              <a:off x="3641329" y="3869209"/>
              <a:ext cx="9140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首部 </a:t>
              </a:r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2</a:t>
              </a:r>
            </a:p>
          </p:txBody>
        </p:sp>
        <p:sp>
          <p:nvSpPr>
            <p:cNvPr id="837664" name="Text Box 64"/>
            <p:cNvSpPr txBox="1">
              <a:spLocks noChangeArrowheads="1"/>
            </p:cNvSpPr>
            <p:nvPr/>
          </p:nvSpPr>
          <p:spPr bwMode="auto">
            <a:xfrm>
              <a:off x="4254178" y="5067770"/>
              <a:ext cx="167866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400" b="1">
                  <a:solidFill>
                    <a:srgbClr val="C00000"/>
                  </a:solidFill>
                  <a:ea typeface="黑体" panose="02010609060101010101" pitchFamily="49" charset="-122"/>
                </a:rPr>
                <a:t>数据报片 </a:t>
              </a:r>
              <a:r>
                <a:rPr lang="en-US" altLang="zh-CN" sz="2400" b="1">
                  <a:solidFill>
                    <a:srgbClr val="C00000"/>
                  </a:solidFill>
                  <a:ea typeface="黑体" panose="02010609060101010101" pitchFamily="49" charset="-122"/>
                </a:rPr>
                <a:t>2</a:t>
              </a:r>
            </a:p>
          </p:txBody>
        </p:sp>
      </p:grpSp>
      <p:grpSp>
        <p:nvGrpSpPr>
          <p:cNvPr id="6" name="组合 5"/>
          <p:cNvGrpSpPr>
            <a:grpSpLocks/>
          </p:cNvGrpSpPr>
          <p:nvPr/>
        </p:nvGrpSpPr>
        <p:grpSpPr bwMode="auto">
          <a:xfrm>
            <a:off x="6897688" y="2379663"/>
            <a:ext cx="2959100" cy="3527425"/>
            <a:chOff x="6897216" y="2380134"/>
            <a:chExt cx="2959465" cy="3526755"/>
          </a:xfrm>
        </p:grpSpPr>
        <p:sp>
          <p:nvSpPr>
            <p:cNvPr id="837666" name="Text Box 18"/>
            <p:cNvSpPr txBox="1">
              <a:spLocks noChangeArrowheads="1"/>
            </p:cNvSpPr>
            <p:nvPr/>
          </p:nvSpPr>
          <p:spPr bwMode="auto">
            <a:xfrm>
              <a:off x="6897216" y="5445224"/>
              <a:ext cx="295946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偏移 </a:t>
              </a:r>
              <a:r>
                <a:rPr lang="en-US" altLang="zh-CN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= 2800/8 = 350</a:t>
              </a:r>
            </a:p>
          </p:txBody>
        </p:sp>
        <p:sp>
          <p:nvSpPr>
            <p:cNvPr id="837667" name="Line 24"/>
            <p:cNvSpPr>
              <a:spLocks noChangeShapeType="1"/>
            </p:cNvSpPr>
            <p:nvPr/>
          </p:nvSpPr>
          <p:spPr bwMode="auto">
            <a:xfrm flipV="1">
              <a:off x="8126545" y="4332759"/>
              <a:ext cx="0" cy="3698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37668" name="Line 25"/>
            <p:cNvSpPr>
              <a:spLocks noChangeShapeType="1"/>
            </p:cNvSpPr>
            <p:nvPr/>
          </p:nvSpPr>
          <p:spPr bwMode="auto">
            <a:xfrm flipV="1">
              <a:off x="9380273" y="4332759"/>
              <a:ext cx="0" cy="3698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37669" name="Text Box 27"/>
            <p:cNvSpPr txBox="1">
              <a:spLocks noChangeArrowheads="1"/>
            </p:cNvSpPr>
            <p:nvPr/>
          </p:nvSpPr>
          <p:spPr bwMode="auto">
            <a:xfrm>
              <a:off x="7722394" y="4608984"/>
              <a:ext cx="75533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2800</a:t>
              </a:r>
            </a:p>
          </p:txBody>
        </p:sp>
        <p:sp>
          <p:nvSpPr>
            <p:cNvPr id="837670" name="Text Box 28"/>
            <p:cNvSpPr txBox="1">
              <a:spLocks noChangeArrowheads="1"/>
            </p:cNvSpPr>
            <p:nvPr/>
          </p:nvSpPr>
          <p:spPr bwMode="auto">
            <a:xfrm>
              <a:off x="8960644" y="4586759"/>
              <a:ext cx="75533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3799</a:t>
              </a:r>
            </a:p>
          </p:txBody>
        </p:sp>
        <p:sp>
          <p:nvSpPr>
            <p:cNvPr id="837671" name="Rectangle 49"/>
            <p:cNvSpPr>
              <a:spLocks noChangeArrowheads="1"/>
            </p:cNvSpPr>
            <p:nvPr/>
          </p:nvSpPr>
          <p:spPr bwMode="auto">
            <a:xfrm>
              <a:off x="8047436" y="3869208"/>
              <a:ext cx="1427427" cy="463550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37672" name="Line 50"/>
            <p:cNvSpPr>
              <a:spLocks noChangeShapeType="1"/>
            </p:cNvSpPr>
            <p:nvPr/>
          </p:nvSpPr>
          <p:spPr bwMode="auto">
            <a:xfrm>
              <a:off x="8238331" y="3869208"/>
              <a:ext cx="0" cy="463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37673" name="Line 51"/>
            <p:cNvSpPr>
              <a:spLocks noChangeShapeType="1"/>
            </p:cNvSpPr>
            <p:nvPr/>
          </p:nvSpPr>
          <p:spPr bwMode="auto">
            <a:xfrm>
              <a:off x="8429229" y="3869208"/>
              <a:ext cx="0" cy="463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37674" name="Line 52"/>
            <p:cNvSpPr>
              <a:spLocks noChangeShapeType="1"/>
            </p:cNvSpPr>
            <p:nvPr/>
          </p:nvSpPr>
          <p:spPr bwMode="auto">
            <a:xfrm>
              <a:off x="8620125" y="3869208"/>
              <a:ext cx="0" cy="463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37675" name="Line 53"/>
            <p:cNvSpPr>
              <a:spLocks noChangeShapeType="1"/>
            </p:cNvSpPr>
            <p:nvPr/>
          </p:nvSpPr>
          <p:spPr bwMode="auto">
            <a:xfrm>
              <a:off x="9285685" y="3869208"/>
              <a:ext cx="0" cy="463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37676" name="Rectangle 54"/>
            <p:cNvSpPr>
              <a:spLocks noChangeArrowheads="1"/>
            </p:cNvSpPr>
            <p:nvPr/>
          </p:nvSpPr>
          <p:spPr bwMode="auto">
            <a:xfrm>
              <a:off x="7098110" y="3869208"/>
              <a:ext cx="949325" cy="46355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37677" name="Line 55"/>
            <p:cNvSpPr>
              <a:spLocks noChangeShapeType="1"/>
            </p:cNvSpPr>
            <p:nvPr/>
          </p:nvSpPr>
          <p:spPr bwMode="auto">
            <a:xfrm flipH="1" flipV="1">
              <a:off x="8429229" y="2380134"/>
              <a:ext cx="1045633" cy="1489075"/>
            </a:xfrm>
            <a:prstGeom prst="line">
              <a:avLst/>
            </a:prstGeom>
            <a:noFill/>
            <a:ln w="19050">
              <a:solidFill>
                <a:srgbClr val="0000CC"/>
              </a:solidFill>
              <a:prstDash val="dash"/>
              <a:round/>
              <a:headEnd type="triangle" w="sm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37678" name="Line 56"/>
            <p:cNvSpPr>
              <a:spLocks noChangeShapeType="1"/>
            </p:cNvSpPr>
            <p:nvPr/>
          </p:nvSpPr>
          <p:spPr bwMode="auto">
            <a:xfrm flipH="1" flipV="1">
              <a:off x="7001802" y="2380134"/>
              <a:ext cx="1045633" cy="1489075"/>
            </a:xfrm>
            <a:prstGeom prst="line">
              <a:avLst/>
            </a:prstGeom>
            <a:noFill/>
            <a:ln w="19050">
              <a:solidFill>
                <a:srgbClr val="0000CC"/>
              </a:solidFill>
              <a:prstDash val="dash"/>
              <a:round/>
              <a:headEnd type="triangle" w="sm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37679" name="Text Box 61"/>
            <p:cNvSpPr txBox="1">
              <a:spLocks noChangeArrowheads="1"/>
            </p:cNvSpPr>
            <p:nvPr/>
          </p:nvSpPr>
          <p:spPr bwMode="auto">
            <a:xfrm>
              <a:off x="7065433" y="3869209"/>
              <a:ext cx="9140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首部 </a:t>
              </a:r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3</a:t>
              </a:r>
            </a:p>
          </p:txBody>
        </p:sp>
        <p:sp>
          <p:nvSpPr>
            <p:cNvPr id="837680" name="Text Box 65"/>
            <p:cNvSpPr txBox="1">
              <a:spLocks noChangeArrowheads="1"/>
            </p:cNvSpPr>
            <p:nvPr/>
          </p:nvSpPr>
          <p:spPr bwMode="auto">
            <a:xfrm>
              <a:off x="7450799" y="5067770"/>
              <a:ext cx="167866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400" b="1">
                  <a:solidFill>
                    <a:srgbClr val="C00000"/>
                  </a:solidFill>
                  <a:ea typeface="黑体" panose="02010609060101010101" pitchFamily="49" charset="-122"/>
                </a:rPr>
                <a:t>数据报片 </a:t>
              </a:r>
              <a:r>
                <a:rPr lang="en-US" altLang="zh-CN" sz="2400" b="1">
                  <a:solidFill>
                    <a:srgbClr val="C00000"/>
                  </a:solidFill>
                  <a:ea typeface="黑体" panose="02010609060101010101" pitchFamily="49" charset="-122"/>
                </a:rPr>
                <a:t>3</a:t>
              </a:r>
            </a:p>
          </p:txBody>
        </p:sp>
      </p:grpSp>
      <p:grpSp>
        <p:nvGrpSpPr>
          <p:cNvPr id="837681" name="组合 2"/>
          <p:cNvGrpSpPr>
            <a:grpSpLocks/>
          </p:cNvGrpSpPr>
          <p:nvPr/>
        </p:nvGrpSpPr>
        <p:grpSpPr bwMode="auto">
          <a:xfrm>
            <a:off x="855663" y="1484313"/>
            <a:ext cx="8945562" cy="1589087"/>
            <a:chOff x="855338" y="1484784"/>
            <a:chExt cx="8946531" cy="1589147"/>
          </a:xfrm>
        </p:grpSpPr>
        <p:sp>
          <p:nvSpPr>
            <p:cNvPr id="837682" name="Rectangle 4"/>
            <p:cNvSpPr>
              <a:spLocks noChangeArrowheads="1"/>
            </p:cNvSpPr>
            <p:nvPr/>
          </p:nvSpPr>
          <p:spPr bwMode="auto">
            <a:xfrm>
              <a:off x="3195902" y="1916583"/>
              <a:ext cx="5233327" cy="463550"/>
            </a:xfrm>
            <a:prstGeom prst="rect">
              <a:avLst/>
            </a:prstGeom>
            <a:solidFill>
              <a:srgbClr val="DDDDD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37683" name="Rectangle 6"/>
            <p:cNvSpPr>
              <a:spLocks noChangeArrowheads="1"/>
            </p:cNvSpPr>
            <p:nvPr/>
          </p:nvSpPr>
          <p:spPr bwMode="auto">
            <a:xfrm>
              <a:off x="2244858" y="1916583"/>
              <a:ext cx="6184371" cy="463550"/>
            </a:xfrm>
            <a:prstGeom prst="rect">
              <a:avLst/>
            </a:prstGeom>
            <a:solidFill>
              <a:srgbClr val="CCECFF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37684" name="Line 7"/>
            <p:cNvSpPr>
              <a:spLocks noChangeShapeType="1"/>
            </p:cNvSpPr>
            <p:nvPr/>
          </p:nvSpPr>
          <p:spPr bwMode="auto">
            <a:xfrm>
              <a:off x="3386800" y="1916583"/>
              <a:ext cx="0" cy="463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37685" name="Line 8"/>
            <p:cNvSpPr>
              <a:spLocks noChangeShapeType="1"/>
            </p:cNvSpPr>
            <p:nvPr/>
          </p:nvSpPr>
          <p:spPr bwMode="auto">
            <a:xfrm>
              <a:off x="3577696" y="1916583"/>
              <a:ext cx="0" cy="463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37686" name="Line 9"/>
            <p:cNvSpPr>
              <a:spLocks noChangeShapeType="1"/>
            </p:cNvSpPr>
            <p:nvPr/>
          </p:nvSpPr>
          <p:spPr bwMode="auto">
            <a:xfrm>
              <a:off x="3768593" y="1916583"/>
              <a:ext cx="0" cy="463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37687" name="Line 10"/>
            <p:cNvSpPr>
              <a:spLocks noChangeShapeType="1"/>
            </p:cNvSpPr>
            <p:nvPr/>
          </p:nvSpPr>
          <p:spPr bwMode="auto">
            <a:xfrm>
              <a:off x="8238331" y="1916583"/>
              <a:ext cx="0" cy="463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37688" name="Text Box 16"/>
            <p:cNvSpPr txBox="1">
              <a:spLocks noChangeArrowheads="1"/>
            </p:cNvSpPr>
            <p:nvPr/>
          </p:nvSpPr>
          <p:spPr bwMode="auto">
            <a:xfrm>
              <a:off x="8455025" y="1810221"/>
              <a:ext cx="1346844" cy="677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偏移 </a:t>
              </a:r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= 0/8</a:t>
              </a:r>
            </a:p>
            <a:p>
              <a:pPr eaLnBrk="0" hangingPunct="0">
                <a:lnSpc>
                  <a:spcPct val="90000"/>
                </a:lnSpc>
              </a:pPr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= 0</a:t>
              </a:r>
            </a:p>
          </p:txBody>
        </p:sp>
        <p:sp>
          <p:nvSpPr>
            <p:cNvPr id="837689" name="Line 19"/>
            <p:cNvSpPr>
              <a:spLocks noChangeShapeType="1"/>
            </p:cNvSpPr>
            <p:nvPr/>
          </p:nvSpPr>
          <p:spPr bwMode="auto">
            <a:xfrm flipV="1">
              <a:off x="8317442" y="2380134"/>
              <a:ext cx="0" cy="3698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37690" name="Line 20"/>
            <p:cNvSpPr>
              <a:spLocks noChangeShapeType="1"/>
            </p:cNvSpPr>
            <p:nvPr/>
          </p:nvSpPr>
          <p:spPr bwMode="auto">
            <a:xfrm flipV="1">
              <a:off x="3287052" y="2380134"/>
              <a:ext cx="0" cy="3698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37691" name="Text Box 31"/>
            <p:cNvSpPr txBox="1">
              <a:spLocks noChangeArrowheads="1"/>
            </p:cNvSpPr>
            <p:nvPr/>
          </p:nvSpPr>
          <p:spPr bwMode="auto">
            <a:xfrm>
              <a:off x="7913291" y="2634134"/>
              <a:ext cx="755335" cy="4001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3799</a:t>
              </a:r>
            </a:p>
          </p:txBody>
        </p:sp>
        <p:sp>
          <p:nvSpPr>
            <p:cNvPr id="837692" name="Text Box 32"/>
            <p:cNvSpPr txBox="1">
              <a:spLocks noChangeArrowheads="1"/>
            </p:cNvSpPr>
            <p:nvPr/>
          </p:nvSpPr>
          <p:spPr bwMode="auto">
            <a:xfrm>
              <a:off x="855338" y="1737196"/>
              <a:ext cx="1210588" cy="707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zh-CN" altLang="en-US" sz="2000" b="1">
                  <a:solidFill>
                    <a:srgbClr val="C00000"/>
                  </a:solidFill>
                  <a:ea typeface="黑体" panose="02010609060101010101" pitchFamily="49" charset="-122"/>
                </a:rPr>
                <a:t>需分片的</a:t>
              </a:r>
            </a:p>
            <a:p>
              <a:pPr algn="ctr" eaLnBrk="0" hangingPunct="0"/>
              <a:r>
                <a:rPr lang="zh-CN" altLang="en-US" sz="2000" b="1">
                  <a:solidFill>
                    <a:srgbClr val="C00000"/>
                  </a:solidFill>
                  <a:ea typeface="黑体" panose="02010609060101010101" pitchFamily="49" charset="-122"/>
                </a:rPr>
                <a:t>数据报</a:t>
              </a:r>
            </a:p>
          </p:txBody>
        </p:sp>
        <p:sp>
          <p:nvSpPr>
            <p:cNvPr id="837693" name="Rectangle 76"/>
            <p:cNvSpPr>
              <a:spLocks noChangeArrowheads="1"/>
            </p:cNvSpPr>
            <p:nvPr/>
          </p:nvSpPr>
          <p:spPr bwMode="auto">
            <a:xfrm>
              <a:off x="2267215" y="1934045"/>
              <a:ext cx="925248" cy="414835"/>
            </a:xfrm>
            <a:prstGeom prst="rect">
              <a:avLst/>
            </a:prstGeom>
            <a:solidFill>
              <a:srgbClr val="FF9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37694" name="Text Box 34"/>
            <p:cNvSpPr txBox="1">
              <a:spLocks noChangeArrowheads="1"/>
            </p:cNvSpPr>
            <p:nvPr/>
          </p:nvSpPr>
          <p:spPr bwMode="auto">
            <a:xfrm>
              <a:off x="2344606" y="1948770"/>
              <a:ext cx="69762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首部</a:t>
              </a:r>
            </a:p>
          </p:txBody>
        </p:sp>
        <p:sp>
          <p:nvSpPr>
            <p:cNvPr id="837695" name="Line 35"/>
            <p:cNvSpPr>
              <a:spLocks noChangeShapeType="1"/>
            </p:cNvSpPr>
            <p:nvPr/>
          </p:nvSpPr>
          <p:spPr bwMode="auto">
            <a:xfrm>
              <a:off x="3195902" y="1916583"/>
              <a:ext cx="0" cy="463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37696" name="Line 37"/>
            <p:cNvSpPr>
              <a:spLocks noChangeShapeType="1"/>
            </p:cNvSpPr>
            <p:nvPr/>
          </p:nvSpPr>
          <p:spPr bwMode="auto">
            <a:xfrm>
              <a:off x="5099712" y="1916583"/>
              <a:ext cx="0" cy="463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37697" name="Line 38"/>
            <p:cNvSpPr>
              <a:spLocks noChangeShapeType="1"/>
            </p:cNvSpPr>
            <p:nvPr/>
          </p:nvSpPr>
          <p:spPr bwMode="auto">
            <a:xfrm>
              <a:off x="7001802" y="1916583"/>
              <a:ext cx="0" cy="463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37698" name="Line 57"/>
            <p:cNvSpPr>
              <a:spLocks noChangeShapeType="1"/>
            </p:cNvSpPr>
            <p:nvPr/>
          </p:nvSpPr>
          <p:spPr bwMode="auto">
            <a:xfrm>
              <a:off x="3178705" y="1691158"/>
              <a:ext cx="523160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sm" len="med"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37699" name="Text Box 58"/>
            <p:cNvSpPr txBox="1">
              <a:spLocks noChangeArrowheads="1"/>
            </p:cNvSpPr>
            <p:nvPr/>
          </p:nvSpPr>
          <p:spPr bwMode="auto">
            <a:xfrm>
              <a:off x="4150387" y="1484784"/>
              <a:ext cx="2770310" cy="4001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数据部分共 </a:t>
              </a:r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3800 </a:t>
              </a:r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字节</a:t>
              </a:r>
            </a:p>
          </p:txBody>
        </p:sp>
        <p:sp>
          <p:nvSpPr>
            <p:cNvPr id="837700" name="Line 66"/>
            <p:cNvSpPr>
              <a:spLocks noChangeShapeType="1"/>
            </p:cNvSpPr>
            <p:nvPr/>
          </p:nvSpPr>
          <p:spPr bwMode="auto">
            <a:xfrm flipV="1">
              <a:off x="5177102" y="2380134"/>
              <a:ext cx="0" cy="3698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37701" name="Text Box 67"/>
            <p:cNvSpPr txBox="1">
              <a:spLocks noChangeArrowheads="1"/>
            </p:cNvSpPr>
            <p:nvPr/>
          </p:nvSpPr>
          <p:spPr bwMode="auto">
            <a:xfrm>
              <a:off x="4757474" y="2653184"/>
              <a:ext cx="755335" cy="4001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1400</a:t>
              </a:r>
            </a:p>
          </p:txBody>
        </p:sp>
        <p:sp>
          <p:nvSpPr>
            <p:cNvPr id="837702" name="Line 68"/>
            <p:cNvSpPr>
              <a:spLocks noChangeShapeType="1"/>
            </p:cNvSpPr>
            <p:nvPr/>
          </p:nvSpPr>
          <p:spPr bwMode="auto">
            <a:xfrm flipV="1">
              <a:off x="7080912" y="2380134"/>
              <a:ext cx="0" cy="3698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37703" name="Text Box 69"/>
            <p:cNvSpPr txBox="1">
              <a:spLocks noChangeArrowheads="1"/>
            </p:cNvSpPr>
            <p:nvPr/>
          </p:nvSpPr>
          <p:spPr bwMode="auto">
            <a:xfrm>
              <a:off x="6676761" y="2653184"/>
              <a:ext cx="755335" cy="4001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2800</a:t>
              </a:r>
            </a:p>
          </p:txBody>
        </p:sp>
        <p:sp>
          <p:nvSpPr>
            <p:cNvPr id="837704" name="Line 70"/>
            <p:cNvSpPr>
              <a:spLocks noChangeShapeType="1"/>
            </p:cNvSpPr>
            <p:nvPr/>
          </p:nvSpPr>
          <p:spPr bwMode="auto">
            <a:xfrm>
              <a:off x="7190979" y="1916583"/>
              <a:ext cx="0" cy="463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37705" name="Line 71"/>
            <p:cNvSpPr>
              <a:spLocks noChangeShapeType="1"/>
            </p:cNvSpPr>
            <p:nvPr/>
          </p:nvSpPr>
          <p:spPr bwMode="auto">
            <a:xfrm>
              <a:off x="5290608" y="1916583"/>
              <a:ext cx="0" cy="463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37706" name="Text Box 72"/>
            <p:cNvSpPr txBox="1">
              <a:spLocks noChangeArrowheads="1"/>
            </p:cNvSpPr>
            <p:nvPr/>
          </p:nvSpPr>
          <p:spPr bwMode="auto">
            <a:xfrm>
              <a:off x="2468431" y="2673821"/>
              <a:ext cx="914033" cy="4001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字节 </a:t>
              </a:r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0</a:t>
              </a:r>
            </a:p>
          </p:txBody>
        </p:sp>
      </p:grpSp>
      <p:sp>
        <p:nvSpPr>
          <p:cNvPr id="837707" name="Rectangle 7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smtClean="0">
                <a:ea typeface="黑体" panose="02010609060101010101" pitchFamily="49" charset="-122"/>
              </a:rPr>
              <a:t>【</a:t>
            </a:r>
            <a:r>
              <a:rPr lang="zh-CN" altLang="en-US" smtClean="0">
                <a:ea typeface="黑体" panose="02010609060101010101" pitchFamily="49" charset="-122"/>
              </a:rPr>
              <a:t>例</a:t>
            </a:r>
            <a:r>
              <a:rPr lang="en-US" altLang="zh-CN" smtClean="0">
                <a:ea typeface="黑体" panose="02010609060101010101" pitchFamily="49" charset="-122"/>
              </a:rPr>
              <a:t>4-1】 IP </a:t>
            </a:r>
            <a:r>
              <a:rPr lang="zh-CN" altLang="en-US" smtClean="0">
                <a:ea typeface="黑体" panose="02010609060101010101" pitchFamily="49" charset="-122"/>
              </a:rPr>
              <a:t>数据报分片</a:t>
            </a:r>
          </a:p>
        </p:txBody>
      </p:sp>
      <p:sp>
        <p:nvSpPr>
          <p:cNvPr id="837708" name="灯片编号占位符 7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E0BD0A9A-B6AD-4447-871A-06332BD741C9}" type="slidenum">
              <a:rPr lang="zh-CN" altLang="en-US" smtClean="0"/>
              <a:pPr eaLnBrk="1" hangingPunct="1"/>
              <a:t>38</a:t>
            </a:fld>
            <a:endParaRPr lang="en-US" altLang="zh-CN" smtClean="0"/>
          </a:p>
        </p:txBody>
      </p:sp>
      <p:sp>
        <p:nvSpPr>
          <p:cNvPr id="837709" name="页脚占位符 8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81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zh-CN" smtClean="0">
                <a:ea typeface="黑体" panose="02010609060101010101" pitchFamily="49" charset="-122"/>
              </a:rPr>
              <a:t>【例</a:t>
            </a:r>
            <a:r>
              <a:rPr lang="en-US" altLang="zh-CN" smtClean="0">
                <a:ea typeface="黑体" panose="02010609060101010101" pitchFamily="49" charset="-122"/>
              </a:rPr>
              <a:t>4-1</a:t>
            </a:r>
            <a:r>
              <a:rPr lang="zh-CN" altLang="zh-CN" smtClean="0">
                <a:ea typeface="黑体" panose="02010609060101010101" pitchFamily="49" charset="-122"/>
              </a:rPr>
              <a:t>】</a:t>
            </a:r>
            <a:r>
              <a:rPr lang="en-US" altLang="zh-CN" smtClean="0">
                <a:ea typeface="黑体" panose="02010609060101010101" pitchFamily="49" charset="-122"/>
              </a:rPr>
              <a:t> IP </a:t>
            </a:r>
            <a:r>
              <a:rPr lang="zh-CN" altLang="en-US" smtClean="0">
                <a:ea typeface="黑体" panose="02010609060101010101" pitchFamily="49" charset="-122"/>
              </a:rPr>
              <a:t>数据报分片</a:t>
            </a: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488950" y="1989138"/>
          <a:ext cx="9217023" cy="31686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440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45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545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545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545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5459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33730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 </a:t>
                      </a:r>
                      <a:endParaRPr lang="zh-CN" sz="2800" b="1" dirty="0">
                        <a:solidFill>
                          <a:schemeClr val="tx1"/>
                        </a:solidFill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28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总长度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28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标识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MF</a:t>
                      </a:r>
                      <a:endParaRPr lang="zh-CN" sz="2800" b="1" dirty="0">
                        <a:solidFill>
                          <a:schemeClr val="tx1"/>
                        </a:solidFill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DF</a:t>
                      </a:r>
                      <a:endParaRPr lang="zh-CN" sz="2800" b="1" dirty="0">
                        <a:solidFill>
                          <a:schemeClr val="tx1"/>
                        </a:solidFill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28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片偏移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3730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2800" b="1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原始数据报</a:t>
                      </a: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37155" algn="ctr"/>
                          <a:tab pos="5274310" algn="r"/>
                          <a:tab pos="266700" algn="l"/>
                        </a:tabLst>
                      </a:pPr>
                      <a:r>
                        <a:rPr lang="en-US" sz="2800" b="1">
                          <a:solidFill>
                            <a:schemeClr val="tx1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3820</a:t>
                      </a:r>
                      <a:endParaRPr lang="zh-CN" sz="2800" b="1">
                        <a:solidFill>
                          <a:schemeClr val="tx1"/>
                        </a:solidFill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800" b="1">
                          <a:solidFill>
                            <a:schemeClr val="tx1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12345</a:t>
                      </a:r>
                      <a:endParaRPr lang="zh-CN" sz="2800" b="1">
                        <a:solidFill>
                          <a:schemeClr val="tx1"/>
                        </a:solidFill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800" b="1">
                          <a:solidFill>
                            <a:schemeClr val="tx1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0</a:t>
                      </a:r>
                      <a:endParaRPr lang="zh-CN" sz="2800" b="1">
                        <a:solidFill>
                          <a:schemeClr val="tx1"/>
                        </a:solidFill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800" b="1">
                          <a:solidFill>
                            <a:schemeClr val="tx1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0</a:t>
                      </a:r>
                      <a:endParaRPr lang="zh-CN" sz="2800" b="1">
                        <a:solidFill>
                          <a:schemeClr val="tx1"/>
                        </a:solidFill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800" b="1">
                          <a:solidFill>
                            <a:schemeClr val="tx1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0</a:t>
                      </a:r>
                      <a:endParaRPr lang="zh-CN" sz="2800" b="1">
                        <a:solidFill>
                          <a:schemeClr val="tx1"/>
                        </a:solidFill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3730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2800" b="1">
                          <a:solidFill>
                            <a:srgbClr val="C00000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数据报片</a:t>
                      </a:r>
                      <a:r>
                        <a:rPr lang="en-US" sz="2800" b="1">
                          <a:solidFill>
                            <a:srgbClr val="C00000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1</a:t>
                      </a:r>
                      <a:endParaRPr lang="zh-CN" sz="2800" b="1">
                        <a:solidFill>
                          <a:srgbClr val="C00000"/>
                        </a:solidFill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800" b="1">
                          <a:solidFill>
                            <a:schemeClr val="tx1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1420</a:t>
                      </a:r>
                      <a:endParaRPr lang="zh-CN" sz="2800" b="1">
                        <a:solidFill>
                          <a:schemeClr val="tx1"/>
                        </a:solidFill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800" b="1">
                          <a:solidFill>
                            <a:schemeClr val="tx1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12345</a:t>
                      </a:r>
                      <a:endParaRPr lang="zh-CN" sz="2800" b="1">
                        <a:solidFill>
                          <a:schemeClr val="tx1"/>
                        </a:solidFill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1</a:t>
                      </a:r>
                      <a:endParaRPr lang="zh-CN" sz="2800" b="1" dirty="0">
                        <a:solidFill>
                          <a:schemeClr val="tx1"/>
                        </a:solidFill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800" b="1">
                          <a:solidFill>
                            <a:schemeClr val="tx1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0</a:t>
                      </a:r>
                      <a:endParaRPr lang="zh-CN" sz="2800" b="1">
                        <a:solidFill>
                          <a:schemeClr val="tx1"/>
                        </a:solidFill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800" b="1">
                          <a:solidFill>
                            <a:schemeClr val="tx1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0</a:t>
                      </a:r>
                      <a:endParaRPr lang="zh-CN" sz="2800" b="1">
                        <a:solidFill>
                          <a:schemeClr val="tx1"/>
                        </a:solidFill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3730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2800" b="1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数据报片</a:t>
                      </a:r>
                      <a:r>
                        <a:rPr lang="en-US" sz="2800" b="1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2</a:t>
                      </a:r>
                      <a:endParaRPr lang="zh-CN" sz="2800" b="1" dirty="0">
                        <a:solidFill>
                          <a:srgbClr val="C00000"/>
                        </a:solidFill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800" b="1">
                          <a:solidFill>
                            <a:schemeClr val="tx1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1420</a:t>
                      </a:r>
                      <a:endParaRPr lang="zh-CN" sz="2800" b="1">
                        <a:solidFill>
                          <a:schemeClr val="tx1"/>
                        </a:solidFill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800" b="1">
                          <a:solidFill>
                            <a:schemeClr val="tx1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12345</a:t>
                      </a:r>
                      <a:endParaRPr lang="zh-CN" sz="2800" b="1">
                        <a:solidFill>
                          <a:schemeClr val="tx1"/>
                        </a:solidFill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800" b="1">
                          <a:solidFill>
                            <a:schemeClr val="tx1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1</a:t>
                      </a:r>
                      <a:endParaRPr lang="zh-CN" sz="2800" b="1">
                        <a:solidFill>
                          <a:schemeClr val="tx1"/>
                        </a:solidFill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800" b="1">
                          <a:solidFill>
                            <a:schemeClr val="tx1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0</a:t>
                      </a:r>
                      <a:endParaRPr lang="zh-CN" sz="2800" b="1">
                        <a:solidFill>
                          <a:schemeClr val="tx1"/>
                        </a:solidFill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800" b="1">
                          <a:solidFill>
                            <a:schemeClr val="tx1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175</a:t>
                      </a:r>
                      <a:endParaRPr lang="zh-CN" sz="2800" b="1">
                        <a:solidFill>
                          <a:schemeClr val="tx1"/>
                        </a:solidFill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3730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2800" b="1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数据报片</a:t>
                      </a:r>
                      <a:r>
                        <a:rPr lang="en-US" sz="2800" b="1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3</a:t>
                      </a:r>
                      <a:endParaRPr lang="zh-CN" sz="2800" b="1" dirty="0">
                        <a:solidFill>
                          <a:srgbClr val="C00000"/>
                        </a:solidFill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黑体" panose="02010609060101010101" pitchFamily="2" charset="-122"/>
                          <a:cs typeface="+mn-cs"/>
                        </a:rPr>
                        <a:t>1020</a:t>
                      </a:r>
                      <a:endParaRPr lang="zh-CN" sz="28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黑体" panose="02010609060101010101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12345</a:t>
                      </a:r>
                      <a:endParaRPr lang="zh-CN" sz="2800" b="1" dirty="0">
                        <a:solidFill>
                          <a:schemeClr val="tx1"/>
                        </a:solidFill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800" b="1">
                          <a:solidFill>
                            <a:schemeClr val="tx1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0</a:t>
                      </a:r>
                      <a:endParaRPr lang="zh-CN" sz="2800" b="1">
                        <a:solidFill>
                          <a:schemeClr val="tx1"/>
                        </a:solidFill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800" b="1">
                          <a:solidFill>
                            <a:schemeClr val="tx1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0</a:t>
                      </a:r>
                      <a:endParaRPr lang="zh-CN" sz="2800" b="1">
                        <a:solidFill>
                          <a:schemeClr val="tx1"/>
                        </a:solidFill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350</a:t>
                      </a:r>
                      <a:endParaRPr lang="zh-CN" sz="2800" b="1" dirty="0">
                        <a:solidFill>
                          <a:schemeClr val="tx1"/>
                        </a:solidFill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39726" name="Rectangle 1"/>
          <p:cNvSpPr>
            <a:spLocks noChangeArrowheads="1"/>
          </p:cNvSpPr>
          <p:nvPr/>
        </p:nvSpPr>
        <p:spPr bwMode="auto">
          <a:xfrm>
            <a:off x="1354138" y="1455738"/>
            <a:ext cx="756126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eaLnBrk="0" hangingPunct="0"/>
            <a:r>
              <a:rPr lang="en-US" altLang="zh-CN" sz="2400" b="1">
                <a:ea typeface="黑体" panose="02010609060101010101" pitchFamily="49" charset="-122"/>
              </a:rPr>
              <a:t>IP </a:t>
            </a:r>
            <a:r>
              <a:rPr lang="zh-CN" altLang="en-US" sz="2400" b="1">
                <a:ea typeface="黑体" panose="02010609060101010101" pitchFamily="49" charset="-122"/>
              </a:rPr>
              <a:t>数据报首部中与分片有关的字段中的数值</a:t>
            </a:r>
          </a:p>
        </p:txBody>
      </p:sp>
      <p:sp>
        <p:nvSpPr>
          <p:cNvPr id="839727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4EE39DF-7B85-4D97-8950-DDF7BA31A60F}" type="slidenum">
              <a:rPr lang="zh-CN" altLang="en-US" smtClean="0"/>
              <a:pPr eaLnBrk="1" hangingPunct="1"/>
              <a:t>39</a:t>
            </a:fld>
            <a:endParaRPr lang="en-US" altLang="zh-CN" smtClean="0"/>
          </a:p>
        </p:txBody>
      </p:sp>
      <p:sp>
        <p:nvSpPr>
          <p:cNvPr id="839728" name="页脚占位符 7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705" name="Rectangle 45"/>
          <p:cNvSpPr>
            <a:spLocks noChangeArrowheads="1"/>
          </p:cNvSpPr>
          <p:nvPr/>
        </p:nvSpPr>
        <p:spPr bwMode="auto">
          <a:xfrm>
            <a:off x="631825" y="2001838"/>
            <a:ext cx="439738" cy="1196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固</a:t>
            </a:r>
          </a:p>
          <a:p>
            <a:pPr>
              <a:lnSpc>
                <a:spcPct val="90000"/>
              </a:lnSpc>
            </a:pPr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定</a:t>
            </a:r>
          </a:p>
          <a:p>
            <a:pPr>
              <a:lnSpc>
                <a:spcPct val="90000"/>
              </a:lnSpc>
            </a:pPr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部</a:t>
            </a:r>
          </a:p>
          <a:p>
            <a:pPr>
              <a:lnSpc>
                <a:spcPct val="90000"/>
              </a:lnSpc>
            </a:pPr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分</a:t>
            </a:r>
          </a:p>
        </p:txBody>
      </p:sp>
      <p:sp>
        <p:nvSpPr>
          <p:cNvPr id="840706" name="Rectangle 54"/>
          <p:cNvSpPr>
            <a:spLocks noChangeArrowheads="1"/>
          </p:cNvSpPr>
          <p:nvPr/>
        </p:nvSpPr>
        <p:spPr bwMode="auto">
          <a:xfrm>
            <a:off x="508000" y="3657600"/>
            <a:ext cx="695325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可变</a:t>
            </a:r>
          </a:p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部分</a:t>
            </a:r>
          </a:p>
        </p:txBody>
      </p:sp>
      <p:sp>
        <p:nvSpPr>
          <p:cNvPr id="840707" name="Rectangle 8"/>
          <p:cNvSpPr>
            <a:spLocks noChangeArrowheads="1"/>
          </p:cNvSpPr>
          <p:nvPr/>
        </p:nvSpPr>
        <p:spPr bwMode="auto">
          <a:xfrm>
            <a:off x="3351213" y="1600200"/>
            <a:ext cx="2132012" cy="434975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40708" name="Rectangle 10"/>
          <p:cNvSpPr>
            <a:spLocks noChangeArrowheads="1"/>
          </p:cNvSpPr>
          <p:nvPr/>
        </p:nvSpPr>
        <p:spPr bwMode="auto">
          <a:xfrm>
            <a:off x="1231900" y="1590675"/>
            <a:ext cx="8520113" cy="2643188"/>
          </a:xfrm>
          <a:prstGeom prst="rect">
            <a:avLst/>
          </a:prstGeom>
          <a:solidFill>
            <a:srgbClr val="CCE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40709" name="Rectangle 11"/>
          <p:cNvSpPr>
            <a:spLocks noChangeArrowheads="1"/>
          </p:cNvSpPr>
          <p:nvPr/>
        </p:nvSpPr>
        <p:spPr bwMode="auto">
          <a:xfrm>
            <a:off x="1246188" y="4244975"/>
            <a:ext cx="8486775" cy="681038"/>
          </a:xfrm>
          <a:prstGeom prst="rect">
            <a:avLst/>
          </a:prstGeom>
          <a:solidFill>
            <a:srgbClr val="FFFF99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40710" name="Line 12"/>
          <p:cNvSpPr>
            <a:spLocks noChangeShapeType="1"/>
          </p:cNvSpPr>
          <p:nvPr/>
        </p:nvSpPr>
        <p:spPr bwMode="auto">
          <a:xfrm>
            <a:off x="1225550" y="2041525"/>
            <a:ext cx="8535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40711" name="Line 13"/>
          <p:cNvSpPr>
            <a:spLocks noChangeShapeType="1"/>
          </p:cNvSpPr>
          <p:nvPr/>
        </p:nvSpPr>
        <p:spPr bwMode="auto">
          <a:xfrm>
            <a:off x="1225550" y="2484438"/>
            <a:ext cx="8535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40712" name="Line 14"/>
          <p:cNvSpPr>
            <a:spLocks noChangeShapeType="1"/>
          </p:cNvSpPr>
          <p:nvPr/>
        </p:nvSpPr>
        <p:spPr bwMode="auto">
          <a:xfrm>
            <a:off x="1225550" y="2928938"/>
            <a:ext cx="8535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40713" name="Line 15"/>
          <p:cNvSpPr>
            <a:spLocks noChangeShapeType="1"/>
          </p:cNvSpPr>
          <p:nvPr/>
        </p:nvSpPr>
        <p:spPr bwMode="auto">
          <a:xfrm>
            <a:off x="1225550" y="3367088"/>
            <a:ext cx="8535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40714" name="Line 16"/>
          <p:cNvSpPr>
            <a:spLocks noChangeShapeType="1"/>
          </p:cNvSpPr>
          <p:nvPr/>
        </p:nvSpPr>
        <p:spPr bwMode="auto">
          <a:xfrm>
            <a:off x="1225550" y="3811588"/>
            <a:ext cx="8535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40715" name="Line 17"/>
          <p:cNvSpPr>
            <a:spLocks noChangeShapeType="1"/>
          </p:cNvSpPr>
          <p:nvPr/>
        </p:nvSpPr>
        <p:spPr bwMode="auto">
          <a:xfrm>
            <a:off x="2274888" y="1598613"/>
            <a:ext cx="0" cy="4429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40716" name="Line 18"/>
          <p:cNvSpPr>
            <a:spLocks noChangeShapeType="1"/>
          </p:cNvSpPr>
          <p:nvPr/>
        </p:nvSpPr>
        <p:spPr bwMode="auto">
          <a:xfrm>
            <a:off x="3341688" y="1598613"/>
            <a:ext cx="0" cy="4429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40717" name="Line 19"/>
          <p:cNvSpPr>
            <a:spLocks noChangeShapeType="1"/>
          </p:cNvSpPr>
          <p:nvPr/>
        </p:nvSpPr>
        <p:spPr bwMode="auto">
          <a:xfrm>
            <a:off x="3341688" y="2493963"/>
            <a:ext cx="0" cy="431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40718" name="Line 20"/>
          <p:cNvSpPr>
            <a:spLocks noChangeShapeType="1"/>
          </p:cNvSpPr>
          <p:nvPr/>
        </p:nvSpPr>
        <p:spPr bwMode="auto">
          <a:xfrm>
            <a:off x="5478463" y="1598613"/>
            <a:ext cx="0" cy="13271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40719" name="Line 21"/>
          <p:cNvSpPr>
            <a:spLocks noChangeShapeType="1"/>
          </p:cNvSpPr>
          <p:nvPr/>
        </p:nvSpPr>
        <p:spPr bwMode="auto">
          <a:xfrm flipV="1">
            <a:off x="7615238" y="3806825"/>
            <a:ext cx="0" cy="4413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40720" name="Line 22"/>
          <p:cNvSpPr>
            <a:spLocks noChangeShapeType="1"/>
          </p:cNvSpPr>
          <p:nvPr/>
        </p:nvSpPr>
        <p:spPr bwMode="auto">
          <a:xfrm>
            <a:off x="6348413" y="2051050"/>
            <a:ext cx="0" cy="4333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40721" name="Rectangle 23"/>
          <p:cNvSpPr>
            <a:spLocks noChangeArrowheads="1"/>
          </p:cNvSpPr>
          <p:nvPr/>
        </p:nvSpPr>
        <p:spPr bwMode="auto">
          <a:xfrm>
            <a:off x="1169988" y="1211263"/>
            <a:ext cx="3254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0</a:t>
            </a:r>
          </a:p>
        </p:txBody>
      </p:sp>
      <p:sp>
        <p:nvSpPr>
          <p:cNvPr id="840722" name="Rectangle 24"/>
          <p:cNvSpPr>
            <a:spLocks noChangeArrowheads="1"/>
          </p:cNvSpPr>
          <p:nvPr/>
        </p:nvSpPr>
        <p:spPr bwMode="auto">
          <a:xfrm>
            <a:off x="2182813" y="1211263"/>
            <a:ext cx="3254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4</a:t>
            </a:r>
          </a:p>
        </p:txBody>
      </p:sp>
      <p:sp>
        <p:nvSpPr>
          <p:cNvPr id="840723" name="Rectangle 25"/>
          <p:cNvSpPr>
            <a:spLocks noChangeArrowheads="1"/>
          </p:cNvSpPr>
          <p:nvPr/>
        </p:nvSpPr>
        <p:spPr bwMode="auto">
          <a:xfrm>
            <a:off x="3260725" y="1211263"/>
            <a:ext cx="3254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8</a:t>
            </a:r>
          </a:p>
        </p:txBody>
      </p:sp>
      <p:sp>
        <p:nvSpPr>
          <p:cNvPr id="840724" name="Rectangle 26"/>
          <p:cNvSpPr>
            <a:spLocks noChangeArrowheads="1"/>
          </p:cNvSpPr>
          <p:nvPr/>
        </p:nvSpPr>
        <p:spPr bwMode="auto">
          <a:xfrm>
            <a:off x="5373688" y="1211263"/>
            <a:ext cx="4683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16</a:t>
            </a:r>
          </a:p>
        </p:txBody>
      </p:sp>
      <p:sp>
        <p:nvSpPr>
          <p:cNvPr id="840725" name="Rectangle 27"/>
          <p:cNvSpPr>
            <a:spLocks noChangeArrowheads="1"/>
          </p:cNvSpPr>
          <p:nvPr/>
        </p:nvSpPr>
        <p:spPr bwMode="auto">
          <a:xfrm>
            <a:off x="6237288" y="1211263"/>
            <a:ext cx="4683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19</a:t>
            </a:r>
          </a:p>
        </p:txBody>
      </p:sp>
      <p:sp>
        <p:nvSpPr>
          <p:cNvPr id="840726" name="Rectangle 28"/>
          <p:cNvSpPr>
            <a:spLocks noChangeArrowheads="1"/>
          </p:cNvSpPr>
          <p:nvPr/>
        </p:nvSpPr>
        <p:spPr bwMode="auto">
          <a:xfrm>
            <a:off x="7510463" y="1211263"/>
            <a:ext cx="4683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24</a:t>
            </a:r>
          </a:p>
        </p:txBody>
      </p:sp>
      <p:sp>
        <p:nvSpPr>
          <p:cNvPr id="840727" name="Rectangle 29"/>
          <p:cNvSpPr>
            <a:spLocks noChangeArrowheads="1"/>
          </p:cNvSpPr>
          <p:nvPr/>
        </p:nvSpPr>
        <p:spPr bwMode="auto">
          <a:xfrm>
            <a:off x="9366250" y="1211263"/>
            <a:ext cx="4683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31</a:t>
            </a:r>
          </a:p>
        </p:txBody>
      </p:sp>
      <p:sp>
        <p:nvSpPr>
          <p:cNvPr id="840728" name="Rectangle 30"/>
          <p:cNvSpPr>
            <a:spLocks noChangeArrowheads="1"/>
          </p:cNvSpPr>
          <p:nvPr/>
        </p:nvSpPr>
        <p:spPr bwMode="auto">
          <a:xfrm>
            <a:off x="1331913" y="1625600"/>
            <a:ext cx="7683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版 本</a:t>
            </a:r>
          </a:p>
        </p:txBody>
      </p:sp>
      <p:sp>
        <p:nvSpPr>
          <p:cNvPr id="840729" name="Rectangle 31"/>
          <p:cNvSpPr>
            <a:spLocks noChangeArrowheads="1"/>
          </p:cNvSpPr>
          <p:nvPr/>
        </p:nvSpPr>
        <p:spPr bwMode="auto">
          <a:xfrm>
            <a:off x="5543550" y="2101850"/>
            <a:ext cx="6953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标志</a:t>
            </a:r>
          </a:p>
        </p:txBody>
      </p:sp>
      <p:sp>
        <p:nvSpPr>
          <p:cNvPr id="840730" name="Rectangle 32"/>
          <p:cNvSpPr>
            <a:spLocks noChangeArrowheads="1"/>
          </p:cNvSpPr>
          <p:nvPr/>
        </p:nvSpPr>
        <p:spPr bwMode="auto">
          <a:xfrm>
            <a:off x="1544638" y="2506663"/>
            <a:ext cx="14271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生 存 时 间</a:t>
            </a:r>
          </a:p>
        </p:txBody>
      </p:sp>
      <p:sp>
        <p:nvSpPr>
          <p:cNvPr id="840731" name="Rectangle 33"/>
          <p:cNvSpPr>
            <a:spLocks noChangeArrowheads="1"/>
          </p:cNvSpPr>
          <p:nvPr/>
        </p:nvSpPr>
        <p:spPr bwMode="auto">
          <a:xfrm>
            <a:off x="3852863" y="2506663"/>
            <a:ext cx="9810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协    议</a:t>
            </a:r>
          </a:p>
        </p:txBody>
      </p:sp>
      <p:sp>
        <p:nvSpPr>
          <p:cNvPr id="840732" name="Rectangle 34"/>
          <p:cNvSpPr>
            <a:spLocks noChangeArrowheads="1"/>
          </p:cNvSpPr>
          <p:nvPr/>
        </p:nvSpPr>
        <p:spPr bwMode="auto">
          <a:xfrm>
            <a:off x="2784475" y="2101850"/>
            <a:ext cx="9810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标    识</a:t>
            </a:r>
          </a:p>
        </p:txBody>
      </p:sp>
      <p:sp>
        <p:nvSpPr>
          <p:cNvPr id="840733" name="Rectangle 35"/>
          <p:cNvSpPr>
            <a:spLocks noChangeArrowheads="1"/>
          </p:cNvSpPr>
          <p:nvPr/>
        </p:nvSpPr>
        <p:spPr bwMode="auto">
          <a:xfrm>
            <a:off x="3663950" y="1625600"/>
            <a:ext cx="1425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区 分 服 务</a:t>
            </a:r>
          </a:p>
        </p:txBody>
      </p:sp>
      <p:sp>
        <p:nvSpPr>
          <p:cNvPr id="840734" name="Rectangle 36"/>
          <p:cNvSpPr>
            <a:spLocks noChangeArrowheads="1"/>
          </p:cNvSpPr>
          <p:nvPr/>
        </p:nvSpPr>
        <p:spPr bwMode="auto">
          <a:xfrm>
            <a:off x="7050088" y="1625600"/>
            <a:ext cx="13795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总   长   度</a:t>
            </a:r>
          </a:p>
        </p:txBody>
      </p:sp>
      <p:sp>
        <p:nvSpPr>
          <p:cNvPr id="840735" name="Rectangle 37"/>
          <p:cNvSpPr>
            <a:spLocks noChangeArrowheads="1"/>
          </p:cNvSpPr>
          <p:nvPr/>
        </p:nvSpPr>
        <p:spPr bwMode="auto">
          <a:xfrm>
            <a:off x="7343775" y="2101850"/>
            <a:ext cx="13795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片   偏   移</a:t>
            </a:r>
          </a:p>
        </p:txBody>
      </p:sp>
      <p:sp>
        <p:nvSpPr>
          <p:cNvPr id="840736" name="Rectangle 38"/>
          <p:cNvSpPr>
            <a:spLocks noChangeArrowheads="1"/>
          </p:cNvSpPr>
          <p:nvPr/>
        </p:nvSpPr>
        <p:spPr bwMode="auto">
          <a:xfrm>
            <a:off x="8128000" y="3835400"/>
            <a:ext cx="9810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C00000"/>
                </a:solidFill>
                <a:ea typeface="黑体" panose="02010609060101010101" pitchFamily="49" charset="-122"/>
              </a:rPr>
              <a:t>填    充</a:t>
            </a:r>
          </a:p>
        </p:txBody>
      </p:sp>
      <p:sp>
        <p:nvSpPr>
          <p:cNvPr id="840737" name="Rectangle 39"/>
          <p:cNvSpPr>
            <a:spLocks noChangeArrowheads="1"/>
          </p:cNvSpPr>
          <p:nvPr/>
        </p:nvSpPr>
        <p:spPr bwMode="auto">
          <a:xfrm>
            <a:off x="6419850" y="2506663"/>
            <a:ext cx="23193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首   部   检   验   和</a:t>
            </a:r>
          </a:p>
        </p:txBody>
      </p:sp>
      <p:sp>
        <p:nvSpPr>
          <p:cNvPr id="840738" name="Rectangle 40"/>
          <p:cNvSpPr>
            <a:spLocks noChangeArrowheads="1"/>
          </p:cNvSpPr>
          <p:nvPr/>
        </p:nvSpPr>
        <p:spPr bwMode="auto">
          <a:xfrm>
            <a:off x="4784725" y="2965450"/>
            <a:ext cx="13795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源   地   址</a:t>
            </a:r>
          </a:p>
        </p:txBody>
      </p:sp>
      <p:sp>
        <p:nvSpPr>
          <p:cNvPr id="840739" name="Rectangle 41"/>
          <p:cNvSpPr>
            <a:spLocks noChangeArrowheads="1"/>
          </p:cNvSpPr>
          <p:nvPr/>
        </p:nvSpPr>
        <p:spPr bwMode="auto">
          <a:xfrm>
            <a:off x="4506913" y="3406775"/>
            <a:ext cx="18510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目   的   地   址</a:t>
            </a:r>
          </a:p>
        </p:txBody>
      </p:sp>
      <p:sp>
        <p:nvSpPr>
          <p:cNvPr id="840740" name="Rectangle 42"/>
          <p:cNvSpPr>
            <a:spLocks noChangeArrowheads="1"/>
          </p:cNvSpPr>
          <p:nvPr/>
        </p:nvSpPr>
        <p:spPr bwMode="auto">
          <a:xfrm>
            <a:off x="2414588" y="3835400"/>
            <a:ext cx="41735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C00000"/>
                </a:solidFill>
                <a:ea typeface="黑体" panose="02010609060101010101" pitchFamily="49" charset="-122"/>
              </a:rPr>
              <a:t>可   选   字   段  （长   度   可   变）</a:t>
            </a:r>
          </a:p>
        </p:txBody>
      </p:sp>
      <p:sp>
        <p:nvSpPr>
          <p:cNvPr id="840741" name="Rectangle 43"/>
          <p:cNvSpPr>
            <a:spLocks noChangeArrowheads="1"/>
          </p:cNvSpPr>
          <p:nvPr/>
        </p:nvSpPr>
        <p:spPr bwMode="auto">
          <a:xfrm>
            <a:off x="658813" y="1196975"/>
            <a:ext cx="4397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位</a:t>
            </a:r>
          </a:p>
        </p:txBody>
      </p:sp>
      <p:sp>
        <p:nvSpPr>
          <p:cNvPr id="840742" name="Rectangle 44"/>
          <p:cNvSpPr>
            <a:spLocks noChangeArrowheads="1"/>
          </p:cNvSpPr>
          <p:nvPr/>
        </p:nvSpPr>
        <p:spPr bwMode="auto">
          <a:xfrm>
            <a:off x="2170113" y="1606550"/>
            <a:ext cx="12096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首部长度</a:t>
            </a:r>
          </a:p>
        </p:txBody>
      </p:sp>
      <p:grpSp>
        <p:nvGrpSpPr>
          <p:cNvPr id="840743" name="Group 46"/>
          <p:cNvGrpSpPr>
            <a:grpSpLocks/>
          </p:cNvGrpSpPr>
          <p:nvPr/>
        </p:nvGrpSpPr>
        <p:grpSpPr bwMode="auto">
          <a:xfrm>
            <a:off x="1158875" y="3976688"/>
            <a:ext cx="142875" cy="69850"/>
            <a:chOff x="833" y="3024"/>
            <a:chExt cx="78" cy="51"/>
          </a:xfrm>
        </p:grpSpPr>
        <p:sp>
          <p:nvSpPr>
            <p:cNvPr id="840744" name="Rectangle 47"/>
            <p:cNvSpPr>
              <a:spLocks noChangeArrowheads="1"/>
            </p:cNvSpPr>
            <p:nvPr/>
          </p:nvSpPr>
          <p:spPr bwMode="auto">
            <a:xfrm>
              <a:off x="833" y="3024"/>
              <a:ext cx="78" cy="5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40745" name="Line 48"/>
            <p:cNvSpPr>
              <a:spLocks noChangeShapeType="1"/>
            </p:cNvSpPr>
            <p:nvPr/>
          </p:nvSpPr>
          <p:spPr bwMode="auto">
            <a:xfrm>
              <a:off x="839" y="3030"/>
              <a:ext cx="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40746" name="Line 49"/>
            <p:cNvSpPr>
              <a:spLocks noChangeShapeType="1"/>
            </p:cNvSpPr>
            <p:nvPr/>
          </p:nvSpPr>
          <p:spPr bwMode="auto">
            <a:xfrm>
              <a:off x="839" y="3075"/>
              <a:ext cx="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</p:grpSp>
      <p:grpSp>
        <p:nvGrpSpPr>
          <p:cNvPr id="840747" name="Group 50"/>
          <p:cNvGrpSpPr>
            <a:grpSpLocks/>
          </p:cNvGrpSpPr>
          <p:nvPr/>
        </p:nvGrpSpPr>
        <p:grpSpPr bwMode="auto">
          <a:xfrm>
            <a:off x="9682163" y="3986213"/>
            <a:ext cx="142875" cy="66675"/>
            <a:chOff x="5432" y="3030"/>
            <a:chExt cx="78" cy="51"/>
          </a:xfrm>
        </p:grpSpPr>
        <p:sp>
          <p:nvSpPr>
            <p:cNvPr id="840748" name="Rectangle 51"/>
            <p:cNvSpPr>
              <a:spLocks noChangeArrowheads="1"/>
            </p:cNvSpPr>
            <p:nvPr/>
          </p:nvSpPr>
          <p:spPr bwMode="auto">
            <a:xfrm>
              <a:off x="5432" y="3030"/>
              <a:ext cx="78" cy="5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40749" name="Line 52"/>
            <p:cNvSpPr>
              <a:spLocks noChangeShapeType="1"/>
            </p:cNvSpPr>
            <p:nvPr/>
          </p:nvSpPr>
          <p:spPr bwMode="auto">
            <a:xfrm>
              <a:off x="5438" y="3036"/>
              <a:ext cx="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40750" name="Line 53"/>
            <p:cNvSpPr>
              <a:spLocks noChangeShapeType="1"/>
            </p:cNvSpPr>
            <p:nvPr/>
          </p:nvSpPr>
          <p:spPr bwMode="auto">
            <a:xfrm>
              <a:off x="5438" y="3081"/>
              <a:ext cx="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</p:grpSp>
      <p:sp>
        <p:nvSpPr>
          <p:cNvPr id="840751" name="Rectangle 75"/>
          <p:cNvSpPr>
            <a:spLocks noChangeArrowheads="1"/>
          </p:cNvSpPr>
          <p:nvPr/>
        </p:nvSpPr>
        <p:spPr bwMode="auto">
          <a:xfrm>
            <a:off x="4129088" y="4378325"/>
            <a:ext cx="31511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数       据       部       分</a:t>
            </a:r>
          </a:p>
        </p:txBody>
      </p:sp>
      <p:grpSp>
        <p:nvGrpSpPr>
          <p:cNvPr id="840752" name="Group 94"/>
          <p:cNvGrpSpPr>
            <a:grpSpLocks/>
          </p:cNvGrpSpPr>
          <p:nvPr/>
        </p:nvGrpSpPr>
        <p:grpSpPr bwMode="auto">
          <a:xfrm>
            <a:off x="266700" y="1570038"/>
            <a:ext cx="438150" cy="2663825"/>
            <a:chOff x="111" y="845"/>
            <a:chExt cx="255" cy="1678"/>
          </a:xfrm>
        </p:grpSpPr>
        <p:sp>
          <p:nvSpPr>
            <p:cNvPr id="840753" name="Line 89"/>
            <p:cNvSpPr>
              <a:spLocks noChangeShapeType="1"/>
            </p:cNvSpPr>
            <p:nvPr/>
          </p:nvSpPr>
          <p:spPr bwMode="auto">
            <a:xfrm>
              <a:off x="249" y="845"/>
              <a:ext cx="0" cy="167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40754" name="Rectangle 78"/>
            <p:cNvSpPr>
              <a:spLocks noChangeArrowheads="1"/>
            </p:cNvSpPr>
            <p:nvPr/>
          </p:nvSpPr>
          <p:spPr bwMode="auto">
            <a:xfrm>
              <a:off x="111" y="1389"/>
              <a:ext cx="255" cy="4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首</a:t>
              </a:r>
            </a:p>
            <a:p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部</a:t>
              </a:r>
            </a:p>
          </p:txBody>
        </p:sp>
      </p:grpSp>
      <p:sp>
        <p:nvSpPr>
          <p:cNvPr id="840755" name="AutoShape 97"/>
          <p:cNvSpPr>
            <a:spLocks/>
          </p:cNvSpPr>
          <p:nvPr/>
        </p:nvSpPr>
        <p:spPr bwMode="auto">
          <a:xfrm>
            <a:off x="998538" y="1641475"/>
            <a:ext cx="180975" cy="2160588"/>
          </a:xfrm>
          <a:prstGeom prst="leftBrace">
            <a:avLst>
              <a:gd name="adj1" fmla="val 107779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grpSp>
        <p:nvGrpSpPr>
          <p:cNvPr id="57" name="组合 56"/>
          <p:cNvGrpSpPr>
            <a:grpSpLocks/>
          </p:cNvGrpSpPr>
          <p:nvPr/>
        </p:nvGrpSpPr>
        <p:grpSpPr bwMode="auto">
          <a:xfrm>
            <a:off x="1144588" y="2466975"/>
            <a:ext cx="6932612" cy="3494088"/>
            <a:chOff x="1144243" y="2238376"/>
            <a:chExt cx="6932988" cy="3494880"/>
          </a:xfrm>
        </p:grpSpPr>
        <p:sp>
          <p:nvSpPr>
            <p:cNvPr id="840757" name="Text Box 74"/>
            <p:cNvSpPr txBox="1">
              <a:spLocks noChangeArrowheads="1"/>
            </p:cNvSpPr>
            <p:nvPr/>
          </p:nvSpPr>
          <p:spPr bwMode="auto">
            <a:xfrm>
              <a:off x="1144243" y="4902259"/>
              <a:ext cx="6932988" cy="830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zh-CN" altLang="en-US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生存时间</a:t>
              </a:r>
              <a:r>
                <a:rPr lang="en-US" altLang="zh-CN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——</a:t>
              </a:r>
              <a:r>
                <a:rPr lang="zh-CN" altLang="en-US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占</a:t>
              </a:r>
              <a:r>
                <a:rPr lang="en-US" altLang="zh-CN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8 </a:t>
              </a:r>
              <a:r>
                <a:rPr lang="zh-CN" altLang="en-US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位，记为 </a:t>
              </a:r>
              <a:r>
                <a:rPr lang="en-US" altLang="zh-CN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TTL (Time To Live)</a:t>
              </a:r>
              <a:r>
                <a:rPr lang="zh-CN" altLang="en-US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，</a:t>
              </a:r>
              <a:endParaRPr lang="en-US" altLang="zh-CN" sz="2400" b="1">
                <a:solidFill>
                  <a:srgbClr val="0000CC"/>
                </a:solidFill>
                <a:ea typeface="黑体" panose="02010609060101010101" pitchFamily="49" charset="-122"/>
              </a:endParaRPr>
            </a:p>
            <a:p>
              <a:pPr algn="ctr" eaLnBrk="0" hangingPunct="0"/>
              <a:r>
                <a:rPr lang="zh-CN" altLang="en-US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指示数据报在网络中可通过的路由器数的最大值。</a:t>
              </a:r>
            </a:p>
          </p:txBody>
        </p:sp>
        <p:sp>
          <p:nvSpPr>
            <p:cNvPr id="840758" name="Rectangle 75"/>
            <p:cNvSpPr>
              <a:spLocks noChangeArrowheads="1"/>
            </p:cNvSpPr>
            <p:nvPr/>
          </p:nvSpPr>
          <p:spPr bwMode="auto">
            <a:xfrm>
              <a:off x="1209014" y="2238376"/>
              <a:ext cx="2117063" cy="481013"/>
            </a:xfrm>
            <a:prstGeom prst="rect">
              <a:avLst/>
            </a:prstGeom>
            <a:noFill/>
            <a:ln w="762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>
                <a:ea typeface="宋体" panose="02010600030101010101" pitchFamily="2" charset="-122"/>
              </a:endParaRPr>
            </a:p>
          </p:txBody>
        </p:sp>
      </p:grpSp>
      <p:sp>
        <p:nvSpPr>
          <p:cNvPr id="840759" name="标题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smtClean="0">
                <a:ea typeface="黑体" panose="02010609060101010101" pitchFamily="49" charset="-122"/>
              </a:rPr>
              <a:t>1.  IP </a:t>
            </a:r>
            <a:r>
              <a:rPr lang="zh-CN" altLang="en-US" sz="3600" smtClean="0">
                <a:ea typeface="黑体" panose="02010609060101010101" pitchFamily="49" charset="-122"/>
              </a:rPr>
              <a:t>数据报首部的固定部分中的各字段 </a:t>
            </a:r>
          </a:p>
        </p:txBody>
      </p:sp>
      <p:sp>
        <p:nvSpPr>
          <p:cNvPr id="840760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7F87DA8-E4F6-40FA-9193-5A260853AE19}" type="slidenum">
              <a:rPr lang="zh-CN" altLang="en-US" smtClean="0"/>
              <a:pPr eaLnBrk="1" hangingPunct="1"/>
              <a:t>40</a:t>
            </a:fld>
            <a:endParaRPr lang="en-US" altLang="zh-CN" smtClean="0"/>
          </a:p>
        </p:txBody>
      </p:sp>
      <p:sp>
        <p:nvSpPr>
          <p:cNvPr id="840761" name="页脚占位符 5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4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753" name="Rectangle 45"/>
          <p:cNvSpPr>
            <a:spLocks noChangeArrowheads="1"/>
          </p:cNvSpPr>
          <p:nvPr/>
        </p:nvSpPr>
        <p:spPr bwMode="auto">
          <a:xfrm>
            <a:off x="631825" y="2012950"/>
            <a:ext cx="439738" cy="1198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固</a:t>
            </a:r>
          </a:p>
          <a:p>
            <a:pPr>
              <a:lnSpc>
                <a:spcPct val="90000"/>
              </a:lnSpc>
            </a:pPr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定</a:t>
            </a:r>
          </a:p>
          <a:p>
            <a:pPr>
              <a:lnSpc>
                <a:spcPct val="90000"/>
              </a:lnSpc>
            </a:pPr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部</a:t>
            </a:r>
          </a:p>
          <a:p>
            <a:pPr>
              <a:lnSpc>
                <a:spcPct val="90000"/>
              </a:lnSpc>
            </a:pPr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分</a:t>
            </a:r>
          </a:p>
        </p:txBody>
      </p:sp>
      <p:sp>
        <p:nvSpPr>
          <p:cNvPr id="842754" name="Rectangle 54"/>
          <p:cNvSpPr>
            <a:spLocks noChangeArrowheads="1"/>
          </p:cNvSpPr>
          <p:nvPr/>
        </p:nvSpPr>
        <p:spPr bwMode="auto">
          <a:xfrm>
            <a:off x="508000" y="3668713"/>
            <a:ext cx="695325" cy="706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可变</a:t>
            </a:r>
          </a:p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部分</a:t>
            </a:r>
          </a:p>
        </p:txBody>
      </p:sp>
      <p:sp>
        <p:nvSpPr>
          <p:cNvPr id="842755" name="Rectangle 8"/>
          <p:cNvSpPr>
            <a:spLocks noChangeArrowheads="1"/>
          </p:cNvSpPr>
          <p:nvPr/>
        </p:nvSpPr>
        <p:spPr bwMode="auto">
          <a:xfrm>
            <a:off x="3351213" y="1611313"/>
            <a:ext cx="2132012" cy="434975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42756" name="Rectangle 10"/>
          <p:cNvSpPr>
            <a:spLocks noChangeArrowheads="1"/>
          </p:cNvSpPr>
          <p:nvPr/>
        </p:nvSpPr>
        <p:spPr bwMode="auto">
          <a:xfrm>
            <a:off x="1231900" y="1601788"/>
            <a:ext cx="8520113" cy="2643187"/>
          </a:xfrm>
          <a:prstGeom prst="rect">
            <a:avLst/>
          </a:prstGeom>
          <a:solidFill>
            <a:srgbClr val="CCE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42757" name="Rectangle 11"/>
          <p:cNvSpPr>
            <a:spLocks noChangeArrowheads="1"/>
          </p:cNvSpPr>
          <p:nvPr/>
        </p:nvSpPr>
        <p:spPr bwMode="auto">
          <a:xfrm>
            <a:off x="1246188" y="4256088"/>
            <a:ext cx="8486775" cy="681037"/>
          </a:xfrm>
          <a:prstGeom prst="rect">
            <a:avLst/>
          </a:prstGeom>
          <a:solidFill>
            <a:srgbClr val="FFFF99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42758" name="Line 12"/>
          <p:cNvSpPr>
            <a:spLocks noChangeShapeType="1"/>
          </p:cNvSpPr>
          <p:nvPr/>
        </p:nvSpPr>
        <p:spPr bwMode="auto">
          <a:xfrm>
            <a:off x="1225550" y="2052638"/>
            <a:ext cx="8535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42759" name="Line 13"/>
          <p:cNvSpPr>
            <a:spLocks noChangeShapeType="1"/>
          </p:cNvSpPr>
          <p:nvPr/>
        </p:nvSpPr>
        <p:spPr bwMode="auto">
          <a:xfrm>
            <a:off x="1225550" y="2495550"/>
            <a:ext cx="8535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42760" name="Line 14"/>
          <p:cNvSpPr>
            <a:spLocks noChangeShapeType="1"/>
          </p:cNvSpPr>
          <p:nvPr/>
        </p:nvSpPr>
        <p:spPr bwMode="auto">
          <a:xfrm>
            <a:off x="1225550" y="2940050"/>
            <a:ext cx="8535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42761" name="Line 15"/>
          <p:cNvSpPr>
            <a:spLocks noChangeShapeType="1"/>
          </p:cNvSpPr>
          <p:nvPr/>
        </p:nvSpPr>
        <p:spPr bwMode="auto">
          <a:xfrm>
            <a:off x="1225550" y="3378200"/>
            <a:ext cx="8535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42762" name="Line 16"/>
          <p:cNvSpPr>
            <a:spLocks noChangeShapeType="1"/>
          </p:cNvSpPr>
          <p:nvPr/>
        </p:nvSpPr>
        <p:spPr bwMode="auto">
          <a:xfrm>
            <a:off x="1225550" y="3822700"/>
            <a:ext cx="8535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42763" name="Line 17"/>
          <p:cNvSpPr>
            <a:spLocks noChangeShapeType="1"/>
          </p:cNvSpPr>
          <p:nvPr/>
        </p:nvSpPr>
        <p:spPr bwMode="auto">
          <a:xfrm>
            <a:off x="2274888" y="1609725"/>
            <a:ext cx="0" cy="4429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42764" name="Line 18"/>
          <p:cNvSpPr>
            <a:spLocks noChangeShapeType="1"/>
          </p:cNvSpPr>
          <p:nvPr/>
        </p:nvSpPr>
        <p:spPr bwMode="auto">
          <a:xfrm>
            <a:off x="3341688" y="1609725"/>
            <a:ext cx="0" cy="4429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42765" name="Line 19"/>
          <p:cNvSpPr>
            <a:spLocks noChangeShapeType="1"/>
          </p:cNvSpPr>
          <p:nvPr/>
        </p:nvSpPr>
        <p:spPr bwMode="auto">
          <a:xfrm>
            <a:off x="3341688" y="2505075"/>
            <a:ext cx="0" cy="431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42766" name="Line 20"/>
          <p:cNvSpPr>
            <a:spLocks noChangeShapeType="1"/>
          </p:cNvSpPr>
          <p:nvPr/>
        </p:nvSpPr>
        <p:spPr bwMode="auto">
          <a:xfrm>
            <a:off x="5478463" y="1609725"/>
            <a:ext cx="0" cy="13271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42767" name="Line 21"/>
          <p:cNvSpPr>
            <a:spLocks noChangeShapeType="1"/>
          </p:cNvSpPr>
          <p:nvPr/>
        </p:nvSpPr>
        <p:spPr bwMode="auto">
          <a:xfrm flipV="1">
            <a:off x="7615238" y="3817938"/>
            <a:ext cx="0" cy="4413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42768" name="Line 22"/>
          <p:cNvSpPr>
            <a:spLocks noChangeShapeType="1"/>
          </p:cNvSpPr>
          <p:nvPr/>
        </p:nvSpPr>
        <p:spPr bwMode="auto">
          <a:xfrm>
            <a:off x="6348413" y="2062163"/>
            <a:ext cx="0" cy="4333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42769" name="Rectangle 23"/>
          <p:cNvSpPr>
            <a:spLocks noChangeArrowheads="1"/>
          </p:cNvSpPr>
          <p:nvPr/>
        </p:nvSpPr>
        <p:spPr bwMode="auto">
          <a:xfrm>
            <a:off x="1169988" y="1222375"/>
            <a:ext cx="325437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0</a:t>
            </a:r>
          </a:p>
        </p:txBody>
      </p:sp>
      <p:sp>
        <p:nvSpPr>
          <p:cNvPr id="842770" name="Rectangle 24"/>
          <p:cNvSpPr>
            <a:spLocks noChangeArrowheads="1"/>
          </p:cNvSpPr>
          <p:nvPr/>
        </p:nvSpPr>
        <p:spPr bwMode="auto">
          <a:xfrm>
            <a:off x="2182813" y="1222375"/>
            <a:ext cx="325437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4</a:t>
            </a:r>
          </a:p>
        </p:txBody>
      </p:sp>
      <p:sp>
        <p:nvSpPr>
          <p:cNvPr id="842771" name="Rectangle 25"/>
          <p:cNvSpPr>
            <a:spLocks noChangeArrowheads="1"/>
          </p:cNvSpPr>
          <p:nvPr/>
        </p:nvSpPr>
        <p:spPr bwMode="auto">
          <a:xfrm>
            <a:off x="3260725" y="1222375"/>
            <a:ext cx="325438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8</a:t>
            </a:r>
          </a:p>
        </p:txBody>
      </p:sp>
      <p:sp>
        <p:nvSpPr>
          <p:cNvPr id="842772" name="Rectangle 26"/>
          <p:cNvSpPr>
            <a:spLocks noChangeArrowheads="1"/>
          </p:cNvSpPr>
          <p:nvPr/>
        </p:nvSpPr>
        <p:spPr bwMode="auto">
          <a:xfrm>
            <a:off x="5373688" y="1222375"/>
            <a:ext cx="468312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16</a:t>
            </a:r>
          </a:p>
        </p:txBody>
      </p:sp>
      <p:sp>
        <p:nvSpPr>
          <p:cNvPr id="842773" name="Rectangle 27"/>
          <p:cNvSpPr>
            <a:spLocks noChangeArrowheads="1"/>
          </p:cNvSpPr>
          <p:nvPr/>
        </p:nvSpPr>
        <p:spPr bwMode="auto">
          <a:xfrm>
            <a:off x="6237288" y="1222375"/>
            <a:ext cx="468312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19</a:t>
            </a:r>
          </a:p>
        </p:txBody>
      </p:sp>
      <p:sp>
        <p:nvSpPr>
          <p:cNvPr id="842774" name="Rectangle 28"/>
          <p:cNvSpPr>
            <a:spLocks noChangeArrowheads="1"/>
          </p:cNvSpPr>
          <p:nvPr/>
        </p:nvSpPr>
        <p:spPr bwMode="auto">
          <a:xfrm>
            <a:off x="7510463" y="1222375"/>
            <a:ext cx="468312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24</a:t>
            </a:r>
          </a:p>
        </p:txBody>
      </p:sp>
      <p:sp>
        <p:nvSpPr>
          <p:cNvPr id="842775" name="Rectangle 29"/>
          <p:cNvSpPr>
            <a:spLocks noChangeArrowheads="1"/>
          </p:cNvSpPr>
          <p:nvPr/>
        </p:nvSpPr>
        <p:spPr bwMode="auto">
          <a:xfrm>
            <a:off x="9366250" y="1222375"/>
            <a:ext cx="468313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31</a:t>
            </a:r>
          </a:p>
        </p:txBody>
      </p:sp>
      <p:sp>
        <p:nvSpPr>
          <p:cNvPr id="842776" name="Rectangle 30"/>
          <p:cNvSpPr>
            <a:spLocks noChangeArrowheads="1"/>
          </p:cNvSpPr>
          <p:nvPr/>
        </p:nvSpPr>
        <p:spPr bwMode="auto">
          <a:xfrm>
            <a:off x="1331913" y="1636713"/>
            <a:ext cx="768350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版 本</a:t>
            </a:r>
          </a:p>
        </p:txBody>
      </p:sp>
      <p:sp>
        <p:nvSpPr>
          <p:cNvPr id="842777" name="Rectangle 31"/>
          <p:cNvSpPr>
            <a:spLocks noChangeArrowheads="1"/>
          </p:cNvSpPr>
          <p:nvPr/>
        </p:nvSpPr>
        <p:spPr bwMode="auto">
          <a:xfrm>
            <a:off x="5543550" y="2112963"/>
            <a:ext cx="695325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标志</a:t>
            </a:r>
          </a:p>
        </p:txBody>
      </p:sp>
      <p:sp>
        <p:nvSpPr>
          <p:cNvPr id="842778" name="Rectangle 32"/>
          <p:cNvSpPr>
            <a:spLocks noChangeArrowheads="1"/>
          </p:cNvSpPr>
          <p:nvPr/>
        </p:nvSpPr>
        <p:spPr bwMode="auto">
          <a:xfrm>
            <a:off x="1544638" y="2517775"/>
            <a:ext cx="1427162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生 存 时 间</a:t>
            </a:r>
          </a:p>
        </p:txBody>
      </p:sp>
      <p:sp>
        <p:nvSpPr>
          <p:cNvPr id="842779" name="Rectangle 33"/>
          <p:cNvSpPr>
            <a:spLocks noChangeArrowheads="1"/>
          </p:cNvSpPr>
          <p:nvPr/>
        </p:nvSpPr>
        <p:spPr bwMode="auto">
          <a:xfrm>
            <a:off x="3852863" y="2517775"/>
            <a:ext cx="981075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协    议</a:t>
            </a:r>
          </a:p>
        </p:txBody>
      </p:sp>
      <p:sp>
        <p:nvSpPr>
          <p:cNvPr id="842780" name="Rectangle 34"/>
          <p:cNvSpPr>
            <a:spLocks noChangeArrowheads="1"/>
          </p:cNvSpPr>
          <p:nvPr/>
        </p:nvSpPr>
        <p:spPr bwMode="auto">
          <a:xfrm>
            <a:off x="2784475" y="2112963"/>
            <a:ext cx="981075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标    识</a:t>
            </a:r>
          </a:p>
        </p:txBody>
      </p:sp>
      <p:sp>
        <p:nvSpPr>
          <p:cNvPr id="842781" name="Rectangle 35"/>
          <p:cNvSpPr>
            <a:spLocks noChangeArrowheads="1"/>
          </p:cNvSpPr>
          <p:nvPr/>
        </p:nvSpPr>
        <p:spPr bwMode="auto">
          <a:xfrm>
            <a:off x="3663950" y="1636713"/>
            <a:ext cx="1425575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区 分 服 务</a:t>
            </a:r>
          </a:p>
        </p:txBody>
      </p:sp>
      <p:sp>
        <p:nvSpPr>
          <p:cNvPr id="842782" name="Rectangle 36"/>
          <p:cNvSpPr>
            <a:spLocks noChangeArrowheads="1"/>
          </p:cNvSpPr>
          <p:nvPr/>
        </p:nvSpPr>
        <p:spPr bwMode="auto">
          <a:xfrm>
            <a:off x="7050088" y="1636713"/>
            <a:ext cx="1379537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总   长   度</a:t>
            </a:r>
          </a:p>
        </p:txBody>
      </p:sp>
      <p:sp>
        <p:nvSpPr>
          <p:cNvPr id="842783" name="Rectangle 37"/>
          <p:cNvSpPr>
            <a:spLocks noChangeArrowheads="1"/>
          </p:cNvSpPr>
          <p:nvPr/>
        </p:nvSpPr>
        <p:spPr bwMode="auto">
          <a:xfrm>
            <a:off x="7343775" y="2112963"/>
            <a:ext cx="1379538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片   偏   移</a:t>
            </a:r>
          </a:p>
        </p:txBody>
      </p:sp>
      <p:sp>
        <p:nvSpPr>
          <p:cNvPr id="842784" name="Rectangle 38"/>
          <p:cNvSpPr>
            <a:spLocks noChangeArrowheads="1"/>
          </p:cNvSpPr>
          <p:nvPr/>
        </p:nvSpPr>
        <p:spPr bwMode="auto">
          <a:xfrm>
            <a:off x="8128000" y="3846513"/>
            <a:ext cx="981075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C00000"/>
                </a:solidFill>
                <a:ea typeface="黑体" panose="02010609060101010101" pitchFamily="49" charset="-122"/>
              </a:rPr>
              <a:t>填    充</a:t>
            </a:r>
          </a:p>
        </p:txBody>
      </p:sp>
      <p:sp>
        <p:nvSpPr>
          <p:cNvPr id="842785" name="Rectangle 39"/>
          <p:cNvSpPr>
            <a:spLocks noChangeArrowheads="1"/>
          </p:cNvSpPr>
          <p:nvPr/>
        </p:nvSpPr>
        <p:spPr bwMode="auto">
          <a:xfrm>
            <a:off x="6419850" y="2517775"/>
            <a:ext cx="2319338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首   部   检   验   和</a:t>
            </a:r>
          </a:p>
        </p:txBody>
      </p:sp>
      <p:sp>
        <p:nvSpPr>
          <p:cNvPr id="842786" name="Rectangle 40"/>
          <p:cNvSpPr>
            <a:spLocks noChangeArrowheads="1"/>
          </p:cNvSpPr>
          <p:nvPr/>
        </p:nvSpPr>
        <p:spPr bwMode="auto">
          <a:xfrm>
            <a:off x="4784725" y="2976563"/>
            <a:ext cx="1379538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源   地   址</a:t>
            </a:r>
          </a:p>
        </p:txBody>
      </p:sp>
      <p:sp>
        <p:nvSpPr>
          <p:cNvPr id="842787" name="Rectangle 41"/>
          <p:cNvSpPr>
            <a:spLocks noChangeArrowheads="1"/>
          </p:cNvSpPr>
          <p:nvPr/>
        </p:nvSpPr>
        <p:spPr bwMode="auto">
          <a:xfrm>
            <a:off x="4506913" y="3417888"/>
            <a:ext cx="1851025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目   的   地   址</a:t>
            </a:r>
          </a:p>
        </p:txBody>
      </p:sp>
      <p:sp>
        <p:nvSpPr>
          <p:cNvPr id="842788" name="Rectangle 42"/>
          <p:cNvSpPr>
            <a:spLocks noChangeArrowheads="1"/>
          </p:cNvSpPr>
          <p:nvPr/>
        </p:nvSpPr>
        <p:spPr bwMode="auto">
          <a:xfrm>
            <a:off x="2414588" y="3846513"/>
            <a:ext cx="4173537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C00000"/>
                </a:solidFill>
                <a:ea typeface="黑体" panose="02010609060101010101" pitchFamily="49" charset="-122"/>
              </a:rPr>
              <a:t>可   选   字   段  （长   度   可   变）</a:t>
            </a:r>
          </a:p>
        </p:txBody>
      </p:sp>
      <p:sp>
        <p:nvSpPr>
          <p:cNvPr id="842789" name="Rectangle 43"/>
          <p:cNvSpPr>
            <a:spLocks noChangeArrowheads="1"/>
          </p:cNvSpPr>
          <p:nvPr/>
        </p:nvSpPr>
        <p:spPr bwMode="auto">
          <a:xfrm>
            <a:off x="658813" y="1208088"/>
            <a:ext cx="439737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位</a:t>
            </a:r>
          </a:p>
        </p:txBody>
      </p:sp>
      <p:sp>
        <p:nvSpPr>
          <p:cNvPr id="842790" name="Rectangle 44"/>
          <p:cNvSpPr>
            <a:spLocks noChangeArrowheads="1"/>
          </p:cNvSpPr>
          <p:nvPr/>
        </p:nvSpPr>
        <p:spPr bwMode="auto">
          <a:xfrm>
            <a:off x="2170113" y="1617663"/>
            <a:ext cx="1209675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首部长度</a:t>
            </a:r>
          </a:p>
        </p:txBody>
      </p:sp>
      <p:grpSp>
        <p:nvGrpSpPr>
          <p:cNvPr id="842791" name="Group 46"/>
          <p:cNvGrpSpPr>
            <a:grpSpLocks/>
          </p:cNvGrpSpPr>
          <p:nvPr/>
        </p:nvGrpSpPr>
        <p:grpSpPr bwMode="auto">
          <a:xfrm>
            <a:off x="1158875" y="3987800"/>
            <a:ext cx="142875" cy="69850"/>
            <a:chOff x="833" y="3024"/>
            <a:chExt cx="78" cy="51"/>
          </a:xfrm>
        </p:grpSpPr>
        <p:sp>
          <p:nvSpPr>
            <p:cNvPr id="842792" name="Rectangle 47"/>
            <p:cNvSpPr>
              <a:spLocks noChangeArrowheads="1"/>
            </p:cNvSpPr>
            <p:nvPr/>
          </p:nvSpPr>
          <p:spPr bwMode="auto">
            <a:xfrm>
              <a:off x="833" y="3024"/>
              <a:ext cx="78" cy="5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42793" name="Line 48"/>
            <p:cNvSpPr>
              <a:spLocks noChangeShapeType="1"/>
            </p:cNvSpPr>
            <p:nvPr/>
          </p:nvSpPr>
          <p:spPr bwMode="auto">
            <a:xfrm>
              <a:off x="839" y="3030"/>
              <a:ext cx="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42794" name="Line 49"/>
            <p:cNvSpPr>
              <a:spLocks noChangeShapeType="1"/>
            </p:cNvSpPr>
            <p:nvPr/>
          </p:nvSpPr>
          <p:spPr bwMode="auto">
            <a:xfrm>
              <a:off x="839" y="3075"/>
              <a:ext cx="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</p:grpSp>
      <p:grpSp>
        <p:nvGrpSpPr>
          <p:cNvPr id="842795" name="Group 50"/>
          <p:cNvGrpSpPr>
            <a:grpSpLocks/>
          </p:cNvGrpSpPr>
          <p:nvPr/>
        </p:nvGrpSpPr>
        <p:grpSpPr bwMode="auto">
          <a:xfrm>
            <a:off x="9682163" y="3997325"/>
            <a:ext cx="142875" cy="66675"/>
            <a:chOff x="5432" y="3030"/>
            <a:chExt cx="78" cy="51"/>
          </a:xfrm>
        </p:grpSpPr>
        <p:sp>
          <p:nvSpPr>
            <p:cNvPr id="842796" name="Rectangle 51"/>
            <p:cNvSpPr>
              <a:spLocks noChangeArrowheads="1"/>
            </p:cNvSpPr>
            <p:nvPr/>
          </p:nvSpPr>
          <p:spPr bwMode="auto">
            <a:xfrm>
              <a:off x="5432" y="3030"/>
              <a:ext cx="78" cy="5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42797" name="Line 52"/>
            <p:cNvSpPr>
              <a:spLocks noChangeShapeType="1"/>
            </p:cNvSpPr>
            <p:nvPr/>
          </p:nvSpPr>
          <p:spPr bwMode="auto">
            <a:xfrm>
              <a:off x="5438" y="3036"/>
              <a:ext cx="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42798" name="Line 53"/>
            <p:cNvSpPr>
              <a:spLocks noChangeShapeType="1"/>
            </p:cNvSpPr>
            <p:nvPr/>
          </p:nvSpPr>
          <p:spPr bwMode="auto">
            <a:xfrm>
              <a:off x="5438" y="3081"/>
              <a:ext cx="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</p:grpSp>
      <p:sp>
        <p:nvSpPr>
          <p:cNvPr id="842799" name="Rectangle 75"/>
          <p:cNvSpPr>
            <a:spLocks noChangeArrowheads="1"/>
          </p:cNvSpPr>
          <p:nvPr/>
        </p:nvSpPr>
        <p:spPr bwMode="auto">
          <a:xfrm>
            <a:off x="4129088" y="4389438"/>
            <a:ext cx="3151187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数       据       部       分</a:t>
            </a:r>
          </a:p>
        </p:txBody>
      </p:sp>
      <p:grpSp>
        <p:nvGrpSpPr>
          <p:cNvPr id="842800" name="Group 94"/>
          <p:cNvGrpSpPr>
            <a:grpSpLocks/>
          </p:cNvGrpSpPr>
          <p:nvPr/>
        </p:nvGrpSpPr>
        <p:grpSpPr bwMode="auto">
          <a:xfrm>
            <a:off x="266700" y="1581150"/>
            <a:ext cx="438150" cy="2663825"/>
            <a:chOff x="111" y="845"/>
            <a:chExt cx="255" cy="1678"/>
          </a:xfrm>
        </p:grpSpPr>
        <p:sp>
          <p:nvSpPr>
            <p:cNvPr id="842801" name="Line 89"/>
            <p:cNvSpPr>
              <a:spLocks noChangeShapeType="1"/>
            </p:cNvSpPr>
            <p:nvPr/>
          </p:nvSpPr>
          <p:spPr bwMode="auto">
            <a:xfrm>
              <a:off x="249" y="845"/>
              <a:ext cx="0" cy="167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42802" name="Rectangle 78"/>
            <p:cNvSpPr>
              <a:spLocks noChangeArrowheads="1"/>
            </p:cNvSpPr>
            <p:nvPr/>
          </p:nvSpPr>
          <p:spPr bwMode="auto">
            <a:xfrm>
              <a:off x="111" y="1389"/>
              <a:ext cx="255" cy="4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首</a:t>
              </a:r>
            </a:p>
            <a:p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部</a:t>
              </a:r>
            </a:p>
          </p:txBody>
        </p:sp>
      </p:grpSp>
      <p:sp>
        <p:nvSpPr>
          <p:cNvPr id="842803" name="AutoShape 97"/>
          <p:cNvSpPr>
            <a:spLocks/>
          </p:cNvSpPr>
          <p:nvPr/>
        </p:nvSpPr>
        <p:spPr bwMode="auto">
          <a:xfrm>
            <a:off x="998538" y="1652588"/>
            <a:ext cx="180975" cy="2160587"/>
          </a:xfrm>
          <a:prstGeom prst="leftBrace">
            <a:avLst>
              <a:gd name="adj1" fmla="val 107779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grpSp>
        <p:nvGrpSpPr>
          <p:cNvPr id="60" name="Group 77"/>
          <p:cNvGrpSpPr>
            <a:grpSpLocks/>
          </p:cNvGrpSpPr>
          <p:nvPr/>
        </p:nvGrpSpPr>
        <p:grpSpPr bwMode="auto">
          <a:xfrm>
            <a:off x="1333500" y="2478088"/>
            <a:ext cx="8266113" cy="3830637"/>
            <a:chOff x="775" y="1410"/>
            <a:chExt cx="4807" cy="2413"/>
          </a:xfrm>
        </p:grpSpPr>
        <p:sp>
          <p:nvSpPr>
            <p:cNvPr id="842805" name="Text Box 74"/>
            <p:cNvSpPr txBox="1">
              <a:spLocks noChangeArrowheads="1"/>
            </p:cNvSpPr>
            <p:nvPr/>
          </p:nvSpPr>
          <p:spPr bwMode="auto">
            <a:xfrm>
              <a:off x="775" y="3067"/>
              <a:ext cx="4807" cy="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 eaLnBrk="0" hangingPunct="0"/>
              <a:r>
                <a:rPr lang="zh-CN" altLang="en-US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协议</a:t>
              </a:r>
              <a:r>
                <a:rPr lang="en-US" altLang="zh-CN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——</a:t>
              </a:r>
              <a:r>
                <a:rPr lang="zh-CN" altLang="en-US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占</a:t>
              </a:r>
              <a:r>
                <a:rPr lang="en-US" altLang="zh-CN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8 </a:t>
              </a:r>
              <a:r>
                <a:rPr lang="zh-CN" altLang="en-US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位，指出此数据报携带的数据使用何种协议，</a:t>
              </a:r>
              <a:endParaRPr lang="en-US" altLang="zh-CN" sz="2400" b="1">
                <a:solidFill>
                  <a:srgbClr val="0000CC"/>
                </a:solidFill>
                <a:ea typeface="黑体" panose="02010609060101010101" pitchFamily="49" charset="-122"/>
              </a:endParaRPr>
            </a:p>
            <a:p>
              <a:pPr algn="ctr" eaLnBrk="0" hangingPunct="0"/>
              <a:r>
                <a:rPr lang="zh-CN" altLang="en-US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以便目的主机的 </a:t>
              </a:r>
              <a:r>
                <a:rPr lang="en-US" altLang="zh-CN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IP </a:t>
              </a:r>
              <a:r>
                <a:rPr lang="zh-CN" altLang="en-US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层将数据部分</a:t>
              </a:r>
              <a:endParaRPr lang="en-US" altLang="zh-CN" sz="2400" b="1">
                <a:solidFill>
                  <a:srgbClr val="0000CC"/>
                </a:solidFill>
                <a:ea typeface="黑体" panose="02010609060101010101" pitchFamily="49" charset="-122"/>
              </a:endParaRPr>
            </a:p>
            <a:p>
              <a:pPr algn="ctr" eaLnBrk="0" hangingPunct="0"/>
              <a:r>
                <a:rPr lang="zh-CN" altLang="en-US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上交给那个处理过程</a:t>
              </a:r>
            </a:p>
          </p:txBody>
        </p:sp>
        <p:sp>
          <p:nvSpPr>
            <p:cNvPr id="842806" name="Rectangle 75"/>
            <p:cNvSpPr>
              <a:spLocks noChangeArrowheads="1"/>
            </p:cNvSpPr>
            <p:nvPr/>
          </p:nvSpPr>
          <p:spPr bwMode="auto">
            <a:xfrm>
              <a:off x="1971" y="1410"/>
              <a:ext cx="1227" cy="307"/>
            </a:xfrm>
            <a:prstGeom prst="rect">
              <a:avLst/>
            </a:prstGeom>
            <a:noFill/>
            <a:ln w="762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>
                <a:ea typeface="宋体" panose="02010600030101010101" pitchFamily="2" charset="-122"/>
              </a:endParaRPr>
            </a:p>
          </p:txBody>
        </p:sp>
      </p:grpSp>
      <p:sp>
        <p:nvSpPr>
          <p:cNvPr id="842807" name="标题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smtClean="0">
                <a:ea typeface="黑体" panose="02010609060101010101" pitchFamily="49" charset="-122"/>
              </a:rPr>
              <a:t>1.  IP </a:t>
            </a:r>
            <a:r>
              <a:rPr lang="zh-CN" altLang="en-US" sz="3600" smtClean="0">
                <a:ea typeface="黑体" panose="02010609060101010101" pitchFamily="49" charset="-122"/>
              </a:rPr>
              <a:t>数据报首部的固定部分中的各字段 </a:t>
            </a:r>
          </a:p>
        </p:txBody>
      </p:sp>
      <p:sp>
        <p:nvSpPr>
          <p:cNvPr id="842808" name="灯片编号占位符 4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627A997-2404-4DAA-9872-81EE5A652E57}" type="slidenum">
              <a:rPr lang="zh-CN" altLang="en-US" smtClean="0"/>
              <a:pPr eaLnBrk="1" hangingPunct="1"/>
              <a:t>41</a:t>
            </a:fld>
            <a:endParaRPr lang="en-US" altLang="zh-CN" smtClean="0"/>
          </a:p>
        </p:txBody>
      </p:sp>
      <p:sp>
        <p:nvSpPr>
          <p:cNvPr id="842809" name="页脚占位符 5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400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801" name="Rectangle 4"/>
          <p:cNvSpPr>
            <a:spLocks noChangeArrowheads="1"/>
          </p:cNvSpPr>
          <p:nvPr/>
        </p:nvSpPr>
        <p:spPr bwMode="auto">
          <a:xfrm>
            <a:off x="342900" y="2133600"/>
            <a:ext cx="9363075" cy="628650"/>
          </a:xfrm>
          <a:prstGeom prst="rect">
            <a:avLst/>
          </a:prstGeom>
          <a:solidFill>
            <a:srgbClr val="FFFF99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 eaLnBrk="0" hangingPunct="0"/>
            <a:endParaRPr lang="zh-CN" altLang="zh-CN" sz="3200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844802" name="Rectangle 5"/>
          <p:cNvSpPr>
            <a:spLocks noChangeArrowheads="1"/>
          </p:cNvSpPr>
          <p:nvPr/>
        </p:nvSpPr>
        <p:spPr bwMode="auto">
          <a:xfrm>
            <a:off x="342900" y="2762250"/>
            <a:ext cx="9363075" cy="1743075"/>
          </a:xfrm>
          <a:prstGeom prst="rect">
            <a:avLst/>
          </a:prstGeom>
          <a:solidFill>
            <a:srgbClr val="CCECFF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844803" name="Rectangle 11"/>
          <p:cNvSpPr>
            <a:spLocks noChangeArrowheads="1"/>
          </p:cNvSpPr>
          <p:nvPr/>
        </p:nvSpPr>
        <p:spPr bwMode="auto">
          <a:xfrm>
            <a:off x="1919288" y="3390900"/>
            <a:ext cx="6208712" cy="487363"/>
          </a:xfrm>
          <a:prstGeom prst="rect">
            <a:avLst/>
          </a:prstGeom>
          <a:solidFill>
            <a:srgbClr val="FFCC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844804" name="Rectangle 6"/>
          <p:cNvSpPr>
            <a:spLocks noChangeArrowheads="1"/>
          </p:cNvSpPr>
          <p:nvPr/>
        </p:nvSpPr>
        <p:spPr bwMode="auto">
          <a:xfrm>
            <a:off x="1958975" y="3425825"/>
            <a:ext cx="1350963" cy="446088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844805" name="Text Box 7"/>
          <p:cNvSpPr txBox="1">
            <a:spLocks noChangeArrowheads="1"/>
          </p:cNvSpPr>
          <p:nvPr/>
        </p:nvSpPr>
        <p:spPr bwMode="auto">
          <a:xfrm>
            <a:off x="560388" y="2216150"/>
            <a:ext cx="111283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>
                <a:solidFill>
                  <a:srgbClr val="000099"/>
                </a:solidFill>
                <a:ea typeface="黑体" panose="02010609060101010101" pitchFamily="49" charset="-122"/>
              </a:rPr>
              <a:t>运输层</a:t>
            </a:r>
          </a:p>
        </p:txBody>
      </p:sp>
      <p:sp>
        <p:nvSpPr>
          <p:cNvPr id="844806" name="Text Box 8"/>
          <p:cNvSpPr txBox="1">
            <a:spLocks noChangeArrowheads="1"/>
          </p:cNvSpPr>
          <p:nvPr/>
        </p:nvSpPr>
        <p:spPr bwMode="auto">
          <a:xfrm>
            <a:off x="560388" y="3255963"/>
            <a:ext cx="111283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>
                <a:solidFill>
                  <a:srgbClr val="000099"/>
                </a:solidFill>
                <a:ea typeface="黑体" panose="02010609060101010101" pitchFamily="49" charset="-122"/>
              </a:rPr>
              <a:t>网络层</a:t>
            </a:r>
          </a:p>
        </p:txBody>
      </p:sp>
      <p:sp>
        <p:nvSpPr>
          <p:cNvPr id="844807" name="Line 9"/>
          <p:cNvSpPr>
            <a:spLocks noChangeShapeType="1"/>
          </p:cNvSpPr>
          <p:nvPr/>
        </p:nvSpPr>
        <p:spPr bwMode="auto">
          <a:xfrm>
            <a:off x="3309938" y="3390900"/>
            <a:ext cx="0" cy="487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844808" name="Text Box 10"/>
          <p:cNvSpPr txBox="1">
            <a:spLocks noChangeArrowheads="1"/>
          </p:cNvSpPr>
          <p:nvPr/>
        </p:nvSpPr>
        <p:spPr bwMode="auto">
          <a:xfrm>
            <a:off x="2195513" y="3382963"/>
            <a:ext cx="6969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000" b="1">
                <a:solidFill>
                  <a:srgbClr val="000099"/>
                </a:solidFill>
                <a:ea typeface="黑体" panose="02010609060101010101" pitchFamily="49" charset="-122"/>
              </a:rPr>
              <a:t>首部</a:t>
            </a:r>
          </a:p>
        </p:txBody>
      </p:sp>
      <p:sp>
        <p:nvSpPr>
          <p:cNvPr id="844809" name="Rectangle 13"/>
          <p:cNvSpPr>
            <a:spLocks noChangeArrowheads="1"/>
          </p:cNvSpPr>
          <p:nvPr/>
        </p:nvSpPr>
        <p:spPr bwMode="auto">
          <a:xfrm>
            <a:off x="4608513" y="2273300"/>
            <a:ext cx="1111250" cy="349250"/>
          </a:xfrm>
          <a:prstGeom prst="rect">
            <a:avLst/>
          </a:prstGeom>
          <a:solidFill>
            <a:srgbClr val="FF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844810" name="Text Box 14"/>
          <p:cNvSpPr txBox="1">
            <a:spLocks noChangeArrowheads="1"/>
          </p:cNvSpPr>
          <p:nvPr/>
        </p:nvSpPr>
        <p:spPr bwMode="auto">
          <a:xfrm>
            <a:off x="4778375" y="2239963"/>
            <a:ext cx="6985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2000" b="1">
                <a:solidFill>
                  <a:srgbClr val="000099"/>
                </a:solidFill>
                <a:ea typeface="黑体" panose="02010609060101010101" pitchFamily="49" charset="-122"/>
              </a:rPr>
              <a:t>TCP</a:t>
            </a:r>
          </a:p>
        </p:txBody>
      </p:sp>
      <p:sp>
        <p:nvSpPr>
          <p:cNvPr id="844811" name="Rectangle 15"/>
          <p:cNvSpPr>
            <a:spLocks noChangeArrowheads="1"/>
          </p:cNvSpPr>
          <p:nvPr/>
        </p:nvSpPr>
        <p:spPr bwMode="auto">
          <a:xfrm>
            <a:off x="5997575" y="2273300"/>
            <a:ext cx="1112838" cy="349250"/>
          </a:xfrm>
          <a:prstGeom prst="rect">
            <a:avLst/>
          </a:prstGeom>
          <a:solidFill>
            <a:srgbClr val="FF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844812" name="Text Box 16"/>
          <p:cNvSpPr txBox="1">
            <a:spLocks noChangeArrowheads="1"/>
          </p:cNvSpPr>
          <p:nvPr/>
        </p:nvSpPr>
        <p:spPr bwMode="auto">
          <a:xfrm>
            <a:off x="6143625" y="2273300"/>
            <a:ext cx="7286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2000" b="1">
                <a:solidFill>
                  <a:srgbClr val="000099"/>
                </a:solidFill>
                <a:ea typeface="黑体" panose="02010609060101010101" pitchFamily="49" charset="-122"/>
              </a:rPr>
              <a:t>UDP</a:t>
            </a:r>
          </a:p>
        </p:txBody>
      </p:sp>
      <p:sp>
        <p:nvSpPr>
          <p:cNvPr id="844813" name="Rectangle 17"/>
          <p:cNvSpPr>
            <a:spLocks noChangeArrowheads="1"/>
          </p:cNvSpPr>
          <p:nvPr/>
        </p:nvSpPr>
        <p:spPr bwMode="auto">
          <a:xfrm>
            <a:off x="2289175" y="2892425"/>
            <a:ext cx="1112838" cy="349250"/>
          </a:xfrm>
          <a:prstGeom prst="rect">
            <a:avLst/>
          </a:prstGeom>
          <a:solidFill>
            <a:srgbClr val="FF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844814" name="Text Box 18"/>
          <p:cNvSpPr txBox="1">
            <a:spLocks noChangeArrowheads="1"/>
          </p:cNvSpPr>
          <p:nvPr/>
        </p:nvSpPr>
        <p:spPr bwMode="auto">
          <a:xfrm>
            <a:off x="2382838" y="2857500"/>
            <a:ext cx="8255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2000" b="1">
                <a:solidFill>
                  <a:srgbClr val="000099"/>
                </a:solidFill>
                <a:ea typeface="黑体" panose="02010609060101010101" pitchFamily="49" charset="-122"/>
              </a:rPr>
              <a:t>ICMP</a:t>
            </a:r>
          </a:p>
        </p:txBody>
      </p:sp>
      <p:sp>
        <p:nvSpPr>
          <p:cNvPr id="844815" name="Rectangle 19"/>
          <p:cNvSpPr>
            <a:spLocks noChangeArrowheads="1"/>
          </p:cNvSpPr>
          <p:nvPr/>
        </p:nvSpPr>
        <p:spPr bwMode="auto">
          <a:xfrm>
            <a:off x="3587750" y="2892425"/>
            <a:ext cx="1111250" cy="349250"/>
          </a:xfrm>
          <a:prstGeom prst="rect">
            <a:avLst/>
          </a:prstGeom>
          <a:solidFill>
            <a:srgbClr val="FF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844816" name="Text Box 20"/>
          <p:cNvSpPr txBox="1">
            <a:spLocks noChangeArrowheads="1"/>
          </p:cNvSpPr>
          <p:nvPr/>
        </p:nvSpPr>
        <p:spPr bwMode="auto">
          <a:xfrm>
            <a:off x="3683000" y="2857500"/>
            <a:ext cx="8382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2000" b="1">
                <a:solidFill>
                  <a:srgbClr val="000099"/>
                </a:solidFill>
                <a:ea typeface="黑体" panose="02010609060101010101" pitchFamily="49" charset="-122"/>
              </a:rPr>
              <a:t>IGMP</a:t>
            </a:r>
          </a:p>
        </p:txBody>
      </p:sp>
      <p:sp>
        <p:nvSpPr>
          <p:cNvPr id="844817" name="Rectangle 21"/>
          <p:cNvSpPr>
            <a:spLocks noChangeArrowheads="1"/>
          </p:cNvSpPr>
          <p:nvPr/>
        </p:nvSpPr>
        <p:spPr bwMode="auto">
          <a:xfrm>
            <a:off x="7442200" y="2892425"/>
            <a:ext cx="1111250" cy="349250"/>
          </a:xfrm>
          <a:prstGeom prst="rect">
            <a:avLst/>
          </a:prstGeom>
          <a:solidFill>
            <a:srgbClr val="FF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844818" name="Text Box 22"/>
          <p:cNvSpPr txBox="1">
            <a:spLocks noChangeArrowheads="1"/>
          </p:cNvSpPr>
          <p:nvPr/>
        </p:nvSpPr>
        <p:spPr bwMode="auto">
          <a:xfrm>
            <a:off x="7537450" y="2857500"/>
            <a:ext cx="8826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2000" b="1">
                <a:solidFill>
                  <a:srgbClr val="000099"/>
                </a:solidFill>
                <a:ea typeface="黑体" panose="02010609060101010101" pitchFamily="49" charset="-122"/>
              </a:rPr>
              <a:t>OSPF</a:t>
            </a:r>
          </a:p>
        </p:txBody>
      </p:sp>
      <p:sp>
        <p:nvSpPr>
          <p:cNvPr id="478233" name="Line 25"/>
          <p:cNvSpPr>
            <a:spLocks noChangeShapeType="1"/>
          </p:cNvSpPr>
          <p:nvPr/>
        </p:nvSpPr>
        <p:spPr bwMode="auto">
          <a:xfrm flipV="1">
            <a:off x="6091238" y="2622550"/>
            <a:ext cx="463550" cy="976313"/>
          </a:xfrm>
          <a:prstGeom prst="line">
            <a:avLst/>
          </a:prstGeom>
          <a:noFill/>
          <a:ln w="76200">
            <a:solidFill>
              <a:srgbClr val="C00000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478235" name="Line 27"/>
          <p:cNvSpPr>
            <a:spLocks noChangeShapeType="1"/>
          </p:cNvSpPr>
          <p:nvPr/>
        </p:nvSpPr>
        <p:spPr bwMode="auto">
          <a:xfrm flipH="1" flipV="1">
            <a:off x="5162550" y="2622550"/>
            <a:ext cx="939800" cy="996950"/>
          </a:xfrm>
          <a:prstGeom prst="line">
            <a:avLst/>
          </a:prstGeom>
          <a:noFill/>
          <a:ln w="76200">
            <a:solidFill>
              <a:srgbClr val="C00000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478236" name="Line 28"/>
          <p:cNvSpPr>
            <a:spLocks noChangeShapeType="1"/>
          </p:cNvSpPr>
          <p:nvPr/>
        </p:nvSpPr>
        <p:spPr bwMode="auto">
          <a:xfrm flipH="1" flipV="1">
            <a:off x="4722813" y="3175000"/>
            <a:ext cx="1412875" cy="463550"/>
          </a:xfrm>
          <a:prstGeom prst="line">
            <a:avLst/>
          </a:prstGeom>
          <a:noFill/>
          <a:ln w="76200">
            <a:solidFill>
              <a:srgbClr val="C00000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478237" name="Line 29"/>
          <p:cNvSpPr>
            <a:spLocks noChangeShapeType="1"/>
          </p:cNvSpPr>
          <p:nvPr/>
        </p:nvSpPr>
        <p:spPr bwMode="auto">
          <a:xfrm flipH="1" flipV="1">
            <a:off x="3116263" y="3255963"/>
            <a:ext cx="3016250" cy="373062"/>
          </a:xfrm>
          <a:prstGeom prst="line">
            <a:avLst/>
          </a:prstGeom>
          <a:noFill/>
          <a:ln w="76200">
            <a:solidFill>
              <a:srgbClr val="C00000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478238" name="Line 30"/>
          <p:cNvSpPr>
            <a:spLocks noChangeShapeType="1"/>
          </p:cNvSpPr>
          <p:nvPr/>
        </p:nvSpPr>
        <p:spPr bwMode="auto">
          <a:xfrm flipV="1">
            <a:off x="6118225" y="3173413"/>
            <a:ext cx="1295400" cy="447675"/>
          </a:xfrm>
          <a:prstGeom prst="line">
            <a:avLst/>
          </a:prstGeom>
          <a:noFill/>
          <a:ln w="76200">
            <a:solidFill>
              <a:srgbClr val="C00000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844824" name="Text Box 31"/>
          <p:cNvSpPr txBox="1">
            <a:spLocks noChangeArrowheads="1"/>
          </p:cNvSpPr>
          <p:nvPr/>
        </p:nvSpPr>
        <p:spPr bwMode="auto">
          <a:xfrm>
            <a:off x="3463925" y="3463925"/>
            <a:ext cx="14287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000" b="1">
                <a:solidFill>
                  <a:srgbClr val="000099"/>
                </a:solidFill>
                <a:ea typeface="黑体" panose="02010609060101010101" pitchFamily="49" charset="-122"/>
              </a:rPr>
              <a:t>数 据 部 分</a:t>
            </a:r>
          </a:p>
        </p:txBody>
      </p:sp>
      <p:sp>
        <p:nvSpPr>
          <p:cNvPr id="844825" name="Line 32"/>
          <p:cNvSpPr>
            <a:spLocks noChangeShapeType="1"/>
          </p:cNvSpPr>
          <p:nvPr/>
        </p:nvSpPr>
        <p:spPr bwMode="auto">
          <a:xfrm>
            <a:off x="1919288" y="4156075"/>
            <a:ext cx="620871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844826" name="Text Box 33"/>
          <p:cNvSpPr txBox="1">
            <a:spLocks noChangeArrowheads="1"/>
          </p:cNvSpPr>
          <p:nvPr/>
        </p:nvSpPr>
        <p:spPr bwMode="auto">
          <a:xfrm>
            <a:off x="4327525" y="3927475"/>
            <a:ext cx="1266825" cy="400050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2000" b="1">
                <a:solidFill>
                  <a:srgbClr val="000099"/>
                </a:solidFill>
                <a:ea typeface="黑体" panose="02010609060101010101" pitchFamily="49" charset="-122"/>
              </a:rPr>
              <a:t>IP </a:t>
            </a:r>
            <a:r>
              <a:rPr lang="zh-CN" altLang="en-US" sz="2000" b="1">
                <a:solidFill>
                  <a:srgbClr val="000099"/>
                </a:solidFill>
                <a:ea typeface="黑体" panose="02010609060101010101" pitchFamily="49" charset="-122"/>
              </a:rPr>
              <a:t>数据报</a:t>
            </a:r>
          </a:p>
        </p:txBody>
      </p:sp>
      <p:grpSp>
        <p:nvGrpSpPr>
          <p:cNvPr id="478246" name="Group 38"/>
          <p:cNvGrpSpPr>
            <a:grpSpLocks/>
          </p:cNvGrpSpPr>
          <p:nvPr/>
        </p:nvGrpSpPr>
        <p:grpSpPr bwMode="auto">
          <a:xfrm>
            <a:off x="2878138" y="3644900"/>
            <a:ext cx="4954587" cy="2016125"/>
            <a:chOff x="1632" y="2296"/>
            <a:chExt cx="2881" cy="1270"/>
          </a:xfrm>
        </p:grpSpPr>
        <p:sp>
          <p:nvSpPr>
            <p:cNvPr id="844828" name="Rectangle 34"/>
            <p:cNvSpPr>
              <a:spLocks noChangeArrowheads="1"/>
            </p:cNvSpPr>
            <p:nvPr/>
          </p:nvSpPr>
          <p:spPr bwMode="auto">
            <a:xfrm>
              <a:off x="1632" y="2296"/>
              <a:ext cx="227" cy="106"/>
            </a:xfrm>
            <a:prstGeom prst="rect">
              <a:avLst/>
            </a:prstGeom>
            <a:solidFill>
              <a:srgbClr val="66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44829" name="AutoShape 35"/>
            <p:cNvSpPr>
              <a:spLocks noChangeArrowheads="1"/>
            </p:cNvSpPr>
            <p:nvPr/>
          </p:nvSpPr>
          <p:spPr bwMode="auto">
            <a:xfrm>
              <a:off x="2344" y="3033"/>
              <a:ext cx="2169" cy="506"/>
            </a:xfrm>
            <a:prstGeom prst="wedgeRoundRectCallout">
              <a:avLst>
                <a:gd name="adj1" fmla="val -78315"/>
                <a:gd name="adj2" fmla="val -177773"/>
                <a:gd name="adj3" fmla="val 16667"/>
              </a:avLst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eaLnBrk="0" hangingPunct="0"/>
              <a:endParaRPr lang="zh-CN" altLang="zh-CN" sz="32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44830" name="Text Box 36"/>
            <p:cNvSpPr txBox="1">
              <a:spLocks noChangeArrowheads="1"/>
            </p:cNvSpPr>
            <p:nvPr/>
          </p:nvSpPr>
          <p:spPr bwMode="auto">
            <a:xfrm>
              <a:off x="2426" y="3043"/>
              <a:ext cx="2004" cy="5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 eaLnBrk="0" hangingPunct="0"/>
              <a:r>
                <a:rPr lang="zh-CN" altLang="en-US" sz="2400" b="1">
                  <a:solidFill>
                    <a:srgbClr val="000099"/>
                  </a:solidFill>
                  <a:ea typeface="黑体" panose="02010609060101010101" pitchFamily="49" charset="-122"/>
                </a:rPr>
                <a:t>协议字段指出应将数据</a:t>
              </a:r>
            </a:p>
            <a:p>
              <a:pPr algn="ctr" eaLnBrk="0" hangingPunct="0"/>
              <a:r>
                <a:rPr lang="zh-CN" altLang="en-US" sz="2400" b="1">
                  <a:solidFill>
                    <a:srgbClr val="000099"/>
                  </a:solidFill>
                  <a:ea typeface="黑体" panose="02010609060101010101" pitchFamily="49" charset="-122"/>
                </a:rPr>
                <a:t>部分交给哪一个进程</a:t>
              </a:r>
            </a:p>
          </p:txBody>
        </p:sp>
      </p:grpSp>
      <p:sp>
        <p:nvSpPr>
          <p:cNvPr id="844831" name="矩形 31"/>
          <p:cNvSpPr>
            <a:spLocks noChangeArrowheads="1"/>
          </p:cNvSpPr>
          <p:nvPr/>
        </p:nvSpPr>
        <p:spPr bwMode="auto">
          <a:xfrm>
            <a:off x="1127125" y="476250"/>
            <a:ext cx="7497763" cy="1077913"/>
          </a:xfrm>
          <a:prstGeom prst="rect">
            <a:avLst/>
          </a:prstGeom>
          <a:solidFill>
            <a:srgbClr val="66FF66"/>
          </a:solidFill>
          <a:ln w="9525">
            <a:solidFill>
              <a:schemeClr val="folHlink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 algn="ctr" eaLnBrk="0" hangingPunct="0"/>
            <a:r>
              <a:rPr lang="en-US" altLang="zh-CN" sz="3200" b="1">
                <a:solidFill>
                  <a:srgbClr val="000066"/>
                </a:solidFill>
                <a:ea typeface="黑体" panose="02010609060101010101" pitchFamily="49" charset="-122"/>
              </a:rPr>
              <a:t>IP </a:t>
            </a:r>
            <a:r>
              <a:rPr lang="zh-CN" altLang="en-US" sz="3200" b="1">
                <a:solidFill>
                  <a:srgbClr val="000066"/>
                </a:solidFill>
                <a:ea typeface="黑体" panose="02010609060101010101" pitchFamily="49" charset="-122"/>
              </a:rPr>
              <a:t>协议支持多种协议，</a:t>
            </a:r>
            <a:endParaRPr lang="en-US" altLang="zh-CN" sz="3200" b="1">
              <a:solidFill>
                <a:srgbClr val="000066"/>
              </a:solidFill>
              <a:ea typeface="黑体" panose="02010609060101010101" pitchFamily="49" charset="-122"/>
            </a:endParaRPr>
          </a:p>
          <a:p>
            <a:pPr algn="ctr" eaLnBrk="0" hangingPunct="0"/>
            <a:r>
              <a:rPr lang="en-US" altLang="zh-CN" sz="3200" b="1">
                <a:solidFill>
                  <a:srgbClr val="000066"/>
                </a:solidFill>
                <a:ea typeface="黑体" panose="02010609060101010101" pitchFamily="49" charset="-122"/>
              </a:rPr>
              <a:t>IP </a:t>
            </a:r>
            <a:r>
              <a:rPr lang="zh-CN" altLang="en-US" sz="3200" b="1">
                <a:solidFill>
                  <a:srgbClr val="000066"/>
                </a:solidFill>
                <a:ea typeface="黑体" panose="02010609060101010101" pitchFamily="49" charset="-122"/>
              </a:rPr>
              <a:t>数据报可以封装多种协议 </a:t>
            </a:r>
            <a:r>
              <a:rPr lang="en-US" altLang="zh-CN" sz="3200" b="1">
                <a:solidFill>
                  <a:srgbClr val="000066"/>
                </a:solidFill>
                <a:ea typeface="黑体" panose="02010609060101010101" pitchFamily="49" charset="-122"/>
              </a:rPr>
              <a:t>PDU</a:t>
            </a:r>
            <a:r>
              <a:rPr lang="zh-CN" altLang="en-US" sz="3200" b="1">
                <a:solidFill>
                  <a:srgbClr val="000066"/>
                </a:solidFill>
                <a:ea typeface="黑体" panose="02010609060101010101" pitchFamily="49" charset="-122"/>
              </a:rPr>
              <a:t>。</a:t>
            </a:r>
          </a:p>
        </p:txBody>
      </p:sp>
      <p:sp>
        <p:nvSpPr>
          <p:cNvPr id="844832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fld id="{88DBDA47-AF5A-4639-9DBB-71546DAB891B}" type="slidenum">
              <a:rPr lang="zh-CN" altLang="en-US" smtClean="0"/>
              <a:pPr/>
              <a:t>42</a:t>
            </a:fld>
            <a:endParaRPr lang="en-US" altLang="zh-CN" smtClean="0"/>
          </a:p>
        </p:txBody>
      </p:sp>
      <p:sp>
        <p:nvSpPr>
          <p:cNvPr id="844833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400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478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478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1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478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1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478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2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78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78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8233" grpId="0" animBg="1"/>
      <p:bldP spid="478235" grpId="0" animBg="1"/>
      <p:bldP spid="478236" grpId="0" animBg="1"/>
      <p:bldP spid="478237" grpId="0" animBg="1"/>
      <p:bldP spid="478238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849" name="Rectangle 45"/>
          <p:cNvSpPr>
            <a:spLocks noChangeArrowheads="1"/>
          </p:cNvSpPr>
          <p:nvPr/>
        </p:nvSpPr>
        <p:spPr bwMode="auto">
          <a:xfrm>
            <a:off x="631825" y="2012950"/>
            <a:ext cx="439738" cy="1198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固</a:t>
            </a:r>
          </a:p>
          <a:p>
            <a:pPr>
              <a:lnSpc>
                <a:spcPct val="90000"/>
              </a:lnSpc>
            </a:pPr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定</a:t>
            </a:r>
          </a:p>
          <a:p>
            <a:pPr>
              <a:lnSpc>
                <a:spcPct val="90000"/>
              </a:lnSpc>
            </a:pPr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部</a:t>
            </a:r>
          </a:p>
          <a:p>
            <a:pPr>
              <a:lnSpc>
                <a:spcPct val="90000"/>
              </a:lnSpc>
            </a:pPr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分</a:t>
            </a:r>
          </a:p>
        </p:txBody>
      </p:sp>
      <p:sp>
        <p:nvSpPr>
          <p:cNvPr id="846850" name="Rectangle 54"/>
          <p:cNvSpPr>
            <a:spLocks noChangeArrowheads="1"/>
          </p:cNvSpPr>
          <p:nvPr/>
        </p:nvSpPr>
        <p:spPr bwMode="auto">
          <a:xfrm>
            <a:off x="508000" y="3668713"/>
            <a:ext cx="695325" cy="706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可变</a:t>
            </a:r>
          </a:p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部分</a:t>
            </a:r>
          </a:p>
        </p:txBody>
      </p:sp>
      <p:sp>
        <p:nvSpPr>
          <p:cNvPr id="846851" name="Rectangle 8"/>
          <p:cNvSpPr>
            <a:spLocks noChangeArrowheads="1"/>
          </p:cNvSpPr>
          <p:nvPr/>
        </p:nvSpPr>
        <p:spPr bwMode="auto">
          <a:xfrm>
            <a:off x="3351213" y="1611313"/>
            <a:ext cx="2132012" cy="434975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46852" name="Rectangle 10"/>
          <p:cNvSpPr>
            <a:spLocks noChangeArrowheads="1"/>
          </p:cNvSpPr>
          <p:nvPr/>
        </p:nvSpPr>
        <p:spPr bwMode="auto">
          <a:xfrm>
            <a:off x="1231900" y="1601788"/>
            <a:ext cx="8520113" cy="2643187"/>
          </a:xfrm>
          <a:prstGeom prst="rect">
            <a:avLst/>
          </a:prstGeom>
          <a:solidFill>
            <a:srgbClr val="CCE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46853" name="Rectangle 11"/>
          <p:cNvSpPr>
            <a:spLocks noChangeArrowheads="1"/>
          </p:cNvSpPr>
          <p:nvPr/>
        </p:nvSpPr>
        <p:spPr bwMode="auto">
          <a:xfrm>
            <a:off x="1246188" y="4256088"/>
            <a:ext cx="8486775" cy="681037"/>
          </a:xfrm>
          <a:prstGeom prst="rect">
            <a:avLst/>
          </a:prstGeom>
          <a:solidFill>
            <a:srgbClr val="FFFF99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46854" name="Line 12"/>
          <p:cNvSpPr>
            <a:spLocks noChangeShapeType="1"/>
          </p:cNvSpPr>
          <p:nvPr/>
        </p:nvSpPr>
        <p:spPr bwMode="auto">
          <a:xfrm>
            <a:off x="1225550" y="2052638"/>
            <a:ext cx="8535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46855" name="Line 13"/>
          <p:cNvSpPr>
            <a:spLocks noChangeShapeType="1"/>
          </p:cNvSpPr>
          <p:nvPr/>
        </p:nvSpPr>
        <p:spPr bwMode="auto">
          <a:xfrm>
            <a:off x="1225550" y="2495550"/>
            <a:ext cx="8535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46856" name="Line 14"/>
          <p:cNvSpPr>
            <a:spLocks noChangeShapeType="1"/>
          </p:cNvSpPr>
          <p:nvPr/>
        </p:nvSpPr>
        <p:spPr bwMode="auto">
          <a:xfrm>
            <a:off x="1225550" y="2940050"/>
            <a:ext cx="8535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46857" name="Line 15"/>
          <p:cNvSpPr>
            <a:spLocks noChangeShapeType="1"/>
          </p:cNvSpPr>
          <p:nvPr/>
        </p:nvSpPr>
        <p:spPr bwMode="auto">
          <a:xfrm>
            <a:off x="1225550" y="3378200"/>
            <a:ext cx="8535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46858" name="Line 16"/>
          <p:cNvSpPr>
            <a:spLocks noChangeShapeType="1"/>
          </p:cNvSpPr>
          <p:nvPr/>
        </p:nvSpPr>
        <p:spPr bwMode="auto">
          <a:xfrm>
            <a:off x="1225550" y="3822700"/>
            <a:ext cx="8535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46859" name="Line 17"/>
          <p:cNvSpPr>
            <a:spLocks noChangeShapeType="1"/>
          </p:cNvSpPr>
          <p:nvPr/>
        </p:nvSpPr>
        <p:spPr bwMode="auto">
          <a:xfrm>
            <a:off x="2274888" y="1609725"/>
            <a:ext cx="0" cy="4429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46860" name="Line 18"/>
          <p:cNvSpPr>
            <a:spLocks noChangeShapeType="1"/>
          </p:cNvSpPr>
          <p:nvPr/>
        </p:nvSpPr>
        <p:spPr bwMode="auto">
          <a:xfrm>
            <a:off x="3341688" y="1609725"/>
            <a:ext cx="0" cy="4429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46861" name="Line 19"/>
          <p:cNvSpPr>
            <a:spLocks noChangeShapeType="1"/>
          </p:cNvSpPr>
          <p:nvPr/>
        </p:nvSpPr>
        <p:spPr bwMode="auto">
          <a:xfrm>
            <a:off x="3341688" y="2505075"/>
            <a:ext cx="0" cy="431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46862" name="Line 20"/>
          <p:cNvSpPr>
            <a:spLocks noChangeShapeType="1"/>
          </p:cNvSpPr>
          <p:nvPr/>
        </p:nvSpPr>
        <p:spPr bwMode="auto">
          <a:xfrm>
            <a:off x="5478463" y="1609725"/>
            <a:ext cx="0" cy="13271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46863" name="Line 21"/>
          <p:cNvSpPr>
            <a:spLocks noChangeShapeType="1"/>
          </p:cNvSpPr>
          <p:nvPr/>
        </p:nvSpPr>
        <p:spPr bwMode="auto">
          <a:xfrm flipV="1">
            <a:off x="7615238" y="3817938"/>
            <a:ext cx="0" cy="4413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46864" name="Line 22"/>
          <p:cNvSpPr>
            <a:spLocks noChangeShapeType="1"/>
          </p:cNvSpPr>
          <p:nvPr/>
        </p:nvSpPr>
        <p:spPr bwMode="auto">
          <a:xfrm>
            <a:off x="6348413" y="2062163"/>
            <a:ext cx="0" cy="4333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46865" name="Rectangle 23"/>
          <p:cNvSpPr>
            <a:spLocks noChangeArrowheads="1"/>
          </p:cNvSpPr>
          <p:nvPr/>
        </p:nvSpPr>
        <p:spPr bwMode="auto">
          <a:xfrm>
            <a:off x="1169988" y="1222375"/>
            <a:ext cx="325437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0</a:t>
            </a:r>
          </a:p>
        </p:txBody>
      </p:sp>
      <p:sp>
        <p:nvSpPr>
          <p:cNvPr id="846866" name="Rectangle 24"/>
          <p:cNvSpPr>
            <a:spLocks noChangeArrowheads="1"/>
          </p:cNvSpPr>
          <p:nvPr/>
        </p:nvSpPr>
        <p:spPr bwMode="auto">
          <a:xfrm>
            <a:off x="2182813" y="1222375"/>
            <a:ext cx="325437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4</a:t>
            </a:r>
          </a:p>
        </p:txBody>
      </p:sp>
      <p:sp>
        <p:nvSpPr>
          <p:cNvPr id="846867" name="Rectangle 25"/>
          <p:cNvSpPr>
            <a:spLocks noChangeArrowheads="1"/>
          </p:cNvSpPr>
          <p:nvPr/>
        </p:nvSpPr>
        <p:spPr bwMode="auto">
          <a:xfrm>
            <a:off x="3260725" y="1222375"/>
            <a:ext cx="325438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8</a:t>
            </a:r>
          </a:p>
        </p:txBody>
      </p:sp>
      <p:sp>
        <p:nvSpPr>
          <p:cNvPr id="846868" name="Rectangle 26"/>
          <p:cNvSpPr>
            <a:spLocks noChangeArrowheads="1"/>
          </p:cNvSpPr>
          <p:nvPr/>
        </p:nvSpPr>
        <p:spPr bwMode="auto">
          <a:xfrm>
            <a:off x="5373688" y="1222375"/>
            <a:ext cx="468312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16</a:t>
            </a:r>
          </a:p>
        </p:txBody>
      </p:sp>
      <p:sp>
        <p:nvSpPr>
          <p:cNvPr id="846869" name="Rectangle 27"/>
          <p:cNvSpPr>
            <a:spLocks noChangeArrowheads="1"/>
          </p:cNvSpPr>
          <p:nvPr/>
        </p:nvSpPr>
        <p:spPr bwMode="auto">
          <a:xfrm>
            <a:off x="6237288" y="1222375"/>
            <a:ext cx="468312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19</a:t>
            </a:r>
          </a:p>
        </p:txBody>
      </p:sp>
      <p:sp>
        <p:nvSpPr>
          <p:cNvPr id="846870" name="Rectangle 28"/>
          <p:cNvSpPr>
            <a:spLocks noChangeArrowheads="1"/>
          </p:cNvSpPr>
          <p:nvPr/>
        </p:nvSpPr>
        <p:spPr bwMode="auto">
          <a:xfrm>
            <a:off x="7510463" y="1222375"/>
            <a:ext cx="468312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24</a:t>
            </a:r>
          </a:p>
        </p:txBody>
      </p:sp>
      <p:sp>
        <p:nvSpPr>
          <p:cNvPr id="846871" name="Rectangle 29"/>
          <p:cNvSpPr>
            <a:spLocks noChangeArrowheads="1"/>
          </p:cNvSpPr>
          <p:nvPr/>
        </p:nvSpPr>
        <p:spPr bwMode="auto">
          <a:xfrm>
            <a:off x="9366250" y="1222375"/>
            <a:ext cx="468313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31</a:t>
            </a:r>
          </a:p>
        </p:txBody>
      </p:sp>
      <p:sp>
        <p:nvSpPr>
          <p:cNvPr id="846872" name="Rectangle 30"/>
          <p:cNvSpPr>
            <a:spLocks noChangeArrowheads="1"/>
          </p:cNvSpPr>
          <p:nvPr/>
        </p:nvSpPr>
        <p:spPr bwMode="auto">
          <a:xfrm>
            <a:off x="1331913" y="1636713"/>
            <a:ext cx="768350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版 本</a:t>
            </a:r>
          </a:p>
        </p:txBody>
      </p:sp>
      <p:sp>
        <p:nvSpPr>
          <p:cNvPr id="846873" name="Rectangle 31"/>
          <p:cNvSpPr>
            <a:spLocks noChangeArrowheads="1"/>
          </p:cNvSpPr>
          <p:nvPr/>
        </p:nvSpPr>
        <p:spPr bwMode="auto">
          <a:xfrm>
            <a:off x="5543550" y="2112963"/>
            <a:ext cx="695325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标志</a:t>
            </a:r>
          </a:p>
        </p:txBody>
      </p:sp>
      <p:sp>
        <p:nvSpPr>
          <p:cNvPr id="846874" name="Rectangle 32"/>
          <p:cNvSpPr>
            <a:spLocks noChangeArrowheads="1"/>
          </p:cNvSpPr>
          <p:nvPr/>
        </p:nvSpPr>
        <p:spPr bwMode="auto">
          <a:xfrm>
            <a:off x="1544638" y="2517775"/>
            <a:ext cx="1427162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生 存 时 间</a:t>
            </a:r>
          </a:p>
        </p:txBody>
      </p:sp>
      <p:sp>
        <p:nvSpPr>
          <p:cNvPr id="846875" name="Rectangle 33"/>
          <p:cNvSpPr>
            <a:spLocks noChangeArrowheads="1"/>
          </p:cNvSpPr>
          <p:nvPr/>
        </p:nvSpPr>
        <p:spPr bwMode="auto">
          <a:xfrm>
            <a:off x="3852863" y="2517775"/>
            <a:ext cx="981075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协    议</a:t>
            </a:r>
          </a:p>
        </p:txBody>
      </p:sp>
      <p:sp>
        <p:nvSpPr>
          <p:cNvPr id="846876" name="Rectangle 34"/>
          <p:cNvSpPr>
            <a:spLocks noChangeArrowheads="1"/>
          </p:cNvSpPr>
          <p:nvPr/>
        </p:nvSpPr>
        <p:spPr bwMode="auto">
          <a:xfrm>
            <a:off x="2784475" y="2112963"/>
            <a:ext cx="981075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标    识</a:t>
            </a:r>
          </a:p>
        </p:txBody>
      </p:sp>
      <p:sp>
        <p:nvSpPr>
          <p:cNvPr id="846877" name="Rectangle 35"/>
          <p:cNvSpPr>
            <a:spLocks noChangeArrowheads="1"/>
          </p:cNvSpPr>
          <p:nvPr/>
        </p:nvSpPr>
        <p:spPr bwMode="auto">
          <a:xfrm>
            <a:off x="3663950" y="1636713"/>
            <a:ext cx="1425575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区 分 服 务</a:t>
            </a:r>
          </a:p>
        </p:txBody>
      </p:sp>
      <p:sp>
        <p:nvSpPr>
          <p:cNvPr id="846878" name="Rectangle 36"/>
          <p:cNvSpPr>
            <a:spLocks noChangeArrowheads="1"/>
          </p:cNvSpPr>
          <p:nvPr/>
        </p:nvSpPr>
        <p:spPr bwMode="auto">
          <a:xfrm>
            <a:off x="7050088" y="1636713"/>
            <a:ext cx="1379537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总   长   度</a:t>
            </a:r>
          </a:p>
        </p:txBody>
      </p:sp>
      <p:sp>
        <p:nvSpPr>
          <p:cNvPr id="846879" name="Rectangle 37"/>
          <p:cNvSpPr>
            <a:spLocks noChangeArrowheads="1"/>
          </p:cNvSpPr>
          <p:nvPr/>
        </p:nvSpPr>
        <p:spPr bwMode="auto">
          <a:xfrm>
            <a:off x="7343775" y="2112963"/>
            <a:ext cx="1379538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片   偏   移</a:t>
            </a:r>
          </a:p>
        </p:txBody>
      </p:sp>
      <p:sp>
        <p:nvSpPr>
          <p:cNvPr id="846880" name="Rectangle 38"/>
          <p:cNvSpPr>
            <a:spLocks noChangeArrowheads="1"/>
          </p:cNvSpPr>
          <p:nvPr/>
        </p:nvSpPr>
        <p:spPr bwMode="auto">
          <a:xfrm>
            <a:off x="8128000" y="3846513"/>
            <a:ext cx="981075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C00000"/>
                </a:solidFill>
                <a:ea typeface="黑体" panose="02010609060101010101" pitchFamily="49" charset="-122"/>
              </a:rPr>
              <a:t>填    充</a:t>
            </a:r>
          </a:p>
        </p:txBody>
      </p:sp>
      <p:sp>
        <p:nvSpPr>
          <p:cNvPr id="846881" name="Rectangle 39"/>
          <p:cNvSpPr>
            <a:spLocks noChangeArrowheads="1"/>
          </p:cNvSpPr>
          <p:nvPr/>
        </p:nvSpPr>
        <p:spPr bwMode="auto">
          <a:xfrm>
            <a:off x="6419850" y="2517775"/>
            <a:ext cx="2319338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首   部   检   验   和</a:t>
            </a:r>
          </a:p>
        </p:txBody>
      </p:sp>
      <p:sp>
        <p:nvSpPr>
          <p:cNvPr id="846882" name="Rectangle 40"/>
          <p:cNvSpPr>
            <a:spLocks noChangeArrowheads="1"/>
          </p:cNvSpPr>
          <p:nvPr/>
        </p:nvSpPr>
        <p:spPr bwMode="auto">
          <a:xfrm>
            <a:off x="4784725" y="2976563"/>
            <a:ext cx="1379538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源   地   址</a:t>
            </a:r>
          </a:p>
        </p:txBody>
      </p:sp>
      <p:sp>
        <p:nvSpPr>
          <p:cNvPr id="846883" name="Rectangle 41"/>
          <p:cNvSpPr>
            <a:spLocks noChangeArrowheads="1"/>
          </p:cNvSpPr>
          <p:nvPr/>
        </p:nvSpPr>
        <p:spPr bwMode="auto">
          <a:xfrm>
            <a:off x="4506913" y="3417888"/>
            <a:ext cx="1851025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目   的   地   址</a:t>
            </a:r>
          </a:p>
        </p:txBody>
      </p:sp>
      <p:sp>
        <p:nvSpPr>
          <p:cNvPr id="846884" name="Rectangle 42"/>
          <p:cNvSpPr>
            <a:spLocks noChangeArrowheads="1"/>
          </p:cNvSpPr>
          <p:nvPr/>
        </p:nvSpPr>
        <p:spPr bwMode="auto">
          <a:xfrm>
            <a:off x="2414588" y="3846513"/>
            <a:ext cx="4173537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C00000"/>
                </a:solidFill>
                <a:ea typeface="黑体" panose="02010609060101010101" pitchFamily="49" charset="-122"/>
              </a:rPr>
              <a:t>可   选   字   段  （长   度   可   变）</a:t>
            </a:r>
          </a:p>
        </p:txBody>
      </p:sp>
      <p:sp>
        <p:nvSpPr>
          <p:cNvPr id="846885" name="Rectangle 43"/>
          <p:cNvSpPr>
            <a:spLocks noChangeArrowheads="1"/>
          </p:cNvSpPr>
          <p:nvPr/>
        </p:nvSpPr>
        <p:spPr bwMode="auto">
          <a:xfrm>
            <a:off x="658813" y="1208088"/>
            <a:ext cx="439737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位</a:t>
            </a:r>
          </a:p>
        </p:txBody>
      </p:sp>
      <p:sp>
        <p:nvSpPr>
          <p:cNvPr id="846886" name="Rectangle 44"/>
          <p:cNvSpPr>
            <a:spLocks noChangeArrowheads="1"/>
          </p:cNvSpPr>
          <p:nvPr/>
        </p:nvSpPr>
        <p:spPr bwMode="auto">
          <a:xfrm>
            <a:off x="2170113" y="1617663"/>
            <a:ext cx="1209675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首部长度</a:t>
            </a:r>
          </a:p>
        </p:txBody>
      </p:sp>
      <p:grpSp>
        <p:nvGrpSpPr>
          <p:cNvPr id="846887" name="Group 46"/>
          <p:cNvGrpSpPr>
            <a:grpSpLocks/>
          </p:cNvGrpSpPr>
          <p:nvPr/>
        </p:nvGrpSpPr>
        <p:grpSpPr bwMode="auto">
          <a:xfrm>
            <a:off x="1158875" y="3987800"/>
            <a:ext cx="142875" cy="69850"/>
            <a:chOff x="833" y="3024"/>
            <a:chExt cx="78" cy="51"/>
          </a:xfrm>
        </p:grpSpPr>
        <p:sp>
          <p:nvSpPr>
            <p:cNvPr id="846888" name="Rectangle 47"/>
            <p:cNvSpPr>
              <a:spLocks noChangeArrowheads="1"/>
            </p:cNvSpPr>
            <p:nvPr/>
          </p:nvSpPr>
          <p:spPr bwMode="auto">
            <a:xfrm>
              <a:off x="833" y="3024"/>
              <a:ext cx="78" cy="5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46889" name="Line 48"/>
            <p:cNvSpPr>
              <a:spLocks noChangeShapeType="1"/>
            </p:cNvSpPr>
            <p:nvPr/>
          </p:nvSpPr>
          <p:spPr bwMode="auto">
            <a:xfrm>
              <a:off x="839" y="3030"/>
              <a:ext cx="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46890" name="Line 49"/>
            <p:cNvSpPr>
              <a:spLocks noChangeShapeType="1"/>
            </p:cNvSpPr>
            <p:nvPr/>
          </p:nvSpPr>
          <p:spPr bwMode="auto">
            <a:xfrm>
              <a:off x="839" y="3075"/>
              <a:ext cx="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</p:grpSp>
      <p:grpSp>
        <p:nvGrpSpPr>
          <p:cNvPr id="846891" name="Group 50"/>
          <p:cNvGrpSpPr>
            <a:grpSpLocks/>
          </p:cNvGrpSpPr>
          <p:nvPr/>
        </p:nvGrpSpPr>
        <p:grpSpPr bwMode="auto">
          <a:xfrm>
            <a:off x="9682163" y="3997325"/>
            <a:ext cx="142875" cy="66675"/>
            <a:chOff x="5432" y="3030"/>
            <a:chExt cx="78" cy="51"/>
          </a:xfrm>
        </p:grpSpPr>
        <p:sp>
          <p:nvSpPr>
            <p:cNvPr id="846892" name="Rectangle 51"/>
            <p:cNvSpPr>
              <a:spLocks noChangeArrowheads="1"/>
            </p:cNvSpPr>
            <p:nvPr/>
          </p:nvSpPr>
          <p:spPr bwMode="auto">
            <a:xfrm>
              <a:off x="5432" y="3030"/>
              <a:ext cx="78" cy="5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46893" name="Line 52"/>
            <p:cNvSpPr>
              <a:spLocks noChangeShapeType="1"/>
            </p:cNvSpPr>
            <p:nvPr/>
          </p:nvSpPr>
          <p:spPr bwMode="auto">
            <a:xfrm>
              <a:off x="5438" y="3036"/>
              <a:ext cx="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46894" name="Line 53"/>
            <p:cNvSpPr>
              <a:spLocks noChangeShapeType="1"/>
            </p:cNvSpPr>
            <p:nvPr/>
          </p:nvSpPr>
          <p:spPr bwMode="auto">
            <a:xfrm>
              <a:off x="5438" y="3081"/>
              <a:ext cx="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</p:grpSp>
      <p:sp>
        <p:nvSpPr>
          <p:cNvPr id="846895" name="Rectangle 75"/>
          <p:cNvSpPr>
            <a:spLocks noChangeArrowheads="1"/>
          </p:cNvSpPr>
          <p:nvPr/>
        </p:nvSpPr>
        <p:spPr bwMode="auto">
          <a:xfrm>
            <a:off x="4129088" y="4389438"/>
            <a:ext cx="3151187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数       据       部       分</a:t>
            </a:r>
          </a:p>
        </p:txBody>
      </p:sp>
      <p:grpSp>
        <p:nvGrpSpPr>
          <p:cNvPr id="846896" name="Group 94"/>
          <p:cNvGrpSpPr>
            <a:grpSpLocks/>
          </p:cNvGrpSpPr>
          <p:nvPr/>
        </p:nvGrpSpPr>
        <p:grpSpPr bwMode="auto">
          <a:xfrm>
            <a:off x="266700" y="1581150"/>
            <a:ext cx="438150" cy="2663825"/>
            <a:chOff x="111" y="845"/>
            <a:chExt cx="255" cy="1678"/>
          </a:xfrm>
        </p:grpSpPr>
        <p:sp>
          <p:nvSpPr>
            <p:cNvPr id="846897" name="Line 89"/>
            <p:cNvSpPr>
              <a:spLocks noChangeShapeType="1"/>
            </p:cNvSpPr>
            <p:nvPr/>
          </p:nvSpPr>
          <p:spPr bwMode="auto">
            <a:xfrm>
              <a:off x="249" y="845"/>
              <a:ext cx="0" cy="167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46898" name="Rectangle 78"/>
            <p:cNvSpPr>
              <a:spLocks noChangeArrowheads="1"/>
            </p:cNvSpPr>
            <p:nvPr/>
          </p:nvSpPr>
          <p:spPr bwMode="auto">
            <a:xfrm>
              <a:off x="111" y="1389"/>
              <a:ext cx="255" cy="4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首</a:t>
              </a:r>
            </a:p>
            <a:p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部</a:t>
              </a:r>
            </a:p>
          </p:txBody>
        </p:sp>
      </p:grpSp>
      <p:sp>
        <p:nvSpPr>
          <p:cNvPr id="846899" name="AutoShape 97"/>
          <p:cNvSpPr>
            <a:spLocks/>
          </p:cNvSpPr>
          <p:nvPr/>
        </p:nvSpPr>
        <p:spPr bwMode="auto">
          <a:xfrm>
            <a:off x="998538" y="1652588"/>
            <a:ext cx="180975" cy="2160587"/>
          </a:xfrm>
          <a:prstGeom prst="leftBrace">
            <a:avLst>
              <a:gd name="adj1" fmla="val 107779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grpSp>
        <p:nvGrpSpPr>
          <p:cNvPr id="57" name="Group 77"/>
          <p:cNvGrpSpPr>
            <a:grpSpLocks/>
          </p:cNvGrpSpPr>
          <p:nvPr/>
        </p:nvGrpSpPr>
        <p:grpSpPr bwMode="auto">
          <a:xfrm>
            <a:off x="2465388" y="2478088"/>
            <a:ext cx="7265987" cy="3830637"/>
            <a:chOff x="1434" y="1410"/>
            <a:chExt cx="4224" cy="2413"/>
          </a:xfrm>
        </p:grpSpPr>
        <p:sp>
          <p:nvSpPr>
            <p:cNvPr id="846901" name="Text Box 74"/>
            <p:cNvSpPr txBox="1">
              <a:spLocks noChangeArrowheads="1"/>
            </p:cNvSpPr>
            <p:nvPr/>
          </p:nvSpPr>
          <p:spPr bwMode="auto">
            <a:xfrm>
              <a:off x="1434" y="3067"/>
              <a:ext cx="4042" cy="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 eaLnBrk="0" hangingPunct="0"/>
              <a:r>
                <a:rPr lang="zh-CN" altLang="en-US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首部检验和</a:t>
              </a:r>
              <a:r>
                <a:rPr lang="en-US" altLang="zh-CN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——</a:t>
              </a:r>
              <a:r>
                <a:rPr lang="zh-CN" altLang="en-US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占</a:t>
              </a:r>
              <a:r>
                <a:rPr lang="en-US" altLang="zh-CN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16 </a:t>
              </a:r>
              <a:r>
                <a:rPr lang="zh-CN" altLang="en-US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位，</a:t>
              </a:r>
              <a:r>
                <a:rPr lang="zh-CN" altLang="en-US" sz="2400" b="1">
                  <a:solidFill>
                    <a:srgbClr val="C00000"/>
                  </a:solidFill>
                  <a:ea typeface="黑体" panose="02010609060101010101" pitchFamily="49" charset="-122"/>
                </a:rPr>
                <a:t>只检验数据报的首部，</a:t>
              </a:r>
            </a:p>
            <a:p>
              <a:pPr eaLnBrk="0" hangingPunct="0"/>
              <a:r>
                <a:rPr lang="zh-CN" altLang="en-US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不检验数据部分。这里不采用 </a:t>
              </a:r>
              <a:r>
                <a:rPr lang="en-US" altLang="zh-CN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CRC </a:t>
              </a:r>
              <a:r>
                <a:rPr lang="zh-CN" altLang="en-US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检验码而采用简单的计算方法。 </a:t>
              </a:r>
            </a:p>
          </p:txBody>
        </p:sp>
        <p:sp>
          <p:nvSpPr>
            <p:cNvPr id="846902" name="Rectangle 75"/>
            <p:cNvSpPr>
              <a:spLocks noChangeArrowheads="1"/>
            </p:cNvSpPr>
            <p:nvPr/>
          </p:nvSpPr>
          <p:spPr bwMode="auto">
            <a:xfrm>
              <a:off x="3195" y="1410"/>
              <a:ext cx="2463" cy="307"/>
            </a:xfrm>
            <a:prstGeom prst="rect">
              <a:avLst/>
            </a:prstGeom>
            <a:noFill/>
            <a:ln w="762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>
                <a:ea typeface="宋体" panose="02010600030101010101" pitchFamily="2" charset="-122"/>
              </a:endParaRPr>
            </a:p>
          </p:txBody>
        </p:sp>
      </p:grpSp>
      <p:sp>
        <p:nvSpPr>
          <p:cNvPr id="846903" name="标题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smtClean="0">
                <a:ea typeface="黑体" panose="02010609060101010101" pitchFamily="49" charset="-122"/>
              </a:rPr>
              <a:t>1.  IP </a:t>
            </a:r>
            <a:r>
              <a:rPr lang="zh-CN" altLang="en-US" sz="3600" smtClean="0">
                <a:ea typeface="黑体" panose="02010609060101010101" pitchFamily="49" charset="-122"/>
              </a:rPr>
              <a:t>数据报首部的固定部分中的各字段 </a:t>
            </a:r>
          </a:p>
        </p:txBody>
      </p:sp>
      <p:sp>
        <p:nvSpPr>
          <p:cNvPr id="846904" name="灯片编号占位符 4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772F158-A8FB-4CE1-9CA0-3B9B90CCAE76}" type="slidenum">
              <a:rPr lang="zh-CN" altLang="en-US" smtClean="0"/>
              <a:pPr eaLnBrk="1" hangingPunct="1"/>
              <a:t>43</a:t>
            </a:fld>
            <a:endParaRPr lang="en-US" altLang="zh-CN" smtClean="0"/>
          </a:p>
        </p:txBody>
      </p:sp>
      <p:sp>
        <p:nvSpPr>
          <p:cNvPr id="846905" name="页脚占位符 5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400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897" name="Rectangle 66"/>
          <p:cNvSpPr>
            <a:spLocks noChangeArrowheads="1"/>
          </p:cNvSpPr>
          <p:nvPr/>
        </p:nvSpPr>
        <p:spPr bwMode="auto">
          <a:xfrm>
            <a:off x="4083050" y="5262563"/>
            <a:ext cx="1901825" cy="871537"/>
          </a:xfrm>
          <a:prstGeom prst="rect">
            <a:avLst/>
          </a:prstGeom>
          <a:solidFill>
            <a:srgbClr val="FFCC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48898" name="Text Box 4"/>
          <p:cNvSpPr txBox="1">
            <a:spLocks noChangeArrowheads="1"/>
          </p:cNvSpPr>
          <p:nvPr/>
        </p:nvSpPr>
        <p:spPr bwMode="auto">
          <a:xfrm>
            <a:off x="722313" y="763588"/>
            <a:ext cx="2495550" cy="406400"/>
          </a:xfrm>
          <a:prstGeom prst="rect">
            <a:avLst/>
          </a:prstGeom>
          <a:solidFill>
            <a:srgbClr val="99FF33"/>
          </a:solidFill>
          <a:ln w="9525">
            <a:solidFill>
              <a:schemeClr val="folHlink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 algn="ctr" eaLnBrk="0" hangingPunct="0"/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发送端</a:t>
            </a:r>
          </a:p>
        </p:txBody>
      </p:sp>
      <p:sp>
        <p:nvSpPr>
          <p:cNvPr id="848899" name="Text Box 5"/>
          <p:cNvSpPr txBox="1">
            <a:spLocks noChangeArrowheads="1"/>
          </p:cNvSpPr>
          <p:nvPr/>
        </p:nvSpPr>
        <p:spPr bwMode="auto">
          <a:xfrm>
            <a:off x="6727825" y="763588"/>
            <a:ext cx="2417763" cy="406400"/>
          </a:xfrm>
          <a:prstGeom prst="rect">
            <a:avLst/>
          </a:prstGeom>
          <a:solidFill>
            <a:srgbClr val="CCCCFF"/>
          </a:solidFill>
          <a:ln w="9525">
            <a:solidFill>
              <a:schemeClr val="folHlink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 algn="ctr" eaLnBrk="0" hangingPunct="0"/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接收端</a:t>
            </a:r>
          </a:p>
        </p:txBody>
      </p:sp>
      <p:sp>
        <p:nvSpPr>
          <p:cNvPr id="848900" name="Rectangle 6"/>
          <p:cNvSpPr>
            <a:spLocks noChangeArrowheads="1"/>
          </p:cNvSpPr>
          <p:nvPr/>
        </p:nvSpPr>
        <p:spPr bwMode="auto">
          <a:xfrm>
            <a:off x="1749425" y="1387475"/>
            <a:ext cx="1463675" cy="296863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16 </a:t>
            </a:r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位</a:t>
            </a:r>
          </a:p>
        </p:txBody>
      </p:sp>
      <p:sp>
        <p:nvSpPr>
          <p:cNvPr id="848901" name="Text Box 7"/>
          <p:cNvSpPr txBox="1">
            <a:spLocks noChangeArrowheads="1"/>
          </p:cNvSpPr>
          <p:nvPr/>
        </p:nvSpPr>
        <p:spPr bwMode="auto">
          <a:xfrm>
            <a:off x="1003300" y="1327150"/>
            <a:ext cx="6556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字 </a:t>
            </a:r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1</a:t>
            </a:r>
          </a:p>
        </p:txBody>
      </p:sp>
      <p:sp>
        <p:nvSpPr>
          <p:cNvPr id="848902" name="Rectangle 8"/>
          <p:cNvSpPr>
            <a:spLocks noChangeArrowheads="1"/>
          </p:cNvSpPr>
          <p:nvPr/>
        </p:nvSpPr>
        <p:spPr bwMode="auto">
          <a:xfrm>
            <a:off x="1749425" y="1804988"/>
            <a:ext cx="1463675" cy="295275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16 </a:t>
            </a:r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位</a:t>
            </a:r>
          </a:p>
        </p:txBody>
      </p:sp>
      <p:sp>
        <p:nvSpPr>
          <p:cNvPr id="848903" name="Text Box 9"/>
          <p:cNvSpPr txBox="1">
            <a:spLocks noChangeArrowheads="1"/>
          </p:cNvSpPr>
          <p:nvPr/>
        </p:nvSpPr>
        <p:spPr bwMode="auto">
          <a:xfrm>
            <a:off x="1003300" y="1743075"/>
            <a:ext cx="6556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字 </a:t>
            </a:r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2</a:t>
            </a:r>
          </a:p>
        </p:txBody>
      </p:sp>
      <p:grpSp>
        <p:nvGrpSpPr>
          <p:cNvPr id="481347" name="Group 67"/>
          <p:cNvGrpSpPr>
            <a:grpSpLocks/>
          </p:cNvGrpSpPr>
          <p:nvPr/>
        </p:nvGrpSpPr>
        <p:grpSpPr bwMode="auto">
          <a:xfrm>
            <a:off x="722313" y="2338388"/>
            <a:ext cx="2490787" cy="400050"/>
            <a:chOff x="295" y="1111"/>
            <a:chExt cx="1448" cy="252"/>
          </a:xfrm>
        </p:grpSpPr>
        <p:sp>
          <p:nvSpPr>
            <p:cNvPr id="848905" name="Rectangle 10"/>
            <p:cNvSpPr>
              <a:spLocks noChangeArrowheads="1"/>
            </p:cNvSpPr>
            <p:nvPr/>
          </p:nvSpPr>
          <p:spPr bwMode="auto">
            <a:xfrm>
              <a:off x="892" y="1158"/>
              <a:ext cx="851" cy="186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zh-CN" altLang="en-US" sz="2000" b="1" dirty="0">
                  <a:solidFill>
                    <a:srgbClr val="0000CC"/>
                  </a:solidFill>
                  <a:ea typeface="黑体" panose="02010609060101010101" pitchFamily="49" charset="-122"/>
                </a:rPr>
                <a:t>置为全 </a:t>
              </a:r>
              <a:r>
                <a:rPr lang="en-US" altLang="zh-CN" sz="2000" b="1" dirty="0">
                  <a:solidFill>
                    <a:srgbClr val="0000CC"/>
                  </a:solidFill>
                  <a:ea typeface="黑体" panose="02010609060101010101" pitchFamily="49" charset="-122"/>
                </a:rPr>
                <a:t>0</a:t>
              </a:r>
            </a:p>
          </p:txBody>
        </p:sp>
        <p:sp>
          <p:nvSpPr>
            <p:cNvPr id="848906" name="Text Box 11"/>
            <p:cNvSpPr txBox="1">
              <a:spLocks noChangeArrowheads="1"/>
            </p:cNvSpPr>
            <p:nvPr/>
          </p:nvSpPr>
          <p:spPr bwMode="auto">
            <a:xfrm>
              <a:off x="295" y="1111"/>
              <a:ext cx="555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检验和</a:t>
              </a:r>
            </a:p>
          </p:txBody>
        </p:sp>
      </p:grpSp>
      <p:sp>
        <p:nvSpPr>
          <p:cNvPr id="848907" name="Rectangle 12"/>
          <p:cNvSpPr>
            <a:spLocks noChangeArrowheads="1"/>
          </p:cNvSpPr>
          <p:nvPr/>
        </p:nvSpPr>
        <p:spPr bwMode="auto">
          <a:xfrm>
            <a:off x="1749425" y="3021013"/>
            <a:ext cx="1463675" cy="296862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16 </a:t>
            </a:r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位</a:t>
            </a:r>
          </a:p>
        </p:txBody>
      </p:sp>
      <p:sp>
        <p:nvSpPr>
          <p:cNvPr id="848908" name="Text Box 13"/>
          <p:cNvSpPr txBox="1">
            <a:spLocks noChangeArrowheads="1"/>
          </p:cNvSpPr>
          <p:nvPr/>
        </p:nvSpPr>
        <p:spPr bwMode="auto">
          <a:xfrm>
            <a:off x="1003300" y="2960688"/>
            <a:ext cx="6699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字 </a:t>
            </a:r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n</a:t>
            </a:r>
          </a:p>
        </p:txBody>
      </p:sp>
      <p:grpSp>
        <p:nvGrpSpPr>
          <p:cNvPr id="481348" name="Group 68"/>
          <p:cNvGrpSpPr>
            <a:grpSpLocks/>
          </p:cNvGrpSpPr>
          <p:nvPr/>
        </p:nvGrpSpPr>
        <p:grpSpPr bwMode="auto">
          <a:xfrm>
            <a:off x="500063" y="3551238"/>
            <a:ext cx="2713037" cy="708025"/>
            <a:chOff x="166" y="1875"/>
            <a:chExt cx="1577" cy="446"/>
          </a:xfrm>
        </p:grpSpPr>
        <p:sp>
          <p:nvSpPr>
            <p:cNvPr id="848910" name="Rectangle 14"/>
            <p:cNvSpPr>
              <a:spLocks noChangeArrowheads="1"/>
            </p:cNvSpPr>
            <p:nvPr/>
          </p:nvSpPr>
          <p:spPr bwMode="auto">
            <a:xfrm>
              <a:off x="892" y="2000"/>
              <a:ext cx="851" cy="188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16 </a:t>
              </a:r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位</a:t>
              </a:r>
            </a:p>
          </p:txBody>
        </p:sp>
        <p:sp>
          <p:nvSpPr>
            <p:cNvPr id="848911" name="Text Box 15"/>
            <p:cNvSpPr txBox="1">
              <a:spLocks noChangeArrowheads="1"/>
            </p:cNvSpPr>
            <p:nvPr/>
          </p:nvSpPr>
          <p:spPr bwMode="auto">
            <a:xfrm>
              <a:off x="166" y="1875"/>
              <a:ext cx="704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反码算术</a:t>
              </a:r>
            </a:p>
            <a:p>
              <a:pPr eaLnBrk="0" hangingPunct="0"/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运算求和</a:t>
              </a:r>
            </a:p>
          </p:txBody>
        </p:sp>
      </p:grpSp>
      <p:sp>
        <p:nvSpPr>
          <p:cNvPr id="848912" name="Text Box 19"/>
          <p:cNvSpPr txBox="1">
            <a:spLocks noChangeArrowheads="1"/>
          </p:cNvSpPr>
          <p:nvPr/>
        </p:nvSpPr>
        <p:spPr bwMode="auto">
          <a:xfrm>
            <a:off x="2133600" y="2019300"/>
            <a:ext cx="4397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…</a:t>
            </a:r>
          </a:p>
        </p:txBody>
      </p:sp>
      <p:sp>
        <p:nvSpPr>
          <p:cNvPr id="848913" name="Text Box 20"/>
          <p:cNvSpPr txBox="1">
            <a:spLocks noChangeArrowheads="1"/>
          </p:cNvSpPr>
          <p:nvPr/>
        </p:nvSpPr>
        <p:spPr bwMode="auto">
          <a:xfrm>
            <a:off x="2116138" y="2609850"/>
            <a:ext cx="4413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…</a:t>
            </a:r>
          </a:p>
        </p:txBody>
      </p:sp>
      <p:sp>
        <p:nvSpPr>
          <p:cNvPr id="848914" name="Line 21"/>
          <p:cNvSpPr>
            <a:spLocks noChangeShapeType="1"/>
          </p:cNvSpPr>
          <p:nvPr/>
        </p:nvSpPr>
        <p:spPr bwMode="auto">
          <a:xfrm>
            <a:off x="819150" y="3454400"/>
            <a:ext cx="29289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grpSp>
        <p:nvGrpSpPr>
          <p:cNvPr id="481349" name="Group 69"/>
          <p:cNvGrpSpPr>
            <a:grpSpLocks/>
          </p:cNvGrpSpPr>
          <p:nvPr/>
        </p:nvGrpSpPr>
        <p:grpSpPr bwMode="auto">
          <a:xfrm>
            <a:off x="1530350" y="4151313"/>
            <a:ext cx="1082675" cy="501650"/>
            <a:chOff x="765" y="2253"/>
            <a:chExt cx="629" cy="316"/>
          </a:xfrm>
        </p:grpSpPr>
        <p:sp>
          <p:nvSpPr>
            <p:cNvPr id="848916" name="AutoShape 18"/>
            <p:cNvSpPr>
              <a:spLocks noChangeArrowheads="1"/>
            </p:cNvSpPr>
            <p:nvPr/>
          </p:nvSpPr>
          <p:spPr bwMode="auto">
            <a:xfrm>
              <a:off x="1293" y="2253"/>
              <a:ext cx="101" cy="316"/>
            </a:xfrm>
            <a:prstGeom prst="downArrow">
              <a:avLst>
                <a:gd name="adj1" fmla="val 50000"/>
                <a:gd name="adj2" fmla="val 78218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48917" name="Text Box 22"/>
            <p:cNvSpPr txBox="1">
              <a:spLocks noChangeArrowheads="1"/>
            </p:cNvSpPr>
            <p:nvPr/>
          </p:nvSpPr>
          <p:spPr bwMode="auto">
            <a:xfrm>
              <a:off x="765" y="2264"/>
              <a:ext cx="555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取反码</a:t>
              </a:r>
            </a:p>
          </p:txBody>
        </p:sp>
      </p:grpSp>
      <p:sp>
        <p:nvSpPr>
          <p:cNvPr id="848918" name="AutoShape 23"/>
          <p:cNvSpPr>
            <a:spLocks/>
          </p:cNvSpPr>
          <p:nvPr/>
        </p:nvSpPr>
        <p:spPr bwMode="auto">
          <a:xfrm>
            <a:off x="644525" y="1401763"/>
            <a:ext cx="174625" cy="1931987"/>
          </a:xfrm>
          <a:prstGeom prst="leftBrace">
            <a:avLst>
              <a:gd name="adj1" fmla="val 99880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48919" name="Text Box 24"/>
          <p:cNvSpPr txBox="1">
            <a:spLocks noChangeArrowheads="1"/>
          </p:cNvSpPr>
          <p:nvPr/>
        </p:nvSpPr>
        <p:spPr bwMode="auto">
          <a:xfrm>
            <a:off x="215900" y="1597025"/>
            <a:ext cx="439738" cy="163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数</a:t>
            </a:r>
          </a:p>
          <a:p>
            <a:pPr eaLnBrk="0" hangingPunct="0"/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据</a:t>
            </a:r>
          </a:p>
          <a:p>
            <a:pPr eaLnBrk="0" hangingPunct="0"/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报</a:t>
            </a:r>
          </a:p>
          <a:p>
            <a:pPr eaLnBrk="0" hangingPunct="0"/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首</a:t>
            </a:r>
          </a:p>
          <a:p>
            <a:pPr eaLnBrk="0" hangingPunct="0"/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部</a:t>
            </a:r>
          </a:p>
        </p:txBody>
      </p:sp>
      <p:sp>
        <p:nvSpPr>
          <p:cNvPr id="848920" name="Rectangle 25"/>
          <p:cNvSpPr>
            <a:spLocks noChangeArrowheads="1"/>
          </p:cNvSpPr>
          <p:nvPr/>
        </p:nvSpPr>
        <p:spPr bwMode="auto">
          <a:xfrm>
            <a:off x="4090988" y="4508500"/>
            <a:ext cx="1893887" cy="742950"/>
          </a:xfrm>
          <a:prstGeom prst="rect">
            <a:avLst/>
          </a:prstGeom>
          <a:solidFill>
            <a:srgbClr val="CCEC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48921" name="Rectangle 26"/>
          <p:cNvSpPr>
            <a:spLocks noChangeArrowheads="1"/>
          </p:cNvSpPr>
          <p:nvPr/>
        </p:nvSpPr>
        <p:spPr bwMode="auto">
          <a:xfrm>
            <a:off x="5049838" y="4814888"/>
            <a:ext cx="927100" cy="134937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48922" name="Text Box 27"/>
          <p:cNvSpPr txBox="1">
            <a:spLocks noChangeArrowheads="1"/>
          </p:cNvSpPr>
          <p:nvPr/>
        </p:nvSpPr>
        <p:spPr bwMode="auto">
          <a:xfrm>
            <a:off x="4449763" y="4122738"/>
            <a:ext cx="12668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IP </a:t>
            </a:r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数据报</a:t>
            </a:r>
          </a:p>
        </p:txBody>
      </p:sp>
      <p:sp>
        <p:nvSpPr>
          <p:cNvPr id="848923" name="Line 28"/>
          <p:cNvSpPr>
            <a:spLocks noChangeShapeType="1"/>
          </p:cNvSpPr>
          <p:nvPr/>
        </p:nvSpPr>
        <p:spPr bwMode="auto">
          <a:xfrm>
            <a:off x="4090988" y="4656138"/>
            <a:ext cx="18938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48924" name="Line 29"/>
          <p:cNvSpPr>
            <a:spLocks noChangeShapeType="1"/>
          </p:cNvSpPr>
          <p:nvPr/>
        </p:nvSpPr>
        <p:spPr bwMode="auto">
          <a:xfrm>
            <a:off x="4090988" y="4806950"/>
            <a:ext cx="18938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48925" name="Line 30"/>
          <p:cNvSpPr>
            <a:spLocks noChangeShapeType="1"/>
          </p:cNvSpPr>
          <p:nvPr/>
        </p:nvSpPr>
        <p:spPr bwMode="auto">
          <a:xfrm>
            <a:off x="4090988" y="4954588"/>
            <a:ext cx="18938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48926" name="Line 31"/>
          <p:cNvSpPr>
            <a:spLocks noChangeShapeType="1"/>
          </p:cNvSpPr>
          <p:nvPr/>
        </p:nvSpPr>
        <p:spPr bwMode="auto">
          <a:xfrm>
            <a:off x="4090988" y="5102225"/>
            <a:ext cx="18938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48927" name="Line 32"/>
          <p:cNvSpPr>
            <a:spLocks noChangeShapeType="1"/>
          </p:cNvSpPr>
          <p:nvPr/>
        </p:nvSpPr>
        <p:spPr bwMode="auto">
          <a:xfrm>
            <a:off x="4090988" y="5251450"/>
            <a:ext cx="18938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48928" name="Line 33"/>
          <p:cNvSpPr>
            <a:spLocks noChangeShapeType="1"/>
          </p:cNvSpPr>
          <p:nvPr/>
        </p:nvSpPr>
        <p:spPr bwMode="auto">
          <a:xfrm>
            <a:off x="5038725" y="4508500"/>
            <a:ext cx="0" cy="4460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48929" name="Line 34"/>
          <p:cNvSpPr>
            <a:spLocks noChangeShapeType="1"/>
          </p:cNvSpPr>
          <p:nvPr/>
        </p:nvSpPr>
        <p:spPr bwMode="auto">
          <a:xfrm>
            <a:off x="4606925" y="4806950"/>
            <a:ext cx="0" cy="1476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48930" name="Line 35"/>
          <p:cNvSpPr>
            <a:spLocks noChangeShapeType="1"/>
          </p:cNvSpPr>
          <p:nvPr/>
        </p:nvSpPr>
        <p:spPr bwMode="auto">
          <a:xfrm>
            <a:off x="4606925" y="4508500"/>
            <a:ext cx="0" cy="1476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48931" name="Line 36"/>
          <p:cNvSpPr>
            <a:spLocks noChangeShapeType="1"/>
          </p:cNvSpPr>
          <p:nvPr/>
        </p:nvSpPr>
        <p:spPr bwMode="auto">
          <a:xfrm>
            <a:off x="4351338" y="4508500"/>
            <a:ext cx="0" cy="1476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48932" name="Line 37"/>
          <p:cNvSpPr>
            <a:spLocks noChangeShapeType="1"/>
          </p:cNvSpPr>
          <p:nvPr/>
        </p:nvSpPr>
        <p:spPr bwMode="auto">
          <a:xfrm>
            <a:off x="5183188" y="4656138"/>
            <a:ext cx="0" cy="1508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48933" name="Line 38"/>
          <p:cNvSpPr>
            <a:spLocks noChangeShapeType="1"/>
          </p:cNvSpPr>
          <p:nvPr/>
        </p:nvSpPr>
        <p:spPr bwMode="auto">
          <a:xfrm>
            <a:off x="5468938" y="5102225"/>
            <a:ext cx="0" cy="1492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grpSp>
        <p:nvGrpSpPr>
          <p:cNvPr id="481351" name="Group 71"/>
          <p:cNvGrpSpPr>
            <a:grpSpLocks/>
          </p:cNvGrpSpPr>
          <p:nvPr/>
        </p:nvGrpSpPr>
        <p:grpSpPr bwMode="auto">
          <a:xfrm>
            <a:off x="765175" y="4660900"/>
            <a:ext cx="2447925" cy="400050"/>
            <a:chOff x="320" y="2574"/>
            <a:chExt cx="1423" cy="252"/>
          </a:xfrm>
        </p:grpSpPr>
        <p:sp>
          <p:nvSpPr>
            <p:cNvPr id="848935" name="Rectangle 16"/>
            <p:cNvSpPr>
              <a:spLocks noChangeArrowheads="1"/>
            </p:cNvSpPr>
            <p:nvPr/>
          </p:nvSpPr>
          <p:spPr bwMode="auto">
            <a:xfrm>
              <a:off x="892" y="2619"/>
              <a:ext cx="851" cy="186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16 </a:t>
              </a:r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位</a:t>
              </a:r>
            </a:p>
          </p:txBody>
        </p:sp>
        <p:sp>
          <p:nvSpPr>
            <p:cNvPr id="848936" name="Text Box 17"/>
            <p:cNvSpPr txBox="1">
              <a:spLocks noChangeArrowheads="1"/>
            </p:cNvSpPr>
            <p:nvPr/>
          </p:nvSpPr>
          <p:spPr bwMode="auto">
            <a:xfrm>
              <a:off x="320" y="2574"/>
              <a:ext cx="555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检验和</a:t>
              </a:r>
            </a:p>
          </p:txBody>
        </p:sp>
      </p:grpSp>
      <p:sp>
        <p:nvSpPr>
          <p:cNvPr id="481319" name="Line 39"/>
          <p:cNvSpPr>
            <a:spLocks noChangeShapeType="1"/>
          </p:cNvSpPr>
          <p:nvPr/>
        </p:nvSpPr>
        <p:spPr bwMode="auto">
          <a:xfrm>
            <a:off x="3232150" y="4892675"/>
            <a:ext cx="2322513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48938" name="Rectangle 40"/>
          <p:cNvSpPr>
            <a:spLocks noChangeArrowheads="1"/>
          </p:cNvSpPr>
          <p:nvPr/>
        </p:nvSpPr>
        <p:spPr bwMode="auto">
          <a:xfrm>
            <a:off x="7667625" y="1387475"/>
            <a:ext cx="1463675" cy="296863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16 </a:t>
            </a:r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位</a:t>
            </a:r>
          </a:p>
        </p:txBody>
      </p:sp>
      <p:sp>
        <p:nvSpPr>
          <p:cNvPr id="848939" name="Text Box 41"/>
          <p:cNvSpPr txBox="1">
            <a:spLocks noChangeArrowheads="1"/>
          </p:cNvSpPr>
          <p:nvPr/>
        </p:nvSpPr>
        <p:spPr bwMode="auto">
          <a:xfrm>
            <a:off x="6918325" y="1327150"/>
            <a:ext cx="6572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字 </a:t>
            </a:r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1</a:t>
            </a:r>
          </a:p>
        </p:txBody>
      </p:sp>
      <p:sp>
        <p:nvSpPr>
          <p:cNvPr id="848940" name="Rectangle 42"/>
          <p:cNvSpPr>
            <a:spLocks noChangeArrowheads="1"/>
          </p:cNvSpPr>
          <p:nvPr/>
        </p:nvSpPr>
        <p:spPr bwMode="auto">
          <a:xfrm>
            <a:off x="7667625" y="1804988"/>
            <a:ext cx="1463675" cy="295275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16 </a:t>
            </a:r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位</a:t>
            </a:r>
          </a:p>
        </p:txBody>
      </p:sp>
      <p:sp>
        <p:nvSpPr>
          <p:cNvPr id="848941" name="Text Box 43"/>
          <p:cNvSpPr txBox="1">
            <a:spLocks noChangeArrowheads="1"/>
          </p:cNvSpPr>
          <p:nvPr/>
        </p:nvSpPr>
        <p:spPr bwMode="auto">
          <a:xfrm>
            <a:off x="6918325" y="1743075"/>
            <a:ext cx="6572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字 </a:t>
            </a:r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2</a:t>
            </a:r>
          </a:p>
        </p:txBody>
      </p:sp>
      <p:grpSp>
        <p:nvGrpSpPr>
          <p:cNvPr id="481353" name="Group 73"/>
          <p:cNvGrpSpPr>
            <a:grpSpLocks/>
          </p:cNvGrpSpPr>
          <p:nvPr/>
        </p:nvGrpSpPr>
        <p:grpSpPr bwMode="auto">
          <a:xfrm>
            <a:off x="6670675" y="2324100"/>
            <a:ext cx="2460625" cy="400050"/>
            <a:chOff x="3754" y="1102"/>
            <a:chExt cx="1430" cy="252"/>
          </a:xfrm>
        </p:grpSpPr>
        <p:sp>
          <p:nvSpPr>
            <p:cNvPr id="848943" name="Rectangle 44"/>
            <p:cNvSpPr>
              <a:spLocks noChangeArrowheads="1"/>
            </p:cNvSpPr>
            <p:nvPr/>
          </p:nvSpPr>
          <p:spPr bwMode="auto">
            <a:xfrm>
              <a:off x="4333" y="1158"/>
              <a:ext cx="851" cy="186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16 </a:t>
              </a:r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位</a:t>
              </a:r>
            </a:p>
          </p:txBody>
        </p:sp>
        <p:sp>
          <p:nvSpPr>
            <p:cNvPr id="848944" name="Text Box 45"/>
            <p:cNvSpPr txBox="1">
              <a:spLocks noChangeArrowheads="1"/>
            </p:cNvSpPr>
            <p:nvPr/>
          </p:nvSpPr>
          <p:spPr bwMode="auto">
            <a:xfrm>
              <a:off x="3754" y="1102"/>
              <a:ext cx="555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检验和</a:t>
              </a:r>
            </a:p>
          </p:txBody>
        </p:sp>
      </p:grpSp>
      <p:sp>
        <p:nvSpPr>
          <p:cNvPr id="848945" name="Rectangle 46"/>
          <p:cNvSpPr>
            <a:spLocks noChangeArrowheads="1"/>
          </p:cNvSpPr>
          <p:nvPr/>
        </p:nvSpPr>
        <p:spPr bwMode="auto">
          <a:xfrm>
            <a:off x="7667625" y="3021013"/>
            <a:ext cx="1463675" cy="296862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16 </a:t>
            </a:r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位</a:t>
            </a:r>
          </a:p>
        </p:txBody>
      </p:sp>
      <p:sp>
        <p:nvSpPr>
          <p:cNvPr id="848946" name="Text Box 47"/>
          <p:cNvSpPr txBox="1">
            <a:spLocks noChangeArrowheads="1"/>
          </p:cNvSpPr>
          <p:nvPr/>
        </p:nvSpPr>
        <p:spPr bwMode="auto">
          <a:xfrm>
            <a:off x="6918325" y="2960688"/>
            <a:ext cx="6715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字 </a:t>
            </a:r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n</a:t>
            </a:r>
          </a:p>
        </p:txBody>
      </p:sp>
      <p:grpSp>
        <p:nvGrpSpPr>
          <p:cNvPr id="481354" name="Group 74"/>
          <p:cNvGrpSpPr>
            <a:grpSpLocks/>
          </p:cNvGrpSpPr>
          <p:nvPr/>
        </p:nvGrpSpPr>
        <p:grpSpPr bwMode="auto">
          <a:xfrm>
            <a:off x="6416675" y="3551238"/>
            <a:ext cx="2714625" cy="708025"/>
            <a:chOff x="3606" y="1875"/>
            <a:chExt cx="1578" cy="446"/>
          </a:xfrm>
        </p:grpSpPr>
        <p:sp>
          <p:nvSpPr>
            <p:cNvPr id="848948" name="Rectangle 48"/>
            <p:cNvSpPr>
              <a:spLocks noChangeArrowheads="1"/>
            </p:cNvSpPr>
            <p:nvPr/>
          </p:nvSpPr>
          <p:spPr bwMode="auto">
            <a:xfrm>
              <a:off x="4333" y="2000"/>
              <a:ext cx="851" cy="188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16 </a:t>
              </a:r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位</a:t>
              </a:r>
            </a:p>
          </p:txBody>
        </p:sp>
        <p:sp>
          <p:nvSpPr>
            <p:cNvPr id="848949" name="Text Box 49"/>
            <p:cNvSpPr txBox="1">
              <a:spLocks noChangeArrowheads="1"/>
            </p:cNvSpPr>
            <p:nvPr/>
          </p:nvSpPr>
          <p:spPr bwMode="auto">
            <a:xfrm>
              <a:off x="3606" y="1875"/>
              <a:ext cx="704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反码算术</a:t>
              </a:r>
            </a:p>
            <a:p>
              <a:pPr eaLnBrk="0" hangingPunct="0"/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运算求和</a:t>
              </a:r>
            </a:p>
          </p:txBody>
        </p:sp>
      </p:grpSp>
      <p:grpSp>
        <p:nvGrpSpPr>
          <p:cNvPr id="481356" name="Group 76"/>
          <p:cNvGrpSpPr>
            <a:grpSpLocks/>
          </p:cNvGrpSpPr>
          <p:nvPr/>
        </p:nvGrpSpPr>
        <p:grpSpPr bwMode="auto">
          <a:xfrm>
            <a:off x="6958013" y="4660900"/>
            <a:ext cx="2173287" cy="400050"/>
            <a:chOff x="3921" y="2574"/>
            <a:chExt cx="1263" cy="252"/>
          </a:xfrm>
        </p:grpSpPr>
        <p:sp>
          <p:nvSpPr>
            <p:cNvPr id="848951" name="Rectangle 50"/>
            <p:cNvSpPr>
              <a:spLocks noChangeArrowheads="1"/>
            </p:cNvSpPr>
            <p:nvPr/>
          </p:nvSpPr>
          <p:spPr bwMode="auto">
            <a:xfrm>
              <a:off x="4333" y="2619"/>
              <a:ext cx="851" cy="186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16 </a:t>
              </a:r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位</a:t>
              </a:r>
            </a:p>
          </p:txBody>
        </p:sp>
        <p:sp>
          <p:nvSpPr>
            <p:cNvPr id="848952" name="Text Box 51"/>
            <p:cNvSpPr txBox="1">
              <a:spLocks noChangeArrowheads="1"/>
            </p:cNvSpPr>
            <p:nvPr/>
          </p:nvSpPr>
          <p:spPr bwMode="auto">
            <a:xfrm>
              <a:off x="3921" y="2574"/>
              <a:ext cx="40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结果</a:t>
              </a:r>
            </a:p>
          </p:txBody>
        </p:sp>
      </p:grpSp>
      <p:sp>
        <p:nvSpPr>
          <p:cNvPr id="848953" name="Text Box 53"/>
          <p:cNvSpPr txBox="1">
            <a:spLocks noChangeArrowheads="1"/>
          </p:cNvSpPr>
          <p:nvPr/>
        </p:nvSpPr>
        <p:spPr bwMode="auto">
          <a:xfrm>
            <a:off x="8050213" y="2019300"/>
            <a:ext cx="4413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…</a:t>
            </a:r>
          </a:p>
        </p:txBody>
      </p:sp>
      <p:sp>
        <p:nvSpPr>
          <p:cNvPr id="848954" name="Text Box 54"/>
          <p:cNvSpPr txBox="1">
            <a:spLocks noChangeArrowheads="1"/>
          </p:cNvSpPr>
          <p:nvPr/>
        </p:nvSpPr>
        <p:spPr bwMode="auto">
          <a:xfrm>
            <a:off x="8032750" y="2609850"/>
            <a:ext cx="4413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…</a:t>
            </a:r>
          </a:p>
        </p:txBody>
      </p:sp>
      <p:sp>
        <p:nvSpPr>
          <p:cNvPr id="848955" name="Line 55"/>
          <p:cNvSpPr>
            <a:spLocks noChangeShapeType="1"/>
          </p:cNvSpPr>
          <p:nvPr/>
        </p:nvSpPr>
        <p:spPr bwMode="auto">
          <a:xfrm>
            <a:off x="6864350" y="3454400"/>
            <a:ext cx="279876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grpSp>
        <p:nvGrpSpPr>
          <p:cNvPr id="481355" name="Group 75"/>
          <p:cNvGrpSpPr>
            <a:grpSpLocks/>
          </p:cNvGrpSpPr>
          <p:nvPr/>
        </p:nvGrpSpPr>
        <p:grpSpPr bwMode="auto">
          <a:xfrm>
            <a:off x="7351713" y="4151313"/>
            <a:ext cx="1174750" cy="501650"/>
            <a:chOff x="4150" y="2253"/>
            <a:chExt cx="683" cy="316"/>
          </a:xfrm>
        </p:grpSpPr>
        <p:sp>
          <p:nvSpPr>
            <p:cNvPr id="848957" name="AutoShape 52"/>
            <p:cNvSpPr>
              <a:spLocks noChangeArrowheads="1"/>
            </p:cNvSpPr>
            <p:nvPr/>
          </p:nvSpPr>
          <p:spPr bwMode="auto">
            <a:xfrm>
              <a:off x="4733" y="2253"/>
              <a:ext cx="100" cy="316"/>
            </a:xfrm>
            <a:prstGeom prst="downArrow">
              <a:avLst>
                <a:gd name="adj1" fmla="val 50000"/>
                <a:gd name="adj2" fmla="val 79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48958" name="Text Box 56"/>
            <p:cNvSpPr txBox="1">
              <a:spLocks noChangeArrowheads="1"/>
            </p:cNvSpPr>
            <p:nvPr/>
          </p:nvSpPr>
          <p:spPr bwMode="auto">
            <a:xfrm>
              <a:off x="4150" y="2264"/>
              <a:ext cx="555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取反码</a:t>
              </a:r>
            </a:p>
          </p:txBody>
        </p:sp>
      </p:grpSp>
      <p:sp>
        <p:nvSpPr>
          <p:cNvPr id="848959" name="AutoShape 57"/>
          <p:cNvSpPr>
            <a:spLocks/>
          </p:cNvSpPr>
          <p:nvPr/>
        </p:nvSpPr>
        <p:spPr bwMode="auto">
          <a:xfrm>
            <a:off x="6648450" y="1401763"/>
            <a:ext cx="173038" cy="1931987"/>
          </a:xfrm>
          <a:prstGeom prst="leftBrace">
            <a:avLst>
              <a:gd name="adj1" fmla="val 100796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0" hangingPunct="0"/>
            <a:endParaRPr lang="zh-CN" altLang="zh-CN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48960" name="Text Box 58"/>
          <p:cNvSpPr txBox="1">
            <a:spLocks noChangeArrowheads="1"/>
          </p:cNvSpPr>
          <p:nvPr/>
        </p:nvSpPr>
        <p:spPr bwMode="auto">
          <a:xfrm>
            <a:off x="4435475" y="5476875"/>
            <a:ext cx="12112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数据部分</a:t>
            </a:r>
          </a:p>
        </p:txBody>
      </p:sp>
      <p:sp>
        <p:nvSpPr>
          <p:cNvPr id="848961" name="AutoShape 59"/>
          <p:cNvSpPr>
            <a:spLocks/>
          </p:cNvSpPr>
          <p:nvPr/>
        </p:nvSpPr>
        <p:spPr bwMode="auto">
          <a:xfrm>
            <a:off x="5984875" y="4522788"/>
            <a:ext cx="174625" cy="742950"/>
          </a:xfrm>
          <a:prstGeom prst="rightBrace">
            <a:avLst>
              <a:gd name="adj1" fmla="val 38389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48962" name="Freeform 60"/>
          <p:cNvSpPr>
            <a:spLocks noChangeArrowheads="1"/>
          </p:cNvSpPr>
          <p:nvPr/>
        </p:nvSpPr>
        <p:spPr bwMode="auto">
          <a:xfrm>
            <a:off x="6159500" y="2366963"/>
            <a:ext cx="490538" cy="2525712"/>
          </a:xfrm>
          <a:custGeom>
            <a:avLst/>
            <a:gdLst>
              <a:gd name="T0" fmla="*/ 0 w 464"/>
              <a:gd name="T1" fmla="*/ 1624 h 1624"/>
              <a:gd name="T2" fmla="*/ 56 w 464"/>
              <a:gd name="T3" fmla="*/ 1624 h 1624"/>
              <a:gd name="T4" fmla="*/ 56 w 464"/>
              <a:gd name="T5" fmla="*/ 0 h 1624"/>
              <a:gd name="T6" fmla="*/ 464 w 464"/>
              <a:gd name="T7" fmla="*/ 0 h 16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64" h="1624">
                <a:moveTo>
                  <a:pt x="0" y="1624"/>
                </a:moveTo>
                <a:lnTo>
                  <a:pt x="56" y="1624"/>
                </a:lnTo>
                <a:lnTo>
                  <a:pt x="56" y="0"/>
                </a:lnTo>
                <a:lnTo>
                  <a:pt x="464" y="0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grpSp>
        <p:nvGrpSpPr>
          <p:cNvPr id="481357" name="Group 77"/>
          <p:cNvGrpSpPr>
            <a:grpSpLocks/>
          </p:cNvGrpSpPr>
          <p:nvPr/>
        </p:nvGrpSpPr>
        <p:grpSpPr bwMode="auto">
          <a:xfrm>
            <a:off x="7165975" y="5135563"/>
            <a:ext cx="2682875" cy="1389062"/>
            <a:chOff x="4042" y="2873"/>
            <a:chExt cx="1560" cy="875"/>
          </a:xfrm>
        </p:grpSpPr>
        <p:sp>
          <p:nvSpPr>
            <p:cNvPr id="848964" name="AutoShape 61"/>
            <p:cNvSpPr>
              <a:spLocks noChangeArrowheads="1"/>
            </p:cNvSpPr>
            <p:nvPr/>
          </p:nvSpPr>
          <p:spPr bwMode="auto">
            <a:xfrm>
              <a:off x="4742" y="2873"/>
              <a:ext cx="101" cy="316"/>
            </a:xfrm>
            <a:prstGeom prst="downArrow">
              <a:avLst>
                <a:gd name="adj1" fmla="val 50000"/>
                <a:gd name="adj2" fmla="val 78218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48965" name="Rectangle 62"/>
            <p:cNvSpPr>
              <a:spLocks noChangeArrowheads="1"/>
            </p:cNvSpPr>
            <p:nvPr/>
          </p:nvSpPr>
          <p:spPr bwMode="auto">
            <a:xfrm>
              <a:off x="4042" y="3235"/>
              <a:ext cx="1560" cy="513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rgbClr val="333399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eaLnBrk="0" hangingPunct="0"/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若结果为 </a:t>
              </a:r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0, </a:t>
              </a:r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则保留；</a:t>
              </a:r>
            </a:p>
            <a:p>
              <a:pPr eaLnBrk="0" hangingPunct="0"/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否则，丢弃该数据报</a:t>
              </a:r>
            </a:p>
          </p:txBody>
        </p:sp>
      </p:grpSp>
      <p:grpSp>
        <p:nvGrpSpPr>
          <p:cNvPr id="481352" name="Group 72"/>
          <p:cNvGrpSpPr>
            <a:grpSpLocks/>
          </p:cNvGrpSpPr>
          <p:nvPr/>
        </p:nvGrpSpPr>
        <p:grpSpPr bwMode="auto">
          <a:xfrm>
            <a:off x="1201738" y="5462588"/>
            <a:ext cx="3125787" cy="708025"/>
            <a:chOff x="574" y="3079"/>
            <a:chExt cx="1817" cy="446"/>
          </a:xfrm>
        </p:grpSpPr>
        <p:sp>
          <p:nvSpPr>
            <p:cNvPr id="848967" name="Text Box 63"/>
            <p:cNvSpPr txBox="1">
              <a:spLocks noChangeArrowheads="1"/>
            </p:cNvSpPr>
            <p:nvPr/>
          </p:nvSpPr>
          <p:spPr bwMode="auto">
            <a:xfrm>
              <a:off x="574" y="3079"/>
              <a:ext cx="1450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数据部分</a:t>
              </a:r>
            </a:p>
            <a:p>
              <a:pPr algn="ctr" eaLnBrk="0" hangingPunct="0"/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不参与检验和的计算</a:t>
              </a:r>
            </a:p>
          </p:txBody>
        </p:sp>
        <p:sp>
          <p:nvSpPr>
            <p:cNvPr id="848968" name="Line 64"/>
            <p:cNvSpPr>
              <a:spLocks noChangeShapeType="1"/>
            </p:cNvSpPr>
            <p:nvPr/>
          </p:nvSpPr>
          <p:spPr bwMode="auto">
            <a:xfrm>
              <a:off x="2020" y="3266"/>
              <a:ext cx="37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</p:grpSp>
      <p:sp>
        <p:nvSpPr>
          <p:cNvPr id="848969" name="矩形 73"/>
          <p:cNvSpPr>
            <a:spLocks noChangeArrowheads="1"/>
          </p:cNvSpPr>
          <p:nvPr/>
        </p:nvSpPr>
        <p:spPr bwMode="auto">
          <a:xfrm>
            <a:off x="317500" y="96838"/>
            <a:ext cx="8380413" cy="461962"/>
          </a:xfrm>
          <a:prstGeom prst="rect">
            <a:avLst/>
          </a:prstGeom>
          <a:solidFill>
            <a:srgbClr val="FFFFCC"/>
          </a:solidFill>
          <a:ln w="9525">
            <a:solidFill>
              <a:schemeClr val="folHlink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 algn="ctr" eaLnBrk="0" hangingPunct="0"/>
            <a:r>
              <a:rPr lang="en-US" altLang="zh-CN" sz="2400" b="1" dirty="0">
                <a:solidFill>
                  <a:srgbClr val="0000CC"/>
                </a:solidFill>
                <a:ea typeface="黑体" panose="02010609060101010101" pitchFamily="49" charset="-122"/>
              </a:rPr>
              <a:t>IP </a:t>
            </a:r>
            <a:r>
              <a:rPr lang="zh-CN" altLang="en-US" sz="2400" b="1" dirty="0">
                <a:solidFill>
                  <a:srgbClr val="0000CC"/>
                </a:solidFill>
                <a:ea typeface="黑体" panose="02010609060101010101" pitchFamily="49" charset="-122"/>
              </a:rPr>
              <a:t>数据报</a:t>
            </a:r>
            <a:r>
              <a:rPr lang="zh-CN" altLang="zh-CN" sz="2400" b="1" dirty="0">
                <a:solidFill>
                  <a:srgbClr val="0000CC"/>
                </a:solidFill>
                <a:ea typeface="黑体" panose="02010609060101010101" pitchFamily="49" charset="-122"/>
              </a:rPr>
              <a:t>首部检验和的计算</a:t>
            </a:r>
            <a:r>
              <a:rPr lang="zh-CN" altLang="en-US" sz="2400" b="1" dirty="0">
                <a:solidFill>
                  <a:srgbClr val="0000CC"/>
                </a:solidFill>
                <a:ea typeface="黑体" panose="02010609060101010101" pitchFamily="49" charset="-122"/>
              </a:rPr>
              <a:t>采用 </a:t>
            </a:r>
            <a:r>
              <a:rPr lang="en-US" altLang="zh-CN" sz="2400" b="1" dirty="0">
                <a:solidFill>
                  <a:srgbClr val="0000CC"/>
                </a:solidFill>
                <a:ea typeface="黑体" panose="02010609060101010101" pitchFamily="49" charset="-122"/>
              </a:rPr>
              <a:t>16 </a:t>
            </a:r>
            <a:r>
              <a:rPr lang="zh-CN" altLang="en-US" sz="2400" b="1" dirty="0">
                <a:solidFill>
                  <a:srgbClr val="0000CC"/>
                </a:solidFill>
                <a:ea typeface="黑体" panose="02010609060101010101" pitchFamily="49" charset="-122"/>
              </a:rPr>
              <a:t>位</a:t>
            </a:r>
            <a:r>
              <a:rPr lang="zh-CN" altLang="zh-CN" sz="2400" b="1" dirty="0">
                <a:solidFill>
                  <a:srgbClr val="C00000"/>
                </a:solidFill>
                <a:ea typeface="黑体" panose="02010609060101010101" pitchFamily="49" charset="-122"/>
              </a:rPr>
              <a:t>二进制反码求和</a:t>
            </a:r>
            <a:r>
              <a:rPr lang="zh-CN" altLang="en-US" sz="2400" b="1" dirty="0">
                <a:solidFill>
                  <a:srgbClr val="C00000"/>
                </a:solidFill>
                <a:ea typeface="黑体" panose="02010609060101010101" pitchFamily="49" charset="-122"/>
              </a:rPr>
              <a:t>算法</a:t>
            </a:r>
          </a:p>
        </p:txBody>
      </p:sp>
      <p:sp>
        <p:nvSpPr>
          <p:cNvPr id="848970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fld id="{D00C15AE-41E9-45AD-92A9-01A51851B86D}" type="slidenum">
              <a:rPr lang="zh-CN" altLang="en-US" smtClean="0"/>
              <a:pPr/>
              <a:t>44</a:t>
            </a:fld>
            <a:endParaRPr lang="en-US" altLang="zh-CN" smtClean="0"/>
          </a:p>
        </p:txBody>
      </p:sp>
      <p:sp>
        <p:nvSpPr>
          <p:cNvPr id="848971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481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35" presetClass="emph" presetSubtype="0" repeatCount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0" dur="1000" fill="hold"/>
                                        <p:tgtEl>
                                          <p:spTgt spid="481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5" presetClass="emph" presetSubtype="0" repeatCount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4" dur="1000" fill="hold"/>
                                        <p:tgtEl>
                                          <p:spTgt spid="481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35" presetClass="emph" presetSubtype="0" repeatCount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8" dur="1000" fill="hold"/>
                                        <p:tgtEl>
                                          <p:spTgt spid="481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5" presetClass="emph" presetSubtype="0" repeatCount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2" dur="1000" fill="hold"/>
                                        <p:tgtEl>
                                          <p:spTgt spid="481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481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5" presetClass="emph" presetSubtype="0" repeatCount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31" dur="1000" fill="hold"/>
                                        <p:tgtEl>
                                          <p:spTgt spid="481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35" presetClass="emph" presetSubtype="0" repeatCount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35" dur="1000" fill="hold"/>
                                        <p:tgtEl>
                                          <p:spTgt spid="481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35" presetClass="emph" presetSubtype="0" repeatCount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39" dur="1000" fill="hold"/>
                                        <p:tgtEl>
                                          <p:spTgt spid="481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35" presetClass="emph" presetSubtype="0" repeatCount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43" dur="1000" fill="hold"/>
                                        <p:tgtEl>
                                          <p:spTgt spid="481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35" presetClass="emph" presetSubtype="0" repeatCount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47" dur="1000" fill="hold"/>
                                        <p:tgtEl>
                                          <p:spTgt spid="481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19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>
                <a:solidFill>
                  <a:schemeClr val="tx1"/>
                </a:solidFill>
                <a:ea typeface="黑体" panose="02010609060101010101" pitchFamily="49" charset="-122"/>
              </a:rPr>
              <a:t>二进制反码</a:t>
            </a:r>
            <a:r>
              <a:rPr lang="zh-CN" altLang="zh-CN" dirty="0" smtClean="0">
                <a:solidFill>
                  <a:schemeClr val="tx1"/>
                </a:solidFill>
                <a:ea typeface="黑体" panose="02010609060101010101" pitchFamily="49" charset="-122"/>
              </a:rPr>
              <a:t>求和</a:t>
            </a:r>
            <a:r>
              <a:rPr lang="zh-CN" altLang="en-US" dirty="0" smtClean="0">
                <a:solidFill>
                  <a:schemeClr val="tx1"/>
                </a:solidFill>
                <a:ea typeface="黑体" panose="02010609060101010101" pitchFamily="49" charset="-122"/>
              </a:rPr>
              <a:t>运算规则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ppt课件</a:t>
            </a: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77DAC-F69D-47B1-9C81-D9ECC8A84006}" type="slidenum">
              <a:rPr lang="zh-CN" altLang="en-US" smtClean="0"/>
              <a:pPr/>
              <a:t>45</a:t>
            </a:fld>
            <a:endParaRPr lang="en-US" altLang="zh-CN"/>
          </a:p>
        </p:txBody>
      </p:sp>
      <p:sp>
        <p:nvSpPr>
          <p:cNvPr id="5" name="矩形 4"/>
          <p:cNvSpPr/>
          <p:nvPr/>
        </p:nvSpPr>
        <p:spPr>
          <a:xfrm>
            <a:off x="560634" y="1484838"/>
            <a:ext cx="9059730" cy="4524315"/>
          </a:xfrm>
          <a:prstGeom prst="rect">
            <a:avLst/>
          </a:prstGeom>
          <a:solidFill>
            <a:srgbClr val="FFFFCC"/>
          </a:solidFill>
          <a:ln w="9525">
            <a:solidFill>
              <a:schemeClr val="folHlink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square">
            <a:spAutoFit/>
          </a:bodyPr>
          <a:lstStyle/>
          <a:p>
            <a:pPr algn="just" eaLnBrk="0" hangingPunct="0"/>
            <a:r>
              <a:rPr lang="zh-CN" altLang="en-US" sz="2400" b="1" dirty="0">
                <a:ea typeface="黑体" panose="02010609060101010101" pitchFamily="49" charset="-122"/>
              </a:rPr>
              <a:t>规则是从低到高位逐列进行计算，</a:t>
            </a:r>
            <a:r>
              <a:rPr lang="en-US" altLang="zh-CN" sz="2400" b="1" dirty="0">
                <a:ea typeface="黑体" panose="02010609060101010101" pitchFamily="49" charset="-122"/>
              </a:rPr>
              <a:t>0</a:t>
            </a:r>
            <a:r>
              <a:rPr lang="zh-CN" altLang="en-US" sz="2400" b="1" dirty="0">
                <a:ea typeface="黑体" panose="02010609060101010101" pitchFamily="49" charset="-122"/>
              </a:rPr>
              <a:t>和</a:t>
            </a:r>
            <a:r>
              <a:rPr lang="en-US" altLang="zh-CN" sz="2400" b="1" dirty="0">
                <a:ea typeface="黑体" panose="02010609060101010101" pitchFamily="49" charset="-122"/>
              </a:rPr>
              <a:t>0</a:t>
            </a:r>
            <a:r>
              <a:rPr lang="zh-CN" altLang="en-US" sz="2400" b="1" dirty="0">
                <a:ea typeface="黑体" panose="02010609060101010101" pitchFamily="49" charset="-122"/>
              </a:rPr>
              <a:t>加得</a:t>
            </a:r>
            <a:r>
              <a:rPr lang="en-US" altLang="zh-CN" sz="2400" b="1" dirty="0">
                <a:ea typeface="黑体" panose="02010609060101010101" pitchFamily="49" charset="-122"/>
              </a:rPr>
              <a:t>0,0</a:t>
            </a:r>
            <a:r>
              <a:rPr lang="zh-CN" altLang="en-US" sz="2400" b="1" dirty="0">
                <a:ea typeface="黑体" panose="02010609060101010101" pitchFamily="49" charset="-122"/>
              </a:rPr>
              <a:t>和</a:t>
            </a:r>
            <a:r>
              <a:rPr lang="en-US" altLang="zh-CN" sz="2400" b="1" dirty="0">
                <a:ea typeface="黑体" panose="02010609060101010101" pitchFamily="49" charset="-122"/>
              </a:rPr>
              <a:t>1</a:t>
            </a:r>
            <a:r>
              <a:rPr lang="zh-CN" altLang="en-US" sz="2400" b="1" dirty="0">
                <a:ea typeface="黑体" panose="02010609060101010101" pitchFamily="49" charset="-122"/>
              </a:rPr>
              <a:t>加得</a:t>
            </a:r>
            <a:r>
              <a:rPr lang="en-US" altLang="zh-CN" sz="2400" b="1" dirty="0">
                <a:ea typeface="黑体" panose="02010609060101010101" pitchFamily="49" charset="-122"/>
              </a:rPr>
              <a:t>1,1</a:t>
            </a:r>
            <a:r>
              <a:rPr lang="zh-CN" altLang="en-US" sz="2400" b="1" dirty="0">
                <a:ea typeface="黑体" panose="02010609060101010101" pitchFamily="49" charset="-122"/>
              </a:rPr>
              <a:t>和</a:t>
            </a:r>
            <a:r>
              <a:rPr lang="en-US" altLang="zh-CN" sz="2400" b="1" dirty="0">
                <a:ea typeface="黑体" panose="02010609060101010101" pitchFamily="49" charset="-122"/>
              </a:rPr>
              <a:t>1</a:t>
            </a:r>
            <a:r>
              <a:rPr lang="zh-CN" altLang="en-US" sz="2400" b="1" dirty="0">
                <a:ea typeface="黑体" panose="02010609060101010101" pitchFamily="49" charset="-122"/>
              </a:rPr>
              <a:t>加得</a:t>
            </a:r>
            <a:r>
              <a:rPr lang="en-US" altLang="zh-CN" sz="2400" b="1" dirty="0">
                <a:ea typeface="黑体" panose="02010609060101010101" pitchFamily="49" charset="-122"/>
              </a:rPr>
              <a:t>0</a:t>
            </a:r>
            <a:r>
              <a:rPr lang="zh-CN" altLang="en-US" sz="2400" b="1" dirty="0">
                <a:ea typeface="黑体" panose="02010609060101010101" pitchFamily="49" charset="-122"/>
              </a:rPr>
              <a:t>但要产生一个进位</a:t>
            </a:r>
            <a:r>
              <a:rPr lang="en-US" altLang="zh-CN" sz="2400" b="1" dirty="0">
                <a:ea typeface="黑体" panose="02010609060101010101" pitchFamily="49" charset="-122"/>
              </a:rPr>
              <a:t>1</a:t>
            </a:r>
            <a:r>
              <a:rPr lang="zh-CN" altLang="en-US" sz="2400" b="1" dirty="0">
                <a:ea typeface="黑体" panose="02010609060101010101" pitchFamily="49" charset="-122"/>
              </a:rPr>
              <a:t>，加到下一列，若最高位产生了进位，则最后得到的结果要加</a:t>
            </a:r>
            <a:r>
              <a:rPr lang="en-US" altLang="zh-CN" sz="2400" b="1" dirty="0">
                <a:ea typeface="黑体" panose="02010609060101010101" pitchFamily="49" charset="-122"/>
              </a:rPr>
              <a:t>1</a:t>
            </a:r>
            <a:r>
              <a:rPr lang="zh-CN" altLang="en-US" sz="2400" b="1" dirty="0">
                <a:ea typeface="黑体" panose="02010609060101010101" pitchFamily="49" charset="-122"/>
              </a:rPr>
              <a:t>。</a:t>
            </a:r>
          </a:p>
          <a:p>
            <a:pPr algn="just" eaLnBrk="0" hangingPunct="0"/>
            <a:endParaRPr lang="zh-CN" altLang="en-US" sz="2400" b="1" dirty="0">
              <a:solidFill>
                <a:srgbClr val="0000CC"/>
              </a:solidFill>
              <a:ea typeface="黑体" panose="02010609060101010101" pitchFamily="49" charset="-122"/>
            </a:endParaRPr>
          </a:p>
          <a:p>
            <a:pPr algn="just" eaLnBrk="0" hangingPunct="0"/>
            <a:r>
              <a:rPr lang="zh-CN" altLang="en-US" sz="2400" b="1" dirty="0">
                <a:solidFill>
                  <a:srgbClr val="0000CC"/>
                </a:solidFill>
                <a:ea typeface="黑体" panose="02010609060101010101" pitchFamily="49" charset="-122"/>
              </a:rPr>
              <a:t>例如：</a:t>
            </a:r>
          </a:p>
          <a:p>
            <a:pPr algn="just" eaLnBrk="0" hangingPunct="0"/>
            <a:r>
              <a:rPr lang="en-US" altLang="zh-CN" sz="2400" b="1" dirty="0" smtClean="0">
                <a:solidFill>
                  <a:srgbClr val="0000CC"/>
                </a:solidFill>
                <a:ea typeface="黑体" panose="02010609060101010101" pitchFamily="49" charset="-122"/>
              </a:rPr>
              <a:t>        0 </a:t>
            </a:r>
            <a:r>
              <a:rPr lang="en-US" altLang="zh-CN" sz="2400" b="1" dirty="0">
                <a:solidFill>
                  <a:srgbClr val="0000CC"/>
                </a:solidFill>
                <a:ea typeface="黑体" panose="02010609060101010101" pitchFamily="49" charset="-122"/>
              </a:rPr>
              <a:t>1 0 1 0</a:t>
            </a:r>
          </a:p>
          <a:p>
            <a:pPr algn="just" eaLnBrk="0" hangingPunct="0"/>
            <a:r>
              <a:rPr lang="en-US" altLang="zh-CN" sz="2400" b="1" dirty="0" smtClean="0">
                <a:solidFill>
                  <a:srgbClr val="0000CC"/>
                </a:solidFill>
                <a:ea typeface="黑体" panose="02010609060101010101" pitchFamily="49" charset="-122"/>
              </a:rPr>
              <a:t>      +</a:t>
            </a:r>
            <a:r>
              <a:rPr lang="en-US" altLang="zh-CN" sz="2400" b="1" dirty="0">
                <a:solidFill>
                  <a:srgbClr val="0000CC"/>
                </a:solidFill>
                <a:ea typeface="黑体" panose="02010609060101010101" pitchFamily="49" charset="-122"/>
              </a:rPr>
              <a:t>1 1 0 1 1</a:t>
            </a:r>
          </a:p>
          <a:p>
            <a:pPr algn="just" eaLnBrk="0" hangingPunct="0"/>
            <a:r>
              <a:rPr lang="en-US" altLang="zh-CN" sz="2400" b="1" dirty="0" smtClean="0">
                <a:solidFill>
                  <a:srgbClr val="0000CC"/>
                </a:solidFill>
                <a:ea typeface="黑体" panose="02010609060101010101" pitchFamily="49" charset="-122"/>
              </a:rPr>
              <a:t>       ————</a:t>
            </a:r>
            <a:endParaRPr lang="en-US" altLang="zh-CN" sz="2400" b="1" dirty="0">
              <a:solidFill>
                <a:srgbClr val="0000CC"/>
              </a:solidFill>
              <a:ea typeface="黑体" panose="02010609060101010101" pitchFamily="49" charset="-122"/>
            </a:endParaRPr>
          </a:p>
          <a:p>
            <a:pPr algn="just" eaLnBrk="0" hangingPunct="0"/>
            <a:r>
              <a:rPr lang="en-US" altLang="zh-CN" sz="2400" b="1" dirty="0" smtClean="0">
                <a:solidFill>
                  <a:srgbClr val="0000CC"/>
                </a:solidFill>
                <a:ea typeface="黑体" panose="02010609060101010101" pitchFamily="49" charset="-122"/>
              </a:rPr>
              <a:t>  = </a:t>
            </a:r>
            <a:r>
              <a:rPr lang="en-US" altLang="zh-CN" sz="2400" b="1" dirty="0" smtClean="0">
                <a:solidFill>
                  <a:srgbClr val="FF0000"/>
                </a:solidFill>
                <a:ea typeface="黑体" panose="02010609060101010101" pitchFamily="49" charset="-122"/>
              </a:rPr>
              <a:t>1</a:t>
            </a:r>
            <a:r>
              <a:rPr lang="en-US" altLang="zh-CN" sz="2400" b="1" dirty="0" smtClean="0">
                <a:solidFill>
                  <a:srgbClr val="0000CC"/>
                </a:solidFill>
                <a:ea typeface="黑体" panose="02010609060101010101" pitchFamily="49" charset="-122"/>
              </a:rPr>
              <a:t> 0 </a:t>
            </a:r>
            <a:r>
              <a:rPr lang="en-US" altLang="zh-CN" sz="2400" b="1" dirty="0">
                <a:solidFill>
                  <a:srgbClr val="0000CC"/>
                </a:solidFill>
                <a:ea typeface="黑体" panose="02010609060101010101" pitchFamily="49" charset="-122"/>
              </a:rPr>
              <a:t>0 1 0 1</a:t>
            </a:r>
            <a:r>
              <a:rPr lang="zh-CN" altLang="en-US" sz="2400" b="1" dirty="0">
                <a:solidFill>
                  <a:srgbClr val="0000CC"/>
                </a:solidFill>
                <a:ea typeface="黑体" panose="02010609060101010101" pitchFamily="49" charset="-122"/>
              </a:rPr>
              <a:t>（高位产生进位，所以需要再加</a:t>
            </a:r>
            <a:r>
              <a:rPr lang="en-US" altLang="zh-CN" sz="2400" b="1" dirty="0">
                <a:solidFill>
                  <a:srgbClr val="0000CC"/>
                </a:solidFill>
                <a:ea typeface="黑体" panose="02010609060101010101" pitchFamily="49" charset="-122"/>
              </a:rPr>
              <a:t>1</a:t>
            </a:r>
            <a:r>
              <a:rPr lang="zh-CN" altLang="en-US" sz="2400" b="1" dirty="0">
                <a:solidFill>
                  <a:srgbClr val="0000CC"/>
                </a:solidFill>
                <a:ea typeface="黑体" panose="02010609060101010101" pitchFamily="49" charset="-122"/>
              </a:rPr>
              <a:t>）</a:t>
            </a:r>
          </a:p>
          <a:p>
            <a:pPr algn="just" eaLnBrk="0" hangingPunct="0"/>
            <a:r>
              <a:rPr lang="en-US" altLang="zh-CN" sz="2400" b="1" dirty="0" smtClean="0">
                <a:solidFill>
                  <a:srgbClr val="0000CC"/>
                </a:solidFill>
                <a:ea typeface="黑体" panose="02010609060101010101" pitchFamily="49" charset="-122"/>
              </a:rPr>
              <a:t>      +</a:t>
            </a:r>
            <a:r>
              <a:rPr lang="en-US" altLang="zh-CN" sz="2400" b="1" dirty="0">
                <a:solidFill>
                  <a:srgbClr val="0000CC"/>
                </a:solidFill>
                <a:ea typeface="黑体" panose="02010609060101010101" pitchFamily="49" charset="-122"/>
              </a:rPr>
              <a:t>0 0 0 0 </a:t>
            </a:r>
            <a:r>
              <a:rPr lang="en-US" altLang="zh-CN" sz="2400" b="1" dirty="0">
                <a:solidFill>
                  <a:srgbClr val="FF0000"/>
                </a:solidFill>
                <a:ea typeface="黑体" panose="02010609060101010101" pitchFamily="49" charset="-122"/>
              </a:rPr>
              <a:t>1</a:t>
            </a:r>
          </a:p>
          <a:p>
            <a:pPr algn="just" eaLnBrk="0" hangingPunct="0"/>
            <a:r>
              <a:rPr lang="en-US" altLang="zh-CN" sz="2400" b="1" dirty="0" smtClean="0">
                <a:solidFill>
                  <a:srgbClr val="0000CC"/>
                </a:solidFill>
                <a:ea typeface="黑体" panose="02010609060101010101" pitchFamily="49" charset="-122"/>
              </a:rPr>
              <a:t>  ——————</a:t>
            </a:r>
            <a:endParaRPr lang="en-US" altLang="zh-CN" sz="2400" b="1" dirty="0">
              <a:solidFill>
                <a:srgbClr val="0000CC"/>
              </a:solidFill>
              <a:ea typeface="黑体" panose="02010609060101010101" pitchFamily="49" charset="-122"/>
            </a:endParaRPr>
          </a:p>
          <a:p>
            <a:pPr algn="just" eaLnBrk="0" hangingPunct="0"/>
            <a:r>
              <a:rPr lang="en-US" altLang="zh-CN" sz="2400" b="1" dirty="0" smtClean="0">
                <a:solidFill>
                  <a:srgbClr val="0000CC"/>
                </a:solidFill>
                <a:ea typeface="黑体" panose="02010609060101010101" pitchFamily="49" charset="-122"/>
              </a:rPr>
              <a:t>      =</a:t>
            </a:r>
            <a:r>
              <a:rPr lang="en-US" altLang="zh-CN" sz="2400" b="1" dirty="0">
                <a:solidFill>
                  <a:srgbClr val="0000CC"/>
                </a:solidFill>
                <a:ea typeface="黑体" panose="02010609060101010101" pitchFamily="49" charset="-122"/>
              </a:rPr>
              <a:t>0 0 1 1 0</a:t>
            </a:r>
            <a:endParaRPr lang="zh-CN" altLang="en-US" sz="2400" b="1" dirty="0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0430235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945" name="Rectangle 45"/>
          <p:cNvSpPr>
            <a:spLocks noChangeArrowheads="1"/>
          </p:cNvSpPr>
          <p:nvPr/>
        </p:nvSpPr>
        <p:spPr bwMode="auto">
          <a:xfrm>
            <a:off x="631825" y="2060575"/>
            <a:ext cx="439738" cy="1198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固</a:t>
            </a:r>
          </a:p>
          <a:p>
            <a:pPr>
              <a:lnSpc>
                <a:spcPct val="90000"/>
              </a:lnSpc>
            </a:pPr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定</a:t>
            </a:r>
          </a:p>
          <a:p>
            <a:pPr>
              <a:lnSpc>
                <a:spcPct val="90000"/>
              </a:lnSpc>
            </a:pPr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部</a:t>
            </a:r>
          </a:p>
          <a:p>
            <a:pPr>
              <a:lnSpc>
                <a:spcPct val="90000"/>
              </a:lnSpc>
            </a:pPr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分</a:t>
            </a:r>
          </a:p>
        </p:txBody>
      </p:sp>
      <p:sp>
        <p:nvSpPr>
          <p:cNvPr id="850946" name="Rectangle 54"/>
          <p:cNvSpPr>
            <a:spLocks noChangeArrowheads="1"/>
          </p:cNvSpPr>
          <p:nvPr/>
        </p:nvSpPr>
        <p:spPr bwMode="auto">
          <a:xfrm>
            <a:off x="508000" y="3716338"/>
            <a:ext cx="695325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可变</a:t>
            </a:r>
          </a:p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部分</a:t>
            </a:r>
          </a:p>
        </p:txBody>
      </p:sp>
      <p:sp>
        <p:nvSpPr>
          <p:cNvPr id="850947" name="Rectangle 8"/>
          <p:cNvSpPr>
            <a:spLocks noChangeArrowheads="1"/>
          </p:cNvSpPr>
          <p:nvPr/>
        </p:nvSpPr>
        <p:spPr bwMode="auto">
          <a:xfrm>
            <a:off x="3351213" y="1658938"/>
            <a:ext cx="2132012" cy="434975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50948" name="Rectangle 10"/>
          <p:cNvSpPr>
            <a:spLocks noChangeArrowheads="1"/>
          </p:cNvSpPr>
          <p:nvPr/>
        </p:nvSpPr>
        <p:spPr bwMode="auto">
          <a:xfrm>
            <a:off x="1231900" y="1649413"/>
            <a:ext cx="8520113" cy="2643187"/>
          </a:xfrm>
          <a:prstGeom prst="rect">
            <a:avLst/>
          </a:prstGeom>
          <a:solidFill>
            <a:srgbClr val="CCE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50949" name="Rectangle 11"/>
          <p:cNvSpPr>
            <a:spLocks noChangeArrowheads="1"/>
          </p:cNvSpPr>
          <p:nvPr/>
        </p:nvSpPr>
        <p:spPr bwMode="auto">
          <a:xfrm>
            <a:off x="1246188" y="4303713"/>
            <a:ext cx="8486775" cy="681037"/>
          </a:xfrm>
          <a:prstGeom prst="rect">
            <a:avLst/>
          </a:prstGeom>
          <a:solidFill>
            <a:srgbClr val="FFFF99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50950" name="Line 12"/>
          <p:cNvSpPr>
            <a:spLocks noChangeShapeType="1"/>
          </p:cNvSpPr>
          <p:nvPr/>
        </p:nvSpPr>
        <p:spPr bwMode="auto">
          <a:xfrm>
            <a:off x="1225550" y="2100263"/>
            <a:ext cx="8535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50951" name="Line 13"/>
          <p:cNvSpPr>
            <a:spLocks noChangeShapeType="1"/>
          </p:cNvSpPr>
          <p:nvPr/>
        </p:nvSpPr>
        <p:spPr bwMode="auto">
          <a:xfrm>
            <a:off x="1225550" y="2543175"/>
            <a:ext cx="8535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50952" name="Line 14"/>
          <p:cNvSpPr>
            <a:spLocks noChangeShapeType="1"/>
          </p:cNvSpPr>
          <p:nvPr/>
        </p:nvSpPr>
        <p:spPr bwMode="auto">
          <a:xfrm>
            <a:off x="1225550" y="2987675"/>
            <a:ext cx="8535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50953" name="Line 15"/>
          <p:cNvSpPr>
            <a:spLocks noChangeShapeType="1"/>
          </p:cNvSpPr>
          <p:nvPr/>
        </p:nvSpPr>
        <p:spPr bwMode="auto">
          <a:xfrm>
            <a:off x="1225550" y="3425825"/>
            <a:ext cx="8535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50954" name="Line 16"/>
          <p:cNvSpPr>
            <a:spLocks noChangeShapeType="1"/>
          </p:cNvSpPr>
          <p:nvPr/>
        </p:nvSpPr>
        <p:spPr bwMode="auto">
          <a:xfrm>
            <a:off x="1225550" y="3870325"/>
            <a:ext cx="8535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50955" name="Line 17"/>
          <p:cNvSpPr>
            <a:spLocks noChangeShapeType="1"/>
          </p:cNvSpPr>
          <p:nvPr/>
        </p:nvSpPr>
        <p:spPr bwMode="auto">
          <a:xfrm>
            <a:off x="2274888" y="1657350"/>
            <a:ext cx="0" cy="4429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50956" name="Line 18"/>
          <p:cNvSpPr>
            <a:spLocks noChangeShapeType="1"/>
          </p:cNvSpPr>
          <p:nvPr/>
        </p:nvSpPr>
        <p:spPr bwMode="auto">
          <a:xfrm>
            <a:off x="3341688" y="1657350"/>
            <a:ext cx="0" cy="4429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50957" name="Line 19"/>
          <p:cNvSpPr>
            <a:spLocks noChangeShapeType="1"/>
          </p:cNvSpPr>
          <p:nvPr/>
        </p:nvSpPr>
        <p:spPr bwMode="auto">
          <a:xfrm>
            <a:off x="3341688" y="2552700"/>
            <a:ext cx="0" cy="431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50958" name="Line 20"/>
          <p:cNvSpPr>
            <a:spLocks noChangeShapeType="1"/>
          </p:cNvSpPr>
          <p:nvPr/>
        </p:nvSpPr>
        <p:spPr bwMode="auto">
          <a:xfrm>
            <a:off x="5478463" y="1657350"/>
            <a:ext cx="0" cy="13271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50959" name="Line 21"/>
          <p:cNvSpPr>
            <a:spLocks noChangeShapeType="1"/>
          </p:cNvSpPr>
          <p:nvPr/>
        </p:nvSpPr>
        <p:spPr bwMode="auto">
          <a:xfrm flipV="1">
            <a:off x="7615238" y="3865563"/>
            <a:ext cx="0" cy="4413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50960" name="Line 22"/>
          <p:cNvSpPr>
            <a:spLocks noChangeShapeType="1"/>
          </p:cNvSpPr>
          <p:nvPr/>
        </p:nvSpPr>
        <p:spPr bwMode="auto">
          <a:xfrm>
            <a:off x="6348413" y="2109788"/>
            <a:ext cx="0" cy="4333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50961" name="Rectangle 23"/>
          <p:cNvSpPr>
            <a:spLocks noChangeArrowheads="1"/>
          </p:cNvSpPr>
          <p:nvPr/>
        </p:nvSpPr>
        <p:spPr bwMode="auto">
          <a:xfrm>
            <a:off x="1169988" y="1270000"/>
            <a:ext cx="325437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0</a:t>
            </a:r>
          </a:p>
        </p:txBody>
      </p:sp>
      <p:sp>
        <p:nvSpPr>
          <p:cNvPr id="850962" name="Rectangle 24"/>
          <p:cNvSpPr>
            <a:spLocks noChangeArrowheads="1"/>
          </p:cNvSpPr>
          <p:nvPr/>
        </p:nvSpPr>
        <p:spPr bwMode="auto">
          <a:xfrm>
            <a:off x="2182813" y="1270000"/>
            <a:ext cx="325437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4</a:t>
            </a:r>
          </a:p>
        </p:txBody>
      </p:sp>
      <p:sp>
        <p:nvSpPr>
          <p:cNvPr id="850963" name="Rectangle 25"/>
          <p:cNvSpPr>
            <a:spLocks noChangeArrowheads="1"/>
          </p:cNvSpPr>
          <p:nvPr/>
        </p:nvSpPr>
        <p:spPr bwMode="auto">
          <a:xfrm>
            <a:off x="3260725" y="1270000"/>
            <a:ext cx="325438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8</a:t>
            </a:r>
          </a:p>
        </p:txBody>
      </p:sp>
      <p:sp>
        <p:nvSpPr>
          <p:cNvPr id="850964" name="Rectangle 26"/>
          <p:cNvSpPr>
            <a:spLocks noChangeArrowheads="1"/>
          </p:cNvSpPr>
          <p:nvPr/>
        </p:nvSpPr>
        <p:spPr bwMode="auto">
          <a:xfrm>
            <a:off x="5373688" y="1270000"/>
            <a:ext cx="468312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16</a:t>
            </a:r>
          </a:p>
        </p:txBody>
      </p:sp>
      <p:sp>
        <p:nvSpPr>
          <p:cNvPr id="850965" name="Rectangle 27"/>
          <p:cNvSpPr>
            <a:spLocks noChangeArrowheads="1"/>
          </p:cNvSpPr>
          <p:nvPr/>
        </p:nvSpPr>
        <p:spPr bwMode="auto">
          <a:xfrm>
            <a:off x="6237288" y="1270000"/>
            <a:ext cx="468312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19</a:t>
            </a:r>
          </a:p>
        </p:txBody>
      </p:sp>
      <p:sp>
        <p:nvSpPr>
          <p:cNvPr id="850966" name="Rectangle 28"/>
          <p:cNvSpPr>
            <a:spLocks noChangeArrowheads="1"/>
          </p:cNvSpPr>
          <p:nvPr/>
        </p:nvSpPr>
        <p:spPr bwMode="auto">
          <a:xfrm>
            <a:off x="7510463" y="1270000"/>
            <a:ext cx="468312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24</a:t>
            </a:r>
          </a:p>
        </p:txBody>
      </p:sp>
      <p:sp>
        <p:nvSpPr>
          <p:cNvPr id="850967" name="Rectangle 29"/>
          <p:cNvSpPr>
            <a:spLocks noChangeArrowheads="1"/>
          </p:cNvSpPr>
          <p:nvPr/>
        </p:nvSpPr>
        <p:spPr bwMode="auto">
          <a:xfrm>
            <a:off x="9366250" y="1270000"/>
            <a:ext cx="468313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31</a:t>
            </a:r>
          </a:p>
        </p:txBody>
      </p:sp>
      <p:sp>
        <p:nvSpPr>
          <p:cNvPr id="850968" name="Rectangle 30"/>
          <p:cNvSpPr>
            <a:spLocks noChangeArrowheads="1"/>
          </p:cNvSpPr>
          <p:nvPr/>
        </p:nvSpPr>
        <p:spPr bwMode="auto">
          <a:xfrm>
            <a:off x="1331913" y="1684338"/>
            <a:ext cx="768350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版 本</a:t>
            </a:r>
          </a:p>
        </p:txBody>
      </p:sp>
      <p:sp>
        <p:nvSpPr>
          <p:cNvPr id="850969" name="Rectangle 31"/>
          <p:cNvSpPr>
            <a:spLocks noChangeArrowheads="1"/>
          </p:cNvSpPr>
          <p:nvPr/>
        </p:nvSpPr>
        <p:spPr bwMode="auto">
          <a:xfrm>
            <a:off x="5543550" y="2160588"/>
            <a:ext cx="695325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标志</a:t>
            </a:r>
          </a:p>
        </p:txBody>
      </p:sp>
      <p:sp>
        <p:nvSpPr>
          <p:cNvPr id="850970" name="Rectangle 32"/>
          <p:cNvSpPr>
            <a:spLocks noChangeArrowheads="1"/>
          </p:cNvSpPr>
          <p:nvPr/>
        </p:nvSpPr>
        <p:spPr bwMode="auto">
          <a:xfrm>
            <a:off x="1544638" y="2565400"/>
            <a:ext cx="1427162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生 存 时 间</a:t>
            </a:r>
          </a:p>
        </p:txBody>
      </p:sp>
      <p:sp>
        <p:nvSpPr>
          <p:cNvPr id="850971" name="Rectangle 33"/>
          <p:cNvSpPr>
            <a:spLocks noChangeArrowheads="1"/>
          </p:cNvSpPr>
          <p:nvPr/>
        </p:nvSpPr>
        <p:spPr bwMode="auto">
          <a:xfrm>
            <a:off x="3852863" y="2565400"/>
            <a:ext cx="981075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协    议</a:t>
            </a:r>
          </a:p>
        </p:txBody>
      </p:sp>
      <p:sp>
        <p:nvSpPr>
          <p:cNvPr id="850972" name="Rectangle 34"/>
          <p:cNvSpPr>
            <a:spLocks noChangeArrowheads="1"/>
          </p:cNvSpPr>
          <p:nvPr/>
        </p:nvSpPr>
        <p:spPr bwMode="auto">
          <a:xfrm>
            <a:off x="2784475" y="2160588"/>
            <a:ext cx="981075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标    识</a:t>
            </a:r>
          </a:p>
        </p:txBody>
      </p:sp>
      <p:sp>
        <p:nvSpPr>
          <p:cNvPr id="850973" name="Rectangle 35"/>
          <p:cNvSpPr>
            <a:spLocks noChangeArrowheads="1"/>
          </p:cNvSpPr>
          <p:nvPr/>
        </p:nvSpPr>
        <p:spPr bwMode="auto">
          <a:xfrm>
            <a:off x="3663950" y="1684338"/>
            <a:ext cx="1425575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区 分 服 务</a:t>
            </a:r>
          </a:p>
        </p:txBody>
      </p:sp>
      <p:sp>
        <p:nvSpPr>
          <p:cNvPr id="850974" name="Rectangle 36"/>
          <p:cNvSpPr>
            <a:spLocks noChangeArrowheads="1"/>
          </p:cNvSpPr>
          <p:nvPr/>
        </p:nvSpPr>
        <p:spPr bwMode="auto">
          <a:xfrm>
            <a:off x="7050088" y="1684338"/>
            <a:ext cx="1379537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总   长   度</a:t>
            </a:r>
          </a:p>
        </p:txBody>
      </p:sp>
      <p:sp>
        <p:nvSpPr>
          <p:cNvPr id="850975" name="Rectangle 37"/>
          <p:cNvSpPr>
            <a:spLocks noChangeArrowheads="1"/>
          </p:cNvSpPr>
          <p:nvPr/>
        </p:nvSpPr>
        <p:spPr bwMode="auto">
          <a:xfrm>
            <a:off x="7343775" y="2160588"/>
            <a:ext cx="1379538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片   偏   移</a:t>
            </a:r>
          </a:p>
        </p:txBody>
      </p:sp>
      <p:sp>
        <p:nvSpPr>
          <p:cNvPr id="850976" name="Rectangle 38"/>
          <p:cNvSpPr>
            <a:spLocks noChangeArrowheads="1"/>
          </p:cNvSpPr>
          <p:nvPr/>
        </p:nvSpPr>
        <p:spPr bwMode="auto">
          <a:xfrm>
            <a:off x="8128000" y="3894138"/>
            <a:ext cx="981075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C00000"/>
                </a:solidFill>
                <a:ea typeface="黑体" panose="02010609060101010101" pitchFamily="49" charset="-122"/>
              </a:rPr>
              <a:t>填    充</a:t>
            </a:r>
          </a:p>
        </p:txBody>
      </p:sp>
      <p:sp>
        <p:nvSpPr>
          <p:cNvPr id="850977" name="Rectangle 39"/>
          <p:cNvSpPr>
            <a:spLocks noChangeArrowheads="1"/>
          </p:cNvSpPr>
          <p:nvPr/>
        </p:nvSpPr>
        <p:spPr bwMode="auto">
          <a:xfrm>
            <a:off x="6419850" y="2565400"/>
            <a:ext cx="2319338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首   部   检   验   和</a:t>
            </a:r>
          </a:p>
        </p:txBody>
      </p:sp>
      <p:sp>
        <p:nvSpPr>
          <p:cNvPr id="850978" name="Rectangle 40"/>
          <p:cNvSpPr>
            <a:spLocks noChangeArrowheads="1"/>
          </p:cNvSpPr>
          <p:nvPr/>
        </p:nvSpPr>
        <p:spPr bwMode="auto">
          <a:xfrm>
            <a:off x="4784725" y="3024188"/>
            <a:ext cx="1379538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源   地   址</a:t>
            </a:r>
          </a:p>
        </p:txBody>
      </p:sp>
      <p:sp>
        <p:nvSpPr>
          <p:cNvPr id="850979" name="Rectangle 41"/>
          <p:cNvSpPr>
            <a:spLocks noChangeArrowheads="1"/>
          </p:cNvSpPr>
          <p:nvPr/>
        </p:nvSpPr>
        <p:spPr bwMode="auto">
          <a:xfrm>
            <a:off x="4506913" y="3465513"/>
            <a:ext cx="1851025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目   的   地   址</a:t>
            </a:r>
          </a:p>
        </p:txBody>
      </p:sp>
      <p:sp>
        <p:nvSpPr>
          <p:cNvPr id="850980" name="Rectangle 42"/>
          <p:cNvSpPr>
            <a:spLocks noChangeArrowheads="1"/>
          </p:cNvSpPr>
          <p:nvPr/>
        </p:nvSpPr>
        <p:spPr bwMode="auto">
          <a:xfrm>
            <a:off x="2414588" y="3894138"/>
            <a:ext cx="4173537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C00000"/>
                </a:solidFill>
                <a:ea typeface="黑体" panose="02010609060101010101" pitchFamily="49" charset="-122"/>
              </a:rPr>
              <a:t>可   选   字   段  （长   度   可   变）</a:t>
            </a:r>
          </a:p>
        </p:txBody>
      </p:sp>
      <p:sp>
        <p:nvSpPr>
          <p:cNvPr id="850981" name="Rectangle 43"/>
          <p:cNvSpPr>
            <a:spLocks noChangeArrowheads="1"/>
          </p:cNvSpPr>
          <p:nvPr/>
        </p:nvSpPr>
        <p:spPr bwMode="auto">
          <a:xfrm>
            <a:off x="658813" y="1255713"/>
            <a:ext cx="439737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位</a:t>
            </a:r>
          </a:p>
        </p:txBody>
      </p:sp>
      <p:sp>
        <p:nvSpPr>
          <p:cNvPr id="850982" name="Rectangle 44"/>
          <p:cNvSpPr>
            <a:spLocks noChangeArrowheads="1"/>
          </p:cNvSpPr>
          <p:nvPr/>
        </p:nvSpPr>
        <p:spPr bwMode="auto">
          <a:xfrm>
            <a:off x="2170113" y="1665288"/>
            <a:ext cx="1209675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首部长度</a:t>
            </a:r>
          </a:p>
        </p:txBody>
      </p:sp>
      <p:grpSp>
        <p:nvGrpSpPr>
          <p:cNvPr id="850983" name="Group 46"/>
          <p:cNvGrpSpPr>
            <a:grpSpLocks/>
          </p:cNvGrpSpPr>
          <p:nvPr/>
        </p:nvGrpSpPr>
        <p:grpSpPr bwMode="auto">
          <a:xfrm>
            <a:off x="1158875" y="4035425"/>
            <a:ext cx="142875" cy="69850"/>
            <a:chOff x="833" y="3024"/>
            <a:chExt cx="78" cy="51"/>
          </a:xfrm>
        </p:grpSpPr>
        <p:sp>
          <p:nvSpPr>
            <p:cNvPr id="850984" name="Rectangle 47"/>
            <p:cNvSpPr>
              <a:spLocks noChangeArrowheads="1"/>
            </p:cNvSpPr>
            <p:nvPr/>
          </p:nvSpPr>
          <p:spPr bwMode="auto">
            <a:xfrm>
              <a:off x="833" y="3024"/>
              <a:ext cx="78" cy="5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50985" name="Line 48"/>
            <p:cNvSpPr>
              <a:spLocks noChangeShapeType="1"/>
            </p:cNvSpPr>
            <p:nvPr/>
          </p:nvSpPr>
          <p:spPr bwMode="auto">
            <a:xfrm>
              <a:off x="839" y="3030"/>
              <a:ext cx="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50986" name="Line 49"/>
            <p:cNvSpPr>
              <a:spLocks noChangeShapeType="1"/>
            </p:cNvSpPr>
            <p:nvPr/>
          </p:nvSpPr>
          <p:spPr bwMode="auto">
            <a:xfrm>
              <a:off x="839" y="3075"/>
              <a:ext cx="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</p:grpSp>
      <p:grpSp>
        <p:nvGrpSpPr>
          <p:cNvPr id="850987" name="Group 50"/>
          <p:cNvGrpSpPr>
            <a:grpSpLocks/>
          </p:cNvGrpSpPr>
          <p:nvPr/>
        </p:nvGrpSpPr>
        <p:grpSpPr bwMode="auto">
          <a:xfrm>
            <a:off x="9682163" y="4044950"/>
            <a:ext cx="142875" cy="66675"/>
            <a:chOff x="5432" y="3030"/>
            <a:chExt cx="78" cy="51"/>
          </a:xfrm>
        </p:grpSpPr>
        <p:sp>
          <p:nvSpPr>
            <p:cNvPr id="850988" name="Rectangle 51"/>
            <p:cNvSpPr>
              <a:spLocks noChangeArrowheads="1"/>
            </p:cNvSpPr>
            <p:nvPr/>
          </p:nvSpPr>
          <p:spPr bwMode="auto">
            <a:xfrm>
              <a:off x="5432" y="3030"/>
              <a:ext cx="78" cy="5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50989" name="Line 52"/>
            <p:cNvSpPr>
              <a:spLocks noChangeShapeType="1"/>
            </p:cNvSpPr>
            <p:nvPr/>
          </p:nvSpPr>
          <p:spPr bwMode="auto">
            <a:xfrm>
              <a:off x="5438" y="3036"/>
              <a:ext cx="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50990" name="Line 53"/>
            <p:cNvSpPr>
              <a:spLocks noChangeShapeType="1"/>
            </p:cNvSpPr>
            <p:nvPr/>
          </p:nvSpPr>
          <p:spPr bwMode="auto">
            <a:xfrm>
              <a:off x="5438" y="3081"/>
              <a:ext cx="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</p:grpSp>
      <p:sp>
        <p:nvSpPr>
          <p:cNvPr id="850991" name="Rectangle 75"/>
          <p:cNvSpPr>
            <a:spLocks noChangeArrowheads="1"/>
          </p:cNvSpPr>
          <p:nvPr/>
        </p:nvSpPr>
        <p:spPr bwMode="auto">
          <a:xfrm>
            <a:off x="4129088" y="4437063"/>
            <a:ext cx="3151187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CC"/>
                </a:solidFill>
                <a:ea typeface="黑体" panose="02010609060101010101" pitchFamily="49" charset="-122"/>
              </a:rPr>
              <a:t>数       据       部       分</a:t>
            </a:r>
          </a:p>
        </p:txBody>
      </p:sp>
      <p:grpSp>
        <p:nvGrpSpPr>
          <p:cNvPr id="850992" name="Group 94"/>
          <p:cNvGrpSpPr>
            <a:grpSpLocks/>
          </p:cNvGrpSpPr>
          <p:nvPr/>
        </p:nvGrpSpPr>
        <p:grpSpPr bwMode="auto">
          <a:xfrm>
            <a:off x="266700" y="1628775"/>
            <a:ext cx="438150" cy="2663825"/>
            <a:chOff x="111" y="845"/>
            <a:chExt cx="255" cy="1678"/>
          </a:xfrm>
        </p:grpSpPr>
        <p:sp>
          <p:nvSpPr>
            <p:cNvPr id="850993" name="Line 89"/>
            <p:cNvSpPr>
              <a:spLocks noChangeShapeType="1"/>
            </p:cNvSpPr>
            <p:nvPr/>
          </p:nvSpPr>
          <p:spPr bwMode="auto">
            <a:xfrm>
              <a:off x="249" y="845"/>
              <a:ext cx="0" cy="167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50994" name="Rectangle 78"/>
            <p:cNvSpPr>
              <a:spLocks noChangeArrowheads="1"/>
            </p:cNvSpPr>
            <p:nvPr/>
          </p:nvSpPr>
          <p:spPr bwMode="auto">
            <a:xfrm>
              <a:off x="111" y="1389"/>
              <a:ext cx="255" cy="4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首</a:t>
              </a:r>
            </a:p>
            <a:p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部</a:t>
              </a:r>
            </a:p>
          </p:txBody>
        </p:sp>
      </p:grpSp>
      <p:sp>
        <p:nvSpPr>
          <p:cNvPr id="850995" name="AutoShape 97"/>
          <p:cNvSpPr>
            <a:spLocks/>
          </p:cNvSpPr>
          <p:nvPr/>
        </p:nvSpPr>
        <p:spPr bwMode="auto">
          <a:xfrm>
            <a:off x="998538" y="1700213"/>
            <a:ext cx="180975" cy="2160587"/>
          </a:xfrm>
          <a:prstGeom prst="leftBrace">
            <a:avLst>
              <a:gd name="adj1" fmla="val 107779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grpSp>
        <p:nvGrpSpPr>
          <p:cNvPr id="60" name="Group 77"/>
          <p:cNvGrpSpPr>
            <a:grpSpLocks/>
          </p:cNvGrpSpPr>
          <p:nvPr/>
        </p:nvGrpSpPr>
        <p:grpSpPr bwMode="auto">
          <a:xfrm>
            <a:off x="1209675" y="2995613"/>
            <a:ext cx="8520113" cy="2665412"/>
            <a:chOff x="703" y="1706"/>
            <a:chExt cx="4955" cy="1679"/>
          </a:xfrm>
        </p:grpSpPr>
        <p:sp>
          <p:nvSpPr>
            <p:cNvPr id="850997" name="Text Box 74"/>
            <p:cNvSpPr txBox="1">
              <a:spLocks noChangeArrowheads="1"/>
            </p:cNvSpPr>
            <p:nvPr/>
          </p:nvSpPr>
          <p:spPr bwMode="auto">
            <a:xfrm>
              <a:off x="1175" y="3094"/>
              <a:ext cx="2645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 eaLnBrk="0" hangingPunct="0"/>
              <a:r>
                <a:rPr lang="zh-CN" altLang="en-US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源地址和目的地址都各占 </a:t>
              </a:r>
              <a:r>
                <a:rPr lang="en-US" altLang="zh-CN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4 </a:t>
              </a:r>
              <a:r>
                <a:rPr lang="zh-CN" altLang="en-US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字节</a:t>
              </a:r>
            </a:p>
          </p:txBody>
        </p:sp>
        <p:sp>
          <p:nvSpPr>
            <p:cNvPr id="850998" name="Rectangle 75"/>
            <p:cNvSpPr>
              <a:spLocks noChangeArrowheads="1"/>
            </p:cNvSpPr>
            <p:nvPr/>
          </p:nvSpPr>
          <p:spPr bwMode="auto">
            <a:xfrm>
              <a:off x="703" y="1706"/>
              <a:ext cx="4955" cy="545"/>
            </a:xfrm>
            <a:prstGeom prst="rect">
              <a:avLst/>
            </a:prstGeom>
            <a:noFill/>
            <a:ln w="762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>
                <a:ea typeface="宋体" panose="02010600030101010101" pitchFamily="2" charset="-122"/>
              </a:endParaRPr>
            </a:p>
          </p:txBody>
        </p:sp>
      </p:grpSp>
      <p:sp>
        <p:nvSpPr>
          <p:cNvPr id="850999" name="标题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smtClean="0">
                <a:ea typeface="黑体" panose="02010609060101010101" pitchFamily="49" charset="-122"/>
              </a:rPr>
              <a:t>1.  IP </a:t>
            </a:r>
            <a:r>
              <a:rPr lang="zh-CN" altLang="en-US" sz="3600" smtClean="0">
                <a:ea typeface="黑体" panose="02010609060101010101" pitchFamily="49" charset="-122"/>
              </a:rPr>
              <a:t>数据报首部的固定部分中的各字段 </a:t>
            </a:r>
          </a:p>
        </p:txBody>
      </p:sp>
      <p:sp>
        <p:nvSpPr>
          <p:cNvPr id="851000" name="灯片编号占位符 4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BFFD801-99DC-498A-B35C-FE2B8553ECA5}" type="slidenum">
              <a:rPr lang="zh-CN" altLang="en-US" smtClean="0"/>
              <a:pPr eaLnBrk="1" hangingPunct="1"/>
              <a:t>46</a:t>
            </a:fld>
            <a:endParaRPr lang="en-US" altLang="zh-CN" smtClean="0"/>
          </a:p>
        </p:txBody>
      </p:sp>
      <p:sp>
        <p:nvSpPr>
          <p:cNvPr id="851001" name="页脚占位符 5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200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993" name="Rectangle 21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r>
              <a:rPr lang="en-US" altLang="zh-CN" smtClean="0">
                <a:ea typeface="黑体" panose="02010609060101010101" pitchFamily="49" charset="-122"/>
              </a:rPr>
              <a:t>2.  IP </a:t>
            </a:r>
            <a:r>
              <a:rPr lang="zh-CN" altLang="en-US" smtClean="0">
                <a:ea typeface="黑体" panose="02010609060101010101" pitchFamily="49" charset="-122"/>
              </a:rPr>
              <a:t>数据报首部的可变部分 </a:t>
            </a:r>
          </a:p>
        </p:txBody>
      </p:sp>
      <p:sp>
        <p:nvSpPr>
          <p:cNvPr id="251093" name="Rectangle 21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pPr algn="just">
              <a:lnSpc>
                <a:spcPct val="100000"/>
              </a:lnSpc>
            </a:pPr>
            <a:r>
              <a:rPr lang="en-US" altLang="zh-CN" smtClean="0">
                <a:ea typeface="黑体" panose="02010609060101010101" pitchFamily="49" charset="-122"/>
              </a:rPr>
              <a:t>IP </a:t>
            </a:r>
            <a:r>
              <a:rPr lang="zh-CN" altLang="en-US" smtClean="0">
                <a:ea typeface="黑体" panose="02010609060101010101" pitchFamily="49" charset="-122"/>
              </a:rPr>
              <a:t>首部的可变部分就是一个选项字段，用来支持排错、测量以及安全等措施，内容很丰富。</a:t>
            </a:r>
          </a:p>
          <a:p>
            <a:pPr algn="just">
              <a:lnSpc>
                <a:spcPct val="100000"/>
              </a:lnSpc>
            </a:pPr>
            <a:r>
              <a:rPr lang="zh-CN" altLang="en-US" smtClean="0">
                <a:ea typeface="黑体" panose="02010609060101010101" pitchFamily="49" charset="-122"/>
              </a:rPr>
              <a:t>选项字段的长度可变，</a:t>
            </a:r>
            <a:r>
              <a:rPr lang="zh-CN" altLang="en-US" smtClean="0">
                <a:solidFill>
                  <a:srgbClr val="FF0000"/>
                </a:solidFill>
                <a:ea typeface="黑体" panose="02010609060101010101" pitchFamily="49" charset="-122"/>
              </a:rPr>
              <a:t>从 </a:t>
            </a:r>
            <a:r>
              <a:rPr lang="en-US" altLang="zh-CN" smtClean="0">
                <a:solidFill>
                  <a:srgbClr val="FF0000"/>
                </a:solidFill>
                <a:ea typeface="黑体" panose="02010609060101010101" pitchFamily="49" charset="-122"/>
              </a:rPr>
              <a:t>1 </a:t>
            </a:r>
            <a:r>
              <a:rPr lang="zh-CN" altLang="en-US" smtClean="0">
                <a:solidFill>
                  <a:srgbClr val="FF0000"/>
                </a:solidFill>
                <a:ea typeface="黑体" panose="02010609060101010101" pitchFamily="49" charset="-122"/>
              </a:rPr>
              <a:t>个字节到 </a:t>
            </a:r>
            <a:r>
              <a:rPr lang="en-US" altLang="zh-CN" smtClean="0">
                <a:solidFill>
                  <a:srgbClr val="FF0000"/>
                </a:solidFill>
                <a:ea typeface="黑体" panose="02010609060101010101" pitchFamily="49" charset="-122"/>
              </a:rPr>
              <a:t>40 </a:t>
            </a:r>
            <a:r>
              <a:rPr lang="zh-CN" altLang="en-US" smtClean="0">
                <a:solidFill>
                  <a:srgbClr val="FF0000"/>
                </a:solidFill>
                <a:ea typeface="黑体" panose="02010609060101010101" pitchFamily="49" charset="-122"/>
              </a:rPr>
              <a:t>个字节不等，</a:t>
            </a:r>
            <a:r>
              <a:rPr lang="zh-CN" altLang="en-US" smtClean="0">
                <a:ea typeface="黑体" panose="02010609060101010101" pitchFamily="49" charset="-122"/>
              </a:rPr>
              <a:t>取决于所选择的项目。</a:t>
            </a:r>
          </a:p>
          <a:p>
            <a:pPr algn="just">
              <a:lnSpc>
                <a:spcPct val="100000"/>
              </a:lnSpc>
            </a:pPr>
            <a:r>
              <a:rPr lang="zh-CN" altLang="en-US" smtClean="0">
                <a:ea typeface="黑体" panose="02010609060101010101" pitchFamily="49" charset="-122"/>
              </a:rPr>
              <a:t>增加首部的可变部分是为了增加 </a:t>
            </a:r>
            <a:r>
              <a:rPr lang="en-US" altLang="zh-CN" smtClean="0">
                <a:ea typeface="黑体" panose="02010609060101010101" pitchFamily="49" charset="-122"/>
              </a:rPr>
              <a:t>IP </a:t>
            </a:r>
            <a:r>
              <a:rPr lang="zh-CN" altLang="en-US" smtClean="0">
                <a:ea typeface="黑体" panose="02010609060101010101" pitchFamily="49" charset="-122"/>
              </a:rPr>
              <a:t>数据报的功能，但这同时也使得 </a:t>
            </a:r>
            <a:r>
              <a:rPr lang="en-US" altLang="zh-CN" smtClean="0">
                <a:ea typeface="黑体" panose="02010609060101010101" pitchFamily="49" charset="-122"/>
              </a:rPr>
              <a:t>IP </a:t>
            </a:r>
            <a:r>
              <a:rPr lang="zh-CN" altLang="en-US" smtClean="0">
                <a:ea typeface="黑体" panose="02010609060101010101" pitchFamily="49" charset="-122"/>
              </a:rPr>
              <a:t>数据报的首部长度成为可变的。这就增加了每一个路由器处理数据报的开销。</a:t>
            </a:r>
          </a:p>
          <a:p>
            <a:pPr algn="just">
              <a:lnSpc>
                <a:spcPct val="100000"/>
              </a:lnSpc>
            </a:pPr>
            <a:r>
              <a:rPr lang="zh-CN" altLang="en-US" smtClean="0">
                <a:solidFill>
                  <a:srgbClr val="0000FF"/>
                </a:solidFill>
                <a:ea typeface="黑体" panose="02010609060101010101" pitchFamily="49" charset="-122"/>
              </a:rPr>
              <a:t>实际上这些选项很少被使用。</a:t>
            </a:r>
          </a:p>
        </p:txBody>
      </p:sp>
      <p:sp>
        <p:nvSpPr>
          <p:cNvPr id="852995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AF0BFEA-A277-4DA3-8A4A-DDD4C8F727E1}" type="slidenum">
              <a:rPr lang="zh-CN" altLang="en-US" smtClean="0"/>
              <a:pPr eaLnBrk="1" hangingPunct="1"/>
              <a:t>47</a:t>
            </a:fld>
            <a:endParaRPr lang="en-US" altLang="zh-CN" smtClean="0"/>
          </a:p>
        </p:txBody>
      </p:sp>
      <p:sp>
        <p:nvSpPr>
          <p:cNvPr id="852996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0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0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0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1093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041" name="Rectangle 45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r>
              <a:rPr lang="en-US" altLang="zh-CN" smtClean="0">
                <a:ea typeface="黑体" panose="02010609060101010101" pitchFamily="49" charset="-122"/>
              </a:rPr>
              <a:t>4.2.6  IP </a:t>
            </a:r>
            <a:r>
              <a:rPr lang="zh-CN" altLang="en-US" smtClean="0">
                <a:ea typeface="黑体" panose="02010609060101010101" pitchFamily="49" charset="-122"/>
              </a:rPr>
              <a:t>层转发分组的流程 </a:t>
            </a:r>
          </a:p>
        </p:txBody>
      </p:sp>
      <p:sp>
        <p:nvSpPr>
          <p:cNvPr id="855042" name="Rectangle 49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zh-CN" altLang="en-US" smtClean="0">
                <a:ea typeface="黑体" panose="02010609060101010101" pitchFamily="49" charset="-122"/>
              </a:rPr>
              <a:t>假设：有四个 </a:t>
            </a:r>
            <a:r>
              <a:rPr lang="en-US" altLang="zh-CN" smtClean="0">
                <a:ea typeface="黑体" panose="02010609060101010101" pitchFamily="49" charset="-122"/>
              </a:rPr>
              <a:t>A </a:t>
            </a:r>
            <a:r>
              <a:rPr lang="zh-CN" altLang="en-US" smtClean="0">
                <a:ea typeface="黑体" panose="02010609060101010101" pitchFamily="49" charset="-122"/>
              </a:rPr>
              <a:t>类网络通过三个路由器连接在一起。每一个网络上都可能有成千上万个主机。</a:t>
            </a:r>
          </a:p>
          <a:p>
            <a:pPr>
              <a:lnSpc>
                <a:spcPct val="100000"/>
              </a:lnSpc>
            </a:pPr>
            <a:r>
              <a:rPr lang="zh-CN" altLang="en-US" smtClean="0">
                <a:ea typeface="黑体" panose="02010609060101010101" pitchFamily="49" charset="-122"/>
              </a:rPr>
              <a:t>可以想像，</a:t>
            </a:r>
            <a:r>
              <a:rPr lang="zh-CN" altLang="en-US" smtClean="0">
                <a:solidFill>
                  <a:srgbClr val="FF0000"/>
                </a:solidFill>
                <a:ea typeface="黑体" panose="02010609060101010101" pitchFamily="49" charset="-122"/>
              </a:rPr>
              <a:t>若按目的主机号来制作路由表，</a:t>
            </a:r>
            <a:r>
              <a:rPr lang="zh-CN" altLang="zh-CN" smtClean="0">
                <a:ea typeface="黑体" panose="02010609060101010101" pitchFamily="49" charset="-122"/>
              </a:rPr>
              <a:t>每一个路由表就有</a:t>
            </a:r>
            <a:r>
              <a:rPr lang="en-US" altLang="zh-CN" smtClean="0">
                <a:ea typeface="黑体" panose="02010609060101010101" pitchFamily="49" charset="-122"/>
              </a:rPr>
              <a:t> 4 </a:t>
            </a:r>
            <a:r>
              <a:rPr lang="zh-CN" altLang="zh-CN" smtClean="0">
                <a:ea typeface="黑体" panose="02010609060101010101" pitchFamily="49" charset="-122"/>
              </a:rPr>
              <a:t>万个项目，即</a:t>
            </a:r>
            <a:r>
              <a:rPr lang="en-US" altLang="zh-CN" smtClean="0">
                <a:ea typeface="黑体" panose="02010609060101010101" pitchFamily="49" charset="-122"/>
              </a:rPr>
              <a:t> 4 </a:t>
            </a:r>
            <a:r>
              <a:rPr lang="zh-CN" altLang="zh-CN" smtClean="0">
                <a:ea typeface="黑体" panose="02010609060101010101" pitchFamily="49" charset="-122"/>
              </a:rPr>
              <a:t>万行</a:t>
            </a:r>
            <a:r>
              <a:rPr lang="zh-CN" altLang="en-US" smtClean="0">
                <a:ea typeface="黑体" panose="02010609060101010101" pitchFamily="49" charset="-122"/>
              </a:rPr>
              <a:t>（</a:t>
            </a:r>
            <a:r>
              <a:rPr lang="zh-CN" altLang="zh-CN" smtClean="0">
                <a:ea typeface="黑体" panose="02010609060101010101" pitchFamily="49" charset="-122"/>
              </a:rPr>
              <a:t>每一行对应于一台主机</a:t>
            </a:r>
            <a:r>
              <a:rPr lang="zh-CN" altLang="en-US" smtClean="0">
                <a:ea typeface="黑体" panose="02010609060101010101" pitchFamily="49" charset="-122"/>
              </a:rPr>
              <a:t>），则所得出的路由表就会过于庞大。</a:t>
            </a:r>
          </a:p>
          <a:p>
            <a:pPr>
              <a:lnSpc>
                <a:spcPct val="100000"/>
              </a:lnSpc>
            </a:pPr>
            <a:r>
              <a:rPr lang="zh-CN" altLang="en-US" smtClean="0">
                <a:ea typeface="黑体" panose="02010609060101010101" pitchFamily="49" charset="-122"/>
              </a:rPr>
              <a:t>但</a:t>
            </a:r>
            <a:r>
              <a:rPr lang="zh-CN" altLang="en-US" smtClean="0">
                <a:solidFill>
                  <a:srgbClr val="FF0000"/>
                </a:solidFill>
                <a:ea typeface="黑体" panose="02010609060101010101" pitchFamily="49" charset="-122"/>
              </a:rPr>
              <a:t>若按主机所在的网络地址来制作路由表，</a:t>
            </a:r>
            <a:r>
              <a:rPr lang="zh-CN" altLang="en-US" smtClean="0">
                <a:ea typeface="黑体" panose="02010609060101010101" pitchFamily="49" charset="-122"/>
              </a:rPr>
              <a:t>那么每一个路由器中的路由表就只包含 </a:t>
            </a:r>
            <a:r>
              <a:rPr lang="en-US" altLang="zh-CN" smtClean="0">
                <a:ea typeface="黑体" panose="02010609060101010101" pitchFamily="49" charset="-122"/>
              </a:rPr>
              <a:t>4 </a:t>
            </a:r>
            <a:r>
              <a:rPr lang="zh-CN" altLang="en-US" smtClean="0">
                <a:ea typeface="黑体" panose="02010609060101010101" pitchFamily="49" charset="-122"/>
              </a:rPr>
              <a:t>个项目（</a:t>
            </a:r>
            <a:r>
              <a:rPr lang="zh-CN" altLang="zh-CN" smtClean="0">
                <a:ea typeface="黑体" panose="02010609060101010101" pitchFamily="49" charset="-122"/>
              </a:rPr>
              <a:t>每一行对应于一个网络</a:t>
            </a:r>
            <a:r>
              <a:rPr lang="zh-CN" altLang="en-US" smtClean="0">
                <a:ea typeface="黑体" panose="02010609060101010101" pitchFamily="49" charset="-122"/>
              </a:rPr>
              <a:t>），这样就可使路由表大大简化。 </a:t>
            </a:r>
          </a:p>
        </p:txBody>
      </p:sp>
      <p:sp>
        <p:nvSpPr>
          <p:cNvPr id="855043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B24FAFF-049A-457D-8715-545E8B2F24D9}" type="slidenum">
              <a:rPr lang="zh-CN" altLang="en-US" smtClean="0"/>
              <a:pPr eaLnBrk="1" hangingPunct="1"/>
              <a:t>48</a:t>
            </a:fld>
            <a:endParaRPr lang="en-US" altLang="zh-CN" smtClean="0"/>
          </a:p>
        </p:txBody>
      </p:sp>
      <p:sp>
        <p:nvSpPr>
          <p:cNvPr id="855044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459" name="Text Box 155"/>
          <p:cNvSpPr txBox="1">
            <a:spLocks noChangeArrowheads="1"/>
          </p:cNvSpPr>
          <p:nvPr/>
        </p:nvSpPr>
        <p:spPr bwMode="auto">
          <a:xfrm>
            <a:off x="1516063" y="196850"/>
            <a:ext cx="6677025" cy="1039813"/>
          </a:xfrm>
          <a:prstGeom prst="rect">
            <a:avLst/>
          </a:prstGeom>
          <a:solidFill>
            <a:srgbClr val="FFCCFF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>
              <a:lnSpc>
                <a:spcPct val="110000"/>
              </a:lnSpc>
            </a:pPr>
            <a:r>
              <a:rPr lang="zh-CN" altLang="en-US" sz="2800" b="1">
                <a:solidFill>
                  <a:srgbClr val="0000CC"/>
                </a:solidFill>
                <a:ea typeface="黑体" panose="02010609060101010101" pitchFamily="49" charset="-122"/>
              </a:rPr>
              <a:t>在路由表中，对每一条路由，最主要的是</a:t>
            </a:r>
          </a:p>
          <a:p>
            <a:pPr algn="ctr" eaLnBrk="0" hangingPunct="0">
              <a:lnSpc>
                <a:spcPct val="110000"/>
              </a:lnSpc>
            </a:pPr>
            <a:r>
              <a:rPr lang="zh-CN" altLang="en-US" sz="2800" b="1">
                <a:solidFill>
                  <a:srgbClr val="C00000"/>
                </a:solidFill>
                <a:ea typeface="黑体" panose="02010609060101010101" pitchFamily="49" charset="-122"/>
              </a:rPr>
              <a:t>（目的网络地址，下一跳地址） </a:t>
            </a:r>
          </a:p>
        </p:txBody>
      </p:sp>
      <p:grpSp>
        <p:nvGrpSpPr>
          <p:cNvPr id="857090" name="组合 1"/>
          <p:cNvGrpSpPr>
            <a:grpSpLocks/>
          </p:cNvGrpSpPr>
          <p:nvPr/>
        </p:nvGrpSpPr>
        <p:grpSpPr bwMode="auto">
          <a:xfrm>
            <a:off x="84138" y="1477963"/>
            <a:ext cx="9837737" cy="5119687"/>
            <a:chOff x="84344" y="1477964"/>
            <a:chExt cx="9837208" cy="5120090"/>
          </a:xfrm>
        </p:grpSpPr>
        <p:sp>
          <p:nvSpPr>
            <p:cNvPr id="857091" name="Freeform 4"/>
            <p:cNvSpPr>
              <a:spLocks noChangeArrowheads="1"/>
            </p:cNvSpPr>
            <p:nvPr/>
          </p:nvSpPr>
          <p:spPr bwMode="auto">
            <a:xfrm>
              <a:off x="2349310" y="2401889"/>
              <a:ext cx="5458619" cy="1027111"/>
            </a:xfrm>
            <a:custGeom>
              <a:avLst/>
              <a:gdLst>
                <a:gd name="T0" fmla="*/ 0 w 3024"/>
                <a:gd name="T1" fmla="*/ 636 h 636"/>
                <a:gd name="T2" fmla="*/ 1520 w 3024"/>
                <a:gd name="T3" fmla="*/ 0 h 636"/>
                <a:gd name="T4" fmla="*/ 3024 w 3024"/>
                <a:gd name="T5" fmla="*/ 636 h 636"/>
                <a:gd name="T6" fmla="*/ 0 w 3024"/>
                <a:gd name="T7" fmla="*/ 636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024" h="636">
                  <a:moveTo>
                    <a:pt x="0" y="636"/>
                  </a:moveTo>
                  <a:lnTo>
                    <a:pt x="1520" y="0"/>
                  </a:lnTo>
                  <a:lnTo>
                    <a:pt x="3024" y="636"/>
                  </a:lnTo>
                  <a:lnTo>
                    <a:pt x="0" y="636"/>
                  </a:lnTo>
                  <a:close/>
                </a:path>
              </a:pathLst>
            </a:custGeom>
            <a:gradFill rotWithShape="1">
              <a:gsLst>
                <a:gs pos="0">
                  <a:srgbClr val="D1D17D"/>
                </a:gs>
                <a:gs pos="100000">
                  <a:srgbClr val="FFFF99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grpSp>
          <p:nvGrpSpPr>
            <p:cNvPr id="857092" name="Group 5"/>
            <p:cNvGrpSpPr>
              <a:grpSpLocks/>
            </p:cNvGrpSpPr>
            <p:nvPr/>
          </p:nvGrpSpPr>
          <p:grpSpPr bwMode="auto">
            <a:xfrm>
              <a:off x="84344" y="1855788"/>
              <a:ext cx="1379273" cy="914400"/>
              <a:chOff x="912" y="768"/>
              <a:chExt cx="2400" cy="1584"/>
            </a:xfrm>
          </p:grpSpPr>
          <p:sp>
            <p:nvSpPr>
              <p:cNvPr id="857093" name="Oval 6"/>
              <p:cNvSpPr>
                <a:spLocks noChangeArrowheads="1"/>
              </p:cNvSpPr>
              <p:nvPr/>
            </p:nvSpPr>
            <p:spPr bwMode="auto">
              <a:xfrm>
                <a:off x="1751" y="799"/>
                <a:ext cx="1026" cy="628"/>
              </a:xfrm>
              <a:prstGeom prst="ellipse">
                <a:avLst/>
              </a:prstGeom>
              <a:solidFill>
                <a:srgbClr val="CC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857094" name="Oval 7"/>
              <p:cNvSpPr>
                <a:spLocks noChangeArrowheads="1"/>
              </p:cNvSpPr>
              <p:nvPr/>
            </p:nvSpPr>
            <p:spPr bwMode="auto">
              <a:xfrm>
                <a:off x="1172" y="972"/>
                <a:ext cx="781" cy="627"/>
              </a:xfrm>
              <a:prstGeom prst="ellipse">
                <a:avLst/>
              </a:prstGeom>
              <a:solidFill>
                <a:srgbClr val="CC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857095" name="Oval 8"/>
              <p:cNvSpPr>
                <a:spLocks noChangeArrowheads="1"/>
              </p:cNvSpPr>
              <p:nvPr/>
            </p:nvSpPr>
            <p:spPr bwMode="auto">
              <a:xfrm>
                <a:off x="926" y="1364"/>
                <a:ext cx="521" cy="502"/>
              </a:xfrm>
              <a:prstGeom prst="ellipse">
                <a:avLst/>
              </a:prstGeom>
              <a:solidFill>
                <a:srgbClr val="CC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857096" name="Oval 9"/>
              <p:cNvSpPr>
                <a:spLocks noChangeArrowheads="1"/>
              </p:cNvSpPr>
              <p:nvPr/>
            </p:nvSpPr>
            <p:spPr bwMode="auto">
              <a:xfrm>
                <a:off x="1085" y="1599"/>
                <a:ext cx="796" cy="549"/>
              </a:xfrm>
              <a:prstGeom prst="ellipse">
                <a:avLst/>
              </a:prstGeom>
              <a:solidFill>
                <a:srgbClr val="CC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857097" name="Oval 10"/>
              <p:cNvSpPr>
                <a:spLocks noChangeArrowheads="1"/>
              </p:cNvSpPr>
              <p:nvPr/>
            </p:nvSpPr>
            <p:spPr bwMode="auto">
              <a:xfrm>
                <a:off x="1664" y="1693"/>
                <a:ext cx="1200" cy="659"/>
              </a:xfrm>
              <a:prstGeom prst="ellipse">
                <a:avLst/>
              </a:prstGeom>
              <a:solidFill>
                <a:srgbClr val="CC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857098" name="Oval 11"/>
              <p:cNvSpPr>
                <a:spLocks noChangeArrowheads="1"/>
              </p:cNvSpPr>
              <p:nvPr/>
            </p:nvSpPr>
            <p:spPr bwMode="auto">
              <a:xfrm>
                <a:off x="2445" y="988"/>
                <a:ext cx="751" cy="486"/>
              </a:xfrm>
              <a:prstGeom prst="ellipse">
                <a:avLst/>
              </a:prstGeom>
              <a:solidFill>
                <a:srgbClr val="CC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857099" name="Oval 12"/>
              <p:cNvSpPr>
                <a:spLocks noChangeArrowheads="1"/>
              </p:cNvSpPr>
              <p:nvPr/>
            </p:nvSpPr>
            <p:spPr bwMode="auto">
              <a:xfrm>
                <a:off x="2560" y="1317"/>
                <a:ext cx="752" cy="486"/>
              </a:xfrm>
              <a:prstGeom prst="ellipse">
                <a:avLst/>
              </a:prstGeom>
              <a:solidFill>
                <a:srgbClr val="CC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857100" name="Oval 13"/>
              <p:cNvSpPr>
                <a:spLocks noChangeArrowheads="1"/>
              </p:cNvSpPr>
              <p:nvPr/>
            </p:nvSpPr>
            <p:spPr bwMode="auto">
              <a:xfrm>
                <a:off x="2488" y="1427"/>
                <a:ext cx="752" cy="815"/>
              </a:xfrm>
              <a:prstGeom prst="ellipse">
                <a:avLst/>
              </a:prstGeom>
              <a:solidFill>
                <a:srgbClr val="CC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857101" name="Oval 14"/>
              <p:cNvSpPr>
                <a:spLocks noChangeArrowheads="1"/>
              </p:cNvSpPr>
              <p:nvPr/>
            </p:nvSpPr>
            <p:spPr bwMode="auto">
              <a:xfrm>
                <a:off x="1360" y="1176"/>
                <a:ext cx="1547" cy="815"/>
              </a:xfrm>
              <a:prstGeom prst="ellipse">
                <a:avLst/>
              </a:prstGeom>
              <a:solidFill>
                <a:srgbClr val="CC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  <p:grpSp>
            <p:nvGrpSpPr>
              <p:cNvPr id="857102" name="Group 15"/>
              <p:cNvGrpSpPr>
                <a:grpSpLocks/>
              </p:cNvGrpSpPr>
              <p:nvPr/>
            </p:nvGrpSpPr>
            <p:grpSpPr bwMode="auto">
              <a:xfrm>
                <a:off x="912" y="768"/>
                <a:ext cx="2386" cy="1553"/>
                <a:chOff x="912" y="768"/>
                <a:chExt cx="2386" cy="1553"/>
              </a:xfrm>
            </p:grpSpPr>
            <p:sp>
              <p:nvSpPr>
                <p:cNvPr id="857103" name="Oval 16"/>
                <p:cNvSpPr>
                  <a:spLocks noChangeArrowheads="1"/>
                </p:cNvSpPr>
                <p:nvPr/>
              </p:nvSpPr>
              <p:spPr bwMode="auto">
                <a:xfrm>
                  <a:off x="1736" y="768"/>
                  <a:ext cx="1027" cy="627"/>
                </a:xfrm>
                <a:prstGeom prst="ellipse">
                  <a:avLst/>
                </a:prstGeom>
                <a:solidFill>
                  <a:srgbClr val="CC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857104" name="Oval 17"/>
                <p:cNvSpPr>
                  <a:spLocks noChangeArrowheads="1"/>
                </p:cNvSpPr>
                <p:nvPr/>
              </p:nvSpPr>
              <p:spPr bwMode="auto">
                <a:xfrm>
                  <a:off x="1158" y="941"/>
                  <a:ext cx="781" cy="627"/>
                </a:xfrm>
                <a:prstGeom prst="ellipse">
                  <a:avLst/>
                </a:prstGeom>
                <a:solidFill>
                  <a:srgbClr val="CC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857105" name="Oval 18"/>
                <p:cNvSpPr>
                  <a:spLocks noChangeArrowheads="1"/>
                </p:cNvSpPr>
                <p:nvPr/>
              </p:nvSpPr>
              <p:spPr bwMode="auto">
                <a:xfrm>
                  <a:off x="912" y="1333"/>
                  <a:ext cx="520" cy="501"/>
                </a:xfrm>
                <a:prstGeom prst="ellipse">
                  <a:avLst/>
                </a:prstGeom>
                <a:solidFill>
                  <a:srgbClr val="CC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857106" name="Oval 19"/>
                <p:cNvSpPr>
                  <a:spLocks noChangeArrowheads="1"/>
                </p:cNvSpPr>
                <p:nvPr/>
              </p:nvSpPr>
              <p:spPr bwMode="auto">
                <a:xfrm>
                  <a:off x="1071" y="1568"/>
                  <a:ext cx="795" cy="549"/>
                </a:xfrm>
                <a:prstGeom prst="ellipse">
                  <a:avLst/>
                </a:prstGeom>
                <a:solidFill>
                  <a:srgbClr val="CC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857107" name="Oval 20"/>
                <p:cNvSpPr>
                  <a:spLocks noChangeArrowheads="1"/>
                </p:cNvSpPr>
                <p:nvPr/>
              </p:nvSpPr>
              <p:spPr bwMode="auto">
                <a:xfrm>
                  <a:off x="1649" y="1662"/>
                  <a:ext cx="1200" cy="659"/>
                </a:xfrm>
                <a:prstGeom prst="ellipse">
                  <a:avLst/>
                </a:prstGeom>
                <a:solidFill>
                  <a:srgbClr val="CC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857108" name="Oval 21"/>
                <p:cNvSpPr>
                  <a:spLocks noChangeArrowheads="1"/>
                </p:cNvSpPr>
                <p:nvPr/>
              </p:nvSpPr>
              <p:spPr bwMode="auto">
                <a:xfrm>
                  <a:off x="2430" y="956"/>
                  <a:ext cx="752" cy="486"/>
                </a:xfrm>
                <a:prstGeom prst="ellipse">
                  <a:avLst/>
                </a:prstGeom>
                <a:solidFill>
                  <a:srgbClr val="CC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857109" name="Oval 22"/>
                <p:cNvSpPr>
                  <a:spLocks noChangeArrowheads="1"/>
                </p:cNvSpPr>
                <p:nvPr/>
              </p:nvSpPr>
              <p:spPr bwMode="auto">
                <a:xfrm>
                  <a:off x="2546" y="1286"/>
                  <a:ext cx="752" cy="486"/>
                </a:xfrm>
                <a:prstGeom prst="ellipse">
                  <a:avLst/>
                </a:prstGeom>
                <a:solidFill>
                  <a:srgbClr val="CC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857110" name="Oval 23"/>
                <p:cNvSpPr>
                  <a:spLocks noChangeArrowheads="1"/>
                </p:cNvSpPr>
                <p:nvPr/>
              </p:nvSpPr>
              <p:spPr bwMode="auto">
                <a:xfrm>
                  <a:off x="2473" y="1395"/>
                  <a:ext cx="752" cy="816"/>
                </a:xfrm>
                <a:prstGeom prst="ellipse">
                  <a:avLst/>
                </a:prstGeom>
                <a:solidFill>
                  <a:srgbClr val="CC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857111" name="Oval 24"/>
                <p:cNvSpPr>
                  <a:spLocks noChangeArrowheads="1"/>
                </p:cNvSpPr>
                <p:nvPr/>
              </p:nvSpPr>
              <p:spPr bwMode="auto">
                <a:xfrm>
                  <a:off x="1346" y="1144"/>
                  <a:ext cx="1547" cy="816"/>
                </a:xfrm>
                <a:prstGeom prst="ellipse">
                  <a:avLst/>
                </a:prstGeom>
                <a:solidFill>
                  <a:srgbClr val="CC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endParaRPr>
                </a:p>
              </p:txBody>
            </p:sp>
          </p:grpSp>
        </p:grpSp>
        <p:sp>
          <p:nvSpPr>
            <p:cNvPr id="857112" name="Line 25"/>
            <p:cNvSpPr>
              <a:spLocks noChangeShapeType="1"/>
            </p:cNvSpPr>
            <p:nvPr/>
          </p:nvSpPr>
          <p:spPr bwMode="auto">
            <a:xfrm>
              <a:off x="1463616" y="2286000"/>
              <a:ext cx="7321154" cy="0"/>
            </a:xfrm>
            <a:prstGeom prst="line">
              <a:avLst/>
            </a:prstGeom>
            <a:noFill/>
            <a:ln w="38100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grpSp>
          <p:nvGrpSpPr>
            <p:cNvPr id="857113" name="Group 26"/>
            <p:cNvGrpSpPr>
              <a:grpSpLocks/>
            </p:cNvGrpSpPr>
            <p:nvPr/>
          </p:nvGrpSpPr>
          <p:grpSpPr bwMode="auto">
            <a:xfrm>
              <a:off x="8542279" y="1855788"/>
              <a:ext cx="1379273" cy="914400"/>
              <a:chOff x="912" y="768"/>
              <a:chExt cx="2400" cy="1584"/>
            </a:xfrm>
          </p:grpSpPr>
          <p:sp>
            <p:nvSpPr>
              <p:cNvPr id="857114" name="Oval 27"/>
              <p:cNvSpPr>
                <a:spLocks noChangeArrowheads="1"/>
              </p:cNvSpPr>
              <p:nvPr/>
            </p:nvSpPr>
            <p:spPr bwMode="auto">
              <a:xfrm>
                <a:off x="1751" y="799"/>
                <a:ext cx="1026" cy="628"/>
              </a:xfrm>
              <a:prstGeom prst="ellipse">
                <a:avLst/>
              </a:prstGeom>
              <a:solidFill>
                <a:srgbClr val="CC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857115" name="Oval 28"/>
              <p:cNvSpPr>
                <a:spLocks noChangeArrowheads="1"/>
              </p:cNvSpPr>
              <p:nvPr/>
            </p:nvSpPr>
            <p:spPr bwMode="auto">
              <a:xfrm>
                <a:off x="1172" y="972"/>
                <a:ext cx="781" cy="627"/>
              </a:xfrm>
              <a:prstGeom prst="ellipse">
                <a:avLst/>
              </a:prstGeom>
              <a:solidFill>
                <a:srgbClr val="CC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857116" name="Oval 29"/>
              <p:cNvSpPr>
                <a:spLocks noChangeArrowheads="1"/>
              </p:cNvSpPr>
              <p:nvPr/>
            </p:nvSpPr>
            <p:spPr bwMode="auto">
              <a:xfrm>
                <a:off x="926" y="1364"/>
                <a:ext cx="521" cy="502"/>
              </a:xfrm>
              <a:prstGeom prst="ellipse">
                <a:avLst/>
              </a:prstGeom>
              <a:solidFill>
                <a:srgbClr val="CC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857117" name="Oval 30"/>
              <p:cNvSpPr>
                <a:spLocks noChangeArrowheads="1"/>
              </p:cNvSpPr>
              <p:nvPr/>
            </p:nvSpPr>
            <p:spPr bwMode="auto">
              <a:xfrm>
                <a:off x="1085" y="1599"/>
                <a:ext cx="796" cy="549"/>
              </a:xfrm>
              <a:prstGeom prst="ellipse">
                <a:avLst/>
              </a:prstGeom>
              <a:solidFill>
                <a:srgbClr val="CC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857118" name="Oval 31"/>
              <p:cNvSpPr>
                <a:spLocks noChangeArrowheads="1"/>
              </p:cNvSpPr>
              <p:nvPr/>
            </p:nvSpPr>
            <p:spPr bwMode="auto">
              <a:xfrm>
                <a:off x="1664" y="1693"/>
                <a:ext cx="1200" cy="659"/>
              </a:xfrm>
              <a:prstGeom prst="ellipse">
                <a:avLst/>
              </a:prstGeom>
              <a:solidFill>
                <a:srgbClr val="CC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857119" name="Oval 32"/>
              <p:cNvSpPr>
                <a:spLocks noChangeArrowheads="1"/>
              </p:cNvSpPr>
              <p:nvPr/>
            </p:nvSpPr>
            <p:spPr bwMode="auto">
              <a:xfrm>
                <a:off x="2445" y="988"/>
                <a:ext cx="751" cy="486"/>
              </a:xfrm>
              <a:prstGeom prst="ellipse">
                <a:avLst/>
              </a:prstGeom>
              <a:solidFill>
                <a:srgbClr val="CC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857120" name="Oval 33"/>
              <p:cNvSpPr>
                <a:spLocks noChangeArrowheads="1"/>
              </p:cNvSpPr>
              <p:nvPr/>
            </p:nvSpPr>
            <p:spPr bwMode="auto">
              <a:xfrm>
                <a:off x="2560" y="1317"/>
                <a:ext cx="752" cy="486"/>
              </a:xfrm>
              <a:prstGeom prst="ellipse">
                <a:avLst/>
              </a:prstGeom>
              <a:solidFill>
                <a:srgbClr val="CC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857121" name="Oval 34"/>
              <p:cNvSpPr>
                <a:spLocks noChangeArrowheads="1"/>
              </p:cNvSpPr>
              <p:nvPr/>
            </p:nvSpPr>
            <p:spPr bwMode="auto">
              <a:xfrm>
                <a:off x="2488" y="1427"/>
                <a:ext cx="752" cy="815"/>
              </a:xfrm>
              <a:prstGeom prst="ellipse">
                <a:avLst/>
              </a:prstGeom>
              <a:solidFill>
                <a:srgbClr val="CC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857122" name="Oval 35"/>
              <p:cNvSpPr>
                <a:spLocks noChangeArrowheads="1"/>
              </p:cNvSpPr>
              <p:nvPr/>
            </p:nvSpPr>
            <p:spPr bwMode="auto">
              <a:xfrm>
                <a:off x="1360" y="1176"/>
                <a:ext cx="1547" cy="815"/>
              </a:xfrm>
              <a:prstGeom prst="ellipse">
                <a:avLst/>
              </a:prstGeom>
              <a:solidFill>
                <a:srgbClr val="CC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  <p:grpSp>
            <p:nvGrpSpPr>
              <p:cNvPr id="857123" name="Group 36"/>
              <p:cNvGrpSpPr>
                <a:grpSpLocks/>
              </p:cNvGrpSpPr>
              <p:nvPr/>
            </p:nvGrpSpPr>
            <p:grpSpPr bwMode="auto">
              <a:xfrm>
                <a:off x="912" y="768"/>
                <a:ext cx="2386" cy="1553"/>
                <a:chOff x="912" y="768"/>
                <a:chExt cx="2386" cy="1553"/>
              </a:xfrm>
            </p:grpSpPr>
            <p:sp>
              <p:nvSpPr>
                <p:cNvPr id="857124" name="Oval 37"/>
                <p:cNvSpPr>
                  <a:spLocks noChangeArrowheads="1"/>
                </p:cNvSpPr>
                <p:nvPr/>
              </p:nvSpPr>
              <p:spPr bwMode="auto">
                <a:xfrm>
                  <a:off x="1736" y="768"/>
                  <a:ext cx="1027" cy="627"/>
                </a:xfrm>
                <a:prstGeom prst="ellipse">
                  <a:avLst/>
                </a:prstGeom>
                <a:solidFill>
                  <a:srgbClr val="CC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857125" name="Oval 38"/>
                <p:cNvSpPr>
                  <a:spLocks noChangeArrowheads="1"/>
                </p:cNvSpPr>
                <p:nvPr/>
              </p:nvSpPr>
              <p:spPr bwMode="auto">
                <a:xfrm>
                  <a:off x="1158" y="941"/>
                  <a:ext cx="781" cy="627"/>
                </a:xfrm>
                <a:prstGeom prst="ellipse">
                  <a:avLst/>
                </a:prstGeom>
                <a:solidFill>
                  <a:srgbClr val="CC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857126" name="Oval 39"/>
                <p:cNvSpPr>
                  <a:spLocks noChangeArrowheads="1"/>
                </p:cNvSpPr>
                <p:nvPr/>
              </p:nvSpPr>
              <p:spPr bwMode="auto">
                <a:xfrm>
                  <a:off x="912" y="1333"/>
                  <a:ext cx="520" cy="501"/>
                </a:xfrm>
                <a:prstGeom prst="ellipse">
                  <a:avLst/>
                </a:prstGeom>
                <a:solidFill>
                  <a:srgbClr val="CC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857127" name="Oval 40"/>
                <p:cNvSpPr>
                  <a:spLocks noChangeArrowheads="1"/>
                </p:cNvSpPr>
                <p:nvPr/>
              </p:nvSpPr>
              <p:spPr bwMode="auto">
                <a:xfrm>
                  <a:off x="1071" y="1568"/>
                  <a:ext cx="795" cy="549"/>
                </a:xfrm>
                <a:prstGeom prst="ellipse">
                  <a:avLst/>
                </a:prstGeom>
                <a:solidFill>
                  <a:srgbClr val="CC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857128" name="Oval 41"/>
                <p:cNvSpPr>
                  <a:spLocks noChangeArrowheads="1"/>
                </p:cNvSpPr>
                <p:nvPr/>
              </p:nvSpPr>
              <p:spPr bwMode="auto">
                <a:xfrm>
                  <a:off x="1649" y="1662"/>
                  <a:ext cx="1200" cy="659"/>
                </a:xfrm>
                <a:prstGeom prst="ellipse">
                  <a:avLst/>
                </a:prstGeom>
                <a:solidFill>
                  <a:srgbClr val="CC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857129" name="Oval 42"/>
                <p:cNvSpPr>
                  <a:spLocks noChangeArrowheads="1"/>
                </p:cNvSpPr>
                <p:nvPr/>
              </p:nvSpPr>
              <p:spPr bwMode="auto">
                <a:xfrm>
                  <a:off x="2430" y="956"/>
                  <a:ext cx="752" cy="486"/>
                </a:xfrm>
                <a:prstGeom prst="ellipse">
                  <a:avLst/>
                </a:prstGeom>
                <a:solidFill>
                  <a:srgbClr val="CC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857130" name="Oval 43"/>
                <p:cNvSpPr>
                  <a:spLocks noChangeArrowheads="1"/>
                </p:cNvSpPr>
                <p:nvPr/>
              </p:nvSpPr>
              <p:spPr bwMode="auto">
                <a:xfrm>
                  <a:off x="2546" y="1286"/>
                  <a:ext cx="752" cy="486"/>
                </a:xfrm>
                <a:prstGeom prst="ellipse">
                  <a:avLst/>
                </a:prstGeom>
                <a:solidFill>
                  <a:srgbClr val="CC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857131" name="Oval 44"/>
                <p:cNvSpPr>
                  <a:spLocks noChangeArrowheads="1"/>
                </p:cNvSpPr>
                <p:nvPr/>
              </p:nvSpPr>
              <p:spPr bwMode="auto">
                <a:xfrm>
                  <a:off x="2473" y="1395"/>
                  <a:ext cx="752" cy="816"/>
                </a:xfrm>
                <a:prstGeom prst="ellipse">
                  <a:avLst/>
                </a:prstGeom>
                <a:solidFill>
                  <a:srgbClr val="CC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857132" name="Oval 45"/>
                <p:cNvSpPr>
                  <a:spLocks noChangeArrowheads="1"/>
                </p:cNvSpPr>
                <p:nvPr/>
              </p:nvSpPr>
              <p:spPr bwMode="auto">
                <a:xfrm>
                  <a:off x="1346" y="1144"/>
                  <a:ext cx="1547" cy="816"/>
                </a:xfrm>
                <a:prstGeom prst="ellipse">
                  <a:avLst/>
                </a:prstGeom>
                <a:solidFill>
                  <a:srgbClr val="CC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endParaRPr>
                </a:p>
              </p:txBody>
            </p:sp>
          </p:grpSp>
        </p:grpSp>
        <p:grpSp>
          <p:nvGrpSpPr>
            <p:cNvPr id="857133" name="Group 46"/>
            <p:cNvGrpSpPr>
              <a:grpSpLocks/>
            </p:cNvGrpSpPr>
            <p:nvPr/>
          </p:nvGrpSpPr>
          <p:grpSpPr bwMode="auto">
            <a:xfrm>
              <a:off x="5818129" y="1890714"/>
              <a:ext cx="1379273" cy="915987"/>
              <a:chOff x="912" y="768"/>
              <a:chExt cx="2400" cy="1584"/>
            </a:xfrm>
          </p:grpSpPr>
          <p:sp>
            <p:nvSpPr>
              <p:cNvPr id="857134" name="Oval 47"/>
              <p:cNvSpPr>
                <a:spLocks noChangeArrowheads="1"/>
              </p:cNvSpPr>
              <p:nvPr/>
            </p:nvSpPr>
            <p:spPr bwMode="auto">
              <a:xfrm>
                <a:off x="1751" y="799"/>
                <a:ext cx="1026" cy="628"/>
              </a:xfrm>
              <a:prstGeom prst="ellipse">
                <a:avLst/>
              </a:prstGeom>
              <a:solidFill>
                <a:srgbClr val="CC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857135" name="Oval 48"/>
              <p:cNvSpPr>
                <a:spLocks noChangeArrowheads="1"/>
              </p:cNvSpPr>
              <p:nvPr/>
            </p:nvSpPr>
            <p:spPr bwMode="auto">
              <a:xfrm>
                <a:off x="1172" y="972"/>
                <a:ext cx="781" cy="627"/>
              </a:xfrm>
              <a:prstGeom prst="ellipse">
                <a:avLst/>
              </a:prstGeom>
              <a:solidFill>
                <a:srgbClr val="CC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857136" name="Oval 49"/>
              <p:cNvSpPr>
                <a:spLocks noChangeArrowheads="1"/>
              </p:cNvSpPr>
              <p:nvPr/>
            </p:nvSpPr>
            <p:spPr bwMode="auto">
              <a:xfrm>
                <a:off x="926" y="1364"/>
                <a:ext cx="521" cy="502"/>
              </a:xfrm>
              <a:prstGeom prst="ellipse">
                <a:avLst/>
              </a:prstGeom>
              <a:solidFill>
                <a:srgbClr val="CC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857137" name="Oval 50"/>
              <p:cNvSpPr>
                <a:spLocks noChangeArrowheads="1"/>
              </p:cNvSpPr>
              <p:nvPr/>
            </p:nvSpPr>
            <p:spPr bwMode="auto">
              <a:xfrm>
                <a:off x="1085" y="1599"/>
                <a:ext cx="796" cy="549"/>
              </a:xfrm>
              <a:prstGeom prst="ellipse">
                <a:avLst/>
              </a:prstGeom>
              <a:solidFill>
                <a:srgbClr val="CC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857138" name="Oval 51"/>
              <p:cNvSpPr>
                <a:spLocks noChangeArrowheads="1"/>
              </p:cNvSpPr>
              <p:nvPr/>
            </p:nvSpPr>
            <p:spPr bwMode="auto">
              <a:xfrm>
                <a:off x="1664" y="1693"/>
                <a:ext cx="1200" cy="659"/>
              </a:xfrm>
              <a:prstGeom prst="ellipse">
                <a:avLst/>
              </a:prstGeom>
              <a:solidFill>
                <a:srgbClr val="CC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857139" name="Oval 52"/>
              <p:cNvSpPr>
                <a:spLocks noChangeArrowheads="1"/>
              </p:cNvSpPr>
              <p:nvPr/>
            </p:nvSpPr>
            <p:spPr bwMode="auto">
              <a:xfrm>
                <a:off x="2445" y="988"/>
                <a:ext cx="751" cy="486"/>
              </a:xfrm>
              <a:prstGeom prst="ellipse">
                <a:avLst/>
              </a:prstGeom>
              <a:solidFill>
                <a:srgbClr val="CC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857140" name="Oval 53"/>
              <p:cNvSpPr>
                <a:spLocks noChangeArrowheads="1"/>
              </p:cNvSpPr>
              <p:nvPr/>
            </p:nvSpPr>
            <p:spPr bwMode="auto">
              <a:xfrm>
                <a:off x="2560" y="1317"/>
                <a:ext cx="752" cy="486"/>
              </a:xfrm>
              <a:prstGeom prst="ellipse">
                <a:avLst/>
              </a:prstGeom>
              <a:solidFill>
                <a:srgbClr val="CC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857141" name="Oval 54"/>
              <p:cNvSpPr>
                <a:spLocks noChangeArrowheads="1"/>
              </p:cNvSpPr>
              <p:nvPr/>
            </p:nvSpPr>
            <p:spPr bwMode="auto">
              <a:xfrm>
                <a:off x="2488" y="1427"/>
                <a:ext cx="752" cy="815"/>
              </a:xfrm>
              <a:prstGeom prst="ellipse">
                <a:avLst/>
              </a:prstGeom>
              <a:solidFill>
                <a:srgbClr val="CC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857142" name="Oval 55"/>
              <p:cNvSpPr>
                <a:spLocks noChangeArrowheads="1"/>
              </p:cNvSpPr>
              <p:nvPr/>
            </p:nvSpPr>
            <p:spPr bwMode="auto">
              <a:xfrm>
                <a:off x="1360" y="1176"/>
                <a:ext cx="1547" cy="815"/>
              </a:xfrm>
              <a:prstGeom prst="ellipse">
                <a:avLst/>
              </a:prstGeom>
              <a:solidFill>
                <a:srgbClr val="CC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  <p:grpSp>
            <p:nvGrpSpPr>
              <p:cNvPr id="857143" name="Group 56"/>
              <p:cNvGrpSpPr>
                <a:grpSpLocks/>
              </p:cNvGrpSpPr>
              <p:nvPr/>
            </p:nvGrpSpPr>
            <p:grpSpPr bwMode="auto">
              <a:xfrm>
                <a:off x="912" y="768"/>
                <a:ext cx="2386" cy="1553"/>
                <a:chOff x="912" y="768"/>
                <a:chExt cx="2386" cy="1553"/>
              </a:xfrm>
            </p:grpSpPr>
            <p:sp>
              <p:nvSpPr>
                <p:cNvPr id="857144" name="Oval 57"/>
                <p:cNvSpPr>
                  <a:spLocks noChangeArrowheads="1"/>
                </p:cNvSpPr>
                <p:nvPr/>
              </p:nvSpPr>
              <p:spPr bwMode="auto">
                <a:xfrm>
                  <a:off x="1736" y="768"/>
                  <a:ext cx="1027" cy="627"/>
                </a:xfrm>
                <a:prstGeom prst="ellipse">
                  <a:avLst/>
                </a:prstGeom>
                <a:solidFill>
                  <a:srgbClr val="CC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857145" name="Oval 58"/>
                <p:cNvSpPr>
                  <a:spLocks noChangeArrowheads="1"/>
                </p:cNvSpPr>
                <p:nvPr/>
              </p:nvSpPr>
              <p:spPr bwMode="auto">
                <a:xfrm>
                  <a:off x="1158" y="941"/>
                  <a:ext cx="781" cy="627"/>
                </a:xfrm>
                <a:prstGeom prst="ellipse">
                  <a:avLst/>
                </a:prstGeom>
                <a:solidFill>
                  <a:srgbClr val="CC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857146" name="Oval 59"/>
                <p:cNvSpPr>
                  <a:spLocks noChangeArrowheads="1"/>
                </p:cNvSpPr>
                <p:nvPr/>
              </p:nvSpPr>
              <p:spPr bwMode="auto">
                <a:xfrm>
                  <a:off x="912" y="1333"/>
                  <a:ext cx="520" cy="501"/>
                </a:xfrm>
                <a:prstGeom prst="ellipse">
                  <a:avLst/>
                </a:prstGeom>
                <a:solidFill>
                  <a:srgbClr val="CC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857147" name="Oval 60"/>
                <p:cNvSpPr>
                  <a:spLocks noChangeArrowheads="1"/>
                </p:cNvSpPr>
                <p:nvPr/>
              </p:nvSpPr>
              <p:spPr bwMode="auto">
                <a:xfrm>
                  <a:off x="1071" y="1568"/>
                  <a:ext cx="795" cy="549"/>
                </a:xfrm>
                <a:prstGeom prst="ellipse">
                  <a:avLst/>
                </a:prstGeom>
                <a:solidFill>
                  <a:srgbClr val="CC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857148" name="Oval 61"/>
                <p:cNvSpPr>
                  <a:spLocks noChangeArrowheads="1"/>
                </p:cNvSpPr>
                <p:nvPr/>
              </p:nvSpPr>
              <p:spPr bwMode="auto">
                <a:xfrm>
                  <a:off x="1649" y="1662"/>
                  <a:ext cx="1200" cy="659"/>
                </a:xfrm>
                <a:prstGeom prst="ellipse">
                  <a:avLst/>
                </a:prstGeom>
                <a:solidFill>
                  <a:srgbClr val="CC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857149" name="Oval 62"/>
                <p:cNvSpPr>
                  <a:spLocks noChangeArrowheads="1"/>
                </p:cNvSpPr>
                <p:nvPr/>
              </p:nvSpPr>
              <p:spPr bwMode="auto">
                <a:xfrm>
                  <a:off x="2430" y="956"/>
                  <a:ext cx="752" cy="486"/>
                </a:xfrm>
                <a:prstGeom prst="ellipse">
                  <a:avLst/>
                </a:prstGeom>
                <a:solidFill>
                  <a:srgbClr val="CC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857150" name="Oval 63"/>
                <p:cNvSpPr>
                  <a:spLocks noChangeArrowheads="1"/>
                </p:cNvSpPr>
                <p:nvPr/>
              </p:nvSpPr>
              <p:spPr bwMode="auto">
                <a:xfrm>
                  <a:off x="2546" y="1286"/>
                  <a:ext cx="752" cy="486"/>
                </a:xfrm>
                <a:prstGeom prst="ellipse">
                  <a:avLst/>
                </a:prstGeom>
                <a:solidFill>
                  <a:srgbClr val="CC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857151" name="Oval 64"/>
                <p:cNvSpPr>
                  <a:spLocks noChangeArrowheads="1"/>
                </p:cNvSpPr>
                <p:nvPr/>
              </p:nvSpPr>
              <p:spPr bwMode="auto">
                <a:xfrm>
                  <a:off x="2473" y="1395"/>
                  <a:ext cx="752" cy="816"/>
                </a:xfrm>
                <a:prstGeom prst="ellipse">
                  <a:avLst/>
                </a:prstGeom>
                <a:solidFill>
                  <a:srgbClr val="CC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857152" name="Oval 65"/>
                <p:cNvSpPr>
                  <a:spLocks noChangeArrowheads="1"/>
                </p:cNvSpPr>
                <p:nvPr/>
              </p:nvSpPr>
              <p:spPr bwMode="auto">
                <a:xfrm>
                  <a:off x="1346" y="1144"/>
                  <a:ext cx="1547" cy="816"/>
                </a:xfrm>
                <a:prstGeom prst="ellipse">
                  <a:avLst/>
                </a:prstGeom>
                <a:solidFill>
                  <a:srgbClr val="CC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endParaRPr>
                </a:p>
              </p:txBody>
            </p:sp>
          </p:grpSp>
        </p:grpSp>
        <p:grpSp>
          <p:nvGrpSpPr>
            <p:cNvPr id="857153" name="Group 66"/>
            <p:cNvGrpSpPr>
              <a:grpSpLocks/>
            </p:cNvGrpSpPr>
            <p:nvPr/>
          </p:nvGrpSpPr>
          <p:grpSpPr bwMode="auto">
            <a:xfrm>
              <a:off x="2983912" y="1855788"/>
              <a:ext cx="1379273" cy="914400"/>
              <a:chOff x="912" y="768"/>
              <a:chExt cx="2400" cy="1584"/>
            </a:xfrm>
          </p:grpSpPr>
          <p:sp>
            <p:nvSpPr>
              <p:cNvPr id="857154" name="Oval 67"/>
              <p:cNvSpPr>
                <a:spLocks noChangeArrowheads="1"/>
              </p:cNvSpPr>
              <p:nvPr/>
            </p:nvSpPr>
            <p:spPr bwMode="auto">
              <a:xfrm>
                <a:off x="1751" y="799"/>
                <a:ext cx="1026" cy="628"/>
              </a:xfrm>
              <a:prstGeom prst="ellipse">
                <a:avLst/>
              </a:prstGeom>
              <a:solidFill>
                <a:srgbClr val="CC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857155" name="Oval 68"/>
              <p:cNvSpPr>
                <a:spLocks noChangeArrowheads="1"/>
              </p:cNvSpPr>
              <p:nvPr/>
            </p:nvSpPr>
            <p:spPr bwMode="auto">
              <a:xfrm>
                <a:off x="1172" y="972"/>
                <a:ext cx="781" cy="627"/>
              </a:xfrm>
              <a:prstGeom prst="ellipse">
                <a:avLst/>
              </a:prstGeom>
              <a:solidFill>
                <a:srgbClr val="CC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857156" name="Oval 69"/>
              <p:cNvSpPr>
                <a:spLocks noChangeArrowheads="1"/>
              </p:cNvSpPr>
              <p:nvPr/>
            </p:nvSpPr>
            <p:spPr bwMode="auto">
              <a:xfrm>
                <a:off x="926" y="1364"/>
                <a:ext cx="521" cy="502"/>
              </a:xfrm>
              <a:prstGeom prst="ellipse">
                <a:avLst/>
              </a:prstGeom>
              <a:solidFill>
                <a:srgbClr val="CC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857157" name="Oval 70"/>
              <p:cNvSpPr>
                <a:spLocks noChangeArrowheads="1"/>
              </p:cNvSpPr>
              <p:nvPr/>
            </p:nvSpPr>
            <p:spPr bwMode="auto">
              <a:xfrm>
                <a:off x="1085" y="1599"/>
                <a:ext cx="796" cy="549"/>
              </a:xfrm>
              <a:prstGeom prst="ellipse">
                <a:avLst/>
              </a:prstGeom>
              <a:solidFill>
                <a:srgbClr val="CC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857158" name="Oval 71"/>
              <p:cNvSpPr>
                <a:spLocks noChangeArrowheads="1"/>
              </p:cNvSpPr>
              <p:nvPr/>
            </p:nvSpPr>
            <p:spPr bwMode="auto">
              <a:xfrm>
                <a:off x="1664" y="1693"/>
                <a:ext cx="1200" cy="659"/>
              </a:xfrm>
              <a:prstGeom prst="ellipse">
                <a:avLst/>
              </a:prstGeom>
              <a:solidFill>
                <a:srgbClr val="CC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857159" name="Oval 72"/>
              <p:cNvSpPr>
                <a:spLocks noChangeArrowheads="1"/>
              </p:cNvSpPr>
              <p:nvPr/>
            </p:nvSpPr>
            <p:spPr bwMode="auto">
              <a:xfrm>
                <a:off x="2445" y="988"/>
                <a:ext cx="751" cy="486"/>
              </a:xfrm>
              <a:prstGeom prst="ellipse">
                <a:avLst/>
              </a:prstGeom>
              <a:solidFill>
                <a:srgbClr val="CC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857160" name="Oval 73"/>
              <p:cNvSpPr>
                <a:spLocks noChangeArrowheads="1"/>
              </p:cNvSpPr>
              <p:nvPr/>
            </p:nvSpPr>
            <p:spPr bwMode="auto">
              <a:xfrm>
                <a:off x="2560" y="1317"/>
                <a:ext cx="752" cy="486"/>
              </a:xfrm>
              <a:prstGeom prst="ellipse">
                <a:avLst/>
              </a:prstGeom>
              <a:solidFill>
                <a:srgbClr val="CC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857161" name="Oval 74"/>
              <p:cNvSpPr>
                <a:spLocks noChangeArrowheads="1"/>
              </p:cNvSpPr>
              <p:nvPr/>
            </p:nvSpPr>
            <p:spPr bwMode="auto">
              <a:xfrm>
                <a:off x="2488" y="1427"/>
                <a:ext cx="752" cy="815"/>
              </a:xfrm>
              <a:prstGeom prst="ellipse">
                <a:avLst/>
              </a:prstGeom>
              <a:solidFill>
                <a:srgbClr val="CC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857162" name="Oval 75"/>
              <p:cNvSpPr>
                <a:spLocks noChangeArrowheads="1"/>
              </p:cNvSpPr>
              <p:nvPr/>
            </p:nvSpPr>
            <p:spPr bwMode="auto">
              <a:xfrm>
                <a:off x="1360" y="1176"/>
                <a:ext cx="1547" cy="815"/>
              </a:xfrm>
              <a:prstGeom prst="ellipse">
                <a:avLst/>
              </a:prstGeom>
              <a:solidFill>
                <a:srgbClr val="CC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CC"/>
                  </a:solidFill>
                  <a:ea typeface="黑体" panose="02010609060101010101" pitchFamily="49" charset="-122"/>
                </a:endParaRPr>
              </a:p>
            </p:txBody>
          </p:sp>
          <p:grpSp>
            <p:nvGrpSpPr>
              <p:cNvPr id="857163" name="Group 76"/>
              <p:cNvGrpSpPr>
                <a:grpSpLocks/>
              </p:cNvGrpSpPr>
              <p:nvPr/>
            </p:nvGrpSpPr>
            <p:grpSpPr bwMode="auto">
              <a:xfrm>
                <a:off x="912" y="768"/>
                <a:ext cx="2386" cy="1553"/>
                <a:chOff x="912" y="768"/>
                <a:chExt cx="2386" cy="1553"/>
              </a:xfrm>
            </p:grpSpPr>
            <p:sp>
              <p:nvSpPr>
                <p:cNvPr id="857164" name="Oval 77"/>
                <p:cNvSpPr>
                  <a:spLocks noChangeArrowheads="1"/>
                </p:cNvSpPr>
                <p:nvPr/>
              </p:nvSpPr>
              <p:spPr bwMode="auto">
                <a:xfrm>
                  <a:off x="1736" y="768"/>
                  <a:ext cx="1027" cy="627"/>
                </a:xfrm>
                <a:prstGeom prst="ellipse">
                  <a:avLst/>
                </a:prstGeom>
                <a:solidFill>
                  <a:srgbClr val="CC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857165" name="Oval 78"/>
                <p:cNvSpPr>
                  <a:spLocks noChangeArrowheads="1"/>
                </p:cNvSpPr>
                <p:nvPr/>
              </p:nvSpPr>
              <p:spPr bwMode="auto">
                <a:xfrm>
                  <a:off x="1158" y="941"/>
                  <a:ext cx="781" cy="627"/>
                </a:xfrm>
                <a:prstGeom prst="ellipse">
                  <a:avLst/>
                </a:prstGeom>
                <a:solidFill>
                  <a:srgbClr val="CC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857166" name="Oval 79"/>
                <p:cNvSpPr>
                  <a:spLocks noChangeArrowheads="1"/>
                </p:cNvSpPr>
                <p:nvPr/>
              </p:nvSpPr>
              <p:spPr bwMode="auto">
                <a:xfrm>
                  <a:off x="912" y="1333"/>
                  <a:ext cx="520" cy="501"/>
                </a:xfrm>
                <a:prstGeom prst="ellipse">
                  <a:avLst/>
                </a:prstGeom>
                <a:solidFill>
                  <a:srgbClr val="CC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857167" name="Oval 80"/>
                <p:cNvSpPr>
                  <a:spLocks noChangeArrowheads="1"/>
                </p:cNvSpPr>
                <p:nvPr/>
              </p:nvSpPr>
              <p:spPr bwMode="auto">
                <a:xfrm>
                  <a:off x="1071" y="1568"/>
                  <a:ext cx="795" cy="549"/>
                </a:xfrm>
                <a:prstGeom prst="ellipse">
                  <a:avLst/>
                </a:prstGeom>
                <a:solidFill>
                  <a:srgbClr val="CC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857168" name="Oval 81"/>
                <p:cNvSpPr>
                  <a:spLocks noChangeArrowheads="1"/>
                </p:cNvSpPr>
                <p:nvPr/>
              </p:nvSpPr>
              <p:spPr bwMode="auto">
                <a:xfrm>
                  <a:off x="1649" y="1662"/>
                  <a:ext cx="1200" cy="659"/>
                </a:xfrm>
                <a:prstGeom prst="ellipse">
                  <a:avLst/>
                </a:prstGeom>
                <a:solidFill>
                  <a:srgbClr val="CC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857169" name="Oval 82"/>
                <p:cNvSpPr>
                  <a:spLocks noChangeArrowheads="1"/>
                </p:cNvSpPr>
                <p:nvPr/>
              </p:nvSpPr>
              <p:spPr bwMode="auto">
                <a:xfrm>
                  <a:off x="2430" y="956"/>
                  <a:ext cx="752" cy="486"/>
                </a:xfrm>
                <a:prstGeom prst="ellipse">
                  <a:avLst/>
                </a:prstGeom>
                <a:solidFill>
                  <a:srgbClr val="CC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857170" name="Oval 83"/>
                <p:cNvSpPr>
                  <a:spLocks noChangeArrowheads="1"/>
                </p:cNvSpPr>
                <p:nvPr/>
              </p:nvSpPr>
              <p:spPr bwMode="auto">
                <a:xfrm>
                  <a:off x="2546" y="1286"/>
                  <a:ext cx="752" cy="486"/>
                </a:xfrm>
                <a:prstGeom prst="ellipse">
                  <a:avLst/>
                </a:prstGeom>
                <a:solidFill>
                  <a:srgbClr val="CC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857171" name="Oval 84"/>
                <p:cNvSpPr>
                  <a:spLocks noChangeArrowheads="1"/>
                </p:cNvSpPr>
                <p:nvPr/>
              </p:nvSpPr>
              <p:spPr bwMode="auto">
                <a:xfrm>
                  <a:off x="2473" y="1395"/>
                  <a:ext cx="752" cy="816"/>
                </a:xfrm>
                <a:prstGeom prst="ellipse">
                  <a:avLst/>
                </a:prstGeom>
                <a:solidFill>
                  <a:srgbClr val="CC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857172" name="Oval 85"/>
                <p:cNvSpPr>
                  <a:spLocks noChangeArrowheads="1"/>
                </p:cNvSpPr>
                <p:nvPr/>
              </p:nvSpPr>
              <p:spPr bwMode="auto">
                <a:xfrm>
                  <a:off x="1346" y="1144"/>
                  <a:ext cx="1547" cy="816"/>
                </a:xfrm>
                <a:prstGeom prst="ellipse">
                  <a:avLst/>
                </a:prstGeom>
                <a:solidFill>
                  <a:srgbClr val="CC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CC"/>
                    </a:solidFill>
                    <a:ea typeface="黑体" panose="02010609060101010101" pitchFamily="49" charset="-122"/>
                  </a:endParaRPr>
                </a:p>
              </p:txBody>
            </p:sp>
          </p:grpSp>
        </p:grpSp>
        <p:sp>
          <p:nvSpPr>
            <p:cNvPr id="857173" name="Text Box 86"/>
            <p:cNvSpPr txBox="1">
              <a:spLocks noChangeArrowheads="1"/>
            </p:cNvSpPr>
            <p:nvPr/>
          </p:nvSpPr>
          <p:spPr bwMode="auto">
            <a:xfrm>
              <a:off x="216768" y="1908176"/>
              <a:ext cx="1109599" cy="707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   </a:t>
              </a:r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网</a:t>
              </a:r>
              <a:r>
                <a:rPr lang="zh-CN" altLang="en-US" sz="1200" b="1">
                  <a:solidFill>
                    <a:srgbClr val="0000CC"/>
                  </a:solidFill>
                  <a:ea typeface="黑体" panose="02010609060101010101" pitchFamily="49" charset="-122"/>
                </a:rPr>
                <a:t> </a:t>
              </a:r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1</a:t>
              </a:r>
            </a:p>
            <a:p>
              <a:pPr eaLnBrk="0" hangingPunct="0"/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10.0.0.0</a:t>
              </a:r>
            </a:p>
          </p:txBody>
        </p:sp>
        <p:sp>
          <p:nvSpPr>
            <p:cNvPr id="857174" name="Text Box 87"/>
            <p:cNvSpPr txBox="1">
              <a:spLocks noChangeArrowheads="1"/>
            </p:cNvSpPr>
            <p:nvPr/>
          </p:nvSpPr>
          <p:spPr bwMode="auto">
            <a:xfrm>
              <a:off x="8784770" y="1908176"/>
              <a:ext cx="1109599" cy="707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   </a:t>
              </a:r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网</a:t>
              </a:r>
              <a:r>
                <a:rPr lang="zh-CN" altLang="en-US" sz="1000" b="1">
                  <a:solidFill>
                    <a:srgbClr val="0000CC"/>
                  </a:solidFill>
                  <a:ea typeface="黑体" panose="02010609060101010101" pitchFamily="49" charset="-122"/>
                </a:rPr>
                <a:t> </a:t>
              </a:r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4</a:t>
              </a:r>
            </a:p>
            <a:p>
              <a:pPr eaLnBrk="0" hangingPunct="0"/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40.0.0.0</a:t>
              </a:r>
            </a:p>
          </p:txBody>
        </p:sp>
        <p:sp>
          <p:nvSpPr>
            <p:cNvPr id="857175" name="Text Box 88"/>
            <p:cNvSpPr txBox="1">
              <a:spLocks noChangeArrowheads="1"/>
            </p:cNvSpPr>
            <p:nvPr/>
          </p:nvSpPr>
          <p:spPr bwMode="auto">
            <a:xfrm>
              <a:off x="5969470" y="1908176"/>
              <a:ext cx="1109599" cy="707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   </a:t>
              </a:r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网</a:t>
              </a:r>
              <a:r>
                <a:rPr lang="zh-CN" altLang="en-US" sz="1200" b="1">
                  <a:solidFill>
                    <a:srgbClr val="0000CC"/>
                  </a:solidFill>
                  <a:ea typeface="黑体" panose="02010609060101010101" pitchFamily="49" charset="-122"/>
                </a:rPr>
                <a:t> </a:t>
              </a:r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3</a:t>
              </a:r>
            </a:p>
            <a:p>
              <a:pPr eaLnBrk="0" hangingPunct="0"/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30.0.0.0</a:t>
              </a:r>
            </a:p>
          </p:txBody>
        </p:sp>
        <p:sp>
          <p:nvSpPr>
            <p:cNvPr id="857176" name="Text Box 89"/>
            <p:cNvSpPr txBox="1">
              <a:spLocks noChangeArrowheads="1"/>
            </p:cNvSpPr>
            <p:nvPr/>
          </p:nvSpPr>
          <p:spPr bwMode="auto">
            <a:xfrm>
              <a:off x="3135254" y="1908176"/>
              <a:ext cx="1109599" cy="707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   </a:t>
              </a:r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网</a:t>
              </a:r>
              <a:r>
                <a:rPr lang="zh-CN" altLang="en-US" sz="1000" b="1">
                  <a:solidFill>
                    <a:srgbClr val="0000CC"/>
                  </a:solidFill>
                  <a:ea typeface="黑体" panose="02010609060101010101" pitchFamily="49" charset="-122"/>
                </a:rPr>
                <a:t> </a:t>
              </a:r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2</a:t>
              </a:r>
            </a:p>
            <a:p>
              <a:pPr eaLnBrk="0" hangingPunct="0"/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20.0.0.0</a:t>
              </a:r>
            </a:p>
          </p:txBody>
        </p:sp>
        <p:sp>
          <p:nvSpPr>
            <p:cNvPr id="857177" name="Text Box 90"/>
            <p:cNvSpPr txBox="1">
              <a:spLocks noChangeArrowheads="1"/>
            </p:cNvSpPr>
            <p:nvPr/>
          </p:nvSpPr>
          <p:spPr bwMode="auto">
            <a:xfrm>
              <a:off x="902964" y="1477964"/>
              <a:ext cx="1109599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10.0.0.4</a:t>
              </a:r>
            </a:p>
          </p:txBody>
        </p:sp>
        <p:sp>
          <p:nvSpPr>
            <p:cNvPr id="857178" name="Text Box 91"/>
            <p:cNvSpPr txBox="1">
              <a:spLocks noChangeArrowheads="1"/>
            </p:cNvSpPr>
            <p:nvPr/>
          </p:nvSpPr>
          <p:spPr bwMode="auto">
            <a:xfrm>
              <a:off x="7897358" y="1477964"/>
              <a:ext cx="1109599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40.0.0.4</a:t>
              </a:r>
            </a:p>
          </p:txBody>
        </p:sp>
        <p:sp>
          <p:nvSpPr>
            <p:cNvPr id="857179" name="Text Box 92"/>
            <p:cNvSpPr txBox="1">
              <a:spLocks noChangeArrowheads="1"/>
            </p:cNvSpPr>
            <p:nvPr/>
          </p:nvSpPr>
          <p:spPr bwMode="auto">
            <a:xfrm>
              <a:off x="5238560" y="1477964"/>
              <a:ext cx="1109599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30.0.0.2</a:t>
              </a:r>
            </a:p>
          </p:txBody>
        </p:sp>
        <p:sp>
          <p:nvSpPr>
            <p:cNvPr id="857180" name="Text Box 93"/>
            <p:cNvSpPr txBox="1">
              <a:spLocks noChangeArrowheads="1"/>
            </p:cNvSpPr>
            <p:nvPr/>
          </p:nvSpPr>
          <p:spPr bwMode="auto">
            <a:xfrm>
              <a:off x="3883364" y="1477964"/>
              <a:ext cx="1109599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20.0.0.9</a:t>
              </a:r>
            </a:p>
          </p:txBody>
        </p:sp>
        <p:sp>
          <p:nvSpPr>
            <p:cNvPr id="857181" name="Text Box 94"/>
            <p:cNvSpPr txBox="1">
              <a:spLocks noChangeArrowheads="1"/>
            </p:cNvSpPr>
            <p:nvPr/>
          </p:nvSpPr>
          <p:spPr bwMode="auto">
            <a:xfrm>
              <a:off x="2228924" y="1477964"/>
              <a:ext cx="1109599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20.0.0.7</a:t>
              </a:r>
            </a:p>
          </p:txBody>
        </p:sp>
        <p:sp>
          <p:nvSpPr>
            <p:cNvPr id="857182" name="Line 95"/>
            <p:cNvSpPr>
              <a:spLocks noChangeShapeType="1"/>
            </p:cNvSpPr>
            <p:nvPr/>
          </p:nvSpPr>
          <p:spPr bwMode="auto">
            <a:xfrm>
              <a:off x="1633876" y="1881188"/>
              <a:ext cx="0" cy="404812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57183" name="Line 96"/>
            <p:cNvSpPr>
              <a:spLocks noChangeShapeType="1"/>
            </p:cNvSpPr>
            <p:nvPr/>
          </p:nvSpPr>
          <p:spPr bwMode="auto">
            <a:xfrm>
              <a:off x="2827411" y="1881188"/>
              <a:ext cx="0" cy="404812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57184" name="Line 97"/>
            <p:cNvSpPr>
              <a:spLocks noChangeShapeType="1"/>
            </p:cNvSpPr>
            <p:nvPr/>
          </p:nvSpPr>
          <p:spPr bwMode="auto">
            <a:xfrm>
              <a:off x="7262753" y="1881188"/>
              <a:ext cx="0" cy="404812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57185" name="Line 98"/>
            <p:cNvSpPr>
              <a:spLocks noChangeShapeType="1"/>
            </p:cNvSpPr>
            <p:nvPr/>
          </p:nvSpPr>
          <p:spPr bwMode="auto">
            <a:xfrm>
              <a:off x="4619434" y="1881188"/>
              <a:ext cx="0" cy="404812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57186" name="Line 99"/>
            <p:cNvSpPr>
              <a:spLocks noChangeShapeType="1"/>
            </p:cNvSpPr>
            <p:nvPr/>
          </p:nvSpPr>
          <p:spPr bwMode="auto">
            <a:xfrm>
              <a:off x="8458009" y="1860550"/>
              <a:ext cx="0" cy="403225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57187" name="Line 100"/>
            <p:cNvSpPr>
              <a:spLocks noChangeShapeType="1"/>
            </p:cNvSpPr>
            <p:nvPr/>
          </p:nvSpPr>
          <p:spPr bwMode="auto">
            <a:xfrm>
              <a:off x="5728699" y="1881188"/>
              <a:ext cx="0" cy="404812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57188" name="Rectangle 101"/>
            <p:cNvSpPr>
              <a:spLocks noChangeArrowheads="1"/>
            </p:cNvSpPr>
            <p:nvPr/>
          </p:nvSpPr>
          <p:spPr bwMode="auto">
            <a:xfrm>
              <a:off x="2349310" y="3429000"/>
              <a:ext cx="5458619" cy="1778000"/>
            </a:xfrm>
            <a:prstGeom prst="rect">
              <a:avLst/>
            </a:prstGeom>
            <a:solidFill>
              <a:srgbClr val="FFFF99"/>
            </a:solidFill>
            <a:ln w="28575">
              <a:solidFill>
                <a:srgbClr val="333399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57189" name="Line 102"/>
            <p:cNvSpPr>
              <a:spLocks noChangeShapeType="1"/>
            </p:cNvSpPr>
            <p:nvPr/>
          </p:nvSpPr>
          <p:spPr bwMode="auto">
            <a:xfrm>
              <a:off x="2349310" y="3914775"/>
              <a:ext cx="5458619" cy="0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57190" name="Text Box 103"/>
            <p:cNvSpPr txBox="1">
              <a:spLocks noChangeArrowheads="1"/>
            </p:cNvSpPr>
            <p:nvPr/>
          </p:nvSpPr>
          <p:spPr bwMode="auto">
            <a:xfrm>
              <a:off x="2361347" y="3452813"/>
              <a:ext cx="249299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目的主机所在的网络</a:t>
              </a:r>
            </a:p>
          </p:txBody>
        </p:sp>
        <p:sp>
          <p:nvSpPr>
            <p:cNvPr id="857191" name="Text Box 104"/>
            <p:cNvSpPr txBox="1">
              <a:spLocks noChangeArrowheads="1"/>
            </p:cNvSpPr>
            <p:nvPr/>
          </p:nvSpPr>
          <p:spPr bwMode="auto">
            <a:xfrm>
              <a:off x="5646149" y="3448050"/>
              <a:ext cx="1467068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下一跳地址</a:t>
              </a:r>
            </a:p>
          </p:txBody>
        </p:sp>
        <p:sp>
          <p:nvSpPr>
            <p:cNvPr id="857192" name="Line 105"/>
            <p:cNvSpPr>
              <a:spLocks noChangeShapeType="1"/>
            </p:cNvSpPr>
            <p:nvPr/>
          </p:nvSpPr>
          <p:spPr bwMode="auto">
            <a:xfrm>
              <a:off x="5078618" y="3429000"/>
              <a:ext cx="0" cy="1778000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57193" name="Line 106"/>
            <p:cNvSpPr>
              <a:spLocks noChangeShapeType="1"/>
            </p:cNvSpPr>
            <p:nvPr/>
          </p:nvSpPr>
          <p:spPr bwMode="auto">
            <a:xfrm>
              <a:off x="2349310" y="4237037"/>
              <a:ext cx="5458619" cy="0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57194" name="Line 107"/>
            <p:cNvSpPr>
              <a:spLocks noChangeShapeType="1"/>
            </p:cNvSpPr>
            <p:nvPr/>
          </p:nvSpPr>
          <p:spPr bwMode="auto">
            <a:xfrm>
              <a:off x="2349310" y="4560887"/>
              <a:ext cx="5458619" cy="0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57195" name="Line 108"/>
            <p:cNvSpPr>
              <a:spLocks noChangeShapeType="1"/>
            </p:cNvSpPr>
            <p:nvPr/>
          </p:nvSpPr>
          <p:spPr bwMode="auto">
            <a:xfrm>
              <a:off x="2349310" y="4884737"/>
              <a:ext cx="5458619" cy="0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57196" name="Text Box 109"/>
            <p:cNvSpPr txBox="1">
              <a:spLocks noChangeArrowheads="1"/>
            </p:cNvSpPr>
            <p:nvPr/>
          </p:nvSpPr>
          <p:spPr bwMode="auto">
            <a:xfrm>
              <a:off x="3087099" y="3863976"/>
              <a:ext cx="1109599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20.0.0.0</a:t>
              </a:r>
            </a:p>
          </p:txBody>
        </p:sp>
        <p:sp>
          <p:nvSpPr>
            <p:cNvPr id="857197" name="Text Box 110"/>
            <p:cNvSpPr txBox="1">
              <a:spLocks noChangeArrowheads="1"/>
            </p:cNvSpPr>
            <p:nvPr/>
          </p:nvSpPr>
          <p:spPr bwMode="auto">
            <a:xfrm>
              <a:off x="3087099" y="4178300"/>
              <a:ext cx="1109599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30.0.0.0</a:t>
              </a:r>
            </a:p>
          </p:txBody>
        </p:sp>
        <p:sp>
          <p:nvSpPr>
            <p:cNvPr id="857198" name="Text Box 111"/>
            <p:cNvSpPr txBox="1">
              <a:spLocks noChangeArrowheads="1"/>
            </p:cNvSpPr>
            <p:nvPr/>
          </p:nvSpPr>
          <p:spPr bwMode="auto">
            <a:xfrm>
              <a:off x="3087099" y="4524376"/>
              <a:ext cx="1109599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10.0.0.0</a:t>
              </a:r>
            </a:p>
          </p:txBody>
        </p:sp>
        <p:sp>
          <p:nvSpPr>
            <p:cNvPr id="857199" name="Text Box 112"/>
            <p:cNvSpPr txBox="1">
              <a:spLocks noChangeArrowheads="1"/>
            </p:cNvSpPr>
            <p:nvPr/>
          </p:nvSpPr>
          <p:spPr bwMode="auto">
            <a:xfrm>
              <a:off x="3087099" y="4822825"/>
              <a:ext cx="1109599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40.0.0.0</a:t>
              </a:r>
            </a:p>
          </p:txBody>
        </p:sp>
        <p:sp>
          <p:nvSpPr>
            <p:cNvPr id="857200" name="Text Box 113"/>
            <p:cNvSpPr txBox="1">
              <a:spLocks noChangeArrowheads="1"/>
            </p:cNvSpPr>
            <p:nvPr/>
          </p:nvSpPr>
          <p:spPr bwMode="auto">
            <a:xfrm>
              <a:off x="5747618" y="4511676"/>
              <a:ext cx="1109599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20.0.0.7</a:t>
              </a:r>
            </a:p>
          </p:txBody>
        </p:sp>
        <p:sp>
          <p:nvSpPr>
            <p:cNvPr id="857201" name="Text Box 114"/>
            <p:cNvSpPr txBox="1">
              <a:spLocks noChangeArrowheads="1"/>
            </p:cNvSpPr>
            <p:nvPr/>
          </p:nvSpPr>
          <p:spPr bwMode="auto">
            <a:xfrm>
              <a:off x="5747618" y="4835526"/>
              <a:ext cx="1109599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30.0.0.1</a:t>
              </a:r>
            </a:p>
          </p:txBody>
        </p:sp>
        <p:sp>
          <p:nvSpPr>
            <p:cNvPr id="857202" name="Text Box 115"/>
            <p:cNvSpPr txBox="1">
              <a:spLocks noChangeArrowheads="1"/>
            </p:cNvSpPr>
            <p:nvPr/>
          </p:nvSpPr>
          <p:spPr bwMode="auto">
            <a:xfrm>
              <a:off x="5271235" y="4205287"/>
              <a:ext cx="225093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直接交付，接口 </a:t>
              </a:r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1</a:t>
              </a:r>
            </a:p>
          </p:txBody>
        </p:sp>
        <p:sp>
          <p:nvSpPr>
            <p:cNvPr id="857203" name="Text Box 116"/>
            <p:cNvSpPr txBox="1">
              <a:spLocks noChangeArrowheads="1"/>
            </p:cNvSpPr>
            <p:nvPr/>
          </p:nvSpPr>
          <p:spPr bwMode="auto">
            <a:xfrm>
              <a:off x="5271235" y="3860801"/>
              <a:ext cx="225093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直接交付，接口 </a:t>
              </a:r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0</a:t>
              </a:r>
            </a:p>
          </p:txBody>
        </p:sp>
        <p:sp>
          <p:nvSpPr>
            <p:cNvPr id="857204" name="Text Box 117"/>
            <p:cNvSpPr txBox="1">
              <a:spLocks noChangeArrowheads="1"/>
            </p:cNvSpPr>
            <p:nvPr/>
          </p:nvSpPr>
          <p:spPr bwMode="auto">
            <a:xfrm>
              <a:off x="3542845" y="2924944"/>
              <a:ext cx="292099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路由器 </a:t>
              </a:r>
              <a:r>
                <a:rPr lang="en-US" altLang="zh-CN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R</a:t>
              </a:r>
              <a:r>
                <a:rPr lang="en-US" altLang="zh-CN" sz="2400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2</a:t>
              </a:r>
              <a:r>
                <a:rPr lang="en-US" altLang="zh-CN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 </a:t>
              </a:r>
              <a:r>
                <a:rPr lang="zh-CN" altLang="en-US" sz="2400" b="1">
                  <a:solidFill>
                    <a:srgbClr val="0000CC"/>
                  </a:solidFill>
                  <a:ea typeface="黑体" panose="02010609060101010101" pitchFamily="49" charset="-122"/>
                </a:rPr>
                <a:t>的路由表</a:t>
              </a:r>
            </a:p>
          </p:txBody>
        </p:sp>
        <p:sp>
          <p:nvSpPr>
            <p:cNvPr id="857205" name="Text Box 118"/>
            <p:cNvSpPr txBox="1">
              <a:spLocks noChangeArrowheads="1"/>
            </p:cNvSpPr>
            <p:nvPr/>
          </p:nvSpPr>
          <p:spPr bwMode="auto">
            <a:xfrm>
              <a:off x="6617833" y="1477964"/>
              <a:ext cx="1109599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30.0.0.1</a:t>
              </a:r>
            </a:p>
          </p:txBody>
        </p:sp>
        <p:sp>
          <p:nvSpPr>
            <p:cNvPr id="857206" name="Line 121"/>
            <p:cNvSpPr>
              <a:spLocks noChangeShapeType="1"/>
            </p:cNvSpPr>
            <p:nvPr/>
          </p:nvSpPr>
          <p:spPr bwMode="auto">
            <a:xfrm flipV="1">
              <a:off x="130778" y="6181254"/>
              <a:ext cx="9520767" cy="15875"/>
            </a:xfrm>
            <a:prstGeom prst="line">
              <a:avLst/>
            </a:prstGeom>
            <a:noFill/>
            <a:ln w="38100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57207" name="Rectangle 122"/>
            <p:cNvSpPr>
              <a:spLocks noChangeArrowheads="1"/>
            </p:cNvSpPr>
            <p:nvPr/>
          </p:nvSpPr>
          <p:spPr bwMode="auto">
            <a:xfrm>
              <a:off x="7887039" y="5458941"/>
              <a:ext cx="999198" cy="2762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57208" name="Text Box 123"/>
            <p:cNvSpPr txBox="1">
              <a:spLocks noChangeArrowheads="1"/>
            </p:cNvSpPr>
            <p:nvPr/>
          </p:nvSpPr>
          <p:spPr bwMode="auto">
            <a:xfrm>
              <a:off x="980356" y="5373216"/>
              <a:ext cx="1109599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10.0.0.4</a:t>
              </a:r>
            </a:p>
          </p:txBody>
        </p:sp>
        <p:sp>
          <p:nvSpPr>
            <p:cNvPr id="857209" name="Text Box 124"/>
            <p:cNvSpPr txBox="1">
              <a:spLocks noChangeArrowheads="1"/>
            </p:cNvSpPr>
            <p:nvPr/>
          </p:nvSpPr>
          <p:spPr bwMode="auto">
            <a:xfrm>
              <a:off x="8009143" y="5373216"/>
              <a:ext cx="1109599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40.0.0.4</a:t>
              </a:r>
            </a:p>
          </p:txBody>
        </p:sp>
        <p:sp>
          <p:nvSpPr>
            <p:cNvPr id="857210" name="Text Box 125"/>
            <p:cNvSpPr txBox="1">
              <a:spLocks noChangeArrowheads="1"/>
            </p:cNvSpPr>
            <p:nvPr/>
          </p:nvSpPr>
          <p:spPr bwMode="auto">
            <a:xfrm>
              <a:off x="5193845" y="5373216"/>
              <a:ext cx="1109599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30.0.0.2</a:t>
              </a:r>
            </a:p>
          </p:txBody>
        </p:sp>
        <p:sp>
          <p:nvSpPr>
            <p:cNvPr id="857211" name="Text Box 126"/>
            <p:cNvSpPr txBox="1">
              <a:spLocks noChangeArrowheads="1"/>
            </p:cNvSpPr>
            <p:nvPr/>
          </p:nvSpPr>
          <p:spPr bwMode="auto">
            <a:xfrm>
              <a:off x="3788774" y="5373216"/>
              <a:ext cx="1109599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20.0.0.9</a:t>
              </a:r>
            </a:p>
          </p:txBody>
        </p:sp>
        <p:sp>
          <p:nvSpPr>
            <p:cNvPr id="857212" name="Text Box 127"/>
            <p:cNvSpPr txBox="1">
              <a:spLocks noChangeArrowheads="1"/>
            </p:cNvSpPr>
            <p:nvPr/>
          </p:nvSpPr>
          <p:spPr bwMode="auto">
            <a:xfrm>
              <a:off x="2385424" y="5373216"/>
              <a:ext cx="1109599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20.0.0.7</a:t>
              </a:r>
            </a:p>
          </p:txBody>
        </p:sp>
        <p:sp>
          <p:nvSpPr>
            <p:cNvPr id="857213" name="Line 128"/>
            <p:cNvSpPr>
              <a:spLocks noChangeShapeType="1"/>
            </p:cNvSpPr>
            <p:nvPr/>
          </p:nvSpPr>
          <p:spPr bwMode="auto">
            <a:xfrm>
              <a:off x="1633876" y="5778029"/>
              <a:ext cx="0" cy="403225"/>
            </a:xfrm>
            <a:prstGeom prst="line">
              <a:avLst/>
            </a:prstGeom>
            <a:noFill/>
            <a:ln w="38100">
              <a:solidFill>
                <a:srgbClr val="99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57214" name="Line 129"/>
            <p:cNvSpPr>
              <a:spLocks noChangeShapeType="1"/>
            </p:cNvSpPr>
            <p:nvPr/>
          </p:nvSpPr>
          <p:spPr bwMode="auto">
            <a:xfrm>
              <a:off x="2913401" y="5778029"/>
              <a:ext cx="0" cy="403225"/>
            </a:xfrm>
            <a:prstGeom prst="line">
              <a:avLst/>
            </a:prstGeom>
            <a:noFill/>
            <a:ln w="38100">
              <a:solidFill>
                <a:srgbClr val="99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57215" name="Line 130"/>
            <p:cNvSpPr>
              <a:spLocks noChangeShapeType="1"/>
            </p:cNvSpPr>
            <p:nvPr/>
          </p:nvSpPr>
          <p:spPr bwMode="auto">
            <a:xfrm>
              <a:off x="7262753" y="5778029"/>
              <a:ext cx="0" cy="403225"/>
            </a:xfrm>
            <a:prstGeom prst="line">
              <a:avLst/>
            </a:prstGeom>
            <a:noFill/>
            <a:ln w="38100">
              <a:solidFill>
                <a:srgbClr val="99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57216" name="Line 131"/>
            <p:cNvSpPr>
              <a:spLocks noChangeShapeType="1"/>
            </p:cNvSpPr>
            <p:nvPr/>
          </p:nvSpPr>
          <p:spPr bwMode="auto">
            <a:xfrm>
              <a:off x="4449174" y="5778029"/>
              <a:ext cx="0" cy="403225"/>
            </a:xfrm>
            <a:prstGeom prst="line">
              <a:avLst/>
            </a:prstGeom>
            <a:noFill/>
            <a:ln w="38100">
              <a:solidFill>
                <a:srgbClr val="99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57217" name="Line 132"/>
            <p:cNvSpPr>
              <a:spLocks noChangeShapeType="1"/>
            </p:cNvSpPr>
            <p:nvPr/>
          </p:nvSpPr>
          <p:spPr bwMode="auto">
            <a:xfrm>
              <a:off x="8542278" y="5755804"/>
              <a:ext cx="0" cy="403225"/>
            </a:xfrm>
            <a:prstGeom prst="line">
              <a:avLst/>
            </a:prstGeom>
            <a:noFill/>
            <a:ln w="38100">
              <a:solidFill>
                <a:srgbClr val="99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57218" name="Line 133"/>
            <p:cNvSpPr>
              <a:spLocks noChangeShapeType="1"/>
            </p:cNvSpPr>
            <p:nvPr/>
          </p:nvSpPr>
          <p:spPr bwMode="auto">
            <a:xfrm>
              <a:off x="5728699" y="5793903"/>
              <a:ext cx="0" cy="404812"/>
            </a:xfrm>
            <a:prstGeom prst="line">
              <a:avLst/>
            </a:prstGeom>
            <a:noFill/>
            <a:ln w="38100">
              <a:solidFill>
                <a:srgbClr val="99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57219" name="Text Box 134"/>
            <p:cNvSpPr txBox="1">
              <a:spLocks noChangeArrowheads="1"/>
            </p:cNvSpPr>
            <p:nvPr/>
          </p:nvSpPr>
          <p:spPr bwMode="auto">
            <a:xfrm>
              <a:off x="6573118" y="5373216"/>
              <a:ext cx="1109599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30.0.0.1</a:t>
              </a:r>
            </a:p>
          </p:txBody>
        </p:sp>
        <p:sp>
          <p:nvSpPr>
            <p:cNvPr id="857220" name="Text Box 135"/>
            <p:cNvSpPr txBox="1">
              <a:spLocks noChangeArrowheads="1"/>
            </p:cNvSpPr>
            <p:nvPr/>
          </p:nvSpPr>
          <p:spPr bwMode="auto">
            <a:xfrm>
              <a:off x="8884518" y="5747866"/>
              <a:ext cx="88838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链路</a:t>
              </a:r>
              <a:r>
                <a:rPr lang="zh-CN" altLang="en-US" sz="900" b="1">
                  <a:solidFill>
                    <a:srgbClr val="0000CC"/>
                  </a:solidFill>
                  <a:ea typeface="黑体" panose="02010609060101010101" pitchFamily="49" charset="-122"/>
                </a:rPr>
                <a:t> </a:t>
              </a:r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4</a:t>
              </a:r>
            </a:p>
          </p:txBody>
        </p:sp>
        <p:sp>
          <p:nvSpPr>
            <p:cNvPr id="857221" name="Text Box 136"/>
            <p:cNvSpPr txBox="1">
              <a:spLocks noChangeArrowheads="1"/>
            </p:cNvSpPr>
            <p:nvPr/>
          </p:nvSpPr>
          <p:spPr bwMode="auto">
            <a:xfrm>
              <a:off x="6096735" y="5747866"/>
              <a:ext cx="89479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链路</a:t>
              </a:r>
              <a:r>
                <a:rPr lang="zh-CN" altLang="en-US" sz="1000" b="1">
                  <a:solidFill>
                    <a:srgbClr val="0000CC"/>
                  </a:solidFill>
                  <a:ea typeface="黑体" panose="02010609060101010101" pitchFamily="49" charset="-122"/>
                </a:rPr>
                <a:t> </a:t>
              </a:r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3</a:t>
              </a:r>
            </a:p>
          </p:txBody>
        </p:sp>
        <p:sp>
          <p:nvSpPr>
            <p:cNvPr id="857222" name="Text Box 137"/>
            <p:cNvSpPr txBox="1">
              <a:spLocks noChangeArrowheads="1"/>
            </p:cNvSpPr>
            <p:nvPr/>
          </p:nvSpPr>
          <p:spPr bwMode="auto">
            <a:xfrm>
              <a:off x="3253919" y="5747866"/>
              <a:ext cx="89479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链路</a:t>
              </a:r>
              <a:r>
                <a:rPr lang="zh-CN" altLang="en-US" sz="1000" b="1">
                  <a:solidFill>
                    <a:srgbClr val="0000CC"/>
                  </a:solidFill>
                  <a:ea typeface="黑体" panose="02010609060101010101" pitchFamily="49" charset="-122"/>
                </a:rPr>
                <a:t> </a:t>
              </a:r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2</a:t>
              </a:r>
            </a:p>
          </p:txBody>
        </p:sp>
        <p:sp>
          <p:nvSpPr>
            <p:cNvPr id="857223" name="Text Box 138"/>
            <p:cNvSpPr txBox="1">
              <a:spLocks noChangeArrowheads="1"/>
            </p:cNvSpPr>
            <p:nvPr/>
          </p:nvSpPr>
          <p:spPr bwMode="auto">
            <a:xfrm>
              <a:off x="184091" y="5747866"/>
              <a:ext cx="89479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链路</a:t>
              </a:r>
              <a:r>
                <a:rPr lang="zh-CN" altLang="en-US" sz="1000" b="1">
                  <a:solidFill>
                    <a:srgbClr val="0000CC"/>
                  </a:solidFill>
                  <a:ea typeface="黑体" panose="02010609060101010101" pitchFamily="49" charset="-122"/>
                </a:rPr>
                <a:t> </a:t>
              </a:r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1</a:t>
              </a:r>
            </a:p>
          </p:txBody>
        </p:sp>
        <p:pic>
          <p:nvPicPr>
            <p:cNvPr id="857224" name="Picture 139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90124" y="2103438"/>
              <a:ext cx="777346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57225" name="Text Box 140"/>
            <p:cNvSpPr txBox="1">
              <a:spLocks noChangeArrowheads="1"/>
            </p:cNvSpPr>
            <p:nvPr/>
          </p:nvSpPr>
          <p:spPr bwMode="auto">
            <a:xfrm>
              <a:off x="4946195" y="1697039"/>
              <a:ext cx="465192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R</a:t>
              </a:r>
              <a:r>
                <a:rPr lang="en-US" altLang="zh-CN" sz="2000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2</a:t>
              </a:r>
              <a:endParaRPr lang="en-US" altLang="zh-CN" sz="2000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57226" name="Text Box 141"/>
            <p:cNvSpPr txBox="1">
              <a:spLocks noChangeArrowheads="1"/>
            </p:cNvSpPr>
            <p:nvPr/>
          </p:nvSpPr>
          <p:spPr bwMode="auto">
            <a:xfrm>
              <a:off x="7703021" y="1697039"/>
              <a:ext cx="465192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R</a:t>
              </a:r>
              <a:r>
                <a:rPr lang="en-US" altLang="zh-CN" sz="2000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3</a:t>
              </a:r>
              <a:endParaRPr lang="en-US" altLang="zh-CN" sz="2000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57227" name="Text Box 142"/>
            <p:cNvSpPr txBox="1">
              <a:spLocks noChangeArrowheads="1"/>
            </p:cNvSpPr>
            <p:nvPr/>
          </p:nvSpPr>
          <p:spPr bwMode="auto">
            <a:xfrm>
              <a:off x="2003631" y="1697039"/>
              <a:ext cx="465192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R</a:t>
              </a:r>
              <a:r>
                <a:rPr lang="en-US" altLang="zh-CN" sz="2000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1</a:t>
              </a:r>
              <a:endParaRPr lang="en-US" altLang="zh-CN" sz="2000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57228" name="Text Box 146"/>
            <p:cNvSpPr txBox="1">
              <a:spLocks noChangeArrowheads="1"/>
            </p:cNvSpPr>
            <p:nvPr/>
          </p:nvSpPr>
          <p:spPr bwMode="auto">
            <a:xfrm>
              <a:off x="4407899" y="2232026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0</a:t>
              </a:r>
            </a:p>
          </p:txBody>
        </p:sp>
        <p:sp>
          <p:nvSpPr>
            <p:cNvPr id="857229" name="Text Box 147"/>
            <p:cNvSpPr txBox="1">
              <a:spLocks noChangeArrowheads="1"/>
            </p:cNvSpPr>
            <p:nvPr/>
          </p:nvSpPr>
          <p:spPr bwMode="auto">
            <a:xfrm>
              <a:off x="5503408" y="2238375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1</a:t>
              </a:r>
            </a:p>
          </p:txBody>
        </p:sp>
        <p:pic>
          <p:nvPicPr>
            <p:cNvPr id="857230" name="Picture 148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41539" y="2081213"/>
              <a:ext cx="779066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57231" name="Picture 149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94926" y="2087563"/>
              <a:ext cx="777346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57232" name="Picture 150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03524" y="5995515"/>
              <a:ext cx="777346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57233" name="Picture 151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67588" y="6003453"/>
              <a:ext cx="777346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57234" name="Picture 152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98724" y="6009803"/>
              <a:ext cx="777346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57235" name="Text Box 143"/>
            <p:cNvSpPr txBox="1">
              <a:spLocks noChangeArrowheads="1"/>
            </p:cNvSpPr>
            <p:nvPr/>
          </p:nvSpPr>
          <p:spPr bwMode="auto">
            <a:xfrm>
              <a:off x="4789693" y="5597054"/>
              <a:ext cx="465192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R</a:t>
              </a:r>
              <a:r>
                <a:rPr lang="en-US" altLang="zh-CN" sz="2000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2</a:t>
              </a:r>
              <a:endParaRPr lang="en-US" altLang="zh-CN" sz="2000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57236" name="Text Box 145"/>
            <p:cNvSpPr txBox="1">
              <a:spLocks noChangeArrowheads="1"/>
            </p:cNvSpPr>
            <p:nvPr/>
          </p:nvSpPr>
          <p:spPr bwMode="auto">
            <a:xfrm>
              <a:off x="7646268" y="5597054"/>
              <a:ext cx="465192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R</a:t>
              </a:r>
              <a:r>
                <a:rPr lang="en-US" altLang="zh-CN" sz="2000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3</a:t>
              </a:r>
              <a:endParaRPr lang="en-US" altLang="zh-CN" sz="2000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57237" name="Text Box 144"/>
            <p:cNvSpPr txBox="1">
              <a:spLocks noChangeArrowheads="1"/>
            </p:cNvSpPr>
            <p:nvPr/>
          </p:nvSpPr>
          <p:spPr bwMode="auto">
            <a:xfrm>
              <a:off x="2060385" y="5597054"/>
              <a:ext cx="465192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R</a:t>
              </a:r>
              <a:r>
                <a:rPr lang="en-US" altLang="zh-CN" sz="2000" b="1" baseline="-25000">
                  <a:solidFill>
                    <a:srgbClr val="0000CC"/>
                  </a:solidFill>
                  <a:ea typeface="黑体" panose="02010609060101010101" pitchFamily="49" charset="-122"/>
                </a:rPr>
                <a:t>1</a:t>
              </a:r>
              <a:endParaRPr lang="en-US" altLang="zh-CN" sz="2000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857238" name="Text Box 146"/>
            <p:cNvSpPr txBox="1">
              <a:spLocks noChangeArrowheads="1"/>
            </p:cNvSpPr>
            <p:nvPr/>
          </p:nvSpPr>
          <p:spPr bwMode="auto">
            <a:xfrm>
              <a:off x="4407899" y="6191595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0</a:t>
              </a:r>
            </a:p>
          </p:txBody>
        </p:sp>
        <p:sp>
          <p:nvSpPr>
            <p:cNvPr id="857239" name="Text Box 147"/>
            <p:cNvSpPr txBox="1">
              <a:spLocks noChangeArrowheads="1"/>
            </p:cNvSpPr>
            <p:nvPr/>
          </p:nvSpPr>
          <p:spPr bwMode="auto">
            <a:xfrm>
              <a:off x="5503408" y="6197944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1</a:t>
              </a:r>
            </a:p>
          </p:txBody>
        </p:sp>
      </p:grpSp>
      <p:sp>
        <p:nvSpPr>
          <p:cNvPr id="857240" name="灯片编号占位符 4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fld id="{2D37E949-31C1-4376-A392-126FAFB29FB8}" type="slidenum">
              <a:rPr lang="zh-CN" altLang="en-US" smtClean="0"/>
              <a:pPr/>
              <a:t>49</a:t>
            </a:fld>
            <a:endParaRPr lang="en-US" altLang="zh-CN" smtClean="0"/>
          </a:p>
        </p:txBody>
      </p:sp>
      <p:sp>
        <p:nvSpPr>
          <p:cNvPr id="857241" name="页脚占位符 5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4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482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2459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137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zh-CN" altLang="en-US" smtClean="0">
                <a:ea typeface="黑体" panose="02010609060101010101" pitchFamily="49" charset="-122"/>
              </a:rPr>
              <a:t>查找路由表</a:t>
            </a:r>
          </a:p>
        </p:txBody>
      </p:sp>
      <p:sp>
        <p:nvSpPr>
          <p:cNvPr id="859138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mtClean="0">
                <a:ea typeface="黑体" panose="02010609060101010101" pitchFamily="49" charset="-122"/>
              </a:rPr>
              <a:t>	</a:t>
            </a:r>
            <a:r>
              <a:rPr lang="zh-CN" altLang="en-US" smtClean="0">
                <a:solidFill>
                  <a:srgbClr val="FF0000"/>
                </a:solidFill>
                <a:ea typeface="黑体" panose="02010609060101010101" pitchFamily="49" charset="-122"/>
              </a:rPr>
              <a:t>根据目的网络地址</a:t>
            </a:r>
            <a:r>
              <a:rPr lang="zh-CN" altLang="en-US" smtClean="0">
                <a:ea typeface="黑体" panose="02010609060101010101" pitchFamily="49" charset="-122"/>
              </a:rPr>
              <a:t>就能确定下一跳路由器，这样做的结果是：</a:t>
            </a:r>
          </a:p>
          <a:p>
            <a:r>
              <a:rPr lang="en-US" altLang="zh-CN" smtClean="0">
                <a:ea typeface="黑体" panose="02010609060101010101" pitchFamily="49" charset="-122"/>
              </a:rPr>
              <a:t>IP </a:t>
            </a:r>
            <a:r>
              <a:rPr lang="zh-CN" altLang="en-US" smtClean="0">
                <a:ea typeface="黑体" panose="02010609060101010101" pitchFamily="49" charset="-122"/>
              </a:rPr>
              <a:t>数据报最终一定可以找到目的主机所在目的网络上的路由器（可能要通过多次的</a:t>
            </a:r>
            <a:r>
              <a:rPr lang="zh-CN" altLang="en-US" smtClean="0">
                <a:solidFill>
                  <a:srgbClr val="FF0000"/>
                </a:solidFill>
                <a:ea typeface="黑体" panose="02010609060101010101" pitchFamily="49" charset="-122"/>
              </a:rPr>
              <a:t>间接交付</a:t>
            </a:r>
            <a:r>
              <a:rPr lang="zh-CN" altLang="en-US" smtClean="0">
                <a:ea typeface="黑体" panose="02010609060101010101" pitchFamily="49" charset="-122"/>
              </a:rPr>
              <a:t>）。</a:t>
            </a:r>
          </a:p>
          <a:p>
            <a:r>
              <a:rPr lang="zh-CN" altLang="en-US" smtClean="0">
                <a:ea typeface="黑体" panose="02010609060101010101" pitchFamily="49" charset="-122"/>
              </a:rPr>
              <a:t>只有到达最后一个路由器时，才试图向目的主机进行</a:t>
            </a:r>
            <a:r>
              <a:rPr lang="zh-CN" altLang="en-US" smtClean="0">
                <a:solidFill>
                  <a:srgbClr val="FF0000"/>
                </a:solidFill>
                <a:ea typeface="黑体" panose="02010609060101010101" pitchFamily="49" charset="-122"/>
              </a:rPr>
              <a:t>直接交付。 </a:t>
            </a:r>
          </a:p>
        </p:txBody>
      </p:sp>
      <p:sp>
        <p:nvSpPr>
          <p:cNvPr id="859139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2C70FAE-F413-4C4B-85B3-4E6155D6AA0F}" type="slidenum">
              <a:rPr lang="zh-CN" altLang="en-US" smtClean="0"/>
              <a:pPr eaLnBrk="1" hangingPunct="1"/>
              <a:t>50</a:t>
            </a:fld>
            <a:endParaRPr lang="en-US" altLang="zh-CN" smtClean="0"/>
          </a:p>
        </p:txBody>
      </p:sp>
      <p:sp>
        <p:nvSpPr>
          <p:cNvPr id="859140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185" name="Rectangle 41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zh-CN" altLang="en-US" smtClean="0">
                <a:ea typeface="黑体" panose="02010609060101010101" pitchFamily="49" charset="-122"/>
              </a:rPr>
              <a:t>特定主机路由 </a:t>
            </a:r>
          </a:p>
        </p:txBody>
      </p:sp>
      <p:sp>
        <p:nvSpPr>
          <p:cNvPr id="395306" name="Rectangle 42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zh-CN" smtClean="0">
                <a:ea typeface="黑体" panose="02010609060101010101" pitchFamily="49" charset="-122"/>
              </a:rPr>
              <a:t>虽然互联网所有的分组转发都是</a:t>
            </a:r>
            <a:r>
              <a:rPr lang="zh-CN" altLang="zh-CN" smtClean="0">
                <a:solidFill>
                  <a:srgbClr val="FF0000"/>
                </a:solidFill>
                <a:ea typeface="黑体" panose="02010609060101010101" pitchFamily="49" charset="-122"/>
              </a:rPr>
              <a:t>基于目的主机所在的网络，</a:t>
            </a:r>
            <a:r>
              <a:rPr lang="zh-CN" altLang="zh-CN" smtClean="0">
                <a:ea typeface="黑体" panose="02010609060101010101" pitchFamily="49" charset="-122"/>
              </a:rPr>
              <a:t>但在大多数情况下都允许有这样的特例，即</a:t>
            </a:r>
            <a:r>
              <a:rPr lang="zh-CN" altLang="en-US" smtClean="0">
                <a:ea typeface="黑体" panose="02010609060101010101" pitchFamily="49" charset="-122"/>
              </a:rPr>
              <a:t>为</a:t>
            </a:r>
            <a:r>
              <a:rPr lang="zh-CN" altLang="zh-CN" smtClean="0">
                <a:ea typeface="黑体" panose="02010609060101010101" pitchFamily="49" charset="-122"/>
              </a:rPr>
              <a:t>特定的目的主机指明一个路由</a:t>
            </a:r>
            <a:r>
              <a:rPr lang="zh-CN" altLang="en-US" smtClean="0">
                <a:ea typeface="黑体" panose="02010609060101010101" pitchFamily="49" charset="-122"/>
              </a:rPr>
              <a:t>。</a:t>
            </a:r>
            <a:endParaRPr lang="en-US" altLang="zh-CN" smtClean="0">
              <a:ea typeface="黑体" panose="02010609060101010101" pitchFamily="49" charset="-122"/>
            </a:endParaRPr>
          </a:p>
          <a:p>
            <a:r>
              <a:rPr lang="zh-CN" altLang="en-US" smtClean="0">
                <a:ea typeface="黑体" panose="02010609060101010101" pitchFamily="49" charset="-122"/>
              </a:rPr>
              <a:t>采用</a:t>
            </a:r>
            <a:r>
              <a:rPr lang="zh-CN" altLang="en-US" smtClean="0">
                <a:solidFill>
                  <a:srgbClr val="FF0000"/>
                </a:solidFill>
                <a:ea typeface="黑体" panose="02010609060101010101" pitchFamily="49" charset="-122"/>
              </a:rPr>
              <a:t>特定主机路由</a:t>
            </a:r>
            <a:r>
              <a:rPr lang="zh-CN" altLang="en-US" smtClean="0">
                <a:ea typeface="黑体" panose="02010609060101010101" pitchFamily="49" charset="-122"/>
              </a:rPr>
              <a:t>可使网络管理人员能更方便地控制网络和测试网络，同时也可在需要考虑某种安全问题时采用这种特定主机路由。 </a:t>
            </a:r>
          </a:p>
        </p:txBody>
      </p:sp>
      <p:sp>
        <p:nvSpPr>
          <p:cNvPr id="861187" name="Rectangle 2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861188" name="Rectangle 3"/>
          <p:cNvSpPr>
            <a:spLocks noChangeArrowheads="1"/>
          </p:cNvSpPr>
          <p:nvPr/>
        </p:nvSpPr>
        <p:spPr bwMode="auto">
          <a:xfrm>
            <a:off x="0" y="305435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861189" name="Rectangle 4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861190" name="Rectangle 5"/>
          <p:cNvSpPr>
            <a:spLocks noChangeArrowheads="1"/>
          </p:cNvSpPr>
          <p:nvPr/>
        </p:nvSpPr>
        <p:spPr bwMode="auto">
          <a:xfrm>
            <a:off x="0" y="3059113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861191" name="Rectangle 7"/>
          <p:cNvSpPr>
            <a:spLocks noChangeArrowheads="1"/>
          </p:cNvSpPr>
          <p:nvPr/>
        </p:nvSpPr>
        <p:spPr bwMode="auto">
          <a:xfrm>
            <a:off x="0" y="3078163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861192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861193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9FFCD61-FFB1-4FD4-99BD-054862F40ABC}" type="slidenum">
              <a:rPr lang="zh-CN" altLang="en-US" smtClean="0"/>
              <a:pPr eaLnBrk="1" hangingPunct="1"/>
              <a:t>51</a:t>
            </a:fld>
            <a:endParaRPr lang="en-US" altLang="zh-CN" smtClean="0"/>
          </a:p>
        </p:txBody>
      </p:sp>
      <p:sp>
        <p:nvSpPr>
          <p:cNvPr id="861194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3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233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zh-CN" altLang="en-US" smtClean="0">
                <a:ea typeface="黑体" panose="02010609060101010101" pitchFamily="49" charset="-122"/>
              </a:rPr>
              <a:t>默认路由 </a:t>
            </a:r>
            <a:r>
              <a:rPr lang="en-US" altLang="zh-CN" smtClean="0">
                <a:ea typeface="黑体" panose="02010609060101010101" pitchFamily="49" charset="-122"/>
              </a:rPr>
              <a:t>(default route)</a:t>
            </a:r>
          </a:p>
        </p:txBody>
      </p:sp>
      <p:sp>
        <p:nvSpPr>
          <p:cNvPr id="863234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zh-CN" altLang="en-US" smtClean="0">
                <a:ea typeface="黑体" panose="02010609060101010101" pitchFamily="49" charset="-122"/>
              </a:rPr>
              <a:t>路由器还可采用</a:t>
            </a:r>
            <a:r>
              <a:rPr lang="zh-CN" altLang="en-US" smtClean="0">
                <a:solidFill>
                  <a:srgbClr val="FF0000"/>
                </a:solidFill>
                <a:ea typeface="黑体" panose="02010609060101010101" pitchFamily="49" charset="-122"/>
              </a:rPr>
              <a:t>默认路由</a:t>
            </a:r>
            <a:r>
              <a:rPr lang="zh-CN" altLang="en-US" smtClean="0">
                <a:ea typeface="黑体" panose="02010609060101010101" pitchFamily="49" charset="-122"/>
              </a:rPr>
              <a:t>以</a:t>
            </a:r>
            <a:r>
              <a:rPr lang="zh-CN" altLang="en-US" smtClean="0">
                <a:solidFill>
                  <a:srgbClr val="FF0000"/>
                </a:solidFill>
                <a:ea typeface="黑体" panose="02010609060101010101" pitchFamily="49" charset="-122"/>
              </a:rPr>
              <a:t>减少路由表所占用的空间和搜索路由表所用的时间。</a:t>
            </a:r>
          </a:p>
          <a:p>
            <a:pPr>
              <a:lnSpc>
                <a:spcPct val="100000"/>
              </a:lnSpc>
            </a:pPr>
            <a:r>
              <a:rPr lang="zh-CN" altLang="en-US" smtClean="0">
                <a:ea typeface="黑体" panose="02010609060101010101" pitchFamily="49" charset="-122"/>
              </a:rPr>
              <a:t>这种转发方式在一个网络只有很少的对外连接时是很有用的。</a:t>
            </a:r>
          </a:p>
          <a:p>
            <a:pPr>
              <a:lnSpc>
                <a:spcPct val="100000"/>
              </a:lnSpc>
            </a:pPr>
            <a:r>
              <a:rPr lang="zh-CN" altLang="en-US" smtClean="0">
                <a:ea typeface="黑体" panose="02010609060101010101" pitchFamily="49" charset="-122"/>
              </a:rPr>
              <a:t>默认路由在主机发送 </a:t>
            </a:r>
            <a:r>
              <a:rPr lang="en-US" altLang="zh-CN" smtClean="0">
                <a:ea typeface="黑体" panose="02010609060101010101" pitchFamily="49" charset="-122"/>
              </a:rPr>
              <a:t>IP </a:t>
            </a:r>
            <a:r>
              <a:rPr lang="zh-CN" altLang="en-US" smtClean="0">
                <a:ea typeface="黑体" panose="02010609060101010101" pitchFamily="49" charset="-122"/>
              </a:rPr>
              <a:t>数据报时往往更能显示出它的好处。</a:t>
            </a:r>
          </a:p>
          <a:p>
            <a:pPr>
              <a:lnSpc>
                <a:spcPct val="100000"/>
              </a:lnSpc>
            </a:pPr>
            <a:r>
              <a:rPr lang="zh-CN" altLang="en-US" smtClean="0">
                <a:ea typeface="黑体" panose="02010609060101010101" pitchFamily="49" charset="-122"/>
              </a:rPr>
              <a:t>如果一个主机连接在一个小网络上，而这个网络只用一个路由器和互联网连接，那么在这种情况下使用默认路由是非常合适的。 </a:t>
            </a:r>
          </a:p>
        </p:txBody>
      </p:sp>
      <p:sp>
        <p:nvSpPr>
          <p:cNvPr id="863235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8F8D250-AB00-4A46-AE5A-387078A45956}" type="slidenum">
              <a:rPr lang="zh-CN" altLang="en-US" smtClean="0"/>
              <a:pPr eaLnBrk="1" hangingPunct="1"/>
              <a:t>52</a:t>
            </a:fld>
            <a:endParaRPr lang="en-US" altLang="zh-CN" smtClean="0"/>
          </a:p>
        </p:txBody>
      </p:sp>
      <p:sp>
        <p:nvSpPr>
          <p:cNvPr id="863236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281" name="Line 4"/>
          <p:cNvSpPr>
            <a:spLocks noChangeShapeType="1"/>
          </p:cNvSpPr>
          <p:nvPr/>
        </p:nvSpPr>
        <p:spPr bwMode="auto">
          <a:xfrm flipV="1">
            <a:off x="5557838" y="3008313"/>
            <a:ext cx="749300" cy="3730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65282" name="Line 5"/>
          <p:cNvSpPr>
            <a:spLocks noChangeShapeType="1"/>
          </p:cNvSpPr>
          <p:nvPr/>
        </p:nvSpPr>
        <p:spPr bwMode="auto">
          <a:xfrm flipV="1">
            <a:off x="5024438" y="3473450"/>
            <a:ext cx="428625" cy="3730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65283" name="Line 6"/>
          <p:cNvSpPr>
            <a:spLocks noChangeShapeType="1"/>
          </p:cNvSpPr>
          <p:nvPr/>
        </p:nvSpPr>
        <p:spPr bwMode="auto">
          <a:xfrm flipV="1">
            <a:off x="5365750" y="4084638"/>
            <a:ext cx="1225550" cy="222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65284" name="Line 7"/>
          <p:cNvSpPr>
            <a:spLocks noChangeShapeType="1"/>
          </p:cNvSpPr>
          <p:nvPr/>
        </p:nvSpPr>
        <p:spPr bwMode="auto">
          <a:xfrm flipH="1">
            <a:off x="3959225" y="4217988"/>
            <a:ext cx="639763" cy="6524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65285" name="Line 8"/>
          <p:cNvSpPr>
            <a:spLocks noChangeShapeType="1"/>
          </p:cNvSpPr>
          <p:nvPr/>
        </p:nvSpPr>
        <p:spPr bwMode="auto">
          <a:xfrm>
            <a:off x="5026025" y="4310063"/>
            <a:ext cx="319088" cy="6524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65286" name="Line 9"/>
          <p:cNvSpPr>
            <a:spLocks noChangeShapeType="1"/>
          </p:cNvSpPr>
          <p:nvPr/>
        </p:nvSpPr>
        <p:spPr bwMode="auto">
          <a:xfrm flipV="1">
            <a:off x="3530600" y="4125913"/>
            <a:ext cx="855663" cy="920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pic>
        <p:nvPicPr>
          <p:cNvPr id="865287" name="Picture 29"/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3738" y="3994150"/>
            <a:ext cx="557212" cy="27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5288" name="Text Box 31"/>
          <p:cNvSpPr txBox="1">
            <a:spLocks noChangeArrowheads="1"/>
          </p:cNvSpPr>
          <p:nvPr/>
        </p:nvSpPr>
        <p:spPr bwMode="auto">
          <a:xfrm>
            <a:off x="5837238" y="3619500"/>
            <a:ext cx="46513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R</a:t>
            </a:r>
            <a:r>
              <a:rPr lang="en-US" altLang="zh-CN" sz="2000" b="1" baseline="-25000">
                <a:solidFill>
                  <a:srgbClr val="0000CC"/>
                </a:solidFill>
                <a:ea typeface="黑体" panose="02010609060101010101" pitchFamily="49" charset="-122"/>
              </a:rPr>
              <a:t>1</a:t>
            </a:r>
          </a:p>
        </p:txBody>
      </p:sp>
      <p:graphicFrame>
        <p:nvGraphicFramePr>
          <p:cNvPr id="865289" name="Object 32"/>
          <p:cNvGraphicFramePr>
            <a:graphicFrameLocks noChangeAspect="1"/>
          </p:cNvGraphicFramePr>
          <p:nvPr/>
        </p:nvGraphicFramePr>
        <p:xfrm>
          <a:off x="6519863" y="3335338"/>
          <a:ext cx="3306762" cy="1963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5338" r:id="rId5" imgW="1646640" imgH="938520" progId="">
                  <p:embed/>
                </p:oleObj>
              </mc:Choice>
              <mc:Fallback>
                <p:oleObj r:id="rId5" imgW="1646640" imgH="938520" progId="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9863" y="3335338"/>
                        <a:ext cx="3306762" cy="1963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65290" name="Text Box 33"/>
          <p:cNvSpPr txBox="1">
            <a:spLocks noChangeArrowheads="1"/>
          </p:cNvSpPr>
          <p:nvPr/>
        </p:nvSpPr>
        <p:spPr bwMode="auto">
          <a:xfrm>
            <a:off x="7588250" y="3979863"/>
            <a:ext cx="11128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>
                <a:solidFill>
                  <a:srgbClr val="0000CC"/>
                </a:solidFill>
                <a:ea typeface="黑体" panose="02010609060101010101" pitchFamily="49" charset="-122"/>
              </a:rPr>
              <a:t>互联网</a:t>
            </a:r>
            <a:endParaRPr lang="zh-CN" altLang="en-US" sz="2400" b="1" baseline="-25000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pic>
        <p:nvPicPr>
          <p:cNvPr id="865291" name="Picture 34"/>
          <p:cNvPicPr>
            <a:picLocks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3975" y="4775200"/>
            <a:ext cx="487363" cy="446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5292" name="Text Box 40"/>
          <p:cNvSpPr txBox="1">
            <a:spLocks noChangeArrowheads="1"/>
          </p:cNvSpPr>
          <p:nvPr/>
        </p:nvSpPr>
        <p:spPr bwMode="auto">
          <a:xfrm>
            <a:off x="987425" y="2914650"/>
            <a:ext cx="11080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>
                <a:solidFill>
                  <a:srgbClr val="0000CC"/>
                </a:solidFill>
                <a:ea typeface="黑体" panose="02010609060101010101" pitchFamily="49" charset="-122"/>
              </a:rPr>
              <a:t>路由表</a:t>
            </a:r>
            <a:endParaRPr lang="zh-CN" altLang="en-US" sz="2400" b="1" baseline="-25000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65293" name="Freeform 41"/>
          <p:cNvSpPr>
            <a:spLocks noChangeArrowheads="1"/>
          </p:cNvSpPr>
          <p:nvPr/>
        </p:nvSpPr>
        <p:spPr bwMode="auto">
          <a:xfrm>
            <a:off x="2720975" y="3425825"/>
            <a:ext cx="688975" cy="1462088"/>
          </a:xfrm>
          <a:custGeom>
            <a:avLst/>
            <a:gdLst>
              <a:gd name="T0" fmla="*/ 4 w 368"/>
              <a:gd name="T1" fmla="*/ 0 h 524"/>
              <a:gd name="T2" fmla="*/ 368 w 368"/>
              <a:gd name="T3" fmla="*/ 256 h 524"/>
              <a:gd name="T4" fmla="*/ 367 w 368"/>
              <a:gd name="T5" fmla="*/ 277 h 524"/>
              <a:gd name="T6" fmla="*/ 0 w 368"/>
              <a:gd name="T7" fmla="*/ 524 h 524"/>
              <a:gd name="T8" fmla="*/ 4 w 368"/>
              <a:gd name="T9" fmla="*/ 0 h 5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68" h="524">
                <a:moveTo>
                  <a:pt x="4" y="0"/>
                </a:moveTo>
                <a:lnTo>
                  <a:pt x="368" y="256"/>
                </a:lnTo>
                <a:lnTo>
                  <a:pt x="367" y="277"/>
                </a:lnTo>
                <a:lnTo>
                  <a:pt x="0" y="524"/>
                </a:lnTo>
                <a:lnTo>
                  <a:pt x="4" y="0"/>
                </a:lnTo>
                <a:close/>
              </a:path>
            </a:pathLst>
          </a:custGeom>
          <a:gradFill rotWithShape="1">
            <a:gsLst>
              <a:gs pos="0">
                <a:srgbClr val="FFFF66"/>
              </a:gs>
              <a:gs pos="100000">
                <a:srgbClr val="A6A6A6"/>
              </a:gs>
            </a:gsLst>
            <a:lin ang="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endParaRPr lang="zh-CN" altLang="en-US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pic>
        <p:nvPicPr>
          <p:cNvPr id="865294" name="Picture 42"/>
          <p:cNvPicPr>
            <a:picLocks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9463" y="3846513"/>
            <a:ext cx="488950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65295" name="Picture 43"/>
          <p:cNvPicPr>
            <a:picLocks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4913" y="4683125"/>
            <a:ext cx="488950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83084" name="Group 44"/>
          <p:cNvGrpSpPr/>
          <p:nvPr/>
        </p:nvGrpSpPr>
        <p:grpSpPr bwMode="auto">
          <a:xfrm>
            <a:off x="5773341" y="2637383"/>
            <a:ext cx="1183217" cy="701675"/>
            <a:chOff x="1776" y="2768"/>
            <a:chExt cx="1824" cy="736"/>
          </a:xfrm>
          <a:solidFill>
            <a:schemeClr val="bg1">
              <a:lumMod val="75000"/>
            </a:schemeClr>
          </a:solidFill>
        </p:grpSpPr>
        <p:grpSp>
          <p:nvGrpSpPr>
            <p:cNvPr id="983085" name="Group 45"/>
            <p:cNvGrpSpPr/>
            <p:nvPr/>
          </p:nvGrpSpPr>
          <p:grpSpPr bwMode="auto">
            <a:xfrm>
              <a:off x="1787" y="2783"/>
              <a:ext cx="1813" cy="721"/>
              <a:chOff x="1787" y="2783"/>
              <a:chExt cx="1813" cy="721"/>
            </a:xfrm>
            <a:grpFill/>
          </p:grpSpPr>
          <p:sp>
            <p:nvSpPr>
              <p:cNvPr id="983086" name="Oval 46"/>
              <p:cNvSpPr>
                <a:spLocks noChangeArrowheads="1"/>
              </p:cNvSpPr>
              <p:nvPr/>
            </p:nvSpPr>
            <p:spPr bwMode="auto">
              <a:xfrm>
                <a:off x="2413" y="2783"/>
                <a:ext cx="780" cy="29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983087" name="Oval 47"/>
              <p:cNvSpPr>
                <a:spLocks noChangeArrowheads="1"/>
              </p:cNvSpPr>
              <p:nvPr/>
            </p:nvSpPr>
            <p:spPr bwMode="auto">
              <a:xfrm>
                <a:off x="1974" y="2863"/>
                <a:ext cx="593" cy="29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983088" name="Oval 48"/>
              <p:cNvSpPr>
                <a:spLocks noChangeArrowheads="1"/>
              </p:cNvSpPr>
              <p:nvPr/>
            </p:nvSpPr>
            <p:spPr bwMode="auto">
              <a:xfrm>
                <a:off x="1787" y="3045"/>
                <a:ext cx="396" cy="23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983089" name="Oval 49"/>
              <p:cNvSpPr>
                <a:spLocks noChangeArrowheads="1"/>
              </p:cNvSpPr>
              <p:nvPr/>
            </p:nvSpPr>
            <p:spPr bwMode="auto">
              <a:xfrm>
                <a:off x="1908" y="3154"/>
                <a:ext cx="604" cy="2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983090" name="Oval 50"/>
              <p:cNvSpPr>
                <a:spLocks noChangeArrowheads="1"/>
              </p:cNvSpPr>
              <p:nvPr/>
            </p:nvSpPr>
            <p:spPr bwMode="auto">
              <a:xfrm>
                <a:off x="2347" y="3198"/>
                <a:ext cx="912" cy="306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983091" name="Oval 51"/>
              <p:cNvSpPr>
                <a:spLocks noChangeArrowheads="1"/>
              </p:cNvSpPr>
              <p:nvPr/>
            </p:nvSpPr>
            <p:spPr bwMode="auto">
              <a:xfrm>
                <a:off x="2941" y="2870"/>
                <a:ext cx="571" cy="226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983092" name="Oval 52"/>
              <p:cNvSpPr>
                <a:spLocks noChangeArrowheads="1"/>
              </p:cNvSpPr>
              <p:nvPr/>
            </p:nvSpPr>
            <p:spPr bwMode="auto">
              <a:xfrm>
                <a:off x="3029" y="3023"/>
                <a:ext cx="571" cy="226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983093" name="Oval 53"/>
              <p:cNvSpPr>
                <a:spLocks noChangeArrowheads="1"/>
              </p:cNvSpPr>
              <p:nvPr/>
            </p:nvSpPr>
            <p:spPr bwMode="auto">
              <a:xfrm>
                <a:off x="2974" y="3074"/>
                <a:ext cx="571" cy="379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983094" name="Oval 54"/>
              <p:cNvSpPr>
                <a:spLocks noChangeArrowheads="1"/>
              </p:cNvSpPr>
              <p:nvPr/>
            </p:nvSpPr>
            <p:spPr bwMode="auto">
              <a:xfrm>
                <a:off x="2117" y="2957"/>
                <a:ext cx="1175" cy="379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</p:grpSp>
        <p:sp>
          <p:nvSpPr>
            <p:cNvPr id="983095" name="Oval 55"/>
            <p:cNvSpPr>
              <a:spLocks noChangeArrowheads="1"/>
            </p:cNvSpPr>
            <p:nvPr/>
          </p:nvSpPr>
          <p:spPr bwMode="auto">
            <a:xfrm>
              <a:off x="2402" y="2768"/>
              <a:ext cx="780" cy="291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b="1" noProof="1">
                <a:solidFill>
                  <a:srgbClr val="0000CC"/>
                </a:solidFill>
                <a:latin typeface="+mn-lt"/>
                <a:ea typeface="黑体" panose="02010609060101010101" pitchFamily="2" charset="-122"/>
              </a:endParaRPr>
            </a:p>
          </p:txBody>
        </p:sp>
        <p:sp>
          <p:nvSpPr>
            <p:cNvPr id="983096" name="Oval 56"/>
            <p:cNvSpPr>
              <a:spLocks noChangeArrowheads="1"/>
            </p:cNvSpPr>
            <p:nvPr/>
          </p:nvSpPr>
          <p:spPr bwMode="auto">
            <a:xfrm>
              <a:off x="1963" y="2848"/>
              <a:ext cx="593" cy="292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b="1" noProof="1">
                <a:solidFill>
                  <a:srgbClr val="0000CC"/>
                </a:solidFill>
                <a:latin typeface="+mn-lt"/>
                <a:ea typeface="黑体" panose="02010609060101010101" pitchFamily="2" charset="-122"/>
              </a:endParaRPr>
            </a:p>
          </p:txBody>
        </p:sp>
        <p:sp>
          <p:nvSpPr>
            <p:cNvPr id="983097" name="Oval 57"/>
            <p:cNvSpPr>
              <a:spLocks noChangeArrowheads="1"/>
            </p:cNvSpPr>
            <p:nvPr/>
          </p:nvSpPr>
          <p:spPr bwMode="auto">
            <a:xfrm>
              <a:off x="1776" y="3030"/>
              <a:ext cx="396" cy="234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b="1" noProof="1">
                <a:solidFill>
                  <a:srgbClr val="0000CC"/>
                </a:solidFill>
                <a:latin typeface="+mn-lt"/>
                <a:ea typeface="黑体" panose="02010609060101010101" pitchFamily="2" charset="-122"/>
              </a:endParaRPr>
            </a:p>
          </p:txBody>
        </p:sp>
        <p:sp>
          <p:nvSpPr>
            <p:cNvPr id="983098" name="Oval 58"/>
            <p:cNvSpPr>
              <a:spLocks noChangeArrowheads="1"/>
            </p:cNvSpPr>
            <p:nvPr/>
          </p:nvSpPr>
          <p:spPr bwMode="auto">
            <a:xfrm>
              <a:off x="1897" y="3140"/>
              <a:ext cx="604" cy="25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b="1" noProof="1">
                <a:solidFill>
                  <a:srgbClr val="0000CC"/>
                </a:solidFill>
                <a:latin typeface="+mn-lt"/>
                <a:ea typeface="黑体" panose="02010609060101010101" pitchFamily="2" charset="-122"/>
              </a:endParaRPr>
            </a:p>
          </p:txBody>
        </p:sp>
        <p:sp>
          <p:nvSpPr>
            <p:cNvPr id="983099" name="Oval 59"/>
            <p:cNvSpPr>
              <a:spLocks noChangeArrowheads="1"/>
            </p:cNvSpPr>
            <p:nvPr/>
          </p:nvSpPr>
          <p:spPr bwMode="auto">
            <a:xfrm>
              <a:off x="2336" y="3183"/>
              <a:ext cx="912" cy="30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b="1" noProof="1">
                <a:solidFill>
                  <a:srgbClr val="0000CC"/>
                </a:solidFill>
                <a:latin typeface="+mn-lt"/>
                <a:ea typeface="黑体" panose="02010609060101010101" pitchFamily="2" charset="-122"/>
              </a:endParaRPr>
            </a:p>
          </p:txBody>
        </p:sp>
        <p:sp>
          <p:nvSpPr>
            <p:cNvPr id="983100" name="Oval 60"/>
            <p:cNvSpPr>
              <a:spLocks noChangeArrowheads="1"/>
            </p:cNvSpPr>
            <p:nvPr/>
          </p:nvSpPr>
          <p:spPr bwMode="auto">
            <a:xfrm>
              <a:off x="2930" y="2855"/>
              <a:ext cx="571" cy="22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b="1" noProof="1">
                <a:solidFill>
                  <a:srgbClr val="0000CC"/>
                </a:solidFill>
                <a:latin typeface="+mn-lt"/>
                <a:ea typeface="黑体" panose="02010609060101010101" pitchFamily="2" charset="-122"/>
              </a:endParaRPr>
            </a:p>
          </p:txBody>
        </p:sp>
        <p:sp>
          <p:nvSpPr>
            <p:cNvPr id="983101" name="Oval 61"/>
            <p:cNvSpPr>
              <a:spLocks noChangeArrowheads="1"/>
            </p:cNvSpPr>
            <p:nvPr/>
          </p:nvSpPr>
          <p:spPr bwMode="auto">
            <a:xfrm>
              <a:off x="3018" y="3008"/>
              <a:ext cx="571" cy="22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b="1" noProof="1">
                <a:solidFill>
                  <a:srgbClr val="0000CC"/>
                </a:solidFill>
                <a:latin typeface="+mn-lt"/>
                <a:ea typeface="黑体" panose="02010609060101010101" pitchFamily="2" charset="-122"/>
              </a:endParaRPr>
            </a:p>
          </p:txBody>
        </p:sp>
        <p:sp>
          <p:nvSpPr>
            <p:cNvPr id="983102" name="Oval 62"/>
            <p:cNvSpPr>
              <a:spLocks noChangeArrowheads="1"/>
            </p:cNvSpPr>
            <p:nvPr/>
          </p:nvSpPr>
          <p:spPr bwMode="auto">
            <a:xfrm>
              <a:off x="2963" y="3059"/>
              <a:ext cx="571" cy="379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b="1" noProof="1">
                <a:solidFill>
                  <a:srgbClr val="0000CC"/>
                </a:solidFill>
                <a:latin typeface="+mn-lt"/>
                <a:ea typeface="黑体" panose="02010609060101010101" pitchFamily="2" charset="-122"/>
              </a:endParaRPr>
            </a:p>
          </p:txBody>
        </p:sp>
        <p:sp>
          <p:nvSpPr>
            <p:cNvPr id="983103" name="Oval 63"/>
            <p:cNvSpPr>
              <a:spLocks noChangeArrowheads="1"/>
            </p:cNvSpPr>
            <p:nvPr/>
          </p:nvSpPr>
          <p:spPr bwMode="auto">
            <a:xfrm>
              <a:off x="2106" y="2943"/>
              <a:ext cx="1175" cy="379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b="1" noProof="1">
                <a:solidFill>
                  <a:srgbClr val="0000CC"/>
                </a:solidFill>
                <a:latin typeface="+mn-lt"/>
                <a:ea typeface="黑体" panose="02010609060101010101" pitchFamily="2" charset="-122"/>
              </a:endParaRPr>
            </a:p>
          </p:txBody>
        </p:sp>
      </p:grpSp>
      <p:sp>
        <p:nvSpPr>
          <p:cNvPr id="865297" name="Text Box 64"/>
          <p:cNvSpPr txBox="1">
            <a:spLocks noChangeArrowheads="1"/>
          </p:cNvSpPr>
          <p:nvPr/>
        </p:nvSpPr>
        <p:spPr bwMode="auto">
          <a:xfrm>
            <a:off x="6081713" y="2727325"/>
            <a:ext cx="46513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N</a:t>
            </a:r>
            <a:r>
              <a:rPr lang="en-US" altLang="zh-CN" sz="2000" b="1" baseline="-25000">
                <a:solidFill>
                  <a:srgbClr val="0000CC"/>
                </a:solidFill>
                <a:ea typeface="黑体" panose="02010609060101010101" pitchFamily="49" charset="-122"/>
              </a:rPr>
              <a:t>2</a:t>
            </a:r>
          </a:p>
        </p:txBody>
      </p:sp>
      <p:pic>
        <p:nvPicPr>
          <p:cNvPr id="865298" name="Picture 65"/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8750" y="3289300"/>
            <a:ext cx="558800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5299" name="Text Box 66"/>
          <p:cNvSpPr txBox="1">
            <a:spLocks noChangeArrowheads="1"/>
          </p:cNvSpPr>
          <p:nvPr/>
        </p:nvSpPr>
        <p:spPr bwMode="auto">
          <a:xfrm>
            <a:off x="4981575" y="2874963"/>
            <a:ext cx="4651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R</a:t>
            </a:r>
            <a:r>
              <a:rPr lang="en-US" altLang="zh-CN" sz="2000" b="1" baseline="-25000">
                <a:solidFill>
                  <a:srgbClr val="0000CC"/>
                </a:solidFill>
                <a:ea typeface="黑体" panose="02010609060101010101" pitchFamily="49" charset="-122"/>
              </a:rPr>
              <a:t>2</a:t>
            </a:r>
          </a:p>
        </p:txBody>
      </p:sp>
      <p:sp>
        <p:nvSpPr>
          <p:cNvPr id="865300" name="Text Box 69"/>
          <p:cNvSpPr txBox="1">
            <a:spLocks noChangeArrowheads="1"/>
          </p:cNvSpPr>
          <p:nvPr/>
        </p:nvSpPr>
        <p:spPr bwMode="auto">
          <a:xfrm>
            <a:off x="776288" y="1211263"/>
            <a:ext cx="4775200" cy="1570037"/>
          </a:xfrm>
          <a:prstGeom prst="rect">
            <a:avLst/>
          </a:prstGeom>
          <a:solidFill>
            <a:srgbClr val="66FF66"/>
          </a:solidFill>
          <a:ln w="9525">
            <a:solidFill>
              <a:srgbClr val="000099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algn="ctr" eaLnBrk="0" hangingPunct="0"/>
            <a:r>
              <a:rPr lang="zh-CN" altLang="en-US" sz="2400" b="1">
                <a:solidFill>
                  <a:srgbClr val="000066"/>
                </a:solidFill>
                <a:ea typeface="黑体" panose="02010609060101010101" pitchFamily="49" charset="-122"/>
              </a:rPr>
              <a:t>只要目的网络不是 </a:t>
            </a:r>
            <a:r>
              <a:rPr lang="en-US" altLang="zh-CN" sz="2400" b="1">
                <a:solidFill>
                  <a:srgbClr val="000066"/>
                </a:solidFill>
                <a:ea typeface="黑体" panose="02010609060101010101" pitchFamily="49" charset="-122"/>
              </a:rPr>
              <a:t>N</a:t>
            </a:r>
            <a:r>
              <a:rPr lang="en-US" altLang="zh-CN" sz="2400" b="1" baseline="-25000">
                <a:solidFill>
                  <a:srgbClr val="000066"/>
                </a:solidFill>
                <a:ea typeface="黑体" panose="02010609060101010101" pitchFamily="49" charset="-122"/>
              </a:rPr>
              <a:t>1 </a:t>
            </a:r>
            <a:r>
              <a:rPr lang="zh-CN" altLang="en-US" sz="2400" b="1">
                <a:solidFill>
                  <a:srgbClr val="000066"/>
                </a:solidFill>
                <a:ea typeface="黑体" panose="02010609060101010101" pitchFamily="49" charset="-122"/>
              </a:rPr>
              <a:t>和 </a:t>
            </a:r>
            <a:r>
              <a:rPr lang="en-US" altLang="zh-CN" sz="2400" b="1">
                <a:solidFill>
                  <a:srgbClr val="000066"/>
                </a:solidFill>
                <a:ea typeface="黑体" panose="02010609060101010101" pitchFamily="49" charset="-122"/>
              </a:rPr>
              <a:t>N</a:t>
            </a:r>
            <a:r>
              <a:rPr lang="en-US" altLang="zh-CN" sz="2400" b="1" baseline="-25000">
                <a:solidFill>
                  <a:srgbClr val="000066"/>
                </a:solidFill>
                <a:ea typeface="黑体" panose="02010609060101010101" pitchFamily="49" charset="-122"/>
              </a:rPr>
              <a:t>2</a:t>
            </a:r>
            <a:r>
              <a:rPr lang="zh-CN" altLang="en-US" sz="2400" b="1">
                <a:solidFill>
                  <a:srgbClr val="000066"/>
                </a:solidFill>
                <a:ea typeface="黑体" panose="02010609060101010101" pitchFamily="49" charset="-122"/>
              </a:rPr>
              <a:t>，</a:t>
            </a:r>
            <a:endParaRPr lang="en-US" altLang="zh-CN" sz="2400" b="1">
              <a:solidFill>
                <a:srgbClr val="000066"/>
              </a:solidFill>
              <a:ea typeface="黑体" panose="02010609060101010101" pitchFamily="49" charset="-122"/>
            </a:endParaRPr>
          </a:p>
          <a:p>
            <a:pPr algn="ctr" eaLnBrk="0" hangingPunct="0"/>
            <a:r>
              <a:rPr lang="zh-CN" altLang="en-US" sz="2400" b="1">
                <a:solidFill>
                  <a:srgbClr val="000066"/>
                </a:solidFill>
                <a:ea typeface="黑体" panose="02010609060101010101" pitchFamily="49" charset="-122"/>
              </a:rPr>
              <a:t>就一律选择默认路由，</a:t>
            </a:r>
          </a:p>
          <a:p>
            <a:pPr algn="ctr" eaLnBrk="0" hangingPunct="0"/>
            <a:r>
              <a:rPr lang="zh-CN" altLang="en-US" sz="2400" b="1">
                <a:solidFill>
                  <a:srgbClr val="000066"/>
                </a:solidFill>
                <a:ea typeface="黑体" panose="02010609060101010101" pitchFamily="49" charset="-122"/>
              </a:rPr>
              <a:t>把数据报先间接交付路由器 </a:t>
            </a:r>
            <a:r>
              <a:rPr lang="en-US" altLang="zh-CN" sz="2400" b="1">
                <a:solidFill>
                  <a:srgbClr val="000066"/>
                </a:solidFill>
                <a:ea typeface="黑体" panose="02010609060101010101" pitchFamily="49" charset="-122"/>
              </a:rPr>
              <a:t>R</a:t>
            </a:r>
            <a:r>
              <a:rPr lang="en-US" altLang="zh-CN" sz="2400" b="1" baseline="-25000">
                <a:solidFill>
                  <a:srgbClr val="000066"/>
                </a:solidFill>
                <a:ea typeface="黑体" panose="02010609060101010101" pitchFamily="49" charset="-122"/>
              </a:rPr>
              <a:t>1</a:t>
            </a:r>
            <a:r>
              <a:rPr lang="zh-CN" altLang="en-US" sz="2400" b="1">
                <a:solidFill>
                  <a:srgbClr val="000066"/>
                </a:solidFill>
                <a:ea typeface="黑体" panose="02010609060101010101" pitchFamily="49" charset="-122"/>
              </a:rPr>
              <a:t>，</a:t>
            </a:r>
          </a:p>
          <a:p>
            <a:pPr algn="ctr" eaLnBrk="0" hangingPunct="0"/>
            <a:r>
              <a:rPr lang="zh-CN" altLang="en-US" sz="2400" b="1">
                <a:solidFill>
                  <a:srgbClr val="000066"/>
                </a:solidFill>
                <a:ea typeface="黑体" panose="02010609060101010101" pitchFamily="49" charset="-122"/>
              </a:rPr>
              <a:t>让 </a:t>
            </a:r>
            <a:r>
              <a:rPr lang="en-US" altLang="zh-CN" sz="2400" b="1">
                <a:solidFill>
                  <a:srgbClr val="000066"/>
                </a:solidFill>
                <a:ea typeface="黑体" panose="02010609060101010101" pitchFamily="49" charset="-122"/>
              </a:rPr>
              <a:t>R</a:t>
            </a:r>
            <a:r>
              <a:rPr lang="en-US" altLang="zh-CN" sz="2400" b="1" baseline="-25000">
                <a:solidFill>
                  <a:srgbClr val="000066"/>
                </a:solidFill>
                <a:ea typeface="黑体" panose="02010609060101010101" pitchFamily="49" charset="-122"/>
              </a:rPr>
              <a:t>1 </a:t>
            </a:r>
            <a:r>
              <a:rPr lang="zh-CN" altLang="en-US" sz="2400" b="1">
                <a:solidFill>
                  <a:srgbClr val="000066"/>
                </a:solidFill>
                <a:ea typeface="黑体" panose="02010609060101010101" pitchFamily="49" charset="-122"/>
              </a:rPr>
              <a:t>再转发给下一个路由器。 </a:t>
            </a:r>
          </a:p>
        </p:txBody>
      </p:sp>
      <p:sp>
        <p:nvSpPr>
          <p:cNvPr id="865301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smtClean="0">
                <a:ea typeface="黑体" panose="02010609060101010101" pitchFamily="49" charset="-122"/>
              </a:rPr>
              <a:t>默认路由举例</a:t>
            </a:r>
          </a:p>
        </p:txBody>
      </p:sp>
      <p:grpSp>
        <p:nvGrpSpPr>
          <p:cNvPr id="68" name="Group 44"/>
          <p:cNvGrpSpPr/>
          <p:nvPr/>
        </p:nvGrpSpPr>
        <p:grpSpPr bwMode="auto">
          <a:xfrm>
            <a:off x="4089597" y="3572419"/>
            <a:ext cx="1439467" cy="917947"/>
            <a:chOff x="1776" y="2768"/>
            <a:chExt cx="1824" cy="736"/>
          </a:xfrm>
          <a:solidFill>
            <a:schemeClr val="bg1">
              <a:lumMod val="75000"/>
            </a:schemeClr>
          </a:solidFill>
        </p:grpSpPr>
        <p:grpSp>
          <p:nvGrpSpPr>
            <p:cNvPr id="69" name="Group 45"/>
            <p:cNvGrpSpPr/>
            <p:nvPr/>
          </p:nvGrpSpPr>
          <p:grpSpPr bwMode="auto">
            <a:xfrm>
              <a:off x="1787" y="2783"/>
              <a:ext cx="1813" cy="721"/>
              <a:chOff x="1787" y="2783"/>
              <a:chExt cx="1813" cy="721"/>
            </a:xfrm>
            <a:grpFill/>
          </p:grpSpPr>
          <p:sp>
            <p:nvSpPr>
              <p:cNvPr id="79" name="Oval 46"/>
              <p:cNvSpPr>
                <a:spLocks noChangeArrowheads="1"/>
              </p:cNvSpPr>
              <p:nvPr/>
            </p:nvSpPr>
            <p:spPr bwMode="auto">
              <a:xfrm>
                <a:off x="2413" y="2783"/>
                <a:ext cx="780" cy="29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80" name="Oval 47"/>
              <p:cNvSpPr>
                <a:spLocks noChangeArrowheads="1"/>
              </p:cNvSpPr>
              <p:nvPr/>
            </p:nvSpPr>
            <p:spPr bwMode="auto">
              <a:xfrm>
                <a:off x="1974" y="2863"/>
                <a:ext cx="593" cy="29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81" name="Oval 48"/>
              <p:cNvSpPr>
                <a:spLocks noChangeArrowheads="1"/>
              </p:cNvSpPr>
              <p:nvPr/>
            </p:nvSpPr>
            <p:spPr bwMode="auto">
              <a:xfrm>
                <a:off x="1787" y="3045"/>
                <a:ext cx="396" cy="23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82" name="Oval 49"/>
              <p:cNvSpPr>
                <a:spLocks noChangeArrowheads="1"/>
              </p:cNvSpPr>
              <p:nvPr/>
            </p:nvSpPr>
            <p:spPr bwMode="auto">
              <a:xfrm>
                <a:off x="1908" y="3154"/>
                <a:ext cx="604" cy="2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83" name="Oval 50"/>
              <p:cNvSpPr>
                <a:spLocks noChangeArrowheads="1"/>
              </p:cNvSpPr>
              <p:nvPr/>
            </p:nvSpPr>
            <p:spPr bwMode="auto">
              <a:xfrm>
                <a:off x="2347" y="3198"/>
                <a:ext cx="912" cy="306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84" name="Oval 51"/>
              <p:cNvSpPr>
                <a:spLocks noChangeArrowheads="1"/>
              </p:cNvSpPr>
              <p:nvPr/>
            </p:nvSpPr>
            <p:spPr bwMode="auto">
              <a:xfrm>
                <a:off x="2941" y="2870"/>
                <a:ext cx="571" cy="226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85" name="Oval 52"/>
              <p:cNvSpPr>
                <a:spLocks noChangeArrowheads="1"/>
              </p:cNvSpPr>
              <p:nvPr/>
            </p:nvSpPr>
            <p:spPr bwMode="auto">
              <a:xfrm>
                <a:off x="3029" y="3023"/>
                <a:ext cx="571" cy="226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86" name="Oval 53"/>
              <p:cNvSpPr>
                <a:spLocks noChangeArrowheads="1"/>
              </p:cNvSpPr>
              <p:nvPr/>
            </p:nvSpPr>
            <p:spPr bwMode="auto">
              <a:xfrm>
                <a:off x="2974" y="3074"/>
                <a:ext cx="571" cy="379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87" name="Oval 54"/>
              <p:cNvSpPr>
                <a:spLocks noChangeArrowheads="1"/>
              </p:cNvSpPr>
              <p:nvPr/>
            </p:nvSpPr>
            <p:spPr bwMode="auto">
              <a:xfrm>
                <a:off x="2117" y="2957"/>
                <a:ext cx="1175" cy="379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b="1" noProof="1">
                  <a:solidFill>
                    <a:srgbClr val="0000CC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</p:grpSp>
        <p:sp>
          <p:nvSpPr>
            <p:cNvPr id="70" name="Oval 55"/>
            <p:cNvSpPr>
              <a:spLocks noChangeArrowheads="1"/>
            </p:cNvSpPr>
            <p:nvPr/>
          </p:nvSpPr>
          <p:spPr bwMode="auto">
            <a:xfrm>
              <a:off x="2402" y="2768"/>
              <a:ext cx="780" cy="291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b="1" noProof="1">
                <a:solidFill>
                  <a:srgbClr val="0000CC"/>
                </a:solidFill>
                <a:latin typeface="+mn-lt"/>
                <a:ea typeface="黑体" panose="02010609060101010101" pitchFamily="2" charset="-122"/>
              </a:endParaRPr>
            </a:p>
          </p:txBody>
        </p:sp>
        <p:sp>
          <p:nvSpPr>
            <p:cNvPr id="71" name="Oval 56"/>
            <p:cNvSpPr>
              <a:spLocks noChangeArrowheads="1"/>
            </p:cNvSpPr>
            <p:nvPr/>
          </p:nvSpPr>
          <p:spPr bwMode="auto">
            <a:xfrm>
              <a:off x="1963" y="2848"/>
              <a:ext cx="593" cy="292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b="1" noProof="1">
                <a:solidFill>
                  <a:srgbClr val="0000CC"/>
                </a:solidFill>
                <a:latin typeface="+mn-lt"/>
                <a:ea typeface="黑体" panose="02010609060101010101" pitchFamily="2" charset="-122"/>
              </a:endParaRPr>
            </a:p>
          </p:txBody>
        </p:sp>
        <p:sp>
          <p:nvSpPr>
            <p:cNvPr id="72" name="Oval 57"/>
            <p:cNvSpPr>
              <a:spLocks noChangeArrowheads="1"/>
            </p:cNvSpPr>
            <p:nvPr/>
          </p:nvSpPr>
          <p:spPr bwMode="auto">
            <a:xfrm>
              <a:off x="1776" y="3030"/>
              <a:ext cx="396" cy="234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b="1" noProof="1">
                <a:solidFill>
                  <a:srgbClr val="0000CC"/>
                </a:solidFill>
                <a:latin typeface="+mn-lt"/>
                <a:ea typeface="黑体" panose="02010609060101010101" pitchFamily="2" charset="-122"/>
              </a:endParaRPr>
            </a:p>
          </p:txBody>
        </p:sp>
        <p:sp>
          <p:nvSpPr>
            <p:cNvPr id="73" name="Oval 58"/>
            <p:cNvSpPr>
              <a:spLocks noChangeArrowheads="1"/>
            </p:cNvSpPr>
            <p:nvPr/>
          </p:nvSpPr>
          <p:spPr bwMode="auto">
            <a:xfrm>
              <a:off x="1897" y="3140"/>
              <a:ext cx="604" cy="25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b="1" noProof="1">
                <a:solidFill>
                  <a:srgbClr val="0000CC"/>
                </a:solidFill>
                <a:latin typeface="+mn-lt"/>
                <a:ea typeface="黑体" panose="02010609060101010101" pitchFamily="2" charset="-122"/>
              </a:endParaRPr>
            </a:p>
          </p:txBody>
        </p:sp>
        <p:sp>
          <p:nvSpPr>
            <p:cNvPr id="74" name="Oval 59"/>
            <p:cNvSpPr>
              <a:spLocks noChangeArrowheads="1"/>
            </p:cNvSpPr>
            <p:nvPr/>
          </p:nvSpPr>
          <p:spPr bwMode="auto">
            <a:xfrm>
              <a:off x="2336" y="3183"/>
              <a:ext cx="912" cy="30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b="1" noProof="1">
                <a:solidFill>
                  <a:srgbClr val="0000CC"/>
                </a:solidFill>
                <a:latin typeface="+mn-lt"/>
                <a:ea typeface="黑体" panose="02010609060101010101" pitchFamily="2" charset="-122"/>
              </a:endParaRPr>
            </a:p>
          </p:txBody>
        </p:sp>
        <p:sp>
          <p:nvSpPr>
            <p:cNvPr id="75" name="Oval 60"/>
            <p:cNvSpPr>
              <a:spLocks noChangeArrowheads="1"/>
            </p:cNvSpPr>
            <p:nvPr/>
          </p:nvSpPr>
          <p:spPr bwMode="auto">
            <a:xfrm>
              <a:off x="2930" y="2855"/>
              <a:ext cx="571" cy="22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b="1" noProof="1">
                <a:solidFill>
                  <a:srgbClr val="0000CC"/>
                </a:solidFill>
                <a:latin typeface="+mn-lt"/>
                <a:ea typeface="黑体" panose="02010609060101010101" pitchFamily="2" charset="-122"/>
              </a:endParaRPr>
            </a:p>
          </p:txBody>
        </p:sp>
        <p:sp>
          <p:nvSpPr>
            <p:cNvPr id="76" name="Oval 61"/>
            <p:cNvSpPr>
              <a:spLocks noChangeArrowheads="1"/>
            </p:cNvSpPr>
            <p:nvPr/>
          </p:nvSpPr>
          <p:spPr bwMode="auto">
            <a:xfrm>
              <a:off x="3018" y="3008"/>
              <a:ext cx="571" cy="22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b="1" noProof="1">
                <a:solidFill>
                  <a:srgbClr val="0000CC"/>
                </a:solidFill>
                <a:latin typeface="+mn-lt"/>
                <a:ea typeface="黑体" panose="02010609060101010101" pitchFamily="2" charset="-122"/>
              </a:endParaRPr>
            </a:p>
          </p:txBody>
        </p:sp>
        <p:sp>
          <p:nvSpPr>
            <p:cNvPr id="77" name="Oval 62"/>
            <p:cNvSpPr>
              <a:spLocks noChangeArrowheads="1"/>
            </p:cNvSpPr>
            <p:nvPr/>
          </p:nvSpPr>
          <p:spPr bwMode="auto">
            <a:xfrm>
              <a:off x="2963" y="3059"/>
              <a:ext cx="571" cy="379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b="1" noProof="1">
                <a:solidFill>
                  <a:srgbClr val="0000CC"/>
                </a:solidFill>
                <a:latin typeface="+mn-lt"/>
                <a:ea typeface="黑体" panose="02010609060101010101" pitchFamily="2" charset="-122"/>
              </a:endParaRPr>
            </a:p>
          </p:txBody>
        </p:sp>
        <p:sp>
          <p:nvSpPr>
            <p:cNvPr id="78" name="Oval 63"/>
            <p:cNvSpPr>
              <a:spLocks noChangeArrowheads="1"/>
            </p:cNvSpPr>
            <p:nvPr/>
          </p:nvSpPr>
          <p:spPr bwMode="auto">
            <a:xfrm>
              <a:off x="2106" y="2943"/>
              <a:ext cx="1175" cy="379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b="1" noProof="1">
                <a:solidFill>
                  <a:srgbClr val="0000CC"/>
                </a:solidFill>
                <a:latin typeface="+mn-lt"/>
                <a:ea typeface="黑体" panose="02010609060101010101" pitchFamily="2" charset="-122"/>
              </a:endParaRPr>
            </a:p>
          </p:txBody>
        </p:sp>
      </p:grpSp>
      <p:sp>
        <p:nvSpPr>
          <p:cNvPr id="865303" name="Text Box 30"/>
          <p:cNvSpPr txBox="1">
            <a:spLocks noChangeArrowheads="1"/>
          </p:cNvSpPr>
          <p:nvPr/>
        </p:nvSpPr>
        <p:spPr bwMode="auto">
          <a:xfrm>
            <a:off x="4598988" y="3813175"/>
            <a:ext cx="46513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N</a:t>
            </a:r>
            <a:r>
              <a:rPr lang="en-US" altLang="zh-CN" sz="2000" b="1" baseline="-25000">
                <a:solidFill>
                  <a:srgbClr val="0000CC"/>
                </a:solidFill>
                <a:ea typeface="黑体" panose="02010609060101010101" pitchFamily="49" charset="-122"/>
              </a:rPr>
              <a:t>1</a:t>
            </a:r>
          </a:p>
        </p:txBody>
      </p:sp>
      <p:sp>
        <p:nvSpPr>
          <p:cNvPr id="865304" name="矩形 2"/>
          <p:cNvSpPr>
            <a:spLocks noChangeArrowheads="1"/>
          </p:cNvSpPr>
          <p:nvPr/>
        </p:nvSpPr>
        <p:spPr bwMode="auto">
          <a:xfrm>
            <a:off x="2144713" y="5516563"/>
            <a:ext cx="649446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eaLnBrk="0" hangingPunct="0"/>
            <a:r>
              <a:rPr lang="zh-CN" altLang="zh-CN" sz="2400" b="1">
                <a:ea typeface="黑体" panose="02010609060101010101" pitchFamily="49" charset="-122"/>
              </a:rPr>
              <a:t>路由器</a:t>
            </a:r>
            <a:r>
              <a:rPr lang="en-US" altLang="zh-CN" sz="2400" b="1">
                <a:ea typeface="黑体" panose="02010609060101010101" pitchFamily="49" charset="-122"/>
              </a:rPr>
              <a:t> R</a:t>
            </a:r>
            <a:r>
              <a:rPr lang="en-US" altLang="zh-CN" sz="2400" b="1" baseline="-25000">
                <a:ea typeface="黑体" panose="02010609060101010101" pitchFamily="49" charset="-122"/>
              </a:rPr>
              <a:t>1 </a:t>
            </a:r>
            <a:r>
              <a:rPr lang="zh-CN" altLang="zh-CN" sz="2400" b="1">
                <a:ea typeface="黑体" panose="02010609060101010101" pitchFamily="49" charset="-122"/>
              </a:rPr>
              <a:t>充当网络</a:t>
            </a:r>
            <a:r>
              <a:rPr lang="en-US" altLang="zh-CN" sz="2400" b="1">
                <a:ea typeface="黑体" panose="02010609060101010101" pitchFamily="49" charset="-122"/>
              </a:rPr>
              <a:t> N</a:t>
            </a:r>
            <a:r>
              <a:rPr lang="en-US" altLang="zh-CN" sz="2400" b="1" baseline="-25000">
                <a:ea typeface="黑体" panose="02010609060101010101" pitchFamily="49" charset="-122"/>
              </a:rPr>
              <a:t>1 </a:t>
            </a:r>
            <a:r>
              <a:rPr lang="zh-CN" altLang="zh-CN" sz="2400" b="1">
                <a:ea typeface="黑体" panose="02010609060101010101" pitchFamily="49" charset="-122"/>
              </a:rPr>
              <a:t>的默认路由器</a:t>
            </a:r>
            <a:endParaRPr lang="zh-CN" altLang="en-US" sz="2400" b="1">
              <a:ea typeface="黑体" panose="02010609060101010101" pitchFamily="49" charset="-122"/>
            </a:endParaRPr>
          </a:p>
        </p:txBody>
      </p:sp>
      <p:sp>
        <p:nvSpPr>
          <p:cNvPr id="865305" name="Rectangle 36"/>
          <p:cNvSpPr>
            <a:spLocks noChangeArrowheads="1"/>
          </p:cNvSpPr>
          <p:nvPr/>
        </p:nvSpPr>
        <p:spPr bwMode="auto">
          <a:xfrm>
            <a:off x="374650" y="3430588"/>
            <a:ext cx="2346325" cy="1436687"/>
          </a:xfrm>
          <a:prstGeom prst="rect">
            <a:avLst/>
          </a:prstGeom>
          <a:solidFill>
            <a:srgbClr val="FFFF66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865306" name="Text Box 35"/>
          <p:cNvSpPr txBox="1">
            <a:spLocks noChangeArrowheads="1"/>
          </p:cNvSpPr>
          <p:nvPr/>
        </p:nvSpPr>
        <p:spPr bwMode="auto">
          <a:xfrm>
            <a:off x="374650" y="3357563"/>
            <a:ext cx="2181225" cy="157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>
              <a:lnSpc>
                <a:spcPct val="120000"/>
              </a:lnSpc>
            </a:pPr>
            <a:r>
              <a:rPr lang="zh-CN" altLang="en-US" sz="2000" b="1">
                <a:solidFill>
                  <a:srgbClr val="000099"/>
                </a:solidFill>
                <a:ea typeface="黑体" panose="02010609060101010101" pitchFamily="49" charset="-122"/>
              </a:rPr>
              <a:t>目的网络  下一跳</a:t>
            </a:r>
          </a:p>
          <a:p>
            <a:pPr eaLnBrk="0" hangingPunct="0">
              <a:lnSpc>
                <a:spcPct val="120000"/>
              </a:lnSpc>
            </a:pPr>
            <a:r>
              <a:rPr lang="zh-CN" altLang="en-US" sz="2000" b="1">
                <a:solidFill>
                  <a:srgbClr val="000099"/>
                </a:solidFill>
                <a:ea typeface="黑体" panose="02010609060101010101" pitchFamily="49" charset="-122"/>
              </a:rPr>
              <a:t>      </a:t>
            </a:r>
            <a:r>
              <a:rPr lang="en-US" altLang="zh-CN" sz="2000" b="1">
                <a:solidFill>
                  <a:srgbClr val="000099"/>
                </a:solidFill>
                <a:ea typeface="黑体" panose="02010609060101010101" pitchFamily="49" charset="-122"/>
              </a:rPr>
              <a:t>N</a:t>
            </a:r>
            <a:r>
              <a:rPr lang="en-US" altLang="zh-CN" sz="2000" b="1" baseline="-25000">
                <a:solidFill>
                  <a:srgbClr val="000099"/>
                </a:solidFill>
                <a:ea typeface="黑体" panose="02010609060101010101" pitchFamily="49" charset="-122"/>
              </a:rPr>
              <a:t>1</a:t>
            </a:r>
            <a:r>
              <a:rPr lang="en-US" altLang="zh-CN" sz="2000" b="1">
                <a:solidFill>
                  <a:srgbClr val="000099"/>
                </a:solidFill>
                <a:ea typeface="黑体" panose="02010609060101010101" pitchFamily="49" charset="-122"/>
              </a:rPr>
              <a:t>          </a:t>
            </a:r>
            <a:r>
              <a:rPr lang="zh-CN" altLang="en-US" sz="2000" b="1">
                <a:solidFill>
                  <a:srgbClr val="000099"/>
                </a:solidFill>
                <a:ea typeface="黑体" panose="02010609060101010101" pitchFamily="49" charset="-122"/>
              </a:rPr>
              <a:t>直接 </a:t>
            </a:r>
          </a:p>
          <a:p>
            <a:pPr eaLnBrk="0" hangingPunct="0">
              <a:lnSpc>
                <a:spcPct val="120000"/>
              </a:lnSpc>
            </a:pPr>
            <a:r>
              <a:rPr lang="zh-CN" altLang="en-US" sz="2000" b="1">
                <a:solidFill>
                  <a:srgbClr val="000099"/>
                </a:solidFill>
                <a:ea typeface="黑体" panose="02010609060101010101" pitchFamily="49" charset="-122"/>
              </a:rPr>
              <a:t>      </a:t>
            </a:r>
            <a:r>
              <a:rPr lang="en-US" altLang="zh-CN" sz="2000" b="1">
                <a:solidFill>
                  <a:srgbClr val="000099"/>
                </a:solidFill>
                <a:ea typeface="黑体" panose="02010609060101010101" pitchFamily="49" charset="-122"/>
              </a:rPr>
              <a:t>N</a:t>
            </a:r>
            <a:r>
              <a:rPr lang="en-US" altLang="zh-CN" sz="2000" b="1" baseline="-25000">
                <a:solidFill>
                  <a:srgbClr val="000099"/>
                </a:solidFill>
                <a:ea typeface="黑体" panose="02010609060101010101" pitchFamily="49" charset="-122"/>
              </a:rPr>
              <a:t>2</a:t>
            </a:r>
            <a:r>
              <a:rPr lang="en-US" altLang="zh-CN" sz="2000" b="1">
                <a:solidFill>
                  <a:srgbClr val="000099"/>
                </a:solidFill>
                <a:ea typeface="黑体" panose="02010609060101010101" pitchFamily="49" charset="-122"/>
              </a:rPr>
              <a:t>     </a:t>
            </a:r>
            <a:r>
              <a:rPr lang="en-US" altLang="zh-CN" sz="1000" b="1">
                <a:solidFill>
                  <a:srgbClr val="000099"/>
                </a:solidFill>
                <a:ea typeface="黑体" panose="02010609060101010101" pitchFamily="49" charset="-122"/>
              </a:rPr>
              <a:t>   </a:t>
            </a:r>
            <a:r>
              <a:rPr lang="en-US" altLang="zh-CN" sz="2000" b="1">
                <a:solidFill>
                  <a:srgbClr val="000099"/>
                </a:solidFill>
                <a:ea typeface="黑体" panose="02010609060101010101" pitchFamily="49" charset="-122"/>
              </a:rPr>
              <a:t>      R</a:t>
            </a:r>
            <a:r>
              <a:rPr lang="en-US" altLang="zh-CN" sz="2000" b="1" baseline="-25000">
                <a:solidFill>
                  <a:srgbClr val="000099"/>
                </a:solidFill>
                <a:ea typeface="黑体" panose="02010609060101010101" pitchFamily="49" charset="-122"/>
              </a:rPr>
              <a:t>2</a:t>
            </a:r>
          </a:p>
          <a:p>
            <a:pPr eaLnBrk="0" hangingPunct="0">
              <a:lnSpc>
                <a:spcPct val="120000"/>
              </a:lnSpc>
            </a:pPr>
            <a:r>
              <a:rPr lang="en-US" altLang="zh-CN" sz="2000" b="1">
                <a:solidFill>
                  <a:srgbClr val="000099"/>
                </a:solidFill>
                <a:ea typeface="黑体" panose="02010609060101010101" pitchFamily="49" charset="-122"/>
              </a:rPr>
              <a:t>    </a:t>
            </a:r>
            <a:r>
              <a:rPr lang="zh-CN" altLang="en-US" sz="2000" b="1">
                <a:solidFill>
                  <a:srgbClr val="000099"/>
                </a:solidFill>
                <a:ea typeface="黑体" panose="02010609060101010101" pitchFamily="49" charset="-122"/>
              </a:rPr>
              <a:t>默认           </a:t>
            </a:r>
            <a:r>
              <a:rPr lang="en-US" altLang="zh-CN" sz="2000" b="1">
                <a:solidFill>
                  <a:srgbClr val="000099"/>
                </a:solidFill>
                <a:ea typeface="黑体" panose="02010609060101010101" pitchFamily="49" charset="-122"/>
              </a:rPr>
              <a:t>R</a:t>
            </a:r>
            <a:r>
              <a:rPr lang="en-US" altLang="zh-CN" sz="2000" b="1" baseline="-25000">
                <a:solidFill>
                  <a:srgbClr val="000099"/>
                </a:solidFill>
                <a:ea typeface="黑体" panose="02010609060101010101" pitchFamily="49" charset="-122"/>
              </a:rPr>
              <a:t>1</a:t>
            </a:r>
          </a:p>
        </p:txBody>
      </p:sp>
      <p:sp>
        <p:nvSpPr>
          <p:cNvPr id="865307" name="Line 37"/>
          <p:cNvSpPr>
            <a:spLocks noChangeShapeType="1"/>
          </p:cNvSpPr>
          <p:nvPr/>
        </p:nvSpPr>
        <p:spPr bwMode="auto">
          <a:xfrm>
            <a:off x="374650" y="3795713"/>
            <a:ext cx="2346325" cy="0"/>
          </a:xfrm>
          <a:prstGeom prst="line">
            <a:avLst/>
          </a:prstGeom>
          <a:noFill/>
          <a:ln w="38100" cmpd="dbl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865308" name="Line 38"/>
          <p:cNvSpPr>
            <a:spLocks noChangeShapeType="1"/>
          </p:cNvSpPr>
          <p:nvPr/>
        </p:nvSpPr>
        <p:spPr bwMode="auto">
          <a:xfrm>
            <a:off x="374650" y="4160838"/>
            <a:ext cx="23463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865309" name="Line 39"/>
          <p:cNvSpPr>
            <a:spLocks noChangeShapeType="1"/>
          </p:cNvSpPr>
          <p:nvPr/>
        </p:nvSpPr>
        <p:spPr bwMode="auto">
          <a:xfrm>
            <a:off x="1654175" y="3430588"/>
            <a:ext cx="4763" cy="14176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865310" name="Line 67"/>
          <p:cNvSpPr>
            <a:spLocks noChangeShapeType="1"/>
          </p:cNvSpPr>
          <p:nvPr/>
        </p:nvSpPr>
        <p:spPr bwMode="auto">
          <a:xfrm>
            <a:off x="374650" y="4497388"/>
            <a:ext cx="23463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865311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2E6350C-A56D-4DB9-A789-00F6E2BFF434}" type="slidenum">
              <a:rPr lang="zh-CN" altLang="en-US" smtClean="0"/>
              <a:pPr eaLnBrk="1" hangingPunct="1"/>
              <a:t>53</a:t>
            </a:fld>
            <a:endParaRPr lang="en-US" altLang="zh-CN" smtClean="0"/>
          </a:p>
        </p:txBody>
      </p:sp>
      <p:sp>
        <p:nvSpPr>
          <p:cNvPr id="865312" name="页脚占位符 6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329" name="Rectangle 6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zh-CN" altLang="en-US" smtClean="0">
                <a:ea typeface="黑体" panose="02010609060101010101" pitchFamily="49" charset="-122"/>
              </a:rPr>
              <a:t>必须强调指出 </a:t>
            </a:r>
          </a:p>
        </p:txBody>
      </p:sp>
      <p:sp>
        <p:nvSpPr>
          <p:cNvPr id="397319" name="Rectangle 7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pPr algn="just"/>
            <a:r>
              <a:rPr lang="en-US" altLang="zh-CN" smtClean="0">
                <a:ea typeface="黑体" panose="02010609060101010101" pitchFamily="49" charset="-122"/>
              </a:rPr>
              <a:t>IP</a:t>
            </a:r>
            <a:r>
              <a:rPr lang="en-US" altLang="zh-CN" sz="2000" smtClean="0">
                <a:ea typeface="黑体" panose="02010609060101010101" pitchFamily="49" charset="-122"/>
              </a:rPr>
              <a:t> </a:t>
            </a:r>
            <a:r>
              <a:rPr lang="zh-CN" altLang="en-US" smtClean="0">
                <a:ea typeface="黑体" panose="02010609060101010101" pitchFamily="49" charset="-122"/>
              </a:rPr>
              <a:t>数据报的首部中</a:t>
            </a:r>
            <a:r>
              <a:rPr lang="zh-CN" altLang="en-US" smtClean="0">
                <a:solidFill>
                  <a:srgbClr val="FF0000"/>
                </a:solidFill>
                <a:ea typeface="黑体" panose="02010609060101010101" pitchFamily="49" charset="-122"/>
              </a:rPr>
              <a:t>没有</a:t>
            </a:r>
            <a:r>
              <a:rPr lang="zh-CN" altLang="en-US" smtClean="0">
                <a:ea typeface="黑体" panose="02010609060101010101" pitchFamily="49" charset="-122"/>
              </a:rPr>
              <a:t>地方可以用来指明“下一跳路由器的 </a:t>
            </a:r>
            <a:r>
              <a:rPr lang="en-US" altLang="zh-CN" smtClean="0">
                <a:ea typeface="黑体" panose="02010609060101010101" pitchFamily="49" charset="-122"/>
              </a:rPr>
              <a:t>IP </a:t>
            </a:r>
            <a:r>
              <a:rPr lang="zh-CN" altLang="en-US" smtClean="0">
                <a:ea typeface="黑体" panose="02010609060101010101" pitchFamily="49" charset="-122"/>
              </a:rPr>
              <a:t>地址”。</a:t>
            </a:r>
          </a:p>
          <a:p>
            <a:pPr algn="just"/>
            <a:r>
              <a:rPr lang="zh-CN" altLang="en-US" smtClean="0">
                <a:ea typeface="黑体" panose="02010609060101010101" pitchFamily="49" charset="-122"/>
              </a:rPr>
              <a:t>当路由器收到待转发的数据报，不是将下一跳路由器的</a:t>
            </a:r>
            <a:r>
              <a:rPr lang="zh-CN" altLang="en-US" sz="1800" smtClean="0">
                <a:ea typeface="黑体" panose="02010609060101010101" pitchFamily="49" charset="-122"/>
              </a:rPr>
              <a:t> </a:t>
            </a:r>
            <a:r>
              <a:rPr lang="en-US" altLang="zh-CN" smtClean="0">
                <a:ea typeface="黑体" panose="02010609060101010101" pitchFamily="49" charset="-122"/>
              </a:rPr>
              <a:t>IP</a:t>
            </a:r>
            <a:r>
              <a:rPr lang="en-US" altLang="zh-CN" sz="2000" smtClean="0">
                <a:ea typeface="黑体" panose="02010609060101010101" pitchFamily="49" charset="-122"/>
              </a:rPr>
              <a:t> </a:t>
            </a:r>
            <a:r>
              <a:rPr lang="zh-CN" altLang="en-US" smtClean="0">
                <a:ea typeface="黑体" panose="02010609060101010101" pitchFamily="49" charset="-122"/>
              </a:rPr>
              <a:t>地址填入 </a:t>
            </a:r>
            <a:r>
              <a:rPr lang="en-US" altLang="zh-CN" smtClean="0">
                <a:ea typeface="黑体" panose="02010609060101010101" pitchFamily="49" charset="-122"/>
              </a:rPr>
              <a:t>IP </a:t>
            </a:r>
            <a:r>
              <a:rPr lang="zh-CN" altLang="en-US" smtClean="0">
                <a:ea typeface="黑体" panose="02010609060101010101" pitchFamily="49" charset="-122"/>
              </a:rPr>
              <a:t>数据报，而是</a:t>
            </a:r>
            <a:r>
              <a:rPr lang="zh-CN" altLang="en-US" smtClean="0">
                <a:solidFill>
                  <a:srgbClr val="FF0000"/>
                </a:solidFill>
                <a:ea typeface="黑体" panose="02010609060101010101" pitchFamily="49" charset="-122"/>
              </a:rPr>
              <a:t>送交下层</a:t>
            </a:r>
            <a:r>
              <a:rPr lang="zh-CN" altLang="en-US" smtClean="0">
                <a:ea typeface="黑体" panose="02010609060101010101" pitchFamily="49" charset="-122"/>
              </a:rPr>
              <a:t>的网络接口软件。</a:t>
            </a:r>
          </a:p>
          <a:p>
            <a:pPr algn="just"/>
            <a:r>
              <a:rPr lang="zh-CN" altLang="en-US" smtClean="0">
                <a:ea typeface="黑体" panose="02010609060101010101" pitchFamily="49" charset="-122"/>
              </a:rPr>
              <a:t>网络接口软件</a:t>
            </a:r>
            <a:r>
              <a:rPr lang="zh-CN" altLang="en-US" smtClean="0">
                <a:solidFill>
                  <a:srgbClr val="FF0000"/>
                </a:solidFill>
                <a:ea typeface="黑体" panose="02010609060101010101" pitchFamily="49" charset="-122"/>
              </a:rPr>
              <a:t>使用</a:t>
            </a:r>
            <a:r>
              <a:rPr lang="zh-CN" altLang="en-US" sz="1800" smtClean="0">
                <a:solidFill>
                  <a:srgbClr val="FF0000"/>
                </a:solidFill>
                <a:ea typeface="黑体" panose="02010609060101010101" pitchFamily="49" charset="-122"/>
              </a:rPr>
              <a:t> </a:t>
            </a:r>
            <a:r>
              <a:rPr lang="en-US" altLang="zh-CN" smtClean="0">
                <a:solidFill>
                  <a:srgbClr val="FF0000"/>
                </a:solidFill>
                <a:ea typeface="黑体" panose="02010609060101010101" pitchFamily="49" charset="-122"/>
              </a:rPr>
              <a:t>ARP</a:t>
            </a:r>
            <a:r>
              <a:rPr lang="en-US" altLang="zh-CN" sz="1800" smtClean="0">
                <a:solidFill>
                  <a:srgbClr val="FF0000"/>
                </a:solidFill>
                <a:ea typeface="黑体" panose="02010609060101010101" pitchFamily="49" charset="-122"/>
              </a:rPr>
              <a:t> </a:t>
            </a:r>
            <a:r>
              <a:rPr lang="zh-CN" altLang="en-US" smtClean="0">
                <a:ea typeface="黑体" panose="02010609060101010101" pitchFamily="49" charset="-122"/>
              </a:rPr>
              <a:t>负责将下一跳路由器的 </a:t>
            </a:r>
            <a:r>
              <a:rPr lang="en-US" altLang="zh-CN" smtClean="0">
                <a:ea typeface="黑体" panose="02010609060101010101" pitchFamily="49" charset="-122"/>
              </a:rPr>
              <a:t>IP</a:t>
            </a:r>
            <a:r>
              <a:rPr lang="en-US" altLang="zh-CN" sz="2000" smtClean="0">
                <a:ea typeface="黑体" panose="02010609060101010101" pitchFamily="49" charset="-122"/>
              </a:rPr>
              <a:t> </a:t>
            </a:r>
            <a:r>
              <a:rPr lang="zh-CN" altLang="en-US" smtClean="0">
                <a:ea typeface="黑体" panose="02010609060101010101" pitchFamily="49" charset="-122"/>
              </a:rPr>
              <a:t>地址转换成硬件地址，并将此硬件地址放在链路层的</a:t>
            </a:r>
            <a:r>
              <a:rPr lang="zh-CN" altLang="en-US" sz="2000" smtClean="0">
                <a:ea typeface="黑体" panose="02010609060101010101" pitchFamily="49" charset="-122"/>
              </a:rPr>
              <a:t> </a:t>
            </a:r>
            <a:r>
              <a:rPr lang="en-US" altLang="zh-CN" smtClean="0">
                <a:ea typeface="黑体" panose="02010609060101010101" pitchFamily="49" charset="-122"/>
              </a:rPr>
              <a:t>MAC</a:t>
            </a:r>
            <a:r>
              <a:rPr lang="en-US" altLang="zh-CN" sz="1800" smtClean="0">
                <a:ea typeface="黑体" panose="02010609060101010101" pitchFamily="49" charset="-122"/>
              </a:rPr>
              <a:t> </a:t>
            </a:r>
            <a:r>
              <a:rPr lang="zh-CN" altLang="en-US" smtClean="0">
                <a:ea typeface="黑体" panose="02010609060101010101" pitchFamily="49" charset="-122"/>
              </a:rPr>
              <a:t>帧的首部，然后根据这个硬件地址找到下一跳路由器。  </a:t>
            </a:r>
          </a:p>
        </p:txBody>
      </p:sp>
      <p:sp>
        <p:nvSpPr>
          <p:cNvPr id="867331" name="Rectangle 2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867332" name="Rectangle 3"/>
          <p:cNvSpPr>
            <a:spLocks noChangeArrowheads="1"/>
          </p:cNvSpPr>
          <p:nvPr/>
        </p:nvSpPr>
        <p:spPr bwMode="auto">
          <a:xfrm>
            <a:off x="0" y="305435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867333" name="Rectangle 4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867334" name="Rectangle 5"/>
          <p:cNvSpPr>
            <a:spLocks noChangeArrowheads="1"/>
          </p:cNvSpPr>
          <p:nvPr/>
        </p:nvSpPr>
        <p:spPr bwMode="auto">
          <a:xfrm>
            <a:off x="0" y="3059113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867335" name="Rectangle 8"/>
          <p:cNvSpPr>
            <a:spLocks noChangeArrowheads="1"/>
          </p:cNvSpPr>
          <p:nvPr/>
        </p:nvSpPr>
        <p:spPr bwMode="auto">
          <a:xfrm>
            <a:off x="0" y="3078163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867336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867337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3429D38-50E6-42AA-9B04-C810EA3C1243}" type="slidenum">
              <a:rPr lang="zh-CN" altLang="en-US" smtClean="0"/>
              <a:pPr eaLnBrk="1" hangingPunct="1"/>
              <a:t>54</a:t>
            </a:fld>
            <a:endParaRPr lang="en-US" altLang="zh-CN" smtClean="0"/>
          </a:p>
        </p:txBody>
      </p:sp>
      <p:sp>
        <p:nvSpPr>
          <p:cNvPr id="867338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377" name="Rectangle 2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869378" name="Rectangle 3"/>
          <p:cNvSpPr>
            <a:spLocks noChangeArrowheads="1"/>
          </p:cNvSpPr>
          <p:nvPr/>
        </p:nvSpPr>
        <p:spPr bwMode="auto">
          <a:xfrm>
            <a:off x="0" y="305435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869379" name="Rectangle 4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869380" name="Rectangle 5"/>
          <p:cNvSpPr>
            <a:spLocks noChangeArrowheads="1"/>
          </p:cNvSpPr>
          <p:nvPr/>
        </p:nvSpPr>
        <p:spPr bwMode="auto">
          <a:xfrm>
            <a:off x="0" y="3059113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869381" name="Rectangle 6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zh-CN" altLang="en-US" smtClean="0">
                <a:ea typeface="黑体" panose="02010609060101010101" pitchFamily="49" charset="-122"/>
              </a:rPr>
              <a:t>路由器分组转发算法 </a:t>
            </a:r>
          </a:p>
        </p:txBody>
      </p:sp>
      <p:sp>
        <p:nvSpPr>
          <p:cNvPr id="869382" name="Rectangle 7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  <a:ln>
            <a:solidFill>
              <a:schemeClr val="tx2"/>
            </a:solidFill>
            <a:miter lim="800000"/>
            <a:headEnd/>
            <a:tailEnd/>
          </a:ln>
        </p:spPr>
        <p:txBody>
          <a:bodyPr/>
          <a:lstStyle/>
          <a:p>
            <a:pPr marL="539750" indent="-539750" algn="just">
              <a:spcBef>
                <a:spcPct val="0"/>
              </a:spcBef>
              <a:spcAft>
                <a:spcPct val="20000"/>
              </a:spcAft>
              <a:buFont typeface="Wingdings" panose="05000000000000000000" pitchFamily="2" charset="2"/>
              <a:buNone/>
              <a:tabLst>
                <a:tab pos="1528763" algn="l"/>
              </a:tabLst>
            </a:pPr>
            <a:r>
              <a:rPr lang="en-US" altLang="zh-CN" sz="2400" smtClean="0">
                <a:ea typeface="黑体" panose="02010609060101010101" pitchFamily="49" charset="-122"/>
              </a:rPr>
              <a:t>(1) </a:t>
            </a:r>
            <a:r>
              <a:rPr lang="zh-CN" altLang="en-US" sz="2400" smtClean="0">
                <a:ea typeface="黑体" panose="02010609060101010101" pitchFamily="49" charset="-122"/>
              </a:rPr>
              <a:t>从数据报的首部提取</a:t>
            </a:r>
            <a:r>
              <a:rPr lang="zh-CN" altLang="en-US" sz="2400" smtClean="0">
                <a:solidFill>
                  <a:srgbClr val="FF0000"/>
                </a:solidFill>
                <a:ea typeface="黑体" panose="02010609060101010101" pitchFamily="49" charset="-122"/>
              </a:rPr>
              <a:t>目的主机的</a:t>
            </a:r>
            <a:r>
              <a:rPr lang="zh-CN" altLang="en-US" sz="1600" smtClean="0">
                <a:solidFill>
                  <a:srgbClr val="FF0000"/>
                </a:solidFill>
                <a:ea typeface="黑体" panose="02010609060101010101" pitchFamily="49" charset="-122"/>
              </a:rPr>
              <a:t> </a:t>
            </a:r>
            <a:r>
              <a:rPr lang="en-US" altLang="zh-CN" sz="2400" smtClean="0">
                <a:solidFill>
                  <a:srgbClr val="FF0000"/>
                </a:solidFill>
                <a:ea typeface="黑体" panose="02010609060101010101" pitchFamily="49" charset="-122"/>
              </a:rPr>
              <a:t>IP</a:t>
            </a:r>
            <a:r>
              <a:rPr lang="en-US" altLang="zh-CN" sz="1600" smtClean="0">
                <a:solidFill>
                  <a:srgbClr val="FF0000"/>
                </a:solidFill>
                <a:ea typeface="黑体" panose="02010609060101010101" pitchFamily="49" charset="-122"/>
              </a:rPr>
              <a:t> </a:t>
            </a:r>
            <a:r>
              <a:rPr lang="zh-CN" altLang="en-US" sz="2400" smtClean="0">
                <a:solidFill>
                  <a:srgbClr val="FF0000"/>
                </a:solidFill>
                <a:ea typeface="黑体" panose="02010609060101010101" pitchFamily="49" charset="-122"/>
              </a:rPr>
              <a:t>地址</a:t>
            </a:r>
            <a:r>
              <a:rPr lang="zh-CN" altLang="en-US" sz="1400" smtClean="0">
                <a:solidFill>
                  <a:srgbClr val="FF0000"/>
                </a:solidFill>
                <a:ea typeface="黑体" panose="02010609060101010101" pitchFamily="49" charset="-122"/>
              </a:rPr>
              <a:t> </a:t>
            </a:r>
            <a:r>
              <a:rPr lang="en-US" altLang="zh-CN" sz="2400" smtClean="0">
                <a:solidFill>
                  <a:srgbClr val="FF0000"/>
                </a:solidFill>
                <a:ea typeface="黑体" panose="02010609060101010101" pitchFamily="49" charset="-122"/>
              </a:rPr>
              <a:t>D, </a:t>
            </a:r>
            <a:r>
              <a:rPr lang="zh-CN" altLang="en-US" sz="2400" smtClean="0">
                <a:ea typeface="黑体" panose="02010609060101010101" pitchFamily="49" charset="-122"/>
              </a:rPr>
              <a:t>得出</a:t>
            </a:r>
            <a:r>
              <a:rPr lang="zh-CN" altLang="en-US" sz="2400" smtClean="0">
                <a:solidFill>
                  <a:srgbClr val="FF0000"/>
                </a:solidFill>
                <a:ea typeface="黑体" panose="02010609060101010101" pitchFamily="49" charset="-122"/>
              </a:rPr>
              <a:t>目的网络地址为</a:t>
            </a:r>
            <a:r>
              <a:rPr lang="zh-CN" altLang="en-US" sz="1400" smtClean="0">
                <a:solidFill>
                  <a:srgbClr val="FF0000"/>
                </a:solidFill>
                <a:ea typeface="黑体" panose="02010609060101010101" pitchFamily="49" charset="-122"/>
              </a:rPr>
              <a:t> </a:t>
            </a:r>
            <a:r>
              <a:rPr lang="en-US" altLang="zh-CN" sz="2400" smtClean="0">
                <a:solidFill>
                  <a:srgbClr val="FF0000"/>
                </a:solidFill>
                <a:ea typeface="黑体" panose="02010609060101010101" pitchFamily="49" charset="-122"/>
              </a:rPr>
              <a:t>N</a:t>
            </a:r>
            <a:r>
              <a:rPr lang="zh-CN" altLang="en-US" sz="2400" smtClean="0">
                <a:solidFill>
                  <a:srgbClr val="FF0000"/>
                </a:solidFill>
                <a:ea typeface="黑体" panose="02010609060101010101" pitchFamily="49" charset="-122"/>
              </a:rPr>
              <a:t>。</a:t>
            </a:r>
          </a:p>
          <a:p>
            <a:pPr marL="539750" indent="-539750" algn="just">
              <a:spcBef>
                <a:spcPct val="0"/>
              </a:spcBef>
              <a:spcAft>
                <a:spcPct val="20000"/>
              </a:spcAft>
              <a:buFont typeface="Wingdings" panose="05000000000000000000" pitchFamily="2" charset="2"/>
              <a:buNone/>
              <a:tabLst>
                <a:tab pos="1528763" algn="l"/>
              </a:tabLst>
            </a:pPr>
            <a:r>
              <a:rPr lang="en-US" altLang="zh-CN" sz="2400" smtClean="0">
                <a:ea typeface="黑体" panose="02010609060101010101" pitchFamily="49" charset="-122"/>
              </a:rPr>
              <a:t>(2) </a:t>
            </a:r>
            <a:r>
              <a:rPr lang="zh-CN" altLang="en-US" sz="2400" smtClean="0">
                <a:ea typeface="黑体" panose="02010609060101010101" pitchFamily="49" charset="-122"/>
              </a:rPr>
              <a:t>若网络</a:t>
            </a:r>
            <a:r>
              <a:rPr lang="zh-CN" altLang="en-US" sz="1200" smtClean="0">
                <a:ea typeface="黑体" panose="02010609060101010101" pitchFamily="49" charset="-122"/>
              </a:rPr>
              <a:t> </a:t>
            </a:r>
            <a:r>
              <a:rPr lang="en-US" altLang="zh-CN" sz="2400" i="1" smtClean="0">
                <a:ea typeface="黑体" panose="02010609060101010101" pitchFamily="49" charset="-122"/>
              </a:rPr>
              <a:t>N </a:t>
            </a:r>
            <a:r>
              <a:rPr lang="zh-CN" altLang="en-US" sz="2400" smtClean="0">
                <a:ea typeface="黑体" panose="02010609060101010101" pitchFamily="49" charset="-122"/>
              </a:rPr>
              <a:t>与此路由器直接相连，则把数据报</a:t>
            </a:r>
            <a:r>
              <a:rPr lang="zh-CN" altLang="en-US" sz="2400" smtClean="0">
                <a:solidFill>
                  <a:srgbClr val="FF0000"/>
                </a:solidFill>
                <a:ea typeface="黑体" panose="02010609060101010101" pitchFamily="49" charset="-122"/>
              </a:rPr>
              <a:t>直接交付</a:t>
            </a:r>
            <a:r>
              <a:rPr lang="zh-CN" altLang="en-US" sz="2400" smtClean="0">
                <a:ea typeface="黑体" panose="02010609060101010101" pitchFamily="49" charset="-122"/>
              </a:rPr>
              <a:t>目的主机</a:t>
            </a:r>
            <a:r>
              <a:rPr lang="zh-CN" altLang="en-US" sz="1200" smtClean="0">
                <a:ea typeface="黑体" panose="02010609060101010101" pitchFamily="49" charset="-122"/>
              </a:rPr>
              <a:t> </a:t>
            </a:r>
            <a:r>
              <a:rPr lang="en-US" altLang="zh-CN" sz="2400" i="1" smtClean="0">
                <a:ea typeface="黑体" panose="02010609060101010101" pitchFamily="49" charset="-122"/>
              </a:rPr>
              <a:t>D</a:t>
            </a:r>
            <a:r>
              <a:rPr lang="zh-CN" altLang="en-US" sz="2400" smtClean="0">
                <a:ea typeface="黑体" panose="02010609060101010101" pitchFamily="49" charset="-122"/>
              </a:rPr>
              <a:t>；否则是</a:t>
            </a:r>
            <a:r>
              <a:rPr lang="zh-CN" altLang="en-US" sz="2400" smtClean="0">
                <a:solidFill>
                  <a:srgbClr val="FF0000"/>
                </a:solidFill>
                <a:ea typeface="黑体" panose="02010609060101010101" pitchFamily="49" charset="-122"/>
              </a:rPr>
              <a:t>间接交付，</a:t>
            </a:r>
            <a:r>
              <a:rPr lang="zh-CN" altLang="en-US" sz="2400" smtClean="0">
                <a:ea typeface="黑体" panose="02010609060101010101" pitchFamily="49" charset="-122"/>
              </a:rPr>
              <a:t>执行</a:t>
            </a:r>
            <a:r>
              <a:rPr lang="en-US" altLang="zh-CN" sz="2400" smtClean="0">
                <a:ea typeface="黑体" panose="02010609060101010101" pitchFamily="49" charset="-122"/>
              </a:rPr>
              <a:t>(3)</a:t>
            </a:r>
            <a:r>
              <a:rPr lang="zh-CN" altLang="en-US" sz="2400" smtClean="0">
                <a:ea typeface="黑体" panose="02010609060101010101" pitchFamily="49" charset="-122"/>
              </a:rPr>
              <a:t>。</a:t>
            </a:r>
          </a:p>
          <a:p>
            <a:pPr marL="539750" indent="-539750" algn="just">
              <a:spcBef>
                <a:spcPct val="0"/>
              </a:spcBef>
              <a:spcAft>
                <a:spcPct val="20000"/>
              </a:spcAft>
              <a:buFont typeface="Wingdings" panose="05000000000000000000" pitchFamily="2" charset="2"/>
              <a:buNone/>
              <a:tabLst>
                <a:tab pos="1528763" algn="l"/>
              </a:tabLst>
            </a:pPr>
            <a:r>
              <a:rPr lang="en-US" altLang="zh-CN" sz="2400" smtClean="0">
                <a:ea typeface="黑体" panose="02010609060101010101" pitchFamily="49" charset="-122"/>
              </a:rPr>
              <a:t>(3) </a:t>
            </a:r>
            <a:r>
              <a:rPr lang="zh-CN" altLang="en-US" sz="2400" smtClean="0">
                <a:ea typeface="黑体" panose="02010609060101010101" pitchFamily="49" charset="-122"/>
              </a:rPr>
              <a:t>若路由表中有目的地址为 </a:t>
            </a:r>
            <a:r>
              <a:rPr lang="en-US" altLang="zh-CN" sz="2400" i="1" smtClean="0">
                <a:ea typeface="黑体" panose="02010609060101010101" pitchFamily="49" charset="-122"/>
              </a:rPr>
              <a:t>D </a:t>
            </a:r>
            <a:r>
              <a:rPr lang="zh-CN" altLang="en-US" sz="2400" smtClean="0">
                <a:ea typeface="黑体" panose="02010609060101010101" pitchFamily="49" charset="-122"/>
              </a:rPr>
              <a:t>的</a:t>
            </a:r>
            <a:r>
              <a:rPr lang="zh-CN" altLang="en-US" sz="2400" smtClean="0">
                <a:solidFill>
                  <a:srgbClr val="FF0000"/>
                </a:solidFill>
                <a:ea typeface="黑体" panose="02010609060101010101" pitchFamily="49" charset="-122"/>
              </a:rPr>
              <a:t>特定主机路由，</a:t>
            </a:r>
            <a:r>
              <a:rPr lang="zh-CN" altLang="en-US" sz="2400" smtClean="0">
                <a:ea typeface="黑体" panose="02010609060101010101" pitchFamily="49" charset="-122"/>
              </a:rPr>
              <a:t>则把数据报传送给路由表中所指明的下一跳路由器；否则，执行</a:t>
            </a:r>
            <a:r>
              <a:rPr lang="en-US" altLang="zh-CN" sz="2400" smtClean="0">
                <a:ea typeface="黑体" panose="02010609060101010101" pitchFamily="49" charset="-122"/>
              </a:rPr>
              <a:t>(4)</a:t>
            </a:r>
            <a:r>
              <a:rPr lang="zh-CN" altLang="en-US" sz="2400" smtClean="0">
                <a:ea typeface="黑体" panose="02010609060101010101" pitchFamily="49" charset="-122"/>
              </a:rPr>
              <a:t>。</a:t>
            </a:r>
          </a:p>
          <a:p>
            <a:pPr marL="539750" indent="-539750" algn="just">
              <a:spcBef>
                <a:spcPct val="0"/>
              </a:spcBef>
              <a:spcAft>
                <a:spcPct val="20000"/>
              </a:spcAft>
              <a:buFont typeface="Wingdings" panose="05000000000000000000" pitchFamily="2" charset="2"/>
              <a:buNone/>
              <a:tabLst>
                <a:tab pos="1528763" algn="l"/>
              </a:tabLst>
            </a:pPr>
            <a:r>
              <a:rPr lang="en-US" altLang="zh-CN" sz="2400" smtClean="0">
                <a:ea typeface="黑体" panose="02010609060101010101" pitchFamily="49" charset="-122"/>
              </a:rPr>
              <a:t>(4) </a:t>
            </a:r>
            <a:r>
              <a:rPr lang="zh-CN" altLang="en-US" sz="2400" smtClean="0">
                <a:ea typeface="黑体" panose="02010609060101010101" pitchFamily="49" charset="-122"/>
              </a:rPr>
              <a:t>若路由表中有</a:t>
            </a:r>
            <a:r>
              <a:rPr lang="zh-CN" altLang="en-US" sz="2400" smtClean="0">
                <a:solidFill>
                  <a:srgbClr val="FF0000"/>
                </a:solidFill>
                <a:ea typeface="黑体" panose="02010609060101010101" pitchFamily="49" charset="-122"/>
              </a:rPr>
              <a:t>到达网络 </a:t>
            </a:r>
            <a:r>
              <a:rPr lang="en-US" altLang="zh-CN" sz="2400" i="1" smtClean="0">
                <a:solidFill>
                  <a:srgbClr val="FF0000"/>
                </a:solidFill>
                <a:ea typeface="黑体" panose="02010609060101010101" pitchFamily="49" charset="-122"/>
              </a:rPr>
              <a:t>N </a:t>
            </a:r>
            <a:r>
              <a:rPr lang="zh-CN" altLang="en-US" sz="2400" smtClean="0">
                <a:solidFill>
                  <a:srgbClr val="FF0000"/>
                </a:solidFill>
                <a:ea typeface="黑体" panose="02010609060101010101" pitchFamily="49" charset="-122"/>
              </a:rPr>
              <a:t>的路由，</a:t>
            </a:r>
            <a:r>
              <a:rPr lang="zh-CN" altLang="en-US" sz="2400" smtClean="0">
                <a:ea typeface="黑体" panose="02010609060101010101" pitchFamily="49" charset="-122"/>
              </a:rPr>
              <a:t>则把数据报传送给路由表指明的下一跳路由器；否则，执行</a:t>
            </a:r>
            <a:r>
              <a:rPr lang="en-US" altLang="zh-CN" sz="2400" smtClean="0">
                <a:ea typeface="黑体" panose="02010609060101010101" pitchFamily="49" charset="-122"/>
              </a:rPr>
              <a:t>(5)</a:t>
            </a:r>
            <a:r>
              <a:rPr lang="zh-CN" altLang="en-US" sz="2400" smtClean="0">
                <a:ea typeface="黑体" panose="02010609060101010101" pitchFamily="49" charset="-122"/>
              </a:rPr>
              <a:t>。</a:t>
            </a:r>
          </a:p>
          <a:p>
            <a:pPr marL="539750" indent="-539750" algn="just">
              <a:spcBef>
                <a:spcPct val="0"/>
              </a:spcBef>
              <a:spcAft>
                <a:spcPct val="20000"/>
              </a:spcAft>
              <a:buFont typeface="Wingdings" panose="05000000000000000000" pitchFamily="2" charset="2"/>
              <a:buNone/>
              <a:tabLst>
                <a:tab pos="1528763" algn="l"/>
              </a:tabLst>
            </a:pPr>
            <a:r>
              <a:rPr lang="en-US" altLang="zh-CN" sz="2400" smtClean="0">
                <a:ea typeface="黑体" panose="02010609060101010101" pitchFamily="49" charset="-122"/>
              </a:rPr>
              <a:t>(5) </a:t>
            </a:r>
            <a:r>
              <a:rPr lang="zh-CN" altLang="en-US" sz="2400" smtClean="0">
                <a:ea typeface="黑体" panose="02010609060101010101" pitchFamily="49" charset="-122"/>
              </a:rPr>
              <a:t>若路由表中有一个</a:t>
            </a:r>
            <a:r>
              <a:rPr lang="zh-CN" altLang="en-US" sz="2400" smtClean="0">
                <a:solidFill>
                  <a:srgbClr val="FF0000"/>
                </a:solidFill>
                <a:ea typeface="黑体" panose="02010609060101010101" pitchFamily="49" charset="-122"/>
              </a:rPr>
              <a:t>默认路由，</a:t>
            </a:r>
            <a:r>
              <a:rPr lang="zh-CN" altLang="en-US" sz="2400" smtClean="0">
                <a:ea typeface="黑体" panose="02010609060101010101" pitchFamily="49" charset="-122"/>
              </a:rPr>
              <a:t>则把数据报传送给路由表中所指明的默认路由器；否则，执行</a:t>
            </a:r>
            <a:r>
              <a:rPr lang="en-US" altLang="zh-CN" sz="2400" smtClean="0">
                <a:ea typeface="黑体" panose="02010609060101010101" pitchFamily="49" charset="-122"/>
              </a:rPr>
              <a:t>(6)</a:t>
            </a:r>
            <a:r>
              <a:rPr lang="zh-CN" altLang="en-US" sz="2400" smtClean="0">
                <a:ea typeface="黑体" panose="02010609060101010101" pitchFamily="49" charset="-122"/>
              </a:rPr>
              <a:t>。</a:t>
            </a:r>
          </a:p>
          <a:p>
            <a:pPr marL="539750" indent="-539750" algn="just">
              <a:spcBef>
                <a:spcPct val="0"/>
              </a:spcBef>
              <a:spcAft>
                <a:spcPct val="20000"/>
              </a:spcAft>
              <a:buFont typeface="Wingdings" panose="05000000000000000000" pitchFamily="2" charset="2"/>
              <a:buNone/>
              <a:tabLst>
                <a:tab pos="1528763" algn="l"/>
              </a:tabLst>
            </a:pPr>
            <a:r>
              <a:rPr lang="en-US" altLang="zh-CN" sz="2400" smtClean="0">
                <a:ea typeface="黑体" panose="02010609060101010101" pitchFamily="49" charset="-122"/>
              </a:rPr>
              <a:t>(6)  </a:t>
            </a:r>
            <a:r>
              <a:rPr lang="zh-CN" altLang="en-US" sz="2400" smtClean="0">
                <a:ea typeface="黑体" panose="02010609060101010101" pitchFamily="49" charset="-122"/>
              </a:rPr>
              <a:t>报告转发分组出错。 </a:t>
            </a:r>
          </a:p>
        </p:txBody>
      </p:sp>
      <p:sp>
        <p:nvSpPr>
          <p:cNvPr id="869383" name="Rectangle 8"/>
          <p:cNvSpPr>
            <a:spLocks noChangeArrowheads="1"/>
          </p:cNvSpPr>
          <p:nvPr/>
        </p:nvSpPr>
        <p:spPr bwMode="auto">
          <a:xfrm>
            <a:off x="0" y="3078163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869384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869385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57E7695-ECFF-4F4C-BC43-421D0EEB1F26}" type="slidenum">
              <a:rPr lang="zh-CN" altLang="en-US" smtClean="0"/>
              <a:pPr eaLnBrk="1" hangingPunct="1"/>
              <a:t>55</a:t>
            </a:fld>
            <a:endParaRPr lang="en-US" altLang="zh-CN" smtClean="0"/>
          </a:p>
        </p:txBody>
      </p:sp>
      <p:sp>
        <p:nvSpPr>
          <p:cNvPr id="869386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425" name="标题 1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zh-CN" altLang="en-US" smtClean="0">
                <a:ea typeface="黑体" panose="02010609060101010101" pitchFamily="49" charset="-122"/>
              </a:rPr>
              <a:t>关于路由表</a:t>
            </a:r>
          </a:p>
        </p:txBody>
      </p:sp>
      <p:sp>
        <p:nvSpPr>
          <p:cNvPr id="871426" name="内容占位符 2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CN" altLang="zh-CN" smtClean="0">
                <a:ea typeface="黑体" panose="02010609060101010101" pitchFamily="49" charset="-122"/>
              </a:rPr>
              <a:t>路由表没有给分组指明到某个网络的完整路径</a:t>
            </a:r>
            <a:r>
              <a:rPr lang="zh-CN" altLang="en-US" smtClean="0">
                <a:ea typeface="黑体" panose="02010609060101010101" pitchFamily="49" charset="-122"/>
              </a:rPr>
              <a:t>。</a:t>
            </a:r>
            <a:endParaRPr lang="en-US" altLang="zh-CN" smtClean="0">
              <a:ea typeface="黑体" panose="02010609060101010101" pitchFamily="49" charset="-122"/>
            </a:endParaRPr>
          </a:p>
          <a:p>
            <a:pPr>
              <a:spcBef>
                <a:spcPts val="1200"/>
              </a:spcBef>
            </a:pPr>
            <a:r>
              <a:rPr lang="zh-CN" altLang="zh-CN" smtClean="0">
                <a:solidFill>
                  <a:srgbClr val="FF0000"/>
                </a:solidFill>
                <a:ea typeface="黑体" panose="02010609060101010101" pitchFamily="49" charset="-122"/>
              </a:rPr>
              <a:t>路由表指出，到某个网络应当先到某个路由器（即下一跳路由器）</a:t>
            </a:r>
            <a:r>
              <a:rPr lang="zh-CN" altLang="en-US" smtClean="0">
                <a:solidFill>
                  <a:srgbClr val="FF0000"/>
                </a:solidFill>
                <a:ea typeface="黑体" panose="02010609060101010101" pitchFamily="49" charset="-122"/>
              </a:rPr>
              <a:t>。</a:t>
            </a:r>
            <a:endParaRPr lang="en-US" altLang="zh-CN" smtClean="0">
              <a:solidFill>
                <a:srgbClr val="FF0000"/>
              </a:solidFill>
              <a:ea typeface="黑体" panose="02010609060101010101" pitchFamily="49" charset="-122"/>
            </a:endParaRPr>
          </a:p>
          <a:p>
            <a:pPr>
              <a:spcBef>
                <a:spcPts val="1200"/>
              </a:spcBef>
            </a:pPr>
            <a:r>
              <a:rPr lang="zh-CN" altLang="zh-CN" smtClean="0">
                <a:ea typeface="黑体" panose="02010609060101010101" pitchFamily="49" charset="-122"/>
              </a:rPr>
              <a:t>在到达下一跳路由器后，再继续查找其路由表，知道再下一步应当到哪一个路由器。</a:t>
            </a:r>
            <a:endParaRPr lang="en-US" altLang="zh-CN" smtClean="0">
              <a:ea typeface="黑体" panose="02010609060101010101" pitchFamily="49" charset="-122"/>
            </a:endParaRPr>
          </a:p>
          <a:p>
            <a:pPr>
              <a:spcBef>
                <a:spcPts val="1200"/>
              </a:spcBef>
            </a:pPr>
            <a:r>
              <a:rPr lang="zh-CN" altLang="zh-CN" smtClean="0">
                <a:ea typeface="黑体" panose="02010609060101010101" pitchFamily="49" charset="-122"/>
              </a:rPr>
              <a:t>这样一步一步地查找下去，直到最后到达目的网络。</a:t>
            </a:r>
            <a:endParaRPr lang="zh-CN" altLang="en-US" smtClean="0">
              <a:ea typeface="黑体" panose="02010609060101010101" pitchFamily="49" charset="-122"/>
            </a:endParaRPr>
          </a:p>
        </p:txBody>
      </p:sp>
      <p:sp>
        <p:nvSpPr>
          <p:cNvPr id="871427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4DB84B9-2A29-410C-BE95-401B05760320}" type="slidenum">
              <a:rPr lang="zh-CN" altLang="en-US" smtClean="0"/>
              <a:pPr eaLnBrk="1" hangingPunct="1"/>
              <a:t>56</a:t>
            </a:fld>
            <a:endParaRPr lang="en-US" altLang="zh-CN" smtClean="0"/>
          </a:p>
        </p:txBody>
      </p:sp>
      <p:sp>
        <p:nvSpPr>
          <p:cNvPr id="871428" name="页脚占位符 6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resentation">
  <a:themeElements>
    <a:clrScheme name="演示稿（水平） 9">
      <a:dk1>
        <a:srgbClr val="000000"/>
      </a:dk1>
      <a:lt1>
        <a:srgbClr val="FFFFFF"/>
      </a:lt1>
      <a:dk2>
        <a:srgbClr val="666699"/>
      </a:dk2>
      <a:lt2>
        <a:srgbClr val="FFCC00"/>
      </a:lt2>
      <a:accent1>
        <a:srgbClr val="FF9900"/>
      </a:accent1>
      <a:accent2>
        <a:srgbClr val="FF9900"/>
      </a:accent2>
      <a:accent3>
        <a:srgbClr val="FFFFFF"/>
      </a:accent3>
      <a:accent4>
        <a:srgbClr val="000000"/>
      </a:accent4>
      <a:accent5>
        <a:srgbClr val="FFCAAA"/>
      </a:accent5>
      <a:accent6>
        <a:srgbClr val="E78A00"/>
      </a:accent6>
      <a:hlink>
        <a:srgbClr val="666699"/>
      </a:hlink>
      <a:folHlink>
        <a:srgbClr val="999966"/>
      </a:folHlink>
    </a:clrScheme>
    <a:fontScheme name="演示稿（水平）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演示稿（水平）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9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99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8A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</Template>
  <TotalTime>140</TotalTime>
  <Words>5147</Words>
  <Application>Microsoft Office PowerPoint</Application>
  <PresentationFormat>A4 纸张(210x297 毫米)</PresentationFormat>
  <Paragraphs>1313</Paragraphs>
  <Slides>56</Slides>
  <Notes>49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0</vt:i4>
      </vt:variant>
      <vt:variant>
        <vt:lpstr>幻灯片标题</vt:lpstr>
      </vt:variant>
      <vt:variant>
        <vt:i4>56</vt:i4>
      </vt:variant>
    </vt:vector>
  </HeadingPairs>
  <TitlesOfParts>
    <vt:vector size="64" baseType="lpstr">
      <vt:lpstr>黑体</vt:lpstr>
      <vt:lpstr>宋体</vt:lpstr>
      <vt:lpstr>Arial</vt:lpstr>
      <vt:lpstr>Symbol</vt:lpstr>
      <vt:lpstr>Tahoma</vt:lpstr>
      <vt:lpstr>Times New Roman</vt:lpstr>
      <vt:lpstr>Wingdings</vt:lpstr>
      <vt:lpstr>Presentation</vt:lpstr>
      <vt:lpstr>第 4 章  网络层</vt:lpstr>
      <vt:lpstr>第 4 章  网络层</vt:lpstr>
      <vt:lpstr>4.2.3  IP 地址与硬件地址</vt:lpstr>
      <vt:lpstr>4.2.3  IP 地址与硬件地址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主机 H1 与 H2 通信中使用的 IP地址 与 硬件地址HA</vt:lpstr>
      <vt:lpstr>4.2.4  地址解析协议 ARP</vt:lpstr>
      <vt:lpstr>地址解析协议 ARP 的作用</vt:lpstr>
      <vt:lpstr>地址解析协议 ARP 要点</vt:lpstr>
      <vt:lpstr>地址解析协议 ARP 要点</vt:lpstr>
      <vt:lpstr>地址解析协议 ARP 要点</vt:lpstr>
      <vt:lpstr>PowerPoint 演示文稿</vt:lpstr>
      <vt:lpstr>ARP 高速缓存的作用</vt:lpstr>
      <vt:lpstr>应当注意的问题</vt:lpstr>
      <vt:lpstr>应当注意的问题（续）</vt:lpstr>
      <vt:lpstr>使用 ARP 的四种典型情况 </vt:lpstr>
      <vt:lpstr>使用 ARP 的四种典型情况 </vt:lpstr>
      <vt:lpstr>为什么我们不直接使用硬件地址进行通信？ </vt:lpstr>
      <vt:lpstr>4.2.5  IP 数据报的格式 </vt:lpstr>
      <vt:lpstr>PowerPoint 演示文稿</vt:lpstr>
      <vt:lpstr>PowerPoint 演示文稿</vt:lpstr>
      <vt:lpstr>PowerPoint 演示文稿</vt:lpstr>
      <vt:lpstr>1.  IP 数据报首部的固定部分中的各字段 </vt:lpstr>
      <vt:lpstr>1.  IP 数据报首部的固定部分中的各字段 </vt:lpstr>
      <vt:lpstr>1.  IP 数据报首部的固定部分中的各字段 </vt:lpstr>
      <vt:lpstr>1.  IP 数据报首部的固定部分中的各字段 </vt:lpstr>
      <vt:lpstr>1.  IP 数据报首部的固定部分中的各字段 </vt:lpstr>
      <vt:lpstr>1.  IP 数据报首部的固定部分中的各字段 </vt:lpstr>
      <vt:lpstr>1.  IP 数据报首部的固定部分中的各字段 </vt:lpstr>
      <vt:lpstr>【例4-1】 IP 数据报分片</vt:lpstr>
      <vt:lpstr>【例4-1】 IP 数据报分片</vt:lpstr>
      <vt:lpstr>【例4-1】 IP 数据报分片</vt:lpstr>
      <vt:lpstr>1.  IP 数据报首部的固定部分中的各字段 </vt:lpstr>
      <vt:lpstr>1.  IP 数据报首部的固定部分中的各字段 </vt:lpstr>
      <vt:lpstr>PowerPoint 演示文稿</vt:lpstr>
      <vt:lpstr>1.  IP 数据报首部的固定部分中的各字段 </vt:lpstr>
      <vt:lpstr>PowerPoint 演示文稿</vt:lpstr>
      <vt:lpstr>二进制反码求和运算规则</vt:lpstr>
      <vt:lpstr>1.  IP 数据报首部的固定部分中的各字段 </vt:lpstr>
      <vt:lpstr>2.  IP 数据报首部的可变部分 </vt:lpstr>
      <vt:lpstr>4.2.6  IP 层转发分组的流程 </vt:lpstr>
      <vt:lpstr>PowerPoint 演示文稿</vt:lpstr>
      <vt:lpstr>查找路由表</vt:lpstr>
      <vt:lpstr>特定主机路由 </vt:lpstr>
      <vt:lpstr>默认路由 (default route)</vt:lpstr>
      <vt:lpstr>默认路由举例</vt:lpstr>
      <vt:lpstr>必须强调指出 </vt:lpstr>
      <vt:lpstr>路由器分组转发算法 </vt:lpstr>
      <vt:lpstr>关于路由表</vt:lpstr>
    </vt:vector>
  </TitlesOfParts>
  <Company>920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920</dc:creator>
  <cp:lastModifiedBy>a</cp:lastModifiedBy>
  <cp:revision>66</cp:revision>
  <cp:lastPrinted>2020-03-23T11:40:12Z</cp:lastPrinted>
  <dcterms:created xsi:type="dcterms:W3CDTF">2016-10-01T05:27:00Z</dcterms:created>
  <dcterms:modified xsi:type="dcterms:W3CDTF">2024-03-27T07:20:37Z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TC060874522052</vt:lpwstr>
  </property>
  <property fmtid="{D5CDD505-2E9C-101B-9397-08002B2CF9AE}" pid="3" name="KSOProductBuildVer">
    <vt:lpwstr>2052-11.3.0.8513</vt:lpwstr>
  </property>
</Properties>
</file>
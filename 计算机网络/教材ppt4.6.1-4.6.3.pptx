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1157" r:id="rId2"/>
    <p:sldId id="1171" r:id="rId3"/>
    <p:sldId id="1081" r:id="rId4"/>
    <p:sldId id="1082" r:id="rId5"/>
    <p:sldId id="1083" r:id="rId6"/>
    <p:sldId id="1084" r:id="rId7"/>
    <p:sldId id="1085" r:id="rId8"/>
    <p:sldId id="1086" r:id="rId9"/>
    <p:sldId id="1087" r:id="rId10"/>
    <p:sldId id="1088" r:id="rId11"/>
    <p:sldId id="1089" r:id="rId12"/>
    <p:sldId id="1090" r:id="rId13"/>
    <p:sldId id="1091" r:id="rId14"/>
    <p:sldId id="1092" r:id="rId15"/>
    <p:sldId id="1093" r:id="rId16"/>
    <p:sldId id="1094" r:id="rId17"/>
    <p:sldId id="1095" r:id="rId18"/>
    <p:sldId id="1096" r:id="rId19"/>
    <p:sldId id="1097" r:id="rId20"/>
    <p:sldId id="1098" r:id="rId21"/>
    <p:sldId id="1099" r:id="rId22"/>
    <p:sldId id="1100" r:id="rId23"/>
    <p:sldId id="1101" r:id="rId24"/>
    <p:sldId id="1102" r:id="rId25"/>
    <p:sldId id="1103" r:id="rId26"/>
    <p:sldId id="1104" r:id="rId27"/>
    <p:sldId id="1105" r:id="rId28"/>
    <p:sldId id="1106" r:id="rId29"/>
    <p:sldId id="1107" r:id="rId30"/>
    <p:sldId id="1108" r:id="rId31"/>
    <p:sldId id="1109" r:id="rId32"/>
    <p:sldId id="1110" r:id="rId33"/>
    <p:sldId id="1111" r:id="rId34"/>
    <p:sldId id="1112" r:id="rId35"/>
    <p:sldId id="1113" r:id="rId36"/>
    <p:sldId id="1114" r:id="rId37"/>
    <p:sldId id="1115" r:id="rId38"/>
    <p:sldId id="1116" r:id="rId39"/>
    <p:sldId id="1117" r:id="rId40"/>
    <p:sldId id="1118" r:id="rId41"/>
    <p:sldId id="1119" r:id="rId42"/>
    <p:sldId id="1120" r:id="rId43"/>
    <p:sldId id="1121" r:id="rId44"/>
    <p:sldId id="1123" r:id="rId45"/>
    <p:sldId id="1124" r:id="rId46"/>
    <p:sldId id="1125" r:id="rId47"/>
    <p:sldId id="1126" r:id="rId48"/>
    <p:sldId id="1170" r:id="rId49"/>
    <p:sldId id="1127" r:id="rId50"/>
    <p:sldId id="1128" r:id="rId51"/>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34327-42A0-4EE6-949E-80DFB8CA1CF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681986" name="Rectangle 2"/>
          <p:cNvSpPr>
            <a:spLocks noGrp="1" noRot="1" noChangeAspect="1" noChangeArrowheads="1" noTextEdit="1"/>
          </p:cNvSpPr>
          <p:nvPr>
            <p:ph type="sldImg" idx="4294967295"/>
          </p:nvPr>
        </p:nvSpPr>
        <p:spPr>
          <a:ln/>
        </p:spPr>
      </p:sp>
      <p:sp>
        <p:nvSpPr>
          <p:cNvPr id="681987"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245744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4CBB1-720D-4655-94C1-CC52DA305747}" type="slidenum">
              <a:rPr lang="en-US" altLang="zh-CN" smtClean="0">
                <a:latin typeface="宋体" panose="02010600030101010101" pitchFamily="2" charset="-122"/>
              </a:rPr>
              <a:pPr eaLnBrk="1" hangingPunct="1"/>
              <a:t>2</a:t>
            </a:fld>
            <a:endParaRPr lang="en-US" altLang="zh-CN" smtClean="0">
              <a:latin typeface="宋体" panose="02010600030101010101" pitchFamily="2" charset="-122"/>
            </a:endParaRPr>
          </a:p>
        </p:txBody>
      </p:sp>
      <p:sp>
        <p:nvSpPr>
          <p:cNvPr id="977922" name="Rectangle 2"/>
          <p:cNvSpPr>
            <a:spLocks noGrp="1" noRot="1" noChangeAspect="1" noChangeArrowheads="1" noTextEdit="1"/>
          </p:cNvSpPr>
          <p:nvPr>
            <p:ph type="sldImg" idx="4294967295"/>
          </p:nvPr>
        </p:nvSpPr>
        <p:spPr>
          <a:ln/>
        </p:spPr>
      </p:sp>
      <p:sp>
        <p:nvSpPr>
          <p:cNvPr id="97792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8642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C201D4-B48D-409D-9658-102A9B31B60D}"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979970" name="Rectangle 2"/>
          <p:cNvSpPr>
            <a:spLocks noGrp="1" noRot="1" noChangeAspect="1" noChangeArrowheads="1" noTextEdit="1"/>
          </p:cNvSpPr>
          <p:nvPr>
            <p:ph type="sldImg" idx="4294967295"/>
          </p:nvPr>
        </p:nvSpPr>
        <p:spPr>
          <a:ln/>
        </p:spPr>
      </p:sp>
      <p:sp>
        <p:nvSpPr>
          <p:cNvPr id="979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0B1330-8C15-41A8-BD4D-00533361B6F5}"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982018" name="Rectangle 2"/>
          <p:cNvSpPr>
            <a:spLocks noGrp="1" noRot="1" noChangeAspect="1" noChangeArrowheads="1" noTextEdit="1"/>
          </p:cNvSpPr>
          <p:nvPr>
            <p:ph type="sldImg" idx="4294967295"/>
          </p:nvPr>
        </p:nvSpPr>
        <p:spPr>
          <a:ln/>
        </p:spPr>
      </p:sp>
      <p:sp>
        <p:nvSpPr>
          <p:cNvPr id="982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CF1E39-F2FE-404F-B02B-B6EA5C317E33}"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984066" name="Rectangle 2"/>
          <p:cNvSpPr>
            <a:spLocks noGrp="1" noRot="1" noChangeAspect="1" noChangeArrowheads="1" noTextEdit="1"/>
          </p:cNvSpPr>
          <p:nvPr>
            <p:ph type="sldImg" idx="4294967295"/>
          </p:nvPr>
        </p:nvSpPr>
        <p:spPr>
          <a:ln/>
        </p:spPr>
      </p:sp>
      <p:sp>
        <p:nvSpPr>
          <p:cNvPr id="984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6A7878-1616-487B-B904-87A99F5EEA90}"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986114" name="Rectangle 2"/>
          <p:cNvSpPr>
            <a:spLocks noGrp="1" noRot="1" noChangeAspect="1" noChangeArrowheads="1" noTextEdit="1"/>
          </p:cNvSpPr>
          <p:nvPr>
            <p:ph type="sldImg" idx="4294967295"/>
          </p:nvPr>
        </p:nvSpPr>
        <p:spPr>
          <a:ln/>
        </p:spPr>
      </p:sp>
      <p:sp>
        <p:nvSpPr>
          <p:cNvPr id="986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AF8DCD-A1F5-4389-BEA8-C8633C50B2C1}"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988162" name="Rectangle 2"/>
          <p:cNvSpPr>
            <a:spLocks noGrp="1" noRot="1" noChangeAspect="1" noChangeArrowheads="1" noTextEdit="1"/>
          </p:cNvSpPr>
          <p:nvPr>
            <p:ph type="sldImg" idx="4294967295"/>
          </p:nvPr>
        </p:nvSpPr>
        <p:spPr>
          <a:ln/>
        </p:spPr>
      </p:sp>
      <p:sp>
        <p:nvSpPr>
          <p:cNvPr id="988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93DD0F-3848-4FFE-B152-E71D76C5DBC9}"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991234" name="Rectangle 2"/>
          <p:cNvSpPr>
            <a:spLocks noGrp="1" noRot="1" noChangeAspect="1" noChangeArrowheads="1" noTextEdit="1"/>
          </p:cNvSpPr>
          <p:nvPr>
            <p:ph type="sldImg" idx="4294967295"/>
          </p:nvPr>
        </p:nvSpPr>
        <p:spPr>
          <a:ln/>
        </p:spPr>
      </p:sp>
      <p:sp>
        <p:nvSpPr>
          <p:cNvPr id="9912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5B981DD-C244-4527-871E-45651FDCD32C}" type="slidenum">
              <a:rPr lang="en-US" altLang="zh-CN" smtClean="0"/>
              <a:pPr/>
              <a:t>10</a:t>
            </a:fld>
            <a:endParaRPr lang="en-US" altLang="zh-CN" smtClean="0"/>
          </a:p>
        </p:txBody>
      </p:sp>
      <p:sp>
        <p:nvSpPr>
          <p:cNvPr id="993282" name="Rectangle 2"/>
          <p:cNvSpPr>
            <a:spLocks noGrp="1" noRot="1" noChangeAspect="1" noChangeArrowheads="1" noTextEdit="1"/>
          </p:cNvSpPr>
          <p:nvPr>
            <p:ph type="sldImg" idx="4294967295"/>
          </p:nvPr>
        </p:nvSpPr>
        <p:spPr>
          <a:ln/>
        </p:spPr>
      </p:sp>
      <p:sp>
        <p:nvSpPr>
          <p:cNvPr id="9932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3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422B1E-D418-465D-8681-DC98A56C4D70}"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995330" name="Rectangle 2"/>
          <p:cNvSpPr>
            <a:spLocks noGrp="1" noRot="1" noChangeAspect="1" noChangeArrowheads="1" noTextEdit="1"/>
          </p:cNvSpPr>
          <p:nvPr>
            <p:ph type="sldImg" idx="4294967295"/>
          </p:nvPr>
        </p:nvSpPr>
        <p:spPr>
          <a:ln/>
        </p:spPr>
      </p:sp>
      <p:sp>
        <p:nvSpPr>
          <p:cNvPr id="9953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66CB31F-29FB-40A5-B4C1-AD52F8862E71}"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997378" name="Rectangle 2"/>
          <p:cNvSpPr>
            <a:spLocks noGrp="1" noRot="1" noChangeAspect="1" noChangeArrowheads="1" noTextEdit="1"/>
          </p:cNvSpPr>
          <p:nvPr>
            <p:ph type="sldImg" idx="4294967295"/>
          </p:nvPr>
        </p:nvSpPr>
        <p:spPr>
          <a:ln/>
        </p:spPr>
      </p:sp>
      <p:sp>
        <p:nvSpPr>
          <p:cNvPr id="9973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54C446-0AC8-4F3A-BD6F-0A8874F43512}"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999426" name="Rectangle 2"/>
          <p:cNvSpPr>
            <a:spLocks noGrp="1" noRot="1" noChangeAspect="1" noChangeArrowheads="1" noTextEdit="1"/>
          </p:cNvSpPr>
          <p:nvPr>
            <p:ph type="sldImg" idx="4294967295"/>
          </p:nvPr>
        </p:nvSpPr>
        <p:spPr>
          <a:ln/>
        </p:spPr>
      </p:sp>
      <p:sp>
        <p:nvSpPr>
          <p:cNvPr id="9994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8B79B3-4DFF-4A2C-BE18-D114B5DC71C9}"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1001474" name="Rectangle 2"/>
          <p:cNvSpPr>
            <a:spLocks noGrp="1" noRot="1" noChangeAspect="1" noChangeArrowheads="1" noTextEdit="1"/>
          </p:cNvSpPr>
          <p:nvPr>
            <p:ph type="sldImg" idx="4294967295"/>
          </p:nvPr>
        </p:nvSpPr>
        <p:spPr>
          <a:ln/>
        </p:spPr>
      </p:sp>
      <p:sp>
        <p:nvSpPr>
          <p:cNvPr id="10014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C7E37A-5E67-4912-BBBE-CF0FBF559CAD}"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1003522" name="Rectangle 2"/>
          <p:cNvSpPr>
            <a:spLocks noGrp="1" noRot="1" noChangeAspect="1" noChangeArrowheads="1" noTextEdit="1"/>
          </p:cNvSpPr>
          <p:nvPr>
            <p:ph type="sldImg" idx="4294967295"/>
          </p:nvPr>
        </p:nvSpPr>
        <p:spPr>
          <a:ln/>
        </p:spPr>
      </p:sp>
      <p:sp>
        <p:nvSpPr>
          <p:cNvPr id="10035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7A7135-0FBA-42AE-B11B-12FA63D6783D}"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005570" name="Rectangle 2"/>
          <p:cNvSpPr>
            <a:spLocks noGrp="1" noRot="1" noChangeAspect="1" noChangeArrowheads="1" noTextEdit="1"/>
          </p:cNvSpPr>
          <p:nvPr>
            <p:ph type="sldImg" idx="4294967295"/>
          </p:nvPr>
        </p:nvSpPr>
        <p:spPr>
          <a:ln/>
        </p:spPr>
      </p:sp>
      <p:sp>
        <p:nvSpPr>
          <p:cNvPr id="10055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7C00D9D-C970-424E-BDF3-9BED86AD13BD}"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1007618" name="Rectangle 2"/>
          <p:cNvSpPr>
            <a:spLocks noGrp="1" noRot="1" noChangeAspect="1" noChangeArrowheads="1" noTextEdit="1"/>
          </p:cNvSpPr>
          <p:nvPr>
            <p:ph type="sldImg" idx="4294967295"/>
          </p:nvPr>
        </p:nvSpPr>
        <p:spPr>
          <a:ln/>
        </p:spPr>
      </p:sp>
      <p:sp>
        <p:nvSpPr>
          <p:cNvPr id="10076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E880017-C061-43DF-99DD-90CF1A75C7D2}"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1009666" name="Rectangle 2"/>
          <p:cNvSpPr>
            <a:spLocks noGrp="1" noRot="1" noChangeAspect="1" noChangeArrowheads="1" noTextEdit="1"/>
          </p:cNvSpPr>
          <p:nvPr>
            <p:ph type="sldImg" idx="4294967295"/>
          </p:nvPr>
        </p:nvSpPr>
        <p:spPr>
          <a:ln/>
        </p:spPr>
      </p:sp>
      <p:sp>
        <p:nvSpPr>
          <p:cNvPr id="10096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2F0FFF-7AC7-4B48-B0EA-995A33E88613}"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1011714" name="Rectangle 2"/>
          <p:cNvSpPr>
            <a:spLocks noGrp="1" noRot="1" noChangeAspect="1" noChangeArrowheads="1" noTextEdit="1"/>
          </p:cNvSpPr>
          <p:nvPr>
            <p:ph type="sldImg" idx="4294967295"/>
          </p:nvPr>
        </p:nvSpPr>
        <p:spPr>
          <a:ln/>
        </p:spPr>
      </p:sp>
      <p:sp>
        <p:nvSpPr>
          <p:cNvPr id="10117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1A6FFF-C332-48A7-A423-39C5ABA428CF}"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013762" name="Rectangle 2"/>
          <p:cNvSpPr>
            <a:spLocks noGrp="1" noRot="1" noChangeAspect="1" noChangeArrowheads="1" noTextEdit="1"/>
          </p:cNvSpPr>
          <p:nvPr>
            <p:ph type="sldImg" idx="4294967295"/>
          </p:nvPr>
        </p:nvSpPr>
        <p:spPr>
          <a:ln/>
        </p:spPr>
      </p:sp>
      <p:sp>
        <p:nvSpPr>
          <p:cNvPr id="10137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8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77AD53-1626-4849-9849-A61A05AC70AA}"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016834" name="Rectangle 2"/>
          <p:cNvSpPr>
            <a:spLocks noGrp="1" noRot="1" noChangeAspect="1" noChangeArrowheads="1" noTextEdit="1"/>
          </p:cNvSpPr>
          <p:nvPr>
            <p:ph type="sldImg" idx="4294967295"/>
          </p:nvPr>
        </p:nvSpPr>
        <p:spPr>
          <a:ln/>
        </p:spPr>
      </p:sp>
      <p:sp>
        <p:nvSpPr>
          <p:cNvPr id="10168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F072E2-8721-4D3D-B04B-D27621D27CF7}"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1018882" name="Rectangle 2"/>
          <p:cNvSpPr>
            <a:spLocks noGrp="1" noRot="1" noChangeAspect="1" noChangeArrowheads="1" noTextEdit="1"/>
          </p:cNvSpPr>
          <p:nvPr>
            <p:ph type="sldImg" idx="4294967295"/>
          </p:nvPr>
        </p:nvSpPr>
        <p:spPr>
          <a:ln/>
        </p:spPr>
      </p:sp>
      <p:sp>
        <p:nvSpPr>
          <p:cNvPr id="10188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250A57-D746-4B13-994B-A9227C992EB6}"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020930" name="Rectangle 2"/>
          <p:cNvSpPr>
            <a:spLocks noGrp="1" noRot="1" noChangeAspect="1" noChangeArrowheads="1" noTextEdit="1"/>
          </p:cNvSpPr>
          <p:nvPr>
            <p:ph type="sldImg" idx="4294967295"/>
          </p:nvPr>
        </p:nvSpPr>
        <p:spPr>
          <a:ln/>
        </p:spPr>
      </p:sp>
      <p:sp>
        <p:nvSpPr>
          <p:cNvPr id="10209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FD57ED-1198-459A-AD5B-AC1AF62DDAD6}"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1022978" name="Rectangle 2"/>
          <p:cNvSpPr>
            <a:spLocks noGrp="1" noRot="1" noChangeAspect="1" noChangeArrowheads="1" noTextEdit="1"/>
          </p:cNvSpPr>
          <p:nvPr>
            <p:ph type="sldImg" idx="4294967295"/>
          </p:nvPr>
        </p:nvSpPr>
        <p:spPr>
          <a:ln/>
        </p:spPr>
      </p:sp>
      <p:sp>
        <p:nvSpPr>
          <p:cNvPr id="10229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4C3288E-CCE3-4C3A-B32A-9FF3064FB13A}" type="slidenum">
              <a:rPr lang="en-US" altLang="zh-CN" smtClean="0"/>
              <a:pPr/>
              <a:t>27</a:t>
            </a:fld>
            <a:endParaRPr lang="en-US" altLang="zh-CN" smtClean="0"/>
          </a:p>
        </p:txBody>
      </p:sp>
      <p:sp>
        <p:nvSpPr>
          <p:cNvPr id="1026050" name="Rectangle 2"/>
          <p:cNvSpPr>
            <a:spLocks noGrp="1" noRot="1" noChangeAspect="1" noChangeArrowheads="1" noTextEdit="1"/>
          </p:cNvSpPr>
          <p:nvPr>
            <p:ph type="sldImg" idx="4294967295"/>
          </p:nvPr>
        </p:nvSpPr>
        <p:spPr>
          <a:ln/>
        </p:spPr>
      </p:sp>
      <p:sp>
        <p:nvSpPr>
          <p:cNvPr id="10260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EA481A5-7163-465E-B8C7-957FB2CCC452}" type="slidenum">
              <a:rPr lang="en-US" altLang="zh-CN" smtClean="0"/>
              <a:pPr/>
              <a:t>28</a:t>
            </a:fld>
            <a:endParaRPr lang="en-US" altLang="zh-CN" smtClean="0"/>
          </a:p>
        </p:txBody>
      </p:sp>
      <p:sp>
        <p:nvSpPr>
          <p:cNvPr id="1028098" name="Rectangle 2"/>
          <p:cNvSpPr>
            <a:spLocks noGrp="1" noRot="1" noChangeAspect="1" noChangeArrowheads="1" noTextEdit="1"/>
          </p:cNvSpPr>
          <p:nvPr>
            <p:ph type="sldImg" idx="4294967295"/>
          </p:nvPr>
        </p:nvSpPr>
        <p:spPr>
          <a:ln/>
        </p:spPr>
      </p:sp>
      <p:sp>
        <p:nvSpPr>
          <p:cNvPr id="10280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0AFF276-2B52-4B9D-B365-8220ED6AAB7D}" type="slidenum">
              <a:rPr lang="en-US" altLang="zh-CN" smtClean="0"/>
              <a:pPr/>
              <a:t>29</a:t>
            </a:fld>
            <a:endParaRPr lang="en-US" altLang="zh-CN" smtClean="0"/>
          </a:p>
        </p:txBody>
      </p:sp>
      <p:sp>
        <p:nvSpPr>
          <p:cNvPr id="1030146" name="Rectangle 2"/>
          <p:cNvSpPr>
            <a:spLocks noGrp="1" noRot="1" noChangeAspect="1" noChangeArrowheads="1" noTextEdit="1"/>
          </p:cNvSpPr>
          <p:nvPr>
            <p:ph type="sldImg" idx="4294967295"/>
          </p:nvPr>
        </p:nvSpPr>
        <p:spPr>
          <a:ln/>
        </p:spPr>
      </p:sp>
      <p:sp>
        <p:nvSpPr>
          <p:cNvPr id="10301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6570023-DC6B-4692-937B-60309BD6844B}" type="slidenum">
              <a:rPr lang="en-US" altLang="zh-CN" smtClean="0"/>
              <a:pPr/>
              <a:t>30</a:t>
            </a:fld>
            <a:endParaRPr lang="en-US" altLang="zh-CN" smtClean="0"/>
          </a:p>
        </p:txBody>
      </p:sp>
      <p:sp>
        <p:nvSpPr>
          <p:cNvPr id="1032194" name="Rectangle 2"/>
          <p:cNvSpPr>
            <a:spLocks noGrp="1" noRot="1" noChangeAspect="1" noChangeArrowheads="1" noTextEdit="1"/>
          </p:cNvSpPr>
          <p:nvPr>
            <p:ph type="sldImg" idx="4294967295"/>
          </p:nvPr>
        </p:nvSpPr>
        <p:spPr>
          <a:ln/>
        </p:spPr>
      </p:sp>
      <p:sp>
        <p:nvSpPr>
          <p:cNvPr id="10321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08C96B1-DE51-4F4C-8D95-F44F0B755844}" type="slidenum">
              <a:rPr lang="en-US" altLang="zh-CN" smtClean="0"/>
              <a:pPr/>
              <a:t>31</a:t>
            </a:fld>
            <a:endParaRPr lang="en-US" altLang="zh-CN" smtClean="0"/>
          </a:p>
        </p:txBody>
      </p:sp>
      <p:sp>
        <p:nvSpPr>
          <p:cNvPr id="1034242" name="Rectangle 2"/>
          <p:cNvSpPr>
            <a:spLocks noGrp="1" noRot="1" noChangeAspect="1" noChangeArrowheads="1" noTextEdit="1"/>
          </p:cNvSpPr>
          <p:nvPr>
            <p:ph type="sldImg" idx="4294967295"/>
          </p:nvPr>
        </p:nvSpPr>
        <p:spPr>
          <a:ln/>
        </p:spPr>
      </p:sp>
      <p:sp>
        <p:nvSpPr>
          <p:cNvPr id="10342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DE99CB0-C4F9-4BDF-A152-A58EB6990D0A}" type="slidenum">
              <a:rPr lang="en-US" altLang="zh-CN" smtClean="0"/>
              <a:pPr/>
              <a:t>32</a:t>
            </a:fld>
            <a:endParaRPr lang="en-US" altLang="zh-CN" smtClean="0"/>
          </a:p>
        </p:txBody>
      </p:sp>
      <p:sp>
        <p:nvSpPr>
          <p:cNvPr id="1036290" name="Rectangle 2"/>
          <p:cNvSpPr>
            <a:spLocks noGrp="1" noRot="1" noChangeAspect="1" noChangeArrowheads="1" noTextEdit="1"/>
          </p:cNvSpPr>
          <p:nvPr>
            <p:ph type="sldImg" idx="4294967295"/>
          </p:nvPr>
        </p:nvSpPr>
        <p:spPr>
          <a:ln/>
        </p:spPr>
      </p:sp>
      <p:sp>
        <p:nvSpPr>
          <p:cNvPr id="10362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22F4E3-EE83-49EE-85B2-EACCB60B21C2}"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1038338" name="Rectangle 2"/>
          <p:cNvSpPr>
            <a:spLocks noGrp="1" noRot="1" noChangeAspect="1" noChangeArrowheads="1" noTextEdit="1"/>
          </p:cNvSpPr>
          <p:nvPr>
            <p:ph type="sldImg" idx="4294967295"/>
          </p:nvPr>
        </p:nvSpPr>
        <p:spPr>
          <a:ln/>
        </p:spPr>
      </p:sp>
      <p:sp>
        <p:nvSpPr>
          <p:cNvPr id="10383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761563-D656-41BF-9EDA-FCEAA48FB3C6}" type="slidenum">
              <a:rPr lang="en-US" altLang="zh-CN" smtClean="0">
                <a:latin typeface="宋体" panose="02010600030101010101" pitchFamily="2" charset="-122"/>
              </a:rPr>
              <a:pPr eaLnBrk="1" hangingPunct="1"/>
              <a:t>34</a:t>
            </a:fld>
            <a:endParaRPr lang="en-US" altLang="zh-CN" smtClean="0">
              <a:latin typeface="宋体" panose="02010600030101010101" pitchFamily="2" charset="-122"/>
            </a:endParaRPr>
          </a:p>
        </p:txBody>
      </p:sp>
      <p:sp>
        <p:nvSpPr>
          <p:cNvPr id="1040386" name="Rectangle 2"/>
          <p:cNvSpPr>
            <a:spLocks noGrp="1" noRot="1" noChangeAspect="1" noChangeArrowheads="1" noTextEdit="1"/>
          </p:cNvSpPr>
          <p:nvPr>
            <p:ph type="sldImg" idx="4294967295"/>
          </p:nvPr>
        </p:nvSpPr>
        <p:spPr>
          <a:ln/>
        </p:spPr>
      </p:sp>
      <p:sp>
        <p:nvSpPr>
          <p:cNvPr id="10403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B6A343-BA58-43A0-93D8-C75B7EB66F6E}"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1042434" name="Rectangle 2"/>
          <p:cNvSpPr>
            <a:spLocks noGrp="1" noRot="1" noChangeAspect="1" noChangeArrowheads="1" noTextEdit="1"/>
          </p:cNvSpPr>
          <p:nvPr>
            <p:ph type="sldImg" idx="4294967295"/>
          </p:nvPr>
        </p:nvSpPr>
        <p:spPr>
          <a:ln/>
        </p:spPr>
      </p:sp>
      <p:sp>
        <p:nvSpPr>
          <p:cNvPr id="10424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85D897-2E6D-4DBA-A43D-22AFF614EF45}"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1044482" name="Rectangle 2"/>
          <p:cNvSpPr>
            <a:spLocks noGrp="1" noRot="1" noChangeAspect="1" noChangeArrowheads="1" noTextEdit="1"/>
          </p:cNvSpPr>
          <p:nvPr>
            <p:ph type="sldImg" idx="4294967295"/>
          </p:nvPr>
        </p:nvSpPr>
        <p:spPr>
          <a:ln/>
        </p:spPr>
      </p:sp>
      <p:sp>
        <p:nvSpPr>
          <p:cNvPr id="10444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E5CEB-D978-499B-9B58-EDBDFDC7DA64}"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1046530" name="Rectangle 2"/>
          <p:cNvSpPr>
            <a:spLocks noGrp="1" noRot="1" noChangeAspect="1" noChangeArrowheads="1" noTextEdit="1"/>
          </p:cNvSpPr>
          <p:nvPr>
            <p:ph type="sldImg" idx="4294967295"/>
          </p:nvPr>
        </p:nvSpPr>
        <p:spPr>
          <a:ln/>
        </p:spPr>
      </p:sp>
      <p:sp>
        <p:nvSpPr>
          <p:cNvPr id="10465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AF9D07-1E2B-4FAC-B9C1-817C62FC833E}"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1048578" name="Rectangle 2"/>
          <p:cNvSpPr>
            <a:spLocks noGrp="1" noRot="1" noChangeAspect="1" noChangeArrowheads="1" noTextEdit="1"/>
          </p:cNvSpPr>
          <p:nvPr>
            <p:ph type="sldImg" idx="4294967295"/>
          </p:nvPr>
        </p:nvSpPr>
        <p:spPr>
          <a:ln/>
        </p:spPr>
      </p:sp>
      <p:sp>
        <p:nvSpPr>
          <p:cNvPr id="10485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B38F92-E8F1-4BC8-9D9F-8C58E7864740}"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1050626" name="Rectangle 2"/>
          <p:cNvSpPr>
            <a:spLocks noGrp="1" noRot="1" noChangeAspect="1" noChangeArrowheads="1" noTextEdit="1"/>
          </p:cNvSpPr>
          <p:nvPr>
            <p:ph type="sldImg" idx="4294967295"/>
          </p:nvPr>
        </p:nvSpPr>
        <p:spPr>
          <a:ln/>
        </p:spPr>
      </p:sp>
      <p:sp>
        <p:nvSpPr>
          <p:cNvPr id="1050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C9B134-8591-43CF-A481-24FEF969A44F}"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1052674" name="Rectangle 2"/>
          <p:cNvSpPr>
            <a:spLocks noGrp="1" noRot="1" noChangeAspect="1" noChangeArrowheads="1" noTextEdit="1"/>
          </p:cNvSpPr>
          <p:nvPr>
            <p:ph type="sldImg" idx="4294967295"/>
          </p:nvPr>
        </p:nvSpPr>
        <p:spPr>
          <a:ln/>
        </p:spPr>
      </p:sp>
      <p:sp>
        <p:nvSpPr>
          <p:cNvPr id="1052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D3B400-7BF9-44D3-B7FB-8400A821FEBD}"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1054722" name="Rectangle 2"/>
          <p:cNvSpPr>
            <a:spLocks noGrp="1" noRot="1" noChangeAspect="1" noChangeArrowheads="1" noTextEdit="1"/>
          </p:cNvSpPr>
          <p:nvPr>
            <p:ph type="sldImg" idx="4294967295"/>
          </p:nvPr>
        </p:nvSpPr>
        <p:spPr>
          <a:ln/>
        </p:spPr>
      </p:sp>
      <p:sp>
        <p:nvSpPr>
          <p:cNvPr id="1054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15E262-7433-48B3-A43A-36E4AC639D59}"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1056770" name="Rectangle 2"/>
          <p:cNvSpPr>
            <a:spLocks noGrp="1" noRot="1" noChangeAspect="1" noChangeArrowheads="1" noTextEdit="1"/>
          </p:cNvSpPr>
          <p:nvPr>
            <p:ph type="sldImg" idx="4294967295"/>
          </p:nvPr>
        </p:nvSpPr>
        <p:spPr>
          <a:ln/>
        </p:spPr>
      </p:sp>
      <p:sp>
        <p:nvSpPr>
          <p:cNvPr id="10567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0878C4-86E2-46DF-9DDE-5AE5CC8C19DB}"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1058818" name="Rectangle 2"/>
          <p:cNvSpPr>
            <a:spLocks noGrp="1" noRot="1" noChangeAspect="1" noChangeArrowheads="1" noTextEdit="1"/>
          </p:cNvSpPr>
          <p:nvPr>
            <p:ph type="sldImg" idx="4294967295"/>
          </p:nvPr>
        </p:nvSpPr>
        <p:spPr>
          <a:ln/>
        </p:spPr>
      </p:sp>
      <p:sp>
        <p:nvSpPr>
          <p:cNvPr id="10588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695C7A9-ACCB-42A6-9459-B0F2FA4BA7BB}" type="slidenum">
              <a:rPr lang="en-US" altLang="zh-CN" smtClean="0"/>
              <a:pPr/>
              <a:t>44</a:t>
            </a:fld>
            <a:endParaRPr lang="en-US" altLang="zh-CN" smtClean="0"/>
          </a:p>
        </p:txBody>
      </p:sp>
      <p:sp>
        <p:nvSpPr>
          <p:cNvPr id="1062914" name="Rectangle 2"/>
          <p:cNvSpPr>
            <a:spLocks noGrp="1" noRot="1" noChangeAspect="1" noChangeArrowheads="1" noTextEdit="1"/>
          </p:cNvSpPr>
          <p:nvPr>
            <p:ph type="sldImg" idx="4294967295"/>
          </p:nvPr>
        </p:nvSpPr>
        <p:spPr>
          <a:ln/>
        </p:spPr>
      </p:sp>
      <p:sp>
        <p:nvSpPr>
          <p:cNvPr id="10629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F3A145-FCD6-4615-B530-9F55CEF60B72}"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1064962" name="Rectangle 2"/>
          <p:cNvSpPr>
            <a:spLocks noGrp="1" noRot="1" noChangeAspect="1" noChangeArrowheads="1" noTextEdit="1"/>
          </p:cNvSpPr>
          <p:nvPr>
            <p:ph type="sldImg" idx="4294967295"/>
          </p:nvPr>
        </p:nvSpPr>
        <p:spPr>
          <a:ln/>
        </p:spPr>
      </p:sp>
      <p:sp>
        <p:nvSpPr>
          <p:cNvPr id="10649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1C35CF-4143-4D3D-A1A7-394DC3C78EE9}"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1067010" name="Rectangle 2"/>
          <p:cNvSpPr>
            <a:spLocks noGrp="1" noRot="1" noChangeAspect="1" noChangeArrowheads="1" noTextEdit="1"/>
          </p:cNvSpPr>
          <p:nvPr>
            <p:ph type="sldImg" idx="4294967295"/>
          </p:nvPr>
        </p:nvSpPr>
        <p:spPr>
          <a:ln/>
        </p:spPr>
      </p:sp>
      <p:sp>
        <p:nvSpPr>
          <p:cNvPr id="10670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CF9C4B2-0CB2-4BD9-832F-300C6BF84D94}" type="slidenum">
              <a:rPr lang="en-US" altLang="zh-CN" smtClean="0"/>
              <a:pPr/>
              <a:t>47</a:t>
            </a:fld>
            <a:endParaRPr lang="en-US" altLang="zh-CN" smtClean="0"/>
          </a:p>
        </p:txBody>
      </p:sp>
      <p:sp>
        <p:nvSpPr>
          <p:cNvPr id="1069058" name="Rectangle 2"/>
          <p:cNvSpPr>
            <a:spLocks noGrp="1" noRot="1" noChangeAspect="1" noChangeArrowheads="1" noTextEdit="1"/>
          </p:cNvSpPr>
          <p:nvPr>
            <p:ph type="sldImg" idx="4294967295"/>
          </p:nvPr>
        </p:nvSpPr>
        <p:spPr>
          <a:ln/>
        </p:spPr>
      </p:sp>
      <p:sp>
        <p:nvSpPr>
          <p:cNvPr id="1069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C9437E-49B9-4B89-BAB2-D34663DDD052}"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1060866" name="Rectangle 2"/>
          <p:cNvSpPr>
            <a:spLocks noGrp="1" noRot="1" noChangeAspect="1" noChangeArrowheads="1" noTextEdit="1"/>
          </p:cNvSpPr>
          <p:nvPr>
            <p:ph type="sldImg" idx="4294967295"/>
          </p:nvPr>
        </p:nvSpPr>
        <p:spPr>
          <a:ln/>
        </p:spPr>
      </p:sp>
      <p:sp>
        <p:nvSpPr>
          <p:cNvPr id="106086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36004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3D1203-0B2A-49E5-B474-28BC4BD52167}"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1071106" name="Rectangle 2"/>
          <p:cNvSpPr>
            <a:spLocks noGrp="1" noRot="1" noChangeAspect="1" noChangeArrowheads="1" noTextEdit="1"/>
          </p:cNvSpPr>
          <p:nvPr>
            <p:ph type="sldImg" idx="4294967295"/>
          </p:nvPr>
        </p:nvSpPr>
        <p:spPr>
          <a:ln/>
        </p:spPr>
      </p:sp>
      <p:sp>
        <p:nvSpPr>
          <p:cNvPr id="1071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D4D6C9-07A0-4F90-9865-A5D071344911}" type="slidenum">
              <a:rPr lang="en-US" altLang="zh-CN" smtClean="0">
                <a:latin typeface="宋体" panose="02010600030101010101" pitchFamily="2" charset="-122"/>
              </a:rPr>
              <a:pPr eaLnBrk="1" hangingPunct="1"/>
              <a:t>50</a:t>
            </a:fld>
            <a:endParaRPr lang="en-US" altLang="zh-CN" smtClean="0">
              <a:latin typeface="宋体" panose="02010600030101010101" pitchFamily="2" charset="-122"/>
            </a:endParaRPr>
          </a:p>
        </p:txBody>
      </p:sp>
      <p:sp>
        <p:nvSpPr>
          <p:cNvPr id="1073154" name="Rectangle 2"/>
          <p:cNvSpPr>
            <a:spLocks noGrp="1" noRot="1" noChangeAspect="1" noChangeArrowheads="1" noTextEdit="1"/>
          </p:cNvSpPr>
          <p:nvPr>
            <p:ph type="sldImg" idx="4294967295"/>
          </p:nvPr>
        </p:nvSpPr>
        <p:spPr>
          <a:ln/>
        </p:spPr>
      </p:sp>
      <p:sp>
        <p:nvSpPr>
          <p:cNvPr id="1073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1"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4 </a:t>
            </a:r>
            <a:r>
              <a:rPr lang="zh-CN" altLang="en-US" dirty="0" smtClean="0">
                <a:latin typeface="Arial" panose="020B0604020202020204" pitchFamily="34" charset="0"/>
                <a:ea typeface="黑体" panose="02010609060101010101" pitchFamily="49" charset="-122"/>
              </a:rPr>
              <a:t>章  网络层</a:t>
            </a:r>
          </a:p>
        </p:txBody>
      </p:sp>
      <p:sp>
        <p:nvSpPr>
          <p:cNvPr id="680962"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4.6.1-4.6.3</a:t>
            </a:r>
            <a:endParaRPr lang="zh-CN" altLang="en-US" dirty="0" smtClean="0">
              <a:latin typeface="黑体" panose="02010609060101010101" pitchFamily="49" charset="-122"/>
              <a:ea typeface="宋体" panose="02010600030101010101" pitchFamily="2" charset="-122"/>
            </a:endParaRPr>
          </a:p>
        </p:txBody>
      </p:sp>
      <p:sp>
        <p:nvSpPr>
          <p:cNvPr id="68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3E797-DCB6-47D1-8B6D-3149BD091FE8}" type="slidenum">
              <a:rPr lang="zh-CN" altLang="en-US" smtClean="0"/>
              <a:pPr eaLnBrk="1" hangingPunct="1"/>
              <a:t>1</a:t>
            </a:fld>
            <a:endParaRPr lang="en-US" altLang="zh-CN" smtClean="0"/>
          </a:p>
        </p:txBody>
      </p:sp>
      <p:sp>
        <p:nvSpPr>
          <p:cNvPr id="68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11185487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7"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4.6  </a:t>
            </a:r>
            <a:r>
              <a:rPr lang="zh-CN" altLang="zh-CN" dirty="0" smtClean="0">
                <a:ea typeface="黑体" panose="02010609060101010101" pitchFamily="49" charset="-122"/>
              </a:rPr>
              <a:t>互联网的路由选择协议</a:t>
            </a:r>
            <a:endParaRPr lang="zh-CN" altLang="en-US" dirty="0" smtClean="0">
              <a:ea typeface="黑体" panose="02010609060101010101" pitchFamily="49" charset="-122"/>
            </a:endParaRPr>
          </a:p>
        </p:txBody>
      </p:sp>
      <p:sp>
        <p:nvSpPr>
          <p:cNvPr id="976898"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4.6.1  </a:t>
            </a:r>
            <a:r>
              <a:rPr lang="zh-CN" altLang="zh-CN" dirty="0" smtClean="0">
                <a:solidFill>
                  <a:srgbClr val="FF0000"/>
                </a:solidFill>
                <a:ea typeface="黑体" panose="02010609060101010101" pitchFamily="49" charset="-122"/>
              </a:rPr>
              <a:t>有关路由选择协议的几个基本概念</a:t>
            </a:r>
          </a:p>
          <a:p>
            <a:r>
              <a:rPr lang="en-US" altLang="zh-CN" dirty="0" smtClean="0">
                <a:solidFill>
                  <a:srgbClr val="FF0000"/>
                </a:solidFill>
                <a:ea typeface="黑体" panose="02010609060101010101" pitchFamily="49" charset="-122"/>
              </a:rPr>
              <a:t>4.6.2  </a:t>
            </a:r>
            <a:r>
              <a:rPr lang="zh-CN" altLang="zh-CN" dirty="0" smtClean="0">
                <a:solidFill>
                  <a:srgbClr val="FF0000"/>
                </a:solidFill>
                <a:ea typeface="黑体" panose="02010609060101010101" pitchFamily="49" charset="-122"/>
              </a:rPr>
              <a:t>内部网关协议</a:t>
            </a:r>
            <a:r>
              <a:rPr lang="en-US" altLang="zh-CN" dirty="0" smtClean="0">
                <a:solidFill>
                  <a:srgbClr val="FF0000"/>
                </a:solidFill>
                <a:ea typeface="黑体" panose="02010609060101010101" pitchFamily="49" charset="-122"/>
              </a:rPr>
              <a:t> RIP</a:t>
            </a:r>
            <a:endParaRPr lang="zh-CN" altLang="zh-CN" dirty="0" smtClean="0">
              <a:solidFill>
                <a:srgbClr val="FF0000"/>
              </a:solidFill>
              <a:ea typeface="黑体" panose="02010609060101010101" pitchFamily="49" charset="-122"/>
            </a:endParaRPr>
          </a:p>
          <a:p>
            <a:r>
              <a:rPr lang="en-US" altLang="zh-CN" dirty="0" smtClean="0">
                <a:solidFill>
                  <a:srgbClr val="FF0000"/>
                </a:solidFill>
                <a:ea typeface="黑体" panose="02010609060101010101" pitchFamily="49" charset="-122"/>
              </a:rPr>
              <a:t>4.6.3  </a:t>
            </a:r>
            <a:r>
              <a:rPr lang="zh-CN" altLang="zh-CN" dirty="0" smtClean="0">
                <a:solidFill>
                  <a:srgbClr val="FF0000"/>
                </a:solidFill>
                <a:ea typeface="黑体" panose="02010609060101010101" pitchFamily="49" charset="-122"/>
              </a:rPr>
              <a:t>内部网关协议</a:t>
            </a:r>
            <a:r>
              <a:rPr lang="en-US" altLang="zh-CN" dirty="0" smtClean="0">
                <a:solidFill>
                  <a:srgbClr val="FF0000"/>
                </a:solidFill>
                <a:ea typeface="黑体" panose="02010609060101010101" pitchFamily="49" charset="-122"/>
              </a:rPr>
              <a:t> OSPF</a:t>
            </a:r>
            <a:endParaRPr lang="zh-CN" altLang="zh-CN" dirty="0" smtClean="0">
              <a:solidFill>
                <a:srgbClr val="FF0000"/>
              </a:solidFill>
              <a:ea typeface="黑体" panose="02010609060101010101" pitchFamily="49" charset="-122"/>
            </a:endParaRPr>
          </a:p>
          <a:p>
            <a:r>
              <a:rPr lang="en-US" altLang="zh-CN" dirty="0" smtClean="0">
                <a:ea typeface="黑体" panose="02010609060101010101" pitchFamily="49" charset="-122"/>
              </a:rPr>
              <a:t>4.6.4  </a:t>
            </a:r>
            <a:r>
              <a:rPr lang="zh-CN" altLang="zh-CN" dirty="0" smtClean="0">
                <a:ea typeface="黑体" panose="02010609060101010101" pitchFamily="49" charset="-122"/>
              </a:rPr>
              <a:t>外部网关协议</a:t>
            </a:r>
            <a:r>
              <a:rPr lang="en-US" altLang="zh-CN" dirty="0" smtClean="0">
                <a:ea typeface="黑体" panose="02010609060101010101" pitchFamily="49" charset="-122"/>
              </a:rPr>
              <a:t> BGP</a:t>
            </a:r>
            <a:endParaRPr lang="zh-CN" altLang="zh-CN" dirty="0" smtClean="0">
              <a:ea typeface="黑体" panose="02010609060101010101" pitchFamily="49" charset="-122"/>
            </a:endParaRPr>
          </a:p>
          <a:p>
            <a:r>
              <a:rPr lang="en-US" altLang="zh-CN" dirty="0" smtClean="0">
                <a:ea typeface="黑体" panose="02010609060101010101" pitchFamily="49" charset="-122"/>
              </a:rPr>
              <a:t>4.6.5  </a:t>
            </a:r>
            <a:r>
              <a:rPr lang="zh-CN" altLang="zh-CN" dirty="0" smtClean="0">
                <a:ea typeface="黑体" panose="02010609060101010101" pitchFamily="49" charset="-122"/>
              </a:rPr>
              <a:t>路由器的构成</a:t>
            </a:r>
          </a:p>
          <a:p>
            <a:endParaRPr lang="zh-CN" altLang="en-US" dirty="0" smtClean="0">
              <a:solidFill>
                <a:srgbClr val="0000CC"/>
              </a:solidFill>
              <a:ea typeface="黑体" panose="02010609060101010101" pitchFamily="49" charset="-122"/>
            </a:endParaRPr>
          </a:p>
        </p:txBody>
      </p:sp>
      <p:sp>
        <p:nvSpPr>
          <p:cNvPr id="976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0B57B6-50C8-4FB7-B998-85A01101AED3}" type="slidenum">
              <a:rPr lang="zh-CN" altLang="en-US" smtClean="0"/>
              <a:pPr eaLnBrk="1" hangingPunct="1"/>
              <a:t>2</a:t>
            </a:fld>
            <a:endParaRPr lang="en-US" altLang="zh-CN" smtClean="0"/>
          </a:p>
        </p:txBody>
      </p:sp>
      <p:sp>
        <p:nvSpPr>
          <p:cNvPr id="976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936786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5" name="Rectangle 2"/>
          <p:cNvSpPr>
            <a:spLocks noGrp="1" noChangeArrowheads="1"/>
          </p:cNvSpPr>
          <p:nvPr>
            <p:ph type="title"/>
          </p:nvPr>
        </p:nvSpPr>
        <p:spPr>
          <a:xfrm>
            <a:off x="495300" y="188913"/>
            <a:ext cx="9066213" cy="792162"/>
          </a:xfrm>
        </p:spPr>
        <p:txBody>
          <a:bodyPr/>
          <a:lstStyle/>
          <a:p>
            <a:r>
              <a:rPr lang="en-US" altLang="zh-CN" sz="3600" dirty="0" smtClean="0">
                <a:ea typeface="黑体" panose="02010609060101010101" pitchFamily="49" charset="-122"/>
              </a:rPr>
              <a:t>4.6.1  </a:t>
            </a:r>
            <a:r>
              <a:rPr lang="zh-CN" altLang="en-US" sz="3600" dirty="0" smtClean="0">
                <a:ea typeface="黑体" panose="02010609060101010101" pitchFamily="49" charset="-122"/>
              </a:rPr>
              <a:t>有关路由选择协议的几个基本概念</a:t>
            </a:r>
          </a:p>
        </p:txBody>
      </p:sp>
      <p:sp>
        <p:nvSpPr>
          <p:cNvPr id="545795"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sz="4400" smtClean="0">
                <a:solidFill>
                  <a:srgbClr val="333399"/>
                </a:solidFill>
                <a:ea typeface="黑体" panose="02010609060101010101" pitchFamily="49" charset="-122"/>
              </a:rPr>
              <a:t>1. </a:t>
            </a:r>
            <a:r>
              <a:rPr lang="zh-CN" altLang="en-US" sz="4400" smtClean="0">
                <a:solidFill>
                  <a:srgbClr val="333399"/>
                </a:solidFill>
                <a:ea typeface="黑体" panose="02010609060101010101" pitchFamily="49" charset="-122"/>
              </a:rPr>
              <a:t>理想的路由算法</a:t>
            </a:r>
          </a:p>
          <a:p>
            <a:pPr algn="just"/>
            <a:r>
              <a:rPr lang="zh-CN" altLang="en-US" smtClean="0">
                <a:ea typeface="黑体" panose="02010609060101010101" pitchFamily="49" charset="-122"/>
              </a:rPr>
              <a:t>算法必须是正确的和完整的。 </a:t>
            </a:r>
          </a:p>
          <a:p>
            <a:pPr algn="just"/>
            <a:r>
              <a:rPr lang="zh-CN" altLang="en-US" smtClean="0">
                <a:ea typeface="黑体" panose="02010609060101010101" pitchFamily="49" charset="-122"/>
              </a:rPr>
              <a:t>算法在计算上应简单。 </a:t>
            </a:r>
          </a:p>
          <a:p>
            <a:pPr algn="just"/>
            <a:r>
              <a:rPr lang="zh-CN" altLang="en-US" smtClean="0">
                <a:ea typeface="黑体" panose="02010609060101010101" pitchFamily="49" charset="-122"/>
              </a:rPr>
              <a:t>算法应能适应通信量和网络拓扑的变化，这就是说，要有自适应性。 </a:t>
            </a:r>
          </a:p>
          <a:p>
            <a:pPr algn="just"/>
            <a:r>
              <a:rPr lang="zh-CN" altLang="en-US" smtClean="0">
                <a:ea typeface="黑体" panose="02010609060101010101" pitchFamily="49" charset="-122"/>
              </a:rPr>
              <a:t>算法应具有稳定性。 </a:t>
            </a:r>
          </a:p>
          <a:p>
            <a:pPr algn="just"/>
            <a:r>
              <a:rPr lang="zh-CN" altLang="en-US" smtClean="0">
                <a:ea typeface="黑体" panose="02010609060101010101" pitchFamily="49" charset="-122"/>
              </a:rPr>
              <a:t>算法应是公平的。 </a:t>
            </a:r>
          </a:p>
          <a:p>
            <a:pPr algn="just"/>
            <a:r>
              <a:rPr lang="zh-CN" altLang="en-US" smtClean="0">
                <a:ea typeface="黑体" panose="02010609060101010101" pitchFamily="49" charset="-122"/>
              </a:rPr>
              <a:t>算法应是最佳的。 </a:t>
            </a:r>
          </a:p>
        </p:txBody>
      </p:sp>
      <p:sp>
        <p:nvSpPr>
          <p:cNvPr id="978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80DA9C-28CE-4FB8-8DA9-CF0154A1879F}" type="slidenum">
              <a:rPr lang="zh-CN" altLang="en-US" smtClean="0"/>
              <a:pPr eaLnBrk="1" hangingPunct="1"/>
              <a:t>3</a:t>
            </a:fld>
            <a:endParaRPr lang="en-US" altLang="zh-CN" smtClean="0"/>
          </a:p>
        </p:txBody>
      </p:sp>
      <p:sp>
        <p:nvSpPr>
          <p:cNvPr id="978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5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579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579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579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579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57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关于“最佳路由” </a:t>
            </a:r>
          </a:p>
        </p:txBody>
      </p:sp>
      <p:sp>
        <p:nvSpPr>
          <p:cNvPr id="547843"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不存在一种绝对的最佳路由算法。</a:t>
            </a:r>
          </a:p>
          <a:p>
            <a:pPr algn="just"/>
            <a:r>
              <a:rPr lang="zh-CN" altLang="en-US" smtClean="0">
                <a:solidFill>
                  <a:srgbClr val="0000FF"/>
                </a:solidFill>
                <a:ea typeface="黑体" panose="02010609060101010101" pitchFamily="49" charset="-122"/>
              </a:rPr>
              <a:t>所谓“</a:t>
            </a:r>
            <a:r>
              <a:rPr lang="zh-CN" altLang="en-US" smtClean="0">
                <a:solidFill>
                  <a:srgbClr val="FF0000"/>
                </a:solidFill>
                <a:ea typeface="黑体" panose="02010609060101010101" pitchFamily="49" charset="-122"/>
              </a:rPr>
              <a:t>最佳</a:t>
            </a:r>
            <a:r>
              <a:rPr lang="zh-CN" altLang="en-US" smtClean="0">
                <a:solidFill>
                  <a:srgbClr val="0000FF"/>
                </a:solidFill>
                <a:ea typeface="黑体" panose="02010609060101010101" pitchFamily="49" charset="-122"/>
              </a:rPr>
              <a:t>”只能是相对于某一种特定要求下得出的较为合理的选择而已。</a:t>
            </a:r>
          </a:p>
          <a:p>
            <a:pPr algn="just"/>
            <a:r>
              <a:rPr lang="zh-CN" altLang="en-US" smtClean="0">
                <a:ea typeface="黑体" panose="02010609060101010101" pitchFamily="49" charset="-122"/>
              </a:rPr>
              <a:t>实际的路由选择算法，应尽可能接近于理想的算法。 </a:t>
            </a:r>
          </a:p>
          <a:p>
            <a:pPr algn="just"/>
            <a:r>
              <a:rPr lang="zh-CN" altLang="en-US" smtClean="0">
                <a:ea typeface="黑体" panose="02010609060101010101" pitchFamily="49" charset="-122"/>
              </a:rPr>
              <a:t>路由选择是个非常复杂的问题</a:t>
            </a:r>
          </a:p>
          <a:p>
            <a:pPr lvl="1" algn="just"/>
            <a:r>
              <a:rPr lang="zh-CN" altLang="en-US" smtClean="0">
                <a:solidFill>
                  <a:srgbClr val="0000FF"/>
                </a:solidFill>
                <a:ea typeface="黑体" panose="02010609060101010101" pitchFamily="49" charset="-122"/>
              </a:rPr>
              <a:t>它是网络中的所有结点共同协调工作的结果。</a:t>
            </a:r>
          </a:p>
          <a:p>
            <a:pPr lvl="1" algn="just"/>
            <a:r>
              <a:rPr lang="zh-CN" altLang="en-US" smtClean="0">
                <a:solidFill>
                  <a:srgbClr val="0000FF"/>
                </a:solidFill>
                <a:ea typeface="黑体" panose="02010609060101010101" pitchFamily="49" charset="-122"/>
              </a:rPr>
              <a:t>路由选择的环境往往是不断变化的，而这种变化有时无法事先知道。  </a:t>
            </a:r>
          </a:p>
        </p:txBody>
      </p:sp>
      <p:sp>
        <p:nvSpPr>
          <p:cNvPr id="980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D1C995-7DF4-42A0-B7C7-CDA6A9BC192A}" type="slidenum">
              <a:rPr lang="zh-CN" altLang="en-US" smtClean="0"/>
              <a:pPr eaLnBrk="1" hangingPunct="1"/>
              <a:t>4</a:t>
            </a:fld>
            <a:endParaRPr lang="en-US" altLang="zh-CN" smtClean="0"/>
          </a:p>
        </p:txBody>
      </p:sp>
      <p:sp>
        <p:nvSpPr>
          <p:cNvPr id="980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784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78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784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784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7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从路由算法的自适应性考虑</a:t>
            </a:r>
          </a:p>
        </p:txBody>
      </p:sp>
      <p:sp>
        <p:nvSpPr>
          <p:cNvPr id="548867" name="Rectangle 3"/>
          <p:cNvSpPr>
            <a:spLocks noGrp="1" noChangeArrowheads="1"/>
          </p:cNvSpPr>
          <p:nvPr>
            <p:ph idx="1"/>
          </p:nvPr>
        </p:nvSpPr>
        <p:spPr>
          <a:xfrm>
            <a:off x="495300" y="1196975"/>
            <a:ext cx="9066213" cy="4933950"/>
          </a:xfrm>
        </p:spPr>
        <p:txBody>
          <a:bodyPr/>
          <a:lstStyle/>
          <a:p>
            <a:pPr algn="just"/>
            <a:r>
              <a:rPr lang="zh-CN" altLang="en-US" smtClean="0">
                <a:solidFill>
                  <a:srgbClr val="FF0000"/>
                </a:solidFill>
                <a:ea typeface="黑体" panose="02010609060101010101" pitchFamily="49" charset="-122"/>
              </a:rPr>
              <a:t>静态</a:t>
            </a:r>
            <a:r>
              <a:rPr lang="zh-CN" altLang="en-US" smtClean="0">
                <a:ea typeface="黑体" panose="02010609060101010101" pitchFamily="49" charset="-122"/>
              </a:rPr>
              <a:t>路由选择策略</a:t>
            </a:r>
            <a:r>
              <a:rPr lang="en-US" altLang="zh-CN" smtClean="0">
                <a:ea typeface="黑体" panose="02010609060101010101" pitchFamily="49" charset="-122"/>
              </a:rPr>
              <a:t>——</a:t>
            </a:r>
            <a:r>
              <a:rPr lang="zh-CN" altLang="en-US" smtClean="0">
                <a:ea typeface="黑体" panose="02010609060101010101" pitchFamily="49" charset="-122"/>
              </a:rPr>
              <a:t>即</a:t>
            </a:r>
            <a:r>
              <a:rPr lang="zh-CN" altLang="en-US" smtClean="0">
                <a:solidFill>
                  <a:srgbClr val="0000FF"/>
                </a:solidFill>
                <a:ea typeface="黑体" panose="02010609060101010101" pitchFamily="49" charset="-122"/>
              </a:rPr>
              <a:t>非自适应路由选择，</a:t>
            </a:r>
            <a:r>
              <a:rPr lang="zh-CN" altLang="en-US" smtClean="0">
                <a:ea typeface="黑体" panose="02010609060101010101" pitchFamily="49" charset="-122"/>
              </a:rPr>
              <a:t>其特点是简单和开销较小，但不能及时适应网络状态的变化。 </a:t>
            </a:r>
          </a:p>
          <a:p>
            <a:pPr algn="just"/>
            <a:r>
              <a:rPr lang="zh-CN" altLang="en-US" smtClean="0">
                <a:solidFill>
                  <a:srgbClr val="FF0000"/>
                </a:solidFill>
                <a:ea typeface="黑体" panose="02010609060101010101" pitchFamily="49" charset="-122"/>
              </a:rPr>
              <a:t>动态</a:t>
            </a:r>
            <a:r>
              <a:rPr lang="zh-CN" altLang="en-US" smtClean="0">
                <a:ea typeface="黑体" panose="02010609060101010101" pitchFamily="49" charset="-122"/>
              </a:rPr>
              <a:t>路由选择策略</a:t>
            </a:r>
            <a:r>
              <a:rPr lang="en-US" altLang="zh-CN" smtClean="0">
                <a:ea typeface="黑体" panose="02010609060101010101" pitchFamily="49" charset="-122"/>
              </a:rPr>
              <a:t>——</a:t>
            </a:r>
            <a:r>
              <a:rPr lang="zh-CN" altLang="en-US" smtClean="0">
                <a:ea typeface="黑体" panose="02010609060101010101" pitchFamily="49" charset="-122"/>
              </a:rPr>
              <a:t>即</a:t>
            </a:r>
            <a:r>
              <a:rPr lang="zh-CN" altLang="en-US" smtClean="0">
                <a:solidFill>
                  <a:srgbClr val="0000FF"/>
                </a:solidFill>
                <a:ea typeface="黑体" panose="02010609060101010101" pitchFamily="49" charset="-122"/>
              </a:rPr>
              <a:t>自适应路由选择，</a:t>
            </a:r>
            <a:r>
              <a:rPr lang="zh-CN" altLang="en-US" smtClean="0">
                <a:ea typeface="黑体" panose="02010609060101010101" pitchFamily="49" charset="-122"/>
              </a:rPr>
              <a:t>其特点是能较好地适应网络状态的变化，但实现起来较为复杂，开销也比较大。  </a:t>
            </a:r>
          </a:p>
        </p:txBody>
      </p:sp>
      <p:sp>
        <p:nvSpPr>
          <p:cNvPr id="9830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335C14-C03B-4596-A222-B38797DABACE}" type="slidenum">
              <a:rPr lang="zh-CN" altLang="en-US" smtClean="0"/>
              <a:pPr eaLnBrk="1" hangingPunct="1"/>
              <a:t>5</a:t>
            </a:fld>
            <a:endParaRPr lang="en-US" altLang="zh-CN" smtClean="0"/>
          </a:p>
        </p:txBody>
      </p:sp>
      <p:sp>
        <p:nvSpPr>
          <p:cNvPr id="9830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88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8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分层次的路由选择协议</a:t>
            </a:r>
          </a:p>
        </p:txBody>
      </p:sp>
      <p:sp>
        <p:nvSpPr>
          <p:cNvPr id="549891" name="Rectangle 3"/>
          <p:cNvSpPr>
            <a:spLocks noGrp="1" noChangeArrowheads="1"/>
          </p:cNvSpPr>
          <p:nvPr>
            <p:ph idx="1"/>
          </p:nvPr>
        </p:nvSpPr>
        <p:spPr>
          <a:xfrm>
            <a:off x="495300" y="1196975"/>
            <a:ext cx="9066213" cy="4933950"/>
          </a:xfrm>
        </p:spPr>
        <p:txBody>
          <a:bodyPr/>
          <a:lstStyle/>
          <a:p>
            <a:pPr algn="just"/>
            <a:r>
              <a:rPr lang="zh-CN" altLang="en-US" dirty="0" smtClean="0">
                <a:solidFill>
                  <a:srgbClr val="FF0000"/>
                </a:solidFill>
                <a:ea typeface="黑体" panose="02010609060101010101" pitchFamily="49" charset="-122"/>
              </a:rPr>
              <a:t>互联网采用分层次的路由选择协议。</a:t>
            </a:r>
            <a:r>
              <a:rPr lang="zh-CN" altLang="en-US" dirty="0" smtClean="0">
                <a:ea typeface="黑体" panose="02010609060101010101" pitchFamily="49" charset="-122"/>
              </a:rPr>
              <a:t>这是因为：</a:t>
            </a:r>
          </a:p>
          <a:p>
            <a:pPr lvl="1" algn="just"/>
            <a:r>
              <a:rPr lang="en-US" altLang="zh-CN" dirty="0" smtClean="0">
                <a:ea typeface="黑体" panose="02010609060101010101" pitchFamily="49" charset="-122"/>
              </a:rPr>
              <a:t>(1) </a:t>
            </a:r>
            <a:r>
              <a:rPr lang="zh-CN" altLang="en-US" dirty="0" smtClean="0">
                <a:solidFill>
                  <a:srgbClr val="0000FF"/>
                </a:solidFill>
                <a:ea typeface="黑体" panose="02010609060101010101" pitchFamily="49" charset="-122"/>
              </a:rPr>
              <a:t>互联网的规模非常大</a:t>
            </a:r>
            <a:r>
              <a:rPr lang="zh-CN" altLang="en-US" dirty="0" smtClean="0">
                <a:ea typeface="黑体" panose="02010609060101010101" pitchFamily="49" charset="-122"/>
              </a:rPr>
              <a:t>。如果让所有的路由器知道所有的网络应怎样到达，则这种路由表将非常大，处理起来也太花时间。而所有这些路由器之间交换路由信息所需的带宽就会使互联网的通信链路饱和。</a:t>
            </a:r>
          </a:p>
          <a:p>
            <a:pPr lvl="1" algn="just"/>
            <a:r>
              <a:rPr lang="en-US" altLang="zh-CN" dirty="0" smtClean="0">
                <a:ea typeface="黑体" panose="02010609060101010101" pitchFamily="49" charset="-122"/>
              </a:rPr>
              <a:t>(2) </a:t>
            </a:r>
            <a:r>
              <a:rPr lang="zh-CN" altLang="en-US" dirty="0" smtClean="0">
                <a:ea typeface="黑体" panose="02010609060101010101" pitchFamily="49" charset="-122"/>
              </a:rPr>
              <a:t>许多单位</a:t>
            </a:r>
            <a:r>
              <a:rPr lang="zh-CN" altLang="en-US" dirty="0" smtClean="0">
                <a:solidFill>
                  <a:srgbClr val="0000FF"/>
                </a:solidFill>
                <a:ea typeface="黑体" panose="02010609060101010101" pitchFamily="49" charset="-122"/>
              </a:rPr>
              <a:t>不愿意外界了解</a:t>
            </a:r>
            <a:r>
              <a:rPr lang="zh-CN" altLang="en-US" dirty="0" smtClean="0">
                <a:ea typeface="黑体" panose="02010609060101010101" pitchFamily="49" charset="-122"/>
              </a:rPr>
              <a:t>自己单位网络的布局细节和本部门所采用的路由选择协议（这属于本部门内部的事情），但同时还希望连接到互联网上。   </a:t>
            </a:r>
          </a:p>
        </p:txBody>
      </p:sp>
      <p:sp>
        <p:nvSpPr>
          <p:cNvPr id="9850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80EE8F-84B6-41DF-81EF-7980533C2870}" type="slidenum">
              <a:rPr lang="zh-CN" altLang="en-US" smtClean="0"/>
              <a:pPr eaLnBrk="1" hangingPunct="1"/>
              <a:t>6</a:t>
            </a:fld>
            <a:endParaRPr lang="en-US" altLang="zh-CN" smtClean="0"/>
          </a:p>
        </p:txBody>
      </p:sp>
      <p:sp>
        <p:nvSpPr>
          <p:cNvPr id="9850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989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98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7" name="Rectangle 2"/>
          <p:cNvSpPr>
            <a:spLocks noGrp="1" noChangeArrowheads="1"/>
          </p:cNvSpPr>
          <p:nvPr>
            <p:ph type="title"/>
          </p:nvPr>
        </p:nvSpPr>
        <p:spPr>
          <a:xfrm>
            <a:off x="495300" y="188913"/>
            <a:ext cx="9066213" cy="1511300"/>
          </a:xfrm>
        </p:spPr>
        <p:txBody>
          <a:bodyPr/>
          <a:lstStyle/>
          <a:p>
            <a:pPr algn="ctr"/>
            <a:r>
              <a:rPr lang="zh-CN" altLang="en-US" u="sng" dirty="0" smtClean="0">
                <a:solidFill>
                  <a:srgbClr val="FF0000"/>
                </a:solidFill>
                <a:ea typeface="黑体" panose="02010609060101010101" pitchFamily="49" charset="-122"/>
              </a:rPr>
              <a:t>自治系统 </a:t>
            </a:r>
            <a:r>
              <a:rPr lang="en-US" altLang="zh-CN" u="sng" dirty="0" smtClean="0">
                <a:solidFill>
                  <a:srgbClr val="FF0000"/>
                </a:solidFill>
                <a:ea typeface="黑体" panose="02010609060101010101" pitchFamily="49" charset="-122"/>
              </a:rPr>
              <a:t>AS</a:t>
            </a:r>
            <a:br>
              <a:rPr lang="en-US" altLang="zh-CN" u="sng" dirty="0" smtClean="0">
                <a:solidFill>
                  <a:srgbClr val="FF0000"/>
                </a:solidFill>
                <a:ea typeface="黑体" panose="02010609060101010101" pitchFamily="49" charset="-122"/>
              </a:rPr>
            </a:br>
            <a:r>
              <a:rPr lang="en-US" altLang="zh-CN" u="sng" dirty="0" smtClean="0">
                <a:solidFill>
                  <a:srgbClr val="FF0000"/>
                </a:solidFill>
                <a:ea typeface="黑体" panose="02010609060101010101" pitchFamily="49" charset="-122"/>
              </a:rPr>
              <a:t>(Autonomous System) </a:t>
            </a:r>
          </a:p>
        </p:txBody>
      </p:sp>
      <p:sp>
        <p:nvSpPr>
          <p:cNvPr id="987138" name="Rectangle 4"/>
          <p:cNvSpPr>
            <a:spLocks noGrp="1" noChangeArrowheads="1"/>
          </p:cNvSpPr>
          <p:nvPr>
            <p:ph idx="1"/>
          </p:nvPr>
        </p:nvSpPr>
        <p:spPr>
          <a:xfrm>
            <a:off x="495300" y="1773238"/>
            <a:ext cx="9066213" cy="4357687"/>
          </a:xfrm>
        </p:spPr>
        <p:txBody>
          <a:bodyPr/>
          <a:lstStyle/>
          <a:p>
            <a:pPr>
              <a:spcBef>
                <a:spcPct val="0"/>
              </a:spcBef>
              <a:buClrTx/>
              <a:buSzTx/>
              <a:buFontTx/>
              <a:buChar char="•"/>
            </a:pPr>
            <a:r>
              <a:rPr lang="zh-CN" altLang="en-US" sz="2800" dirty="0" smtClean="0">
                <a:solidFill>
                  <a:srgbClr val="FF0000"/>
                </a:solidFill>
                <a:ea typeface="黑体" panose="02010609060101010101" pitchFamily="49" charset="-122"/>
              </a:rPr>
              <a:t>自治系统 </a:t>
            </a:r>
            <a:r>
              <a:rPr lang="en-US" altLang="zh-CN" sz="2800" dirty="0" smtClean="0">
                <a:solidFill>
                  <a:srgbClr val="FF0000"/>
                </a:solidFill>
                <a:ea typeface="黑体" panose="02010609060101010101" pitchFamily="49" charset="-122"/>
              </a:rPr>
              <a:t>AS </a:t>
            </a:r>
            <a:r>
              <a:rPr lang="zh-CN" altLang="en-US" sz="2800" dirty="0" smtClean="0">
                <a:solidFill>
                  <a:srgbClr val="FF0000"/>
                </a:solidFill>
                <a:ea typeface="黑体" panose="02010609060101010101" pitchFamily="49" charset="-122"/>
              </a:rPr>
              <a:t>的定义：</a:t>
            </a:r>
            <a:r>
              <a:rPr lang="zh-CN" altLang="en-US" sz="2800" dirty="0" smtClean="0">
                <a:ea typeface="黑体" panose="02010609060101010101" pitchFamily="49" charset="-122"/>
              </a:rPr>
              <a:t>在单一的技术管理下的一组路由器，而这些路由器使用一种 </a:t>
            </a:r>
            <a:r>
              <a:rPr lang="en-US" altLang="zh-CN" sz="2800" dirty="0" smtClean="0">
                <a:ea typeface="黑体" panose="02010609060101010101" pitchFamily="49" charset="-122"/>
              </a:rPr>
              <a:t>AS </a:t>
            </a:r>
            <a:r>
              <a:rPr lang="zh-CN" altLang="en-US" sz="2800" dirty="0" smtClean="0">
                <a:solidFill>
                  <a:srgbClr val="0000FF"/>
                </a:solidFill>
                <a:ea typeface="黑体" panose="02010609060101010101" pitchFamily="49" charset="-122"/>
              </a:rPr>
              <a:t>内部</a:t>
            </a:r>
            <a:r>
              <a:rPr lang="zh-CN" altLang="en-US" sz="2800" dirty="0" smtClean="0">
                <a:ea typeface="黑体" panose="02010609060101010101" pitchFamily="49" charset="-122"/>
              </a:rPr>
              <a:t>的</a:t>
            </a:r>
            <a:r>
              <a:rPr lang="zh-CN" altLang="en-US" sz="2800" dirty="0" smtClean="0">
                <a:solidFill>
                  <a:srgbClr val="0000FF"/>
                </a:solidFill>
                <a:ea typeface="黑体" panose="02010609060101010101" pitchFamily="49" charset="-122"/>
              </a:rPr>
              <a:t>路由选择协议</a:t>
            </a:r>
            <a:r>
              <a:rPr lang="zh-CN" altLang="en-US" sz="2800" dirty="0" smtClean="0">
                <a:ea typeface="黑体" panose="02010609060101010101" pitchFamily="49" charset="-122"/>
              </a:rPr>
              <a:t>和共同的度量，以确定分组在该 </a:t>
            </a:r>
            <a:r>
              <a:rPr lang="en-US" altLang="zh-CN" sz="2800" dirty="0" smtClean="0">
                <a:ea typeface="黑体" panose="02010609060101010101" pitchFamily="49" charset="-122"/>
              </a:rPr>
              <a:t>AS </a:t>
            </a:r>
            <a:r>
              <a:rPr lang="zh-CN" altLang="en-US" sz="2800" dirty="0" smtClean="0">
                <a:ea typeface="黑体" panose="02010609060101010101" pitchFamily="49" charset="-122"/>
              </a:rPr>
              <a:t>内的路由，同时还使用一种 </a:t>
            </a:r>
            <a:r>
              <a:rPr lang="en-US" altLang="zh-CN" sz="2800" dirty="0" smtClean="0">
                <a:solidFill>
                  <a:srgbClr val="0000FF"/>
                </a:solidFill>
                <a:ea typeface="黑体" panose="02010609060101010101" pitchFamily="49" charset="-122"/>
              </a:rPr>
              <a:t>AS </a:t>
            </a:r>
            <a:r>
              <a:rPr lang="zh-CN" altLang="en-US" sz="2800" dirty="0" smtClean="0">
                <a:solidFill>
                  <a:srgbClr val="0000FF"/>
                </a:solidFill>
                <a:ea typeface="黑体" panose="02010609060101010101" pitchFamily="49" charset="-122"/>
              </a:rPr>
              <a:t>之间的路由选择协议</a:t>
            </a:r>
            <a:r>
              <a:rPr lang="zh-CN" altLang="en-US" sz="2800" dirty="0" smtClean="0">
                <a:ea typeface="黑体" panose="02010609060101010101" pitchFamily="49" charset="-122"/>
              </a:rPr>
              <a:t>用以确定分组在 </a:t>
            </a:r>
            <a:r>
              <a:rPr lang="en-US" altLang="zh-CN" sz="2800" dirty="0" smtClean="0">
                <a:ea typeface="黑体" panose="02010609060101010101" pitchFamily="49" charset="-122"/>
              </a:rPr>
              <a:t>AS</a:t>
            </a:r>
            <a:r>
              <a:rPr lang="zh-CN" altLang="en-US" sz="2800" dirty="0" smtClean="0">
                <a:ea typeface="黑体" panose="02010609060101010101" pitchFamily="49" charset="-122"/>
              </a:rPr>
              <a:t>之间的路由。</a:t>
            </a:r>
          </a:p>
          <a:p>
            <a:pPr>
              <a:spcBef>
                <a:spcPct val="0"/>
              </a:spcBef>
              <a:buClrTx/>
              <a:buSzTx/>
              <a:buFontTx/>
              <a:buChar char="•"/>
            </a:pPr>
            <a:r>
              <a:rPr lang="zh-CN" altLang="en-US" sz="2800" dirty="0" smtClean="0">
                <a:ea typeface="黑体" panose="02010609060101010101" pitchFamily="49" charset="-122"/>
              </a:rPr>
              <a:t>现在对自治系统 </a:t>
            </a:r>
            <a:r>
              <a:rPr lang="en-US" altLang="zh-CN" sz="2800" dirty="0" smtClean="0">
                <a:ea typeface="黑体" panose="02010609060101010101" pitchFamily="49" charset="-122"/>
              </a:rPr>
              <a:t>AS </a:t>
            </a:r>
            <a:r>
              <a:rPr lang="zh-CN" altLang="en-US" sz="2800" dirty="0" smtClean="0">
                <a:ea typeface="黑体" panose="02010609060101010101" pitchFamily="49" charset="-122"/>
              </a:rPr>
              <a:t>的定义是强调下面的事实：</a:t>
            </a:r>
            <a:r>
              <a:rPr lang="zh-CN" altLang="en-US" sz="2800" dirty="0" smtClean="0">
                <a:solidFill>
                  <a:srgbClr val="0000FF"/>
                </a:solidFill>
                <a:ea typeface="黑体" panose="02010609060101010101" pitchFamily="49" charset="-122"/>
              </a:rPr>
              <a:t>一个 </a:t>
            </a:r>
            <a:r>
              <a:rPr lang="en-US" altLang="zh-CN" sz="2800" dirty="0" smtClean="0">
                <a:solidFill>
                  <a:srgbClr val="0000FF"/>
                </a:solidFill>
                <a:ea typeface="黑体" panose="02010609060101010101" pitchFamily="49" charset="-122"/>
              </a:rPr>
              <a:t>AS </a:t>
            </a:r>
            <a:r>
              <a:rPr lang="zh-CN" altLang="en-US" sz="2800" dirty="0" smtClean="0">
                <a:solidFill>
                  <a:srgbClr val="0000FF"/>
                </a:solidFill>
                <a:ea typeface="黑体" panose="02010609060101010101" pitchFamily="49" charset="-122"/>
              </a:rPr>
              <a:t>对其他 </a:t>
            </a:r>
            <a:r>
              <a:rPr lang="en-US" altLang="zh-CN" sz="2800" dirty="0" smtClean="0">
                <a:solidFill>
                  <a:srgbClr val="0000FF"/>
                </a:solidFill>
                <a:ea typeface="黑体" panose="02010609060101010101" pitchFamily="49" charset="-122"/>
              </a:rPr>
              <a:t>AS </a:t>
            </a:r>
            <a:r>
              <a:rPr lang="zh-CN" altLang="en-US" sz="2800" dirty="0" smtClean="0">
                <a:solidFill>
                  <a:srgbClr val="0000FF"/>
                </a:solidFill>
                <a:ea typeface="黑体" panose="02010609060101010101" pitchFamily="49" charset="-122"/>
              </a:rPr>
              <a:t>表现出的是一个</a:t>
            </a:r>
            <a:r>
              <a:rPr lang="zh-CN" altLang="en-US" sz="2800" dirty="0" smtClean="0">
                <a:solidFill>
                  <a:srgbClr val="FF0000"/>
                </a:solidFill>
                <a:ea typeface="黑体" panose="02010609060101010101" pitchFamily="49" charset="-122"/>
              </a:rPr>
              <a:t>单一的和一致的路由选择策略。</a:t>
            </a:r>
          </a:p>
        </p:txBody>
      </p:sp>
      <p:sp>
        <p:nvSpPr>
          <p:cNvPr id="987139" name="Rectangle 3"/>
          <p:cNvSpPr>
            <a:spLocks noChangeArrowheads="1"/>
          </p:cNvSpPr>
          <p:nvPr/>
        </p:nvSpPr>
        <p:spPr bwMode="auto">
          <a:xfrm>
            <a:off x="0" y="30781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871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8AF1EC6-BA3E-4954-907E-206BD64D50C9}" type="slidenum">
              <a:rPr lang="zh-CN" altLang="en-US" smtClean="0"/>
              <a:pPr eaLnBrk="1" hangingPunct="1"/>
              <a:t>7</a:t>
            </a:fld>
            <a:endParaRPr lang="en-US" altLang="zh-CN" smtClean="0"/>
          </a:p>
        </p:txBody>
      </p:sp>
      <p:sp>
        <p:nvSpPr>
          <p:cNvPr id="9871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5" name="标题 3"/>
          <p:cNvSpPr>
            <a:spLocks noGrp="1" noChangeArrowheads="1"/>
          </p:cNvSpPr>
          <p:nvPr>
            <p:ph type="title"/>
          </p:nvPr>
        </p:nvSpPr>
        <p:spPr/>
        <p:txBody>
          <a:bodyPr/>
          <a:lstStyle/>
          <a:p>
            <a:pPr algn="ctr"/>
            <a:r>
              <a:rPr lang="zh-CN" altLang="en-US" smtClean="0">
                <a:ea typeface="黑体" panose="02010609060101010101" pitchFamily="49" charset="-122"/>
              </a:rPr>
              <a:t>自治系统 </a:t>
            </a:r>
            <a:r>
              <a:rPr lang="en-US" altLang="zh-CN" smtClean="0">
                <a:ea typeface="黑体" panose="02010609060101010101" pitchFamily="49" charset="-122"/>
              </a:rPr>
              <a:t>AS</a:t>
            </a:r>
            <a:endParaRPr lang="zh-CN" altLang="en-US" smtClean="0">
              <a:ea typeface="黑体" panose="02010609060101010101" pitchFamily="49" charset="-122"/>
            </a:endParaRPr>
          </a:p>
        </p:txBody>
      </p:sp>
      <p:grpSp>
        <p:nvGrpSpPr>
          <p:cNvPr id="989186" name="Group 250"/>
          <p:cNvGrpSpPr>
            <a:grpSpLocks/>
          </p:cNvGrpSpPr>
          <p:nvPr/>
        </p:nvGrpSpPr>
        <p:grpSpPr bwMode="auto">
          <a:xfrm>
            <a:off x="1427163" y="1219200"/>
            <a:ext cx="7413625" cy="4802188"/>
            <a:chOff x="657" y="1056"/>
            <a:chExt cx="4368" cy="2815"/>
          </a:xfrm>
        </p:grpSpPr>
        <p:grpSp>
          <p:nvGrpSpPr>
            <p:cNvPr id="989187" name="Group 127"/>
            <p:cNvGrpSpPr>
              <a:grpSpLocks/>
            </p:cNvGrpSpPr>
            <p:nvPr/>
          </p:nvGrpSpPr>
          <p:grpSpPr bwMode="auto">
            <a:xfrm>
              <a:off x="657" y="1056"/>
              <a:ext cx="4368" cy="2815"/>
              <a:chOff x="657" y="1056"/>
              <a:chExt cx="4368" cy="2815"/>
            </a:xfrm>
          </p:grpSpPr>
          <p:sp>
            <p:nvSpPr>
              <p:cNvPr id="989188" name="Text Box 7"/>
              <p:cNvSpPr txBox="1">
                <a:spLocks noChangeArrowheads="1"/>
              </p:cNvSpPr>
              <p:nvPr/>
            </p:nvSpPr>
            <p:spPr bwMode="auto">
              <a:xfrm>
                <a:off x="1843" y="1538"/>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R1</a:t>
                </a:r>
              </a:p>
            </p:txBody>
          </p:sp>
          <p:grpSp>
            <p:nvGrpSpPr>
              <p:cNvPr id="989189" name="Group 8"/>
              <p:cNvGrpSpPr>
                <a:grpSpLocks/>
              </p:cNvGrpSpPr>
              <p:nvPr/>
            </p:nvGrpSpPr>
            <p:grpSpPr bwMode="auto">
              <a:xfrm>
                <a:off x="657" y="2625"/>
                <a:ext cx="1872" cy="1246"/>
                <a:chOff x="672" y="2304"/>
                <a:chExt cx="1872" cy="1246"/>
              </a:xfrm>
            </p:grpSpPr>
            <p:sp>
              <p:nvSpPr>
                <p:cNvPr id="989190" name="Rectangle 9"/>
                <p:cNvSpPr>
                  <a:spLocks noChangeArrowheads="1"/>
                </p:cNvSpPr>
                <p:nvPr/>
              </p:nvSpPr>
              <p:spPr bwMode="auto">
                <a:xfrm>
                  <a:off x="672" y="2304"/>
                  <a:ext cx="1872" cy="1008"/>
                </a:xfrm>
                <a:prstGeom prst="rect">
                  <a:avLst/>
                </a:prstGeom>
                <a:solidFill>
                  <a:srgbClr val="DDDDD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191" name="Oval 10"/>
                <p:cNvSpPr>
                  <a:spLocks noChangeArrowheads="1"/>
                </p:cNvSpPr>
                <p:nvPr/>
              </p:nvSpPr>
              <p:spPr bwMode="auto">
                <a:xfrm>
                  <a:off x="1008" y="2448"/>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192" name="Group 11"/>
                <p:cNvGrpSpPr>
                  <a:grpSpLocks/>
                </p:cNvGrpSpPr>
                <p:nvPr/>
              </p:nvGrpSpPr>
              <p:grpSpPr bwMode="auto">
                <a:xfrm>
                  <a:off x="2064" y="2880"/>
                  <a:ext cx="320" cy="184"/>
                  <a:chOff x="1000" y="3128"/>
                  <a:chExt cx="320" cy="184"/>
                </a:xfrm>
              </p:grpSpPr>
              <p:sp>
                <p:nvSpPr>
                  <p:cNvPr id="989193" name="AutoShape 12"/>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194" name="Line 13"/>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195" name="Line 14"/>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196" name="Oval 15"/>
                <p:cNvSpPr>
                  <a:spLocks noChangeArrowheads="1"/>
                </p:cNvSpPr>
                <p:nvPr/>
              </p:nvSpPr>
              <p:spPr bwMode="auto">
                <a:xfrm>
                  <a:off x="960" y="302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197" name="Oval 16"/>
                <p:cNvSpPr>
                  <a:spLocks noChangeArrowheads="1"/>
                </p:cNvSpPr>
                <p:nvPr/>
              </p:nvSpPr>
              <p:spPr bwMode="auto">
                <a:xfrm>
                  <a:off x="1920" y="2448"/>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198" name="Group 17"/>
                <p:cNvGrpSpPr>
                  <a:grpSpLocks/>
                </p:cNvGrpSpPr>
                <p:nvPr/>
              </p:nvGrpSpPr>
              <p:grpSpPr bwMode="auto">
                <a:xfrm>
                  <a:off x="864" y="2736"/>
                  <a:ext cx="240" cy="96"/>
                  <a:chOff x="1000" y="3128"/>
                  <a:chExt cx="320" cy="184"/>
                </a:xfrm>
              </p:grpSpPr>
              <p:sp>
                <p:nvSpPr>
                  <p:cNvPr id="989199" name="AutoShape 18"/>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00" name="Line 19"/>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1" name="Line 20"/>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02" name="Line 21"/>
                <p:cNvSpPr>
                  <a:spLocks noChangeShapeType="1"/>
                </p:cNvSpPr>
                <p:nvPr/>
              </p:nvSpPr>
              <p:spPr bwMode="auto">
                <a:xfrm>
                  <a:off x="1200" y="2496"/>
                  <a:ext cx="81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3" name="Line 22"/>
                <p:cNvSpPr>
                  <a:spLocks noChangeShapeType="1"/>
                </p:cNvSpPr>
                <p:nvPr/>
              </p:nvSpPr>
              <p:spPr bwMode="auto">
                <a:xfrm flipH="1">
                  <a:off x="1008" y="2544"/>
                  <a:ext cx="48"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4" name="Line 23"/>
                <p:cNvSpPr>
                  <a:spLocks noChangeShapeType="1"/>
                </p:cNvSpPr>
                <p:nvPr/>
              </p:nvSpPr>
              <p:spPr bwMode="auto">
                <a:xfrm>
                  <a:off x="1008" y="2832"/>
                  <a:ext cx="48"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5" name="Line 24"/>
                <p:cNvSpPr>
                  <a:spLocks noChangeShapeType="1"/>
                </p:cNvSpPr>
                <p:nvPr/>
              </p:nvSpPr>
              <p:spPr bwMode="auto">
                <a:xfrm>
                  <a:off x="1152" y="3072"/>
                  <a:ext cx="3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6" name="Line 25"/>
                <p:cNvSpPr>
                  <a:spLocks noChangeShapeType="1"/>
                </p:cNvSpPr>
                <p:nvPr/>
              </p:nvSpPr>
              <p:spPr bwMode="auto">
                <a:xfrm flipV="1">
                  <a:off x="1680" y="2976"/>
                  <a:ext cx="384" cy="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07" name="Oval 26"/>
                <p:cNvSpPr>
                  <a:spLocks noChangeArrowheads="1"/>
                </p:cNvSpPr>
                <p:nvPr/>
              </p:nvSpPr>
              <p:spPr bwMode="auto">
                <a:xfrm>
                  <a:off x="1296" y="2832"/>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08" name="Oval 27"/>
                <p:cNvSpPr>
                  <a:spLocks noChangeArrowheads="1"/>
                </p:cNvSpPr>
                <p:nvPr/>
              </p:nvSpPr>
              <p:spPr bwMode="auto">
                <a:xfrm>
                  <a:off x="1488" y="302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09" name="Line 28"/>
                <p:cNvSpPr>
                  <a:spLocks noChangeShapeType="1"/>
                </p:cNvSpPr>
                <p:nvPr/>
              </p:nvSpPr>
              <p:spPr bwMode="auto">
                <a:xfrm>
                  <a:off x="1152" y="2544"/>
                  <a:ext cx="192" cy="28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10" name="Group 29"/>
                <p:cNvGrpSpPr>
                  <a:grpSpLocks/>
                </p:cNvGrpSpPr>
                <p:nvPr/>
              </p:nvGrpSpPr>
              <p:grpSpPr bwMode="auto">
                <a:xfrm>
                  <a:off x="1152" y="2640"/>
                  <a:ext cx="240" cy="96"/>
                  <a:chOff x="1000" y="3128"/>
                  <a:chExt cx="320" cy="184"/>
                </a:xfrm>
              </p:grpSpPr>
              <p:sp>
                <p:nvSpPr>
                  <p:cNvPr id="989211" name="AutoShape 30"/>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12" name="Line 31"/>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13" name="Line 32"/>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14" name="Line 33"/>
                <p:cNvSpPr>
                  <a:spLocks noChangeShapeType="1"/>
                </p:cNvSpPr>
                <p:nvPr/>
              </p:nvSpPr>
              <p:spPr bwMode="auto">
                <a:xfrm flipV="1">
                  <a:off x="1488" y="2784"/>
                  <a:ext cx="240" cy="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15" name="Line 34"/>
                <p:cNvSpPr>
                  <a:spLocks noChangeShapeType="1"/>
                </p:cNvSpPr>
                <p:nvPr/>
              </p:nvSpPr>
              <p:spPr bwMode="auto">
                <a:xfrm flipH="1">
                  <a:off x="1632" y="2544"/>
                  <a:ext cx="384" cy="48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16" name="Group 35"/>
                <p:cNvGrpSpPr>
                  <a:grpSpLocks/>
                </p:cNvGrpSpPr>
                <p:nvPr/>
              </p:nvGrpSpPr>
              <p:grpSpPr bwMode="auto">
                <a:xfrm>
                  <a:off x="1728" y="2736"/>
                  <a:ext cx="240" cy="96"/>
                  <a:chOff x="1000" y="3128"/>
                  <a:chExt cx="320" cy="184"/>
                </a:xfrm>
              </p:grpSpPr>
              <p:sp>
                <p:nvSpPr>
                  <p:cNvPr id="989217" name="AutoShape 36"/>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18" name="Line 37"/>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19" name="Line 38"/>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20" name="Line 39"/>
                <p:cNvSpPr>
                  <a:spLocks noChangeShapeType="1"/>
                </p:cNvSpPr>
                <p:nvPr/>
              </p:nvSpPr>
              <p:spPr bwMode="auto">
                <a:xfrm>
                  <a:off x="2064" y="2544"/>
                  <a:ext cx="144" cy="33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21" name="Text Box 40"/>
                <p:cNvSpPr txBox="1">
                  <a:spLocks noChangeArrowheads="1"/>
                </p:cNvSpPr>
                <p:nvPr/>
              </p:nvSpPr>
              <p:spPr bwMode="auto">
                <a:xfrm>
                  <a:off x="1920" y="2993"/>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R4</a:t>
                  </a:r>
                </a:p>
              </p:txBody>
            </p:sp>
            <p:sp>
              <p:nvSpPr>
                <p:cNvPr id="989222" name="Text Box 41"/>
                <p:cNvSpPr txBox="1">
                  <a:spLocks noChangeArrowheads="1"/>
                </p:cNvSpPr>
                <p:nvPr/>
              </p:nvSpPr>
              <p:spPr bwMode="auto">
                <a:xfrm>
                  <a:off x="1164" y="3279"/>
                  <a:ext cx="8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a:t>
                  </a:r>
                </a:p>
              </p:txBody>
            </p:sp>
          </p:grpSp>
          <p:grpSp>
            <p:nvGrpSpPr>
              <p:cNvPr id="989223" name="Group 126"/>
              <p:cNvGrpSpPr>
                <a:grpSpLocks/>
              </p:cNvGrpSpPr>
              <p:nvPr/>
            </p:nvGrpSpPr>
            <p:grpSpPr bwMode="auto">
              <a:xfrm>
                <a:off x="3153" y="2625"/>
                <a:ext cx="1872" cy="1246"/>
                <a:chOff x="3153" y="2625"/>
                <a:chExt cx="1872" cy="1246"/>
              </a:xfrm>
            </p:grpSpPr>
            <p:sp>
              <p:nvSpPr>
                <p:cNvPr id="989224" name="Rectangle 43"/>
                <p:cNvSpPr>
                  <a:spLocks noChangeArrowheads="1"/>
                </p:cNvSpPr>
                <p:nvPr/>
              </p:nvSpPr>
              <p:spPr bwMode="auto">
                <a:xfrm>
                  <a:off x="3153" y="2625"/>
                  <a:ext cx="1872" cy="1008"/>
                </a:xfrm>
                <a:prstGeom prst="rect">
                  <a:avLst/>
                </a:prstGeom>
                <a:solidFill>
                  <a:srgbClr val="DDDDD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25" name="Oval 44"/>
                <p:cNvSpPr>
                  <a:spLocks noChangeArrowheads="1"/>
                </p:cNvSpPr>
                <p:nvPr/>
              </p:nvSpPr>
              <p:spPr bwMode="auto">
                <a:xfrm>
                  <a:off x="3297" y="2817"/>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26" name="Oval 45"/>
                <p:cNvSpPr>
                  <a:spLocks noChangeArrowheads="1"/>
                </p:cNvSpPr>
                <p:nvPr/>
              </p:nvSpPr>
              <p:spPr bwMode="auto">
                <a:xfrm>
                  <a:off x="3345" y="3393"/>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27" name="Oval 46"/>
                <p:cNvSpPr>
                  <a:spLocks noChangeArrowheads="1"/>
                </p:cNvSpPr>
                <p:nvPr/>
              </p:nvSpPr>
              <p:spPr bwMode="auto">
                <a:xfrm>
                  <a:off x="4689" y="3057"/>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28" name="Line 47"/>
                <p:cNvSpPr>
                  <a:spLocks noChangeShapeType="1"/>
                </p:cNvSpPr>
                <p:nvPr/>
              </p:nvSpPr>
              <p:spPr bwMode="auto">
                <a:xfrm>
                  <a:off x="3489" y="2865"/>
                  <a:ext cx="432" cy="0"/>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29" name="Line 48"/>
                <p:cNvSpPr>
                  <a:spLocks noChangeShapeType="1"/>
                </p:cNvSpPr>
                <p:nvPr/>
              </p:nvSpPr>
              <p:spPr bwMode="auto">
                <a:xfrm>
                  <a:off x="3537" y="3441"/>
                  <a:ext cx="57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30" name="Line 49"/>
                <p:cNvSpPr>
                  <a:spLocks noChangeShapeType="1"/>
                </p:cNvSpPr>
                <p:nvPr/>
              </p:nvSpPr>
              <p:spPr bwMode="auto">
                <a:xfrm flipV="1">
                  <a:off x="4257" y="3345"/>
                  <a:ext cx="288" cy="9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31" name="Oval 50"/>
                <p:cNvSpPr>
                  <a:spLocks noChangeArrowheads="1"/>
                </p:cNvSpPr>
                <p:nvPr/>
              </p:nvSpPr>
              <p:spPr bwMode="auto">
                <a:xfrm>
                  <a:off x="4113" y="3393"/>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232" name="Group 51"/>
                <p:cNvGrpSpPr>
                  <a:grpSpLocks/>
                </p:cNvGrpSpPr>
                <p:nvPr/>
              </p:nvGrpSpPr>
              <p:grpSpPr bwMode="auto">
                <a:xfrm>
                  <a:off x="3729" y="3393"/>
                  <a:ext cx="240" cy="96"/>
                  <a:chOff x="1000" y="3128"/>
                  <a:chExt cx="320" cy="184"/>
                </a:xfrm>
              </p:grpSpPr>
              <p:sp>
                <p:nvSpPr>
                  <p:cNvPr id="989233" name="AutoShape 52"/>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34" name="Line 53"/>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35" name="Line 54"/>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36" name="Line 55"/>
                <p:cNvSpPr>
                  <a:spLocks noChangeShapeType="1"/>
                </p:cNvSpPr>
                <p:nvPr/>
              </p:nvSpPr>
              <p:spPr bwMode="auto">
                <a:xfrm flipV="1">
                  <a:off x="4641" y="3153"/>
                  <a:ext cx="144" cy="14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37" name="Line 56"/>
                <p:cNvSpPr>
                  <a:spLocks noChangeShapeType="1"/>
                </p:cNvSpPr>
                <p:nvPr/>
              </p:nvSpPr>
              <p:spPr bwMode="auto">
                <a:xfrm flipH="1">
                  <a:off x="3441" y="2913"/>
                  <a:ext cx="528" cy="528"/>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38" name="Group 57"/>
                <p:cNvGrpSpPr>
                  <a:grpSpLocks/>
                </p:cNvGrpSpPr>
                <p:nvPr/>
              </p:nvGrpSpPr>
              <p:grpSpPr bwMode="auto">
                <a:xfrm>
                  <a:off x="4449" y="3297"/>
                  <a:ext cx="240" cy="96"/>
                  <a:chOff x="1000" y="3128"/>
                  <a:chExt cx="320" cy="184"/>
                </a:xfrm>
              </p:grpSpPr>
              <p:sp>
                <p:nvSpPr>
                  <p:cNvPr id="989239" name="AutoShape 58"/>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40" name="Line 59"/>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41" name="Line 60"/>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42" name="Line 61"/>
                <p:cNvSpPr>
                  <a:spLocks noChangeShapeType="1"/>
                </p:cNvSpPr>
                <p:nvPr/>
              </p:nvSpPr>
              <p:spPr bwMode="auto">
                <a:xfrm>
                  <a:off x="4209" y="2913"/>
                  <a:ext cx="480"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43" name="Group 62"/>
                <p:cNvGrpSpPr>
                  <a:grpSpLocks/>
                </p:cNvGrpSpPr>
                <p:nvPr/>
              </p:nvGrpSpPr>
              <p:grpSpPr bwMode="auto">
                <a:xfrm>
                  <a:off x="3921" y="2769"/>
                  <a:ext cx="320" cy="184"/>
                  <a:chOff x="1000" y="3128"/>
                  <a:chExt cx="320" cy="184"/>
                </a:xfrm>
              </p:grpSpPr>
              <p:sp>
                <p:nvSpPr>
                  <p:cNvPr id="989244" name="AutoShape 63"/>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45" name="Line 64"/>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46" name="Line 65"/>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47" name="Text Box 66"/>
                <p:cNvSpPr txBox="1">
                  <a:spLocks noChangeArrowheads="1"/>
                </p:cNvSpPr>
                <p:nvPr/>
              </p:nvSpPr>
              <p:spPr bwMode="auto">
                <a:xfrm>
                  <a:off x="4209" y="2642"/>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R3</a:t>
                  </a:r>
                </a:p>
              </p:txBody>
            </p:sp>
            <p:sp>
              <p:nvSpPr>
                <p:cNvPr id="989248" name="Text Box 67"/>
                <p:cNvSpPr txBox="1">
                  <a:spLocks noChangeArrowheads="1"/>
                </p:cNvSpPr>
                <p:nvPr/>
              </p:nvSpPr>
              <p:spPr bwMode="auto">
                <a:xfrm>
                  <a:off x="3729" y="3600"/>
                  <a:ext cx="8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a:t>
                  </a:r>
                </a:p>
              </p:txBody>
            </p:sp>
          </p:grpSp>
          <p:grpSp>
            <p:nvGrpSpPr>
              <p:cNvPr id="989249" name="Group 68"/>
              <p:cNvGrpSpPr>
                <a:grpSpLocks/>
              </p:cNvGrpSpPr>
              <p:nvPr/>
            </p:nvGrpSpPr>
            <p:grpSpPr bwMode="auto">
              <a:xfrm>
                <a:off x="657" y="1056"/>
                <a:ext cx="1872" cy="1281"/>
                <a:chOff x="672" y="735"/>
                <a:chExt cx="1872" cy="1281"/>
              </a:xfrm>
            </p:grpSpPr>
            <p:sp>
              <p:nvSpPr>
                <p:cNvPr id="989250" name="Rectangle 69"/>
                <p:cNvSpPr>
                  <a:spLocks noChangeArrowheads="1"/>
                </p:cNvSpPr>
                <p:nvPr/>
              </p:nvSpPr>
              <p:spPr bwMode="auto">
                <a:xfrm>
                  <a:off x="672" y="1008"/>
                  <a:ext cx="1872" cy="1008"/>
                </a:xfrm>
                <a:prstGeom prst="rect">
                  <a:avLst/>
                </a:prstGeom>
                <a:solidFill>
                  <a:srgbClr val="DDDDD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51" name="Oval 70"/>
                <p:cNvSpPr>
                  <a:spLocks noChangeArrowheads="1"/>
                </p:cNvSpPr>
                <p:nvPr/>
              </p:nvSpPr>
              <p:spPr bwMode="auto">
                <a:xfrm>
                  <a:off x="1008" y="1152"/>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252" name="Group 71"/>
                <p:cNvGrpSpPr>
                  <a:grpSpLocks/>
                </p:cNvGrpSpPr>
                <p:nvPr/>
              </p:nvGrpSpPr>
              <p:grpSpPr bwMode="auto">
                <a:xfrm>
                  <a:off x="2016" y="1104"/>
                  <a:ext cx="320" cy="184"/>
                  <a:chOff x="1000" y="3128"/>
                  <a:chExt cx="320" cy="184"/>
                </a:xfrm>
              </p:grpSpPr>
              <p:sp>
                <p:nvSpPr>
                  <p:cNvPr id="989253" name="AutoShape 72"/>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54" name="Line 73"/>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55" name="Line 74"/>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56" name="Oval 75"/>
                <p:cNvSpPr>
                  <a:spLocks noChangeArrowheads="1"/>
                </p:cNvSpPr>
                <p:nvPr/>
              </p:nvSpPr>
              <p:spPr bwMode="auto">
                <a:xfrm>
                  <a:off x="960" y="1728"/>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57" name="Oval 76"/>
                <p:cNvSpPr>
                  <a:spLocks noChangeArrowheads="1"/>
                </p:cNvSpPr>
                <p:nvPr/>
              </p:nvSpPr>
              <p:spPr bwMode="auto">
                <a:xfrm>
                  <a:off x="2064" y="1632"/>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258" name="Group 77"/>
                <p:cNvGrpSpPr>
                  <a:grpSpLocks/>
                </p:cNvGrpSpPr>
                <p:nvPr/>
              </p:nvGrpSpPr>
              <p:grpSpPr bwMode="auto">
                <a:xfrm>
                  <a:off x="864" y="1440"/>
                  <a:ext cx="240" cy="96"/>
                  <a:chOff x="1000" y="3128"/>
                  <a:chExt cx="320" cy="184"/>
                </a:xfrm>
              </p:grpSpPr>
              <p:sp>
                <p:nvSpPr>
                  <p:cNvPr id="989259" name="AutoShape 78"/>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60" name="Line 79"/>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1" name="Line 80"/>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grpSp>
              <p:nvGrpSpPr>
                <p:cNvPr id="989262" name="Group 81"/>
                <p:cNvGrpSpPr>
                  <a:grpSpLocks/>
                </p:cNvGrpSpPr>
                <p:nvPr/>
              </p:nvGrpSpPr>
              <p:grpSpPr bwMode="auto">
                <a:xfrm>
                  <a:off x="1488" y="1776"/>
                  <a:ext cx="240" cy="96"/>
                  <a:chOff x="1000" y="3128"/>
                  <a:chExt cx="320" cy="184"/>
                </a:xfrm>
              </p:grpSpPr>
              <p:sp>
                <p:nvSpPr>
                  <p:cNvPr id="989263" name="AutoShape 82"/>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64" name="Line 83"/>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5" name="Line 84"/>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66" name="Line 85"/>
                <p:cNvSpPr>
                  <a:spLocks noChangeShapeType="1"/>
                </p:cNvSpPr>
                <p:nvPr/>
              </p:nvSpPr>
              <p:spPr bwMode="auto">
                <a:xfrm>
                  <a:off x="1200" y="1200"/>
                  <a:ext cx="81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7" name="Line 86"/>
                <p:cNvSpPr>
                  <a:spLocks noChangeShapeType="1"/>
                </p:cNvSpPr>
                <p:nvPr/>
              </p:nvSpPr>
              <p:spPr bwMode="auto">
                <a:xfrm flipH="1">
                  <a:off x="1008" y="1248"/>
                  <a:ext cx="48"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8" name="Line 87"/>
                <p:cNvSpPr>
                  <a:spLocks noChangeShapeType="1"/>
                </p:cNvSpPr>
                <p:nvPr/>
              </p:nvSpPr>
              <p:spPr bwMode="auto">
                <a:xfrm>
                  <a:off x="1008" y="1536"/>
                  <a:ext cx="48" cy="192"/>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69" name="Line 88"/>
                <p:cNvSpPr>
                  <a:spLocks noChangeShapeType="1"/>
                </p:cNvSpPr>
                <p:nvPr/>
              </p:nvSpPr>
              <p:spPr bwMode="auto">
                <a:xfrm>
                  <a:off x="1152" y="1776"/>
                  <a:ext cx="336" cy="4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70" name="Line 89"/>
                <p:cNvSpPr>
                  <a:spLocks noChangeShapeType="1"/>
                </p:cNvSpPr>
                <p:nvPr/>
              </p:nvSpPr>
              <p:spPr bwMode="auto">
                <a:xfrm flipV="1">
                  <a:off x="1728" y="1680"/>
                  <a:ext cx="336" cy="14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71" name="Line 90"/>
                <p:cNvSpPr>
                  <a:spLocks noChangeShapeType="1"/>
                </p:cNvSpPr>
                <p:nvPr/>
              </p:nvSpPr>
              <p:spPr bwMode="auto">
                <a:xfrm>
                  <a:off x="2160" y="1296"/>
                  <a:ext cx="0" cy="336"/>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72" name="Text Box 91"/>
                <p:cNvSpPr txBox="1">
                  <a:spLocks noChangeArrowheads="1"/>
                </p:cNvSpPr>
                <p:nvPr/>
              </p:nvSpPr>
              <p:spPr bwMode="auto">
                <a:xfrm>
                  <a:off x="1164" y="735"/>
                  <a:ext cx="8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a:t>
                  </a:r>
                </a:p>
              </p:txBody>
            </p:sp>
          </p:grpSp>
          <p:grpSp>
            <p:nvGrpSpPr>
              <p:cNvPr id="989273" name="Group 92"/>
              <p:cNvGrpSpPr>
                <a:grpSpLocks/>
              </p:cNvGrpSpPr>
              <p:nvPr/>
            </p:nvGrpSpPr>
            <p:grpSpPr bwMode="auto">
              <a:xfrm>
                <a:off x="3153" y="1056"/>
                <a:ext cx="1872" cy="1281"/>
                <a:chOff x="3168" y="735"/>
                <a:chExt cx="1872" cy="1281"/>
              </a:xfrm>
            </p:grpSpPr>
            <p:sp>
              <p:nvSpPr>
                <p:cNvPr id="989274" name="Rectangle 93"/>
                <p:cNvSpPr>
                  <a:spLocks noChangeArrowheads="1"/>
                </p:cNvSpPr>
                <p:nvPr/>
              </p:nvSpPr>
              <p:spPr bwMode="auto">
                <a:xfrm>
                  <a:off x="3168" y="1008"/>
                  <a:ext cx="1872" cy="1008"/>
                </a:xfrm>
                <a:prstGeom prst="rect">
                  <a:avLst/>
                </a:prstGeom>
                <a:solidFill>
                  <a:srgbClr val="DDDDD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75" name="Oval 94"/>
                <p:cNvSpPr>
                  <a:spLocks noChangeArrowheads="1"/>
                </p:cNvSpPr>
                <p:nvPr/>
              </p:nvSpPr>
              <p:spPr bwMode="auto">
                <a:xfrm>
                  <a:off x="3360" y="134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76" name="Oval 95"/>
                <p:cNvSpPr>
                  <a:spLocks noChangeArrowheads="1"/>
                </p:cNvSpPr>
                <p:nvPr/>
              </p:nvSpPr>
              <p:spPr bwMode="auto">
                <a:xfrm>
                  <a:off x="3936" y="1776"/>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77" name="Oval 96"/>
                <p:cNvSpPr>
                  <a:spLocks noChangeArrowheads="1"/>
                </p:cNvSpPr>
                <p:nvPr/>
              </p:nvSpPr>
              <p:spPr bwMode="auto">
                <a:xfrm>
                  <a:off x="4704" y="1776"/>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78" name="Line 97"/>
                <p:cNvSpPr>
                  <a:spLocks noChangeShapeType="1"/>
                </p:cNvSpPr>
                <p:nvPr/>
              </p:nvSpPr>
              <p:spPr bwMode="auto">
                <a:xfrm>
                  <a:off x="4224" y="1200"/>
                  <a:ext cx="528" cy="576"/>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79" name="Line 98"/>
                <p:cNvSpPr>
                  <a:spLocks noChangeShapeType="1"/>
                </p:cNvSpPr>
                <p:nvPr/>
              </p:nvSpPr>
              <p:spPr bwMode="auto">
                <a:xfrm flipH="1">
                  <a:off x="3504" y="1152"/>
                  <a:ext cx="624" cy="24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0" name="Line 99"/>
                <p:cNvSpPr>
                  <a:spLocks noChangeShapeType="1"/>
                </p:cNvSpPr>
                <p:nvPr/>
              </p:nvSpPr>
              <p:spPr bwMode="auto">
                <a:xfrm>
                  <a:off x="4752" y="1200"/>
                  <a:ext cx="48" cy="62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1" name="Line 100"/>
                <p:cNvSpPr>
                  <a:spLocks noChangeShapeType="1"/>
                </p:cNvSpPr>
                <p:nvPr/>
              </p:nvSpPr>
              <p:spPr bwMode="auto">
                <a:xfrm>
                  <a:off x="3648" y="1824"/>
                  <a:ext cx="33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2" name="Line 101"/>
                <p:cNvSpPr>
                  <a:spLocks noChangeShapeType="1"/>
                </p:cNvSpPr>
                <p:nvPr/>
              </p:nvSpPr>
              <p:spPr bwMode="auto">
                <a:xfrm flipV="1">
                  <a:off x="4080" y="1152"/>
                  <a:ext cx="624" cy="624"/>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nvGrpSpPr>
                <p:cNvPr id="989283" name="Group 102"/>
                <p:cNvGrpSpPr>
                  <a:grpSpLocks/>
                </p:cNvGrpSpPr>
                <p:nvPr/>
              </p:nvGrpSpPr>
              <p:grpSpPr bwMode="auto">
                <a:xfrm>
                  <a:off x="4304" y="1392"/>
                  <a:ext cx="240" cy="96"/>
                  <a:chOff x="1000" y="3128"/>
                  <a:chExt cx="320" cy="184"/>
                </a:xfrm>
              </p:grpSpPr>
              <p:sp>
                <p:nvSpPr>
                  <p:cNvPr id="989284" name="AutoShape 103"/>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85" name="Line 104"/>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6" name="Line 105"/>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287" name="Line 106"/>
                <p:cNvSpPr>
                  <a:spLocks noChangeShapeType="1"/>
                </p:cNvSpPr>
                <p:nvPr/>
              </p:nvSpPr>
              <p:spPr bwMode="auto">
                <a:xfrm flipH="1">
                  <a:off x="3456" y="1440"/>
                  <a:ext cx="0" cy="288"/>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88" name="Oval 107"/>
                <p:cNvSpPr>
                  <a:spLocks noChangeArrowheads="1"/>
                </p:cNvSpPr>
                <p:nvPr/>
              </p:nvSpPr>
              <p:spPr bwMode="auto">
                <a:xfrm>
                  <a:off x="4080" y="110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89" name="Oval 108"/>
                <p:cNvSpPr>
                  <a:spLocks noChangeArrowheads="1"/>
                </p:cNvSpPr>
                <p:nvPr/>
              </p:nvSpPr>
              <p:spPr bwMode="auto">
                <a:xfrm>
                  <a:off x="4656" y="1104"/>
                  <a:ext cx="192" cy="96"/>
                </a:xfrm>
                <a:prstGeom prst="ellipse">
                  <a:avLst/>
                </a:prstGeom>
                <a:solidFill>
                  <a:schemeClr val="tx1"/>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grpSp>
              <p:nvGrpSpPr>
                <p:cNvPr id="989290" name="Group 109"/>
                <p:cNvGrpSpPr>
                  <a:grpSpLocks/>
                </p:cNvGrpSpPr>
                <p:nvPr/>
              </p:nvGrpSpPr>
              <p:grpSpPr bwMode="auto">
                <a:xfrm>
                  <a:off x="3696" y="1200"/>
                  <a:ext cx="240" cy="96"/>
                  <a:chOff x="1000" y="3128"/>
                  <a:chExt cx="320" cy="184"/>
                </a:xfrm>
              </p:grpSpPr>
              <p:sp>
                <p:nvSpPr>
                  <p:cNvPr id="989291" name="AutoShape 110"/>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92" name="Line 111"/>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93" name="Line 112"/>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grpSp>
              <p:nvGrpSpPr>
                <p:cNvPr id="989294" name="Group 113"/>
                <p:cNvGrpSpPr>
                  <a:grpSpLocks/>
                </p:cNvGrpSpPr>
                <p:nvPr/>
              </p:nvGrpSpPr>
              <p:grpSpPr bwMode="auto">
                <a:xfrm>
                  <a:off x="4656" y="1392"/>
                  <a:ext cx="240" cy="96"/>
                  <a:chOff x="1000" y="3128"/>
                  <a:chExt cx="320" cy="184"/>
                </a:xfrm>
              </p:grpSpPr>
              <p:sp>
                <p:nvSpPr>
                  <p:cNvPr id="989295" name="AutoShape 114"/>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296" name="Line 115"/>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297" name="Line 116"/>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grpSp>
              <p:nvGrpSpPr>
                <p:cNvPr id="989298" name="Group 117"/>
                <p:cNvGrpSpPr>
                  <a:grpSpLocks/>
                </p:cNvGrpSpPr>
                <p:nvPr/>
              </p:nvGrpSpPr>
              <p:grpSpPr bwMode="auto">
                <a:xfrm>
                  <a:off x="3328" y="1688"/>
                  <a:ext cx="320" cy="184"/>
                  <a:chOff x="1000" y="3128"/>
                  <a:chExt cx="320" cy="184"/>
                </a:xfrm>
              </p:grpSpPr>
              <p:sp>
                <p:nvSpPr>
                  <p:cNvPr id="989299" name="AutoShape 118"/>
                  <p:cNvSpPr>
                    <a:spLocks noChangeArrowheads="1"/>
                  </p:cNvSpPr>
                  <p:nvPr/>
                </p:nvSpPr>
                <p:spPr bwMode="auto">
                  <a:xfrm>
                    <a:off x="1000" y="3128"/>
                    <a:ext cx="320" cy="184"/>
                  </a:xfrm>
                  <a:prstGeom prst="can">
                    <a:avLst>
                      <a:gd name="adj" fmla="val 50000"/>
                    </a:avLst>
                  </a:prstGeom>
                  <a:solidFill>
                    <a:srgbClr val="4D4D4D"/>
                  </a:solidFill>
                  <a:ln w="9525">
                    <a:solidFill>
                      <a:schemeClr val="tx1"/>
                    </a:solidFill>
                    <a:miter lim="800000"/>
                    <a:headEnd/>
                    <a:tailEnd/>
                  </a:ln>
                </p:spPr>
                <p:txBody>
                  <a:bodyPr wrap="none" anchor="ctr"/>
                  <a:lstStyle/>
                  <a:p>
                    <a:pPr eaLnBrk="0" hangingPunct="0"/>
                    <a:endParaRPr lang="zh-CN" altLang="en-US" sz="2400" b="1">
                      <a:solidFill>
                        <a:srgbClr val="0000CC"/>
                      </a:solidFill>
                      <a:ea typeface="黑体" panose="02010609060101010101" pitchFamily="49" charset="-122"/>
                    </a:endParaRPr>
                  </a:p>
                </p:txBody>
              </p:sp>
              <p:sp>
                <p:nvSpPr>
                  <p:cNvPr id="989300" name="Line 119"/>
                  <p:cNvSpPr>
                    <a:spLocks noChangeShapeType="1"/>
                  </p:cNvSpPr>
                  <p:nvPr/>
                </p:nvSpPr>
                <p:spPr bwMode="auto">
                  <a:xfrm>
                    <a:off x="1104"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301" name="Line 120"/>
                  <p:cNvSpPr>
                    <a:spLocks noChangeShapeType="1"/>
                  </p:cNvSpPr>
                  <p:nvPr/>
                </p:nvSpPr>
                <p:spPr bwMode="auto">
                  <a:xfrm flipH="1">
                    <a:off x="1096" y="3144"/>
                    <a:ext cx="144" cy="48"/>
                  </a:xfrm>
                  <a:prstGeom prst="line">
                    <a:avLst/>
                  </a:prstGeom>
                  <a:noFill/>
                  <a:ln w="28575">
                    <a:solidFill>
                      <a:schemeClr val="bg1"/>
                    </a:solidFill>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302" name="Text Box 121"/>
                <p:cNvSpPr txBox="1">
                  <a:spLocks noChangeArrowheads="1"/>
                </p:cNvSpPr>
                <p:nvPr/>
              </p:nvSpPr>
              <p:spPr bwMode="auto">
                <a:xfrm>
                  <a:off x="3586" y="1505"/>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R2</a:t>
                  </a:r>
                </a:p>
              </p:txBody>
            </p:sp>
            <p:sp>
              <p:nvSpPr>
                <p:cNvPr id="989303" name="Text Box 122"/>
                <p:cNvSpPr txBox="1">
                  <a:spLocks noChangeArrowheads="1"/>
                </p:cNvSpPr>
                <p:nvPr/>
              </p:nvSpPr>
              <p:spPr bwMode="auto">
                <a:xfrm>
                  <a:off x="3744" y="735"/>
                  <a:ext cx="83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a:t>
                  </a:r>
                </a:p>
              </p:txBody>
            </p:sp>
          </p:grpSp>
          <p:sp>
            <p:nvSpPr>
              <p:cNvPr id="989304" name="Line 123"/>
              <p:cNvSpPr>
                <a:spLocks noChangeShapeType="1"/>
              </p:cNvSpPr>
              <p:nvPr/>
            </p:nvSpPr>
            <p:spPr bwMode="auto">
              <a:xfrm>
                <a:off x="2241" y="2001"/>
                <a:ext cx="1056" cy="96"/>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305" name="Line 124"/>
              <p:cNvSpPr>
                <a:spLocks noChangeShapeType="1"/>
              </p:cNvSpPr>
              <p:nvPr/>
            </p:nvSpPr>
            <p:spPr bwMode="auto">
              <a:xfrm flipH="1">
                <a:off x="3393" y="2193"/>
                <a:ext cx="96" cy="672"/>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sp>
            <p:nvSpPr>
              <p:cNvPr id="989306" name="Line 125"/>
              <p:cNvSpPr>
                <a:spLocks noChangeShapeType="1"/>
              </p:cNvSpPr>
              <p:nvPr/>
            </p:nvSpPr>
            <p:spPr bwMode="auto">
              <a:xfrm flipH="1" flipV="1">
                <a:off x="2385" y="3297"/>
                <a:ext cx="1008" cy="144"/>
              </a:xfrm>
              <a:prstGeom prst="line">
                <a:avLst/>
              </a:prstGeom>
              <a:noFill/>
              <a:ln w="28575">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pPr eaLnBrk="0" hangingPunct="0"/>
                <a:endParaRPr lang="zh-CN" altLang="en-US" sz="2400" b="1">
                  <a:solidFill>
                    <a:srgbClr val="0000CC"/>
                  </a:solidFill>
                  <a:ea typeface="黑体" panose="02010609060101010101" pitchFamily="49" charset="-122"/>
                </a:endParaRPr>
              </a:p>
            </p:txBody>
          </p:sp>
        </p:grpSp>
        <p:sp>
          <p:nvSpPr>
            <p:cNvPr id="989307" name="Rectangle 249"/>
            <p:cNvSpPr>
              <a:spLocks noChangeArrowheads="1"/>
            </p:cNvSpPr>
            <p:nvPr/>
          </p:nvSpPr>
          <p:spPr bwMode="auto">
            <a:xfrm>
              <a:off x="1728" y="1584"/>
              <a:ext cx="34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R1</a:t>
              </a:r>
            </a:p>
          </p:txBody>
        </p:sp>
      </p:grpSp>
      <p:sp>
        <p:nvSpPr>
          <p:cNvPr id="989308" name="灯片编号占位符 12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A4E431-148D-4870-B884-659E9F2842DA}" type="slidenum">
              <a:rPr lang="zh-CN" altLang="en-US" smtClean="0"/>
              <a:pPr eaLnBrk="1" hangingPunct="1"/>
              <a:t>8</a:t>
            </a:fld>
            <a:endParaRPr lang="en-US" altLang="zh-CN" smtClean="0"/>
          </a:p>
        </p:txBody>
      </p:sp>
      <p:sp>
        <p:nvSpPr>
          <p:cNvPr id="989309" name="页脚占位符 12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互联网有两大类路由选择协议 </a:t>
            </a:r>
          </a:p>
        </p:txBody>
      </p:sp>
      <p:sp>
        <p:nvSpPr>
          <p:cNvPr id="551939"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内部网关协议 </a:t>
            </a:r>
            <a:r>
              <a:rPr lang="en-US" altLang="zh-CN" u="sng" dirty="0" smtClean="0">
                <a:ea typeface="黑体" panose="02010609060101010101" pitchFamily="49" charset="-122"/>
              </a:rPr>
              <a:t>IGP (Interior Gateway Protocol)  </a:t>
            </a:r>
          </a:p>
          <a:p>
            <a:pPr lvl="1"/>
            <a:r>
              <a:rPr lang="zh-CN" altLang="en-US" dirty="0" smtClean="0">
                <a:ea typeface="黑体" panose="02010609060101010101" pitchFamily="49" charset="-122"/>
              </a:rPr>
              <a:t>在一个自治系统</a:t>
            </a:r>
            <a:r>
              <a:rPr lang="zh-CN" altLang="en-US" dirty="0" smtClean="0">
                <a:solidFill>
                  <a:srgbClr val="FF0000"/>
                </a:solidFill>
                <a:ea typeface="黑体" panose="02010609060101010101" pitchFamily="49" charset="-122"/>
              </a:rPr>
              <a:t>内部使用</a:t>
            </a:r>
            <a:r>
              <a:rPr lang="zh-CN" altLang="en-US" dirty="0" smtClean="0">
                <a:ea typeface="黑体" panose="02010609060101010101" pitchFamily="49" charset="-122"/>
              </a:rPr>
              <a:t>的路由选择协议。</a:t>
            </a:r>
            <a:endParaRPr lang="en-US" altLang="zh-CN" dirty="0" smtClean="0">
              <a:ea typeface="黑体" panose="02010609060101010101" pitchFamily="49" charset="-122"/>
            </a:endParaRPr>
          </a:p>
          <a:p>
            <a:pPr lvl="1"/>
            <a:r>
              <a:rPr lang="zh-CN" altLang="en-US" dirty="0" smtClean="0">
                <a:ea typeface="黑体" panose="02010609060101010101" pitchFamily="49" charset="-122"/>
              </a:rPr>
              <a:t>目前这类路由选择协议使用得最多，如 </a:t>
            </a:r>
            <a:r>
              <a:rPr lang="en-US" altLang="zh-CN" dirty="0" smtClean="0">
                <a:ea typeface="黑体" panose="02010609060101010101" pitchFamily="49" charset="-122"/>
              </a:rPr>
              <a:t>RIP </a:t>
            </a:r>
            <a:r>
              <a:rPr lang="zh-CN" altLang="en-US" dirty="0" smtClean="0">
                <a:ea typeface="黑体" panose="02010609060101010101" pitchFamily="49" charset="-122"/>
              </a:rPr>
              <a:t>和 </a:t>
            </a:r>
            <a:r>
              <a:rPr lang="en-US" altLang="zh-CN" dirty="0" smtClean="0">
                <a:ea typeface="黑体" panose="02010609060101010101" pitchFamily="49" charset="-122"/>
              </a:rPr>
              <a:t>OSPF </a:t>
            </a:r>
            <a:r>
              <a:rPr lang="zh-CN" altLang="en-US" dirty="0" smtClean="0">
                <a:ea typeface="黑体" panose="02010609060101010101" pitchFamily="49" charset="-122"/>
              </a:rPr>
              <a:t>协议。</a:t>
            </a:r>
          </a:p>
          <a:p>
            <a:r>
              <a:rPr lang="zh-CN" altLang="en-US" u="sng" dirty="0" smtClean="0">
                <a:solidFill>
                  <a:srgbClr val="FF0000"/>
                </a:solidFill>
                <a:ea typeface="黑体" panose="02010609060101010101" pitchFamily="49" charset="-122"/>
              </a:rPr>
              <a:t>外部网关协议 </a:t>
            </a:r>
            <a:r>
              <a:rPr lang="en-US" altLang="zh-CN" u="sng" dirty="0" smtClean="0">
                <a:ea typeface="黑体" panose="02010609060101010101" pitchFamily="49" charset="-122"/>
              </a:rPr>
              <a:t>EGP (</a:t>
            </a:r>
            <a:r>
              <a:rPr lang="en-US" altLang="zh-CN" sz="2800" u="sng" dirty="0" smtClean="0">
                <a:ea typeface="黑体" panose="02010609060101010101" pitchFamily="49" charset="-122"/>
              </a:rPr>
              <a:t>External Gateway Protocol</a:t>
            </a:r>
            <a:r>
              <a:rPr lang="en-US" altLang="zh-CN" u="sng" dirty="0" smtClean="0">
                <a:ea typeface="黑体" panose="02010609060101010101" pitchFamily="49" charset="-122"/>
              </a:rPr>
              <a:t>) </a:t>
            </a:r>
          </a:p>
          <a:p>
            <a:pPr lvl="1"/>
            <a:r>
              <a:rPr lang="zh-CN" altLang="en-US" dirty="0" smtClean="0">
                <a:ea typeface="黑体" panose="02010609060101010101" pitchFamily="49" charset="-122"/>
              </a:rPr>
              <a:t>若源站和目的站处在不同的自治系统中，当数据报传到一个自治系统的边界时，就需要使用一种协议</a:t>
            </a:r>
            <a:r>
              <a:rPr lang="zh-CN" altLang="en-US" dirty="0" smtClean="0">
                <a:solidFill>
                  <a:srgbClr val="FF0000"/>
                </a:solidFill>
                <a:ea typeface="黑体" panose="02010609060101010101" pitchFamily="49" charset="-122"/>
              </a:rPr>
              <a:t>将路由选择信息传递到另一个自治系统中。</a:t>
            </a:r>
            <a:r>
              <a:rPr lang="zh-CN" altLang="en-US" dirty="0" smtClean="0">
                <a:ea typeface="黑体" panose="02010609060101010101" pitchFamily="49" charset="-122"/>
              </a:rPr>
              <a:t>这样的协议就是外部网关协议 </a:t>
            </a:r>
            <a:r>
              <a:rPr lang="en-US" altLang="zh-CN" dirty="0" smtClean="0">
                <a:ea typeface="黑体" panose="02010609060101010101" pitchFamily="49" charset="-122"/>
              </a:rPr>
              <a:t>EGP</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a:r>
              <a:rPr lang="zh-CN" altLang="en-US" dirty="0" smtClean="0">
                <a:ea typeface="黑体" panose="02010609060101010101" pitchFamily="49" charset="-122"/>
              </a:rPr>
              <a:t>在外部网关协议中目前使用最多的是 </a:t>
            </a:r>
            <a:r>
              <a:rPr lang="en-US" altLang="zh-CN" dirty="0" smtClean="0">
                <a:ea typeface="黑体" panose="02010609060101010101" pitchFamily="49" charset="-122"/>
              </a:rPr>
              <a:t>BGP-4</a:t>
            </a:r>
            <a:r>
              <a:rPr lang="zh-CN" altLang="en-US" dirty="0" smtClean="0">
                <a:ea typeface="黑体" panose="02010609060101010101" pitchFamily="49" charset="-122"/>
              </a:rPr>
              <a:t>。  </a:t>
            </a:r>
          </a:p>
        </p:txBody>
      </p:sp>
      <p:sp>
        <p:nvSpPr>
          <p:cNvPr id="9902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E218F2-7921-46E0-914F-2A4C0FB72805}" type="slidenum">
              <a:rPr lang="zh-CN" altLang="en-US" smtClean="0"/>
              <a:pPr eaLnBrk="1" hangingPunct="1"/>
              <a:t>9</a:t>
            </a:fld>
            <a:endParaRPr lang="en-US" altLang="zh-CN" smtClean="0"/>
          </a:p>
        </p:txBody>
      </p:sp>
      <p:sp>
        <p:nvSpPr>
          <p:cNvPr id="9902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519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19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5193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193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193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1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7" name="Rectangle 135"/>
          <p:cNvSpPr>
            <a:spLocks noGrp="1" noChangeArrowheads="1"/>
          </p:cNvSpPr>
          <p:nvPr>
            <p:ph type="title" idx="4294967295"/>
          </p:nvPr>
        </p:nvSpPr>
        <p:spPr>
          <a:xfrm>
            <a:off x="488950" y="692150"/>
            <a:ext cx="9066213" cy="792163"/>
          </a:xfrm>
        </p:spPr>
        <p:txBody>
          <a:bodyPr/>
          <a:lstStyle/>
          <a:p>
            <a:pPr algn="ctr"/>
            <a:r>
              <a:rPr lang="zh-CN" altLang="en-US" smtClean="0">
                <a:ea typeface="黑体" panose="02010609060101010101" pitchFamily="49" charset="-122"/>
              </a:rPr>
              <a:t>自治系统和</a:t>
            </a:r>
            <a:br>
              <a:rPr lang="zh-CN" altLang="en-US" smtClean="0">
                <a:ea typeface="黑体" panose="02010609060101010101" pitchFamily="49" charset="-122"/>
              </a:rPr>
            </a:br>
            <a:r>
              <a:rPr lang="zh-CN" altLang="en-US" smtClean="0">
                <a:ea typeface="黑体" panose="02010609060101010101" pitchFamily="49" charset="-122"/>
              </a:rPr>
              <a:t>内部网关协议、外部网关协议 </a:t>
            </a:r>
          </a:p>
        </p:txBody>
      </p:sp>
      <p:grpSp>
        <p:nvGrpSpPr>
          <p:cNvPr id="992258" name="组合 2"/>
          <p:cNvGrpSpPr>
            <a:grpSpLocks/>
          </p:cNvGrpSpPr>
          <p:nvPr/>
        </p:nvGrpSpPr>
        <p:grpSpPr bwMode="auto">
          <a:xfrm>
            <a:off x="273050" y="1628775"/>
            <a:ext cx="9517063" cy="3976688"/>
            <a:chOff x="271728" y="1772816"/>
            <a:chExt cx="9517326" cy="3977283"/>
          </a:xfrm>
        </p:grpSpPr>
        <p:grpSp>
          <p:nvGrpSpPr>
            <p:cNvPr id="992259" name="组合 1"/>
            <p:cNvGrpSpPr>
              <a:grpSpLocks/>
            </p:cNvGrpSpPr>
            <p:nvPr/>
          </p:nvGrpSpPr>
          <p:grpSpPr bwMode="auto">
            <a:xfrm>
              <a:off x="271728" y="1772816"/>
              <a:ext cx="9517326" cy="2397547"/>
              <a:chOff x="271728" y="1772816"/>
              <a:chExt cx="9517326" cy="2397547"/>
            </a:xfrm>
          </p:grpSpPr>
          <p:grpSp>
            <p:nvGrpSpPr>
              <p:cNvPr id="992260" name="Group 136"/>
              <p:cNvGrpSpPr>
                <a:grpSpLocks/>
              </p:cNvGrpSpPr>
              <p:nvPr/>
            </p:nvGrpSpPr>
            <p:grpSpPr bwMode="auto">
              <a:xfrm>
                <a:off x="271728" y="2311400"/>
                <a:ext cx="2997597" cy="1727200"/>
                <a:chOff x="912" y="768"/>
                <a:chExt cx="2400" cy="1584"/>
              </a:xfrm>
            </p:grpSpPr>
            <p:sp>
              <p:nvSpPr>
                <p:cNvPr id="992261" name="Oval 13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2" name="Oval 13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3" name="Oval 13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4" name="Oval 14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5" name="Oval 14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6" name="Oval 14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7" name="Oval 14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8" name="Oval 14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69" name="Oval 14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nvGrpSpPr>
                <p:cNvPr id="992270" name="Group 146"/>
                <p:cNvGrpSpPr>
                  <a:grpSpLocks/>
                </p:cNvGrpSpPr>
                <p:nvPr/>
              </p:nvGrpSpPr>
              <p:grpSpPr bwMode="auto">
                <a:xfrm>
                  <a:off x="912" y="768"/>
                  <a:ext cx="2386" cy="1553"/>
                  <a:chOff x="912" y="768"/>
                  <a:chExt cx="2386" cy="1553"/>
                </a:xfrm>
              </p:grpSpPr>
              <p:sp>
                <p:nvSpPr>
                  <p:cNvPr id="992271" name="Oval 14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2" name="Oval 14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3" name="Oval 14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4" name="Oval 15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5" name="Oval 15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6" name="Oval 15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7" name="Oval 15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8" name="Oval 15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79" name="Oval 15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grpSp>
            <p:nvGrpSpPr>
              <p:cNvPr id="992280" name="Group 156"/>
              <p:cNvGrpSpPr>
                <a:grpSpLocks/>
              </p:cNvGrpSpPr>
              <p:nvPr/>
            </p:nvGrpSpPr>
            <p:grpSpPr bwMode="auto">
              <a:xfrm>
                <a:off x="6500812" y="2182813"/>
                <a:ext cx="3288242" cy="1987550"/>
                <a:chOff x="912" y="768"/>
                <a:chExt cx="2400" cy="1584"/>
              </a:xfrm>
            </p:grpSpPr>
            <p:sp>
              <p:nvSpPr>
                <p:cNvPr id="992281" name="Oval 15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2" name="Oval 15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3" name="Oval 15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4" name="Oval 16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5" name="Oval 16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6" name="Oval 16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7" name="Oval 16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8" name="Oval 16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89" name="Oval 16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nvGrpSpPr>
                <p:cNvPr id="992290" name="Group 166"/>
                <p:cNvGrpSpPr>
                  <a:grpSpLocks/>
                </p:cNvGrpSpPr>
                <p:nvPr/>
              </p:nvGrpSpPr>
              <p:grpSpPr bwMode="auto">
                <a:xfrm>
                  <a:off x="912" y="768"/>
                  <a:ext cx="2386" cy="1553"/>
                  <a:chOff x="912" y="768"/>
                  <a:chExt cx="2386" cy="1553"/>
                </a:xfrm>
              </p:grpSpPr>
              <p:sp>
                <p:nvSpPr>
                  <p:cNvPr id="992291" name="Oval 16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2" name="Oval 16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3" name="Oval 16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4" name="Oval 17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5" name="Oval 17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6" name="Oval 17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7" name="Oval 17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8" name="Oval 17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92299" name="Oval 17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sp>
            <p:nvSpPr>
              <p:cNvPr id="992300" name="Text Box 176"/>
              <p:cNvSpPr txBox="1">
                <a:spLocks noChangeArrowheads="1"/>
              </p:cNvSpPr>
              <p:nvPr/>
            </p:nvSpPr>
            <p:spPr bwMode="auto">
              <a:xfrm>
                <a:off x="707399" y="2865636"/>
                <a:ext cx="21210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 </a:t>
                </a:r>
                <a:r>
                  <a:rPr lang="zh-CN" altLang="en-US" sz="2000" b="1">
                    <a:solidFill>
                      <a:srgbClr val="0000CC"/>
                    </a:solidFill>
                    <a:ea typeface="黑体" panose="02010609060101010101" pitchFamily="49" charset="-122"/>
                  </a:rPr>
                  <a:t>用内部网关协议</a:t>
                </a:r>
              </a:p>
              <a:p>
                <a:pPr algn="ctr" eaLnBrk="0" hangingPunct="0"/>
                <a:r>
                  <a:rPr lang="zh-CN" altLang="en-US" sz="2000" b="1">
                    <a:solidFill>
                      <a:srgbClr val="0000CC"/>
                    </a:solidFill>
                    <a:ea typeface="黑体" panose="02010609060101010101" pitchFamily="49" charset="-122"/>
                  </a:rPr>
                  <a:t>（例如，</a:t>
                </a:r>
                <a:r>
                  <a:rPr lang="en-US" altLang="zh-CN" sz="2000" b="1">
                    <a:solidFill>
                      <a:srgbClr val="0000CC"/>
                    </a:solidFill>
                    <a:ea typeface="黑体" panose="02010609060101010101" pitchFamily="49" charset="-122"/>
                  </a:rPr>
                  <a:t>RIP</a:t>
                </a:r>
                <a:r>
                  <a:rPr lang="zh-CN" altLang="en-US" sz="2000" b="1">
                    <a:solidFill>
                      <a:srgbClr val="0000CC"/>
                    </a:solidFill>
                    <a:ea typeface="黑体" panose="02010609060101010101" pitchFamily="49" charset="-122"/>
                  </a:rPr>
                  <a:t>）</a:t>
                </a:r>
              </a:p>
            </p:txBody>
          </p:sp>
          <p:sp>
            <p:nvSpPr>
              <p:cNvPr id="992301" name="Text Box 177"/>
              <p:cNvSpPr txBox="1">
                <a:spLocks noChangeArrowheads="1"/>
              </p:cNvSpPr>
              <p:nvPr/>
            </p:nvSpPr>
            <p:spPr bwMode="auto">
              <a:xfrm>
                <a:off x="7474455" y="1772816"/>
                <a:ext cx="17299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自治系统 </a:t>
                </a:r>
                <a:r>
                  <a:rPr lang="en-US" altLang="zh-CN" sz="2400" b="1">
                    <a:solidFill>
                      <a:srgbClr val="C00000"/>
                    </a:solidFill>
                    <a:ea typeface="黑体" panose="02010609060101010101" pitchFamily="49" charset="-122"/>
                  </a:rPr>
                  <a:t>B</a:t>
                </a:r>
              </a:p>
            </p:txBody>
          </p:sp>
          <p:sp>
            <p:nvSpPr>
              <p:cNvPr id="992302" name="Text Box 178"/>
              <p:cNvSpPr txBox="1">
                <a:spLocks noChangeArrowheads="1"/>
              </p:cNvSpPr>
              <p:nvPr/>
            </p:nvSpPr>
            <p:spPr bwMode="auto">
              <a:xfrm>
                <a:off x="992560" y="1901404"/>
                <a:ext cx="17185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自治系统 </a:t>
                </a:r>
                <a:r>
                  <a:rPr lang="en-US" altLang="zh-CN" sz="2400" b="1">
                    <a:solidFill>
                      <a:srgbClr val="C00000"/>
                    </a:solidFill>
                    <a:ea typeface="黑体" panose="02010609060101010101" pitchFamily="49" charset="-122"/>
                  </a:rPr>
                  <a:t>A</a:t>
                </a:r>
              </a:p>
            </p:txBody>
          </p:sp>
          <p:pic>
            <p:nvPicPr>
              <p:cNvPr id="992303" name="Picture 1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8679" y="2709864"/>
                <a:ext cx="71543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2304" name="Picture 18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0168" y="2709863"/>
                <a:ext cx="71543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2305" name="Text Box 181"/>
              <p:cNvSpPr txBox="1">
                <a:spLocks noChangeArrowheads="1"/>
              </p:cNvSpPr>
              <p:nvPr/>
            </p:nvSpPr>
            <p:spPr bwMode="auto">
              <a:xfrm>
                <a:off x="3828683" y="2225676"/>
                <a:ext cx="225895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用外部网关协议</a:t>
                </a:r>
              </a:p>
              <a:p>
                <a:pPr algn="ctr" eaLnBrk="0" hangingPunct="0"/>
                <a:r>
                  <a:rPr lang="zh-CN" altLang="en-US" sz="2000" b="1">
                    <a:solidFill>
                      <a:srgbClr val="0000CC"/>
                    </a:solidFill>
                    <a:ea typeface="黑体" panose="02010609060101010101" pitchFamily="49" charset="-122"/>
                  </a:rPr>
                  <a:t>（例如，</a:t>
                </a:r>
                <a:r>
                  <a:rPr lang="en-US" altLang="zh-CN" sz="2000" b="1">
                    <a:solidFill>
                      <a:srgbClr val="0000CC"/>
                    </a:solidFill>
                    <a:ea typeface="黑体" panose="02010609060101010101" pitchFamily="49" charset="-122"/>
                  </a:rPr>
                  <a:t>BGP-4</a:t>
                </a:r>
                <a:r>
                  <a:rPr lang="zh-CN" altLang="en-US" sz="2000" b="1">
                    <a:solidFill>
                      <a:srgbClr val="0000CC"/>
                    </a:solidFill>
                    <a:ea typeface="黑体" panose="02010609060101010101" pitchFamily="49" charset="-122"/>
                  </a:rPr>
                  <a:t>）</a:t>
                </a:r>
              </a:p>
            </p:txBody>
          </p:sp>
          <p:sp>
            <p:nvSpPr>
              <p:cNvPr id="992306" name="Text Box 182"/>
              <p:cNvSpPr txBox="1">
                <a:spLocks noChangeArrowheads="1"/>
              </p:cNvSpPr>
              <p:nvPr/>
            </p:nvSpPr>
            <p:spPr bwMode="auto">
              <a:xfrm>
                <a:off x="2978680" y="2305051"/>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992307" name="Text Box 183"/>
              <p:cNvSpPr txBox="1">
                <a:spLocks noChangeArrowheads="1"/>
              </p:cNvSpPr>
              <p:nvPr/>
            </p:nvSpPr>
            <p:spPr bwMode="auto">
              <a:xfrm>
                <a:off x="6462977" y="2332039"/>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992308" name="Text Box 184"/>
              <p:cNvSpPr txBox="1">
                <a:spLocks noChangeArrowheads="1"/>
              </p:cNvSpPr>
              <p:nvPr/>
            </p:nvSpPr>
            <p:spPr bwMode="auto">
              <a:xfrm>
                <a:off x="7208127" y="2852936"/>
                <a:ext cx="216597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 </a:t>
                </a:r>
                <a:r>
                  <a:rPr lang="zh-CN" altLang="en-US" sz="2000" b="1">
                    <a:solidFill>
                      <a:srgbClr val="0000CC"/>
                    </a:solidFill>
                    <a:ea typeface="黑体" panose="02010609060101010101" pitchFamily="49" charset="-122"/>
                  </a:rPr>
                  <a:t>用内部网关协议</a:t>
                </a:r>
              </a:p>
              <a:p>
                <a:pPr algn="ctr" eaLnBrk="0" hangingPunct="0"/>
                <a:r>
                  <a:rPr lang="zh-CN" altLang="en-US" sz="2000" b="1">
                    <a:solidFill>
                      <a:srgbClr val="0000CC"/>
                    </a:solidFill>
                    <a:ea typeface="黑体" panose="02010609060101010101" pitchFamily="49" charset="-122"/>
                  </a:rPr>
                  <a:t>（例如，</a:t>
                </a:r>
                <a:r>
                  <a:rPr lang="en-US" altLang="zh-CN" sz="2000" b="1">
                    <a:solidFill>
                      <a:srgbClr val="0000CC"/>
                    </a:solidFill>
                    <a:ea typeface="黑体" panose="02010609060101010101" pitchFamily="49" charset="-122"/>
                  </a:rPr>
                  <a:t>OSPF</a:t>
                </a:r>
                <a:r>
                  <a:rPr lang="zh-CN" altLang="en-US" sz="2000" b="1">
                    <a:solidFill>
                      <a:srgbClr val="0000CC"/>
                    </a:solidFill>
                    <a:ea typeface="黑体" panose="02010609060101010101" pitchFamily="49" charset="-122"/>
                  </a:rPr>
                  <a:t>）</a:t>
                </a:r>
              </a:p>
            </p:txBody>
          </p:sp>
          <p:sp>
            <p:nvSpPr>
              <p:cNvPr id="992309" name="Line 185"/>
              <p:cNvSpPr>
                <a:spLocks noChangeShapeType="1"/>
              </p:cNvSpPr>
              <p:nvPr/>
            </p:nvSpPr>
            <p:spPr bwMode="auto">
              <a:xfrm>
                <a:off x="3645959" y="2941639"/>
                <a:ext cx="2633002" cy="3175"/>
              </a:xfrm>
              <a:prstGeom prst="line">
                <a:avLst/>
              </a:prstGeom>
              <a:noFill/>
              <a:ln w="57150">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992310" name="Text Box 187"/>
            <p:cNvSpPr txBox="1">
              <a:spLocks noChangeArrowheads="1"/>
            </p:cNvSpPr>
            <p:nvPr/>
          </p:nvSpPr>
          <p:spPr bwMode="auto">
            <a:xfrm>
              <a:off x="1017530" y="4365104"/>
              <a:ext cx="8399966" cy="1384995"/>
            </a:xfrm>
            <a:prstGeom prst="rect">
              <a:avLst/>
            </a:prstGeom>
            <a:solidFill>
              <a:srgbClr val="FFFF66"/>
            </a:solidFill>
            <a:ln w="9525">
              <a:solidFill>
                <a:srgbClr val="000099"/>
              </a:solidFill>
              <a:miter lim="800000"/>
              <a:headEnd/>
              <a:tailEnd/>
            </a:ln>
          </p:spPr>
          <p:txBody>
            <a:bodyPr>
              <a:spAutoFit/>
            </a:bodyPr>
            <a:lstStyle/>
            <a:p>
              <a:pPr eaLnBrk="0" hangingPunct="0"/>
              <a:r>
                <a:rPr lang="zh-CN" altLang="en-US" sz="2800" b="1">
                  <a:solidFill>
                    <a:srgbClr val="000099"/>
                  </a:solidFill>
                  <a:ea typeface="黑体" panose="02010609060101010101" pitchFamily="49" charset="-122"/>
                </a:rPr>
                <a:t>自治系统之间的路由选择也叫作</a:t>
              </a:r>
              <a:r>
                <a:rPr lang="zh-CN" altLang="en-US" sz="2800" b="1">
                  <a:solidFill>
                    <a:srgbClr val="FF0000"/>
                  </a:solidFill>
                  <a:ea typeface="黑体" panose="02010609060101010101" pitchFamily="49" charset="-122"/>
                </a:rPr>
                <a:t>域间路由选择 </a:t>
              </a:r>
              <a:r>
                <a:rPr lang="en-US" altLang="zh-CN" sz="2800" b="1">
                  <a:solidFill>
                    <a:srgbClr val="000099"/>
                  </a:solidFill>
                  <a:ea typeface="黑体" panose="02010609060101010101" pitchFamily="49" charset="-122"/>
                </a:rPr>
                <a:t>(interdomain routing)</a:t>
              </a:r>
              <a:r>
                <a:rPr lang="zh-CN" altLang="en-US" sz="2800" b="1">
                  <a:solidFill>
                    <a:srgbClr val="000099"/>
                  </a:solidFill>
                  <a:ea typeface="黑体" panose="02010609060101010101" pitchFamily="49" charset="-122"/>
                </a:rPr>
                <a:t>，在自治系统内部的路由选择叫作</a:t>
              </a:r>
              <a:r>
                <a:rPr lang="zh-CN" altLang="en-US" sz="2800" b="1">
                  <a:solidFill>
                    <a:srgbClr val="FF0000"/>
                  </a:solidFill>
                  <a:ea typeface="黑体" panose="02010609060101010101" pitchFamily="49" charset="-122"/>
                </a:rPr>
                <a:t>域内路由选择 </a:t>
              </a:r>
              <a:r>
                <a:rPr lang="en-US" altLang="zh-CN" sz="2800" b="1">
                  <a:solidFill>
                    <a:srgbClr val="000099"/>
                  </a:solidFill>
                  <a:ea typeface="黑体" panose="02010609060101010101" pitchFamily="49" charset="-122"/>
                </a:rPr>
                <a:t>(intradomain routing) </a:t>
              </a:r>
              <a:r>
                <a:rPr lang="zh-CN" altLang="en-US" sz="2800" b="1">
                  <a:solidFill>
                    <a:srgbClr val="000099"/>
                  </a:solidFill>
                  <a:ea typeface="黑体" panose="02010609060101010101" pitchFamily="49" charset="-122"/>
                </a:rPr>
                <a:t>。</a:t>
              </a:r>
              <a:endParaRPr lang="en-US" altLang="zh-CN" sz="2800" b="1">
                <a:solidFill>
                  <a:srgbClr val="000099"/>
                </a:solidFill>
                <a:ea typeface="黑体" panose="02010609060101010101" pitchFamily="49" charset="-122"/>
              </a:endParaRPr>
            </a:p>
          </p:txBody>
        </p:sp>
      </p:grpSp>
      <p:sp>
        <p:nvSpPr>
          <p:cNvPr id="9923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2DBC4FC-CB6D-4A13-B481-661D1D38EFA6}" type="slidenum">
              <a:rPr lang="zh-CN" altLang="en-US" smtClean="0"/>
              <a:pPr/>
              <a:t>10</a:t>
            </a:fld>
            <a:endParaRPr lang="en-US" altLang="zh-CN" smtClean="0"/>
          </a:p>
        </p:txBody>
      </p:sp>
      <p:sp>
        <p:nvSpPr>
          <p:cNvPr id="9923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430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这里要指出两点 </a:t>
            </a:r>
          </a:p>
        </p:txBody>
      </p:sp>
      <p:sp>
        <p:nvSpPr>
          <p:cNvPr id="553987"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互联网的早期 </a:t>
            </a:r>
            <a:r>
              <a:rPr lang="en-US" altLang="zh-CN" smtClean="0">
                <a:ea typeface="黑体" panose="02010609060101010101" pitchFamily="49" charset="-122"/>
              </a:rPr>
              <a:t>RFC </a:t>
            </a:r>
            <a:r>
              <a:rPr lang="zh-CN" altLang="en-US" smtClean="0">
                <a:ea typeface="黑体" panose="02010609060101010101" pitchFamily="49" charset="-122"/>
              </a:rPr>
              <a:t>文档中未使用“</a:t>
            </a:r>
            <a:r>
              <a:rPr lang="zh-CN" altLang="en-US" smtClean="0">
                <a:solidFill>
                  <a:srgbClr val="0000FF"/>
                </a:solidFill>
                <a:ea typeface="黑体" panose="02010609060101010101" pitchFamily="49" charset="-122"/>
              </a:rPr>
              <a:t>路由器</a:t>
            </a:r>
            <a:r>
              <a:rPr lang="zh-CN" altLang="en-US" smtClean="0">
                <a:ea typeface="黑体" panose="02010609060101010101" pitchFamily="49" charset="-122"/>
              </a:rPr>
              <a:t>”而是使用“</a:t>
            </a:r>
            <a:r>
              <a:rPr lang="zh-CN" altLang="en-US" smtClean="0">
                <a:solidFill>
                  <a:srgbClr val="0000FF"/>
                </a:solidFill>
                <a:ea typeface="黑体" panose="02010609060101010101" pitchFamily="49" charset="-122"/>
              </a:rPr>
              <a:t>网关</a:t>
            </a:r>
            <a:r>
              <a:rPr lang="zh-CN" altLang="en-US" smtClean="0">
                <a:ea typeface="黑体" panose="02010609060101010101" pitchFamily="49" charset="-122"/>
              </a:rPr>
              <a:t>”这一名词。但是在新的 </a:t>
            </a:r>
            <a:r>
              <a:rPr lang="en-US" altLang="zh-CN" smtClean="0">
                <a:ea typeface="黑体" panose="02010609060101010101" pitchFamily="49" charset="-122"/>
              </a:rPr>
              <a:t>RFC </a:t>
            </a:r>
            <a:r>
              <a:rPr lang="zh-CN" altLang="en-US" smtClean="0">
                <a:ea typeface="黑体" panose="02010609060101010101" pitchFamily="49" charset="-122"/>
              </a:rPr>
              <a:t>文档中又使用了“路由器”这一名词。应当把这两个术语当作</a:t>
            </a:r>
            <a:r>
              <a:rPr lang="zh-CN" altLang="en-US" smtClean="0">
                <a:solidFill>
                  <a:srgbClr val="0000FF"/>
                </a:solidFill>
                <a:ea typeface="黑体" panose="02010609060101010101" pitchFamily="49" charset="-122"/>
              </a:rPr>
              <a:t>同义词</a:t>
            </a:r>
            <a:r>
              <a:rPr lang="zh-CN" altLang="en-US" smtClean="0">
                <a:ea typeface="黑体" panose="02010609060101010101" pitchFamily="49" charset="-122"/>
              </a:rPr>
              <a:t>。</a:t>
            </a:r>
          </a:p>
          <a:p>
            <a:pPr algn="just"/>
            <a:r>
              <a:rPr lang="en-US" altLang="zh-CN" smtClean="0">
                <a:solidFill>
                  <a:srgbClr val="0000FF"/>
                </a:solidFill>
                <a:ea typeface="黑体" panose="02010609060101010101" pitchFamily="49" charset="-122"/>
              </a:rPr>
              <a:t>IGP </a:t>
            </a:r>
            <a:r>
              <a:rPr lang="zh-CN" altLang="en-US" smtClean="0">
                <a:solidFill>
                  <a:srgbClr val="0000FF"/>
                </a:solidFill>
                <a:ea typeface="黑体" panose="02010609060101010101" pitchFamily="49" charset="-122"/>
              </a:rPr>
              <a:t>和 </a:t>
            </a:r>
            <a:r>
              <a:rPr lang="en-US" altLang="zh-CN" smtClean="0">
                <a:solidFill>
                  <a:srgbClr val="0000FF"/>
                </a:solidFill>
                <a:ea typeface="黑体" panose="02010609060101010101" pitchFamily="49" charset="-122"/>
              </a:rPr>
              <a:t>EGP </a:t>
            </a:r>
            <a:r>
              <a:rPr lang="zh-CN" altLang="en-US" smtClean="0">
                <a:solidFill>
                  <a:srgbClr val="0000FF"/>
                </a:solidFill>
                <a:ea typeface="黑体" panose="02010609060101010101" pitchFamily="49" charset="-122"/>
              </a:rPr>
              <a:t>是协议类别的名称。</a:t>
            </a:r>
            <a:r>
              <a:rPr lang="zh-CN" altLang="en-US" smtClean="0">
                <a:ea typeface="黑体" panose="02010609060101010101" pitchFamily="49" charset="-122"/>
              </a:rPr>
              <a:t>但 </a:t>
            </a:r>
            <a:r>
              <a:rPr lang="en-US" altLang="zh-CN" smtClean="0">
                <a:ea typeface="黑体" panose="02010609060101010101" pitchFamily="49" charset="-122"/>
              </a:rPr>
              <a:t>RFC </a:t>
            </a:r>
            <a:r>
              <a:rPr lang="zh-CN" altLang="en-US" smtClean="0">
                <a:ea typeface="黑体" panose="02010609060101010101" pitchFamily="49" charset="-122"/>
              </a:rPr>
              <a:t>在使用 </a:t>
            </a:r>
            <a:r>
              <a:rPr lang="en-US" altLang="zh-CN" smtClean="0">
                <a:ea typeface="黑体" panose="02010609060101010101" pitchFamily="49" charset="-122"/>
              </a:rPr>
              <a:t>EGP </a:t>
            </a:r>
            <a:r>
              <a:rPr lang="zh-CN" altLang="en-US" smtClean="0">
                <a:ea typeface="黑体" panose="02010609060101010101" pitchFamily="49" charset="-122"/>
              </a:rPr>
              <a:t>这个名词时出现了一点混乱，因为最早的一个外部网关协议的协议名字正好也是 </a:t>
            </a:r>
            <a:r>
              <a:rPr lang="en-US" altLang="zh-CN" smtClean="0">
                <a:ea typeface="黑体" panose="02010609060101010101" pitchFamily="49" charset="-122"/>
              </a:rPr>
              <a:t>EGP</a:t>
            </a:r>
            <a:r>
              <a:rPr lang="zh-CN" altLang="en-US" smtClean="0">
                <a:ea typeface="黑体" panose="02010609060101010101" pitchFamily="49" charset="-122"/>
              </a:rPr>
              <a:t>。因此在遇到名词 </a:t>
            </a:r>
            <a:r>
              <a:rPr lang="en-US" altLang="zh-CN" smtClean="0">
                <a:ea typeface="黑体" panose="02010609060101010101" pitchFamily="49" charset="-122"/>
              </a:rPr>
              <a:t>EGP </a:t>
            </a:r>
            <a:r>
              <a:rPr lang="zh-CN" altLang="en-US" smtClean="0">
                <a:ea typeface="黑体" panose="02010609060101010101" pitchFamily="49" charset="-122"/>
              </a:rPr>
              <a:t>时，应弄清它是指旧的协议 </a:t>
            </a:r>
            <a:r>
              <a:rPr lang="en-US" altLang="zh-CN" smtClean="0">
                <a:ea typeface="黑体" panose="02010609060101010101" pitchFamily="49" charset="-122"/>
              </a:rPr>
              <a:t>EGP </a:t>
            </a:r>
            <a:r>
              <a:rPr lang="zh-CN" altLang="en-US" smtClean="0">
                <a:ea typeface="黑体" panose="02010609060101010101" pitchFamily="49" charset="-122"/>
              </a:rPr>
              <a:t>还是指外部网关协议 </a:t>
            </a:r>
            <a:r>
              <a:rPr lang="en-US" altLang="zh-CN" smtClean="0">
                <a:ea typeface="黑体" panose="02010609060101010101" pitchFamily="49" charset="-122"/>
              </a:rPr>
              <a:t>EGP </a:t>
            </a:r>
            <a:r>
              <a:rPr lang="zh-CN" altLang="en-US" smtClean="0">
                <a:ea typeface="黑体" panose="02010609060101010101" pitchFamily="49" charset="-122"/>
              </a:rPr>
              <a:t>这个类别。   </a:t>
            </a:r>
          </a:p>
        </p:txBody>
      </p:sp>
      <p:sp>
        <p:nvSpPr>
          <p:cNvPr id="9943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8F7567-6982-4AC5-9269-BD86368E1ABF}" type="slidenum">
              <a:rPr lang="zh-CN" altLang="en-US" smtClean="0"/>
              <a:pPr eaLnBrk="1" hangingPunct="1"/>
              <a:t>11</a:t>
            </a:fld>
            <a:endParaRPr lang="en-US" altLang="zh-CN" smtClean="0"/>
          </a:p>
        </p:txBody>
      </p:sp>
      <p:sp>
        <p:nvSpPr>
          <p:cNvPr id="9943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互联网的路由选择协议 </a:t>
            </a:r>
          </a:p>
        </p:txBody>
      </p:sp>
      <p:sp>
        <p:nvSpPr>
          <p:cNvPr id="99635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内部网关协议 </a:t>
            </a:r>
            <a:r>
              <a:rPr lang="en-US" altLang="zh-CN" smtClean="0">
                <a:solidFill>
                  <a:srgbClr val="FF0000"/>
                </a:solidFill>
                <a:ea typeface="黑体" panose="02010609060101010101" pitchFamily="49" charset="-122"/>
              </a:rPr>
              <a:t>IGP</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具体的协议有多种，如 </a:t>
            </a:r>
            <a:r>
              <a:rPr lang="en-US" altLang="zh-CN" smtClean="0">
                <a:ea typeface="黑体" panose="02010609060101010101" pitchFamily="49" charset="-122"/>
              </a:rPr>
              <a:t>RIP </a:t>
            </a:r>
            <a:r>
              <a:rPr lang="zh-CN" altLang="en-US" smtClean="0">
                <a:ea typeface="黑体" panose="02010609060101010101" pitchFamily="49" charset="-122"/>
              </a:rPr>
              <a:t>和 </a:t>
            </a:r>
            <a:r>
              <a:rPr lang="en-US" altLang="zh-CN" smtClean="0">
                <a:ea typeface="黑体" panose="02010609060101010101" pitchFamily="49" charset="-122"/>
              </a:rPr>
              <a:t>OSPF </a:t>
            </a:r>
            <a:r>
              <a:rPr lang="zh-CN" altLang="en-US" smtClean="0">
                <a:ea typeface="黑体" panose="02010609060101010101" pitchFamily="49" charset="-122"/>
              </a:rPr>
              <a:t>等。</a:t>
            </a:r>
          </a:p>
          <a:p>
            <a:r>
              <a:rPr lang="zh-CN" altLang="en-US" smtClean="0">
                <a:solidFill>
                  <a:srgbClr val="FF0000"/>
                </a:solidFill>
                <a:ea typeface="黑体" panose="02010609060101010101" pitchFamily="49" charset="-122"/>
              </a:rPr>
              <a:t>外部网关协议 </a:t>
            </a:r>
            <a:r>
              <a:rPr lang="en-US" altLang="zh-CN" smtClean="0">
                <a:solidFill>
                  <a:srgbClr val="FF0000"/>
                </a:solidFill>
                <a:ea typeface="黑体" panose="02010609060101010101" pitchFamily="49" charset="-122"/>
              </a:rPr>
              <a:t>EGP</a:t>
            </a:r>
            <a:r>
              <a:rPr lang="zh-CN" altLang="en-US" smtClean="0">
                <a:solidFill>
                  <a:srgbClr val="FF0000"/>
                </a:solidFill>
                <a:ea typeface="黑体" panose="02010609060101010101" pitchFamily="49" charset="-122"/>
              </a:rPr>
              <a:t>：</a:t>
            </a:r>
            <a:r>
              <a:rPr lang="zh-CN" altLang="en-US" smtClean="0">
                <a:ea typeface="黑体" panose="02010609060101010101" pitchFamily="49" charset="-122"/>
              </a:rPr>
              <a:t>目前使用的协议就是 </a:t>
            </a:r>
            <a:r>
              <a:rPr lang="en-US" altLang="zh-CN" smtClean="0">
                <a:ea typeface="黑体" panose="02010609060101010101" pitchFamily="49" charset="-122"/>
              </a:rPr>
              <a:t>BGP</a:t>
            </a:r>
            <a:r>
              <a:rPr lang="zh-CN" altLang="en-US" smtClean="0">
                <a:ea typeface="黑体" panose="02010609060101010101" pitchFamily="49" charset="-122"/>
              </a:rPr>
              <a:t>。</a:t>
            </a:r>
          </a:p>
        </p:txBody>
      </p:sp>
      <p:grpSp>
        <p:nvGrpSpPr>
          <p:cNvPr id="996355" name="组合 1"/>
          <p:cNvGrpSpPr>
            <a:grpSpLocks/>
          </p:cNvGrpSpPr>
          <p:nvPr/>
        </p:nvGrpSpPr>
        <p:grpSpPr bwMode="auto">
          <a:xfrm>
            <a:off x="1670050" y="3213100"/>
            <a:ext cx="7243763" cy="2519363"/>
            <a:chOff x="1670248" y="3103737"/>
            <a:chExt cx="7243192" cy="2865256"/>
          </a:xfrm>
        </p:grpSpPr>
        <p:sp>
          <p:nvSpPr>
            <p:cNvPr id="996356" name="Line 25"/>
            <p:cNvSpPr>
              <a:spLocks noChangeShapeType="1"/>
            </p:cNvSpPr>
            <p:nvPr/>
          </p:nvSpPr>
          <p:spPr bwMode="auto">
            <a:xfrm flipH="1">
              <a:off x="3638872" y="3725912"/>
              <a:ext cx="1361437"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96357" name="Line 26"/>
            <p:cNvSpPr>
              <a:spLocks noChangeShapeType="1"/>
            </p:cNvSpPr>
            <p:nvPr/>
          </p:nvSpPr>
          <p:spPr bwMode="auto">
            <a:xfrm>
              <a:off x="5239072" y="3725912"/>
              <a:ext cx="1685588"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96358" name="AutoShape 6"/>
            <p:cNvSpPr>
              <a:spLocks noChangeArrowheads="1"/>
            </p:cNvSpPr>
            <p:nvPr/>
          </p:nvSpPr>
          <p:spPr bwMode="auto">
            <a:xfrm>
              <a:off x="2364384" y="4905152"/>
              <a:ext cx="1375793" cy="1063841"/>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p>
              <a:pPr eaLnBrk="0" hangingPunct="0"/>
              <a:r>
                <a:rPr lang="en-GB" altLang="zh-CN" sz="2800" b="1">
                  <a:ea typeface="黑体" panose="02010609060101010101" pitchFamily="49" charset="-122"/>
                </a:rPr>
                <a:t>RIP </a:t>
              </a:r>
            </a:p>
            <a:p>
              <a:pPr eaLnBrk="0" hangingPunct="0"/>
              <a:r>
                <a:rPr lang="en-US" altLang="zh-CN" sz="2800" b="1">
                  <a:ea typeface="黑体" panose="02010609060101010101" pitchFamily="49" charset="-122"/>
                </a:rPr>
                <a:t>OSPF</a:t>
              </a:r>
            </a:p>
          </p:txBody>
        </p:sp>
        <p:sp>
          <p:nvSpPr>
            <p:cNvPr id="996359" name="AutoShape 23"/>
            <p:cNvSpPr>
              <a:spLocks noChangeArrowheads="1"/>
            </p:cNvSpPr>
            <p:nvPr/>
          </p:nvSpPr>
          <p:spPr bwMode="auto">
            <a:xfrm>
              <a:off x="3562672" y="3103737"/>
              <a:ext cx="3190528" cy="649287"/>
            </a:xfrm>
            <a:prstGeom prst="roundRect">
              <a:avLst>
                <a:gd name="adj" fmla="val 16667"/>
              </a:avLst>
            </a:prstGeom>
            <a:solidFill>
              <a:srgbClr val="FFCC00"/>
            </a:solidFill>
            <a:ln w="9525">
              <a:solidFill>
                <a:schemeClr val="tx1"/>
              </a:solidFill>
              <a:round/>
              <a:headEnd/>
              <a:tailEnd/>
            </a:ln>
          </p:spPr>
          <p:txBody>
            <a:bodyPr wrap="none" anchor="ctr"/>
            <a:lstStyle/>
            <a:p>
              <a:pPr algn="ctr" eaLnBrk="0" hangingPunct="0"/>
              <a:r>
                <a:rPr lang="zh-CN" altLang="en-US" sz="2400" b="1">
                  <a:ea typeface="黑体" panose="02010609060101010101" pitchFamily="49" charset="-122"/>
                </a:rPr>
                <a:t>互联网路由选择协议</a:t>
              </a:r>
            </a:p>
          </p:txBody>
        </p:sp>
        <p:sp>
          <p:nvSpPr>
            <p:cNvPr id="996360" name="AutoShape 29"/>
            <p:cNvSpPr>
              <a:spLocks noChangeArrowheads="1"/>
            </p:cNvSpPr>
            <p:nvPr/>
          </p:nvSpPr>
          <p:spPr bwMode="auto">
            <a:xfrm>
              <a:off x="6897216" y="4905152"/>
              <a:ext cx="1285801" cy="6096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spcBef>
                  <a:spcPct val="50000"/>
                </a:spcBef>
              </a:pPr>
              <a:r>
                <a:rPr lang="en-GB" altLang="zh-CN" sz="2800" b="1">
                  <a:ea typeface="黑体" panose="02010609060101010101" pitchFamily="49" charset="-122"/>
                </a:rPr>
                <a:t>BGP</a:t>
              </a:r>
              <a:endParaRPr lang="en-US" altLang="zh-CN" sz="2800" b="1">
                <a:ea typeface="黑体" panose="02010609060101010101" pitchFamily="49" charset="-122"/>
              </a:endParaRPr>
            </a:p>
          </p:txBody>
        </p:sp>
        <p:sp>
          <p:nvSpPr>
            <p:cNvPr id="996361" name="AutoShape 12"/>
            <p:cNvSpPr>
              <a:spLocks noChangeArrowheads="1"/>
            </p:cNvSpPr>
            <p:nvPr/>
          </p:nvSpPr>
          <p:spPr bwMode="auto">
            <a:xfrm>
              <a:off x="6089848" y="4113064"/>
              <a:ext cx="2823592" cy="649288"/>
            </a:xfrm>
            <a:prstGeom prst="roundRect">
              <a:avLst>
                <a:gd name="adj" fmla="val 16667"/>
              </a:avLst>
            </a:prstGeom>
            <a:solidFill>
              <a:srgbClr val="FF66FF"/>
            </a:solidFill>
            <a:ln w="9525">
              <a:solidFill>
                <a:schemeClr val="tx1"/>
              </a:solidFill>
              <a:round/>
              <a:headEnd/>
              <a:tailEnd/>
            </a:ln>
          </p:spPr>
          <p:txBody>
            <a:bodyPr wrap="none" anchor="ctr"/>
            <a:lstStyle/>
            <a:p>
              <a:pPr algn="ctr" eaLnBrk="0" hangingPunct="0"/>
              <a:r>
                <a:rPr lang="zh-CN" altLang="en-US" sz="2400" b="1">
                  <a:ea typeface="黑体" panose="02010609060101010101" pitchFamily="49" charset="-122"/>
                </a:rPr>
                <a:t>外部网关协议</a:t>
              </a:r>
              <a:r>
                <a:rPr lang="en-US" altLang="zh-CN" sz="2400" b="1">
                  <a:ea typeface="黑体" panose="02010609060101010101" pitchFamily="49" charset="-122"/>
                </a:rPr>
                <a:t>(EGP)</a:t>
              </a:r>
            </a:p>
          </p:txBody>
        </p:sp>
        <p:sp>
          <p:nvSpPr>
            <p:cNvPr id="996362" name="AutoShape 13"/>
            <p:cNvSpPr>
              <a:spLocks noChangeArrowheads="1"/>
            </p:cNvSpPr>
            <p:nvPr/>
          </p:nvSpPr>
          <p:spPr bwMode="auto">
            <a:xfrm>
              <a:off x="1670248" y="4113064"/>
              <a:ext cx="2823592" cy="649288"/>
            </a:xfrm>
            <a:prstGeom prst="roundRect">
              <a:avLst>
                <a:gd name="adj" fmla="val 16667"/>
              </a:avLst>
            </a:prstGeom>
            <a:solidFill>
              <a:srgbClr val="FFFF66"/>
            </a:solidFill>
            <a:ln w="9525">
              <a:solidFill>
                <a:schemeClr val="tx1"/>
              </a:solidFill>
              <a:round/>
              <a:headEnd/>
              <a:tailEnd/>
            </a:ln>
          </p:spPr>
          <p:txBody>
            <a:bodyPr wrap="none" anchor="ctr"/>
            <a:lstStyle/>
            <a:p>
              <a:pPr algn="ctr" eaLnBrk="0" hangingPunct="0"/>
              <a:r>
                <a:rPr lang="zh-CN" altLang="en-US" sz="2400" b="1">
                  <a:ea typeface="黑体" panose="02010609060101010101" pitchFamily="49" charset="-122"/>
                </a:rPr>
                <a:t>内部网关协议</a:t>
              </a:r>
              <a:r>
                <a:rPr lang="en-US" altLang="zh-CN" sz="2400" b="1">
                  <a:ea typeface="黑体" panose="02010609060101010101" pitchFamily="49" charset="-122"/>
                </a:rPr>
                <a:t>(IGP)</a:t>
              </a:r>
            </a:p>
          </p:txBody>
        </p:sp>
      </p:grpSp>
      <p:sp>
        <p:nvSpPr>
          <p:cNvPr id="99636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6A349C-B316-454A-A810-70B8151CDAED}" type="slidenum">
              <a:rPr lang="zh-CN" altLang="en-US" smtClean="0"/>
              <a:pPr eaLnBrk="1" hangingPunct="1"/>
              <a:t>12</a:t>
            </a:fld>
            <a:endParaRPr lang="en-US" altLang="zh-CN" smtClean="0"/>
          </a:p>
        </p:txBody>
      </p:sp>
      <p:sp>
        <p:nvSpPr>
          <p:cNvPr id="99636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1"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4.6.2  </a:t>
            </a:r>
            <a:r>
              <a:rPr lang="zh-CN" altLang="en-US" dirty="0" smtClean="0">
                <a:ea typeface="黑体" panose="02010609060101010101" pitchFamily="49" charset="-122"/>
              </a:rPr>
              <a:t>内部网关协议 </a:t>
            </a:r>
            <a:r>
              <a:rPr lang="en-US" altLang="zh-CN" dirty="0" smtClean="0">
                <a:ea typeface="黑体" panose="02010609060101010101" pitchFamily="49" charset="-122"/>
              </a:rPr>
              <a:t>RIP</a:t>
            </a:r>
            <a:endParaRPr lang="en-US" altLang="zh-CN" sz="3600" dirty="0" smtClean="0">
              <a:ea typeface="黑体" panose="02010609060101010101" pitchFamily="49" charset="-122"/>
            </a:endParaRPr>
          </a:p>
        </p:txBody>
      </p:sp>
      <p:sp>
        <p:nvSpPr>
          <p:cNvPr id="556035"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sz="4400" dirty="0" smtClean="0">
                <a:solidFill>
                  <a:srgbClr val="000099"/>
                </a:solidFill>
                <a:ea typeface="黑体" panose="02010609060101010101" pitchFamily="49" charset="-122"/>
              </a:rPr>
              <a:t>1. </a:t>
            </a:r>
            <a:r>
              <a:rPr lang="zh-CN" altLang="en-US" sz="4400" dirty="0" smtClean="0">
                <a:solidFill>
                  <a:srgbClr val="000099"/>
                </a:solidFill>
                <a:ea typeface="黑体" panose="02010609060101010101" pitchFamily="49" charset="-122"/>
              </a:rPr>
              <a:t>工作原理</a:t>
            </a:r>
          </a:p>
          <a:p>
            <a:r>
              <a:rPr lang="zh-CN" altLang="en-US" u="sng" dirty="0" smtClean="0">
                <a:solidFill>
                  <a:srgbClr val="FF0000"/>
                </a:solidFill>
                <a:ea typeface="黑体" panose="02010609060101010101" pitchFamily="49" charset="-122"/>
              </a:rPr>
              <a:t>路由信息协议 </a:t>
            </a:r>
            <a:r>
              <a:rPr lang="en-US" altLang="zh-CN" u="sng" dirty="0" smtClean="0">
                <a:solidFill>
                  <a:srgbClr val="FF0000"/>
                </a:solidFill>
                <a:ea typeface="黑体" panose="02010609060101010101" pitchFamily="49" charset="-122"/>
              </a:rPr>
              <a:t>RIP (Routing Information Protocol) </a:t>
            </a:r>
            <a:r>
              <a:rPr lang="zh-CN" altLang="en-US" dirty="0" smtClean="0">
                <a:ea typeface="黑体" panose="02010609060101010101" pitchFamily="49" charset="-122"/>
              </a:rPr>
              <a:t>是内部网关协议 </a:t>
            </a:r>
            <a:r>
              <a:rPr lang="en-US" altLang="zh-CN" dirty="0" smtClean="0">
                <a:ea typeface="黑体" panose="02010609060101010101" pitchFamily="49" charset="-122"/>
              </a:rPr>
              <a:t>IGP </a:t>
            </a:r>
            <a:r>
              <a:rPr lang="zh-CN" altLang="en-US" dirty="0" smtClean="0">
                <a:ea typeface="黑体" panose="02010609060101010101" pitchFamily="49" charset="-122"/>
              </a:rPr>
              <a:t>中最先得到广泛使用的协议。</a:t>
            </a:r>
          </a:p>
          <a:p>
            <a:r>
              <a:rPr lang="en-US" altLang="zh-CN" dirty="0" smtClean="0">
                <a:ea typeface="黑体" panose="02010609060101010101" pitchFamily="49" charset="-122"/>
              </a:rPr>
              <a:t>RIP </a:t>
            </a:r>
            <a:r>
              <a:rPr lang="zh-CN" altLang="en-US" dirty="0" smtClean="0">
                <a:ea typeface="黑体" panose="02010609060101010101" pitchFamily="49" charset="-122"/>
              </a:rPr>
              <a:t>是一种</a:t>
            </a:r>
            <a:r>
              <a:rPr lang="zh-CN" altLang="en-US" dirty="0" smtClean="0">
                <a:solidFill>
                  <a:srgbClr val="FF0000"/>
                </a:solidFill>
                <a:ea typeface="黑体" panose="02010609060101010101" pitchFamily="49" charset="-122"/>
              </a:rPr>
              <a:t>分布式的、基于距离向量的路由选择协议。</a:t>
            </a:r>
          </a:p>
          <a:p>
            <a:r>
              <a:rPr lang="en-US" altLang="zh-CN" dirty="0" smtClean="0">
                <a:solidFill>
                  <a:srgbClr val="FF0000"/>
                </a:solidFill>
                <a:ea typeface="黑体" panose="02010609060101010101" pitchFamily="49" charset="-122"/>
              </a:rPr>
              <a:t>RIP </a:t>
            </a:r>
            <a:r>
              <a:rPr lang="zh-CN" altLang="en-US" dirty="0" smtClean="0">
                <a:solidFill>
                  <a:srgbClr val="FF0000"/>
                </a:solidFill>
                <a:ea typeface="黑体" panose="02010609060101010101" pitchFamily="49" charset="-122"/>
              </a:rPr>
              <a:t>协议要求</a:t>
            </a:r>
            <a:r>
              <a:rPr lang="zh-CN" altLang="en-US" dirty="0" smtClean="0">
                <a:ea typeface="黑体" panose="02010609060101010101" pitchFamily="49" charset="-122"/>
              </a:rPr>
              <a:t>网络中的每一个路由器都要维护从它自己到其他每一个目的网络的距离记录。</a:t>
            </a:r>
            <a:r>
              <a:rPr lang="zh-CN" altLang="en-US" sz="2800" dirty="0" smtClean="0">
                <a:ea typeface="黑体" panose="02010609060101010101" pitchFamily="49" charset="-122"/>
              </a:rPr>
              <a:t> </a:t>
            </a:r>
          </a:p>
        </p:txBody>
      </p:sp>
      <p:sp>
        <p:nvSpPr>
          <p:cNvPr id="9984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D77D01-FBE2-44F5-B693-701A9689F203}" type="slidenum">
              <a:rPr lang="zh-CN" altLang="en-US" smtClean="0"/>
              <a:pPr eaLnBrk="1" hangingPunct="1"/>
              <a:t>13</a:t>
            </a:fld>
            <a:endParaRPr lang="en-US" altLang="zh-CN" smtClean="0"/>
          </a:p>
        </p:txBody>
      </p:sp>
      <p:sp>
        <p:nvSpPr>
          <p:cNvPr id="9984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603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60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4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距离”的定义 </a:t>
            </a:r>
          </a:p>
        </p:txBody>
      </p:sp>
      <p:sp>
        <p:nvSpPr>
          <p:cNvPr id="557059"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从一个路由器到</a:t>
            </a:r>
            <a:r>
              <a:rPr lang="zh-CN" altLang="en-US" smtClean="0">
                <a:solidFill>
                  <a:srgbClr val="FF0000"/>
                </a:solidFill>
                <a:ea typeface="黑体" panose="02010609060101010101" pitchFamily="49" charset="-122"/>
              </a:rPr>
              <a:t>直接连接</a:t>
            </a:r>
            <a:r>
              <a:rPr lang="zh-CN" altLang="en-US" smtClean="0">
                <a:ea typeface="黑体" panose="02010609060101010101" pitchFamily="49" charset="-122"/>
              </a:rPr>
              <a:t>的网络的距离定义为 </a:t>
            </a:r>
            <a:r>
              <a:rPr lang="en-US" altLang="zh-CN" smtClean="0">
                <a:ea typeface="黑体" panose="02010609060101010101" pitchFamily="49" charset="-122"/>
              </a:rPr>
              <a:t>1</a:t>
            </a:r>
            <a:r>
              <a:rPr lang="zh-CN" altLang="en-US" smtClean="0">
                <a:ea typeface="黑体" panose="02010609060101010101" pitchFamily="49" charset="-122"/>
              </a:rPr>
              <a:t>。</a:t>
            </a:r>
          </a:p>
          <a:p>
            <a:pPr algn="just"/>
            <a:r>
              <a:rPr lang="zh-CN" altLang="en-US" smtClean="0">
                <a:ea typeface="黑体" panose="02010609060101010101" pitchFamily="49" charset="-122"/>
              </a:rPr>
              <a:t>从一个路由器到非直接连接的网络的距离定义为所经过的路由器数加 </a:t>
            </a:r>
            <a:r>
              <a:rPr lang="en-US" altLang="zh-CN" smtClean="0">
                <a:ea typeface="黑体" panose="02010609060101010101" pitchFamily="49" charset="-122"/>
              </a:rPr>
              <a:t>1</a:t>
            </a:r>
            <a:r>
              <a:rPr lang="zh-CN" altLang="en-US" smtClean="0">
                <a:ea typeface="黑体" panose="02010609060101010101" pitchFamily="49" charset="-122"/>
              </a:rPr>
              <a:t>。</a:t>
            </a:r>
          </a:p>
          <a:p>
            <a:pPr algn="just"/>
            <a:r>
              <a:rPr lang="en-US" altLang="zh-CN" smtClean="0">
                <a:ea typeface="黑体" panose="02010609060101010101" pitchFamily="49" charset="-122"/>
              </a:rPr>
              <a:t>RIP </a:t>
            </a:r>
            <a:r>
              <a:rPr lang="zh-CN" altLang="en-US" smtClean="0">
                <a:ea typeface="黑体" panose="02010609060101010101" pitchFamily="49" charset="-122"/>
              </a:rPr>
              <a:t>协议中的“距离”也称为“</a:t>
            </a:r>
            <a:r>
              <a:rPr lang="zh-CN" altLang="en-US" smtClean="0">
                <a:solidFill>
                  <a:srgbClr val="FF0000"/>
                </a:solidFill>
                <a:ea typeface="黑体" panose="02010609060101010101" pitchFamily="49" charset="-122"/>
              </a:rPr>
              <a:t>跳数</a:t>
            </a:r>
            <a:r>
              <a:rPr lang="zh-CN" altLang="en-US" smtClean="0">
                <a:ea typeface="黑体" panose="02010609060101010101" pitchFamily="49" charset="-122"/>
              </a:rPr>
              <a:t>”</a:t>
            </a:r>
            <a:r>
              <a:rPr lang="en-US" altLang="zh-CN" smtClean="0">
                <a:ea typeface="黑体" panose="02010609060101010101" pitchFamily="49" charset="-122"/>
              </a:rPr>
              <a:t>(hop count)</a:t>
            </a:r>
            <a:r>
              <a:rPr lang="zh-CN" altLang="en-US" smtClean="0">
                <a:ea typeface="黑体" panose="02010609060101010101" pitchFamily="49" charset="-122"/>
              </a:rPr>
              <a:t>，因为每经过一个路由器，跳数就加 </a:t>
            </a:r>
            <a:r>
              <a:rPr lang="en-US" altLang="zh-CN" smtClean="0">
                <a:ea typeface="黑体" panose="02010609060101010101" pitchFamily="49" charset="-122"/>
              </a:rPr>
              <a:t>1</a:t>
            </a:r>
            <a:r>
              <a:rPr lang="zh-CN" altLang="en-US" smtClean="0">
                <a:ea typeface="黑体" panose="02010609060101010101" pitchFamily="49" charset="-122"/>
              </a:rPr>
              <a:t>。</a:t>
            </a:r>
          </a:p>
          <a:p>
            <a:pPr algn="just"/>
            <a:r>
              <a:rPr lang="zh-CN" altLang="en-US" smtClean="0">
                <a:ea typeface="黑体" panose="02010609060101010101" pitchFamily="49" charset="-122"/>
              </a:rPr>
              <a:t>这里的“距离”实际上指的是“</a:t>
            </a:r>
            <a:r>
              <a:rPr lang="zh-CN" altLang="en-US" smtClean="0">
                <a:solidFill>
                  <a:srgbClr val="FF0000"/>
                </a:solidFill>
                <a:ea typeface="黑体" panose="02010609060101010101" pitchFamily="49" charset="-122"/>
              </a:rPr>
              <a:t>最短距离</a:t>
            </a:r>
            <a:r>
              <a:rPr lang="zh-CN" altLang="en-US" smtClean="0">
                <a:ea typeface="黑体" panose="02010609060101010101" pitchFamily="49" charset="-122"/>
              </a:rPr>
              <a:t>”。 </a:t>
            </a:r>
            <a:endParaRPr lang="zh-CN" altLang="en-US" sz="4400" smtClean="0">
              <a:ea typeface="黑体" panose="02010609060101010101" pitchFamily="49" charset="-122"/>
            </a:endParaRPr>
          </a:p>
          <a:p>
            <a:pPr algn="just"/>
            <a:endParaRPr lang="en-US" altLang="zh-CN" smtClean="0">
              <a:ea typeface="黑体" panose="02010609060101010101" pitchFamily="49" charset="-122"/>
            </a:endParaRPr>
          </a:p>
        </p:txBody>
      </p:sp>
      <p:sp>
        <p:nvSpPr>
          <p:cNvPr id="10004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88869E-271D-4BA5-9746-68D3A8B0157B}" type="slidenum">
              <a:rPr lang="zh-CN" altLang="en-US" smtClean="0"/>
              <a:pPr eaLnBrk="1" hangingPunct="1"/>
              <a:t>14</a:t>
            </a:fld>
            <a:endParaRPr lang="en-US" altLang="zh-CN" smtClean="0"/>
          </a:p>
        </p:txBody>
      </p:sp>
      <p:sp>
        <p:nvSpPr>
          <p:cNvPr id="10004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7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70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7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距离”的定义 </a:t>
            </a:r>
          </a:p>
        </p:txBody>
      </p:sp>
      <p:sp>
        <p:nvSpPr>
          <p:cNvPr id="558083" name="Rectangle 3"/>
          <p:cNvSpPr>
            <a:spLocks noGrp="1" noChangeArrowheads="1"/>
          </p:cNvSpPr>
          <p:nvPr>
            <p:ph idx="1"/>
          </p:nvPr>
        </p:nvSpPr>
        <p:spPr>
          <a:xfrm>
            <a:off x="495300" y="1196975"/>
            <a:ext cx="9066213" cy="4933950"/>
          </a:xfrm>
        </p:spPr>
        <p:txBody>
          <a:bodyPr/>
          <a:lstStyle/>
          <a:p>
            <a:pPr algn="just">
              <a:lnSpc>
                <a:spcPct val="100000"/>
              </a:lnSpc>
            </a:pPr>
            <a:r>
              <a:rPr lang="en-US" altLang="zh-CN" smtClean="0">
                <a:ea typeface="黑体" panose="02010609060101010101" pitchFamily="49" charset="-122"/>
              </a:rPr>
              <a:t>RIP </a:t>
            </a:r>
            <a:r>
              <a:rPr lang="zh-CN" altLang="en-US" smtClean="0">
                <a:ea typeface="黑体" panose="02010609060101010101" pitchFamily="49" charset="-122"/>
              </a:rPr>
              <a:t>认为一个</a:t>
            </a:r>
            <a:r>
              <a:rPr lang="zh-CN" altLang="en-US" smtClean="0">
                <a:solidFill>
                  <a:srgbClr val="FF0000"/>
                </a:solidFill>
                <a:ea typeface="黑体" panose="02010609060101010101" pitchFamily="49" charset="-122"/>
              </a:rPr>
              <a:t>好的路由</a:t>
            </a:r>
            <a:r>
              <a:rPr lang="zh-CN" altLang="en-US" smtClean="0">
                <a:ea typeface="黑体" panose="02010609060101010101" pitchFamily="49" charset="-122"/>
              </a:rPr>
              <a:t>就是它通过的路由器的数目少，即“</a:t>
            </a:r>
            <a:r>
              <a:rPr lang="zh-CN" altLang="en-US" smtClean="0">
                <a:solidFill>
                  <a:srgbClr val="FF0000"/>
                </a:solidFill>
                <a:ea typeface="黑体" panose="02010609060101010101" pitchFamily="49" charset="-122"/>
              </a:rPr>
              <a:t>距离短</a:t>
            </a:r>
            <a:r>
              <a:rPr lang="zh-CN" altLang="en-US" smtClean="0">
                <a:ea typeface="黑体" panose="02010609060101010101" pitchFamily="49" charset="-122"/>
              </a:rPr>
              <a:t>”。</a:t>
            </a:r>
          </a:p>
          <a:p>
            <a:pPr algn="just">
              <a:lnSpc>
                <a:spcPct val="100000"/>
              </a:lnSpc>
            </a:pPr>
            <a:r>
              <a:rPr lang="en-US" altLang="zh-CN" smtClean="0">
                <a:solidFill>
                  <a:srgbClr val="0000FF"/>
                </a:solidFill>
                <a:ea typeface="黑体" panose="02010609060101010101" pitchFamily="49" charset="-122"/>
              </a:rPr>
              <a:t>RIP </a:t>
            </a:r>
            <a:r>
              <a:rPr lang="zh-CN" altLang="en-US" smtClean="0">
                <a:solidFill>
                  <a:srgbClr val="0000FF"/>
                </a:solidFill>
                <a:ea typeface="黑体" panose="02010609060101010101" pitchFamily="49" charset="-122"/>
              </a:rPr>
              <a:t>允许一条路径</a:t>
            </a:r>
            <a:r>
              <a:rPr lang="zh-CN" altLang="en-US" smtClean="0">
                <a:solidFill>
                  <a:srgbClr val="FF0000"/>
                </a:solidFill>
                <a:ea typeface="黑体" panose="02010609060101010101" pitchFamily="49" charset="-122"/>
              </a:rPr>
              <a:t>最多</a:t>
            </a:r>
            <a:r>
              <a:rPr lang="zh-CN" altLang="en-US" smtClean="0">
                <a:solidFill>
                  <a:srgbClr val="0000FF"/>
                </a:solidFill>
                <a:ea typeface="黑体" panose="02010609060101010101" pitchFamily="49" charset="-122"/>
              </a:rPr>
              <a:t>只能包含 </a:t>
            </a:r>
            <a:r>
              <a:rPr lang="en-US" altLang="zh-CN" smtClean="0">
                <a:solidFill>
                  <a:srgbClr val="FF0000"/>
                </a:solidFill>
                <a:ea typeface="黑体" panose="02010609060101010101" pitchFamily="49" charset="-122"/>
              </a:rPr>
              <a:t>15</a:t>
            </a:r>
            <a:r>
              <a:rPr lang="en-US" altLang="zh-CN" smtClean="0">
                <a:solidFill>
                  <a:srgbClr val="0000FF"/>
                </a:solidFill>
                <a:ea typeface="黑体" panose="02010609060101010101" pitchFamily="49" charset="-122"/>
              </a:rPr>
              <a:t> </a:t>
            </a:r>
            <a:r>
              <a:rPr lang="zh-CN" altLang="en-US" smtClean="0">
                <a:solidFill>
                  <a:srgbClr val="0000FF"/>
                </a:solidFill>
                <a:ea typeface="黑体" panose="02010609060101010101" pitchFamily="49" charset="-122"/>
              </a:rPr>
              <a:t>个路由器。</a:t>
            </a:r>
          </a:p>
          <a:p>
            <a:pPr algn="just">
              <a:lnSpc>
                <a:spcPct val="100000"/>
              </a:lnSpc>
            </a:pPr>
            <a:r>
              <a:rPr lang="zh-CN" altLang="en-US" smtClean="0">
                <a:solidFill>
                  <a:srgbClr val="FF0000"/>
                </a:solidFill>
                <a:ea typeface="黑体" panose="02010609060101010101" pitchFamily="49" charset="-122"/>
              </a:rPr>
              <a:t>“距离”的最大值为 </a:t>
            </a:r>
            <a:r>
              <a:rPr lang="en-US" altLang="zh-CN" smtClean="0">
                <a:solidFill>
                  <a:srgbClr val="FF0000"/>
                </a:solidFill>
                <a:ea typeface="黑体" panose="02010609060101010101" pitchFamily="49" charset="-122"/>
              </a:rPr>
              <a:t>16 </a:t>
            </a:r>
            <a:r>
              <a:rPr lang="zh-CN" altLang="en-US" smtClean="0">
                <a:solidFill>
                  <a:srgbClr val="FF0000"/>
                </a:solidFill>
                <a:ea typeface="黑体" panose="02010609060101010101" pitchFamily="49" charset="-122"/>
              </a:rPr>
              <a:t>时即相当于不可达。</a:t>
            </a:r>
            <a:r>
              <a:rPr lang="zh-CN" altLang="en-US" smtClean="0">
                <a:ea typeface="黑体" panose="02010609060101010101" pitchFamily="49" charset="-122"/>
              </a:rPr>
              <a:t>可见 </a:t>
            </a:r>
            <a:r>
              <a:rPr lang="en-US" altLang="zh-CN" smtClean="0">
                <a:ea typeface="黑体" panose="02010609060101010101" pitchFamily="49" charset="-122"/>
              </a:rPr>
              <a:t>RIP </a:t>
            </a:r>
            <a:r>
              <a:rPr lang="zh-CN" altLang="en-US" smtClean="0">
                <a:ea typeface="黑体" panose="02010609060101010101" pitchFamily="49" charset="-122"/>
              </a:rPr>
              <a:t>只适用于小型互联网。</a:t>
            </a:r>
          </a:p>
          <a:p>
            <a:pPr algn="just">
              <a:lnSpc>
                <a:spcPct val="100000"/>
              </a:lnSpc>
            </a:pPr>
            <a:r>
              <a:rPr lang="en-US" altLang="zh-CN" smtClean="0">
                <a:solidFill>
                  <a:srgbClr val="FF0000"/>
                </a:solidFill>
                <a:ea typeface="黑体" panose="02010609060101010101" pitchFamily="49" charset="-122"/>
              </a:rPr>
              <a:t>RIP </a:t>
            </a:r>
            <a:r>
              <a:rPr lang="zh-CN" altLang="en-US" smtClean="0">
                <a:solidFill>
                  <a:srgbClr val="FF0000"/>
                </a:solidFill>
                <a:ea typeface="黑体" panose="02010609060101010101" pitchFamily="49" charset="-122"/>
              </a:rPr>
              <a:t>不能在两个网络之间同时使用多条路由。</a:t>
            </a:r>
            <a:r>
              <a:rPr lang="en-US" altLang="zh-CN" smtClean="0">
                <a:ea typeface="黑体" panose="02010609060101010101" pitchFamily="49" charset="-122"/>
              </a:rPr>
              <a:t>RIP </a:t>
            </a:r>
            <a:r>
              <a:rPr lang="zh-CN" altLang="en-US" smtClean="0">
                <a:ea typeface="黑体" panose="02010609060101010101" pitchFamily="49" charset="-122"/>
              </a:rPr>
              <a:t>选择一个具有最少路由器的路由（即最短路由），哪怕还存在另一条高速</a:t>
            </a:r>
            <a:r>
              <a:rPr lang="en-US" altLang="zh-CN" smtClean="0">
                <a:ea typeface="黑体" panose="02010609060101010101" pitchFamily="49" charset="-122"/>
              </a:rPr>
              <a:t>(</a:t>
            </a:r>
            <a:r>
              <a:rPr lang="zh-CN" altLang="en-US" smtClean="0">
                <a:ea typeface="黑体" panose="02010609060101010101" pitchFamily="49" charset="-122"/>
              </a:rPr>
              <a:t>低时延</a:t>
            </a:r>
            <a:r>
              <a:rPr lang="en-US" altLang="zh-CN" smtClean="0">
                <a:ea typeface="黑体" panose="02010609060101010101" pitchFamily="49" charset="-122"/>
              </a:rPr>
              <a:t>)</a:t>
            </a:r>
            <a:r>
              <a:rPr lang="zh-CN" altLang="en-US" smtClean="0">
                <a:ea typeface="黑体" panose="02010609060101010101" pitchFamily="49" charset="-122"/>
              </a:rPr>
              <a:t>但路由器较多的路由。   </a:t>
            </a:r>
          </a:p>
        </p:txBody>
      </p:sp>
      <p:sp>
        <p:nvSpPr>
          <p:cNvPr id="10024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6FAC1B-4E4B-4D01-904B-76DD7DEEFD3B}" type="slidenum">
              <a:rPr lang="zh-CN" altLang="en-US" smtClean="0"/>
              <a:pPr eaLnBrk="1" hangingPunct="1"/>
              <a:t>15</a:t>
            </a:fld>
            <a:endParaRPr lang="en-US" altLang="zh-CN" smtClean="0"/>
          </a:p>
        </p:txBody>
      </p:sp>
      <p:sp>
        <p:nvSpPr>
          <p:cNvPr id="10025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8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80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8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RIP </a:t>
            </a:r>
            <a:r>
              <a:rPr lang="zh-CN" altLang="en-US" smtClean="0">
                <a:ea typeface="黑体" panose="02010609060101010101" pitchFamily="49" charset="-122"/>
              </a:rPr>
              <a:t>协议的三个特点 </a:t>
            </a:r>
          </a:p>
        </p:txBody>
      </p:sp>
      <p:sp>
        <p:nvSpPr>
          <p:cNvPr id="559107"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 </a:t>
            </a:r>
            <a:r>
              <a:rPr lang="zh-CN" altLang="en-US" smtClean="0">
                <a:ea typeface="黑体" panose="02010609060101010101" pitchFamily="49" charset="-122"/>
              </a:rPr>
              <a:t>仅和</a:t>
            </a:r>
            <a:r>
              <a:rPr lang="zh-CN" altLang="en-US" smtClean="0">
                <a:solidFill>
                  <a:srgbClr val="FF0000"/>
                </a:solidFill>
                <a:ea typeface="黑体" panose="02010609060101010101" pitchFamily="49" charset="-122"/>
              </a:rPr>
              <a:t>相邻路由器</a:t>
            </a:r>
            <a:r>
              <a:rPr lang="zh-CN" altLang="en-US" smtClean="0">
                <a:ea typeface="黑体" panose="02010609060101010101" pitchFamily="49" charset="-122"/>
              </a:rPr>
              <a:t>交换信息。 </a:t>
            </a:r>
          </a:p>
          <a:p>
            <a:r>
              <a:rPr lang="en-US" altLang="zh-CN" smtClean="0">
                <a:ea typeface="黑体" panose="02010609060101010101" pitchFamily="49" charset="-122"/>
              </a:rPr>
              <a:t>(2) </a:t>
            </a:r>
            <a:r>
              <a:rPr lang="zh-CN" altLang="en-US" smtClean="0">
                <a:ea typeface="黑体" panose="02010609060101010101" pitchFamily="49" charset="-122"/>
              </a:rPr>
              <a:t>交换的信息是当前本路由器所知道的</a:t>
            </a:r>
            <a:r>
              <a:rPr lang="zh-CN" altLang="en-US" smtClean="0">
                <a:solidFill>
                  <a:srgbClr val="FF0000"/>
                </a:solidFill>
                <a:ea typeface="黑体" panose="02010609060101010101" pitchFamily="49" charset="-122"/>
              </a:rPr>
              <a:t>全部信息，即自己的路由表。 </a:t>
            </a:r>
          </a:p>
          <a:p>
            <a:r>
              <a:rPr lang="en-US" altLang="zh-CN" smtClean="0">
                <a:ea typeface="黑体" panose="02010609060101010101" pitchFamily="49" charset="-122"/>
              </a:rPr>
              <a:t>(3) </a:t>
            </a:r>
            <a:r>
              <a:rPr lang="zh-CN" altLang="en-US" smtClean="0">
                <a:ea typeface="黑体" panose="02010609060101010101" pitchFamily="49" charset="-122"/>
              </a:rPr>
              <a:t>按固定的时间间隔</a:t>
            </a:r>
            <a:r>
              <a:rPr lang="zh-CN" altLang="en-US" smtClean="0">
                <a:solidFill>
                  <a:srgbClr val="FF0000"/>
                </a:solidFill>
                <a:ea typeface="黑体" panose="02010609060101010101" pitchFamily="49" charset="-122"/>
              </a:rPr>
              <a:t>交换路由信息，</a:t>
            </a:r>
            <a:r>
              <a:rPr lang="zh-CN" altLang="en-US" smtClean="0">
                <a:ea typeface="黑体" panose="02010609060101010101" pitchFamily="49" charset="-122"/>
              </a:rPr>
              <a:t>例如，每隔 </a:t>
            </a:r>
            <a:r>
              <a:rPr lang="en-US" altLang="zh-CN" smtClean="0">
                <a:ea typeface="黑体" panose="02010609060101010101" pitchFamily="49" charset="-122"/>
              </a:rPr>
              <a:t>30 </a:t>
            </a:r>
            <a:r>
              <a:rPr lang="zh-CN" altLang="en-US" smtClean="0">
                <a:ea typeface="黑体" panose="02010609060101010101" pitchFamily="49" charset="-122"/>
              </a:rPr>
              <a:t>秒。</a:t>
            </a:r>
            <a:r>
              <a:rPr lang="zh-CN" altLang="zh-CN" smtClean="0">
                <a:ea typeface="黑体" panose="02010609060101010101" pitchFamily="49" charset="-122"/>
              </a:rPr>
              <a:t>当网络拓扑发生变化时，路由器也及时向相邻路由器通告拓扑变化后的路由信息。</a:t>
            </a:r>
            <a:endParaRPr lang="zh-CN" altLang="en-US" smtClean="0">
              <a:ea typeface="黑体" panose="02010609060101010101" pitchFamily="49" charset="-122"/>
            </a:endParaRPr>
          </a:p>
        </p:txBody>
      </p:sp>
      <p:sp>
        <p:nvSpPr>
          <p:cNvPr id="10045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513C69-A183-4D77-AF5F-83D497E8CC56}" type="slidenum">
              <a:rPr lang="zh-CN" altLang="en-US" smtClean="0"/>
              <a:pPr eaLnBrk="1" hangingPunct="1"/>
              <a:t>16</a:t>
            </a:fld>
            <a:endParaRPr lang="en-US" altLang="zh-CN" smtClean="0"/>
          </a:p>
        </p:txBody>
      </p:sp>
      <p:sp>
        <p:nvSpPr>
          <p:cNvPr id="10045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91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9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路由表的建立 </a:t>
            </a:r>
          </a:p>
        </p:txBody>
      </p:sp>
      <p:sp>
        <p:nvSpPr>
          <p:cNvPr id="560131" name="Rectangle 3"/>
          <p:cNvSpPr>
            <a:spLocks noGrp="1" noChangeArrowheads="1"/>
          </p:cNvSpPr>
          <p:nvPr>
            <p:ph idx="1"/>
          </p:nvPr>
        </p:nvSpPr>
        <p:spPr>
          <a:xfrm>
            <a:off x="495300" y="1196975"/>
            <a:ext cx="9066213" cy="4933950"/>
          </a:xfrm>
        </p:spPr>
        <p:txBody>
          <a:bodyPr/>
          <a:lstStyle/>
          <a:p>
            <a:pPr algn="just"/>
            <a:r>
              <a:rPr lang="zh-CN" altLang="en-US" sz="2800" smtClean="0">
                <a:ea typeface="黑体" panose="02010609060101010101" pitchFamily="49" charset="-122"/>
              </a:rPr>
              <a:t>路由器在</a:t>
            </a:r>
            <a:r>
              <a:rPr lang="zh-CN" altLang="en-US" sz="2800" smtClean="0">
                <a:solidFill>
                  <a:srgbClr val="FF0000"/>
                </a:solidFill>
                <a:ea typeface="黑体" panose="02010609060101010101" pitchFamily="49" charset="-122"/>
              </a:rPr>
              <a:t>刚刚开始工作</a:t>
            </a:r>
            <a:r>
              <a:rPr lang="zh-CN" altLang="en-US" sz="2800" smtClean="0">
                <a:ea typeface="黑体" panose="02010609060101010101" pitchFamily="49" charset="-122"/>
              </a:rPr>
              <a:t>时，只知道到直接连接的网络的距离（此距离定义为</a:t>
            </a:r>
            <a:r>
              <a:rPr lang="en-US" altLang="zh-CN" sz="2800" smtClean="0">
                <a:ea typeface="黑体" panose="02010609060101010101" pitchFamily="49" charset="-122"/>
              </a:rPr>
              <a:t>1</a:t>
            </a:r>
            <a:r>
              <a:rPr lang="zh-CN" altLang="en-US" sz="2800" smtClean="0">
                <a:ea typeface="黑体" panose="02010609060101010101" pitchFamily="49" charset="-122"/>
              </a:rPr>
              <a:t>）。</a:t>
            </a:r>
            <a:r>
              <a:rPr lang="zh-CN" altLang="zh-CN" sz="2800" smtClean="0">
                <a:ea typeface="黑体" panose="02010609060101010101" pitchFamily="49" charset="-122"/>
              </a:rPr>
              <a:t>它的</a:t>
            </a:r>
            <a:r>
              <a:rPr lang="zh-CN" altLang="zh-CN" sz="2800" smtClean="0">
                <a:solidFill>
                  <a:srgbClr val="FF0000"/>
                </a:solidFill>
                <a:ea typeface="黑体" panose="02010609060101010101" pitchFamily="49" charset="-122"/>
              </a:rPr>
              <a:t>路由表是空的。</a:t>
            </a:r>
            <a:endParaRPr lang="zh-CN" altLang="en-US" sz="2800" smtClean="0">
              <a:solidFill>
                <a:srgbClr val="FF0000"/>
              </a:solidFill>
              <a:ea typeface="黑体" panose="02010609060101010101" pitchFamily="49" charset="-122"/>
            </a:endParaRPr>
          </a:p>
          <a:p>
            <a:pPr algn="just"/>
            <a:r>
              <a:rPr lang="zh-CN" altLang="en-US" sz="2800" smtClean="0">
                <a:ea typeface="黑体" panose="02010609060101010101" pitchFamily="49" charset="-122"/>
              </a:rPr>
              <a:t>以后，每一个路由器也只和数目非常有限的相邻路由器交换并更新路由信息。</a:t>
            </a:r>
          </a:p>
          <a:p>
            <a:pPr algn="just"/>
            <a:r>
              <a:rPr lang="zh-CN" altLang="en-US" sz="2800" smtClean="0">
                <a:ea typeface="黑体" panose="02010609060101010101" pitchFamily="49" charset="-122"/>
              </a:rPr>
              <a:t>经过若干次更新后，所有的路由器最终都会知道到达本自治系统中任何一个网络的最短距离和下一跳路由器的地址。</a:t>
            </a:r>
          </a:p>
          <a:p>
            <a:pPr algn="just"/>
            <a:r>
              <a:rPr lang="en-US" altLang="zh-CN" sz="2800" smtClean="0">
                <a:ea typeface="黑体" panose="02010609060101010101" pitchFamily="49" charset="-122"/>
              </a:rPr>
              <a:t>RIP </a:t>
            </a:r>
            <a:r>
              <a:rPr lang="zh-CN" altLang="en-US" sz="2800" smtClean="0">
                <a:ea typeface="黑体" panose="02010609060101010101" pitchFamily="49" charset="-122"/>
              </a:rPr>
              <a:t>协议的</a:t>
            </a:r>
            <a:r>
              <a:rPr lang="zh-CN" altLang="en-US" sz="2800" smtClean="0">
                <a:solidFill>
                  <a:srgbClr val="FF0000"/>
                </a:solidFill>
                <a:ea typeface="黑体" panose="02010609060101010101" pitchFamily="49" charset="-122"/>
              </a:rPr>
              <a:t>收敛 </a:t>
            </a:r>
            <a:r>
              <a:rPr lang="en-US" altLang="zh-CN" sz="2800" smtClean="0">
                <a:ea typeface="黑体" panose="02010609060101010101" pitchFamily="49" charset="-122"/>
              </a:rPr>
              <a:t>(convergence) </a:t>
            </a:r>
            <a:r>
              <a:rPr lang="zh-CN" altLang="en-US" sz="2800" smtClean="0">
                <a:ea typeface="黑体" panose="02010609060101010101" pitchFamily="49" charset="-122"/>
              </a:rPr>
              <a:t>过程较快。</a:t>
            </a:r>
            <a:r>
              <a:rPr lang="zh-CN" altLang="zh-CN" sz="2800" smtClean="0">
                <a:ea typeface="黑体" panose="02010609060101010101" pitchFamily="49" charset="-122"/>
              </a:rPr>
              <a:t>“收敛”就是</a:t>
            </a:r>
            <a:r>
              <a:rPr lang="zh-CN" altLang="en-US" sz="2800" smtClean="0">
                <a:ea typeface="黑体" panose="02010609060101010101" pitchFamily="49" charset="-122"/>
              </a:rPr>
              <a:t>在自治系统中所有的结点都得到正确的路由选择信息的过程。 </a:t>
            </a:r>
          </a:p>
        </p:txBody>
      </p:sp>
      <p:sp>
        <p:nvSpPr>
          <p:cNvPr id="1006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7532E4-7925-4041-8470-3053CA135958}" type="slidenum">
              <a:rPr lang="zh-CN" altLang="en-US" smtClean="0"/>
              <a:pPr eaLnBrk="1" hangingPunct="1"/>
              <a:t>17</a:t>
            </a:fld>
            <a:endParaRPr lang="en-US" altLang="zh-CN" smtClean="0"/>
          </a:p>
        </p:txBody>
      </p:sp>
      <p:sp>
        <p:nvSpPr>
          <p:cNvPr id="1006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01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01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01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641" name="Rectangle 2"/>
          <p:cNvSpPr>
            <a:spLocks noGrp="1" noChangeArrowheads="1"/>
          </p:cNvSpPr>
          <p:nvPr>
            <p:ph type="title"/>
          </p:nvPr>
        </p:nvSpPr>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距离向量算法</a:t>
            </a:r>
          </a:p>
        </p:txBody>
      </p:sp>
      <p:sp>
        <p:nvSpPr>
          <p:cNvPr id="7" name="Text Box 3"/>
          <p:cNvSpPr txBox="1">
            <a:spLocks noChangeArrowheads="1"/>
          </p:cNvSpPr>
          <p:nvPr/>
        </p:nvSpPr>
        <p:spPr bwMode="auto">
          <a:xfrm>
            <a:off x="560388" y="1125538"/>
            <a:ext cx="8910637" cy="5273675"/>
          </a:xfrm>
          <a:prstGeom prst="rect">
            <a:avLst/>
          </a:prstGeom>
          <a:solidFill>
            <a:srgbClr val="FFFF99"/>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10000"/>
              </a:lnSpc>
            </a:pPr>
            <a:r>
              <a:rPr lang="zh-CN" altLang="en-US" sz="2200" b="1">
                <a:solidFill>
                  <a:srgbClr val="C00000"/>
                </a:solidFill>
                <a:ea typeface="黑体" panose="02010609060101010101" pitchFamily="49" charset="-122"/>
              </a:rPr>
              <a:t>路由器收到相邻路由器（其地址为 </a:t>
            </a:r>
            <a:r>
              <a:rPr lang="en-US" altLang="zh-CN" sz="2200" b="1">
                <a:solidFill>
                  <a:srgbClr val="C00000"/>
                </a:solidFill>
                <a:ea typeface="黑体" panose="02010609060101010101" pitchFamily="49" charset="-122"/>
              </a:rPr>
              <a:t>X</a:t>
            </a:r>
            <a:r>
              <a:rPr lang="zh-CN" altLang="en-US" sz="2200" b="1">
                <a:solidFill>
                  <a:srgbClr val="C00000"/>
                </a:solidFill>
                <a:ea typeface="黑体" panose="02010609060101010101" pitchFamily="49" charset="-122"/>
              </a:rPr>
              <a:t>）的一个 </a:t>
            </a:r>
            <a:r>
              <a:rPr lang="en-US" altLang="zh-CN" sz="2200" b="1">
                <a:solidFill>
                  <a:srgbClr val="C00000"/>
                </a:solidFill>
                <a:ea typeface="黑体" panose="02010609060101010101" pitchFamily="49" charset="-122"/>
              </a:rPr>
              <a:t>RIP </a:t>
            </a:r>
            <a:r>
              <a:rPr lang="zh-CN" altLang="en-US" sz="2200" b="1">
                <a:solidFill>
                  <a:srgbClr val="C00000"/>
                </a:solidFill>
                <a:ea typeface="黑体" panose="02010609060101010101" pitchFamily="49" charset="-122"/>
              </a:rPr>
              <a:t>报文：</a:t>
            </a:r>
          </a:p>
          <a:p>
            <a:pPr eaLnBrk="0" hangingPunct="0">
              <a:lnSpc>
                <a:spcPct val="110000"/>
              </a:lnSpc>
            </a:pPr>
            <a:r>
              <a:rPr lang="en-US" altLang="zh-CN" sz="2200" b="1">
                <a:solidFill>
                  <a:srgbClr val="0000CC"/>
                </a:solidFill>
                <a:ea typeface="黑体" panose="02010609060101010101" pitchFamily="49" charset="-122"/>
              </a:rPr>
              <a:t>(1) </a:t>
            </a:r>
            <a:r>
              <a:rPr lang="zh-CN" altLang="en-US" sz="2200" b="1">
                <a:solidFill>
                  <a:srgbClr val="0000CC"/>
                </a:solidFill>
                <a:ea typeface="黑体" panose="02010609060101010101" pitchFamily="49" charset="-122"/>
              </a:rPr>
              <a:t>先修改此 </a:t>
            </a:r>
            <a:r>
              <a:rPr lang="en-US" altLang="zh-CN" sz="2200" b="1">
                <a:solidFill>
                  <a:srgbClr val="0000CC"/>
                </a:solidFill>
                <a:ea typeface="黑体" panose="02010609060101010101" pitchFamily="49" charset="-122"/>
              </a:rPr>
              <a:t>RIP </a:t>
            </a:r>
            <a:r>
              <a:rPr lang="zh-CN" altLang="en-US" sz="2200" b="1">
                <a:solidFill>
                  <a:srgbClr val="0000CC"/>
                </a:solidFill>
                <a:ea typeface="黑体" panose="02010609060101010101" pitchFamily="49" charset="-122"/>
              </a:rPr>
              <a:t>报文中的所有项目：把“下一跳”字段中的地址都改为 </a:t>
            </a:r>
            <a:r>
              <a:rPr lang="en-US" altLang="zh-CN" sz="2200" b="1">
                <a:solidFill>
                  <a:srgbClr val="0000CC"/>
                </a:solidFill>
                <a:ea typeface="黑体" panose="02010609060101010101" pitchFamily="49" charset="-122"/>
              </a:rPr>
              <a:t>X</a:t>
            </a:r>
            <a:r>
              <a:rPr lang="zh-CN" altLang="en-US" sz="2200" b="1">
                <a:solidFill>
                  <a:srgbClr val="0000CC"/>
                </a:solidFill>
                <a:ea typeface="黑体" panose="02010609060101010101" pitchFamily="49" charset="-122"/>
              </a:rPr>
              <a:t>，并把所有的“距离”字段的值加 </a:t>
            </a:r>
            <a:r>
              <a:rPr lang="en-US" altLang="zh-CN" sz="2200" b="1">
                <a:solidFill>
                  <a:srgbClr val="0000CC"/>
                </a:solidFill>
                <a:ea typeface="黑体" panose="02010609060101010101" pitchFamily="49" charset="-122"/>
              </a:rPr>
              <a:t>1</a:t>
            </a:r>
            <a:r>
              <a:rPr lang="zh-CN" altLang="en-US" sz="2200" b="1">
                <a:solidFill>
                  <a:srgbClr val="0000CC"/>
                </a:solidFill>
                <a:ea typeface="黑体" panose="02010609060101010101" pitchFamily="49" charset="-122"/>
              </a:rPr>
              <a:t>。</a:t>
            </a:r>
          </a:p>
          <a:p>
            <a:pPr eaLnBrk="0" hangingPunct="0">
              <a:lnSpc>
                <a:spcPct val="110000"/>
              </a:lnSpc>
            </a:pPr>
            <a:r>
              <a:rPr lang="en-US" altLang="zh-CN" sz="2200" b="1">
                <a:solidFill>
                  <a:srgbClr val="0000CC"/>
                </a:solidFill>
                <a:ea typeface="黑体" panose="02010609060101010101" pitchFamily="49" charset="-122"/>
              </a:rPr>
              <a:t>(2) </a:t>
            </a:r>
            <a:r>
              <a:rPr lang="zh-CN" altLang="en-US" sz="2200" b="1">
                <a:solidFill>
                  <a:srgbClr val="0000CC"/>
                </a:solidFill>
                <a:ea typeface="黑体" panose="02010609060101010101" pitchFamily="49" charset="-122"/>
              </a:rPr>
              <a:t>对修改后的 </a:t>
            </a:r>
            <a:r>
              <a:rPr lang="en-US" altLang="zh-CN" sz="2200" b="1">
                <a:solidFill>
                  <a:srgbClr val="0000CC"/>
                </a:solidFill>
                <a:ea typeface="黑体" panose="02010609060101010101" pitchFamily="49" charset="-122"/>
              </a:rPr>
              <a:t>RIP </a:t>
            </a:r>
            <a:r>
              <a:rPr lang="zh-CN" altLang="en-US" sz="2200" b="1">
                <a:solidFill>
                  <a:srgbClr val="0000CC"/>
                </a:solidFill>
                <a:ea typeface="黑体" panose="02010609060101010101" pitchFamily="49" charset="-122"/>
              </a:rPr>
              <a:t>报文中的每一个项目，重复以下步骤：</a:t>
            </a:r>
          </a:p>
          <a:p>
            <a:pPr eaLnBrk="0" hangingPunct="0">
              <a:lnSpc>
                <a:spcPct val="110000"/>
              </a:lnSpc>
            </a:pPr>
            <a:r>
              <a:rPr lang="en-US" altLang="zh-CN" sz="2200" b="1">
                <a:solidFill>
                  <a:srgbClr val="0000CC"/>
                </a:solidFill>
                <a:ea typeface="黑体" panose="02010609060101010101" pitchFamily="49" charset="-122"/>
              </a:rPr>
              <a:t>     </a:t>
            </a:r>
            <a:r>
              <a:rPr lang="zh-CN" altLang="en-US" sz="2200" b="1">
                <a:solidFill>
                  <a:srgbClr val="0000CC"/>
                </a:solidFill>
                <a:ea typeface="黑体" panose="02010609060101010101" pitchFamily="49" charset="-122"/>
              </a:rPr>
              <a:t>若项目中的目的网络不在路由表中，则把该项目加到路由表中。</a:t>
            </a:r>
          </a:p>
          <a:p>
            <a:pPr eaLnBrk="0" hangingPunct="0">
              <a:lnSpc>
                <a:spcPct val="110000"/>
              </a:lnSpc>
            </a:pPr>
            <a:r>
              <a:rPr lang="zh-CN" altLang="en-US" sz="2200" b="1">
                <a:solidFill>
                  <a:srgbClr val="0000CC"/>
                </a:solidFill>
                <a:ea typeface="黑体" panose="02010609060101010101" pitchFamily="49" charset="-122"/>
              </a:rPr>
              <a:t>         否则</a:t>
            </a:r>
          </a:p>
          <a:p>
            <a:pPr eaLnBrk="0" hangingPunct="0">
              <a:lnSpc>
                <a:spcPct val="110000"/>
              </a:lnSpc>
            </a:pPr>
            <a:r>
              <a:rPr lang="zh-CN" altLang="en-US" sz="2200" b="1">
                <a:solidFill>
                  <a:srgbClr val="0000CC"/>
                </a:solidFill>
                <a:ea typeface="黑体" panose="02010609060101010101" pitchFamily="49" charset="-122"/>
              </a:rPr>
              <a:t>             若下一跳字段给出的路由器地址是同样的，则把收到的项目替换原路由表中的项目。</a:t>
            </a:r>
          </a:p>
          <a:p>
            <a:pPr eaLnBrk="0" hangingPunct="0">
              <a:lnSpc>
                <a:spcPct val="110000"/>
              </a:lnSpc>
            </a:pPr>
            <a:r>
              <a:rPr lang="zh-CN" altLang="en-US" sz="2200" b="1">
                <a:solidFill>
                  <a:srgbClr val="0000CC"/>
                </a:solidFill>
                <a:ea typeface="黑体" panose="02010609060101010101" pitchFamily="49" charset="-122"/>
              </a:rPr>
              <a:t>                否则 </a:t>
            </a:r>
          </a:p>
          <a:p>
            <a:pPr eaLnBrk="0" hangingPunct="0">
              <a:lnSpc>
                <a:spcPct val="110000"/>
              </a:lnSpc>
            </a:pPr>
            <a:r>
              <a:rPr lang="zh-CN" altLang="en-US" sz="2200" b="1">
                <a:solidFill>
                  <a:srgbClr val="0000CC"/>
                </a:solidFill>
                <a:ea typeface="黑体" panose="02010609060101010101" pitchFamily="49" charset="-122"/>
              </a:rPr>
              <a:t>                    若收到项目中的距离小于路由表中的距离，则进行更新，</a:t>
            </a:r>
          </a:p>
          <a:p>
            <a:pPr eaLnBrk="0" hangingPunct="0">
              <a:lnSpc>
                <a:spcPct val="110000"/>
              </a:lnSpc>
            </a:pPr>
            <a:r>
              <a:rPr lang="zh-CN" altLang="en-US" sz="2200" b="1">
                <a:solidFill>
                  <a:srgbClr val="0000CC"/>
                </a:solidFill>
                <a:ea typeface="黑体" panose="02010609060101010101" pitchFamily="49" charset="-122"/>
              </a:rPr>
              <a:t>	          否则，什么也不做。</a:t>
            </a:r>
          </a:p>
          <a:p>
            <a:pPr eaLnBrk="0" hangingPunct="0">
              <a:lnSpc>
                <a:spcPct val="110000"/>
              </a:lnSpc>
            </a:pPr>
            <a:r>
              <a:rPr lang="en-US" altLang="zh-CN" sz="2200" b="1">
                <a:solidFill>
                  <a:srgbClr val="0000CC"/>
                </a:solidFill>
                <a:ea typeface="黑体" panose="02010609060101010101" pitchFamily="49" charset="-122"/>
              </a:rPr>
              <a:t>(3) </a:t>
            </a:r>
            <a:r>
              <a:rPr lang="zh-CN" altLang="en-US" sz="2200" b="1">
                <a:solidFill>
                  <a:srgbClr val="0000CC"/>
                </a:solidFill>
                <a:ea typeface="黑体" panose="02010609060101010101" pitchFamily="49" charset="-122"/>
              </a:rPr>
              <a:t>若 </a:t>
            </a:r>
            <a:r>
              <a:rPr lang="en-US" altLang="zh-CN" sz="2200" b="1">
                <a:solidFill>
                  <a:srgbClr val="0000CC"/>
                </a:solidFill>
                <a:ea typeface="黑体" panose="02010609060101010101" pitchFamily="49" charset="-122"/>
              </a:rPr>
              <a:t>3 </a:t>
            </a:r>
            <a:r>
              <a:rPr lang="zh-CN" altLang="en-US" sz="2200" b="1">
                <a:solidFill>
                  <a:srgbClr val="0000CC"/>
                </a:solidFill>
                <a:ea typeface="黑体" panose="02010609060101010101" pitchFamily="49" charset="-122"/>
              </a:rPr>
              <a:t>分钟还没有收到相邻路由器的更新路由表，则把此相邻路由器记为不可达路由器，即将距离置为 </a:t>
            </a:r>
            <a:r>
              <a:rPr lang="en-US" altLang="zh-CN" sz="2200" b="1">
                <a:solidFill>
                  <a:srgbClr val="0000CC"/>
                </a:solidFill>
                <a:ea typeface="黑体" panose="02010609060101010101" pitchFamily="49" charset="-122"/>
              </a:rPr>
              <a:t>16</a:t>
            </a:r>
            <a:r>
              <a:rPr lang="zh-CN" altLang="en-US" sz="2200" b="1">
                <a:solidFill>
                  <a:srgbClr val="0000CC"/>
                </a:solidFill>
                <a:ea typeface="黑体" panose="02010609060101010101" pitchFamily="49" charset="-122"/>
              </a:rPr>
              <a:t>（表示不可达）。</a:t>
            </a:r>
          </a:p>
          <a:p>
            <a:pPr eaLnBrk="0" hangingPunct="0">
              <a:lnSpc>
                <a:spcPct val="110000"/>
              </a:lnSpc>
            </a:pPr>
            <a:r>
              <a:rPr lang="en-US" altLang="zh-CN" sz="2200" b="1">
                <a:solidFill>
                  <a:srgbClr val="0000CC"/>
                </a:solidFill>
                <a:ea typeface="黑体" panose="02010609060101010101" pitchFamily="49" charset="-122"/>
              </a:rPr>
              <a:t>(4) </a:t>
            </a:r>
            <a:r>
              <a:rPr lang="zh-CN" altLang="en-US" sz="2200" b="1">
                <a:solidFill>
                  <a:srgbClr val="0000CC"/>
                </a:solidFill>
                <a:ea typeface="黑体" panose="02010609060101010101" pitchFamily="49" charset="-122"/>
              </a:rPr>
              <a:t>返回。</a:t>
            </a:r>
          </a:p>
        </p:txBody>
      </p:sp>
      <p:sp>
        <p:nvSpPr>
          <p:cNvPr id="10086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5A48A8-DFEA-4657-9E1D-0ACA462A7194}" type="slidenum">
              <a:rPr lang="zh-CN" altLang="en-US" smtClean="0"/>
              <a:pPr eaLnBrk="1" hangingPunct="1"/>
              <a:t>18</a:t>
            </a:fld>
            <a:endParaRPr lang="en-US" altLang="zh-CN" smtClean="0"/>
          </a:p>
        </p:txBody>
      </p:sp>
      <p:sp>
        <p:nvSpPr>
          <p:cNvPr id="10086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8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2. </a:t>
            </a:r>
            <a:r>
              <a:rPr lang="zh-CN" altLang="en-US" smtClean="0">
                <a:ea typeface="黑体" panose="02010609060101010101" pitchFamily="49" charset="-122"/>
              </a:rPr>
              <a:t>距离向量算法</a:t>
            </a:r>
          </a:p>
        </p:txBody>
      </p:sp>
      <p:sp>
        <p:nvSpPr>
          <p:cNvPr id="2" name="内容占位符 1"/>
          <p:cNvSpPr>
            <a:spLocks noGrp="1"/>
          </p:cNvSpPr>
          <p:nvPr>
            <p:ph idx="1"/>
          </p:nvPr>
        </p:nvSpPr>
        <p:spPr>
          <a:xfrm>
            <a:off x="495300" y="1196975"/>
            <a:ext cx="9066213" cy="4933950"/>
          </a:xfrm>
        </p:spPr>
        <p:txBody>
          <a:bodyPr/>
          <a:lstStyle/>
          <a:p>
            <a:r>
              <a:rPr lang="zh-CN" altLang="zh-CN" noProof="1"/>
              <a:t>距离向量算法的基础就是</a:t>
            </a:r>
            <a:r>
              <a:rPr lang="en-US" altLang="zh-CN" noProof="1"/>
              <a:t> Bellman-Ford </a:t>
            </a:r>
            <a:r>
              <a:rPr lang="zh-CN" altLang="zh-CN" noProof="1"/>
              <a:t>算法（或</a:t>
            </a:r>
            <a:r>
              <a:rPr lang="en-US" altLang="zh-CN" noProof="1"/>
              <a:t> Ford-Fulkerson </a:t>
            </a:r>
            <a:r>
              <a:rPr lang="zh-CN" altLang="zh-CN" noProof="1"/>
              <a:t>算法）。</a:t>
            </a:r>
            <a:endParaRPr lang="en-US" altLang="zh-CN" noProof="1"/>
          </a:p>
          <a:p>
            <a:r>
              <a:rPr lang="zh-CN" altLang="zh-CN" noProof="1"/>
              <a:t>这种算法的</a:t>
            </a:r>
            <a:r>
              <a:rPr lang="zh-CN" altLang="zh-CN" noProof="1">
                <a:solidFill>
                  <a:srgbClr val="FF0000"/>
                </a:solidFill>
              </a:rPr>
              <a:t>要点</a:t>
            </a:r>
            <a:r>
              <a:rPr lang="zh-CN" altLang="zh-CN" noProof="1"/>
              <a:t>是这样的：</a:t>
            </a:r>
          </a:p>
          <a:p>
            <a:pPr marL="360680" indent="0">
              <a:buFont typeface="Wingdings" panose="05000000000000000000" pitchFamily="2" charset="2"/>
              <a:buNone/>
            </a:pPr>
            <a:r>
              <a:rPr lang="zh-CN" altLang="zh-CN" noProof="1"/>
              <a:t>设</a:t>
            </a:r>
            <a:r>
              <a:rPr lang="en-US" altLang="zh-CN" noProof="1"/>
              <a:t>X</a:t>
            </a:r>
            <a:r>
              <a:rPr lang="zh-CN" altLang="zh-CN" noProof="1"/>
              <a:t>是结点</a:t>
            </a:r>
            <a:r>
              <a:rPr lang="en-US" altLang="zh-CN" noProof="1"/>
              <a:t> A </a:t>
            </a:r>
            <a:r>
              <a:rPr lang="zh-CN" altLang="zh-CN" noProof="1"/>
              <a:t>到</a:t>
            </a:r>
            <a:r>
              <a:rPr lang="en-US" altLang="zh-CN" noProof="1"/>
              <a:t> B </a:t>
            </a:r>
            <a:r>
              <a:rPr lang="zh-CN" altLang="zh-CN" noProof="1"/>
              <a:t>的最短路径上的一个结点。</a:t>
            </a:r>
            <a:endParaRPr lang="en-US" altLang="zh-CN" noProof="1"/>
          </a:p>
          <a:p>
            <a:pPr marL="360680" indent="0">
              <a:buFont typeface="Wingdings" panose="05000000000000000000" pitchFamily="2" charset="2"/>
              <a:buNone/>
            </a:pPr>
            <a:r>
              <a:rPr lang="zh-CN" altLang="zh-CN" noProof="1"/>
              <a:t>若把路径</a:t>
            </a:r>
            <a:r>
              <a:rPr lang="en-US" altLang="zh-CN" noProof="1"/>
              <a:t> A</a:t>
            </a:r>
            <a:r>
              <a:rPr lang="zh-CN" altLang="zh-CN" noProof="1"/>
              <a:t>→</a:t>
            </a:r>
            <a:r>
              <a:rPr lang="en-US" altLang="zh-CN" noProof="1"/>
              <a:t>B </a:t>
            </a:r>
            <a:r>
              <a:rPr lang="zh-CN" altLang="zh-CN" noProof="1"/>
              <a:t>拆成两段路径</a:t>
            </a:r>
            <a:r>
              <a:rPr lang="en-US" altLang="zh-CN" noProof="1"/>
              <a:t> A</a:t>
            </a:r>
            <a:r>
              <a:rPr lang="zh-CN" altLang="zh-CN" noProof="1"/>
              <a:t>→</a:t>
            </a:r>
            <a:r>
              <a:rPr lang="en-US" altLang="zh-CN" noProof="1"/>
              <a:t>X </a:t>
            </a:r>
            <a:r>
              <a:rPr lang="zh-CN" altLang="zh-CN" noProof="1"/>
              <a:t>和</a:t>
            </a:r>
            <a:r>
              <a:rPr lang="en-US" altLang="zh-CN" noProof="1"/>
              <a:t> X</a:t>
            </a:r>
            <a:r>
              <a:rPr lang="zh-CN" altLang="zh-CN" noProof="1"/>
              <a:t>→</a:t>
            </a:r>
            <a:r>
              <a:rPr lang="en-US" altLang="zh-CN" noProof="1"/>
              <a:t>B</a:t>
            </a:r>
            <a:r>
              <a:rPr lang="zh-CN" altLang="zh-CN" noProof="1"/>
              <a:t>，则每一段路径</a:t>
            </a:r>
            <a:r>
              <a:rPr lang="en-US" altLang="zh-CN" noProof="1"/>
              <a:t> A</a:t>
            </a:r>
            <a:r>
              <a:rPr lang="zh-CN" altLang="zh-CN" noProof="1"/>
              <a:t>→</a:t>
            </a:r>
            <a:r>
              <a:rPr lang="en-US" altLang="zh-CN" noProof="1"/>
              <a:t>X </a:t>
            </a:r>
            <a:r>
              <a:rPr lang="zh-CN" altLang="zh-CN" noProof="1"/>
              <a:t>和</a:t>
            </a:r>
            <a:r>
              <a:rPr lang="en-US" altLang="zh-CN" noProof="1"/>
              <a:t> X</a:t>
            </a:r>
            <a:r>
              <a:rPr lang="zh-CN" altLang="zh-CN" noProof="1"/>
              <a:t>→</a:t>
            </a:r>
            <a:r>
              <a:rPr lang="en-US" altLang="zh-CN" noProof="1"/>
              <a:t>B </a:t>
            </a:r>
            <a:r>
              <a:rPr lang="zh-CN" altLang="zh-CN" noProof="1"/>
              <a:t>也都分别是结点</a:t>
            </a:r>
            <a:r>
              <a:rPr lang="en-US" altLang="zh-CN" noProof="1"/>
              <a:t> A </a:t>
            </a:r>
            <a:r>
              <a:rPr lang="zh-CN" altLang="zh-CN" noProof="1"/>
              <a:t>到</a:t>
            </a:r>
            <a:r>
              <a:rPr lang="en-US" altLang="zh-CN" noProof="1"/>
              <a:t> X </a:t>
            </a:r>
            <a:r>
              <a:rPr lang="zh-CN" altLang="zh-CN" noProof="1"/>
              <a:t>和结点</a:t>
            </a:r>
            <a:r>
              <a:rPr lang="en-US" altLang="zh-CN" noProof="1"/>
              <a:t> X </a:t>
            </a:r>
            <a:r>
              <a:rPr lang="zh-CN" altLang="zh-CN" noProof="1"/>
              <a:t>到</a:t>
            </a:r>
            <a:r>
              <a:rPr lang="en-US" altLang="zh-CN" noProof="1"/>
              <a:t> B </a:t>
            </a:r>
            <a:r>
              <a:rPr lang="zh-CN" altLang="zh-CN" noProof="1"/>
              <a:t>的最短路径。</a:t>
            </a:r>
          </a:p>
          <a:p>
            <a:endParaRPr lang="zh-CN" altLang="en-US" noProof="1"/>
          </a:p>
        </p:txBody>
      </p:sp>
      <p:sp>
        <p:nvSpPr>
          <p:cNvPr id="101069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BFA152-9E10-4BEE-9D89-F3A27003031D}" type="slidenum">
              <a:rPr lang="zh-CN" altLang="en-US" smtClean="0"/>
              <a:pPr eaLnBrk="1" hangingPunct="1"/>
              <a:t>19</a:t>
            </a:fld>
            <a:endParaRPr lang="en-US" altLang="zh-CN" smtClean="0"/>
          </a:p>
        </p:txBody>
      </p:sp>
      <p:sp>
        <p:nvSpPr>
          <p:cNvPr id="101069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37"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路由器之间交换信息与路由表更新</a:t>
            </a:r>
          </a:p>
        </p:txBody>
      </p:sp>
      <p:sp>
        <p:nvSpPr>
          <p:cNvPr id="562179" name="Rectangle 3"/>
          <p:cNvSpPr>
            <a:spLocks noGrp="1" noChangeArrowheads="1"/>
          </p:cNvSpPr>
          <p:nvPr>
            <p:ph idx="1"/>
          </p:nvPr>
        </p:nvSpPr>
        <p:spPr>
          <a:xfrm>
            <a:off x="495300" y="1196975"/>
            <a:ext cx="9066213" cy="4933950"/>
          </a:xfrm>
        </p:spPr>
        <p:txBody>
          <a:bodyPr/>
          <a:lstStyle/>
          <a:p>
            <a:pPr algn="just"/>
            <a:r>
              <a:rPr lang="en-US" altLang="zh-CN" smtClean="0">
                <a:ea typeface="黑体" panose="02010609060101010101" pitchFamily="49" charset="-122"/>
              </a:rPr>
              <a:t>RIP </a:t>
            </a:r>
            <a:r>
              <a:rPr lang="zh-CN" altLang="en-US" smtClean="0">
                <a:ea typeface="黑体" panose="02010609060101010101" pitchFamily="49" charset="-122"/>
              </a:rPr>
              <a:t>协议让互联网中的所有路由器都和自己的相邻路由器不断交换路由信息，并不断更新其路由表，使得从每一个路由器到每一个目的网络的路由都是最短的（即跳数最少）。</a:t>
            </a:r>
          </a:p>
          <a:p>
            <a:pPr algn="just"/>
            <a:r>
              <a:rPr lang="zh-CN" altLang="en-US" smtClean="0">
                <a:ea typeface="黑体" panose="02010609060101010101" pitchFamily="49" charset="-122"/>
              </a:rPr>
              <a:t>虽然所有的路由器最终都拥有了整个自治系统的全局路由信息，但由于每一个路由器的位置不同，它们的路由表当然也应当是不同的。  </a:t>
            </a:r>
          </a:p>
        </p:txBody>
      </p:sp>
      <p:sp>
        <p:nvSpPr>
          <p:cNvPr id="10127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60CA81-463B-43A3-BEFF-FB1BBA66170F}" type="slidenum">
              <a:rPr lang="zh-CN" altLang="en-US" smtClean="0"/>
              <a:pPr eaLnBrk="1" hangingPunct="1"/>
              <a:t>20</a:t>
            </a:fld>
            <a:endParaRPr lang="en-US" altLang="zh-CN" smtClean="0"/>
          </a:p>
        </p:txBody>
      </p:sp>
      <p:sp>
        <p:nvSpPr>
          <p:cNvPr id="10127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21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5" name="标题 1"/>
          <p:cNvSpPr>
            <a:spLocks noGrp="1" noChangeArrowheads="1"/>
          </p:cNvSpPr>
          <p:nvPr>
            <p:ph type="title" idx="4294967295"/>
          </p:nvPr>
        </p:nvSpPr>
        <p:spPr>
          <a:xfrm>
            <a:off x="415925" y="115888"/>
            <a:ext cx="8281988" cy="1512887"/>
          </a:xfrm>
        </p:spPr>
        <p:txBody>
          <a:bodyPr/>
          <a:lstStyle/>
          <a:p>
            <a:pPr>
              <a:lnSpc>
                <a:spcPct val="110000"/>
              </a:lnSpc>
            </a:pPr>
            <a:r>
              <a:rPr lang="en-US" altLang="zh-CN" sz="2800" smtClean="0">
                <a:solidFill>
                  <a:srgbClr val="000099"/>
                </a:solidFill>
                <a:ea typeface="黑体" panose="02010609060101010101" pitchFamily="49" charset="-122"/>
              </a:rPr>
              <a:t>【</a:t>
            </a:r>
            <a:r>
              <a:rPr lang="zh-CN" altLang="en-US" sz="2800" smtClean="0">
                <a:solidFill>
                  <a:srgbClr val="000099"/>
                </a:solidFill>
                <a:ea typeface="黑体" panose="02010609060101010101" pitchFamily="49" charset="-122"/>
              </a:rPr>
              <a:t>例</a:t>
            </a:r>
            <a:r>
              <a:rPr lang="en-US" altLang="zh-CN" sz="2800" smtClean="0">
                <a:solidFill>
                  <a:srgbClr val="000099"/>
                </a:solidFill>
                <a:ea typeface="黑体" panose="02010609060101010101" pitchFamily="49" charset="-122"/>
              </a:rPr>
              <a:t>4-5】</a:t>
            </a:r>
            <a:r>
              <a:rPr lang="zh-CN" altLang="zh-CN" sz="2800" smtClean="0">
                <a:solidFill>
                  <a:srgbClr val="000099"/>
                </a:solidFill>
                <a:ea typeface="黑体" panose="02010609060101010101" pitchFamily="49" charset="-122"/>
              </a:rPr>
              <a:t>已知路由器</a:t>
            </a:r>
            <a:r>
              <a:rPr lang="en-US" altLang="zh-CN" sz="2800" smtClean="0">
                <a:solidFill>
                  <a:srgbClr val="000099"/>
                </a:solidFill>
                <a:ea typeface="黑体" panose="02010609060101010101" pitchFamily="49" charset="-122"/>
              </a:rPr>
              <a:t> R</a:t>
            </a:r>
            <a:r>
              <a:rPr lang="en-US" altLang="zh-CN" sz="2800" baseline="-25000" smtClean="0">
                <a:solidFill>
                  <a:srgbClr val="000099"/>
                </a:solidFill>
                <a:ea typeface="黑体" panose="02010609060101010101" pitchFamily="49" charset="-122"/>
              </a:rPr>
              <a:t>6 </a:t>
            </a:r>
            <a:r>
              <a:rPr lang="zh-CN" altLang="zh-CN" sz="2800" smtClean="0">
                <a:solidFill>
                  <a:srgbClr val="000099"/>
                </a:solidFill>
                <a:ea typeface="黑体" panose="02010609060101010101" pitchFamily="49" charset="-122"/>
              </a:rPr>
              <a:t>有表</a:t>
            </a:r>
            <a:r>
              <a:rPr lang="en-US" altLang="zh-CN" sz="2800" smtClean="0">
                <a:solidFill>
                  <a:srgbClr val="000099"/>
                </a:solidFill>
                <a:ea typeface="黑体" panose="02010609060101010101" pitchFamily="49" charset="-122"/>
              </a:rPr>
              <a:t>4-9(a)</a:t>
            </a:r>
            <a:r>
              <a:rPr lang="zh-CN" altLang="zh-CN" sz="2800" smtClean="0">
                <a:solidFill>
                  <a:srgbClr val="000099"/>
                </a:solidFill>
                <a:ea typeface="黑体" panose="02010609060101010101" pitchFamily="49" charset="-122"/>
              </a:rPr>
              <a:t>所示的路由表。现在收到相邻路由器</a:t>
            </a:r>
            <a:r>
              <a:rPr lang="en-US" altLang="zh-CN" sz="2800" smtClean="0">
                <a:solidFill>
                  <a:srgbClr val="000099"/>
                </a:solidFill>
                <a:ea typeface="黑体" panose="02010609060101010101" pitchFamily="49" charset="-122"/>
              </a:rPr>
              <a:t> R</a:t>
            </a:r>
            <a:r>
              <a:rPr lang="en-US" altLang="zh-CN" sz="2800" baseline="-25000" smtClean="0">
                <a:solidFill>
                  <a:srgbClr val="000099"/>
                </a:solidFill>
                <a:ea typeface="黑体" panose="02010609060101010101" pitchFamily="49" charset="-122"/>
              </a:rPr>
              <a:t>4 </a:t>
            </a:r>
            <a:r>
              <a:rPr lang="zh-CN" altLang="zh-CN" sz="2800" smtClean="0">
                <a:solidFill>
                  <a:srgbClr val="000099"/>
                </a:solidFill>
                <a:ea typeface="黑体" panose="02010609060101010101" pitchFamily="49" charset="-122"/>
              </a:rPr>
              <a:t>发来的路由更新信息，如表</a:t>
            </a:r>
            <a:r>
              <a:rPr lang="en-US" altLang="zh-CN" sz="2800" smtClean="0">
                <a:solidFill>
                  <a:srgbClr val="000099"/>
                </a:solidFill>
                <a:ea typeface="黑体" panose="02010609060101010101" pitchFamily="49" charset="-122"/>
              </a:rPr>
              <a:t>4-9(b)</a:t>
            </a:r>
            <a:r>
              <a:rPr lang="zh-CN" altLang="zh-CN" sz="2800" smtClean="0">
                <a:solidFill>
                  <a:srgbClr val="000099"/>
                </a:solidFill>
                <a:ea typeface="黑体" panose="02010609060101010101" pitchFamily="49" charset="-122"/>
              </a:rPr>
              <a:t>所示。试更新路由器</a:t>
            </a:r>
            <a:r>
              <a:rPr lang="en-US" altLang="zh-CN" sz="2800" smtClean="0">
                <a:solidFill>
                  <a:srgbClr val="000099"/>
                </a:solidFill>
                <a:ea typeface="黑体" panose="02010609060101010101" pitchFamily="49" charset="-122"/>
              </a:rPr>
              <a:t> R</a:t>
            </a:r>
            <a:r>
              <a:rPr lang="en-US" altLang="zh-CN" sz="2800" baseline="-25000" smtClean="0">
                <a:solidFill>
                  <a:srgbClr val="000099"/>
                </a:solidFill>
                <a:ea typeface="黑体" panose="02010609060101010101" pitchFamily="49" charset="-122"/>
              </a:rPr>
              <a:t>6 </a:t>
            </a:r>
            <a:r>
              <a:rPr lang="zh-CN" altLang="zh-CN" sz="2800" smtClean="0">
                <a:solidFill>
                  <a:srgbClr val="000099"/>
                </a:solidFill>
                <a:ea typeface="黑体" panose="02010609060101010101" pitchFamily="49" charset="-122"/>
              </a:rPr>
              <a:t>的路由表。</a:t>
            </a:r>
            <a:endParaRPr lang="zh-CN" altLang="en-US" sz="2800" smtClean="0">
              <a:solidFill>
                <a:srgbClr val="000099"/>
              </a:solidFill>
              <a:ea typeface="黑体" panose="02010609060101010101" pitchFamily="49" charset="-122"/>
            </a:endParaRPr>
          </a:p>
        </p:txBody>
      </p:sp>
      <p:graphicFrame>
        <p:nvGraphicFramePr>
          <p:cNvPr id="3" name="表格 2"/>
          <p:cNvGraphicFramePr>
            <a:graphicFrameLocks noGrp="1"/>
          </p:cNvGraphicFramePr>
          <p:nvPr/>
        </p:nvGraphicFramePr>
        <p:xfrm>
          <a:off x="704850" y="2154238"/>
          <a:ext cx="3816351" cy="1346368"/>
        </p:xfrm>
        <a:graphic>
          <a:graphicData uri="http://schemas.openxmlformats.org/drawingml/2006/table">
            <a:tbl>
              <a:tblPr firstRow="1" firstCol="1" lastRow="1" lastCol="1" bandRow="1" bandCol="1">
                <a:tableStyleId>{5C22544A-7EE6-4342-B048-85BDC9FD1C3A}</a:tableStyleId>
              </a:tblPr>
              <a:tblGrid>
                <a:gridCol w="1272117">
                  <a:extLst>
                    <a:ext uri="{9D8B030D-6E8A-4147-A177-3AD203B41FA5}">
                      <a16:colId xmlns:a16="http://schemas.microsoft.com/office/drawing/2014/main" val="20000"/>
                    </a:ext>
                  </a:extLst>
                </a:gridCol>
                <a:gridCol w="851266">
                  <a:extLst>
                    <a:ext uri="{9D8B030D-6E8A-4147-A177-3AD203B41FA5}">
                      <a16:colId xmlns:a16="http://schemas.microsoft.com/office/drawing/2014/main" val="20001"/>
                    </a:ext>
                  </a:extLst>
                </a:gridCol>
                <a:gridCol w="1692968">
                  <a:extLst>
                    <a:ext uri="{9D8B030D-6E8A-4147-A177-3AD203B41FA5}">
                      <a16:colId xmlns:a16="http://schemas.microsoft.com/office/drawing/2014/main" val="20002"/>
                    </a:ext>
                  </a:extLst>
                </a:gridCol>
              </a:tblGrid>
              <a:tr h="431968">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目的网络</a:t>
                      </a: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距离</a:t>
                      </a: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下一跳路由器</a:t>
                      </a: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Net2</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Net3</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5</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4" name="表格 3"/>
          <p:cNvGraphicFramePr>
            <a:graphicFrameLocks noGrp="1"/>
          </p:cNvGraphicFramePr>
          <p:nvPr/>
        </p:nvGraphicFramePr>
        <p:xfrm>
          <a:off x="5816600" y="2154238"/>
          <a:ext cx="3889374" cy="1346368"/>
        </p:xfrm>
        <a:graphic>
          <a:graphicData uri="http://schemas.openxmlformats.org/drawingml/2006/table">
            <a:tbl>
              <a:tblPr firstRow="1" firstCol="1" lastRow="1" lastCol="1" bandRow="1" bandCol="1">
                <a:tableStyleId>{5C22544A-7EE6-4342-B048-85BDC9FD1C3A}</a:tableStyleId>
              </a:tblPr>
              <a:tblGrid>
                <a:gridCol w="1296458">
                  <a:extLst>
                    <a:ext uri="{9D8B030D-6E8A-4147-A177-3AD203B41FA5}">
                      <a16:colId xmlns:a16="http://schemas.microsoft.com/office/drawing/2014/main" val="20000"/>
                    </a:ext>
                  </a:extLst>
                </a:gridCol>
                <a:gridCol w="867555">
                  <a:extLst>
                    <a:ext uri="{9D8B030D-6E8A-4147-A177-3AD203B41FA5}">
                      <a16:colId xmlns:a16="http://schemas.microsoft.com/office/drawing/2014/main" val="20001"/>
                    </a:ext>
                  </a:extLst>
                </a:gridCol>
                <a:gridCol w="1725361">
                  <a:extLst>
                    <a:ext uri="{9D8B030D-6E8A-4147-A177-3AD203B41FA5}">
                      <a16:colId xmlns:a16="http://schemas.microsoft.com/office/drawing/2014/main" val="20002"/>
                    </a:ext>
                  </a:extLst>
                </a:gridCol>
              </a:tblGrid>
              <a:tr h="431968">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目的网络</a:t>
                      </a: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距离</a:t>
                      </a: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下一跳路由器</a:t>
                      </a: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Net1</a:t>
                      </a:r>
                      <a:endParaRPr lang="zh-CN" sz="2000" b="1">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1</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Net2</a:t>
                      </a:r>
                      <a:endParaRPr lang="zh-CN" sz="2000" b="1">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2</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Net3</a:t>
                      </a:r>
                      <a:endParaRPr lang="zh-CN" sz="2000" b="1">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1</a:t>
                      </a:r>
                      <a:endParaRPr lang="zh-CN" sz="2000" b="1" dirty="0">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直接交付</a:t>
                      </a: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5" name="表格 4"/>
          <p:cNvGraphicFramePr>
            <a:graphicFrameLocks noGrp="1"/>
          </p:cNvGraphicFramePr>
          <p:nvPr/>
        </p:nvGraphicFramePr>
        <p:xfrm>
          <a:off x="5816600" y="4530725"/>
          <a:ext cx="3889374" cy="1346368"/>
        </p:xfrm>
        <a:graphic>
          <a:graphicData uri="http://schemas.openxmlformats.org/drawingml/2006/table">
            <a:tbl>
              <a:tblPr firstRow="1" firstCol="1" lastRow="1" lastCol="1" bandRow="1" bandCol="1">
                <a:tableStyleId>{5C22544A-7EE6-4342-B048-85BDC9FD1C3A}</a:tableStyleId>
              </a:tblPr>
              <a:tblGrid>
                <a:gridCol w="1296458">
                  <a:extLst>
                    <a:ext uri="{9D8B030D-6E8A-4147-A177-3AD203B41FA5}">
                      <a16:colId xmlns:a16="http://schemas.microsoft.com/office/drawing/2014/main" val="20000"/>
                    </a:ext>
                  </a:extLst>
                </a:gridCol>
                <a:gridCol w="867554">
                  <a:extLst>
                    <a:ext uri="{9D8B030D-6E8A-4147-A177-3AD203B41FA5}">
                      <a16:colId xmlns:a16="http://schemas.microsoft.com/office/drawing/2014/main" val="20001"/>
                    </a:ext>
                  </a:extLst>
                </a:gridCol>
                <a:gridCol w="1725362">
                  <a:extLst>
                    <a:ext uri="{9D8B030D-6E8A-4147-A177-3AD203B41FA5}">
                      <a16:colId xmlns:a16="http://schemas.microsoft.com/office/drawing/2014/main" val="20002"/>
                    </a:ext>
                  </a:extLst>
                </a:gridCol>
              </a:tblGrid>
              <a:tr h="431968">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目的网络</a:t>
                      </a: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lnSpc>
                          <a:spcPct val="100000"/>
                        </a:lnSpc>
                        <a:spcAft>
                          <a:spcPts val="0"/>
                        </a:spcAft>
                      </a:pPr>
                      <a:r>
                        <a:rPr lang="zh-CN" sz="2000" b="1">
                          <a:solidFill>
                            <a:schemeClr val="tx1"/>
                          </a:solidFill>
                          <a:effectLst/>
                          <a:latin typeface="+mn-lt"/>
                          <a:ea typeface="黑体" panose="02010609060101010101" pitchFamily="2" charset="-122"/>
                        </a:rPr>
                        <a:t>距离</a:t>
                      </a: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下一跳路由器</a:t>
                      </a: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extLst>
                  <a:ext uri="{0D108BD9-81ED-4DB2-BD59-A6C34878D82A}">
                    <a16:rowId xmlns:a16="http://schemas.microsoft.com/office/drawing/2014/main" val="10000"/>
                  </a:ext>
                </a:extLst>
              </a:tr>
              <a:tr h="304744">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Net1</a:t>
                      </a:r>
                      <a:endParaRPr lang="zh-CN" sz="2000" b="1" dirty="0">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R</a:t>
                      </a:r>
                      <a:r>
                        <a:rPr lang="en-US" sz="2000" b="1" baseline="-25000"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744">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Net2</a:t>
                      </a:r>
                      <a:endParaRPr lang="zh-CN" sz="2000" b="1" dirty="0">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474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Net3</a:t>
                      </a:r>
                      <a:endParaRPr lang="zh-CN" sz="2000" b="1">
                        <a:solidFill>
                          <a:schemeClr val="tx1"/>
                        </a:solidFill>
                        <a:effectLst/>
                        <a:latin typeface="+mn-lt"/>
                        <a:ea typeface="黑体" panose="02010609060101010101" pitchFamily="2" charset="-122"/>
                      </a:endParaRPr>
                    </a:p>
                  </a:txBody>
                  <a:tcPr marL="68597" marR="68597"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2</a:t>
                      </a:r>
                      <a:endParaRPr lang="zh-CN" sz="2000" b="1" dirty="0">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R</a:t>
                      </a:r>
                      <a:r>
                        <a:rPr lang="en-US" sz="2000" b="1" baseline="-25000"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97" marR="68597"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nvGraphicFramePr>
        <p:xfrm>
          <a:off x="704850" y="4586288"/>
          <a:ext cx="3816349" cy="1651183"/>
        </p:xfrm>
        <a:graphic>
          <a:graphicData uri="http://schemas.openxmlformats.org/drawingml/2006/table">
            <a:tbl>
              <a:tblPr firstRow="1" firstCol="1" lastRow="1" lastCol="1" bandRow="1" bandCol="1">
                <a:tableStyleId>{5C22544A-7EE6-4342-B048-85BDC9FD1C3A}</a:tableStyleId>
              </a:tblPr>
              <a:tblGrid>
                <a:gridCol w="1272116">
                  <a:extLst>
                    <a:ext uri="{9D8B030D-6E8A-4147-A177-3AD203B41FA5}">
                      <a16:colId xmlns:a16="http://schemas.microsoft.com/office/drawing/2014/main" val="20000"/>
                    </a:ext>
                  </a:extLst>
                </a:gridCol>
                <a:gridCol w="851266">
                  <a:extLst>
                    <a:ext uri="{9D8B030D-6E8A-4147-A177-3AD203B41FA5}">
                      <a16:colId xmlns:a16="http://schemas.microsoft.com/office/drawing/2014/main" val="20001"/>
                    </a:ext>
                  </a:extLst>
                </a:gridCol>
                <a:gridCol w="1692967">
                  <a:extLst>
                    <a:ext uri="{9D8B030D-6E8A-4147-A177-3AD203B41FA5}">
                      <a16:colId xmlns:a16="http://schemas.microsoft.com/office/drawing/2014/main" val="20002"/>
                    </a:ext>
                  </a:extLst>
                </a:gridCol>
              </a:tblGrid>
              <a:tr h="431983">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目的网络</a:t>
                      </a: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00000"/>
                        </a:lnSpc>
                        <a:spcAft>
                          <a:spcPts val="0"/>
                        </a:spcAft>
                      </a:pPr>
                      <a:r>
                        <a:rPr lang="zh-CN" sz="2000" b="1">
                          <a:solidFill>
                            <a:schemeClr val="tx1"/>
                          </a:solidFill>
                          <a:effectLst/>
                          <a:latin typeface="+mn-lt"/>
                          <a:ea typeface="黑体" panose="02010609060101010101" pitchFamily="2" charset="-122"/>
                        </a:rPr>
                        <a:t>距离</a:t>
                      </a: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下一跳路由器</a:t>
                      </a: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304754">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Net1</a:t>
                      </a:r>
                      <a:endParaRPr lang="zh-CN" sz="2000" b="1" dirty="0">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R</a:t>
                      </a:r>
                      <a:r>
                        <a:rPr lang="en-US" sz="2000" b="1" baseline="-25000">
                          <a:solidFill>
                            <a:schemeClr val="tx1"/>
                          </a:solidFill>
                          <a:effectLst/>
                          <a:latin typeface="+mn-lt"/>
                          <a:ea typeface="黑体" panose="02010609060101010101" pitchFamily="2" charset="-122"/>
                        </a:rPr>
                        <a:t>4</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475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Net2</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R</a:t>
                      </a:r>
                      <a:r>
                        <a:rPr lang="en-US" sz="2000" b="1" baseline="-25000"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475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Net3</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R</a:t>
                      </a:r>
                      <a:r>
                        <a:rPr lang="en-US" sz="2000" b="1" baseline="-25000" dirty="0">
                          <a:solidFill>
                            <a:schemeClr val="tx1"/>
                          </a:solidFill>
                          <a:effectLst/>
                          <a:latin typeface="+mn-lt"/>
                          <a:ea typeface="黑体" panose="02010609060101010101" pitchFamily="2" charset="-122"/>
                        </a:rPr>
                        <a:t>4</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4754">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a:t>
                      </a:r>
                      <a:endParaRPr lang="zh-CN" sz="2000" b="1">
                        <a:solidFill>
                          <a:schemeClr val="tx1"/>
                        </a:solidFill>
                        <a:effectLst/>
                        <a:latin typeface="+mn-lt"/>
                        <a:ea typeface="黑体" panose="02010609060101010101" pitchFamily="2" charset="-122"/>
                      </a:endParaRPr>
                    </a:p>
                  </a:txBody>
                  <a:tcPr marL="68579" marR="68579"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a:t>
                      </a:r>
                      <a:endParaRPr lang="zh-CN" sz="2000" b="1">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a:t>
                      </a:r>
                      <a:endParaRPr lang="zh-CN" sz="2000" b="1" dirty="0">
                        <a:solidFill>
                          <a:schemeClr val="tx1"/>
                        </a:solidFill>
                        <a:effectLst/>
                        <a:latin typeface="+mn-lt"/>
                        <a:ea typeface="黑体" panose="02010609060101010101" pitchFamily="2" charset="-122"/>
                      </a:endParaRPr>
                    </a:p>
                  </a:txBody>
                  <a:tcPr marL="68579" marR="68579"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14878" name="矩形 6"/>
          <p:cNvSpPr>
            <a:spLocks noChangeArrowheads="1"/>
          </p:cNvSpPr>
          <p:nvPr/>
        </p:nvSpPr>
        <p:spPr bwMode="auto">
          <a:xfrm>
            <a:off x="776288" y="1773238"/>
            <a:ext cx="37449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b="1">
                <a:ea typeface="黑体" panose="02010609060101010101" pitchFamily="49" charset="-122"/>
              </a:rPr>
              <a:t>表</a:t>
            </a:r>
            <a:r>
              <a:rPr lang="en-US" altLang="zh-CN" b="1">
                <a:ea typeface="黑体" panose="02010609060101010101" pitchFamily="49" charset="-122"/>
              </a:rPr>
              <a:t>4-9(a)  </a:t>
            </a:r>
            <a:r>
              <a:rPr lang="zh-CN" altLang="zh-CN" b="1">
                <a:ea typeface="黑体" panose="02010609060101010101" pitchFamily="49" charset="-122"/>
              </a:rPr>
              <a:t>路由器</a:t>
            </a:r>
            <a:r>
              <a:rPr lang="en-US" altLang="zh-CN" b="1">
                <a:ea typeface="黑体" panose="02010609060101010101" pitchFamily="49" charset="-122"/>
              </a:rPr>
              <a:t>R</a:t>
            </a:r>
            <a:r>
              <a:rPr lang="en-US" altLang="zh-CN" b="1" baseline="-25000">
                <a:ea typeface="黑体" panose="02010609060101010101" pitchFamily="49" charset="-122"/>
              </a:rPr>
              <a:t>6</a:t>
            </a:r>
            <a:r>
              <a:rPr lang="zh-CN" altLang="zh-CN" b="1">
                <a:ea typeface="黑体" panose="02010609060101010101" pitchFamily="49" charset="-122"/>
              </a:rPr>
              <a:t>的路由表</a:t>
            </a:r>
            <a:endParaRPr lang="zh-CN" altLang="en-US" b="1">
              <a:ea typeface="黑体" panose="02010609060101010101" pitchFamily="49" charset="-122"/>
            </a:endParaRPr>
          </a:p>
        </p:txBody>
      </p:sp>
      <p:sp>
        <p:nvSpPr>
          <p:cNvPr id="1014879" name="矩形 7"/>
          <p:cNvSpPr>
            <a:spLocks noChangeArrowheads="1"/>
          </p:cNvSpPr>
          <p:nvPr/>
        </p:nvSpPr>
        <p:spPr bwMode="auto">
          <a:xfrm>
            <a:off x="5961063" y="1773238"/>
            <a:ext cx="3638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zh-CN" b="1">
                <a:ea typeface="黑体" panose="02010609060101010101" pitchFamily="49" charset="-122"/>
              </a:rPr>
              <a:t>表</a:t>
            </a:r>
            <a:r>
              <a:rPr lang="en-US" altLang="zh-CN" b="1">
                <a:ea typeface="黑体" panose="02010609060101010101" pitchFamily="49" charset="-122"/>
              </a:rPr>
              <a:t>4-9(b)  R</a:t>
            </a:r>
            <a:r>
              <a:rPr lang="en-US" altLang="zh-CN" b="1" baseline="-25000">
                <a:ea typeface="黑体" panose="02010609060101010101" pitchFamily="49" charset="-122"/>
              </a:rPr>
              <a:t>4</a:t>
            </a:r>
            <a:r>
              <a:rPr lang="zh-CN" altLang="zh-CN" b="1">
                <a:ea typeface="黑体" panose="02010609060101010101" pitchFamily="49" charset="-122"/>
              </a:rPr>
              <a:t>发来的路由更新信息</a:t>
            </a:r>
            <a:endParaRPr lang="zh-CN" altLang="en-US" b="1">
              <a:ea typeface="黑体" panose="02010609060101010101" pitchFamily="49" charset="-122"/>
            </a:endParaRPr>
          </a:p>
        </p:txBody>
      </p:sp>
      <p:sp>
        <p:nvSpPr>
          <p:cNvPr id="1014880" name="矩形 8"/>
          <p:cNvSpPr>
            <a:spLocks noChangeArrowheads="1"/>
          </p:cNvSpPr>
          <p:nvPr/>
        </p:nvSpPr>
        <p:spPr bwMode="auto">
          <a:xfrm>
            <a:off x="631825" y="4216400"/>
            <a:ext cx="4105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b="1">
                <a:ea typeface="黑体" panose="02010609060101010101" pitchFamily="49" charset="-122"/>
              </a:rPr>
              <a:t>表</a:t>
            </a:r>
            <a:r>
              <a:rPr lang="en-US" altLang="zh-CN" b="1">
                <a:ea typeface="黑体" panose="02010609060101010101" pitchFamily="49" charset="-122"/>
              </a:rPr>
              <a:t>4-9(d)  </a:t>
            </a:r>
            <a:r>
              <a:rPr lang="zh-CN" altLang="zh-CN" b="1">
                <a:ea typeface="黑体" panose="02010609060101010101" pitchFamily="49" charset="-122"/>
              </a:rPr>
              <a:t>路由器</a:t>
            </a:r>
            <a:r>
              <a:rPr lang="en-US" altLang="zh-CN" b="1">
                <a:ea typeface="黑体" panose="02010609060101010101" pitchFamily="49" charset="-122"/>
              </a:rPr>
              <a:t>R</a:t>
            </a:r>
            <a:r>
              <a:rPr lang="en-US" altLang="zh-CN" b="1" baseline="-25000">
                <a:ea typeface="黑体" panose="02010609060101010101" pitchFamily="49" charset="-122"/>
              </a:rPr>
              <a:t>6</a:t>
            </a:r>
            <a:r>
              <a:rPr lang="zh-CN" altLang="zh-CN" b="1">
                <a:ea typeface="黑体" panose="02010609060101010101" pitchFamily="49" charset="-122"/>
              </a:rPr>
              <a:t>更新后的路由表</a:t>
            </a:r>
            <a:endParaRPr lang="zh-CN" altLang="en-US" b="1">
              <a:ea typeface="黑体" panose="02010609060101010101" pitchFamily="49" charset="-122"/>
            </a:endParaRPr>
          </a:p>
        </p:txBody>
      </p:sp>
      <p:sp>
        <p:nvSpPr>
          <p:cNvPr id="1014881" name="矩形 9"/>
          <p:cNvSpPr>
            <a:spLocks noChangeArrowheads="1"/>
          </p:cNvSpPr>
          <p:nvPr/>
        </p:nvSpPr>
        <p:spPr bwMode="auto">
          <a:xfrm>
            <a:off x="5961063" y="4140200"/>
            <a:ext cx="35290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b="1">
                <a:ea typeface="黑体" panose="02010609060101010101" pitchFamily="49" charset="-122"/>
              </a:rPr>
              <a:t>表</a:t>
            </a:r>
            <a:r>
              <a:rPr lang="en-US" altLang="zh-CN" b="1">
                <a:ea typeface="黑体" panose="02010609060101010101" pitchFamily="49" charset="-122"/>
              </a:rPr>
              <a:t>4-9(c)  </a:t>
            </a:r>
            <a:r>
              <a:rPr lang="zh-CN" altLang="zh-CN" b="1">
                <a:ea typeface="黑体" panose="02010609060101010101" pitchFamily="49" charset="-122"/>
              </a:rPr>
              <a:t>修改后的表</a:t>
            </a:r>
            <a:r>
              <a:rPr lang="en-US" altLang="zh-CN" b="1">
                <a:ea typeface="黑体" panose="02010609060101010101" pitchFamily="49" charset="-122"/>
              </a:rPr>
              <a:t>4-9(b)</a:t>
            </a:r>
            <a:endParaRPr lang="zh-CN" altLang="en-US" b="1">
              <a:ea typeface="黑体" panose="02010609060101010101" pitchFamily="49" charset="-122"/>
            </a:endParaRPr>
          </a:p>
        </p:txBody>
      </p:sp>
      <p:sp>
        <p:nvSpPr>
          <p:cNvPr id="1014882" name="下箭头 10"/>
          <p:cNvSpPr>
            <a:spLocks noChangeArrowheads="1"/>
          </p:cNvSpPr>
          <p:nvPr/>
        </p:nvSpPr>
        <p:spPr bwMode="auto">
          <a:xfrm>
            <a:off x="7400925" y="3573463"/>
            <a:ext cx="323850" cy="566737"/>
          </a:xfrm>
          <a:prstGeom prst="downArrow">
            <a:avLst>
              <a:gd name="adj1" fmla="val 50000"/>
              <a:gd name="adj2" fmla="val 50021"/>
            </a:avLst>
          </a:pr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4883" name="TextBox 11"/>
          <p:cNvSpPr txBox="1">
            <a:spLocks noChangeArrowheads="1"/>
          </p:cNvSpPr>
          <p:nvPr/>
        </p:nvSpPr>
        <p:spPr bwMode="auto">
          <a:xfrm>
            <a:off x="7724775" y="3644900"/>
            <a:ext cx="1006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ea typeface="宋体" panose="02010600030101010101" pitchFamily="2" charset="-122"/>
              </a:rPr>
              <a:t>距离加</a:t>
            </a:r>
            <a:r>
              <a:rPr lang="en-US" altLang="zh-CN" b="1">
                <a:ea typeface="宋体" panose="02010600030101010101" pitchFamily="2" charset="-122"/>
              </a:rPr>
              <a:t>1</a:t>
            </a:r>
            <a:endParaRPr lang="zh-CN" altLang="en-US" b="1">
              <a:ea typeface="宋体" panose="02010600030101010101" pitchFamily="2" charset="-122"/>
            </a:endParaRPr>
          </a:p>
        </p:txBody>
      </p:sp>
      <p:sp>
        <p:nvSpPr>
          <p:cNvPr id="1014884" name="椭圆 14"/>
          <p:cNvSpPr>
            <a:spLocks noChangeArrowheads="1"/>
          </p:cNvSpPr>
          <p:nvPr/>
        </p:nvSpPr>
        <p:spPr bwMode="auto">
          <a:xfrm>
            <a:off x="4592638" y="3500438"/>
            <a:ext cx="1081087" cy="936625"/>
          </a:xfrm>
          <a:prstGeom prst="ellipse">
            <a:avLst/>
          </a:prstGeom>
          <a:solidFill>
            <a:schemeClr val="bg2"/>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计算更新</a:t>
            </a:r>
          </a:p>
        </p:txBody>
      </p:sp>
      <p:sp>
        <p:nvSpPr>
          <p:cNvPr id="1014885" name="直角上箭头 15"/>
          <p:cNvSpPr>
            <a:spLocks noChangeArrowheads="1"/>
          </p:cNvSpPr>
          <p:nvPr/>
        </p:nvSpPr>
        <p:spPr bwMode="auto">
          <a:xfrm flipH="1">
            <a:off x="4953000" y="4437063"/>
            <a:ext cx="684213" cy="576262"/>
          </a:xfrm>
          <a:custGeom>
            <a:avLst/>
            <a:gdLst>
              <a:gd name="T0" fmla="*/ 0 w 684076"/>
              <a:gd name="T1" fmla="*/ 432048 h 576064"/>
              <a:gd name="T2" fmla="*/ 398094 w 684076"/>
              <a:gd name="T3" fmla="*/ 432048 h 576064"/>
              <a:gd name="T4" fmla="*/ 398094 w 684076"/>
              <a:gd name="T5" fmla="*/ 243951 h 576064"/>
              <a:gd name="T6" fmla="*/ 256129 w 684076"/>
              <a:gd name="T7" fmla="*/ 243951 h 576064"/>
              <a:gd name="T8" fmla="*/ 470102 w 684076"/>
              <a:gd name="T9" fmla="*/ 0 h 576064"/>
              <a:gd name="T10" fmla="*/ 684076 w 684076"/>
              <a:gd name="T11" fmla="*/ 243951 h 576064"/>
              <a:gd name="T12" fmla="*/ 542110 w 684076"/>
              <a:gd name="T13" fmla="*/ 243951 h 576064"/>
              <a:gd name="T14" fmla="*/ 542110 w 684076"/>
              <a:gd name="T15" fmla="*/ 576064 h 576064"/>
              <a:gd name="T16" fmla="*/ 0 w 684076"/>
              <a:gd name="T17" fmla="*/ 576064 h 576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4076" h="576064">
                <a:moveTo>
                  <a:pt x="0" y="432048"/>
                </a:moveTo>
                <a:lnTo>
                  <a:pt x="398094" y="432048"/>
                </a:lnTo>
                <a:lnTo>
                  <a:pt x="398094" y="243951"/>
                </a:lnTo>
                <a:lnTo>
                  <a:pt x="256129" y="243951"/>
                </a:lnTo>
                <a:lnTo>
                  <a:pt x="470102" y="0"/>
                </a:lnTo>
                <a:lnTo>
                  <a:pt x="684076" y="243951"/>
                </a:lnTo>
                <a:lnTo>
                  <a:pt x="542110" y="243951"/>
                </a:lnTo>
                <a:lnTo>
                  <a:pt x="542110" y="576064"/>
                </a:lnTo>
                <a:lnTo>
                  <a:pt x="0" y="576064"/>
                </a:lnTo>
                <a:close/>
              </a:path>
            </a:pathLst>
          </a:cu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4886" name="直角上箭头 16"/>
          <p:cNvSpPr>
            <a:spLocks noChangeArrowheads="1"/>
          </p:cNvSpPr>
          <p:nvPr/>
        </p:nvSpPr>
        <p:spPr bwMode="auto">
          <a:xfrm flipV="1">
            <a:off x="4665663" y="2924175"/>
            <a:ext cx="682625" cy="576263"/>
          </a:xfrm>
          <a:custGeom>
            <a:avLst/>
            <a:gdLst>
              <a:gd name="T0" fmla="*/ 0 w 684076"/>
              <a:gd name="T1" fmla="*/ 432048 h 576064"/>
              <a:gd name="T2" fmla="*/ 398094 w 684076"/>
              <a:gd name="T3" fmla="*/ 432048 h 576064"/>
              <a:gd name="T4" fmla="*/ 398094 w 684076"/>
              <a:gd name="T5" fmla="*/ 243951 h 576064"/>
              <a:gd name="T6" fmla="*/ 256129 w 684076"/>
              <a:gd name="T7" fmla="*/ 243951 h 576064"/>
              <a:gd name="T8" fmla="*/ 470102 w 684076"/>
              <a:gd name="T9" fmla="*/ 0 h 576064"/>
              <a:gd name="T10" fmla="*/ 684076 w 684076"/>
              <a:gd name="T11" fmla="*/ 243951 h 576064"/>
              <a:gd name="T12" fmla="*/ 542110 w 684076"/>
              <a:gd name="T13" fmla="*/ 243951 h 576064"/>
              <a:gd name="T14" fmla="*/ 542110 w 684076"/>
              <a:gd name="T15" fmla="*/ 576064 h 576064"/>
              <a:gd name="T16" fmla="*/ 0 w 684076"/>
              <a:gd name="T17" fmla="*/ 576064 h 576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4076" h="576064">
                <a:moveTo>
                  <a:pt x="0" y="432048"/>
                </a:moveTo>
                <a:lnTo>
                  <a:pt x="398094" y="432048"/>
                </a:lnTo>
                <a:lnTo>
                  <a:pt x="398094" y="243951"/>
                </a:lnTo>
                <a:lnTo>
                  <a:pt x="256129" y="243951"/>
                </a:lnTo>
                <a:lnTo>
                  <a:pt x="470102" y="0"/>
                </a:lnTo>
                <a:lnTo>
                  <a:pt x="684076" y="243951"/>
                </a:lnTo>
                <a:lnTo>
                  <a:pt x="542110" y="243951"/>
                </a:lnTo>
                <a:lnTo>
                  <a:pt x="542110" y="576064"/>
                </a:lnTo>
                <a:lnTo>
                  <a:pt x="0" y="576064"/>
                </a:lnTo>
                <a:close/>
              </a:path>
            </a:pathLst>
          </a:cu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4887" name="直角上箭头 17"/>
          <p:cNvSpPr>
            <a:spLocks noChangeArrowheads="1"/>
          </p:cNvSpPr>
          <p:nvPr/>
        </p:nvSpPr>
        <p:spPr bwMode="auto">
          <a:xfrm flipH="1" flipV="1">
            <a:off x="2576513" y="3824288"/>
            <a:ext cx="1944687" cy="468312"/>
          </a:xfrm>
          <a:custGeom>
            <a:avLst/>
            <a:gdLst>
              <a:gd name="T0" fmla="*/ 0 w 1944216"/>
              <a:gd name="T1" fmla="*/ 351039 h 468052"/>
              <a:gd name="T2" fmla="*/ 1711856 w 1944216"/>
              <a:gd name="T3" fmla="*/ 351039 h 468052"/>
              <a:gd name="T4" fmla="*/ 1711856 w 1944216"/>
              <a:gd name="T5" fmla="*/ 198210 h 468052"/>
              <a:gd name="T6" fmla="*/ 1596509 w 1944216"/>
              <a:gd name="T7" fmla="*/ 198210 h 468052"/>
              <a:gd name="T8" fmla="*/ 1770362 w 1944216"/>
              <a:gd name="T9" fmla="*/ 0 h 468052"/>
              <a:gd name="T10" fmla="*/ 1944216 w 1944216"/>
              <a:gd name="T11" fmla="*/ 198210 h 468052"/>
              <a:gd name="T12" fmla="*/ 1828869 w 1944216"/>
              <a:gd name="T13" fmla="*/ 198210 h 468052"/>
              <a:gd name="T14" fmla="*/ 1828869 w 1944216"/>
              <a:gd name="T15" fmla="*/ 468052 h 468052"/>
              <a:gd name="T16" fmla="*/ 0 w 1944216"/>
              <a:gd name="T17" fmla="*/ 468052 h 4680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4216" h="468052">
                <a:moveTo>
                  <a:pt x="0" y="351039"/>
                </a:moveTo>
                <a:lnTo>
                  <a:pt x="1711856" y="351039"/>
                </a:lnTo>
                <a:lnTo>
                  <a:pt x="1711856" y="198210"/>
                </a:lnTo>
                <a:lnTo>
                  <a:pt x="1596509" y="198210"/>
                </a:lnTo>
                <a:lnTo>
                  <a:pt x="1770362" y="0"/>
                </a:lnTo>
                <a:lnTo>
                  <a:pt x="1944216" y="198210"/>
                </a:lnTo>
                <a:lnTo>
                  <a:pt x="1828869" y="198210"/>
                </a:lnTo>
                <a:lnTo>
                  <a:pt x="1828869" y="468052"/>
                </a:lnTo>
                <a:lnTo>
                  <a:pt x="0" y="468052"/>
                </a:lnTo>
                <a:close/>
              </a:path>
            </a:pathLst>
          </a:cu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4888" name="灯片编号占位符 18"/>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B6616B8-E016-44F7-8DF6-01FEE485BB84}" type="slidenum">
              <a:rPr lang="zh-CN" altLang="en-US" smtClean="0"/>
              <a:pPr/>
              <a:t>21</a:t>
            </a:fld>
            <a:endParaRPr lang="en-US" altLang="zh-CN" smtClean="0"/>
          </a:p>
        </p:txBody>
      </p:sp>
      <p:sp>
        <p:nvSpPr>
          <p:cNvPr id="1014889" name="页脚占位符 19"/>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5809" name="Rectangle 2"/>
          <p:cNvSpPr>
            <a:spLocks noGrp="1" noChangeArrowheads="1"/>
          </p:cNvSpPr>
          <p:nvPr>
            <p:ph type="title"/>
          </p:nvPr>
        </p:nvSpPr>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例</a:t>
            </a:r>
            <a:r>
              <a:rPr lang="en-US" altLang="zh-CN" smtClean="0">
                <a:ea typeface="黑体" panose="02010609060101010101" pitchFamily="49" charset="-122"/>
              </a:rPr>
              <a:t>】</a:t>
            </a:r>
            <a:r>
              <a:rPr lang="zh-CN" altLang="en-US" smtClean="0">
                <a:ea typeface="黑体" panose="02010609060101010101" pitchFamily="49" charset="-122"/>
              </a:rPr>
              <a:t>路由表更新</a:t>
            </a:r>
          </a:p>
        </p:txBody>
      </p:sp>
      <p:grpSp>
        <p:nvGrpSpPr>
          <p:cNvPr id="1015810" name="Group 20"/>
          <p:cNvGrpSpPr>
            <a:grpSpLocks/>
          </p:cNvGrpSpPr>
          <p:nvPr/>
        </p:nvGrpSpPr>
        <p:grpSpPr bwMode="auto">
          <a:xfrm>
            <a:off x="677863" y="1379538"/>
            <a:ext cx="8812212" cy="4352925"/>
            <a:chOff x="249" y="720"/>
            <a:chExt cx="5551" cy="2742"/>
          </a:xfrm>
        </p:grpSpPr>
        <p:sp>
          <p:nvSpPr>
            <p:cNvPr id="8" name="Rectangle 6"/>
            <p:cNvSpPr>
              <a:spLocks noChangeArrowheads="1"/>
            </p:cNvSpPr>
            <p:nvPr/>
          </p:nvSpPr>
          <p:spPr bwMode="auto">
            <a:xfrm>
              <a:off x="585" y="1008"/>
              <a:ext cx="768" cy="1008"/>
            </a:xfrm>
            <a:prstGeom prst="rect">
              <a:avLst/>
            </a:prstGeom>
            <a:solidFill>
              <a:srgbClr val="DDDDDD"/>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Net2	4</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Net3	8</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Net6	4</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Net8	3</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Net9	5</a:t>
              </a:r>
            </a:p>
          </p:txBody>
        </p:sp>
        <p:sp>
          <p:nvSpPr>
            <p:cNvPr id="9" name="Rectangle 7"/>
            <p:cNvSpPr>
              <a:spLocks noChangeArrowheads="1"/>
            </p:cNvSpPr>
            <p:nvPr/>
          </p:nvSpPr>
          <p:spPr bwMode="auto">
            <a:xfrm>
              <a:off x="2025" y="1200"/>
              <a:ext cx="768" cy="1008"/>
            </a:xfrm>
            <a:prstGeom prst="rect">
              <a:avLst/>
            </a:prstGeom>
            <a:solidFill>
              <a:srgbClr val="DDDDDD"/>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Net2	5</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Net3	9</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Net6	5</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Net8	4</a:t>
              </a:r>
            </a:p>
            <a:p>
              <a:pPr algn="ctr" fontAlgn="auto">
                <a:spcBef>
                  <a:spcPts val="0"/>
                </a:spcBef>
                <a:spcAft>
                  <a:spcPts val="0"/>
                </a:spcAft>
                <a:defRPr/>
              </a:pPr>
              <a:r>
                <a:rPr lang="en-US" altLang="zh-CN" sz="2000" b="1" kern="0">
                  <a:solidFill>
                    <a:sysClr val="windowText" lastClr="000000"/>
                  </a:solidFill>
                  <a:latin typeface="+mn-lt"/>
                  <a:ea typeface="黑体" panose="02010609060101010101" pitchFamily="2" charset="-122"/>
                </a:rPr>
                <a:t>Net9	6</a:t>
              </a:r>
            </a:p>
          </p:txBody>
        </p:sp>
        <p:sp>
          <p:nvSpPr>
            <p:cNvPr id="10" name="Rectangle 8"/>
            <p:cNvSpPr>
              <a:spLocks noChangeArrowheads="1"/>
            </p:cNvSpPr>
            <p:nvPr/>
          </p:nvSpPr>
          <p:spPr bwMode="auto">
            <a:xfrm>
              <a:off x="249" y="2448"/>
              <a:ext cx="1344" cy="1008"/>
            </a:xfrm>
            <a:prstGeom prst="rect">
              <a:avLst/>
            </a:prstGeom>
            <a:solidFill>
              <a:srgbClr val="66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Net1	7	A</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Net2	2	C</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Net6	8	F</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Net8	4	E</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Net9	4	F</a:t>
              </a:r>
            </a:p>
          </p:txBody>
        </p:sp>
        <p:sp>
          <p:nvSpPr>
            <p:cNvPr id="11" name="Text Box 9"/>
            <p:cNvSpPr txBox="1">
              <a:spLocks noChangeArrowheads="1"/>
            </p:cNvSpPr>
            <p:nvPr/>
          </p:nvSpPr>
          <p:spPr bwMode="auto">
            <a:xfrm>
              <a:off x="441" y="772"/>
              <a:ext cx="131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000" b="1" kern="0">
                  <a:solidFill>
                    <a:sysClr val="windowText" lastClr="000000"/>
                  </a:solidFill>
                  <a:latin typeface="+mn-lt"/>
                  <a:ea typeface="黑体" panose="02010609060101010101" pitchFamily="2" charset="-122"/>
                </a:rPr>
                <a:t>从</a:t>
              </a:r>
              <a:r>
                <a:rPr lang="en-US" altLang="zh-CN" sz="2000" b="1" kern="0">
                  <a:solidFill>
                    <a:sysClr val="windowText" lastClr="000000"/>
                  </a:solidFill>
                  <a:latin typeface="+mn-lt"/>
                  <a:ea typeface="黑体" panose="02010609060101010101" pitchFamily="2" charset="-122"/>
                </a:rPr>
                <a:t>C</a:t>
              </a:r>
              <a:r>
                <a:rPr lang="zh-CN" altLang="en-US" sz="2000" b="1" kern="0">
                  <a:solidFill>
                    <a:sysClr val="windowText" lastClr="000000"/>
                  </a:solidFill>
                  <a:latin typeface="+mn-lt"/>
                  <a:ea typeface="黑体" panose="02010609060101010101" pitchFamily="2" charset="-122"/>
                </a:rPr>
                <a:t>来的</a:t>
              </a:r>
              <a:r>
                <a:rPr lang="en-US" altLang="zh-CN" sz="2000" b="1" kern="0">
                  <a:solidFill>
                    <a:sysClr val="windowText" lastClr="000000"/>
                  </a:solidFill>
                  <a:latin typeface="+mn-lt"/>
                  <a:ea typeface="黑体" panose="02010609060101010101" pitchFamily="2" charset="-122"/>
                </a:rPr>
                <a:t>RIP</a:t>
              </a:r>
              <a:r>
                <a:rPr lang="zh-CN" altLang="en-US" sz="2000" b="1" kern="0">
                  <a:solidFill>
                    <a:sysClr val="windowText" lastClr="000000"/>
                  </a:solidFill>
                  <a:latin typeface="+mn-lt"/>
                  <a:ea typeface="黑体" panose="02010609060101010101" pitchFamily="2" charset="-122"/>
                </a:rPr>
                <a:t>报文</a:t>
              </a:r>
            </a:p>
          </p:txBody>
        </p:sp>
        <p:sp>
          <p:nvSpPr>
            <p:cNvPr id="12" name="Text Box 10"/>
            <p:cNvSpPr txBox="1">
              <a:spLocks noChangeArrowheads="1"/>
            </p:cNvSpPr>
            <p:nvPr/>
          </p:nvSpPr>
          <p:spPr bwMode="auto">
            <a:xfrm>
              <a:off x="1822" y="768"/>
              <a:ext cx="131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000" b="1" kern="0">
                  <a:solidFill>
                    <a:sysClr val="windowText" lastClr="000000"/>
                  </a:solidFill>
                  <a:latin typeface="+mn-lt"/>
                  <a:ea typeface="黑体" panose="02010609060101010101" pitchFamily="2" charset="-122"/>
                </a:rPr>
                <a:t>增加跳数以后</a:t>
              </a:r>
            </a:p>
            <a:p>
              <a:pPr fontAlgn="auto">
                <a:spcBef>
                  <a:spcPts val="0"/>
                </a:spcBef>
                <a:spcAft>
                  <a:spcPts val="0"/>
                </a:spcAft>
                <a:defRPr/>
              </a:pPr>
              <a:r>
                <a:rPr lang="zh-CN" altLang="en-US" sz="2000" b="1" kern="0">
                  <a:solidFill>
                    <a:sysClr val="windowText" lastClr="000000"/>
                  </a:solidFill>
                  <a:latin typeface="+mn-lt"/>
                  <a:ea typeface="黑体" panose="02010609060101010101" pitchFamily="2" charset="-122"/>
                </a:rPr>
                <a:t>从</a:t>
              </a:r>
              <a:r>
                <a:rPr lang="en-US" altLang="zh-CN" sz="2000" b="1" kern="0">
                  <a:solidFill>
                    <a:sysClr val="windowText" lastClr="000000"/>
                  </a:solidFill>
                  <a:latin typeface="+mn-lt"/>
                  <a:ea typeface="黑体" panose="02010609060101010101" pitchFamily="2" charset="-122"/>
                </a:rPr>
                <a:t>C</a:t>
              </a:r>
              <a:r>
                <a:rPr lang="zh-CN" altLang="en-US" sz="2000" b="1" kern="0">
                  <a:solidFill>
                    <a:sysClr val="windowText" lastClr="000000"/>
                  </a:solidFill>
                  <a:latin typeface="+mn-lt"/>
                  <a:ea typeface="黑体" panose="02010609060101010101" pitchFamily="2" charset="-122"/>
                </a:rPr>
                <a:t>来的</a:t>
              </a:r>
              <a:r>
                <a:rPr lang="en-US" altLang="zh-CN" sz="2000" b="1" kern="0">
                  <a:solidFill>
                    <a:sysClr val="windowText" lastClr="000000"/>
                  </a:solidFill>
                  <a:latin typeface="+mn-lt"/>
                  <a:ea typeface="黑体" panose="02010609060101010101" pitchFamily="2" charset="-122"/>
                </a:rPr>
                <a:t>RIP</a:t>
              </a:r>
              <a:r>
                <a:rPr lang="zh-CN" altLang="en-US" sz="2000" b="1" kern="0">
                  <a:solidFill>
                    <a:sysClr val="windowText" lastClr="000000"/>
                  </a:solidFill>
                  <a:latin typeface="+mn-lt"/>
                  <a:ea typeface="黑体" panose="02010609060101010101" pitchFamily="2" charset="-122"/>
                </a:rPr>
                <a:t>报文</a:t>
              </a:r>
            </a:p>
          </p:txBody>
        </p:sp>
        <p:sp>
          <p:nvSpPr>
            <p:cNvPr id="13" name="Text Box 11"/>
            <p:cNvSpPr txBox="1">
              <a:spLocks noChangeArrowheads="1"/>
            </p:cNvSpPr>
            <p:nvPr/>
          </p:nvSpPr>
          <p:spPr bwMode="auto">
            <a:xfrm>
              <a:off x="549" y="2198"/>
              <a:ext cx="8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400" b="1" kern="0" dirty="0">
                  <a:solidFill>
                    <a:srgbClr val="A50021"/>
                  </a:solidFill>
                  <a:latin typeface="+mn-lt"/>
                  <a:ea typeface="黑体" panose="02010609060101010101" pitchFamily="2" charset="-122"/>
                </a:rPr>
                <a:t>旧路由表</a:t>
              </a:r>
            </a:p>
          </p:txBody>
        </p:sp>
        <p:sp>
          <p:nvSpPr>
            <p:cNvPr id="14" name="Rectangle 12"/>
            <p:cNvSpPr>
              <a:spLocks noChangeArrowheads="1"/>
            </p:cNvSpPr>
            <p:nvPr/>
          </p:nvSpPr>
          <p:spPr bwMode="auto">
            <a:xfrm>
              <a:off x="1881" y="2544"/>
              <a:ext cx="1104" cy="384"/>
            </a:xfrm>
            <a:prstGeom prst="rect">
              <a:avLst/>
            </a:prstGeom>
            <a:solidFill>
              <a:schemeClr val="bg2"/>
            </a:solidFill>
            <a:ln w="9525">
              <a:solidFill>
                <a:srgbClr val="000000"/>
              </a:solidFill>
              <a:miter lim="800000"/>
            </a:ln>
            <a:effectLst>
              <a:outerShdw dist="107763" dir="2700000" algn="ctr" rotWithShape="0">
                <a:srgbClr val="1C1C1C"/>
              </a:outerShdw>
            </a:effectLst>
          </p:spPr>
          <p:txBody>
            <a:bodyPr wrap="none" anchor="ctr"/>
            <a:lstStyle/>
            <a:p>
              <a:pPr algn="ctr" fontAlgn="auto">
                <a:spcBef>
                  <a:spcPts val="0"/>
                </a:spcBef>
                <a:spcAft>
                  <a:spcPts val="0"/>
                </a:spcAft>
                <a:defRPr/>
              </a:pPr>
              <a:r>
                <a:rPr lang="zh-CN" altLang="en-US" sz="2400" b="1" kern="0">
                  <a:solidFill>
                    <a:srgbClr val="0000CC"/>
                  </a:solidFill>
                  <a:latin typeface="+mn-lt"/>
                  <a:ea typeface="黑体" panose="02010609060101010101" pitchFamily="2" charset="-122"/>
                </a:rPr>
                <a:t>更新算法</a:t>
              </a:r>
            </a:p>
          </p:txBody>
        </p:sp>
        <p:sp>
          <p:nvSpPr>
            <p:cNvPr id="15" name="Rectangle 13"/>
            <p:cNvSpPr>
              <a:spLocks noChangeArrowheads="1"/>
            </p:cNvSpPr>
            <p:nvPr/>
          </p:nvSpPr>
          <p:spPr bwMode="auto">
            <a:xfrm>
              <a:off x="3321" y="2310"/>
              <a:ext cx="1344" cy="1152"/>
            </a:xfrm>
            <a:prstGeom prst="rect">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Net1	7	A</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Net2	5	C</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Net3	9	C</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Net6	5	C</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Net8	4	E</a:t>
              </a:r>
            </a:p>
            <a:p>
              <a:pPr algn="ctr" fontAlgn="auto">
                <a:spcBef>
                  <a:spcPts val="0"/>
                </a:spcBef>
                <a:spcAft>
                  <a:spcPts val="0"/>
                </a:spcAft>
                <a:defRPr/>
              </a:pPr>
              <a:r>
                <a:rPr lang="en-US" altLang="zh-CN" sz="2000" b="1" kern="0" dirty="0">
                  <a:solidFill>
                    <a:sysClr val="windowText" lastClr="000000"/>
                  </a:solidFill>
                  <a:latin typeface="+mn-lt"/>
                  <a:ea typeface="黑体" panose="02010609060101010101" pitchFamily="2" charset="-122"/>
                </a:rPr>
                <a:t>Net9	4	F</a:t>
              </a:r>
            </a:p>
          </p:txBody>
        </p:sp>
        <p:sp>
          <p:nvSpPr>
            <p:cNvPr id="16" name="Text Box 14"/>
            <p:cNvSpPr txBox="1">
              <a:spLocks noChangeArrowheads="1"/>
            </p:cNvSpPr>
            <p:nvPr/>
          </p:nvSpPr>
          <p:spPr bwMode="auto">
            <a:xfrm>
              <a:off x="3621" y="2060"/>
              <a:ext cx="8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400" b="1" kern="0" dirty="0">
                  <a:solidFill>
                    <a:srgbClr val="A50021"/>
                  </a:solidFill>
                  <a:latin typeface="+mn-lt"/>
                  <a:ea typeface="黑体" panose="02010609060101010101" pitchFamily="2" charset="-122"/>
                </a:rPr>
                <a:t>新路由表</a:t>
              </a:r>
            </a:p>
          </p:txBody>
        </p:sp>
        <p:sp>
          <p:nvSpPr>
            <p:cNvPr id="17" name="AutoShape 15"/>
            <p:cNvSpPr>
              <a:spLocks noChangeArrowheads="1"/>
            </p:cNvSpPr>
            <p:nvPr/>
          </p:nvSpPr>
          <p:spPr bwMode="auto">
            <a:xfrm>
              <a:off x="1641" y="2688"/>
              <a:ext cx="192" cy="144"/>
            </a:xfrm>
            <a:prstGeom prst="rightArrow">
              <a:avLst>
                <a:gd name="adj1" fmla="val 50000"/>
                <a:gd name="adj2" fmla="val 33333"/>
              </a:avLst>
            </a:prstGeom>
            <a:solidFill>
              <a:srgbClr val="0000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8" name="AutoShape 16"/>
            <p:cNvSpPr>
              <a:spLocks noChangeArrowheads="1"/>
            </p:cNvSpPr>
            <p:nvPr/>
          </p:nvSpPr>
          <p:spPr bwMode="auto">
            <a:xfrm>
              <a:off x="3081" y="2688"/>
              <a:ext cx="192" cy="144"/>
            </a:xfrm>
            <a:prstGeom prst="rightArrow">
              <a:avLst>
                <a:gd name="adj1" fmla="val 50000"/>
                <a:gd name="adj2" fmla="val 33333"/>
              </a:avLst>
            </a:prstGeom>
            <a:solidFill>
              <a:srgbClr val="0000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9" name="AutoShape 17"/>
            <p:cNvSpPr>
              <a:spLocks noChangeArrowheads="1"/>
            </p:cNvSpPr>
            <p:nvPr/>
          </p:nvSpPr>
          <p:spPr bwMode="auto">
            <a:xfrm>
              <a:off x="2361" y="2304"/>
              <a:ext cx="144" cy="192"/>
            </a:xfrm>
            <a:prstGeom prst="downArrow">
              <a:avLst>
                <a:gd name="adj1" fmla="val 50000"/>
                <a:gd name="adj2" fmla="val 33333"/>
              </a:avLst>
            </a:prstGeom>
            <a:solidFill>
              <a:srgbClr val="0000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0" name="AutoShape 18"/>
            <p:cNvSpPr>
              <a:spLocks noChangeArrowheads="1"/>
            </p:cNvSpPr>
            <p:nvPr/>
          </p:nvSpPr>
          <p:spPr bwMode="auto">
            <a:xfrm>
              <a:off x="1497" y="1584"/>
              <a:ext cx="384" cy="144"/>
            </a:xfrm>
            <a:prstGeom prst="rightArrow">
              <a:avLst>
                <a:gd name="adj1" fmla="val 50000"/>
                <a:gd name="adj2" fmla="val 66667"/>
              </a:avLst>
            </a:prstGeom>
            <a:solidFill>
              <a:srgbClr val="0000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1" name="Rectangle 19"/>
            <p:cNvSpPr>
              <a:spLocks noChangeArrowheads="1"/>
            </p:cNvSpPr>
            <p:nvPr/>
          </p:nvSpPr>
          <p:spPr bwMode="auto">
            <a:xfrm>
              <a:off x="3304" y="720"/>
              <a:ext cx="2496" cy="1296"/>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Net1:</a:t>
              </a:r>
              <a:r>
                <a:rPr lang="zh-CN" altLang="en-US" b="1" kern="0" dirty="0">
                  <a:solidFill>
                    <a:sysClr val="windowText" lastClr="000000"/>
                  </a:solidFill>
                  <a:latin typeface="+mn-lt"/>
                  <a:ea typeface="黑体" panose="02010609060101010101" pitchFamily="2" charset="-122"/>
                </a:rPr>
                <a:t>没有新信息，不变</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Net2:</a:t>
              </a:r>
              <a:r>
                <a:rPr lang="zh-CN" altLang="en-US" b="1" kern="0" dirty="0">
                  <a:solidFill>
                    <a:sysClr val="windowText" lastClr="000000"/>
                  </a:solidFill>
                  <a:latin typeface="+mn-lt"/>
                  <a:ea typeface="黑体" panose="02010609060101010101" pitchFamily="2" charset="-122"/>
                </a:rPr>
                <a:t>相同的下一跳，替换</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Net3:</a:t>
              </a:r>
              <a:r>
                <a:rPr lang="zh-CN" altLang="en-US" b="1" kern="0" dirty="0">
                  <a:solidFill>
                    <a:sysClr val="windowText" lastClr="000000"/>
                  </a:solidFill>
                  <a:latin typeface="+mn-lt"/>
                  <a:ea typeface="黑体" panose="02010609060101010101" pitchFamily="2" charset="-122"/>
                </a:rPr>
                <a:t>一条新路由，增加</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Net6:</a:t>
              </a:r>
              <a:r>
                <a:rPr lang="zh-CN" altLang="en-US" b="1" kern="0" dirty="0">
                  <a:solidFill>
                    <a:sysClr val="windowText" lastClr="000000"/>
                  </a:solidFill>
                  <a:latin typeface="+mn-lt"/>
                  <a:ea typeface="黑体" panose="02010609060101010101" pitchFamily="2" charset="-122"/>
                </a:rPr>
                <a:t>不同的下一跳，新跳数小，替换</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Net8:</a:t>
              </a:r>
              <a:r>
                <a:rPr lang="zh-CN" altLang="en-US" b="1" kern="0" dirty="0">
                  <a:solidFill>
                    <a:sysClr val="windowText" lastClr="000000"/>
                  </a:solidFill>
                  <a:latin typeface="+mn-lt"/>
                  <a:ea typeface="黑体" panose="02010609060101010101" pitchFamily="2" charset="-122"/>
                </a:rPr>
                <a:t>不同的下一跳，跳数相同，不变</a:t>
              </a:r>
            </a:p>
            <a:p>
              <a:pPr fontAlgn="auto">
                <a:spcBef>
                  <a:spcPct val="20000"/>
                </a:spcBef>
                <a:spcAft>
                  <a:spcPts val="0"/>
                </a:spcAft>
                <a:defRPr/>
              </a:pPr>
              <a:r>
                <a:rPr lang="en-US" altLang="zh-CN" b="1" kern="0" dirty="0">
                  <a:solidFill>
                    <a:sysClr val="windowText" lastClr="000000"/>
                  </a:solidFill>
                  <a:latin typeface="+mn-lt"/>
                  <a:ea typeface="黑体" panose="02010609060101010101" pitchFamily="2" charset="-122"/>
                </a:rPr>
                <a:t>Net9:</a:t>
              </a:r>
              <a:r>
                <a:rPr lang="zh-CN" altLang="en-US" b="1" kern="0" dirty="0">
                  <a:solidFill>
                    <a:sysClr val="windowText" lastClr="000000"/>
                  </a:solidFill>
                  <a:latin typeface="+mn-lt"/>
                  <a:ea typeface="黑体" panose="02010609060101010101" pitchFamily="2" charset="-122"/>
                </a:rPr>
                <a:t>不同的下一跳，新跳数大，不变</a:t>
              </a:r>
            </a:p>
          </p:txBody>
        </p:sp>
      </p:grpSp>
      <p:sp>
        <p:nvSpPr>
          <p:cNvPr id="10158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7AC260-F7AE-4F49-8CB2-1C81CF89851D}" type="slidenum">
              <a:rPr lang="zh-CN" altLang="en-US" smtClean="0"/>
              <a:pPr eaLnBrk="1" hangingPunct="1"/>
              <a:t>22</a:t>
            </a:fld>
            <a:endParaRPr lang="en-US" altLang="zh-CN" smtClean="0"/>
          </a:p>
        </p:txBody>
      </p:sp>
      <p:sp>
        <p:nvSpPr>
          <p:cNvPr id="10158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57" name="AutoShape 54"/>
          <p:cNvSpPr>
            <a:spLocks noChangeArrowheads="1"/>
          </p:cNvSpPr>
          <p:nvPr/>
        </p:nvSpPr>
        <p:spPr bwMode="auto">
          <a:xfrm rot="5400000">
            <a:off x="962025" y="4841875"/>
            <a:ext cx="241300" cy="501650"/>
          </a:xfrm>
          <a:prstGeom prst="downArrow">
            <a:avLst>
              <a:gd name="adj1" fmla="val 50000"/>
              <a:gd name="adj2" fmla="val 47970"/>
            </a:avLst>
          </a:prstGeom>
          <a:solidFill>
            <a:srgbClr val="FFC000"/>
          </a:solidFill>
          <a:ln w="9525">
            <a:solidFill>
              <a:srgbClr val="000099"/>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1017858" name="Line 2"/>
          <p:cNvSpPr>
            <a:spLocks noChangeShapeType="1"/>
          </p:cNvSpPr>
          <p:nvPr/>
        </p:nvSpPr>
        <p:spPr bwMode="auto">
          <a:xfrm>
            <a:off x="4818063" y="1300163"/>
            <a:ext cx="3932237" cy="0"/>
          </a:xfrm>
          <a:prstGeom prst="line">
            <a:avLst/>
          </a:prstGeom>
          <a:noFill/>
          <a:ln w="19050">
            <a:solidFill>
              <a:srgbClr val="0000CC"/>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59" name="Text Box 3"/>
          <p:cNvSpPr txBox="1">
            <a:spLocks noChangeArrowheads="1"/>
          </p:cNvSpPr>
          <p:nvPr/>
        </p:nvSpPr>
        <p:spPr bwMode="auto">
          <a:xfrm>
            <a:off x="6397625" y="1116013"/>
            <a:ext cx="98425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 4 </a:t>
            </a:r>
            <a:r>
              <a:rPr lang="zh-CN" altLang="en-US" sz="2000" b="1">
                <a:solidFill>
                  <a:srgbClr val="000099"/>
                </a:solidFill>
                <a:ea typeface="黑体" panose="02010609060101010101" pitchFamily="49" charset="-122"/>
              </a:rPr>
              <a:t>字节</a:t>
            </a:r>
          </a:p>
        </p:txBody>
      </p:sp>
      <p:sp>
        <p:nvSpPr>
          <p:cNvPr id="1017860" name="Rectangle 4"/>
          <p:cNvSpPr>
            <a:spLocks noChangeArrowheads="1"/>
          </p:cNvSpPr>
          <p:nvPr/>
        </p:nvSpPr>
        <p:spPr bwMode="auto">
          <a:xfrm>
            <a:off x="1312863" y="4775200"/>
            <a:ext cx="6261100" cy="647700"/>
          </a:xfrm>
          <a:prstGeom prst="rect">
            <a:avLst/>
          </a:prstGeom>
          <a:solidFill>
            <a:srgbClr val="FF66FF"/>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1" name="Line 5"/>
          <p:cNvSpPr>
            <a:spLocks noChangeShapeType="1"/>
          </p:cNvSpPr>
          <p:nvPr/>
        </p:nvSpPr>
        <p:spPr bwMode="auto">
          <a:xfrm flipV="1">
            <a:off x="3440113" y="4541838"/>
            <a:ext cx="4125912"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2" name="Text Box 6"/>
          <p:cNvSpPr txBox="1">
            <a:spLocks noChangeArrowheads="1"/>
          </p:cNvSpPr>
          <p:nvPr/>
        </p:nvSpPr>
        <p:spPr bwMode="auto">
          <a:xfrm>
            <a:off x="4826000" y="4351338"/>
            <a:ext cx="12192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RIP </a:t>
            </a:r>
            <a:r>
              <a:rPr lang="zh-CN" altLang="en-US" sz="2000" b="1">
                <a:solidFill>
                  <a:srgbClr val="000099"/>
                </a:solidFill>
                <a:ea typeface="黑体" panose="02010609060101010101" pitchFamily="49" charset="-122"/>
              </a:rPr>
              <a:t>报文</a:t>
            </a:r>
          </a:p>
        </p:txBody>
      </p:sp>
      <p:sp>
        <p:nvSpPr>
          <p:cNvPr id="1017863" name="Rectangle 7"/>
          <p:cNvSpPr>
            <a:spLocks noGrp="1" noChangeArrowheads="1"/>
          </p:cNvSpPr>
          <p:nvPr>
            <p:ph type="title"/>
          </p:nvPr>
        </p:nvSpPr>
        <p:spPr/>
        <p:txBody>
          <a:bodyPr/>
          <a:lstStyle/>
          <a:p>
            <a:r>
              <a:rPr lang="en-US" altLang="zh-CN" smtClean="0">
                <a:ea typeface="黑体" panose="02010609060101010101" pitchFamily="49" charset="-122"/>
              </a:rPr>
              <a:t>3. RIP2 </a:t>
            </a:r>
            <a:r>
              <a:rPr lang="zh-CN" altLang="en-US" smtClean="0">
                <a:ea typeface="黑体" panose="02010609060101010101" pitchFamily="49" charset="-122"/>
              </a:rPr>
              <a:t>协议的报文格式 </a:t>
            </a:r>
          </a:p>
        </p:txBody>
      </p:sp>
      <p:sp>
        <p:nvSpPr>
          <p:cNvPr id="1017864" name="Freeform 8"/>
          <p:cNvSpPr>
            <a:spLocks noChangeArrowheads="1"/>
          </p:cNvSpPr>
          <p:nvPr/>
        </p:nvSpPr>
        <p:spPr bwMode="auto">
          <a:xfrm>
            <a:off x="4197350" y="3497263"/>
            <a:ext cx="4643438" cy="209550"/>
          </a:xfrm>
          <a:custGeom>
            <a:avLst/>
            <a:gdLst>
              <a:gd name="T0" fmla="*/ 306 w 2328"/>
              <a:gd name="T1" fmla="*/ 6 h 204"/>
              <a:gd name="T2" fmla="*/ 2328 w 2328"/>
              <a:gd name="T3" fmla="*/ 0 h 204"/>
              <a:gd name="T4" fmla="*/ 1716 w 2328"/>
              <a:gd name="T5" fmla="*/ 204 h 204"/>
              <a:gd name="T6" fmla="*/ 0 w 2328"/>
              <a:gd name="T7" fmla="*/ 204 h 204"/>
              <a:gd name="T8" fmla="*/ 306 w 2328"/>
              <a:gd name="T9" fmla="*/ 6 h 204"/>
            </a:gdLst>
            <a:ahLst/>
            <a:cxnLst>
              <a:cxn ang="0">
                <a:pos x="T0" y="T1"/>
              </a:cxn>
              <a:cxn ang="0">
                <a:pos x="T2" y="T3"/>
              </a:cxn>
              <a:cxn ang="0">
                <a:pos x="T4" y="T5"/>
              </a:cxn>
              <a:cxn ang="0">
                <a:pos x="T6" y="T7"/>
              </a:cxn>
              <a:cxn ang="0">
                <a:pos x="T8" y="T9"/>
              </a:cxn>
            </a:cxnLst>
            <a:rect l="0" t="0" r="r" b="b"/>
            <a:pathLst>
              <a:path w="2328" h="204">
                <a:moveTo>
                  <a:pt x="306" y="6"/>
                </a:moveTo>
                <a:lnTo>
                  <a:pt x="2328" y="0"/>
                </a:lnTo>
                <a:lnTo>
                  <a:pt x="1716" y="204"/>
                </a:lnTo>
                <a:lnTo>
                  <a:pt x="0" y="204"/>
                </a:lnTo>
                <a:lnTo>
                  <a:pt x="306" y="6"/>
                </a:lnTo>
                <a:close/>
              </a:path>
            </a:pathLst>
          </a:custGeom>
          <a:gradFill rotWithShape="1">
            <a:gsLst>
              <a:gs pos="0">
                <a:srgbClr val="CCFFFF"/>
              </a:gs>
              <a:gs pos="100000">
                <a:srgbClr val="CCECFF"/>
              </a:gs>
            </a:gsLst>
            <a:lin ang="162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017865" name="Rectangle 9"/>
          <p:cNvSpPr>
            <a:spLocks noChangeArrowheads="1"/>
          </p:cNvSpPr>
          <p:nvPr/>
        </p:nvSpPr>
        <p:spPr bwMode="auto">
          <a:xfrm>
            <a:off x="4808538" y="1470025"/>
            <a:ext cx="3975100" cy="2027238"/>
          </a:xfrm>
          <a:prstGeom prst="rect">
            <a:avLst/>
          </a:prstGeom>
          <a:solidFill>
            <a:srgbClr val="CCECFF"/>
          </a:solidFill>
          <a:ln w="9525">
            <a:solidFill>
              <a:schemeClr val="tx1"/>
            </a:solidFill>
            <a:miter lim="800000"/>
            <a:headEnd/>
            <a:tailEnd/>
          </a:ln>
          <a:effectLst>
            <a:outerShdw dist="1796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6" name="Line 10"/>
          <p:cNvSpPr>
            <a:spLocks noChangeShapeType="1"/>
          </p:cNvSpPr>
          <p:nvPr/>
        </p:nvSpPr>
        <p:spPr bwMode="auto">
          <a:xfrm>
            <a:off x="2601913" y="5662613"/>
            <a:ext cx="4957762"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7" name="Text Box 11"/>
          <p:cNvSpPr txBox="1">
            <a:spLocks noChangeArrowheads="1"/>
          </p:cNvSpPr>
          <p:nvPr/>
        </p:nvSpPr>
        <p:spPr bwMode="auto">
          <a:xfrm>
            <a:off x="7720013" y="4049713"/>
            <a:ext cx="2144712" cy="1323975"/>
          </a:xfrm>
          <a:prstGeom prst="rect">
            <a:avLst/>
          </a:prstGeom>
          <a:solidFill>
            <a:srgbClr val="FFFF99"/>
          </a:solidFill>
          <a:ln w="9525">
            <a:solidFill>
              <a:srgbClr val="333399"/>
            </a:solidFill>
            <a:miter lim="800000"/>
            <a:headEnd/>
            <a:tailEnd/>
          </a:ln>
        </p:spPr>
        <p:txBody>
          <a:bodyPr>
            <a:spAutoFit/>
          </a:bodyPr>
          <a:lstStyle/>
          <a:p>
            <a:pPr algn="ctr" eaLnBrk="0" hangingPunct="0"/>
            <a:r>
              <a:rPr lang="zh-CN" altLang="en-US" sz="2000" b="1">
                <a:solidFill>
                  <a:srgbClr val="000099"/>
                </a:solidFill>
                <a:ea typeface="黑体" panose="02010609060101010101" pitchFamily="49" charset="-122"/>
              </a:rPr>
              <a:t>路由信息</a:t>
            </a:r>
          </a:p>
          <a:p>
            <a:pPr algn="ctr" eaLnBrk="0" hangingPunct="0"/>
            <a:r>
              <a:rPr lang="zh-CN" altLang="en-US" sz="2000" b="1">
                <a:solidFill>
                  <a:srgbClr val="000099"/>
                </a:solidFill>
                <a:ea typeface="黑体" panose="02010609060101010101" pitchFamily="49" charset="-122"/>
              </a:rPr>
              <a:t>（</a:t>
            </a:r>
            <a:r>
              <a:rPr lang="en-US" altLang="zh-CN" sz="2000" b="1">
                <a:solidFill>
                  <a:srgbClr val="000099"/>
                </a:solidFill>
                <a:ea typeface="黑体" panose="02010609060101010101" pitchFamily="49" charset="-122"/>
              </a:rPr>
              <a:t>20 </a:t>
            </a:r>
            <a:r>
              <a:rPr lang="zh-CN" altLang="en-US" sz="2000" b="1">
                <a:solidFill>
                  <a:srgbClr val="000099"/>
                </a:solidFill>
                <a:ea typeface="黑体" panose="02010609060101010101" pitchFamily="49" charset="-122"/>
              </a:rPr>
              <a:t>字节</a:t>
            </a:r>
            <a:r>
              <a:rPr lang="en-US" altLang="zh-CN" sz="2000" b="1">
                <a:solidFill>
                  <a:srgbClr val="000099"/>
                </a:solidFill>
                <a:ea typeface="黑体" panose="02010609060101010101" pitchFamily="49" charset="-122"/>
              </a:rPr>
              <a:t>/</a:t>
            </a:r>
            <a:r>
              <a:rPr lang="zh-CN" altLang="en-US" sz="2000" b="1">
                <a:solidFill>
                  <a:srgbClr val="000099"/>
                </a:solidFill>
                <a:ea typeface="黑体" panose="02010609060101010101" pitchFamily="49" charset="-122"/>
              </a:rPr>
              <a:t>路由）</a:t>
            </a:r>
          </a:p>
          <a:p>
            <a:pPr algn="ctr" eaLnBrk="0" hangingPunct="0"/>
            <a:r>
              <a:rPr lang="zh-CN" altLang="en-US" sz="2000" b="1">
                <a:solidFill>
                  <a:srgbClr val="000099"/>
                </a:solidFill>
                <a:ea typeface="黑体" panose="02010609060101010101" pitchFamily="49" charset="-122"/>
              </a:rPr>
              <a:t>可重复出现</a:t>
            </a:r>
          </a:p>
          <a:p>
            <a:pPr algn="ctr" eaLnBrk="0" hangingPunct="0"/>
            <a:r>
              <a:rPr lang="zh-CN" altLang="en-US" sz="2000" b="1">
                <a:solidFill>
                  <a:srgbClr val="000099"/>
                </a:solidFill>
                <a:ea typeface="黑体" panose="02010609060101010101" pitchFamily="49" charset="-122"/>
              </a:rPr>
              <a:t>最多 </a:t>
            </a:r>
            <a:r>
              <a:rPr lang="en-US" altLang="zh-CN" sz="2000" b="1">
                <a:solidFill>
                  <a:srgbClr val="000099"/>
                </a:solidFill>
                <a:ea typeface="黑体" panose="02010609060101010101" pitchFamily="49" charset="-122"/>
              </a:rPr>
              <a:t>25 </a:t>
            </a:r>
            <a:r>
              <a:rPr lang="zh-CN" altLang="en-US" sz="2000" b="1">
                <a:solidFill>
                  <a:srgbClr val="000099"/>
                </a:solidFill>
                <a:ea typeface="黑体" panose="02010609060101010101" pitchFamily="49" charset="-122"/>
              </a:rPr>
              <a:t>个</a:t>
            </a:r>
          </a:p>
        </p:txBody>
      </p:sp>
      <p:sp>
        <p:nvSpPr>
          <p:cNvPr id="1017868" name="Rectangle 12"/>
          <p:cNvSpPr>
            <a:spLocks noChangeArrowheads="1"/>
          </p:cNvSpPr>
          <p:nvPr/>
        </p:nvSpPr>
        <p:spPr bwMode="auto">
          <a:xfrm>
            <a:off x="3398838" y="3733800"/>
            <a:ext cx="4160837" cy="6207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69" name="Freeform 13"/>
          <p:cNvSpPr>
            <a:spLocks noChangeArrowheads="1"/>
          </p:cNvSpPr>
          <p:nvPr/>
        </p:nvSpPr>
        <p:spPr bwMode="auto">
          <a:xfrm>
            <a:off x="433388" y="2757488"/>
            <a:ext cx="3905250" cy="976312"/>
          </a:xfrm>
          <a:custGeom>
            <a:avLst/>
            <a:gdLst>
              <a:gd name="T0" fmla="*/ 0 w 1992"/>
              <a:gd name="T1" fmla="*/ 12 h 612"/>
              <a:gd name="T2" fmla="*/ 1992 w 1992"/>
              <a:gd name="T3" fmla="*/ 0 h 612"/>
              <a:gd name="T4" fmla="*/ 1890 w 1992"/>
              <a:gd name="T5" fmla="*/ 606 h 612"/>
              <a:gd name="T6" fmla="*/ 1506 w 1992"/>
              <a:gd name="T7" fmla="*/ 612 h 612"/>
              <a:gd name="T8" fmla="*/ 0 w 1992"/>
              <a:gd name="T9" fmla="*/ 12 h 612"/>
            </a:gdLst>
            <a:ahLst/>
            <a:cxnLst>
              <a:cxn ang="0">
                <a:pos x="T0" y="T1"/>
              </a:cxn>
              <a:cxn ang="0">
                <a:pos x="T2" y="T3"/>
              </a:cxn>
              <a:cxn ang="0">
                <a:pos x="T4" y="T5"/>
              </a:cxn>
              <a:cxn ang="0">
                <a:pos x="T6" y="T7"/>
              </a:cxn>
              <a:cxn ang="0">
                <a:pos x="T8" y="T9"/>
              </a:cxn>
            </a:cxnLst>
            <a:rect l="0" t="0" r="r" b="b"/>
            <a:pathLst>
              <a:path w="1992" h="612">
                <a:moveTo>
                  <a:pt x="0" y="12"/>
                </a:moveTo>
                <a:lnTo>
                  <a:pt x="1992" y="0"/>
                </a:lnTo>
                <a:lnTo>
                  <a:pt x="1890" y="606"/>
                </a:lnTo>
                <a:lnTo>
                  <a:pt x="1506" y="612"/>
                </a:lnTo>
                <a:lnTo>
                  <a:pt x="0" y="12"/>
                </a:lnTo>
                <a:close/>
              </a:path>
            </a:pathLst>
          </a:custGeom>
          <a:gradFill rotWithShape="1">
            <a:gsLst>
              <a:gs pos="0">
                <a:srgbClr val="66FF66"/>
              </a:gs>
              <a:gs pos="100000">
                <a:srgbClr val="CCECFF"/>
              </a:gs>
            </a:gsLst>
            <a:lin ang="162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017870" name="Rectangle 14"/>
          <p:cNvSpPr>
            <a:spLocks noChangeArrowheads="1"/>
          </p:cNvSpPr>
          <p:nvPr/>
        </p:nvSpPr>
        <p:spPr bwMode="auto">
          <a:xfrm>
            <a:off x="3398838" y="3721100"/>
            <a:ext cx="4175125" cy="64611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1" name="Line 15"/>
          <p:cNvSpPr>
            <a:spLocks noChangeShapeType="1"/>
          </p:cNvSpPr>
          <p:nvPr/>
        </p:nvSpPr>
        <p:spPr bwMode="auto">
          <a:xfrm>
            <a:off x="1312863" y="5383213"/>
            <a:ext cx="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2" name="Rectangle 16"/>
          <p:cNvSpPr>
            <a:spLocks noChangeArrowheads="1"/>
          </p:cNvSpPr>
          <p:nvPr/>
        </p:nvSpPr>
        <p:spPr bwMode="auto">
          <a:xfrm>
            <a:off x="4443413" y="5576888"/>
            <a:ext cx="1550987" cy="279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3" name="Line 17"/>
          <p:cNvSpPr>
            <a:spLocks noChangeShapeType="1"/>
          </p:cNvSpPr>
          <p:nvPr/>
        </p:nvSpPr>
        <p:spPr bwMode="auto">
          <a:xfrm>
            <a:off x="1312863" y="5981700"/>
            <a:ext cx="6261100"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4" name="Text Box 18"/>
          <p:cNvSpPr txBox="1">
            <a:spLocks noChangeArrowheads="1"/>
          </p:cNvSpPr>
          <p:nvPr/>
        </p:nvSpPr>
        <p:spPr bwMode="auto">
          <a:xfrm>
            <a:off x="2792413" y="5837238"/>
            <a:ext cx="12668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017875" name="Line 19"/>
          <p:cNvSpPr>
            <a:spLocks noChangeShapeType="1"/>
          </p:cNvSpPr>
          <p:nvPr/>
        </p:nvSpPr>
        <p:spPr bwMode="auto">
          <a:xfrm>
            <a:off x="4819650" y="1858963"/>
            <a:ext cx="3976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6" name="Line 20"/>
          <p:cNvSpPr>
            <a:spLocks noChangeShapeType="1"/>
          </p:cNvSpPr>
          <p:nvPr/>
        </p:nvSpPr>
        <p:spPr bwMode="auto">
          <a:xfrm>
            <a:off x="4819650" y="2282825"/>
            <a:ext cx="3976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7" name="Line 21"/>
          <p:cNvSpPr>
            <a:spLocks noChangeShapeType="1"/>
          </p:cNvSpPr>
          <p:nvPr/>
        </p:nvSpPr>
        <p:spPr bwMode="auto">
          <a:xfrm>
            <a:off x="4819650" y="2686050"/>
            <a:ext cx="3976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8" name="Line 22"/>
          <p:cNvSpPr>
            <a:spLocks noChangeShapeType="1"/>
          </p:cNvSpPr>
          <p:nvPr/>
        </p:nvSpPr>
        <p:spPr bwMode="auto">
          <a:xfrm>
            <a:off x="4819650" y="3070225"/>
            <a:ext cx="3976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79" name="Line 23"/>
          <p:cNvSpPr>
            <a:spLocks noChangeShapeType="1"/>
          </p:cNvSpPr>
          <p:nvPr/>
        </p:nvSpPr>
        <p:spPr bwMode="auto">
          <a:xfrm rot="5400000" flipH="1">
            <a:off x="6611144" y="1680369"/>
            <a:ext cx="395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80" name="Text Box 24"/>
          <p:cNvSpPr txBox="1">
            <a:spLocks noChangeArrowheads="1"/>
          </p:cNvSpPr>
          <p:nvPr/>
        </p:nvSpPr>
        <p:spPr bwMode="auto">
          <a:xfrm>
            <a:off x="7269163" y="1406525"/>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路由标记</a:t>
            </a:r>
          </a:p>
        </p:txBody>
      </p:sp>
      <p:sp>
        <p:nvSpPr>
          <p:cNvPr id="1017881" name="Text Box 25"/>
          <p:cNvSpPr txBox="1">
            <a:spLocks noChangeArrowheads="1"/>
          </p:cNvSpPr>
          <p:nvPr/>
        </p:nvSpPr>
        <p:spPr bwMode="auto">
          <a:xfrm>
            <a:off x="6196013" y="1827213"/>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网络地址</a:t>
            </a:r>
          </a:p>
        </p:txBody>
      </p:sp>
      <p:sp>
        <p:nvSpPr>
          <p:cNvPr id="1017882" name="Text Box 26"/>
          <p:cNvSpPr txBox="1">
            <a:spLocks noChangeArrowheads="1"/>
          </p:cNvSpPr>
          <p:nvPr/>
        </p:nvSpPr>
        <p:spPr bwMode="auto">
          <a:xfrm>
            <a:off x="5008563" y="142557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地址族标识符</a:t>
            </a:r>
          </a:p>
        </p:txBody>
      </p:sp>
      <p:sp>
        <p:nvSpPr>
          <p:cNvPr id="1017883" name="Text Box 27"/>
          <p:cNvSpPr txBox="1">
            <a:spLocks noChangeArrowheads="1"/>
          </p:cNvSpPr>
          <p:nvPr/>
        </p:nvSpPr>
        <p:spPr bwMode="auto">
          <a:xfrm>
            <a:off x="6137275" y="3073400"/>
            <a:ext cx="145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距离 </a:t>
            </a:r>
            <a:r>
              <a:rPr lang="en-US" altLang="zh-CN" sz="2000" b="1">
                <a:solidFill>
                  <a:srgbClr val="000099"/>
                </a:solidFill>
                <a:ea typeface="黑体" panose="02010609060101010101" pitchFamily="49" charset="-122"/>
              </a:rPr>
              <a:t>(1-16)</a:t>
            </a:r>
          </a:p>
        </p:txBody>
      </p:sp>
      <p:sp>
        <p:nvSpPr>
          <p:cNvPr id="1017884" name="Rectangle 28"/>
          <p:cNvSpPr>
            <a:spLocks noChangeArrowheads="1"/>
          </p:cNvSpPr>
          <p:nvPr/>
        </p:nvSpPr>
        <p:spPr bwMode="auto">
          <a:xfrm>
            <a:off x="3398838" y="4787900"/>
            <a:ext cx="4160837" cy="6223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85" name="Line 29"/>
          <p:cNvSpPr>
            <a:spLocks noChangeShapeType="1"/>
          </p:cNvSpPr>
          <p:nvPr/>
        </p:nvSpPr>
        <p:spPr bwMode="auto">
          <a:xfrm>
            <a:off x="2617788" y="4775200"/>
            <a:ext cx="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86" name="Text Box 30"/>
          <p:cNvSpPr txBox="1">
            <a:spLocks noChangeArrowheads="1"/>
          </p:cNvSpPr>
          <p:nvPr/>
        </p:nvSpPr>
        <p:spPr bwMode="auto">
          <a:xfrm>
            <a:off x="1585913" y="4805363"/>
            <a:ext cx="700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sz="2000" b="1">
                <a:solidFill>
                  <a:srgbClr val="000099"/>
                </a:solidFill>
                <a:ea typeface="黑体" panose="02010609060101010101" pitchFamily="49" charset="-122"/>
              </a:rPr>
              <a:t>  IP </a:t>
            </a:r>
          </a:p>
          <a:p>
            <a:pPr eaLnBrk="0" hangingPunct="0">
              <a:lnSpc>
                <a:spcPct val="90000"/>
              </a:lnSpc>
            </a:pPr>
            <a:r>
              <a:rPr lang="zh-CN" altLang="en-US" sz="2000" b="1">
                <a:solidFill>
                  <a:srgbClr val="000099"/>
                </a:solidFill>
                <a:ea typeface="黑体" panose="02010609060101010101" pitchFamily="49" charset="-122"/>
              </a:rPr>
              <a:t>首部</a:t>
            </a:r>
          </a:p>
        </p:txBody>
      </p:sp>
      <p:sp>
        <p:nvSpPr>
          <p:cNvPr id="1017887" name="AutoShape 32"/>
          <p:cNvSpPr>
            <a:spLocks noChangeArrowheads="1"/>
          </p:cNvSpPr>
          <p:nvPr/>
        </p:nvSpPr>
        <p:spPr bwMode="auto">
          <a:xfrm>
            <a:off x="5226050" y="4613275"/>
            <a:ext cx="209550" cy="396875"/>
          </a:xfrm>
          <a:prstGeom prst="downArrow">
            <a:avLst>
              <a:gd name="adj1" fmla="val 50000"/>
              <a:gd name="adj2" fmla="val 48024"/>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1017888" name="Text Box 33"/>
          <p:cNvSpPr txBox="1">
            <a:spLocks noChangeArrowheads="1"/>
          </p:cNvSpPr>
          <p:nvPr/>
        </p:nvSpPr>
        <p:spPr bwMode="auto">
          <a:xfrm>
            <a:off x="2674938" y="4805363"/>
            <a:ext cx="7953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en-US" altLang="zh-CN" sz="2000" b="1">
                <a:solidFill>
                  <a:srgbClr val="000099"/>
                </a:solidFill>
                <a:ea typeface="黑体" panose="02010609060101010101" pitchFamily="49" charset="-122"/>
              </a:rPr>
              <a:t>UDP </a:t>
            </a:r>
          </a:p>
          <a:p>
            <a:pPr eaLnBrk="0" hangingPunct="0">
              <a:lnSpc>
                <a:spcPct val="90000"/>
              </a:lnSpc>
            </a:pPr>
            <a:r>
              <a:rPr lang="zh-CN" altLang="en-US" sz="2000" b="1">
                <a:solidFill>
                  <a:srgbClr val="000099"/>
                </a:solidFill>
                <a:ea typeface="黑体" panose="02010609060101010101" pitchFamily="49" charset="-122"/>
              </a:rPr>
              <a:t>首部</a:t>
            </a:r>
          </a:p>
        </p:txBody>
      </p:sp>
      <p:sp>
        <p:nvSpPr>
          <p:cNvPr id="1017889" name="Line 34"/>
          <p:cNvSpPr>
            <a:spLocks noChangeShapeType="1"/>
          </p:cNvSpPr>
          <p:nvPr/>
        </p:nvSpPr>
        <p:spPr bwMode="auto">
          <a:xfrm>
            <a:off x="3398838" y="4787900"/>
            <a:ext cx="0" cy="646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0" name="AutoShape 35"/>
          <p:cNvSpPr>
            <a:spLocks/>
          </p:cNvSpPr>
          <p:nvPr/>
        </p:nvSpPr>
        <p:spPr bwMode="auto">
          <a:xfrm>
            <a:off x="8840788" y="1487488"/>
            <a:ext cx="266700" cy="1976437"/>
          </a:xfrm>
          <a:prstGeom prst="rightBrace">
            <a:avLst>
              <a:gd name="adj1" fmla="val 66902"/>
              <a:gd name="adj2" fmla="val 50000"/>
            </a:avLst>
          </a:prstGeom>
          <a:noFill/>
          <a:ln w="190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1" name="Line 36"/>
          <p:cNvSpPr>
            <a:spLocks noChangeShapeType="1"/>
          </p:cNvSpPr>
          <p:nvPr/>
        </p:nvSpPr>
        <p:spPr bwMode="auto">
          <a:xfrm>
            <a:off x="4135438" y="3717925"/>
            <a:ext cx="0" cy="646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2" name="Line 37"/>
          <p:cNvSpPr>
            <a:spLocks noChangeShapeType="1"/>
          </p:cNvSpPr>
          <p:nvPr/>
        </p:nvSpPr>
        <p:spPr bwMode="auto">
          <a:xfrm>
            <a:off x="3398838" y="4354513"/>
            <a:ext cx="0" cy="3222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3" name="Line 38"/>
          <p:cNvSpPr>
            <a:spLocks noChangeShapeType="1"/>
          </p:cNvSpPr>
          <p:nvPr/>
        </p:nvSpPr>
        <p:spPr bwMode="auto">
          <a:xfrm>
            <a:off x="7575550" y="4324350"/>
            <a:ext cx="0" cy="3222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4" name="Text Box 40"/>
          <p:cNvSpPr txBox="1">
            <a:spLocks noChangeArrowheads="1"/>
          </p:cNvSpPr>
          <p:nvPr/>
        </p:nvSpPr>
        <p:spPr bwMode="auto">
          <a:xfrm>
            <a:off x="5068888" y="3860800"/>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路由部分</a:t>
            </a:r>
          </a:p>
        </p:txBody>
      </p:sp>
      <p:sp>
        <p:nvSpPr>
          <p:cNvPr id="1017895" name="Line 47"/>
          <p:cNvSpPr>
            <a:spLocks noChangeShapeType="1"/>
          </p:cNvSpPr>
          <p:nvPr/>
        </p:nvSpPr>
        <p:spPr bwMode="auto">
          <a:xfrm>
            <a:off x="442913" y="2165350"/>
            <a:ext cx="3930650" cy="0"/>
          </a:xfrm>
          <a:prstGeom prst="line">
            <a:avLst/>
          </a:prstGeom>
          <a:noFill/>
          <a:ln w="19050">
            <a:solidFill>
              <a:srgbClr val="0000CC"/>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896" name="Text Box 48"/>
          <p:cNvSpPr txBox="1">
            <a:spLocks noChangeArrowheads="1"/>
          </p:cNvSpPr>
          <p:nvPr/>
        </p:nvSpPr>
        <p:spPr bwMode="auto">
          <a:xfrm>
            <a:off x="2020888" y="1981200"/>
            <a:ext cx="98425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 4 </a:t>
            </a:r>
            <a:r>
              <a:rPr lang="zh-CN" altLang="en-US" sz="2000" b="1">
                <a:solidFill>
                  <a:srgbClr val="000099"/>
                </a:solidFill>
                <a:ea typeface="黑体" panose="02010609060101010101" pitchFamily="49" charset="-122"/>
              </a:rPr>
              <a:t>字节</a:t>
            </a:r>
          </a:p>
        </p:txBody>
      </p:sp>
      <p:sp>
        <p:nvSpPr>
          <p:cNvPr id="1017897" name="Text Box 49"/>
          <p:cNvSpPr txBox="1">
            <a:spLocks noChangeArrowheads="1"/>
          </p:cNvSpPr>
          <p:nvPr/>
        </p:nvSpPr>
        <p:spPr bwMode="auto">
          <a:xfrm>
            <a:off x="6196013" y="2259013"/>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子网掩码</a:t>
            </a:r>
          </a:p>
        </p:txBody>
      </p:sp>
      <p:sp>
        <p:nvSpPr>
          <p:cNvPr id="1017898" name="Text Box 50"/>
          <p:cNvSpPr txBox="1">
            <a:spLocks noChangeArrowheads="1"/>
          </p:cNvSpPr>
          <p:nvPr/>
        </p:nvSpPr>
        <p:spPr bwMode="auto">
          <a:xfrm>
            <a:off x="5768975" y="2641600"/>
            <a:ext cx="2236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下一跳路由器地址</a:t>
            </a:r>
          </a:p>
        </p:txBody>
      </p:sp>
      <p:sp>
        <p:nvSpPr>
          <p:cNvPr id="1017899" name="Text Box 51"/>
          <p:cNvSpPr txBox="1">
            <a:spLocks noChangeArrowheads="1"/>
          </p:cNvSpPr>
          <p:nvPr/>
        </p:nvSpPr>
        <p:spPr bwMode="auto">
          <a:xfrm>
            <a:off x="4168775" y="5476875"/>
            <a:ext cx="2084388"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用户数据报</a:t>
            </a:r>
          </a:p>
        </p:txBody>
      </p:sp>
      <p:sp>
        <p:nvSpPr>
          <p:cNvPr id="1017900" name="Line 52"/>
          <p:cNvSpPr>
            <a:spLocks noChangeShapeType="1"/>
          </p:cNvSpPr>
          <p:nvPr/>
        </p:nvSpPr>
        <p:spPr bwMode="auto">
          <a:xfrm>
            <a:off x="2620963" y="5383213"/>
            <a:ext cx="0" cy="333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1" name="Freeform 53"/>
          <p:cNvSpPr>
            <a:spLocks noChangeArrowheads="1"/>
          </p:cNvSpPr>
          <p:nvPr/>
        </p:nvSpPr>
        <p:spPr bwMode="auto">
          <a:xfrm>
            <a:off x="9063038" y="2474913"/>
            <a:ext cx="623887" cy="1585912"/>
          </a:xfrm>
          <a:custGeom>
            <a:avLst/>
            <a:gdLst>
              <a:gd name="T0" fmla="*/ 46 w 363"/>
              <a:gd name="T1" fmla="*/ 0 h 1088"/>
              <a:gd name="T2" fmla="*/ 363 w 363"/>
              <a:gd name="T3" fmla="*/ 0 h 1088"/>
              <a:gd name="T4" fmla="*/ 0 w 363"/>
              <a:gd name="T5" fmla="*/ 1088 h 1088"/>
            </a:gdLst>
            <a:ahLst/>
            <a:cxnLst>
              <a:cxn ang="0">
                <a:pos x="T0" y="T1"/>
              </a:cxn>
              <a:cxn ang="0">
                <a:pos x="T2" y="T3"/>
              </a:cxn>
              <a:cxn ang="0">
                <a:pos x="T4" y="T5"/>
              </a:cxn>
            </a:cxnLst>
            <a:rect l="0" t="0" r="r" b="b"/>
            <a:pathLst>
              <a:path w="363" h="1088">
                <a:moveTo>
                  <a:pt x="46" y="0"/>
                </a:moveTo>
                <a:lnTo>
                  <a:pt x="363" y="0"/>
                </a:lnTo>
                <a:lnTo>
                  <a:pt x="0" y="1088"/>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017902" name="矩形 1"/>
          <p:cNvSpPr>
            <a:spLocks noChangeArrowheads="1"/>
          </p:cNvSpPr>
          <p:nvPr/>
        </p:nvSpPr>
        <p:spPr bwMode="auto">
          <a:xfrm>
            <a:off x="3398838" y="3733800"/>
            <a:ext cx="736600" cy="617538"/>
          </a:xfrm>
          <a:prstGeom prst="rect">
            <a:avLst/>
          </a:prstGeom>
          <a:solidFill>
            <a:srgbClr val="66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017903" name="Text Box 39"/>
          <p:cNvSpPr txBox="1">
            <a:spLocks noChangeArrowheads="1"/>
          </p:cNvSpPr>
          <p:nvPr/>
        </p:nvSpPr>
        <p:spPr bwMode="auto">
          <a:xfrm>
            <a:off x="3440113" y="384175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首部</a:t>
            </a:r>
          </a:p>
        </p:txBody>
      </p:sp>
      <p:sp>
        <p:nvSpPr>
          <p:cNvPr id="1017904" name="Line 15"/>
          <p:cNvSpPr>
            <a:spLocks noChangeShapeType="1"/>
          </p:cNvSpPr>
          <p:nvPr/>
        </p:nvSpPr>
        <p:spPr bwMode="auto">
          <a:xfrm>
            <a:off x="7575550" y="5383213"/>
            <a:ext cx="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5" name="Rectangle 41"/>
          <p:cNvSpPr>
            <a:spLocks noChangeArrowheads="1"/>
          </p:cNvSpPr>
          <p:nvPr/>
        </p:nvSpPr>
        <p:spPr bwMode="auto">
          <a:xfrm>
            <a:off x="420688" y="2355850"/>
            <a:ext cx="3932237" cy="401638"/>
          </a:xfrm>
          <a:prstGeom prst="rect">
            <a:avLst/>
          </a:prstGeom>
          <a:solidFill>
            <a:srgbClr val="CCECFF"/>
          </a:solidFill>
          <a:ln w="9525">
            <a:solidFill>
              <a:schemeClr val="tx1"/>
            </a:solidFill>
            <a:miter lim="800000"/>
            <a:headEnd/>
            <a:tailEnd/>
          </a:ln>
          <a:effectLst>
            <a:outerShdw dist="1796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6" name="Line 42"/>
          <p:cNvSpPr>
            <a:spLocks noChangeShapeType="1"/>
          </p:cNvSpPr>
          <p:nvPr/>
        </p:nvSpPr>
        <p:spPr bwMode="auto">
          <a:xfrm rot="-5400000">
            <a:off x="1200150" y="2559050"/>
            <a:ext cx="40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7" name="Line 43"/>
          <p:cNvSpPr>
            <a:spLocks noChangeShapeType="1"/>
          </p:cNvSpPr>
          <p:nvPr/>
        </p:nvSpPr>
        <p:spPr bwMode="auto">
          <a:xfrm rot="-5400000">
            <a:off x="2182019" y="2559844"/>
            <a:ext cx="4079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017908" name="Text Box 44"/>
          <p:cNvSpPr txBox="1">
            <a:spLocks noChangeArrowheads="1"/>
          </p:cNvSpPr>
          <p:nvPr/>
        </p:nvSpPr>
        <p:spPr bwMode="auto">
          <a:xfrm>
            <a:off x="2890838" y="2314575"/>
            <a:ext cx="91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必为 </a:t>
            </a:r>
            <a:r>
              <a:rPr lang="en-US" altLang="zh-CN" sz="2000" b="1">
                <a:solidFill>
                  <a:srgbClr val="000099"/>
                </a:solidFill>
                <a:ea typeface="黑体" panose="02010609060101010101" pitchFamily="49" charset="-122"/>
              </a:rPr>
              <a:t>0</a:t>
            </a:r>
          </a:p>
        </p:txBody>
      </p:sp>
      <p:sp>
        <p:nvSpPr>
          <p:cNvPr id="1017909" name="Text Box 45"/>
          <p:cNvSpPr txBox="1">
            <a:spLocks noChangeArrowheads="1"/>
          </p:cNvSpPr>
          <p:nvPr/>
        </p:nvSpPr>
        <p:spPr bwMode="auto">
          <a:xfrm>
            <a:off x="1538288" y="230822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版本</a:t>
            </a:r>
          </a:p>
        </p:txBody>
      </p:sp>
      <p:sp>
        <p:nvSpPr>
          <p:cNvPr id="1017910" name="Text Box 46"/>
          <p:cNvSpPr txBox="1">
            <a:spLocks noChangeArrowheads="1"/>
          </p:cNvSpPr>
          <p:nvPr/>
        </p:nvSpPr>
        <p:spPr bwMode="auto">
          <a:xfrm>
            <a:off x="538163" y="2297113"/>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命令</a:t>
            </a:r>
          </a:p>
        </p:txBody>
      </p:sp>
      <p:sp>
        <p:nvSpPr>
          <p:cNvPr id="101791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AB9820-038E-4DD6-B43A-C8707D507198}" type="slidenum">
              <a:rPr lang="zh-CN" altLang="en-US" smtClean="0"/>
              <a:pPr eaLnBrk="1" hangingPunct="1"/>
              <a:t>23</a:t>
            </a:fld>
            <a:endParaRPr lang="en-US" altLang="zh-CN" smtClean="0"/>
          </a:p>
        </p:txBody>
      </p:sp>
      <p:sp>
        <p:nvSpPr>
          <p:cNvPr id="101791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0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RIP2 </a:t>
            </a:r>
            <a:r>
              <a:rPr lang="zh-CN" altLang="en-US" smtClean="0">
                <a:ea typeface="黑体" panose="02010609060101010101" pitchFamily="49" charset="-122"/>
              </a:rPr>
              <a:t>报文</a:t>
            </a:r>
          </a:p>
        </p:txBody>
      </p:sp>
      <p:sp>
        <p:nvSpPr>
          <p:cNvPr id="572419"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RIP2 </a:t>
            </a:r>
            <a:r>
              <a:rPr lang="zh-CN" altLang="en-US" dirty="0" smtClean="0">
                <a:ea typeface="黑体" panose="02010609060101010101" pitchFamily="49" charset="-122"/>
              </a:rPr>
              <a:t>报文由</a:t>
            </a:r>
            <a:r>
              <a:rPr lang="zh-CN" altLang="en-US" dirty="0" smtClean="0">
                <a:solidFill>
                  <a:srgbClr val="0000FF"/>
                </a:solidFill>
                <a:ea typeface="黑体" panose="02010609060101010101" pitchFamily="49" charset="-122"/>
              </a:rPr>
              <a:t>首部</a:t>
            </a:r>
            <a:r>
              <a:rPr lang="zh-CN" altLang="en-US" dirty="0" smtClean="0">
                <a:ea typeface="黑体" panose="02010609060101010101" pitchFamily="49" charset="-122"/>
              </a:rPr>
              <a:t>和</a:t>
            </a:r>
            <a:r>
              <a:rPr lang="zh-CN" altLang="en-US" dirty="0" smtClean="0">
                <a:solidFill>
                  <a:srgbClr val="0000FF"/>
                </a:solidFill>
                <a:ea typeface="黑体" panose="02010609060101010101" pitchFamily="49" charset="-122"/>
              </a:rPr>
              <a:t>路由部分</a:t>
            </a:r>
            <a:r>
              <a:rPr lang="zh-CN" altLang="en-US" dirty="0" smtClean="0">
                <a:ea typeface="黑体" panose="02010609060101010101" pitchFamily="49" charset="-122"/>
              </a:rPr>
              <a:t>组成。</a:t>
            </a:r>
            <a:endParaRPr lang="en-US" altLang="zh-CN" dirty="0" smtClean="0">
              <a:ea typeface="黑体" panose="02010609060101010101" pitchFamily="49" charset="-122"/>
            </a:endParaRPr>
          </a:p>
          <a:p>
            <a:r>
              <a:rPr lang="en-US" altLang="zh-CN" dirty="0" smtClean="0">
                <a:ea typeface="黑体" panose="02010609060101010101" pitchFamily="49" charset="-122"/>
              </a:rPr>
              <a:t>RIP2 </a:t>
            </a:r>
            <a:r>
              <a:rPr lang="zh-CN" altLang="en-US" dirty="0" smtClean="0">
                <a:ea typeface="黑体" panose="02010609060101010101" pitchFamily="49" charset="-122"/>
              </a:rPr>
              <a:t>报文中的路由部分由若干个</a:t>
            </a:r>
            <a:r>
              <a:rPr lang="zh-CN" altLang="en-US" dirty="0" smtClean="0">
                <a:solidFill>
                  <a:srgbClr val="0000FF"/>
                </a:solidFill>
                <a:ea typeface="黑体" panose="02010609060101010101" pitchFamily="49" charset="-122"/>
              </a:rPr>
              <a:t>路由信息</a:t>
            </a:r>
            <a:r>
              <a:rPr lang="zh-CN" altLang="en-US" dirty="0" smtClean="0">
                <a:ea typeface="黑体" panose="02010609060101010101" pitchFamily="49" charset="-122"/>
              </a:rPr>
              <a:t>组成。每个路由信息需要</a:t>
            </a:r>
            <a:r>
              <a:rPr lang="zh-CN" altLang="en-US" dirty="0" smtClean="0">
                <a:solidFill>
                  <a:srgbClr val="0000FF"/>
                </a:solidFill>
                <a:ea typeface="黑体" panose="02010609060101010101" pitchFamily="49" charset="-122"/>
              </a:rPr>
              <a:t>用 </a:t>
            </a:r>
            <a:r>
              <a:rPr lang="en-US" altLang="zh-CN" dirty="0" smtClean="0">
                <a:solidFill>
                  <a:srgbClr val="0000FF"/>
                </a:solidFill>
                <a:ea typeface="黑体" panose="02010609060101010101" pitchFamily="49" charset="-122"/>
              </a:rPr>
              <a:t>20 </a:t>
            </a:r>
            <a:r>
              <a:rPr lang="zh-CN" altLang="en-US" dirty="0" smtClean="0">
                <a:solidFill>
                  <a:srgbClr val="0000FF"/>
                </a:solidFill>
                <a:ea typeface="黑体" panose="02010609060101010101" pitchFamily="49" charset="-122"/>
              </a:rPr>
              <a:t>个字节</a:t>
            </a:r>
            <a:r>
              <a:rPr lang="zh-CN" altLang="en-US" dirty="0" smtClean="0">
                <a:ea typeface="黑体" panose="02010609060101010101" pitchFamily="49" charset="-122"/>
              </a:rPr>
              <a:t>。地址族标识符（又称为地址类别）字段用来标志所使用的地址协议。</a:t>
            </a:r>
          </a:p>
          <a:p>
            <a:r>
              <a:rPr lang="zh-CN" altLang="en-US" dirty="0" smtClean="0">
                <a:ea typeface="黑体" panose="02010609060101010101" pitchFamily="49" charset="-122"/>
              </a:rPr>
              <a:t>路由标记填入自治系统的号码，这是考虑使</a:t>
            </a:r>
            <a:r>
              <a:rPr lang="en-US" altLang="zh-CN" dirty="0" smtClean="0">
                <a:ea typeface="黑体" panose="02010609060101010101" pitchFamily="49" charset="-122"/>
              </a:rPr>
              <a:t>RIP </a:t>
            </a:r>
            <a:r>
              <a:rPr lang="zh-CN" altLang="en-US" dirty="0" smtClean="0">
                <a:ea typeface="黑体" panose="02010609060101010101" pitchFamily="49" charset="-122"/>
              </a:rPr>
              <a:t>有可能收到本自治系统以外的路由选择信息。</a:t>
            </a:r>
            <a:endParaRPr lang="en-US" altLang="zh-CN" dirty="0" smtClean="0">
              <a:ea typeface="黑体" panose="02010609060101010101" pitchFamily="49" charset="-122"/>
            </a:endParaRPr>
          </a:p>
          <a:p>
            <a:r>
              <a:rPr lang="zh-CN" altLang="en-US" dirty="0" smtClean="0">
                <a:ea typeface="黑体" panose="02010609060101010101" pitchFamily="49" charset="-122"/>
              </a:rPr>
              <a:t>再后面指出某个网络地址、该网络的子网掩码、下一跳路由器地址以及到此网络的距离。 </a:t>
            </a:r>
            <a:endParaRPr lang="en-US" altLang="zh-CN" dirty="0" smtClean="0">
              <a:ea typeface="黑体" panose="02010609060101010101" pitchFamily="49" charset="-122"/>
            </a:endParaRPr>
          </a:p>
        </p:txBody>
      </p:sp>
      <p:sp>
        <p:nvSpPr>
          <p:cNvPr id="10199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979848-6297-4DDF-8433-105E8E62997F}" type="slidenum">
              <a:rPr lang="zh-CN" altLang="en-US" smtClean="0"/>
              <a:pPr eaLnBrk="1" hangingPunct="1"/>
              <a:t>24</a:t>
            </a:fld>
            <a:endParaRPr lang="en-US" altLang="zh-CN" smtClean="0"/>
          </a:p>
        </p:txBody>
      </p:sp>
      <p:sp>
        <p:nvSpPr>
          <p:cNvPr id="10199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241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2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95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RIP2 </a:t>
            </a:r>
            <a:r>
              <a:rPr lang="zh-CN" altLang="en-US" smtClean="0">
                <a:ea typeface="黑体" panose="02010609060101010101" pitchFamily="49" charset="-122"/>
              </a:rPr>
              <a:t>报文</a:t>
            </a:r>
          </a:p>
        </p:txBody>
      </p:sp>
      <p:sp>
        <p:nvSpPr>
          <p:cNvPr id="1021954"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一个</a:t>
            </a:r>
            <a:r>
              <a:rPr lang="en-US" altLang="zh-CN" dirty="0" smtClean="0">
                <a:ea typeface="黑体" panose="02010609060101010101" pitchFamily="49" charset="-122"/>
              </a:rPr>
              <a:t> RIP </a:t>
            </a:r>
            <a:r>
              <a:rPr lang="zh-CN" altLang="zh-CN" dirty="0" smtClean="0">
                <a:ea typeface="黑体" panose="02010609060101010101" pitchFamily="49" charset="-122"/>
              </a:rPr>
              <a:t>报文</a:t>
            </a:r>
            <a:r>
              <a:rPr lang="zh-CN" altLang="zh-CN" dirty="0" smtClean="0">
                <a:solidFill>
                  <a:srgbClr val="0000FF"/>
                </a:solidFill>
                <a:ea typeface="黑体" panose="02010609060101010101" pitchFamily="49" charset="-122"/>
              </a:rPr>
              <a:t>最多</a:t>
            </a:r>
            <a:r>
              <a:rPr lang="zh-CN" altLang="zh-CN" dirty="0" smtClean="0">
                <a:ea typeface="黑体" panose="02010609060101010101" pitchFamily="49" charset="-122"/>
              </a:rPr>
              <a:t>可</a:t>
            </a:r>
            <a:r>
              <a:rPr lang="zh-CN" altLang="zh-CN" dirty="0" smtClean="0">
                <a:solidFill>
                  <a:srgbClr val="0000FF"/>
                </a:solidFill>
                <a:ea typeface="黑体" panose="02010609060101010101" pitchFamily="49" charset="-122"/>
              </a:rPr>
              <a:t>包括</a:t>
            </a:r>
            <a:r>
              <a:rPr lang="en-US" altLang="zh-CN" dirty="0" smtClean="0">
                <a:solidFill>
                  <a:srgbClr val="0000FF"/>
                </a:solidFill>
                <a:ea typeface="黑体" panose="02010609060101010101" pitchFamily="49" charset="-122"/>
              </a:rPr>
              <a:t> 25 </a:t>
            </a:r>
            <a:r>
              <a:rPr lang="zh-CN" altLang="zh-CN" dirty="0" smtClean="0">
                <a:solidFill>
                  <a:srgbClr val="0000FF"/>
                </a:solidFill>
                <a:ea typeface="黑体" panose="02010609060101010101" pitchFamily="49" charset="-122"/>
              </a:rPr>
              <a:t>个路由</a:t>
            </a:r>
            <a:r>
              <a:rPr lang="zh-CN" altLang="zh-CN" dirty="0" smtClean="0">
                <a:ea typeface="黑体" panose="02010609060101010101" pitchFamily="49" charset="-122"/>
              </a:rPr>
              <a:t>，因而</a:t>
            </a:r>
            <a:r>
              <a:rPr lang="en-US" altLang="zh-CN" dirty="0" smtClean="0">
                <a:ea typeface="黑体" panose="02010609060101010101" pitchFamily="49" charset="-122"/>
              </a:rPr>
              <a:t> RIP </a:t>
            </a:r>
            <a:r>
              <a:rPr lang="zh-CN" altLang="zh-CN" dirty="0" smtClean="0">
                <a:ea typeface="黑体" panose="02010609060101010101" pitchFamily="49" charset="-122"/>
              </a:rPr>
              <a:t>报文的最大长度是</a:t>
            </a:r>
            <a:r>
              <a:rPr lang="en-US" altLang="zh-CN" dirty="0" smtClean="0">
                <a:ea typeface="黑体" panose="02010609060101010101" pitchFamily="49" charset="-122"/>
              </a:rPr>
              <a:t>4  </a:t>
            </a:r>
            <a:r>
              <a:rPr lang="en-US" altLang="zh-CN"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rPr>
              <a:t> 20 </a:t>
            </a:r>
            <a:r>
              <a:rPr lang="en-US" altLang="zh-CN"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rPr>
              <a:t> 25 </a:t>
            </a:r>
            <a:r>
              <a:rPr lang="en-US" altLang="zh-CN"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rPr>
              <a:t> 504 </a:t>
            </a:r>
            <a:r>
              <a:rPr lang="zh-CN" altLang="zh-CN" dirty="0" smtClean="0">
                <a:ea typeface="黑体" panose="02010609060101010101" pitchFamily="49" charset="-122"/>
              </a:rPr>
              <a:t>字节。如超过，必须再用一个</a:t>
            </a:r>
            <a:r>
              <a:rPr lang="en-US" altLang="zh-CN" dirty="0" smtClean="0">
                <a:ea typeface="黑体" panose="02010609060101010101" pitchFamily="49" charset="-122"/>
              </a:rPr>
              <a:t> RIP </a:t>
            </a:r>
            <a:r>
              <a:rPr lang="zh-CN" altLang="zh-CN" dirty="0" smtClean="0">
                <a:ea typeface="黑体" panose="02010609060101010101" pitchFamily="49" charset="-122"/>
              </a:rPr>
              <a:t>报文来传送。</a:t>
            </a:r>
            <a:endParaRPr lang="en-US" altLang="zh-CN" dirty="0" smtClean="0">
              <a:ea typeface="黑体" panose="02010609060101010101" pitchFamily="49" charset="-122"/>
            </a:endParaRPr>
          </a:p>
          <a:p>
            <a:r>
              <a:rPr lang="en-US" altLang="zh-CN" dirty="0" smtClean="0">
                <a:solidFill>
                  <a:srgbClr val="FF0000"/>
                </a:solidFill>
                <a:ea typeface="黑体" panose="02010609060101010101" pitchFamily="49" charset="-122"/>
              </a:rPr>
              <a:t>RIP2 </a:t>
            </a:r>
            <a:r>
              <a:rPr lang="zh-CN" altLang="zh-CN" dirty="0" smtClean="0">
                <a:solidFill>
                  <a:srgbClr val="FF0000"/>
                </a:solidFill>
                <a:ea typeface="黑体" panose="02010609060101010101" pitchFamily="49" charset="-122"/>
              </a:rPr>
              <a:t>具有简单的鉴别功能。</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若使用鉴别功能，则将原来写入第一个路由信息（</a:t>
            </a:r>
            <a:r>
              <a:rPr lang="en-US" altLang="zh-CN" dirty="0" smtClean="0">
                <a:ea typeface="黑体" panose="02010609060101010101" pitchFamily="49" charset="-122"/>
              </a:rPr>
              <a:t>20</a:t>
            </a:r>
            <a:r>
              <a:rPr lang="zh-CN" altLang="zh-CN" dirty="0" smtClean="0">
                <a:ea typeface="黑体" panose="02010609060101010101" pitchFamily="49" charset="-122"/>
              </a:rPr>
              <a:t>字节）的位置用作鉴别。</a:t>
            </a:r>
            <a:endParaRPr lang="en-US" altLang="zh-CN" dirty="0" smtClean="0">
              <a:ea typeface="黑体" panose="02010609060101010101" pitchFamily="49" charset="-122"/>
            </a:endParaRPr>
          </a:p>
          <a:p>
            <a:pPr lvl="1"/>
            <a:r>
              <a:rPr lang="zh-CN" altLang="zh-CN" dirty="0" smtClean="0">
                <a:ea typeface="黑体" panose="02010609060101010101" pitchFamily="49" charset="-122"/>
              </a:rPr>
              <a:t>在鉴别数据之后才写入路由信息，但这时最多只能再放入</a:t>
            </a:r>
            <a:r>
              <a:rPr lang="en-US" altLang="zh-CN" dirty="0" smtClean="0">
                <a:ea typeface="黑体" panose="02010609060101010101" pitchFamily="49" charset="-122"/>
              </a:rPr>
              <a:t> 24 </a:t>
            </a:r>
            <a:r>
              <a:rPr lang="zh-CN" altLang="zh-CN" dirty="0" smtClean="0">
                <a:ea typeface="黑体" panose="02010609060101010101" pitchFamily="49" charset="-122"/>
              </a:rPr>
              <a:t>个路由信息。</a:t>
            </a:r>
          </a:p>
          <a:p>
            <a:endParaRPr lang="zh-CN" altLang="en-US" dirty="0" smtClean="0">
              <a:ea typeface="黑体" panose="02010609060101010101" pitchFamily="49" charset="-122"/>
            </a:endParaRPr>
          </a:p>
        </p:txBody>
      </p:sp>
      <p:sp>
        <p:nvSpPr>
          <p:cNvPr id="10219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142671-C929-4301-B73F-3281C0890823}" type="slidenum">
              <a:rPr lang="zh-CN" altLang="en-US" smtClean="0"/>
              <a:pPr eaLnBrk="1" hangingPunct="1"/>
              <a:t>25</a:t>
            </a:fld>
            <a:endParaRPr lang="en-US" altLang="zh-CN" smtClean="0"/>
          </a:p>
        </p:txBody>
      </p:sp>
      <p:sp>
        <p:nvSpPr>
          <p:cNvPr id="10219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1" name="标题 1"/>
          <p:cNvSpPr>
            <a:spLocks noGrp="1" noChangeArrowheads="1"/>
          </p:cNvSpPr>
          <p:nvPr>
            <p:ph type="title"/>
          </p:nvPr>
        </p:nvSpPr>
        <p:spPr>
          <a:xfrm>
            <a:off x="495300" y="188913"/>
            <a:ext cx="9066213" cy="792162"/>
          </a:xfrm>
        </p:spPr>
        <p:txBody>
          <a:bodyPr/>
          <a:lstStyle/>
          <a:p>
            <a:pPr algn="ctr"/>
            <a:r>
              <a:rPr lang="zh-CN" altLang="zh-CN" sz="4000" smtClean="0">
                <a:ea typeface="黑体" panose="02010609060101010101" pitchFamily="49" charset="-122"/>
              </a:rPr>
              <a:t>好消息传播得快，坏消息传播得慢</a:t>
            </a:r>
            <a:endParaRPr lang="zh-CN" altLang="en-US" sz="4000" smtClean="0">
              <a:ea typeface="黑体" panose="02010609060101010101" pitchFamily="49" charset="-122"/>
            </a:endParaRPr>
          </a:p>
        </p:txBody>
      </p:sp>
      <p:sp>
        <p:nvSpPr>
          <p:cNvPr id="1024002" name="内容占位符 2"/>
          <p:cNvSpPr>
            <a:spLocks noGrp="1" noChangeArrowheads="1"/>
          </p:cNvSpPr>
          <p:nvPr>
            <p:ph idx="1"/>
          </p:nvPr>
        </p:nvSpPr>
        <p:spPr>
          <a:xfrm>
            <a:off x="495300" y="1196975"/>
            <a:ext cx="9066213" cy="4933950"/>
          </a:xfrm>
        </p:spPr>
        <p:txBody>
          <a:bodyPr/>
          <a:lstStyle/>
          <a:p>
            <a:r>
              <a:rPr lang="en-US" altLang="zh-CN" smtClean="0">
                <a:solidFill>
                  <a:srgbClr val="FF0000"/>
                </a:solidFill>
                <a:ea typeface="黑体" panose="02010609060101010101" pitchFamily="49" charset="-122"/>
              </a:rPr>
              <a:t>RIP</a:t>
            </a:r>
            <a:r>
              <a:rPr lang="zh-CN" altLang="zh-CN" smtClean="0">
                <a:solidFill>
                  <a:srgbClr val="FF0000"/>
                </a:solidFill>
                <a:ea typeface="黑体" panose="02010609060101010101" pitchFamily="49" charset="-122"/>
              </a:rPr>
              <a:t>协议特点：</a:t>
            </a:r>
            <a:r>
              <a:rPr lang="zh-CN" altLang="zh-CN" smtClean="0">
                <a:ea typeface="黑体" panose="02010609060101010101" pitchFamily="49" charset="-122"/>
              </a:rPr>
              <a:t>好消息传播得快，坏消息传播得慢。</a:t>
            </a:r>
            <a:endParaRPr lang="en-US" altLang="zh-CN" smtClean="0">
              <a:ea typeface="黑体" panose="02010609060101010101" pitchFamily="49" charset="-122"/>
            </a:endParaRPr>
          </a:p>
          <a:p>
            <a:r>
              <a:rPr lang="en-US" altLang="zh-CN" smtClean="0">
                <a:solidFill>
                  <a:srgbClr val="FF0000"/>
                </a:solidFill>
                <a:ea typeface="黑体" panose="02010609060101010101" pitchFamily="49" charset="-122"/>
              </a:rPr>
              <a:t>RIP</a:t>
            </a:r>
            <a:r>
              <a:rPr lang="zh-CN" altLang="zh-CN" smtClean="0">
                <a:solidFill>
                  <a:srgbClr val="FF0000"/>
                </a:solidFill>
                <a:ea typeface="黑体" panose="02010609060101010101" pitchFamily="49" charset="-122"/>
              </a:rPr>
              <a:t>存在的一个问题</a:t>
            </a:r>
            <a:r>
              <a:rPr lang="zh-CN" altLang="en-US" smtClean="0">
                <a:solidFill>
                  <a:srgbClr val="FF0000"/>
                </a:solidFill>
                <a:ea typeface="黑体" panose="02010609060101010101" pitchFamily="49" charset="-122"/>
              </a:rPr>
              <a:t>：</a:t>
            </a:r>
            <a:r>
              <a:rPr lang="zh-CN" altLang="zh-CN" smtClean="0">
                <a:ea typeface="黑体" panose="02010609060101010101" pitchFamily="49" charset="-122"/>
              </a:rPr>
              <a:t>当网络出现故障时，要经过比较长的时间</a:t>
            </a:r>
            <a:r>
              <a:rPr lang="en-US" altLang="zh-CN" smtClean="0">
                <a:ea typeface="黑体" panose="02010609060101010101" pitchFamily="49" charset="-122"/>
              </a:rPr>
              <a:t> (</a:t>
            </a:r>
            <a:r>
              <a:rPr lang="zh-CN" altLang="zh-CN" smtClean="0">
                <a:ea typeface="黑体" panose="02010609060101010101" pitchFamily="49" charset="-122"/>
              </a:rPr>
              <a:t>例如数分钟</a:t>
            </a:r>
            <a:r>
              <a:rPr lang="en-US" altLang="zh-CN" smtClean="0">
                <a:ea typeface="黑体" panose="02010609060101010101" pitchFamily="49" charset="-122"/>
              </a:rPr>
              <a:t>) </a:t>
            </a:r>
            <a:r>
              <a:rPr lang="zh-CN" altLang="zh-CN" smtClean="0">
                <a:ea typeface="黑体" panose="02010609060101010101" pitchFamily="49" charset="-122"/>
              </a:rPr>
              <a:t>才能将此信息传送到所有的路由器。</a:t>
            </a:r>
            <a:endParaRPr lang="zh-CN" altLang="en-US" smtClean="0">
              <a:ea typeface="黑体" panose="02010609060101010101" pitchFamily="49" charset="-122"/>
            </a:endParaRPr>
          </a:p>
        </p:txBody>
      </p:sp>
      <p:sp>
        <p:nvSpPr>
          <p:cNvPr id="102400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A3C07F-FBFB-457F-96F1-4A7FABFB849E}" type="slidenum">
              <a:rPr lang="zh-CN" altLang="en-US" smtClean="0"/>
              <a:pPr eaLnBrk="1" hangingPunct="1"/>
              <a:t>26</a:t>
            </a:fld>
            <a:endParaRPr lang="en-US" altLang="zh-CN" smtClean="0"/>
          </a:p>
        </p:txBody>
      </p:sp>
      <p:sp>
        <p:nvSpPr>
          <p:cNvPr id="102400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5" name="Line 2"/>
          <p:cNvSpPr>
            <a:spLocks noChangeShapeType="1"/>
          </p:cNvSpPr>
          <p:nvPr/>
        </p:nvSpPr>
        <p:spPr bwMode="auto">
          <a:xfrm>
            <a:off x="1785938" y="1063625"/>
            <a:ext cx="70104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25026"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27"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25028"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25029"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5030" name="Group 7"/>
          <p:cNvGrpSpPr>
            <a:grpSpLocks/>
          </p:cNvGrpSpPr>
          <p:nvPr/>
        </p:nvGrpSpPr>
        <p:grpSpPr bwMode="auto">
          <a:xfrm>
            <a:off x="768350" y="631825"/>
            <a:ext cx="1277938" cy="858838"/>
            <a:chOff x="4830" y="1752"/>
            <a:chExt cx="667" cy="477"/>
          </a:xfrm>
        </p:grpSpPr>
        <p:grpSp>
          <p:nvGrpSpPr>
            <p:cNvPr id="1025031" name="Group 8"/>
            <p:cNvGrpSpPr>
              <a:grpSpLocks/>
            </p:cNvGrpSpPr>
            <p:nvPr/>
          </p:nvGrpSpPr>
          <p:grpSpPr bwMode="auto">
            <a:xfrm>
              <a:off x="4830" y="1752"/>
              <a:ext cx="667" cy="477"/>
              <a:chOff x="2949" y="196"/>
              <a:chExt cx="941" cy="598"/>
            </a:xfrm>
          </p:grpSpPr>
          <p:sp>
            <p:nvSpPr>
              <p:cNvPr id="1025032"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3"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4"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5"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6"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7"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8"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39"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40"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41"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42"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5043"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25044" name="Group 21"/>
          <p:cNvGrpSpPr>
            <a:grpSpLocks/>
          </p:cNvGrpSpPr>
          <p:nvPr/>
        </p:nvGrpSpPr>
        <p:grpSpPr bwMode="auto">
          <a:xfrm>
            <a:off x="8356600" y="631825"/>
            <a:ext cx="1277938" cy="858838"/>
            <a:chOff x="4830" y="1752"/>
            <a:chExt cx="667" cy="477"/>
          </a:xfrm>
        </p:grpSpPr>
        <p:grpSp>
          <p:nvGrpSpPr>
            <p:cNvPr id="1025045" name="Group 22"/>
            <p:cNvGrpSpPr>
              <a:grpSpLocks/>
            </p:cNvGrpSpPr>
            <p:nvPr/>
          </p:nvGrpSpPr>
          <p:grpSpPr bwMode="auto">
            <a:xfrm>
              <a:off x="4830" y="1752"/>
              <a:ext cx="667" cy="477"/>
              <a:chOff x="2949" y="196"/>
              <a:chExt cx="941" cy="598"/>
            </a:xfrm>
          </p:grpSpPr>
          <p:sp>
            <p:nvSpPr>
              <p:cNvPr id="1025046"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47"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48"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49"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0"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1"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2"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3"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54"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55"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56"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5057"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25058" name="Group 35"/>
          <p:cNvGrpSpPr>
            <a:grpSpLocks/>
          </p:cNvGrpSpPr>
          <p:nvPr/>
        </p:nvGrpSpPr>
        <p:grpSpPr bwMode="auto">
          <a:xfrm>
            <a:off x="4532313" y="631825"/>
            <a:ext cx="1276350" cy="858838"/>
            <a:chOff x="4830" y="1752"/>
            <a:chExt cx="667" cy="477"/>
          </a:xfrm>
        </p:grpSpPr>
        <p:grpSp>
          <p:nvGrpSpPr>
            <p:cNvPr id="1025059" name="Group 36"/>
            <p:cNvGrpSpPr>
              <a:grpSpLocks/>
            </p:cNvGrpSpPr>
            <p:nvPr/>
          </p:nvGrpSpPr>
          <p:grpSpPr bwMode="auto">
            <a:xfrm>
              <a:off x="4830" y="1752"/>
              <a:ext cx="667" cy="477"/>
              <a:chOff x="2949" y="196"/>
              <a:chExt cx="941" cy="598"/>
            </a:xfrm>
          </p:grpSpPr>
          <p:sp>
            <p:nvSpPr>
              <p:cNvPr id="1025060"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1"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2"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3"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4"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5"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6"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7"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68"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69"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5070"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5071"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sp>
        <p:nvSpPr>
          <p:cNvPr id="1025072" name="Text Box 49"/>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25073" name="Group 50"/>
          <p:cNvGrpSpPr>
            <a:grpSpLocks/>
          </p:cNvGrpSpPr>
          <p:nvPr/>
        </p:nvGrpSpPr>
        <p:grpSpPr bwMode="auto">
          <a:xfrm>
            <a:off x="2436813" y="498475"/>
            <a:ext cx="1593850" cy="312738"/>
            <a:chOff x="1491" y="212"/>
            <a:chExt cx="853" cy="240"/>
          </a:xfrm>
        </p:grpSpPr>
        <p:sp>
          <p:nvSpPr>
            <p:cNvPr id="1025074" name="AutoShape 51"/>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75" name="Rectangle 5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5076" name="Text Box 53"/>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25077" name="Group 54"/>
          <p:cNvGrpSpPr>
            <a:grpSpLocks/>
          </p:cNvGrpSpPr>
          <p:nvPr/>
        </p:nvGrpSpPr>
        <p:grpSpPr bwMode="auto">
          <a:xfrm flipH="1">
            <a:off x="6045200" y="520700"/>
            <a:ext cx="1593850" cy="312738"/>
            <a:chOff x="1491" y="212"/>
            <a:chExt cx="853" cy="240"/>
          </a:xfrm>
        </p:grpSpPr>
        <p:sp>
          <p:nvSpPr>
            <p:cNvPr id="1025078" name="AutoShape 55"/>
            <p:cNvSpPr>
              <a:spLocks noChangeArrowheads="1"/>
            </p:cNvSpPr>
            <p:nvPr/>
          </p:nvSpPr>
          <p:spPr bwMode="auto">
            <a:xfrm>
              <a:off x="2089" y="271"/>
              <a:ext cx="255" cy="122"/>
            </a:xfrm>
            <a:prstGeom prst="rightArrow">
              <a:avLst>
                <a:gd name="adj1" fmla="val 50000"/>
                <a:gd name="adj2" fmla="val 52244"/>
              </a:avLst>
            </a:prstGeom>
            <a:solidFill>
              <a:srgbClr val="FFFF99"/>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5079" name="Rectangle 56"/>
            <p:cNvSpPr>
              <a:spLocks noChangeArrowheads="1"/>
            </p:cNvSpPr>
            <p:nvPr/>
          </p:nvSpPr>
          <p:spPr bwMode="auto">
            <a:xfrm>
              <a:off x="1491" y="212"/>
              <a:ext cx="632" cy="240"/>
            </a:xfrm>
            <a:prstGeom prst="rect">
              <a:avLst/>
            </a:prstGeom>
            <a:solidFill>
              <a:srgbClr val="FFFF99"/>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5080" name="Text Box 57"/>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sp>
        <p:nvSpPr>
          <p:cNvPr id="574522" name="Text Box 58"/>
          <p:cNvSpPr txBox="1">
            <a:spLocks noChangeArrowheads="1"/>
          </p:cNvSpPr>
          <p:nvPr/>
        </p:nvSpPr>
        <p:spPr bwMode="auto">
          <a:xfrm>
            <a:off x="1057275" y="3028950"/>
            <a:ext cx="6772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说：“我到网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的距离是 </a:t>
            </a:r>
            <a:r>
              <a:rPr lang="en-US" altLang="zh-CN" sz="2400" b="1">
                <a:solidFill>
                  <a:srgbClr val="0000CC"/>
                </a:solidFill>
                <a:ea typeface="黑体" panose="02010609060101010101" pitchFamily="49" charset="-122"/>
              </a:rPr>
              <a:t>1</a:t>
            </a:r>
            <a:r>
              <a:rPr lang="zh-CN" altLang="en-US" sz="2400" b="1">
                <a:solidFill>
                  <a:srgbClr val="0000CC"/>
                </a:solidFill>
                <a:ea typeface="黑体" panose="02010609060101010101" pitchFamily="49" charset="-122"/>
              </a:rPr>
              <a:t>，是直接交付。”</a:t>
            </a:r>
          </a:p>
        </p:txBody>
      </p:sp>
      <p:sp>
        <p:nvSpPr>
          <p:cNvPr id="574523" name="AutoShape 59"/>
          <p:cNvSpPr>
            <a:spLocks noChangeArrowheads="1"/>
          </p:cNvSpPr>
          <p:nvPr/>
        </p:nvSpPr>
        <p:spPr bwMode="auto">
          <a:xfrm>
            <a:off x="266700" y="1700213"/>
            <a:ext cx="3576638" cy="504825"/>
          </a:xfrm>
          <a:prstGeom prst="wedgeRoundRectCallout">
            <a:avLst>
              <a:gd name="adj1" fmla="val 16199"/>
              <a:gd name="adj2" fmla="val -235005"/>
              <a:gd name="adj3" fmla="val 16667"/>
            </a:avLst>
          </a:prstGeom>
          <a:solidFill>
            <a:srgbClr val="FFFF99"/>
          </a:solidFill>
          <a:ln w="9525">
            <a:solidFill>
              <a:schemeClr val="tx1"/>
            </a:solidFill>
            <a:miter lim="800000"/>
            <a:headEnd/>
            <a:tailEnd/>
          </a:ln>
        </p:spPr>
        <p:txBody>
          <a:bodyPr/>
          <a:lstStyle/>
          <a:p>
            <a:pPr algn="ctr" eaLnBrk="0" hangingPunct="0"/>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表示“从本路由器到网</a:t>
            </a:r>
            <a:r>
              <a:rPr lang="zh-CN" altLang="en-US" sz="1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574524" name="AutoShape 60"/>
          <p:cNvSpPr>
            <a:spLocks noChangeArrowheads="1"/>
          </p:cNvSpPr>
          <p:nvPr/>
        </p:nvSpPr>
        <p:spPr bwMode="auto">
          <a:xfrm>
            <a:off x="4070350" y="2373313"/>
            <a:ext cx="3106738" cy="504825"/>
          </a:xfrm>
          <a:prstGeom prst="wedgeRoundRectCallout">
            <a:avLst>
              <a:gd name="adj1" fmla="val -85060"/>
              <a:gd name="adj2" fmla="val -368463"/>
              <a:gd name="adj3" fmla="val 16667"/>
            </a:avLst>
          </a:prstGeom>
          <a:solidFill>
            <a:srgbClr val="FFFF99"/>
          </a:solidFill>
          <a:ln w="9525">
            <a:solidFill>
              <a:schemeClr val="tx1"/>
            </a:solidFill>
            <a:miter lim="800000"/>
            <a:headEnd/>
            <a:tailEnd/>
          </a:ln>
        </p:spPr>
        <p:txBody>
          <a:bodyPr/>
          <a:lstStyle/>
          <a:p>
            <a:pPr algn="ctr" eaLnBrk="0" hangingPunct="0"/>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表示“距离是</a:t>
            </a:r>
            <a:r>
              <a:rPr lang="zh-CN" altLang="en-US" sz="1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574525" name="AutoShape 61"/>
          <p:cNvSpPr>
            <a:spLocks noChangeArrowheads="1"/>
          </p:cNvSpPr>
          <p:nvPr/>
        </p:nvSpPr>
        <p:spPr bwMode="auto">
          <a:xfrm>
            <a:off x="5622925" y="1671638"/>
            <a:ext cx="2930525" cy="461962"/>
          </a:xfrm>
          <a:prstGeom prst="wedgeRoundRectCallout">
            <a:avLst>
              <a:gd name="adj1" fmla="val -129949"/>
              <a:gd name="adj2" fmla="val -268426"/>
              <a:gd name="adj3" fmla="val 16667"/>
            </a:avLst>
          </a:prstGeom>
          <a:solidFill>
            <a:srgbClr val="FFFF99"/>
          </a:solidFill>
          <a:ln w="9525">
            <a:solidFill>
              <a:schemeClr val="tx1"/>
            </a:solidFill>
            <a:miter lim="800000"/>
            <a:headEnd/>
            <a:tailEnd/>
          </a:ln>
        </p:spPr>
        <p:txBody>
          <a:bodyPr/>
          <a:lstStyle/>
          <a:p>
            <a:pPr algn="ctr" eaLnBrk="0" hangingPunct="0"/>
            <a:r>
              <a:rPr lang="en-US" altLang="zh-CN"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sym typeface="Symbol" panose="05050102010706020507" pitchFamily="18" charset="2"/>
              </a:rPr>
              <a:t></a:t>
            </a:r>
            <a:r>
              <a:rPr lang="en-US" altLang="zh-CN" sz="2000" b="1">
                <a:solidFill>
                  <a:srgbClr val="0000CC"/>
                </a:solidFill>
                <a:ea typeface="黑体" panose="02010609060101010101" pitchFamily="49" charset="-122"/>
              </a:rPr>
              <a:t>”</a:t>
            </a:r>
            <a:r>
              <a:rPr lang="zh-CN" altLang="en-US" sz="2000" b="1">
                <a:solidFill>
                  <a:srgbClr val="0000CC"/>
                </a:solidFill>
                <a:ea typeface="黑体" panose="02010609060101010101" pitchFamily="49" charset="-122"/>
              </a:rPr>
              <a:t>表示“直接交付”</a:t>
            </a:r>
          </a:p>
        </p:txBody>
      </p:sp>
      <p:sp>
        <p:nvSpPr>
          <p:cNvPr id="102508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9F8F830-138C-4610-85C9-C3392F519F33}" type="slidenum">
              <a:rPr lang="zh-CN" altLang="en-US" smtClean="0"/>
              <a:pPr/>
              <a:t>27</a:t>
            </a:fld>
            <a:endParaRPr lang="en-US" altLang="zh-CN" smtClean="0"/>
          </a:p>
        </p:txBody>
      </p:sp>
      <p:sp>
        <p:nvSpPr>
          <p:cNvPr id="102508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745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45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452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4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522" grpId="0"/>
      <p:bldP spid="574523" grpId="0" animBg="1"/>
      <p:bldP spid="574524" grpId="0" animBg="1"/>
      <p:bldP spid="5745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3" name="Line 2"/>
          <p:cNvSpPr>
            <a:spLocks noChangeShapeType="1"/>
          </p:cNvSpPr>
          <p:nvPr/>
        </p:nvSpPr>
        <p:spPr bwMode="auto">
          <a:xfrm>
            <a:off x="1785938" y="1063625"/>
            <a:ext cx="701040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27074"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075" name="Text Box 4"/>
          <p:cNvSpPr txBox="1">
            <a:spLocks noChangeArrowheads="1"/>
          </p:cNvSpPr>
          <p:nvPr/>
        </p:nvSpPr>
        <p:spPr bwMode="auto">
          <a:xfrm>
            <a:off x="710565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27076"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27077"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078" name="Group 7"/>
          <p:cNvGrpSpPr>
            <a:grpSpLocks/>
          </p:cNvGrpSpPr>
          <p:nvPr/>
        </p:nvGrpSpPr>
        <p:grpSpPr bwMode="auto">
          <a:xfrm>
            <a:off x="768350" y="631825"/>
            <a:ext cx="1277938" cy="858838"/>
            <a:chOff x="4830" y="1752"/>
            <a:chExt cx="667" cy="477"/>
          </a:xfrm>
        </p:grpSpPr>
        <p:grpSp>
          <p:nvGrpSpPr>
            <p:cNvPr id="1027079" name="Group 8"/>
            <p:cNvGrpSpPr>
              <a:grpSpLocks/>
            </p:cNvGrpSpPr>
            <p:nvPr/>
          </p:nvGrpSpPr>
          <p:grpSpPr bwMode="auto">
            <a:xfrm>
              <a:off x="4830" y="1752"/>
              <a:ext cx="667" cy="477"/>
              <a:chOff x="2949" y="196"/>
              <a:chExt cx="941" cy="598"/>
            </a:xfrm>
          </p:grpSpPr>
          <p:sp>
            <p:nvSpPr>
              <p:cNvPr id="1027080"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1"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2"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3"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4"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5"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6"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7"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88"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089"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090"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7091"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27092" name="Group 21"/>
          <p:cNvGrpSpPr>
            <a:grpSpLocks/>
          </p:cNvGrpSpPr>
          <p:nvPr/>
        </p:nvGrpSpPr>
        <p:grpSpPr bwMode="auto">
          <a:xfrm>
            <a:off x="8356600" y="631825"/>
            <a:ext cx="1277938" cy="858838"/>
            <a:chOff x="4830" y="1752"/>
            <a:chExt cx="667" cy="477"/>
          </a:xfrm>
        </p:grpSpPr>
        <p:grpSp>
          <p:nvGrpSpPr>
            <p:cNvPr id="1027093" name="Group 22"/>
            <p:cNvGrpSpPr>
              <a:grpSpLocks/>
            </p:cNvGrpSpPr>
            <p:nvPr/>
          </p:nvGrpSpPr>
          <p:grpSpPr bwMode="auto">
            <a:xfrm>
              <a:off x="4830" y="1752"/>
              <a:ext cx="667" cy="477"/>
              <a:chOff x="2949" y="196"/>
              <a:chExt cx="941" cy="598"/>
            </a:xfrm>
          </p:grpSpPr>
          <p:sp>
            <p:nvSpPr>
              <p:cNvPr id="1027094"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5"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6"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7"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8"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099"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00"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01"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02"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103"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104"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7105"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27106" name="Group 35"/>
          <p:cNvGrpSpPr>
            <a:grpSpLocks/>
          </p:cNvGrpSpPr>
          <p:nvPr/>
        </p:nvGrpSpPr>
        <p:grpSpPr bwMode="auto">
          <a:xfrm>
            <a:off x="4532313" y="631825"/>
            <a:ext cx="1276350" cy="858838"/>
            <a:chOff x="4830" y="1752"/>
            <a:chExt cx="667" cy="477"/>
          </a:xfrm>
        </p:grpSpPr>
        <p:grpSp>
          <p:nvGrpSpPr>
            <p:cNvPr id="1027107" name="Group 36"/>
            <p:cNvGrpSpPr>
              <a:grpSpLocks/>
            </p:cNvGrpSpPr>
            <p:nvPr/>
          </p:nvGrpSpPr>
          <p:grpSpPr bwMode="auto">
            <a:xfrm>
              <a:off x="4830" y="1752"/>
              <a:ext cx="667" cy="477"/>
              <a:chOff x="2949" y="196"/>
              <a:chExt cx="941" cy="598"/>
            </a:xfrm>
          </p:grpSpPr>
          <p:sp>
            <p:nvSpPr>
              <p:cNvPr id="1027108"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09"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0"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1"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2"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3"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4"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5"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16"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117"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7118"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7119"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sp>
        <p:nvSpPr>
          <p:cNvPr id="1027120" name="Text Box 49"/>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27121" name="Group 50"/>
          <p:cNvGrpSpPr>
            <a:grpSpLocks/>
          </p:cNvGrpSpPr>
          <p:nvPr/>
        </p:nvGrpSpPr>
        <p:grpSpPr bwMode="auto">
          <a:xfrm>
            <a:off x="2436813" y="498475"/>
            <a:ext cx="1593850" cy="312738"/>
            <a:chOff x="1491" y="212"/>
            <a:chExt cx="853" cy="240"/>
          </a:xfrm>
        </p:grpSpPr>
        <p:sp>
          <p:nvSpPr>
            <p:cNvPr id="1027122" name="AutoShape 51"/>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23" name="Rectangle 5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7124" name="Text Box 53"/>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27125" name="Group 54"/>
          <p:cNvGrpSpPr>
            <a:grpSpLocks/>
          </p:cNvGrpSpPr>
          <p:nvPr/>
        </p:nvGrpSpPr>
        <p:grpSpPr bwMode="auto">
          <a:xfrm flipH="1">
            <a:off x="6045200" y="520700"/>
            <a:ext cx="1593850" cy="312738"/>
            <a:chOff x="1491" y="212"/>
            <a:chExt cx="853" cy="240"/>
          </a:xfrm>
        </p:grpSpPr>
        <p:sp>
          <p:nvSpPr>
            <p:cNvPr id="1027126" name="AutoShape 55"/>
            <p:cNvSpPr>
              <a:spLocks noChangeArrowheads="1"/>
            </p:cNvSpPr>
            <p:nvPr/>
          </p:nvSpPr>
          <p:spPr bwMode="auto">
            <a:xfrm>
              <a:off x="2089" y="271"/>
              <a:ext cx="255" cy="122"/>
            </a:xfrm>
            <a:prstGeom prst="rightArrow">
              <a:avLst>
                <a:gd name="adj1" fmla="val 50000"/>
                <a:gd name="adj2" fmla="val 52244"/>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7127" name="Rectangle 56"/>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7128" name="Text Box 57"/>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sp>
        <p:nvSpPr>
          <p:cNvPr id="575546" name="Text Box 58"/>
          <p:cNvSpPr txBox="1">
            <a:spLocks noChangeArrowheads="1"/>
          </p:cNvSpPr>
          <p:nvPr/>
        </p:nvSpPr>
        <p:spPr bwMode="auto">
          <a:xfrm>
            <a:off x="1304925" y="3460750"/>
            <a:ext cx="6691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R2 </a:t>
            </a:r>
            <a:r>
              <a:rPr lang="zh-CN" altLang="en-US" sz="2400" b="1">
                <a:solidFill>
                  <a:srgbClr val="0000CC"/>
                </a:solidFill>
                <a:ea typeface="黑体" panose="02010609060101010101" pitchFamily="49" charset="-122"/>
              </a:rPr>
              <a:t>说：“我到网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的距离是 </a:t>
            </a:r>
            <a:r>
              <a:rPr lang="en-US" altLang="zh-CN" sz="2400" b="1">
                <a:solidFill>
                  <a:srgbClr val="0000CC"/>
                </a:solidFill>
                <a:ea typeface="黑体" panose="02010609060101010101" pitchFamily="49" charset="-122"/>
              </a:rPr>
              <a:t>2</a:t>
            </a:r>
            <a:r>
              <a:rPr lang="zh-CN" altLang="en-US" sz="2400" b="1">
                <a:solidFill>
                  <a:srgbClr val="0000CC"/>
                </a:solidFill>
                <a:ea typeface="黑体" panose="02010609060101010101" pitchFamily="49" charset="-122"/>
              </a:rPr>
              <a:t>，是经过 </a:t>
            </a:r>
            <a:r>
              <a:rPr lang="en-US" altLang="zh-CN" sz="2400" b="1">
                <a:solidFill>
                  <a:srgbClr val="0000CC"/>
                </a:solidFill>
                <a:ea typeface="黑体" panose="02010609060101010101" pitchFamily="49" charset="-122"/>
              </a:rPr>
              <a:t>R1</a:t>
            </a:r>
            <a:r>
              <a:rPr lang="zh-CN" altLang="en-US" sz="2400" b="1">
                <a:solidFill>
                  <a:srgbClr val="0000CC"/>
                </a:solidFill>
                <a:ea typeface="黑体" panose="02010609060101010101" pitchFamily="49" charset="-122"/>
              </a:rPr>
              <a:t>。”</a:t>
            </a:r>
          </a:p>
        </p:txBody>
      </p:sp>
      <p:sp>
        <p:nvSpPr>
          <p:cNvPr id="575547" name="AutoShape 59"/>
          <p:cNvSpPr>
            <a:spLocks noChangeArrowheads="1"/>
          </p:cNvSpPr>
          <p:nvPr/>
        </p:nvSpPr>
        <p:spPr bwMode="auto">
          <a:xfrm>
            <a:off x="2144713" y="1557338"/>
            <a:ext cx="3805237" cy="503237"/>
          </a:xfrm>
          <a:prstGeom prst="wedgeRoundRectCallout">
            <a:avLst>
              <a:gd name="adj1" fmla="val 66495"/>
              <a:gd name="adj2" fmla="val -218426"/>
              <a:gd name="adj3" fmla="val 16667"/>
            </a:avLst>
          </a:prstGeom>
          <a:solidFill>
            <a:srgbClr val="FFFF99"/>
          </a:solidFill>
          <a:ln w="9525">
            <a:solidFill>
              <a:schemeClr val="tx1"/>
            </a:solidFill>
            <a:miter lim="800000"/>
            <a:headEnd/>
            <a:tailEnd/>
          </a:ln>
        </p:spPr>
        <p:txBody>
          <a:bodyPr anchor="ctr"/>
          <a:lstStyle/>
          <a:p>
            <a:pPr algn="ctr" eaLnBrk="0" hangingPunct="0"/>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表示“从本路由器到网</a:t>
            </a:r>
            <a:r>
              <a:rPr lang="zh-CN" altLang="en-US" sz="1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575548" name="AutoShape 60"/>
          <p:cNvSpPr>
            <a:spLocks noChangeArrowheads="1"/>
          </p:cNvSpPr>
          <p:nvPr/>
        </p:nvSpPr>
        <p:spPr bwMode="auto">
          <a:xfrm>
            <a:off x="4251325" y="2708275"/>
            <a:ext cx="3663950" cy="576263"/>
          </a:xfrm>
          <a:prstGeom prst="wedgeRoundRectCallout">
            <a:avLst>
              <a:gd name="adj1" fmla="val 22347"/>
              <a:gd name="adj2" fmla="val -405370"/>
              <a:gd name="adj3" fmla="val 16667"/>
            </a:avLst>
          </a:prstGeom>
          <a:solidFill>
            <a:srgbClr val="FFFF99"/>
          </a:solidFill>
          <a:ln w="9525">
            <a:solidFill>
              <a:schemeClr val="tx1"/>
            </a:solidFill>
            <a:miter lim="800000"/>
            <a:headEnd/>
            <a:tailEnd/>
          </a:ln>
        </p:spPr>
        <p:txBody>
          <a:bodyPr anchor="ctr"/>
          <a:lstStyle/>
          <a:p>
            <a:pPr algn="ctr" eaLnBrk="0" hangingPunct="0"/>
            <a:r>
              <a:rPr lang="en-US" altLang="zh-CN" sz="2000" b="1">
                <a:solidFill>
                  <a:srgbClr val="0000CC"/>
                </a:solidFill>
                <a:ea typeface="黑体" panose="02010609060101010101" pitchFamily="49" charset="-122"/>
              </a:rPr>
              <a:t>“2”</a:t>
            </a:r>
            <a:r>
              <a:rPr lang="zh-CN" altLang="en-US" sz="2000" b="1">
                <a:solidFill>
                  <a:srgbClr val="0000CC"/>
                </a:solidFill>
                <a:ea typeface="黑体" panose="02010609060101010101" pitchFamily="49" charset="-122"/>
              </a:rPr>
              <a:t>表示“距离是</a:t>
            </a:r>
            <a:r>
              <a:rPr lang="zh-CN" altLang="en-US" sz="1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2”</a:t>
            </a:r>
          </a:p>
        </p:txBody>
      </p:sp>
      <p:sp>
        <p:nvSpPr>
          <p:cNvPr id="575549" name="AutoShape 61"/>
          <p:cNvSpPr>
            <a:spLocks noChangeArrowheads="1"/>
          </p:cNvSpPr>
          <p:nvPr/>
        </p:nvSpPr>
        <p:spPr bwMode="auto">
          <a:xfrm>
            <a:off x="7443788" y="1546225"/>
            <a:ext cx="2405062" cy="514350"/>
          </a:xfrm>
          <a:prstGeom prst="wedgeRoundRectCallout">
            <a:avLst>
              <a:gd name="adj1" fmla="val -52259"/>
              <a:gd name="adj2" fmla="val -199282"/>
              <a:gd name="adj3" fmla="val 16667"/>
            </a:avLst>
          </a:prstGeom>
          <a:solidFill>
            <a:srgbClr val="FFFF99"/>
          </a:solidFill>
          <a:ln w="9525">
            <a:solidFill>
              <a:schemeClr val="tx1"/>
            </a:solidFill>
            <a:miter lim="800000"/>
            <a:headEnd/>
            <a:tailEnd/>
          </a:ln>
        </p:spPr>
        <p:txBody>
          <a:bodyPr anchor="ctr"/>
          <a:lstStyle/>
          <a:p>
            <a:pPr algn="ctr" eaLnBrk="0" hangingPunct="0"/>
            <a:r>
              <a:rPr lang="en-US" altLang="zh-CN"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r>
              <a:rPr lang="en-US" altLang="zh-CN" sz="2000" b="1">
                <a:solidFill>
                  <a:srgbClr val="0000CC"/>
                </a:solidFill>
                <a:ea typeface="黑体" panose="02010609060101010101" pitchFamily="49" charset="-122"/>
              </a:rPr>
              <a:t>”</a:t>
            </a:r>
            <a:r>
              <a:rPr lang="zh-CN" altLang="en-US" sz="2000" b="1">
                <a:solidFill>
                  <a:srgbClr val="0000CC"/>
                </a:solidFill>
                <a:ea typeface="黑体" panose="02010609060101010101" pitchFamily="49" charset="-122"/>
              </a:rPr>
              <a:t>表示经过 </a:t>
            </a:r>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102713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DD7FCBA-B31F-4428-969A-2473B2D6BD53}" type="slidenum">
              <a:rPr lang="zh-CN" altLang="en-US" smtClean="0"/>
              <a:pPr/>
              <a:t>28</a:t>
            </a:fld>
            <a:endParaRPr lang="en-US" altLang="zh-CN" smtClean="0"/>
          </a:p>
        </p:txBody>
      </p:sp>
      <p:sp>
        <p:nvSpPr>
          <p:cNvPr id="102713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755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55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55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55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546" grpId="0"/>
      <p:bldP spid="575547" grpId="0" animBg="1"/>
      <p:bldP spid="575548" grpId="0" animBg="1"/>
      <p:bldP spid="57554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1" name="Line 2"/>
          <p:cNvSpPr>
            <a:spLocks noChangeShapeType="1"/>
          </p:cNvSpPr>
          <p:nvPr/>
        </p:nvSpPr>
        <p:spPr bwMode="auto">
          <a:xfrm>
            <a:off x="1785938" y="1063625"/>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29122"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123"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29124"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29125"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9126" name="Group 7"/>
          <p:cNvGrpSpPr>
            <a:grpSpLocks/>
          </p:cNvGrpSpPr>
          <p:nvPr/>
        </p:nvGrpSpPr>
        <p:grpSpPr bwMode="auto">
          <a:xfrm>
            <a:off x="768350" y="631825"/>
            <a:ext cx="1277938" cy="858838"/>
            <a:chOff x="4830" y="1752"/>
            <a:chExt cx="667" cy="477"/>
          </a:xfrm>
        </p:grpSpPr>
        <p:grpSp>
          <p:nvGrpSpPr>
            <p:cNvPr id="1029127" name="Group 8"/>
            <p:cNvGrpSpPr>
              <a:grpSpLocks/>
            </p:cNvGrpSpPr>
            <p:nvPr/>
          </p:nvGrpSpPr>
          <p:grpSpPr bwMode="auto">
            <a:xfrm>
              <a:off x="4830" y="1752"/>
              <a:ext cx="667" cy="477"/>
              <a:chOff x="2949" y="196"/>
              <a:chExt cx="941" cy="598"/>
            </a:xfrm>
          </p:grpSpPr>
          <p:sp>
            <p:nvSpPr>
              <p:cNvPr id="1029128"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29"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0"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1"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2"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3"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4"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5"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36"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37"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38"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139"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29140" name="Group 21"/>
          <p:cNvGrpSpPr>
            <a:grpSpLocks/>
          </p:cNvGrpSpPr>
          <p:nvPr/>
        </p:nvGrpSpPr>
        <p:grpSpPr bwMode="auto">
          <a:xfrm>
            <a:off x="8356600" y="631825"/>
            <a:ext cx="1277938" cy="858838"/>
            <a:chOff x="4830" y="1752"/>
            <a:chExt cx="667" cy="477"/>
          </a:xfrm>
        </p:grpSpPr>
        <p:grpSp>
          <p:nvGrpSpPr>
            <p:cNvPr id="1029141" name="Group 22"/>
            <p:cNvGrpSpPr>
              <a:grpSpLocks/>
            </p:cNvGrpSpPr>
            <p:nvPr/>
          </p:nvGrpSpPr>
          <p:grpSpPr bwMode="auto">
            <a:xfrm>
              <a:off x="4830" y="1752"/>
              <a:ext cx="667" cy="477"/>
              <a:chOff x="2949" y="196"/>
              <a:chExt cx="941" cy="598"/>
            </a:xfrm>
          </p:grpSpPr>
          <p:sp>
            <p:nvSpPr>
              <p:cNvPr id="1029142"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3"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4"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5"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6"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7"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8"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49"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50"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51"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52"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153"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29154" name="Group 35"/>
          <p:cNvGrpSpPr>
            <a:grpSpLocks/>
          </p:cNvGrpSpPr>
          <p:nvPr/>
        </p:nvGrpSpPr>
        <p:grpSpPr bwMode="auto">
          <a:xfrm>
            <a:off x="4532313" y="631825"/>
            <a:ext cx="1276350" cy="858838"/>
            <a:chOff x="4830" y="1752"/>
            <a:chExt cx="667" cy="477"/>
          </a:xfrm>
        </p:grpSpPr>
        <p:grpSp>
          <p:nvGrpSpPr>
            <p:cNvPr id="1029155" name="Group 36"/>
            <p:cNvGrpSpPr>
              <a:grpSpLocks/>
            </p:cNvGrpSpPr>
            <p:nvPr/>
          </p:nvGrpSpPr>
          <p:grpSpPr bwMode="auto">
            <a:xfrm>
              <a:off x="4830" y="1752"/>
              <a:ext cx="667" cy="477"/>
              <a:chOff x="2949" y="196"/>
              <a:chExt cx="941" cy="598"/>
            </a:xfrm>
          </p:grpSpPr>
          <p:sp>
            <p:nvSpPr>
              <p:cNvPr id="1029156"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57"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58"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59"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0"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1"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2"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3"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64"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65"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66"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167"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576561" name="Group 49"/>
          <p:cNvGrpSpPr>
            <a:grpSpLocks/>
          </p:cNvGrpSpPr>
          <p:nvPr/>
        </p:nvGrpSpPr>
        <p:grpSpPr bwMode="auto">
          <a:xfrm>
            <a:off x="612775" y="1928813"/>
            <a:ext cx="9021763" cy="1522412"/>
            <a:chOff x="356" y="1253"/>
            <a:chExt cx="5246" cy="959"/>
          </a:xfrm>
        </p:grpSpPr>
        <p:sp>
          <p:nvSpPr>
            <p:cNvPr id="1029169" name="Line 50"/>
            <p:cNvSpPr>
              <a:spLocks noChangeShapeType="1"/>
            </p:cNvSpPr>
            <p:nvPr/>
          </p:nvSpPr>
          <p:spPr bwMode="auto">
            <a:xfrm>
              <a:off x="1038" y="1581"/>
              <a:ext cx="40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29170"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171" name="Text Box 52"/>
            <p:cNvSpPr txBox="1">
              <a:spLocks noChangeArrowheads="1"/>
            </p:cNvSpPr>
            <p:nvPr/>
          </p:nvSpPr>
          <p:spPr bwMode="auto">
            <a:xfrm>
              <a:off x="4038"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29172" name="Text Box 53"/>
            <p:cNvSpPr txBox="1">
              <a:spLocks noChangeArrowheads="1"/>
            </p:cNvSpPr>
            <p:nvPr/>
          </p:nvSpPr>
          <p:spPr bwMode="auto">
            <a:xfrm>
              <a:off x="1772"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29173"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9174" name="Group 55"/>
            <p:cNvGrpSpPr>
              <a:grpSpLocks/>
            </p:cNvGrpSpPr>
            <p:nvPr/>
          </p:nvGrpSpPr>
          <p:grpSpPr bwMode="auto">
            <a:xfrm>
              <a:off x="447" y="1309"/>
              <a:ext cx="743" cy="541"/>
              <a:chOff x="4830" y="1752"/>
              <a:chExt cx="667" cy="477"/>
            </a:xfrm>
          </p:grpSpPr>
          <p:grpSp>
            <p:nvGrpSpPr>
              <p:cNvPr id="1029175" name="Group 56"/>
              <p:cNvGrpSpPr>
                <a:grpSpLocks/>
              </p:cNvGrpSpPr>
              <p:nvPr/>
            </p:nvGrpSpPr>
            <p:grpSpPr bwMode="auto">
              <a:xfrm>
                <a:off x="4830" y="1752"/>
                <a:ext cx="667" cy="477"/>
                <a:chOff x="2949" y="196"/>
                <a:chExt cx="941" cy="598"/>
              </a:xfrm>
            </p:grpSpPr>
            <p:sp>
              <p:nvSpPr>
                <p:cNvPr id="1029176"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77"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78"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79" name="Oval 6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0"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1"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2"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3" name="Oval 6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84" name="Freeform 6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85" name="Freeform 6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86" name="Freeform 6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187" name="Text Box 6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29188" name="Group 69"/>
            <p:cNvGrpSpPr>
              <a:grpSpLocks/>
            </p:cNvGrpSpPr>
            <p:nvPr/>
          </p:nvGrpSpPr>
          <p:grpSpPr bwMode="auto">
            <a:xfrm>
              <a:off x="4859" y="1309"/>
              <a:ext cx="743" cy="541"/>
              <a:chOff x="4830" y="1752"/>
              <a:chExt cx="667" cy="477"/>
            </a:xfrm>
          </p:grpSpPr>
          <p:grpSp>
            <p:nvGrpSpPr>
              <p:cNvPr id="1029189" name="Group 70"/>
              <p:cNvGrpSpPr>
                <a:grpSpLocks/>
              </p:cNvGrpSpPr>
              <p:nvPr/>
            </p:nvGrpSpPr>
            <p:grpSpPr bwMode="auto">
              <a:xfrm>
                <a:off x="4830" y="1752"/>
                <a:ext cx="667" cy="477"/>
                <a:chOff x="2949" y="196"/>
                <a:chExt cx="941" cy="598"/>
              </a:xfrm>
            </p:grpSpPr>
            <p:sp>
              <p:nvSpPr>
                <p:cNvPr id="1029190"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1"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2"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3" name="Oval 74"/>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4"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5"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6"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7" name="Oval 78"/>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198" name="Freeform 7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199" name="Freeform 8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200" name="Freeform 8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201" name="Text Box 82"/>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29202" name="Group 83"/>
            <p:cNvGrpSpPr>
              <a:grpSpLocks/>
            </p:cNvGrpSpPr>
            <p:nvPr/>
          </p:nvGrpSpPr>
          <p:grpSpPr bwMode="auto">
            <a:xfrm>
              <a:off x="2635" y="1309"/>
              <a:ext cx="743" cy="541"/>
              <a:chOff x="4830" y="1752"/>
              <a:chExt cx="667" cy="477"/>
            </a:xfrm>
          </p:grpSpPr>
          <p:grpSp>
            <p:nvGrpSpPr>
              <p:cNvPr id="1029203" name="Group 84"/>
              <p:cNvGrpSpPr>
                <a:grpSpLocks/>
              </p:cNvGrpSpPr>
              <p:nvPr/>
            </p:nvGrpSpPr>
            <p:grpSpPr bwMode="auto">
              <a:xfrm>
                <a:off x="4830" y="1752"/>
                <a:ext cx="667" cy="477"/>
                <a:chOff x="2949" y="196"/>
                <a:chExt cx="941" cy="598"/>
              </a:xfrm>
            </p:grpSpPr>
            <p:sp>
              <p:nvSpPr>
                <p:cNvPr id="1029204"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5"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6"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7" name="Oval 88"/>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8"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09"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10"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11" name="Oval 92"/>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12" name="Freeform 9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213" name="Freeform 9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29214" name="Freeform 9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215" name="Text Box 96"/>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29216" name="Group 97"/>
            <p:cNvGrpSpPr>
              <a:grpSpLocks/>
            </p:cNvGrpSpPr>
            <p:nvPr/>
          </p:nvGrpSpPr>
          <p:grpSpPr bwMode="auto">
            <a:xfrm>
              <a:off x="434" y="1253"/>
              <a:ext cx="755" cy="612"/>
              <a:chOff x="434" y="1298"/>
              <a:chExt cx="755" cy="612"/>
            </a:xfrm>
          </p:grpSpPr>
          <p:sp>
            <p:nvSpPr>
              <p:cNvPr id="1029217" name="Line 98"/>
              <p:cNvSpPr>
                <a:spLocks noChangeShapeType="1"/>
              </p:cNvSpPr>
              <p:nvPr/>
            </p:nvSpPr>
            <p:spPr bwMode="auto">
              <a:xfrm>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29218" name="Line 99"/>
              <p:cNvSpPr>
                <a:spLocks noChangeShapeType="1"/>
              </p:cNvSpPr>
              <p:nvPr/>
            </p:nvSpPr>
            <p:spPr bwMode="auto">
              <a:xfrm flipH="1">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29219" name="Text Box 100"/>
            <p:cNvSpPr txBox="1">
              <a:spLocks noChangeArrowheads="1"/>
            </p:cNvSpPr>
            <p:nvPr/>
          </p:nvSpPr>
          <p:spPr bwMode="auto">
            <a:xfrm>
              <a:off x="356" y="1979"/>
              <a:ext cx="9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网</a:t>
              </a:r>
              <a:r>
                <a:rPr lang="zh-CN" altLang="en-US" sz="1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出了故障</a:t>
              </a:r>
            </a:p>
          </p:txBody>
        </p:sp>
      </p:grpSp>
      <p:sp>
        <p:nvSpPr>
          <p:cNvPr id="1029220" name="Text Box 101"/>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29221" name="Group 102"/>
          <p:cNvGrpSpPr>
            <a:grpSpLocks/>
          </p:cNvGrpSpPr>
          <p:nvPr/>
        </p:nvGrpSpPr>
        <p:grpSpPr bwMode="auto">
          <a:xfrm>
            <a:off x="2436813" y="498475"/>
            <a:ext cx="1593850" cy="312738"/>
            <a:chOff x="1491" y="212"/>
            <a:chExt cx="853" cy="240"/>
          </a:xfrm>
        </p:grpSpPr>
        <p:sp>
          <p:nvSpPr>
            <p:cNvPr id="1029222" name="AutoShape 10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23"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9224" name="Text Box 105"/>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576618" name="Group 106"/>
          <p:cNvGrpSpPr>
            <a:grpSpLocks/>
          </p:cNvGrpSpPr>
          <p:nvPr/>
        </p:nvGrpSpPr>
        <p:grpSpPr bwMode="auto">
          <a:xfrm>
            <a:off x="2693988" y="3152775"/>
            <a:ext cx="1633537" cy="312738"/>
            <a:chOff x="1566" y="2024"/>
            <a:chExt cx="950" cy="197"/>
          </a:xfrm>
        </p:grpSpPr>
        <p:grpSp>
          <p:nvGrpSpPr>
            <p:cNvPr id="1029226" name="Group 107"/>
            <p:cNvGrpSpPr>
              <a:grpSpLocks/>
            </p:cNvGrpSpPr>
            <p:nvPr/>
          </p:nvGrpSpPr>
          <p:grpSpPr bwMode="auto">
            <a:xfrm>
              <a:off x="1589" y="2024"/>
              <a:ext cx="927" cy="197"/>
              <a:chOff x="1491" y="212"/>
              <a:chExt cx="853" cy="240"/>
            </a:xfrm>
          </p:grpSpPr>
          <p:sp>
            <p:nvSpPr>
              <p:cNvPr id="1029227" name="AutoShape 108"/>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28"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9229" name="Text Box 110"/>
            <p:cNvSpPr txBox="1">
              <a:spLocks noChangeArrowheads="1"/>
            </p:cNvSpPr>
            <p:nvPr/>
          </p:nvSpPr>
          <p:spPr bwMode="auto">
            <a:xfrm>
              <a:off x="1566" y="2066"/>
              <a:ext cx="60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grpSp>
        <p:nvGrpSpPr>
          <p:cNvPr id="1029230" name="Group 111"/>
          <p:cNvGrpSpPr>
            <a:grpSpLocks/>
          </p:cNvGrpSpPr>
          <p:nvPr/>
        </p:nvGrpSpPr>
        <p:grpSpPr bwMode="auto">
          <a:xfrm flipH="1">
            <a:off x="6045200" y="520700"/>
            <a:ext cx="1593850" cy="312738"/>
            <a:chOff x="1491" y="212"/>
            <a:chExt cx="853" cy="240"/>
          </a:xfrm>
        </p:grpSpPr>
        <p:sp>
          <p:nvSpPr>
            <p:cNvPr id="1029231" name="AutoShape 112"/>
            <p:cNvSpPr>
              <a:spLocks noChangeArrowheads="1"/>
            </p:cNvSpPr>
            <p:nvPr/>
          </p:nvSpPr>
          <p:spPr bwMode="auto">
            <a:xfrm>
              <a:off x="2089" y="271"/>
              <a:ext cx="255" cy="122"/>
            </a:xfrm>
            <a:prstGeom prst="rightArrow">
              <a:avLst>
                <a:gd name="adj1" fmla="val 50000"/>
                <a:gd name="adj2" fmla="val 52244"/>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32" name="Rectangle 113"/>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9233" name="Text Box 114"/>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6627" name="Group 115"/>
          <p:cNvGrpSpPr>
            <a:grpSpLocks/>
          </p:cNvGrpSpPr>
          <p:nvPr/>
        </p:nvGrpSpPr>
        <p:grpSpPr bwMode="auto">
          <a:xfrm>
            <a:off x="6045200" y="3100388"/>
            <a:ext cx="1593850" cy="341312"/>
            <a:chOff x="3515" y="1991"/>
            <a:chExt cx="927" cy="215"/>
          </a:xfrm>
        </p:grpSpPr>
        <p:grpSp>
          <p:nvGrpSpPr>
            <p:cNvPr id="1029235" name="Group 116"/>
            <p:cNvGrpSpPr>
              <a:grpSpLocks/>
            </p:cNvGrpSpPr>
            <p:nvPr/>
          </p:nvGrpSpPr>
          <p:grpSpPr bwMode="auto">
            <a:xfrm flipH="1">
              <a:off x="3515" y="1991"/>
              <a:ext cx="927" cy="197"/>
              <a:chOff x="1491" y="212"/>
              <a:chExt cx="853" cy="240"/>
            </a:xfrm>
          </p:grpSpPr>
          <p:sp>
            <p:nvSpPr>
              <p:cNvPr id="1029236" name="AutoShape 117"/>
              <p:cNvSpPr>
                <a:spLocks noChangeArrowheads="1"/>
              </p:cNvSpPr>
              <p:nvPr/>
            </p:nvSpPr>
            <p:spPr bwMode="auto">
              <a:xfrm>
                <a:off x="2089" y="271"/>
                <a:ext cx="255" cy="122"/>
              </a:xfrm>
              <a:prstGeom prst="rightArrow">
                <a:avLst>
                  <a:gd name="adj1" fmla="val 50000"/>
                  <a:gd name="adj2" fmla="val 52244"/>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29237" name="Rectangle 118"/>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29238" name="Text Box 119"/>
            <p:cNvSpPr txBox="1">
              <a:spLocks noChangeArrowheads="1"/>
            </p:cNvSpPr>
            <p:nvPr/>
          </p:nvSpPr>
          <p:spPr bwMode="auto">
            <a:xfrm>
              <a:off x="3761" y="2051"/>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sp>
        <p:nvSpPr>
          <p:cNvPr id="576632" name="Text Box 120"/>
          <p:cNvSpPr txBox="1">
            <a:spLocks noChangeArrowheads="1"/>
          </p:cNvSpPr>
          <p:nvPr/>
        </p:nvSpPr>
        <p:spPr bwMode="auto">
          <a:xfrm>
            <a:off x="711200" y="3786188"/>
            <a:ext cx="7339013" cy="830262"/>
          </a:xfrm>
          <a:prstGeom prst="rect">
            <a:avLst/>
          </a:prstGeom>
          <a:solidFill>
            <a:srgbClr val="FFFF99"/>
          </a:solidFill>
          <a:ln w="9525">
            <a:solidFill>
              <a:schemeClr val="tx2"/>
            </a:solidFill>
            <a:miter lim="800000"/>
            <a:headEnd/>
            <a:tailEnd/>
          </a:ln>
        </p:spPr>
        <p:txBody>
          <a:bodyPr wrap="none">
            <a:spAutoFit/>
          </a:bodyPr>
          <a:lstStyle/>
          <a:p>
            <a:pPr eaLnBrk="0" hangingPunct="0"/>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说：“我到网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的距离是 </a:t>
            </a:r>
            <a:r>
              <a:rPr lang="en-US" altLang="zh-CN" sz="2400" b="1">
                <a:solidFill>
                  <a:srgbClr val="0000CC"/>
                </a:solidFill>
                <a:ea typeface="黑体" panose="02010609060101010101" pitchFamily="49" charset="-122"/>
              </a:rPr>
              <a:t>16 </a:t>
            </a:r>
            <a:r>
              <a:rPr lang="zh-CN" altLang="en-US" sz="2400" b="1">
                <a:solidFill>
                  <a:srgbClr val="0000CC"/>
                </a:solidFill>
                <a:ea typeface="黑体" panose="02010609060101010101" pitchFamily="49" charset="-122"/>
              </a:rPr>
              <a:t>（表示无法到达），</a:t>
            </a:r>
          </a:p>
          <a:p>
            <a:pPr eaLnBrk="0" hangingPunct="0"/>
            <a:r>
              <a:rPr lang="zh-CN" altLang="en-US" sz="2400" b="1">
                <a:solidFill>
                  <a:srgbClr val="0000CC"/>
                </a:solidFill>
                <a:ea typeface="黑体" panose="02010609060101010101" pitchFamily="49" charset="-122"/>
              </a:rPr>
              <a:t>            是直接交付。”</a:t>
            </a:r>
          </a:p>
        </p:txBody>
      </p:sp>
      <p:sp>
        <p:nvSpPr>
          <p:cNvPr id="576633" name="Text Box 121"/>
          <p:cNvSpPr txBox="1">
            <a:spLocks noChangeArrowheads="1"/>
          </p:cNvSpPr>
          <p:nvPr/>
        </p:nvSpPr>
        <p:spPr bwMode="auto">
          <a:xfrm>
            <a:off x="704850" y="4724400"/>
            <a:ext cx="7694613" cy="831850"/>
          </a:xfrm>
          <a:prstGeom prst="rect">
            <a:avLst/>
          </a:prstGeom>
          <a:solidFill>
            <a:srgbClr val="FFFF99"/>
          </a:solidFill>
          <a:ln w="9525">
            <a:solidFill>
              <a:schemeClr val="tx2"/>
            </a:solidFill>
            <a:miter lim="800000"/>
            <a:headEnd/>
            <a:tailEnd/>
          </a:ln>
        </p:spPr>
        <p:txBody>
          <a:bodyPr wrap="none">
            <a:spAutoFit/>
          </a:bodyPr>
          <a:lstStyle/>
          <a:p>
            <a:pPr eaLnBrk="0" hangingPunct="0"/>
            <a:r>
              <a:rPr lang="zh-CN" altLang="en-US" sz="2400" b="1">
                <a:solidFill>
                  <a:srgbClr val="0000CC"/>
                </a:solidFill>
                <a:ea typeface="黑体" panose="02010609060101010101" pitchFamily="49" charset="-122"/>
              </a:rPr>
              <a:t>但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在收到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的更新报文之前，还发送原来的报文，</a:t>
            </a:r>
          </a:p>
          <a:p>
            <a:pPr eaLnBrk="0" hangingPunct="0"/>
            <a:r>
              <a:rPr lang="zh-CN" altLang="en-US" sz="2400" b="1">
                <a:solidFill>
                  <a:srgbClr val="0000CC"/>
                </a:solidFill>
                <a:ea typeface="黑体" panose="02010609060101010101" pitchFamily="49" charset="-122"/>
              </a:rPr>
              <a:t>因为这时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并不知道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出了故障。</a:t>
            </a:r>
          </a:p>
        </p:txBody>
      </p:sp>
      <p:sp>
        <p:nvSpPr>
          <p:cNvPr id="102924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7B8BE26-F2F6-40DB-B8B8-1E7B6745951D}" type="slidenum">
              <a:rPr lang="zh-CN" altLang="en-US" smtClean="0"/>
              <a:pPr/>
              <a:t>29</a:t>
            </a:fld>
            <a:endParaRPr lang="en-US" altLang="zh-CN" smtClean="0"/>
          </a:p>
        </p:txBody>
      </p:sp>
      <p:sp>
        <p:nvSpPr>
          <p:cNvPr id="102924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65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6632"/>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nodeType="afterEffect">
                                  <p:stCondLst>
                                    <p:cond delay="500"/>
                                  </p:stCondLst>
                                  <p:childTnLst>
                                    <p:set>
                                      <p:cBhvr>
                                        <p:cTn id="13" dur="1" fill="hold">
                                          <p:stCondLst>
                                            <p:cond delay="0"/>
                                          </p:stCondLst>
                                        </p:cTn>
                                        <p:tgtEl>
                                          <p:spTgt spid="576618"/>
                                        </p:tgtEl>
                                        <p:attrNameLst>
                                          <p:attrName>style.visibility</p:attrName>
                                        </p:attrNameLst>
                                      </p:cBhvr>
                                      <p:to>
                                        <p:strVal val="visible"/>
                                      </p:to>
                                    </p:set>
                                  </p:childTnLst>
                                </p:cTn>
                              </p:par>
                            </p:childTnLst>
                          </p:cTn>
                        </p:par>
                        <p:par>
                          <p:cTn id="14" fill="hold" nodeType="afterGroup">
                            <p:stCondLst>
                              <p:cond delay="502"/>
                            </p:stCondLst>
                            <p:childTnLst>
                              <p:par>
                                <p:cTn id="15" presetID="35" presetClass="emph" presetSubtype="0" repeatCount="3000" fill="hold" nodeType="afterEffect">
                                  <p:stCondLst>
                                    <p:cond delay="500"/>
                                  </p:stCondLst>
                                  <p:childTnLst>
                                    <p:anim calcmode="discrete" valueType="str">
                                      <p:cBhvr>
                                        <p:cTn id="16" dur="1000" fill="hold"/>
                                        <p:tgtEl>
                                          <p:spTgt spid="576618"/>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6633"/>
                                        </p:tgtEl>
                                        <p:attrNameLst>
                                          <p:attrName>style.visibility</p:attrName>
                                        </p:attrNameLst>
                                      </p:cBhvr>
                                      <p:to>
                                        <p:strVal val="visible"/>
                                      </p:to>
                                    </p:set>
                                  </p:childTnLst>
                                </p:cTn>
                              </p:par>
                            </p:childTnLst>
                          </p:cTn>
                        </p:par>
                        <p:par>
                          <p:cTn id="21" fill="hold" nodeType="afterGroup">
                            <p:stCondLst>
                              <p:cond delay="1"/>
                            </p:stCondLst>
                            <p:childTnLst>
                              <p:par>
                                <p:cTn id="22" presetID="1" presetClass="entr" presetSubtype="0" fill="hold" nodeType="afterEffect">
                                  <p:stCondLst>
                                    <p:cond delay="500"/>
                                  </p:stCondLst>
                                  <p:childTnLst>
                                    <p:set>
                                      <p:cBhvr>
                                        <p:cTn id="23" dur="1" fill="hold">
                                          <p:stCondLst>
                                            <p:cond delay="0"/>
                                          </p:stCondLst>
                                        </p:cTn>
                                        <p:tgtEl>
                                          <p:spTgt spid="576627"/>
                                        </p:tgtEl>
                                        <p:attrNameLst>
                                          <p:attrName>style.visibility</p:attrName>
                                        </p:attrNameLst>
                                      </p:cBhvr>
                                      <p:to>
                                        <p:strVal val="visible"/>
                                      </p:to>
                                    </p:set>
                                  </p:childTnLst>
                                </p:cTn>
                              </p:par>
                            </p:childTnLst>
                          </p:cTn>
                        </p:par>
                        <p:par>
                          <p:cTn id="24" fill="hold" nodeType="afterGroup">
                            <p:stCondLst>
                              <p:cond delay="502"/>
                            </p:stCondLst>
                            <p:childTnLst>
                              <p:par>
                                <p:cTn id="25" presetID="35" presetClass="emph" presetSubtype="0" repeatCount="3000" fill="hold" nodeType="afterEffect">
                                  <p:stCondLst>
                                    <p:cond delay="500"/>
                                  </p:stCondLst>
                                  <p:childTnLst>
                                    <p:anim calcmode="discrete" valueType="str">
                                      <p:cBhvr>
                                        <p:cTn id="26" dur="1000" fill="hold"/>
                                        <p:tgtEl>
                                          <p:spTgt spid="5766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632" grpId="0" animBg="1"/>
      <p:bldP spid="57663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69" name="Line 2"/>
          <p:cNvSpPr>
            <a:spLocks noChangeShapeType="1"/>
          </p:cNvSpPr>
          <p:nvPr/>
        </p:nvSpPr>
        <p:spPr bwMode="auto">
          <a:xfrm>
            <a:off x="1785938" y="1063625"/>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1170"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171"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1172"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1173"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1174" name="Group 7"/>
          <p:cNvGrpSpPr>
            <a:grpSpLocks/>
          </p:cNvGrpSpPr>
          <p:nvPr/>
        </p:nvGrpSpPr>
        <p:grpSpPr bwMode="auto">
          <a:xfrm>
            <a:off x="768350" y="631825"/>
            <a:ext cx="1277938" cy="858838"/>
            <a:chOff x="4830" y="1752"/>
            <a:chExt cx="667" cy="477"/>
          </a:xfrm>
        </p:grpSpPr>
        <p:grpSp>
          <p:nvGrpSpPr>
            <p:cNvPr id="1031175" name="Group 8"/>
            <p:cNvGrpSpPr>
              <a:grpSpLocks/>
            </p:cNvGrpSpPr>
            <p:nvPr/>
          </p:nvGrpSpPr>
          <p:grpSpPr bwMode="auto">
            <a:xfrm>
              <a:off x="4830" y="1752"/>
              <a:ext cx="667" cy="477"/>
              <a:chOff x="2949" y="196"/>
              <a:chExt cx="941" cy="598"/>
            </a:xfrm>
          </p:grpSpPr>
          <p:sp>
            <p:nvSpPr>
              <p:cNvPr id="1031176"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77"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78"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79"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0"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1"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2"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3"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84"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185"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186"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187"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1188" name="Group 21"/>
          <p:cNvGrpSpPr>
            <a:grpSpLocks/>
          </p:cNvGrpSpPr>
          <p:nvPr/>
        </p:nvGrpSpPr>
        <p:grpSpPr bwMode="auto">
          <a:xfrm>
            <a:off x="8356600" y="631825"/>
            <a:ext cx="1277938" cy="858838"/>
            <a:chOff x="4830" y="1752"/>
            <a:chExt cx="667" cy="477"/>
          </a:xfrm>
        </p:grpSpPr>
        <p:grpSp>
          <p:nvGrpSpPr>
            <p:cNvPr id="1031189" name="Group 22"/>
            <p:cNvGrpSpPr>
              <a:grpSpLocks/>
            </p:cNvGrpSpPr>
            <p:nvPr/>
          </p:nvGrpSpPr>
          <p:grpSpPr bwMode="auto">
            <a:xfrm>
              <a:off x="4830" y="1752"/>
              <a:ext cx="667" cy="477"/>
              <a:chOff x="2949" y="196"/>
              <a:chExt cx="941" cy="598"/>
            </a:xfrm>
          </p:grpSpPr>
          <p:sp>
            <p:nvSpPr>
              <p:cNvPr id="1031190"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1"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2"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3"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4"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5"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6"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7"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198"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199"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00"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01"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1202" name="Group 35"/>
          <p:cNvGrpSpPr>
            <a:grpSpLocks/>
          </p:cNvGrpSpPr>
          <p:nvPr/>
        </p:nvGrpSpPr>
        <p:grpSpPr bwMode="auto">
          <a:xfrm>
            <a:off x="4532313" y="631825"/>
            <a:ext cx="1276350" cy="858838"/>
            <a:chOff x="4830" y="1752"/>
            <a:chExt cx="667" cy="477"/>
          </a:xfrm>
        </p:grpSpPr>
        <p:grpSp>
          <p:nvGrpSpPr>
            <p:cNvPr id="1031203" name="Group 36"/>
            <p:cNvGrpSpPr>
              <a:grpSpLocks/>
            </p:cNvGrpSpPr>
            <p:nvPr/>
          </p:nvGrpSpPr>
          <p:grpSpPr bwMode="auto">
            <a:xfrm>
              <a:off x="4830" y="1752"/>
              <a:ext cx="667" cy="477"/>
              <a:chOff x="2949" y="196"/>
              <a:chExt cx="941" cy="598"/>
            </a:xfrm>
          </p:grpSpPr>
          <p:sp>
            <p:nvSpPr>
              <p:cNvPr id="1031204"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5"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6"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7"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8"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09"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10"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11"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12"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13"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14"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15"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1216" name="Group 49"/>
          <p:cNvGrpSpPr>
            <a:grpSpLocks/>
          </p:cNvGrpSpPr>
          <p:nvPr/>
        </p:nvGrpSpPr>
        <p:grpSpPr bwMode="auto">
          <a:xfrm>
            <a:off x="612775" y="1916113"/>
            <a:ext cx="9021763" cy="1522412"/>
            <a:chOff x="356" y="1253"/>
            <a:chExt cx="5246" cy="959"/>
          </a:xfrm>
        </p:grpSpPr>
        <p:sp>
          <p:nvSpPr>
            <p:cNvPr id="1031217" name="Line 50"/>
            <p:cNvSpPr>
              <a:spLocks noChangeShapeType="1"/>
            </p:cNvSpPr>
            <p:nvPr/>
          </p:nvSpPr>
          <p:spPr bwMode="auto">
            <a:xfrm>
              <a:off x="1038" y="1581"/>
              <a:ext cx="40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1218"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219" name="Text Box 52"/>
            <p:cNvSpPr txBox="1">
              <a:spLocks noChangeArrowheads="1"/>
            </p:cNvSpPr>
            <p:nvPr/>
          </p:nvSpPr>
          <p:spPr bwMode="auto">
            <a:xfrm>
              <a:off x="4038"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1220" name="Text Box 53"/>
            <p:cNvSpPr txBox="1">
              <a:spLocks noChangeArrowheads="1"/>
            </p:cNvSpPr>
            <p:nvPr/>
          </p:nvSpPr>
          <p:spPr bwMode="auto">
            <a:xfrm>
              <a:off x="1772"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1221"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1222" name="Group 55"/>
            <p:cNvGrpSpPr>
              <a:grpSpLocks/>
            </p:cNvGrpSpPr>
            <p:nvPr/>
          </p:nvGrpSpPr>
          <p:grpSpPr bwMode="auto">
            <a:xfrm>
              <a:off x="447" y="1309"/>
              <a:ext cx="743" cy="541"/>
              <a:chOff x="4830" y="1752"/>
              <a:chExt cx="667" cy="477"/>
            </a:xfrm>
          </p:grpSpPr>
          <p:grpSp>
            <p:nvGrpSpPr>
              <p:cNvPr id="1031223" name="Group 56"/>
              <p:cNvGrpSpPr>
                <a:grpSpLocks/>
              </p:cNvGrpSpPr>
              <p:nvPr/>
            </p:nvGrpSpPr>
            <p:grpSpPr bwMode="auto">
              <a:xfrm>
                <a:off x="4830" y="1752"/>
                <a:ext cx="667" cy="477"/>
                <a:chOff x="2949" y="196"/>
                <a:chExt cx="941" cy="598"/>
              </a:xfrm>
            </p:grpSpPr>
            <p:sp>
              <p:nvSpPr>
                <p:cNvPr id="1031224"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5"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6"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7" name="Oval 6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8"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29"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30"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31" name="Oval 6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32" name="Freeform 6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33" name="Freeform 6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34" name="Freeform 6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35" name="Text Box 6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1236" name="Group 69"/>
            <p:cNvGrpSpPr>
              <a:grpSpLocks/>
            </p:cNvGrpSpPr>
            <p:nvPr/>
          </p:nvGrpSpPr>
          <p:grpSpPr bwMode="auto">
            <a:xfrm>
              <a:off x="4859" y="1309"/>
              <a:ext cx="743" cy="541"/>
              <a:chOff x="4830" y="1752"/>
              <a:chExt cx="667" cy="477"/>
            </a:xfrm>
          </p:grpSpPr>
          <p:grpSp>
            <p:nvGrpSpPr>
              <p:cNvPr id="1031237" name="Group 70"/>
              <p:cNvGrpSpPr>
                <a:grpSpLocks/>
              </p:cNvGrpSpPr>
              <p:nvPr/>
            </p:nvGrpSpPr>
            <p:grpSpPr bwMode="auto">
              <a:xfrm>
                <a:off x="4830" y="1752"/>
                <a:ext cx="667" cy="477"/>
                <a:chOff x="2949" y="196"/>
                <a:chExt cx="941" cy="598"/>
              </a:xfrm>
            </p:grpSpPr>
            <p:sp>
              <p:nvSpPr>
                <p:cNvPr id="1031238"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39"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0"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1" name="Oval 74"/>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2"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3"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4"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5" name="Oval 78"/>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46" name="Freeform 7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47" name="Freeform 8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48" name="Freeform 8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49" name="Text Box 82"/>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1250" name="Group 83"/>
            <p:cNvGrpSpPr>
              <a:grpSpLocks/>
            </p:cNvGrpSpPr>
            <p:nvPr/>
          </p:nvGrpSpPr>
          <p:grpSpPr bwMode="auto">
            <a:xfrm>
              <a:off x="2635" y="1309"/>
              <a:ext cx="743" cy="541"/>
              <a:chOff x="4830" y="1752"/>
              <a:chExt cx="667" cy="477"/>
            </a:xfrm>
          </p:grpSpPr>
          <p:grpSp>
            <p:nvGrpSpPr>
              <p:cNvPr id="1031251" name="Group 84"/>
              <p:cNvGrpSpPr>
                <a:grpSpLocks/>
              </p:cNvGrpSpPr>
              <p:nvPr/>
            </p:nvGrpSpPr>
            <p:grpSpPr bwMode="auto">
              <a:xfrm>
                <a:off x="4830" y="1752"/>
                <a:ext cx="667" cy="477"/>
                <a:chOff x="2949" y="196"/>
                <a:chExt cx="941" cy="598"/>
              </a:xfrm>
            </p:grpSpPr>
            <p:sp>
              <p:nvSpPr>
                <p:cNvPr id="1031252"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3"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4"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5" name="Oval 88"/>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6"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7"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8"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59" name="Oval 92"/>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60" name="Freeform 9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61" name="Freeform 9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1262" name="Freeform 9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63" name="Text Box 96"/>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1264" name="Group 97"/>
            <p:cNvGrpSpPr>
              <a:grpSpLocks/>
            </p:cNvGrpSpPr>
            <p:nvPr/>
          </p:nvGrpSpPr>
          <p:grpSpPr bwMode="auto">
            <a:xfrm>
              <a:off x="434" y="1253"/>
              <a:ext cx="755" cy="612"/>
              <a:chOff x="434" y="1298"/>
              <a:chExt cx="755" cy="612"/>
            </a:xfrm>
          </p:grpSpPr>
          <p:sp>
            <p:nvSpPr>
              <p:cNvPr id="1031265" name="Line 98"/>
              <p:cNvSpPr>
                <a:spLocks noChangeShapeType="1"/>
              </p:cNvSpPr>
              <p:nvPr/>
            </p:nvSpPr>
            <p:spPr bwMode="auto">
              <a:xfrm>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31266" name="Line 99"/>
              <p:cNvSpPr>
                <a:spLocks noChangeShapeType="1"/>
              </p:cNvSpPr>
              <p:nvPr/>
            </p:nvSpPr>
            <p:spPr bwMode="auto">
              <a:xfrm flipH="1">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1267" name="Text Box 100"/>
            <p:cNvSpPr txBox="1">
              <a:spLocks noChangeArrowheads="1"/>
            </p:cNvSpPr>
            <p:nvPr/>
          </p:nvSpPr>
          <p:spPr bwMode="auto">
            <a:xfrm>
              <a:off x="356" y="1979"/>
              <a:ext cx="9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网</a:t>
              </a:r>
              <a:r>
                <a:rPr lang="zh-CN" altLang="en-US" sz="1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出了故障</a:t>
              </a:r>
            </a:p>
          </p:txBody>
        </p:sp>
      </p:grpSp>
      <p:sp>
        <p:nvSpPr>
          <p:cNvPr id="1031268" name="Text Box 101"/>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31269" name="Group 102"/>
          <p:cNvGrpSpPr>
            <a:grpSpLocks/>
          </p:cNvGrpSpPr>
          <p:nvPr/>
        </p:nvGrpSpPr>
        <p:grpSpPr bwMode="auto">
          <a:xfrm>
            <a:off x="2436813" y="498475"/>
            <a:ext cx="1593850" cy="312738"/>
            <a:chOff x="1491" y="212"/>
            <a:chExt cx="853" cy="240"/>
          </a:xfrm>
        </p:grpSpPr>
        <p:sp>
          <p:nvSpPr>
            <p:cNvPr id="1031270" name="AutoShape 10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71"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1272" name="Text Box 105"/>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31273" name="Group 106"/>
          <p:cNvGrpSpPr>
            <a:grpSpLocks/>
          </p:cNvGrpSpPr>
          <p:nvPr/>
        </p:nvGrpSpPr>
        <p:grpSpPr bwMode="auto">
          <a:xfrm>
            <a:off x="2693988" y="3140075"/>
            <a:ext cx="1633537" cy="312738"/>
            <a:chOff x="1566" y="2024"/>
            <a:chExt cx="950" cy="197"/>
          </a:xfrm>
        </p:grpSpPr>
        <p:grpSp>
          <p:nvGrpSpPr>
            <p:cNvPr id="1031274" name="Group 107"/>
            <p:cNvGrpSpPr>
              <a:grpSpLocks/>
            </p:cNvGrpSpPr>
            <p:nvPr/>
          </p:nvGrpSpPr>
          <p:grpSpPr bwMode="auto">
            <a:xfrm>
              <a:off x="1589" y="2024"/>
              <a:ext cx="927" cy="197"/>
              <a:chOff x="1491" y="212"/>
              <a:chExt cx="853" cy="240"/>
            </a:xfrm>
          </p:grpSpPr>
          <p:sp>
            <p:nvSpPr>
              <p:cNvPr id="1031275" name="AutoShape 108"/>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76"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1277" name="Text Box 110"/>
            <p:cNvSpPr txBox="1">
              <a:spLocks noChangeArrowheads="1"/>
            </p:cNvSpPr>
            <p:nvPr/>
          </p:nvSpPr>
          <p:spPr bwMode="auto">
            <a:xfrm>
              <a:off x="1566" y="2066"/>
              <a:ext cx="60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grpSp>
        <p:nvGrpSpPr>
          <p:cNvPr id="577647" name="Group 111"/>
          <p:cNvGrpSpPr/>
          <p:nvPr/>
        </p:nvGrpSpPr>
        <p:grpSpPr bwMode="auto">
          <a:xfrm flipH="1">
            <a:off x="6045068" y="521261"/>
            <a:ext cx="1594246" cy="312737"/>
            <a:chOff x="1491" y="212"/>
            <a:chExt cx="853" cy="240"/>
          </a:xfrm>
          <a:solidFill>
            <a:srgbClr val="66FF66"/>
          </a:solidFill>
        </p:grpSpPr>
        <p:sp>
          <p:nvSpPr>
            <p:cNvPr id="577648"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7649" name="Rectangle 113"/>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1031279" name="Text Box 114"/>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7651" name="Group 115"/>
          <p:cNvGrpSpPr/>
          <p:nvPr/>
        </p:nvGrpSpPr>
        <p:grpSpPr bwMode="auto">
          <a:xfrm>
            <a:off x="6045068" y="3088412"/>
            <a:ext cx="1594246" cy="341313"/>
            <a:chOff x="3515" y="1991"/>
            <a:chExt cx="927" cy="215"/>
          </a:xfrm>
          <a:solidFill>
            <a:srgbClr val="66FF66"/>
          </a:solidFill>
        </p:grpSpPr>
        <p:grpSp>
          <p:nvGrpSpPr>
            <p:cNvPr id="577652" name="Group 116"/>
            <p:cNvGrpSpPr/>
            <p:nvPr/>
          </p:nvGrpSpPr>
          <p:grpSpPr bwMode="auto">
            <a:xfrm flipH="1">
              <a:off x="3515" y="1991"/>
              <a:ext cx="927" cy="197"/>
              <a:chOff x="1491" y="212"/>
              <a:chExt cx="853" cy="240"/>
            </a:xfrm>
            <a:grpFill/>
          </p:grpSpPr>
          <p:sp>
            <p:nvSpPr>
              <p:cNvPr id="577653"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7654" name="Rectangle 118"/>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7655" name="Text Box 119"/>
            <p:cNvSpPr txBox="1">
              <a:spLocks noChangeArrowheads="1"/>
            </p:cNvSpPr>
            <p:nvPr/>
          </p:nvSpPr>
          <p:spPr bwMode="auto">
            <a:xfrm>
              <a:off x="3761" y="2051"/>
              <a:ext cx="600"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1  2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sp>
        <p:nvSpPr>
          <p:cNvPr id="577656" name="Text Box 120"/>
          <p:cNvSpPr txBox="1">
            <a:spLocks noChangeArrowheads="1"/>
          </p:cNvSpPr>
          <p:nvPr/>
        </p:nvSpPr>
        <p:spPr bwMode="auto">
          <a:xfrm>
            <a:off x="758825" y="4149725"/>
            <a:ext cx="6186488" cy="1568450"/>
          </a:xfrm>
          <a:prstGeom prst="rect">
            <a:avLst/>
          </a:prstGeom>
          <a:solidFill>
            <a:srgbClr val="FFFF99"/>
          </a:solidFill>
          <a:ln w="9525">
            <a:solidFill>
              <a:schemeClr val="tx2"/>
            </a:solidFill>
            <a:miter lim="800000"/>
            <a:headEnd/>
            <a:tailEnd/>
          </a:ln>
        </p:spPr>
        <p:txBody>
          <a:bodyPr>
            <a:spAutoFit/>
          </a:bodyPr>
          <a:lstStyle/>
          <a:p>
            <a:pPr algn="just" eaLnBrk="0" hangingPunct="0"/>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收到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 </a:t>
            </a:r>
            <a:r>
              <a:rPr lang="zh-CN" altLang="en-US" sz="2400" b="1">
                <a:solidFill>
                  <a:srgbClr val="0000CC"/>
                </a:solidFill>
                <a:ea typeface="黑体" panose="02010609060101010101" pitchFamily="49" charset="-122"/>
              </a:rPr>
              <a:t>的更新报文后，误认为可经过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到达网</a:t>
            </a:r>
            <a:r>
              <a:rPr lang="en-US" altLang="zh-CN" sz="2400" b="1">
                <a:solidFill>
                  <a:srgbClr val="0000CC"/>
                </a:solidFill>
                <a:ea typeface="黑体" panose="02010609060101010101" pitchFamily="49" charset="-122"/>
              </a:rPr>
              <a:t>1</a:t>
            </a:r>
            <a:r>
              <a:rPr lang="zh-CN" altLang="en-US" sz="2400" b="1">
                <a:solidFill>
                  <a:srgbClr val="0000CC"/>
                </a:solidFill>
                <a:ea typeface="黑体" panose="02010609060101010101" pitchFamily="49" charset="-122"/>
              </a:rPr>
              <a:t>，于是更新自己的路由表，说：“我到网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的距离是 </a:t>
            </a:r>
            <a:r>
              <a:rPr lang="en-US" altLang="zh-CN" sz="2400" b="1">
                <a:solidFill>
                  <a:srgbClr val="0000CC"/>
                </a:solidFill>
                <a:ea typeface="黑体" panose="02010609060101010101" pitchFamily="49" charset="-122"/>
              </a:rPr>
              <a:t>3</a:t>
            </a:r>
            <a:r>
              <a:rPr lang="zh-CN" altLang="en-US" sz="2400" b="1">
                <a:solidFill>
                  <a:srgbClr val="0000CC"/>
                </a:solidFill>
                <a:ea typeface="黑体" panose="02010609060101010101" pitchFamily="49" charset="-122"/>
              </a:rPr>
              <a:t>，下一跳经过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a:t>
            </a:r>
            <a:r>
              <a:rPr lang="zh-CN" altLang="en-US" sz="2400" b="1">
                <a:solidFill>
                  <a:srgbClr val="0000CC"/>
                </a:solidFill>
                <a:ea typeface="黑体" panose="02010609060101010101" pitchFamily="49" charset="-122"/>
              </a:rPr>
              <a:t>。然后将此更新信息发送给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a:t>
            </a:r>
            <a:r>
              <a:rPr lang="zh-CN" altLang="en-US" sz="2400" b="1">
                <a:solidFill>
                  <a:srgbClr val="0000CC"/>
                </a:solidFill>
                <a:ea typeface="黑体" panose="02010609060101010101" pitchFamily="49" charset="-122"/>
              </a:rPr>
              <a:t>。</a:t>
            </a:r>
          </a:p>
        </p:txBody>
      </p:sp>
      <p:grpSp>
        <p:nvGrpSpPr>
          <p:cNvPr id="577657" name="Group 121"/>
          <p:cNvGrpSpPr>
            <a:grpSpLocks/>
          </p:cNvGrpSpPr>
          <p:nvPr/>
        </p:nvGrpSpPr>
        <p:grpSpPr bwMode="auto">
          <a:xfrm>
            <a:off x="2690813" y="3643313"/>
            <a:ext cx="1636712" cy="312737"/>
            <a:chOff x="1565" y="2478"/>
            <a:chExt cx="951" cy="197"/>
          </a:xfrm>
        </p:grpSpPr>
        <p:grpSp>
          <p:nvGrpSpPr>
            <p:cNvPr id="1031283" name="Group 122"/>
            <p:cNvGrpSpPr>
              <a:grpSpLocks/>
            </p:cNvGrpSpPr>
            <p:nvPr/>
          </p:nvGrpSpPr>
          <p:grpSpPr bwMode="auto">
            <a:xfrm>
              <a:off x="1589" y="2478"/>
              <a:ext cx="927" cy="197"/>
              <a:chOff x="1491" y="212"/>
              <a:chExt cx="853" cy="240"/>
            </a:xfrm>
          </p:grpSpPr>
          <p:sp>
            <p:nvSpPr>
              <p:cNvPr id="1031284" name="AutoShape 12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1285" name="Rectangle 12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1286" name="Text Box 125"/>
            <p:cNvSpPr txBox="1">
              <a:spLocks noChangeArrowheads="1"/>
            </p:cNvSpPr>
            <p:nvPr/>
          </p:nvSpPr>
          <p:spPr bwMode="auto">
            <a:xfrm>
              <a:off x="1565" y="2518"/>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1  3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sp>
        <p:nvSpPr>
          <p:cNvPr id="10312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CAF523B-C952-4F12-9730-FC06DA2392D8}" type="slidenum">
              <a:rPr lang="zh-CN" altLang="en-US" smtClean="0"/>
              <a:pPr/>
              <a:t>30</a:t>
            </a:fld>
            <a:endParaRPr lang="en-US" altLang="zh-CN" smtClean="0"/>
          </a:p>
        </p:txBody>
      </p:sp>
      <p:sp>
        <p:nvSpPr>
          <p:cNvPr id="10312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7656"/>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0"/>
                                  </p:stCondLst>
                                  <p:childTnLst>
                                    <p:set>
                                      <p:cBhvr>
                                        <p:cTn id="9" dur="1" fill="hold">
                                          <p:stCondLst>
                                            <p:cond delay="0"/>
                                          </p:stCondLst>
                                        </p:cTn>
                                        <p:tgtEl>
                                          <p:spTgt spid="577657"/>
                                        </p:tgtEl>
                                        <p:attrNameLst>
                                          <p:attrName>style.visibility</p:attrName>
                                        </p:attrNameLst>
                                      </p:cBhvr>
                                      <p:to>
                                        <p:strVal val="visible"/>
                                      </p:to>
                                    </p:set>
                                  </p:childTnLst>
                                </p:cTn>
                              </p:par>
                            </p:childTnLst>
                          </p:cTn>
                        </p:par>
                        <p:par>
                          <p:cTn id="10" fill="hold" nodeType="afterGroup">
                            <p:stCondLst>
                              <p:cond delay="2"/>
                            </p:stCondLst>
                            <p:childTnLst>
                              <p:par>
                                <p:cTn id="11" presetID="35" presetClass="emph" presetSubtype="0" repeatCount="3000" fill="hold" nodeType="afterEffect">
                                  <p:stCondLst>
                                    <p:cond delay="0"/>
                                  </p:stCondLst>
                                  <p:childTnLst>
                                    <p:anim calcmode="discrete" valueType="str">
                                      <p:cBhvr>
                                        <p:cTn id="12" dur="1000" fill="hold"/>
                                        <p:tgtEl>
                                          <p:spTgt spid="5776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65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7" name="Line 2"/>
          <p:cNvSpPr>
            <a:spLocks noChangeShapeType="1"/>
          </p:cNvSpPr>
          <p:nvPr/>
        </p:nvSpPr>
        <p:spPr bwMode="auto">
          <a:xfrm>
            <a:off x="1785938" y="1063625"/>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3218"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219"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3220"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3221"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3222" name="Group 7"/>
          <p:cNvGrpSpPr>
            <a:grpSpLocks/>
          </p:cNvGrpSpPr>
          <p:nvPr/>
        </p:nvGrpSpPr>
        <p:grpSpPr bwMode="auto">
          <a:xfrm>
            <a:off x="768350" y="631825"/>
            <a:ext cx="1277938" cy="858838"/>
            <a:chOff x="4830" y="1752"/>
            <a:chExt cx="667" cy="477"/>
          </a:xfrm>
        </p:grpSpPr>
        <p:grpSp>
          <p:nvGrpSpPr>
            <p:cNvPr id="1033223" name="Group 8"/>
            <p:cNvGrpSpPr>
              <a:grpSpLocks/>
            </p:cNvGrpSpPr>
            <p:nvPr/>
          </p:nvGrpSpPr>
          <p:grpSpPr bwMode="auto">
            <a:xfrm>
              <a:off x="4830" y="1752"/>
              <a:ext cx="667" cy="477"/>
              <a:chOff x="2949" y="196"/>
              <a:chExt cx="941" cy="598"/>
            </a:xfrm>
          </p:grpSpPr>
          <p:sp>
            <p:nvSpPr>
              <p:cNvPr id="1033224"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5"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6"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7"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8"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29"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30"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31"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32"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33"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34"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35"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3236" name="Group 21"/>
          <p:cNvGrpSpPr>
            <a:grpSpLocks/>
          </p:cNvGrpSpPr>
          <p:nvPr/>
        </p:nvGrpSpPr>
        <p:grpSpPr bwMode="auto">
          <a:xfrm>
            <a:off x="8356600" y="631825"/>
            <a:ext cx="1277938" cy="858838"/>
            <a:chOff x="4830" y="1752"/>
            <a:chExt cx="667" cy="477"/>
          </a:xfrm>
        </p:grpSpPr>
        <p:grpSp>
          <p:nvGrpSpPr>
            <p:cNvPr id="1033237" name="Group 22"/>
            <p:cNvGrpSpPr>
              <a:grpSpLocks/>
            </p:cNvGrpSpPr>
            <p:nvPr/>
          </p:nvGrpSpPr>
          <p:grpSpPr bwMode="auto">
            <a:xfrm>
              <a:off x="4830" y="1752"/>
              <a:ext cx="667" cy="477"/>
              <a:chOff x="2949" y="196"/>
              <a:chExt cx="941" cy="598"/>
            </a:xfrm>
          </p:grpSpPr>
          <p:sp>
            <p:nvSpPr>
              <p:cNvPr id="1033238"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39"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0"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1"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2"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3"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4"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5"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46"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47"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48"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49"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3250" name="Group 35"/>
          <p:cNvGrpSpPr>
            <a:grpSpLocks/>
          </p:cNvGrpSpPr>
          <p:nvPr/>
        </p:nvGrpSpPr>
        <p:grpSpPr bwMode="auto">
          <a:xfrm>
            <a:off x="4532313" y="631825"/>
            <a:ext cx="1276350" cy="858838"/>
            <a:chOff x="4830" y="1752"/>
            <a:chExt cx="667" cy="477"/>
          </a:xfrm>
        </p:grpSpPr>
        <p:grpSp>
          <p:nvGrpSpPr>
            <p:cNvPr id="1033251" name="Group 36"/>
            <p:cNvGrpSpPr>
              <a:grpSpLocks/>
            </p:cNvGrpSpPr>
            <p:nvPr/>
          </p:nvGrpSpPr>
          <p:grpSpPr bwMode="auto">
            <a:xfrm>
              <a:off x="4830" y="1752"/>
              <a:ext cx="667" cy="477"/>
              <a:chOff x="2949" y="196"/>
              <a:chExt cx="941" cy="598"/>
            </a:xfrm>
          </p:grpSpPr>
          <p:sp>
            <p:nvSpPr>
              <p:cNvPr id="1033252"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3"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4"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5"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6"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7"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8"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59"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60"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61"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62"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63"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3264" name="Group 49"/>
          <p:cNvGrpSpPr>
            <a:grpSpLocks/>
          </p:cNvGrpSpPr>
          <p:nvPr/>
        </p:nvGrpSpPr>
        <p:grpSpPr bwMode="auto">
          <a:xfrm>
            <a:off x="612775" y="1916113"/>
            <a:ext cx="9021763" cy="1522412"/>
            <a:chOff x="356" y="1253"/>
            <a:chExt cx="5246" cy="959"/>
          </a:xfrm>
        </p:grpSpPr>
        <p:sp>
          <p:nvSpPr>
            <p:cNvPr id="1033265" name="Line 50"/>
            <p:cNvSpPr>
              <a:spLocks noChangeShapeType="1"/>
            </p:cNvSpPr>
            <p:nvPr/>
          </p:nvSpPr>
          <p:spPr bwMode="auto">
            <a:xfrm>
              <a:off x="1038" y="1581"/>
              <a:ext cx="407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326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267" name="Text Box 52"/>
            <p:cNvSpPr txBox="1">
              <a:spLocks noChangeArrowheads="1"/>
            </p:cNvSpPr>
            <p:nvPr/>
          </p:nvSpPr>
          <p:spPr bwMode="auto">
            <a:xfrm>
              <a:off x="4038"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3268" name="Text Box 53"/>
            <p:cNvSpPr txBox="1">
              <a:spLocks noChangeArrowheads="1"/>
            </p:cNvSpPr>
            <p:nvPr/>
          </p:nvSpPr>
          <p:spPr bwMode="auto">
            <a:xfrm>
              <a:off x="1772" y="1640"/>
              <a:ext cx="2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3269"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3270" name="Group 55"/>
            <p:cNvGrpSpPr>
              <a:grpSpLocks/>
            </p:cNvGrpSpPr>
            <p:nvPr/>
          </p:nvGrpSpPr>
          <p:grpSpPr bwMode="auto">
            <a:xfrm>
              <a:off x="447" y="1309"/>
              <a:ext cx="743" cy="541"/>
              <a:chOff x="4830" y="1752"/>
              <a:chExt cx="667" cy="477"/>
            </a:xfrm>
          </p:grpSpPr>
          <p:grpSp>
            <p:nvGrpSpPr>
              <p:cNvPr id="1033271" name="Group 56"/>
              <p:cNvGrpSpPr>
                <a:grpSpLocks/>
              </p:cNvGrpSpPr>
              <p:nvPr/>
            </p:nvGrpSpPr>
            <p:grpSpPr bwMode="auto">
              <a:xfrm>
                <a:off x="4830" y="1752"/>
                <a:ext cx="667" cy="477"/>
                <a:chOff x="2949" y="196"/>
                <a:chExt cx="941" cy="598"/>
              </a:xfrm>
            </p:grpSpPr>
            <p:sp>
              <p:nvSpPr>
                <p:cNvPr id="1033272"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3"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4"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5" name="Oval 6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6"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7"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8"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79" name="Oval 6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80" name="Freeform 6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81" name="Freeform 6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82" name="Freeform 6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83" name="Text Box 6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3284" name="Group 69"/>
            <p:cNvGrpSpPr>
              <a:grpSpLocks/>
            </p:cNvGrpSpPr>
            <p:nvPr/>
          </p:nvGrpSpPr>
          <p:grpSpPr bwMode="auto">
            <a:xfrm>
              <a:off x="4859" y="1309"/>
              <a:ext cx="743" cy="541"/>
              <a:chOff x="4830" y="1752"/>
              <a:chExt cx="667" cy="477"/>
            </a:xfrm>
          </p:grpSpPr>
          <p:grpSp>
            <p:nvGrpSpPr>
              <p:cNvPr id="1033285" name="Group 70"/>
              <p:cNvGrpSpPr>
                <a:grpSpLocks/>
              </p:cNvGrpSpPr>
              <p:nvPr/>
            </p:nvGrpSpPr>
            <p:grpSpPr bwMode="auto">
              <a:xfrm>
                <a:off x="4830" y="1752"/>
                <a:ext cx="667" cy="477"/>
                <a:chOff x="2949" y="196"/>
                <a:chExt cx="941" cy="598"/>
              </a:xfrm>
            </p:grpSpPr>
            <p:sp>
              <p:nvSpPr>
                <p:cNvPr id="1033286"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87"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88"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89" name="Oval 74"/>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0"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1"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2"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3" name="Oval 78"/>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294" name="Freeform 7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95" name="Freeform 8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296" name="Freeform 8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297" name="Text Box 82"/>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3298" name="Group 83"/>
            <p:cNvGrpSpPr>
              <a:grpSpLocks/>
            </p:cNvGrpSpPr>
            <p:nvPr/>
          </p:nvGrpSpPr>
          <p:grpSpPr bwMode="auto">
            <a:xfrm>
              <a:off x="2635" y="1309"/>
              <a:ext cx="743" cy="541"/>
              <a:chOff x="4830" y="1752"/>
              <a:chExt cx="667" cy="477"/>
            </a:xfrm>
          </p:grpSpPr>
          <p:grpSp>
            <p:nvGrpSpPr>
              <p:cNvPr id="1033299" name="Group 84"/>
              <p:cNvGrpSpPr>
                <a:grpSpLocks/>
              </p:cNvGrpSpPr>
              <p:nvPr/>
            </p:nvGrpSpPr>
            <p:grpSpPr bwMode="auto">
              <a:xfrm>
                <a:off x="4830" y="1752"/>
                <a:ext cx="667" cy="477"/>
                <a:chOff x="2949" y="196"/>
                <a:chExt cx="941" cy="598"/>
              </a:xfrm>
            </p:grpSpPr>
            <p:sp>
              <p:nvSpPr>
                <p:cNvPr id="1033300"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1"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2"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3" name="Oval 88"/>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4"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5"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6"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7" name="Oval 92"/>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08" name="Freeform 9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309" name="Freeform 9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3310" name="Freeform 9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311" name="Text Box 96"/>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3312" name="Group 97"/>
            <p:cNvGrpSpPr>
              <a:grpSpLocks/>
            </p:cNvGrpSpPr>
            <p:nvPr/>
          </p:nvGrpSpPr>
          <p:grpSpPr bwMode="auto">
            <a:xfrm>
              <a:off x="434" y="1253"/>
              <a:ext cx="755" cy="612"/>
              <a:chOff x="434" y="1298"/>
              <a:chExt cx="755" cy="612"/>
            </a:xfrm>
          </p:grpSpPr>
          <p:sp>
            <p:nvSpPr>
              <p:cNvPr id="1033313" name="Line 98"/>
              <p:cNvSpPr>
                <a:spLocks noChangeShapeType="1"/>
              </p:cNvSpPr>
              <p:nvPr/>
            </p:nvSpPr>
            <p:spPr bwMode="auto">
              <a:xfrm>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33314" name="Line 99"/>
              <p:cNvSpPr>
                <a:spLocks noChangeShapeType="1"/>
              </p:cNvSpPr>
              <p:nvPr/>
            </p:nvSpPr>
            <p:spPr bwMode="auto">
              <a:xfrm flipH="1">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3315" name="Text Box 100"/>
            <p:cNvSpPr txBox="1">
              <a:spLocks noChangeArrowheads="1"/>
            </p:cNvSpPr>
            <p:nvPr/>
          </p:nvSpPr>
          <p:spPr bwMode="auto">
            <a:xfrm>
              <a:off x="356" y="1979"/>
              <a:ext cx="9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网</a:t>
              </a:r>
              <a:r>
                <a:rPr lang="zh-CN" altLang="en-US" sz="1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出了故障</a:t>
              </a:r>
            </a:p>
          </p:txBody>
        </p:sp>
      </p:grpSp>
      <p:sp>
        <p:nvSpPr>
          <p:cNvPr id="1033316" name="Text Box 101"/>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33317" name="Group 102"/>
          <p:cNvGrpSpPr>
            <a:grpSpLocks/>
          </p:cNvGrpSpPr>
          <p:nvPr/>
        </p:nvGrpSpPr>
        <p:grpSpPr bwMode="auto">
          <a:xfrm>
            <a:off x="2436813" y="498475"/>
            <a:ext cx="1593850" cy="312738"/>
            <a:chOff x="1491" y="212"/>
            <a:chExt cx="853" cy="240"/>
          </a:xfrm>
        </p:grpSpPr>
        <p:sp>
          <p:nvSpPr>
            <p:cNvPr id="1033318" name="AutoShape 10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19"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3320" name="Text Box 105"/>
          <p:cNvSpPr txBox="1">
            <a:spLocks noChangeArrowheads="1"/>
          </p:cNvSpPr>
          <p:nvPr/>
        </p:nvSpPr>
        <p:spPr bwMode="auto">
          <a:xfrm>
            <a:off x="2457450" y="573088"/>
            <a:ext cx="89376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33321" name="Group 106"/>
          <p:cNvGrpSpPr>
            <a:grpSpLocks/>
          </p:cNvGrpSpPr>
          <p:nvPr/>
        </p:nvGrpSpPr>
        <p:grpSpPr bwMode="auto">
          <a:xfrm>
            <a:off x="2693988" y="3140075"/>
            <a:ext cx="1633537" cy="331788"/>
            <a:chOff x="1566" y="2024"/>
            <a:chExt cx="950" cy="209"/>
          </a:xfrm>
        </p:grpSpPr>
        <p:grpSp>
          <p:nvGrpSpPr>
            <p:cNvPr id="1033322" name="Group 107"/>
            <p:cNvGrpSpPr>
              <a:grpSpLocks/>
            </p:cNvGrpSpPr>
            <p:nvPr/>
          </p:nvGrpSpPr>
          <p:grpSpPr bwMode="auto">
            <a:xfrm>
              <a:off x="1589" y="2024"/>
              <a:ext cx="927" cy="197"/>
              <a:chOff x="1491" y="212"/>
              <a:chExt cx="853" cy="240"/>
            </a:xfrm>
          </p:grpSpPr>
          <p:sp>
            <p:nvSpPr>
              <p:cNvPr id="1033323" name="AutoShape 108"/>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24"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3325" name="Text Box 110"/>
            <p:cNvSpPr txBox="1">
              <a:spLocks noChangeArrowheads="1"/>
            </p:cNvSpPr>
            <p:nvPr/>
          </p:nvSpPr>
          <p:spPr bwMode="auto">
            <a:xfrm>
              <a:off x="1566" y="2066"/>
              <a:ext cx="60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grpSp>
        <p:nvGrpSpPr>
          <p:cNvPr id="578671" name="Group 111"/>
          <p:cNvGrpSpPr/>
          <p:nvPr/>
        </p:nvGrpSpPr>
        <p:grpSpPr bwMode="auto">
          <a:xfrm flipH="1">
            <a:off x="6045068" y="521261"/>
            <a:ext cx="1594246" cy="312737"/>
            <a:chOff x="1491" y="212"/>
            <a:chExt cx="853" cy="240"/>
          </a:xfrm>
          <a:solidFill>
            <a:srgbClr val="66FF66"/>
          </a:solidFill>
        </p:grpSpPr>
        <p:sp>
          <p:nvSpPr>
            <p:cNvPr id="578672"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8673" name="Rectangle 113"/>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1033327" name="Text Box 114"/>
          <p:cNvSpPr txBox="1">
            <a:spLocks noChangeArrowheads="1"/>
          </p:cNvSpPr>
          <p:nvPr/>
        </p:nvSpPr>
        <p:spPr bwMode="auto">
          <a:xfrm>
            <a:off x="6467475" y="615950"/>
            <a:ext cx="1033463"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8675" name="Group 115"/>
          <p:cNvGrpSpPr/>
          <p:nvPr/>
        </p:nvGrpSpPr>
        <p:grpSpPr bwMode="auto">
          <a:xfrm>
            <a:off x="6045068" y="3088416"/>
            <a:ext cx="1594246" cy="361951"/>
            <a:chOff x="3515" y="1991"/>
            <a:chExt cx="927" cy="228"/>
          </a:xfrm>
          <a:solidFill>
            <a:srgbClr val="66FF66"/>
          </a:solidFill>
        </p:grpSpPr>
        <p:grpSp>
          <p:nvGrpSpPr>
            <p:cNvPr id="578676" name="Group 116"/>
            <p:cNvGrpSpPr/>
            <p:nvPr/>
          </p:nvGrpSpPr>
          <p:grpSpPr bwMode="auto">
            <a:xfrm flipH="1">
              <a:off x="3515" y="1991"/>
              <a:ext cx="927" cy="197"/>
              <a:chOff x="1491" y="212"/>
              <a:chExt cx="853" cy="240"/>
            </a:xfrm>
            <a:grpFill/>
          </p:grpSpPr>
          <p:sp>
            <p:nvSpPr>
              <p:cNvPr id="578677"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8678" name="Rectangle 118"/>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8679" name="Text Box 119"/>
            <p:cNvSpPr txBox="1">
              <a:spLocks noChangeArrowheads="1"/>
            </p:cNvSpPr>
            <p:nvPr/>
          </p:nvSpPr>
          <p:spPr bwMode="auto">
            <a:xfrm>
              <a:off x="3761" y="2051"/>
              <a:ext cx="600" cy="168"/>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1  2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sp>
        <p:nvSpPr>
          <p:cNvPr id="1033329" name="Text Box 120"/>
          <p:cNvSpPr txBox="1">
            <a:spLocks noChangeArrowheads="1"/>
          </p:cNvSpPr>
          <p:nvPr/>
        </p:nvSpPr>
        <p:spPr bwMode="auto">
          <a:xfrm>
            <a:off x="3027363" y="4437063"/>
            <a:ext cx="6373812" cy="830262"/>
          </a:xfrm>
          <a:prstGeom prst="rect">
            <a:avLst/>
          </a:prstGeom>
          <a:solidFill>
            <a:srgbClr val="FFFF99"/>
          </a:solidFill>
          <a:ln w="9525">
            <a:solidFill>
              <a:schemeClr val="tx2"/>
            </a:solidFill>
            <a:miter lim="800000"/>
            <a:headEnd/>
            <a:tailEnd/>
          </a:ln>
        </p:spPr>
        <p:txBody>
          <a:bodyPr>
            <a:spAutoFit/>
          </a:bodyPr>
          <a:lstStyle/>
          <a:p>
            <a:pPr algn="just" eaLnBrk="0" hangingPunct="0"/>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2 </a:t>
            </a:r>
            <a:r>
              <a:rPr lang="zh-CN" altLang="en-US" sz="2400" b="1">
                <a:solidFill>
                  <a:srgbClr val="0000CC"/>
                </a:solidFill>
                <a:ea typeface="黑体" panose="02010609060101010101" pitchFamily="49" charset="-122"/>
              </a:rPr>
              <a:t>以后又更新自己的路由表为“</a:t>
            </a:r>
            <a:r>
              <a:rPr lang="en-US" altLang="zh-CN" sz="2400" b="1">
                <a:solidFill>
                  <a:srgbClr val="0000CC"/>
                </a:solidFill>
                <a:ea typeface="黑体" panose="02010609060101010101" pitchFamily="49" charset="-122"/>
              </a:rPr>
              <a:t>1, 4, 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a:t>
            </a:r>
            <a:r>
              <a:rPr lang="zh-CN" altLang="en-US" sz="2400" b="1">
                <a:solidFill>
                  <a:srgbClr val="0000CC"/>
                </a:solidFill>
                <a:ea typeface="黑体" panose="02010609060101010101" pitchFamily="49" charset="-122"/>
              </a:rPr>
              <a:t>，表明 “我到网 </a:t>
            </a:r>
            <a:r>
              <a:rPr lang="en-US" altLang="zh-CN" sz="2400" b="1">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距离是 </a:t>
            </a:r>
            <a:r>
              <a:rPr lang="en-US" altLang="zh-CN" sz="2400" b="1">
                <a:solidFill>
                  <a:srgbClr val="0000CC"/>
                </a:solidFill>
                <a:ea typeface="黑体" panose="02010609060101010101" pitchFamily="49" charset="-122"/>
              </a:rPr>
              <a:t>4</a:t>
            </a:r>
            <a:r>
              <a:rPr lang="zh-CN" altLang="en-US" sz="2400" b="1">
                <a:solidFill>
                  <a:srgbClr val="0000CC"/>
                </a:solidFill>
                <a:ea typeface="黑体" panose="02010609060101010101" pitchFamily="49" charset="-122"/>
              </a:rPr>
              <a:t>，下一跳经过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a:t>
            </a:r>
            <a:r>
              <a:rPr lang="zh-CN" altLang="en-US" sz="2400" b="1">
                <a:solidFill>
                  <a:srgbClr val="0000CC"/>
                </a:solidFill>
                <a:ea typeface="黑体" panose="02010609060101010101" pitchFamily="49" charset="-122"/>
              </a:rPr>
              <a:t>。 </a:t>
            </a:r>
          </a:p>
        </p:txBody>
      </p:sp>
      <p:grpSp>
        <p:nvGrpSpPr>
          <p:cNvPr id="1033330" name="Group 121"/>
          <p:cNvGrpSpPr>
            <a:grpSpLocks/>
          </p:cNvGrpSpPr>
          <p:nvPr/>
        </p:nvGrpSpPr>
        <p:grpSpPr bwMode="auto">
          <a:xfrm>
            <a:off x="2690813" y="3643313"/>
            <a:ext cx="1636712" cy="330200"/>
            <a:chOff x="1565" y="2478"/>
            <a:chExt cx="951" cy="208"/>
          </a:xfrm>
        </p:grpSpPr>
        <p:grpSp>
          <p:nvGrpSpPr>
            <p:cNvPr id="1033331" name="Group 122"/>
            <p:cNvGrpSpPr>
              <a:grpSpLocks/>
            </p:cNvGrpSpPr>
            <p:nvPr/>
          </p:nvGrpSpPr>
          <p:grpSpPr bwMode="auto">
            <a:xfrm>
              <a:off x="1589" y="2478"/>
              <a:ext cx="927" cy="197"/>
              <a:chOff x="1491" y="212"/>
              <a:chExt cx="853" cy="240"/>
            </a:xfrm>
          </p:grpSpPr>
          <p:sp>
            <p:nvSpPr>
              <p:cNvPr id="1033332" name="AutoShape 123"/>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3333" name="Rectangle 12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3334" name="Text Box 125"/>
            <p:cNvSpPr txBox="1">
              <a:spLocks noChangeArrowheads="1"/>
            </p:cNvSpPr>
            <p:nvPr/>
          </p:nvSpPr>
          <p:spPr bwMode="auto">
            <a:xfrm>
              <a:off x="1565" y="2518"/>
              <a:ext cx="60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1  3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grpSp>
        <p:nvGrpSpPr>
          <p:cNvPr id="578686" name="Group 126"/>
          <p:cNvGrpSpPr/>
          <p:nvPr/>
        </p:nvGrpSpPr>
        <p:grpSpPr bwMode="auto">
          <a:xfrm>
            <a:off x="6045068" y="3932970"/>
            <a:ext cx="1594246" cy="349251"/>
            <a:chOff x="3515" y="2704"/>
            <a:chExt cx="927" cy="220"/>
          </a:xfrm>
          <a:solidFill>
            <a:srgbClr val="66FF66"/>
          </a:solidFill>
        </p:grpSpPr>
        <p:grpSp>
          <p:nvGrpSpPr>
            <p:cNvPr id="578687" name="Group 127"/>
            <p:cNvGrpSpPr/>
            <p:nvPr/>
          </p:nvGrpSpPr>
          <p:grpSpPr bwMode="auto">
            <a:xfrm flipH="1">
              <a:off x="3515" y="2704"/>
              <a:ext cx="927" cy="197"/>
              <a:chOff x="1491" y="212"/>
              <a:chExt cx="853" cy="240"/>
            </a:xfrm>
            <a:grpFill/>
          </p:grpSpPr>
          <p:sp>
            <p:nvSpPr>
              <p:cNvPr id="578688" name="AutoShape 128"/>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8689" name="Rectangle 129"/>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8690" name="Text Box 130"/>
            <p:cNvSpPr txBox="1">
              <a:spLocks noChangeArrowheads="1"/>
            </p:cNvSpPr>
            <p:nvPr/>
          </p:nvSpPr>
          <p:spPr bwMode="auto">
            <a:xfrm>
              <a:off x="3771" y="2756"/>
              <a:ext cx="600" cy="168"/>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1  4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sp>
        <p:nvSpPr>
          <p:cNvPr id="103333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E150D8B-E8D2-411D-9ACB-E1BFB37365E6}" type="slidenum">
              <a:rPr lang="zh-CN" altLang="en-US" smtClean="0"/>
              <a:pPr/>
              <a:t>31</a:t>
            </a:fld>
            <a:endParaRPr lang="en-US" altLang="zh-CN" smtClean="0"/>
          </a:p>
        </p:txBody>
      </p:sp>
      <p:sp>
        <p:nvSpPr>
          <p:cNvPr id="103333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500"/>
                                  </p:stCondLst>
                                  <p:childTnLst>
                                    <p:set>
                                      <p:cBhvr>
                                        <p:cTn id="6" dur="1" fill="hold">
                                          <p:stCondLst>
                                            <p:cond delay="0"/>
                                          </p:stCondLst>
                                        </p:cTn>
                                        <p:tgtEl>
                                          <p:spTgt spid="578686"/>
                                        </p:tgtEl>
                                        <p:attrNameLst>
                                          <p:attrName>style.visibility</p:attrName>
                                        </p:attrNameLst>
                                      </p:cBhvr>
                                      <p:to>
                                        <p:strVal val="visible"/>
                                      </p:to>
                                    </p:set>
                                  </p:childTnLst>
                                </p:cTn>
                              </p:par>
                            </p:childTnLst>
                          </p:cTn>
                        </p:par>
                        <p:par>
                          <p:cTn id="7" fill="hold" nodeType="afterGroup">
                            <p:stCondLst>
                              <p:cond delay="501"/>
                            </p:stCondLst>
                            <p:childTnLst>
                              <p:par>
                                <p:cTn id="8" presetID="35" presetClass="emph" presetSubtype="0" repeatCount="3000" fill="hold" nodeType="afterEffect">
                                  <p:stCondLst>
                                    <p:cond delay="500"/>
                                  </p:stCondLst>
                                  <p:childTnLst>
                                    <p:anim calcmode="discrete" valueType="str">
                                      <p:cBhvr>
                                        <p:cTn id="9" dur="1000" fill="hold"/>
                                        <p:tgtEl>
                                          <p:spTgt spid="5786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5" name="Line 2"/>
          <p:cNvSpPr>
            <a:spLocks noChangeShapeType="1"/>
          </p:cNvSpPr>
          <p:nvPr/>
        </p:nvSpPr>
        <p:spPr bwMode="auto">
          <a:xfrm>
            <a:off x="1785938" y="1063625"/>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5266"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267" name="Text Box 4"/>
          <p:cNvSpPr txBox="1">
            <a:spLocks noChangeArrowheads="1"/>
          </p:cNvSpPr>
          <p:nvPr/>
        </p:nvSpPr>
        <p:spPr bwMode="auto">
          <a:xfrm>
            <a:off x="6945313" y="115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5268" name="Text Box 5"/>
          <p:cNvSpPr txBox="1">
            <a:spLocks noChangeArrowheads="1"/>
          </p:cNvSpPr>
          <p:nvPr/>
        </p:nvSpPr>
        <p:spPr bwMode="auto">
          <a:xfrm>
            <a:off x="3048000" y="115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5269"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908050"/>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5270" name="Group 7"/>
          <p:cNvGrpSpPr>
            <a:grpSpLocks/>
          </p:cNvGrpSpPr>
          <p:nvPr/>
        </p:nvGrpSpPr>
        <p:grpSpPr bwMode="auto">
          <a:xfrm>
            <a:off x="768350" y="631825"/>
            <a:ext cx="1277938" cy="858838"/>
            <a:chOff x="4830" y="1752"/>
            <a:chExt cx="667" cy="477"/>
          </a:xfrm>
        </p:grpSpPr>
        <p:grpSp>
          <p:nvGrpSpPr>
            <p:cNvPr id="1035271" name="Group 8"/>
            <p:cNvGrpSpPr>
              <a:grpSpLocks/>
            </p:cNvGrpSpPr>
            <p:nvPr/>
          </p:nvGrpSpPr>
          <p:grpSpPr bwMode="auto">
            <a:xfrm>
              <a:off x="4830" y="1752"/>
              <a:ext cx="667" cy="477"/>
              <a:chOff x="2949" y="196"/>
              <a:chExt cx="941" cy="598"/>
            </a:xfrm>
          </p:grpSpPr>
          <p:sp>
            <p:nvSpPr>
              <p:cNvPr id="1035272"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3"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4"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5"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6"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7"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8"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79"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80"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281"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282"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283" name="Text Box 20"/>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5284" name="Group 21"/>
          <p:cNvGrpSpPr>
            <a:grpSpLocks/>
          </p:cNvGrpSpPr>
          <p:nvPr/>
        </p:nvGrpSpPr>
        <p:grpSpPr bwMode="auto">
          <a:xfrm>
            <a:off x="8356600" y="631825"/>
            <a:ext cx="1277938" cy="858838"/>
            <a:chOff x="4830" y="1752"/>
            <a:chExt cx="667" cy="477"/>
          </a:xfrm>
        </p:grpSpPr>
        <p:grpSp>
          <p:nvGrpSpPr>
            <p:cNvPr id="1035285" name="Group 22"/>
            <p:cNvGrpSpPr>
              <a:grpSpLocks/>
            </p:cNvGrpSpPr>
            <p:nvPr/>
          </p:nvGrpSpPr>
          <p:grpSpPr bwMode="auto">
            <a:xfrm>
              <a:off x="4830" y="1752"/>
              <a:ext cx="667" cy="477"/>
              <a:chOff x="2949" y="196"/>
              <a:chExt cx="941" cy="598"/>
            </a:xfrm>
          </p:grpSpPr>
          <p:sp>
            <p:nvSpPr>
              <p:cNvPr id="1035286"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87"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88"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89"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0"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1"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2"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3"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294" name="Freeform 3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295" name="Freeform 3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296" name="Freeform 3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297" name="Text Box 34"/>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5298" name="Group 35"/>
          <p:cNvGrpSpPr>
            <a:grpSpLocks/>
          </p:cNvGrpSpPr>
          <p:nvPr/>
        </p:nvGrpSpPr>
        <p:grpSpPr bwMode="auto">
          <a:xfrm>
            <a:off x="4532313" y="631825"/>
            <a:ext cx="1276350" cy="858838"/>
            <a:chOff x="4830" y="1752"/>
            <a:chExt cx="667" cy="477"/>
          </a:xfrm>
        </p:grpSpPr>
        <p:grpSp>
          <p:nvGrpSpPr>
            <p:cNvPr id="1035299" name="Group 36"/>
            <p:cNvGrpSpPr>
              <a:grpSpLocks/>
            </p:cNvGrpSpPr>
            <p:nvPr/>
          </p:nvGrpSpPr>
          <p:grpSpPr bwMode="auto">
            <a:xfrm>
              <a:off x="4830" y="1752"/>
              <a:ext cx="667" cy="477"/>
              <a:chOff x="2949" y="196"/>
              <a:chExt cx="941" cy="598"/>
            </a:xfrm>
          </p:grpSpPr>
          <p:sp>
            <p:nvSpPr>
              <p:cNvPr id="1035300"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1"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2"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3"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4"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5"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6"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7"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08" name="Freeform 4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09" name="Freeform 4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10" name="Freeform 4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11" name="Text Box 48"/>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sp>
        <p:nvSpPr>
          <p:cNvPr id="1035312" name="Line 49"/>
          <p:cNvSpPr>
            <a:spLocks noChangeShapeType="1"/>
          </p:cNvSpPr>
          <p:nvPr/>
        </p:nvSpPr>
        <p:spPr bwMode="auto">
          <a:xfrm>
            <a:off x="1785938" y="2436813"/>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35313"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050" y="2282825"/>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314" name="Text Box 51"/>
          <p:cNvSpPr txBox="1">
            <a:spLocks noChangeArrowheads="1"/>
          </p:cNvSpPr>
          <p:nvPr/>
        </p:nvSpPr>
        <p:spPr bwMode="auto">
          <a:xfrm>
            <a:off x="6945313" y="253047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35315" name="Text Box 52"/>
          <p:cNvSpPr txBox="1">
            <a:spLocks noChangeArrowheads="1"/>
          </p:cNvSpPr>
          <p:nvPr/>
        </p:nvSpPr>
        <p:spPr bwMode="auto">
          <a:xfrm>
            <a:off x="3048000" y="253047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p:txBody>
      </p:sp>
      <p:pic>
        <p:nvPicPr>
          <p:cNvPr id="1035316"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775" y="2282825"/>
            <a:ext cx="790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5317" name="Group 54"/>
          <p:cNvGrpSpPr>
            <a:grpSpLocks/>
          </p:cNvGrpSpPr>
          <p:nvPr/>
        </p:nvGrpSpPr>
        <p:grpSpPr bwMode="auto">
          <a:xfrm>
            <a:off x="768350" y="2005013"/>
            <a:ext cx="1277938" cy="858837"/>
            <a:chOff x="4830" y="1752"/>
            <a:chExt cx="667" cy="477"/>
          </a:xfrm>
        </p:grpSpPr>
        <p:grpSp>
          <p:nvGrpSpPr>
            <p:cNvPr id="1035318" name="Group 55"/>
            <p:cNvGrpSpPr>
              <a:grpSpLocks/>
            </p:cNvGrpSpPr>
            <p:nvPr/>
          </p:nvGrpSpPr>
          <p:grpSpPr bwMode="auto">
            <a:xfrm>
              <a:off x="4830" y="1752"/>
              <a:ext cx="667" cy="477"/>
              <a:chOff x="2949" y="196"/>
              <a:chExt cx="941" cy="598"/>
            </a:xfrm>
          </p:grpSpPr>
          <p:sp>
            <p:nvSpPr>
              <p:cNvPr id="1035319" name="Oval 5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0" name="Oval 5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1" name="Oval 5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2" name="Oval 5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3" name="Oval 6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4" name="Oval 6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5" name="Oval 6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6" name="Oval 6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27" name="Freeform 6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28" name="Freeform 6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29" name="Freeform 6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30" name="Text Box 67"/>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1</a:t>
              </a:r>
            </a:p>
          </p:txBody>
        </p:sp>
      </p:grpSp>
      <p:grpSp>
        <p:nvGrpSpPr>
          <p:cNvPr id="1035331" name="Group 68"/>
          <p:cNvGrpSpPr>
            <a:grpSpLocks/>
          </p:cNvGrpSpPr>
          <p:nvPr/>
        </p:nvGrpSpPr>
        <p:grpSpPr bwMode="auto">
          <a:xfrm>
            <a:off x="8356600" y="2005013"/>
            <a:ext cx="1277938" cy="858837"/>
            <a:chOff x="4830" y="1752"/>
            <a:chExt cx="667" cy="477"/>
          </a:xfrm>
        </p:grpSpPr>
        <p:grpSp>
          <p:nvGrpSpPr>
            <p:cNvPr id="1035332" name="Group 69"/>
            <p:cNvGrpSpPr>
              <a:grpSpLocks/>
            </p:cNvGrpSpPr>
            <p:nvPr/>
          </p:nvGrpSpPr>
          <p:grpSpPr bwMode="auto">
            <a:xfrm>
              <a:off x="4830" y="1752"/>
              <a:ext cx="667" cy="477"/>
              <a:chOff x="2949" y="196"/>
              <a:chExt cx="941" cy="598"/>
            </a:xfrm>
          </p:grpSpPr>
          <p:sp>
            <p:nvSpPr>
              <p:cNvPr id="1035333" name="Oval 7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4" name="Oval 7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5" name="Oval 7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6" name="Oval 7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7" name="Oval 7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8" name="Oval 7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39" name="Oval 7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40" name="Oval 7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41" name="Freeform 7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42" name="Freeform 7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43" name="Freeform 8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44" name="Text Box 81"/>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3</a:t>
              </a:r>
            </a:p>
          </p:txBody>
        </p:sp>
      </p:grpSp>
      <p:grpSp>
        <p:nvGrpSpPr>
          <p:cNvPr id="1035345" name="Group 82"/>
          <p:cNvGrpSpPr>
            <a:grpSpLocks/>
          </p:cNvGrpSpPr>
          <p:nvPr/>
        </p:nvGrpSpPr>
        <p:grpSpPr bwMode="auto">
          <a:xfrm>
            <a:off x="4532313" y="2005013"/>
            <a:ext cx="1276350" cy="858837"/>
            <a:chOff x="4830" y="1752"/>
            <a:chExt cx="667" cy="477"/>
          </a:xfrm>
        </p:grpSpPr>
        <p:grpSp>
          <p:nvGrpSpPr>
            <p:cNvPr id="1035346" name="Group 83"/>
            <p:cNvGrpSpPr>
              <a:grpSpLocks/>
            </p:cNvGrpSpPr>
            <p:nvPr/>
          </p:nvGrpSpPr>
          <p:grpSpPr bwMode="auto">
            <a:xfrm>
              <a:off x="4830" y="1752"/>
              <a:ext cx="667" cy="477"/>
              <a:chOff x="2949" y="196"/>
              <a:chExt cx="941" cy="598"/>
            </a:xfrm>
          </p:grpSpPr>
          <p:sp>
            <p:nvSpPr>
              <p:cNvPr id="1035347"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48"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49"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0"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1"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2"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3"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4"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55" name="Freeform 9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56" name="Freeform 9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35357" name="Freeform 9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58" name="Text Box 95"/>
            <p:cNvSpPr txBox="1">
              <a:spLocks noChangeArrowheads="1"/>
            </p:cNvSpPr>
            <p:nvPr/>
          </p:nvSpPr>
          <p:spPr bwMode="auto">
            <a:xfrm>
              <a:off x="4967" y="1856"/>
              <a:ext cx="342" cy="222"/>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2</a:t>
              </a:r>
            </a:p>
          </p:txBody>
        </p:sp>
      </p:grpSp>
      <p:grpSp>
        <p:nvGrpSpPr>
          <p:cNvPr id="1035359" name="Group 96"/>
          <p:cNvGrpSpPr>
            <a:grpSpLocks/>
          </p:cNvGrpSpPr>
          <p:nvPr/>
        </p:nvGrpSpPr>
        <p:grpSpPr bwMode="auto">
          <a:xfrm>
            <a:off x="746125" y="1916113"/>
            <a:ext cx="1298575" cy="971550"/>
            <a:chOff x="434" y="1298"/>
            <a:chExt cx="755" cy="612"/>
          </a:xfrm>
        </p:grpSpPr>
        <p:sp>
          <p:nvSpPr>
            <p:cNvPr id="1035360" name="Line 97"/>
            <p:cNvSpPr>
              <a:spLocks noChangeShapeType="1"/>
            </p:cNvSpPr>
            <p:nvPr/>
          </p:nvSpPr>
          <p:spPr bwMode="auto">
            <a:xfrm>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35361" name="Line 98"/>
            <p:cNvSpPr>
              <a:spLocks noChangeShapeType="1"/>
            </p:cNvSpPr>
            <p:nvPr/>
          </p:nvSpPr>
          <p:spPr bwMode="auto">
            <a:xfrm flipH="1">
              <a:off x="434" y="1298"/>
              <a:ext cx="755" cy="61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35362" name="Text Box 99"/>
          <p:cNvSpPr txBox="1">
            <a:spLocks noChangeArrowheads="1"/>
          </p:cNvSpPr>
          <p:nvPr/>
        </p:nvSpPr>
        <p:spPr bwMode="auto">
          <a:xfrm>
            <a:off x="612775" y="3068638"/>
            <a:ext cx="16684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网</a:t>
            </a:r>
            <a:r>
              <a:rPr lang="zh-CN" altLang="en-US" sz="1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出了故障</a:t>
            </a:r>
          </a:p>
        </p:txBody>
      </p:sp>
      <p:sp>
        <p:nvSpPr>
          <p:cNvPr id="1035363" name="Text Box 100"/>
          <p:cNvSpPr txBox="1">
            <a:spLocks noChangeArrowheads="1"/>
          </p:cNvSpPr>
          <p:nvPr/>
        </p:nvSpPr>
        <p:spPr bwMode="auto">
          <a:xfrm>
            <a:off x="266700" y="30480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正</a:t>
            </a:r>
          </a:p>
          <a:p>
            <a:pPr eaLnBrk="0" hangingPunct="0"/>
            <a:r>
              <a:rPr lang="zh-CN" altLang="en-US" sz="2000" b="1">
                <a:solidFill>
                  <a:srgbClr val="0000CC"/>
                </a:solidFill>
                <a:ea typeface="黑体" panose="02010609060101010101" pitchFamily="49" charset="-122"/>
              </a:rPr>
              <a:t>常</a:t>
            </a:r>
          </a:p>
          <a:p>
            <a:pPr eaLnBrk="0" hangingPunct="0"/>
            <a:r>
              <a:rPr lang="zh-CN" altLang="en-US" sz="2000" b="1">
                <a:solidFill>
                  <a:srgbClr val="0000CC"/>
                </a:solidFill>
                <a:ea typeface="黑体" panose="02010609060101010101" pitchFamily="49" charset="-122"/>
              </a:rPr>
              <a:t>情</a:t>
            </a:r>
          </a:p>
          <a:p>
            <a:pPr eaLnBrk="0" hangingPunct="0"/>
            <a:r>
              <a:rPr lang="zh-CN" altLang="en-US" sz="2000" b="1">
                <a:solidFill>
                  <a:srgbClr val="0000CC"/>
                </a:solidFill>
                <a:ea typeface="黑体" panose="02010609060101010101" pitchFamily="49" charset="-122"/>
              </a:rPr>
              <a:t>况</a:t>
            </a:r>
          </a:p>
        </p:txBody>
      </p:sp>
      <p:grpSp>
        <p:nvGrpSpPr>
          <p:cNvPr id="1035364" name="Group 101"/>
          <p:cNvGrpSpPr>
            <a:grpSpLocks/>
          </p:cNvGrpSpPr>
          <p:nvPr/>
        </p:nvGrpSpPr>
        <p:grpSpPr bwMode="auto">
          <a:xfrm>
            <a:off x="2436813" y="498475"/>
            <a:ext cx="1593850" cy="312738"/>
            <a:chOff x="1491" y="212"/>
            <a:chExt cx="853" cy="240"/>
          </a:xfrm>
        </p:grpSpPr>
        <p:sp>
          <p:nvSpPr>
            <p:cNvPr id="1035365" name="AutoShape 102"/>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66" name="Rectangle 103"/>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5367" name="Text Box 104"/>
          <p:cNvSpPr txBox="1">
            <a:spLocks noChangeArrowheads="1"/>
          </p:cNvSpPr>
          <p:nvPr/>
        </p:nvSpPr>
        <p:spPr bwMode="auto">
          <a:xfrm>
            <a:off x="2457450" y="573088"/>
            <a:ext cx="89376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sp>
        <p:nvSpPr>
          <p:cNvPr id="1035368" name="Text Box 105"/>
          <p:cNvSpPr txBox="1">
            <a:spLocks noChangeArrowheads="1"/>
          </p:cNvSpPr>
          <p:nvPr/>
        </p:nvSpPr>
        <p:spPr bwMode="auto">
          <a:xfrm rot="5400000">
            <a:off x="6900069" y="4595019"/>
            <a:ext cx="4143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a:t>
            </a:r>
          </a:p>
        </p:txBody>
      </p:sp>
      <p:grpSp>
        <p:nvGrpSpPr>
          <p:cNvPr id="1035369" name="Group 106"/>
          <p:cNvGrpSpPr>
            <a:grpSpLocks/>
          </p:cNvGrpSpPr>
          <p:nvPr/>
        </p:nvGrpSpPr>
        <p:grpSpPr bwMode="auto">
          <a:xfrm>
            <a:off x="2732088" y="4219575"/>
            <a:ext cx="1595437" cy="312738"/>
            <a:chOff x="1491" y="212"/>
            <a:chExt cx="853" cy="240"/>
          </a:xfrm>
        </p:grpSpPr>
        <p:sp>
          <p:nvSpPr>
            <p:cNvPr id="1035370" name="AutoShape 107"/>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71" name="Rectangle 108"/>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grpSp>
        <p:nvGrpSpPr>
          <p:cNvPr id="1035372" name="Group 109"/>
          <p:cNvGrpSpPr>
            <a:grpSpLocks/>
          </p:cNvGrpSpPr>
          <p:nvPr/>
        </p:nvGrpSpPr>
        <p:grpSpPr bwMode="auto">
          <a:xfrm>
            <a:off x="2732088" y="3140075"/>
            <a:ext cx="1595437" cy="312738"/>
            <a:chOff x="1491" y="212"/>
            <a:chExt cx="853" cy="240"/>
          </a:xfrm>
        </p:grpSpPr>
        <p:sp>
          <p:nvSpPr>
            <p:cNvPr id="1035373" name="AutoShape 110"/>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74" name="Rectangle 111"/>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5375" name="Text Box 112"/>
          <p:cNvSpPr txBox="1">
            <a:spLocks noChangeArrowheads="1"/>
          </p:cNvSpPr>
          <p:nvPr/>
        </p:nvSpPr>
        <p:spPr bwMode="auto">
          <a:xfrm>
            <a:off x="2693988" y="3206750"/>
            <a:ext cx="10350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a:t>
            </a:r>
            <a:endParaRPr lang="en-US" altLang="zh-CN" sz="2000" b="1" baseline="-25000">
              <a:solidFill>
                <a:srgbClr val="0000CC"/>
              </a:solidFill>
              <a:ea typeface="黑体" panose="02010609060101010101" pitchFamily="49" charset="-122"/>
              <a:sym typeface="Symbol" panose="05050102010706020507" pitchFamily="18" charset="2"/>
            </a:endParaRPr>
          </a:p>
        </p:txBody>
      </p:sp>
      <p:grpSp>
        <p:nvGrpSpPr>
          <p:cNvPr id="1035376" name="Group 113"/>
          <p:cNvGrpSpPr>
            <a:grpSpLocks/>
          </p:cNvGrpSpPr>
          <p:nvPr/>
        </p:nvGrpSpPr>
        <p:grpSpPr bwMode="auto">
          <a:xfrm>
            <a:off x="2690813" y="3643313"/>
            <a:ext cx="1636712" cy="312737"/>
            <a:chOff x="1565" y="2478"/>
            <a:chExt cx="951" cy="197"/>
          </a:xfrm>
        </p:grpSpPr>
        <p:grpSp>
          <p:nvGrpSpPr>
            <p:cNvPr id="1035377" name="Group 114"/>
            <p:cNvGrpSpPr>
              <a:grpSpLocks/>
            </p:cNvGrpSpPr>
            <p:nvPr/>
          </p:nvGrpSpPr>
          <p:grpSpPr bwMode="auto">
            <a:xfrm>
              <a:off x="1589" y="2478"/>
              <a:ext cx="927" cy="197"/>
              <a:chOff x="1491" y="212"/>
              <a:chExt cx="853" cy="240"/>
            </a:xfrm>
          </p:grpSpPr>
          <p:sp>
            <p:nvSpPr>
              <p:cNvPr id="1035378" name="AutoShape 115"/>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79" name="Rectangle 116"/>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5380" name="Text Box 117"/>
            <p:cNvSpPr txBox="1">
              <a:spLocks noChangeArrowheads="1"/>
            </p:cNvSpPr>
            <p:nvPr/>
          </p:nvSpPr>
          <p:spPr bwMode="auto">
            <a:xfrm>
              <a:off x="1565" y="2518"/>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1  3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sp>
        <p:nvSpPr>
          <p:cNvPr id="1035381" name="Text Box 118"/>
          <p:cNvSpPr txBox="1">
            <a:spLocks noChangeArrowheads="1"/>
          </p:cNvSpPr>
          <p:nvPr/>
        </p:nvSpPr>
        <p:spPr bwMode="auto">
          <a:xfrm>
            <a:off x="2725738" y="4297363"/>
            <a:ext cx="103346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1  5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nvGrpSpPr>
          <p:cNvPr id="1035382" name="Group 119"/>
          <p:cNvGrpSpPr>
            <a:grpSpLocks/>
          </p:cNvGrpSpPr>
          <p:nvPr/>
        </p:nvGrpSpPr>
        <p:grpSpPr bwMode="auto">
          <a:xfrm>
            <a:off x="2701925" y="5084763"/>
            <a:ext cx="1625600" cy="331787"/>
            <a:chOff x="1571" y="3313"/>
            <a:chExt cx="945" cy="209"/>
          </a:xfrm>
        </p:grpSpPr>
        <p:grpSp>
          <p:nvGrpSpPr>
            <p:cNvPr id="1035383" name="Group 120"/>
            <p:cNvGrpSpPr>
              <a:grpSpLocks/>
            </p:cNvGrpSpPr>
            <p:nvPr/>
          </p:nvGrpSpPr>
          <p:grpSpPr bwMode="auto">
            <a:xfrm>
              <a:off x="1589" y="3313"/>
              <a:ext cx="927" cy="197"/>
              <a:chOff x="1491" y="212"/>
              <a:chExt cx="853" cy="240"/>
            </a:xfrm>
          </p:grpSpPr>
          <p:sp>
            <p:nvSpPr>
              <p:cNvPr id="1035384" name="AutoShape 121"/>
              <p:cNvSpPr>
                <a:spLocks noChangeArrowheads="1"/>
              </p:cNvSpPr>
              <p:nvPr/>
            </p:nvSpPr>
            <p:spPr bwMode="auto">
              <a:xfrm>
                <a:off x="2089" y="271"/>
                <a:ext cx="255" cy="122"/>
              </a:xfrm>
              <a:prstGeom prst="rightArrow">
                <a:avLst>
                  <a:gd name="adj1" fmla="val 50000"/>
                  <a:gd name="adj2" fmla="val 52244"/>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35385" name="Rectangle 12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35386" name="Text Box 123"/>
            <p:cNvSpPr txBox="1">
              <a:spLocks noChangeArrowheads="1"/>
            </p:cNvSpPr>
            <p:nvPr/>
          </p:nvSpPr>
          <p:spPr bwMode="auto">
            <a:xfrm>
              <a:off x="1571" y="3367"/>
              <a:ext cx="68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1  16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2</a:t>
              </a:r>
            </a:p>
          </p:txBody>
        </p:sp>
      </p:grpSp>
      <p:grpSp>
        <p:nvGrpSpPr>
          <p:cNvPr id="579708" name="Group 124"/>
          <p:cNvGrpSpPr/>
          <p:nvPr/>
        </p:nvGrpSpPr>
        <p:grpSpPr bwMode="auto">
          <a:xfrm flipH="1">
            <a:off x="6045068" y="521261"/>
            <a:ext cx="1594246" cy="312737"/>
            <a:chOff x="1491" y="212"/>
            <a:chExt cx="853" cy="240"/>
          </a:xfrm>
          <a:solidFill>
            <a:srgbClr val="66FF66"/>
          </a:solidFill>
        </p:grpSpPr>
        <p:sp>
          <p:nvSpPr>
            <p:cNvPr id="579709" name="AutoShape 125"/>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9710" name="Rectangle 126"/>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1035388" name="Text Box 127"/>
          <p:cNvSpPr txBox="1">
            <a:spLocks noChangeArrowheads="1"/>
          </p:cNvSpPr>
          <p:nvPr/>
        </p:nvSpPr>
        <p:spPr bwMode="auto">
          <a:xfrm>
            <a:off x="6467475" y="615950"/>
            <a:ext cx="10334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9712" name="Group 128"/>
          <p:cNvGrpSpPr/>
          <p:nvPr/>
        </p:nvGrpSpPr>
        <p:grpSpPr bwMode="auto">
          <a:xfrm flipH="1">
            <a:off x="6045068" y="3088408"/>
            <a:ext cx="1594246" cy="312737"/>
            <a:chOff x="1491" y="212"/>
            <a:chExt cx="853" cy="240"/>
          </a:xfrm>
          <a:solidFill>
            <a:srgbClr val="66FF66"/>
          </a:solidFill>
        </p:grpSpPr>
        <p:sp>
          <p:nvSpPr>
            <p:cNvPr id="579713" name="AutoShape 129"/>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9714" name="Rectangle 130"/>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1035390" name="Text Box 131"/>
          <p:cNvSpPr txBox="1">
            <a:spLocks noChangeArrowheads="1"/>
          </p:cNvSpPr>
          <p:nvPr/>
        </p:nvSpPr>
        <p:spPr bwMode="auto">
          <a:xfrm>
            <a:off x="6467475" y="3182938"/>
            <a:ext cx="1033463"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50000"/>
              </a:lnSpc>
            </a:pPr>
            <a:r>
              <a:rPr lang="en-US" altLang="zh-CN" sz="2000" b="1">
                <a:solidFill>
                  <a:srgbClr val="0000CC"/>
                </a:solidFill>
                <a:ea typeface="黑体" panose="02010609060101010101" pitchFamily="49" charset="-122"/>
              </a:rPr>
              <a:t>1  2  </a:t>
            </a:r>
            <a:r>
              <a:rPr lang="en-US" altLang="zh-CN" sz="2000" b="1">
                <a:solidFill>
                  <a:srgbClr val="0000CC"/>
                </a:solidFill>
                <a:ea typeface="黑体" panose="02010609060101010101" pitchFamily="49" charset="-122"/>
                <a:sym typeface="Symbol" panose="05050102010706020507" pitchFamily="18" charset="2"/>
              </a:rPr>
              <a:t>R</a:t>
            </a:r>
            <a:r>
              <a:rPr lang="en-US" altLang="zh-CN" sz="2000" b="1" baseline="-25000">
                <a:solidFill>
                  <a:srgbClr val="0000CC"/>
                </a:solidFill>
                <a:ea typeface="黑体" panose="02010609060101010101" pitchFamily="49" charset="-122"/>
                <a:sym typeface="Symbol" panose="05050102010706020507" pitchFamily="18" charset="2"/>
              </a:rPr>
              <a:t>1</a:t>
            </a:r>
          </a:p>
        </p:txBody>
      </p:sp>
      <p:grpSp>
        <p:nvGrpSpPr>
          <p:cNvPr id="579716" name="Group 132"/>
          <p:cNvGrpSpPr/>
          <p:nvPr/>
        </p:nvGrpSpPr>
        <p:grpSpPr bwMode="auto">
          <a:xfrm>
            <a:off x="6045068" y="3932965"/>
            <a:ext cx="1594246" cy="328613"/>
            <a:chOff x="3515" y="2704"/>
            <a:chExt cx="927" cy="207"/>
          </a:xfrm>
          <a:solidFill>
            <a:srgbClr val="66FF66"/>
          </a:solidFill>
        </p:grpSpPr>
        <p:grpSp>
          <p:nvGrpSpPr>
            <p:cNvPr id="579717" name="Group 133"/>
            <p:cNvGrpSpPr/>
            <p:nvPr/>
          </p:nvGrpSpPr>
          <p:grpSpPr bwMode="auto">
            <a:xfrm flipH="1">
              <a:off x="3515" y="2704"/>
              <a:ext cx="927" cy="197"/>
              <a:chOff x="1491" y="212"/>
              <a:chExt cx="853" cy="240"/>
            </a:xfrm>
            <a:grpFill/>
          </p:grpSpPr>
          <p:sp>
            <p:nvSpPr>
              <p:cNvPr id="579718" name="AutoShape 134"/>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9719" name="Rectangle 135"/>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9720" name="Text Box 136"/>
            <p:cNvSpPr txBox="1">
              <a:spLocks noChangeArrowheads="1"/>
            </p:cNvSpPr>
            <p:nvPr/>
          </p:nvSpPr>
          <p:spPr bwMode="auto">
            <a:xfrm>
              <a:off x="3771" y="2756"/>
              <a:ext cx="600"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1  4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grpSp>
        <p:nvGrpSpPr>
          <p:cNvPr id="579721" name="Group 137"/>
          <p:cNvGrpSpPr/>
          <p:nvPr/>
        </p:nvGrpSpPr>
        <p:grpSpPr bwMode="auto">
          <a:xfrm>
            <a:off x="6045069" y="5085491"/>
            <a:ext cx="1594247" cy="319088"/>
            <a:chOff x="3515" y="3540"/>
            <a:chExt cx="927" cy="201"/>
          </a:xfrm>
          <a:solidFill>
            <a:srgbClr val="66FF66"/>
          </a:solidFill>
        </p:grpSpPr>
        <p:grpSp>
          <p:nvGrpSpPr>
            <p:cNvPr id="579722" name="Group 138"/>
            <p:cNvGrpSpPr/>
            <p:nvPr/>
          </p:nvGrpSpPr>
          <p:grpSpPr bwMode="auto">
            <a:xfrm flipH="1">
              <a:off x="3515" y="3540"/>
              <a:ext cx="927" cy="197"/>
              <a:chOff x="1491" y="212"/>
              <a:chExt cx="853" cy="240"/>
            </a:xfrm>
            <a:grpFill/>
          </p:grpSpPr>
          <p:sp>
            <p:nvSpPr>
              <p:cNvPr id="579723" name="AutoShape 139"/>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sp>
            <p:nvSpPr>
              <p:cNvPr id="579724" name="Rectangle 140"/>
              <p:cNvSpPr>
                <a:spLocks noChangeArrowheads="1"/>
              </p:cNvSpPr>
              <p:nvPr/>
            </p:nvSpPr>
            <p:spPr bwMode="auto">
              <a:xfrm>
                <a:off x="1491" y="212"/>
                <a:ext cx="632"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noProof="1">
                  <a:solidFill>
                    <a:srgbClr val="0000CC"/>
                  </a:solidFill>
                  <a:latin typeface="+mn-lt"/>
                  <a:ea typeface="黑体" panose="02010609060101010101" pitchFamily="2" charset="-122"/>
                </a:endParaRPr>
              </a:p>
            </p:txBody>
          </p:sp>
        </p:grpSp>
        <p:sp>
          <p:nvSpPr>
            <p:cNvPr id="579725" name="Text Box 141"/>
            <p:cNvSpPr txBox="1">
              <a:spLocks noChangeArrowheads="1"/>
            </p:cNvSpPr>
            <p:nvPr/>
          </p:nvSpPr>
          <p:spPr bwMode="auto">
            <a:xfrm>
              <a:off x="3748" y="3586"/>
              <a:ext cx="683"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noProof="1">
                  <a:solidFill>
                    <a:srgbClr val="0000CC"/>
                  </a:solidFill>
                  <a:latin typeface="+mn-lt"/>
                  <a:ea typeface="黑体" panose="02010609060101010101" pitchFamily="2" charset="-122"/>
                </a:rPr>
                <a:t>1  16  </a:t>
              </a:r>
              <a:r>
                <a:rPr kumimoji="1" lang="en-US" altLang="zh-CN" sz="2000" b="1" noProof="1">
                  <a:solidFill>
                    <a:srgbClr val="0000CC"/>
                  </a:solidFill>
                  <a:latin typeface="+mn-lt"/>
                  <a:ea typeface="黑体" panose="02010609060101010101" pitchFamily="2" charset="-122"/>
                  <a:sym typeface="Symbol" panose="05050102010706020507" pitchFamily="18" charset="2"/>
                </a:rPr>
                <a:t>R</a:t>
              </a:r>
              <a:r>
                <a:rPr kumimoji="1" lang="en-US" altLang="zh-CN" sz="2000" b="1" baseline="-25000" noProof="1">
                  <a:solidFill>
                    <a:srgbClr val="0000CC"/>
                  </a:solidFill>
                  <a:latin typeface="+mn-lt"/>
                  <a:ea typeface="黑体" panose="02010609060101010101" pitchFamily="2" charset="-122"/>
                  <a:sym typeface="Symbol" panose="05050102010706020507" pitchFamily="18" charset="2"/>
                </a:rPr>
                <a:t>1</a:t>
              </a:r>
            </a:p>
          </p:txBody>
        </p:sp>
      </p:grpSp>
      <p:sp>
        <p:nvSpPr>
          <p:cNvPr id="1035393" name="Text Box 142"/>
          <p:cNvSpPr txBox="1">
            <a:spLocks noChangeArrowheads="1"/>
          </p:cNvSpPr>
          <p:nvPr/>
        </p:nvSpPr>
        <p:spPr bwMode="auto">
          <a:xfrm rot="5400000">
            <a:off x="3154363" y="4594225"/>
            <a:ext cx="4143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a:t>
            </a:r>
          </a:p>
        </p:txBody>
      </p:sp>
      <p:sp>
        <p:nvSpPr>
          <p:cNvPr id="1035394" name="Text Box 143"/>
          <p:cNvSpPr txBox="1">
            <a:spLocks noChangeArrowheads="1"/>
          </p:cNvSpPr>
          <p:nvPr/>
        </p:nvSpPr>
        <p:spPr bwMode="auto">
          <a:xfrm>
            <a:off x="338138" y="5589588"/>
            <a:ext cx="9510712" cy="954087"/>
          </a:xfrm>
          <a:prstGeom prst="rect">
            <a:avLst/>
          </a:prstGeom>
          <a:solidFill>
            <a:srgbClr val="FFFF66"/>
          </a:solidFill>
          <a:ln w="9525">
            <a:solidFill>
              <a:schemeClr val="tx2"/>
            </a:solidFill>
            <a:miter lim="800000"/>
            <a:headEnd/>
            <a:tailEnd/>
          </a:ln>
        </p:spPr>
        <p:txBody>
          <a:bodyPr>
            <a:spAutoFit/>
          </a:bodyPr>
          <a:lstStyle/>
          <a:p>
            <a:pPr algn="just" eaLnBrk="0" hangingPunct="0"/>
            <a:r>
              <a:rPr lang="zh-CN" altLang="en-US" sz="2800" b="1">
                <a:solidFill>
                  <a:srgbClr val="0000CC"/>
                </a:solidFill>
                <a:ea typeface="黑体" panose="02010609060101010101" pitchFamily="49" charset="-122"/>
              </a:rPr>
              <a:t>这样不断更新下去，直到 </a:t>
            </a:r>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和 </a:t>
            </a:r>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2 </a:t>
            </a:r>
            <a:r>
              <a:rPr lang="zh-CN" altLang="en-US" sz="2800" b="1">
                <a:solidFill>
                  <a:srgbClr val="0000CC"/>
                </a:solidFill>
                <a:ea typeface="黑体" panose="02010609060101010101" pitchFamily="49" charset="-122"/>
              </a:rPr>
              <a:t>到网 </a:t>
            </a:r>
            <a:r>
              <a:rPr lang="en-US" altLang="zh-CN" sz="2800" b="1">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的距离都增大到 </a:t>
            </a:r>
            <a:r>
              <a:rPr lang="en-US" altLang="zh-CN" sz="2800" b="1">
                <a:solidFill>
                  <a:srgbClr val="0000CC"/>
                </a:solidFill>
                <a:ea typeface="黑体" panose="02010609060101010101" pitchFamily="49" charset="-122"/>
              </a:rPr>
              <a:t>16 </a:t>
            </a:r>
            <a:r>
              <a:rPr lang="zh-CN" altLang="en-US" sz="2800" b="1">
                <a:solidFill>
                  <a:srgbClr val="0000CC"/>
                </a:solidFill>
                <a:ea typeface="黑体" panose="02010609060101010101" pitchFamily="49" charset="-122"/>
              </a:rPr>
              <a:t>时，</a:t>
            </a:r>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和 </a:t>
            </a:r>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2 </a:t>
            </a:r>
            <a:r>
              <a:rPr lang="zh-CN" altLang="en-US" sz="2800" b="1">
                <a:solidFill>
                  <a:srgbClr val="0000CC"/>
                </a:solidFill>
                <a:ea typeface="黑体" panose="02010609060101010101" pitchFamily="49" charset="-122"/>
              </a:rPr>
              <a:t>才知道网 </a:t>
            </a:r>
            <a:r>
              <a:rPr lang="en-US" altLang="zh-CN" sz="2800" b="1">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是不可达的。 </a:t>
            </a:r>
          </a:p>
        </p:txBody>
      </p:sp>
      <p:sp>
        <p:nvSpPr>
          <p:cNvPr id="579728" name="Text Box 144"/>
          <p:cNvSpPr txBox="1">
            <a:spLocks noChangeArrowheads="1"/>
          </p:cNvSpPr>
          <p:nvPr/>
        </p:nvSpPr>
        <p:spPr bwMode="auto">
          <a:xfrm>
            <a:off x="338138" y="134938"/>
            <a:ext cx="9510712" cy="1384300"/>
          </a:xfrm>
          <a:prstGeom prst="rect">
            <a:avLst/>
          </a:prstGeom>
          <a:solidFill>
            <a:srgbClr val="CCECFF"/>
          </a:solidFill>
          <a:ln w="9525">
            <a:solidFill>
              <a:schemeClr val="tx2"/>
            </a:solidFill>
            <a:miter lim="800000"/>
            <a:headEnd/>
            <a:tailEnd/>
          </a:ln>
        </p:spPr>
        <p:txBody>
          <a:bodyPr>
            <a:spAutoFit/>
          </a:bodyPr>
          <a:lstStyle/>
          <a:p>
            <a:pPr algn="just" eaLnBrk="0" hangingPunct="0"/>
            <a:r>
              <a:rPr lang="zh-CN" altLang="en-US" sz="2800" b="1">
                <a:solidFill>
                  <a:srgbClr val="0000CC"/>
                </a:solidFill>
                <a:ea typeface="黑体" panose="02010609060101010101" pitchFamily="49" charset="-122"/>
              </a:rPr>
              <a:t>这就是</a:t>
            </a:r>
            <a:r>
              <a:rPr lang="zh-CN" altLang="en-US" sz="2800" b="1">
                <a:solidFill>
                  <a:srgbClr val="C00000"/>
                </a:solidFill>
                <a:ea typeface="黑体" panose="02010609060101010101" pitchFamily="49" charset="-122"/>
              </a:rPr>
              <a:t>好消息传播得快，而坏消息传播得慢</a:t>
            </a:r>
            <a:r>
              <a:rPr lang="zh-CN" altLang="en-US" sz="2800" b="1">
                <a:solidFill>
                  <a:srgbClr val="0000CC"/>
                </a:solidFill>
                <a:ea typeface="黑体" panose="02010609060101010101" pitchFamily="49" charset="-122"/>
              </a:rPr>
              <a:t>。网络出故障的传播时间往往需要较长的时间</a:t>
            </a:r>
            <a:r>
              <a:rPr lang="en-US" altLang="zh-CN" sz="2800" b="1">
                <a:solidFill>
                  <a:srgbClr val="0000CC"/>
                </a:solidFill>
                <a:ea typeface="黑体" panose="02010609060101010101" pitchFamily="49" charset="-122"/>
              </a:rPr>
              <a:t>(</a:t>
            </a:r>
            <a:r>
              <a:rPr lang="zh-CN" altLang="en-US" sz="2800" b="1">
                <a:solidFill>
                  <a:srgbClr val="0000CC"/>
                </a:solidFill>
                <a:ea typeface="黑体" panose="02010609060101010101" pitchFamily="49" charset="-122"/>
              </a:rPr>
              <a:t>例如数分钟</a:t>
            </a:r>
            <a:r>
              <a:rPr lang="en-US" altLang="zh-CN" sz="2800" b="1">
                <a:solidFill>
                  <a:srgbClr val="0000CC"/>
                </a:solidFill>
                <a:ea typeface="黑体" panose="02010609060101010101" pitchFamily="49" charset="-122"/>
              </a:rPr>
              <a:t>)</a:t>
            </a:r>
            <a:r>
              <a:rPr lang="zh-CN" altLang="en-US" sz="2800" b="1">
                <a:solidFill>
                  <a:srgbClr val="0000CC"/>
                </a:solidFill>
                <a:ea typeface="黑体" panose="02010609060101010101" pitchFamily="49" charset="-122"/>
              </a:rPr>
              <a:t>。这是 </a:t>
            </a:r>
            <a:r>
              <a:rPr lang="en-US" altLang="zh-CN" sz="2800" b="1">
                <a:solidFill>
                  <a:srgbClr val="0000CC"/>
                </a:solidFill>
                <a:ea typeface="黑体" panose="02010609060101010101" pitchFamily="49" charset="-122"/>
              </a:rPr>
              <a:t>RIP </a:t>
            </a:r>
            <a:r>
              <a:rPr lang="zh-CN" altLang="en-US" sz="2800" b="1">
                <a:solidFill>
                  <a:srgbClr val="0000CC"/>
                </a:solidFill>
                <a:ea typeface="黑体" panose="02010609060101010101" pitchFamily="49" charset="-122"/>
              </a:rPr>
              <a:t>的一个主要缺点。 </a:t>
            </a:r>
          </a:p>
        </p:txBody>
      </p:sp>
      <p:sp>
        <p:nvSpPr>
          <p:cNvPr id="10353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40C8BCF-E0D8-49EE-B17B-4DFDE66FCCF6}" type="slidenum">
              <a:rPr lang="zh-CN" altLang="en-US" smtClean="0"/>
              <a:pPr/>
              <a:t>32</a:t>
            </a:fld>
            <a:endParaRPr lang="en-US" altLang="zh-CN" smtClean="0"/>
          </a:p>
        </p:txBody>
      </p:sp>
      <p:sp>
        <p:nvSpPr>
          <p:cNvPr id="103539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9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72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RIP </a:t>
            </a:r>
            <a:r>
              <a:rPr lang="zh-CN" altLang="en-US" smtClean="0">
                <a:ea typeface="黑体" panose="02010609060101010101" pitchFamily="49" charset="-122"/>
              </a:rPr>
              <a:t>协议的优缺点 </a:t>
            </a:r>
          </a:p>
        </p:txBody>
      </p:sp>
      <p:sp>
        <p:nvSpPr>
          <p:cNvPr id="103731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优点：</a:t>
            </a:r>
            <a:endParaRPr lang="en-US" altLang="zh-CN" smtClean="0">
              <a:solidFill>
                <a:srgbClr val="FF0000"/>
              </a:solidFill>
              <a:ea typeface="黑体" panose="02010609060101010101" pitchFamily="49" charset="-122"/>
            </a:endParaRPr>
          </a:p>
          <a:p>
            <a:pPr lvl="1"/>
            <a:r>
              <a:rPr lang="zh-CN" altLang="en-US" smtClean="0">
                <a:ea typeface="黑体" panose="02010609060101010101" pitchFamily="49" charset="-122"/>
              </a:rPr>
              <a:t>实现简单，开销较小。</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缺点：</a:t>
            </a:r>
          </a:p>
          <a:p>
            <a:pPr lvl="1"/>
            <a:r>
              <a:rPr lang="en-US" altLang="zh-CN" smtClean="0">
                <a:ea typeface="黑体" panose="02010609060101010101" pitchFamily="49" charset="-122"/>
              </a:rPr>
              <a:t>RIP </a:t>
            </a:r>
            <a:r>
              <a:rPr lang="zh-CN" altLang="en-US" smtClean="0">
                <a:ea typeface="黑体" panose="02010609060101010101" pitchFamily="49" charset="-122"/>
              </a:rPr>
              <a:t>限制了网络的规模，它能使用的最大距离为 </a:t>
            </a:r>
            <a:r>
              <a:rPr lang="en-US" altLang="zh-CN" smtClean="0">
                <a:ea typeface="黑体" panose="02010609060101010101" pitchFamily="49" charset="-122"/>
              </a:rPr>
              <a:t>15</a:t>
            </a:r>
            <a:r>
              <a:rPr lang="zh-CN" altLang="en-US" smtClean="0">
                <a:ea typeface="黑体" panose="02010609060101010101" pitchFamily="49" charset="-122"/>
              </a:rPr>
              <a:t>（</a:t>
            </a:r>
            <a:r>
              <a:rPr lang="en-US" altLang="zh-CN" smtClean="0">
                <a:ea typeface="黑体" panose="02010609060101010101" pitchFamily="49" charset="-122"/>
              </a:rPr>
              <a:t>16 </a:t>
            </a:r>
            <a:r>
              <a:rPr lang="zh-CN" altLang="en-US" smtClean="0">
                <a:ea typeface="黑体" panose="02010609060101010101" pitchFamily="49" charset="-122"/>
              </a:rPr>
              <a:t>表示不可达）。</a:t>
            </a:r>
          </a:p>
          <a:p>
            <a:pPr lvl="1"/>
            <a:r>
              <a:rPr lang="zh-CN" altLang="en-US" smtClean="0">
                <a:ea typeface="黑体" panose="02010609060101010101" pitchFamily="49" charset="-122"/>
              </a:rPr>
              <a:t>路由器之间交换的路由信息是路由器中的完整路由表，因而随着网络规模的扩大，开销也就增加。 </a:t>
            </a:r>
          </a:p>
          <a:p>
            <a:pPr lvl="1"/>
            <a:r>
              <a:rPr lang="zh-CN" altLang="zh-CN" smtClean="0">
                <a:ea typeface="黑体" panose="02010609060101010101" pitchFamily="49" charset="-122"/>
              </a:rPr>
              <a:t>“坏消息传播得慢”，使更新过程的收敛时间过长</a:t>
            </a:r>
            <a:r>
              <a:rPr lang="zh-CN" altLang="en-US" smtClean="0">
                <a:ea typeface="黑体" panose="02010609060101010101" pitchFamily="49" charset="-122"/>
              </a:rPr>
              <a:t>。</a:t>
            </a:r>
          </a:p>
        </p:txBody>
      </p:sp>
      <p:sp>
        <p:nvSpPr>
          <p:cNvPr id="1037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FB9B5F-574D-44A1-A0DF-9B9C3B7455D0}" type="slidenum">
              <a:rPr lang="zh-CN" altLang="en-US" smtClean="0"/>
              <a:pPr eaLnBrk="1" hangingPunct="1"/>
              <a:t>33</a:t>
            </a:fld>
            <a:endParaRPr lang="en-US" altLang="zh-CN" smtClean="0"/>
          </a:p>
        </p:txBody>
      </p:sp>
      <p:sp>
        <p:nvSpPr>
          <p:cNvPr id="1037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1"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4.6.3  </a:t>
            </a:r>
            <a:r>
              <a:rPr lang="zh-CN" altLang="en-US" dirty="0" smtClean="0">
                <a:ea typeface="黑体" panose="02010609060101010101" pitchFamily="49" charset="-122"/>
              </a:rPr>
              <a:t>内部网关协议 </a:t>
            </a:r>
            <a:r>
              <a:rPr lang="en-US" altLang="zh-CN" dirty="0" smtClean="0">
                <a:ea typeface="黑体" panose="02010609060101010101" pitchFamily="49" charset="-122"/>
              </a:rPr>
              <a:t>OSPF</a:t>
            </a:r>
            <a:endParaRPr lang="en-US" altLang="zh-CN" sz="3600" dirty="0" smtClean="0">
              <a:ea typeface="黑体" panose="02010609060101010101" pitchFamily="49" charset="-122"/>
            </a:endParaRPr>
          </a:p>
        </p:txBody>
      </p:sp>
      <p:sp>
        <p:nvSpPr>
          <p:cNvPr id="1039362" name="Rectangle 3"/>
          <p:cNvSpPr>
            <a:spLocks noGrp="1" noChangeArrowheads="1"/>
          </p:cNvSpPr>
          <p:nvPr>
            <p:ph idx="1"/>
          </p:nvPr>
        </p:nvSpPr>
        <p:spPr>
          <a:xfrm>
            <a:off x="495300" y="1196975"/>
            <a:ext cx="9066213" cy="4933950"/>
          </a:xfrm>
        </p:spPr>
        <p:txBody>
          <a:bodyPr/>
          <a:lstStyle/>
          <a:p>
            <a:pPr>
              <a:spcBef>
                <a:spcPts val="1200"/>
              </a:spcBef>
            </a:pPr>
            <a:r>
              <a:rPr lang="zh-CN" altLang="zh-CN" u="sng" dirty="0" smtClean="0">
                <a:solidFill>
                  <a:srgbClr val="FF0000"/>
                </a:solidFill>
                <a:ea typeface="黑体" panose="02010609060101010101" pitchFamily="49" charset="-122"/>
              </a:rPr>
              <a:t>开放最短路径优先</a:t>
            </a:r>
            <a:r>
              <a:rPr lang="en-US" altLang="zh-CN" u="sng" dirty="0" smtClean="0">
                <a:solidFill>
                  <a:srgbClr val="FF0000"/>
                </a:solidFill>
                <a:ea typeface="黑体" panose="02010609060101010101" pitchFamily="49" charset="-122"/>
              </a:rPr>
              <a:t> OSPF (Open Shortest Path First)</a:t>
            </a:r>
            <a:r>
              <a:rPr lang="zh-CN" altLang="zh-CN" dirty="0" smtClean="0">
                <a:ea typeface="黑体" panose="02010609060101010101" pitchFamily="49" charset="-122"/>
              </a:rPr>
              <a:t>是为克服</a:t>
            </a:r>
            <a:r>
              <a:rPr lang="en-US" altLang="zh-CN" dirty="0" smtClean="0">
                <a:ea typeface="黑体" panose="02010609060101010101" pitchFamily="49" charset="-122"/>
              </a:rPr>
              <a:t> RIP </a:t>
            </a:r>
            <a:r>
              <a:rPr lang="zh-CN" altLang="zh-CN" dirty="0" smtClean="0">
                <a:ea typeface="黑体" panose="02010609060101010101" pitchFamily="49" charset="-122"/>
              </a:rPr>
              <a:t>的缺点在</a:t>
            </a:r>
            <a:r>
              <a:rPr lang="en-US" altLang="zh-CN" dirty="0" smtClean="0">
                <a:ea typeface="黑体" panose="02010609060101010101" pitchFamily="49" charset="-122"/>
              </a:rPr>
              <a:t>1989</a:t>
            </a:r>
            <a:r>
              <a:rPr lang="zh-CN" altLang="zh-CN" dirty="0" smtClean="0">
                <a:ea typeface="黑体" panose="02010609060101010101" pitchFamily="49" charset="-122"/>
              </a:rPr>
              <a:t>年开发出来的。</a:t>
            </a:r>
            <a:endParaRPr lang="en-US" altLang="zh-CN" dirty="0" smtClean="0">
              <a:ea typeface="黑体" panose="02010609060101010101" pitchFamily="49" charset="-122"/>
            </a:endParaRPr>
          </a:p>
          <a:p>
            <a:pPr>
              <a:spcBef>
                <a:spcPts val="1200"/>
              </a:spcBef>
            </a:pPr>
            <a:r>
              <a:rPr lang="en-US" altLang="zh-CN" dirty="0" smtClean="0">
                <a:solidFill>
                  <a:srgbClr val="0000FF"/>
                </a:solidFill>
                <a:ea typeface="黑体" panose="02010609060101010101" pitchFamily="49" charset="-122"/>
              </a:rPr>
              <a:t>OSPF </a:t>
            </a:r>
            <a:r>
              <a:rPr lang="zh-CN" altLang="zh-CN" dirty="0" smtClean="0">
                <a:solidFill>
                  <a:srgbClr val="0000FF"/>
                </a:solidFill>
                <a:ea typeface="黑体" panose="02010609060101010101" pitchFamily="49" charset="-122"/>
              </a:rPr>
              <a:t>的原理很简单，但实现起来却较复杂。</a:t>
            </a:r>
            <a:endParaRPr lang="en-US" altLang="zh-CN" dirty="0" smtClean="0">
              <a:solidFill>
                <a:srgbClr val="0000FF"/>
              </a:solidFill>
              <a:ea typeface="黑体" panose="02010609060101010101" pitchFamily="49" charset="-122"/>
            </a:endParaRPr>
          </a:p>
        </p:txBody>
      </p:sp>
      <p:sp>
        <p:nvSpPr>
          <p:cNvPr id="10393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A4AC5A-859B-468A-8C8A-880195548DC4}" type="slidenum">
              <a:rPr lang="zh-CN" altLang="en-US" smtClean="0"/>
              <a:pPr eaLnBrk="1" hangingPunct="1"/>
              <a:t>34</a:t>
            </a:fld>
            <a:endParaRPr lang="en-US" altLang="zh-CN" smtClean="0"/>
          </a:p>
        </p:txBody>
      </p:sp>
      <p:sp>
        <p:nvSpPr>
          <p:cNvPr id="10393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09" name="Rectangle 2"/>
          <p:cNvSpPr>
            <a:spLocks noGrp="1" noChangeArrowheads="1"/>
          </p:cNvSpPr>
          <p:nvPr>
            <p:ph type="title"/>
          </p:nvPr>
        </p:nvSpPr>
        <p:spPr>
          <a:xfrm>
            <a:off x="495300" y="188913"/>
            <a:ext cx="9066213" cy="792162"/>
          </a:xfrm>
        </p:spPr>
        <p:txBody>
          <a:bodyPr/>
          <a:lstStyle/>
          <a:p>
            <a:pPr>
              <a:lnSpc>
                <a:spcPct val="90000"/>
              </a:lnSpc>
            </a:pPr>
            <a:r>
              <a:rPr lang="en-US" altLang="zh-CN" smtClean="0">
                <a:ea typeface="黑体" panose="02010609060101010101" pitchFamily="49" charset="-122"/>
              </a:rPr>
              <a:t>1.  OSPF </a:t>
            </a:r>
            <a:r>
              <a:rPr lang="zh-CN" altLang="en-US" smtClean="0">
                <a:ea typeface="黑体" panose="02010609060101010101" pitchFamily="49" charset="-122"/>
              </a:rPr>
              <a:t>协议的基本特点</a:t>
            </a:r>
          </a:p>
        </p:txBody>
      </p:sp>
      <p:sp>
        <p:nvSpPr>
          <p:cNvPr id="580611" name="Rectangle 3"/>
          <p:cNvSpPr>
            <a:spLocks noGrp="1" noChangeArrowheads="1"/>
          </p:cNvSpPr>
          <p:nvPr>
            <p:ph idx="1"/>
          </p:nvPr>
        </p:nvSpPr>
        <p:spPr>
          <a:xfrm>
            <a:off x="495300" y="1196975"/>
            <a:ext cx="9066213" cy="4933950"/>
          </a:xfrm>
        </p:spPr>
        <p:txBody>
          <a:bodyPr/>
          <a:lstStyle/>
          <a:p>
            <a:pPr>
              <a:spcBef>
                <a:spcPts val="1200"/>
              </a:spcBef>
            </a:pPr>
            <a:r>
              <a:rPr lang="zh-CN" altLang="en-US" smtClean="0">
                <a:ea typeface="黑体" panose="02010609060101010101" pitchFamily="49" charset="-122"/>
              </a:rPr>
              <a:t>“</a:t>
            </a:r>
            <a:r>
              <a:rPr lang="zh-CN" altLang="en-US" smtClean="0">
                <a:solidFill>
                  <a:srgbClr val="FF0000"/>
                </a:solidFill>
                <a:ea typeface="黑体" panose="02010609060101010101" pitchFamily="49" charset="-122"/>
              </a:rPr>
              <a:t>开放</a:t>
            </a:r>
            <a:r>
              <a:rPr lang="zh-CN" altLang="en-US" smtClean="0">
                <a:ea typeface="黑体" panose="02010609060101010101" pitchFamily="49" charset="-122"/>
              </a:rPr>
              <a:t>”表明 </a:t>
            </a:r>
            <a:r>
              <a:rPr lang="en-US" altLang="zh-CN" smtClean="0">
                <a:ea typeface="黑体" panose="02010609060101010101" pitchFamily="49" charset="-122"/>
              </a:rPr>
              <a:t>OSPF </a:t>
            </a:r>
            <a:r>
              <a:rPr lang="zh-CN" altLang="en-US" smtClean="0">
                <a:ea typeface="黑体" panose="02010609060101010101" pitchFamily="49" charset="-122"/>
              </a:rPr>
              <a:t>协议不是受某一家厂商控制，而是公开发表的。</a:t>
            </a:r>
          </a:p>
          <a:p>
            <a:pPr>
              <a:spcBef>
                <a:spcPts val="1200"/>
              </a:spcBef>
            </a:pPr>
            <a:r>
              <a:rPr lang="zh-CN" altLang="en-US" smtClean="0">
                <a:ea typeface="黑体" panose="02010609060101010101" pitchFamily="49" charset="-122"/>
              </a:rPr>
              <a:t>“</a:t>
            </a:r>
            <a:r>
              <a:rPr lang="zh-CN" altLang="en-US" smtClean="0">
                <a:solidFill>
                  <a:srgbClr val="FF0000"/>
                </a:solidFill>
                <a:ea typeface="黑体" panose="02010609060101010101" pitchFamily="49" charset="-122"/>
              </a:rPr>
              <a:t>最短路径优先</a:t>
            </a:r>
            <a:r>
              <a:rPr lang="zh-CN" altLang="en-US" smtClean="0">
                <a:ea typeface="黑体" panose="02010609060101010101" pitchFamily="49" charset="-122"/>
              </a:rPr>
              <a:t>”是因为使用了 </a:t>
            </a:r>
            <a:r>
              <a:rPr lang="en-US" altLang="zh-CN" smtClean="0">
                <a:ea typeface="黑体" panose="02010609060101010101" pitchFamily="49" charset="-122"/>
              </a:rPr>
              <a:t>Dijkstra </a:t>
            </a:r>
            <a:r>
              <a:rPr lang="zh-CN" altLang="en-US" smtClean="0">
                <a:ea typeface="黑体" panose="02010609060101010101" pitchFamily="49" charset="-122"/>
              </a:rPr>
              <a:t>提出的最短路径算法 </a:t>
            </a:r>
            <a:r>
              <a:rPr lang="en-US" altLang="zh-CN" smtClean="0">
                <a:ea typeface="黑体" panose="02010609060101010101" pitchFamily="49" charset="-122"/>
              </a:rPr>
              <a:t>SPF</a:t>
            </a:r>
          </a:p>
          <a:p>
            <a:pPr>
              <a:spcBef>
                <a:spcPts val="1200"/>
              </a:spcBef>
            </a:pPr>
            <a:r>
              <a:rPr lang="zh-CN" altLang="en-US" smtClean="0">
                <a:ea typeface="黑体" panose="02010609060101010101" pitchFamily="49" charset="-122"/>
              </a:rPr>
              <a:t>采用</a:t>
            </a:r>
            <a:r>
              <a:rPr lang="zh-CN" altLang="en-US" smtClean="0">
                <a:solidFill>
                  <a:srgbClr val="FF0000"/>
                </a:solidFill>
                <a:ea typeface="黑体" panose="02010609060101010101" pitchFamily="49" charset="-122"/>
              </a:rPr>
              <a:t>分布式的链路状态协议</a:t>
            </a:r>
            <a:r>
              <a:rPr lang="zh-CN" altLang="en-US" smtClean="0">
                <a:ea typeface="黑体" panose="02010609060101010101" pitchFamily="49" charset="-122"/>
              </a:rPr>
              <a:t> </a:t>
            </a:r>
            <a:r>
              <a:rPr lang="en-US" altLang="zh-CN" smtClean="0">
                <a:ea typeface="黑体" panose="02010609060101010101" pitchFamily="49" charset="-122"/>
              </a:rPr>
              <a:t>(link state protocol)</a:t>
            </a:r>
            <a:r>
              <a:rPr lang="zh-CN" altLang="en-US" smtClean="0">
                <a:ea typeface="黑体" panose="02010609060101010101" pitchFamily="49" charset="-122"/>
              </a:rPr>
              <a:t>。 </a:t>
            </a:r>
          </a:p>
          <a:p>
            <a:pPr>
              <a:spcBef>
                <a:spcPts val="1200"/>
              </a:spcBef>
            </a:pPr>
            <a:r>
              <a:rPr lang="zh-CN" altLang="en-US" smtClean="0">
                <a:solidFill>
                  <a:srgbClr val="0000FF"/>
                </a:solidFill>
                <a:ea typeface="黑体" panose="02010609060101010101" pitchFamily="49" charset="-122"/>
              </a:rPr>
              <a:t>注意：</a:t>
            </a:r>
            <a:r>
              <a:rPr lang="en-US" altLang="zh-CN" smtClean="0">
                <a:ea typeface="黑体" panose="02010609060101010101" pitchFamily="49" charset="-122"/>
              </a:rPr>
              <a:t>OSPF </a:t>
            </a:r>
            <a:r>
              <a:rPr lang="zh-CN" altLang="en-US" smtClean="0">
                <a:ea typeface="黑体" panose="02010609060101010101" pitchFamily="49" charset="-122"/>
              </a:rPr>
              <a:t>只是一个协议的名字，它并不表示其他的路由选择协议不是“最短路径优先”。</a:t>
            </a:r>
          </a:p>
        </p:txBody>
      </p:sp>
      <p:sp>
        <p:nvSpPr>
          <p:cNvPr id="10414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F242E5-FEB6-446C-A5FF-7404BC57CB5C}" type="slidenum">
              <a:rPr lang="zh-CN" altLang="en-US" smtClean="0"/>
              <a:pPr eaLnBrk="1" hangingPunct="1"/>
              <a:t>35</a:t>
            </a:fld>
            <a:endParaRPr lang="en-US" altLang="zh-CN" smtClean="0"/>
          </a:p>
        </p:txBody>
      </p:sp>
      <p:sp>
        <p:nvSpPr>
          <p:cNvPr id="10414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06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06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06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06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4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三个要点 </a:t>
            </a:r>
          </a:p>
        </p:txBody>
      </p:sp>
      <p:sp>
        <p:nvSpPr>
          <p:cNvPr id="581635"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向本自治系统中所有路由器发送信息，</a:t>
            </a:r>
            <a:r>
              <a:rPr lang="zh-CN" altLang="en-US" smtClean="0">
                <a:ea typeface="黑体" panose="02010609060101010101" pitchFamily="49" charset="-122"/>
              </a:rPr>
              <a:t>这里使用的方法是</a:t>
            </a:r>
            <a:r>
              <a:rPr lang="zh-CN" altLang="en-US" smtClean="0">
                <a:solidFill>
                  <a:srgbClr val="FF0000"/>
                </a:solidFill>
                <a:ea typeface="黑体" panose="02010609060101010101" pitchFamily="49" charset="-122"/>
              </a:rPr>
              <a:t>洪泛法。</a:t>
            </a:r>
          </a:p>
          <a:p>
            <a:r>
              <a:rPr lang="zh-CN" altLang="en-US" smtClean="0">
                <a:ea typeface="黑体" panose="02010609060101010101" pitchFamily="49" charset="-122"/>
              </a:rPr>
              <a:t>发送的信息就是与本路由器</a:t>
            </a:r>
            <a:r>
              <a:rPr lang="zh-CN" altLang="en-US" smtClean="0">
                <a:solidFill>
                  <a:srgbClr val="FF0000"/>
                </a:solidFill>
                <a:ea typeface="黑体" panose="02010609060101010101" pitchFamily="49" charset="-122"/>
              </a:rPr>
              <a:t>相邻</a:t>
            </a:r>
            <a:r>
              <a:rPr lang="zh-CN" altLang="en-US" smtClean="0">
                <a:ea typeface="黑体" panose="02010609060101010101" pitchFamily="49" charset="-122"/>
              </a:rPr>
              <a:t>的所有路由器的链路状态，但这只是路由器所知道的</a:t>
            </a:r>
            <a:r>
              <a:rPr lang="zh-CN" altLang="en-US" smtClean="0">
                <a:solidFill>
                  <a:srgbClr val="FF0000"/>
                </a:solidFill>
                <a:ea typeface="黑体" panose="02010609060101010101" pitchFamily="49" charset="-122"/>
              </a:rPr>
              <a:t>部分信息。</a:t>
            </a:r>
            <a:endParaRPr lang="en-US" altLang="zh-CN" smtClean="0">
              <a:solidFill>
                <a:srgbClr val="FF0000"/>
              </a:solidFill>
              <a:ea typeface="黑体" panose="02010609060101010101" pitchFamily="49" charset="-122"/>
            </a:endParaRPr>
          </a:p>
          <a:p>
            <a:pPr lvl="1"/>
            <a:r>
              <a:rPr lang="zh-CN" altLang="en-US" smtClean="0">
                <a:solidFill>
                  <a:srgbClr val="0000FF"/>
                </a:solidFill>
                <a:ea typeface="黑体" panose="02010609060101010101" pitchFamily="49" charset="-122"/>
              </a:rPr>
              <a:t>“链路状态”就是说明本路由器都和哪些路由器相邻，以及该链路的“</a:t>
            </a:r>
            <a:r>
              <a:rPr lang="zh-CN" altLang="en-US" smtClean="0">
                <a:solidFill>
                  <a:srgbClr val="FF0000"/>
                </a:solidFill>
                <a:ea typeface="黑体" panose="02010609060101010101" pitchFamily="49" charset="-122"/>
              </a:rPr>
              <a:t>度量</a:t>
            </a:r>
            <a:r>
              <a:rPr lang="zh-CN" altLang="en-US" smtClean="0">
                <a:solidFill>
                  <a:srgbClr val="0000FF"/>
                </a:solidFill>
                <a:ea typeface="黑体" panose="02010609060101010101" pitchFamily="49" charset="-122"/>
              </a:rPr>
              <a:t>”</a:t>
            </a:r>
            <a:r>
              <a:rPr lang="en-US" altLang="zh-CN" smtClean="0">
                <a:solidFill>
                  <a:srgbClr val="0000FF"/>
                </a:solidFill>
                <a:ea typeface="黑体" panose="02010609060101010101" pitchFamily="49" charset="-122"/>
              </a:rPr>
              <a:t>(metric)</a:t>
            </a:r>
            <a:r>
              <a:rPr lang="zh-CN" altLang="en-US" smtClean="0">
                <a:solidFill>
                  <a:srgbClr val="0000FF"/>
                </a:solidFill>
                <a:ea typeface="黑体" panose="02010609060101010101" pitchFamily="49" charset="-122"/>
              </a:rPr>
              <a:t>。 </a:t>
            </a:r>
          </a:p>
          <a:p>
            <a:r>
              <a:rPr lang="zh-CN" altLang="en-US" smtClean="0">
                <a:ea typeface="黑体" panose="02010609060101010101" pitchFamily="49" charset="-122"/>
              </a:rPr>
              <a:t>只有当链路状态</a:t>
            </a:r>
            <a:r>
              <a:rPr lang="zh-CN" altLang="en-US" smtClean="0">
                <a:solidFill>
                  <a:srgbClr val="FF0000"/>
                </a:solidFill>
                <a:ea typeface="黑体" panose="02010609060101010101" pitchFamily="49" charset="-122"/>
              </a:rPr>
              <a:t>发生变化</a:t>
            </a:r>
            <a:r>
              <a:rPr lang="zh-CN" altLang="en-US" smtClean="0">
                <a:ea typeface="黑体" panose="02010609060101010101" pitchFamily="49" charset="-122"/>
              </a:rPr>
              <a:t>时，路由器才用洪泛法向所有路由器发送此信息。  </a:t>
            </a:r>
          </a:p>
        </p:txBody>
      </p:sp>
      <p:sp>
        <p:nvSpPr>
          <p:cNvPr id="10434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7A6833B-DB81-47E0-A412-D074A45D1943}" type="slidenum">
              <a:rPr lang="zh-CN" altLang="en-US" smtClean="0"/>
              <a:pPr eaLnBrk="1" hangingPunct="1"/>
              <a:t>36</a:t>
            </a:fld>
            <a:endParaRPr lang="en-US" altLang="zh-CN" smtClean="0"/>
          </a:p>
        </p:txBody>
      </p:sp>
      <p:sp>
        <p:nvSpPr>
          <p:cNvPr id="10434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163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163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16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505"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链路状态数据库 </a:t>
            </a:r>
            <a:r>
              <a:rPr lang="en-US" altLang="zh-CN" sz="3200" smtClean="0">
                <a:ea typeface="黑体" panose="02010609060101010101" pitchFamily="49" charset="-122"/>
              </a:rPr>
              <a:t>(link-state database)</a:t>
            </a:r>
            <a:r>
              <a:rPr lang="en-US" altLang="zh-CN" sz="4000" smtClean="0">
                <a:ea typeface="黑体" panose="02010609060101010101" pitchFamily="49" charset="-122"/>
              </a:rPr>
              <a:t> </a:t>
            </a:r>
          </a:p>
        </p:txBody>
      </p:sp>
      <p:sp>
        <p:nvSpPr>
          <p:cNvPr id="582659" name="Rectangle 3"/>
          <p:cNvSpPr>
            <a:spLocks noGrp="1" noChangeArrowheads="1"/>
          </p:cNvSpPr>
          <p:nvPr>
            <p:ph idx="1"/>
          </p:nvPr>
        </p:nvSpPr>
        <p:spPr>
          <a:xfrm>
            <a:off x="495300" y="1196975"/>
            <a:ext cx="9066213" cy="4933950"/>
          </a:xfrm>
        </p:spPr>
        <p:txBody>
          <a:bodyPr/>
          <a:lstStyle/>
          <a:p>
            <a:pPr>
              <a:lnSpc>
                <a:spcPct val="100000"/>
              </a:lnSpc>
            </a:pPr>
            <a:r>
              <a:rPr lang="zh-CN" altLang="en-US" dirty="0" smtClean="0">
                <a:ea typeface="黑体" panose="02010609060101010101" pitchFamily="49" charset="-122"/>
              </a:rPr>
              <a:t>由于各路由器之间频繁地交换链路状态信息，因此</a:t>
            </a:r>
            <a:r>
              <a:rPr lang="zh-CN" altLang="en-US" dirty="0" smtClean="0">
                <a:solidFill>
                  <a:srgbClr val="FF0000"/>
                </a:solidFill>
                <a:ea typeface="黑体" panose="02010609060101010101" pitchFamily="49" charset="-122"/>
              </a:rPr>
              <a:t>所有的路由器</a:t>
            </a:r>
            <a:r>
              <a:rPr lang="zh-CN" altLang="en-US" dirty="0" smtClean="0">
                <a:ea typeface="黑体" panose="02010609060101010101" pitchFamily="49" charset="-122"/>
              </a:rPr>
              <a:t>最终都能建立一个</a:t>
            </a:r>
            <a:r>
              <a:rPr lang="zh-CN" altLang="en-US" dirty="0" smtClean="0">
                <a:solidFill>
                  <a:srgbClr val="FF0000"/>
                </a:solidFill>
                <a:ea typeface="黑体" panose="02010609060101010101" pitchFamily="49" charset="-122"/>
              </a:rPr>
              <a:t>链路状态数据库</a:t>
            </a:r>
            <a:r>
              <a:rPr lang="zh-CN" altLang="en-US" dirty="0" smtClean="0">
                <a:ea typeface="黑体" panose="02010609060101010101" pitchFamily="49" charset="-122"/>
              </a:rPr>
              <a:t>。</a:t>
            </a:r>
          </a:p>
          <a:p>
            <a:pPr>
              <a:lnSpc>
                <a:spcPct val="100000"/>
              </a:lnSpc>
            </a:pPr>
            <a:r>
              <a:rPr lang="zh-CN" altLang="en-US" dirty="0" smtClean="0">
                <a:ea typeface="黑体" panose="02010609060101010101" pitchFamily="49" charset="-122"/>
              </a:rPr>
              <a:t>这个数据库实际上就是</a:t>
            </a:r>
            <a:r>
              <a:rPr lang="zh-CN" altLang="en-US" dirty="0" smtClean="0">
                <a:solidFill>
                  <a:srgbClr val="FF0000"/>
                </a:solidFill>
                <a:ea typeface="黑体" panose="02010609060101010101" pitchFamily="49" charset="-122"/>
              </a:rPr>
              <a:t>全网的拓扑结构图，它在全网范围内是一致的</a:t>
            </a:r>
            <a:r>
              <a:rPr lang="zh-CN" altLang="en-US" dirty="0" smtClean="0">
                <a:ea typeface="黑体" panose="02010609060101010101" pitchFamily="49" charset="-122"/>
              </a:rPr>
              <a:t>（这称为链路状态数据库的同步）。</a:t>
            </a:r>
          </a:p>
          <a:p>
            <a:pPr>
              <a:lnSpc>
                <a:spcPct val="100000"/>
              </a:lnSpc>
            </a:pPr>
            <a:r>
              <a:rPr lang="en-US" altLang="zh-CN" dirty="0" smtClean="0">
                <a:ea typeface="黑体" panose="02010609060101010101" pitchFamily="49" charset="-122"/>
              </a:rPr>
              <a:t>OSPF </a:t>
            </a:r>
            <a:r>
              <a:rPr lang="zh-CN" altLang="en-US" dirty="0" smtClean="0">
                <a:ea typeface="黑体" panose="02010609060101010101" pitchFamily="49" charset="-122"/>
              </a:rPr>
              <a:t>的链路状态数据库能</a:t>
            </a:r>
            <a:r>
              <a:rPr lang="zh-CN" altLang="en-US" dirty="0" smtClean="0">
                <a:solidFill>
                  <a:srgbClr val="FF0000"/>
                </a:solidFill>
                <a:ea typeface="黑体" panose="02010609060101010101" pitchFamily="49" charset="-122"/>
              </a:rPr>
              <a:t>较快地进行更新，</a:t>
            </a:r>
            <a:r>
              <a:rPr lang="zh-CN" altLang="en-US" dirty="0" smtClean="0">
                <a:ea typeface="黑体" panose="02010609060101010101" pitchFamily="49" charset="-122"/>
              </a:rPr>
              <a:t>使各个路由器能及时更新其路由表。</a:t>
            </a:r>
            <a:endParaRPr lang="en-US" altLang="zh-CN" dirty="0" smtClean="0">
              <a:ea typeface="黑体" panose="02010609060101010101" pitchFamily="49" charset="-122"/>
            </a:endParaRPr>
          </a:p>
          <a:p>
            <a:pPr>
              <a:lnSpc>
                <a:spcPct val="100000"/>
              </a:lnSpc>
            </a:pPr>
            <a:r>
              <a:rPr lang="en-US" altLang="zh-CN" dirty="0" smtClean="0">
                <a:solidFill>
                  <a:srgbClr val="0000FF"/>
                </a:solidFill>
                <a:ea typeface="黑体" panose="02010609060101010101" pitchFamily="49" charset="-122"/>
              </a:rPr>
              <a:t>OSPF </a:t>
            </a:r>
            <a:r>
              <a:rPr lang="zh-CN" altLang="en-US" dirty="0" smtClean="0">
                <a:solidFill>
                  <a:srgbClr val="0000FF"/>
                </a:solidFill>
                <a:ea typeface="黑体" panose="02010609060101010101" pitchFamily="49" charset="-122"/>
              </a:rPr>
              <a:t>的更新过程收敛得快是其重要优点。</a:t>
            </a:r>
          </a:p>
        </p:txBody>
      </p:sp>
      <p:sp>
        <p:nvSpPr>
          <p:cNvPr id="10455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F2D218-C781-479B-A175-DC55F9A4EE5A}" type="slidenum">
              <a:rPr lang="zh-CN" altLang="en-US" smtClean="0"/>
              <a:pPr eaLnBrk="1" hangingPunct="1"/>
              <a:t>37</a:t>
            </a:fld>
            <a:endParaRPr lang="en-US" altLang="zh-CN" smtClean="0"/>
          </a:p>
        </p:txBody>
      </p:sp>
      <p:sp>
        <p:nvSpPr>
          <p:cNvPr id="10455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26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26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26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的区域 </a:t>
            </a:r>
            <a:r>
              <a:rPr lang="en-US" altLang="zh-CN" smtClean="0">
                <a:ea typeface="黑体" panose="02010609060101010101" pitchFamily="49" charset="-122"/>
              </a:rPr>
              <a:t>(area) </a:t>
            </a:r>
          </a:p>
        </p:txBody>
      </p:sp>
      <p:sp>
        <p:nvSpPr>
          <p:cNvPr id="583683"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为了使 </a:t>
            </a:r>
            <a:r>
              <a:rPr lang="en-US" altLang="zh-CN" dirty="0" smtClean="0">
                <a:ea typeface="黑体" panose="02010609060101010101" pitchFamily="49" charset="-122"/>
              </a:rPr>
              <a:t>OSPF </a:t>
            </a:r>
            <a:r>
              <a:rPr lang="zh-CN" altLang="en-US" dirty="0" smtClean="0">
                <a:ea typeface="黑体" panose="02010609060101010101" pitchFamily="49" charset="-122"/>
              </a:rPr>
              <a:t>能够用于</a:t>
            </a:r>
            <a:r>
              <a:rPr lang="zh-CN" altLang="en-US" dirty="0" smtClean="0">
                <a:solidFill>
                  <a:srgbClr val="0000CC"/>
                </a:solidFill>
                <a:ea typeface="黑体" panose="02010609060101010101" pitchFamily="49" charset="-122"/>
              </a:rPr>
              <a:t>规模很大的网络</a:t>
            </a:r>
            <a:r>
              <a:rPr lang="zh-CN" altLang="en-US" dirty="0" smtClean="0">
                <a:ea typeface="黑体" panose="02010609060101010101" pitchFamily="49" charset="-122"/>
              </a:rPr>
              <a:t>，</a:t>
            </a:r>
            <a:r>
              <a:rPr lang="en-US" altLang="zh-CN" dirty="0" smtClean="0">
                <a:ea typeface="黑体" panose="02010609060101010101" pitchFamily="49" charset="-122"/>
              </a:rPr>
              <a:t>OSPF </a:t>
            </a:r>
            <a:r>
              <a:rPr lang="zh-CN" altLang="en-US" dirty="0" smtClean="0">
                <a:ea typeface="黑体" panose="02010609060101010101" pitchFamily="49" charset="-122"/>
              </a:rPr>
              <a:t>将一个自治系统再划分为若干个更小的范围，叫作</a:t>
            </a:r>
            <a:r>
              <a:rPr lang="zh-CN" altLang="en-US" dirty="0" smtClean="0">
                <a:solidFill>
                  <a:srgbClr val="FF0000"/>
                </a:solidFill>
                <a:ea typeface="黑体" panose="02010609060101010101" pitchFamily="49" charset="-122"/>
              </a:rPr>
              <a:t>区域。</a:t>
            </a:r>
          </a:p>
          <a:p>
            <a:r>
              <a:rPr lang="zh-CN" altLang="en-US" dirty="0" smtClean="0">
                <a:ea typeface="黑体" panose="02010609060101010101" pitchFamily="49" charset="-122"/>
              </a:rPr>
              <a:t>每一个区域都有一个 </a:t>
            </a:r>
            <a:r>
              <a:rPr lang="en-US" altLang="zh-CN" dirty="0" smtClean="0">
                <a:ea typeface="黑体" panose="02010609060101010101" pitchFamily="49" charset="-122"/>
              </a:rPr>
              <a:t>32 </a:t>
            </a:r>
            <a:r>
              <a:rPr lang="zh-CN" altLang="en-US" dirty="0" smtClean="0">
                <a:ea typeface="黑体" panose="02010609060101010101" pitchFamily="49" charset="-122"/>
              </a:rPr>
              <a:t>位的区域标识符（用点分十进制表示）。</a:t>
            </a:r>
          </a:p>
          <a:p>
            <a:r>
              <a:rPr lang="zh-CN" altLang="en-US" dirty="0" smtClean="0">
                <a:ea typeface="黑体" panose="02010609060101010101" pitchFamily="49" charset="-122"/>
              </a:rPr>
              <a:t>区域也不能太大，在一个区域内的路由器最好不超过 </a:t>
            </a:r>
            <a:r>
              <a:rPr lang="en-US" altLang="zh-CN" dirty="0" smtClean="0">
                <a:ea typeface="黑体" panose="02010609060101010101" pitchFamily="49" charset="-122"/>
              </a:rPr>
              <a:t>200 </a:t>
            </a:r>
            <a:r>
              <a:rPr lang="zh-CN" altLang="en-US" dirty="0" smtClean="0">
                <a:ea typeface="黑体" panose="02010609060101010101" pitchFamily="49" charset="-122"/>
              </a:rPr>
              <a:t>个。  </a:t>
            </a:r>
          </a:p>
        </p:txBody>
      </p:sp>
      <p:sp>
        <p:nvSpPr>
          <p:cNvPr id="10475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909271-08D4-4F02-861A-7E30CD7ED540}" type="slidenum">
              <a:rPr lang="zh-CN" altLang="en-US" smtClean="0"/>
              <a:pPr eaLnBrk="1" hangingPunct="1"/>
              <a:t>38</a:t>
            </a:fld>
            <a:endParaRPr lang="en-US" altLang="zh-CN" smtClean="0"/>
          </a:p>
        </p:txBody>
      </p:sp>
      <p:sp>
        <p:nvSpPr>
          <p:cNvPr id="10475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36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36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4706" name="Group 2"/>
          <p:cNvGrpSpPr>
            <a:grpSpLocks/>
          </p:cNvGrpSpPr>
          <p:nvPr/>
        </p:nvGrpSpPr>
        <p:grpSpPr bwMode="auto">
          <a:xfrm>
            <a:off x="249238" y="1819275"/>
            <a:ext cx="9599612" cy="3760788"/>
            <a:chOff x="79" y="1560"/>
            <a:chExt cx="5582" cy="2369"/>
          </a:xfrm>
        </p:grpSpPr>
        <p:sp>
          <p:nvSpPr>
            <p:cNvPr id="1049602" name="AutoShape 3"/>
            <p:cNvSpPr>
              <a:spLocks noChangeArrowheads="1"/>
            </p:cNvSpPr>
            <p:nvPr/>
          </p:nvSpPr>
          <p:spPr bwMode="auto">
            <a:xfrm>
              <a:off x="79" y="1570"/>
              <a:ext cx="5582" cy="2359"/>
            </a:xfrm>
            <a:prstGeom prst="roundRect">
              <a:avLst>
                <a:gd name="adj" fmla="val 16667"/>
              </a:avLst>
            </a:prstGeom>
            <a:solidFill>
              <a:srgbClr val="CCECFF"/>
            </a:solidFill>
            <a:ln w="19050">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03" name="Text Box 4"/>
            <p:cNvSpPr txBox="1">
              <a:spLocks noChangeArrowheads="1"/>
            </p:cNvSpPr>
            <p:nvPr/>
          </p:nvSpPr>
          <p:spPr bwMode="auto">
            <a:xfrm>
              <a:off x="247" y="1560"/>
              <a:ext cx="11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 </a:t>
              </a:r>
              <a:r>
                <a:rPr lang="en-US" altLang="zh-CN" sz="2400" b="1">
                  <a:solidFill>
                    <a:srgbClr val="0000CC"/>
                  </a:solidFill>
                  <a:ea typeface="黑体" panose="02010609060101010101" pitchFamily="49" charset="-122"/>
                </a:rPr>
                <a:t>AS</a:t>
              </a:r>
            </a:p>
          </p:txBody>
        </p:sp>
      </p:grpSp>
      <p:sp>
        <p:nvSpPr>
          <p:cNvPr id="1049604" name="Rectangle 5"/>
          <p:cNvSpPr>
            <a:spLocks noGrp="1" noChangeArrowheads="1"/>
          </p:cNvSpPr>
          <p:nvPr>
            <p:ph type="title"/>
          </p:nvPr>
        </p:nvSpPr>
        <p:spPr/>
        <p:txBody>
          <a:bodyPr/>
          <a:lstStyle/>
          <a:p>
            <a:pPr algn="ctr"/>
            <a:r>
              <a:rPr lang="en-US" altLang="zh-CN" sz="4000" smtClean="0">
                <a:ea typeface="黑体" panose="02010609060101010101" pitchFamily="49" charset="-122"/>
              </a:rPr>
              <a:t>OSPF </a:t>
            </a:r>
            <a:r>
              <a:rPr lang="zh-CN" altLang="en-US" sz="4000" smtClean="0">
                <a:ea typeface="黑体" panose="02010609060101010101" pitchFamily="49" charset="-122"/>
              </a:rPr>
              <a:t>划分为两种不同的区域 </a:t>
            </a:r>
          </a:p>
        </p:txBody>
      </p:sp>
      <p:sp>
        <p:nvSpPr>
          <p:cNvPr id="584710" name="Oval 6"/>
          <p:cNvSpPr>
            <a:spLocks noChangeArrowheads="1"/>
          </p:cNvSpPr>
          <p:nvPr/>
        </p:nvSpPr>
        <p:spPr bwMode="auto">
          <a:xfrm>
            <a:off x="3910013" y="2406650"/>
            <a:ext cx="3135312" cy="1511300"/>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84711" name="Oval 7"/>
          <p:cNvSpPr>
            <a:spLocks noChangeArrowheads="1"/>
          </p:cNvSpPr>
          <p:nvPr/>
        </p:nvSpPr>
        <p:spPr bwMode="auto">
          <a:xfrm>
            <a:off x="361950" y="2336800"/>
            <a:ext cx="34305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84712" name="Oval 8"/>
          <p:cNvSpPr>
            <a:spLocks noChangeArrowheads="1"/>
          </p:cNvSpPr>
          <p:nvPr/>
        </p:nvSpPr>
        <p:spPr bwMode="auto">
          <a:xfrm>
            <a:off x="7127875" y="2336800"/>
            <a:ext cx="26050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84713" name="Text Box 9"/>
          <p:cNvSpPr txBox="1">
            <a:spLocks noChangeArrowheads="1"/>
          </p:cNvSpPr>
          <p:nvPr/>
        </p:nvSpPr>
        <p:spPr bwMode="auto">
          <a:xfrm>
            <a:off x="1089025" y="4716463"/>
            <a:ext cx="1828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0.0.0.1</a:t>
            </a:r>
          </a:p>
        </p:txBody>
      </p:sp>
      <p:sp>
        <p:nvSpPr>
          <p:cNvPr id="584714" name="Text Box 10"/>
          <p:cNvSpPr txBox="1">
            <a:spLocks noChangeArrowheads="1"/>
          </p:cNvSpPr>
          <p:nvPr/>
        </p:nvSpPr>
        <p:spPr bwMode="auto">
          <a:xfrm>
            <a:off x="7640638" y="4787900"/>
            <a:ext cx="1830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0.0.0.3</a:t>
            </a:r>
          </a:p>
        </p:txBody>
      </p:sp>
      <p:sp>
        <p:nvSpPr>
          <p:cNvPr id="584715" name="Text Box 11"/>
          <p:cNvSpPr txBox="1">
            <a:spLocks noChangeArrowheads="1"/>
          </p:cNvSpPr>
          <p:nvPr/>
        </p:nvSpPr>
        <p:spPr bwMode="auto">
          <a:xfrm>
            <a:off x="3913188" y="1903413"/>
            <a:ext cx="2447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主干区域 </a:t>
            </a:r>
            <a:r>
              <a:rPr lang="en-US" altLang="zh-CN" sz="2400" b="1">
                <a:solidFill>
                  <a:srgbClr val="C00000"/>
                </a:solidFill>
                <a:ea typeface="黑体" panose="02010609060101010101" pitchFamily="49" charset="-122"/>
              </a:rPr>
              <a:t>0.0.0.0</a:t>
            </a:r>
          </a:p>
        </p:txBody>
      </p:sp>
      <p:sp>
        <p:nvSpPr>
          <p:cNvPr id="1049611" name="Line 12"/>
          <p:cNvSpPr>
            <a:spLocks noChangeShapeType="1"/>
          </p:cNvSpPr>
          <p:nvPr/>
        </p:nvSpPr>
        <p:spPr bwMode="auto">
          <a:xfrm flipV="1">
            <a:off x="5478463" y="1719263"/>
            <a:ext cx="1154112" cy="962025"/>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2" name="Text Box 13"/>
          <p:cNvSpPr txBox="1">
            <a:spLocks noChangeArrowheads="1"/>
          </p:cNvSpPr>
          <p:nvPr/>
        </p:nvSpPr>
        <p:spPr bwMode="auto">
          <a:xfrm>
            <a:off x="5764213" y="1268413"/>
            <a:ext cx="23383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至其他自治系统</a:t>
            </a:r>
          </a:p>
        </p:txBody>
      </p:sp>
      <p:sp>
        <p:nvSpPr>
          <p:cNvPr id="1049613" name="Line 14"/>
          <p:cNvSpPr>
            <a:spLocks noChangeShapeType="1"/>
          </p:cNvSpPr>
          <p:nvPr/>
        </p:nvSpPr>
        <p:spPr bwMode="auto">
          <a:xfrm>
            <a:off x="7127875" y="3230563"/>
            <a:ext cx="908050" cy="2730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4" name="Line 15"/>
          <p:cNvSpPr>
            <a:spLocks noChangeShapeType="1"/>
          </p:cNvSpPr>
          <p:nvPr/>
        </p:nvSpPr>
        <p:spPr bwMode="auto">
          <a:xfrm flipV="1">
            <a:off x="8201025" y="3436938"/>
            <a:ext cx="822325" cy="1365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5" name="Line 16"/>
          <p:cNvSpPr>
            <a:spLocks noChangeShapeType="1"/>
          </p:cNvSpPr>
          <p:nvPr/>
        </p:nvSpPr>
        <p:spPr bwMode="auto">
          <a:xfrm>
            <a:off x="8613775" y="2749550"/>
            <a:ext cx="409575" cy="6873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6" name="Line 17"/>
          <p:cNvSpPr>
            <a:spLocks noChangeShapeType="1"/>
          </p:cNvSpPr>
          <p:nvPr/>
        </p:nvSpPr>
        <p:spPr bwMode="auto">
          <a:xfrm flipH="1">
            <a:off x="8528050" y="3503613"/>
            <a:ext cx="495300" cy="75723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7" name="Line 18"/>
          <p:cNvSpPr>
            <a:spLocks noChangeShapeType="1"/>
          </p:cNvSpPr>
          <p:nvPr/>
        </p:nvSpPr>
        <p:spPr bwMode="auto">
          <a:xfrm flipV="1">
            <a:off x="5889625" y="3230563"/>
            <a:ext cx="1069975" cy="1381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8" name="Line 19"/>
          <p:cNvSpPr>
            <a:spLocks noChangeShapeType="1"/>
          </p:cNvSpPr>
          <p:nvPr/>
        </p:nvSpPr>
        <p:spPr bwMode="auto">
          <a:xfrm>
            <a:off x="5561013" y="2681288"/>
            <a:ext cx="163512" cy="617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19" name="Line 20"/>
          <p:cNvSpPr>
            <a:spLocks noChangeShapeType="1"/>
          </p:cNvSpPr>
          <p:nvPr/>
        </p:nvSpPr>
        <p:spPr bwMode="auto">
          <a:xfrm flipH="1">
            <a:off x="5478463" y="3436938"/>
            <a:ext cx="246062" cy="4810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0" name="Line 21"/>
          <p:cNvSpPr>
            <a:spLocks noChangeShapeType="1"/>
          </p:cNvSpPr>
          <p:nvPr/>
        </p:nvSpPr>
        <p:spPr bwMode="auto">
          <a:xfrm>
            <a:off x="3744913" y="3094038"/>
            <a:ext cx="1733550" cy="274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1" name="Line 22"/>
          <p:cNvSpPr>
            <a:spLocks noChangeShapeType="1"/>
          </p:cNvSpPr>
          <p:nvPr/>
        </p:nvSpPr>
        <p:spPr bwMode="auto">
          <a:xfrm flipV="1">
            <a:off x="3827463" y="2749550"/>
            <a:ext cx="1568450" cy="344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2" name="Line 23"/>
          <p:cNvSpPr>
            <a:spLocks noChangeShapeType="1"/>
          </p:cNvSpPr>
          <p:nvPr/>
        </p:nvSpPr>
        <p:spPr bwMode="auto">
          <a:xfrm flipH="1">
            <a:off x="1187450" y="2749550"/>
            <a:ext cx="1236663" cy="34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3" name="Line 24"/>
          <p:cNvSpPr>
            <a:spLocks noChangeShapeType="1"/>
          </p:cNvSpPr>
          <p:nvPr/>
        </p:nvSpPr>
        <p:spPr bwMode="auto">
          <a:xfrm>
            <a:off x="2424113" y="2816225"/>
            <a:ext cx="496887" cy="75723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4" name="Line 25"/>
          <p:cNvSpPr>
            <a:spLocks noChangeShapeType="1"/>
          </p:cNvSpPr>
          <p:nvPr/>
        </p:nvSpPr>
        <p:spPr bwMode="auto">
          <a:xfrm flipV="1">
            <a:off x="3001963" y="3160713"/>
            <a:ext cx="742950"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5" name="Line 26"/>
          <p:cNvSpPr>
            <a:spLocks noChangeShapeType="1"/>
          </p:cNvSpPr>
          <p:nvPr/>
        </p:nvSpPr>
        <p:spPr bwMode="auto">
          <a:xfrm flipH="1">
            <a:off x="1763713" y="3643313"/>
            <a:ext cx="1074737" cy="13811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626" name="Line 27"/>
          <p:cNvSpPr>
            <a:spLocks noChangeShapeType="1"/>
          </p:cNvSpPr>
          <p:nvPr/>
        </p:nvSpPr>
        <p:spPr bwMode="auto">
          <a:xfrm>
            <a:off x="1763713" y="3848100"/>
            <a:ext cx="414337"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49627" name="Group 28"/>
          <p:cNvGrpSpPr>
            <a:grpSpLocks/>
          </p:cNvGrpSpPr>
          <p:nvPr/>
        </p:nvGrpSpPr>
        <p:grpSpPr bwMode="auto">
          <a:xfrm>
            <a:off x="2589213" y="3368675"/>
            <a:ext cx="742950" cy="479425"/>
            <a:chOff x="2949" y="196"/>
            <a:chExt cx="941" cy="598"/>
          </a:xfrm>
        </p:grpSpPr>
        <p:sp>
          <p:nvSpPr>
            <p:cNvPr id="1049628" name="Oval 2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29" name="Oval 3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0" name="Oval 3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1" name="Oval 3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2" name="Oval 3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3" name="Oval 3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4" name="Oval 3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5" name="Oval 3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36" name="Freeform 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37" name="Freeform 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38" name="Freeform 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1049639"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3643313"/>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0"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500" y="2611438"/>
            <a:ext cx="5635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1"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7263" y="2955925"/>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2"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2543175"/>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3"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8463" y="3230563"/>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4"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8875" y="3298825"/>
            <a:ext cx="5619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9645"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7675" y="3094038"/>
            <a:ext cx="56197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49646" name="Group 47"/>
          <p:cNvGrpSpPr>
            <a:grpSpLocks/>
          </p:cNvGrpSpPr>
          <p:nvPr/>
        </p:nvGrpSpPr>
        <p:grpSpPr bwMode="auto">
          <a:xfrm>
            <a:off x="1846263" y="4056063"/>
            <a:ext cx="742950" cy="479425"/>
            <a:chOff x="2949" y="196"/>
            <a:chExt cx="941" cy="598"/>
          </a:xfrm>
        </p:grpSpPr>
        <p:sp>
          <p:nvSpPr>
            <p:cNvPr id="1049647" name="Oval 4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48" name="Oval 4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49" name="Oval 5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0" name="Oval 5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1" name="Oval 5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2" name="Oval 5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3" name="Oval 5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4" name="Oval 5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55" name="Freeform 5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56" name="Freeform 5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57" name="Freeform 5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49658" name="Group 59"/>
          <p:cNvGrpSpPr>
            <a:grpSpLocks/>
          </p:cNvGrpSpPr>
          <p:nvPr/>
        </p:nvGrpSpPr>
        <p:grpSpPr bwMode="auto">
          <a:xfrm>
            <a:off x="857250" y="2886075"/>
            <a:ext cx="742950" cy="482600"/>
            <a:chOff x="2949" y="196"/>
            <a:chExt cx="941" cy="598"/>
          </a:xfrm>
        </p:grpSpPr>
        <p:sp>
          <p:nvSpPr>
            <p:cNvPr id="1049659" name="Oval 6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0" name="Oval 6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1" name="Oval 6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2" name="Oval 6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3" name="Oval 6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4" name="Oval 6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5" name="Oval 6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6" name="Oval 6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67" name="Freeform 6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68" name="Freeform 6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69" name="Freeform 7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49670" name="Group 71"/>
          <p:cNvGrpSpPr>
            <a:grpSpLocks/>
          </p:cNvGrpSpPr>
          <p:nvPr/>
        </p:nvGrpSpPr>
        <p:grpSpPr bwMode="auto">
          <a:xfrm>
            <a:off x="8201025" y="2474913"/>
            <a:ext cx="739775" cy="481012"/>
            <a:chOff x="2949" y="196"/>
            <a:chExt cx="941" cy="598"/>
          </a:xfrm>
        </p:grpSpPr>
        <p:sp>
          <p:nvSpPr>
            <p:cNvPr id="1049671" name="Oval 7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2" name="Oval 7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3" name="Oval 7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4" name="Oval 7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5" name="Oval 7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6" name="Oval 7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7" name="Oval 7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8" name="Oval 7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79" name="Freeform 8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80" name="Freeform 8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81" name="Freeform 8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49682" name="Group 83"/>
          <p:cNvGrpSpPr>
            <a:grpSpLocks/>
          </p:cNvGrpSpPr>
          <p:nvPr/>
        </p:nvGrpSpPr>
        <p:grpSpPr bwMode="auto">
          <a:xfrm>
            <a:off x="8118475" y="4056063"/>
            <a:ext cx="742950" cy="479425"/>
            <a:chOff x="2949" y="196"/>
            <a:chExt cx="941" cy="598"/>
          </a:xfrm>
        </p:grpSpPr>
        <p:sp>
          <p:nvSpPr>
            <p:cNvPr id="1049683"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4"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5"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6"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7"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8"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89"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0"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1" name="Freeform 9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92" name="Freeform 9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693" name="Freeform 9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49694" name="Group 95"/>
          <p:cNvGrpSpPr>
            <a:grpSpLocks/>
          </p:cNvGrpSpPr>
          <p:nvPr/>
        </p:nvGrpSpPr>
        <p:grpSpPr bwMode="auto">
          <a:xfrm>
            <a:off x="7702550" y="3298825"/>
            <a:ext cx="742950" cy="482600"/>
            <a:chOff x="2949" y="196"/>
            <a:chExt cx="941" cy="598"/>
          </a:xfrm>
        </p:grpSpPr>
        <p:sp>
          <p:nvSpPr>
            <p:cNvPr id="1049695" name="Oval 9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6" name="Oval 9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7" name="Oval 9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8" name="Oval 9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699" name="Oval 10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00" name="Oval 10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01" name="Oval 10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02" name="Oval 10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03" name="Freeform 10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04" name="Freeform 10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05" name="Freeform 10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49706" name="Text Box 107"/>
          <p:cNvSpPr txBox="1">
            <a:spLocks noChangeArrowheads="1"/>
          </p:cNvSpPr>
          <p:nvPr/>
        </p:nvSpPr>
        <p:spPr bwMode="auto">
          <a:xfrm>
            <a:off x="9067800" y="293211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9</a:t>
            </a:r>
          </a:p>
        </p:txBody>
      </p:sp>
      <p:sp>
        <p:nvSpPr>
          <p:cNvPr id="1049707" name="Text Box 108"/>
          <p:cNvSpPr txBox="1">
            <a:spLocks noChangeArrowheads="1"/>
          </p:cNvSpPr>
          <p:nvPr/>
        </p:nvSpPr>
        <p:spPr bwMode="auto">
          <a:xfrm>
            <a:off x="6462713" y="27495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7</a:t>
            </a:r>
          </a:p>
        </p:txBody>
      </p:sp>
      <p:sp>
        <p:nvSpPr>
          <p:cNvPr id="1049708" name="Text Box 109"/>
          <p:cNvSpPr txBox="1">
            <a:spLocks noChangeArrowheads="1"/>
          </p:cNvSpPr>
          <p:nvPr/>
        </p:nvSpPr>
        <p:spPr bwMode="auto">
          <a:xfrm>
            <a:off x="5778500" y="241935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6</a:t>
            </a:r>
          </a:p>
        </p:txBody>
      </p:sp>
      <p:sp>
        <p:nvSpPr>
          <p:cNvPr id="1049709" name="Text Box 110"/>
          <p:cNvSpPr txBox="1">
            <a:spLocks noChangeArrowheads="1"/>
          </p:cNvSpPr>
          <p:nvPr/>
        </p:nvSpPr>
        <p:spPr bwMode="auto">
          <a:xfrm>
            <a:off x="5159375" y="28717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5</a:t>
            </a:r>
          </a:p>
        </p:txBody>
      </p:sp>
      <p:sp>
        <p:nvSpPr>
          <p:cNvPr id="1049710" name="Text Box 111"/>
          <p:cNvSpPr txBox="1">
            <a:spLocks noChangeArrowheads="1"/>
          </p:cNvSpPr>
          <p:nvPr/>
        </p:nvSpPr>
        <p:spPr bwMode="auto">
          <a:xfrm>
            <a:off x="4873625" y="342900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4</a:t>
            </a:r>
          </a:p>
        </p:txBody>
      </p:sp>
      <p:sp>
        <p:nvSpPr>
          <p:cNvPr id="1049711" name="Text Box 112"/>
          <p:cNvSpPr txBox="1">
            <a:spLocks noChangeArrowheads="1"/>
          </p:cNvSpPr>
          <p:nvPr/>
        </p:nvSpPr>
        <p:spPr bwMode="auto">
          <a:xfrm>
            <a:off x="3505200" y="2554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1049712" name="Text Box 113"/>
          <p:cNvSpPr txBox="1">
            <a:spLocks noChangeArrowheads="1"/>
          </p:cNvSpPr>
          <p:nvPr/>
        </p:nvSpPr>
        <p:spPr bwMode="auto">
          <a:xfrm>
            <a:off x="936625" y="352266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1049713" name="Text Box 114"/>
          <p:cNvSpPr txBox="1">
            <a:spLocks noChangeArrowheads="1"/>
          </p:cNvSpPr>
          <p:nvPr/>
        </p:nvSpPr>
        <p:spPr bwMode="auto">
          <a:xfrm>
            <a:off x="1725613" y="23241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1049714" name="Text Box 115"/>
          <p:cNvSpPr txBox="1">
            <a:spLocks noChangeArrowheads="1"/>
          </p:cNvSpPr>
          <p:nvPr/>
        </p:nvSpPr>
        <p:spPr bwMode="auto">
          <a:xfrm>
            <a:off x="8172450" y="4067175"/>
            <a:ext cx="617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8</a:t>
            </a:r>
          </a:p>
        </p:txBody>
      </p:sp>
      <p:sp>
        <p:nvSpPr>
          <p:cNvPr id="1049715" name="Text Box 116"/>
          <p:cNvSpPr txBox="1">
            <a:spLocks noChangeArrowheads="1"/>
          </p:cNvSpPr>
          <p:nvPr/>
        </p:nvSpPr>
        <p:spPr bwMode="auto">
          <a:xfrm>
            <a:off x="8256588" y="2490788"/>
            <a:ext cx="617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6</a:t>
            </a:r>
          </a:p>
        </p:txBody>
      </p:sp>
      <p:sp>
        <p:nvSpPr>
          <p:cNvPr id="1049716" name="Text Box 117"/>
          <p:cNvSpPr txBox="1">
            <a:spLocks noChangeArrowheads="1"/>
          </p:cNvSpPr>
          <p:nvPr/>
        </p:nvSpPr>
        <p:spPr bwMode="auto">
          <a:xfrm>
            <a:off x="1885950" y="4103688"/>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3</a:t>
            </a:r>
          </a:p>
        </p:txBody>
      </p:sp>
      <p:sp>
        <p:nvSpPr>
          <p:cNvPr id="1049717" name="Text Box 118"/>
          <p:cNvSpPr txBox="1">
            <a:spLocks noChangeArrowheads="1"/>
          </p:cNvSpPr>
          <p:nvPr/>
        </p:nvSpPr>
        <p:spPr bwMode="auto">
          <a:xfrm>
            <a:off x="2655888" y="3419475"/>
            <a:ext cx="623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2</a:t>
            </a:r>
          </a:p>
        </p:txBody>
      </p:sp>
      <p:sp>
        <p:nvSpPr>
          <p:cNvPr id="1049718" name="Text Box 119"/>
          <p:cNvSpPr txBox="1">
            <a:spLocks noChangeArrowheads="1"/>
          </p:cNvSpPr>
          <p:nvPr/>
        </p:nvSpPr>
        <p:spPr bwMode="auto">
          <a:xfrm>
            <a:off x="928688" y="2916238"/>
            <a:ext cx="630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9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1049719" name="Text Box 120"/>
          <p:cNvSpPr txBox="1">
            <a:spLocks noChangeArrowheads="1"/>
          </p:cNvSpPr>
          <p:nvPr/>
        </p:nvSpPr>
        <p:spPr bwMode="auto">
          <a:xfrm>
            <a:off x="7702550" y="3327400"/>
            <a:ext cx="611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7</a:t>
            </a:r>
          </a:p>
        </p:txBody>
      </p:sp>
      <p:sp>
        <p:nvSpPr>
          <p:cNvPr id="584825" name="Oval 121"/>
          <p:cNvSpPr>
            <a:spLocks noChangeArrowheads="1"/>
          </p:cNvSpPr>
          <p:nvPr/>
        </p:nvSpPr>
        <p:spPr bwMode="auto">
          <a:xfrm>
            <a:off x="3744913" y="4003675"/>
            <a:ext cx="3382962" cy="103981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84826" name="Text Box 122"/>
          <p:cNvSpPr txBox="1">
            <a:spLocks noChangeArrowheads="1"/>
          </p:cNvSpPr>
          <p:nvPr/>
        </p:nvSpPr>
        <p:spPr bwMode="auto">
          <a:xfrm>
            <a:off x="4598988" y="5003800"/>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0.0.0.2</a:t>
            </a:r>
          </a:p>
        </p:txBody>
      </p:sp>
      <p:sp>
        <p:nvSpPr>
          <p:cNvPr id="1049722" name="Line 123"/>
          <p:cNvSpPr>
            <a:spLocks noChangeShapeType="1"/>
          </p:cNvSpPr>
          <p:nvPr/>
        </p:nvSpPr>
        <p:spPr bwMode="auto">
          <a:xfrm>
            <a:off x="5395913" y="3917950"/>
            <a:ext cx="989012" cy="5207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49723" name="Line 124"/>
          <p:cNvSpPr>
            <a:spLocks noChangeShapeType="1"/>
          </p:cNvSpPr>
          <p:nvPr/>
        </p:nvSpPr>
        <p:spPr bwMode="auto">
          <a:xfrm flipV="1">
            <a:off x="5561013" y="4524375"/>
            <a:ext cx="906462" cy="260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49724" name="Group 125"/>
          <p:cNvGrpSpPr>
            <a:grpSpLocks/>
          </p:cNvGrpSpPr>
          <p:nvPr/>
        </p:nvGrpSpPr>
        <p:grpSpPr bwMode="auto">
          <a:xfrm>
            <a:off x="6138863" y="4176713"/>
            <a:ext cx="741362" cy="608012"/>
            <a:chOff x="2949" y="196"/>
            <a:chExt cx="941" cy="598"/>
          </a:xfrm>
        </p:grpSpPr>
        <p:sp>
          <p:nvSpPr>
            <p:cNvPr id="1049725"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26"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27"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28" name="Oval 12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29"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30"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31"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32" name="Oval 13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33" name="Freeform 13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34" name="Freeform 13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35" name="Freeform 13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49736" name="Text Box 137"/>
          <p:cNvSpPr txBox="1">
            <a:spLocks noChangeArrowheads="1"/>
          </p:cNvSpPr>
          <p:nvPr/>
        </p:nvSpPr>
        <p:spPr bwMode="auto">
          <a:xfrm>
            <a:off x="6167438" y="4222750"/>
            <a:ext cx="65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4</a:t>
            </a:r>
          </a:p>
        </p:txBody>
      </p:sp>
      <p:sp>
        <p:nvSpPr>
          <p:cNvPr id="1049737" name="Line 138"/>
          <p:cNvSpPr>
            <a:spLocks noChangeShapeType="1"/>
          </p:cNvSpPr>
          <p:nvPr/>
        </p:nvSpPr>
        <p:spPr bwMode="auto">
          <a:xfrm>
            <a:off x="4403725" y="4608513"/>
            <a:ext cx="992188" cy="1762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49738" name="Group 139"/>
          <p:cNvGrpSpPr>
            <a:grpSpLocks/>
          </p:cNvGrpSpPr>
          <p:nvPr/>
        </p:nvGrpSpPr>
        <p:grpSpPr bwMode="auto">
          <a:xfrm>
            <a:off x="4075113" y="4262438"/>
            <a:ext cx="742950" cy="608012"/>
            <a:chOff x="2949" y="196"/>
            <a:chExt cx="941" cy="598"/>
          </a:xfrm>
        </p:grpSpPr>
        <p:sp>
          <p:nvSpPr>
            <p:cNvPr id="1049739"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0"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1"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2" name="Oval 14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3"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4"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5"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6" name="Oval 14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49747" name="Freeform 14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48" name="Freeform 14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49749" name="Freeform 15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49750" name="Text Box 151"/>
          <p:cNvSpPr txBox="1">
            <a:spLocks noChangeArrowheads="1"/>
          </p:cNvSpPr>
          <p:nvPr/>
        </p:nvSpPr>
        <p:spPr bwMode="auto">
          <a:xfrm>
            <a:off x="4064000" y="4375150"/>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5</a:t>
            </a:r>
          </a:p>
        </p:txBody>
      </p:sp>
      <p:pic>
        <p:nvPicPr>
          <p:cNvPr id="1049751" name="Picture 1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4560888"/>
            <a:ext cx="5635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9752" name="Text Box 153"/>
          <p:cNvSpPr txBox="1">
            <a:spLocks noChangeArrowheads="1"/>
          </p:cNvSpPr>
          <p:nvPr/>
        </p:nvSpPr>
        <p:spPr bwMode="auto">
          <a:xfrm>
            <a:off x="4910138" y="42481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8</a:t>
            </a:r>
          </a:p>
        </p:txBody>
      </p:sp>
      <p:pic>
        <p:nvPicPr>
          <p:cNvPr id="1049753" name="Picture 1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9375" y="3784600"/>
            <a:ext cx="5651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975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A9CB3A-3C00-4BB2-9062-4031FDF8D6DB}" type="slidenum">
              <a:rPr lang="zh-CN" altLang="en-US" smtClean="0"/>
              <a:pPr eaLnBrk="1" hangingPunct="1"/>
              <a:t>39</a:t>
            </a:fld>
            <a:endParaRPr lang="en-US" altLang="zh-CN" smtClean="0"/>
          </a:p>
        </p:txBody>
      </p:sp>
      <p:sp>
        <p:nvSpPr>
          <p:cNvPr id="104975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500"/>
                                  </p:stCondLst>
                                  <p:childTnLst>
                                    <p:anim calcmode="discrete" valueType="str">
                                      <p:cBhvr>
                                        <p:cTn id="6" dur="1000" fill="hold"/>
                                        <p:tgtEl>
                                          <p:spTgt spid="584706"/>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35" presetClass="emph" presetSubtype="0" repeatCount="2000" fill="hold" grpId="0" nodeType="afterEffect">
                                  <p:stCondLst>
                                    <p:cond delay="500"/>
                                  </p:stCondLst>
                                  <p:childTnLst>
                                    <p:anim calcmode="discrete" valueType="str">
                                      <p:cBhvr>
                                        <p:cTn id="9" dur="1000" fill="hold"/>
                                        <p:tgtEl>
                                          <p:spTgt spid="584715"/>
                                        </p:tgtEl>
                                        <p:attrNameLst>
                                          <p:attrName>style.visibility</p:attrName>
                                        </p:attrNameLst>
                                      </p:cBhvr>
                                      <p:tavLst>
                                        <p:tav tm="0">
                                          <p:val>
                                            <p:strVal val="hidden"/>
                                          </p:val>
                                        </p:tav>
                                        <p:tav tm="50000">
                                          <p:val>
                                            <p:strVal val="visible"/>
                                          </p:val>
                                        </p:tav>
                                      </p:tavLst>
                                    </p:anim>
                                  </p:childTnLst>
                                </p:cTn>
                              </p:par>
                              <p:par>
                                <p:cTn id="10" presetID="35" presetClass="emph" presetSubtype="0" repeatCount="2000" fill="hold" grpId="0" nodeType="withEffect">
                                  <p:stCondLst>
                                    <p:cond delay="500"/>
                                  </p:stCondLst>
                                  <p:childTnLst>
                                    <p:anim calcmode="discrete" valueType="str">
                                      <p:cBhvr>
                                        <p:cTn id="11" dur="1000" fill="hold"/>
                                        <p:tgtEl>
                                          <p:spTgt spid="584710"/>
                                        </p:tgtEl>
                                        <p:attrNameLst>
                                          <p:attrName>style.visibility</p:attrName>
                                        </p:attrNameLst>
                                      </p:cBhvr>
                                      <p:tavLst>
                                        <p:tav tm="0">
                                          <p:val>
                                            <p:strVal val="hidden"/>
                                          </p:val>
                                        </p:tav>
                                        <p:tav tm="50000">
                                          <p:val>
                                            <p:strVal val="visible"/>
                                          </p:val>
                                        </p:tav>
                                      </p:tavLst>
                                    </p:anim>
                                  </p:childTnLst>
                                </p:cTn>
                              </p:par>
                            </p:childTnLst>
                          </p:cTn>
                        </p:par>
                        <p:par>
                          <p:cTn id="12" fill="hold" nodeType="afterGroup">
                            <p:stCondLst>
                              <p:cond delay="6000"/>
                            </p:stCondLst>
                            <p:childTnLst>
                              <p:par>
                                <p:cTn id="13" presetID="35" presetClass="emph" presetSubtype="0" repeatCount="2000" fill="hold" grpId="0" nodeType="afterEffect">
                                  <p:stCondLst>
                                    <p:cond delay="500"/>
                                  </p:stCondLst>
                                  <p:childTnLst>
                                    <p:anim calcmode="discrete" valueType="str">
                                      <p:cBhvr>
                                        <p:cTn id="14" dur="1000" fill="hold"/>
                                        <p:tgtEl>
                                          <p:spTgt spid="584713"/>
                                        </p:tgtEl>
                                        <p:attrNameLst>
                                          <p:attrName>style.visibility</p:attrName>
                                        </p:attrNameLst>
                                      </p:cBhvr>
                                      <p:tavLst>
                                        <p:tav tm="0">
                                          <p:val>
                                            <p:strVal val="hidden"/>
                                          </p:val>
                                        </p:tav>
                                        <p:tav tm="50000">
                                          <p:val>
                                            <p:strVal val="visible"/>
                                          </p:val>
                                        </p:tav>
                                      </p:tavLst>
                                    </p:anim>
                                  </p:childTnLst>
                                </p:cTn>
                              </p:par>
                              <p:par>
                                <p:cTn id="15" presetID="35" presetClass="emph" presetSubtype="0" repeatCount="2000" fill="hold" grpId="0" nodeType="withEffect">
                                  <p:stCondLst>
                                    <p:cond delay="500"/>
                                  </p:stCondLst>
                                  <p:childTnLst>
                                    <p:anim calcmode="discrete" valueType="str">
                                      <p:cBhvr>
                                        <p:cTn id="16" dur="1000" fill="hold"/>
                                        <p:tgtEl>
                                          <p:spTgt spid="584711"/>
                                        </p:tgtEl>
                                        <p:attrNameLst>
                                          <p:attrName>style.visibility</p:attrName>
                                        </p:attrNameLst>
                                      </p:cBhvr>
                                      <p:tavLst>
                                        <p:tav tm="0">
                                          <p:val>
                                            <p:strVal val="hidden"/>
                                          </p:val>
                                        </p:tav>
                                        <p:tav tm="50000">
                                          <p:val>
                                            <p:strVal val="visible"/>
                                          </p:val>
                                        </p:tav>
                                      </p:tavLst>
                                    </p:anim>
                                  </p:childTnLst>
                                </p:cTn>
                              </p:par>
                            </p:childTnLst>
                          </p:cTn>
                        </p:par>
                        <p:par>
                          <p:cTn id="17" fill="hold" nodeType="afterGroup">
                            <p:stCondLst>
                              <p:cond delay="8500"/>
                            </p:stCondLst>
                            <p:childTnLst>
                              <p:par>
                                <p:cTn id="18" presetID="35" presetClass="emph" presetSubtype="0" repeatCount="2000" fill="hold" grpId="0" nodeType="afterEffect">
                                  <p:stCondLst>
                                    <p:cond delay="500"/>
                                  </p:stCondLst>
                                  <p:childTnLst>
                                    <p:anim calcmode="discrete" valueType="str">
                                      <p:cBhvr>
                                        <p:cTn id="19" dur="1000" fill="hold"/>
                                        <p:tgtEl>
                                          <p:spTgt spid="584826"/>
                                        </p:tgtEl>
                                        <p:attrNameLst>
                                          <p:attrName>style.visibility</p:attrName>
                                        </p:attrNameLst>
                                      </p:cBhvr>
                                      <p:tavLst>
                                        <p:tav tm="0">
                                          <p:val>
                                            <p:strVal val="hidden"/>
                                          </p:val>
                                        </p:tav>
                                        <p:tav tm="50000">
                                          <p:val>
                                            <p:strVal val="visible"/>
                                          </p:val>
                                        </p:tav>
                                      </p:tavLst>
                                    </p:anim>
                                  </p:childTnLst>
                                </p:cTn>
                              </p:par>
                              <p:par>
                                <p:cTn id="20" presetID="35" presetClass="emph" presetSubtype="0" repeatCount="2000" fill="hold" grpId="0" nodeType="withEffect">
                                  <p:stCondLst>
                                    <p:cond delay="500"/>
                                  </p:stCondLst>
                                  <p:childTnLst>
                                    <p:anim calcmode="discrete" valueType="str">
                                      <p:cBhvr>
                                        <p:cTn id="21" dur="1000" fill="hold"/>
                                        <p:tgtEl>
                                          <p:spTgt spid="584825"/>
                                        </p:tgtEl>
                                        <p:attrNameLst>
                                          <p:attrName>style.visibility</p:attrName>
                                        </p:attrNameLst>
                                      </p:cBhvr>
                                      <p:tavLst>
                                        <p:tav tm="0">
                                          <p:val>
                                            <p:strVal val="hidden"/>
                                          </p:val>
                                        </p:tav>
                                        <p:tav tm="50000">
                                          <p:val>
                                            <p:strVal val="visible"/>
                                          </p:val>
                                        </p:tav>
                                      </p:tavLst>
                                    </p:anim>
                                  </p:childTnLst>
                                </p:cTn>
                              </p:par>
                            </p:childTnLst>
                          </p:cTn>
                        </p:par>
                        <p:par>
                          <p:cTn id="22" fill="hold" nodeType="afterGroup">
                            <p:stCondLst>
                              <p:cond delay="11000"/>
                            </p:stCondLst>
                            <p:childTnLst>
                              <p:par>
                                <p:cTn id="23" presetID="35" presetClass="emph" presetSubtype="0" repeatCount="2000" fill="hold" grpId="0" nodeType="afterEffect">
                                  <p:stCondLst>
                                    <p:cond delay="500"/>
                                  </p:stCondLst>
                                  <p:childTnLst>
                                    <p:anim calcmode="discrete" valueType="str">
                                      <p:cBhvr>
                                        <p:cTn id="24" dur="1000" fill="hold"/>
                                        <p:tgtEl>
                                          <p:spTgt spid="584712"/>
                                        </p:tgtEl>
                                        <p:attrNameLst>
                                          <p:attrName>style.visibility</p:attrName>
                                        </p:attrNameLst>
                                      </p:cBhvr>
                                      <p:tavLst>
                                        <p:tav tm="0">
                                          <p:val>
                                            <p:strVal val="hidden"/>
                                          </p:val>
                                        </p:tav>
                                        <p:tav tm="50000">
                                          <p:val>
                                            <p:strVal val="visible"/>
                                          </p:val>
                                        </p:tav>
                                      </p:tavLst>
                                    </p:anim>
                                  </p:childTnLst>
                                </p:cTn>
                              </p:par>
                              <p:par>
                                <p:cTn id="25" presetID="35" presetClass="emph" presetSubtype="0" repeatCount="2000" fill="hold" grpId="0" nodeType="withEffect">
                                  <p:stCondLst>
                                    <p:cond delay="500"/>
                                  </p:stCondLst>
                                  <p:childTnLst>
                                    <p:anim calcmode="discrete" valueType="str">
                                      <p:cBhvr>
                                        <p:cTn id="26" dur="1000" fill="hold"/>
                                        <p:tgtEl>
                                          <p:spTgt spid="58471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10" grpId="0" animBg="1"/>
      <p:bldP spid="584711" grpId="0" animBg="1"/>
      <p:bldP spid="584712" grpId="0" animBg="1"/>
      <p:bldP spid="584713" grpId="0"/>
      <p:bldP spid="584714" grpId="0"/>
      <p:bldP spid="584715" grpId="0"/>
      <p:bldP spid="584825" grpId="0" animBg="1"/>
      <p:bldP spid="58482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6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划分区域 </a:t>
            </a:r>
          </a:p>
        </p:txBody>
      </p:sp>
      <p:sp>
        <p:nvSpPr>
          <p:cNvPr id="585731"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划分区域的</a:t>
            </a:r>
            <a:r>
              <a:rPr lang="zh-CN" altLang="en-US" sz="2800" dirty="0" smtClean="0">
                <a:solidFill>
                  <a:srgbClr val="FF0000"/>
                </a:solidFill>
                <a:ea typeface="黑体" panose="02010609060101010101" pitchFamily="49" charset="-122"/>
              </a:rPr>
              <a:t>好处</a:t>
            </a:r>
            <a:r>
              <a:rPr lang="zh-CN" altLang="en-US" sz="2800" dirty="0" smtClean="0">
                <a:ea typeface="黑体" panose="02010609060101010101" pitchFamily="49" charset="-122"/>
              </a:rPr>
              <a:t>就是将利用洪泛法交换链路状态信息的范围局限于每一个区域而不是整个的自治系统，这就</a:t>
            </a:r>
            <a:r>
              <a:rPr lang="zh-CN" altLang="en-US" sz="2800" dirty="0" smtClean="0">
                <a:solidFill>
                  <a:srgbClr val="0000CC"/>
                </a:solidFill>
                <a:ea typeface="黑体" panose="02010609060101010101" pitchFamily="49" charset="-122"/>
              </a:rPr>
              <a:t>减少</a:t>
            </a:r>
            <a:r>
              <a:rPr lang="zh-CN" altLang="en-US" sz="2800" dirty="0" smtClean="0">
                <a:ea typeface="黑体" panose="02010609060101010101" pitchFamily="49" charset="-122"/>
              </a:rPr>
              <a:t>了整个网络上的</a:t>
            </a:r>
            <a:r>
              <a:rPr lang="zh-CN" altLang="en-US" sz="2800" dirty="0" smtClean="0">
                <a:solidFill>
                  <a:srgbClr val="0000CC"/>
                </a:solidFill>
                <a:ea typeface="黑体" panose="02010609060101010101" pitchFamily="49" charset="-122"/>
              </a:rPr>
              <a:t>通信量</a:t>
            </a:r>
            <a:r>
              <a:rPr lang="zh-CN" altLang="en-US" sz="2800" dirty="0" smtClean="0">
                <a:ea typeface="黑体" panose="02010609060101010101" pitchFamily="49" charset="-122"/>
              </a:rPr>
              <a:t>。</a:t>
            </a:r>
          </a:p>
          <a:p>
            <a:r>
              <a:rPr lang="zh-CN" altLang="en-US" sz="2800" dirty="0" smtClean="0">
                <a:solidFill>
                  <a:srgbClr val="0000FF"/>
                </a:solidFill>
                <a:ea typeface="黑体" panose="02010609060101010101" pitchFamily="49" charset="-122"/>
              </a:rPr>
              <a:t>在一个区域内部的路由器只知道本区域的完整网络拓扑，而不知道其他区域的网络拓扑的情况。</a:t>
            </a:r>
          </a:p>
          <a:p>
            <a:r>
              <a:rPr lang="en-US" altLang="zh-CN" sz="2800" dirty="0" smtClean="0">
                <a:ea typeface="黑体" panose="02010609060101010101" pitchFamily="49" charset="-122"/>
              </a:rPr>
              <a:t>OSPF </a:t>
            </a:r>
            <a:r>
              <a:rPr lang="zh-CN" altLang="en-US" sz="2800" dirty="0" smtClean="0">
                <a:ea typeface="黑体" panose="02010609060101010101" pitchFamily="49" charset="-122"/>
              </a:rPr>
              <a:t>使用</a:t>
            </a:r>
            <a:r>
              <a:rPr lang="zh-CN" altLang="en-US" sz="2800" dirty="0" smtClean="0">
                <a:solidFill>
                  <a:srgbClr val="FF0000"/>
                </a:solidFill>
                <a:ea typeface="黑体" panose="02010609060101010101" pitchFamily="49" charset="-122"/>
              </a:rPr>
              <a:t>层次结构的区域划分。</a:t>
            </a:r>
            <a:r>
              <a:rPr lang="zh-CN" altLang="en-US" sz="2800" dirty="0" smtClean="0">
                <a:ea typeface="黑体" panose="02010609060101010101" pitchFamily="49" charset="-122"/>
              </a:rPr>
              <a:t>在上层的区域叫作</a:t>
            </a:r>
            <a:r>
              <a:rPr lang="zh-CN" altLang="en-US" sz="2800" dirty="0" smtClean="0">
                <a:solidFill>
                  <a:srgbClr val="FF0000"/>
                </a:solidFill>
                <a:ea typeface="黑体" panose="02010609060101010101" pitchFamily="49" charset="-122"/>
              </a:rPr>
              <a:t>主干区域 </a:t>
            </a:r>
            <a:r>
              <a:rPr lang="en-US" altLang="zh-CN" sz="2800" dirty="0" smtClean="0">
                <a:ea typeface="黑体" panose="02010609060101010101" pitchFamily="49" charset="-122"/>
              </a:rPr>
              <a:t>(backbone area)</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主干区域的标识符规定为</a:t>
            </a:r>
            <a:r>
              <a:rPr lang="en-US" altLang="zh-CN" sz="2800" dirty="0" smtClean="0">
                <a:solidFill>
                  <a:srgbClr val="FF0000"/>
                </a:solidFill>
                <a:ea typeface="黑体" panose="02010609060101010101" pitchFamily="49" charset="-122"/>
              </a:rPr>
              <a:t>0.0.0.0</a:t>
            </a:r>
            <a:r>
              <a:rPr lang="zh-CN" altLang="en-US" sz="2800" dirty="0" smtClean="0">
                <a:ea typeface="黑体" panose="02010609060101010101" pitchFamily="49" charset="-122"/>
              </a:rPr>
              <a:t>。主干区域的</a:t>
            </a:r>
            <a:r>
              <a:rPr lang="zh-CN" altLang="en-US" sz="2800" dirty="0" smtClean="0">
                <a:solidFill>
                  <a:srgbClr val="FF0000"/>
                </a:solidFill>
                <a:ea typeface="黑体" panose="02010609060101010101" pitchFamily="49" charset="-122"/>
              </a:rPr>
              <a:t>作用</a:t>
            </a:r>
            <a:r>
              <a:rPr lang="zh-CN" altLang="en-US" sz="2800" dirty="0" smtClean="0">
                <a:ea typeface="黑体" panose="02010609060101010101" pitchFamily="49" charset="-122"/>
              </a:rPr>
              <a:t>是用来连通其他在下层的区域。  </a:t>
            </a:r>
          </a:p>
        </p:txBody>
      </p:sp>
      <p:sp>
        <p:nvSpPr>
          <p:cNvPr id="1051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15667C5-93CE-44B4-879D-0C109191D4DF}" type="slidenum">
              <a:rPr lang="zh-CN" altLang="en-US" smtClean="0"/>
              <a:pPr eaLnBrk="1" hangingPunct="1"/>
              <a:t>40</a:t>
            </a:fld>
            <a:endParaRPr lang="en-US" altLang="zh-CN" smtClean="0"/>
          </a:p>
        </p:txBody>
      </p:sp>
      <p:sp>
        <p:nvSpPr>
          <p:cNvPr id="1051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57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57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57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7" name="Rectangle 5"/>
          <p:cNvSpPr>
            <a:spLocks noGrp="1" noChangeArrowheads="1"/>
          </p:cNvSpPr>
          <p:nvPr>
            <p:ph type="title"/>
          </p:nvPr>
        </p:nvSpPr>
        <p:spPr/>
        <p:txBody>
          <a:bodyPr/>
          <a:lstStyle/>
          <a:p>
            <a:pPr algn="ctr"/>
            <a:r>
              <a:rPr lang="zh-CN" altLang="en-US" smtClean="0">
                <a:ea typeface="黑体" panose="02010609060101010101" pitchFamily="49" charset="-122"/>
              </a:rPr>
              <a:t>主干路由器</a:t>
            </a:r>
          </a:p>
        </p:txBody>
      </p:sp>
      <p:grpSp>
        <p:nvGrpSpPr>
          <p:cNvPr id="1053698" name="Group 2"/>
          <p:cNvGrpSpPr>
            <a:grpSpLocks/>
          </p:cNvGrpSpPr>
          <p:nvPr/>
        </p:nvGrpSpPr>
        <p:grpSpPr bwMode="auto">
          <a:xfrm>
            <a:off x="249238" y="1819275"/>
            <a:ext cx="9599612" cy="3760788"/>
            <a:chOff x="79" y="1560"/>
            <a:chExt cx="5582" cy="2369"/>
          </a:xfrm>
        </p:grpSpPr>
        <p:sp>
          <p:nvSpPr>
            <p:cNvPr id="1053699" name="AutoShape 3"/>
            <p:cNvSpPr>
              <a:spLocks noChangeArrowheads="1"/>
            </p:cNvSpPr>
            <p:nvPr/>
          </p:nvSpPr>
          <p:spPr bwMode="auto">
            <a:xfrm>
              <a:off x="79" y="1570"/>
              <a:ext cx="5582" cy="2359"/>
            </a:xfrm>
            <a:prstGeom prst="roundRect">
              <a:avLst>
                <a:gd name="adj" fmla="val 16667"/>
              </a:avLst>
            </a:prstGeom>
            <a:solidFill>
              <a:srgbClr val="CCECFF"/>
            </a:solidFill>
            <a:ln w="19050">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00" name="Text Box 4"/>
            <p:cNvSpPr txBox="1">
              <a:spLocks noChangeArrowheads="1"/>
            </p:cNvSpPr>
            <p:nvPr/>
          </p:nvSpPr>
          <p:spPr bwMode="auto">
            <a:xfrm>
              <a:off x="247" y="1560"/>
              <a:ext cx="11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 </a:t>
              </a:r>
              <a:r>
                <a:rPr lang="en-US" altLang="zh-CN" sz="2400" b="1">
                  <a:solidFill>
                    <a:srgbClr val="0000CC"/>
                  </a:solidFill>
                  <a:ea typeface="黑体" panose="02010609060101010101" pitchFamily="49" charset="-122"/>
                </a:rPr>
                <a:t>AS</a:t>
              </a:r>
            </a:p>
          </p:txBody>
        </p:sp>
      </p:grpSp>
      <p:sp>
        <p:nvSpPr>
          <p:cNvPr id="1053701" name="Oval 6"/>
          <p:cNvSpPr>
            <a:spLocks noChangeArrowheads="1"/>
          </p:cNvSpPr>
          <p:nvPr/>
        </p:nvSpPr>
        <p:spPr bwMode="auto">
          <a:xfrm>
            <a:off x="3910013" y="2406650"/>
            <a:ext cx="3135312" cy="1511300"/>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02" name="Oval 7"/>
          <p:cNvSpPr>
            <a:spLocks noChangeArrowheads="1"/>
          </p:cNvSpPr>
          <p:nvPr/>
        </p:nvSpPr>
        <p:spPr bwMode="auto">
          <a:xfrm>
            <a:off x="361950" y="2336800"/>
            <a:ext cx="34305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03" name="Oval 8"/>
          <p:cNvSpPr>
            <a:spLocks noChangeArrowheads="1"/>
          </p:cNvSpPr>
          <p:nvPr/>
        </p:nvSpPr>
        <p:spPr bwMode="auto">
          <a:xfrm>
            <a:off x="7127875" y="2336800"/>
            <a:ext cx="26050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04" name="Text Box 9"/>
          <p:cNvSpPr txBox="1">
            <a:spLocks noChangeArrowheads="1"/>
          </p:cNvSpPr>
          <p:nvPr/>
        </p:nvSpPr>
        <p:spPr bwMode="auto">
          <a:xfrm>
            <a:off x="1089025" y="4716463"/>
            <a:ext cx="1828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0.0.0.1</a:t>
            </a:r>
          </a:p>
        </p:txBody>
      </p:sp>
      <p:sp>
        <p:nvSpPr>
          <p:cNvPr id="1053705" name="Text Box 10"/>
          <p:cNvSpPr txBox="1">
            <a:spLocks noChangeArrowheads="1"/>
          </p:cNvSpPr>
          <p:nvPr/>
        </p:nvSpPr>
        <p:spPr bwMode="auto">
          <a:xfrm>
            <a:off x="7640638" y="4787900"/>
            <a:ext cx="1830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0.0.0.3</a:t>
            </a:r>
          </a:p>
        </p:txBody>
      </p:sp>
      <p:sp>
        <p:nvSpPr>
          <p:cNvPr id="1053706" name="Text Box 11"/>
          <p:cNvSpPr txBox="1">
            <a:spLocks noChangeArrowheads="1"/>
          </p:cNvSpPr>
          <p:nvPr/>
        </p:nvSpPr>
        <p:spPr bwMode="auto">
          <a:xfrm>
            <a:off x="3913188" y="1903413"/>
            <a:ext cx="2447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主干区域 </a:t>
            </a:r>
            <a:r>
              <a:rPr lang="en-US" altLang="zh-CN" sz="2400" b="1">
                <a:solidFill>
                  <a:srgbClr val="C00000"/>
                </a:solidFill>
                <a:ea typeface="黑体" panose="02010609060101010101" pitchFamily="49" charset="-122"/>
              </a:rPr>
              <a:t>0.0.0.0</a:t>
            </a:r>
          </a:p>
        </p:txBody>
      </p:sp>
      <p:sp>
        <p:nvSpPr>
          <p:cNvPr id="1053707" name="Line 12"/>
          <p:cNvSpPr>
            <a:spLocks noChangeShapeType="1"/>
          </p:cNvSpPr>
          <p:nvPr/>
        </p:nvSpPr>
        <p:spPr bwMode="auto">
          <a:xfrm flipV="1">
            <a:off x="5478463" y="1719263"/>
            <a:ext cx="1154112" cy="962025"/>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08" name="Text Box 13"/>
          <p:cNvSpPr txBox="1">
            <a:spLocks noChangeArrowheads="1"/>
          </p:cNvSpPr>
          <p:nvPr/>
        </p:nvSpPr>
        <p:spPr bwMode="auto">
          <a:xfrm>
            <a:off x="5835650" y="1268413"/>
            <a:ext cx="233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至其他自治系统</a:t>
            </a:r>
          </a:p>
        </p:txBody>
      </p:sp>
      <p:sp>
        <p:nvSpPr>
          <p:cNvPr id="1053709" name="Line 14"/>
          <p:cNvSpPr>
            <a:spLocks noChangeShapeType="1"/>
          </p:cNvSpPr>
          <p:nvPr/>
        </p:nvSpPr>
        <p:spPr bwMode="auto">
          <a:xfrm>
            <a:off x="7127875" y="3230563"/>
            <a:ext cx="908050" cy="2730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0" name="Line 15"/>
          <p:cNvSpPr>
            <a:spLocks noChangeShapeType="1"/>
          </p:cNvSpPr>
          <p:nvPr/>
        </p:nvSpPr>
        <p:spPr bwMode="auto">
          <a:xfrm flipV="1">
            <a:off x="8201025" y="3436938"/>
            <a:ext cx="822325" cy="1365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1" name="Line 16"/>
          <p:cNvSpPr>
            <a:spLocks noChangeShapeType="1"/>
          </p:cNvSpPr>
          <p:nvPr/>
        </p:nvSpPr>
        <p:spPr bwMode="auto">
          <a:xfrm>
            <a:off x="8613775" y="2749550"/>
            <a:ext cx="409575" cy="6873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2" name="Line 17"/>
          <p:cNvSpPr>
            <a:spLocks noChangeShapeType="1"/>
          </p:cNvSpPr>
          <p:nvPr/>
        </p:nvSpPr>
        <p:spPr bwMode="auto">
          <a:xfrm flipH="1">
            <a:off x="8528050" y="3503613"/>
            <a:ext cx="495300" cy="75723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3" name="Line 18"/>
          <p:cNvSpPr>
            <a:spLocks noChangeShapeType="1"/>
          </p:cNvSpPr>
          <p:nvPr/>
        </p:nvSpPr>
        <p:spPr bwMode="auto">
          <a:xfrm flipV="1">
            <a:off x="5889625" y="3230563"/>
            <a:ext cx="1069975" cy="1381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4" name="Line 19"/>
          <p:cNvSpPr>
            <a:spLocks noChangeShapeType="1"/>
          </p:cNvSpPr>
          <p:nvPr/>
        </p:nvSpPr>
        <p:spPr bwMode="auto">
          <a:xfrm>
            <a:off x="5561013" y="2681288"/>
            <a:ext cx="163512" cy="617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5" name="Line 20"/>
          <p:cNvSpPr>
            <a:spLocks noChangeShapeType="1"/>
          </p:cNvSpPr>
          <p:nvPr/>
        </p:nvSpPr>
        <p:spPr bwMode="auto">
          <a:xfrm flipH="1">
            <a:off x="5478463" y="3436938"/>
            <a:ext cx="246062" cy="4810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6" name="Line 21"/>
          <p:cNvSpPr>
            <a:spLocks noChangeShapeType="1"/>
          </p:cNvSpPr>
          <p:nvPr/>
        </p:nvSpPr>
        <p:spPr bwMode="auto">
          <a:xfrm>
            <a:off x="3744913" y="3094038"/>
            <a:ext cx="1733550" cy="274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7" name="Line 22"/>
          <p:cNvSpPr>
            <a:spLocks noChangeShapeType="1"/>
          </p:cNvSpPr>
          <p:nvPr/>
        </p:nvSpPr>
        <p:spPr bwMode="auto">
          <a:xfrm flipV="1">
            <a:off x="3827463" y="2749550"/>
            <a:ext cx="1568450" cy="344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8" name="Line 23"/>
          <p:cNvSpPr>
            <a:spLocks noChangeShapeType="1"/>
          </p:cNvSpPr>
          <p:nvPr/>
        </p:nvSpPr>
        <p:spPr bwMode="auto">
          <a:xfrm flipH="1">
            <a:off x="1187450" y="2749550"/>
            <a:ext cx="1236663" cy="34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19" name="Line 24"/>
          <p:cNvSpPr>
            <a:spLocks noChangeShapeType="1"/>
          </p:cNvSpPr>
          <p:nvPr/>
        </p:nvSpPr>
        <p:spPr bwMode="auto">
          <a:xfrm>
            <a:off x="2424113" y="2816225"/>
            <a:ext cx="496887" cy="75723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20" name="Line 25"/>
          <p:cNvSpPr>
            <a:spLocks noChangeShapeType="1"/>
          </p:cNvSpPr>
          <p:nvPr/>
        </p:nvSpPr>
        <p:spPr bwMode="auto">
          <a:xfrm flipV="1">
            <a:off x="3001963" y="3160713"/>
            <a:ext cx="742950"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21" name="Line 26"/>
          <p:cNvSpPr>
            <a:spLocks noChangeShapeType="1"/>
          </p:cNvSpPr>
          <p:nvPr/>
        </p:nvSpPr>
        <p:spPr bwMode="auto">
          <a:xfrm flipH="1">
            <a:off x="1763713" y="3643313"/>
            <a:ext cx="1074737" cy="13811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722" name="Line 27"/>
          <p:cNvSpPr>
            <a:spLocks noChangeShapeType="1"/>
          </p:cNvSpPr>
          <p:nvPr/>
        </p:nvSpPr>
        <p:spPr bwMode="auto">
          <a:xfrm>
            <a:off x="1763713" y="3848100"/>
            <a:ext cx="414337"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3723" name="Group 28"/>
          <p:cNvGrpSpPr>
            <a:grpSpLocks/>
          </p:cNvGrpSpPr>
          <p:nvPr/>
        </p:nvGrpSpPr>
        <p:grpSpPr bwMode="auto">
          <a:xfrm>
            <a:off x="2589213" y="3368675"/>
            <a:ext cx="742950" cy="479425"/>
            <a:chOff x="2949" y="196"/>
            <a:chExt cx="941" cy="598"/>
          </a:xfrm>
        </p:grpSpPr>
        <p:sp>
          <p:nvSpPr>
            <p:cNvPr id="1053724" name="Oval 2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5" name="Oval 3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6" name="Oval 3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7" name="Oval 3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8" name="Oval 3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29" name="Oval 3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30" name="Oval 3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31" name="Oval 3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32" name="Freeform 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33" name="Freeform 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34" name="Freeform 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1053735"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3643313"/>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36"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500" y="2611438"/>
            <a:ext cx="5635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37"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7263" y="2955925"/>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38"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2543175"/>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39"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8463" y="3230563"/>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4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8875" y="3298825"/>
            <a:ext cx="5619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3741"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7675" y="3094038"/>
            <a:ext cx="56197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3742" name="Group 47"/>
          <p:cNvGrpSpPr>
            <a:grpSpLocks/>
          </p:cNvGrpSpPr>
          <p:nvPr/>
        </p:nvGrpSpPr>
        <p:grpSpPr bwMode="auto">
          <a:xfrm>
            <a:off x="1846263" y="4056063"/>
            <a:ext cx="742950" cy="479425"/>
            <a:chOff x="2949" y="196"/>
            <a:chExt cx="941" cy="598"/>
          </a:xfrm>
        </p:grpSpPr>
        <p:sp>
          <p:nvSpPr>
            <p:cNvPr id="1053743" name="Oval 4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4" name="Oval 4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5" name="Oval 5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6" name="Oval 5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7" name="Oval 5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8" name="Oval 5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49" name="Oval 5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0" name="Oval 5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1" name="Freeform 5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52" name="Freeform 5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53" name="Freeform 5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3754" name="Group 59"/>
          <p:cNvGrpSpPr>
            <a:grpSpLocks/>
          </p:cNvGrpSpPr>
          <p:nvPr/>
        </p:nvGrpSpPr>
        <p:grpSpPr bwMode="auto">
          <a:xfrm>
            <a:off x="857250" y="2886075"/>
            <a:ext cx="742950" cy="482600"/>
            <a:chOff x="2949" y="196"/>
            <a:chExt cx="941" cy="598"/>
          </a:xfrm>
        </p:grpSpPr>
        <p:sp>
          <p:nvSpPr>
            <p:cNvPr id="1053755" name="Oval 6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6" name="Oval 6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7" name="Oval 6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8" name="Oval 6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59" name="Oval 6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0" name="Oval 6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1" name="Oval 6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2" name="Oval 6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3" name="Freeform 6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64" name="Freeform 6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65" name="Freeform 7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3766" name="Group 71"/>
          <p:cNvGrpSpPr>
            <a:grpSpLocks/>
          </p:cNvGrpSpPr>
          <p:nvPr/>
        </p:nvGrpSpPr>
        <p:grpSpPr bwMode="auto">
          <a:xfrm>
            <a:off x="8201025" y="2474913"/>
            <a:ext cx="739775" cy="481012"/>
            <a:chOff x="2949" y="196"/>
            <a:chExt cx="941" cy="598"/>
          </a:xfrm>
        </p:grpSpPr>
        <p:sp>
          <p:nvSpPr>
            <p:cNvPr id="1053767" name="Oval 7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8" name="Oval 7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69" name="Oval 7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0" name="Oval 7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1" name="Oval 7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2" name="Oval 7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3" name="Oval 7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4" name="Oval 7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75" name="Freeform 8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76" name="Freeform 8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77" name="Freeform 8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3778" name="Group 83"/>
          <p:cNvGrpSpPr>
            <a:grpSpLocks/>
          </p:cNvGrpSpPr>
          <p:nvPr/>
        </p:nvGrpSpPr>
        <p:grpSpPr bwMode="auto">
          <a:xfrm>
            <a:off x="8118475" y="4056063"/>
            <a:ext cx="742950" cy="479425"/>
            <a:chOff x="2949" y="196"/>
            <a:chExt cx="941" cy="598"/>
          </a:xfrm>
        </p:grpSpPr>
        <p:sp>
          <p:nvSpPr>
            <p:cNvPr id="1053779"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0"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1"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2"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3"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4"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5"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6"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87" name="Freeform 9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88" name="Freeform 9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789" name="Freeform 9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3790" name="Group 95"/>
          <p:cNvGrpSpPr>
            <a:grpSpLocks/>
          </p:cNvGrpSpPr>
          <p:nvPr/>
        </p:nvGrpSpPr>
        <p:grpSpPr bwMode="auto">
          <a:xfrm>
            <a:off x="7702550" y="3298825"/>
            <a:ext cx="742950" cy="482600"/>
            <a:chOff x="2949" y="196"/>
            <a:chExt cx="941" cy="598"/>
          </a:xfrm>
        </p:grpSpPr>
        <p:sp>
          <p:nvSpPr>
            <p:cNvPr id="1053791" name="Oval 9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2" name="Oval 9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3" name="Oval 9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4" name="Oval 9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5" name="Oval 10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6" name="Oval 10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7" name="Oval 10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8" name="Oval 10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799" name="Freeform 10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00" name="Freeform 10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01" name="Freeform 10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3802" name="Text Box 107"/>
          <p:cNvSpPr txBox="1">
            <a:spLocks noChangeArrowheads="1"/>
          </p:cNvSpPr>
          <p:nvPr/>
        </p:nvSpPr>
        <p:spPr bwMode="auto">
          <a:xfrm>
            <a:off x="9067800" y="293211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9</a:t>
            </a:r>
          </a:p>
        </p:txBody>
      </p:sp>
      <p:sp>
        <p:nvSpPr>
          <p:cNvPr id="586860" name="Text Box 108"/>
          <p:cNvSpPr txBox="1">
            <a:spLocks noChangeArrowheads="1"/>
          </p:cNvSpPr>
          <p:nvPr/>
        </p:nvSpPr>
        <p:spPr bwMode="auto">
          <a:xfrm>
            <a:off x="6462713" y="27495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7</a:t>
            </a:r>
          </a:p>
        </p:txBody>
      </p:sp>
      <p:sp>
        <p:nvSpPr>
          <p:cNvPr id="586861" name="Text Box 109"/>
          <p:cNvSpPr txBox="1">
            <a:spLocks noChangeArrowheads="1"/>
          </p:cNvSpPr>
          <p:nvPr/>
        </p:nvSpPr>
        <p:spPr bwMode="auto">
          <a:xfrm>
            <a:off x="5778500" y="241935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6</a:t>
            </a:r>
          </a:p>
        </p:txBody>
      </p:sp>
      <p:sp>
        <p:nvSpPr>
          <p:cNvPr id="586862" name="Text Box 110"/>
          <p:cNvSpPr txBox="1">
            <a:spLocks noChangeArrowheads="1"/>
          </p:cNvSpPr>
          <p:nvPr/>
        </p:nvSpPr>
        <p:spPr bwMode="auto">
          <a:xfrm>
            <a:off x="5159375" y="28717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5</a:t>
            </a:r>
          </a:p>
        </p:txBody>
      </p:sp>
      <p:sp>
        <p:nvSpPr>
          <p:cNvPr id="586863" name="Text Box 111"/>
          <p:cNvSpPr txBox="1">
            <a:spLocks noChangeArrowheads="1"/>
          </p:cNvSpPr>
          <p:nvPr/>
        </p:nvSpPr>
        <p:spPr bwMode="auto">
          <a:xfrm>
            <a:off x="4873625" y="342900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4</a:t>
            </a:r>
          </a:p>
        </p:txBody>
      </p:sp>
      <p:sp>
        <p:nvSpPr>
          <p:cNvPr id="586864" name="Text Box 112"/>
          <p:cNvSpPr txBox="1">
            <a:spLocks noChangeArrowheads="1"/>
          </p:cNvSpPr>
          <p:nvPr/>
        </p:nvSpPr>
        <p:spPr bwMode="auto">
          <a:xfrm>
            <a:off x="3505200" y="2554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3</a:t>
            </a:r>
          </a:p>
        </p:txBody>
      </p:sp>
      <p:sp>
        <p:nvSpPr>
          <p:cNvPr id="1053808" name="Text Box 113"/>
          <p:cNvSpPr txBox="1">
            <a:spLocks noChangeArrowheads="1"/>
          </p:cNvSpPr>
          <p:nvPr/>
        </p:nvSpPr>
        <p:spPr bwMode="auto">
          <a:xfrm>
            <a:off x="936625" y="352266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1053809" name="Text Box 114"/>
          <p:cNvSpPr txBox="1">
            <a:spLocks noChangeArrowheads="1"/>
          </p:cNvSpPr>
          <p:nvPr/>
        </p:nvSpPr>
        <p:spPr bwMode="auto">
          <a:xfrm>
            <a:off x="1725613" y="23241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1053810" name="Text Box 115"/>
          <p:cNvSpPr txBox="1">
            <a:spLocks noChangeArrowheads="1"/>
          </p:cNvSpPr>
          <p:nvPr/>
        </p:nvSpPr>
        <p:spPr bwMode="auto">
          <a:xfrm>
            <a:off x="8172450" y="4067175"/>
            <a:ext cx="617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8</a:t>
            </a:r>
          </a:p>
        </p:txBody>
      </p:sp>
      <p:sp>
        <p:nvSpPr>
          <p:cNvPr id="1053811" name="Text Box 116"/>
          <p:cNvSpPr txBox="1">
            <a:spLocks noChangeArrowheads="1"/>
          </p:cNvSpPr>
          <p:nvPr/>
        </p:nvSpPr>
        <p:spPr bwMode="auto">
          <a:xfrm>
            <a:off x="8256588" y="2490788"/>
            <a:ext cx="617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6</a:t>
            </a:r>
          </a:p>
        </p:txBody>
      </p:sp>
      <p:sp>
        <p:nvSpPr>
          <p:cNvPr id="1053812" name="Text Box 117"/>
          <p:cNvSpPr txBox="1">
            <a:spLocks noChangeArrowheads="1"/>
          </p:cNvSpPr>
          <p:nvPr/>
        </p:nvSpPr>
        <p:spPr bwMode="auto">
          <a:xfrm>
            <a:off x="1885950" y="4103688"/>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3</a:t>
            </a:r>
          </a:p>
        </p:txBody>
      </p:sp>
      <p:sp>
        <p:nvSpPr>
          <p:cNvPr id="1053813" name="Text Box 118"/>
          <p:cNvSpPr txBox="1">
            <a:spLocks noChangeArrowheads="1"/>
          </p:cNvSpPr>
          <p:nvPr/>
        </p:nvSpPr>
        <p:spPr bwMode="auto">
          <a:xfrm>
            <a:off x="2655888" y="3419475"/>
            <a:ext cx="623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2</a:t>
            </a:r>
          </a:p>
        </p:txBody>
      </p:sp>
      <p:sp>
        <p:nvSpPr>
          <p:cNvPr id="1053814" name="Text Box 119"/>
          <p:cNvSpPr txBox="1">
            <a:spLocks noChangeArrowheads="1"/>
          </p:cNvSpPr>
          <p:nvPr/>
        </p:nvSpPr>
        <p:spPr bwMode="auto">
          <a:xfrm>
            <a:off x="928688" y="2916238"/>
            <a:ext cx="630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9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1053815" name="Text Box 120"/>
          <p:cNvSpPr txBox="1">
            <a:spLocks noChangeArrowheads="1"/>
          </p:cNvSpPr>
          <p:nvPr/>
        </p:nvSpPr>
        <p:spPr bwMode="auto">
          <a:xfrm>
            <a:off x="7702550" y="3327400"/>
            <a:ext cx="611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7</a:t>
            </a:r>
          </a:p>
        </p:txBody>
      </p:sp>
      <p:sp>
        <p:nvSpPr>
          <p:cNvPr id="1053816" name="Oval 121"/>
          <p:cNvSpPr>
            <a:spLocks noChangeArrowheads="1"/>
          </p:cNvSpPr>
          <p:nvPr/>
        </p:nvSpPr>
        <p:spPr bwMode="auto">
          <a:xfrm>
            <a:off x="3744913" y="4003675"/>
            <a:ext cx="3382962" cy="103981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17" name="Text Box 122"/>
          <p:cNvSpPr txBox="1">
            <a:spLocks noChangeArrowheads="1"/>
          </p:cNvSpPr>
          <p:nvPr/>
        </p:nvSpPr>
        <p:spPr bwMode="auto">
          <a:xfrm>
            <a:off x="4598988" y="5003800"/>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0.0.0.2</a:t>
            </a:r>
          </a:p>
        </p:txBody>
      </p:sp>
      <p:sp>
        <p:nvSpPr>
          <p:cNvPr id="1053818" name="Line 123"/>
          <p:cNvSpPr>
            <a:spLocks noChangeShapeType="1"/>
          </p:cNvSpPr>
          <p:nvPr/>
        </p:nvSpPr>
        <p:spPr bwMode="auto">
          <a:xfrm>
            <a:off x="5395913" y="3917950"/>
            <a:ext cx="989012" cy="5207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3819" name="Line 124"/>
          <p:cNvSpPr>
            <a:spLocks noChangeShapeType="1"/>
          </p:cNvSpPr>
          <p:nvPr/>
        </p:nvSpPr>
        <p:spPr bwMode="auto">
          <a:xfrm flipV="1">
            <a:off x="5561013" y="4524375"/>
            <a:ext cx="906462" cy="260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3820" name="Group 125"/>
          <p:cNvGrpSpPr>
            <a:grpSpLocks/>
          </p:cNvGrpSpPr>
          <p:nvPr/>
        </p:nvGrpSpPr>
        <p:grpSpPr bwMode="auto">
          <a:xfrm>
            <a:off x="6138863" y="4176713"/>
            <a:ext cx="741362" cy="608012"/>
            <a:chOff x="2949" y="196"/>
            <a:chExt cx="941" cy="598"/>
          </a:xfrm>
        </p:grpSpPr>
        <p:sp>
          <p:nvSpPr>
            <p:cNvPr id="1053821"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2"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3"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4" name="Oval 12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5"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6"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7"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8" name="Oval 13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29" name="Freeform 13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30" name="Freeform 13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31" name="Freeform 13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3832" name="Text Box 137"/>
          <p:cNvSpPr txBox="1">
            <a:spLocks noChangeArrowheads="1"/>
          </p:cNvSpPr>
          <p:nvPr/>
        </p:nvSpPr>
        <p:spPr bwMode="auto">
          <a:xfrm>
            <a:off x="6167438" y="4222750"/>
            <a:ext cx="65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4</a:t>
            </a:r>
          </a:p>
        </p:txBody>
      </p:sp>
      <p:sp>
        <p:nvSpPr>
          <p:cNvPr id="1053833" name="Line 138"/>
          <p:cNvSpPr>
            <a:spLocks noChangeShapeType="1"/>
          </p:cNvSpPr>
          <p:nvPr/>
        </p:nvSpPr>
        <p:spPr bwMode="auto">
          <a:xfrm>
            <a:off x="4403725" y="4608513"/>
            <a:ext cx="992188" cy="1762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3834" name="Group 139"/>
          <p:cNvGrpSpPr>
            <a:grpSpLocks/>
          </p:cNvGrpSpPr>
          <p:nvPr/>
        </p:nvGrpSpPr>
        <p:grpSpPr bwMode="auto">
          <a:xfrm>
            <a:off x="4075113" y="4262438"/>
            <a:ext cx="742950" cy="608012"/>
            <a:chOff x="2949" y="196"/>
            <a:chExt cx="941" cy="598"/>
          </a:xfrm>
        </p:grpSpPr>
        <p:sp>
          <p:nvSpPr>
            <p:cNvPr id="1053835"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36"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37"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38" name="Oval 14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39"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40"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41"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42" name="Oval 14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3843" name="Freeform 14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44" name="Freeform 14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3845" name="Freeform 15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3846" name="Text Box 151"/>
          <p:cNvSpPr txBox="1">
            <a:spLocks noChangeArrowheads="1"/>
          </p:cNvSpPr>
          <p:nvPr/>
        </p:nvSpPr>
        <p:spPr bwMode="auto">
          <a:xfrm>
            <a:off x="4064000" y="4375150"/>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5</a:t>
            </a:r>
          </a:p>
        </p:txBody>
      </p:sp>
      <p:pic>
        <p:nvPicPr>
          <p:cNvPr id="1053847" name="Picture 1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4560888"/>
            <a:ext cx="5635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3848" name="Text Box 153"/>
          <p:cNvSpPr txBox="1">
            <a:spLocks noChangeArrowheads="1"/>
          </p:cNvSpPr>
          <p:nvPr/>
        </p:nvSpPr>
        <p:spPr bwMode="auto">
          <a:xfrm>
            <a:off x="4910138" y="42481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8</a:t>
            </a:r>
          </a:p>
        </p:txBody>
      </p:sp>
      <p:pic>
        <p:nvPicPr>
          <p:cNvPr id="1053849" name="Picture 1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9375" y="3784600"/>
            <a:ext cx="5651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385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3D2DD7-5CC9-4129-B3D7-A39CAFACA4A7}" type="slidenum">
              <a:rPr lang="zh-CN" altLang="en-US" smtClean="0"/>
              <a:pPr eaLnBrk="1" hangingPunct="1"/>
              <a:t>41</a:t>
            </a:fld>
            <a:endParaRPr lang="en-US" altLang="zh-CN" smtClean="0"/>
          </a:p>
        </p:txBody>
      </p:sp>
      <p:sp>
        <p:nvSpPr>
          <p:cNvPr id="105385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586757"/>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586864"/>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grpId="0" nodeType="withEffect">
                                  <p:stCondLst>
                                    <p:cond delay="0"/>
                                  </p:stCondLst>
                                  <p:childTnLst>
                                    <p:anim calcmode="discrete" valueType="str">
                                      <p:cBhvr>
                                        <p:cTn id="10" dur="1000" fill="hold"/>
                                        <p:tgtEl>
                                          <p:spTgt spid="586863"/>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0"/>
                                  </p:stCondLst>
                                  <p:childTnLst>
                                    <p:anim calcmode="discrete" valueType="str">
                                      <p:cBhvr>
                                        <p:cTn id="12" dur="1000" fill="hold"/>
                                        <p:tgtEl>
                                          <p:spTgt spid="586862"/>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586861"/>
                                        </p:tgtEl>
                                        <p:attrNameLst>
                                          <p:attrName>style.visibility</p:attrName>
                                        </p:attrNameLst>
                                      </p:cBhvr>
                                      <p:tavLst>
                                        <p:tav tm="0">
                                          <p:val>
                                            <p:strVal val="hidden"/>
                                          </p:val>
                                        </p:tav>
                                        <p:tav tm="50000">
                                          <p:val>
                                            <p:strVal val="visible"/>
                                          </p:val>
                                        </p:tav>
                                      </p:tavLst>
                                    </p:anim>
                                  </p:childTnLst>
                                </p:cTn>
                              </p:par>
                              <p:par>
                                <p:cTn id="15" presetID="35" presetClass="emph" presetSubtype="0" repeatCount="3000" fill="hold" grpId="0" nodeType="withEffect">
                                  <p:stCondLst>
                                    <p:cond delay="0"/>
                                  </p:stCondLst>
                                  <p:childTnLst>
                                    <p:anim calcmode="discrete" valueType="str">
                                      <p:cBhvr>
                                        <p:cTn id="16" dur="1000" fill="hold"/>
                                        <p:tgtEl>
                                          <p:spTgt spid="58686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7" grpId="0"/>
      <p:bldP spid="586860" grpId="0"/>
      <p:bldP spid="586861" grpId="0"/>
      <p:bldP spid="586862" grpId="0"/>
      <p:bldP spid="586863" grpId="0"/>
      <p:bldP spid="58686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81" name="Rectangle 5"/>
          <p:cNvSpPr>
            <a:spLocks noGrp="1" noChangeArrowheads="1"/>
          </p:cNvSpPr>
          <p:nvPr>
            <p:ph type="title"/>
          </p:nvPr>
        </p:nvSpPr>
        <p:spPr/>
        <p:txBody>
          <a:bodyPr/>
          <a:lstStyle/>
          <a:p>
            <a:pPr algn="ctr"/>
            <a:r>
              <a:rPr lang="zh-CN" altLang="en-US" smtClean="0">
                <a:ea typeface="黑体" panose="02010609060101010101" pitchFamily="49" charset="-122"/>
              </a:rPr>
              <a:t>区域边界路由器 </a:t>
            </a:r>
          </a:p>
        </p:txBody>
      </p:sp>
      <p:grpSp>
        <p:nvGrpSpPr>
          <p:cNvPr id="1055746" name="Group 2"/>
          <p:cNvGrpSpPr>
            <a:grpSpLocks/>
          </p:cNvGrpSpPr>
          <p:nvPr/>
        </p:nvGrpSpPr>
        <p:grpSpPr bwMode="auto">
          <a:xfrm>
            <a:off x="249238" y="1819275"/>
            <a:ext cx="9599612" cy="3760788"/>
            <a:chOff x="79" y="1560"/>
            <a:chExt cx="5582" cy="2369"/>
          </a:xfrm>
        </p:grpSpPr>
        <p:sp>
          <p:nvSpPr>
            <p:cNvPr id="1055747" name="AutoShape 3"/>
            <p:cNvSpPr>
              <a:spLocks noChangeArrowheads="1"/>
            </p:cNvSpPr>
            <p:nvPr/>
          </p:nvSpPr>
          <p:spPr bwMode="auto">
            <a:xfrm>
              <a:off x="79" y="1570"/>
              <a:ext cx="5582" cy="2359"/>
            </a:xfrm>
            <a:prstGeom prst="roundRect">
              <a:avLst>
                <a:gd name="adj" fmla="val 16667"/>
              </a:avLst>
            </a:prstGeom>
            <a:solidFill>
              <a:srgbClr val="CCECFF"/>
            </a:solidFill>
            <a:ln w="19050">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48" name="Text Box 4"/>
            <p:cNvSpPr txBox="1">
              <a:spLocks noChangeArrowheads="1"/>
            </p:cNvSpPr>
            <p:nvPr/>
          </p:nvSpPr>
          <p:spPr bwMode="auto">
            <a:xfrm>
              <a:off x="247" y="1560"/>
              <a:ext cx="111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自治系统 </a:t>
              </a:r>
              <a:r>
                <a:rPr lang="en-US" altLang="zh-CN" sz="2400" b="1">
                  <a:solidFill>
                    <a:srgbClr val="0000CC"/>
                  </a:solidFill>
                  <a:ea typeface="黑体" panose="02010609060101010101" pitchFamily="49" charset="-122"/>
                </a:rPr>
                <a:t>AS</a:t>
              </a:r>
            </a:p>
          </p:txBody>
        </p:sp>
      </p:grpSp>
      <p:sp>
        <p:nvSpPr>
          <p:cNvPr id="1055749" name="Oval 6"/>
          <p:cNvSpPr>
            <a:spLocks noChangeArrowheads="1"/>
          </p:cNvSpPr>
          <p:nvPr/>
        </p:nvSpPr>
        <p:spPr bwMode="auto">
          <a:xfrm>
            <a:off x="3910013" y="2406650"/>
            <a:ext cx="3135312" cy="1511300"/>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50" name="Oval 7"/>
          <p:cNvSpPr>
            <a:spLocks noChangeArrowheads="1"/>
          </p:cNvSpPr>
          <p:nvPr/>
        </p:nvSpPr>
        <p:spPr bwMode="auto">
          <a:xfrm>
            <a:off x="361950" y="2336800"/>
            <a:ext cx="34305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51" name="Oval 8"/>
          <p:cNvSpPr>
            <a:spLocks noChangeArrowheads="1"/>
          </p:cNvSpPr>
          <p:nvPr/>
        </p:nvSpPr>
        <p:spPr bwMode="auto">
          <a:xfrm>
            <a:off x="7127875" y="2336800"/>
            <a:ext cx="2605088"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52" name="Text Box 9"/>
          <p:cNvSpPr txBox="1">
            <a:spLocks noChangeArrowheads="1"/>
          </p:cNvSpPr>
          <p:nvPr/>
        </p:nvSpPr>
        <p:spPr bwMode="auto">
          <a:xfrm>
            <a:off x="1089025" y="4716463"/>
            <a:ext cx="1828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0.0.0.1</a:t>
            </a:r>
          </a:p>
        </p:txBody>
      </p:sp>
      <p:sp>
        <p:nvSpPr>
          <p:cNvPr id="1055753" name="Text Box 10"/>
          <p:cNvSpPr txBox="1">
            <a:spLocks noChangeArrowheads="1"/>
          </p:cNvSpPr>
          <p:nvPr/>
        </p:nvSpPr>
        <p:spPr bwMode="auto">
          <a:xfrm>
            <a:off x="7640638" y="4787900"/>
            <a:ext cx="1830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0.0.0.3</a:t>
            </a:r>
          </a:p>
        </p:txBody>
      </p:sp>
      <p:sp>
        <p:nvSpPr>
          <p:cNvPr id="1055754" name="Text Box 11"/>
          <p:cNvSpPr txBox="1">
            <a:spLocks noChangeArrowheads="1"/>
          </p:cNvSpPr>
          <p:nvPr/>
        </p:nvSpPr>
        <p:spPr bwMode="auto">
          <a:xfrm>
            <a:off x="3913188" y="1903413"/>
            <a:ext cx="2447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主干区域 </a:t>
            </a:r>
            <a:r>
              <a:rPr lang="en-US" altLang="zh-CN" sz="2400" b="1">
                <a:solidFill>
                  <a:srgbClr val="C00000"/>
                </a:solidFill>
                <a:ea typeface="黑体" panose="02010609060101010101" pitchFamily="49" charset="-122"/>
              </a:rPr>
              <a:t>0.0.0.0</a:t>
            </a:r>
          </a:p>
        </p:txBody>
      </p:sp>
      <p:sp>
        <p:nvSpPr>
          <p:cNvPr id="1055755" name="Line 12"/>
          <p:cNvSpPr>
            <a:spLocks noChangeShapeType="1"/>
          </p:cNvSpPr>
          <p:nvPr/>
        </p:nvSpPr>
        <p:spPr bwMode="auto">
          <a:xfrm flipV="1">
            <a:off x="5478463" y="1719263"/>
            <a:ext cx="1154112" cy="962025"/>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56" name="Text Box 13"/>
          <p:cNvSpPr txBox="1">
            <a:spLocks noChangeArrowheads="1"/>
          </p:cNvSpPr>
          <p:nvPr/>
        </p:nvSpPr>
        <p:spPr bwMode="auto">
          <a:xfrm>
            <a:off x="5835650" y="1268413"/>
            <a:ext cx="233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CC"/>
                </a:solidFill>
                <a:ea typeface="黑体" panose="02010609060101010101" pitchFamily="49" charset="-122"/>
              </a:rPr>
              <a:t>至其他自治系统</a:t>
            </a:r>
          </a:p>
        </p:txBody>
      </p:sp>
      <p:sp>
        <p:nvSpPr>
          <p:cNvPr id="1055757" name="Line 14"/>
          <p:cNvSpPr>
            <a:spLocks noChangeShapeType="1"/>
          </p:cNvSpPr>
          <p:nvPr/>
        </p:nvSpPr>
        <p:spPr bwMode="auto">
          <a:xfrm>
            <a:off x="7127875" y="3230563"/>
            <a:ext cx="908050" cy="2730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58" name="Line 15"/>
          <p:cNvSpPr>
            <a:spLocks noChangeShapeType="1"/>
          </p:cNvSpPr>
          <p:nvPr/>
        </p:nvSpPr>
        <p:spPr bwMode="auto">
          <a:xfrm flipV="1">
            <a:off x="8201025" y="3436938"/>
            <a:ext cx="822325" cy="1365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59" name="Line 16"/>
          <p:cNvSpPr>
            <a:spLocks noChangeShapeType="1"/>
          </p:cNvSpPr>
          <p:nvPr/>
        </p:nvSpPr>
        <p:spPr bwMode="auto">
          <a:xfrm>
            <a:off x="8613775" y="2749550"/>
            <a:ext cx="409575" cy="6873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0" name="Line 17"/>
          <p:cNvSpPr>
            <a:spLocks noChangeShapeType="1"/>
          </p:cNvSpPr>
          <p:nvPr/>
        </p:nvSpPr>
        <p:spPr bwMode="auto">
          <a:xfrm flipH="1">
            <a:off x="8528050" y="3503613"/>
            <a:ext cx="495300" cy="75723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1" name="Line 18"/>
          <p:cNvSpPr>
            <a:spLocks noChangeShapeType="1"/>
          </p:cNvSpPr>
          <p:nvPr/>
        </p:nvSpPr>
        <p:spPr bwMode="auto">
          <a:xfrm flipV="1">
            <a:off x="5889625" y="3230563"/>
            <a:ext cx="1069975" cy="1381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2" name="Line 19"/>
          <p:cNvSpPr>
            <a:spLocks noChangeShapeType="1"/>
          </p:cNvSpPr>
          <p:nvPr/>
        </p:nvSpPr>
        <p:spPr bwMode="auto">
          <a:xfrm>
            <a:off x="5561013" y="2681288"/>
            <a:ext cx="163512" cy="617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3" name="Line 20"/>
          <p:cNvSpPr>
            <a:spLocks noChangeShapeType="1"/>
          </p:cNvSpPr>
          <p:nvPr/>
        </p:nvSpPr>
        <p:spPr bwMode="auto">
          <a:xfrm flipH="1">
            <a:off x="5478463" y="3436938"/>
            <a:ext cx="246062" cy="4810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4" name="Line 21"/>
          <p:cNvSpPr>
            <a:spLocks noChangeShapeType="1"/>
          </p:cNvSpPr>
          <p:nvPr/>
        </p:nvSpPr>
        <p:spPr bwMode="auto">
          <a:xfrm>
            <a:off x="3744913" y="3094038"/>
            <a:ext cx="1733550" cy="274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5" name="Line 22"/>
          <p:cNvSpPr>
            <a:spLocks noChangeShapeType="1"/>
          </p:cNvSpPr>
          <p:nvPr/>
        </p:nvSpPr>
        <p:spPr bwMode="auto">
          <a:xfrm flipV="1">
            <a:off x="3827463" y="2749550"/>
            <a:ext cx="1568450" cy="344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6" name="Line 23"/>
          <p:cNvSpPr>
            <a:spLocks noChangeShapeType="1"/>
          </p:cNvSpPr>
          <p:nvPr/>
        </p:nvSpPr>
        <p:spPr bwMode="auto">
          <a:xfrm flipH="1">
            <a:off x="1187450" y="2749550"/>
            <a:ext cx="1236663" cy="34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7" name="Line 24"/>
          <p:cNvSpPr>
            <a:spLocks noChangeShapeType="1"/>
          </p:cNvSpPr>
          <p:nvPr/>
        </p:nvSpPr>
        <p:spPr bwMode="auto">
          <a:xfrm>
            <a:off x="2424113" y="2816225"/>
            <a:ext cx="496887" cy="75723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8" name="Line 25"/>
          <p:cNvSpPr>
            <a:spLocks noChangeShapeType="1"/>
          </p:cNvSpPr>
          <p:nvPr/>
        </p:nvSpPr>
        <p:spPr bwMode="auto">
          <a:xfrm flipV="1">
            <a:off x="3001963" y="3160713"/>
            <a:ext cx="742950"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69" name="Line 26"/>
          <p:cNvSpPr>
            <a:spLocks noChangeShapeType="1"/>
          </p:cNvSpPr>
          <p:nvPr/>
        </p:nvSpPr>
        <p:spPr bwMode="auto">
          <a:xfrm flipH="1">
            <a:off x="1763713" y="3643313"/>
            <a:ext cx="1074737" cy="13811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770" name="Line 27"/>
          <p:cNvSpPr>
            <a:spLocks noChangeShapeType="1"/>
          </p:cNvSpPr>
          <p:nvPr/>
        </p:nvSpPr>
        <p:spPr bwMode="auto">
          <a:xfrm>
            <a:off x="1763713" y="3848100"/>
            <a:ext cx="414337"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5771" name="Group 28"/>
          <p:cNvGrpSpPr>
            <a:grpSpLocks/>
          </p:cNvGrpSpPr>
          <p:nvPr/>
        </p:nvGrpSpPr>
        <p:grpSpPr bwMode="auto">
          <a:xfrm>
            <a:off x="2589213" y="3368675"/>
            <a:ext cx="742950" cy="479425"/>
            <a:chOff x="2949" y="196"/>
            <a:chExt cx="941" cy="598"/>
          </a:xfrm>
        </p:grpSpPr>
        <p:sp>
          <p:nvSpPr>
            <p:cNvPr id="1055772" name="Oval 2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3" name="Oval 3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4" name="Oval 3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5" name="Oval 3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6" name="Oval 3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7" name="Oval 3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8" name="Oval 3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79" name="Oval 3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80" name="Freeform 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781" name="Freeform 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782" name="Freeform 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1055783"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3643313"/>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4"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500" y="2611438"/>
            <a:ext cx="5635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5"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7263" y="2955925"/>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6"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2543175"/>
            <a:ext cx="56356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7"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8463" y="3230563"/>
            <a:ext cx="5619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8"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8875" y="3298825"/>
            <a:ext cx="56197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5789"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7675" y="3094038"/>
            <a:ext cx="56197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5790" name="Group 47"/>
          <p:cNvGrpSpPr>
            <a:grpSpLocks/>
          </p:cNvGrpSpPr>
          <p:nvPr/>
        </p:nvGrpSpPr>
        <p:grpSpPr bwMode="auto">
          <a:xfrm>
            <a:off x="1846263" y="4056063"/>
            <a:ext cx="742950" cy="479425"/>
            <a:chOff x="2949" y="196"/>
            <a:chExt cx="941" cy="598"/>
          </a:xfrm>
        </p:grpSpPr>
        <p:sp>
          <p:nvSpPr>
            <p:cNvPr id="1055791" name="Oval 4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2" name="Oval 4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3" name="Oval 5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4" name="Oval 5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5" name="Oval 5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6" name="Oval 5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7" name="Oval 5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8" name="Oval 5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799" name="Freeform 5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00" name="Freeform 5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01" name="Freeform 5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5802" name="Group 59"/>
          <p:cNvGrpSpPr>
            <a:grpSpLocks/>
          </p:cNvGrpSpPr>
          <p:nvPr/>
        </p:nvGrpSpPr>
        <p:grpSpPr bwMode="auto">
          <a:xfrm>
            <a:off x="857250" y="2886075"/>
            <a:ext cx="742950" cy="482600"/>
            <a:chOff x="2949" y="196"/>
            <a:chExt cx="941" cy="598"/>
          </a:xfrm>
        </p:grpSpPr>
        <p:sp>
          <p:nvSpPr>
            <p:cNvPr id="1055803" name="Oval 6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4" name="Oval 6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5" name="Oval 6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6" name="Oval 6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7" name="Oval 6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8" name="Oval 6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09" name="Oval 6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0" name="Oval 6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1" name="Freeform 6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12" name="Freeform 6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13" name="Freeform 7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5814" name="Group 71"/>
          <p:cNvGrpSpPr>
            <a:grpSpLocks/>
          </p:cNvGrpSpPr>
          <p:nvPr/>
        </p:nvGrpSpPr>
        <p:grpSpPr bwMode="auto">
          <a:xfrm>
            <a:off x="8201025" y="2474913"/>
            <a:ext cx="739775" cy="481012"/>
            <a:chOff x="2949" y="196"/>
            <a:chExt cx="941" cy="598"/>
          </a:xfrm>
        </p:grpSpPr>
        <p:sp>
          <p:nvSpPr>
            <p:cNvPr id="1055815" name="Oval 7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6" name="Oval 7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7" name="Oval 7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8" name="Oval 7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19" name="Oval 7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0" name="Oval 7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1" name="Oval 7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2" name="Oval 7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3" name="Freeform 8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24" name="Freeform 8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25" name="Freeform 8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5826" name="Group 83"/>
          <p:cNvGrpSpPr>
            <a:grpSpLocks/>
          </p:cNvGrpSpPr>
          <p:nvPr/>
        </p:nvGrpSpPr>
        <p:grpSpPr bwMode="auto">
          <a:xfrm>
            <a:off x="8118475" y="4056063"/>
            <a:ext cx="742950" cy="479425"/>
            <a:chOff x="2949" y="196"/>
            <a:chExt cx="941" cy="598"/>
          </a:xfrm>
        </p:grpSpPr>
        <p:sp>
          <p:nvSpPr>
            <p:cNvPr id="1055827"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8"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29"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0"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1"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2"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3"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4"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35" name="Freeform 9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36" name="Freeform 9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37" name="Freeform 9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55838" name="Group 95"/>
          <p:cNvGrpSpPr>
            <a:grpSpLocks/>
          </p:cNvGrpSpPr>
          <p:nvPr/>
        </p:nvGrpSpPr>
        <p:grpSpPr bwMode="auto">
          <a:xfrm>
            <a:off x="7702550" y="3298825"/>
            <a:ext cx="742950" cy="482600"/>
            <a:chOff x="2949" y="196"/>
            <a:chExt cx="941" cy="598"/>
          </a:xfrm>
        </p:grpSpPr>
        <p:sp>
          <p:nvSpPr>
            <p:cNvPr id="1055839" name="Oval 9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0" name="Oval 9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1" name="Oval 9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2" name="Oval 9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3" name="Oval 10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4" name="Oval 10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5" name="Oval 10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6" name="Oval 10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47" name="Freeform 10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48" name="Freeform 10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49" name="Freeform 10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5850" name="Text Box 107"/>
          <p:cNvSpPr txBox="1">
            <a:spLocks noChangeArrowheads="1"/>
          </p:cNvSpPr>
          <p:nvPr/>
        </p:nvSpPr>
        <p:spPr bwMode="auto">
          <a:xfrm>
            <a:off x="9067800" y="293211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9</a:t>
            </a:r>
          </a:p>
        </p:txBody>
      </p:sp>
      <p:sp>
        <p:nvSpPr>
          <p:cNvPr id="587884" name="Text Box 108"/>
          <p:cNvSpPr txBox="1">
            <a:spLocks noChangeArrowheads="1"/>
          </p:cNvSpPr>
          <p:nvPr/>
        </p:nvSpPr>
        <p:spPr bwMode="auto">
          <a:xfrm>
            <a:off x="6462713" y="27495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7</a:t>
            </a:r>
          </a:p>
        </p:txBody>
      </p:sp>
      <p:sp>
        <p:nvSpPr>
          <p:cNvPr id="1055852" name="Text Box 109"/>
          <p:cNvSpPr txBox="1">
            <a:spLocks noChangeArrowheads="1"/>
          </p:cNvSpPr>
          <p:nvPr/>
        </p:nvSpPr>
        <p:spPr bwMode="auto">
          <a:xfrm>
            <a:off x="5778500" y="241935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6</a:t>
            </a:r>
          </a:p>
        </p:txBody>
      </p:sp>
      <p:sp>
        <p:nvSpPr>
          <p:cNvPr id="1055853" name="Text Box 110"/>
          <p:cNvSpPr txBox="1">
            <a:spLocks noChangeArrowheads="1"/>
          </p:cNvSpPr>
          <p:nvPr/>
        </p:nvSpPr>
        <p:spPr bwMode="auto">
          <a:xfrm>
            <a:off x="5159375" y="28717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5</a:t>
            </a:r>
          </a:p>
        </p:txBody>
      </p:sp>
      <p:sp>
        <p:nvSpPr>
          <p:cNvPr id="587887" name="Text Box 111"/>
          <p:cNvSpPr txBox="1">
            <a:spLocks noChangeArrowheads="1"/>
          </p:cNvSpPr>
          <p:nvPr/>
        </p:nvSpPr>
        <p:spPr bwMode="auto">
          <a:xfrm>
            <a:off x="4873625" y="342900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4</a:t>
            </a:r>
          </a:p>
        </p:txBody>
      </p:sp>
      <p:sp>
        <p:nvSpPr>
          <p:cNvPr id="587888" name="Text Box 112"/>
          <p:cNvSpPr txBox="1">
            <a:spLocks noChangeArrowheads="1"/>
          </p:cNvSpPr>
          <p:nvPr/>
        </p:nvSpPr>
        <p:spPr bwMode="auto">
          <a:xfrm>
            <a:off x="3505200" y="2554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FF0000"/>
                </a:solidFill>
                <a:ea typeface="黑体" panose="02010609060101010101" pitchFamily="49" charset="-122"/>
              </a:rPr>
              <a:t>R</a:t>
            </a:r>
            <a:r>
              <a:rPr lang="en-US" altLang="zh-CN" sz="2000" b="1" baseline="-25000">
                <a:solidFill>
                  <a:srgbClr val="FF0000"/>
                </a:solidFill>
                <a:ea typeface="黑体" panose="02010609060101010101" pitchFamily="49" charset="-122"/>
              </a:rPr>
              <a:t>3</a:t>
            </a:r>
          </a:p>
        </p:txBody>
      </p:sp>
      <p:sp>
        <p:nvSpPr>
          <p:cNvPr id="1055856" name="Text Box 113"/>
          <p:cNvSpPr txBox="1">
            <a:spLocks noChangeArrowheads="1"/>
          </p:cNvSpPr>
          <p:nvPr/>
        </p:nvSpPr>
        <p:spPr bwMode="auto">
          <a:xfrm>
            <a:off x="936625" y="352266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1055857" name="Text Box 114"/>
          <p:cNvSpPr txBox="1">
            <a:spLocks noChangeArrowheads="1"/>
          </p:cNvSpPr>
          <p:nvPr/>
        </p:nvSpPr>
        <p:spPr bwMode="auto">
          <a:xfrm>
            <a:off x="1725613" y="23241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1055858" name="Text Box 115"/>
          <p:cNvSpPr txBox="1">
            <a:spLocks noChangeArrowheads="1"/>
          </p:cNvSpPr>
          <p:nvPr/>
        </p:nvSpPr>
        <p:spPr bwMode="auto">
          <a:xfrm>
            <a:off x="8172450" y="4067175"/>
            <a:ext cx="617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8</a:t>
            </a:r>
          </a:p>
        </p:txBody>
      </p:sp>
      <p:sp>
        <p:nvSpPr>
          <p:cNvPr id="1055859" name="Text Box 116"/>
          <p:cNvSpPr txBox="1">
            <a:spLocks noChangeArrowheads="1"/>
          </p:cNvSpPr>
          <p:nvPr/>
        </p:nvSpPr>
        <p:spPr bwMode="auto">
          <a:xfrm>
            <a:off x="8256588" y="2490788"/>
            <a:ext cx="617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7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6</a:t>
            </a:r>
          </a:p>
        </p:txBody>
      </p:sp>
      <p:sp>
        <p:nvSpPr>
          <p:cNvPr id="1055860" name="Text Box 117"/>
          <p:cNvSpPr txBox="1">
            <a:spLocks noChangeArrowheads="1"/>
          </p:cNvSpPr>
          <p:nvPr/>
        </p:nvSpPr>
        <p:spPr bwMode="auto">
          <a:xfrm>
            <a:off x="1885950" y="4103688"/>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3</a:t>
            </a:r>
          </a:p>
        </p:txBody>
      </p:sp>
      <p:sp>
        <p:nvSpPr>
          <p:cNvPr id="1055861" name="Text Box 118"/>
          <p:cNvSpPr txBox="1">
            <a:spLocks noChangeArrowheads="1"/>
          </p:cNvSpPr>
          <p:nvPr/>
        </p:nvSpPr>
        <p:spPr bwMode="auto">
          <a:xfrm>
            <a:off x="2655888" y="3419475"/>
            <a:ext cx="623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2</a:t>
            </a:r>
          </a:p>
        </p:txBody>
      </p:sp>
      <p:sp>
        <p:nvSpPr>
          <p:cNvPr id="1055862" name="Text Box 119"/>
          <p:cNvSpPr txBox="1">
            <a:spLocks noChangeArrowheads="1"/>
          </p:cNvSpPr>
          <p:nvPr/>
        </p:nvSpPr>
        <p:spPr bwMode="auto">
          <a:xfrm>
            <a:off x="928688" y="2916238"/>
            <a:ext cx="630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9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1</a:t>
            </a:r>
          </a:p>
        </p:txBody>
      </p:sp>
      <p:sp>
        <p:nvSpPr>
          <p:cNvPr id="1055863" name="Text Box 120"/>
          <p:cNvSpPr txBox="1">
            <a:spLocks noChangeArrowheads="1"/>
          </p:cNvSpPr>
          <p:nvPr/>
        </p:nvSpPr>
        <p:spPr bwMode="auto">
          <a:xfrm>
            <a:off x="7702550" y="3327400"/>
            <a:ext cx="611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6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7</a:t>
            </a:r>
          </a:p>
        </p:txBody>
      </p:sp>
      <p:sp>
        <p:nvSpPr>
          <p:cNvPr id="1055864" name="Oval 121"/>
          <p:cNvSpPr>
            <a:spLocks noChangeArrowheads="1"/>
          </p:cNvSpPr>
          <p:nvPr/>
        </p:nvSpPr>
        <p:spPr bwMode="auto">
          <a:xfrm>
            <a:off x="3744913" y="4003675"/>
            <a:ext cx="3382962" cy="103981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65" name="Text Box 122"/>
          <p:cNvSpPr txBox="1">
            <a:spLocks noChangeArrowheads="1"/>
          </p:cNvSpPr>
          <p:nvPr/>
        </p:nvSpPr>
        <p:spPr bwMode="auto">
          <a:xfrm>
            <a:off x="4598988" y="5003800"/>
            <a:ext cx="1828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区域 </a:t>
            </a:r>
            <a:r>
              <a:rPr lang="en-US" altLang="zh-CN" sz="2400" b="1">
                <a:solidFill>
                  <a:srgbClr val="C00000"/>
                </a:solidFill>
                <a:ea typeface="黑体" panose="02010609060101010101" pitchFamily="49" charset="-122"/>
              </a:rPr>
              <a:t>0.0.0.2</a:t>
            </a:r>
          </a:p>
        </p:txBody>
      </p:sp>
      <p:sp>
        <p:nvSpPr>
          <p:cNvPr id="1055866" name="Line 123"/>
          <p:cNvSpPr>
            <a:spLocks noChangeShapeType="1"/>
          </p:cNvSpPr>
          <p:nvPr/>
        </p:nvSpPr>
        <p:spPr bwMode="auto">
          <a:xfrm>
            <a:off x="5395913" y="3917950"/>
            <a:ext cx="989012" cy="5207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55867" name="Line 124"/>
          <p:cNvSpPr>
            <a:spLocks noChangeShapeType="1"/>
          </p:cNvSpPr>
          <p:nvPr/>
        </p:nvSpPr>
        <p:spPr bwMode="auto">
          <a:xfrm flipV="1">
            <a:off x="5561013" y="4524375"/>
            <a:ext cx="906462" cy="260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5868" name="Group 125"/>
          <p:cNvGrpSpPr>
            <a:grpSpLocks/>
          </p:cNvGrpSpPr>
          <p:nvPr/>
        </p:nvGrpSpPr>
        <p:grpSpPr bwMode="auto">
          <a:xfrm>
            <a:off x="6138863" y="4176713"/>
            <a:ext cx="741362" cy="608012"/>
            <a:chOff x="2949" y="196"/>
            <a:chExt cx="941" cy="598"/>
          </a:xfrm>
        </p:grpSpPr>
        <p:sp>
          <p:nvSpPr>
            <p:cNvPr id="1055869"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0"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1"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2" name="Oval 12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3"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4"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5"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6" name="Oval 13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77" name="Freeform 13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78" name="Freeform 13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79" name="Freeform 13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5880" name="Text Box 137"/>
          <p:cNvSpPr txBox="1">
            <a:spLocks noChangeArrowheads="1"/>
          </p:cNvSpPr>
          <p:nvPr/>
        </p:nvSpPr>
        <p:spPr bwMode="auto">
          <a:xfrm>
            <a:off x="6167438" y="4222750"/>
            <a:ext cx="65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 </a:t>
            </a:r>
            <a:r>
              <a:rPr lang="en-US" altLang="zh-CN" sz="2000" b="1">
                <a:solidFill>
                  <a:srgbClr val="0000CC"/>
                </a:solidFill>
                <a:ea typeface="黑体" panose="02010609060101010101" pitchFamily="49" charset="-122"/>
              </a:rPr>
              <a:t>4</a:t>
            </a:r>
          </a:p>
        </p:txBody>
      </p:sp>
      <p:sp>
        <p:nvSpPr>
          <p:cNvPr id="1055881" name="Line 138"/>
          <p:cNvSpPr>
            <a:spLocks noChangeShapeType="1"/>
          </p:cNvSpPr>
          <p:nvPr/>
        </p:nvSpPr>
        <p:spPr bwMode="auto">
          <a:xfrm>
            <a:off x="4403725" y="4608513"/>
            <a:ext cx="992188" cy="1762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55882" name="Group 139"/>
          <p:cNvGrpSpPr>
            <a:grpSpLocks/>
          </p:cNvGrpSpPr>
          <p:nvPr/>
        </p:nvGrpSpPr>
        <p:grpSpPr bwMode="auto">
          <a:xfrm>
            <a:off x="4075113" y="4262438"/>
            <a:ext cx="742950" cy="608012"/>
            <a:chOff x="2949" y="196"/>
            <a:chExt cx="941" cy="598"/>
          </a:xfrm>
        </p:grpSpPr>
        <p:sp>
          <p:nvSpPr>
            <p:cNvPr id="1055883"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4"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5"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6" name="Oval 14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7"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8"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89"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90" name="Oval 14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55891" name="Freeform 14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92" name="Freeform 14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55893" name="Freeform 15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55894" name="Text Box 151"/>
          <p:cNvSpPr txBox="1">
            <a:spLocks noChangeArrowheads="1"/>
          </p:cNvSpPr>
          <p:nvPr/>
        </p:nvSpPr>
        <p:spPr bwMode="auto">
          <a:xfrm>
            <a:off x="4064000" y="4375150"/>
            <a:ext cx="623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a:t>
            </a:r>
            <a:r>
              <a:rPr lang="zh-CN" altLang="en-US" sz="8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5</a:t>
            </a:r>
          </a:p>
        </p:txBody>
      </p:sp>
      <p:pic>
        <p:nvPicPr>
          <p:cNvPr id="1055895" name="Picture 1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9225" y="4560888"/>
            <a:ext cx="5635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5896" name="Text Box 153"/>
          <p:cNvSpPr txBox="1">
            <a:spLocks noChangeArrowheads="1"/>
          </p:cNvSpPr>
          <p:nvPr/>
        </p:nvSpPr>
        <p:spPr bwMode="auto">
          <a:xfrm>
            <a:off x="4910138" y="424815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8</a:t>
            </a:r>
          </a:p>
        </p:txBody>
      </p:sp>
      <p:pic>
        <p:nvPicPr>
          <p:cNvPr id="1055897" name="Picture 1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9375" y="3784600"/>
            <a:ext cx="5651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589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78C787-10C9-476B-BD76-716E276B9F4F}" type="slidenum">
              <a:rPr lang="zh-CN" altLang="en-US" smtClean="0"/>
              <a:pPr eaLnBrk="1" hangingPunct="1"/>
              <a:t>42</a:t>
            </a:fld>
            <a:endParaRPr lang="en-US" altLang="zh-CN" smtClean="0"/>
          </a:p>
        </p:txBody>
      </p:sp>
      <p:sp>
        <p:nvSpPr>
          <p:cNvPr id="105589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587781"/>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587888"/>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grpId="0" nodeType="withEffect">
                                  <p:stCondLst>
                                    <p:cond delay="0"/>
                                  </p:stCondLst>
                                  <p:childTnLst>
                                    <p:anim calcmode="discrete" valueType="str">
                                      <p:cBhvr>
                                        <p:cTn id="10" dur="1000" fill="hold"/>
                                        <p:tgtEl>
                                          <p:spTgt spid="587887"/>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0"/>
                                  </p:stCondLst>
                                  <p:childTnLst>
                                    <p:anim calcmode="discrete" valueType="str">
                                      <p:cBhvr>
                                        <p:cTn id="12" dur="1000" fill="hold"/>
                                        <p:tgtEl>
                                          <p:spTgt spid="5878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81" grpId="0"/>
      <p:bldP spid="587884" grpId="0"/>
      <p:bldP spid="587887" grpId="0"/>
      <p:bldP spid="58788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779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直接用 </a:t>
            </a:r>
            <a:r>
              <a:rPr lang="en-US" altLang="zh-CN" smtClean="0">
                <a:ea typeface="黑体" panose="02010609060101010101" pitchFamily="49" charset="-122"/>
              </a:rPr>
              <a:t>IP </a:t>
            </a:r>
            <a:r>
              <a:rPr lang="zh-CN" altLang="en-US" smtClean="0">
                <a:ea typeface="黑体" panose="02010609060101010101" pitchFamily="49" charset="-122"/>
              </a:rPr>
              <a:t>数据报传送 </a:t>
            </a:r>
          </a:p>
        </p:txBody>
      </p:sp>
      <p:sp>
        <p:nvSpPr>
          <p:cNvPr id="588803"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OSPF </a:t>
            </a:r>
            <a:r>
              <a:rPr lang="zh-CN" altLang="en-US" dirty="0" smtClean="0">
                <a:solidFill>
                  <a:srgbClr val="FF0000"/>
                </a:solidFill>
                <a:ea typeface="黑体" panose="02010609060101010101" pitchFamily="49" charset="-122"/>
              </a:rPr>
              <a:t>不用 </a:t>
            </a:r>
            <a:r>
              <a:rPr lang="en-US" altLang="zh-CN" dirty="0" smtClean="0">
                <a:solidFill>
                  <a:srgbClr val="FF0000"/>
                </a:solidFill>
                <a:ea typeface="黑体" panose="02010609060101010101" pitchFamily="49" charset="-122"/>
              </a:rPr>
              <a:t>UDP </a:t>
            </a:r>
            <a:r>
              <a:rPr lang="zh-CN" altLang="en-US" dirty="0" smtClean="0">
                <a:solidFill>
                  <a:srgbClr val="FF0000"/>
                </a:solidFill>
                <a:ea typeface="黑体" panose="02010609060101010101" pitchFamily="49" charset="-122"/>
              </a:rPr>
              <a:t>而是直接用 </a:t>
            </a:r>
            <a:r>
              <a:rPr lang="en-US" altLang="zh-CN" dirty="0" smtClean="0">
                <a:solidFill>
                  <a:srgbClr val="FF0000"/>
                </a:solidFill>
                <a:ea typeface="黑体" panose="02010609060101010101" pitchFamily="49" charset="-122"/>
              </a:rPr>
              <a:t>IP </a:t>
            </a:r>
            <a:r>
              <a:rPr lang="zh-CN" altLang="en-US" dirty="0" smtClean="0">
                <a:solidFill>
                  <a:srgbClr val="FF0000"/>
                </a:solidFill>
                <a:ea typeface="黑体" panose="02010609060101010101" pitchFamily="49" charset="-122"/>
              </a:rPr>
              <a:t>数据报传送。</a:t>
            </a:r>
          </a:p>
          <a:p>
            <a:r>
              <a:rPr lang="en-US" altLang="zh-CN" dirty="0" smtClean="0">
                <a:ea typeface="黑体" panose="02010609060101010101" pitchFamily="49" charset="-122"/>
              </a:rPr>
              <a:t>OSPF </a:t>
            </a:r>
            <a:r>
              <a:rPr lang="zh-CN" altLang="en-US" dirty="0" smtClean="0">
                <a:ea typeface="黑体" panose="02010609060101010101" pitchFamily="49" charset="-122"/>
              </a:rPr>
              <a:t>构成的数据报很短。这样做可减少路由信息的通信量。</a:t>
            </a:r>
          </a:p>
          <a:p>
            <a:r>
              <a:rPr lang="zh-CN" altLang="en-US" dirty="0" smtClean="0">
                <a:ea typeface="黑体" panose="02010609060101010101" pitchFamily="49" charset="-122"/>
              </a:rPr>
              <a:t>数据报很短的另一好处是可以</a:t>
            </a:r>
            <a:r>
              <a:rPr lang="zh-CN" altLang="en-US" dirty="0" smtClean="0">
                <a:solidFill>
                  <a:srgbClr val="0000FF"/>
                </a:solidFill>
                <a:ea typeface="黑体" panose="02010609060101010101" pitchFamily="49" charset="-122"/>
              </a:rPr>
              <a:t>不必</a:t>
            </a:r>
            <a:r>
              <a:rPr lang="zh-CN" altLang="en-US" dirty="0" smtClean="0">
                <a:ea typeface="黑体" panose="02010609060101010101" pitchFamily="49" charset="-122"/>
              </a:rPr>
              <a:t>将长的数据报</a:t>
            </a:r>
            <a:r>
              <a:rPr lang="zh-CN" altLang="en-US" dirty="0" smtClean="0">
                <a:solidFill>
                  <a:srgbClr val="0000FF"/>
                </a:solidFill>
                <a:ea typeface="黑体" panose="02010609060101010101" pitchFamily="49" charset="-122"/>
              </a:rPr>
              <a:t>分片</a:t>
            </a:r>
            <a:r>
              <a:rPr lang="zh-CN" altLang="en-US" dirty="0" smtClean="0">
                <a:ea typeface="黑体" panose="02010609060101010101" pitchFamily="49" charset="-122"/>
              </a:rPr>
              <a:t>传送。</a:t>
            </a:r>
            <a:endParaRPr lang="en-US" altLang="zh-CN" dirty="0" smtClean="0">
              <a:ea typeface="黑体" panose="02010609060101010101" pitchFamily="49" charset="-122"/>
            </a:endParaRPr>
          </a:p>
          <a:p>
            <a:r>
              <a:rPr lang="zh-CN" altLang="en-US" dirty="0" smtClean="0">
                <a:ea typeface="黑体" panose="02010609060101010101" pitchFamily="49" charset="-122"/>
              </a:rPr>
              <a:t>但分片传送的数据报只要丢失一个，就无法组装成原来的数据报，而整个数据报就必须重传。 </a:t>
            </a:r>
          </a:p>
        </p:txBody>
      </p:sp>
      <p:sp>
        <p:nvSpPr>
          <p:cNvPr id="105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EFE15A-D5BC-4426-A7EB-BB4C79DBDCB9}" type="slidenum">
              <a:rPr lang="zh-CN" altLang="en-US" smtClean="0"/>
              <a:pPr eaLnBrk="1" hangingPunct="1"/>
              <a:t>43</a:t>
            </a:fld>
            <a:endParaRPr lang="en-US" altLang="zh-CN" smtClean="0"/>
          </a:p>
        </p:txBody>
      </p:sp>
      <p:sp>
        <p:nvSpPr>
          <p:cNvPr id="105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8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8803">
                                            <p:txEl>
                                              <p:pRg st="2" end="2"/>
                                            </p:txEl>
                                          </p:spTgt>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grpId="0" nodeType="afterEffect">
                                  <p:stCondLst>
                                    <p:cond delay="0"/>
                                  </p:stCondLst>
                                  <p:childTnLst>
                                    <p:set>
                                      <p:cBhvr>
                                        <p:cTn id="13" dur="1" fill="hold">
                                          <p:stCondLst>
                                            <p:cond delay="0"/>
                                          </p:stCondLst>
                                        </p:cTn>
                                        <p:tgtEl>
                                          <p:spTgt spid="5888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89" name="AutoShape 47"/>
          <p:cNvSpPr>
            <a:spLocks noChangeArrowheads="1"/>
          </p:cNvSpPr>
          <p:nvPr/>
        </p:nvSpPr>
        <p:spPr bwMode="auto">
          <a:xfrm>
            <a:off x="1670050" y="5322888"/>
            <a:ext cx="758825" cy="227012"/>
          </a:xfrm>
          <a:prstGeom prst="leftArrow">
            <a:avLst>
              <a:gd name="adj1" fmla="val 50000"/>
              <a:gd name="adj2" fmla="val 77129"/>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0" name="Line 2"/>
          <p:cNvSpPr>
            <a:spLocks noChangeShapeType="1"/>
          </p:cNvSpPr>
          <p:nvPr/>
        </p:nvSpPr>
        <p:spPr bwMode="auto">
          <a:xfrm>
            <a:off x="2347913" y="6043613"/>
            <a:ext cx="6213475"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1" name="Text Box 3"/>
          <p:cNvSpPr txBox="1">
            <a:spLocks noChangeArrowheads="1"/>
          </p:cNvSpPr>
          <p:nvPr/>
        </p:nvSpPr>
        <p:spPr bwMode="auto">
          <a:xfrm>
            <a:off x="4770438" y="5789613"/>
            <a:ext cx="12668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p:txBody>
      </p:sp>
      <p:sp>
        <p:nvSpPr>
          <p:cNvPr id="1061892" name="Rectangle 4"/>
          <p:cNvSpPr>
            <a:spLocks noGrp="1" noChangeArrowheads="1"/>
          </p:cNvSpPr>
          <p:nvPr>
            <p:ph type="title" idx="4294967295"/>
          </p:nvPr>
        </p:nvSpPr>
        <p:spPr>
          <a:xfrm>
            <a:off x="560388" y="44450"/>
            <a:ext cx="9066212" cy="792163"/>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分组 </a:t>
            </a:r>
          </a:p>
        </p:txBody>
      </p:sp>
      <p:sp>
        <p:nvSpPr>
          <p:cNvPr id="1061893" name="Freeform 5"/>
          <p:cNvSpPr>
            <a:spLocks noChangeArrowheads="1"/>
          </p:cNvSpPr>
          <p:nvPr/>
        </p:nvSpPr>
        <p:spPr bwMode="auto">
          <a:xfrm>
            <a:off x="796925" y="3556000"/>
            <a:ext cx="8769350" cy="592138"/>
          </a:xfrm>
          <a:custGeom>
            <a:avLst/>
            <a:gdLst>
              <a:gd name="T0" fmla="*/ 48 w 4608"/>
              <a:gd name="T1" fmla="*/ 0 h 576"/>
              <a:gd name="T2" fmla="*/ 4608 w 4608"/>
              <a:gd name="T3" fmla="*/ 0 h 576"/>
              <a:gd name="T4" fmla="*/ 2208 w 4608"/>
              <a:gd name="T5" fmla="*/ 576 h 576"/>
              <a:gd name="T6" fmla="*/ 1152 w 4608"/>
              <a:gd name="T7" fmla="*/ 576 h 576"/>
              <a:gd name="T8" fmla="*/ 0 w 4608"/>
              <a:gd name="T9" fmla="*/ 0 h 576"/>
            </a:gdLst>
            <a:ahLst/>
            <a:cxnLst>
              <a:cxn ang="0">
                <a:pos x="T0" y="T1"/>
              </a:cxn>
              <a:cxn ang="0">
                <a:pos x="T2" y="T3"/>
              </a:cxn>
              <a:cxn ang="0">
                <a:pos x="T4" y="T5"/>
              </a:cxn>
              <a:cxn ang="0">
                <a:pos x="T6" y="T7"/>
              </a:cxn>
              <a:cxn ang="0">
                <a:pos x="T8" y="T9"/>
              </a:cxn>
            </a:cxnLst>
            <a:rect l="0" t="0" r="r" b="b"/>
            <a:pathLst>
              <a:path w="4608" h="576">
                <a:moveTo>
                  <a:pt x="48" y="0"/>
                </a:moveTo>
                <a:lnTo>
                  <a:pt x="4608" y="0"/>
                </a:lnTo>
                <a:lnTo>
                  <a:pt x="2208" y="576"/>
                </a:lnTo>
                <a:lnTo>
                  <a:pt x="1152" y="576"/>
                </a:lnTo>
                <a:lnTo>
                  <a:pt x="0" y="0"/>
                </a:lnTo>
              </a:path>
            </a:pathLst>
          </a:custGeom>
          <a:gradFill rotWithShape="1">
            <a:gsLst>
              <a:gs pos="0">
                <a:srgbClr val="7C8F9B"/>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61894" name="Freeform 6"/>
          <p:cNvSpPr>
            <a:spLocks noChangeArrowheads="1"/>
          </p:cNvSpPr>
          <p:nvPr/>
        </p:nvSpPr>
        <p:spPr bwMode="auto">
          <a:xfrm>
            <a:off x="3036888" y="4751388"/>
            <a:ext cx="6164262" cy="407987"/>
          </a:xfrm>
          <a:custGeom>
            <a:avLst/>
            <a:gdLst>
              <a:gd name="T0" fmla="*/ 0 w 3240"/>
              <a:gd name="T1" fmla="*/ 0 h 369"/>
              <a:gd name="T2" fmla="*/ 564 w 3240"/>
              <a:gd name="T3" fmla="*/ 369 h 369"/>
              <a:gd name="T4" fmla="*/ 2922 w 3240"/>
              <a:gd name="T5" fmla="*/ 363 h 369"/>
              <a:gd name="T6" fmla="*/ 3240 w 3240"/>
              <a:gd name="T7" fmla="*/ 9 h 369"/>
              <a:gd name="T8" fmla="*/ 0 w 3240"/>
              <a:gd name="T9" fmla="*/ 3 h 369"/>
            </a:gdLst>
            <a:ahLst/>
            <a:cxnLst>
              <a:cxn ang="0">
                <a:pos x="T0" y="T1"/>
              </a:cxn>
              <a:cxn ang="0">
                <a:pos x="T2" y="T3"/>
              </a:cxn>
              <a:cxn ang="0">
                <a:pos x="T4" y="T5"/>
              </a:cxn>
              <a:cxn ang="0">
                <a:pos x="T6" y="T7"/>
              </a:cxn>
              <a:cxn ang="0">
                <a:pos x="T8" y="T9"/>
              </a:cxn>
            </a:cxnLst>
            <a:rect l="0" t="0" r="r" b="b"/>
            <a:pathLst>
              <a:path w="3240" h="369">
                <a:moveTo>
                  <a:pt x="0" y="0"/>
                </a:moveTo>
                <a:lnTo>
                  <a:pt x="564" y="369"/>
                </a:lnTo>
                <a:lnTo>
                  <a:pt x="2922" y="363"/>
                </a:lnTo>
                <a:lnTo>
                  <a:pt x="3240" y="9"/>
                </a:lnTo>
                <a:lnTo>
                  <a:pt x="0" y="3"/>
                </a:lnTo>
              </a:path>
            </a:pathLst>
          </a:custGeom>
          <a:gradFill rotWithShape="1">
            <a:gsLst>
              <a:gs pos="0">
                <a:srgbClr val="B994B9"/>
              </a:gs>
              <a:gs pos="100000">
                <a:srgbClr val="FFC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61895" name="Rectangle 7"/>
          <p:cNvSpPr>
            <a:spLocks noChangeArrowheads="1"/>
          </p:cNvSpPr>
          <p:nvPr/>
        </p:nvSpPr>
        <p:spPr bwMode="auto">
          <a:xfrm>
            <a:off x="2347913" y="5159375"/>
            <a:ext cx="6213475" cy="590550"/>
          </a:xfrm>
          <a:prstGeom prst="rect">
            <a:avLst/>
          </a:prstGeom>
          <a:solidFill>
            <a:schemeClr val="bg1"/>
          </a:solidFill>
          <a:ln w="19050">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6" name="Rectangle 8"/>
          <p:cNvSpPr>
            <a:spLocks noChangeArrowheads="1"/>
          </p:cNvSpPr>
          <p:nvPr/>
        </p:nvSpPr>
        <p:spPr bwMode="auto">
          <a:xfrm>
            <a:off x="4094163" y="5176838"/>
            <a:ext cx="4459287"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7" name="Line 9"/>
          <p:cNvSpPr>
            <a:spLocks noChangeShapeType="1"/>
          </p:cNvSpPr>
          <p:nvPr/>
        </p:nvSpPr>
        <p:spPr bwMode="auto">
          <a:xfrm>
            <a:off x="4084638" y="5159375"/>
            <a:ext cx="0"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898" name="Text Box 10"/>
          <p:cNvSpPr txBox="1">
            <a:spLocks noChangeArrowheads="1"/>
          </p:cNvSpPr>
          <p:nvPr/>
        </p:nvSpPr>
        <p:spPr bwMode="auto">
          <a:xfrm>
            <a:off x="2301875" y="5262563"/>
            <a:ext cx="173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a:t>
            </a:r>
            <a:r>
              <a:rPr lang="zh-CN" altLang="zh-CN" sz="2000" b="1">
                <a:solidFill>
                  <a:srgbClr val="0000CC"/>
                </a:solidFill>
                <a:ea typeface="黑体" panose="02010609060101010101" pitchFamily="49" charset="-122"/>
              </a:rPr>
              <a:t>数据报首部</a:t>
            </a:r>
            <a:endParaRPr lang="zh-CN" altLang="en-US" sz="2000" b="1">
              <a:solidFill>
                <a:srgbClr val="0000CC"/>
              </a:solidFill>
              <a:ea typeface="黑体" panose="02010609060101010101" pitchFamily="49" charset="-122"/>
            </a:endParaRPr>
          </a:p>
        </p:txBody>
      </p:sp>
      <p:sp>
        <p:nvSpPr>
          <p:cNvPr id="1061899" name="Text Box 11"/>
          <p:cNvSpPr txBox="1">
            <a:spLocks noChangeArrowheads="1"/>
          </p:cNvSpPr>
          <p:nvPr/>
        </p:nvSpPr>
        <p:spPr bwMode="auto">
          <a:xfrm>
            <a:off x="5351463" y="5260975"/>
            <a:ext cx="1470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OSPF </a:t>
            </a:r>
            <a:r>
              <a:rPr lang="zh-CN" altLang="en-US" sz="2000" b="1">
                <a:solidFill>
                  <a:srgbClr val="0000CC"/>
                </a:solidFill>
                <a:ea typeface="黑体" panose="02010609060101010101" pitchFamily="49" charset="-122"/>
              </a:rPr>
              <a:t>分组</a:t>
            </a:r>
          </a:p>
        </p:txBody>
      </p:sp>
      <p:sp>
        <p:nvSpPr>
          <p:cNvPr id="1061900" name="Rectangle 12"/>
          <p:cNvSpPr>
            <a:spLocks noChangeArrowheads="1"/>
          </p:cNvSpPr>
          <p:nvPr/>
        </p:nvSpPr>
        <p:spPr bwMode="auto">
          <a:xfrm>
            <a:off x="2989263" y="4148138"/>
            <a:ext cx="6211887" cy="59055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1" name="Line 13"/>
          <p:cNvSpPr>
            <a:spLocks noChangeShapeType="1"/>
          </p:cNvSpPr>
          <p:nvPr/>
        </p:nvSpPr>
        <p:spPr bwMode="auto">
          <a:xfrm>
            <a:off x="8561388" y="5749925"/>
            <a:ext cx="0" cy="369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2" name="Rectangle 14"/>
          <p:cNvSpPr>
            <a:spLocks noChangeArrowheads="1"/>
          </p:cNvSpPr>
          <p:nvPr/>
        </p:nvSpPr>
        <p:spPr bwMode="auto">
          <a:xfrm>
            <a:off x="5010150" y="4176713"/>
            <a:ext cx="4183063" cy="5588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3" name="Line 15"/>
          <p:cNvSpPr>
            <a:spLocks noChangeShapeType="1"/>
          </p:cNvSpPr>
          <p:nvPr/>
        </p:nvSpPr>
        <p:spPr bwMode="auto">
          <a:xfrm>
            <a:off x="5000625" y="4148138"/>
            <a:ext cx="0" cy="590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4" name="Text Box 16"/>
          <p:cNvSpPr txBox="1">
            <a:spLocks noChangeArrowheads="1"/>
          </p:cNvSpPr>
          <p:nvPr/>
        </p:nvSpPr>
        <p:spPr bwMode="auto">
          <a:xfrm>
            <a:off x="2917825" y="4233863"/>
            <a:ext cx="1985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OSPF </a:t>
            </a:r>
            <a:r>
              <a:rPr lang="zh-CN" altLang="en-US" sz="2000" b="1">
                <a:solidFill>
                  <a:srgbClr val="0000CC"/>
                </a:solidFill>
                <a:ea typeface="黑体" panose="02010609060101010101" pitchFamily="49" charset="-122"/>
              </a:rPr>
              <a:t>分组首部</a:t>
            </a:r>
          </a:p>
        </p:txBody>
      </p:sp>
      <p:sp>
        <p:nvSpPr>
          <p:cNvPr id="1061905" name="Text Box 17"/>
          <p:cNvSpPr txBox="1">
            <a:spLocks noChangeArrowheads="1"/>
          </p:cNvSpPr>
          <p:nvPr/>
        </p:nvSpPr>
        <p:spPr bwMode="auto">
          <a:xfrm>
            <a:off x="5180013" y="4233863"/>
            <a:ext cx="3657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类型 </a:t>
            </a:r>
            <a:r>
              <a:rPr lang="en-US" altLang="zh-CN" sz="2000" b="1">
                <a:solidFill>
                  <a:srgbClr val="0000CC"/>
                </a:solidFill>
                <a:ea typeface="黑体" panose="02010609060101010101" pitchFamily="49" charset="-122"/>
              </a:rPr>
              <a:t>1 </a:t>
            </a:r>
            <a:r>
              <a:rPr lang="zh-CN" altLang="en-US" sz="2000" b="1">
                <a:solidFill>
                  <a:srgbClr val="0000CC"/>
                </a:solidFill>
                <a:ea typeface="黑体" panose="02010609060101010101" pitchFamily="49" charset="-122"/>
              </a:rPr>
              <a:t>至类型 </a:t>
            </a:r>
            <a:r>
              <a:rPr lang="en-US" altLang="zh-CN" sz="2000" b="1">
                <a:solidFill>
                  <a:srgbClr val="0000CC"/>
                </a:solidFill>
                <a:ea typeface="黑体" panose="02010609060101010101" pitchFamily="49" charset="-122"/>
              </a:rPr>
              <a:t>5 </a:t>
            </a:r>
            <a:r>
              <a:rPr lang="zh-CN" altLang="en-US" sz="2000" b="1">
                <a:solidFill>
                  <a:srgbClr val="0000CC"/>
                </a:solidFill>
                <a:ea typeface="黑体" panose="02010609060101010101" pitchFamily="49" charset="-122"/>
              </a:rPr>
              <a:t>的 </a:t>
            </a:r>
            <a:r>
              <a:rPr lang="en-US" altLang="zh-CN" sz="2000" b="1">
                <a:solidFill>
                  <a:srgbClr val="0000CC"/>
                </a:solidFill>
                <a:ea typeface="黑体" panose="02010609060101010101" pitchFamily="49" charset="-122"/>
              </a:rPr>
              <a:t>OSPF </a:t>
            </a:r>
            <a:r>
              <a:rPr lang="zh-CN" altLang="en-US" sz="2000" b="1">
                <a:solidFill>
                  <a:srgbClr val="0000CC"/>
                </a:solidFill>
                <a:ea typeface="黑体" panose="02010609060101010101" pitchFamily="49" charset="-122"/>
              </a:rPr>
              <a:t>分组</a:t>
            </a:r>
          </a:p>
        </p:txBody>
      </p:sp>
      <p:sp>
        <p:nvSpPr>
          <p:cNvPr id="1061906" name="Line 18"/>
          <p:cNvSpPr>
            <a:spLocks noChangeShapeType="1"/>
          </p:cNvSpPr>
          <p:nvPr/>
        </p:nvSpPr>
        <p:spPr bwMode="auto">
          <a:xfrm>
            <a:off x="2347913" y="5822950"/>
            <a:ext cx="0" cy="296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7" name="Line 19"/>
          <p:cNvSpPr>
            <a:spLocks noChangeShapeType="1"/>
          </p:cNvSpPr>
          <p:nvPr/>
        </p:nvSpPr>
        <p:spPr bwMode="auto">
          <a:xfrm>
            <a:off x="2989263" y="3817938"/>
            <a:ext cx="0" cy="295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8" name="Line 20"/>
          <p:cNvSpPr>
            <a:spLocks noChangeShapeType="1"/>
          </p:cNvSpPr>
          <p:nvPr/>
        </p:nvSpPr>
        <p:spPr bwMode="auto">
          <a:xfrm>
            <a:off x="5000625" y="3817938"/>
            <a:ext cx="0" cy="295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09" name="Line 21"/>
          <p:cNvSpPr>
            <a:spLocks noChangeShapeType="1"/>
          </p:cNvSpPr>
          <p:nvPr/>
        </p:nvSpPr>
        <p:spPr bwMode="auto">
          <a:xfrm flipV="1">
            <a:off x="4449763" y="3959225"/>
            <a:ext cx="542925" cy="0"/>
          </a:xfrm>
          <a:prstGeom prst="line">
            <a:avLst/>
          </a:prstGeom>
          <a:noFill/>
          <a:ln w="9525">
            <a:solidFill>
              <a:schemeClr val="tx1"/>
            </a:solidFill>
            <a:round/>
            <a:headEnd type="none" w="sm" len="lg"/>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0" name="Text Box 22"/>
          <p:cNvSpPr txBox="1">
            <a:spLocks noChangeArrowheads="1"/>
          </p:cNvSpPr>
          <p:nvPr/>
        </p:nvSpPr>
        <p:spPr bwMode="auto">
          <a:xfrm>
            <a:off x="3444875" y="3719513"/>
            <a:ext cx="1090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24 </a:t>
            </a:r>
            <a:r>
              <a:rPr lang="zh-CN" altLang="en-US" sz="2000" b="1">
                <a:solidFill>
                  <a:srgbClr val="0000CC"/>
                </a:solidFill>
                <a:ea typeface="黑体" panose="02010609060101010101" pitchFamily="49" charset="-122"/>
              </a:rPr>
              <a:t>字节</a:t>
            </a:r>
          </a:p>
        </p:txBody>
      </p:sp>
      <p:sp>
        <p:nvSpPr>
          <p:cNvPr id="1061911" name="Rectangle 23"/>
          <p:cNvSpPr>
            <a:spLocks noChangeArrowheads="1"/>
          </p:cNvSpPr>
          <p:nvPr/>
        </p:nvSpPr>
        <p:spPr bwMode="auto">
          <a:xfrm>
            <a:off x="814388" y="1323975"/>
            <a:ext cx="8751887" cy="2232025"/>
          </a:xfrm>
          <a:prstGeom prst="rect">
            <a:avLst/>
          </a:prstGeom>
          <a:solidFill>
            <a:srgbClr val="CCECFF"/>
          </a:solidFill>
          <a:ln w="9525">
            <a:solidFill>
              <a:srgbClr val="3333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2" name="Line 24"/>
          <p:cNvSpPr>
            <a:spLocks noChangeShapeType="1"/>
          </p:cNvSpPr>
          <p:nvPr/>
        </p:nvSpPr>
        <p:spPr bwMode="auto">
          <a:xfrm>
            <a:off x="804863" y="1708150"/>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3" name="Line 25"/>
          <p:cNvSpPr>
            <a:spLocks noChangeShapeType="1"/>
          </p:cNvSpPr>
          <p:nvPr/>
        </p:nvSpPr>
        <p:spPr bwMode="auto">
          <a:xfrm>
            <a:off x="804863" y="2076450"/>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4" name="Line 26"/>
          <p:cNvSpPr>
            <a:spLocks noChangeShapeType="1"/>
          </p:cNvSpPr>
          <p:nvPr/>
        </p:nvSpPr>
        <p:spPr bwMode="auto">
          <a:xfrm>
            <a:off x="804863" y="2447925"/>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5" name="Line 27"/>
          <p:cNvSpPr>
            <a:spLocks noChangeShapeType="1"/>
          </p:cNvSpPr>
          <p:nvPr/>
        </p:nvSpPr>
        <p:spPr bwMode="auto">
          <a:xfrm>
            <a:off x="804863" y="2816225"/>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6" name="Line 28"/>
          <p:cNvSpPr>
            <a:spLocks noChangeShapeType="1"/>
          </p:cNvSpPr>
          <p:nvPr/>
        </p:nvSpPr>
        <p:spPr bwMode="auto">
          <a:xfrm>
            <a:off x="804863" y="3187700"/>
            <a:ext cx="8767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7" name="Line 29"/>
          <p:cNvSpPr>
            <a:spLocks noChangeShapeType="1"/>
          </p:cNvSpPr>
          <p:nvPr/>
        </p:nvSpPr>
        <p:spPr bwMode="auto">
          <a:xfrm>
            <a:off x="2989263" y="1330325"/>
            <a:ext cx="0" cy="377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8" name="Line 30"/>
          <p:cNvSpPr>
            <a:spLocks noChangeShapeType="1"/>
          </p:cNvSpPr>
          <p:nvPr/>
        </p:nvSpPr>
        <p:spPr bwMode="auto">
          <a:xfrm>
            <a:off x="5175250" y="1330325"/>
            <a:ext cx="7938" cy="3778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19" name="Rectangle 31"/>
          <p:cNvSpPr>
            <a:spLocks noChangeArrowheads="1"/>
          </p:cNvSpPr>
          <p:nvPr/>
        </p:nvSpPr>
        <p:spPr bwMode="auto">
          <a:xfrm>
            <a:off x="752475" y="923925"/>
            <a:ext cx="3254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0</a:t>
            </a:r>
          </a:p>
        </p:txBody>
      </p:sp>
      <p:sp>
        <p:nvSpPr>
          <p:cNvPr id="1061920" name="Rectangle 32"/>
          <p:cNvSpPr>
            <a:spLocks noChangeArrowheads="1"/>
          </p:cNvSpPr>
          <p:nvPr/>
        </p:nvSpPr>
        <p:spPr bwMode="auto">
          <a:xfrm>
            <a:off x="2898775" y="923925"/>
            <a:ext cx="3254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8</a:t>
            </a:r>
          </a:p>
        </p:txBody>
      </p:sp>
      <p:sp>
        <p:nvSpPr>
          <p:cNvPr id="1061921" name="Rectangle 33"/>
          <p:cNvSpPr>
            <a:spLocks noChangeArrowheads="1"/>
          </p:cNvSpPr>
          <p:nvPr/>
        </p:nvSpPr>
        <p:spPr bwMode="auto">
          <a:xfrm>
            <a:off x="5067300" y="923925"/>
            <a:ext cx="4683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16</a:t>
            </a:r>
          </a:p>
        </p:txBody>
      </p:sp>
      <p:sp>
        <p:nvSpPr>
          <p:cNvPr id="1061922" name="Rectangle 34"/>
          <p:cNvSpPr>
            <a:spLocks noChangeArrowheads="1"/>
          </p:cNvSpPr>
          <p:nvPr/>
        </p:nvSpPr>
        <p:spPr bwMode="auto">
          <a:xfrm>
            <a:off x="9166225" y="923925"/>
            <a:ext cx="4667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31</a:t>
            </a:r>
          </a:p>
        </p:txBody>
      </p:sp>
      <p:sp>
        <p:nvSpPr>
          <p:cNvPr id="1061923" name="Rectangle 35"/>
          <p:cNvSpPr>
            <a:spLocks noChangeArrowheads="1"/>
          </p:cNvSpPr>
          <p:nvPr/>
        </p:nvSpPr>
        <p:spPr bwMode="auto">
          <a:xfrm>
            <a:off x="1433513" y="1322388"/>
            <a:ext cx="9810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版    本</a:t>
            </a:r>
          </a:p>
        </p:txBody>
      </p:sp>
      <p:sp>
        <p:nvSpPr>
          <p:cNvPr id="1061924" name="Rectangle 36"/>
          <p:cNvSpPr>
            <a:spLocks noChangeArrowheads="1"/>
          </p:cNvSpPr>
          <p:nvPr/>
        </p:nvSpPr>
        <p:spPr bwMode="auto">
          <a:xfrm>
            <a:off x="3538538" y="1725613"/>
            <a:ext cx="31416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路    由    器    标    识    符</a:t>
            </a:r>
          </a:p>
        </p:txBody>
      </p:sp>
      <p:sp>
        <p:nvSpPr>
          <p:cNvPr id="1061925" name="Rectangle 37"/>
          <p:cNvSpPr>
            <a:spLocks noChangeArrowheads="1"/>
          </p:cNvSpPr>
          <p:nvPr/>
        </p:nvSpPr>
        <p:spPr bwMode="auto">
          <a:xfrm>
            <a:off x="3662363" y="1322388"/>
            <a:ext cx="9810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类    型</a:t>
            </a:r>
          </a:p>
        </p:txBody>
      </p:sp>
      <p:sp>
        <p:nvSpPr>
          <p:cNvPr id="1061926" name="Rectangle 38"/>
          <p:cNvSpPr>
            <a:spLocks noChangeArrowheads="1"/>
          </p:cNvSpPr>
          <p:nvPr/>
        </p:nvSpPr>
        <p:spPr bwMode="auto">
          <a:xfrm>
            <a:off x="6310313" y="1322388"/>
            <a:ext cx="20621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分    组    长    度</a:t>
            </a:r>
          </a:p>
        </p:txBody>
      </p:sp>
      <p:sp>
        <p:nvSpPr>
          <p:cNvPr id="1061927" name="Rectangle 39"/>
          <p:cNvSpPr>
            <a:spLocks noChangeArrowheads="1"/>
          </p:cNvSpPr>
          <p:nvPr/>
        </p:nvSpPr>
        <p:spPr bwMode="auto">
          <a:xfrm>
            <a:off x="2270125" y="2465388"/>
            <a:ext cx="13811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检   验   和</a:t>
            </a:r>
          </a:p>
        </p:txBody>
      </p:sp>
      <p:sp>
        <p:nvSpPr>
          <p:cNvPr id="1061928" name="Rectangle 40"/>
          <p:cNvSpPr>
            <a:spLocks noChangeArrowheads="1"/>
          </p:cNvSpPr>
          <p:nvPr/>
        </p:nvSpPr>
        <p:spPr bwMode="auto">
          <a:xfrm>
            <a:off x="4416425" y="2817813"/>
            <a:ext cx="15462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鉴            别</a:t>
            </a:r>
          </a:p>
        </p:txBody>
      </p:sp>
      <p:sp>
        <p:nvSpPr>
          <p:cNvPr id="1061929" name="Rectangle 41"/>
          <p:cNvSpPr>
            <a:spLocks noChangeArrowheads="1"/>
          </p:cNvSpPr>
          <p:nvPr/>
        </p:nvSpPr>
        <p:spPr bwMode="auto">
          <a:xfrm>
            <a:off x="184150" y="908050"/>
            <a:ext cx="4397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位</a:t>
            </a:r>
          </a:p>
        </p:txBody>
      </p:sp>
      <p:sp>
        <p:nvSpPr>
          <p:cNvPr id="1061930" name="Rectangle 42"/>
          <p:cNvSpPr>
            <a:spLocks noChangeArrowheads="1"/>
          </p:cNvSpPr>
          <p:nvPr/>
        </p:nvSpPr>
        <p:spPr bwMode="auto">
          <a:xfrm>
            <a:off x="4416425" y="3187700"/>
            <a:ext cx="15462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鉴            别</a:t>
            </a:r>
          </a:p>
        </p:txBody>
      </p:sp>
      <p:sp>
        <p:nvSpPr>
          <p:cNvPr id="1061931" name="Rectangle 43"/>
          <p:cNvSpPr>
            <a:spLocks noChangeArrowheads="1"/>
          </p:cNvSpPr>
          <p:nvPr/>
        </p:nvSpPr>
        <p:spPr bwMode="auto">
          <a:xfrm>
            <a:off x="3870325" y="2093913"/>
            <a:ext cx="26019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区    域    标    识    符</a:t>
            </a:r>
          </a:p>
        </p:txBody>
      </p:sp>
      <p:sp>
        <p:nvSpPr>
          <p:cNvPr id="1061932" name="Rectangle 44"/>
          <p:cNvSpPr>
            <a:spLocks noChangeArrowheads="1"/>
          </p:cNvSpPr>
          <p:nvPr/>
        </p:nvSpPr>
        <p:spPr bwMode="auto">
          <a:xfrm>
            <a:off x="6334125" y="2465388"/>
            <a:ext cx="206216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鉴    别    类    型</a:t>
            </a:r>
          </a:p>
        </p:txBody>
      </p:sp>
      <p:sp>
        <p:nvSpPr>
          <p:cNvPr id="1061933" name="Line 45"/>
          <p:cNvSpPr>
            <a:spLocks noChangeShapeType="1"/>
          </p:cNvSpPr>
          <p:nvPr/>
        </p:nvSpPr>
        <p:spPr bwMode="auto">
          <a:xfrm flipH="1">
            <a:off x="5187950" y="2465388"/>
            <a:ext cx="1588" cy="350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34" name="Line 46"/>
          <p:cNvSpPr>
            <a:spLocks noChangeShapeType="1"/>
          </p:cNvSpPr>
          <p:nvPr/>
        </p:nvSpPr>
        <p:spPr bwMode="auto">
          <a:xfrm flipH="1" flipV="1">
            <a:off x="2989263" y="3970338"/>
            <a:ext cx="542925" cy="1587"/>
          </a:xfrm>
          <a:prstGeom prst="line">
            <a:avLst/>
          </a:prstGeom>
          <a:noFill/>
          <a:ln w="9525">
            <a:solidFill>
              <a:schemeClr val="tx1"/>
            </a:solidFill>
            <a:round/>
            <a:headEnd type="none" w="sm" len="lg"/>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1935" name="矩形 1"/>
          <p:cNvSpPr>
            <a:spLocks noChangeArrowheads="1"/>
          </p:cNvSpPr>
          <p:nvPr/>
        </p:nvSpPr>
        <p:spPr bwMode="auto">
          <a:xfrm>
            <a:off x="2782888" y="6189663"/>
            <a:ext cx="5410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OSPF </a:t>
            </a:r>
            <a:r>
              <a:rPr lang="zh-CN" altLang="zh-CN" sz="2400" b="1">
                <a:ea typeface="黑体" panose="02010609060101010101" pitchFamily="49" charset="-122"/>
              </a:rPr>
              <a:t>分组用</a:t>
            </a:r>
            <a:r>
              <a:rPr lang="en-US" altLang="zh-CN" sz="2400" b="1">
                <a:ea typeface="黑体" panose="02010609060101010101" pitchFamily="49" charset="-122"/>
              </a:rPr>
              <a:t> IP </a:t>
            </a:r>
            <a:r>
              <a:rPr lang="zh-CN" altLang="zh-CN" sz="2400" b="1">
                <a:ea typeface="黑体" panose="02010609060101010101" pitchFamily="49" charset="-122"/>
              </a:rPr>
              <a:t>数据报传送</a:t>
            </a:r>
            <a:endParaRPr lang="zh-CN" altLang="en-US" sz="2400" b="1">
              <a:ea typeface="黑体" panose="02010609060101010101" pitchFamily="49" charset="-122"/>
            </a:endParaRPr>
          </a:p>
        </p:txBody>
      </p:sp>
      <p:sp>
        <p:nvSpPr>
          <p:cNvPr id="106193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3657A83-7458-46AA-9DB1-BAF13B1C65F9}" type="slidenum">
              <a:rPr lang="zh-CN" altLang="en-US" smtClean="0"/>
              <a:pPr/>
              <a:t>44</a:t>
            </a:fld>
            <a:endParaRPr lang="en-US" altLang="zh-CN" smtClean="0"/>
          </a:p>
        </p:txBody>
      </p:sp>
      <p:sp>
        <p:nvSpPr>
          <p:cNvPr id="106193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393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OSPF </a:t>
            </a:r>
            <a:r>
              <a:rPr lang="zh-CN" altLang="en-US" smtClean="0">
                <a:ea typeface="黑体" panose="02010609060101010101" pitchFamily="49" charset="-122"/>
              </a:rPr>
              <a:t>的五种分组类型 </a:t>
            </a:r>
          </a:p>
        </p:txBody>
      </p:sp>
      <p:sp>
        <p:nvSpPr>
          <p:cNvPr id="591875" name="Rectangle 3"/>
          <p:cNvSpPr>
            <a:spLocks noGrp="1" noChangeArrowheads="1"/>
          </p:cNvSpPr>
          <p:nvPr>
            <p:ph idx="1"/>
          </p:nvPr>
        </p:nvSpPr>
        <p:spPr>
          <a:xfrm>
            <a:off x="495300" y="1196975"/>
            <a:ext cx="9066213" cy="4933950"/>
          </a:xfrm>
        </p:spPr>
        <p:txBody>
          <a:bodyPr/>
          <a:lstStyle/>
          <a:p>
            <a:pPr>
              <a:spcBef>
                <a:spcPts val="1200"/>
              </a:spcBef>
            </a:pPr>
            <a:r>
              <a:rPr lang="zh-CN" altLang="en-US" sz="2800" dirty="0" smtClean="0">
                <a:solidFill>
                  <a:srgbClr val="0000FF"/>
                </a:solidFill>
                <a:ea typeface="黑体" panose="02010609060101010101" pitchFamily="49" charset="-122"/>
              </a:rPr>
              <a:t>类型</a:t>
            </a:r>
            <a:r>
              <a:rPr lang="en-US" altLang="zh-CN" sz="2800" dirty="0" smtClean="0">
                <a:solidFill>
                  <a:srgbClr val="0000FF"/>
                </a:solidFill>
                <a:ea typeface="黑体" panose="02010609060101010101" pitchFamily="49" charset="-122"/>
              </a:rPr>
              <a:t>1</a:t>
            </a:r>
            <a:r>
              <a:rPr lang="zh-CN" altLang="en-US" sz="2800" dirty="0" smtClean="0">
                <a:solidFill>
                  <a:srgbClr val="0000FF"/>
                </a:solidFill>
                <a:ea typeface="黑体" panose="02010609060101010101" pitchFamily="49" charset="-122"/>
              </a:rPr>
              <a:t>，</a:t>
            </a:r>
            <a:r>
              <a:rPr lang="zh-CN" altLang="en-US" sz="2800" dirty="0" smtClean="0">
                <a:ea typeface="黑体" panose="02010609060101010101" pitchFamily="49" charset="-122"/>
              </a:rPr>
              <a:t>问候 </a:t>
            </a:r>
            <a:r>
              <a:rPr lang="en-US" altLang="zh-CN" sz="2800" dirty="0" smtClean="0">
                <a:ea typeface="黑体" panose="02010609060101010101" pitchFamily="49" charset="-122"/>
              </a:rPr>
              <a:t>(Hello) </a:t>
            </a:r>
            <a:r>
              <a:rPr lang="zh-CN" altLang="en-US" sz="2800" dirty="0" smtClean="0">
                <a:ea typeface="黑体" panose="02010609060101010101" pitchFamily="49" charset="-122"/>
              </a:rPr>
              <a:t>分组。</a:t>
            </a:r>
          </a:p>
          <a:p>
            <a:pPr>
              <a:spcBef>
                <a:spcPts val="1200"/>
              </a:spcBef>
            </a:pPr>
            <a:r>
              <a:rPr lang="zh-CN" altLang="en-US" sz="2800" dirty="0" smtClean="0">
                <a:solidFill>
                  <a:srgbClr val="0000FF"/>
                </a:solidFill>
                <a:ea typeface="黑体" panose="02010609060101010101" pitchFamily="49" charset="-122"/>
              </a:rPr>
              <a:t>类型</a:t>
            </a:r>
            <a:r>
              <a:rPr lang="en-US" altLang="zh-CN" sz="2800" dirty="0" smtClean="0">
                <a:solidFill>
                  <a:srgbClr val="0000FF"/>
                </a:solidFill>
                <a:ea typeface="黑体" panose="02010609060101010101" pitchFamily="49" charset="-122"/>
              </a:rPr>
              <a:t>2</a:t>
            </a:r>
            <a:r>
              <a:rPr lang="zh-CN" altLang="en-US" sz="2800" dirty="0" smtClean="0">
                <a:solidFill>
                  <a:srgbClr val="0000FF"/>
                </a:solidFill>
                <a:ea typeface="黑体" panose="02010609060101010101" pitchFamily="49" charset="-122"/>
              </a:rPr>
              <a:t>，</a:t>
            </a:r>
            <a:r>
              <a:rPr lang="zh-CN" altLang="en-US" sz="2800" dirty="0" smtClean="0">
                <a:ea typeface="黑体" panose="02010609060101010101" pitchFamily="49" charset="-122"/>
              </a:rPr>
              <a:t>数据库描述 </a:t>
            </a:r>
            <a:r>
              <a:rPr lang="en-US" altLang="zh-CN" sz="2800" dirty="0" smtClean="0">
                <a:ea typeface="黑体" panose="02010609060101010101" pitchFamily="49" charset="-122"/>
              </a:rPr>
              <a:t>(Database Description) </a:t>
            </a:r>
            <a:r>
              <a:rPr lang="zh-CN" altLang="en-US" sz="2800" dirty="0" smtClean="0">
                <a:ea typeface="黑体" panose="02010609060101010101" pitchFamily="49" charset="-122"/>
              </a:rPr>
              <a:t>分组。</a:t>
            </a:r>
          </a:p>
          <a:p>
            <a:pPr>
              <a:spcBef>
                <a:spcPts val="1200"/>
              </a:spcBef>
            </a:pPr>
            <a:r>
              <a:rPr lang="zh-CN" altLang="en-US" sz="2800" dirty="0" smtClean="0">
                <a:solidFill>
                  <a:srgbClr val="0000FF"/>
                </a:solidFill>
                <a:ea typeface="黑体" panose="02010609060101010101" pitchFamily="49" charset="-122"/>
              </a:rPr>
              <a:t>类型</a:t>
            </a:r>
            <a:r>
              <a:rPr lang="en-US" altLang="zh-CN" sz="2800" dirty="0" smtClean="0">
                <a:solidFill>
                  <a:srgbClr val="0000FF"/>
                </a:solidFill>
                <a:ea typeface="黑体" panose="02010609060101010101" pitchFamily="49" charset="-122"/>
              </a:rPr>
              <a:t>3</a:t>
            </a:r>
            <a:r>
              <a:rPr lang="zh-CN" altLang="en-US" sz="2800" dirty="0" smtClean="0">
                <a:solidFill>
                  <a:srgbClr val="0000FF"/>
                </a:solidFill>
                <a:ea typeface="黑体" panose="02010609060101010101" pitchFamily="49" charset="-122"/>
              </a:rPr>
              <a:t>，</a:t>
            </a:r>
            <a:r>
              <a:rPr lang="zh-CN" altLang="en-US" sz="2800" dirty="0" smtClean="0">
                <a:ea typeface="黑体" panose="02010609060101010101" pitchFamily="49" charset="-122"/>
              </a:rPr>
              <a:t>链路状态请求 </a:t>
            </a:r>
            <a:r>
              <a:rPr lang="en-US" altLang="zh-CN" sz="2800" dirty="0" smtClean="0">
                <a:ea typeface="黑体" panose="02010609060101010101" pitchFamily="49" charset="-122"/>
              </a:rPr>
              <a:t>(Link State Request) </a:t>
            </a:r>
            <a:r>
              <a:rPr lang="zh-CN" altLang="en-US" sz="2800" dirty="0" smtClean="0">
                <a:ea typeface="黑体" panose="02010609060101010101" pitchFamily="49" charset="-122"/>
              </a:rPr>
              <a:t>分组。</a:t>
            </a:r>
          </a:p>
          <a:p>
            <a:pPr>
              <a:spcBef>
                <a:spcPts val="1200"/>
              </a:spcBef>
            </a:pPr>
            <a:r>
              <a:rPr lang="zh-CN" altLang="en-US" sz="2800" dirty="0" smtClean="0">
                <a:solidFill>
                  <a:srgbClr val="0000FF"/>
                </a:solidFill>
                <a:ea typeface="黑体" panose="02010609060101010101" pitchFamily="49" charset="-122"/>
              </a:rPr>
              <a:t>类型</a:t>
            </a:r>
            <a:r>
              <a:rPr lang="en-US" altLang="zh-CN" sz="2800" dirty="0" smtClean="0">
                <a:solidFill>
                  <a:srgbClr val="0000FF"/>
                </a:solidFill>
                <a:ea typeface="黑体" panose="02010609060101010101" pitchFamily="49" charset="-122"/>
              </a:rPr>
              <a:t>4</a:t>
            </a:r>
            <a:r>
              <a:rPr lang="zh-CN" altLang="en-US" sz="2800" dirty="0" smtClean="0">
                <a:solidFill>
                  <a:srgbClr val="0000FF"/>
                </a:solidFill>
                <a:ea typeface="黑体" panose="02010609060101010101" pitchFamily="49" charset="-122"/>
              </a:rPr>
              <a:t>，</a:t>
            </a:r>
            <a:r>
              <a:rPr lang="zh-CN" altLang="en-US" sz="2800" dirty="0" smtClean="0">
                <a:ea typeface="黑体" panose="02010609060101010101" pitchFamily="49" charset="-122"/>
              </a:rPr>
              <a:t>链路状态更新 </a:t>
            </a:r>
            <a:r>
              <a:rPr lang="en-US" altLang="zh-CN" sz="2800" dirty="0" smtClean="0">
                <a:ea typeface="黑体" panose="02010609060101010101" pitchFamily="49" charset="-122"/>
              </a:rPr>
              <a:t>(Link State Update) </a:t>
            </a:r>
            <a:r>
              <a:rPr lang="zh-CN" altLang="en-US" sz="2800" dirty="0" smtClean="0">
                <a:ea typeface="黑体" panose="02010609060101010101" pitchFamily="49" charset="-122"/>
              </a:rPr>
              <a:t>分组，</a:t>
            </a:r>
          </a:p>
          <a:p>
            <a:pPr>
              <a:spcBef>
                <a:spcPts val="1200"/>
              </a:spcBef>
              <a:buFont typeface="Wingdings" panose="05000000000000000000" pitchFamily="2" charset="2"/>
              <a:buNone/>
            </a:pPr>
            <a:r>
              <a:rPr lang="zh-CN" altLang="en-US" sz="2800" dirty="0" smtClean="0">
                <a:ea typeface="黑体" panose="02010609060101010101" pitchFamily="49" charset="-122"/>
              </a:rPr>
              <a:t>                用</a:t>
            </a:r>
            <a:r>
              <a:rPr lang="zh-CN" altLang="en-US" sz="2800" dirty="0" smtClean="0">
                <a:solidFill>
                  <a:srgbClr val="FF0000"/>
                </a:solidFill>
                <a:ea typeface="黑体" panose="02010609060101010101" pitchFamily="49" charset="-122"/>
              </a:rPr>
              <a:t>洪泛法</a:t>
            </a:r>
            <a:r>
              <a:rPr lang="zh-CN" altLang="en-US" sz="2800" dirty="0" smtClean="0">
                <a:ea typeface="黑体" panose="02010609060101010101" pitchFamily="49" charset="-122"/>
              </a:rPr>
              <a:t>对全网更新链路状态。</a:t>
            </a:r>
          </a:p>
          <a:p>
            <a:pPr>
              <a:spcBef>
                <a:spcPts val="1200"/>
              </a:spcBef>
            </a:pPr>
            <a:r>
              <a:rPr lang="zh-CN" altLang="en-US" sz="2800" dirty="0" smtClean="0">
                <a:solidFill>
                  <a:srgbClr val="0000FF"/>
                </a:solidFill>
                <a:ea typeface="黑体" panose="02010609060101010101" pitchFamily="49" charset="-122"/>
              </a:rPr>
              <a:t>类型</a:t>
            </a:r>
            <a:r>
              <a:rPr lang="en-US" altLang="zh-CN" sz="2800" dirty="0" smtClean="0">
                <a:solidFill>
                  <a:srgbClr val="0000FF"/>
                </a:solidFill>
                <a:ea typeface="黑体" panose="02010609060101010101" pitchFamily="49" charset="-122"/>
              </a:rPr>
              <a:t>5</a:t>
            </a:r>
            <a:r>
              <a:rPr lang="zh-CN" altLang="en-US" sz="2800" dirty="0" smtClean="0">
                <a:solidFill>
                  <a:srgbClr val="0000FF"/>
                </a:solidFill>
                <a:ea typeface="黑体" panose="02010609060101010101" pitchFamily="49" charset="-122"/>
              </a:rPr>
              <a:t>，</a:t>
            </a:r>
            <a:r>
              <a:rPr lang="zh-CN" altLang="en-US" sz="2800" dirty="0" smtClean="0">
                <a:ea typeface="黑体" panose="02010609060101010101" pitchFamily="49" charset="-122"/>
              </a:rPr>
              <a:t>链路状态确认 </a:t>
            </a:r>
            <a:r>
              <a:rPr lang="en-US" altLang="zh-CN" sz="2800" dirty="0" smtClean="0">
                <a:ea typeface="黑体" panose="02010609060101010101" pitchFamily="49" charset="-122"/>
              </a:rPr>
              <a:t>(Link State Acknowledgment)</a:t>
            </a:r>
          </a:p>
          <a:p>
            <a:pPr>
              <a:spcBef>
                <a:spcPts val="1200"/>
              </a:spcBef>
              <a:buFont typeface="Wingdings" panose="05000000000000000000" pitchFamily="2" charset="2"/>
              <a:buNone/>
            </a:pPr>
            <a:r>
              <a:rPr lang="en-US" altLang="zh-CN" sz="2800" dirty="0" smtClean="0">
                <a:ea typeface="黑体" panose="02010609060101010101" pitchFamily="49" charset="-122"/>
              </a:rPr>
              <a:t>                 </a:t>
            </a:r>
            <a:r>
              <a:rPr lang="zh-CN" altLang="en-US" sz="2800" dirty="0" smtClean="0">
                <a:ea typeface="黑体" panose="02010609060101010101" pitchFamily="49" charset="-122"/>
              </a:rPr>
              <a:t>分组。 </a:t>
            </a:r>
          </a:p>
        </p:txBody>
      </p:sp>
      <p:sp>
        <p:nvSpPr>
          <p:cNvPr id="10639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11F5FB-C47E-4697-B992-005EC0BE048B}" type="slidenum">
              <a:rPr lang="zh-CN" altLang="en-US" smtClean="0"/>
              <a:pPr eaLnBrk="1" hangingPunct="1"/>
              <a:t>45</a:t>
            </a:fld>
            <a:endParaRPr lang="en-US" altLang="zh-CN" smtClean="0"/>
          </a:p>
        </p:txBody>
      </p:sp>
      <p:sp>
        <p:nvSpPr>
          <p:cNvPr id="10639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18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18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187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187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187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18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985" name="Rectangle 3"/>
          <p:cNvSpPr>
            <a:spLocks noGrp="1" noChangeArrowheads="1"/>
          </p:cNvSpPr>
          <p:nvPr>
            <p:ph type="title"/>
          </p:nvPr>
        </p:nvSpPr>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的基本操作 </a:t>
            </a:r>
          </a:p>
        </p:txBody>
      </p:sp>
      <p:sp>
        <p:nvSpPr>
          <p:cNvPr id="1065986" name="Rectangle 2"/>
          <p:cNvSpPr>
            <a:spLocks noChangeArrowheads="1"/>
          </p:cNvSpPr>
          <p:nvPr/>
        </p:nvSpPr>
        <p:spPr bwMode="auto">
          <a:xfrm>
            <a:off x="273050" y="2563813"/>
            <a:ext cx="9632950" cy="175418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92900" name="Line 4"/>
          <p:cNvSpPr>
            <a:spLocks noChangeShapeType="1"/>
          </p:cNvSpPr>
          <p:nvPr/>
        </p:nvSpPr>
        <p:spPr bwMode="auto">
          <a:xfrm>
            <a:off x="1855788" y="1554163"/>
            <a:ext cx="0" cy="1027112"/>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5988" name="Rectangle 5"/>
          <p:cNvSpPr>
            <a:spLocks noChangeArrowheads="1"/>
          </p:cNvSpPr>
          <p:nvPr/>
        </p:nvSpPr>
        <p:spPr bwMode="auto">
          <a:xfrm>
            <a:off x="1104900" y="1858963"/>
            <a:ext cx="1547813" cy="3254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5989" name="AutoShape 6"/>
          <p:cNvSpPr>
            <a:spLocks noChangeArrowheads="1"/>
          </p:cNvSpPr>
          <p:nvPr/>
        </p:nvSpPr>
        <p:spPr bwMode="auto">
          <a:xfrm rot="-5400000">
            <a:off x="5764213" y="-582612"/>
            <a:ext cx="96837" cy="4211637"/>
          </a:xfrm>
          <a:prstGeom prst="can">
            <a:avLst>
              <a:gd name="adj" fmla="val 105911"/>
            </a:avLst>
          </a:prstGeom>
          <a:solidFill>
            <a:srgbClr val="C00000"/>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pic>
        <p:nvPicPr>
          <p:cNvPr id="1065990" name="Picture 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4063" y="1316038"/>
            <a:ext cx="8239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991" name="Picture 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2075" y="1316038"/>
            <a:ext cx="8223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92905" name="Group 9"/>
          <p:cNvGrpSpPr>
            <a:grpSpLocks/>
          </p:cNvGrpSpPr>
          <p:nvPr/>
        </p:nvGrpSpPr>
        <p:grpSpPr bwMode="auto">
          <a:xfrm>
            <a:off x="3808413" y="1631950"/>
            <a:ext cx="4213225" cy="400050"/>
            <a:chOff x="2056" y="1482"/>
            <a:chExt cx="2450" cy="252"/>
          </a:xfrm>
        </p:grpSpPr>
        <p:sp>
          <p:nvSpPr>
            <p:cNvPr id="1065993" name="Text Box 10"/>
            <p:cNvSpPr txBox="1">
              <a:spLocks noChangeArrowheads="1"/>
            </p:cNvSpPr>
            <p:nvPr/>
          </p:nvSpPr>
          <p:spPr bwMode="auto">
            <a:xfrm>
              <a:off x="2991" y="1482"/>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问候</a:t>
              </a:r>
            </a:p>
          </p:txBody>
        </p:sp>
        <p:sp>
          <p:nvSpPr>
            <p:cNvPr id="1065994" name="Line 11"/>
            <p:cNvSpPr>
              <a:spLocks noChangeShapeType="1"/>
            </p:cNvSpPr>
            <p:nvPr/>
          </p:nvSpPr>
          <p:spPr bwMode="auto">
            <a:xfrm>
              <a:off x="2056" y="1731"/>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592908" name="Group 12"/>
          <p:cNvGrpSpPr>
            <a:grpSpLocks/>
          </p:cNvGrpSpPr>
          <p:nvPr/>
        </p:nvGrpSpPr>
        <p:grpSpPr bwMode="auto">
          <a:xfrm>
            <a:off x="3808413" y="2014538"/>
            <a:ext cx="4213225" cy="407987"/>
            <a:chOff x="2056" y="1723"/>
            <a:chExt cx="2450" cy="257"/>
          </a:xfrm>
        </p:grpSpPr>
        <p:sp>
          <p:nvSpPr>
            <p:cNvPr id="1065996" name="Line 13"/>
            <p:cNvSpPr>
              <a:spLocks noChangeShapeType="1"/>
            </p:cNvSpPr>
            <p:nvPr/>
          </p:nvSpPr>
          <p:spPr bwMode="auto">
            <a:xfrm flipH="1">
              <a:off x="2056" y="1980"/>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5997" name="Text Box 14"/>
            <p:cNvSpPr txBox="1">
              <a:spLocks noChangeArrowheads="1"/>
            </p:cNvSpPr>
            <p:nvPr/>
          </p:nvSpPr>
          <p:spPr bwMode="auto">
            <a:xfrm>
              <a:off x="2987" y="1723"/>
              <a:ext cx="4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问候</a:t>
              </a:r>
            </a:p>
          </p:txBody>
        </p:sp>
      </p:grpSp>
      <p:grpSp>
        <p:nvGrpSpPr>
          <p:cNvPr id="592911" name="Group 15"/>
          <p:cNvGrpSpPr>
            <a:grpSpLocks/>
          </p:cNvGrpSpPr>
          <p:nvPr/>
        </p:nvGrpSpPr>
        <p:grpSpPr bwMode="auto">
          <a:xfrm>
            <a:off x="3808413" y="2578100"/>
            <a:ext cx="4213225" cy="400050"/>
            <a:chOff x="2056" y="2078"/>
            <a:chExt cx="2450" cy="252"/>
          </a:xfrm>
        </p:grpSpPr>
        <p:sp>
          <p:nvSpPr>
            <p:cNvPr id="1065999" name="Line 16"/>
            <p:cNvSpPr>
              <a:spLocks noChangeShapeType="1"/>
            </p:cNvSpPr>
            <p:nvPr/>
          </p:nvSpPr>
          <p:spPr bwMode="auto">
            <a:xfrm>
              <a:off x="2056" y="2328"/>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00" name="Text Box 17"/>
            <p:cNvSpPr txBox="1">
              <a:spLocks noChangeArrowheads="1"/>
            </p:cNvSpPr>
            <p:nvPr/>
          </p:nvSpPr>
          <p:spPr bwMode="auto">
            <a:xfrm>
              <a:off x="2713" y="2078"/>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数据库描述</a:t>
              </a:r>
            </a:p>
          </p:txBody>
        </p:sp>
      </p:grpSp>
      <p:grpSp>
        <p:nvGrpSpPr>
          <p:cNvPr id="592914" name="Group 18"/>
          <p:cNvGrpSpPr>
            <a:grpSpLocks/>
          </p:cNvGrpSpPr>
          <p:nvPr/>
        </p:nvGrpSpPr>
        <p:grpSpPr bwMode="auto">
          <a:xfrm>
            <a:off x="3808413" y="2962275"/>
            <a:ext cx="4213225" cy="407988"/>
            <a:chOff x="2056" y="2320"/>
            <a:chExt cx="2450" cy="257"/>
          </a:xfrm>
        </p:grpSpPr>
        <p:sp>
          <p:nvSpPr>
            <p:cNvPr id="1066002" name="Line 19"/>
            <p:cNvSpPr>
              <a:spLocks noChangeShapeType="1"/>
            </p:cNvSpPr>
            <p:nvPr/>
          </p:nvSpPr>
          <p:spPr bwMode="auto">
            <a:xfrm flipH="1">
              <a:off x="2056" y="2577"/>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03" name="Text Box 20"/>
            <p:cNvSpPr txBox="1">
              <a:spLocks noChangeArrowheads="1"/>
            </p:cNvSpPr>
            <p:nvPr/>
          </p:nvSpPr>
          <p:spPr bwMode="auto">
            <a:xfrm>
              <a:off x="2713" y="2320"/>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数据库描述</a:t>
              </a:r>
            </a:p>
          </p:txBody>
        </p:sp>
      </p:grpSp>
      <p:grpSp>
        <p:nvGrpSpPr>
          <p:cNvPr id="592917" name="Group 21"/>
          <p:cNvGrpSpPr>
            <a:grpSpLocks/>
          </p:cNvGrpSpPr>
          <p:nvPr/>
        </p:nvGrpSpPr>
        <p:grpSpPr bwMode="auto">
          <a:xfrm>
            <a:off x="3808413" y="3357563"/>
            <a:ext cx="4213225" cy="406400"/>
            <a:chOff x="2056" y="2569"/>
            <a:chExt cx="2450" cy="256"/>
          </a:xfrm>
        </p:grpSpPr>
        <p:sp>
          <p:nvSpPr>
            <p:cNvPr id="1066005" name="Line 22"/>
            <p:cNvSpPr>
              <a:spLocks noChangeShapeType="1"/>
            </p:cNvSpPr>
            <p:nvPr/>
          </p:nvSpPr>
          <p:spPr bwMode="auto">
            <a:xfrm>
              <a:off x="2056" y="2825"/>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06" name="Text Box 23"/>
            <p:cNvSpPr txBox="1">
              <a:spLocks noChangeArrowheads="1"/>
            </p:cNvSpPr>
            <p:nvPr/>
          </p:nvSpPr>
          <p:spPr bwMode="auto">
            <a:xfrm>
              <a:off x="2713" y="2569"/>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数据库描述</a:t>
              </a:r>
            </a:p>
          </p:txBody>
        </p:sp>
      </p:grpSp>
      <p:grpSp>
        <p:nvGrpSpPr>
          <p:cNvPr id="592920" name="Group 24"/>
          <p:cNvGrpSpPr>
            <a:grpSpLocks/>
          </p:cNvGrpSpPr>
          <p:nvPr/>
        </p:nvGrpSpPr>
        <p:grpSpPr bwMode="auto">
          <a:xfrm>
            <a:off x="3808413" y="3743325"/>
            <a:ext cx="4213225" cy="417513"/>
            <a:chOff x="2056" y="2812"/>
            <a:chExt cx="2450" cy="263"/>
          </a:xfrm>
        </p:grpSpPr>
        <p:sp>
          <p:nvSpPr>
            <p:cNvPr id="1066008" name="Line 25"/>
            <p:cNvSpPr>
              <a:spLocks noChangeShapeType="1"/>
            </p:cNvSpPr>
            <p:nvPr/>
          </p:nvSpPr>
          <p:spPr bwMode="auto">
            <a:xfrm flipH="1">
              <a:off x="2056" y="3075"/>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09" name="Text Box 26"/>
            <p:cNvSpPr txBox="1">
              <a:spLocks noChangeArrowheads="1"/>
            </p:cNvSpPr>
            <p:nvPr/>
          </p:nvSpPr>
          <p:spPr bwMode="auto">
            <a:xfrm>
              <a:off x="2713" y="2812"/>
              <a:ext cx="8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数据库描述</a:t>
              </a:r>
            </a:p>
          </p:txBody>
        </p:sp>
      </p:grpSp>
      <p:grpSp>
        <p:nvGrpSpPr>
          <p:cNvPr id="592923" name="Group 27"/>
          <p:cNvGrpSpPr>
            <a:grpSpLocks/>
          </p:cNvGrpSpPr>
          <p:nvPr/>
        </p:nvGrpSpPr>
        <p:grpSpPr bwMode="auto">
          <a:xfrm>
            <a:off x="3808413" y="4330700"/>
            <a:ext cx="4213225" cy="400050"/>
            <a:chOff x="2056" y="3182"/>
            <a:chExt cx="2450" cy="252"/>
          </a:xfrm>
        </p:grpSpPr>
        <p:sp>
          <p:nvSpPr>
            <p:cNvPr id="1066011" name="Line 28"/>
            <p:cNvSpPr>
              <a:spLocks noChangeShapeType="1"/>
            </p:cNvSpPr>
            <p:nvPr/>
          </p:nvSpPr>
          <p:spPr bwMode="auto">
            <a:xfrm>
              <a:off x="2056" y="3423"/>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12" name="Text Box 29"/>
            <p:cNvSpPr txBox="1">
              <a:spLocks noChangeArrowheads="1"/>
            </p:cNvSpPr>
            <p:nvPr/>
          </p:nvSpPr>
          <p:spPr bwMode="auto">
            <a:xfrm>
              <a:off x="2624" y="3182"/>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链路状态请求</a:t>
              </a:r>
            </a:p>
          </p:txBody>
        </p:sp>
      </p:grpSp>
      <p:grpSp>
        <p:nvGrpSpPr>
          <p:cNvPr id="592926" name="Group 30"/>
          <p:cNvGrpSpPr>
            <a:grpSpLocks/>
          </p:cNvGrpSpPr>
          <p:nvPr/>
        </p:nvGrpSpPr>
        <p:grpSpPr bwMode="auto">
          <a:xfrm>
            <a:off x="3808413" y="4727575"/>
            <a:ext cx="4213225" cy="400050"/>
            <a:chOff x="2056" y="3432"/>
            <a:chExt cx="2450" cy="252"/>
          </a:xfrm>
        </p:grpSpPr>
        <p:sp>
          <p:nvSpPr>
            <p:cNvPr id="1066014" name="Line 31"/>
            <p:cNvSpPr>
              <a:spLocks noChangeShapeType="1"/>
            </p:cNvSpPr>
            <p:nvPr/>
          </p:nvSpPr>
          <p:spPr bwMode="auto">
            <a:xfrm flipH="1">
              <a:off x="2056" y="3672"/>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15" name="Text Box 32"/>
            <p:cNvSpPr txBox="1">
              <a:spLocks noChangeArrowheads="1"/>
            </p:cNvSpPr>
            <p:nvPr/>
          </p:nvSpPr>
          <p:spPr bwMode="auto">
            <a:xfrm>
              <a:off x="2629" y="3432"/>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链路状态更新</a:t>
              </a:r>
            </a:p>
          </p:txBody>
        </p:sp>
      </p:grpSp>
      <p:sp>
        <p:nvSpPr>
          <p:cNvPr id="1066016" name="Line 33"/>
          <p:cNvSpPr>
            <a:spLocks noChangeShapeType="1"/>
          </p:cNvSpPr>
          <p:nvPr/>
        </p:nvSpPr>
        <p:spPr bwMode="auto">
          <a:xfrm>
            <a:off x="690563" y="4330700"/>
            <a:ext cx="8358187" cy="0"/>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17" name="Line 34"/>
          <p:cNvSpPr>
            <a:spLocks noChangeShapeType="1"/>
          </p:cNvSpPr>
          <p:nvPr/>
        </p:nvSpPr>
        <p:spPr bwMode="auto">
          <a:xfrm>
            <a:off x="725488" y="2581275"/>
            <a:ext cx="8323262" cy="0"/>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592931" name="Group 35"/>
          <p:cNvGrpSpPr>
            <a:grpSpLocks/>
          </p:cNvGrpSpPr>
          <p:nvPr/>
        </p:nvGrpSpPr>
        <p:grpSpPr bwMode="auto">
          <a:xfrm>
            <a:off x="3808413" y="5121275"/>
            <a:ext cx="4213225" cy="400050"/>
            <a:chOff x="2056" y="3680"/>
            <a:chExt cx="2450" cy="252"/>
          </a:xfrm>
        </p:grpSpPr>
        <p:sp>
          <p:nvSpPr>
            <p:cNvPr id="1066019" name="Line 36"/>
            <p:cNvSpPr>
              <a:spLocks noChangeShapeType="1"/>
            </p:cNvSpPr>
            <p:nvPr/>
          </p:nvSpPr>
          <p:spPr bwMode="auto">
            <a:xfrm>
              <a:off x="2056" y="3920"/>
              <a:ext cx="24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20" name="Text Box 37"/>
            <p:cNvSpPr txBox="1">
              <a:spLocks noChangeArrowheads="1"/>
            </p:cNvSpPr>
            <p:nvPr/>
          </p:nvSpPr>
          <p:spPr bwMode="auto">
            <a:xfrm>
              <a:off x="2629" y="3680"/>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链路状态确认</a:t>
              </a:r>
            </a:p>
          </p:txBody>
        </p:sp>
      </p:grpSp>
      <p:sp>
        <p:nvSpPr>
          <p:cNvPr id="592934" name="Text Box 38"/>
          <p:cNvSpPr txBox="1">
            <a:spLocks noChangeArrowheads="1"/>
          </p:cNvSpPr>
          <p:nvPr/>
        </p:nvSpPr>
        <p:spPr bwMode="auto">
          <a:xfrm>
            <a:off x="1076325" y="180498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确定可达性</a:t>
            </a:r>
          </a:p>
        </p:txBody>
      </p:sp>
      <p:grpSp>
        <p:nvGrpSpPr>
          <p:cNvPr id="592935" name="Group 39"/>
          <p:cNvGrpSpPr>
            <a:grpSpLocks/>
          </p:cNvGrpSpPr>
          <p:nvPr/>
        </p:nvGrpSpPr>
        <p:grpSpPr bwMode="auto">
          <a:xfrm>
            <a:off x="642938" y="2581275"/>
            <a:ext cx="2235200" cy="1738313"/>
            <a:chOff x="215" y="2080"/>
            <a:chExt cx="1300" cy="1095"/>
          </a:xfrm>
        </p:grpSpPr>
        <p:sp>
          <p:nvSpPr>
            <p:cNvPr id="1066023" name="Line 40"/>
            <p:cNvSpPr>
              <a:spLocks noChangeShapeType="1"/>
            </p:cNvSpPr>
            <p:nvPr/>
          </p:nvSpPr>
          <p:spPr bwMode="auto">
            <a:xfrm>
              <a:off x="921" y="2080"/>
              <a:ext cx="0" cy="109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24" name="Text Box 41"/>
            <p:cNvSpPr txBox="1">
              <a:spLocks noChangeArrowheads="1"/>
            </p:cNvSpPr>
            <p:nvPr/>
          </p:nvSpPr>
          <p:spPr bwMode="auto">
            <a:xfrm>
              <a:off x="215" y="2469"/>
              <a:ext cx="1300" cy="25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达到数据库的同步</a:t>
              </a:r>
            </a:p>
          </p:txBody>
        </p:sp>
      </p:grpSp>
      <p:sp>
        <p:nvSpPr>
          <p:cNvPr id="1066025" name="Line 42"/>
          <p:cNvSpPr>
            <a:spLocks noChangeShapeType="1"/>
          </p:cNvSpPr>
          <p:nvPr/>
        </p:nvSpPr>
        <p:spPr bwMode="auto">
          <a:xfrm>
            <a:off x="725488" y="5661025"/>
            <a:ext cx="8323262" cy="0"/>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26" name="Line 43"/>
          <p:cNvSpPr>
            <a:spLocks noChangeShapeType="1"/>
          </p:cNvSpPr>
          <p:nvPr/>
        </p:nvSpPr>
        <p:spPr bwMode="auto">
          <a:xfrm>
            <a:off x="725488" y="1554163"/>
            <a:ext cx="2466975" cy="0"/>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592940" name="Group 44"/>
          <p:cNvGrpSpPr>
            <a:grpSpLocks/>
          </p:cNvGrpSpPr>
          <p:nvPr/>
        </p:nvGrpSpPr>
        <p:grpSpPr bwMode="auto">
          <a:xfrm>
            <a:off x="839788" y="4319588"/>
            <a:ext cx="1979612" cy="1341437"/>
            <a:chOff x="330" y="3175"/>
            <a:chExt cx="1151" cy="845"/>
          </a:xfrm>
        </p:grpSpPr>
        <p:sp>
          <p:nvSpPr>
            <p:cNvPr id="1066028" name="Line 45"/>
            <p:cNvSpPr>
              <a:spLocks noChangeShapeType="1"/>
            </p:cNvSpPr>
            <p:nvPr/>
          </p:nvSpPr>
          <p:spPr bwMode="auto">
            <a:xfrm>
              <a:off x="921" y="3175"/>
              <a:ext cx="0" cy="845"/>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66029" name="Text Box 46"/>
            <p:cNvSpPr txBox="1">
              <a:spLocks noChangeArrowheads="1"/>
            </p:cNvSpPr>
            <p:nvPr/>
          </p:nvSpPr>
          <p:spPr bwMode="auto">
            <a:xfrm>
              <a:off x="330" y="3414"/>
              <a:ext cx="1151"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新情况下的同步</a:t>
              </a:r>
            </a:p>
          </p:txBody>
        </p:sp>
      </p:grpSp>
      <p:sp>
        <p:nvSpPr>
          <p:cNvPr id="106603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B9B436-C81B-486F-9C4C-1BD78872B79C}" type="slidenum">
              <a:rPr lang="zh-CN" altLang="en-US" smtClean="0"/>
              <a:pPr eaLnBrk="1" hangingPunct="1"/>
              <a:t>46</a:t>
            </a:fld>
            <a:endParaRPr lang="en-US" altLang="zh-CN" smtClean="0"/>
          </a:p>
        </p:txBody>
      </p:sp>
      <p:sp>
        <p:nvSpPr>
          <p:cNvPr id="106603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29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2900"/>
                                        </p:tgtEl>
                                        <p:attrNameLst>
                                          <p:attrName>style.visibility</p:attrName>
                                        </p:attrNameLst>
                                      </p:cBhvr>
                                      <p:to>
                                        <p:strVal val="visible"/>
                                      </p:to>
                                    </p:set>
                                  </p:childTnLst>
                                </p:cTn>
                              </p:par>
                            </p:childTnLst>
                          </p:cTn>
                        </p:par>
                        <p:par>
                          <p:cTn id="9" fill="hold" nodeType="afterGroup">
                            <p:stCondLst>
                              <p:cond delay="1"/>
                            </p:stCondLst>
                            <p:childTnLst>
                              <p:par>
                                <p:cTn id="10" presetID="22" presetClass="entr" presetSubtype="8" fill="hold" nodeType="afterEffect">
                                  <p:stCondLst>
                                    <p:cond delay="0"/>
                                  </p:stCondLst>
                                  <p:childTnLst>
                                    <p:set>
                                      <p:cBhvr>
                                        <p:cTn id="11" dur="1" fill="hold">
                                          <p:stCondLst>
                                            <p:cond delay="0"/>
                                          </p:stCondLst>
                                        </p:cTn>
                                        <p:tgtEl>
                                          <p:spTgt spid="592905"/>
                                        </p:tgtEl>
                                        <p:attrNameLst>
                                          <p:attrName>style.visibility</p:attrName>
                                        </p:attrNameLst>
                                      </p:cBhvr>
                                      <p:to>
                                        <p:strVal val="visible"/>
                                      </p:to>
                                    </p:set>
                                    <p:animEffect transition="in" filter="wipe(left)">
                                      <p:cBhvr>
                                        <p:cTn id="12" dur="2000"/>
                                        <p:tgtEl>
                                          <p:spTgt spid="592905"/>
                                        </p:tgtEl>
                                      </p:cBhvr>
                                    </p:animEffect>
                                  </p:childTnLst>
                                </p:cTn>
                              </p:par>
                            </p:childTnLst>
                          </p:cTn>
                        </p:par>
                        <p:par>
                          <p:cTn id="13" fill="hold" nodeType="afterGroup">
                            <p:stCondLst>
                              <p:cond delay="2001"/>
                            </p:stCondLst>
                            <p:childTnLst>
                              <p:par>
                                <p:cTn id="14" presetID="22" presetClass="entr" presetSubtype="2" fill="hold" nodeType="afterEffect">
                                  <p:stCondLst>
                                    <p:cond delay="500"/>
                                  </p:stCondLst>
                                  <p:childTnLst>
                                    <p:set>
                                      <p:cBhvr>
                                        <p:cTn id="15" dur="1" fill="hold">
                                          <p:stCondLst>
                                            <p:cond delay="0"/>
                                          </p:stCondLst>
                                        </p:cTn>
                                        <p:tgtEl>
                                          <p:spTgt spid="592908"/>
                                        </p:tgtEl>
                                        <p:attrNameLst>
                                          <p:attrName>style.visibility</p:attrName>
                                        </p:attrNameLst>
                                      </p:cBhvr>
                                      <p:to>
                                        <p:strVal val="visible"/>
                                      </p:to>
                                    </p:set>
                                    <p:animEffect transition="in" filter="wipe(right)">
                                      <p:cBhvr>
                                        <p:cTn id="16" dur="2000"/>
                                        <p:tgtEl>
                                          <p:spTgt spid="59290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92935"/>
                                        </p:tgtEl>
                                        <p:attrNameLst>
                                          <p:attrName>style.visibility</p:attrName>
                                        </p:attrNameLst>
                                      </p:cBhvr>
                                      <p:to>
                                        <p:strVal val="visible"/>
                                      </p:to>
                                    </p:set>
                                  </p:childTnLst>
                                </p:cTn>
                              </p:par>
                            </p:childTnLst>
                          </p:cTn>
                        </p:par>
                        <p:par>
                          <p:cTn id="21" fill="hold" nodeType="afterGroup">
                            <p:stCondLst>
                              <p:cond delay="1"/>
                            </p:stCondLst>
                            <p:childTnLst>
                              <p:par>
                                <p:cTn id="22" presetID="22" presetClass="entr" presetSubtype="8" fill="hold" nodeType="afterEffect">
                                  <p:stCondLst>
                                    <p:cond delay="500"/>
                                  </p:stCondLst>
                                  <p:childTnLst>
                                    <p:set>
                                      <p:cBhvr>
                                        <p:cTn id="23" dur="1" fill="hold">
                                          <p:stCondLst>
                                            <p:cond delay="0"/>
                                          </p:stCondLst>
                                        </p:cTn>
                                        <p:tgtEl>
                                          <p:spTgt spid="592911"/>
                                        </p:tgtEl>
                                        <p:attrNameLst>
                                          <p:attrName>style.visibility</p:attrName>
                                        </p:attrNameLst>
                                      </p:cBhvr>
                                      <p:to>
                                        <p:strVal val="visible"/>
                                      </p:to>
                                    </p:set>
                                    <p:animEffect transition="in" filter="wipe(left)">
                                      <p:cBhvr>
                                        <p:cTn id="24" dur="2000"/>
                                        <p:tgtEl>
                                          <p:spTgt spid="592911"/>
                                        </p:tgtEl>
                                      </p:cBhvr>
                                    </p:animEffect>
                                  </p:childTnLst>
                                </p:cTn>
                              </p:par>
                            </p:childTnLst>
                          </p:cTn>
                        </p:par>
                        <p:par>
                          <p:cTn id="25" fill="hold" nodeType="afterGroup">
                            <p:stCondLst>
                              <p:cond delay="2501"/>
                            </p:stCondLst>
                            <p:childTnLst>
                              <p:par>
                                <p:cTn id="26" presetID="22" presetClass="entr" presetSubtype="2" fill="hold" nodeType="afterEffect">
                                  <p:stCondLst>
                                    <p:cond delay="500"/>
                                  </p:stCondLst>
                                  <p:childTnLst>
                                    <p:set>
                                      <p:cBhvr>
                                        <p:cTn id="27" dur="1" fill="hold">
                                          <p:stCondLst>
                                            <p:cond delay="0"/>
                                          </p:stCondLst>
                                        </p:cTn>
                                        <p:tgtEl>
                                          <p:spTgt spid="592914"/>
                                        </p:tgtEl>
                                        <p:attrNameLst>
                                          <p:attrName>style.visibility</p:attrName>
                                        </p:attrNameLst>
                                      </p:cBhvr>
                                      <p:to>
                                        <p:strVal val="visible"/>
                                      </p:to>
                                    </p:set>
                                    <p:animEffect transition="in" filter="wipe(right)">
                                      <p:cBhvr>
                                        <p:cTn id="28" dur="2000"/>
                                        <p:tgtEl>
                                          <p:spTgt spid="592914"/>
                                        </p:tgtEl>
                                      </p:cBhvr>
                                    </p:animEffect>
                                  </p:childTnLst>
                                </p:cTn>
                              </p:par>
                            </p:childTnLst>
                          </p:cTn>
                        </p:par>
                        <p:par>
                          <p:cTn id="29" fill="hold" nodeType="afterGroup">
                            <p:stCondLst>
                              <p:cond delay="5001"/>
                            </p:stCondLst>
                            <p:childTnLst>
                              <p:par>
                                <p:cTn id="30" presetID="22" presetClass="entr" presetSubtype="8" fill="hold" nodeType="afterEffect">
                                  <p:stCondLst>
                                    <p:cond delay="500"/>
                                  </p:stCondLst>
                                  <p:childTnLst>
                                    <p:set>
                                      <p:cBhvr>
                                        <p:cTn id="31" dur="1" fill="hold">
                                          <p:stCondLst>
                                            <p:cond delay="0"/>
                                          </p:stCondLst>
                                        </p:cTn>
                                        <p:tgtEl>
                                          <p:spTgt spid="592917"/>
                                        </p:tgtEl>
                                        <p:attrNameLst>
                                          <p:attrName>style.visibility</p:attrName>
                                        </p:attrNameLst>
                                      </p:cBhvr>
                                      <p:to>
                                        <p:strVal val="visible"/>
                                      </p:to>
                                    </p:set>
                                    <p:animEffect transition="in" filter="wipe(left)">
                                      <p:cBhvr>
                                        <p:cTn id="32" dur="2000"/>
                                        <p:tgtEl>
                                          <p:spTgt spid="592917"/>
                                        </p:tgtEl>
                                      </p:cBhvr>
                                    </p:animEffect>
                                  </p:childTnLst>
                                </p:cTn>
                              </p:par>
                            </p:childTnLst>
                          </p:cTn>
                        </p:par>
                        <p:par>
                          <p:cTn id="33" fill="hold" nodeType="afterGroup">
                            <p:stCondLst>
                              <p:cond delay="7501"/>
                            </p:stCondLst>
                            <p:childTnLst>
                              <p:par>
                                <p:cTn id="34" presetID="22" presetClass="entr" presetSubtype="2" fill="hold" nodeType="afterEffect">
                                  <p:stCondLst>
                                    <p:cond delay="500"/>
                                  </p:stCondLst>
                                  <p:childTnLst>
                                    <p:set>
                                      <p:cBhvr>
                                        <p:cTn id="35" dur="1" fill="hold">
                                          <p:stCondLst>
                                            <p:cond delay="0"/>
                                          </p:stCondLst>
                                        </p:cTn>
                                        <p:tgtEl>
                                          <p:spTgt spid="592920"/>
                                        </p:tgtEl>
                                        <p:attrNameLst>
                                          <p:attrName>style.visibility</p:attrName>
                                        </p:attrNameLst>
                                      </p:cBhvr>
                                      <p:to>
                                        <p:strVal val="visible"/>
                                      </p:to>
                                    </p:set>
                                    <p:animEffect transition="in" filter="wipe(right)">
                                      <p:cBhvr>
                                        <p:cTn id="36" dur="2000"/>
                                        <p:tgtEl>
                                          <p:spTgt spid="59292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592940"/>
                                        </p:tgtEl>
                                        <p:attrNameLst>
                                          <p:attrName>style.visibility</p:attrName>
                                        </p:attrNameLst>
                                      </p:cBhvr>
                                      <p:to>
                                        <p:strVal val="visible"/>
                                      </p:to>
                                    </p:set>
                                  </p:childTnLst>
                                </p:cTn>
                              </p:par>
                            </p:childTnLst>
                          </p:cTn>
                        </p:par>
                        <p:par>
                          <p:cTn id="41" fill="hold" nodeType="afterGroup">
                            <p:stCondLst>
                              <p:cond delay="1"/>
                            </p:stCondLst>
                            <p:childTnLst>
                              <p:par>
                                <p:cTn id="42" presetID="22" presetClass="entr" presetSubtype="8" fill="hold" nodeType="afterEffect">
                                  <p:stCondLst>
                                    <p:cond delay="500"/>
                                  </p:stCondLst>
                                  <p:childTnLst>
                                    <p:set>
                                      <p:cBhvr>
                                        <p:cTn id="43" dur="1" fill="hold">
                                          <p:stCondLst>
                                            <p:cond delay="0"/>
                                          </p:stCondLst>
                                        </p:cTn>
                                        <p:tgtEl>
                                          <p:spTgt spid="592923"/>
                                        </p:tgtEl>
                                        <p:attrNameLst>
                                          <p:attrName>style.visibility</p:attrName>
                                        </p:attrNameLst>
                                      </p:cBhvr>
                                      <p:to>
                                        <p:strVal val="visible"/>
                                      </p:to>
                                    </p:set>
                                    <p:animEffect transition="in" filter="wipe(left)">
                                      <p:cBhvr>
                                        <p:cTn id="44" dur="2000"/>
                                        <p:tgtEl>
                                          <p:spTgt spid="592923"/>
                                        </p:tgtEl>
                                      </p:cBhvr>
                                    </p:animEffect>
                                  </p:childTnLst>
                                </p:cTn>
                              </p:par>
                            </p:childTnLst>
                          </p:cTn>
                        </p:par>
                        <p:par>
                          <p:cTn id="45" fill="hold" nodeType="afterGroup">
                            <p:stCondLst>
                              <p:cond delay="2501"/>
                            </p:stCondLst>
                            <p:childTnLst>
                              <p:par>
                                <p:cTn id="46" presetID="22" presetClass="entr" presetSubtype="2" fill="hold" nodeType="afterEffect">
                                  <p:stCondLst>
                                    <p:cond delay="500"/>
                                  </p:stCondLst>
                                  <p:childTnLst>
                                    <p:set>
                                      <p:cBhvr>
                                        <p:cTn id="47" dur="1" fill="hold">
                                          <p:stCondLst>
                                            <p:cond delay="0"/>
                                          </p:stCondLst>
                                        </p:cTn>
                                        <p:tgtEl>
                                          <p:spTgt spid="592926"/>
                                        </p:tgtEl>
                                        <p:attrNameLst>
                                          <p:attrName>style.visibility</p:attrName>
                                        </p:attrNameLst>
                                      </p:cBhvr>
                                      <p:to>
                                        <p:strVal val="visible"/>
                                      </p:to>
                                    </p:set>
                                    <p:animEffect transition="in" filter="wipe(right)">
                                      <p:cBhvr>
                                        <p:cTn id="48" dur="2000"/>
                                        <p:tgtEl>
                                          <p:spTgt spid="592926"/>
                                        </p:tgtEl>
                                      </p:cBhvr>
                                    </p:animEffect>
                                  </p:childTnLst>
                                </p:cTn>
                              </p:par>
                            </p:childTnLst>
                          </p:cTn>
                        </p:par>
                        <p:par>
                          <p:cTn id="49" fill="hold" nodeType="afterGroup">
                            <p:stCondLst>
                              <p:cond delay="5001"/>
                            </p:stCondLst>
                            <p:childTnLst>
                              <p:par>
                                <p:cTn id="50" presetID="22" presetClass="entr" presetSubtype="8" fill="hold" nodeType="afterEffect">
                                  <p:stCondLst>
                                    <p:cond delay="500"/>
                                  </p:stCondLst>
                                  <p:childTnLst>
                                    <p:set>
                                      <p:cBhvr>
                                        <p:cTn id="51" dur="1" fill="hold">
                                          <p:stCondLst>
                                            <p:cond delay="0"/>
                                          </p:stCondLst>
                                        </p:cTn>
                                        <p:tgtEl>
                                          <p:spTgt spid="592931"/>
                                        </p:tgtEl>
                                        <p:attrNameLst>
                                          <p:attrName>style.visibility</p:attrName>
                                        </p:attrNameLst>
                                      </p:cBhvr>
                                      <p:to>
                                        <p:strVal val="visible"/>
                                      </p:to>
                                    </p:set>
                                    <p:animEffect transition="in" filter="wipe(left)">
                                      <p:cBhvr>
                                        <p:cTn id="52" dur="2000"/>
                                        <p:tgtEl>
                                          <p:spTgt spid="592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900" grpId="0" animBg="1"/>
      <p:bldP spid="5929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3" name="Rectangle 2"/>
          <p:cNvSpPr>
            <a:spLocks noGrp="1" noChangeArrowheads="1"/>
          </p:cNvSpPr>
          <p:nvPr>
            <p:ph type="title" idx="4294967295"/>
          </p:nvPr>
        </p:nvSpPr>
        <p:spPr>
          <a:xfrm>
            <a:off x="885825" y="44450"/>
            <a:ext cx="8243888" cy="576263"/>
          </a:xfrm>
          <a:solidFill>
            <a:srgbClr val="66FF66"/>
          </a:solidFill>
        </p:spPr>
        <p:txBody>
          <a:bodyPr/>
          <a:lstStyle/>
          <a:p>
            <a:pPr algn="ctr"/>
            <a:r>
              <a:rPr lang="en-US" altLang="zh-CN" sz="3600" smtClean="0">
                <a:ea typeface="黑体" panose="02010609060101010101" pitchFamily="49" charset="-122"/>
              </a:rPr>
              <a:t>OSPF </a:t>
            </a:r>
            <a:r>
              <a:rPr lang="zh-CN" altLang="en-US" sz="3600" smtClean="0">
                <a:ea typeface="黑体" panose="02010609060101010101" pitchFamily="49" charset="-122"/>
              </a:rPr>
              <a:t>使用可靠的洪泛法发送更新分组 </a:t>
            </a:r>
          </a:p>
        </p:txBody>
      </p:sp>
      <p:sp>
        <p:nvSpPr>
          <p:cNvPr id="1068034" name="Rectangle 3"/>
          <p:cNvSpPr>
            <a:spLocks noChangeArrowheads="1"/>
          </p:cNvSpPr>
          <p:nvPr/>
        </p:nvSpPr>
        <p:spPr bwMode="auto">
          <a:xfrm>
            <a:off x="1363663" y="3806825"/>
            <a:ext cx="7256462" cy="15319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35" name="Rectangle 4"/>
          <p:cNvSpPr>
            <a:spLocks noChangeArrowheads="1"/>
          </p:cNvSpPr>
          <p:nvPr/>
        </p:nvSpPr>
        <p:spPr bwMode="auto">
          <a:xfrm>
            <a:off x="1363663" y="765175"/>
            <a:ext cx="7256462" cy="15319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36" name="Text Box 39"/>
          <p:cNvSpPr txBox="1">
            <a:spLocks noChangeArrowheads="1"/>
          </p:cNvSpPr>
          <p:nvPr/>
        </p:nvSpPr>
        <p:spPr bwMode="auto">
          <a:xfrm>
            <a:off x="4251325" y="1347788"/>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更新报文</a:t>
            </a:r>
          </a:p>
        </p:txBody>
      </p:sp>
      <p:sp>
        <p:nvSpPr>
          <p:cNvPr id="1068037" name="Line 5"/>
          <p:cNvSpPr>
            <a:spLocks noChangeShapeType="1"/>
          </p:cNvSpPr>
          <p:nvPr/>
        </p:nvSpPr>
        <p:spPr bwMode="auto">
          <a:xfrm>
            <a:off x="2297113" y="1033463"/>
            <a:ext cx="56007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38" name="Freeform 6"/>
          <p:cNvSpPr>
            <a:spLocks noChangeArrowheads="1"/>
          </p:cNvSpPr>
          <p:nvPr/>
        </p:nvSpPr>
        <p:spPr bwMode="auto">
          <a:xfrm>
            <a:off x="2297113" y="1033463"/>
            <a:ext cx="5600700" cy="987425"/>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39" name="Line 7"/>
          <p:cNvSpPr>
            <a:spLocks noChangeShapeType="1"/>
          </p:cNvSpPr>
          <p:nvPr/>
        </p:nvSpPr>
        <p:spPr bwMode="auto">
          <a:xfrm>
            <a:off x="4060825" y="1033463"/>
            <a:ext cx="0" cy="987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0" name="Line 8"/>
          <p:cNvSpPr>
            <a:spLocks noChangeShapeType="1"/>
          </p:cNvSpPr>
          <p:nvPr/>
        </p:nvSpPr>
        <p:spPr bwMode="auto">
          <a:xfrm>
            <a:off x="6134100" y="1033463"/>
            <a:ext cx="0" cy="987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93929" name="Line 9"/>
          <p:cNvSpPr>
            <a:spLocks noChangeShapeType="1"/>
          </p:cNvSpPr>
          <p:nvPr/>
        </p:nvSpPr>
        <p:spPr bwMode="auto">
          <a:xfrm>
            <a:off x="4406900" y="1916113"/>
            <a:ext cx="519113"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93930" name="Line 10"/>
          <p:cNvSpPr>
            <a:spLocks noChangeShapeType="1"/>
          </p:cNvSpPr>
          <p:nvPr/>
        </p:nvSpPr>
        <p:spPr bwMode="auto">
          <a:xfrm rot="-8873624">
            <a:off x="3271838" y="1558925"/>
            <a:ext cx="519112" cy="1588"/>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93931" name="Line 11"/>
          <p:cNvSpPr>
            <a:spLocks noChangeShapeType="1"/>
          </p:cNvSpPr>
          <p:nvPr/>
        </p:nvSpPr>
        <p:spPr bwMode="auto">
          <a:xfrm rot="-5400000">
            <a:off x="3979862" y="1493838"/>
            <a:ext cx="447675"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4" name="Line 12"/>
          <p:cNvSpPr>
            <a:spLocks noChangeShapeType="1"/>
          </p:cNvSpPr>
          <p:nvPr/>
        </p:nvSpPr>
        <p:spPr bwMode="auto">
          <a:xfrm>
            <a:off x="2297113" y="2570163"/>
            <a:ext cx="56007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5" name="Freeform 13"/>
          <p:cNvSpPr>
            <a:spLocks noChangeArrowheads="1"/>
          </p:cNvSpPr>
          <p:nvPr/>
        </p:nvSpPr>
        <p:spPr bwMode="auto">
          <a:xfrm>
            <a:off x="2297113" y="2570163"/>
            <a:ext cx="5600700" cy="985837"/>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6" name="Line 14"/>
          <p:cNvSpPr>
            <a:spLocks noChangeShapeType="1"/>
          </p:cNvSpPr>
          <p:nvPr/>
        </p:nvSpPr>
        <p:spPr bwMode="auto">
          <a:xfrm>
            <a:off x="4060825" y="2570163"/>
            <a:ext cx="0" cy="9858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47" name="Line 15"/>
          <p:cNvSpPr>
            <a:spLocks noChangeShapeType="1"/>
          </p:cNvSpPr>
          <p:nvPr/>
        </p:nvSpPr>
        <p:spPr bwMode="auto">
          <a:xfrm>
            <a:off x="6134100" y="2570163"/>
            <a:ext cx="0" cy="9858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93991" name="Group 71"/>
          <p:cNvGrpSpPr>
            <a:grpSpLocks/>
          </p:cNvGrpSpPr>
          <p:nvPr/>
        </p:nvGrpSpPr>
        <p:grpSpPr bwMode="auto">
          <a:xfrm>
            <a:off x="6273800" y="2782888"/>
            <a:ext cx="1158875" cy="449262"/>
            <a:chOff x="3648" y="1798"/>
            <a:chExt cx="674" cy="283"/>
          </a:xfrm>
        </p:grpSpPr>
        <p:sp>
          <p:nvSpPr>
            <p:cNvPr id="1068049" name="Line 17"/>
            <p:cNvSpPr>
              <a:spLocks noChangeShapeType="1"/>
            </p:cNvSpPr>
            <p:nvPr/>
          </p:nvSpPr>
          <p:spPr bwMode="auto">
            <a:xfrm rot="-2260875">
              <a:off x="4021" y="2023"/>
              <a:ext cx="301" cy="1"/>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0" name="Line 18"/>
            <p:cNvSpPr>
              <a:spLocks noChangeShapeType="1"/>
            </p:cNvSpPr>
            <p:nvPr/>
          </p:nvSpPr>
          <p:spPr bwMode="auto">
            <a:xfrm rot="-5400000">
              <a:off x="3505" y="1940"/>
              <a:ext cx="283"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1068051" name="Line 19"/>
          <p:cNvSpPr>
            <a:spLocks noChangeShapeType="1"/>
          </p:cNvSpPr>
          <p:nvPr/>
        </p:nvSpPr>
        <p:spPr bwMode="auto">
          <a:xfrm>
            <a:off x="2297113" y="4105275"/>
            <a:ext cx="5583237" cy="158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2" name="Freeform 20"/>
          <p:cNvSpPr>
            <a:spLocks noChangeArrowheads="1"/>
          </p:cNvSpPr>
          <p:nvPr/>
        </p:nvSpPr>
        <p:spPr bwMode="auto">
          <a:xfrm>
            <a:off x="2297113" y="4105275"/>
            <a:ext cx="5600700" cy="987425"/>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3" name="Line 21"/>
          <p:cNvSpPr>
            <a:spLocks noChangeShapeType="1"/>
          </p:cNvSpPr>
          <p:nvPr/>
        </p:nvSpPr>
        <p:spPr bwMode="auto">
          <a:xfrm>
            <a:off x="4060825" y="4105275"/>
            <a:ext cx="0" cy="987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4" name="Line 22"/>
          <p:cNvSpPr>
            <a:spLocks noChangeShapeType="1"/>
          </p:cNvSpPr>
          <p:nvPr/>
        </p:nvSpPr>
        <p:spPr bwMode="auto">
          <a:xfrm>
            <a:off x="6134100" y="4105275"/>
            <a:ext cx="0" cy="987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5" name="Line 24"/>
          <p:cNvSpPr>
            <a:spLocks noChangeShapeType="1"/>
          </p:cNvSpPr>
          <p:nvPr/>
        </p:nvSpPr>
        <p:spPr bwMode="auto">
          <a:xfrm>
            <a:off x="2297113" y="5641975"/>
            <a:ext cx="56007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6" name="Freeform 25"/>
          <p:cNvSpPr>
            <a:spLocks noChangeArrowheads="1"/>
          </p:cNvSpPr>
          <p:nvPr/>
        </p:nvSpPr>
        <p:spPr bwMode="auto">
          <a:xfrm>
            <a:off x="2284413" y="5641975"/>
            <a:ext cx="5600700" cy="985838"/>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7" name="Line 26"/>
          <p:cNvSpPr>
            <a:spLocks noChangeShapeType="1"/>
          </p:cNvSpPr>
          <p:nvPr/>
        </p:nvSpPr>
        <p:spPr bwMode="auto">
          <a:xfrm>
            <a:off x="4060825" y="5641975"/>
            <a:ext cx="0" cy="9858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58" name="Line 27"/>
          <p:cNvSpPr>
            <a:spLocks noChangeShapeType="1"/>
          </p:cNvSpPr>
          <p:nvPr/>
        </p:nvSpPr>
        <p:spPr bwMode="auto">
          <a:xfrm>
            <a:off x="6134100" y="5641975"/>
            <a:ext cx="0" cy="9858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93990" name="Group 70"/>
          <p:cNvGrpSpPr>
            <a:grpSpLocks/>
          </p:cNvGrpSpPr>
          <p:nvPr/>
        </p:nvGrpSpPr>
        <p:grpSpPr bwMode="auto">
          <a:xfrm>
            <a:off x="2901950" y="2454275"/>
            <a:ext cx="2368550" cy="239713"/>
            <a:chOff x="1687" y="1591"/>
            <a:chExt cx="1378" cy="151"/>
          </a:xfrm>
        </p:grpSpPr>
        <p:sp>
          <p:nvSpPr>
            <p:cNvPr id="1068060" name="Line 16"/>
            <p:cNvSpPr>
              <a:spLocks noChangeShapeType="1"/>
            </p:cNvSpPr>
            <p:nvPr/>
          </p:nvSpPr>
          <p:spPr bwMode="auto">
            <a:xfrm flipH="1">
              <a:off x="1687" y="1591"/>
              <a:ext cx="30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61" name="Line 28"/>
            <p:cNvSpPr>
              <a:spLocks noChangeShapeType="1"/>
            </p:cNvSpPr>
            <p:nvPr/>
          </p:nvSpPr>
          <p:spPr bwMode="auto">
            <a:xfrm>
              <a:off x="2763" y="1742"/>
              <a:ext cx="30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593949" name="Line 29"/>
          <p:cNvSpPr>
            <a:spLocks noChangeShapeType="1"/>
          </p:cNvSpPr>
          <p:nvPr/>
        </p:nvSpPr>
        <p:spPr bwMode="auto">
          <a:xfrm>
            <a:off x="2954338" y="2693988"/>
            <a:ext cx="517525"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93992" name="Group 72"/>
          <p:cNvGrpSpPr>
            <a:grpSpLocks/>
          </p:cNvGrpSpPr>
          <p:nvPr/>
        </p:nvGrpSpPr>
        <p:grpSpPr bwMode="auto">
          <a:xfrm>
            <a:off x="4786313" y="3994150"/>
            <a:ext cx="2333625" cy="0"/>
            <a:chOff x="2783" y="2561"/>
            <a:chExt cx="1357" cy="0"/>
          </a:xfrm>
        </p:grpSpPr>
        <p:sp>
          <p:nvSpPr>
            <p:cNvPr id="1068064" name="Line 23"/>
            <p:cNvSpPr>
              <a:spLocks noChangeShapeType="1"/>
            </p:cNvSpPr>
            <p:nvPr/>
          </p:nvSpPr>
          <p:spPr bwMode="auto">
            <a:xfrm flipH="1">
              <a:off x="2783" y="2561"/>
              <a:ext cx="30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65" name="Line 30"/>
            <p:cNvSpPr>
              <a:spLocks noChangeShapeType="1"/>
            </p:cNvSpPr>
            <p:nvPr/>
          </p:nvSpPr>
          <p:spPr bwMode="auto">
            <a:xfrm>
              <a:off x="3838" y="2561"/>
              <a:ext cx="30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593951" name="Line 31"/>
          <p:cNvSpPr>
            <a:spLocks noChangeShapeType="1"/>
          </p:cNvSpPr>
          <p:nvPr/>
        </p:nvSpPr>
        <p:spPr bwMode="auto">
          <a:xfrm flipH="1">
            <a:off x="6653213" y="4232275"/>
            <a:ext cx="519112" cy="0"/>
          </a:xfrm>
          <a:prstGeom prst="line">
            <a:avLst/>
          </a:prstGeom>
          <a:noFill/>
          <a:ln w="571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93993" name="Group 73"/>
          <p:cNvGrpSpPr>
            <a:grpSpLocks/>
          </p:cNvGrpSpPr>
          <p:nvPr/>
        </p:nvGrpSpPr>
        <p:grpSpPr bwMode="auto">
          <a:xfrm>
            <a:off x="3100388" y="5832475"/>
            <a:ext cx="4079875" cy="714375"/>
            <a:chOff x="1803" y="3719"/>
            <a:chExt cx="2372" cy="450"/>
          </a:xfrm>
        </p:grpSpPr>
        <p:sp>
          <p:nvSpPr>
            <p:cNvPr id="1068068" name="AutoShape 32"/>
            <p:cNvSpPr>
              <a:spLocks noChangeArrowheads="1"/>
            </p:cNvSpPr>
            <p:nvPr/>
          </p:nvSpPr>
          <p:spPr bwMode="auto">
            <a:xfrm>
              <a:off x="2399" y="3726"/>
              <a:ext cx="120" cy="292"/>
            </a:xfrm>
            <a:prstGeom prst="downArrow">
              <a:avLst>
                <a:gd name="adj1" fmla="val 50000"/>
                <a:gd name="adj2" fmla="val 80458"/>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68069" name="AutoShape 33"/>
            <p:cNvSpPr>
              <a:spLocks noChangeArrowheads="1"/>
            </p:cNvSpPr>
            <p:nvPr/>
          </p:nvSpPr>
          <p:spPr bwMode="auto">
            <a:xfrm>
              <a:off x="3627" y="3719"/>
              <a:ext cx="121" cy="292"/>
            </a:xfrm>
            <a:prstGeom prst="downArrow">
              <a:avLst>
                <a:gd name="adj1" fmla="val 50000"/>
                <a:gd name="adj2" fmla="val 79793"/>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68070" name="AutoShape 34"/>
            <p:cNvSpPr>
              <a:spLocks noChangeArrowheads="1"/>
            </p:cNvSpPr>
            <p:nvPr/>
          </p:nvSpPr>
          <p:spPr bwMode="auto">
            <a:xfrm rot="5400000">
              <a:off x="2861" y="3957"/>
              <a:ext cx="113" cy="312"/>
            </a:xfrm>
            <a:prstGeom prst="downArrow">
              <a:avLst>
                <a:gd name="adj1" fmla="val 50000"/>
                <a:gd name="adj2" fmla="val 91281"/>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68071" name="AutoShape 35"/>
            <p:cNvSpPr>
              <a:spLocks noChangeArrowheads="1"/>
            </p:cNvSpPr>
            <p:nvPr/>
          </p:nvSpPr>
          <p:spPr bwMode="auto">
            <a:xfrm rot="3308442">
              <a:off x="3962" y="3673"/>
              <a:ext cx="113" cy="311"/>
            </a:xfrm>
            <a:prstGeom prst="downArrow">
              <a:avLst>
                <a:gd name="adj1" fmla="val 50000"/>
                <a:gd name="adj2" fmla="val 90989"/>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68072" name="AutoShape 36"/>
            <p:cNvSpPr>
              <a:spLocks noChangeArrowheads="1"/>
            </p:cNvSpPr>
            <p:nvPr/>
          </p:nvSpPr>
          <p:spPr bwMode="auto">
            <a:xfrm rot="-3458995">
              <a:off x="1901" y="3702"/>
              <a:ext cx="113" cy="312"/>
            </a:xfrm>
            <a:prstGeom prst="downArrow">
              <a:avLst>
                <a:gd name="adj1" fmla="val 50000"/>
                <a:gd name="adj2" fmla="val 91281"/>
              </a:avLst>
            </a:prstGeom>
            <a:solidFill>
              <a:schemeClr val="accent1"/>
            </a:solidFill>
            <a:ln w="9525">
              <a:solidFill>
                <a:srgbClr val="333399"/>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grpSp>
      <p:sp>
        <p:nvSpPr>
          <p:cNvPr id="1068073" name="Line 37"/>
          <p:cNvSpPr>
            <a:spLocks noChangeShapeType="1"/>
          </p:cNvSpPr>
          <p:nvPr/>
        </p:nvSpPr>
        <p:spPr bwMode="auto">
          <a:xfrm>
            <a:off x="1243013" y="944563"/>
            <a:ext cx="0" cy="5481637"/>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68074" name="Text Box 38"/>
          <p:cNvSpPr txBox="1">
            <a:spLocks noChangeArrowheads="1"/>
          </p:cNvSpPr>
          <p:nvPr/>
        </p:nvSpPr>
        <p:spPr bwMode="auto">
          <a:xfrm>
            <a:off x="1082675" y="6342063"/>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t</a:t>
            </a:r>
          </a:p>
        </p:txBody>
      </p:sp>
      <p:sp>
        <p:nvSpPr>
          <p:cNvPr id="1068075" name="Text Box 40"/>
          <p:cNvSpPr txBox="1">
            <a:spLocks noChangeArrowheads="1"/>
          </p:cNvSpPr>
          <p:nvPr/>
        </p:nvSpPr>
        <p:spPr bwMode="auto">
          <a:xfrm>
            <a:off x="4357688" y="5868988"/>
            <a:ext cx="1258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ACK</a:t>
            </a:r>
            <a:r>
              <a:rPr lang="zh-CN" altLang="en-US" sz="2000" b="1">
                <a:solidFill>
                  <a:srgbClr val="0000CC"/>
                </a:solidFill>
                <a:ea typeface="黑体" panose="02010609060101010101" pitchFamily="49" charset="-122"/>
              </a:rPr>
              <a:t>报文</a:t>
            </a:r>
          </a:p>
        </p:txBody>
      </p:sp>
      <p:pic>
        <p:nvPicPr>
          <p:cNvPr id="1068076"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6415088"/>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77"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3903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78"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9150" y="3903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79"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336550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336550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1"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163" y="2379663"/>
            <a:ext cx="5826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2"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2379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3"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2379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4" name="Picture 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8838" y="2379663"/>
            <a:ext cx="5826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5"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184150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184150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7"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6663" y="854075"/>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8"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854075"/>
            <a:ext cx="58261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89"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854075"/>
            <a:ext cx="58261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0" name="Picture 5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28838" y="854075"/>
            <a:ext cx="58261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1"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6663" y="5429250"/>
            <a:ext cx="5842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2"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542925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3"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5429250"/>
            <a:ext cx="58261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4" name="Picture 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24063" y="5429250"/>
            <a:ext cx="5842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5" name="Picture 6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4891088"/>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6"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4891088"/>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7"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6663" y="3903663"/>
            <a:ext cx="5842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8"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950" y="3903663"/>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8099" name="Picture 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9675" y="6415088"/>
            <a:ext cx="5826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8100" name="Text Box 65"/>
          <p:cNvSpPr txBox="1">
            <a:spLocks noChangeArrowheads="1"/>
          </p:cNvSpPr>
          <p:nvPr/>
        </p:nvSpPr>
        <p:spPr bwMode="auto">
          <a:xfrm>
            <a:off x="3354388" y="1747838"/>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p>
        </p:txBody>
      </p:sp>
      <p:sp>
        <p:nvSpPr>
          <p:cNvPr id="1068101" name="Text Box 66"/>
          <p:cNvSpPr txBox="1">
            <a:spLocks noChangeArrowheads="1"/>
          </p:cNvSpPr>
          <p:nvPr/>
        </p:nvSpPr>
        <p:spPr bwMode="auto">
          <a:xfrm>
            <a:off x="3354388" y="6335713"/>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p>
        </p:txBody>
      </p:sp>
      <p:sp>
        <p:nvSpPr>
          <p:cNvPr id="1068102" name="Text Box 67"/>
          <p:cNvSpPr txBox="1">
            <a:spLocks noChangeArrowheads="1"/>
          </p:cNvSpPr>
          <p:nvPr/>
        </p:nvSpPr>
        <p:spPr bwMode="auto">
          <a:xfrm>
            <a:off x="3335338" y="4776788"/>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p>
        </p:txBody>
      </p:sp>
      <p:sp>
        <p:nvSpPr>
          <p:cNvPr id="1068103" name="Text Box 68"/>
          <p:cNvSpPr txBox="1">
            <a:spLocks noChangeArrowheads="1"/>
          </p:cNvSpPr>
          <p:nvPr/>
        </p:nvSpPr>
        <p:spPr bwMode="auto">
          <a:xfrm>
            <a:off x="3354388" y="3268663"/>
            <a:ext cx="369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R</a:t>
            </a:r>
          </a:p>
        </p:txBody>
      </p:sp>
      <p:sp>
        <p:nvSpPr>
          <p:cNvPr id="1068104" name="Text Box 69"/>
          <p:cNvSpPr txBox="1">
            <a:spLocks noChangeArrowheads="1"/>
          </p:cNvSpPr>
          <p:nvPr/>
        </p:nvSpPr>
        <p:spPr bwMode="auto">
          <a:xfrm>
            <a:off x="1571625" y="1201738"/>
            <a:ext cx="365125"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105000"/>
              </a:lnSpc>
            </a:pPr>
            <a:r>
              <a:rPr lang="en-US" altLang="zh-CN" sz="2000" b="1">
                <a:solidFill>
                  <a:srgbClr val="0000CC"/>
                </a:solidFill>
                <a:ea typeface="黑体" panose="02010609060101010101" pitchFamily="49" charset="-122"/>
              </a:rPr>
              <a:t>t</a:t>
            </a:r>
            <a:r>
              <a:rPr lang="en-US" altLang="zh-CN" sz="2000" b="1" baseline="-25000">
                <a:solidFill>
                  <a:srgbClr val="0000CC"/>
                </a:solidFill>
                <a:ea typeface="黑体" panose="02010609060101010101" pitchFamily="49" charset="-122"/>
              </a:rPr>
              <a:t>1</a:t>
            </a: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r>
              <a:rPr lang="en-US" altLang="zh-CN" sz="2000" b="1">
                <a:solidFill>
                  <a:srgbClr val="0000CC"/>
                </a:solidFill>
                <a:ea typeface="黑体" panose="02010609060101010101" pitchFamily="49" charset="-122"/>
              </a:rPr>
              <a:t>t</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r>
              <a:rPr lang="en-US" altLang="zh-CN" sz="2000" b="1">
                <a:solidFill>
                  <a:srgbClr val="0000CC"/>
                </a:solidFill>
                <a:ea typeface="黑体" panose="02010609060101010101" pitchFamily="49" charset="-122"/>
              </a:rPr>
              <a:t>t</a:t>
            </a:r>
            <a:r>
              <a:rPr lang="en-US" altLang="zh-CN" sz="2000" b="1" baseline="-25000">
                <a:solidFill>
                  <a:srgbClr val="0000CC"/>
                </a:solidFill>
                <a:ea typeface="黑体" panose="02010609060101010101" pitchFamily="49" charset="-122"/>
              </a:rPr>
              <a:t>3</a:t>
            </a: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endParaRPr lang="en-US" altLang="zh-CN" sz="2000" b="1">
              <a:solidFill>
                <a:srgbClr val="0000CC"/>
              </a:solidFill>
              <a:ea typeface="黑体" panose="02010609060101010101" pitchFamily="49" charset="-122"/>
            </a:endParaRPr>
          </a:p>
          <a:p>
            <a:pPr eaLnBrk="0" hangingPunct="0">
              <a:lnSpc>
                <a:spcPct val="105000"/>
              </a:lnSpc>
            </a:pPr>
            <a:r>
              <a:rPr lang="en-US" altLang="zh-CN" sz="2000" b="1">
                <a:solidFill>
                  <a:srgbClr val="0000CC"/>
                </a:solidFill>
                <a:ea typeface="黑体" panose="02010609060101010101" pitchFamily="49" charset="-122"/>
              </a:rPr>
              <a:t>t</a:t>
            </a:r>
            <a:r>
              <a:rPr lang="en-US" altLang="zh-CN" sz="2000" b="1" baseline="-25000">
                <a:solidFill>
                  <a:srgbClr val="0000CC"/>
                </a:solidFill>
                <a:ea typeface="黑体" panose="02010609060101010101" pitchFamily="49" charset="-122"/>
              </a:rPr>
              <a:t>4</a:t>
            </a:r>
            <a:endParaRPr lang="en-US" altLang="zh-CN" sz="2000" b="1">
              <a:solidFill>
                <a:srgbClr val="0000CC"/>
              </a:solidFill>
              <a:ea typeface="黑体" panose="02010609060101010101" pitchFamily="49" charset="-122"/>
            </a:endParaRPr>
          </a:p>
        </p:txBody>
      </p:sp>
      <p:sp>
        <p:nvSpPr>
          <p:cNvPr id="106810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0996B74-0034-4C12-A0A1-2DE868F5E05D}" type="slidenum">
              <a:rPr lang="zh-CN" altLang="en-US" smtClean="0"/>
              <a:pPr/>
              <a:t>47</a:t>
            </a:fld>
            <a:endParaRPr lang="en-US" altLang="zh-CN" smtClean="0"/>
          </a:p>
        </p:txBody>
      </p:sp>
      <p:sp>
        <p:nvSpPr>
          <p:cNvPr id="106810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593930"/>
                                        </p:tgtEl>
                                        <p:attrNameLst>
                                          <p:attrName>style.visibility</p:attrName>
                                        </p:attrNameLst>
                                      </p:cBhvr>
                                      <p:to>
                                        <p:strVal val="visible"/>
                                      </p:to>
                                    </p:set>
                                  </p:childTnLst>
                                </p:cTn>
                              </p:par>
                            </p:childTnLst>
                          </p:cTn>
                        </p:par>
                        <p:par>
                          <p:cTn id="7" fill="hold" nodeType="afterGroup">
                            <p:stCondLst>
                              <p:cond delay="1001"/>
                            </p:stCondLst>
                            <p:childTnLst>
                              <p:par>
                                <p:cTn id="8" presetID="1" presetClass="entr" presetSubtype="0" fill="hold" grpId="0" nodeType="afterEffect">
                                  <p:stCondLst>
                                    <p:cond delay="1000"/>
                                  </p:stCondLst>
                                  <p:childTnLst>
                                    <p:set>
                                      <p:cBhvr>
                                        <p:cTn id="9" dur="1" fill="hold">
                                          <p:stCondLst>
                                            <p:cond delay="0"/>
                                          </p:stCondLst>
                                        </p:cTn>
                                        <p:tgtEl>
                                          <p:spTgt spid="593949"/>
                                        </p:tgtEl>
                                        <p:attrNameLst>
                                          <p:attrName>style.visibility</p:attrName>
                                        </p:attrNameLst>
                                      </p:cBhvr>
                                      <p:to>
                                        <p:strVal val="visible"/>
                                      </p:to>
                                    </p:set>
                                  </p:childTnLst>
                                </p:cTn>
                              </p:par>
                            </p:childTnLst>
                          </p:cTn>
                        </p:par>
                        <p:par>
                          <p:cTn id="10" fill="hold" nodeType="afterGroup">
                            <p:stCondLst>
                              <p:cond delay="2002"/>
                            </p:stCondLst>
                            <p:childTnLst>
                              <p:par>
                                <p:cTn id="11" presetID="1" presetClass="entr" presetSubtype="0" fill="hold" grpId="0" nodeType="afterEffect">
                                  <p:stCondLst>
                                    <p:cond delay="1000"/>
                                  </p:stCondLst>
                                  <p:childTnLst>
                                    <p:set>
                                      <p:cBhvr>
                                        <p:cTn id="12" dur="1" fill="hold">
                                          <p:stCondLst>
                                            <p:cond delay="0"/>
                                          </p:stCondLst>
                                        </p:cTn>
                                        <p:tgtEl>
                                          <p:spTgt spid="593931"/>
                                        </p:tgtEl>
                                        <p:attrNameLst>
                                          <p:attrName>style.visibility</p:attrName>
                                        </p:attrNameLst>
                                      </p:cBhvr>
                                      <p:to>
                                        <p:strVal val="visible"/>
                                      </p:to>
                                    </p:set>
                                  </p:childTnLst>
                                </p:cTn>
                              </p:par>
                            </p:childTnLst>
                          </p:cTn>
                        </p:par>
                        <p:par>
                          <p:cTn id="13" fill="hold" nodeType="afterGroup">
                            <p:stCondLst>
                              <p:cond delay="3003"/>
                            </p:stCondLst>
                            <p:childTnLst>
                              <p:par>
                                <p:cTn id="14" presetID="1" presetClass="entr" presetSubtype="0" fill="hold" nodeType="afterEffect">
                                  <p:stCondLst>
                                    <p:cond delay="1000"/>
                                  </p:stCondLst>
                                  <p:childTnLst>
                                    <p:set>
                                      <p:cBhvr>
                                        <p:cTn id="15" dur="1" fill="hold">
                                          <p:stCondLst>
                                            <p:cond delay="0"/>
                                          </p:stCondLst>
                                        </p:cTn>
                                        <p:tgtEl>
                                          <p:spTgt spid="593990"/>
                                        </p:tgtEl>
                                        <p:attrNameLst>
                                          <p:attrName>style.visibility</p:attrName>
                                        </p:attrNameLst>
                                      </p:cBhvr>
                                      <p:to>
                                        <p:strVal val="visible"/>
                                      </p:to>
                                    </p:set>
                                  </p:childTnLst>
                                </p:cTn>
                              </p:par>
                            </p:childTnLst>
                          </p:cTn>
                        </p:par>
                        <p:par>
                          <p:cTn id="16" fill="hold" nodeType="afterGroup">
                            <p:stCondLst>
                              <p:cond delay="4004"/>
                            </p:stCondLst>
                            <p:childTnLst>
                              <p:par>
                                <p:cTn id="17" presetID="1" presetClass="entr" presetSubtype="0" fill="hold" nodeType="afterEffect">
                                  <p:stCondLst>
                                    <p:cond delay="1000"/>
                                  </p:stCondLst>
                                  <p:childTnLst>
                                    <p:set>
                                      <p:cBhvr>
                                        <p:cTn id="18" dur="1" fill="hold">
                                          <p:stCondLst>
                                            <p:cond delay="0"/>
                                          </p:stCondLst>
                                        </p:cTn>
                                        <p:tgtEl>
                                          <p:spTgt spid="593992"/>
                                        </p:tgtEl>
                                        <p:attrNameLst>
                                          <p:attrName>style.visibility</p:attrName>
                                        </p:attrNameLst>
                                      </p:cBhvr>
                                      <p:to>
                                        <p:strVal val="visible"/>
                                      </p:to>
                                    </p:set>
                                  </p:childTnLst>
                                </p:cTn>
                              </p:par>
                            </p:childTnLst>
                          </p:cTn>
                        </p:par>
                        <p:par>
                          <p:cTn id="19" fill="hold" nodeType="afterGroup">
                            <p:stCondLst>
                              <p:cond delay="5005"/>
                            </p:stCondLst>
                            <p:childTnLst>
                              <p:par>
                                <p:cTn id="20" presetID="1" presetClass="entr" presetSubtype="0" fill="hold" grpId="0" nodeType="afterEffect">
                                  <p:stCondLst>
                                    <p:cond delay="1000"/>
                                  </p:stCondLst>
                                  <p:childTnLst>
                                    <p:set>
                                      <p:cBhvr>
                                        <p:cTn id="21" dur="1" fill="hold">
                                          <p:stCondLst>
                                            <p:cond delay="0"/>
                                          </p:stCondLst>
                                        </p:cTn>
                                        <p:tgtEl>
                                          <p:spTgt spid="593929"/>
                                        </p:tgtEl>
                                        <p:attrNameLst>
                                          <p:attrName>style.visibility</p:attrName>
                                        </p:attrNameLst>
                                      </p:cBhvr>
                                      <p:to>
                                        <p:strVal val="visible"/>
                                      </p:to>
                                    </p:set>
                                  </p:childTnLst>
                                </p:cTn>
                              </p:par>
                            </p:childTnLst>
                          </p:cTn>
                        </p:par>
                        <p:par>
                          <p:cTn id="22" fill="hold" nodeType="afterGroup">
                            <p:stCondLst>
                              <p:cond delay="6006"/>
                            </p:stCondLst>
                            <p:childTnLst>
                              <p:par>
                                <p:cTn id="23" presetID="1" presetClass="entr" presetSubtype="0" fill="hold" nodeType="afterEffect">
                                  <p:stCondLst>
                                    <p:cond delay="1000"/>
                                  </p:stCondLst>
                                  <p:childTnLst>
                                    <p:set>
                                      <p:cBhvr>
                                        <p:cTn id="24" dur="1" fill="hold">
                                          <p:stCondLst>
                                            <p:cond delay="0"/>
                                          </p:stCondLst>
                                        </p:cTn>
                                        <p:tgtEl>
                                          <p:spTgt spid="593991"/>
                                        </p:tgtEl>
                                        <p:attrNameLst>
                                          <p:attrName>style.visibility</p:attrName>
                                        </p:attrNameLst>
                                      </p:cBhvr>
                                      <p:to>
                                        <p:strVal val="visible"/>
                                      </p:to>
                                    </p:set>
                                  </p:childTnLst>
                                </p:cTn>
                              </p:par>
                            </p:childTnLst>
                          </p:cTn>
                        </p:par>
                        <p:par>
                          <p:cTn id="25" fill="hold" nodeType="afterGroup">
                            <p:stCondLst>
                              <p:cond delay="7007"/>
                            </p:stCondLst>
                            <p:childTnLst>
                              <p:par>
                                <p:cTn id="26" presetID="1" presetClass="entr" presetSubtype="0" fill="hold" grpId="0" nodeType="afterEffect">
                                  <p:stCondLst>
                                    <p:cond delay="1000"/>
                                  </p:stCondLst>
                                  <p:childTnLst>
                                    <p:set>
                                      <p:cBhvr>
                                        <p:cTn id="27" dur="1" fill="hold">
                                          <p:stCondLst>
                                            <p:cond delay="0"/>
                                          </p:stCondLst>
                                        </p:cTn>
                                        <p:tgtEl>
                                          <p:spTgt spid="593951"/>
                                        </p:tgtEl>
                                        <p:attrNameLst>
                                          <p:attrName>style.visibility</p:attrName>
                                        </p:attrNameLst>
                                      </p:cBhvr>
                                      <p:to>
                                        <p:strVal val="visible"/>
                                      </p:to>
                                    </p:set>
                                  </p:childTnLst>
                                </p:cTn>
                              </p:par>
                            </p:childTnLst>
                          </p:cTn>
                        </p:par>
                        <p:par>
                          <p:cTn id="28" fill="hold" nodeType="afterGroup">
                            <p:stCondLst>
                              <p:cond delay="8008"/>
                            </p:stCondLst>
                            <p:childTnLst>
                              <p:par>
                                <p:cTn id="29" presetID="1" presetClass="entr" presetSubtype="0" fill="hold" nodeType="afterEffect">
                                  <p:stCondLst>
                                    <p:cond delay="1000"/>
                                  </p:stCondLst>
                                  <p:childTnLst>
                                    <p:set>
                                      <p:cBhvr>
                                        <p:cTn id="30" dur="1" fill="hold">
                                          <p:stCondLst>
                                            <p:cond delay="0"/>
                                          </p:stCondLst>
                                        </p:cTn>
                                        <p:tgtEl>
                                          <p:spTgt spid="593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9" grpId="0" animBg="1"/>
      <p:bldP spid="593930" grpId="0" animBg="1"/>
      <p:bldP spid="593931" grpId="0" animBg="1"/>
      <p:bldP spid="593949" grpId="0" animBg="1"/>
      <p:bldP spid="59395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84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的其他特点 </a:t>
            </a:r>
          </a:p>
        </p:txBody>
      </p:sp>
      <p:sp>
        <p:nvSpPr>
          <p:cNvPr id="589827" name="Rectangle 3"/>
          <p:cNvSpPr>
            <a:spLocks noGrp="1" noChangeArrowheads="1"/>
          </p:cNvSpPr>
          <p:nvPr>
            <p:ph idx="1"/>
          </p:nvPr>
        </p:nvSpPr>
        <p:spPr>
          <a:xfrm>
            <a:off x="495300" y="1196975"/>
            <a:ext cx="9066213" cy="4933950"/>
          </a:xfrm>
        </p:spPr>
        <p:txBody>
          <a:bodyPr/>
          <a:lstStyle/>
          <a:p>
            <a:r>
              <a:rPr lang="en-US" altLang="zh-CN" sz="2600" dirty="0" smtClean="0">
                <a:ea typeface="黑体" panose="02010609060101010101" pitchFamily="49" charset="-122"/>
              </a:rPr>
              <a:t>OSPF </a:t>
            </a:r>
            <a:r>
              <a:rPr lang="zh-CN" altLang="en-US" sz="2600" dirty="0" smtClean="0">
                <a:ea typeface="黑体" panose="02010609060101010101" pitchFamily="49" charset="-122"/>
              </a:rPr>
              <a:t>对不同的链路可根据 </a:t>
            </a:r>
            <a:r>
              <a:rPr lang="en-US" altLang="zh-CN" sz="2600" dirty="0" smtClean="0">
                <a:ea typeface="黑体" panose="02010609060101010101" pitchFamily="49" charset="-122"/>
              </a:rPr>
              <a:t>IP </a:t>
            </a:r>
            <a:r>
              <a:rPr lang="zh-CN" altLang="en-US" sz="2600" dirty="0" smtClean="0">
                <a:ea typeface="黑体" panose="02010609060101010101" pitchFamily="49" charset="-122"/>
              </a:rPr>
              <a:t>分组的不同服务类型 </a:t>
            </a:r>
            <a:r>
              <a:rPr lang="en-US" altLang="zh-CN" sz="2600" dirty="0" smtClean="0">
                <a:ea typeface="黑体" panose="02010609060101010101" pitchFamily="49" charset="-122"/>
              </a:rPr>
              <a:t>TOS </a:t>
            </a:r>
            <a:r>
              <a:rPr lang="zh-CN" altLang="en-US" sz="2600" dirty="0" smtClean="0">
                <a:ea typeface="黑体" panose="02010609060101010101" pitchFamily="49" charset="-122"/>
              </a:rPr>
              <a:t>而设置成不同的代价。因此，</a:t>
            </a:r>
            <a:r>
              <a:rPr lang="en-US" altLang="zh-CN" sz="2600" dirty="0" smtClean="0">
                <a:solidFill>
                  <a:srgbClr val="FF0000"/>
                </a:solidFill>
                <a:ea typeface="黑体" panose="02010609060101010101" pitchFamily="49" charset="-122"/>
              </a:rPr>
              <a:t>OSPF </a:t>
            </a:r>
            <a:r>
              <a:rPr lang="zh-CN" altLang="en-US" sz="2600" dirty="0" smtClean="0">
                <a:solidFill>
                  <a:srgbClr val="FF0000"/>
                </a:solidFill>
                <a:ea typeface="黑体" panose="02010609060101010101" pitchFamily="49" charset="-122"/>
              </a:rPr>
              <a:t>对于不同类型的业务可计算出不同的路由。</a:t>
            </a:r>
          </a:p>
          <a:p>
            <a:r>
              <a:rPr lang="zh-CN" altLang="en-US" sz="2600" dirty="0" smtClean="0">
                <a:ea typeface="黑体" panose="02010609060101010101" pitchFamily="49" charset="-122"/>
              </a:rPr>
              <a:t>如果到同一个目的网络有多条相同代价的路径，那么可以将通信量分配给这几条路径。这叫作</a:t>
            </a:r>
            <a:r>
              <a:rPr lang="zh-CN" altLang="en-US" sz="2600" dirty="0" smtClean="0">
                <a:solidFill>
                  <a:srgbClr val="FF0000"/>
                </a:solidFill>
                <a:ea typeface="黑体" panose="02010609060101010101" pitchFamily="49" charset="-122"/>
              </a:rPr>
              <a:t>多路径间的负载平衡。</a:t>
            </a:r>
          </a:p>
          <a:p>
            <a:r>
              <a:rPr lang="zh-CN" altLang="en-US" sz="2600" dirty="0" smtClean="0">
                <a:ea typeface="黑体" panose="02010609060101010101" pitchFamily="49" charset="-122"/>
              </a:rPr>
              <a:t>所有在 </a:t>
            </a:r>
            <a:r>
              <a:rPr lang="en-US" altLang="zh-CN" sz="2600" dirty="0" smtClean="0">
                <a:ea typeface="黑体" panose="02010609060101010101" pitchFamily="49" charset="-122"/>
              </a:rPr>
              <a:t>OSPF </a:t>
            </a:r>
            <a:r>
              <a:rPr lang="zh-CN" altLang="en-US" sz="2600" dirty="0" smtClean="0">
                <a:ea typeface="黑体" panose="02010609060101010101" pitchFamily="49" charset="-122"/>
              </a:rPr>
              <a:t>路由器之间交换的分组都具有</a:t>
            </a:r>
            <a:r>
              <a:rPr lang="zh-CN" altLang="en-US" sz="2600" dirty="0" smtClean="0">
                <a:solidFill>
                  <a:srgbClr val="FF0000"/>
                </a:solidFill>
                <a:ea typeface="黑体" panose="02010609060101010101" pitchFamily="49" charset="-122"/>
              </a:rPr>
              <a:t>鉴别</a:t>
            </a:r>
            <a:r>
              <a:rPr lang="zh-CN" altLang="en-US" sz="2600" dirty="0" smtClean="0">
                <a:ea typeface="黑体" panose="02010609060101010101" pitchFamily="49" charset="-122"/>
              </a:rPr>
              <a:t>的功能。</a:t>
            </a:r>
          </a:p>
          <a:p>
            <a:r>
              <a:rPr lang="zh-CN" altLang="en-US" sz="2600" dirty="0" smtClean="0">
                <a:solidFill>
                  <a:srgbClr val="FF0000"/>
                </a:solidFill>
                <a:ea typeface="黑体" panose="02010609060101010101" pitchFamily="49" charset="-122"/>
              </a:rPr>
              <a:t>支持可变长度的子网划分和无分类编址 </a:t>
            </a:r>
            <a:r>
              <a:rPr lang="en-US" altLang="zh-CN" sz="2600" dirty="0" smtClean="0">
                <a:solidFill>
                  <a:srgbClr val="FF0000"/>
                </a:solidFill>
                <a:ea typeface="黑体" panose="02010609060101010101" pitchFamily="49" charset="-122"/>
              </a:rPr>
              <a:t>CIDR</a:t>
            </a:r>
            <a:r>
              <a:rPr lang="zh-CN" altLang="en-US" sz="2600" dirty="0" smtClean="0">
                <a:solidFill>
                  <a:srgbClr val="FF0000"/>
                </a:solidFill>
                <a:ea typeface="黑体" panose="02010609060101010101" pitchFamily="49" charset="-122"/>
              </a:rPr>
              <a:t>。</a:t>
            </a:r>
          </a:p>
          <a:p>
            <a:r>
              <a:rPr lang="zh-CN" altLang="en-US" sz="2600" dirty="0" smtClean="0">
                <a:ea typeface="黑体" panose="02010609060101010101" pitchFamily="49" charset="-122"/>
              </a:rPr>
              <a:t>每一个</a:t>
            </a:r>
            <a:r>
              <a:rPr lang="zh-CN" altLang="en-US" sz="2600" dirty="0" smtClean="0">
                <a:solidFill>
                  <a:srgbClr val="0000FF"/>
                </a:solidFill>
                <a:ea typeface="黑体" panose="02010609060101010101" pitchFamily="49" charset="-122"/>
              </a:rPr>
              <a:t>链路状态</a:t>
            </a:r>
            <a:r>
              <a:rPr lang="zh-CN" altLang="en-US" sz="2600" dirty="0" smtClean="0">
                <a:ea typeface="黑体" panose="02010609060101010101" pitchFamily="49" charset="-122"/>
              </a:rPr>
              <a:t>都带上一个 </a:t>
            </a:r>
            <a:r>
              <a:rPr lang="en-US" altLang="zh-CN" sz="2600" dirty="0" smtClean="0">
                <a:solidFill>
                  <a:srgbClr val="0000FF"/>
                </a:solidFill>
                <a:ea typeface="黑体" panose="02010609060101010101" pitchFamily="49" charset="-122"/>
              </a:rPr>
              <a:t>32 </a:t>
            </a:r>
            <a:r>
              <a:rPr lang="zh-CN" altLang="en-US" sz="2600" dirty="0" smtClean="0">
                <a:solidFill>
                  <a:srgbClr val="0000FF"/>
                </a:solidFill>
                <a:ea typeface="黑体" panose="02010609060101010101" pitchFamily="49" charset="-122"/>
              </a:rPr>
              <a:t>位</a:t>
            </a:r>
            <a:r>
              <a:rPr lang="zh-CN" altLang="en-US" sz="2600" dirty="0" smtClean="0">
                <a:ea typeface="黑体" panose="02010609060101010101" pitchFamily="49" charset="-122"/>
              </a:rPr>
              <a:t>的</a:t>
            </a:r>
            <a:r>
              <a:rPr lang="zh-CN" altLang="en-US" sz="2600" dirty="0" smtClean="0">
                <a:solidFill>
                  <a:srgbClr val="0000FF"/>
                </a:solidFill>
                <a:ea typeface="黑体" panose="02010609060101010101" pitchFamily="49" charset="-122"/>
              </a:rPr>
              <a:t>序号</a:t>
            </a:r>
            <a:r>
              <a:rPr lang="zh-CN" altLang="en-US" sz="2600" dirty="0" smtClean="0">
                <a:ea typeface="黑体" panose="02010609060101010101" pitchFamily="49" charset="-122"/>
              </a:rPr>
              <a:t>，序号</a:t>
            </a:r>
            <a:r>
              <a:rPr lang="zh-CN" altLang="en-US" sz="2600" dirty="0" smtClean="0">
                <a:solidFill>
                  <a:srgbClr val="0000FF"/>
                </a:solidFill>
                <a:ea typeface="黑体" panose="02010609060101010101" pitchFamily="49" charset="-122"/>
              </a:rPr>
              <a:t>越大</a:t>
            </a:r>
            <a:r>
              <a:rPr lang="zh-CN" altLang="en-US" sz="2600" dirty="0" smtClean="0">
                <a:ea typeface="黑体" panose="02010609060101010101" pitchFamily="49" charset="-122"/>
              </a:rPr>
              <a:t>状态就</a:t>
            </a:r>
            <a:r>
              <a:rPr lang="zh-CN" altLang="en-US" sz="2600" dirty="0" smtClean="0">
                <a:solidFill>
                  <a:srgbClr val="0000FF"/>
                </a:solidFill>
                <a:ea typeface="黑体" panose="02010609060101010101" pitchFamily="49" charset="-122"/>
              </a:rPr>
              <a:t>越新</a:t>
            </a:r>
            <a:r>
              <a:rPr lang="zh-CN" altLang="en-US" sz="2600" dirty="0" smtClean="0">
                <a:ea typeface="黑体" panose="02010609060101010101" pitchFamily="49" charset="-122"/>
              </a:rPr>
              <a:t>。</a:t>
            </a:r>
          </a:p>
        </p:txBody>
      </p:sp>
      <p:sp>
        <p:nvSpPr>
          <p:cNvPr id="10598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A31796-CB6D-4D4C-A24F-085E1E5C8486}" type="slidenum">
              <a:rPr lang="zh-CN" altLang="en-US" smtClean="0"/>
              <a:pPr eaLnBrk="1" hangingPunct="1"/>
              <a:t>48</a:t>
            </a:fld>
            <a:endParaRPr lang="en-US" altLang="zh-CN" smtClean="0"/>
          </a:p>
        </p:txBody>
      </p:sp>
      <p:sp>
        <p:nvSpPr>
          <p:cNvPr id="10598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931425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98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982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982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98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OSPF </a:t>
            </a:r>
            <a:r>
              <a:rPr lang="zh-CN" altLang="en-US" smtClean="0">
                <a:ea typeface="黑体" panose="02010609060101010101" pitchFamily="49" charset="-122"/>
              </a:rPr>
              <a:t>的其他特点 </a:t>
            </a:r>
          </a:p>
        </p:txBody>
      </p:sp>
      <p:sp>
        <p:nvSpPr>
          <p:cNvPr id="594947"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OSPF </a:t>
            </a:r>
            <a:r>
              <a:rPr lang="zh-CN" altLang="en-US" dirty="0" smtClean="0">
                <a:ea typeface="黑体" panose="02010609060101010101" pitchFamily="49" charset="-122"/>
              </a:rPr>
              <a:t>还规定</a:t>
            </a:r>
            <a:r>
              <a:rPr lang="zh-CN" altLang="en-US" dirty="0" smtClean="0">
                <a:solidFill>
                  <a:srgbClr val="0000FF"/>
                </a:solidFill>
                <a:ea typeface="黑体" panose="02010609060101010101" pitchFamily="49" charset="-122"/>
              </a:rPr>
              <a:t>每隔一段时间</a:t>
            </a:r>
            <a:r>
              <a:rPr lang="zh-CN" altLang="en-US" dirty="0" smtClean="0">
                <a:ea typeface="黑体" panose="02010609060101010101" pitchFamily="49" charset="-122"/>
              </a:rPr>
              <a:t>，如 </a:t>
            </a:r>
            <a:r>
              <a:rPr lang="en-US" altLang="zh-CN" dirty="0" smtClean="0">
                <a:ea typeface="黑体" panose="02010609060101010101" pitchFamily="49" charset="-122"/>
              </a:rPr>
              <a:t>30 </a:t>
            </a:r>
            <a:r>
              <a:rPr lang="zh-CN" altLang="en-US" dirty="0" smtClean="0">
                <a:ea typeface="黑体" panose="02010609060101010101" pitchFamily="49" charset="-122"/>
              </a:rPr>
              <a:t>分钟，要</a:t>
            </a:r>
            <a:r>
              <a:rPr lang="zh-CN" altLang="en-US" dirty="0" smtClean="0">
                <a:solidFill>
                  <a:srgbClr val="0000FF"/>
                </a:solidFill>
                <a:ea typeface="黑体" panose="02010609060101010101" pitchFamily="49" charset="-122"/>
              </a:rPr>
              <a:t>刷新一次数据库</a:t>
            </a:r>
            <a:r>
              <a:rPr lang="zh-CN" altLang="en-US" dirty="0" smtClean="0">
                <a:ea typeface="黑体" panose="02010609060101010101" pitchFamily="49" charset="-122"/>
              </a:rPr>
              <a:t>中的链路状态。 </a:t>
            </a:r>
          </a:p>
          <a:p>
            <a:r>
              <a:rPr lang="zh-CN" altLang="en-US" dirty="0" smtClean="0">
                <a:ea typeface="黑体" panose="02010609060101010101" pitchFamily="49" charset="-122"/>
              </a:rPr>
              <a:t>由于一个路由器的链路状态只涉及到与相邻路由器的连通状态，因而与整个互联网的规模并无直接关系。因此</a:t>
            </a:r>
            <a:r>
              <a:rPr lang="zh-CN" altLang="en-US" dirty="0" smtClean="0">
                <a:solidFill>
                  <a:srgbClr val="FF0000"/>
                </a:solidFill>
                <a:ea typeface="黑体" panose="02010609060101010101" pitchFamily="49" charset="-122"/>
              </a:rPr>
              <a:t>当互联网规模很大时，</a:t>
            </a:r>
            <a:r>
              <a:rPr lang="en-US" altLang="zh-CN" dirty="0" smtClean="0">
                <a:solidFill>
                  <a:srgbClr val="FF0000"/>
                </a:solidFill>
                <a:ea typeface="黑体" panose="02010609060101010101" pitchFamily="49" charset="-122"/>
              </a:rPr>
              <a:t>OSPF  </a:t>
            </a:r>
            <a:r>
              <a:rPr lang="zh-CN" altLang="en-US" dirty="0" smtClean="0">
                <a:solidFill>
                  <a:srgbClr val="FF0000"/>
                </a:solidFill>
                <a:ea typeface="黑体" panose="02010609060101010101" pitchFamily="49" charset="-122"/>
              </a:rPr>
              <a:t>协议要比距离向量协议 </a:t>
            </a:r>
            <a:r>
              <a:rPr lang="en-US" altLang="zh-CN" dirty="0" smtClean="0">
                <a:solidFill>
                  <a:srgbClr val="FF0000"/>
                </a:solidFill>
                <a:ea typeface="黑体" panose="02010609060101010101" pitchFamily="49" charset="-122"/>
              </a:rPr>
              <a:t>RIP </a:t>
            </a:r>
            <a:r>
              <a:rPr lang="zh-CN" altLang="en-US" dirty="0" smtClean="0">
                <a:solidFill>
                  <a:srgbClr val="FF0000"/>
                </a:solidFill>
                <a:ea typeface="黑体" panose="02010609060101010101" pitchFamily="49" charset="-122"/>
              </a:rPr>
              <a:t>好得多。 </a:t>
            </a:r>
          </a:p>
          <a:p>
            <a:r>
              <a:rPr lang="en-US" altLang="zh-CN" dirty="0" smtClean="0">
                <a:solidFill>
                  <a:srgbClr val="FF0000"/>
                </a:solidFill>
                <a:ea typeface="黑体" panose="02010609060101010101" pitchFamily="49" charset="-122"/>
              </a:rPr>
              <a:t>OSPF </a:t>
            </a:r>
            <a:r>
              <a:rPr lang="zh-CN" altLang="en-US" dirty="0" smtClean="0">
                <a:solidFill>
                  <a:srgbClr val="FF0000"/>
                </a:solidFill>
                <a:ea typeface="黑体" panose="02010609060101010101" pitchFamily="49" charset="-122"/>
              </a:rPr>
              <a:t>没有“坏消息传播得慢”的问题，</a:t>
            </a:r>
            <a:r>
              <a:rPr lang="zh-CN" altLang="en-US" dirty="0" smtClean="0">
                <a:ea typeface="黑体" panose="02010609060101010101" pitchFamily="49" charset="-122"/>
              </a:rPr>
              <a:t>据统计，其响应网络变化的时间小于 </a:t>
            </a:r>
            <a:r>
              <a:rPr lang="en-US" altLang="zh-CN" dirty="0" smtClean="0">
                <a:ea typeface="黑体" panose="02010609060101010101" pitchFamily="49" charset="-122"/>
              </a:rPr>
              <a:t>100 </a:t>
            </a:r>
            <a:r>
              <a:rPr lang="en-US" altLang="zh-CN" dirty="0" err="1" smtClean="0">
                <a:ea typeface="黑体" panose="02010609060101010101" pitchFamily="49" charset="-122"/>
              </a:rPr>
              <a:t>ms</a:t>
            </a:r>
            <a:r>
              <a:rPr lang="zh-CN" altLang="en-US" dirty="0" smtClean="0">
                <a:ea typeface="黑体" panose="02010609060101010101" pitchFamily="49" charset="-122"/>
              </a:rPr>
              <a:t>。 </a:t>
            </a:r>
          </a:p>
        </p:txBody>
      </p:sp>
      <p:sp>
        <p:nvSpPr>
          <p:cNvPr id="1070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3809B4-A8CD-4339-A52D-4BCE00DC37D6}" type="slidenum">
              <a:rPr lang="zh-CN" altLang="en-US" smtClean="0"/>
              <a:pPr eaLnBrk="1" hangingPunct="1"/>
              <a:t>49</a:t>
            </a:fld>
            <a:endParaRPr lang="en-US" altLang="zh-CN" smtClean="0"/>
          </a:p>
        </p:txBody>
      </p:sp>
      <p:sp>
        <p:nvSpPr>
          <p:cNvPr id="1070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49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49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2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指定的路由器</a:t>
            </a:r>
            <a:endParaRPr lang="en-US" altLang="zh-CN" smtClean="0">
              <a:ea typeface="黑体" panose="02010609060101010101" pitchFamily="49" charset="-122"/>
            </a:endParaRPr>
          </a:p>
        </p:txBody>
      </p:sp>
      <p:sp>
        <p:nvSpPr>
          <p:cNvPr id="59597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多点接入的局域网采用了</a:t>
            </a:r>
            <a:r>
              <a:rPr lang="zh-CN" altLang="en-US" smtClean="0">
                <a:solidFill>
                  <a:srgbClr val="FF0000"/>
                </a:solidFill>
                <a:ea typeface="黑体" panose="02010609060101010101" pitchFamily="49" charset="-122"/>
              </a:rPr>
              <a:t>指定的路由器 </a:t>
            </a:r>
            <a:r>
              <a:rPr lang="en-US" altLang="zh-CN" smtClean="0">
                <a:ea typeface="黑体" panose="02010609060101010101" pitchFamily="49" charset="-122"/>
              </a:rPr>
              <a:t>(designated router) </a:t>
            </a:r>
            <a:r>
              <a:rPr lang="zh-CN" altLang="en-US" smtClean="0">
                <a:ea typeface="黑体" panose="02010609060101010101" pitchFamily="49" charset="-122"/>
              </a:rPr>
              <a:t>的方法，</a:t>
            </a:r>
            <a:r>
              <a:rPr lang="zh-CN" altLang="en-US" smtClean="0">
                <a:solidFill>
                  <a:srgbClr val="FF0000"/>
                </a:solidFill>
                <a:ea typeface="黑体" panose="02010609060101010101" pitchFamily="49" charset="-122"/>
              </a:rPr>
              <a:t>使广播的信息量大大减少。</a:t>
            </a:r>
          </a:p>
          <a:p>
            <a:r>
              <a:rPr lang="zh-CN" altLang="en-US" smtClean="0">
                <a:ea typeface="黑体" panose="02010609060101010101" pitchFamily="49" charset="-122"/>
              </a:rPr>
              <a:t>指定的路由器</a:t>
            </a:r>
            <a:r>
              <a:rPr lang="zh-CN" altLang="en-US" smtClean="0">
                <a:solidFill>
                  <a:srgbClr val="FF0000"/>
                </a:solidFill>
                <a:ea typeface="黑体" panose="02010609060101010101" pitchFamily="49" charset="-122"/>
              </a:rPr>
              <a:t>代表</a:t>
            </a:r>
            <a:r>
              <a:rPr lang="zh-CN" altLang="en-US" smtClean="0">
                <a:ea typeface="黑体" panose="02010609060101010101" pitchFamily="49" charset="-122"/>
              </a:rPr>
              <a:t>该局域网上所有的链路向连接到该网络上的各路由器发送状态信息。 </a:t>
            </a:r>
          </a:p>
        </p:txBody>
      </p:sp>
      <p:sp>
        <p:nvSpPr>
          <p:cNvPr id="10721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6B0E90-64DB-4911-AB58-6E8E1712DF0F}" type="slidenum">
              <a:rPr lang="zh-CN" altLang="en-US" smtClean="0"/>
              <a:pPr eaLnBrk="1" hangingPunct="1"/>
              <a:t>50</a:t>
            </a:fld>
            <a:endParaRPr lang="en-US" altLang="zh-CN" smtClean="0"/>
          </a:p>
        </p:txBody>
      </p:sp>
      <p:sp>
        <p:nvSpPr>
          <p:cNvPr id="10721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959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2146</TotalTime>
  <Words>4205</Words>
  <Application>Microsoft Office PowerPoint</Application>
  <PresentationFormat>A4 纸张(210x297 毫米)</PresentationFormat>
  <Paragraphs>710</Paragraphs>
  <Slides>50</Slides>
  <Notes>47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50</vt:i4>
      </vt:variant>
    </vt:vector>
  </HeadingPairs>
  <TitlesOfParts>
    <vt:vector size="57" baseType="lpstr">
      <vt:lpstr>黑体</vt:lpstr>
      <vt:lpstr>宋体</vt:lpstr>
      <vt:lpstr>Arial</vt:lpstr>
      <vt:lpstr>Symbol</vt:lpstr>
      <vt:lpstr>Times New Roman</vt:lpstr>
      <vt:lpstr>Wingdings</vt:lpstr>
      <vt:lpstr>Presentation</vt:lpstr>
      <vt:lpstr>第 4 章  网络层</vt:lpstr>
      <vt:lpstr>4.6  互联网的路由选择协议</vt:lpstr>
      <vt:lpstr>4.6.1  有关路由选择协议的几个基本概念</vt:lpstr>
      <vt:lpstr>关于“最佳路由” </vt:lpstr>
      <vt:lpstr>从路由算法的自适应性考虑</vt:lpstr>
      <vt:lpstr>2.  分层次的路由选择协议</vt:lpstr>
      <vt:lpstr>自治系统 AS (Autonomous System) </vt:lpstr>
      <vt:lpstr>自治系统 AS</vt:lpstr>
      <vt:lpstr>互联网有两大类路由选择协议 </vt:lpstr>
      <vt:lpstr>自治系统和 内部网关协议、外部网关协议 </vt:lpstr>
      <vt:lpstr>这里要指出两点 </vt:lpstr>
      <vt:lpstr>互联网的路由选择协议 </vt:lpstr>
      <vt:lpstr>4.6.2  内部网关协议 RIP</vt:lpstr>
      <vt:lpstr>“距离”的定义 </vt:lpstr>
      <vt:lpstr>“距离”的定义 </vt:lpstr>
      <vt:lpstr>RIP 协议的三个特点 </vt:lpstr>
      <vt:lpstr>路由表的建立 </vt:lpstr>
      <vt:lpstr>2. 距离向量算法</vt:lpstr>
      <vt:lpstr>2. 距离向量算法</vt:lpstr>
      <vt:lpstr>路由器之间交换信息与路由表更新</vt:lpstr>
      <vt:lpstr>【例4-5】已知路由器 R6 有表4-9(a)所示的路由表。现在收到相邻路由器 R4 发来的路由更新信息，如表4-9(b)所示。试更新路由器 R6 的路由表。</vt:lpstr>
      <vt:lpstr>【例】路由表更新</vt:lpstr>
      <vt:lpstr>3. RIP2 协议的报文格式 </vt:lpstr>
      <vt:lpstr>RIP2 报文</vt:lpstr>
      <vt:lpstr>RIP2 报文</vt:lpstr>
      <vt:lpstr>好消息传播得快，坏消息传播得慢</vt:lpstr>
      <vt:lpstr>PowerPoint 演示文稿</vt:lpstr>
      <vt:lpstr>PowerPoint 演示文稿</vt:lpstr>
      <vt:lpstr>PowerPoint 演示文稿</vt:lpstr>
      <vt:lpstr>PowerPoint 演示文稿</vt:lpstr>
      <vt:lpstr>PowerPoint 演示文稿</vt:lpstr>
      <vt:lpstr>PowerPoint 演示文稿</vt:lpstr>
      <vt:lpstr>RIP 协议的优缺点 </vt:lpstr>
      <vt:lpstr>4.6.3  内部网关协议 OSPF</vt:lpstr>
      <vt:lpstr>1.  OSPF 协议的基本特点</vt:lpstr>
      <vt:lpstr>三个要点 </vt:lpstr>
      <vt:lpstr>链路状态数据库 (link-state database) </vt:lpstr>
      <vt:lpstr>OSPF 的区域 (area) </vt:lpstr>
      <vt:lpstr>OSPF 划分为两种不同的区域 </vt:lpstr>
      <vt:lpstr>划分区域 </vt:lpstr>
      <vt:lpstr>主干路由器</vt:lpstr>
      <vt:lpstr>区域边界路由器 </vt:lpstr>
      <vt:lpstr>OSPF 直接用 IP 数据报传送 </vt:lpstr>
      <vt:lpstr>OSPF 分组 </vt:lpstr>
      <vt:lpstr>2. OSPF 的五种分组类型 </vt:lpstr>
      <vt:lpstr>OSPF 的基本操作 </vt:lpstr>
      <vt:lpstr>OSPF 使用可靠的洪泛法发送更新分组 </vt:lpstr>
      <vt:lpstr>OSPF 的其他特点 </vt:lpstr>
      <vt:lpstr>OSPF 的其他特点 </vt:lpstr>
      <vt:lpstr>指定的路由器</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73</cp:revision>
  <cp:lastPrinted>2020-04-02T12:18:28Z</cp:lastPrinted>
  <dcterms:created xsi:type="dcterms:W3CDTF">2016-10-01T05:27:00Z</dcterms:created>
  <dcterms:modified xsi:type="dcterms:W3CDTF">2023-04-13T01:10:59Z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
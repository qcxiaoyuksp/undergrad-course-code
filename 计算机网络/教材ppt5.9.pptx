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comment1.xml" ContentType="application/vnd.openxmlformats-officedocument.presentationml.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handoutMasterIdLst>
    <p:handoutMasterId r:id="rId27"/>
  </p:handoutMasterIdLst>
  <p:sldIdLst>
    <p:sldId id="1956" r:id="rId2"/>
    <p:sldId id="1957" r:id="rId3"/>
    <p:sldId id="2124" r:id="rId4"/>
    <p:sldId id="2125" r:id="rId5"/>
    <p:sldId id="2126" r:id="rId6"/>
    <p:sldId id="2127" r:id="rId7"/>
    <p:sldId id="2128" r:id="rId8"/>
    <p:sldId id="2129" r:id="rId9"/>
    <p:sldId id="2130" r:id="rId10"/>
    <p:sldId id="2131" r:id="rId11"/>
    <p:sldId id="2132" r:id="rId12"/>
    <p:sldId id="2133" r:id="rId13"/>
    <p:sldId id="2134" r:id="rId14"/>
    <p:sldId id="2146" r:id="rId15"/>
    <p:sldId id="2135" r:id="rId16"/>
    <p:sldId id="2136" r:id="rId17"/>
    <p:sldId id="2137" r:id="rId18"/>
    <p:sldId id="2138" r:id="rId19"/>
    <p:sldId id="2139" r:id="rId20"/>
    <p:sldId id="2140" r:id="rId21"/>
    <p:sldId id="2141" r:id="rId22"/>
    <p:sldId id="2142" r:id="rId23"/>
    <p:sldId id="2143" r:id="rId24"/>
    <p:sldId id="2144" r:id="rId25"/>
  </p:sldIdLst>
  <p:sldSz cx="9906000" cy="6858000" type="A4"/>
  <p:notesSz cx="9296400" cy="7010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个人用户" initials="个人用户" lastIdx="1" clrIdx="0">
    <p:extLst>
      <p:ext uri="{19B8F6BF-5375-455C-9EA6-DF929625EA0E}">
        <p15:presenceInfo xmlns:p15="http://schemas.microsoft.com/office/powerpoint/2012/main" userId="个人用户"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FFFF66"/>
    <a:srgbClr val="0000CC"/>
    <a:srgbClr val="66FF66"/>
    <a:srgbClr val="000099"/>
    <a:srgbClr val="00FF00"/>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498" autoAdjust="0"/>
    <p:restoredTop sz="93175" autoAdjust="0"/>
  </p:normalViewPr>
  <p:slideViewPr>
    <p:cSldViewPr>
      <p:cViewPr varScale="1">
        <p:scale>
          <a:sx n="73" d="100"/>
          <a:sy n="73" d="100"/>
        </p:scale>
        <p:origin x="1002" y="60"/>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gridSpacing cx="72006" cy="72006"/>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0-04-22T16:03:19.853" idx="1">
    <p:pos x="10" y="10"/>
    <p:text/>
    <p:extLst>
      <p:ext uri="{C676402C-5697-4E1C-873F-D02D1690AC5C}">
        <p15:threadingInfo xmlns:p15="http://schemas.microsoft.com/office/powerpoint/2012/main" timeZoneBias="-48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1"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5603" name="Rectangle 3"/>
          <p:cNvSpPr>
            <a:spLocks noGrp="1" noChangeArrowheads="1"/>
          </p:cNvSpPr>
          <p:nvPr>
            <p:ph type="dt" sz="quarter" idx="1"/>
          </p:nvPr>
        </p:nvSpPr>
        <p:spPr bwMode="auto">
          <a:xfrm>
            <a:off x="5265014"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25604" name="Rectangle 4"/>
          <p:cNvSpPr>
            <a:spLocks noGrp="1" noChangeArrowheads="1"/>
          </p:cNvSpPr>
          <p:nvPr>
            <p:ph type="ftr" sz="quarter" idx="2"/>
          </p:nvPr>
        </p:nvSpPr>
        <p:spPr bwMode="auto">
          <a:xfrm>
            <a:off x="1"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5605" name="Rectangle 5"/>
          <p:cNvSpPr>
            <a:spLocks noGrp="1" noChangeArrowheads="1"/>
          </p:cNvSpPr>
          <p:nvPr>
            <p:ph type="sldNum" sz="quarter" idx="3"/>
          </p:nvPr>
        </p:nvSpPr>
        <p:spPr bwMode="auto">
          <a:xfrm>
            <a:off x="5265014"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C0E8ACEC-BE51-4C28-9719-6AEAC1A1CC5A}" type="slidenum">
              <a:rPr lang="zh-CN" altLang="en-US"/>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1"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3555" name="Rectangle 3"/>
          <p:cNvSpPr>
            <a:spLocks noGrp="1" noChangeArrowheads="1"/>
          </p:cNvSpPr>
          <p:nvPr>
            <p:ph type="dt" idx="1"/>
          </p:nvPr>
        </p:nvSpPr>
        <p:spPr bwMode="auto">
          <a:xfrm>
            <a:off x="5265014"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12292" name="Rectangle 4"/>
          <p:cNvSpPr>
            <a:spLocks noGrp="1" noRot="1" noChangeAspect="1" noChangeArrowheads="1" noTextEdit="1"/>
          </p:cNvSpPr>
          <p:nvPr>
            <p:ph type="sldImg" idx="4294967295"/>
          </p:nvPr>
        </p:nvSpPr>
        <p:spPr bwMode="auto">
          <a:xfrm>
            <a:off x="2749550" y="525463"/>
            <a:ext cx="3797300" cy="26289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p:cNvSpPr>
            <a:spLocks noGrp="1" noChangeArrowheads="1"/>
          </p:cNvSpPr>
          <p:nvPr>
            <p:ph type="body" sz="quarter" idx="4294967295"/>
          </p:nvPr>
        </p:nvSpPr>
        <p:spPr bwMode="auto">
          <a:xfrm>
            <a:off x="930482" y="3330419"/>
            <a:ext cx="7435436" cy="3154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en-US" altLang="zh-CN" smtClean="0"/>
              <a:t>5656</a:t>
            </a:r>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23558" name="Rectangle 6"/>
          <p:cNvSpPr>
            <a:spLocks noGrp="1" noChangeArrowheads="1"/>
          </p:cNvSpPr>
          <p:nvPr>
            <p:ph type="ftr" sz="quarter" idx="4"/>
          </p:nvPr>
        </p:nvSpPr>
        <p:spPr bwMode="auto">
          <a:xfrm>
            <a:off x="1"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3559" name="Rectangle 7"/>
          <p:cNvSpPr>
            <a:spLocks noGrp="1" noChangeArrowheads="1"/>
          </p:cNvSpPr>
          <p:nvPr>
            <p:ph type="sldNum" sz="quarter" idx="5"/>
          </p:nvPr>
        </p:nvSpPr>
        <p:spPr bwMode="auto">
          <a:xfrm>
            <a:off x="5265014"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FF05FA4A-B8E9-4A1C-BCD1-7761336334F8}"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8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EDD3D4F-8AFC-4693-A6E9-41E1313FB157}" type="slidenum">
              <a:rPr lang="zh-CN" altLang="en-US" smtClean="0">
                <a:latin typeface="宋体" panose="02010600030101010101" pitchFamily="2" charset="-122"/>
              </a:rPr>
              <a:pPr eaLnBrk="1" hangingPunct="1"/>
              <a:t>1</a:t>
            </a:fld>
            <a:endParaRPr lang="en-US" altLang="zh-CN" smtClean="0">
              <a:latin typeface="宋体" panose="02010600030101010101" pitchFamily="2" charset="-122"/>
            </a:endParaRPr>
          </a:p>
        </p:txBody>
      </p:sp>
      <p:sp>
        <p:nvSpPr>
          <p:cNvPr id="1288194" name="Rectangle 2"/>
          <p:cNvSpPr>
            <a:spLocks noGrp="1" noRot="1" noChangeAspect="1" noChangeArrowheads="1" noTextEdit="1"/>
          </p:cNvSpPr>
          <p:nvPr>
            <p:ph type="sldImg" idx="4294967295"/>
          </p:nvPr>
        </p:nvSpPr>
        <p:spPr>
          <a:ln/>
        </p:spPr>
      </p:sp>
      <p:sp>
        <p:nvSpPr>
          <p:cNvPr id="1288195" name="Rectangle 3"/>
          <p:cNvSpPr>
            <a:spLocks noGrp="1" noChangeArrowheads="1"/>
          </p:cNvSpPr>
          <p:nvPr>
            <p:ph type="body" idx="4294967295"/>
          </p:nvPr>
        </p:nvSpPr>
        <p:spPr/>
        <p:txBody>
          <a:bodyPr/>
          <a:lstStyle/>
          <a:p>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97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99A8E27-FD26-459A-9DEB-5E8A55C9A2FB}" type="slidenum">
              <a:rPr lang="en-US" altLang="zh-CN" smtClean="0">
                <a:latin typeface="宋体" panose="02010600030101010101" pitchFamily="2" charset="-122"/>
              </a:rPr>
              <a:pPr eaLnBrk="1" hangingPunct="1"/>
              <a:t>3</a:t>
            </a:fld>
            <a:endParaRPr lang="en-US" altLang="zh-CN" smtClean="0">
              <a:latin typeface="宋体" panose="02010600030101010101" pitchFamily="2" charset="-122"/>
            </a:endParaRPr>
          </a:p>
        </p:txBody>
      </p:sp>
      <p:sp>
        <p:nvSpPr>
          <p:cNvPr id="1569794" name="Rectangle 2"/>
          <p:cNvSpPr>
            <a:spLocks noGrp="1" noRot="1" noChangeAspect="1" noChangeArrowheads="1" noTextEdit="1"/>
          </p:cNvSpPr>
          <p:nvPr>
            <p:ph type="sldImg" idx="4294967295"/>
          </p:nvPr>
        </p:nvSpPr>
        <p:spPr>
          <a:ln/>
        </p:spPr>
      </p:sp>
      <p:sp>
        <p:nvSpPr>
          <p:cNvPr id="156979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18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3DA7F44-2C5A-45E1-B78C-0282989289E7}" type="slidenum">
              <a:rPr lang="en-US" altLang="zh-CN" smtClean="0">
                <a:latin typeface="宋体" panose="02010600030101010101" pitchFamily="2" charset="-122"/>
              </a:rPr>
              <a:pPr eaLnBrk="1" hangingPunct="1"/>
              <a:t>4</a:t>
            </a:fld>
            <a:endParaRPr lang="en-US" altLang="zh-CN" smtClean="0">
              <a:latin typeface="宋体" panose="02010600030101010101" pitchFamily="2" charset="-122"/>
            </a:endParaRPr>
          </a:p>
        </p:txBody>
      </p:sp>
      <p:sp>
        <p:nvSpPr>
          <p:cNvPr id="1571842" name="Rectangle 2"/>
          <p:cNvSpPr>
            <a:spLocks noGrp="1" noRot="1" noChangeAspect="1" noChangeArrowheads="1" noTextEdit="1"/>
          </p:cNvSpPr>
          <p:nvPr>
            <p:ph type="sldImg" idx="4294967295"/>
          </p:nvPr>
        </p:nvSpPr>
        <p:spPr>
          <a:ln/>
        </p:spPr>
      </p:sp>
      <p:sp>
        <p:nvSpPr>
          <p:cNvPr id="157184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38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8671735-25FC-40F5-8A99-D8C2FA568D0F}" type="slidenum">
              <a:rPr lang="en-US" altLang="zh-CN" smtClean="0">
                <a:latin typeface="宋体" panose="02010600030101010101" pitchFamily="2" charset="-122"/>
              </a:rPr>
              <a:pPr eaLnBrk="1" hangingPunct="1"/>
              <a:t>5</a:t>
            </a:fld>
            <a:endParaRPr lang="en-US" altLang="zh-CN" smtClean="0">
              <a:latin typeface="宋体" panose="02010600030101010101" pitchFamily="2" charset="-122"/>
            </a:endParaRPr>
          </a:p>
        </p:txBody>
      </p:sp>
      <p:sp>
        <p:nvSpPr>
          <p:cNvPr id="1573890" name="Rectangle 2"/>
          <p:cNvSpPr>
            <a:spLocks noGrp="1" noRot="1" noChangeAspect="1" noChangeArrowheads="1" noTextEdit="1"/>
          </p:cNvSpPr>
          <p:nvPr>
            <p:ph type="sldImg" idx="4294967295"/>
          </p:nvPr>
        </p:nvSpPr>
        <p:spPr>
          <a:ln/>
        </p:spPr>
      </p:sp>
      <p:sp>
        <p:nvSpPr>
          <p:cNvPr id="157389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59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48715E6-48C6-46AF-A473-49874C571D91}" type="slidenum">
              <a:rPr lang="en-US" altLang="zh-CN" smtClean="0">
                <a:latin typeface="宋体" panose="02010600030101010101" pitchFamily="2" charset="-122"/>
              </a:rPr>
              <a:pPr eaLnBrk="1" hangingPunct="1"/>
              <a:t>6</a:t>
            </a:fld>
            <a:endParaRPr lang="en-US" altLang="zh-CN" smtClean="0">
              <a:latin typeface="宋体" panose="02010600030101010101" pitchFamily="2" charset="-122"/>
            </a:endParaRPr>
          </a:p>
        </p:txBody>
      </p:sp>
      <p:sp>
        <p:nvSpPr>
          <p:cNvPr id="1575938" name="Rectangle 2"/>
          <p:cNvSpPr>
            <a:spLocks noGrp="1" noRot="1" noChangeAspect="1" noChangeArrowheads="1" noTextEdit="1"/>
          </p:cNvSpPr>
          <p:nvPr>
            <p:ph type="sldImg" idx="4294967295"/>
          </p:nvPr>
        </p:nvSpPr>
        <p:spPr>
          <a:ln/>
        </p:spPr>
      </p:sp>
      <p:sp>
        <p:nvSpPr>
          <p:cNvPr id="157593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23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7E44294-60E4-4450-87C2-91E62FB770CD}" type="slidenum">
              <a:rPr lang="en-US" altLang="zh-CN" smtClean="0">
                <a:latin typeface="宋体" panose="02010600030101010101" pitchFamily="2" charset="-122"/>
              </a:rPr>
              <a:pPr eaLnBrk="1" hangingPunct="1"/>
              <a:t>22</a:t>
            </a:fld>
            <a:endParaRPr lang="en-US" altLang="zh-CN" smtClean="0">
              <a:latin typeface="宋体" panose="02010600030101010101" pitchFamily="2" charset="-122"/>
            </a:endParaRPr>
          </a:p>
        </p:txBody>
      </p:sp>
      <p:sp>
        <p:nvSpPr>
          <p:cNvPr id="1592322" name="Rectangle 2"/>
          <p:cNvSpPr>
            <a:spLocks noGrp="1" noRot="1" noChangeAspect="1" noChangeArrowheads="1" noTextEdit="1"/>
          </p:cNvSpPr>
          <p:nvPr>
            <p:ph type="sldImg" idx="4294967295"/>
          </p:nvPr>
        </p:nvSpPr>
        <p:spPr>
          <a:ln/>
        </p:spPr>
      </p:sp>
      <p:sp>
        <p:nvSpPr>
          <p:cNvPr id="159232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43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342CFE2-9B11-48F8-AABA-D21A580C3699}" type="slidenum">
              <a:rPr lang="en-US" altLang="zh-CN" smtClean="0">
                <a:latin typeface="宋体" panose="02010600030101010101" pitchFamily="2" charset="-122"/>
              </a:rPr>
              <a:pPr eaLnBrk="1" hangingPunct="1"/>
              <a:t>23</a:t>
            </a:fld>
            <a:endParaRPr lang="en-US" altLang="zh-CN" smtClean="0">
              <a:latin typeface="宋体" panose="02010600030101010101" pitchFamily="2" charset="-122"/>
            </a:endParaRPr>
          </a:p>
        </p:txBody>
      </p:sp>
      <p:sp>
        <p:nvSpPr>
          <p:cNvPr id="1594370" name="Rectangle 2"/>
          <p:cNvSpPr>
            <a:spLocks noGrp="1" noRot="1" noChangeAspect="1" noChangeArrowheads="1" noTextEdit="1"/>
          </p:cNvSpPr>
          <p:nvPr>
            <p:ph type="sldImg" idx="4294967295"/>
          </p:nvPr>
        </p:nvSpPr>
        <p:spPr>
          <a:ln/>
        </p:spPr>
      </p:sp>
      <p:sp>
        <p:nvSpPr>
          <p:cNvPr id="159437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64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85FFF506-96B6-4931-BC50-C8138F12C747}" type="slidenum">
              <a:rPr lang="en-US" altLang="zh-CN" smtClean="0"/>
              <a:pPr/>
              <a:t>24</a:t>
            </a:fld>
            <a:endParaRPr lang="en-US" altLang="zh-CN" smtClean="0"/>
          </a:p>
        </p:txBody>
      </p:sp>
      <p:sp>
        <p:nvSpPr>
          <p:cNvPr id="1596418" name="Rectangle 2"/>
          <p:cNvSpPr>
            <a:spLocks noGrp="1" noRot="1" noChangeAspect="1" noChangeArrowheads="1" noTextEdit="1"/>
          </p:cNvSpPr>
          <p:nvPr>
            <p:ph type="sldImg" idx="4294967295"/>
          </p:nvPr>
        </p:nvSpPr>
        <p:spPr>
          <a:ln/>
        </p:spPr>
      </p:sp>
      <p:sp>
        <p:nvSpPr>
          <p:cNvPr id="159641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8" descr="Gold bar"/>
          <p:cNvSpPr>
            <a:spLocks noChangeArrowheads="1"/>
          </p:cNvSpPr>
          <p:nvPr/>
        </p:nvSpPr>
        <p:spPr bwMode="auto">
          <a:xfrm>
            <a:off x="247650" y="2889250"/>
            <a:ext cx="3109913" cy="2016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5" name="Rectangle 9" descr="Orange bar"/>
          <p:cNvSpPr>
            <a:spLocks noChangeArrowheads="1"/>
          </p:cNvSpPr>
          <p:nvPr/>
        </p:nvSpPr>
        <p:spPr bwMode="auto">
          <a:xfrm>
            <a:off x="3357563" y="2889250"/>
            <a:ext cx="3108325" cy="2016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6" name="Rectangle 10" descr="Slate bar"/>
          <p:cNvSpPr>
            <a:spLocks noChangeArrowheads="1"/>
          </p:cNvSpPr>
          <p:nvPr/>
        </p:nvSpPr>
        <p:spPr bwMode="auto">
          <a:xfrm>
            <a:off x="6465888" y="2889250"/>
            <a:ext cx="3109912" cy="201613"/>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solidFill>
                <a:srgbClr val="333399"/>
              </a:solidFill>
              <a:ea typeface="宋体" panose="02010600030101010101" pitchFamily="2" charset="-122"/>
            </a:endParaRPr>
          </a:p>
        </p:txBody>
      </p:sp>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anose="02010609060101010101" pitchFamily="2" charset="-122"/>
                <a:ea typeface="黑体" panose="02010609060101010101" pitchFamily="2" charset="-122"/>
              </a:defRPr>
            </a:lvl1pPr>
          </a:lstStyle>
          <a:p>
            <a:pPr lvl="0"/>
            <a:r>
              <a:rPr lang="zh-CN" altLang="en-US" noProof="0" dirty="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anose="05000000000000000000" pitchFamily="2" charset="2"/>
              <a:buNone/>
              <a:defRPr sz="3600" b="1">
                <a:latin typeface="黑体" panose="02010609060101010101" pitchFamily="2" charset="-122"/>
                <a:ea typeface="黑体" panose="02010609060101010101" pitchFamily="2" charset="-122"/>
              </a:defRPr>
            </a:lvl1pPr>
          </a:lstStyle>
          <a:p>
            <a:pPr lvl="0"/>
            <a:r>
              <a:rPr lang="zh-CN" altLang="en-US" noProof="0" dirty="0"/>
              <a:t>单击此处编辑母版副标题样式</a:t>
            </a:r>
            <a:endParaRPr lang="en-US" altLang="zh-CN" noProof="0" dirty="0"/>
          </a:p>
        </p:txBody>
      </p:sp>
      <p:sp>
        <p:nvSpPr>
          <p:cNvPr id="7" name="Rectangle 4"/>
          <p:cNvSpPr>
            <a:spLocks noGrp="1" noChangeArrowheads="1"/>
          </p:cNvSpPr>
          <p:nvPr>
            <p:ph type="dt" sz="half" idx="10"/>
          </p:nvPr>
        </p:nvSpPr>
        <p:spPr/>
        <p:txBody>
          <a:bodyPr/>
          <a:lstStyle>
            <a:lvl1pPr>
              <a:defRPr/>
            </a:lvl1pPr>
          </a:lstStyle>
          <a:p>
            <a:endParaRPr lang="en-US" altLang="zh-CN"/>
          </a:p>
        </p:txBody>
      </p:sp>
      <p:sp>
        <p:nvSpPr>
          <p:cNvPr id="8" name="Rectangle 5"/>
          <p:cNvSpPr>
            <a:spLocks noGrp="1" noChangeArrowheads="1"/>
          </p:cNvSpPr>
          <p:nvPr>
            <p:ph type="ftr" sz="quarter" idx="11"/>
          </p:nvPr>
        </p:nvSpPr>
        <p:spPr/>
        <p:txBody>
          <a:bodyPr/>
          <a:lstStyle>
            <a:lvl1pPr>
              <a:defRPr/>
            </a:lvl1pPr>
          </a:lstStyle>
          <a:p>
            <a:r>
              <a:rPr lang="en-US" altLang="zh-CN"/>
              <a:t>ppt课件</a:t>
            </a:r>
          </a:p>
        </p:txBody>
      </p:sp>
      <p:sp>
        <p:nvSpPr>
          <p:cNvPr id="9" name="Rectangle 6"/>
          <p:cNvSpPr>
            <a:spLocks noGrp="1" noChangeArrowheads="1"/>
          </p:cNvSpPr>
          <p:nvPr>
            <p:ph type="sldNum" sz="quarter" idx="12"/>
          </p:nvPr>
        </p:nvSpPr>
        <p:spPr/>
        <p:txBody>
          <a:bodyPr/>
          <a:lstStyle>
            <a:lvl1pPr>
              <a:defRPr/>
            </a:lvl1pPr>
          </a:lstStyle>
          <a:p>
            <a:fld id="{6C57955F-A69E-4467-A82C-EE60FDDCFF32}" type="slidenum">
              <a:rPr lang="zh-CN" altLang="en-US"/>
              <a:pPr/>
              <a:t>‹#›</a:t>
            </a:fld>
            <a:endParaRPr lang="en-US" altLang="zh-CN"/>
          </a:p>
        </p:txBody>
      </p:sp>
    </p:spTree>
    <p:extLst>
      <p:ext uri="{BB962C8B-B14F-4D97-AF65-F5344CB8AC3E}">
        <p14:creationId xmlns:p14="http://schemas.microsoft.com/office/powerpoint/2010/main" val="3337999172"/>
      </p:ext>
    </p:extLst>
  </p:cSld>
  <p:clrMapOvr>
    <a:masterClrMapping/>
  </p:clrMapOvr>
  <p:hf/>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idx="1"/>
          </p:nvPr>
        </p:nvSpPr>
        <p:spPr>
          <a:xfrm>
            <a:off x="495300" y="1196752"/>
            <a:ext cx="9066212" cy="4934173"/>
          </a:xfrm>
        </p:spPr>
        <p:txBody>
          <a:bodyPr/>
          <a:lstStyle>
            <a:lvl1pPr>
              <a:lnSpc>
                <a:spcPct val="110000"/>
              </a:lnSpc>
              <a:spcBef>
                <a:spcPts val="600"/>
              </a:spcBef>
              <a:defRPr sz="3200" b="1">
                <a:solidFill>
                  <a:schemeClr val="tx1"/>
                </a:solidFill>
                <a:latin typeface="+mn-lt"/>
                <a:ea typeface="黑体" panose="02010609060101010101" pitchFamily="2" charset="-122"/>
              </a:defRPr>
            </a:lvl1pPr>
            <a:lvl2pPr>
              <a:lnSpc>
                <a:spcPct val="110000"/>
              </a:lnSpc>
              <a:spcBef>
                <a:spcPts val="600"/>
              </a:spcBef>
              <a:defRPr sz="2800" b="1">
                <a:solidFill>
                  <a:schemeClr val="tx1"/>
                </a:solidFill>
                <a:latin typeface="+mn-lt"/>
                <a:ea typeface="黑体" panose="02010609060101010101" pitchFamily="2" charset="-122"/>
              </a:defRPr>
            </a:lvl2pPr>
            <a:lvl3pPr>
              <a:lnSpc>
                <a:spcPct val="110000"/>
              </a:lnSpc>
              <a:spcBef>
                <a:spcPts val="600"/>
              </a:spcBef>
              <a:defRPr sz="2400" b="1">
                <a:solidFill>
                  <a:schemeClr val="tx1"/>
                </a:solidFill>
                <a:latin typeface="+mn-lt"/>
                <a:ea typeface="黑体" panose="02010609060101010101" pitchFamily="2" charset="-122"/>
              </a:defRPr>
            </a:lvl3pPr>
            <a:lvl4pPr>
              <a:lnSpc>
                <a:spcPct val="110000"/>
              </a:lnSpc>
              <a:spcBef>
                <a:spcPts val="600"/>
              </a:spcBef>
              <a:defRPr sz="2000" b="1">
                <a:solidFill>
                  <a:schemeClr val="tx1"/>
                </a:solidFill>
                <a:latin typeface="+mn-lt"/>
                <a:ea typeface="黑体" panose="02010609060101010101" pitchFamily="2" charset="-122"/>
              </a:defRPr>
            </a:lvl4pPr>
            <a:lvl5pPr>
              <a:lnSpc>
                <a:spcPct val="110000"/>
              </a:lnSpc>
              <a:spcBef>
                <a:spcPts val="600"/>
              </a:spcBef>
              <a:defRPr sz="2000" b="1">
                <a:solidFill>
                  <a:schemeClr val="tx1"/>
                </a:solidFill>
                <a:latin typeface="+mn-lt"/>
                <a:ea typeface="黑体" panose="02010609060101010101" pitchFamily="2"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p:cNvSpPr>
            <a:spLocks noGrp="1"/>
          </p:cNvSpPr>
          <p:nvPr>
            <p:ph type="dt" sz="half" idx="10"/>
          </p:nvPr>
        </p:nvSpPr>
        <p:spPr/>
        <p:txBody>
          <a:bodyPr/>
          <a:lstStyle>
            <a:lvl1pPr>
              <a:defRPr dirty="0"/>
            </a:lvl1pPr>
          </a:lstStyle>
          <a:p>
            <a:endParaRPr lang="en-US" altLang="zh-CN"/>
          </a:p>
        </p:txBody>
      </p:sp>
      <p:sp>
        <p:nvSpPr>
          <p:cNvPr id="6" name="页脚占位符 4"/>
          <p:cNvSpPr>
            <a:spLocks noGrp="1"/>
          </p:cNvSpPr>
          <p:nvPr>
            <p:ph type="ftr" sz="quarter" idx="11"/>
          </p:nvPr>
        </p:nvSpPr>
        <p:spPr/>
        <p:txBody>
          <a:bodyPr/>
          <a:lstStyle>
            <a:lvl1pPr>
              <a:defRPr/>
            </a:lvl1pPr>
          </a:lstStyle>
          <a:p>
            <a:r>
              <a:rPr lang="en-US" altLang="zh-CN"/>
              <a:t>ppt课件</a:t>
            </a:r>
          </a:p>
        </p:txBody>
      </p:sp>
      <p:sp>
        <p:nvSpPr>
          <p:cNvPr id="7" name="灯片编号占位符 5"/>
          <p:cNvSpPr>
            <a:spLocks noGrp="1"/>
          </p:cNvSpPr>
          <p:nvPr>
            <p:ph type="sldNum" sz="quarter" idx="12"/>
          </p:nvPr>
        </p:nvSpPr>
        <p:spPr/>
        <p:txBody>
          <a:bodyPr/>
          <a:lstStyle>
            <a:lvl1pPr>
              <a:defRPr/>
            </a:lvl1pPr>
          </a:lstStyle>
          <a:p>
            <a:fld id="{EB7CA65C-4566-4F22-82C0-F7928AFB6C2C}" type="slidenum">
              <a:rPr lang="zh-CN" altLang="en-US"/>
              <a:pPr/>
              <a:t>‹#›</a:t>
            </a:fld>
            <a:endParaRPr lang="en-US" altLang="zh-CN"/>
          </a:p>
        </p:txBody>
      </p:sp>
    </p:spTree>
    <p:extLst>
      <p:ext uri="{BB962C8B-B14F-4D97-AF65-F5344CB8AC3E}">
        <p14:creationId xmlns:p14="http://schemas.microsoft.com/office/powerpoint/2010/main" val="1693508641"/>
      </p:ext>
    </p:extLst>
  </p:cSld>
  <p:clrMapOvr>
    <a:masterClrMapping/>
  </p:clrMapOvr>
  <p:hf/>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C3B45BCF-6D22-4878-8FB5-A81CDEA85949}" type="slidenum">
              <a:rPr lang="zh-CN" altLang="en-US"/>
              <a:pPr/>
              <a:t>‹#›</a:t>
            </a:fld>
            <a:endParaRPr lang="en-US" altLang="zh-CN"/>
          </a:p>
        </p:txBody>
      </p:sp>
    </p:spTree>
    <p:extLst>
      <p:ext uri="{BB962C8B-B14F-4D97-AF65-F5344CB8AC3E}">
        <p14:creationId xmlns:p14="http://schemas.microsoft.com/office/powerpoint/2010/main" val="2367071423"/>
      </p:ext>
    </p:extLst>
  </p:cSld>
  <p:clrMapOvr>
    <a:masterClrMapping/>
  </p:clrMapOvr>
  <p:hf/>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01208"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日期占位符 4"/>
          <p:cNvSpPr>
            <a:spLocks noGrp="1"/>
          </p:cNvSpPr>
          <p:nvPr>
            <p:ph type="dt" sz="half" idx="10"/>
          </p:nvPr>
        </p:nvSpPr>
        <p:spPr/>
        <p:txBody>
          <a:bodyPr/>
          <a:lstStyle>
            <a:lvl1pPr>
              <a:defRPr/>
            </a:lvl1pPr>
          </a:lstStyle>
          <a:p>
            <a:endParaRPr lang="en-US" altLang="zh-CN"/>
          </a:p>
        </p:txBody>
      </p:sp>
      <p:sp>
        <p:nvSpPr>
          <p:cNvPr id="7" name="页脚占位符 5"/>
          <p:cNvSpPr>
            <a:spLocks noGrp="1"/>
          </p:cNvSpPr>
          <p:nvPr>
            <p:ph type="ftr" sz="quarter" idx="11"/>
          </p:nvPr>
        </p:nvSpPr>
        <p:spPr/>
        <p:txBody>
          <a:bodyPr/>
          <a:lstStyle>
            <a:lvl1pPr>
              <a:defRPr/>
            </a:lvl1pPr>
          </a:lstStyle>
          <a:p>
            <a:r>
              <a:rPr lang="en-US" altLang="zh-CN"/>
              <a:t>ppt课件</a:t>
            </a:r>
          </a:p>
        </p:txBody>
      </p:sp>
      <p:sp>
        <p:nvSpPr>
          <p:cNvPr id="8" name="灯片编号占位符 6"/>
          <p:cNvSpPr>
            <a:spLocks noGrp="1"/>
          </p:cNvSpPr>
          <p:nvPr>
            <p:ph type="sldNum" sz="quarter" idx="12"/>
          </p:nvPr>
        </p:nvSpPr>
        <p:spPr/>
        <p:txBody>
          <a:bodyPr/>
          <a:lstStyle>
            <a:lvl1pPr>
              <a:defRPr/>
            </a:lvl1pPr>
          </a:lstStyle>
          <a:p>
            <a:fld id="{C14A8425-2754-4992-85DA-093F73B1EF8D}" type="slidenum">
              <a:rPr lang="zh-CN" altLang="en-US"/>
              <a:pPr/>
              <a:t>‹#›</a:t>
            </a:fld>
            <a:endParaRPr lang="en-US" altLang="zh-CN"/>
          </a:p>
        </p:txBody>
      </p:sp>
    </p:spTree>
    <p:extLst>
      <p:ext uri="{BB962C8B-B14F-4D97-AF65-F5344CB8AC3E}">
        <p14:creationId xmlns:p14="http://schemas.microsoft.com/office/powerpoint/2010/main" val="97332707"/>
      </p:ext>
    </p:extLst>
  </p:cSld>
  <p:clrMapOvr>
    <a:masterClrMapping/>
  </p:clrMapOvr>
  <p:hf/>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4455513"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75364BCD-9FF8-4EEA-802F-02E81612248A}" type="slidenum">
              <a:rPr lang="zh-CN" altLang="en-US"/>
              <a:pPr/>
              <a:t>‹#›</a:t>
            </a:fld>
            <a:endParaRPr lang="en-US" altLang="zh-CN"/>
          </a:p>
        </p:txBody>
      </p:sp>
    </p:spTree>
    <p:extLst>
      <p:ext uri="{BB962C8B-B14F-4D97-AF65-F5344CB8AC3E}">
        <p14:creationId xmlns:p14="http://schemas.microsoft.com/office/powerpoint/2010/main" val="2208657326"/>
      </p:ext>
    </p:extLst>
  </p:cSld>
  <p:clrMapOvr>
    <a:masterClrMapping/>
  </p:clrMapOvr>
  <p:hf/>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9066213"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8E924188-8841-4DE9-B734-E97410F80EA7}" type="slidenum">
              <a:rPr lang="zh-CN" altLang="en-US"/>
              <a:pPr/>
              <a:t>‹#›</a:t>
            </a:fld>
            <a:endParaRPr lang="en-US" altLang="zh-CN"/>
          </a:p>
        </p:txBody>
      </p:sp>
    </p:spTree>
    <p:extLst>
      <p:ext uri="{BB962C8B-B14F-4D97-AF65-F5344CB8AC3E}">
        <p14:creationId xmlns:p14="http://schemas.microsoft.com/office/powerpoint/2010/main" val="16060111"/>
      </p:ext>
    </p:extLst>
  </p:cSld>
  <p:clrMapOvr>
    <a:masterClrMapping/>
  </p:clrMapOvr>
  <p:hf/>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4" name="日期占位符 2"/>
          <p:cNvSpPr>
            <a:spLocks noGrp="1"/>
          </p:cNvSpPr>
          <p:nvPr>
            <p:ph type="dt" sz="half" idx="10"/>
          </p:nvPr>
        </p:nvSpPr>
        <p:spPr/>
        <p:txBody>
          <a:bodyPr/>
          <a:lstStyle>
            <a:lvl1pPr>
              <a:defRPr/>
            </a:lvl1pPr>
          </a:lstStyle>
          <a:p>
            <a:endParaRPr lang="en-US" altLang="zh-CN"/>
          </a:p>
        </p:txBody>
      </p:sp>
      <p:sp>
        <p:nvSpPr>
          <p:cNvPr id="5" name="页脚占位符 3"/>
          <p:cNvSpPr>
            <a:spLocks noGrp="1"/>
          </p:cNvSpPr>
          <p:nvPr>
            <p:ph type="ftr" sz="quarter" idx="11"/>
          </p:nvPr>
        </p:nvSpPr>
        <p:spPr/>
        <p:txBody>
          <a:bodyPr/>
          <a:lstStyle>
            <a:lvl1pPr>
              <a:defRPr/>
            </a:lvl1pPr>
          </a:lstStyle>
          <a:p>
            <a:r>
              <a:rPr lang="en-US" altLang="zh-CN"/>
              <a:t>ppt课件</a:t>
            </a:r>
          </a:p>
        </p:txBody>
      </p:sp>
      <p:sp>
        <p:nvSpPr>
          <p:cNvPr id="6" name="灯片编号占位符 4"/>
          <p:cNvSpPr>
            <a:spLocks noGrp="1"/>
          </p:cNvSpPr>
          <p:nvPr>
            <p:ph type="sldNum" sz="quarter" idx="12"/>
          </p:nvPr>
        </p:nvSpPr>
        <p:spPr/>
        <p:txBody>
          <a:bodyPr/>
          <a:lstStyle>
            <a:lvl1pPr>
              <a:defRPr/>
            </a:lvl1pPr>
          </a:lstStyle>
          <a:p>
            <a:fld id="{EE0D0CB9-BE1A-4B7E-9987-D843BFDBDFA6}" type="slidenum">
              <a:rPr lang="zh-CN" altLang="en-US"/>
              <a:pPr/>
              <a:t>‹#›</a:t>
            </a:fld>
            <a:endParaRPr lang="en-US" altLang="zh-CN"/>
          </a:p>
        </p:txBody>
      </p:sp>
    </p:spTree>
    <p:extLst>
      <p:ext uri="{BB962C8B-B14F-4D97-AF65-F5344CB8AC3E}">
        <p14:creationId xmlns:p14="http://schemas.microsoft.com/office/powerpoint/2010/main" val="2695861276"/>
      </p:ext>
    </p:extLst>
  </p:cSld>
  <p:clrMapOvr>
    <a:masterClrMapping/>
  </p:clrMapOvr>
  <p:hf/>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ltLang="zh-CN"/>
          </a:p>
        </p:txBody>
      </p:sp>
      <p:sp>
        <p:nvSpPr>
          <p:cNvPr id="3"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4" name="Rectangle 6"/>
          <p:cNvSpPr>
            <a:spLocks noGrp="1" noChangeArrowheads="1"/>
          </p:cNvSpPr>
          <p:nvPr>
            <p:ph type="sldNum" sz="quarter" idx="12"/>
          </p:nvPr>
        </p:nvSpPr>
        <p:spPr>
          <a:ln/>
        </p:spPr>
        <p:txBody>
          <a:bodyPr/>
          <a:lstStyle>
            <a:lvl1pPr>
              <a:defRPr/>
            </a:lvl1pPr>
          </a:lstStyle>
          <a:p>
            <a:fld id="{A0047895-56BC-40E7-B54D-786187ABECC8}" type="slidenum">
              <a:rPr lang="zh-CN" altLang="en-US"/>
              <a:pPr/>
              <a:t>‹#›</a:t>
            </a:fld>
            <a:endParaRPr lang="en-US" altLang="zh-CN"/>
          </a:p>
        </p:txBody>
      </p:sp>
    </p:spTree>
    <p:extLst>
      <p:ext uri="{BB962C8B-B14F-4D97-AF65-F5344CB8AC3E}">
        <p14:creationId xmlns:p14="http://schemas.microsoft.com/office/powerpoint/2010/main" val="2724851595"/>
      </p:ext>
    </p:extLst>
  </p:cSld>
  <p:clrMapOvr>
    <a:masterClrMapping/>
  </p:clrMapOvr>
  <p:hf/>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33A5DC6C-E8EB-4CB9-82BE-2566C17B8596}" type="slidenum">
              <a:rPr lang="zh-CN" altLang="en-US"/>
              <a:pPr/>
              <a:t>‹#›</a:t>
            </a:fld>
            <a:endParaRPr lang="en-US" altLang="zh-CN"/>
          </a:p>
        </p:txBody>
      </p:sp>
    </p:spTree>
    <p:extLst>
      <p:ext uri="{BB962C8B-B14F-4D97-AF65-F5344CB8AC3E}">
        <p14:creationId xmlns:p14="http://schemas.microsoft.com/office/powerpoint/2010/main" val="1115482523"/>
      </p:ext>
    </p:extLst>
  </p:cSld>
  <p:clrMapOvr>
    <a:masterClrMapping/>
  </p:clrMapOvr>
  <p:hf/>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noProof="1"/>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20DFB998-1A56-45AA-8238-C823889BAE5F}" type="slidenum">
              <a:rPr lang="zh-CN" altLang="en-US"/>
              <a:pPr/>
              <a:t>‹#›</a:t>
            </a:fld>
            <a:endParaRPr lang="en-US" altLang="zh-CN"/>
          </a:p>
        </p:txBody>
      </p:sp>
    </p:spTree>
    <p:extLst>
      <p:ext uri="{BB962C8B-B14F-4D97-AF65-F5344CB8AC3E}">
        <p14:creationId xmlns:p14="http://schemas.microsoft.com/office/powerpoint/2010/main" val="481969663"/>
      </p:ext>
    </p:extLst>
  </p:cSld>
  <p:clrMapOvr>
    <a:masterClrMapping/>
  </p:clrMapOvr>
  <p:hf/>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ED9DF3D8-F2BE-4C56-8077-B7A99E011FDE}" type="slidenum">
              <a:rPr lang="zh-CN" altLang="en-US"/>
              <a:pPr/>
              <a:t>‹#›</a:t>
            </a:fld>
            <a:endParaRPr lang="en-US" altLang="zh-CN"/>
          </a:p>
        </p:txBody>
      </p:sp>
    </p:spTree>
    <p:extLst>
      <p:ext uri="{BB962C8B-B14F-4D97-AF65-F5344CB8AC3E}">
        <p14:creationId xmlns:p14="http://schemas.microsoft.com/office/powerpoint/2010/main" val="787725478"/>
      </p:ext>
    </p:extLst>
  </p:cSld>
  <p:clrMapOvr>
    <a:masterClrMapping/>
  </p:clrMapOvr>
  <p:hf/>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639285C9-D267-4602-BC5B-004CB60C2F6A}" type="slidenum">
              <a:rPr lang="zh-CN" altLang="en-US"/>
              <a:pPr/>
              <a:t>‹#›</a:t>
            </a:fld>
            <a:endParaRPr lang="en-US" altLang="zh-CN"/>
          </a:p>
        </p:txBody>
      </p:sp>
    </p:spTree>
    <p:extLst>
      <p:ext uri="{BB962C8B-B14F-4D97-AF65-F5344CB8AC3E}">
        <p14:creationId xmlns:p14="http://schemas.microsoft.com/office/powerpoint/2010/main" val="4102541545"/>
      </p:ext>
    </p:extLst>
  </p:cSld>
  <p:clrMapOvr>
    <a:masterClrMapping/>
  </p:clrMapOvr>
  <p:hf/>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88504" y="188640"/>
            <a:ext cx="8915400" cy="792088"/>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029200" y="1196752"/>
            <a:ext cx="4381500" cy="23765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5029200" y="3754339"/>
            <a:ext cx="4381500" cy="237658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8" name="页脚占位符 6"/>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9" name="灯片编号占位符 7"/>
          <p:cNvSpPr>
            <a:spLocks noGrp="1"/>
          </p:cNvSpPr>
          <p:nvPr>
            <p:ph type="sldNum" sz="quarter" idx="12"/>
          </p:nvPr>
        </p:nvSpPr>
        <p:spPr>
          <a:xfrm>
            <a:off x="7099300" y="6248400"/>
            <a:ext cx="2311400" cy="457200"/>
          </a:xfrm>
        </p:spPr>
        <p:txBody>
          <a:bodyPr/>
          <a:lstStyle>
            <a:lvl1pPr>
              <a:defRPr/>
            </a:lvl1pPr>
          </a:lstStyle>
          <a:p>
            <a:fld id="{FD7FADE1-BAB0-4FD4-85EF-FEBC2CE45AFF}" type="slidenum">
              <a:rPr lang="zh-CN" altLang="en-US"/>
              <a:pPr/>
              <a:t>‹#›</a:t>
            </a:fld>
            <a:endParaRPr lang="en-US" altLang="zh-CN"/>
          </a:p>
        </p:txBody>
      </p:sp>
    </p:spTree>
    <p:extLst>
      <p:ext uri="{BB962C8B-B14F-4D97-AF65-F5344CB8AC3E}">
        <p14:creationId xmlns:p14="http://schemas.microsoft.com/office/powerpoint/2010/main" val="3762945494"/>
      </p:ext>
    </p:extLst>
  </p:cSld>
  <p:clrMapOvr>
    <a:masterClrMapping/>
  </p:clrMapOvr>
  <p:hf/>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1"/>
            <a:ext cx="8915400" cy="792087"/>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剪贴画占位符 3"/>
          <p:cNvSpPr>
            <a:spLocks noGrp="1"/>
          </p:cNvSpPr>
          <p:nvPr>
            <p:ph type="clipArt" sz="half" idx="2" hasCustomPrompt="1"/>
          </p:nvPr>
        </p:nvSpPr>
        <p:spPr>
          <a:xfrm>
            <a:off x="5029200" y="1196752"/>
            <a:ext cx="4381500" cy="4934173"/>
          </a:xfrm>
        </p:spPr>
        <p:txBody>
          <a:bodyPr/>
          <a:lstStyle/>
          <a:p>
            <a:r>
              <a:rPr lang="zh-CN" altLang="en-US" noProof="1"/>
              <a:t>单击图标添加剪 贴画</a:t>
            </a:r>
          </a:p>
        </p:txBody>
      </p:sp>
      <p:sp>
        <p:nvSpPr>
          <p:cNvPr id="6"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5"/>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8" name="灯片编号占位符 6"/>
          <p:cNvSpPr>
            <a:spLocks noGrp="1"/>
          </p:cNvSpPr>
          <p:nvPr>
            <p:ph type="sldNum" sz="quarter" idx="12"/>
          </p:nvPr>
        </p:nvSpPr>
        <p:spPr>
          <a:xfrm>
            <a:off x="7099300" y="6248400"/>
            <a:ext cx="2311400" cy="457200"/>
          </a:xfrm>
        </p:spPr>
        <p:txBody>
          <a:bodyPr/>
          <a:lstStyle>
            <a:lvl1pPr>
              <a:defRPr/>
            </a:lvl1pPr>
          </a:lstStyle>
          <a:p>
            <a:fld id="{4D74A896-9AB5-4D15-8402-862059E5A9BA}" type="slidenum">
              <a:rPr lang="zh-CN" altLang="en-US"/>
              <a:pPr/>
              <a:t>‹#›</a:t>
            </a:fld>
            <a:endParaRPr lang="en-US" altLang="zh-CN"/>
          </a:p>
        </p:txBody>
      </p:sp>
    </p:spTree>
    <p:extLst>
      <p:ext uri="{BB962C8B-B14F-4D97-AF65-F5344CB8AC3E}">
        <p14:creationId xmlns:p14="http://schemas.microsoft.com/office/powerpoint/2010/main" val="1306447998"/>
      </p:ext>
    </p:extLst>
  </p:cSld>
  <p:clrMapOvr>
    <a:masterClrMapping/>
  </p:clrMapOvr>
  <p:hf/>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495300" y="188913"/>
            <a:ext cx="906621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endParaRPr lang="en-US" altLang="zh-CN" smtClean="0"/>
          </a:p>
        </p:txBody>
      </p:sp>
      <p:sp>
        <p:nvSpPr>
          <p:cNvPr id="1027" name="Rectangle 3"/>
          <p:cNvSpPr>
            <a:spLocks noGrp="1" noChangeArrowheads="1"/>
          </p:cNvSpPr>
          <p:nvPr>
            <p:ph type="body" idx="4294967295"/>
          </p:nvPr>
        </p:nvSpPr>
        <p:spPr bwMode="auto">
          <a:xfrm>
            <a:off x="495300" y="1196975"/>
            <a:ext cx="9066213" cy="493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zh-CN" altLang="en-US" smtClean="0"/>
              <a:t>第二级</a:t>
            </a:r>
            <a:endParaRPr lang="en-US" altLang="zh-CN" smtClean="0"/>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15364" name="Rectangle 4"/>
          <p:cNvSpPr>
            <a:spLocks noGrp="1" noChangeArrowheads="1"/>
          </p:cNvSpPr>
          <p:nvPr>
            <p:ph type="dt" sz="half" idx="2"/>
          </p:nvPr>
        </p:nvSpPr>
        <p:spPr bwMode="auto">
          <a:xfrm>
            <a:off x="495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noProof="1" dirty="0">
                <a:ea typeface="宋体" panose="02010600030101010101" pitchFamily="2" charset="-122"/>
              </a:defRPr>
            </a:lvl1pPr>
          </a:lstStyle>
          <a:p>
            <a:endParaRPr lang="en-US" altLang="zh-CN"/>
          </a:p>
        </p:txBody>
      </p:sp>
      <p:sp>
        <p:nvSpPr>
          <p:cNvPr id="15365" name="Rectangle 5"/>
          <p:cNvSpPr>
            <a:spLocks noGrp="1" noChangeArrowheads="1"/>
          </p:cNvSpPr>
          <p:nvPr>
            <p:ph type="ftr" sz="quarter" idx="3"/>
          </p:nvPr>
        </p:nvSpPr>
        <p:spPr bwMode="auto">
          <a:xfrm>
            <a:off x="3384550" y="6356350"/>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noProof="1">
                <a:ea typeface="宋体" panose="02010600030101010101" pitchFamily="2" charset="-122"/>
              </a:defRPr>
            </a:lvl1pPr>
          </a:lstStyle>
          <a:p>
            <a:r>
              <a:rPr lang="en-US" altLang="zh-CN"/>
              <a:t>ppt课件</a:t>
            </a:r>
          </a:p>
        </p:txBody>
      </p:sp>
      <p:sp>
        <p:nvSpPr>
          <p:cNvPr id="15366" name="Rectangle 6"/>
          <p:cNvSpPr>
            <a:spLocks noGrp="1" noChangeArrowheads="1"/>
          </p:cNvSpPr>
          <p:nvPr>
            <p:ph type="sldNum" sz="quarter" idx="4"/>
          </p:nvPr>
        </p:nvSpPr>
        <p:spPr bwMode="auto">
          <a:xfrm>
            <a:off x="7099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noProof="1">
                <a:ea typeface="宋体" panose="02010600030101010101" pitchFamily="2" charset="-122"/>
              </a:defRPr>
            </a:lvl1pPr>
          </a:lstStyle>
          <a:p>
            <a:fld id="{60EDAF7A-0A16-47FB-BF04-01BDDD727E33}" type="slidenum">
              <a:rPr lang="zh-CN" altLang="en-US"/>
              <a:pPr/>
              <a:t>‹#›</a:t>
            </a:fld>
            <a:endParaRPr lang="en-US" altLang="zh-CN"/>
          </a:p>
        </p:txBody>
      </p:sp>
      <p:sp>
        <p:nvSpPr>
          <p:cNvPr id="1031" name="Rectangle 7" descr="Gold bar"/>
          <p:cNvSpPr>
            <a:spLocks noChangeArrowheads="1"/>
          </p:cNvSpPr>
          <p:nvPr/>
        </p:nvSpPr>
        <p:spPr bwMode="auto">
          <a:xfrm>
            <a:off x="0" y="0"/>
            <a:ext cx="24765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2" name="Rectangle 9" descr="Orange bar"/>
          <p:cNvSpPr>
            <a:spLocks noChangeArrowheads="1"/>
          </p:cNvSpPr>
          <p:nvPr/>
        </p:nvSpPr>
        <p:spPr bwMode="auto">
          <a:xfrm>
            <a:off x="0" y="2286000"/>
            <a:ext cx="24765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3" name="Rectangle 10" descr="Slate bar"/>
          <p:cNvSpPr>
            <a:spLocks noChangeArrowheads="1"/>
          </p:cNvSpPr>
          <p:nvPr/>
        </p:nvSpPr>
        <p:spPr bwMode="auto">
          <a:xfrm>
            <a:off x="0" y="4572000"/>
            <a:ext cx="247650" cy="2286000"/>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pic>
        <p:nvPicPr>
          <p:cNvPr id="1034" name="Picture 2" descr="computer networking 的图像结果"/>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724900" y="188913"/>
            <a:ext cx="112395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 name="AutoShape 5" descr="https://publicrelationssydney.com.au/wp-content/uploads/2013/01/shutterstock_80434384.jpg"/>
          <p:cNvSpPr>
            <a:spLocks noChangeAspect="1" noChangeArrowheads="1"/>
          </p:cNvSpPr>
          <p:nvPr userDrawn="1"/>
        </p:nvSpPr>
        <p:spPr bwMode="auto">
          <a:xfrm>
            <a:off x="63500" y="-1365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69" r:id="rId3"/>
    <p:sldLayoutId id="2147483672" r:id="rId4"/>
    <p:sldLayoutId id="2147483673" r:id="rId5"/>
    <p:sldLayoutId id="2147483674" r:id="rId6"/>
    <p:sldLayoutId id="2147483675" r:id="rId7"/>
    <p:sldLayoutId id="2147483668" r:id="rId8"/>
    <p:sldLayoutId id="2147483667" r:id="rId9"/>
    <p:sldLayoutId id="2147483666" r:id="rId10"/>
    <p:sldLayoutId id="2147483665" r:id="rId11"/>
    <p:sldLayoutId id="2147483664" r:id="rId12"/>
    <p:sldLayoutId id="2147483676" r:id="rId13"/>
    <p:sldLayoutId id="2147483677" r:id="rId14"/>
  </p:sldLayoutIdLst>
  <p:hf/>
  <p:txStyles>
    <p:titleStyle>
      <a:lvl1pPr algn="l" rtl="0" fontAlgn="base">
        <a:spcBef>
          <a:spcPct val="0"/>
        </a:spcBef>
        <a:spcAft>
          <a:spcPct val="0"/>
        </a:spcAft>
        <a:defRPr sz="4400" b="1">
          <a:solidFill>
            <a:srgbClr val="333399"/>
          </a:solidFill>
          <a:latin typeface="+mn-lt"/>
          <a:ea typeface="黑体" panose="02010609060101010101" pitchFamily="2" charset="-122"/>
          <a:cs typeface="+mj-cs"/>
        </a:defRPr>
      </a:lvl1pPr>
      <a:lvl2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2pPr>
      <a:lvl3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3pPr>
      <a:lvl4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4pPr>
      <a:lvl5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fontAlgn="base">
        <a:spcBef>
          <a:spcPct val="200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fontAlgn="base">
        <a:spcBef>
          <a:spcPct val="200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fontAlgn="base">
        <a:spcBef>
          <a:spcPct val="200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fontAlgn="base">
        <a:spcBef>
          <a:spcPct val="200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7169" name="Rectangle 2"/>
          <p:cNvSpPr>
            <a:spLocks noGrp="1" noChangeArrowheads="1"/>
          </p:cNvSpPr>
          <p:nvPr>
            <p:ph type="ctrTitle"/>
          </p:nvPr>
        </p:nvSpPr>
        <p:spPr/>
        <p:txBody>
          <a:bodyPr/>
          <a:lstStyle/>
          <a:p>
            <a:r>
              <a:rPr lang="zh-CN" altLang="en-US" smtClean="0">
                <a:latin typeface="Arial" panose="020B0604020202020204" pitchFamily="34" charset="0"/>
                <a:ea typeface="黑体" panose="02010609060101010101" pitchFamily="49" charset="-122"/>
              </a:rPr>
              <a:t>第 </a:t>
            </a:r>
            <a:r>
              <a:rPr lang="en-US" altLang="zh-CN" smtClean="0">
                <a:latin typeface="Arial" panose="020B0604020202020204" pitchFamily="34" charset="0"/>
                <a:ea typeface="黑体" panose="02010609060101010101" pitchFamily="49" charset="-122"/>
              </a:rPr>
              <a:t>5 </a:t>
            </a:r>
            <a:r>
              <a:rPr lang="zh-CN" altLang="en-US" smtClean="0">
                <a:latin typeface="Arial" panose="020B0604020202020204" pitchFamily="34" charset="0"/>
                <a:ea typeface="黑体" panose="02010609060101010101" pitchFamily="49" charset="-122"/>
              </a:rPr>
              <a:t>章  运输层</a:t>
            </a:r>
          </a:p>
        </p:txBody>
      </p:sp>
      <p:sp>
        <p:nvSpPr>
          <p:cNvPr id="1287170" name="Rectangle 3"/>
          <p:cNvSpPr>
            <a:spLocks noGrp="1" noChangeArrowheads="1"/>
          </p:cNvSpPr>
          <p:nvPr>
            <p:ph type="subTitle" idx="1"/>
          </p:nvPr>
        </p:nvSpPr>
        <p:spPr/>
        <p:txBody>
          <a:bodyPr/>
          <a:lstStyle/>
          <a:p>
            <a:r>
              <a:rPr lang="en-US" altLang="zh-CN" dirty="0" smtClean="0">
                <a:latin typeface="黑体" panose="02010609060101010101" pitchFamily="49" charset="-122"/>
                <a:ea typeface="宋体" panose="02010600030101010101" pitchFamily="2" charset="-122"/>
              </a:rPr>
              <a:t>5.9</a:t>
            </a:r>
            <a:endParaRPr lang="zh-CN" altLang="en-US" dirty="0" smtClean="0">
              <a:latin typeface="黑体" panose="02010609060101010101" pitchFamily="49" charset="-122"/>
              <a:ea typeface="宋体" panose="02010600030101010101" pitchFamily="2" charset="-122"/>
            </a:endParaRPr>
          </a:p>
        </p:txBody>
      </p:sp>
      <p:sp>
        <p:nvSpPr>
          <p:cNvPr id="128717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345DFF6-F5DA-465C-B287-F18645B4BE58}" type="slidenum">
              <a:rPr lang="zh-CN" altLang="en-US" smtClean="0"/>
              <a:pPr eaLnBrk="1" hangingPunct="1"/>
              <a:t>1</a:t>
            </a:fld>
            <a:endParaRPr lang="en-US" altLang="zh-CN" smtClean="0"/>
          </a:p>
        </p:txBody>
      </p:sp>
      <p:sp>
        <p:nvSpPr>
          <p:cNvPr id="128717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9217" name="标题 1"/>
          <p:cNvSpPr>
            <a:spLocks noGrp="1" noChangeArrowheads="1"/>
          </p:cNvSpPr>
          <p:nvPr>
            <p:ph type="title"/>
          </p:nvPr>
        </p:nvSpPr>
        <p:spPr>
          <a:xfrm>
            <a:off x="495300" y="188913"/>
            <a:ext cx="9066213" cy="792162"/>
          </a:xfrm>
        </p:spPr>
        <p:txBody>
          <a:bodyPr/>
          <a:lstStyle/>
          <a:p>
            <a:r>
              <a:rPr lang="zh-CN" altLang="zh-CN" smtClean="0">
                <a:ea typeface="黑体" panose="02010609060101010101" pitchFamily="49" charset="-122"/>
              </a:rPr>
              <a:t>第</a:t>
            </a:r>
            <a:r>
              <a:rPr lang="en-US" altLang="zh-CN" smtClean="0">
                <a:ea typeface="黑体" panose="02010609060101010101" pitchFamily="49" charset="-122"/>
              </a:rPr>
              <a:t> 5 </a:t>
            </a:r>
            <a:r>
              <a:rPr lang="zh-CN" altLang="zh-CN" smtClean="0">
                <a:ea typeface="黑体" panose="02010609060101010101" pitchFamily="49" charset="-122"/>
              </a:rPr>
              <a:t>章</a:t>
            </a:r>
            <a:r>
              <a:rPr lang="en-US" altLang="zh-CN" smtClean="0">
                <a:ea typeface="黑体" panose="02010609060101010101" pitchFamily="49" charset="-122"/>
              </a:rPr>
              <a:t>  </a:t>
            </a:r>
            <a:r>
              <a:rPr lang="zh-CN" altLang="en-US" smtClean="0">
                <a:ea typeface="黑体" panose="02010609060101010101" pitchFamily="49" charset="-122"/>
              </a:rPr>
              <a:t>运输</a:t>
            </a:r>
            <a:r>
              <a:rPr lang="zh-CN" altLang="zh-CN" smtClean="0">
                <a:ea typeface="黑体" panose="02010609060101010101" pitchFamily="49" charset="-122"/>
              </a:rPr>
              <a:t>层</a:t>
            </a:r>
            <a:endParaRPr lang="zh-CN" altLang="en-US" smtClean="0">
              <a:ea typeface="黑体" panose="02010609060101010101" pitchFamily="49" charset="-122"/>
            </a:endParaRPr>
          </a:p>
        </p:txBody>
      </p:sp>
      <p:sp>
        <p:nvSpPr>
          <p:cNvPr id="1289218" name="内容占位符 2"/>
          <p:cNvSpPr>
            <a:spLocks noGrp="1" noChangeArrowheads="1"/>
          </p:cNvSpPr>
          <p:nvPr>
            <p:ph idx="1"/>
          </p:nvPr>
        </p:nvSpPr>
        <p:spPr>
          <a:xfrm>
            <a:off x="495300" y="1196975"/>
            <a:ext cx="9066213" cy="4933950"/>
          </a:xfrm>
        </p:spPr>
        <p:txBody>
          <a:bodyPr/>
          <a:lstStyle/>
          <a:p>
            <a:r>
              <a:rPr lang="en-US" altLang="zh-CN" sz="2800" dirty="0" smtClean="0">
                <a:ea typeface="黑体" panose="02010609060101010101" pitchFamily="49" charset="-122"/>
              </a:rPr>
              <a:t>5.9  TCP </a:t>
            </a:r>
            <a:r>
              <a:rPr lang="zh-CN" altLang="zh-CN" sz="2800" dirty="0" smtClean="0">
                <a:ea typeface="黑体" panose="02010609060101010101" pitchFamily="49" charset="-122"/>
              </a:rPr>
              <a:t>的运输连接管理</a:t>
            </a:r>
          </a:p>
        </p:txBody>
      </p:sp>
      <p:sp>
        <p:nvSpPr>
          <p:cNvPr id="1289219"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09FFB69-87C2-430A-9CCD-5067B2933901}" type="slidenum">
              <a:rPr lang="zh-CN" altLang="en-US" smtClean="0"/>
              <a:pPr eaLnBrk="1" hangingPunct="1"/>
              <a:t>2</a:t>
            </a:fld>
            <a:endParaRPr lang="en-US" altLang="zh-CN" smtClean="0"/>
          </a:p>
        </p:txBody>
      </p:sp>
      <p:sp>
        <p:nvSpPr>
          <p:cNvPr id="1289220"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8769"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5.9  TCP </a:t>
            </a:r>
            <a:r>
              <a:rPr lang="zh-CN" altLang="zh-CN" smtClean="0">
                <a:ea typeface="黑体" panose="02010609060101010101" pitchFamily="49" charset="-122"/>
              </a:rPr>
              <a:t>的运输连接管理</a:t>
            </a:r>
          </a:p>
        </p:txBody>
      </p:sp>
      <p:sp>
        <p:nvSpPr>
          <p:cNvPr id="1568770" name="Rectangle 3"/>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5.9.1  TCP </a:t>
            </a:r>
            <a:r>
              <a:rPr lang="zh-CN" altLang="zh-CN" smtClean="0">
                <a:ea typeface="黑体" panose="02010609060101010101" pitchFamily="49" charset="-122"/>
              </a:rPr>
              <a:t>的连接建立</a:t>
            </a:r>
          </a:p>
          <a:p>
            <a:r>
              <a:rPr lang="en-US" altLang="zh-CN" smtClean="0">
                <a:ea typeface="黑体" panose="02010609060101010101" pitchFamily="49" charset="-122"/>
              </a:rPr>
              <a:t>5.9.2  TCP </a:t>
            </a:r>
            <a:r>
              <a:rPr lang="zh-CN" altLang="zh-CN" smtClean="0">
                <a:ea typeface="黑体" panose="02010609060101010101" pitchFamily="49" charset="-122"/>
              </a:rPr>
              <a:t>的连接释放</a:t>
            </a:r>
          </a:p>
          <a:p>
            <a:r>
              <a:rPr lang="en-US" altLang="zh-CN" smtClean="0">
                <a:ea typeface="黑体" panose="02010609060101010101" pitchFamily="49" charset="-122"/>
              </a:rPr>
              <a:t>5.9.3  TCP </a:t>
            </a:r>
            <a:r>
              <a:rPr lang="zh-CN" altLang="zh-CN" smtClean="0">
                <a:ea typeface="黑体" panose="02010609060101010101" pitchFamily="49" charset="-122"/>
              </a:rPr>
              <a:t>的有限状态机</a:t>
            </a:r>
          </a:p>
        </p:txBody>
      </p:sp>
      <p:sp>
        <p:nvSpPr>
          <p:cNvPr id="156877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E16FE42-4C17-4173-900B-543E9F61D4CE}" type="slidenum">
              <a:rPr lang="zh-CN" altLang="en-US" smtClean="0"/>
              <a:pPr eaLnBrk="1" hangingPunct="1"/>
              <a:t>3</a:t>
            </a:fld>
            <a:endParaRPr lang="en-US" altLang="zh-CN" smtClean="0"/>
          </a:p>
        </p:txBody>
      </p:sp>
      <p:sp>
        <p:nvSpPr>
          <p:cNvPr id="156877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0817" name="Rectangle 2"/>
          <p:cNvSpPr>
            <a:spLocks noGrp="1" noChangeArrowheads="1"/>
          </p:cNvSpPr>
          <p:nvPr>
            <p:ph type="title"/>
          </p:nvPr>
        </p:nvSpPr>
        <p:spPr>
          <a:xfrm>
            <a:off x="495300" y="188913"/>
            <a:ext cx="9066213" cy="792162"/>
          </a:xfrm>
        </p:spPr>
        <p:txBody>
          <a:bodyPr/>
          <a:lstStyle/>
          <a:p>
            <a:pPr algn="ctr"/>
            <a:r>
              <a:rPr lang="zh-CN" altLang="zh-CN" smtClean="0">
                <a:ea typeface="黑体" panose="02010609060101010101" pitchFamily="49" charset="-122"/>
              </a:rPr>
              <a:t>运输连接</a:t>
            </a:r>
            <a:r>
              <a:rPr lang="zh-CN" altLang="en-US" smtClean="0">
                <a:ea typeface="黑体" panose="02010609060101010101" pitchFamily="49" charset="-122"/>
              </a:rPr>
              <a:t>的</a:t>
            </a:r>
            <a:r>
              <a:rPr lang="zh-CN" altLang="zh-CN" smtClean="0">
                <a:ea typeface="黑体" panose="02010609060101010101" pitchFamily="49" charset="-122"/>
              </a:rPr>
              <a:t>三个阶段</a:t>
            </a:r>
          </a:p>
        </p:txBody>
      </p:sp>
      <p:sp>
        <p:nvSpPr>
          <p:cNvPr id="1570818" name="Rectangle 3"/>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TCP </a:t>
            </a:r>
            <a:r>
              <a:rPr lang="zh-CN" altLang="zh-CN" smtClean="0">
                <a:ea typeface="黑体" panose="02010609060101010101" pitchFamily="49" charset="-122"/>
              </a:rPr>
              <a:t>是面向连接的协议。</a:t>
            </a:r>
            <a:endParaRPr lang="en-US" altLang="zh-CN" smtClean="0">
              <a:ea typeface="黑体" panose="02010609060101010101" pitchFamily="49" charset="-122"/>
            </a:endParaRPr>
          </a:p>
          <a:p>
            <a:r>
              <a:rPr lang="zh-CN" altLang="zh-CN" smtClean="0">
                <a:ea typeface="黑体" panose="02010609060101010101" pitchFamily="49" charset="-122"/>
              </a:rPr>
              <a:t>运输连接有三个阶段：</a:t>
            </a:r>
            <a:endParaRPr lang="en-US" altLang="zh-CN" smtClean="0">
              <a:ea typeface="黑体" panose="02010609060101010101" pitchFamily="49" charset="-122"/>
            </a:endParaRPr>
          </a:p>
          <a:p>
            <a:pPr lvl="1"/>
            <a:r>
              <a:rPr lang="zh-CN" altLang="zh-CN" smtClean="0">
                <a:solidFill>
                  <a:srgbClr val="0000FF"/>
                </a:solidFill>
                <a:ea typeface="黑体" panose="02010609060101010101" pitchFamily="49" charset="-122"/>
              </a:rPr>
              <a:t>连接建立</a:t>
            </a:r>
            <a:endParaRPr lang="en-US" altLang="zh-CN" smtClean="0">
              <a:solidFill>
                <a:srgbClr val="0000FF"/>
              </a:solidFill>
              <a:ea typeface="黑体" panose="02010609060101010101" pitchFamily="49" charset="-122"/>
            </a:endParaRPr>
          </a:p>
          <a:p>
            <a:pPr lvl="1"/>
            <a:r>
              <a:rPr lang="zh-CN" altLang="zh-CN" smtClean="0">
                <a:solidFill>
                  <a:srgbClr val="0000FF"/>
                </a:solidFill>
                <a:ea typeface="黑体" panose="02010609060101010101" pitchFamily="49" charset="-122"/>
              </a:rPr>
              <a:t>数据传送</a:t>
            </a:r>
            <a:endParaRPr lang="en-US" altLang="zh-CN" smtClean="0">
              <a:solidFill>
                <a:srgbClr val="0000FF"/>
              </a:solidFill>
              <a:ea typeface="黑体" panose="02010609060101010101" pitchFamily="49" charset="-122"/>
            </a:endParaRPr>
          </a:p>
          <a:p>
            <a:pPr lvl="1"/>
            <a:r>
              <a:rPr lang="zh-CN" altLang="zh-CN" smtClean="0">
                <a:solidFill>
                  <a:srgbClr val="0000FF"/>
                </a:solidFill>
                <a:ea typeface="黑体" panose="02010609060101010101" pitchFamily="49" charset="-122"/>
              </a:rPr>
              <a:t>连接释放</a:t>
            </a:r>
            <a:endParaRPr lang="en-US" altLang="zh-CN" smtClean="0">
              <a:solidFill>
                <a:srgbClr val="0000FF"/>
              </a:solidFill>
              <a:ea typeface="黑体" panose="02010609060101010101" pitchFamily="49" charset="-122"/>
            </a:endParaRPr>
          </a:p>
          <a:p>
            <a:r>
              <a:rPr lang="zh-CN" altLang="zh-CN" smtClean="0">
                <a:solidFill>
                  <a:srgbClr val="FF0000"/>
                </a:solidFill>
                <a:ea typeface="黑体" panose="02010609060101010101" pitchFamily="49" charset="-122"/>
              </a:rPr>
              <a:t>运输连接的管理</a:t>
            </a:r>
            <a:r>
              <a:rPr lang="zh-CN" altLang="zh-CN" smtClean="0">
                <a:ea typeface="黑体" panose="02010609060101010101" pitchFamily="49" charset="-122"/>
              </a:rPr>
              <a:t>就是使运输连接的建立和释放都能正常地进行。</a:t>
            </a:r>
          </a:p>
        </p:txBody>
      </p:sp>
      <p:sp>
        <p:nvSpPr>
          <p:cNvPr id="157081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B229BF0-EDA5-49A9-860A-E13B7A49A491}" type="slidenum">
              <a:rPr lang="zh-CN" altLang="en-US" smtClean="0"/>
              <a:pPr eaLnBrk="1" hangingPunct="1"/>
              <a:t>4</a:t>
            </a:fld>
            <a:endParaRPr lang="en-US" altLang="zh-CN" smtClean="0"/>
          </a:p>
        </p:txBody>
      </p:sp>
      <p:sp>
        <p:nvSpPr>
          <p:cNvPr id="157082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2865" name="Rectangle 2"/>
          <p:cNvSpPr>
            <a:spLocks noGrp="1" noChangeArrowheads="1"/>
          </p:cNvSpPr>
          <p:nvPr>
            <p:ph type="title"/>
          </p:nvPr>
        </p:nvSpPr>
        <p:spPr>
          <a:xfrm>
            <a:off x="495300" y="188913"/>
            <a:ext cx="8489950" cy="792162"/>
          </a:xfrm>
        </p:spPr>
        <p:txBody>
          <a:bodyPr/>
          <a:lstStyle/>
          <a:p>
            <a:pPr algn="ctr"/>
            <a:r>
              <a:rPr lang="en-US" altLang="zh-CN" sz="3600" smtClean="0">
                <a:ea typeface="黑体" panose="02010609060101010101" pitchFamily="49" charset="-122"/>
              </a:rPr>
              <a:t>TCP </a:t>
            </a:r>
            <a:r>
              <a:rPr lang="zh-CN" altLang="zh-CN" sz="3600" smtClean="0">
                <a:ea typeface="黑体" panose="02010609060101010101" pitchFamily="49" charset="-122"/>
              </a:rPr>
              <a:t>连接建立过程中要解决</a:t>
            </a:r>
            <a:r>
              <a:rPr lang="zh-CN" altLang="en-US" sz="3600" smtClean="0">
                <a:ea typeface="黑体" panose="02010609060101010101" pitchFamily="49" charset="-122"/>
              </a:rPr>
              <a:t>的</a:t>
            </a:r>
            <a:r>
              <a:rPr lang="zh-CN" altLang="zh-CN" sz="3600" smtClean="0">
                <a:ea typeface="黑体" panose="02010609060101010101" pitchFamily="49" charset="-122"/>
              </a:rPr>
              <a:t>三个问题</a:t>
            </a:r>
          </a:p>
        </p:txBody>
      </p:sp>
      <p:sp>
        <p:nvSpPr>
          <p:cNvPr id="1572866"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(1) </a:t>
            </a:r>
            <a:r>
              <a:rPr lang="zh-CN" altLang="zh-CN" dirty="0" smtClean="0">
                <a:ea typeface="黑体" panose="02010609060101010101" pitchFamily="49" charset="-122"/>
              </a:rPr>
              <a:t>要使每一方能够</a:t>
            </a:r>
            <a:r>
              <a:rPr lang="zh-CN" altLang="zh-CN" dirty="0" smtClean="0">
                <a:solidFill>
                  <a:srgbClr val="0000FF"/>
                </a:solidFill>
                <a:ea typeface="黑体" panose="02010609060101010101" pitchFamily="49" charset="-122"/>
              </a:rPr>
              <a:t>确知对方</a:t>
            </a:r>
            <a:r>
              <a:rPr lang="zh-CN" altLang="zh-CN" dirty="0" smtClean="0">
                <a:ea typeface="黑体" panose="02010609060101010101" pitchFamily="49" charset="-122"/>
              </a:rPr>
              <a:t>的</a:t>
            </a:r>
            <a:r>
              <a:rPr lang="zh-CN" altLang="zh-CN" dirty="0" smtClean="0">
                <a:solidFill>
                  <a:srgbClr val="0000FF"/>
                </a:solidFill>
                <a:ea typeface="黑体" panose="02010609060101010101" pitchFamily="49" charset="-122"/>
              </a:rPr>
              <a:t>存在</a:t>
            </a:r>
            <a:r>
              <a:rPr lang="zh-CN" altLang="zh-CN" dirty="0" smtClean="0">
                <a:ea typeface="黑体" panose="02010609060101010101" pitchFamily="49" charset="-122"/>
              </a:rPr>
              <a:t>。</a:t>
            </a:r>
          </a:p>
          <a:p>
            <a:r>
              <a:rPr lang="en-US" altLang="zh-CN" dirty="0" smtClean="0">
                <a:ea typeface="黑体" panose="02010609060101010101" pitchFamily="49" charset="-122"/>
              </a:rPr>
              <a:t>(2) </a:t>
            </a:r>
            <a:r>
              <a:rPr lang="zh-CN" altLang="zh-CN" dirty="0" smtClean="0">
                <a:ea typeface="黑体" panose="02010609060101010101" pitchFamily="49" charset="-122"/>
              </a:rPr>
              <a:t>要允许双方</a:t>
            </a:r>
            <a:r>
              <a:rPr lang="zh-CN" altLang="zh-CN" dirty="0" smtClean="0">
                <a:solidFill>
                  <a:srgbClr val="0000FF"/>
                </a:solidFill>
                <a:ea typeface="黑体" panose="02010609060101010101" pitchFamily="49" charset="-122"/>
              </a:rPr>
              <a:t>协商</a:t>
            </a:r>
            <a:r>
              <a:rPr lang="zh-CN" altLang="zh-CN" dirty="0" smtClean="0">
                <a:ea typeface="黑体" panose="02010609060101010101" pitchFamily="49" charset="-122"/>
              </a:rPr>
              <a:t>一些</a:t>
            </a:r>
            <a:r>
              <a:rPr lang="zh-CN" altLang="zh-CN" dirty="0" smtClean="0">
                <a:solidFill>
                  <a:srgbClr val="0000FF"/>
                </a:solidFill>
                <a:ea typeface="黑体" panose="02010609060101010101" pitchFamily="49" charset="-122"/>
              </a:rPr>
              <a:t>参数</a:t>
            </a:r>
            <a:r>
              <a:rPr lang="zh-CN" altLang="zh-CN" dirty="0" smtClean="0">
                <a:ea typeface="黑体" panose="02010609060101010101" pitchFamily="49" charset="-122"/>
              </a:rPr>
              <a:t>（如最大窗口值、是否使用窗口扩大选项和时间戳选项以及服务质量等）。</a:t>
            </a:r>
          </a:p>
          <a:p>
            <a:r>
              <a:rPr lang="en-US" altLang="zh-CN" dirty="0" smtClean="0">
                <a:ea typeface="黑体" panose="02010609060101010101" pitchFamily="49" charset="-122"/>
              </a:rPr>
              <a:t>(3) </a:t>
            </a:r>
            <a:r>
              <a:rPr lang="zh-CN" altLang="zh-CN" dirty="0" smtClean="0">
                <a:ea typeface="黑体" panose="02010609060101010101" pitchFamily="49" charset="-122"/>
              </a:rPr>
              <a:t>能够对运输实体</a:t>
            </a:r>
            <a:r>
              <a:rPr lang="zh-CN" altLang="zh-CN" dirty="0" smtClean="0">
                <a:solidFill>
                  <a:srgbClr val="0000FF"/>
                </a:solidFill>
                <a:ea typeface="黑体" panose="02010609060101010101" pitchFamily="49" charset="-122"/>
              </a:rPr>
              <a:t>资源</a:t>
            </a:r>
            <a:r>
              <a:rPr lang="zh-CN" altLang="zh-CN" dirty="0" smtClean="0">
                <a:ea typeface="黑体" panose="02010609060101010101" pitchFamily="49" charset="-122"/>
              </a:rPr>
              <a:t>（如缓存大小、连接表中的项目等）进行</a:t>
            </a:r>
            <a:r>
              <a:rPr lang="zh-CN" altLang="zh-CN" dirty="0" smtClean="0">
                <a:solidFill>
                  <a:srgbClr val="0000FF"/>
                </a:solidFill>
                <a:ea typeface="黑体" panose="02010609060101010101" pitchFamily="49" charset="-122"/>
              </a:rPr>
              <a:t>分配</a:t>
            </a:r>
            <a:r>
              <a:rPr lang="zh-CN" altLang="zh-CN" dirty="0" smtClean="0">
                <a:ea typeface="黑体" panose="02010609060101010101" pitchFamily="49" charset="-122"/>
              </a:rPr>
              <a:t>。</a:t>
            </a:r>
          </a:p>
        </p:txBody>
      </p:sp>
      <p:sp>
        <p:nvSpPr>
          <p:cNvPr id="157286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372E283-E00C-4D2C-90A0-E3EFEF673096}" type="slidenum">
              <a:rPr lang="zh-CN" altLang="en-US" smtClean="0"/>
              <a:pPr eaLnBrk="1" hangingPunct="1"/>
              <a:t>5</a:t>
            </a:fld>
            <a:endParaRPr lang="en-US" altLang="zh-CN" smtClean="0"/>
          </a:p>
        </p:txBody>
      </p:sp>
      <p:sp>
        <p:nvSpPr>
          <p:cNvPr id="157286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491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客户</a:t>
            </a:r>
            <a:r>
              <a:rPr lang="zh-CN" altLang="en-US" smtClean="0">
                <a:ea typeface="黑体" panose="02010609060101010101" pitchFamily="49" charset="-122"/>
                <a:sym typeface="Symbol" panose="05050102010706020507" pitchFamily="18" charset="2"/>
              </a:rPr>
              <a:t></a:t>
            </a:r>
            <a:r>
              <a:rPr lang="zh-CN" altLang="en-US" smtClean="0">
                <a:ea typeface="黑体" panose="02010609060101010101" pitchFamily="49" charset="-122"/>
              </a:rPr>
              <a:t>服务器方式 </a:t>
            </a:r>
            <a:endParaRPr lang="zh-CN" altLang="zh-CN" smtClean="0">
              <a:ea typeface="黑体" panose="02010609060101010101" pitchFamily="49" charset="-122"/>
            </a:endParaRPr>
          </a:p>
        </p:txBody>
      </p:sp>
      <p:sp>
        <p:nvSpPr>
          <p:cNvPr id="1574914" name="Rectangle 3"/>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TCP</a:t>
            </a:r>
            <a:r>
              <a:rPr lang="zh-CN" altLang="zh-CN" smtClean="0">
                <a:ea typeface="黑体" panose="02010609060101010101" pitchFamily="49" charset="-122"/>
              </a:rPr>
              <a:t>连接的建立</a:t>
            </a:r>
            <a:r>
              <a:rPr lang="zh-CN" altLang="zh-CN" smtClean="0">
                <a:solidFill>
                  <a:srgbClr val="FF0000"/>
                </a:solidFill>
                <a:ea typeface="黑体" panose="02010609060101010101" pitchFamily="49" charset="-122"/>
              </a:rPr>
              <a:t>采用客户服务器方式。</a:t>
            </a:r>
            <a:endParaRPr lang="en-US" altLang="zh-CN" smtClean="0">
              <a:solidFill>
                <a:srgbClr val="FF0000"/>
              </a:solidFill>
              <a:ea typeface="黑体" panose="02010609060101010101" pitchFamily="49" charset="-122"/>
            </a:endParaRPr>
          </a:p>
          <a:p>
            <a:r>
              <a:rPr lang="zh-CN" altLang="zh-CN" smtClean="0">
                <a:ea typeface="黑体" panose="02010609060101010101" pitchFamily="49" charset="-122"/>
              </a:rPr>
              <a:t>主动发起连接建立的应用进程叫做</a:t>
            </a:r>
            <a:r>
              <a:rPr lang="zh-CN" altLang="zh-CN" smtClean="0">
                <a:solidFill>
                  <a:srgbClr val="FF0000"/>
                </a:solidFill>
                <a:ea typeface="黑体" panose="02010609060101010101" pitchFamily="49" charset="-122"/>
              </a:rPr>
              <a:t>客户</a:t>
            </a:r>
            <a:r>
              <a:rPr lang="en-US" altLang="zh-CN" smtClean="0">
                <a:ea typeface="黑体" panose="02010609060101010101" pitchFamily="49" charset="-122"/>
              </a:rPr>
              <a:t>(client)</a:t>
            </a:r>
            <a:r>
              <a:rPr lang="zh-CN" altLang="zh-CN" smtClean="0">
                <a:ea typeface="黑体" panose="02010609060101010101" pitchFamily="49" charset="-122"/>
              </a:rPr>
              <a:t>，</a:t>
            </a:r>
            <a:endParaRPr lang="en-US" altLang="zh-CN" smtClean="0">
              <a:ea typeface="黑体" panose="02010609060101010101" pitchFamily="49" charset="-122"/>
            </a:endParaRPr>
          </a:p>
          <a:p>
            <a:r>
              <a:rPr lang="zh-CN" altLang="zh-CN" smtClean="0">
                <a:ea typeface="黑体" panose="02010609060101010101" pitchFamily="49" charset="-122"/>
              </a:rPr>
              <a:t>被动等待连接建立的应用进程叫做</a:t>
            </a:r>
            <a:r>
              <a:rPr lang="zh-CN" altLang="zh-CN" smtClean="0">
                <a:solidFill>
                  <a:srgbClr val="FF0000"/>
                </a:solidFill>
                <a:ea typeface="黑体" panose="02010609060101010101" pitchFamily="49" charset="-122"/>
              </a:rPr>
              <a:t>服务器</a:t>
            </a:r>
            <a:r>
              <a:rPr lang="en-US" altLang="zh-CN" smtClean="0">
                <a:ea typeface="黑体" panose="02010609060101010101" pitchFamily="49" charset="-122"/>
              </a:rPr>
              <a:t>(server)</a:t>
            </a:r>
            <a:r>
              <a:rPr lang="zh-CN" altLang="zh-CN" smtClean="0">
                <a:ea typeface="黑体" panose="02010609060101010101" pitchFamily="49" charset="-122"/>
              </a:rPr>
              <a:t>。</a:t>
            </a:r>
          </a:p>
        </p:txBody>
      </p:sp>
      <p:sp>
        <p:nvSpPr>
          <p:cNvPr id="157491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003D1D2-FDA3-458D-9080-C6204FDEAEB5}" type="slidenum">
              <a:rPr lang="zh-CN" altLang="en-US" smtClean="0"/>
              <a:pPr eaLnBrk="1" hangingPunct="1"/>
              <a:t>6</a:t>
            </a:fld>
            <a:endParaRPr lang="en-US" altLang="zh-CN" smtClean="0"/>
          </a:p>
        </p:txBody>
      </p:sp>
      <p:sp>
        <p:nvSpPr>
          <p:cNvPr id="157491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61"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5.9.1  TCP </a:t>
            </a:r>
            <a:r>
              <a:rPr lang="zh-CN" altLang="zh-CN" smtClean="0">
                <a:ea typeface="黑体" panose="02010609060101010101" pitchFamily="49" charset="-122"/>
              </a:rPr>
              <a:t>的连接建立</a:t>
            </a:r>
            <a:endParaRPr lang="zh-CN" altLang="en-US" smtClean="0">
              <a:ea typeface="黑体" panose="02010609060101010101" pitchFamily="49" charset="-122"/>
            </a:endParaRPr>
          </a:p>
        </p:txBody>
      </p:sp>
      <p:sp>
        <p:nvSpPr>
          <p:cNvPr id="1576962" name="内容占位符 2"/>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TCP </a:t>
            </a:r>
            <a:r>
              <a:rPr lang="zh-CN" altLang="zh-CN" dirty="0" smtClean="0">
                <a:ea typeface="黑体" panose="02010609060101010101" pitchFamily="49" charset="-122"/>
              </a:rPr>
              <a:t>建立连接的过程叫做</a:t>
            </a:r>
            <a:r>
              <a:rPr lang="zh-CN" altLang="zh-CN" dirty="0" smtClean="0">
                <a:solidFill>
                  <a:srgbClr val="FF0000"/>
                </a:solidFill>
                <a:ea typeface="黑体" panose="02010609060101010101" pitchFamily="49" charset="-122"/>
              </a:rPr>
              <a:t>握手</a:t>
            </a:r>
            <a:r>
              <a:rPr lang="zh-CN" altLang="en-US" dirty="0" smtClean="0">
                <a:solidFill>
                  <a:srgbClr val="FF0000"/>
                </a:solidFill>
                <a:ea typeface="黑体" panose="02010609060101010101" pitchFamily="49" charset="-122"/>
              </a:rPr>
              <a:t>。</a:t>
            </a:r>
            <a:endParaRPr lang="en-US" altLang="zh-CN" dirty="0" smtClean="0">
              <a:solidFill>
                <a:srgbClr val="FF0000"/>
              </a:solidFill>
              <a:ea typeface="黑体" panose="02010609060101010101" pitchFamily="49" charset="-122"/>
            </a:endParaRPr>
          </a:p>
          <a:p>
            <a:r>
              <a:rPr lang="zh-CN" altLang="zh-CN" dirty="0" smtClean="0">
                <a:ea typeface="黑体" panose="02010609060101010101" pitchFamily="49" charset="-122"/>
              </a:rPr>
              <a:t>握手需要在客户和服务器之间交换三个</a:t>
            </a:r>
            <a:r>
              <a:rPr lang="en-US" altLang="zh-CN" dirty="0" smtClean="0">
                <a:ea typeface="黑体" panose="02010609060101010101" pitchFamily="49" charset="-122"/>
              </a:rPr>
              <a:t> TCP </a:t>
            </a:r>
            <a:r>
              <a:rPr lang="zh-CN" altLang="zh-CN" dirty="0" smtClean="0">
                <a:ea typeface="黑体" panose="02010609060101010101" pitchFamily="49" charset="-122"/>
              </a:rPr>
              <a:t>报文段。</a:t>
            </a:r>
            <a:r>
              <a:rPr lang="zh-CN" altLang="en-US" dirty="0" smtClean="0">
                <a:ea typeface="黑体" panose="02010609060101010101" pitchFamily="49" charset="-122"/>
              </a:rPr>
              <a:t>称之为</a:t>
            </a:r>
            <a:r>
              <a:rPr lang="zh-CN" altLang="zh-CN" dirty="0" smtClean="0">
                <a:solidFill>
                  <a:srgbClr val="FF0000"/>
                </a:solidFill>
                <a:ea typeface="黑体" panose="02010609060101010101" pitchFamily="49" charset="-122"/>
              </a:rPr>
              <a:t>三报文握手</a:t>
            </a:r>
            <a:r>
              <a:rPr lang="zh-CN" altLang="en-US" dirty="0" smtClean="0">
                <a:solidFill>
                  <a:srgbClr val="FF0000"/>
                </a:solidFill>
                <a:ea typeface="黑体" panose="02010609060101010101" pitchFamily="49" charset="-122"/>
              </a:rPr>
              <a:t>。</a:t>
            </a:r>
            <a:endParaRPr lang="en-US" altLang="zh-CN" dirty="0" smtClean="0">
              <a:solidFill>
                <a:srgbClr val="FF0000"/>
              </a:solidFill>
              <a:ea typeface="黑体" panose="02010609060101010101" pitchFamily="49" charset="-122"/>
            </a:endParaRPr>
          </a:p>
        </p:txBody>
      </p:sp>
      <p:sp>
        <p:nvSpPr>
          <p:cNvPr id="1576963"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1610B87-A4B1-4CEE-B478-8CCFE4E67CD5}" type="slidenum">
              <a:rPr lang="zh-CN" altLang="en-US" smtClean="0"/>
              <a:pPr eaLnBrk="1" hangingPunct="1"/>
              <a:t>7</a:t>
            </a:fld>
            <a:endParaRPr lang="en-US" altLang="zh-CN" smtClean="0"/>
          </a:p>
        </p:txBody>
      </p:sp>
      <p:sp>
        <p:nvSpPr>
          <p:cNvPr id="1576964"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77985" name="Group 2"/>
          <p:cNvGrpSpPr>
            <a:grpSpLocks/>
          </p:cNvGrpSpPr>
          <p:nvPr/>
        </p:nvGrpSpPr>
        <p:grpSpPr bwMode="auto">
          <a:xfrm>
            <a:off x="2801938" y="2997200"/>
            <a:ext cx="4248150" cy="3441700"/>
            <a:chOff x="1474" y="1888"/>
            <a:chExt cx="2676" cy="2432"/>
          </a:xfrm>
        </p:grpSpPr>
        <p:sp>
          <p:nvSpPr>
            <p:cNvPr id="7" name="Line 3"/>
            <p:cNvSpPr>
              <a:spLocks noChangeShapeType="1"/>
            </p:cNvSpPr>
            <p:nvPr/>
          </p:nvSpPr>
          <p:spPr bwMode="auto">
            <a:xfrm>
              <a:off x="1474" y="1888"/>
              <a:ext cx="0" cy="2432"/>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8" name="Line 4"/>
            <p:cNvSpPr>
              <a:spLocks noChangeShapeType="1"/>
            </p:cNvSpPr>
            <p:nvPr/>
          </p:nvSpPr>
          <p:spPr bwMode="auto">
            <a:xfrm>
              <a:off x="4150" y="1888"/>
              <a:ext cx="0" cy="2432"/>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ysClr val="windowText" lastClr="000000"/>
                </a:solidFill>
              </a:endParaRPr>
            </a:p>
          </p:txBody>
        </p:sp>
      </p:grpSp>
      <p:sp>
        <p:nvSpPr>
          <p:cNvPr id="9" name="Rectangle 5"/>
          <p:cNvSpPr txBox="1">
            <a:spLocks noChangeArrowheads="1"/>
          </p:cNvSpPr>
          <p:nvPr/>
        </p:nvSpPr>
        <p:spPr bwMode="auto">
          <a:xfrm>
            <a:off x="0" y="152400"/>
            <a:ext cx="879157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2pPr>
            <a:lvl3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3pPr>
            <a:lvl4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4pPr>
            <a:lvl5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5pPr>
            <a:lvl6pPr marL="4572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6pPr>
            <a:lvl7pPr marL="9144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7pPr>
            <a:lvl8pPr marL="13716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8pPr>
            <a:lvl9pPr marL="18288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9pPr>
          </a:lstStyle>
          <a:p>
            <a:pPr algn="ctr" eaLnBrk="1" hangingPunct="1">
              <a:defRPr/>
            </a:pPr>
            <a:r>
              <a:rPr lang="en-US" altLang="zh-CN" sz="4000" kern="0">
                <a:solidFill>
                  <a:srgbClr val="333399"/>
                </a:solidFill>
                <a:latin typeface="Tahoma" panose="020B0604030504040204"/>
                <a:ea typeface="黑体" panose="02010609060101010101" pitchFamily="2" charset="-122"/>
              </a:rPr>
              <a:t/>
            </a:r>
            <a:br>
              <a:rPr lang="en-US" altLang="zh-CN" sz="4000" kern="0">
                <a:solidFill>
                  <a:srgbClr val="333399"/>
                </a:solidFill>
                <a:latin typeface="Tahoma" panose="020B0604030504040204"/>
                <a:ea typeface="黑体" panose="02010609060101010101" pitchFamily="2" charset="-122"/>
              </a:rPr>
            </a:br>
            <a:endParaRPr lang="en-US" altLang="zh-CN" sz="4000" kern="0">
              <a:solidFill>
                <a:srgbClr val="333399"/>
              </a:solidFill>
              <a:latin typeface="Tahoma" panose="020B0604030504040204"/>
              <a:ea typeface="黑体" panose="02010609060101010101" pitchFamily="2" charset="-122"/>
            </a:endParaRPr>
          </a:p>
        </p:txBody>
      </p:sp>
      <p:grpSp>
        <p:nvGrpSpPr>
          <p:cNvPr id="10" name="Group 6"/>
          <p:cNvGrpSpPr>
            <a:grpSpLocks/>
          </p:cNvGrpSpPr>
          <p:nvPr/>
        </p:nvGrpSpPr>
        <p:grpSpPr bwMode="auto">
          <a:xfrm>
            <a:off x="2874963" y="3005138"/>
            <a:ext cx="4111625" cy="801687"/>
            <a:chOff x="1520" y="1893"/>
            <a:chExt cx="2590" cy="505"/>
          </a:xfrm>
        </p:grpSpPr>
        <p:sp>
          <p:nvSpPr>
            <p:cNvPr id="11" name="Rectangle 7"/>
            <p:cNvSpPr>
              <a:spLocks noChangeArrowheads="1"/>
            </p:cNvSpPr>
            <p:nvPr/>
          </p:nvSpPr>
          <p:spPr bwMode="auto">
            <a:xfrm rot="665985">
              <a:off x="2095" y="1903"/>
              <a:ext cx="160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fontAlgn="auto" hangingPunct="0">
                <a:spcBef>
                  <a:spcPts val="0"/>
                </a:spcBef>
                <a:spcAft>
                  <a:spcPts val="0"/>
                </a:spcAft>
                <a:defRPr/>
              </a:pPr>
              <a:r>
                <a:rPr lang="en-US" altLang="zh-CN" sz="2000" b="1" kern="0" dirty="0">
                  <a:solidFill>
                    <a:srgbClr val="3333CC"/>
                  </a:solidFill>
                  <a:latin typeface="+mn-lt"/>
                  <a:ea typeface="黑体" panose="02010609060101010101" pitchFamily="2" charset="-122"/>
                </a:rPr>
                <a:t>SYN = 1, </a:t>
              </a:r>
              <a:r>
                <a:rPr lang="en-US" altLang="zh-CN" sz="2000" b="1" kern="0" dirty="0" err="1">
                  <a:solidFill>
                    <a:srgbClr val="3333CC"/>
                  </a:solidFill>
                  <a:latin typeface="+mn-lt"/>
                  <a:ea typeface="黑体" panose="02010609060101010101" pitchFamily="2" charset="-122"/>
                </a:rPr>
                <a:t>seq</a:t>
              </a:r>
              <a:r>
                <a:rPr lang="en-US" altLang="zh-CN" sz="2000" b="1" kern="0" dirty="0">
                  <a:solidFill>
                    <a:srgbClr val="3333CC"/>
                  </a:solidFill>
                  <a:latin typeface="+mn-lt"/>
                  <a:ea typeface="黑体" panose="02010609060101010101" pitchFamily="2" charset="-122"/>
                </a:rPr>
                <a:t> = x</a:t>
              </a:r>
            </a:p>
          </p:txBody>
        </p:sp>
        <p:sp>
          <p:nvSpPr>
            <p:cNvPr id="12" name="Line 8"/>
            <p:cNvSpPr>
              <a:spLocks noChangeShapeType="1"/>
            </p:cNvSpPr>
            <p:nvPr/>
          </p:nvSpPr>
          <p:spPr bwMode="auto">
            <a:xfrm>
              <a:off x="1520" y="1893"/>
              <a:ext cx="2590" cy="505"/>
            </a:xfrm>
            <a:prstGeom prst="line">
              <a:avLst/>
            </a:prstGeom>
            <a:noFill/>
            <a:ln w="571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sp>
        <p:nvSpPr>
          <p:cNvPr id="13" name="Rectangle 9"/>
          <p:cNvSpPr>
            <a:spLocks noChangeArrowheads="1"/>
          </p:cNvSpPr>
          <p:nvPr/>
        </p:nvSpPr>
        <p:spPr bwMode="auto">
          <a:xfrm>
            <a:off x="1898650" y="2393950"/>
            <a:ext cx="966788" cy="549275"/>
          </a:xfrm>
          <a:prstGeom prst="rect">
            <a:avLst/>
          </a:prstGeom>
          <a:solidFill>
            <a:srgbClr val="663300"/>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1577993" name="Text Box 10"/>
          <p:cNvSpPr txBox="1">
            <a:spLocks noChangeArrowheads="1"/>
          </p:cNvSpPr>
          <p:nvPr/>
        </p:nvSpPr>
        <p:spPr bwMode="auto">
          <a:xfrm>
            <a:off x="1849438" y="2455863"/>
            <a:ext cx="11461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FFFF99"/>
                </a:solidFill>
                <a:ea typeface="黑体" panose="02010609060101010101" pitchFamily="49" charset="-122"/>
              </a:rPr>
              <a:t>CLOSED</a:t>
            </a:r>
          </a:p>
        </p:txBody>
      </p:sp>
      <p:sp>
        <p:nvSpPr>
          <p:cNvPr id="15" name="Rectangle 11"/>
          <p:cNvSpPr>
            <a:spLocks noChangeArrowheads="1"/>
          </p:cNvSpPr>
          <p:nvPr/>
        </p:nvSpPr>
        <p:spPr bwMode="auto">
          <a:xfrm>
            <a:off x="6988175" y="2393950"/>
            <a:ext cx="985838" cy="549275"/>
          </a:xfrm>
          <a:prstGeom prst="rect">
            <a:avLst/>
          </a:prstGeom>
          <a:solidFill>
            <a:srgbClr val="663300"/>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1577995" name="Text Box 12"/>
          <p:cNvSpPr txBox="1">
            <a:spLocks noChangeArrowheads="1"/>
          </p:cNvSpPr>
          <p:nvPr/>
        </p:nvSpPr>
        <p:spPr bwMode="auto">
          <a:xfrm>
            <a:off x="6948488" y="2455863"/>
            <a:ext cx="11461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FFFF99"/>
                </a:solidFill>
                <a:ea typeface="黑体" panose="02010609060101010101" pitchFamily="49" charset="-122"/>
              </a:rPr>
              <a:t>CLOSED</a:t>
            </a:r>
          </a:p>
        </p:txBody>
      </p:sp>
      <p:grpSp>
        <p:nvGrpSpPr>
          <p:cNvPr id="17" name="Group 13"/>
          <p:cNvGrpSpPr>
            <a:grpSpLocks/>
          </p:cNvGrpSpPr>
          <p:nvPr/>
        </p:nvGrpSpPr>
        <p:grpSpPr bwMode="auto">
          <a:xfrm>
            <a:off x="857250" y="2057400"/>
            <a:ext cx="1320800" cy="947738"/>
            <a:chOff x="249" y="1296"/>
            <a:chExt cx="832" cy="597"/>
          </a:xfrm>
        </p:grpSpPr>
        <p:sp>
          <p:nvSpPr>
            <p:cNvPr id="18" name="Rectangle 14"/>
            <p:cNvSpPr>
              <a:spLocks noChangeArrowheads="1"/>
            </p:cNvSpPr>
            <p:nvPr/>
          </p:nvSpPr>
          <p:spPr bwMode="auto">
            <a:xfrm>
              <a:off x="251" y="1638"/>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主动打开</a:t>
              </a:r>
            </a:p>
          </p:txBody>
        </p:sp>
        <p:sp>
          <p:nvSpPr>
            <p:cNvPr id="19" name="Freeform 15"/>
            <p:cNvSpPr/>
            <p:nvPr/>
          </p:nvSpPr>
          <p:spPr bwMode="auto">
            <a:xfrm>
              <a:off x="249" y="1296"/>
              <a:ext cx="832"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grpSp>
        <p:nvGrpSpPr>
          <p:cNvPr id="20" name="Group 16"/>
          <p:cNvGrpSpPr>
            <a:grpSpLocks/>
          </p:cNvGrpSpPr>
          <p:nvPr/>
        </p:nvGrpSpPr>
        <p:grpSpPr bwMode="auto">
          <a:xfrm>
            <a:off x="7685088" y="2065338"/>
            <a:ext cx="1401762" cy="939800"/>
            <a:chOff x="4550" y="1301"/>
            <a:chExt cx="883" cy="592"/>
          </a:xfrm>
        </p:grpSpPr>
        <p:sp>
          <p:nvSpPr>
            <p:cNvPr id="21" name="Rectangle 17"/>
            <p:cNvSpPr>
              <a:spLocks noChangeArrowheads="1"/>
            </p:cNvSpPr>
            <p:nvPr/>
          </p:nvSpPr>
          <p:spPr bwMode="auto">
            <a:xfrm>
              <a:off x="4732" y="1617"/>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被动打开</a:t>
              </a:r>
            </a:p>
          </p:txBody>
        </p:sp>
        <p:sp>
          <p:nvSpPr>
            <p:cNvPr id="22" name="Freeform 18"/>
            <p:cNvSpPr/>
            <p:nvPr/>
          </p:nvSpPr>
          <p:spPr bwMode="auto">
            <a:xfrm>
              <a:off x="4550" y="1301"/>
              <a:ext cx="870"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pic>
        <p:nvPicPr>
          <p:cNvPr id="1578002"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32013" y="1779588"/>
            <a:ext cx="50165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78003" name="Picture 2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31063" y="1779588"/>
            <a:ext cx="50165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Rectangle 21"/>
          <p:cNvSpPr>
            <a:spLocks noChangeArrowheads="1"/>
          </p:cNvSpPr>
          <p:nvPr/>
        </p:nvSpPr>
        <p:spPr bwMode="auto">
          <a:xfrm>
            <a:off x="2555875" y="1779588"/>
            <a:ext cx="368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sz="2000" b="1" kern="0" dirty="0">
                <a:solidFill>
                  <a:srgbClr val="3333CC"/>
                </a:solidFill>
                <a:latin typeface="+mn-lt"/>
                <a:ea typeface="黑体" panose="02010609060101010101" pitchFamily="2" charset="-122"/>
              </a:rPr>
              <a:t>A</a:t>
            </a:r>
          </a:p>
        </p:txBody>
      </p:sp>
      <p:sp>
        <p:nvSpPr>
          <p:cNvPr id="26" name="Rectangle 22"/>
          <p:cNvSpPr>
            <a:spLocks noChangeArrowheads="1"/>
          </p:cNvSpPr>
          <p:nvPr/>
        </p:nvSpPr>
        <p:spPr bwMode="auto">
          <a:xfrm>
            <a:off x="6997700" y="1779588"/>
            <a:ext cx="368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sz="2000" b="1" kern="0">
                <a:solidFill>
                  <a:srgbClr val="3333CC"/>
                </a:solidFill>
                <a:latin typeface="+mn-lt"/>
                <a:ea typeface="黑体" panose="02010609060101010101" pitchFamily="2" charset="-122"/>
              </a:rPr>
              <a:t>B</a:t>
            </a:r>
          </a:p>
        </p:txBody>
      </p:sp>
      <p:sp>
        <p:nvSpPr>
          <p:cNvPr id="27" name="Rectangle 23"/>
          <p:cNvSpPr>
            <a:spLocks noChangeArrowheads="1"/>
          </p:cNvSpPr>
          <p:nvPr/>
        </p:nvSpPr>
        <p:spPr bwMode="auto">
          <a:xfrm>
            <a:off x="2051050" y="1425575"/>
            <a:ext cx="6477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dirty="0">
                <a:solidFill>
                  <a:srgbClr val="3333CC"/>
                </a:solidFill>
                <a:latin typeface="+mn-lt"/>
                <a:ea typeface="黑体" panose="02010609060101010101" pitchFamily="2" charset="-122"/>
              </a:rPr>
              <a:t>客户</a:t>
            </a:r>
          </a:p>
        </p:txBody>
      </p:sp>
      <p:sp>
        <p:nvSpPr>
          <p:cNvPr id="28" name="Rectangle 24"/>
          <p:cNvSpPr>
            <a:spLocks noChangeArrowheads="1"/>
          </p:cNvSpPr>
          <p:nvPr/>
        </p:nvSpPr>
        <p:spPr bwMode="auto">
          <a:xfrm>
            <a:off x="7046913" y="1425575"/>
            <a:ext cx="8810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服务器</a:t>
            </a:r>
          </a:p>
        </p:txBody>
      </p:sp>
      <p:sp>
        <p:nvSpPr>
          <p:cNvPr id="30" name="Text Box 26"/>
          <p:cNvSpPr txBox="1">
            <a:spLocks noChangeArrowheads="1"/>
          </p:cNvSpPr>
          <p:nvPr/>
        </p:nvSpPr>
        <p:spPr bwMode="auto">
          <a:xfrm>
            <a:off x="1217613" y="5068888"/>
            <a:ext cx="8050212" cy="1384300"/>
          </a:xfrm>
          <a:prstGeom prst="rect">
            <a:avLst/>
          </a:prstGeom>
          <a:solidFill>
            <a:srgbClr val="FFFF99"/>
          </a:solidFill>
          <a:ln w="9525">
            <a:solidFill>
              <a:srgbClr val="3333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en-US" altLang="zh-CN" sz="2800" kern="0" dirty="0">
                <a:solidFill>
                  <a:srgbClr val="000099"/>
                </a:solidFill>
                <a:latin typeface="Arial" panose="020B0604020202020204" pitchFamily="34" charset="0"/>
                <a:ea typeface="黑体" panose="02010609060101010101" pitchFamily="2" charset="-122"/>
              </a:rPr>
              <a:t>A </a:t>
            </a:r>
            <a:r>
              <a:rPr kumimoji="0" lang="zh-CN" altLang="en-US" sz="2800" kern="0" dirty="0">
                <a:solidFill>
                  <a:srgbClr val="000099"/>
                </a:solidFill>
                <a:latin typeface="Arial" panose="020B0604020202020204" pitchFamily="34" charset="0"/>
                <a:ea typeface="黑体" panose="02010609060101010101" pitchFamily="2" charset="-122"/>
              </a:rPr>
              <a:t>的 </a:t>
            </a:r>
            <a:r>
              <a:rPr kumimoji="0" lang="en-US" altLang="zh-CN" sz="2800" kern="0" dirty="0">
                <a:solidFill>
                  <a:srgbClr val="000099"/>
                </a:solidFill>
                <a:latin typeface="Arial" panose="020B0604020202020204" pitchFamily="34" charset="0"/>
                <a:ea typeface="黑体" panose="02010609060101010101" pitchFamily="2" charset="-122"/>
              </a:rPr>
              <a:t>TCP </a:t>
            </a:r>
            <a:r>
              <a:rPr kumimoji="0" lang="zh-CN" altLang="en-US" sz="2800" kern="0" dirty="0">
                <a:solidFill>
                  <a:srgbClr val="000099"/>
                </a:solidFill>
                <a:latin typeface="Arial" panose="020B0604020202020204" pitchFamily="34" charset="0"/>
                <a:ea typeface="黑体" panose="02010609060101010101" pitchFamily="2" charset="-122"/>
              </a:rPr>
              <a:t>向 </a:t>
            </a:r>
            <a:r>
              <a:rPr kumimoji="0" lang="en-US" altLang="zh-CN" sz="2800" kern="0" dirty="0">
                <a:solidFill>
                  <a:srgbClr val="000099"/>
                </a:solidFill>
                <a:latin typeface="Arial" panose="020B0604020202020204" pitchFamily="34" charset="0"/>
                <a:ea typeface="黑体" panose="02010609060101010101" pitchFamily="2" charset="-122"/>
              </a:rPr>
              <a:t>B </a:t>
            </a:r>
            <a:r>
              <a:rPr kumimoji="0" lang="zh-CN" altLang="en-US" sz="2800" kern="0" dirty="0">
                <a:solidFill>
                  <a:srgbClr val="000099"/>
                </a:solidFill>
                <a:latin typeface="Arial" panose="020B0604020202020204" pitchFamily="34" charset="0"/>
                <a:ea typeface="黑体" panose="02010609060101010101" pitchFamily="2" charset="-122"/>
              </a:rPr>
              <a:t>发出连接请求报文段，其首部中的</a:t>
            </a:r>
          </a:p>
          <a:p>
            <a:pPr eaLnBrk="1" fontAlgn="auto" hangingPunct="1">
              <a:spcBef>
                <a:spcPts val="0"/>
              </a:spcBef>
              <a:spcAft>
                <a:spcPts val="0"/>
              </a:spcAft>
              <a:defRPr/>
            </a:pPr>
            <a:r>
              <a:rPr kumimoji="0" lang="zh-CN" altLang="en-US" sz="2800" kern="0" dirty="0">
                <a:solidFill>
                  <a:srgbClr val="000099"/>
                </a:solidFill>
                <a:latin typeface="Arial" panose="020B0604020202020204" pitchFamily="34" charset="0"/>
                <a:ea typeface="黑体" panose="02010609060101010101" pitchFamily="2" charset="-122"/>
              </a:rPr>
              <a:t>同步位 </a:t>
            </a:r>
            <a:r>
              <a:rPr kumimoji="0" lang="en-US" altLang="zh-CN" sz="2800" kern="0" dirty="0">
                <a:solidFill>
                  <a:srgbClr val="000099"/>
                </a:solidFill>
                <a:latin typeface="Arial" panose="020B0604020202020204" pitchFamily="34" charset="0"/>
                <a:ea typeface="黑体" panose="02010609060101010101" pitchFamily="2" charset="-122"/>
              </a:rPr>
              <a:t>SYN = 1</a:t>
            </a:r>
            <a:r>
              <a:rPr kumimoji="0" lang="zh-CN" altLang="en-US" sz="2800" kern="0" dirty="0">
                <a:solidFill>
                  <a:srgbClr val="000099"/>
                </a:solidFill>
                <a:latin typeface="Arial" panose="020B0604020202020204" pitchFamily="34" charset="0"/>
                <a:ea typeface="黑体" panose="02010609060101010101" pitchFamily="2" charset="-122"/>
              </a:rPr>
              <a:t>，并选择序号 </a:t>
            </a:r>
            <a:r>
              <a:rPr kumimoji="0" lang="en-US" altLang="zh-CN" sz="2800" kern="0" dirty="0" err="1">
                <a:solidFill>
                  <a:srgbClr val="000099"/>
                </a:solidFill>
                <a:latin typeface="Arial" panose="020B0604020202020204" pitchFamily="34" charset="0"/>
                <a:ea typeface="黑体" panose="02010609060101010101" pitchFamily="2" charset="-122"/>
              </a:rPr>
              <a:t>seq</a:t>
            </a:r>
            <a:r>
              <a:rPr kumimoji="0" lang="en-US" altLang="zh-CN" sz="2800" kern="0" dirty="0">
                <a:solidFill>
                  <a:srgbClr val="000099"/>
                </a:solidFill>
                <a:latin typeface="Arial" panose="020B0604020202020204" pitchFamily="34" charset="0"/>
                <a:ea typeface="黑体" panose="02010609060101010101" pitchFamily="2" charset="-122"/>
              </a:rPr>
              <a:t> = x</a:t>
            </a:r>
            <a:r>
              <a:rPr kumimoji="0" lang="zh-CN" altLang="en-US" sz="2800" kern="0" dirty="0">
                <a:solidFill>
                  <a:srgbClr val="000099"/>
                </a:solidFill>
                <a:latin typeface="Arial" panose="020B0604020202020204" pitchFamily="34" charset="0"/>
                <a:ea typeface="黑体" panose="02010609060101010101" pitchFamily="2" charset="-122"/>
              </a:rPr>
              <a:t>，表明传送</a:t>
            </a:r>
          </a:p>
          <a:p>
            <a:pPr eaLnBrk="1" fontAlgn="auto" hangingPunct="1">
              <a:spcBef>
                <a:spcPts val="0"/>
              </a:spcBef>
              <a:spcAft>
                <a:spcPts val="0"/>
              </a:spcAft>
              <a:defRPr/>
            </a:pPr>
            <a:r>
              <a:rPr kumimoji="0" lang="zh-CN" altLang="en-US" sz="2800" kern="0" dirty="0">
                <a:solidFill>
                  <a:srgbClr val="000099"/>
                </a:solidFill>
                <a:latin typeface="Arial" panose="020B0604020202020204" pitchFamily="34" charset="0"/>
                <a:ea typeface="黑体" panose="02010609060101010101" pitchFamily="2" charset="-122"/>
              </a:rPr>
              <a:t>数据时的第一个数据字节的序号是 </a:t>
            </a:r>
            <a:r>
              <a:rPr kumimoji="0" lang="en-US" altLang="zh-CN" sz="2800" kern="0" dirty="0">
                <a:solidFill>
                  <a:srgbClr val="000099"/>
                </a:solidFill>
                <a:latin typeface="Arial" panose="020B0604020202020204" pitchFamily="34" charset="0"/>
                <a:ea typeface="黑体" panose="02010609060101010101" pitchFamily="2" charset="-122"/>
              </a:rPr>
              <a:t>x</a:t>
            </a:r>
            <a:r>
              <a:rPr kumimoji="0" lang="zh-CN" altLang="en-US" sz="2800" kern="0" dirty="0">
                <a:solidFill>
                  <a:srgbClr val="000099"/>
                </a:solidFill>
                <a:latin typeface="Arial" panose="020B0604020202020204" pitchFamily="34" charset="0"/>
                <a:ea typeface="黑体" panose="02010609060101010101" pitchFamily="2" charset="-122"/>
              </a:rPr>
              <a:t>。</a:t>
            </a:r>
          </a:p>
        </p:txBody>
      </p:sp>
      <p:sp>
        <p:nvSpPr>
          <p:cNvPr id="31" name="Text Box 48"/>
          <p:cNvSpPr txBox="1">
            <a:spLocks noChangeArrowheads="1"/>
          </p:cNvSpPr>
          <p:nvPr/>
        </p:nvSpPr>
        <p:spPr bwMode="auto">
          <a:xfrm>
            <a:off x="992188" y="115888"/>
            <a:ext cx="8042275" cy="647700"/>
          </a:xfrm>
          <a:prstGeom prst="rect">
            <a:avLst/>
          </a:prstGeom>
          <a:solidFill>
            <a:srgbClr val="FFFF99"/>
          </a:solidFill>
          <a:ln w="9525">
            <a:solidFill>
              <a:srgbClr val="3333CC"/>
            </a:solidFill>
            <a:miter lim="800000"/>
          </a:ln>
          <a:effectLst>
            <a:outerShdw dist="35921" dir="2700000" algn="ctr" rotWithShape="0">
              <a:srgbClr val="1C1C1C"/>
            </a:outerShdw>
          </a:effec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eaLnBrk="1" fontAlgn="auto" hangingPunct="1">
              <a:spcBef>
                <a:spcPts val="0"/>
              </a:spcBef>
              <a:spcAft>
                <a:spcPts val="0"/>
              </a:spcAft>
              <a:defRPr/>
            </a:pPr>
            <a:r>
              <a:rPr kumimoji="0" lang="en-US" altLang="zh-CN" sz="3600" kern="0" dirty="0">
                <a:solidFill>
                  <a:srgbClr val="000099"/>
                </a:solidFill>
                <a:latin typeface="Arial" panose="020B0604020202020204" pitchFamily="34" charset="0"/>
                <a:ea typeface="黑体" panose="02010609060101010101" pitchFamily="2" charset="-122"/>
              </a:rPr>
              <a:t>TCP </a:t>
            </a:r>
            <a:r>
              <a:rPr kumimoji="0" lang="zh-CN" altLang="en-US" sz="3600" kern="0" dirty="0">
                <a:solidFill>
                  <a:srgbClr val="000099"/>
                </a:solidFill>
                <a:latin typeface="Arial" panose="020B0604020202020204" pitchFamily="34" charset="0"/>
                <a:ea typeface="黑体" panose="02010609060101010101" pitchFamily="2" charset="-122"/>
              </a:rPr>
              <a:t>的连接建立：</a:t>
            </a:r>
            <a:r>
              <a:rPr kumimoji="0" lang="zh-CN" altLang="en-US" sz="3600" kern="0" noProof="1">
                <a:solidFill>
                  <a:srgbClr val="000099"/>
                </a:solidFill>
                <a:latin typeface="Arial" panose="020B0604020202020204" pitchFamily="34" charset="0"/>
                <a:ea typeface="黑体" panose="02010609060101010101" pitchFamily="2" charset="-122"/>
              </a:rPr>
              <a:t>采用</a:t>
            </a:r>
            <a:r>
              <a:rPr kumimoji="0" lang="zh-CN" altLang="zh-CN" sz="3600" kern="0" noProof="1">
                <a:solidFill>
                  <a:srgbClr val="FF0000"/>
                </a:solidFill>
                <a:latin typeface="Arial" panose="020B0604020202020204" pitchFamily="34" charset="0"/>
                <a:ea typeface="黑体" panose="02010609060101010101" pitchFamily="2" charset="-122"/>
              </a:rPr>
              <a:t>三报文握手</a:t>
            </a:r>
            <a:endParaRPr kumimoji="0" lang="zh-CN" altLang="en-US" sz="3600" kern="0" noProof="1">
              <a:solidFill>
                <a:srgbClr val="FF0000"/>
              </a:solidFill>
              <a:latin typeface="Arial" panose="020B0604020202020204" pitchFamily="34" charset="0"/>
              <a:ea typeface="黑体" panose="02010609060101010101" pitchFamily="2" charset="-122"/>
            </a:endParaRPr>
          </a:p>
        </p:txBody>
      </p:sp>
      <p:sp>
        <p:nvSpPr>
          <p:cNvPr id="1578010"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2D13693A-615B-47C7-99FB-3668FB0745AF}" type="slidenum">
              <a:rPr lang="zh-CN" altLang="en-US" smtClean="0"/>
              <a:pPr/>
              <a:t>8</a:t>
            </a:fld>
            <a:endParaRPr lang="en-US" altLang="zh-CN" smtClean="0"/>
          </a:p>
        </p:txBody>
      </p:sp>
      <p:sp>
        <p:nvSpPr>
          <p:cNvPr id="1578011"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up)">
                                      <p:cBhvr>
                                        <p:cTn id="7" dur="1000"/>
                                        <p:tgtEl>
                                          <p:spTgt spid="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up)">
                                      <p:cBhvr>
                                        <p:cTn id="12" dur="1000"/>
                                        <p:tgtEl>
                                          <p:spTgt spid="17"/>
                                        </p:tgtEl>
                                      </p:cBhvr>
                                    </p:animEffect>
                                  </p:childTnLst>
                                </p:cTn>
                              </p:par>
                            </p:childTnLst>
                          </p:cTn>
                        </p:par>
                        <p:par>
                          <p:cTn id="13" fill="hold" nodeType="afterGroup">
                            <p:stCondLst>
                              <p:cond delay="1000"/>
                            </p:stCondLst>
                            <p:childTnLst>
                              <p:par>
                                <p:cTn id="14" presetID="1" presetClass="entr" presetSubtype="0" fill="hold" grpId="0" nodeType="afterEffect">
                                  <p:stCondLst>
                                    <p:cond delay="0"/>
                                  </p:stCondLst>
                                  <p:childTnLst>
                                    <p:set>
                                      <p:cBhvr>
                                        <p:cTn id="15" dur="1" fill="hold">
                                          <p:stCondLst>
                                            <p:cond delay="0"/>
                                          </p:stCondLst>
                                        </p:cTn>
                                        <p:tgtEl>
                                          <p:spTgt spid="30"/>
                                        </p:tgtEl>
                                        <p:attrNameLst>
                                          <p:attrName>style.visibility</p:attrName>
                                        </p:attrNameLst>
                                      </p:cBhvr>
                                      <p:to>
                                        <p:strVal val="visible"/>
                                      </p:to>
                                    </p:set>
                                  </p:childTnLst>
                                </p:cTn>
                              </p:par>
                            </p:childTnLst>
                          </p:cTn>
                        </p:par>
                        <p:par>
                          <p:cTn id="16" fill="hold" nodeType="afterGroup">
                            <p:stCondLst>
                              <p:cond delay="1001"/>
                            </p:stCondLst>
                            <p:childTnLst>
                              <p:par>
                                <p:cTn id="17" presetID="22" presetClass="entr" presetSubtype="8" fill="hold" nodeType="afterEffect">
                                  <p:stCondLst>
                                    <p:cond delay="2000"/>
                                  </p:stCondLst>
                                  <p:childTnLst>
                                    <p:set>
                                      <p:cBhvr>
                                        <p:cTn id="18" dur="1" fill="hold">
                                          <p:stCondLst>
                                            <p:cond delay="0"/>
                                          </p:stCondLst>
                                        </p:cTn>
                                        <p:tgtEl>
                                          <p:spTgt spid="10"/>
                                        </p:tgtEl>
                                        <p:attrNameLst>
                                          <p:attrName>style.visibility</p:attrName>
                                        </p:attrNameLst>
                                      </p:cBhvr>
                                      <p:to>
                                        <p:strVal val="visible"/>
                                      </p:to>
                                    </p:set>
                                    <p:animEffect transition="in" filter="wipe(left)">
                                      <p:cBhvr>
                                        <p:cTn id="19"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79009" name="Group 2"/>
          <p:cNvGrpSpPr>
            <a:grpSpLocks/>
          </p:cNvGrpSpPr>
          <p:nvPr/>
        </p:nvGrpSpPr>
        <p:grpSpPr bwMode="auto">
          <a:xfrm>
            <a:off x="2770188" y="2997200"/>
            <a:ext cx="4248150" cy="3441700"/>
            <a:chOff x="1474" y="1888"/>
            <a:chExt cx="2676" cy="2432"/>
          </a:xfrm>
        </p:grpSpPr>
        <p:sp>
          <p:nvSpPr>
            <p:cNvPr id="5" name="Line 3"/>
            <p:cNvSpPr>
              <a:spLocks noChangeShapeType="1"/>
            </p:cNvSpPr>
            <p:nvPr/>
          </p:nvSpPr>
          <p:spPr bwMode="auto">
            <a:xfrm>
              <a:off x="1474" y="1888"/>
              <a:ext cx="0" cy="2432"/>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6" name="Line 4"/>
            <p:cNvSpPr>
              <a:spLocks noChangeShapeType="1"/>
            </p:cNvSpPr>
            <p:nvPr/>
          </p:nvSpPr>
          <p:spPr bwMode="auto">
            <a:xfrm>
              <a:off x="4150" y="1888"/>
              <a:ext cx="0" cy="2432"/>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ysClr val="windowText" lastClr="000000"/>
                </a:solidFill>
              </a:endParaRPr>
            </a:p>
          </p:txBody>
        </p:sp>
      </p:grpSp>
      <p:grpSp>
        <p:nvGrpSpPr>
          <p:cNvPr id="1579012" name="Group 6"/>
          <p:cNvGrpSpPr>
            <a:grpSpLocks/>
          </p:cNvGrpSpPr>
          <p:nvPr/>
        </p:nvGrpSpPr>
        <p:grpSpPr bwMode="auto">
          <a:xfrm>
            <a:off x="2843213" y="3005138"/>
            <a:ext cx="4111625" cy="801687"/>
            <a:chOff x="1520" y="1893"/>
            <a:chExt cx="2590" cy="505"/>
          </a:xfrm>
        </p:grpSpPr>
        <p:sp>
          <p:nvSpPr>
            <p:cNvPr id="8" name="Rectangle 7"/>
            <p:cNvSpPr>
              <a:spLocks noChangeArrowheads="1"/>
            </p:cNvSpPr>
            <p:nvPr/>
          </p:nvSpPr>
          <p:spPr bwMode="auto">
            <a:xfrm rot="665985">
              <a:off x="2094" y="1905"/>
              <a:ext cx="162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fontAlgn="auto" hangingPunct="0">
                <a:spcBef>
                  <a:spcPts val="0"/>
                </a:spcBef>
                <a:spcAft>
                  <a:spcPts val="0"/>
                </a:spcAft>
                <a:defRPr/>
              </a:pPr>
              <a:r>
                <a:rPr lang="en-US" altLang="zh-CN" sz="2000" b="1" kern="0" dirty="0">
                  <a:solidFill>
                    <a:srgbClr val="3333CC"/>
                  </a:solidFill>
                  <a:latin typeface="+mn-lt"/>
                  <a:ea typeface="黑体" panose="02010609060101010101" pitchFamily="2" charset="-122"/>
                </a:rPr>
                <a:t>SYN = 1, </a:t>
              </a:r>
              <a:r>
                <a:rPr lang="en-US" altLang="zh-CN" sz="2000" b="1" kern="0" dirty="0" err="1">
                  <a:solidFill>
                    <a:srgbClr val="3333CC"/>
                  </a:solidFill>
                  <a:latin typeface="+mn-lt"/>
                  <a:ea typeface="黑体" panose="02010609060101010101" pitchFamily="2" charset="-122"/>
                </a:rPr>
                <a:t>seq</a:t>
              </a:r>
              <a:r>
                <a:rPr lang="en-US" altLang="zh-CN" sz="2000" b="1" kern="0" dirty="0">
                  <a:solidFill>
                    <a:srgbClr val="3333CC"/>
                  </a:solidFill>
                  <a:latin typeface="+mn-lt"/>
                  <a:ea typeface="黑体" panose="02010609060101010101" pitchFamily="2" charset="-122"/>
                </a:rPr>
                <a:t> = x</a:t>
              </a:r>
            </a:p>
          </p:txBody>
        </p:sp>
        <p:sp>
          <p:nvSpPr>
            <p:cNvPr id="9" name="Line 8"/>
            <p:cNvSpPr>
              <a:spLocks noChangeShapeType="1"/>
            </p:cNvSpPr>
            <p:nvPr/>
          </p:nvSpPr>
          <p:spPr bwMode="auto">
            <a:xfrm>
              <a:off x="1520" y="1893"/>
              <a:ext cx="2590" cy="505"/>
            </a:xfrm>
            <a:prstGeom prst="line">
              <a:avLst/>
            </a:prstGeom>
            <a:noFill/>
            <a:ln w="571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sp>
        <p:nvSpPr>
          <p:cNvPr id="10" name="Rectangle 9"/>
          <p:cNvSpPr>
            <a:spLocks noChangeArrowheads="1"/>
          </p:cNvSpPr>
          <p:nvPr/>
        </p:nvSpPr>
        <p:spPr bwMode="auto">
          <a:xfrm>
            <a:off x="1866900" y="2393950"/>
            <a:ext cx="966788" cy="549275"/>
          </a:xfrm>
          <a:prstGeom prst="rect">
            <a:avLst/>
          </a:prstGeom>
          <a:solidFill>
            <a:srgbClr val="663300"/>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1579016" name="Text Box 10"/>
          <p:cNvSpPr txBox="1">
            <a:spLocks noChangeArrowheads="1"/>
          </p:cNvSpPr>
          <p:nvPr/>
        </p:nvSpPr>
        <p:spPr bwMode="auto">
          <a:xfrm>
            <a:off x="1817688" y="2455863"/>
            <a:ext cx="11461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FFFF99"/>
                </a:solidFill>
                <a:ea typeface="黑体" panose="02010609060101010101" pitchFamily="49" charset="-122"/>
              </a:rPr>
              <a:t>CLOSED</a:t>
            </a:r>
          </a:p>
        </p:txBody>
      </p:sp>
      <p:sp>
        <p:nvSpPr>
          <p:cNvPr id="12" name="Rectangle 11"/>
          <p:cNvSpPr>
            <a:spLocks noChangeArrowheads="1"/>
          </p:cNvSpPr>
          <p:nvPr/>
        </p:nvSpPr>
        <p:spPr bwMode="auto">
          <a:xfrm>
            <a:off x="6956425" y="2393950"/>
            <a:ext cx="985838" cy="549275"/>
          </a:xfrm>
          <a:prstGeom prst="rect">
            <a:avLst/>
          </a:prstGeom>
          <a:solidFill>
            <a:srgbClr val="663300"/>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1579018" name="Text Box 12"/>
          <p:cNvSpPr txBox="1">
            <a:spLocks noChangeArrowheads="1"/>
          </p:cNvSpPr>
          <p:nvPr/>
        </p:nvSpPr>
        <p:spPr bwMode="auto">
          <a:xfrm>
            <a:off x="6916738" y="2455863"/>
            <a:ext cx="11461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FFFF99"/>
                </a:solidFill>
                <a:ea typeface="黑体" panose="02010609060101010101" pitchFamily="49" charset="-122"/>
              </a:rPr>
              <a:t>CLOSED</a:t>
            </a:r>
          </a:p>
        </p:txBody>
      </p:sp>
      <p:grpSp>
        <p:nvGrpSpPr>
          <p:cNvPr id="1579019" name="Group 13"/>
          <p:cNvGrpSpPr>
            <a:grpSpLocks/>
          </p:cNvGrpSpPr>
          <p:nvPr/>
        </p:nvGrpSpPr>
        <p:grpSpPr bwMode="auto">
          <a:xfrm>
            <a:off x="825500" y="2057400"/>
            <a:ext cx="1320800" cy="947738"/>
            <a:chOff x="249" y="1296"/>
            <a:chExt cx="832" cy="597"/>
          </a:xfrm>
        </p:grpSpPr>
        <p:sp>
          <p:nvSpPr>
            <p:cNvPr id="15" name="Rectangle 14"/>
            <p:cNvSpPr>
              <a:spLocks noChangeArrowheads="1"/>
            </p:cNvSpPr>
            <p:nvPr/>
          </p:nvSpPr>
          <p:spPr bwMode="auto">
            <a:xfrm>
              <a:off x="251" y="1638"/>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主动打开</a:t>
              </a:r>
            </a:p>
          </p:txBody>
        </p:sp>
        <p:sp>
          <p:nvSpPr>
            <p:cNvPr id="16" name="Freeform 15"/>
            <p:cNvSpPr/>
            <p:nvPr/>
          </p:nvSpPr>
          <p:spPr bwMode="auto">
            <a:xfrm>
              <a:off x="249" y="1296"/>
              <a:ext cx="832"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grpSp>
        <p:nvGrpSpPr>
          <p:cNvPr id="1579022" name="Group 16"/>
          <p:cNvGrpSpPr>
            <a:grpSpLocks/>
          </p:cNvGrpSpPr>
          <p:nvPr/>
        </p:nvGrpSpPr>
        <p:grpSpPr bwMode="auto">
          <a:xfrm>
            <a:off x="7653338" y="2065338"/>
            <a:ext cx="1401762" cy="939800"/>
            <a:chOff x="4550" y="1301"/>
            <a:chExt cx="883" cy="592"/>
          </a:xfrm>
        </p:grpSpPr>
        <p:sp>
          <p:nvSpPr>
            <p:cNvPr id="18" name="Rectangle 17"/>
            <p:cNvSpPr>
              <a:spLocks noChangeArrowheads="1"/>
            </p:cNvSpPr>
            <p:nvPr/>
          </p:nvSpPr>
          <p:spPr bwMode="auto">
            <a:xfrm>
              <a:off x="4732" y="1617"/>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被动打开</a:t>
              </a:r>
            </a:p>
          </p:txBody>
        </p:sp>
        <p:sp>
          <p:nvSpPr>
            <p:cNvPr id="19" name="Freeform 18"/>
            <p:cNvSpPr/>
            <p:nvPr/>
          </p:nvSpPr>
          <p:spPr bwMode="auto">
            <a:xfrm>
              <a:off x="4550" y="1301"/>
              <a:ext cx="870"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pic>
        <p:nvPicPr>
          <p:cNvPr id="1579025" name="Picture 1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00263" y="1779588"/>
            <a:ext cx="50165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79026" name="Picture 2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99313" y="1779588"/>
            <a:ext cx="50165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Rectangle 21"/>
          <p:cNvSpPr>
            <a:spLocks noChangeArrowheads="1"/>
          </p:cNvSpPr>
          <p:nvPr/>
        </p:nvSpPr>
        <p:spPr bwMode="auto">
          <a:xfrm>
            <a:off x="2524125" y="17795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A</a:t>
            </a:r>
          </a:p>
        </p:txBody>
      </p:sp>
      <p:sp>
        <p:nvSpPr>
          <p:cNvPr id="23" name="Rectangle 22"/>
          <p:cNvSpPr>
            <a:spLocks noChangeArrowheads="1"/>
          </p:cNvSpPr>
          <p:nvPr/>
        </p:nvSpPr>
        <p:spPr bwMode="auto">
          <a:xfrm>
            <a:off x="6965950" y="17795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B</a:t>
            </a:r>
          </a:p>
        </p:txBody>
      </p:sp>
      <p:sp>
        <p:nvSpPr>
          <p:cNvPr id="24" name="Rectangle 23"/>
          <p:cNvSpPr>
            <a:spLocks noChangeArrowheads="1"/>
          </p:cNvSpPr>
          <p:nvPr/>
        </p:nvSpPr>
        <p:spPr bwMode="auto">
          <a:xfrm>
            <a:off x="2019300" y="1425575"/>
            <a:ext cx="6477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客户</a:t>
            </a:r>
          </a:p>
        </p:txBody>
      </p:sp>
      <p:sp>
        <p:nvSpPr>
          <p:cNvPr id="25" name="Rectangle 24"/>
          <p:cNvSpPr>
            <a:spLocks noChangeArrowheads="1"/>
          </p:cNvSpPr>
          <p:nvPr/>
        </p:nvSpPr>
        <p:spPr bwMode="auto">
          <a:xfrm>
            <a:off x="7015163" y="1425575"/>
            <a:ext cx="8794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服务器</a:t>
            </a:r>
          </a:p>
        </p:txBody>
      </p:sp>
      <p:grpSp>
        <p:nvGrpSpPr>
          <p:cNvPr id="26" name="Group 26"/>
          <p:cNvGrpSpPr>
            <a:grpSpLocks/>
          </p:cNvGrpSpPr>
          <p:nvPr/>
        </p:nvGrpSpPr>
        <p:grpSpPr bwMode="auto">
          <a:xfrm>
            <a:off x="2501900" y="3881438"/>
            <a:ext cx="4452938" cy="801687"/>
            <a:chOff x="1305" y="2445"/>
            <a:chExt cx="2805" cy="505"/>
          </a:xfrm>
        </p:grpSpPr>
        <p:sp>
          <p:nvSpPr>
            <p:cNvPr id="27" name="Line 27"/>
            <p:cNvSpPr>
              <a:spLocks noChangeShapeType="1"/>
            </p:cNvSpPr>
            <p:nvPr/>
          </p:nvSpPr>
          <p:spPr bwMode="auto">
            <a:xfrm flipH="1">
              <a:off x="1520" y="2445"/>
              <a:ext cx="2590" cy="505"/>
            </a:xfrm>
            <a:prstGeom prst="line">
              <a:avLst/>
            </a:prstGeom>
            <a:noFill/>
            <a:ln w="571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28" name="Rectangle 28"/>
            <p:cNvSpPr>
              <a:spLocks noChangeArrowheads="1"/>
            </p:cNvSpPr>
            <p:nvPr/>
          </p:nvSpPr>
          <p:spPr bwMode="auto">
            <a:xfrm rot="20990024" flipH="1">
              <a:off x="1305" y="2483"/>
              <a:ext cx="277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fontAlgn="auto" hangingPunct="0">
                <a:spcBef>
                  <a:spcPts val="0"/>
                </a:spcBef>
                <a:spcAft>
                  <a:spcPts val="0"/>
                </a:spcAft>
                <a:defRPr/>
              </a:pPr>
              <a:r>
                <a:rPr lang="en-US" altLang="zh-CN" sz="1600" b="1" kern="0" dirty="0">
                  <a:solidFill>
                    <a:srgbClr val="3333CC"/>
                  </a:solidFill>
                  <a:latin typeface="+mn-lt"/>
                  <a:ea typeface="黑体" panose="02010609060101010101" pitchFamily="2" charset="-122"/>
                </a:rPr>
                <a:t>SYN = 1, ACK = 1, </a:t>
              </a:r>
              <a:r>
                <a:rPr lang="en-US" altLang="zh-CN" sz="1600" b="1" kern="0" dirty="0" err="1">
                  <a:solidFill>
                    <a:srgbClr val="3333CC"/>
                  </a:solidFill>
                  <a:latin typeface="+mn-lt"/>
                  <a:ea typeface="黑体" panose="02010609060101010101" pitchFamily="2" charset="-122"/>
                </a:rPr>
                <a:t>seq</a:t>
              </a:r>
              <a:r>
                <a:rPr lang="en-US" altLang="zh-CN" sz="1600" b="1" kern="0" dirty="0">
                  <a:solidFill>
                    <a:srgbClr val="3333CC"/>
                  </a:solidFill>
                  <a:latin typeface="+mn-lt"/>
                  <a:ea typeface="黑体" panose="02010609060101010101" pitchFamily="2" charset="-122"/>
                </a:rPr>
                <a:t> = y, </a:t>
              </a:r>
              <a:r>
                <a:rPr lang="en-US" altLang="zh-CN" sz="1600" b="1" kern="0" dirty="0" err="1">
                  <a:solidFill>
                    <a:srgbClr val="3333CC"/>
                  </a:solidFill>
                  <a:latin typeface="+mn-lt"/>
                  <a:ea typeface="黑体" panose="02010609060101010101" pitchFamily="2" charset="-122"/>
                </a:rPr>
                <a:t>ack</a:t>
              </a:r>
              <a:r>
                <a:rPr lang="en-US" altLang="zh-CN" sz="1600" b="1" kern="0" dirty="0">
                  <a:solidFill>
                    <a:srgbClr val="3333CC"/>
                  </a:solidFill>
                  <a:latin typeface="+mn-lt"/>
                  <a:ea typeface="黑体" panose="02010609060101010101" pitchFamily="2" charset="-122"/>
                </a:rPr>
                <a:t>= x </a:t>
              </a:r>
              <a:r>
                <a:rPr lang="en-US" altLang="zh-CN" sz="1600" b="1" kern="0" dirty="0">
                  <a:solidFill>
                    <a:srgbClr val="3333CC"/>
                  </a:solidFill>
                  <a:latin typeface="+mn-lt"/>
                  <a:ea typeface="黑体" panose="02010609060101010101" pitchFamily="2" charset="-122"/>
                  <a:sym typeface="Symbol" panose="05050102010706020507" pitchFamily="18" charset="2"/>
                </a:rPr>
                <a:t> 1</a:t>
              </a:r>
              <a:endParaRPr lang="en-US" altLang="zh-CN" sz="1600" b="1" kern="0" dirty="0">
                <a:solidFill>
                  <a:srgbClr val="3333CC"/>
                </a:solidFill>
                <a:latin typeface="+mn-lt"/>
                <a:ea typeface="黑体" panose="02010609060101010101" pitchFamily="2" charset="-122"/>
              </a:endParaRPr>
            </a:p>
          </p:txBody>
        </p:sp>
      </p:grpSp>
      <p:sp>
        <p:nvSpPr>
          <p:cNvPr id="29" name="Text Box 29"/>
          <p:cNvSpPr txBox="1">
            <a:spLocks noChangeArrowheads="1"/>
          </p:cNvSpPr>
          <p:nvPr/>
        </p:nvSpPr>
        <p:spPr bwMode="auto">
          <a:xfrm>
            <a:off x="1041400" y="4932363"/>
            <a:ext cx="8237538" cy="1809750"/>
          </a:xfrm>
          <a:prstGeom prst="rect">
            <a:avLst/>
          </a:prstGeom>
          <a:solidFill>
            <a:srgbClr val="FFFF99"/>
          </a:solidFill>
          <a:ln w="9525">
            <a:solidFill>
              <a:srgbClr val="3333CC"/>
            </a:solidFill>
            <a:miter lim="800000"/>
          </a:ln>
          <a:effectLst>
            <a:outerShdw dist="35921" dir="2700000" algn="ctr" rotWithShape="0">
              <a:srgbClr val="1C1C1C"/>
            </a:outerShdw>
          </a:effec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buFontTx/>
              <a:buChar char="•"/>
              <a:defRPr/>
            </a:pPr>
            <a:r>
              <a:rPr kumimoji="0" lang="en-US" altLang="zh-CN" sz="2800" kern="0" dirty="0">
                <a:solidFill>
                  <a:srgbClr val="000099"/>
                </a:solidFill>
                <a:latin typeface="Arial" panose="020B0604020202020204" pitchFamily="34" charset="0"/>
                <a:ea typeface="黑体" panose="02010609060101010101" pitchFamily="2" charset="-122"/>
              </a:rPr>
              <a:t>  B </a:t>
            </a:r>
            <a:r>
              <a:rPr kumimoji="0" lang="zh-CN" altLang="en-US" sz="2800" kern="0" dirty="0">
                <a:solidFill>
                  <a:srgbClr val="000099"/>
                </a:solidFill>
                <a:latin typeface="Arial" panose="020B0604020202020204" pitchFamily="34" charset="0"/>
                <a:ea typeface="黑体" panose="02010609060101010101" pitchFamily="2" charset="-122"/>
              </a:rPr>
              <a:t>的 </a:t>
            </a:r>
            <a:r>
              <a:rPr kumimoji="0" lang="en-US" altLang="zh-CN" sz="2800" kern="0" dirty="0">
                <a:solidFill>
                  <a:srgbClr val="000099"/>
                </a:solidFill>
                <a:latin typeface="Arial" panose="020B0604020202020204" pitchFamily="34" charset="0"/>
                <a:ea typeface="黑体" panose="02010609060101010101" pitchFamily="2" charset="-122"/>
              </a:rPr>
              <a:t>TCP </a:t>
            </a:r>
            <a:r>
              <a:rPr kumimoji="0" lang="zh-CN" altLang="en-US" sz="2800" kern="0" dirty="0">
                <a:solidFill>
                  <a:srgbClr val="000099"/>
                </a:solidFill>
                <a:latin typeface="Arial" panose="020B0604020202020204" pitchFamily="34" charset="0"/>
                <a:ea typeface="黑体" panose="02010609060101010101" pitchFamily="2" charset="-122"/>
              </a:rPr>
              <a:t>收到连接请求报文段后，如同意，则</a:t>
            </a:r>
          </a:p>
          <a:p>
            <a:pPr eaLnBrk="1" fontAlgn="auto" hangingPunct="1">
              <a:spcBef>
                <a:spcPts val="0"/>
              </a:spcBef>
              <a:spcAft>
                <a:spcPts val="0"/>
              </a:spcAft>
              <a:defRPr/>
            </a:pPr>
            <a:r>
              <a:rPr kumimoji="0" lang="zh-CN" altLang="en-US" sz="2800" kern="0" dirty="0">
                <a:solidFill>
                  <a:srgbClr val="000099"/>
                </a:solidFill>
                <a:latin typeface="Arial" panose="020B0604020202020204" pitchFamily="34" charset="0"/>
                <a:ea typeface="黑体" panose="02010609060101010101" pitchFamily="2" charset="-122"/>
              </a:rPr>
              <a:t>   发回确认。</a:t>
            </a:r>
          </a:p>
          <a:p>
            <a:pPr eaLnBrk="1" fontAlgn="auto" hangingPunct="1">
              <a:spcBef>
                <a:spcPts val="0"/>
              </a:spcBef>
              <a:spcAft>
                <a:spcPts val="0"/>
              </a:spcAft>
              <a:buFontTx/>
              <a:buChar char="•"/>
              <a:defRPr/>
            </a:pPr>
            <a:r>
              <a:rPr kumimoji="0" lang="zh-CN" altLang="en-US" sz="2800" kern="0" dirty="0">
                <a:solidFill>
                  <a:srgbClr val="000099"/>
                </a:solidFill>
                <a:latin typeface="Arial" panose="020B0604020202020204" pitchFamily="34" charset="0"/>
                <a:ea typeface="黑体" panose="02010609060101010101" pitchFamily="2" charset="-122"/>
              </a:rPr>
              <a:t>  </a:t>
            </a:r>
            <a:r>
              <a:rPr kumimoji="0" lang="en-US" altLang="zh-CN" sz="2800" kern="0" dirty="0">
                <a:solidFill>
                  <a:srgbClr val="000099"/>
                </a:solidFill>
                <a:latin typeface="Arial" panose="020B0604020202020204" pitchFamily="34" charset="0"/>
                <a:ea typeface="黑体" panose="02010609060101010101" pitchFamily="2" charset="-122"/>
              </a:rPr>
              <a:t>B </a:t>
            </a:r>
            <a:r>
              <a:rPr kumimoji="0" lang="zh-CN" altLang="en-US" sz="2800" kern="0" dirty="0">
                <a:solidFill>
                  <a:srgbClr val="000099"/>
                </a:solidFill>
                <a:latin typeface="Arial" panose="020B0604020202020204" pitchFamily="34" charset="0"/>
                <a:ea typeface="黑体" panose="02010609060101010101" pitchFamily="2" charset="-122"/>
              </a:rPr>
              <a:t>在确认报文段中应使 </a:t>
            </a:r>
            <a:r>
              <a:rPr kumimoji="0" lang="en-US" altLang="zh-CN" sz="2800" kern="0" dirty="0">
                <a:solidFill>
                  <a:srgbClr val="000099"/>
                </a:solidFill>
                <a:latin typeface="Arial" panose="020B0604020202020204" pitchFamily="34" charset="0"/>
                <a:ea typeface="黑体" panose="02010609060101010101" pitchFamily="2" charset="-122"/>
              </a:rPr>
              <a:t>SYN = 1</a:t>
            </a:r>
            <a:r>
              <a:rPr kumimoji="0" lang="zh-CN" altLang="en-US" sz="2800" kern="0" dirty="0">
                <a:solidFill>
                  <a:srgbClr val="000099"/>
                </a:solidFill>
                <a:latin typeface="Arial" panose="020B0604020202020204" pitchFamily="34" charset="0"/>
                <a:ea typeface="黑体" panose="02010609060101010101" pitchFamily="2" charset="-122"/>
              </a:rPr>
              <a:t>，使 </a:t>
            </a:r>
            <a:r>
              <a:rPr kumimoji="0" lang="en-US" altLang="zh-CN" sz="2800" kern="0" dirty="0">
                <a:solidFill>
                  <a:srgbClr val="000099"/>
                </a:solidFill>
                <a:latin typeface="Arial" panose="020B0604020202020204" pitchFamily="34" charset="0"/>
                <a:ea typeface="黑体" panose="02010609060101010101" pitchFamily="2" charset="-122"/>
              </a:rPr>
              <a:t>ACK = 1</a:t>
            </a:r>
            <a:r>
              <a:rPr kumimoji="0" lang="zh-CN" altLang="en-US" sz="2800" kern="0" dirty="0">
                <a:solidFill>
                  <a:srgbClr val="000099"/>
                </a:solidFill>
                <a:latin typeface="Arial" panose="020B0604020202020204" pitchFamily="34" charset="0"/>
                <a:ea typeface="黑体" panose="02010609060101010101" pitchFamily="2" charset="-122"/>
              </a:rPr>
              <a:t>，</a:t>
            </a:r>
          </a:p>
          <a:p>
            <a:pPr eaLnBrk="1" fontAlgn="auto" hangingPunct="1">
              <a:spcBef>
                <a:spcPts val="0"/>
              </a:spcBef>
              <a:spcAft>
                <a:spcPts val="0"/>
              </a:spcAft>
              <a:defRPr/>
            </a:pPr>
            <a:r>
              <a:rPr kumimoji="0" lang="zh-CN" altLang="en-US" sz="2800" kern="0" dirty="0">
                <a:solidFill>
                  <a:srgbClr val="000099"/>
                </a:solidFill>
                <a:latin typeface="Arial" panose="020B0604020202020204" pitchFamily="34" charset="0"/>
                <a:ea typeface="黑体" panose="02010609060101010101" pitchFamily="2" charset="-122"/>
              </a:rPr>
              <a:t>   其确认号</a:t>
            </a:r>
            <a:r>
              <a:rPr kumimoji="0" lang="en-US" altLang="zh-CN" sz="2800" kern="0" dirty="0" err="1">
                <a:solidFill>
                  <a:srgbClr val="000099"/>
                </a:solidFill>
                <a:latin typeface="Arial" panose="020B0604020202020204" pitchFamily="34" charset="0"/>
                <a:ea typeface="黑体" panose="02010609060101010101" pitchFamily="2" charset="-122"/>
              </a:rPr>
              <a:t>ack</a:t>
            </a:r>
            <a:r>
              <a:rPr kumimoji="0" lang="en-US" altLang="zh-CN" sz="2800" kern="0" dirty="0">
                <a:solidFill>
                  <a:srgbClr val="000099"/>
                </a:solidFill>
                <a:latin typeface="Arial" panose="020B0604020202020204" pitchFamily="34" charset="0"/>
                <a:ea typeface="黑体" panose="02010609060101010101" pitchFamily="2" charset="-122"/>
              </a:rPr>
              <a:t> = x </a:t>
            </a:r>
            <a:r>
              <a:rPr kumimoji="0" lang="en-US" altLang="zh-CN" sz="2800" kern="0" dirty="0">
                <a:solidFill>
                  <a:srgbClr val="000099"/>
                </a:solidFill>
                <a:latin typeface="Arial" panose="020B0604020202020204" pitchFamily="34" charset="0"/>
                <a:ea typeface="黑体" panose="02010609060101010101" pitchFamily="2" charset="-122"/>
                <a:sym typeface="Symbol" panose="05050102010706020507" pitchFamily="18" charset="2"/>
              </a:rPr>
              <a:t></a:t>
            </a:r>
            <a:r>
              <a:rPr kumimoji="0" lang="en-US" altLang="zh-CN" sz="2800" kern="0" dirty="0">
                <a:solidFill>
                  <a:srgbClr val="000099"/>
                </a:solidFill>
                <a:latin typeface="Arial" panose="020B0604020202020204" pitchFamily="34" charset="0"/>
                <a:ea typeface="黑体" panose="02010609060101010101" pitchFamily="2" charset="-122"/>
              </a:rPr>
              <a:t> 1</a:t>
            </a:r>
            <a:r>
              <a:rPr kumimoji="0" lang="zh-CN" altLang="en-US" sz="2800" kern="0" dirty="0">
                <a:solidFill>
                  <a:srgbClr val="000099"/>
                </a:solidFill>
                <a:latin typeface="Arial" panose="020B0604020202020204" pitchFamily="34" charset="0"/>
                <a:ea typeface="黑体" panose="02010609060101010101" pitchFamily="2" charset="-122"/>
              </a:rPr>
              <a:t>，自己选择的序号 </a:t>
            </a:r>
            <a:r>
              <a:rPr kumimoji="0" lang="en-US" altLang="zh-CN" sz="2800" kern="0" dirty="0" err="1">
                <a:solidFill>
                  <a:srgbClr val="000099"/>
                </a:solidFill>
                <a:latin typeface="Arial" panose="020B0604020202020204" pitchFamily="34" charset="0"/>
                <a:ea typeface="黑体" panose="02010609060101010101" pitchFamily="2" charset="-122"/>
              </a:rPr>
              <a:t>seq</a:t>
            </a:r>
            <a:r>
              <a:rPr kumimoji="0" lang="en-US" altLang="zh-CN" sz="2800" kern="0" dirty="0">
                <a:solidFill>
                  <a:srgbClr val="000099"/>
                </a:solidFill>
                <a:latin typeface="Arial" panose="020B0604020202020204" pitchFamily="34" charset="0"/>
                <a:ea typeface="黑体" panose="02010609060101010101" pitchFamily="2" charset="-122"/>
              </a:rPr>
              <a:t> = y</a:t>
            </a:r>
            <a:r>
              <a:rPr kumimoji="0" lang="zh-CN" altLang="en-US" sz="2800" kern="0" dirty="0">
                <a:solidFill>
                  <a:srgbClr val="000099"/>
                </a:solidFill>
                <a:latin typeface="Arial" panose="020B0604020202020204" pitchFamily="34" charset="0"/>
                <a:ea typeface="黑体" panose="02010609060101010101" pitchFamily="2" charset="-122"/>
              </a:rPr>
              <a:t>。</a:t>
            </a:r>
          </a:p>
        </p:txBody>
      </p:sp>
      <p:sp>
        <p:nvSpPr>
          <p:cNvPr id="31" name="Text Box 48"/>
          <p:cNvSpPr txBox="1">
            <a:spLocks noChangeArrowheads="1"/>
          </p:cNvSpPr>
          <p:nvPr/>
        </p:nvSpPr>
        <p:spPr bwMode="auto">
          <a:xfrm>
            <a:off x="992188" y="115888"/>
            <a:ext cx="8042275" cy="647700"/>
          </a:xfrm>
          <a:prstGeom prst="rect">
            <a:avLst/>
          </a:prstGeom>
          <a:solidFill>
            <a:srgbClr val="FFFF99"/>
          </a:solidFill>
          <a:ln w="9525">
            <a:solidFill>
              <a:srgbClr val="3333CC"/>
            </a:solidFill>
            <a:miter lim="800000"/>
          </a:ln>
          <a:effectLst>
            <a:outerShdw dist="35921" dir="2700000" algn="ctr" rotWithShape="0">
              <a:srgbClr val="1C1C1C"/>
            </a:outerShdw>
          </a:effec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eaLnBrk="1" fontAlgn="auto" hangingPunct="1">
              <a:spcBef>
                <a:spcPts val="0"/>
              </a:spcBef>
              <a:spcAft>
                <a:spcPts val="0"/>
              </a:spcAft>
              <a:defRPr/>
            </a:pPr>
            <a:r>
              <a:rPr kumimoji="0" lang="en-US" altLang="zh-CN" sz="3600" kern="0" dirty="0">
                <a:solidFill>
                  <a:srgbClr val="000099"/>
                </a:solidFill>
                <a:latin typeface="Arial" panose="020B0604020202020204" pitchFamily="34" charset="0"/>
                <a:ea typeface="黑体" panose="02010609060101010101" pitchFamily="2" charset="-122"/>
              </a:rPr>
              <a:t>TCP </a:t>
            </a:r>
            <a:r>
              <a:rPr kumimoji="0" lang="zh-CN" altLang="en-US" sz="3600" kern="0" dirty="0">
                <a:solidFill>
                  <a:srgbClr val="000099"/>
                </a:solidFill>
                <a:latin typeface="Arial" panose="020B0604020202020204" pitchFamily="34" charset="0"/>
                <a:ea typeface="黑体" panose="02010609060101010101" pitchFamily="2" charset="-122"/>
              </a:rPr>
              <a:t>的连接建立：</a:t>
            </a:r>
            <a:r>
              <a:rPr kumimoji="0" lang="zh-CN" altLang="en-US" sz="3600" kern="0" noProof="1">
                <a:solidFill>
                  <a:srgbClr val="000099"/>
                </a:solidFill>
                <a:latin typeface="Arial" panose="020B0604020202020204" pitchFamily="34" charset="0"/>
                <a:ea typeface="黑体" panose="02010609060101010101" pitchFamily="2" charset="-122"/>
              </a:rPr>
              <a:t>采用</a:t>
            </a:r>
            <a:r>
              <a:rPr kumimoji="0" lang="zh-CN" altLang="zh-CN" sz="3600" kern="0" noProof="1">
                <a:solidFill>
                  <a:srgbClr val="FF0000"/>
                </a:solidFill>
                <a:latin typeface="Arial" panose="020B0604020202020204" pitchFamily="34" charset="0"/>
                <a:ea typeface="黑体" panose="02010609060101010101" pitchFamily="2" charset="-122"/>
              </a:rPr>
              <a:t>三报文握手</a:t>
            </a:r>
            <a:endParaRPr kumimoji="0" lang="zh-CN" altLang="en-US" sz="3600" kern="0" noProof="1">
              <a:solidFill>
                <a:srgbClr val="FF0000"/>
              </a:solidFill>
              <a:latin typeface="Arial" panose="020B0604020202020204" pitchFamily="34" charset="0"/>
              <a:ea typeface="黑体" panose="02010609060101010101" pitchFamily="2" charset="-122"/>
            </a:endParaRPr>
          </a:p>
        </p:txBody>
      </p:sp>
      <p:sp>
        <p:nvSpPr>
          <p:cNvPr id="1579036" name="灯片编号占位符 29"/>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60FDE669-8D6C-4DB1-A086-F18E46A8F0CF}" type="slidenum">
              <a:rPr lang="zh-CN" altLang="en-US" smtClean="0"/>
              <a:pPr/>
              <a:t>9</a:t>
            </a:fld>
            <a:endParaRPr lang="en-US" altLang="zh-CN" smtClean="0"/>
          </a:p>
        </p:txBody>
      </p:sp>
      <p:sp>
        <p:nvSpPr>
          <p:cNvPr id="1579037" name="页脚占位符 31"/>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par>
                          <p:cTn id="7" fill="hold" nodeType="afterGroup">
                            <p:stCondLst>
                              <p:cond delay="1"/>
                            </p:stCondLst>
                            <p:childTnLst>
                              <p:par>
                                <p:cTn id="8" presetID="22" presetClass="entr" presetSubtype="2" fill="hold" nodeType="afterEffect">
                                  <p:stCondLst>
                                    <p:cond delay="2000"/>
                                  </p:stCondLst>
                                  <p:childTnLst>
                                    <p:set>
                                      <p:cBhvr>
                                        <p:cTn id="9" dur="1" fill="hold">
                                          <p:stCondLst>
                                            <p:cond delay="0"/>
                                          </p:stCondLst>
                                        </p:cTn>
                                        <p:tgtEl>
                                          <p:spTgt spid="26"/>
                                        </p:tgtEl>
                                        <p:attrNameLst>
                                          <p:attrName>style.visibility</p:attrName>
                                        </p:attrNameLst>
                                      </p:cBhvr>
                                      <p:to>
                                        <p:strVal val="visible"/>
                                      </p:to>
                                    </p:set>
                                    <p:animEffect transition="in" filter="wipe(right)">
                                      <p:cBhvr>
                                        <p:cTn id="10" dur="1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80033" name="Group 2"/>
          <p:cNvGrpSpPr>
            <a:grpSpLocks/>
          </p:cNvGrpSpPr>
          <p:nvPr/>
        </p:nvGrpSpPr>
        <p:grpSpPr bwMode="auto">
          <a:xfrm>
            <a:off x="2782888" y="2997200"/>
            <a:ext cx="4248150" cy="3441700"/>
            <a:chOff x="1474" y="1888"/>
            <a:chExt cx="2676" cy="2432"/>
          </a:xfrm>
        </p:grpSpPr>
        <p:sp>
          <p:nvSpPr>
            <p:cNvPr id="5" name="Line 3"/>
            <p:cNvSpPr>
              <a:spLocks noChangeShapeType="1"/>
            </p:cNvSpPr>
            <p:nvPr/>
          </p:nvSpPr>
          <p:spPr bwMode="auto">
            <a:xfrm>
              <a:off x="1474" y="1888"/>
              <a:ext cx="0" cy="2432"/>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6" name="Line 4"/>
            <p:cNvSpPr>
              <a:spLocks noChangeShapeType="1"/>
            </p:cNvSpPr>
            <p:nvPr/>
          </p:nvSpPr>
          <p:spPr bwMode="auto">
            <a:xfrm>
              <a:off x="4150" y="1888"/>
              <a:ext cx="0" cy="2432"/>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grpSp>
        <p:nvGrpSpPr>
          <p:cNvPr id="1580036" name="Group 5"/>
          <p:cNvGrpSpPr>
            <a:grpSpLocks/>
          </p:cNvGrpSpPr>
          <p:nvPr/>
        </p:nvGrpSpPr>
        <p:grpSpPr bwMode="auto">
          <a:xfrm>
            <a:off x="2855913" y="3005138"/>
            <a:ext cx="4111625" cy="801687"/>
            <a:chOff x="1520" y="1893"/>
            <a:chExt cx="2590" cy="505"/>
          </a:xfrm>
        </p:grpSpPr>
        <p:sp>
          <p:nvSpPr>
            <p:cNvPr id="8" name="Rectangle 6"/>
            <p:cNvSpPr>
              <a:spLocks noChangeArrowheads="1"/>
            </p:cNvSpPr>
            <p:nvPr/>
          </p:nvSpPr>
          <p:spPr bwMode="auto">
            <a:xfrm rot="665985">
              <a:off x="2094" y="1904"/>
              <a:ext cx="161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fontAlgn="auto" hangingPunct="0">
                <a:spcBef>
                  <a:spcPts val="0"/>
                </a:spcBef>
                <a:spcAft>
                  <a:spcPts val="0"/>
                </a:spcAft>
                <a:defRPr/>
              </a:pPr>
              <a:r>
                <a:rPr lang="en-US" altLang="zh-CN" sz="2000" b="1" kern="0" dirty="0">
                  <a:solidFill>
                    <a:srgbClr val="3333CC"/>
                  </a:solidFill>
                  <a:latin typeface="+mn-lt"/>
                  <a:ea typeface="黑体" panose="02010609060101010101" pitchFamily="2" charset="-122"/>
                </a:rPr>
                <a:t>SYN = 1, </a:t>
              </a:r>
              <a:r>
                <a:rPr lang="en-US" altLang="zh-CN" sz="2000" b="1" kern="0" dirty="0" err="1">
                  <a:solidFill>
                    <a:srgbClr val="3333CC"/>
                  </a:solidFill>
                  <a:latin typeface="+mn-lt"/>
                  <a:ea typeface="黑体" panose="02010609060101010101" pitchFamily="2" charset="-122"/>
                </a:rPr>
                <a:t>seq</a:t>
              </a:r>
              <a:r>
                <a:rPr lang="en-US" altLang="zh-CN" sz="2000" b="1" kern="0" dirty="0">
                  <a:solidFill>
                    <a:srgbClr val="3333CC"/>
                  </a:solidFill>
                  <a:latin typeface="+mn-lt"/>
                  <a:ea typeface="黑体" panose="02010609060101010101" pitchFamily="2" charset="-122"/>
                </a:rPr>
                <a:t> = x</a:t>
              </a:r>
            </a:p>
          </p:txBody>
        </p:sp>
        <p:sp>
          <p:nvSpPr>
            <p:cNvPr id="9" name="Line 7"/>
            <p:cNvSpPr>
              <a:spLocks noChangeShapeType="1"/>
            </p:cNvSpPr>
            <p:nvPr/>
          </p:nvSpPr>
          <p:spPr bwMode="auto">
            <a:xfrm>
              <a:off x="1520" y="1893"/>
              <a:ext cx="2590" cy="505"/>
            </a:xfrm>
            <a:prstGeom prst="line">
              <a:avLst/>
            </a:prstGeom>
            <a:noFill/>
            <a:ln w="571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grpSp>
        <p:nvGrpSpPr>
          <p:cNvPr id="10" name="Group 8"/>
          <p:cNvGrpSpPr>
            <a:grpSpLocks/>
          </p:cNvGrpSpPr>
          <p:nvPr/>
        </p:nvGrpSpPr>
        <p:grpSpPr bwMode="auto">
          <a:xfrm>
            <a:off x="2855913" y="4756150"/>
            <a:ext cx="4202112" cy="800100"/>
            <a:chOff x="1520" y="2996"/>
            <a:chExt cx="2647" cy="504"/>
          </a:xfrm>
        </p:grpSpPr>
        <p:sp>
          <p:nvSpPr>
            <p:cNvPr id="11" name="Rectangle 9"/>
            <p:cNvSpPr>
              <a:spLocks noChangeArrowheads="1"/>
            </p:cNvSpPr>
            <p:nvPr/>
          </p:nvSpPr>
          <p:spPr bwMode="auto">
            <a:xfrm rot="649536">
              <a:off x="1856" y="3064"/>
              <a:ext cx="231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dirty="0">
                  <a:solidFill>
                    <a:srgbClr val="3333CC"/>
                  </a:solidFill>
                  <a:latin typeface="+mn-lt"/>
                  <a:ea typeface="黑体" panose="02010609060101010101" pitchFamily="2" charset="-122"/>
                </a:rPr>
                <a:t>ACK = 1, </a:t>
              </a:r>
              <a:r>
                <a:rPr lang="en-US" altLang="zh-CN" b="1" kern="0" dirty="0" err="1">
                  <a:solidFill>
                    <a:srgbClr val="3333CC"/>
                  </a:solidFill>
                  <a:latin typeface="+mn-lt"/>
                  <a:ea typeface="黑体" panose="02010609060101010101" pitchFamily="2" charset="-122"/>
                </a:rPr>
                <a:t>seq</a:t>
              </a:r>
              <a:r>
                <a:rPr lang="en-US" altLang="zh-CN" b="1" kern="0" dirty="0">
                  <a:solidFill>
                    <a:srgbClr val="3333CC"/>
                  </a:solidFill>
                  <a:latin typeface="+mn-lt"/>
                  <a:ea typeface="黑体" panose="02010609060101010101" pitchFamily="2" charset="-122"/>
                </a:rPr>
                <a:t> = x + 1, </a:t>
              </a:r>
              <a:r>
                <a:rPr lang="en-US" altLang="zh-CN" b="1" kern="0" dirty="0" err="1">
                  <a:solidFill>
                    <a:srgbClr val="3333CC"/>
                  </a:solidFill>
                  <a:latin typeface="+mn-lt"/>
                  <a:ea typeface="黑体" panose="02010609060101010101" pitchFamily="2" charset="-122"/>
                </a:rPr>
                <a:t>ack</a:t>
              </a:r>
              <a:r>
                <a:rPr lang="en-US" altLang="zh-CN" b="1" kern="0" dirty="0">
                  <a:solidFill>
                    <a:srgbClr val="3333CC"/>
                  </a:solidFill>
                  <a:latin typeface="+mn-lt"/>
                  <a:ea typeface="黑体" panose="02010609060101010101" pitchFamily="2" charset="-122"/>
                </a:rPr>
                <a:t> = y </a:t>
              </a:r>
              <a:r>
                <a:rPr lang="en-US" altLang="zh-CN" b="1" kern="0" dirty="0">
                  <a:solidFill>
                    <a:srgbClr val="3333CC"/>
                  </a:solidFill>
                  <a:latin typeface="+mn-lt"/>
                  <a:ea typeface="黑体" panose="02010609060101010101" pitchFamily="2" charset="-122"/>
                  <a:sym typeface="Symbol" panose="05050102010706020507" pitchFamily="18" charset="2"/>
                </a:rPr>
                <a:t> 1</a:t>
              </a:r>
            </a:p>
          </p:txBody>
        </p:sp>
        <p:sp>
          <p:nvSpPr>
            <p:cNvPr id="12" name="Line 10"/>
            <p:cNvSpPr>
              <a:spLocks noChangeShapeType="1"/>
            </p:cNvSpPr>
            <p:nvPr/>
          </p:nvSpPr>
          <p:spPr bwMode="auto">
            <a:xfrm>
              <a:off x="1520" y="2996"/>
              <a:ext cx="2590" cy="504"/>
            </a:xfrm>
            <a:prstGeom prst="line">
              <a:avLst/>
            </a:prstGeom>
            <a:noFill/>
            <a:ln w="571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sp>
        <p:nvSpPr>
          <p:cNvPr id="13" name="Rectangle 11"/>
          <p:cNvSpPr>
            <a:spLocks noChangeArrowheads="1"/>
          </p:cNvSpPr>
          <p:nvPr/>
        </p:nvSpPr>
        <p:spPr bwMode="auto">
          <a:xfrm>
            <a:off x="1879600" y="2393950"/>
            <a:ext cx="966788" cy="549275"/>
          </a:xfrm>
          <a:prstGeom prst="rect">
            <a:avLst/>
          </a:prstGeom>
          <a:solidFill>
            <a:srgbClr val="663300"/>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1580043" name="Text Box 12"/>
          <p:cNvSpPr txBox="1">
            <a:spLocks noChangeArrowheads="1"/>
          </p:cNvSpPr>
          <p:nvPr/>
        </p:nvSpPr>
        <p:spPr bwMode="auto">
          <a:xfrm>
            <a:off x="1830388" y="2455863"/>
            <a:ext cx="11477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FFFF99"/>
                </a:solidFill>
                <a:ea typeface="黑体" panose="02010609060101010101" pitchFamily="49" charset="-122"/>
              </a:rPr>
              <a:t>CLOSED</a:t>
            </a:r>
          </a:p>
        </p:txBody>
      </p:sp>
      <p:sp>
        <p:nvSpPr>
          <p:cNvPr id="15" name="Rectangle 13"/>
          <p:cNvSpPr>
            <a:spLocks noChangeArrowheads="1"/>
          </p:cNvSpPr>
          <p:nvPr/>
        </p:nvSpPr>
        <p:spPr bwMode="auto">
          <a:xfrm>
            <a:off x="6969125" y="2393950"/>
            <a:ext cx="985838" cy="549275"/>
          </a:xfrm>
          <a:prstGeom prst="rect">
            <a:avLst/>
          </a:prstGeom>
          <a:solidFill>
            <a:srgbClr val="663300"/>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1580045" name="Text Box 14"/>
          <p:cNvSpPr txBox="1">
            <a:spLocks noChangeArrowheads="1"/>
          </p:cNvSpPr>
          <p:nvPr/>
        </p:nvSpPr>
        <p:spPr bwMode="auto">
          <a:xfrm>
            <a:off x="6929438" y="2455863"/>
            <a:ext cx="114776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FFFF99"/>
                </a:solidFill>
                <a:ea typeface="黑体" panose="02010609060101010101" pitchFamily="49" charset="-122"/>
              </a:rPr>
              <a:t>CLOSED</a:t>
            </a:r>
          </a:p>
        </p:txBody>
      </p:sp>
      <p:grpSp>
        <p:nvGrpSpPr>
          <p:cNvPr id="1580046" name="Group 15"/>
          <p:cNvGrpSpPr>
            <a:grpSpLocks/>
          </p:cNvGrpSpPr>
          <p:nvPr/>
        </p:nvGrpSpPr>
        <p:grpSpPr bwMode="auto">
          <a:xfrm>
            <a:off x="838200" y="2057400"/>
            <a:ext cx="1320800" cy="947738"/>
            <a:chOff x="249" y="1296"/>
            <a:chExt cx="832" cy="597"/>
          </a:xfrm>
        </p:grpSpPr>
        <p:sp>
          <p:nvSpPr>
            <p:cNvPr id="18" name="Rectangle 16"/>
            <p:cNvSpPr>
              <a:spLocks noChangeArrowheads="1"/>
            </p:cNvSpPr>
            <p:nvPr/>
          </p:nvSpPr>
          <p:spPr bwMode="auto">
            <a:xfrm>
              <a:off x="251" y="1638"/>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主动打开</a:t>
              </a:r>
            </a:p>
          </p:txBody>
        </p:sp>
        <p:sp>
          <p:nvSpPr>
            <p:cNvPr id="19" name="Freeform 17"/>
            <p:cNvSpPr/>
            <p:nvPr/>
          </p:nvSpPr>
          <p:spPr bwMode="auto">
            <a:xfrm>
              <a:off x="249" y="1296"/>
              <a:ext cx="832"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grpSp>
        <p:nvGrpSpPr>
          <p:cNvPr id="1580049" name="Group 18"/>
          <p:cNvGrpSpPr>
            <a:grpSpLocks/>
          </p:cNvGrpSpPr>
          <p:nvPr/>
        </p:nvGrpSpPr>
        <p:grpSpPr bwMode="auto">
          <a:xfrm>
            <a:off x="7666038" y="2065338"/>
            <a:ext cx="1401762" cy="939800"/>
            <a:chOff x="4550" y="1301"/>
            <a:chExt cx="883" cy="592"/>
          </a:xfrm>
        </p:grpSpPr>
        <p:sp>
          <p:nvSpPr>
            <p:cNvPr id="21" name="Rectangle 19"/>
            <p:cNvSpPr>
              <a:spLocks noChangeArrowheads="1"/>
            </p:cNvSpPr>
            <p:nvPr/>
          </p:nvSpPr>
          <p:spPr bwMode="auto">
            <a:xfrm>
              <a:off x="4732" y="1617"/>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被动打开</a:t>
              </a:r>
            </a:p>
          </p:txBody>
        </p:sp>
        <p:sp>
          <p:nvSpPr>
            <p:cNvPr id="22" name="Freeform 20"/>
            <p:cNvSpPr/>
            <p:nvPr/>
          </p:nvSpPr>
          <p:spPr bwMode="auto">
            <a:xfrm>
              <a:off x="4550" y="1301"/>
              <a:ext cx="870"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pic>
        <p:nvPicPr>
          <p:cNvPr id="1580052" name="Picture 2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12963" y="1779588"/>
            <a:ext cx="50165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80053" name="Picture 2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12013" y="1779588"/>
            <a:ext cx="50165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Rectangle 23"/>
          <p:cNvSpPr>
            <a:spLocks noChangeArrowheads="1"/>
          </p:cNvSpPr>
          <p:nvPr/>
        </p:nvSpPr>
        <p:spPr bwMode="auto">
          <a:xfrm>
            <a:off x="2536825" y="1779588"/>
            <a:ext cx="3508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A</a:t>
            </a:r>
          </a:p>
        </p:txBody>
      </p:sp>
      <p:sp>
        <p:nvSpPr>
          <p:cNvPr id="26" name="Rectangle 24"/>
          <p:cNvSpPr>
            <a:spLocks noChangeArrowheads="1"/>
          </p:cNvSpPr>
          <p:nvPr/>
        </p:nvSpPr>
        <p:spPr bwMode="auto">
          <a:xfrm>
            <a:off x="6978650" y="1779588"/>
            <a:ext cx="3508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B</a:t>
            </a:r>
          </a:p>
        </p:txBody>
      </p:sp>
      <p:sp>
        <p:nvSpPr>
          <p:cNvPr id="27" name="Rectangle 25"/>
          <p:cNvSpPr>
            <a:spLocks noChangeArrowheads="1"/>
          </p:cNvSpPr>
          <p:nvPr/>
        </p:nvSpPr>
        <p:spPr bwMode="auto">
          <a:xfrm>
            <a:off x="2032000" y="1425575"/>
            <a:ext cx="6477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客户</a:t>
            </a:r>
          </a:p>
        </p:txBody>
      </p:sp>
      <p:sp>
        <p:nvSpPr>
          <p:cNvPr id="28" name="Rectangle 26"/>
          <p:cNvSpPr>
            <a:spLocks noChangeArrowheads="1"/>
          </p:cNvSpPr>
          <p:nvPr/>
        </p:nvSpPr>
        <p:spPr bwMode="auto">
          <a:xfrm>
            <a:off x="7027863" y="1425575"/>
            <a:ext cx="8810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服务器</a:t>
            </a:r>
          </a:p>
        </p:txBody>
      </p:sp>
      <p:grpSp>
        <p:nvGrpSpPr>
          <p:cNvPr id="1580058" name="Group 27"/>
          <p:cNvGrpSpPr>
            <a:grpSpLocks/>
          </p:cNvGrpSpPr>
          <p:nvPr/>
        </p:nvGrpSpPr>
        <p:grpSpPr bwMode="auto">
          <a:xfrm>
            <a:off x="2809875" y="3881438"/>
            <a:ext cx="4157663" cy="801687"/>
            <a:chOff x="1491" y="2445"/>
            <a:chExt cx="2619" cy="505"/>
          </a:xfrm>
        </p:grpSpPr>
        <p:sp>
          <p:nvSpPr>
            <p:cNvPr id="30" name="Line 28"/>
            <p:cNvSpPr>
              <a:spLocks noChangeShapeType="1"/>
            </p:cNvSpPr>
            <p:nvPr/>
          </p:nvSpPr>
          <p:spPr bwMode="auto">
            <a:xfrm flipH="1">
              <a:off x="1520" y="2445"/>
              <a:ext cx="2590" cy="505"/>
            </a:xfrm>
            <a:prstGeom prst="line">
              <a:avLst/>
            </a:prstGeom>
            <a:noFill/>
            <a:ln w="571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31" name="Rectangle 29"/>
            <p:cNvSpPr>
              <a:spLocks noChangeArrowheads="1"/>
            </p:cNvSpPr>
            <p:nvPr/>
          </p:nvSpPr>
          <p:spPr bwMode="auto">
            <a:xfrm rot="20990024" flipH="1">
              <a:off x="1491" y="2483"/>
              <a:ext cx="237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sz="1600" b="1" kern="0" dirty="0">
                  <a:solidFill>
                    <a:srgbClr val="3333CC"/>
                  </a:solidFill>
                  <a:latin typeface="+mn-lt"/>
                  <a:ea typeface="黑体" panose="02010609060101010101" pitchFamily="2" charset="-122"/>
                </a:rPr>
                <a:t>SYN = 1, ACK = 1, </a:t>
              </a:r>
              <a:r>
                <a:rPr lang="en-US" altLang="zh-CN" sz="1600" b="1" kern="0" dirty="0" err="1">
                  <a:solidFill>
                    <a:srgbClr val="3333CC"/>
                  </a:solidFill>
                  <a:latin typeface="+mn-lt"/>
                  <a:ea typeface="黑体" panose="02010609060101010101" pitchFamily="2" charset="-122"/>
                </a:rPr>
                <a:t>seq</a:t>
              </a:r>
              <a:r>
                <a:rPr lang="en-US" altLang="zh-CN" sz="1600" b="1" kern="0" dirty="0">
                  <a:solidFill>
                    <a:srgbClr val="3333CC"/>
                  </a:solidFill>
                  <a:latin typeface="+mn-lt"/>
                  <a:ea typeface="黑体" panose="02010609060101010101" pitchFamily="2" charset="-122"/>
                </a:rPr>
                <a:t> = y, </a:t>
              </a:r>
              <a:r>
                <a:rPr lang="en-US" altLang="zh-CN" sz="1600" b="1" kern="0" dirty="0" err="1">
                  <a:solidFill>
                    <a:srgbClr val="3333CC"/>
                  </a:solidFill>
                  <a:latin typeface="+mn-lt"/>
                  <a:ea typeface="黑体" panose="02010609060101010101" pitchFamily="2" charset="-122"/>
                </a:rPr>
                <a:t>ack</a:t>
              </a:r>
              <a:r>
                <a:rPr lang="en-US" altLang="zh-CN" sz="1600" b="1" kern="0" dirty="0">
                  <a:solidFill>
                    <a:srgbClr val="3333CC"/>
                  </a:solidFill>
                  <a:latin typeface="+mn-lt"/>
                  <a:ea typeface="黑体" panose="02010609060101010101" pitchFamily="2" charset="-122"/>
                </a:rPr>
                <a:t>= x </a:t>
              </a:r>
              <a:r>
                <a:rPr lang="en-US" altLang="zh-CN" sz="1600" b="1" kern="0" dirty="0">
                  <a:solidFill>
                    <a:srgbClr val="3333CC"/>
                  </a:solidFill>
                  <a:latin typeface="+mn-lt"/>
                  <a:ea typeface="黑体" panose="02010609060101010101" pitchFamily="2" charset="-122"/>
                  <a:sym typeface="Symbol" panose="05050102010706020507" pitchFamily="18" charset="2"/>
                </a:rPr>
                <a:t> 1</a:t>
              </a:r>
              <a:endParaRPr lang="en-US" altLang="zh-CN" sz="1600" b="1" kern="0" dirty="0">
                <a:solidFill>
                  <a:srgbClr val="3333CC"/>
                </a:solidFill>
                <a:latin typeface="+mn-lt"/>
                <a:ea typeface="黑体" panose="02010609060101010101" pitchFamily="2" charset="-122"/>
              </a:endParaRPr>
            </a:p>
          </p:txBody>
        </p:sp>
      </p:grpSp>
      <p:sp>
        <p:nvSpPr>
          <p:cNvPr id="32" name="Text Box 30"/>
          <p:cNvSpPr txBox="1">
            <a:spLocks noChangeArrowheads="1"/>
          </p:cNvSpPr>
          <p:nvPr/>
        </p:nvSpPr>
        <p:spPr bwMode="auto">
          <a:xfrm>
            <a:off x="906463" y="44450"/>
            <a:ext cx="8294687" cy="1296988"/>
          </a:xfrm>
          <a:prstGeom prst="rect">
            <a:avLst/>
          </a:prstGeom>
          <a:solidFill>
            <a:srgbClr val="FFFF99"/>
          </a:solidFill>
          <a:ln w="9525">
            <a:solidFill>
              <a:srgbClr val="3333CC"/>
            </a:solidFill>
            <a:miter lim="800000"/>
          </a:ln>
          <a:effectLst>
            <a:outerShdw dist="35921" dir="2700000" algn="ctr" rotWithShape="0">
              <a:srgbClr val="1C1C1C"/>
            </a:outerShdw>
          </a:effec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just" eaLnBrk="1" fontAlgn="auto" hangingPunct="1">
              <a:lnSpc>
                <a:spcPct val="90000"/>
              </a:lnSpc>
              <a:spcBef>
                <a:spcPts val="0"/>
              </a:spcBef>
              <a:spcAft>
                <a:spcPts val="0"/>
              </a:spcAft>
              <a:buFontTx/>
              <a:buChar char="•"/>
              <a:defRPr/>
            </a:pPr>
            <a:r>
              <a:rPr kumimoji="0" lang="en-US" altLang="zh-CN" sz="2800" kern="0">
                <a:solidFill>
                  <a:srgbClr val="000099"/>
                </a:solidFill>
                <a:latin typeface="Arial" panose="020B0604020202020204" pitchFamily="34" charset="0"/>
                <a:ea typeface="黑体" panose="02010609060101010101" pitchFamily="2" charset="-122"/>
              </a:rPr>
              <a:t>  A </a:t>
            </a:r>
            <a:r>
              <a:rPr kumimoji="0" lang="zh-CN" altLang="en-US" sz="2800" kern="0">
                <a:solidFill>
                  <a:srgbClr val="000099"/>
                </a:solidFill>
                <a:latin typeface="Arial" panose="020B0604020202020204" pitchFamily="34" charset="0"/>
                <a:ea typeface="黑体" panose="02010609060101010101" pitchFamily="2" charset="-122"/>
              </a:rPr>
              <a:t>收到此报文段后向 </a:t>
            </a:r>
            <a:r>
              <a:rPr kumimoji="0" lang="en-US" altLang="zh-CN" sz="2800" kern="0">
                <a:solidFill>
                  <a:srgbClr val="000099"/>
                </a:solidFill>
                <a:latin typeface="Arial" panose="020B0604020202020204" pitchFamily="34" charset="0"/>
                <a:ea typeface="黑体" panose="02010609060101010101" pitchFamily="2" charset="-122"/>
              </a:rPr>
              <a:t>B </a:t>
            </a:r>
            <a:r>
              <a:rPr kumimoji="0" lang="zh-CN" altLang="en-US" sz="2800" kern="0">
                <a:solidFill>
                  <a:srgbClr val="000099"/>
                </a:solidFill>
                <a:latin typeface="Arial" panose="020B0604020202020204" pitchFamily="34" charset="0"/>
                <a:ea typeface="黑体" panose="02010609060101010101" pitchFamily="2" charset="-122"/>
              </a:rPr>
              <a:t>给出确认，其 </a:t>
            </a:r>
            <a:r>
              <a:rPr kumimoji="0" lang="en-US" altLang="zh-CN" sz="2800" kern="0">
                <a:solidFill>
                  <a:srgbClr val="000099"/>
                </a:solidFill>
                <a:latin typeface="Arial" panose="020B0604020202020204" pitchFamily="34" charset="0"/>
                <a:ea typeface="黑体" panose="02010609060101010101" pitchFamily="2" charset="-122"/>
              </a:rPr>
              <a:t>ACK = 1</a:t>
            </a:r>
            <a:r>
              <a:rPr kumimoji="0" lang="zh-CN" altLang="en-US" sz="2800" kern="0">
                <a:solidFill>
                  <a:srgbClr val="000099"/>
                </a:solidFill>
                <a:latin typeface="Arial" panose="020B0604020202020204" pitchFamily="34" charset="0"/>
                <a:ea typeface="黑体" panose="02010609060101010101" pitchFamily="2" charset="-122"/>
              </a:rPr>
              <a:t>，</a:t>
            </a:r>
          </a:p>
          <a:p>
            <a:pPr algn="just" eaLnBrk="1" fontAlgn="auto" hangingPunct="1">
              <a:lnSpc>
                <a:spcPct val="90000"/>
              </a:lnSpc>
              <a:spcBef>
                <a:spcPts val="0"/>
              </a:spcBef>
              <a:spcAft>
                <a:spcPts val="0"/>
              </a:spcAft>
              <a:defRPr/>
            </a:pPr>
            <a:r>
              <a:rPr kumimoji="0" lang="zh-CN" altLang="en-US" sz="2800" kern="0">
                <a:solidFill>
                  <a:srgbClr val="000099"/>
                </a:solidFill>
                <a:latin typeface="Arial" panose="020B0604020202020204" pitchFamily="34" charset="0"/>
                <a:ea typeface="黑体" panose="02010609060101010101" pitchFamily="2" charset="-122"/>
              </a:rPr>
              <a:t>   确认号 </a:t>
            </a:r>
            <a:r>
              <a:rPr kumimoji="0" lang="en-US" altLang="zh-CN" sz="2800" kern="0">
                <a:solidFill>
                  <a:srgbClr val="000099"/>
                </a:solidFill>
                <a:latin typeface="Arial" panose="020B0604020202020204" pitchFamily="34" charset="0"/>
                <a:ea typeface="黑体" panose="02010609060101010101" pitchFamily="2" charset="-122"/>
              </a:rPr>
              <a:t>ack = y </a:t>
            </a:r>
            <a:r>
              <a:rPr kumimoji="0" lang="en-US" altLang="zh-CN" sz="2800" kern="0">
                <a:solidFill>
                  <a:srgbClr val="000099"/>
                </a:solidFill>
                <a:latin typeface="Arial" panose="020B0604020202020204" pitchFamily="34" charset="0"/>
                <a:ea typeface="黑体" panose="02010609060101010101" pitchFamily="2" charset="-122"/>
                <a:sym typeface="Symbol" panose="05050102010706020507" pitchFamily="18" charset="2"/>
              </a:rPr>
              <a:t></a:t>
            </a:r>
            <a:r>
              <a:rPr kumimoji="0" lang="en-US" altLang="zh-CN" sz="2800" kern="0">
                <a:solidFill>
                  <a:srgbClr val="000099"/>
                </a:solidFill>
                <a:latin typeface="Arial" panose="020B0604020202020204" pitchFamily="34" charset="0"/>
                <a:ea typeface="黑体" panose="02010609060101010101" pitchFamily="2" charset="-122"/>
              </a:rPr>
              <a:t> 1</a:t>
            </a:r>
            <a:r>
              <a:rPr kumimoji="0" lang="zh-CN" altLang="en-US" sz="2800" kern="0">
                <a:solidFill>
                  <a:srgbClr val="000099"/>
                </a:solidFill>
                <a:latin typeface="Arial" panose="020B0604020202020204" pitchFamily="34" charset="0"/>
                <a:ea typeface="黑体" panose="02010609060101010101" pitchFamily="2" charset="-122"/>
              </a:rPr>
              <a:t>。</a:t>
            </a:r>
          </a:p>
          <a:p>
            <a:pPr algn="just" eaLnBrk="1" fontAlgn="auto" hangingPunct="1">
              <a:spcBef>
                <a:spcPts val="0"/>
              </a:spcBef>
              <a:spcAft>
                <a:spcPts val="0"/>
              </a:spcAft>
              <a:buFontTx/>
              <a:buChar char="•"/>
              <a:defRPr/>
            </a:pPr>
            <a:r>
              <a:rPr kumimoji="0" lang="zh-CN" altLang="en-US" sz="2800" kern="0">
                <a:solidFill>
                  <a:srgbClr val="000099"/>
                </a:solidFill>
                <a:latin typeface="Arial" panose="020B0604020202020204" pitchFamily="34" charset="0"/>
                <a:ea typeface="黑体" panose="02010609060101010101" pitchFamily="2" charset="-122"/>
              </a:rPr>
              <a:t>  </a:t>
            </a:r>
            <a:r>
              <a:rPr kumimoji="0" lang="en-US" altLang="zh-CN" sz="2800" kern="0">
                <a:solidFill>
                  <a:srgbClr val="000099"/>
                </a:solidFill>
                <a:latin typeface="Arial" panose="020B0604020202020204" pitchFamily="34" charset="0"/>
                <a:ea typeface="黑体" panose="02010609060101010101" pitchFamily="2" charset="-122"/>
              </a:rPr>
              <a:t>A </a:t>
            </a:r>
            <a:r>
              <a:rPr kumimoji="0" lang="zh-CN" altLang="en-US" sz="2800" kern="0">
                <a:solidFill>
                  <a:srgbClr val="000099"/>
                </a:solidFill>
                <a:latin typeface="Arial" panose="020B0604020202020204" pitchFamily="34" charset="0"/>
                <a:ea typeface="黑体" panose="02010609060101010101" pitchFamily="2" charset="-122"/>
              </a:rPr>
              <a:t>的 </a:t>
            </a:r>
            <a:r>
              <a:rPr kumimoji="0" lang="en-US" altLang="zh-CN" sz="2800" kern="0">
                <a:solidFill>
                  <a:srgbClr val="000099"/>
                </a:solidFill>
                <a:latin typeface="Arial" panose="020B0604020202020204" pitchFamily="34" charset="0"/>
                <a:ea typeface="黑体" panose="02010609060101010101" pitchFamily="2" charset="-122"/>
              </a:rPr>
              <a:t>TCP </a:t>
            </a:r>
            <a:r>
              <a:rPr kumimoji="0" lang="zh-CN" altLang="en-US" sz="2800" kern="0">
                <a:solidFill>
                  <a:srgbClr val="000099"/>
                </a:solidFill>
                <a:latin typeface="Arial" panose="020B0604020202020204" pitchFamily="34" charset="0"/>
                <a:ea typeface="黑体" panose="02010609060101010101" pitchFamily="2" charset="-122"/>
              </a:rPr>
              <a:t>通知上层应用进程，连接已经建立。   </a:t>
            </a:r>
          </a:p>
        </p:txBody>
      </p:sp>
      <p:sp>
        <p:nvSpPr>
          <p:cNvPr id="1580062" name="灯片编号占位符 32"/>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19E06E2F-68FF-4826-917B-5546991F4AF6}" type="slidenum">
              <a:rPr lang="zh-CN" altLang="en-US" smtClean="0"/>
              <a:pPr/>
              <a:t>10</a:t>
            </a:fld>
            <a:endParaRPr lang="en-US" altLang="zh-CN" smtClean="0"/>
          </a:p>
        </p:txBody>
      </p:sp>
      <p:sp>
        <p:nvSpPr>
          <p:cNvPr id="1580063" name="页脚占位符 33"/>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200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81057" name="Group 2"/>
          <p:cNvGrpSpPr>
            <a:grpSpLocks/>
          </p:cNvGrpSpPr>
          <p:nvPr/>
        </p:nvGrpSpPr>
        <p:grpSpPr bwMode="auto">
          <a:xfrm>
            <a:off x="2794000" y="2997200"/>
            <a:ext cx="4248150" cy="3441700"/>
            <a:chOff x="1474" y="1888"/>
            <a:chExt cx="2676" cy="2432"/>
          </a:xfrm>
        </p:grpSpPr>
        <p:sp>
          <p:nvSpPr>
            <p:cNvPr id="5" name="Line 3"/>
            <p:cNvSpPr>
              <a:spLocks noChangeShapeType="1"/>
            </p:cNvSpPr>
            <p:nvPr/>
          </p:nvSpPr>
          <p:spPr bwMode="auto">
            <a:xfrm>
              <a:off x="1474" y="1888"/>
              <a:ext cx="0" cy="2432"/>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6" name="Line 4"/>
            <p:cNvSpPr>
              <a:spLocks noChangeShapeType="1"/>
            </p:cNvSpPr>
            <p:nvPr/>
          </p:nvSpPr>
          <p:spPr bwMode="auto">
            <a:xfrm>
              <a:off x="4150" y="1888"/>
              <a:ext cx="0" cy="2432"/>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grpSp>
        <p:nvGrpSpPr>
          <p:cNvPr id="1581060" name="Group 5"/>
          <p:cNvGrpSpPr>
            <a:grpSpLocks/>
          </p:cNvGrpSpPr>
          <p:nvPr/>
        </p:nvGrpSpPr>
        <p:grpSpPr bwMode="auto">
          <a:xfrm>
            <a:off x="2867025" y="3005138"/>
            <a:ext cx="4111625" cy="801687"/>
            <a:chOff x="1520" y="1893"/>
            <a:chExt cx="2590" cy="505"/>
          </a:xfrm>
        </p:grpSpPr>
        <p:sp>
          <p:nvSpPr>
            <p:cNvPr id="8" name="Rectangle 6"/>
            <p:cNvSpPr>
              <a:spLocks noChangeArrowheads="1"/>
            </p:cNvSpPr>
            <p:nvPr/>
          </p:nvSpPr>
          <p:spPr bwMode="auto">
            <a:xfrm rot="665985">
              <a:off x="2093" y="1917"/>
              <a:ext cx="174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fontAlgn="auto" hangingPunct="0">
                <a:spcBef>
                  <a:spcPts val="0"/>
                </a:spcBef>
                <a:spcAft>
                  <a:spcPts val="0"/>
                </a:spcAft>
                <a:defRPr/>
              </a:pPr>
              <a:r>
                <a:rPr lang="en-US" altLang="zh-CN" sz="2000" b="1" kern="0" dirty="0">
                  <a:solidFill>
                    <a:srgbClr val="3333CC"/>
                  </a:solidFill>
                  <a:latin typeface="+mn-lt"/>
                  <a:ea typeface="黑体" panose="02010609060101010101" pitchFamily="2" charset="-122"/>
                </a:rPr>
                <a:t>SYN = 1, </a:t>
              </a:r>
              <a:r>
                <a:rPr lang="en-US" altLang="zh-CN" sz="2000" b="1" kern="0" dirty="0" err="1">
                  <a:solidFill>
                    <a:srgbClr val="3333CC"/>
                  </a:solidFill>
                  <a:latin typeface="+mn-lt"/>
                  <a:ea typeface="黑体" panose="02010609060101010101" pitchFamily="2" charset="-122"/>
                </a:rPr>
                <a:t>seq</a:t>
              </a:r>
              <a:r>
                <a:rPr lang="en-US" altLang="zh-CN" sz="2000" b="1" kern="0" dirty="0">
                  <a:solidFill>
                    <a:srgbClr val="3333CC"/>
                  </a:solidFill>
                  <a:latin typeface="+mn-lt"/>
                  <a:ea typeface="黑体" panose="02010609060101010101" pitchFamily="2" charset="-122"/>
                </a:rPr>
                <a:t> = x</a:t>
              </a:r>
            </a:p>
          </p:txBody>
        </p:sp>
        <p:sp>
          <p:nvSpPr>
            <p:cNvPr id="9" name="Line 7"/>
            <p:cNvSpPr>
              <a:spLocks noChangeShapeType="1"/>
            </p:cNvSpPr>
            <p:nvPr/>
          </p:nvSpPr>
          <p:spPr bwMode="auto">
            <a:xfrm>
              <a:off x="1520" y="1893"/>
              <a:ext cx="2590" cy="505"/>
            </a:xfrm>
            <a:prstGeom prst="line">
              <a:avLst/>
            </a:prstGeom>
            <a:noFill/>
            <a:ln w="571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grpSp>
        <p:nvGrpSpPr>
          <p:cNvPr id="1581063" name="Group 8"/>
          <p:cNvGrpSpPr>
            <a:grpSpLocks/>
          </p:cNvGrpSpPr>
          <p:nvPr/>
        </p:nvGrpSpPr>
        <p:grpSpPr bwMode="auto">
          <a:xfrm>
            <a:off x="2867025" y="4756150"/>
            <a:ext cx="4202113" cy="800100"/>
            <a:chOff x="1520" y="2996"/>
            <a:chExt cx="2647" cy="504"/>
          </a:xfrm>
        </p:grpSpPr>
        <p:sp>
          <p:nvSpPr>
            <p:cNvPr id="11" name="Rectangle 9"/>
            <p:cNvSpPr>
              <a:spLocks noChangeArrowheads="1"/>
            </p:cNvSpPr>
            <p:nvPr/>
          </p:nvSpPr>
          <p:spPr bwMode="auto">
            <a:xfrm rot="649536">
              <a:off x="1856" y="3064"/>
              <a:ext cx="231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dirty="0">
                  <a:solidFill>
                    <a:srgbClr val="3333CC"/>
                  </a:solidFill>
                  <a:latin typeface="+mn-lt"/>
                  <a:ea typeface="黑体" panose="02010609060101010101" pitchFamily="2" charset="-122"/>
                </a:rPr>
                <a:t>ACK = 1, </a:t>
              </a:r>
              <a:r>
                <a:rPr lang="en-US" altLang="zh-CN" b="1" kern="0" dirty="0" err="1">
                  <a:solidFill>
                    <a:srgbClr val="3333CC"/>
                  </a:solidFill>
                  <a:latin typeface="+mn-lt"/>
                  <a:ea typeface="黑体" panose="02010609060101010101" pitchFamily="2" charset="-122"/>
                </a:rPr>
                <a:t>seq</a:t>
              </a:r>
              <a:r>
                <a:rPr lang="en-US" altLang="zh-CN" b="1" kern="0" dirty="0">
                  <a:solidFill>
                    <a:srgbClr val="3333CC"/>
                  </a:solidFill>
                  <a:latin typeface="+mn-lt"/>
                  <a:ea typeface="黑体" panose="02010609060101010101" pitchFamily="2" charset="-122"/>
                </a:rPr>
                <a:t> = x + 1, </a:t>
              </a:r>
              <a:r>
                <a:rPr lang="en-US" altLang="zh-CN" b="1" kern="0" dirty="0" err="1">
                  <a:solidFill>
                    <a:srgbClr val="3333CC"/>
                  </a:solidFill>
                  <a:latin typeface="+mn-lt"/>
                  <a:ea typeface="黑体" panose="02010609060101010101" pitchFamily="2" charset="-122"/>
                </a:rPr>
                <a:t>ack</a:t>
              </a:r>
              <a:r>
                <a:rPr lang="en-US" altLang="zh-CN" b="1" kern="0" dirty="0">
                  <a:solidFill>
                    <a:srgbClr val="3333CC"/>
                  </a:solidFill>
                  <a:latin typeface="+mn-lt"/>
                  <a:ea typeface="黑体" panose="02010609060101010101" pitchFamily="2" charset="-122"/>
                </a:rPr>
                <a:t> = y </a:t>
              </a:r>
              <a:r>
                <a:rPr lang="en-US" altLang="zh-CN" b="1" kern="0" dirty="0">
                  <a:solidFill>
                    <a:srgbClr val="3333CC"/>
                  </a:solidFill>
                  <a:latin typeface="+mn-lt"/>
                  <a:ea typeface="黑体" panose="02010609060101010101" pitchFamily="2" charset="-122"/>
                  <a:sym typeface="Symbol" panose="05050102010706020507" pitchFamily="18" charset="2"/>
                </a:rPr>
                <a:t> 1</a:t>
              </a:r>
            </a:p>
          </p:txBody>
        </p:sp>
        <p:sp>
          <p:nvSpPr>
            <p:cNvPr id="12" name="Line 10"/>
            <p:cNvSpPr>
              <a:spLocks noChangeShapeType="1"/>
            </p:cNvSpPr>
            <p:nvPr/>
          </p:nvSpPr>
          <p:spPr bwMode="auto">
            <a:xfrm>
              <a:off x="1520" y="2996"/>
              <a:ext cx="2590" cy="504"/>
            </a:xfrm>
            <a:prstGeom prst="line">
              <a:avLst/>
            </a:prstGeom>
            <a:noFill/>
            <a:ln w="571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sp>
        <p:nvSpPr>
          <p:cNvPr id="13" name="Rectangle 11"/>
          <p:cNvSpPr>
            <a:spLocks noChangeArrowheads="1"/>
          </p:cNvSpPr>
          <p:nvPr/>
        </p:nvSpPr>
        <p:spPr bwMode="auto">
          <a:xfrm>
            <a:off x="1890713" y="2393950"/>
            <a:ext cx="966787" cy="549275"/>
          </a:xfrm>
          <a:prstGeom prst="rect">
            <a:avLst/>
          </a:prstGeom>
          <a:solidFill>
            <a:srgbClr val="663300"/>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1581067" name="Text Box 12"/>
          <p:cNvSpPr txBox="1">
            <a:spLocks noChangeArrowheads="1"/>
          </p:cNvSpPr>
          <p:nvPr/>
        </p:nvSpPr>
        <p:spPr bwMode="auto">
          <a:xfrm>
            <a:off x="1841500" y="2455863"/>
            <a:ext cx="11461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FFFF99"/>
                </a:solidFill>
                <a:ea typeface="黑体" panose="02010609060101010101" pitchFamily="49" charset="-122"/>
              </a:rPr>
              <a:t>CLOSED</a:t>
            </a:r>
          </a:p>
        </p:txBody>
      </p:sp>
      <p:sp>
        <p:nvSpPr>
          <p:cNvPr id="15" name="Rectangle 13"/>
          <p:cNvSpPr>
            <a:spLocks noChangeArrowheads="1"/>
          </p:cNvSpPr>
          <p:nvPr/>
        </p:nvSpPr>
        <p:spPr bwMode="auto">
          <a:xfrm>
            <a:off x="6980238" y="2393950"/>
            <a:ext cx="985837" cy="549275"/>
          </a:xfrm>
          <a:prstGeom prst="rect">
            <a:avLst/>
          </a:prstGeom>
          <a:solidFill>
            <a:srgbClr val="663300"/>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1581069" name="Text Box 14"/>
          <p:cNvSpPr txBox="1">
            <a:spLocks noChangeArrowheads="1"/>
          </p:cNvSpPr>
          <p:nvPr/>
        </p:nvSpPr>
        <p:spPr bwMode="auto">
          <a:xfrm>
            <a:off x="6940550" y="2455863"/>
            <a:ext cx="11461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FFFF99"/>
                </a:solidFill>
                <a:ea typeface="黑体" panose="02010609060101010101" pitchFamily="49" charset="-122"/>
              </a:rPr>
              <a:t>CLOSED</a:t>
            </a:r>
          </a:p>
        </p:txBody>
      </p:sp>
      <p:grpSp>
        <p:nvGrpSpPr>
          <p:cNvPr id="17" name="Group 15"/>
          <p:cNvGrpSpPr>
            <a:grpSpLocks/>
          </p:cNvGrpSpPr>
          <p:nvPr/>
        </p:nvGrpSpPr>
        <p:grpSpPr bwMode="auto">
          <a:xfrm>
            <a:off x="3768725" y="5805488"/>
            <a:ext cx="2371725" cy="396875"/>
            <a:chOff x="2088" y="3679"/>
            <a:chExt cx="1494" cy="250"/>
          </a:xfrm>
        </p:grpSpPr>
        <p:sp>
          <p:nvSpPr>
            <p:cNvPr id="18" name="AutoShape 16"/>
            <p:cNvSpPr>
              <a:spLocks noChangeArrowheads="1"/>
            </p:cNvSpPr>
            <p:nvPr/>
          </p:nvSpPr>
          <p:spPr bwMode="auto">
            <a:xfrm>
              <a:off x="2088" y="3735"/>
              <a:ext cx="1494" cy="166"/>
            </a:xfrm>
            <a:prstGeom prst="leftRightArrow">
              <a:avLst>
                <a:gd name="adj1" fmla="val 55880"/>
                <a:gd name="adj2" fmla="val 103167"/>
              </a:avLst>
            </a:prstGeom>
            <a:solidFill>
              <a:srgbClr val="FF0000"/>
            </a:solidFill>
            <a:ln w="12700">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19" name="Rectangle 17"/>
            <p:cNvSpPr>
              <a:spLocks noChangeArrowheads="1"/>
            </p:cNvSpPr>
            <p:nvPr/>
          </p:nvSpPr>
          <p:spPr bwMode="auto">
            <a:xfrm>
              <a:off x="2462" y="3679"/>
              <a:ext cx="765" cy="250"/>
            </a:xfrm>
            <a:prstGeom prst="rect">
              <a:avLst/>
            </a:prstGeom>
            <a:solidFill>
              <a:srgbClr val="CCECFF"/>
            </a:solidFill>
            <a:ln w="38100" cmpd="dbl">
              <a:solidFill>
                <a:srgbClr val="3333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sz="2000" b="1" kern="0" dirty="0">
                  <a:solidFill>
                    <a:srgbClr val="3333CC"/>
                  </a:solidFill>
                  <a:latin typeface="+mn-lt"/>
                  <a:ea typeface="黑体" panose="02010609060101010101" pitchFamily="2" charset="-122"/>
                </a:rPr>
                <a:t>数据传送</a:t>
              </a:r>
            </a:p>
          </p:txBody>
        </p:sp>
      </p:grpSp>
      <p:grpSp>
        <p:nvGrpSpPr>
          <p:cNvPr id="1581073" name="Group 18"/>
          <p:cNvGrpSpPr>
            <a:grpSpLocks/>
          </p:cNvGrpSpPr>
          <p:nvPr/>
        </p:nvGrpSpPr>
        <p:grpSpPr bwMode="auto">
          <a:xfrm>
            <a:off x="849313" y="2057400"/>
            <a:ext cx="1320800" cy="947738"/>
            <a:chOff x="249" y="1296"/>
            <a:chExt cx="832" cy="597"/>
          </a:xfrm>
        </p:grpSpPr>
        <p:sp>
          <p:nvSpPr>
            <p:cNvPr id="21" name="Rectangle 19"/>
            <p:cNvSpPr>
              <a:spLocks noChangeArrowheads="1"/>
            </p:cNvSpPr>
            <p:nvPr/>
          </p:nvSpPr>
          <p:spPr bwMode="auto">
            <a:xfrm>
              <a:off x="251" y="1638"/>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主动打开</a:t>
              </a:r>
            </a:p>
          </p:txBody>
        </p:sp>
        <p:sp>
          <p:nvSpPr>
            <p:cNvPr id="22" name="Freeform 20"/>
            <p:cNvSpPr/>
            <p:nvPr/>
          </p:nvSpPr>
          <p:spPr bwMode="auto">
            <a:xfrm>
              <a:off x="249" y="1296"/>
              <a:ext cx="832"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grpSp>
        <p:nvGrpSpPr>
          <p:cNvPr id="1581076" name="Group 21"/>
          <p:cNvGrpSpPr>
            <a:grpSpLocks/>
          </p:cNvGrpSpPr>
          <p:nvPr/>
        </p:nvGrpSpPr>
        <p:grpSpPr bwMode="auto">
          <a:xfrm>
            <a:off x="7677150" y="2065338"/>
            <a:ext cx="1401763" cy="939800"/>
            <a:chOff x="4550" y="1301"/>
            <a:chExt cx="883" cy="592"/>
          </a:xfrm>
        </p:grpSpPr>
        <p:sp>
          <p:nvSpPr>
            <p:cNvPr id="24" name="Rectangle 22"/>
            <p:cNvSpPr>
              <a:spLocks noChangeArrowheads="1"/>
            </p:cNvSpPr>
            <p:nvPr/>
          </p:nvSpPr>
          <p:spPr bwMode="auto">
            <a:xfrm>
              <a:off x="4732" y="1617"/>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被动打开</a:t>
              </a:r>
            </a:p>
          </p:txBody>
        </p:sp>
        <p:sp>
          <p:nvSpPr>
            <p:cNvPr id="25" name="Freeform 23"/>
            <p:cNvSpPr/>
            <p:nvPr/>
          </p:nvSpPr>
          <p:spPr bwMode="auto">
            <a:xfrm>
              <a:off x="4550" y="1301"/>
              <a:ext cx="870"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pic>
        <p:nvPicPr>
          <p:cNvPr id="1581079" name="Picture 2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24075" y="1779588"/>
            <a:ext cx="50165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81080" name="Picture 2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23125" y="1779588"/>
            <a:ext cx="50165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Rectangle 26"/>
          <p:cNvSpPr>
            <a:spLocks noChangeArrowheads="1"/>
          </p:cNvSpPr>
          <p:nvPr/>
        </p:nvSpPr>
        <p:spPr bwMode="auto">
          <a:xfrm>
            <a:off x="2547938" y="17795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A</a:t>
            </a:r>
          </a:p>
        </p:txBody>
      </p:sp>
      <p:sp>
        <p:nvSpPr>
          <p:cNvPr id="29" name="Rectangle 27"/>
          <p:cNvSpPr>
            <a:spLocks noChangeArrowheads="1"/>
          </p:cNvSpPr>
          <p:nvPr/>
        </p:nvSpPr>
        <p:spPr bwMode="auto">
          <a:xfrm>
            <a:off x="6989763" y="17795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B</a:t>
            </a:r>
          </a:p>
        </p:txBody>
      </p:sp>
      <p:sp>
        <p:nvSpPr>
          <p:cNvPr id="30" name="Rectangle 28"/>
          <p:cNvSpPr>
            <a:spLocks noChangeArrowheads="1"/>
          </p:cNvSpPr>
          <p:nvPr/>
        </p:nvSpPr>
        <p:spPr bwMode="auto">
          <a:xfrm>
            <a:off x="2043113" y="1425575"/>
            <a:ext cx="6477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客户</a:t>
            </a:r>
          </a:p>
        </p:txBody>
      </p:sp>
      <p:sp>
        <p:nvSpPr>
          <p:cNvPr id="31" name="Rectangle 29"/>
          <p:cNvSpPr>
            <a:spLocks noChangeArrowheads="1"/>
          </p:cNvSpPr>
          <p:nvPr/>
        </p:nvSpPr>
        <p:spPr bwMode="auto">
          <a:xfrm>
            <a:off x="7038975" y="1425575"/>
            <a:ext cx="8794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服务器</a:t>
            </a:r>
          </a:p>
        </p:txBody>
      </p:sp>
      <p:grpSp>
        <p:nvGrpSpPr>
          <p:cNvPr id="1581085" name="Group 30"/>
          <p:cNvGrpSpPr>
            <a:grpSpLocks/>
          </p:cNvGrpSpPr>
          <p:nvPr/>
        </p:nvGrpSpPr>
        <p:grpSpPr bwMode="auto">
          <a:xfrm>
            <a:off x="2820988" y="3881438"/>
            <a:ext cx="4157662" cy="801687"/>
            <a:chOff x="1491" y="2445"/>
            <a:chExt cx="2619" cy="505"/>
          </a:xfrm>
        </p:grpSpPr>
        <p:sp>
          <p:nvSpPr>
            <p:cNvPr id="33" name="Line 31"/>
            <p:cNvSpPr>
              <a:spLocks noChangeShapeType="1"/>
            </p:cNvSpPr>
            <p:nvPr/>
          </p:nvSpPr>
          <p:spPr bwMode="auto">
            <a:xfrm flipH="1">
              <a:off x="1520" y="2445"/>
              <a:ext cx="2590" cy="505"/>
            </a:xfrm>
            <a:prstGeom prst="line">
              <a:avLst/>
            </a:prstGeom>
            <a:noFill/>
            <a:ln w="571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34" name="Rectangle 32"/>
            <p:cNvSpPr>
              <a:spLocks noChangeArrowheads="1"/>
            </p:cNvSpPr>
            <p:nvPr/>
          </p:nvSpPr>
          <p:spPr bwMode="auto">
            <a:xfrm rot="20990024" flipH="1">
              <a:off x="1491" y="2483"/>
              <a:ext cx="237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sz="1600" b="1" kern="0" dirty="0">
                  <a:solidFill>
                    <a:srgbClr val="3333CC"/>
                  </a:solidFill>
                  <a:latin typeface="+mn-lt"/>
                  <a:ea typeface="黑体" panose="02010609060101010101" pitchFamily="2" charset="-122"/>
                </a:rPr>
                <a:t>SYN = 1, ACK = 1, </a:t>
              </a:r>
              <a:r>
                <a:rPr lang="en-US" altLang="zh-CN" sz="1600" b="1" kern="0" dirty="0" err="1">
                  <a:solidFill>
                    <a:srgbClr val="3333CC"/>
                  </a:solidFill>
                  <a:latin typeface="+mn-lt"/>
                  <a:ea typeface="黑体" panose="02010609060101010101" pitchFamily="2" charset="-122"/>
                </a:rPr>
                <a:t>seq</a:t>
              </a:r>
              <a:r>
                <a:rPr lang="en-US" altLang="zh-CN" sz="1600" b="1" kern="0" dirty="0">
                  <a:solidFill>
                    <a:srgbClr val="3333CC"/>
                  </a:solidFill>
                  <a:latin typeface="+mn-lt"/>
                  <a:ea typeface="黑体" panose="02010609060101010101" pitchFamily="2" charset="-122"/>
                </a:rPr>
                <a:t> = y, </a:t>
              </a:r>
              <a:r>
                <a:rPr lang="en-US" altLang="zh-CN" sz="1600" b="1" kern="0" dirty="0" err="1">
                  <a:solidFill>
                    <a:srgbClr val="3333CC"/>
                  </a:solidFill>
                  <a:latin typeface="+mn-lt"/>
                  <a:ea typeface="黑体" panose="02010609060101010101" pitchFamily="2" charset="-122"/>
                </a:rPr>
                <a:t>ack</a:t>
              </a:r>
              <a:r>
                <a:rPr lang="en-US" altLang="zh-CN" sz="1600" b="1" kern="0" dirty="0">
                  <a:solidFill>
                    <a:srgbClr val="3333CC"/>
                  </a:solidFill>
                  <a:latin typeface="+mn-lt"/>
                  <a:ea typeface="黑体" panose="02010609060101010101" pitchFamily="2" charset="-122"/>
                </a:rPr>
                <a:t>= x </a:t>
              </a:r>
              <a:r>
                <a:rPr lang="en-US" altLang="zh-CN" sz="1600" b="1" kern="0" dirty="0">
                  <a:solidFill>
                    <a:srgbClr val="3333CC"/>
                  </a:solidFill>
                  <a:latin typeface="+mn-lt"/>
                  <a:ea typeface="黑体" panose="02010609060101010101" pitchFamily="2" charset="-122"/>
                  <a:sym typeface="Symbol" panose="05050102010706020507" pitchFamily="18" charset="2"/>
                </a:rPr>
                <a:t> 1</a:t>
              </a:r>
              <a:endParaRPr lang="en-US" altLang="zh-CN" sz="1600" b="1" kern="0" dirty="0">
                <a:solidFill>
                  <a:srgbClr val="3333CC"/>
                </a:solidFill>
                <a:latin typeface="+mn-lt"/>
                <a:ea typeface="黑体" panose="02010609060101010101" pitchFamily="2" charset="-122"/>
              </a:endParaRPr>
            </a:p>
          </p:txBody>
        </p:sp>
      </p:grpSp>
      <p:sp>
        <p:nvSpPr>
          <p:cNvPr id="35" name="Text Box 33"/>
          <p:cNvSpPr txBox="1">
            <a:spLocks noChangeArrowheads="1"/>
          </p:cNvSpPr>
          <p:nvPr/>
        </p:nvSpPr>
        <p:spPr bwMode="auto">
          <a:xfrm>
            <a:off x="979488" y="115888"/>
            <a:ext cx="8294687" cy="869950"/>
          </a:xfrm>
          <a:prstGeom prst="rect">
            <a:avLst/>
          </a:prstGeom>
          <a:solidFill>
            <a:srgbClr val="FFFF99"/>
          </a:solidFill>
          <a:ln w="9525">
            <a:solidFill>
              <a:srgbClr val="3333CC"/>
            </a:solidFill>
            <a:miter lim="800000"/>
          </a:ln>
          <a:effectLst>
            <a:outerShdw dist="35921" dir="2700000" algn="ctr" rotWithShape="0">
              <a:srgbClr val="1C1C1C"/>
            </a:outerShdw>
          </a:effec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just" eaLnBrk="1" fontAlgn="auto" hangingPunct="1">
              <a:lnSpc>
                <a:spcPct val="90000"/>
              </a:lnSpc>
              <a:spcBef>
                <a:spcPts val="0"/>
              </a:spcBef>
              <a:spcAft>
                <a:spcPts val="0"/>
              </a:spcAft>
              <a:buFontTx/>
              <a:buChar char="•"/>
              <a:defRPr/>
            </a:pPr>
            <a:r>
              <a:rPr kumimoji="0" lang="en-US" altLang="zh-CN" sz="2800" kern="0" dirty="0">
                <a:solidFill>
                  <a:srgbClr val="000099"/>
                </a:solidFill>
                <a:latin typeface="Arial" panose="020B0604020202020204" pitchFamily="34" charset="0"/>
                <a:ea typeface="黑体" panose="02010609060101010101" pitchFamily="2" charset="-122"/>
              </a:rPr>
              <a:t>   B </a:t>
            </a:r>
            <a:r>
              <a:rPr kumimoji="0" lang="zh-CN" altLang="en-US" sz="2800" kern="0" dirty="0">
                <a:solidFill>
                  <a:srgbClr val="000099"/>
                </a:solidFill>
                <a:latin typeface="Arial" panose="020B0604020202020204" pitchFamily="34" charset="0"/>
                <a:ea typeface="黑体" panose="02010609060101010101" pitchFamily="2" charset="-122"/>
              </a:rPr>
              <a:t>的 </a:t>
            </a:r>
            <a:r>
              <a:rPr kumimoji="0" lang="en-US" altLang="zh-CN" sz="2800" kern="0" dirty="0">
                <a:solidFill>
                  <a:srgbClr val="000099"/>
                </a:solidFill>
                <a:latin typeface="Arial" panose="020B0604020202020204" pitchFamily="34" charset="0"/>
                <a:ea typeface="黑体" panose="02010609060101010101" pitchFamily="2" charset="-122"/>
              </a:rPr>
              <a:t>TCP </a:t>
            </a:r>
            <a:r>
              <a:rPr kumimoji="0" lang="zh-CN" altLang="en-US" sz="2800" kern="0" dirty="0">
                <a:solidFill>
                  <a:srgbClr val="000099"/>
                </a:solidFill>
                <a:latin typeface="Arial" panose="020B0604020202020204" pitchFamily="34" charset="0"/>
                <a:ea typeface="黑体" panose="02010609060101010101" pitchFamily="2" charset="-122"/>
              </a:rPr>
              <a:t>收到主机 </a:t>
            </a:r>
            <a:r>
              <a:rPr kumimoji="0" lang="en-US" altLang="zh-CN" sz="2800" kern="0" dirty="0">
                <a:solidFill>
                  <a:srgbClr val="000099"/>
                </a:solidFill>
                <a:latin typeface="Arial" panose="020B0604020202020204" pitchFamily="34" charset="0"/>
                <a:ea typeface="黑体" panose="02010609060101010101" pitchFamily="2" charset="-122"/>
              </a:rPr>
              <a:t>A </a:t>
            </a:r>
            <a:r>
              <a:rPr kumimoji="0" lang="zh-CN" altLang="en-US" sz="2800" kern="0" dirty="0">
                <a:solidFill>
                  <a:srgbClr val="000099"/>
                </a:solidFill>
                <a:latin typeface="Arial" panose="020B0604020202020204" pitchFamily="34" charset="0"/>
                <a:ea typeface="黑体" panose="02010609060101010101" pitchFamily="2" charset="-122"/>
              </a:rPr>
              <a:t>的确认后，也通知其上层</a:t>
            </a:r>
          </a:p>
          <a:p>
            <a:pPr algn="just" eaLnBrk="1" fontAlgn="auto" hangingPunct="1">
              <a:lnSpc>
                <a:spcPct val="90000"/>
              </a:lnSpc>
              <a:spcBef>
                <a:spcPts val="0"/>
              </a:spcBef>
              <a:spcAft>
                <a:spcPts val="0"/>
              </a:spcAft>
              <a:defRPr/>
            </a:pPr>
            <a:r>
              <a:rPr kumimoji="0" lang="zh-CN" altLang="en-US" sz="2800" kern="0" dirty="0">
                <a:solidFill>
                  <a:srgbClr val="000099"/>
                </a:solidFill>
                <a:latin typeface="Arial" panose="020B0604020202020204" pitchFamily="34" charset="0"/>
                <a:ea typeface="黑体" panose="02010609060101010101" pitchFamily="2" charset="-122"/>
              </a:rPr>
              <a:t>    应用进程：</a:t>
            </a:r>
            <a:r>
              <a:rPr kumimoji="0" lang="en-US" altLang="zh-CN" sz="2800" kern="0" dirty="0">
                <a:solidFill>
                  <a:srgbClr val="000099"/>
                </a:solidFill>
                <a:latin typeface="Arial" panose="020B0604020202020204" pitchFamily="34" charset="0"/>
                <a:ea typeface="黑体" panose="02010609060101010101" pitchFamily="2" charset="-122"/>
              </a:rPr>
              <a:t>TCP </a:t>
            </a:r>
            <a:r>
              <a:rPr kumimoji="0" lang="zh-CN" altLang="en-US" sz="2800" kern="0" dirty="0">
                <a:solidFill>
                  <a:srgbClr val="000099"/>
                </a:solidFill>
                <a:latin typeface="Arial" panose="020B0604020202020204" pitchFamily="34" charset="0"/>
                <a:ea typeface="黑体" panose="02010609060101010101" pitchFamily="2" charset="-122"/>
              </a:rPr>
              <a:t>连接已经建立。</a:t>
            </a:r>
          </a:p>
        </p:txBody>
      </p:sp>
      <p:sp>
        <p:nvSpPr>
          <p:cNvPr id="1581089" name="灯片编号占位符 3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57F33FBC-C733-43FC-93D3-FD3F9F00E0AC}" type="slidenum">
              <a:rPr lang="zh-CN" altLang="en-US" smtClean="0"/>
              <a:pPr/>
              <a:t>11</a:t>
            </a:fld>
            <a:endParaRPr lang="en-US" altLang="zh-CN" smtClean="0"/>
          </a:p>
        </p:txBody>
      </p:sp>
      <p:sp>
        <p:nvSpPr>
          <p:cNvPr id="1581090" name="页脚占位符 3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200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82081" name="Group 2"/>
          <p:cNvGrpSpPr>
            <a:grpSpLocks/>
          </p:cNvGrpSpPr>
          <p:nvPr/>
        </p:nvGrpSpPr>
        <p:grpSpPr bwMode="auto">
          <a:xfrm>
            <a:off x="1855788" y="3005138"/>
            <a:ext cx="6140450" cy="3765550"/>
            <a:chOff x="898" y="1893"/>
            <a:chExt cx="3868" cy="2372"/>
          </a:xfrm>
        </p:grpSpPr>
        <p:grpSp>
          <p:nvGrpSpPr>
            <p:cNvPr id="1582082" name="Group 3"/>
            <p:cNvGrpSpPr>
              <a:grpSpLocks/>
            </p:cNvGrpSpPr>
            <p:nvPr/>
          </p:nvGrpSpPr>
          <p:grpSpPr bwMode="auto">
            <a:xfrm>
              <a:off x="899" y="1916"/>
              <a:ext cx="622" cy="1048"/>
              <a:chOff x="899" y="1916"/>
              <a:chExt cx="622" cy="1048"/>
            </a:xfrm>
          </p:grpSpPr>
          <p:sp>
            <p:nvSpPr>
              <p:cNvPr id="18" name="Rectangle 4"/>
              <p:cNvSpPr>
                <a:spLocks noChangeArrowheads="1"/>
              </p:cNvSpPr>
              <p:nvPr/>
            </p:nvSpPr>
            <p:spPr bwMode="auto">
              <a:xfrm>
                <a:off x="899" y="1916"/>
                <a:ext cx="622" cy="1048"/>
              </a:xfrm>
              <a:prstGeom prst="rect">
                <a:avLst/>
              </a:prstGeom>
              <a:solidFill>
                <a:srgbClr val="FFCCCC"/>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19" name="Rectangle 5"/>
              <p:cNvSpPr>
                <a:spLocks noChangeArrowheads="1"/>
              </p:cNvSpPr>
              <p:nvPr/>
            </p:nvSpPr>
            <p:spPr bwMode="auto">
              <a:xfrm>
                <a:off x="964" y="2169"/>
                <a:ext cx="503"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SYN-</a:t>
                </a:r>
              </a:p>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SENT</a:t>
                </a:r>
              </a:p>
            </p:txBody>
          </p:sp>
        </p:grpSp>
        <p:grpSp>
          <p:nvGrpSpPr>
            <p:cNvPr id="1582085" name="Group 6"/>
            <p:cNvGrpSpPr>
              <a:grpSpLocks/>
            </p:cNvGrpSpPr>
            <p:nvPr/>
          </p:nvGrpSpPr>
          <p:grpSpPr bwMode="auto">
            <a:xfrm>
              <a:off x="898" y="3013"/>
              <a:ext cx="656" cy="1252"/>
              <a:chOff x="898" y="3013"/>
              <a:chExt cx="656" cy="1252"/>
            </a:xfrm>
          </p:grpSpPr>
          <p:sp>
            <p:nvSpPr>
              <p:cNvPr id="16" name="Rectangle 7"/>
              <p:cNvSpPr>
                <a:spLocks noChangeArrowheads="1"/>
              </p:cNvSpPr>
              <p:nvPr/>
            </p:nvSpPr>
            <p:spPr bwMode="auto">
              <a:xfrm>
                <a:off x="905" y="3013"/>
                <a:ext cx="609" cy="1252"/>
              </a:xfrm>
              <a:prstGeom prst="rect">
                <a:avLst/>
              </a:prstGeom>
              <a:solidFill>
                <a:srgbClr val="CCFF99"/>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17" name="Rectangle 8"/>
              <p:cNvSpPr>
                <a:spLocks noChangeArrowheads="1"/>
              </p:cNvSpPr>
              <p:nvPr/>
            </p:nvSpPr>
            <p:spPr bwMode="auto">
              <a:xfrm>
                <a:off x="898" y="3383"/>
                <a:ext cx="656"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ESTAB-</a:t>
                </a:r>
              </a:p>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LISHED</a:t>
                </a:r>
              </a:p>
            </p:txBody>
          </p:sp>
        </p:grpSp>
        <p:grpSp>
          <p:nvGrpSpPr>
            <p:cNvPr id="1582088" name="Group 9"/>
            <p:cNvGrpSpPr>
              <a:grpSpLocks/>
            </p:cNvGrpSpPr>
            <p:nvPr/>
          </p:nvGrpSpPr>
          <p:grpSpPr bwMode="auto">
            <a:xfrm>
              <a:off x="4111" y="2445"/>
              <a:ext cx="621" cy="1064"/>
              <a:chOff x="4111" y="2445"/>
              <a:chExt cx="621" cy="1064"/>
            </a:xfrm>
          </p:grpSpPr>
          <p:sp>
            <p:nvSpPr>
              <p:cNvPr id="14" name="Rectangle 10"/>
              <p:cNvSpPr>
                <a:spLocks noChangeArrowheads="1"/>
              </p:cNvSpPr>
              <p:nvPr/>
            </p:nvSpPr>
            <p:spPr bwMode="auto">
              <a:xfrm>
                <a:off x="4111" y="2445"/>
                <a:ext cx="621" cy="1064"/>
              </a:xfrm>
              <a:prstGeom prst="rect">
                <a:avLst/>
              </a:prstGeom>
              <a:solidFill>
                <a:srgbClr val="FFCCCC"/>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15" name="Rectangle 11"/>
              <p:cNvSpPr>
                <a:spLocks noChangeArrowheads="1"/>
              </p:cNvSpPr>
              <p:nvPr/>
            </p:nvSpPr>
            <p:spPr bwMode="auto">
              <a:xfrm>
                <a:off x="4156" y="2721"/>
                <a:ext cx="527"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SYN-</a:t>
                </a:r>
              </a:p>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RCVD</a:t>
                </a:r>
              </a:p>
            </p:txBody>
          </p:sp>
        </p:grpSp>
        <p:grpSp>
          <p:nvGrpSpPr>
            <p:cNvPr id="1582091" name="Group 12"/>
            <p:cNvGrpSpPr>
              <a:grpSpLocks/>
            </p:cNvGrpSpPr>
            <p:nvPr/>
          </p:nvGrpSpPr>
          <p:grpSpPr bwMode="auto">
            <a:xfrm>
              <a:off x="4111" y="1893"/>
              <a:ext cx="639" cy="519"/>
              <a:chOff x="4111" y="1893"/>
              <a:chExt cx="639" cy="519"/>
            </a:xfrm>
          </p:grpSpPr>
          <p:sp>
            <p:nvSpPr>
              <p:cNvPr id="12" name="Rectangle 13"/>
              <p:cNvSpPr>
                <a:spLocks noChangeArrowheads="1"/>
              </p:cNvSpPr>
              <p:nvPr/>
            </p:nvSpPr>
            <p:spPr bwMode="auto">
              <a:xfrm>
                <a:off x="4111" y="1893"/>
                <a:ext cx="621" cy="519"/>
              </a:xfrm>
              <a:prstGeom prst="rect">
                <a:avLst/>
              </a:prstGeom>
              <a:solidFill>
                <a:srgbClr val="FFFF99"/>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13" name="Rectangle 14"/>
              <p:cNvSpPr>
                <a:spLocks noChangeArrowheads="1"/>
              </p:cNvSpPr>
              <p:nvPr/>
            </p:nvSpPr>
            <p:spPr bwMode="auto">
              <a:xfrm>
                <a:off x="4118" y="2004"/>
                <a:ext cx="6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LISTEN</a:t>
                </a:r>
              </a:p>
            </p:txBody>
          </p:sp>
        </p:grpSp>
        <p:grpSp>
          <p:nvGrpSpPr>
            <p:cNvPr id="1582094" name="Group 15"/>
            <p:cNvGrpSpPr>
              <a:grpSpLocks/>
            </p:cNvGrpSpPr>
            <p:nvPr/>
          </p:nvGrpSpPr>
          <p:grpSpPr bwMode="auto">
            <a:xfrm>
              <a:off x="4110" y="3564"/>
              <a:ext cx="656" cy="701"/>
              <a:chOff x="4110" y="3564"/>
              <a:chExt cx="656" cy="701"/>
            </a:xfrm>
          </p:grpSpPr>
          <p:sp>
            <p:nvSpPr>
              <p:cNvPr id="10" name="Rectangle 16"/>
              <p:cNvSpPr>
                <a:spLocks noChangeArrowheads="1"/>
              </p:cNvSpPr>
              <p:nvPr/>
            </p:nvSpPr>
            <p:spPr bwMode="auto">
              <a:xfrm>
                <a:off x="4111" y="3564"/>
                <a:ext cx="621" cy="701"/>
              </a:xfrm>
              <a:prstGeom prst="rect">
                <a:avLst/>
              </a:prstGeom>
              <a:solidFill>
                <a:srgbClr val="CCFF99"/>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11" name="Rectangle 17"/>
              <p:cNvSpPr>
                <a:spLocks noChangeArrowheads="1"/>
              </p:cNvSpPr>
              <p:nvPr/>
            </p:nvSpPr>
            <p:spPr bwMode="auto">
              <a:xfrm>
                <a:off x="4110" y="3708"/>
                <a:ext cx="656"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ESTAB-</a:t>
                </a:r>
              </a:p>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LISHED</a:t>
                </a:r>
              </a:p>
            </p:txBody>
          </p:sp>
        </p:grpSp>
      </p:grpSp>
      <p:sp>
        <p:nvSpPr>
          <p:cNvPr id="20" name="Rectangle 18"/>
          <p:cNvSpPr txBox="1">
            <a:spLocks noChangeArrowheads="1"/>
          </p:cNvSpPr>
          <p:nvPr/>
        </p:nvSpPr>
        <p:spPr bwMode="auto">
          <a:xfrm>
            <a:off x="1423988" y="692150"/>
            <a:ext cx="7345362" cy="76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2pPr>
            <a:lvl3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3pPr>
            <a:lvl4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4pPr>
            <a:lvl5pPr algn="l" rtl="0" eaLnBrk="0" fontAlgn="base" hangingPunct="0">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5pPr>
            <a:lvl6pPr marL="4572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6pPr>
            <a:lvl7pPr marL="9144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7pPr>
            <a:lvl8pPr marL="13716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8pPr>
            <a:lvl9pPr marL="1828800" algn="l" rtl="0" fontAlgn="base">
              <a:spcBef>
                <a:spcPct val="0"/>
              </a:spcBef>
              <a:spcAft>
                <a:spcPct val="0"/>
              </a:spcAft>
              <a:defRPr kumimoji="1" sz="4400" b="1">
                <a:solidFill>
                  <a:schemeClr val="tx2"/>
                </a:solidFill>
                <a:latin typeface="Tahoma" panose="020B0604030504040204" pitchFamily="34" charset="0"/>
                <a:ea typeface="黑体" panose="02010609060101010101" pitchFamily="2" charset="-122"/>
              </a:defRPr>
            </a:lvl9pPr>
          </a:lstStyle>
          <a:p>
            <a:pPr algn="ctr" eaLnBrk="1" hangingPunct="1">
              <a:defRPr/>
            </a:pPr>
            <a:r>
              <a:rPr lang="zh-CN" altLang="en-US" sz="3200" kern="0" dirty="0">
                <a:solidFill>
                  <a:srgbClr val="000099"/>
                </a:solidFill>
                <a:latin typeface="Tahoma" panose="020B0604030504040204"/>
                <a:ea typeface="黑体" panose="02010609060101010101" pitchFamily="2" charset="-122"/>
              </a:rPr>
              <a:t>采用三报文握手建立 </a:t>
            </a:r>
            <a:r>
              <a:rPr lang="en-US" altLang="zh-CN" sz="3200" kern="0" dirty="0">
                <a:solidFill>
                  <a:srgbClr val="000099"/>
                </a:solidFill>
                <a:latin typeface="Tahoma" panose="020B0604030504040204"/>
                <a:ea typeface="黑体" panose="02010609060101010101" pitchFamily="2" charset="-122"/>
              </a:rPr>
              <a:t>TCP </a:t>
            </a:r>
            <a:r>
              <a:rPr lang="zh-CN" altLang="en-US" sz="3200" kern="0" dirty="0">
                <a:solidFill>
                  <a:srgbClr val="000099"/>
                </a:solidFill>
                <a:latin typeface="Tahoma" panose="020B0604030504040204"/>
                <a:ea typeface="黑体" panose="02010609060101010101" pitchFamily="2" charset="-122"/>
              </a:rPr>
              <a:t>连接的各状态</a:t>
            </a:r>
            <a:r>
              <a:rPr lang="zh-CN" altLang="en-US" sz="4000" kern="0" dirty="0">
                <a:solidFill>
                  <a:srgbClr val="000099"/>
                </a:solidFill>
                <a:latin typeface="Tahoma" panose="020B0604030504040204"/>
                <a:ea typeface="黑体" panose="02010609060101010101" pitchFamily="2" charset="-122"/>
              </a:rPr>
              <a:t> </a:t>
            </a:r>
          </a:p>
        </p:txBody>
      </p:sp>
      <p:grpSp>
        <p:nvGrpSpPr>
          <p:cNvPr id="1582098" name="Group 19"/>
          <p:cNvGrpSpPr>
            <a:grpSpLocks/>
          </p:cNvGrpSpPr>
          <p:nvPr/>
        </p:nvGrpSpPr>
        <p:grpSpPr bwMode="auto">
          <a:xfrm>
            <a:off x="2843213" y="3005138"/>
            <a:ext cx="4111625" cy="801687"/>
            <a:chOff x="1520" y="1893"/>
            <a:chExt cx="2590" cy="505"/>
          </a:xfrm>
        </p:grpSpPr>
        <p:sp>
          <p:nvSpPr>
            <p:cNvPr id="22" name="Rectangle 20"/>
            <p:cNvSpPr>
              <a:spLocks noChangeArrowheads="1"/>
            </p:cNvSpPr>
            <p:nvPr/>
          </p:nvSpPr>
          <p:spPr bwMode="auto">
            <a:xfrm rot="665985">
              <a:off x="2093" y="1914"/>
              <a:ext cx="171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fontAlgn="auto" hangingPunct="0">
                <a:spcBef>
                  <a:spcPts val="0"/>
                </a:spcBef>
                <a:spcAft>
                  <a:spcPts val="0"/>
                </a:spcAft>
                <a:defRPr/>
              </a:pPr>
              <a:r>
                <a:rPr lang="en-US" altLang="zh-CN" sz="2000" b="1" kern="0" dirty="0">
                  <a:solidFill>
                    <a:srgbClr val="3333CC"/>
                  </a:solidFill>
                  <a:latin typeface="+mn-lt"/>
                  <a:ea typeface="黑体" panose="02010609060101010101" pitchFamily="2" charset="-122"/>
                </a:rPr>
                <a:t>SYN = 1, </a:t>
              </a:r>
              <a:r>
                <a:rPr lang="en-US" altLang="zh-CN" sz="2000" b="1" kern="0" dirty="0" err="1">
                  <a:solidFill>
                    <a:srgbClr val="3333CC"/>
                  </a:solidFill>
                  <a:latin typeface="+mn-lt"/>
                  <a:ea typeface="黑体" panose="02010609060101010101" pitchFamily="2" charset="-122"/>
                </a:rPr>
                <a:t>seq</a:t>
              </a:r>
              <a:r>
                <a:rPr lang="en-US" altLang="zh-CN" sz="2000" b="1" kern="0" dirty="0">
                  <a:solidFill>
                    <a:srgbClr val="3333CC"/>
                  </a:solidFill>
                  <a:latin typeface="+mn-lt"/>
                  <a:ea typeface="黑体" panose="02010609060101010101" pitchFamily="2" charset="-122"/>
                </a:rPr>
                <a:t> = x</a:t>
              </a:r>
            </a:p>
          </p:txBody>
        </p:sp>
        <p:sp>
          <p:nvSpPr>
            <p:cNvPr id="23" name="Line 21"/>
            <p:cNvSpPr>
              <a:spLocks noChangeShapeType="1"/>
            </p:cNvSpPr>
            <p:nvPr/>
          </p:nvSpPr>
          <p:spPr bwMode="auto">
            <a:xfrm>
              <a:off x="1520" y="1893"/>
              <a:ext cx="2590" cy="505"/>
            </a:xfrm>
            <a:prstGeom prst="line">
              <a:avLst/>
            </a:prstGeom>
            <a:noFill/>
            <a:ln w="571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grpSp>
        <p:nvGrpSpPr>
          <p:cNvPr id="1582101" name="Group 22"/>
          <p:cNvGrpSpPr>
            <a:grpSpLocks/>
          </p:cNvGrpSpPr>
          <p:nvPr/>
        </p:nvGrpSpPr>
        <p:grpSpPr bwMode="auto">
          <a:xfrm>
            <a:off x="2843213" y="4756150"/>
            <a:ext cx="4202112" cy="800100"/>
            <a:chOff x="1520" y="2996"/>
            <a:chExt cx="2647" cy="504"/>
          </a:xfrm>
        </p:grpSpPr>
        <p:sp>
          <p:nvSpPr>
            <p:cNvPr id="25" name="Rectangle 23"/>
            <p:cNvSpPr>
              <a:spLocks noChangeArrowheads="1"/>
            </p:cNvSpPr>
            <p:nvPr/>
          </p:nvSpPr>
          <p:spPr bwMode="auto">
            <a:xfrm rot="649536">
              <a:off x="1856" y="3064"/>
              <a:ext cx="231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ACK = 1, seq = x + 1, ack = y </a:t>
              </a:r>
              <a:r>
                <a:rPr lang="en-US" altLang="zh-CN" b="1" kern="0">
                  <a:solidFill>
                    <a:srgbClr val="3333CC"/>
                  </a:solidFill>
                  <a:latin typeface="+mn-lt"/>
                  <a:ea typeface="黑体" panose="02010609060101010101" pitchFamily="2" charset="-122"/>
                  <a:sym typeface="Symbol" panose="05050102010706020507" pitchFamily="18" charset="2"/>
                </a:rPr>
                <a:t> 1</a:t>
              </a:r>
            </a:p>
          </p:txBody>
        </p:sp>
        <p:sp>
          <p:nvSpPr>
            <p:cNvPr id="26" name="Line 24"/>
            <p:cNvSpPr>
              <a:spLocks noChangeShapeType="1"/>
            </p:cNvSpPr>
            <p:nvPr/>
          </p:nvSpPr>
          <p:spPr bwMode="auto">
            <a:xfrm>
              <a:off x="1520" y="2996"/>
              <a:ext cx="2590" cy="504"/>
            </a:xfrm>
            <a:prstGeom prst="line">
              <a:avLst/>
            </a:prstGeom>
            <a:noFill/>
            <a:ln w="571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sp>
        <p:nvSpPr>
          <p:cNvPr id="27" name="Rectangle 25"/>
          <p:cNvSpPr>
            <a:spLocks noChangeArrowheads="1"/>
          </p:cNvSpPr>
          <p:nvPr/>
        </p:nvSpPr>
        <p:spPr bwMode="auto">
          <a:xfrm>
            <a:off x="1866900" y="2393950"/>
            <a:ext cx="966788" cy="549275"/>
          </a:xfrm>
          <a:prstGeom prst="rect">
            <a:avLst/>
          </a:prstGeom>
          <a:solidFill>
            <a:srgbClr val="663300"/>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1582105" name="Text Box 26"/>
          <p:cNvSpPr txBox="1">
            <a:spLocks noChangeArrowheads="1"/>
          </p:cNvSpPr>
          <p:nvPr/>
        </p:nvSpPr>
        <p:spPr bwMode="auto">
          <a:xfrm>
            <a:off x="1817688" y="2455863"/>
            <a:ext cx="11461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FFFF99"/>
                </a:solidFill>
                <a:ea typeface="黑体" panose="02010609060101010101" pitchFamily="49" charset="-122"/>
              </a:rPr>
              <a:t>CLOSED</a:t>
            </a:r>
          </a:p>
        </p:txBody>
      </p:sp>
      <p:sp>
        <p:nvSpPr>
          <p:cNvPr id="29" name="Rectangle 27"/>
          <p:cNvSpPr>
            <a:spLocks noChangeArrowheads="1"/>
          </p:cNvSpPr>
          <p:nvPr/>
        </p:nvSpPr>
        <p:spPr bwMode="auto">
          <a:xfrm>
            <a:off x="6956425" y="2393950"/>
            <a:ext cx="985838" cy="549275"/>
          </a:xfrm>
          <a:prstGeom prst="rect">
            <a:avLst/>
          </a:prstGeom>
          <a:solidFill>
            <a:srgbClr val="663300"/>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1582107" name="Text Box 28"/>
          <p:cNvSpPr txBox="1">
            <a:spLocks noChangeArrowheads="1"/>
          </p:cNvSpPr>
          <p:nvPr/>
        </p:nvSpPr>
        <p:spPr bwMode="auto">
          <a:xfrm>
            <a:off x="6916738" y="2455863"/>
            <a:ext cx="11461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b="1">
                <a:solidFill>
                  <a:srgbClr val="FFFF99"/>
                </a:solidFill>
                <a:ea typeface="黑体" panose="02010609060101010101" pitchFamily="49" charset="-122"/>
              </a:rPr>
              <a:t>CLOSED</a:t>
            </a:r>
          </a:p>
        </p:txBody>
      </p:sp>
      <p:grpSp>
        <p:nvGrpSpPr>
          <p:cNvPr id="1582108" name="Group 29"/>
          <p:cNvGrpSpPr>
            <a:grpSpLocks/>
          </p:cNvGrpSpPr>
          <p:nvPr/>
        </p:nvGrpSpPr>
        <p:grpSpPr bwMode="auto">
          <a:xfrm>
            <a:off x="3744913" y="5840413"/>
            <a:ext cx="2371725" cy="396875"/>
            <a:chOff x="2088" y="3679"/>
            <a:chExt cx="1494" cy="250"/>
          </a:xfrm>
        </p:grpSpPr>
        <p:sp>
          <p:nvSpPr>
            <p:cNvPr id="32" name="AutoShape 30"/>
            <p:cNvSpPr>
              <a:spLocks noChangeArrowheads="1"/>
            </p:cNvSpPr>
            <p:nvPr/>
          </p:nvSpPr>
          <p:spPr bwMode="auto">
            <a:xfrm>
              <a:off x="2088" y="3735"/>
              <a:ext cx="1494" cy="166"/>
            </a:xfrm>
            <a:prstGeom prst="leftRightArrow">
              <a:avLst>
                <a:gd name="adj1" fmla="val 55880"/>
                <a:gd name="adj2" fmla="val 103167"/>
              </a:avLst>
            </a:prstGeom>
            <a:solidFill>
              <a:srgbClr val="FF0000"/>
            </a:solidFill>
            <a:ln w="12700">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sz="2000" b="1" kern="0">
                <a:solidFill>
                  <a:sysClr val="windowText" lastClr="000000"/>
                </a:solidFill>
                <a:latin typeface="+mn-lt"/>
                <a:ea typeface="黑体" panose="02010609060101010101" pitchFamily="2" charset="-122"/>
              </a:endParaRPr>
            </a:p>
          </p:txBody>
        </p:sp>
        <p:sp>
          <p:nvSpPr>
            <p:cNvPr id="33" name="Rectangle 31"/>
            <p:cNvSpPr>
              <a:spLocks noChangeArrowheads="1"/>
            </p:cNvSpPr>
            <p:nvPr/>
          </p:nvSpPr>
          <p:spPr bwMode="auto">
            <a:xfrm>
              <a:off x="2462" y="3679"/>
              <a:ext cx="765" cy="250"/>
            </a:xfrm>
            <a:prstGeom prst="rect">
              <a:avLst/>
            </a:prstGeom>
            <a:solidFill>
              <a:srgbClr val="CCECFF"/>
            </a:solidFill>
            <a:ln w="38100" cmpd="dbl">
              <a:solidFill>
                <a:srgbClr val="3333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sz="2000" b="1" kern="0" dirty="0">
                  <a:solidFill>
                    <a:srgbClr val="3333CC"/>
                  </a:solidFill>
                  <a:latin typeface="+mn-lt"/>
                  <a:ea typeface="黑体" panose="02010609060101010101" pitchFamily="2" charset="-122"/>
                </a:rPr>
                <a:t>数据传送</a:t>
              </a:r>
            </a:p>
          </p:txBody>
        </p:sp>
      </p:grpSp>
      <p:grpSp>
        <p:nvGrpSpPr>
          <p:cNvPr id="1582111" name="Group 32"/>
          <p:cNvGrpSpPr>
            <a:grpSpLocks/>
          </p:cNvGrpSpPr>
          <p:nvPr/>
        </p:nvGrpSpPr>
        <p:grpSpPr bwMode="auto">
          <a:xfrm>
            <a:off x="825500" y="2057400"/>
            <a:ext cx="1320800" cy="947738"/>
            <a:chOff x="249" y="1296"/>
            <a:chExt cx="832" cy="597"/>
          </a:xfrm>
        </p:grpSpPr>
        <p:sp>
          <p:nvSpPr>
            <p:cNvPr id="35" name="Rectangle 33"/>
            <p:cNvSpPr>
              <a:spLocks noChangeArrowheads="1"/>
            </p:cNvSpPr>
            <p:nvPr/>
          </p:nvSpPr>
          <p:spPr bwMode="auto">
            <a:xfrm>
              <a:off x="251" y="1638"/>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主动打开</a:t>
              </a:r>
            </a:p>
          </p:txBody>
        </p:sp>
        <p:sp>
          <p:nvSpPr>
            <p:cNvPr id="36" name="Freeform 34"/>
            <p:cNvSpPr/>
            <p:nvPr/>
          </p:nvSpPr>
          <p:spPr bwMode="auto">
            <a:xfrm>
              <a:off x="249" y="1296"/>
              <a:ext cx="832"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grpSp>
        <p:nvGrpSpPr>
          <p:cNvPr id="1582114" name="Group 35"/>
          <p:cNvGrpSpPr>
            <a:grpSpLocks/>
          </p:cNvGrpSpPr>
          <p:nvPr/>
        </p:nvGrpSpPr>
        <p:grpSpPr bwMode="auto">
          <a:xfrm>
            <a:off x="7653338" y="2065338"/>
            <a:ext cx="1401762" cy="939800"/>
            <a:chOff x="4550" y="1301"/>
            <a:chExt cx="883" cy="592"/>
          </a:xfrm>
        </p:grpSpPr>
        <p:sp>
          <p:nvSpPr>
            <p:cNvPr id="38" name="Rectangle 36"/>
            <p:cNvSpPr>
              <a:spLocks noChangeArrowheads="1"/>
            </p:cNvSpPr>
            <p:nvPr/>
          </p:nvSpPr>
          <p:spPr bwMode="auto">
            <a:xfrm>
              <a:off x="4732" y="1617"/>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被动打开</a:t>
              </a:r>
            </a:p>
          </p:txBody>
        </p:sp>
        <p:sp>
          <p:nvSpPr>
            <p:cNvPr id="39" name="Freeform 37"/>
            <p:cNvSpPr/>
            <p:nvPr/>
          </p:nvSpPr>
          <p:spPr bwMode="auto">
            <a:xfrm>
              <a:off x="4550" y="1301"/>
              <a:ext cx="870"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pic>
        <p:nvPicPr>
          <p:cNvPr id="1582117" name="Picture 38"/>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00263" y="1779588"/>
            <a:ext cx="50165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82118" name="Picture 3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99313" y="1779588"/>
            <a:ext cx="50165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 name="Rectangle 40"/>
          <p:cNvSpPr>
            <a:spLocks noChangeArrowheads="1"/>
          </p:cNvSpPr>
          <p:nvPr/>
        </p:nvSpPr>
        <p:spPr bwMode="auto">
          <a:xfrm>
            <a:off x="2524125" y="17795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A</a:t>
            </a:r>
          </a:p>
        </p:txBody>
      </p:sp>
      <p:sp>
        <p:nvSpPr>
          <p:cNvPr id="43" name="Rectangle 41"/>
          <p:cNvSpPr>
            <a:spLocks noChangeArrowheads="1"/>
          </p:cNvSpPr>
          <p:nvPr/>
        </p:nvSpPr>
        <p:spPr bwMode="auto">
          <a:xfrm>
            <a:off x="6965950" y="17795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B</a:t>
            </a:r>
          </a:p>
        </p:txBody>
      </p:sp>
      <p:sp>
        <p:nvSpPr>
          <p:cNvPr id="44" name="Rectangle 42"/>
          <p:cNvSpPr>
            <a:spLocks noChangeArrowheads="1"/>
          </p:cNvSpPr>
          <p:nvPr/>
        </p:nvSpPr>
        <p:spPr bwMode="auto">
          <a:xfrm>
            <a:off x="2019300" y="1425575"/>
            <a:ext cx="6477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客户</a:t>
            </a:r>
          </a:p>
        </p:txBody>
      </p:sp>
      <p:sp>
        <p:nvSpPr>
          <p:cNvPr id="45" name="Rectangle 43"/>
          <p:cNvSpPr>
            <a:spLocks noChangeArrowheads="1"/>
          </p:cNvSpPr>
          <p:nvPr/>
        </p:nvSpPr>
        <p:spPr bwMode="auto">
          <a:xfrm>
            <a:off x="7015163" y="1425575"/>
            <a:ext cx="8794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服务器</a:t>
            </a:r>
          </a:p>
        </p:txBody>
      </p:sp>
      <p:grpSp>
        <p:nvGrpSpPr>
          <p:cNvPr id="1582123" name="Group 45"/>
          <p:cNvGrpSpPr>
            <a:grpSpLocks/>
          </p:cNvGrpSpPr>
          <p:nvPr/>
        </p:nvGrpSpPr>
        <p:grpSpPr bwMode="auto">
          <a:xfrm>
            <a:off x="2797175" y="3881438"/>
            <a:ext cx="4157663" cy="801687"/>
            <a:chOff x="1491" y="2445"/>
            <a:chExt cx="2619" cy="505"/>
          </a:xfrm>
        </p:grpSpPr>
        <p:sp>
          <p:nvSpPr>
            <p:cNvPr id="47" name="Line 46"/>
            <p:cNvSpPr>
              <a:spLocks noChangeShapeType="1"/>
            </p:cNvSpPr>
            <p:nvPr/>
          </p:nvSpPr>
          <p:spPr bwMode="auto">
            <a:xfrm flipH="1">
              <a:off x="1520" y="2445"/>
              <a:ext cx="2590" cy="505"/>
            </a:xfrm>
            <a:prstGeom prst="line">
              <a:avLst/>
            </a:prstGeom>
            <a:noFill/>
            <a:ln w="571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48" name="Rectangle 47"/>
            <p:cNvSpPr>
              <a:spLocks noChangeArrowheads="1"/>
            </p:cNvSpPr>
            <p:nvPr/>
          </p:nvSpPr>
          <p:spPr bwMode="auto">
            <a:xfrm rot="20990024" flipH="1">
              <a:off x="1491" y="2483"/>
              <a:ext cx="237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sz="1600" b="1" kern="0" dirty="0">
                  <a:solidFill>
                    <a:srgbClr val="3333CC"/>
                  </a:solidFill>
                  <a:latin typeface="+mn-lt"/>
                  <a:ea typeface="黑体" panose="02010609060101010101" pitchFamily="2" charset="-122"/>
                </a:rPr>
                <a:t>SYN = 1, ACK = 1, </a:t>
              </a:r>
              <a:r>
                <a:rPr lang="en-US" altLang="zh-CN" sz="1600" b="1" kern="0" dirty="0" err="1">
                  <a:solidFill>
                    <a:srgbClr val="3333CC"/>
                  </a:solidFill>
                  <a:latin typeface="+mn-lt"/>
                  <a:ea typeface="黑体" panose="02010609060101010101" pitchFamily="2" charset="-122"/>
                </a:rPr>
                <a:t>seq</a:t>
              </a:r>
              <a:r>
                <a:rPr lang="en-US" altLang="zh-CN" sz="1600" b="1" kern="0" dirty="0">
                  <a:solidFill>
                    <a:srgbClr val="3333CC"/>
                  </a:solidFill>
                  <a:latin typeface="+mn-lt"/>
                  <a:ea typeface="黑体" panose="02010609060101010101" pitchFamily="2" charset="-122"/>
                </a:rPr>
                <a:t> = y, </a:t>
              </a:r>
              <a:r>
                <a:rPr lang="en-US" altLang="zh-CN" sz="1600" b="1" kern="0" dirty="0" err="1">
                  <a:solidFill>
                    <a:srgbClr val="3333CC"/>
                  </a:solidFill>
                  <a:latin typeface="+mn-lt"/>
                  <a:ea typeface="黑体" panose="02010609060101010101" pitchFamily="2" charset="-122"/>
                </a:rPr>
                <a:t>ack</a:t>
              </a:r>
              <a:r>
                <a:rPr lang="en-US" altLang="zh-CN" sz="1600" b="1" kern="0" dirty="0">
                  <a:solidFill>
                    <a:srgbClr val="3333CC"/>
                  </a:solidFill>
                  <a:latin typeface="+mn-lt"/>
                  <a:ea typeface="黑体" panose="02010609060101010101" pitchFamily="2" charset="-122"/>
                </a:rPr>
                <a:t>= x </a:t>
              </a:r>
              <a:r>
                <a:rPr lang="en-US" altLang="zh-CN" sz="1600" b="1" kern="0" dirty="0">
                  <a:solidFill>
                    <a:srgbClr val="3333CC"/>
                  </a:solidFill>
                  <a:latin typeface="+mn-lt"/>
                  <a:ea typeface="黑体" panose="02010609060101010101" pitchFamily="2" charset="-122"/>
                  <a:sym typeface="Symbol" panose="05050102010706020507" pitchFamily="18" charset="2"/>
                </a:rPr>
                <a:t> 1</a:t>
              </a:r>
              <a:endParaRPr lang="en-US" altLang="zh-CN" sz="1600" b="1" kern="0" dirty="0">
                <a:solidFill>
                  <a:srgbClr val="3333CC"/>
                </a:solidFill>
                <a:latin typeface="+mn-lt"/>
                <a:ea typeface="黑体" panose="02010609060101010101" pitchFamily="2" charset="-122"/>
              </a:endParaRPr>
            </a:p>
          </p:txBody>
        </p:sp>
      </p:grpSp>
      <p:sp>
        <p:nvSpPr>
          <p:cNvPr id="49" name="Text Box 48"/>
          <p:cNvSpPr txBox="1">
            <a:spLocks noChangeArrowheads="1"/>
          </p:cNvSpPr>
          <p:nvPr/>
        </p:nvSpPr>
        <p:spPr bwMode="auto">
          <a:xfrm>
            <a:off x="992188" y="115888"/>
            <a:ext cx="8042275" cy="647700"/>
          </a:xfrm>
          <a:prstGeom prst="rect">
            <a:avLst/>
          </a:prstGeom>
          <a:solidFill>
            <a:srgbClr val="FFFF99"/>
          </a:solidFill>
          <a:ln w="9525">
            <a:solidFill>
              <a:srgbClr val="3333CC"/>
            </a:solidFill>
            <a:miter lim="800000"/>
          </a:ln>
          <a:effectLst>
            <a:outerShdw dist="35921" dir="2700000" algn="ctr" rotWithShape="0">
              <a:srgbClr val="1C1C1C"/>
            </a:outerShdw>
          </a:effec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algn="ctr" eaLnBrk="1" fontAlgn="auto" hangingPunct="1">
              <a:spcBef>
                <a:spcPts val="0"/>
              </a:spcBef>
              <a:spcAft>
                <a:spcPts val="0"/>
              </a:spcAft>
              <a:defRPr/>
            </a:pPr>
            <a:r>
              <a:rPr kumimoji="0" lang="en-US" altLang="zh-CN" sz="3600" kern="0" dirty="0">
                <a:solidFill>
                  <a:srgbClr val="000099"/>
                </a:solidFill>
                <a:latin typeface="Arial" panose="020B0604020202020204" pitchFamily="34" charset="0"/>
                <a:ea typeface="黑体" panose="02010609060101010101" pitchFamily="2" charset="-122"/>
              </a:rPr>
              <a:t>TCP </a:t>
            </a:r>
            <a:r>
              <a:rPr kumimoji="0" lang="zh-CN" altLang="en-US" sz="3600" kern="0" dirty="0">
                <a:solidFill>
                  <a:srgbClr val="000099"/>
                </a:solidFill>
                <a:latin typeface="Arial" panose="020B0604020202020204" pitchFamily="34" charset="0"/>
                <a:ea typeface="黑体" panose="02010609060101010101" pitchFamily="2" charset="-122"/>
              </a:rPr>
              <a:t>的连接建立：</a:t>
            </a:r>
            <a:r>
              <a:rPr kumimoji="0" lang="zh-CN" altLang="en-US" sz="3600" kern="0" noProof="1">
                <a:solidFill>
                  <a:srgbClr val="000099"/>
                </a:solidFill>
                <a:latin typeface="Arial" panose="020B0604020202020204" pitchFamily="34" charset="0"/>
                <a:ea typeface="黑体" panose="02010609060101010101" pitchFamily="2" charset="-122"/>
              </a:rPr>
              <a:t>采用</a:t>
            </a:r>
            <a:r>
              <a:rPr kumimoji="0" lang="zh-CN" altLang="zh-CN" sz="3600" kern="0" noProof="1">
                <a:solidFill>
                  <a:srgbClr val="FF0000"/>
                </a:solidFill>
                <a:latin typeface="Arial" panose="020B0604020202020204" pitchFamily="34" charset="0"/>
                <a:ea typeface="黑体" panose="02010609060101010101" pitchFamily="2" charset="-122"/>
              </a:rPr>
              <a:t>三报文握手</a:t>
            </a:r>
            <a:endParaRPr kumimoji="0" lang="zh-CN" altLang="en-US" sz="3600" kern="0" noProof="1">
              <a:solidFill>
                <a:srgbClr val="FF0000"/>
              </a:solidFill>
              <a:latin typeface="Arial" panose="020B0604020202020204" pitchFamily="34" charset="0"/>
              <a:ea typeface="黑体" panose="02010609060101010101" pitchFamily="2" charset="-122"/>
            </a:endParaRPr>
          </a:p>
        </p:txBody>
      </p:sp>
      <p:sp>
        <p:nvSpPr>
          <p:cNvPr id="1582127" name="灯片编号占位符 49"/>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69BBE6AE-A04E-4DD6-AB53-05B50AE31DF6}" type="slidenum">
              <a:rPr lang="zh-CN" altLang="en-US" smtClean="0"/>
              <a:pPr/>
              <a:t>12</a:t>
            </a:fld>
            <a:endParaRPr lang="en-US" altLang="zh-CN" smtClean="0"/>
          </a:p>
        </p:txBody>
      </p:sp>
      <p:sp>
        <p:nvSpPr>
          <p:cNvPr id="1582128" name="页脚占位符 50"/>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3105" name="标题 1"/>
          <p:cNvSpPr>
            <a:spLocks noGrp="1" noChangeArrowheads="1"/>
          </p:cNvSpPr>
          <p:nvPr>
            <p:ph type="title"/>
          </p:nvPr>
        </p:nvSpPr>
        <p:spPr>
          <a:xfrm>
            <a:off x="495300" y="188913"/>
            <a:ext cx="9066213" cy="792162"/>
          </a:xfrm>
        </p:spPr>
        <p:txBody>
          <a:bodyPr/>
          <a:lstStyle/>
          <a:p>
            <a:r>
              <a:rPr lang="zh-CN" altLang="en-US" dirty="0" smtClean="0">
                <a:ea typeface="黑体" panose="02010609060101010101" pitchFamily="49" charset="-122"/>
              </a:rPr>
              <a:t>三报文握手建立连接的原因</a:t>
            </a:r>
          </a:p>
        </p:txBody>
      </p:sp>
      <p:sp>
        <p:nvSpPr>
          <p:cNvPr id="1583106" name="内容占位符 2"/>
          <p:cNvSpPr>
            <a:spLocks noGrp="1" noChangeArrowheads="1"/>
          </p:cNvSpPr>
          <p:nvPr>
            <p:ph idx="1"/>
          </p:nvPr>
        </p:nvSpPr>
        <p:spPr>
          <a:xfrm>
            <a:off x="495300" y="1196975"/>
            <a:ext cx="9066213" cy="4933950"/>
          </a:xfrm>
        </p:spPr>
        <p:txBody>
          <a:bodyPr/>
          <a:lstStyle/>
          <a:p>
            <a:pPr marL="0" indent="0">
              <a:buNone/>
            </a:pPr>
            <a:r>
              <a:rPr lang="zh-CN" altLang="en-US" dirty="0" smtClean="0">
                <a:ea typeface="黑体" panose="02010609060101010101" pitchFamily="49" charset="-122"/>
              </a:rPr>
              <a:t>       采用</a:t>
            </a:r>
            <a:r>
              <a:rPr lang="zh-CN" altLang="en-US" dirty="0">
                <a:ea typeface="黑体" panose="02010609060101010101" pitchFamily="49" charset="-122"/>
              </a:rPr>
              <a:t>三报文握手主要是为了防止已失效的连接请求报文段突然又传送到了，因而产生错误</a:t>
            </a:r>
            <a:r>
              <a:rPr lang="zh-CN" altLang="en-US" dirty="0" smtClean="0">
                <a:ea typeface="黑体" panose="02010609060101010101" pitchFamily="49" charset="-122"/>
              </a:rPr>
              <a:t>。</a:t>
            </a:r>
            <a:endParaRPr lang="en-US" altLang="zh-CN" dirty="0" smtClean="0">
              <a:ea typeface="黑体" panose="02010609060101010101" pitchFamily="49" charset="-122"/>
            </a:endParaRPr>
          </a:p>
          <a:p>
            <a:pPr marL="0" indent="0">
              <a:buNone/>
            </a:pPr>
            <a:endParaRPr lang="zh-CN" altLang="en-US" dirty="0">
              <a:ea typeface="黑体" panose="02010609060101010101" pitchFamily="49" charset="-122"/>
            </a:endParaRPr>
          </a:p>
          <a:p>
            <a:pPr marL="0" indent="0">
              <a:buNone/>
            </a:pPr>
            <a:endParaRPr lang="zh-CN" altLang="en-US" dirty="0" smtClean="0">
              <a:ea typeface="黑体" panose="02010609060101010101" pitchFamily="49" charset="-122"/>
            </a:endParaRPr>
          </a:p>
        </p:txBody>
      </p:sp>
      <p:grpSp>
        <p:nvGrpSpPr>
          <p:cNvPr id="6" name="Group 2"/>
          <p:cNvGrpSpPr>
            <a:grpSpLocks/>
          </p:cNvGrpSpPr>
          <p:nvPr/>
        </p:nvGrpSpPr>
        <p:grpSpPr bwMode="auto">
          <a:xfrm>
            <a:off x="2946400" y="3140976"/>
            <a:ext cx="4248150" cy="3441700"/>
            <a:chOff x="1474" y="1888"/>
            <a:chExt cx="2676" cy="2432"/>
          </a:xfrm>
        </p:grpSpPr>
        <p:sp>
          <p:nvSpPr>
            <p:cNvPr id="7" name="Line 3"/>
            <p:cNvSpPr>
              <a:spLocks noChangeShapeType="1"/>
            </p:cNvSpPr>
            <p:nvPr/>
          </p:nvSpPr>
          <p:spPr bwMode="auto">
            <a:xfrm>
              <a:off x="1474" y="1888"/>
              <a:ext cx="0" cy="2432"/>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8" name="Line 4"/>
            <p:cNvSpPr>
              <a:spLocks noChangeShapeType="1"/>
            </p:cNvSpPr>
            <p:nvPr/>
          </p:nvSpPr>
          <p:spPr bwMode="auto">
            <a:xfrm>
              <a:off x="4150" y="1888"/>
              <a:ext cx="0" cy="2432"/>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sp>
        <p:nvSpPr>
          <p:cNvPr id="10" name="Rectangle 6"/>
          <p:cNvSpPr>
            <a:spLocks noChangeArrowheads="1"/>
          </p:cNvSpPr>
          <p:nvPr/>
        </p:nvSpPr>
        <p:spPr bwMode="auto">
          <a:xfrm rot="1997277">
            <a:off x="4832004" y="4797542"/>
            <a:ext cx="2838195" cy="3966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fontAlgn="auto" hangingPunct="0">
              <a:spcBef>
                <a:spcPts val="0"/>
              </a:spcBef>
              <a:spcAft>
                <a:spcPts val="0"/>
              </a:spcAft>
              <a:defRPr/>
            </a:pPr>
            <a:r>
              <a:rPr lang="en-US" altLang="zh-CN" sz="2000" b="1" kern="0" dirty="0">
                <a:solidFill>
                  <a:srgbClr val="FF0000"/>
                </a:solidFill>
                <a:latin typeface="+mn-lt"/>
                <a:ea typeface="黑体" panose="02010609060101010101" pitchFamily="2" charset="-122"/>
              </a:rPr>
              <a:t>SYN = 1, </a:t>
            </a:r>
            <a:r>
              <a:rPr lang="en-US" altLang="zh-CN" sz="2000" b="1" kern="0" dirty="0" err="1">
                <a:solidFill>
                  <a:srgbClr val="FF0000"/>
                </a:solidFill>
                <a:latin typeface="+mn-lt"/>
                <a:ea typeface="黑体" panose="02010609060101010101" pitchFamily="2" charset="-122"/>
              </a:rPr>
              <a:t>seq</a:t>
            </a:r>
            <a:r>
              <a:rPr lang="en-US" altLang="zh-CN" sz="2000" b="1" kern="0" dirty="0">
                <a:solidFill>
                  <a:srgbClr val="FF0000"/>
                </a:solidFill>
                <a:latin typeface="+mn-lt"/>
                <a:ea typeface="黑体" panose="02010609060101010101" pitchFamily="2" charset="-122"/>
              </a:rPr>
              <a:t> = </a:t>
            </a:r>
            <a:r>
              <a:rPr lang="en-US" altLang="zh-CN" sz="2000" b="1" kern="0" dirty="0" smtClean="0">
                <a:solidFill>
                  <a:srgbClr val="FF0000"/>
                </a:solidFill>
                <a:latin typeface="+mn-lt"/>
                <a:ea typeface="黑体" panose="02010609060101010101" pitchFamily="2" charset="-122"/>
              </a:rPr>
              <a:t>x1</a:t>
            </a:r>
            <a:endParaRPr lang="en-US" altLang="zh-CN" sz="2000" b="1" kern="0" dirty="0">
              <a:solidFill>
                <a:srgbClr val="FF0000"/>
              </a:solidFill>
              <a:latin typeface="+mn-lt"/>
              <a:ea typeface="黑体" panose="02010609060101010101" pitchFamily="2" charset="-122"/>
            </a:endParaRPr>
          </a:p>
        </p:txBody>
      </p:sp>
      <p:sp>
        <p:nvSpPr>
          <p:cNvPr id="11" name="Line 7"/>
          <p:cNvSpPr>
            <a:spLocks noChangeShapeType="1"/>
          </p:cNvSpPr>
          <p:nvPr/>
        </p:nvSpPr>
        <p:spPr bwMode="auto">
          <a:xfrm>
            <a:off x="3019425" y="3148914"/>
            <a:ext cx="4146345" cy="2769306"/>
          </a:xfrm>
          <a:prstGeom prst="line">
            <a:avLst/>
          </a:prstGeom>
          <a:noFill/>
          <a:ln w="5715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pic>
        <p:nvPicPr>
          <p:cNvPr id="28" name="Picture 2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67761" y="2623451"/>
            <a:ext cx="50165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 name="Picture 2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86512" y="2623451"/>
            <a:ext cx="50165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Rectangle 26"/>
          <p:cNvSpPr>
            <a:spLocks noChangeArrowheads="1"/>
          </p:cNvSpPr>
          <p:nvPr/>
        </p:nvSpPr>
        <p:spPr bwMode="auto">
          <a:xfrm>
            <a:off x="3091624" y="2623451"/>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A</a:t>
            </a:r>
          </a:p>
        </p:txBody>
      </p:sp>
      <p:sp>
        <p:nvSpPr>
          <p:cNvPr id="31" name="Rectangle 27"/>
          <p:cNvSpPr>
            <a:spLocks noChangeArrowheads="1"/>
          </p:cNvSpPr>
          <p:nvPr/>
        </p:nvSpPr>
        <p:spPr bwMode="auto">
          <a:xfrm>
            <a:off x="6753150" y="2623451"/>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B</a:t>
            </a:r>
          </a:p>
        </p:txBody>
      </p:sp>
      <p:sp>
        <p:nvSpPr>
          <p:cNvPr id="32" name="Rectangle 28"/>
          <p:cNvSpPr>
            <a:spLocks noChangeArrowheads="1"/>
          </p:cNvSpPr>
          <p:nvPr/>
        </p:nvSpPr>
        <p:spPr bwMode="auto">
          <a:xfrm>
            <a:off x="2586799" y="2269438"/>
            <a:ext cx="6477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客户</a:t>
            </a:r>
          </a:p>
        </p:txBody>
      </p:sp>
      <p:sp>
        <p:nvSpPr>
          <p:cNvPr id="33" name="Rectangle 29"/>
          <p:cNvSpPr>
            <a:spLocks noChangeArrowheads="1"/>
          </p:cNvSpPr>
          <p:nvPr/>
        </p:nvSpPr>
        <p:spPr bwMode="auto">
          <a:xfrm>
            <a:off x="6802362" y="2269438"/>
            <a:ext cx="8794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服务器</a:t>
            </a:r>
          </a:p>
        </p:txBody>
      </p:sp>
      <p:grpSp>
        <p:nvGrpSpPr>
          <p:cNvPr id="34" name="Group 30"/>
          <p:cNvGrpSpPr>
            <a:grpSpLocks/>
          </p:cNvGrpSpPr>
          <p:nvPr/>
        </p:nvGrpSpPr>
        <p:grpSpPr bwMode="auto">
          <a:xfrm>
            <a:off x="2916238" y="4509090"/>
            <a:ext cx="4214812" cy="801687"/>
            <a:chOff x="1455" y="2445"/>
            <a:chExt cx="2655" cy="505"/>
          </a:xfrm>
        </p:grpSpPr>
        <p:sp>
          <p:nvSpPr>
            <p:cNvPr id="35" name="Line 31"/>
            <p:cNvSpPr>
              <a:spLocks noChangeShapeType="1"/>
            </p:cNvSpPr>
            <p:nvPr/>
          </p:nvSpPr>
          <p:spPr bwMode="auto">
            <a:xfrm flipH="1">
              <a:off x="1520" y="2445"/>
              <a:ext cx="2590" cy="505"/>
            </a:xfrm>
            <a:prstGeom prst="line">
              <a:avLst/>
            </a:prstGeom>
            <a:noFill/>
            <a:ln w="571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36" name="Rectangle 32"/>
            <p:cNvSpPr>
              <a:spLocks noChangeArrowheads="1"/>
            </p:cNvSpPr>
            <p:nvPr/>
          </p:nvSpPr>
          <p:spPr bwMode="auto">
            <a:xfrm rot="20990024" flipH="1">
              <a:off x="1455" y="2483"/>
              <a:ext cx="244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sz="1600" b="1" kern="0" dirty="0">
                  <a:solidFill>
                    <a:srgbClr val="3333CC"/>
                  </a:solidFill>
                  <a:latin typeface="+mn-lt"/>
                  <a:ea typeface="黑体" panose="02010609060101010101" pitchFamily="2" charset="-122"/>
                </a:rPr>
                <a:t>SYN = 1, ACK = 1, </a:t>
              </a:r>
              <a:r>
                <a:rPr lang="en-US" altLang="zh-CN" sz="1600" b="1" kern="0" dirty="0" err="1">
                  <a:solidFill>
                    <a:srgbClr val="3333CC"/>
                  </a:solidFill>
                  <a:latin typeface="+mn-lt"/>
                  <a:ea typeface="黑体" panose="02010609060101010101" pitchFamily="2" charset="-122"/>
                </a:rPr>
                <a:t>seq</a:t>
              </a:r>
              <a:r>
                <a:rPr lang="en-US" altLang="zh-CN" sz="1600" b="1" kern="0" dirty="0">
                  <a:solidFill>
                    <a:srgbClr val="3333CC"/>
                  </a:solidFill>
                  <a:latin typeface="+mn-lt"/>
                  <a:ea typeface="黑体" panose="02010609060101010101" pitchFamily="2" charset="-122"/>
                </a:rPr>
                <a:t> = y, </a:t>
              </a:r>
              <a:r>
                <a:rPr lang="en-US" altLang="zh-CN" sz="1600" b="1" kern="0" dirty="0" err="1">
                  <a:solidFill>
                    <a:srgbClr val="3333CC"/>
                  </a:solidFill>
                  <a:latin typeface="+mn-lt"/>
                  <a:ea typeface="黑体" panose="02010609060101010101" pitchFamily="2" charset="-122"/>
                </a:rPr>
                <a:t>ack</a:t>
              </a:r>
              <a:r>
                <a:rPr lang="en-US" altLang="zh-CN" sz="1600" b="1" kern="0" dirty="0">
                  <a:solidFill>
                    <a:srgbClr val="3333CC"/>
                  </a:solidFill>
                  <a:latin typeface="+mn-lt"/>
                  <a:ea typeface="黑体" panose="02010609060101010101" pitchFamily="2" charset="-122"/>
                </a:rPr>
                <a:t>= </a:t>
              </a:r>
              <a:r>
                <a:rPr lang="en-US" altLang="zh-CN" sz="1600" b="1" kern="0" dirty="0" smtClean="0">
                  <a:solidFill>
                    <a:srgbClr val="3333CC"/>
                  </a:solidFill>
                  <a:latin typeface="+mn-lt"/>
                  <a:ea typeface="黑体" panose="02010609060101010101" pitchFamily="2" charset="-122"/>
                </a:rPr>
                <a:t>x2 </a:t>
              </a:r>
              <a:r>
                <a:rPr lang="en-US" altLang="zh-CN" sz="1600" b="1" kern="0" dirty="0">
                  <a:solidFill>
                    <a:srgbClr val="3333CC"/>
                  </a:solidFill>
                  <a:latin typeface="+mn-lt"/>
                  <a:ea typeface="黑体" panose="02010609060101010101" pitchFamily="2" charset="-122"/>
                  <a:sym typeface="Symbol" panose="05050102010706020507" pitchFamily="18" charset="2"/>
                </a:rPr>
                <a:t> 1</a:t>
              </a:r>
              <a:endParaRPr lang="en-US" altLang="zh-CN" sz="1600" b="1" kern="0" dirty="0">
                <a:solidFill>
                  <a:srgbClr val="3333CC"/>
                </a:solidFill>
                <a:latin typeface="+mn-lt"/>
                <a:ea typeface="黑体" panose="02010609060101010101" pitchFamily="2" charset="-122"/>
              </a:endParaRPr>
            </a:p>
          </p:txBody>
        </p:sp>
      </p:grpSp>
      <p:sp>
        <p:nvSpPr>
          <p:cNvPr id="37" name="灯片编号占位符 35"/>
          <p:cNvSpPr txBox="1">
            <a:spLocks noChangeArrowheads="1"/>
          </p:cNvSpPr>
          <p:nvPr/>
        </p:nvSpPr>
        <p:spPr bwMode="auto">
          <a:xfrm>
            <a:off x="7251700" y="6500126"/>
            <a:ext cx="23114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eaLnBrk="1" fontAlgn="base" hangingPunct="1">
              <a:spcBef>
                <a:spcPct val="0"/>
              </a:spcBef>
              <a:spcAft>
                <a:spcPct val="0"/>
              </a:spcAft>
              <a:defRPr sz="1000" kern="1200" noProof="1">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fld id="{57F33FBC-C733-43FC-93D3-FD3F9F00E0AC}" type="slidenum">
              <a:rPr lang="zh-CN" altLang="en-US" smtClean="0"/>
              <a:pPr/>
              <a:t>13</a:t>
            </a:fld>
            <a:endParaRPr lang="en-US" altLang="zh-CN" smtClean="0"/>
          </a:p>
        </p:txBody>
      </p:sp>
      <p:sp>
        <p:nvSpPr>
          <p:cNvPr id="38" name="页脚占位符 36"/>
          <p:cNvSpPr txBox="1">
            <a:spLocks noChangeArrowheads="1"/>
          </p:cNvSpPr>
          <p:nvPr/>
        </p:nvSpPr>
        <p:spPr bwMode="auto">
          <a:xfrm>
            <a:off x="3536950" y="6500126"/>
            <a:ext cx="31369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ctr" rtl="0" eaLnBrk="1" fontAlgn="base" hangingPunct="1">
              <a:spcBef>
                <a:spcPct val="0"/>
              </a:spcBef>
              <a:spcAft>
                <a:spcPct val="0"/>
              </a:spcAft>
              <a:defRPr sz="1000" kern="1200" noProof="1">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r>
              <a:rPr lang="en-US" altLang="zh-CN" smtClean="0"/>
              <a:t>ppt课件</a:t>
            </a:r>
          </a:p>
        </p:txBody>
      </p:sp>
      <p:grpSp>
        <p:nvGrpSpPr>
          <p:cNvPr id="39" name="Group 5"/>
          <p:cNvGrpSpPr>
            <a:grpSpLocks/>
          </p:cNvGrpSpPr>
          <p:nvPr/>
        </p:nvGrpSpPr>
        <p:grpSpPr bwMode="auto">
          <a:xfrm>
            <a:off x="3023737" y="3635778"/>
            <a:ext cx="4217398" cy="801306"/>
            <a:chOff x="1520" y="1893"/>
            <a:chExt cx="2590" cy="505"/>
          </a:xfrm>
        </p:grpSpPr>
        <p:sp>
          <p:nvSpPr>
            <p:cNvPr id="40" name="Rectangle 6"/>
            <p:cNvSpPr>
              <a:spLocks noChangeArrowheads="1"/>
            </p:cNvSpPr>
            <p:nvPr/>
          </p:nvSpPr>
          <p:spPr bwMode="auto">
            <a:xfrm rot="665985">
              <a:off x="2093" y="1917"/>
              <a:ext cx="174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fontAlgn="auto" hangingPunct="0">
                <a:spcBef>
                  <a:spcPts val="0"/>
                </a:spcBef>
                <a:spcAft>
                  <a:spcPts val="0"/>
                </a:spcAft>
                <a:defRPr/>
              </a:pPr>
              <a:r>
                <a:rPr lang="en-US" altLang="zh-CN" sz="2000" b="1" kern="0" dirty="0">
                  <a:solidFill>
                    <a:srgbClr val="3333CC"/>
                  </a:solidFill>
                  <a:latin typeface="+mn-lt"/>
                  <a:ea typeface="黑体" panose="02010609060101010101" pitchFamily="2" charset="-122"/>
                </a:rPr>
                <a:t>SYN = 1, </a:t>
              </a:r>
              <a:r>
                <a:rPr lang="en-US" altLang="zh-CN" sz="2000" b="1" kern="0" dirty="0" err="1">
                  <a:solidFill>
                    <a:srgbClr val="3333CC"/>
                  </a:solidFill>
                  <a:latin typeface="+mn-lt"/>
                  <a:ea typeface="黑体" panose="02010609060101010101" pitchFamily="2" charset="-122"/>
                </a:rPr>
                <a:t>seq</a:t>
              </a:r>
              <a:r>
                <a:rPr lang="en-US" altLang="zh-CN" sz="2000" b="1" kern="0" dirty="0">
                  <a:solidFill>
                    <a:srgbClr val="3333CC"/>
                  </a:solidFill>
                  <a:latin typeface="+mn-lt"/>
                  <a:ea typeface="黑体" panose="02010609060101010101" pitchFamily="2" charset="-122"/>
                </a:rPr>
                <a:t> = </a:t>
              </a:r>
              <a:r>
                <a:rPr lang="en-US" altLang="zh-CN" sz="2000" b="1" kern="0" dirty="0" smtClean="0">
                  <a:solidFill>
                    <a:srgbClr val="3333CC"/>
                  </a:solidFill>
                  <a:latin typeface="+mn-lt"/>
                  <a:ea typeface="黑体" panose="02010609060101010101" pitchFamily="2" charset="-122"/>
                </a:rPr>
                <a:t>x2</a:t>
              </a:r>
              <a:endParaRPr lang="en-US" altLang="zh-CN" sz="2000" b="1" kern="0" dirty="0">
                <a:solidFill>
                  <a:srgbClr val="3333CC"/>
                </a:solidFill>
                <a:latin typeface="+mn-lt"/>
                <a:ea typeface="黑体" panose="02010609060101010101" pitchFamily="2" charset="-122"/>
              </a:endParaRPr>
            </a:p>
          </p:txBody>
        </p:sp>
        <p:sp>
          <p:nvSpPr>
            <p:cNvPr id="41" name="Line 7"/>
            <p:cNvSpPr>
              <a:spLocks noChangeShapeType="1"/>
            </p:cNvSpPr>
            <p:nvPr/>
          </p:nvSpPr>
          <p:spPr bwMode="auto">
            <a:xfrm>
              <a:off x="1520" y="1893"/>
              <a:ext cx="2590" cy="505"/>
            </a:xfrm>
            <a:prstGeom prst="line">
              <a:avLst/>
            </a:prstGeom>
            <a:noFill/>
            <a:ln w="5715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sp>
        <p:nvSpPr>
          <p:cNvPr id="3" name="文本框 2"/>
          <p:cNvSpPr txBox="1"/>
          <p:nvPr/>
        </p:nvSpPr>
        <p:spPr>
          <a:xfrm>
            <a:off x="1154943" y="3284988"/>
            <a:ext cx="1637877" cy="646331"/>
          </a:xfrm>
          <a:prstGeom prst="rect">
            <a:avLst/>
          </a:prstGeom>
          <a:noFill/>
        </p:spPr>
        <p:txBody>
          <a:bodyPr wrap="square" rtlCol="0">
            <a:spAutoFit/>
          </a:bodyPr>
          <a:lstStyle/>
          <a:p>
            <a:r>
              <a:rPr lang="zh-CN" altLang="en-US" b="1" dirty="0" smtClean="0">
                <a:solidFill>
                  <a:srgbClr val="0000CC"/>
                </a:solidFill>
              </a:rPr>
              <a:t>超时，重发，原有申请失效</a:t>
            </a:r>
            <a:endParaRPr lang="zh-CN" altLang="en-US" b="1" dirty="0">
              <a:solidFill>
                <a:srgbClr val="0000CC"/>
              </a:solidFill>
            </a:endParaRPr>
          </a:p>
        </p:txBody>
      </p:sp>
      <p:sp>
        <p:nvSpPr>
          <p:cNvPr id="44" name="文本框 43"/>
          <p:cNvSpPr txBox="1"/>
          <p:nvPr/>
        </p:nvSpPr>
        <p:spPr>
          <a:xfrm>
            <a:off x="1371846" y="4943888"/>
            <a:ext cx="1193493" cy="369332"/>
          </a:xfrm>
          <a:prstGeom prst="rect">
            <a:avLst/>
          </a:prstGeom>
          <a:noFill/>
        </p:spPr>
        <p:txBody>
          <a:bodyPr wrap="square" rtlCol="0">
            <a:spAutoFit/>
          </a:bodyPr>
          <a:lstStyle/>
          <a:p>
            <a:r>
              <a:rPr lang="zh-CN" altLang="en-US" b="1" dirty="0" smtClean="0">
                <a:solidFill>
                  <a:srgbClr val="0000CC"/>
                </a:solidFill>
              </a:rPr>
              <a:t>连接建立</a:t>
            </a:r>
            <a:endParaRPr lang="zh-CN" altLang="en-US" b="1" dirty="0">
              <a:solidFill>
                <a:srgbClr val="0000CC"/>
              </a:solidFill>
            </a:endParaRPr>
          </a:p>
        </p:txBody>
      </p:sp>
      <p:grpSp>
        <p:nvGrpSpPr>
          <p:cNvPr id="45" name="Group 30"/>
          <p:cNvGrpSpPr>
            <a:grpSpLocks/>
          </p:cNvGrpSpPr>
          <p:nvPr/>
        </p:nvGrpSpPr>
        <p:grpSpPr bwMode="auto">
          <a:xfrm>
            <a:off x="2887588" y="5905695"/>
            <a:ext cx="4214812" cy="801687"/>
            <a:chOff x="1455" y="2445"/>
            <a:chExt cx="2655" cy="505"/>
          </a:xfrm>
        </p:grpSpPr>
        <p:sp>
          <p:nvSpPr>
            <p:cNvPr id="46" name="Line 31"/>
            <p:cNvSpPr>
              <a:spLocks noChangeShapeType="1"/>
            </p:cNvSpPr>
            <p:nvPr/>
          </p:nvSpPr>
          <p:spPr bwMode="auto">
            <a:xfrm flipH="1">
              <a:off x="1520" y="2445"/>
              <a:ext cx="2590" cy="505"/>
            </a:xfrm>
            <a:prstGeom prst="line">
              <a:avLst/>
            </a:prstGeom>
            <a:noFill/>
            <a:ln w="57150">
              <a:solidFill>
                <a:srgbClr val="FF0000"/>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47" name="Rectangle 32"/>
            <p:cNvSpPr>
              <a:spLocks noChangeArrowheads="1"/>
            </p:cNvSpPr>
            <p:nvPr/>
          </p:nvSpPr>
          <p:spPr bwMode="auto">
            <a:xfrm rot="20990024" flipH="1">
              <a:off x="1455" y="2483"/>
              <a:ext cx="244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sz="1600" b="1" kern="0" dirty="0">
                  <a:solidFill>
                    <a:srgbClr val="FF0000"/>
                  </a:solidFill>
                  <a:latin typeface="+mn-lt"/>
                  <a:ea typeface="黑体" panose="02010609060101010101" pitchFamily="2" charset="-122"/>
                </a:rPr>
                <a:t>SYN = 1, ACK = 1, </a:t>
              </a:r>
              <a:r>
                <a:rPr lang="en-US" altLang="zh-CN" sz="1600" b="1" kern="0" dirty="0" err="1">
                  <a:solidFill>
                    <a:srgbClr val="FF0000"/>
                  </a:solidFill>
                  <a:latin typeface="+mn-lt"/>
                  <a:ea typeface="黑体" panose="02010609060101010101" pitchFamily="2" charset="-122"/>
                </a:rPr>
                <a:t>seq</a:t>
              </a:r>
              <a:r>
                <a:rPr lang="en-US" altLang="zh-CN" sz="1600" b="1" kern="0" dirty="0">
                  <a:solidFill>
                    <a:srgbClr val="FF0000"/>
                  </a:solidFill>
                  <a:latin typeface="+mn-lt"/>
                  <a:ea typeface="黑体" panose="02010609060101010101" pitchFamily="2" charset="-122"/>
                </a:rPr>
                <a:t> = y, </a:t>
              </a:r>
              <a:r>
                <a:rPr lang="en-US" altLang="zh-CN" sz="1600" b="1" kern="0" dirty="0" err="1">
                  <a:solidFill>
                    <a:srgbClr val="FF0000"/>
                  </a:solidFill>
                  <a:latin typeface="+mn-lt"/>
                  <a:ea typeface="黑体" panose="02010609060101010101" pitchFamily="2" charset="-122"/>
                </a:rPr>
                <a:t>ack</a:t>
              </a:r>
              <a:r>
                <a:rPr lang="en-US" altLang="zh-CN" sz="1600" b="1" kern="0" dirty="0">
                  <a:solidFill>
                    <a:srgbClr val="FF0000"/>
                  </a:solidFill>
                  <a:latin typeface="+mn-lt"/>
                  <a:ea typeface="黑体" panose="02010609060101010101" pitchFamily="2" charset="-122"/>
                </a:rPr>
                <a:t>= </a:t>
              </a:r>
              <a:r>
                <a:rPr lang="en-US" altLang="zh-CN" sz="1600" b="1" kern="0" dirty="0" smtClean="0">
                  <a:solidFill>
                    <a:srgbClr val="FF0000"/>
                  </a:solidFill>
                  <a:latin typeface="+mn-lt"/>
                  <a:ea typeface="黑体" panose="02010609060101010101" pitchFamily="2" charset="-122"/>
                </a:rPr>
                <a:t>x1 </a:t>
              </a:r>
              <a:r>
                <a:rPr lang="en-US" altLang="zh-CN" sz="1600" b="1" kern="0" dirty="0">
                  <a:solidFill>
                    <a:srgbClr val="FF0000"/>
                  </a:solidFill>
                  <a:latin typeface="+mn-lt"/>
                  <a:ea typeface="黑体" panose="02010609060101010101" pitchFamily="2" charset="-122"/>
                  <a:sym typeface="Symbol" panose="05050102010706020507" pitchFamily="18" charset="2"/>
                </a:rPr>
                <a:t> 1</a:t>
              </a:r>
              <a:endParaRPr lang="en-US" altLang="zh-CN" sz="1600" b="1" kern="0" dirty="0">
                <a:solidFill>
                  <a:srgbClr val="FF0000"/>
                </a:solidFill>
                <a:latin typeface="+mn-lt"/>
                <a:ea typeface="黑体" panose="02010609060101010101" pitchFamily="2" charset="-122"/>
              </a:endParaRPr>
            </a:p>
          </p:txBody>
        </p:sp>
      </p:grpSp>
      <p:sp>
        <p:nvSpPr>
          <p:cNvPr id="48" name="文本框 47"/>
          <p:cNvSpPr txBox="1"/>
          <p:nvPr/>
        </p:nvSpPr>
        <p:spPr>
          <a:xfrm>
            <a:off x="7237337" y="5595054"/>
            <a:ext cx="2532214" cy="923330"/>
          </a:xfrm>
          <a:prstGeom prst="rect">
            <a:avLst/>
          </a:prstGeom>
          <a:noFill/>
        </p:spPr>
        <p:txBody>
          <a:bodyPr wrap="square" rtlCol="0">
            <a:spAutoFit/>
          </a:bodyPr>
          <a:lstStyle/>
          <a:p>
            <a:r>
              <a:rPr lang="zh-CN" altLang="en-US" b="1" dirty="0" smtClean="0">
                <a:solidFill>
                  <a:srgbClr val="FF0000"/>
                </a:solidFill>
              </a:rPr>
              <a:t>网络滞留，稍后到达</a:t>
            </a:r>
            <a:endParaRPr lang="en-US" altLang="zh-CN" b="1" dirty="0" smtClean="0">
              <a:solidFill>
                <a:srgbClr val="FF0000"/>
              </a:solidFill>
            </a:endParaRPr>
          </a:p>
          <a:p>
            <a:r>
              <a:rPr lang="en-US" altLang="zh-CN" b="1" dirty="0" smtClean="0">
                <a:solidFill>
                  <a:srgbClr val="FF0000"/>
                </a:solidFill>
              </a:rPr>
              <a:t>B</a:t>
            </a:r>
            <a:r>
              <a:rPr lang="zh-CN" altLang="en-US" b="1" dirty="0" smtClean="0">
                <a:solidFill>
                  <a:srgbClr val="FF0000"/>
                </a:solidFill>
              </a:rPr>
              <a:t>认为连接已建立并分配资源</a:t>
            </a:r>
            <a:endParaRPr lang="zh-CN" altLang="en-US" b="1" dirty="0">
              <a:solidFill>
                <a:srgbClr val="FF0000"/>
              </a:solidFill>
            </a:endParaRPr>
          </a:p>
        </p:txBody>
      </p:sp>
      <p:sp>
        <p:nvSpPr>
          <p:cNvPr id="49" name="文本框 48"/>
          <p:cNvSpPr txBox="1"/>
          <p:nvPr/>
        </p:nvSpPr>
        <p:spPr>
          <a:xfrm>
            <a:off x="1146460" y="6219694"/>
            <a:ext cx="1637877" cy="646331"/>
          </a:xfrm>
          <a:prstGeom prst="rect">
            <a:avLst/>
          </a:prstGeom>
          <a:noFill/>
        </p:spPr>
        <p:txBody>
          <a:bodyPr wrap="square" rtlCol="0">
            <a:spAutoFit/>
          </a:bodyPr>
          <a:lstStyle/>
          <a:p>
            <a:r>
              <a:rPr lang="en-US" altLang="zh-CN" b="1" dirty="0" smtClean="0">
                <a:solidFill>
                  <a:srgbClr val="FF0000"/>
                </a:solidFill>
              </a:rPr>
              <a:t>A</a:t>
            </a:r>
            <a:r>
              <a:rPr lang="zh-CN" altLang="en-US" b="1" dirty="0" smtClean="0">
                <a:solidFill>
                  <a:srgbClr val="FF0000"/>
                </a:solidFill>
              </a:rPr>
              <a:t>的原有申请失效，不理会</a:t>
            </a:r>
            <a:endParaRPr lang="zh-CN" altLang="en-US" b="1" dirty="0">
              <a:solidFill>
                <a:srgbClr val="FF0000"/>
              </a:solidFill>
            </a:endParaRPr>
          </a:p>
        </p:txBody>
      </p:sp>
      <p:sp>
        <p:nvSpPr>
          <p:cNvPr id="4" name="七角星 3"/>
          <p:cNvSpPr/>
          <p:nvPr/>
        </p:nvSpPr>
        <p:spPr bwMode="auto">
          <a:xfrm>
            <a:off x="7754256" y="4051218"/>
            <a:ext cx="1807257" cy="1543836"/>
          </a:xfrm>
          <a:prstGeom prst="star7">
            <a:avLst/>
          </a:prstGeom>
          <a:solidFill>
            <a:srgbClr val="FFFF66"/>
          </a:solidFill>
          <a:ln w="9525" cap="flat" cmpd="sng" algn="ctr">
            <a:solidFill>
              <a:schemeClr val="tx1"/>
            </a:solidFill>
            <a:prstDash val="solid"/>
            <a:round/>
            <a:headEnd type="none" w="med" len="med"/>
            <a:tailEnd type="none" w="med" len="med"/>
          </a:ln>
        </p:spPr>
        <p:txBody>
          <a:bodyPr vert="horz" wrap="square" lIns="91440" tIns="45720" rIns="91440" bIns="45720" numCol="1" rtlCol="0" anchor="t" anchorCtr="0" compatLnSpc="1"/>
          <a:lstStyle/>
          <a:p>
            <a:pPr marL="0" marR="0" indent="0" algn="ctr" defTabSz="914400" rtl="0" eaLnBrk="0" fontAlgn="base" latinLnBrk="0" hangingPunct="0">
              <a:lnSpc>
                <a:spcPct val="100000"/>
              </a:lnSpc>
              <a:spcBef>
                <a:spcPct val="0"/>
              </a:spcBef>
              <a:spcAft>
                <a:spcPct val="0"/>
              </a:spcAft>
              <a:buClrTx/>
              <a:buSzTx/>
              <a:buFontTx/>
              <a:buNone/>
            </a:pPr>
            <a:endParaRPr kumimoji="0" lang="en-US" altLang="zh-CN" sz="1800" b="1" i="0" u="none" strike="noStrike" cap="none" normalizeH="0" baseline="0" dirty="0" smtClean="0">
              <a:ln>
                <a:noFill/>
              </a:ln>
              <a:solidFill>
                <a:srgbClr val="FF0000"/>
              </a:solidFill>
              <a:effectLst/>
              <a:latin typeface="Arial" panose="020B0604020202020204" pitchFamily="34" charset="0"/>
            </a:endParaRPr>
          </a:p>
          <a:p>
            <a:pPr marL="0" marR="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smtClean="0">
                <a:ln>
                  <a:noFill/>
                </a:ln>
                <a:solidFill>
                  <a:srgbClr val="FF0000"/>
                </a:solidFill>
                <a:effectLst/>
                <a:latin typeface="Arial" panose="020B0604020202020204" pitchFamily="34" charset="0"/>
              </a:rPr>
              <a:t>B</a:t>
            </a:r>
            <a:r>
              <a:rPr kumimoji="0" lang="zh-CN" altLang="en-US" sz="1800" b="1" i="0" u="none" strike="noStrike" cap="none" normalizeH="0" baseline="0" dirty="0" smtClean="0">
                <a:ln>
                  <a:noFill/>
                </a:ln>
                <a:solidFill>
                  <a:srgbClr val="FF0000"/>
                </a:solidFill>
                <a:effectLst/>
                <a:latin typeface="Arial" panose="020B0604020202020204" pitchFamily="34" charset="0"/>
              </a:rPr>
              <a:t>资源浪费</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3105" name="标题 1"/>
          <p:cNvSpPr>
            <a:spLocks noGrp="1" noChangeArrowheads="1"/>
          </p:cNvSpPr>
          <p:nvPr>
            <p:ph type="title"/>
          </p:nvPr>
        </p:nvSpPr>
        <p:spPr>
          <a:xfrm>
            <a:off x="495300" y="188913"/>
            <a:ext cx="9066213" cy="792162"/>
          </a:xfrm>
        </p:spPr>
        <p:txBody>
          <a:bodyPr/>
          <a:lstStyle/>
          <a:p>
            <a:r>
              <a:rPr lang="en-US" altLang="zh-CN" dirty="0" smtClean="0">
                <a:ea typeface="黑体" panose="02010609060101010101" pitchFamily="49" charset="-122"/>
              </a:rPr>
              <a:t>5.9.2  TCP </a:t>
            </a:r>
            <a:r>
              <a:rPr lang="zh-CN" altLang="zh-CN" dirty="0" smtClean="0">
                <a:ea typeface="黑体" panose="02010609060101010101" pitchFamily="49" charset="-122"/>
              </a:rPr>
              <a:t>的连接释放</a:t>
            </a:r>
            <a:endParaRPr lang="zh-CN" altLang="en-US" dirty="0" smtClean="0">
              <a:ea typeface="黑体" panose="02010609060101010101" pitchFamily="49" charset="-122"/>
            </a:endParaRPr>
          </a:p>
        </p:txBody>
      </p:sp>
      <p:sp>
        <p:nvSpPr>
          <p:cNvPr id="1583106" name="内容占位符 2"/>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TCP </a:t>
            </a:r>
            <a:r>
              <a:rPr lang="zh-CN" altLang="zh-CN" smtClean="0">
                <a:ea typeface="黑体" panose="02010609060101010101" pitchFamily="49" charset="-122"/>
              </a:rPr>
              <a:t>连接释放过程比较复杂</a:t>
            </a:r>
            <a:r>
              <a:rPr lang="zh-CN" altLang="en-US" smtClean="0">
                <a:ea typeface="黑体" panose="02010609060101010101" pitchFamily="49" charset="-122"/>
              </a:rPr>
              <a:t>。</a:t>
            </a:r>
            <a:endParaRPr lang="en-US" altLang="zh-CN" smtClean="0">
              <a:ea typeface="黑体" panose="02010609060101010101" pitchFamily="49" charset="-122"/>
            </a:endParaRPr>
          </a:p>
          <a:p>
            <a:r>
              <a:rPr lang="zh-CN" altLang="zh-CN" smtClean="0">
                <a:ea typeface="黑体" panose="02010609060101010101" pitchFamily="49" charset="-122"/>
              </a:rPr>
              <a:t>数据传输结束后，通信的双方都可释放连接。</a:t>
            </a:r>
            <a:endParaRPr lang="en-US" altLang="zh-CN" smtClean="0">
              <a:ea typeface="黑体" panose="02010609060101010101" pitchFamily="49" charset="-122"/>
            </a:endParaRPr>
          </a:p>
          <a:p>
            <a:r>
              <a:rPr lang="en-US" altLang="zh-CN" smtClean="0">
                <a:ea typeface="黑体" panose="02010609060101010101" pitchFamily="49" charset="-122"/>
              </a:rPr>
              <a:t>TCP </a:t>
            </a:r>
            <a:r>
              <a:rPr lang="zh-CN" altLang="zh-CN" smtClean="0">
                <a:ea typeface="黑体" panose="02010609060101010101" pitchFamily="49" charset="-122"/>
              </a:rPr>
              <a:t>连接释放过程是</a:t>
            </a:r>
            <a:r>
              <a:rPr lang="zh-CN" altLang="zh-CN" smtClean="0">
                <a:solidFill>
                  <a:srgbClr val="FF0000"/>
                </a:solidFill>
                <a:ea typeface="黑体" panose="02010609060101010101" pitchFamily="49" charset="-122"/>
              </a:rPr>
              <a:t>四报文握手。</a:t>
            </a:r>
            <a:endParaRPr lang="en-US" altLang="zh-CN" smtClean="0">
              <a:solidFill>
                <a:srgbClr val="FF0000"/>
              </a:solidFill>
              <a:ea typeface="黑体" panose="02010609060101010101" pitchFamily="49" charset="-122"/>
            </a:endParaRPr>
          </a:p>
          <a:p>
            <a:endParaRPr lang="zh-CN" altLang="en-US" smtClean="0">
              <a:ea typeface="黑体" panose="02010609060101010101" pitchFamily="49" charset="-122"/>
            </a:endParaRPr>
          </a:p>
        </p:txBody>
      </p:sp>
      <p:sp>
        <p:nvSpPr>
          <p:cNvPr id="158310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3FE0003-BE88-403F-A833-A7597299B0BB}" type="slidenum">
              <a:rPr lang="zh-CN" altLang="en-US" smtClean="0"/>
              <a:pPr eaLnBrk="1" hangingPunct="1"/>
              <a:t>14</a:t>
            </a:fld>
            <a:endParaRPr lang="en-US" altLang="zh-CN" smtClean="0"/>
          </a:p>
        </p:txBody>
      </p:sp>
      <p:sp>
        <p:nvSpPr>
          <p:cNvPr id="158310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extLst>
      <p:ext uri="{BB962C8B-B14F-4D97-AF65-F5344CB8AC3E}">
        <p14:creationId xmlns:p14="http://schemas.microsoft.com/office/powerpoint/2010/main" val="372261773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84129" name="Group 2"/>
          <p:cNvGrpSpPr>
            <a:grpSpLocks/>
          </p:cNvGrpSpPr>
          <p:nvPr/>
        </p:nvGrpSpPr>
        <p:grpSpPr bwMode="auto">
          <a:xfrm>
            <a:off x="2879725" y="2349500"/>
            <a:ext cx="4248150" cy="4062413"/>
            <a:chOff x="1474" y="1888"/>
            <a:chExt cx="2676" cy="2432"/>
          </a:xfrm>
        </p:grpSpPr>
        <p:sp>
          <p:nvSpPr>
            <p:cNvPr id="7" name="Line 3"/>
            <p:cNvSpPr>
              <a:spLocks noChangeShapeType="1"/>
            </p:cNvSpPr>
            <p:nvPr/>
          </p:nvSpPr>
          <p:spPr bwMode="auto">
            <a:xfrm>
              <a:off x="1474" y="1888"/>
              <a:ext cx="0" cy="2432"/>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8" name="Line 4"/>
            <p:cNvSpPr>
              <a:spLocks noChangeShapeType="1"/>
            </p:cNvSpPr>
            <p:nvPr/>
          </p:nvSpPr>
          <p:spPr bwMode="auto">
            <a:xfrm>
              <a:off x="4150" y="1888"/>
              <a:ext cx="0" cy="2432"/>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sp>
        <p:nvSpPr>
          <p:cNvPr id="9" name="AutoShape 5"/>
          <p:cNvSpPr>
            <a:spLocks noChangeArrowheads="1"/>
          </p:cNvSpPr>
          <p:nvPr/>
        </p:nvSpPr>
        <p:spPr bwMode="auto">
          <a:xfrm>
            <a:off x="3865563" y="1863725"/>
            <a:ext cx="2384425" cy="252413"/>
          </a:xfrm>
          <a:prstGeom prst="leftRightArrow">
            <a:avLst>
              <a:gd name="adj1" fmla="val 55880"/>
              <a:gd name="adj2" fmla="val 108285"/>
            </a:avLst>
          </a:prstGeom>
          <a:solidFill>
            <a:srgbClr val="FF0000"/>
          </a:solidFill>
          <a:ln w="12700" algn="ctr">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nvGrpSpPr>
          <p:cNvPr id="10" name="Group 6"/>
          <p:cNvGrpSpPr>
            <a:grpSpLocks/>
          </p:cNvGrpSpPr>
          <p:nvPr/>
        </p:nvGrpSpPr>
        <p:grpSpPr bwMode="auto">
          <a:xfrm>
            <a:off x="2932113" y="2355850"/>
            <a:ext cx="4133850" cy="768350"/>
            <a:chOff x="1614" y="1484"/>
            <a:chExt cx="2604" cy="484"/>
          </a:xfrm>
        </p:grpSpPr>
        <p:sp>
          <p:nvSpPr>
            <p:cNvPr id="11" name="Rectangle 7"/>
            <p:cNvSpPr>
              <a:spLocks noChangeArrowheads="1"/>
            </p:cNvSpPr>
            <p:nvPr/>
          </p:nvSpPr>
          <p:spPr bwMode="auto">
            <a:xfrm rot="597975">
              <a:off x="2449" y="1520"/>
              <a:ext cx="129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sz="2000" b="1" kern="0">
                  <a:solidFill>
                    <a:srgbClr val="3333CC"/>
                  </a:solidFill>
                  <a:latin typeface="+mn-lt"/>
                  <a:ea typeface="黑体" panose="02010609060101010101" pitchFamily="2" charset="-122"/>
                </a:rPr>
                <a:t>FIN = 1, seq = u</a:t>
              </a:r>
            </a:p>
          </p:txBody>
        </p:sp>
        <p:sp>
          <p:nvSpPr>
            <p:cNvPr id="12" name="Line 8"/>
            <p:cNvSpPr>
              <a:spLocks noChangeShapeType="1"/>
            </p:cNvSpPr>
            <p:nvPr/>
          </p:nvSpPr>
          <p:spPr bwMode="auto">
            <a:xfrm>
              <a:off x="1614" y="1484"/>
              <a:ext cx="2604" cy="484"/>
            </a:xfrm>
            <a:prstGeom prst="line">
              <a:avLst/>
            </a:prstGeom>
            <a:noFill/>
            <a:ln w="381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sp>
        <p:nvSpPr>
          <p:cNvPr id="13" name="Rectangle 9"/>
          <p:cNvSpPr>
            <a:spLocks noChangeArrowheads="1"/>
          </p:cNvSpPr>
          <p:nvPr/>
        </p:nvSpPr>
        <p:spPr bwMode="auto">
          <a:xfrm>
            <a:off x="1976438" y="1611313"/>
            <a:ext cx="954087" cy="673100"/>
          </a:xfrm>
          <a:prstGeom prst="rect">
            <a:avLst/>
          </a:prstGeom>
          <a:solidFill>
            <a:srgbClr val="CCFF99"/>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14" name="Rectangle 10"/>
          <p:cNvSpPr>
            <a:spLocks noChangeArrowheads="1"/>
          </p:cNvSpPr>
          <p:nvPr/>
        </p:nvSpPr>
        <p:spPr bwMode="auto">
          <a:xfrm>
            <a:off x="7062788" y="1611313"/>
            <a:ext cx="955675" cy="1479550"/>
          </a:xfrm>
          <a:prstGeom prst="rect">
            <a:avLst/>
          </a:prstGeom>
          <a:solidFill>
            <a:srgbClr val="CCFF99"/>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nvGrpSpPr>
          <p:cNvPr id="1584138" name="Group 11"/>
          <p:cNvGrpSpPr>
            <a:grpSpLocks/>
          </p:cNvGrpSpPr>
          <p:nvPr/>
        </p:nvGrpSpPr>
        <p:grpSpPr bwMode="auto">
          <a:xfrm>
            <a:off x="1878013" y="1528763"/>
            <a:ext cx="6278562" cy="82550"/>
            <a:chOff x="1020" y="481"/>
            <a:chExt cx="4037" cy="46"/>
          </a:xfrm>
        </p:grpSpPr>
        <p:sp>
          <p:nvSpPr>
            <p:cNvPr id="16" name="Line 12"/>
            <p:cNvSpPr>
              <a:spLocks noChangeShapeType="1"/>
            </p:cNvSpPr>
            <p:nvPr/>
          </p:nvSpPr>
          <p:spPr bwMode="auto">
            <a:xfrm>
              <a:off x="1020" y="527"/>
              <a:ext cx="4037" cy="0"/>
            </a:xfrm>
            <a:prstGeom prst="line">
              <a:avLst/>
            </a:prstGeom>
            <a:noFill/>
            <a:ln w="12700">
              <a:solidFill>
                <a:srgbClr val="33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17" name="Line 13"/>
            <p:cNvSpPr>
              <a:spLocks noChangeShapeType="1"/>
            </p:cNvSpPr>
            <p:nvPr/>
          </p:nvSpPr>
          <p:spPr bwMode="auto">
            <a:xfrm>
              <a:off x="1020" y="481"/>
              <a:ext cx="4037" cy="0"/>
            </a:xfrm>
            <a:prstGeom prst="line">
              <a:avLst/>
            </a:prstGeom>
            <a:noFill/>
            <a:ln w="12700">
              <a:solidFill>
                <a:srgbClr val="33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grpSp>
        <p:nvGrpSpPr>
          <p:cNvPr id="19" name="Group 15"/>
          <p:cNvGrpSpPr>
            <a:grpSpLocks/>
          </p:cNvGrpSpPr>
          <p:nvPr/>
        </p:nvGrpSpPr>
        <p:grpSpPr bwMode="auto">
          <a:xfrm>
            <a:off x="868363" y="1257300"/>
            <a:ext cx="1403350" cy="1082675"/>
            <a:chOff x="314" y="792"/>
            <a:chExt cx="884" cy="682"/>
          </a:xfrm>
        </p:grpSpPr>
        <p:sp>
          <p:nvSpPr>
            <p:cNvPr id="20" name="Freeform 16"/>
            <p:cNvSpPr/>
            <p:nvPr/>
          </p:nvSpPr>
          <p:spPr bwMode="auto">
            <a:xfrm>
              <a:off x="349" y="792"/>
              <a:ext cx="849"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21" name="Rectangle 17"/>
            <p:cNvSpPr>
              <a:spLocks noChangeArrowheads="1"/>
            </p:cNvSpPr>
            <p:nvPr/>
          </p:nvSpPr>
          <p:spPr bwMode="auto">
            <a:xfrm>
              <a:off x="314" y="1227"/>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dirty="0">
                  <a:solidFill>
                    <a:srgbClr val="3333CC"/>
                  </a:solidFill>
                  <a:latin typeface="+mn-lt"/>
                  <a:ea typeface="黑体" panose="02010609060101010101" pitchFamily="2" charset="-122"/>
                </a:rPr>
                <a:t>主动关闭</a:t>
              </a:r>
            </a:p>
          </p:txBody>
        </p:sp>
      </p:grpSp>
      <p:sp>
        <p:nvSpPr>
          <p:cNvPr id="22" name="Rectangle 18"/>
          <p:cNvSpPr>
            <a:spLocks noChangeArrowheads="1"/>
          </p:cNvSpPr>
          <p:nvPr/>
        </p:nvSpPr>
        <p:spPr bwMode="auto">
          <a:xfrm>
            <a:off x="4500563" y="1778000"/>
            <a:ext cx="1216025" cy="396875"/>
          </a:xfrm>
          <a:prstGeom prst="rect">
            <a:avLst/>
          </a:prstGeom>
          <a:solidFill>
            <a:srgbClr val="CCECFF"/>
          </a:solidFill>
          <a:ln w="38100" cmpd="dbl" algn="ctr">
            <a:solidFill>
              <a:srgbClr val="3333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sz="2000" b="1" kern="0">
                <a:solidFill>
                  <a:srgbClr val="3333CC"/>
                </a:solidFill>
                <a:latin typeface="+mn-lt"/>
                <a:ea typeface="黑体" panose="02010609060101010101" pitchFamily="2" charset="-122"/>
              </a:rPr>
              <a:t>数据传送</a:t>
            </a:r>
          </a:p>
        </p:txBody>
      </p:sp>
      <p:sp>
        <p:nvSpPr>
          <p:cNvPr id="23" name="Rectangle 19"/>
          <p:cNvSpPr>
            <a:spLocks noChangeArrowheads="1"/>
          </p:cNvSpPr>
          <p:nvPr/>
        </p:nvSpPr>
        <p:spPr bwMode="auto">
          <a:xfrm>
            <a:off x="1957388" y="1622425"/>
            <a:ext cx="1042987"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ESTAB-</a:t>
            </a:r>
          </a:p>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LISHED</a:t>
            </a:r>
          </a:p>
        </p:txBody>
      </p:sp>
      <p:sp>
        <p:nvSpPr>
          <p:cNvPr id="24" name="Rectangle 20"/>
          <p:cNvSpPr>
            <a:spLocks noChangeArrowheads="1"/>
          </p:cNvSpPr>
          <p:nvPr/>
        </p:nvSpPr>
        <p:spPr bwMode="auto">
          <a:xfrm>
            <a:off x="7043738" y="2058988"/>
            <a:ext cx="1042987"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ESTAB-</a:t>
            </a:r>
          </a:p>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LISHED</a:t>
            </a:r>
          </a:p>
        </p:txBody>
      </p:sp>
      <p:pic>
        <p:nvPicPr>
          <p:cNvPr id="1584147" name="Picture 21"/>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01863" y="969963"/>
            <a:ext cx="504825"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84148" name="Picture 2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88213" y="969963"/>
            <a:ext cx="504825"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Rectangle 23"/>
          <p:cNvSpPr>
            <a:spLocks noChangeArrowheads="1"/>
          </p:cNvSpPr>
          <p:nvPr/>
        </p:nvSpPr>
        <p:spPr bwMode="auto">
          <a:xfrm>
            <a:off x="2592388" y="938213"/>
            <a:ext cx="35083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A</a:t>
            </a:r>
          </a:p>
        </p:txBody>
      </p:sp>
      <p:sp>
        <p:nvSpPr>
          <p:cNvPr id="28" name="Rectangle 24"/>
          <p:cNvSpPr>
            <a:spLocks noChangeArrowheads="1"/>
          </p:cNvSpPr>
          <p:nvPr/>
        </p:nvSpPr>
        <p:spPr bwMode="auto">
          <a:xfrm>
            <a:off x="7092950" y="938213"/>
            <a:ext cx="3508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B</a:t>
            </a:r>
          </a:p>
        </p:txBody>
      </p:sp>
      <p:sp>
        <p:nvSpPr>
          <p:cNvPr id="29" name="Rectangle 25"/>
          <p:cNvSpPr>
            <a:spLocks noChangeArrowheads="1"/>
          </p:cNvSpPr>
          <p:nvPr/>
        </p:nvSpPr>
        <p:spPr bwMode="auto">
          <a:xfrm>
            <a:off x="2136775" y="647700"/>
            <a:ext cx="6477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客户</a:t>
            </a:r>
          </a:p>
        </p:txBody>
      </p:sp>
      <p:sp>
        <p:nvSpPr>
          <p:cNvPr id="30" name="Rectangle 26"/>
          <p:cNvSpPr>
            <a:spLocks noChangeArrowheads="1"/>
          </p:cNvSpPr>
          <p:nvPr/>
        </p:nvSpPr>
        <p:spPr bwMode="auto">
          <a:xfrm>
            <a:off x="7104063" y="647700"/>
            <a:ext cx="8810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服务器</a:t>
            </a:r>
          </a:p>
        </p:txBody>
      </p:sp>
      <p:sp>
        <p:nvSpPr>
          <p:cNvPr id="32" name="Text Box 28"/>
          <p:cNvSpPr txBox="1">
            <a:spLocks noChangeArrowheads="1"/>
          </p:cNvSpPr>
          <p:nvPr/>
        </p:nvSpPr>
        <p:spPr bwMode="auto">
          <a:xfrm>
            <a:off x="2854325" y="66675"/>
            <a:ext cx="45021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en-US" altLang="zh-CN" sz="3200" kern="0">
                <a:solidFill>
                  <a:srgbClr val="3333CC"/>
                </a:solidFill>
                <a:latin typeface="Arial" panose="020B0604020202020204" pitchFamily="34" charset="0"/>
                <a:ea typeface="黑体" panose="02010609060101010101" pitchFamily="2" charset="-122"/>
              </a:rPr>
              <a:t>5.9.2   TCP </a:t>
            </a:r>
            <a:r>
              <a:rPr kumimoji="0" lang="zh-CN" altLang="en-US" sz="3200" kern="0">
                <a:solidFill>
                  <a:srgbClr val="3333CC"/>
                </a:solidFill>
                <a:latin typeface="Arial" panose="020B0604020202020204" pitchFamily="34" charset="0"/>
                <a:ea typeface="黑体" panose="02010609060101010101" pitchFamily="2" charset="-122"/>
              </a:rPr>
              <a:t>的连接释放 </a:t>
            </a:r>
          </a:p>
        </p:txBody>
      </p:sp>
      <p:sp>
        <p:nvSpPr>
          <p:cNvPr id="33" name="Text Box 29"/>
          <p:cNvSpPr txBox="1">
            <a:spLocks noChangeArrowheads="1"/>
          </p:cNvSpPr>
          <p:nvPr/>
        </p:nvSpPr>
        <p:spPr bwMode="auto">
          <a:xfrm>
            <a:off x="1263650" y="3727450"/>
            <a:ext cx="7721600" cy="2678113"/>
          </a:xfrm>
          <a:prstGeom prst="rect">
            <a:avLst/>
          </a:prstGeom>
          <a:solidFill>
            <a:srgbClr val="FFFF99"/>
          </a:solidFill>
          <a:ln w="9525">
            <a:solidFill>
              <a:srgbClr val="3333CC"/>
            </a:solidFill>
            <a:miter lim="800000"/>
          </a:ln>
          <a:effectLst>
            <a:outerShdw dist="35921" dir="2700000" algn="ctr" rotWithShape="0">
              <a:srgbClr val="1C1C1C"/>
            </a:outerShdw>
          </a:effec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buFontTx/>
              <a:buChar char="•"/>
              <a:defRPr/>
            </a:pPr>
            <a:r>
              <a:rPr kumimoji="0" lang="en-US" altLang="zh-CN" sz="2800" kern="0" dirty="0">
                <a:solidFill>
                  <a:srgbClr val="000099"/>
                </a:solidFill>
                <a:latin typeface="Arial" panose="020B0604020202020204" pitchFamily="34" charset="0"/>
                <a:ea typeface="黑体" panose="02010609060101010101" pitchFamily="2" charset="-122"/>
              </a:rPr>
              <a:t>  </a:t>
            </a:r>
            <a:r>
              <a:rPr kumimoji="0" lang="zh-CN" altLang="en-US" sz="2800" kern="0" dirty="0">
                <a:solidFill>
                  <a:srgbClr val="000099"/>
                </a:solidFill>
                <a:latin typeface="Arial" panose="020B0604020202020204" pitchFamily="34" charset="0"/>
                <a:ea typeface="黑体" panose="02010609060101010101" pitchFamily="2" charset="-122"/>
              </a:rPr>
              <a:t>数据传输结束后，</a:t>
            </a:r>
            <a:r>
              <a:rPr kumimoji="0" lang="zh-CN" altLang="en-US" sz="2800" kern="0" dirty="0">
                <a:solidFill>
                  <a:srgbClr val="FF0000"/>
                </a:solidFill>
                <a:latin typeface="Arial" panose="020B0604020202020204" pitchFamily="34" charset="0"/>
                <a:ea typeface="黑体" panose="02010609060101010101" pitchFamily="2" charset="-122"/>
              </a:rPr>
              <a:t>通信的双方都可释放连接</a:t>
            </a:r>
            <a:r>
              <a:rPr kumimoji="0" lang="zh-CN" altLang="en-US" sz="2800" kern="0" dirty="0">
                <a:solidFill>
                  <a:srgbClr val="000099"/>
                </a:solidFill>
                <a:latin typeface="Arial" panose="020B0604020202020204" pitchFamily="34" charset="0"/>
                <a:ea typeface="黑体" panose="02010609060101010101" pitchFamily="2" charset="-122"/>
              </a:rPr>
              <a:t>。</a:t>
            </a:r>
            <a:endParaRPr kumimoji="0" lang="en-US" altLang="zh-CN" sz="2800" kern="0" dirty="0">
              <a:solidFill>
                <a:srgbClr val="000099"/>
              </a:solidFill>
              <a:latin typeface="Arial" panose="020B0604020202020204" pitchFamily="34" charset="0"/>
              <a:ea typeface="黑体" panose="02010609060101010101" pitchFamily="2" charset="-122"/>
            </a:endParaRPr>
          </a:p>
          <a:p>
            <a:pPr eaLnBrk="1" fontAlgn="auto" hangingPunct="1">
              <a:spcBef>
                <a:spcPts val="0"/>
              </a:spcBef>
              <a:spcAft>
                <a:spcPts val="0"/>
              </a:spcAft>
              <a:buFontTx/>
              <a:buChar char="•"/>
              <a:defRPr/>
            </a:pPr>
            <a:r>
              <a:rPr kumimoji="0" lang="en-US" altLang="zh-CN" sz="2800" kern="0" noProof="1">
                <a:solidFill>
                  <a:srgbClr val="000099"/>
                </a:solidFill>
                <a:latin typeface="Arial" panose="020B0604020202020204" pitchFamily="34" charset="0"/>
                <a:ea typeface="黑体" panose="02010609060101010101" pitchFamily="2" charset="-122"/>
              </a:rPr>
              <a:t>  </a:t>
            </a:r>
            <a:r>
              <a:rPr kumimoji="0" lang="zh-CN" altLang="en-US" sz="2800" kern="0" dirty="0">
                <a:solidFill>
                  <a:srgbClr val="000099"/>
                </a:solidFill>
                <a:latin typeface="Arial" panose="020B0604020202020204" pitchFamily="34" charset="0"/>
                <a:ea typeface="黑体" panose="02010609060101010101" pitchFamily="2" charset="-122"/>
              </a:rPr>
              <a:t>现在 </a:t>
            </a:r>
            <a:r>
              <a:rPr kumimoji="0" lang="en-US" altLang="zh-CN" sz="2800" kern="0" dirty="0">
                <a:solidFill>
                  <a:srgbClr val="000099"/>
                </a:solidFill>
                <a:latin typeface="Arial" panose="020B0604020202020204" pitchFamily="34" charset="0"/>
                <a:ea typeface="黑体" panose="02010609060101010101" pitchFamily="2" charset="-122"/>
              </a:rPr>
              <a:t>A </a:t>
            </a:r>
            <a:r>
              <a:rPr kumimoji="0" lang="zh-CN" altLang="en-US" sz="2800" kern="0" dirty="0">
                <a:solidFill>
                  <a:srgbClr val="000099"/>
                </a:solidFill>
                <a:latin typeface="Arial" panose="020B0604020202020204" pitchFamily="34" charset="0"/>
                <a:ea typeface="黑体" panose="02010609060101010101" pitchFamily="2" charset="-122"/>
              </a:rPr>
              <a:t>的应用进程先向其 </a:t>
            </a:r>
            <a:r>
              <a:rPr kumimoji="0" lang="en-US" altLang="zh-CN" sz="2800" kern="0" dirty="0">
                <a:solidFill>
                  <a:srgbClr val="000099"/>
                </a:solidFill>
                <a:latin typeface="Arial" panose="020B0604020202020204" pitchFamily="34" charset="0"/>
                <a:ea typeface="黑体" panose="02010609060101010101" pitchFamily="2" charset="-122"/>
              </a:rPr>
              <a:t>TCP </a:t>
            </a:r>
            <a:r>
              <a:rPr kumimoji="0" lang="zh-CN" altLang="en-US" sz="2800" kern="0" dirty="0">
                <a:solidFill>
                  <a:srgbClr val="000099"/>
                </a:solidFill>
                <a:latin typeface="Arial" panose="020B0604020202020204" pitchFamily="34" charset="0"/>
                <a:ea typeface="黑体" panose="02010609060101010101" pitchFamily="2" charset="-122"/>
              </a:rPr>
              <a:t>发出连接释放</a:t>
            </a:r>
          </a:p>
          <a:p>
            <a:pPr eaLnBrk="1" fontAlgn="auto" hangingPunct="1">
              <a:spcBef>
                <a:spcPts val="0"/>
              </a:spcBef>
              <a:spcAft>
                <a:spcPts val="0"/>
              </a:spcAft>
              <a:defRPr/>
            </a:pPr>
            <a:r>
              <a:rPr kumimoji="0" lang="zh-CN" altLang="en-US" sz="2800" kern="0" dirty="0">
                <a:solidFill>
                  <a:srgbClr val="000099"/>
                </a:solidFill>
                <a:latin typeface="Arial" panose="020B0604020202020204" pitchFamily="34" charset="0"/>
                <a:ea typeface="黑体" panose="02010609060101010101" pitchFamily="2" charset="-122"/>
              </a:rPr>
              <a:t>   报文段，并停止再发送数据，主动关闭 </a:t>
            </a:r>
            <a:r>
              <a:rPr kumimoji="0" lang="en-US" altLang="zh-CN" sz="2800" kern="0" dirty="0">
                <a:solidFill>
                  <a:srgbClr val="000099"/>
                </a:solidFill>
                <a:latin typeface="Arial" panose="020B0604020202020204" pitchFamily="34" charset="0"/>
                <a:ea typeface="黑体" panose="02010609060101010101" pitchFamily="2" charset="-122"/>
              </a:rPr>
              <a:t>TCP </a:t>
            </a:r>
          </a:p>
          <a:p>
            <a:pPr eaLnBrk="1" fontAlgn="auto" hangingPunct="1">
              <a:spcBef>
                <a:spcPts val="0"/>
              </a:spcBef>
              <a:spcAft>
                <a:spcPts val="0"/>
              </a:spcAft>
              <a:defRPr/>
            </a:pPr>
            <a:r>
              <a:rPr kumimoji="0" lang="en-US" altLang="zh-CN" sz="2800" kern="0" dirty="0">
                <a:solidFill>
                  <a:srgbClr val="000099"/>
                </a:solidFill>
                <a:latin typeface="Arial" panose="020B0604020202020204" pitchFamily="34" charset="0"/>
                <a:ea typeface="黑体" panose="02010609060101010101" pitchFamily="2" charset="-122"/>
              </a:rPr>
              <a:t>   </a:t>
            </a:r>
            <a:r>
              <a:rPr kumimoji="0" lang="zh-CN" altLang="en-US" sz="2800" kern="0" dirty="0">
                <a:solidFill>
                  <a:srgbClr val="000099"/>
                </a:solidFill>
                <a:latin typeface="Arial" panose="020B0604020202020204" pitchFamily="34" charset="0"/>
                <a:ea typeface="黑体" panose="02010609060101010101" pitchFamily="2" charset="-122"/>
              </a:rPr>
              <a:t>连接。</a:t>
            </a:r>
          </a:p>
          <a:p>
            <a:pPr eaLnBrk="1" fontAlgn="auto" hangingPunct="1">
              <a:spcBef>
                <a:spcPts val="0"/>
              </a:spcBef>
              <a:spcAft>
                <a:spcPts val="0"/>
              </a:spcAft>
              <a:buFontTx/>
              <a:buChar char="•"/>
              <a:defRPr/>
            </a:pPr>
            <a:r>
              <a:rPr kumimoji="0" lang="zh-CN" altLang="en-US" sz="2800" kern="0" dirty="0">
                <a:solidFill>
                  <a:srgbClr val="000099"/>
                </a:solidFill>
                <a:latin typeface="Arial" panose="020B0604020202020204" pitchFamily="34" charset="0"/>
                <a:ea typeface="黑体" panose="02010609060101010101" pitchFamily="2" charset="-122"/>
              </a:rPr>
              <a:t>  </a:t>
            </a:r>
            <a:r>
              <a:rPr kumimoji="0" lang="en-US" altLang="zh-CN" sz="2800" kern="0" dirty="0">
                <a:solidFill>
                  <a:srgbClr val="000099"/>
                </a:solidFill>
                <a:latin typeface="Arial" panose="020B0604020202020204" pitchFamily="34" charset="0"/>
                <a:ea typeface="黑体" panose="02010609060101010101" pitchFamily="2" charset="-122"/>
              </a:rPr>
              <a:t>A </a:t>
            </a:r>
            <a:r>
              <a:rPr kumimoji="0" lang="zh-CN" altLang="en-US" sz="2800" kern="0" dirty="0">
                <a:solidFill>
                  <a:srgbClr val="000099"/>
                </a:solidFill>
                <a:latin typeface="Arial" panose="020B0604020202020204" pitchFamily="34" charset="0"/>
                <a:ea typeface="黑体" panose="02010609060101010101" pitchFamily="2" charset="-122"/>
              </a:rPr>
              <a:t>把连接释放报文段首部的 </a:t>
            </a:r>
            <a:r>
              <a:rPr kumimoji="0" lang="en-US" altLang="zh-CN" sz="2800" kern="0" dirty="0">
                <a:solidFill>
                  <a:srgbClr val="000099"/>
                </a:solidFill>
                <a:latin typeface="Arial" panose="020B0604020202020204" pitchFamily="34" charset="0"/>
                <a:ea typeface="黑体" panose="02010609060101010101" pitchFamily="2" charset="-122"/>
              </a:rPr>
              <a:t>FIN = 1</a:t>
            </a:r>
            <a:r>
              <a:rPr kumimoji="0" lang="zh-CN" altLang="en-US" sz="2800" kern="0" dirty="0">
                <a:solidFill>
                  <a:srgbClr val="000099"/>
                </a:solidFill>
                <a:latin typeface="Arial" panose="020B0604020202020204" pitchFamily="34" charset="0"/>
                <a:ea typeface="黑体" panose="02010609060101010101" pitchFamily="2" charset="-122"/>
              </a:rPr>
              <a:t>，其序号</a:t>
            </a:r>
          </a:p>
          <a:p>
            <a:pPr eaLnBrk="1" fontAlgn="auto" hangingPunct="1">
              <a:spcBef>
                <a:spcPts val="0"/>
              </a:spcBef>
              <a:spcAft>
                <a:spcPts val="0"/>
              </a:spcAft>
              <a:defRPr/>
            </a:pPr>
            <a:r>
              <a:rPr kumimoji="0" lang="zh-CN" altLang="en-US" sz="2800" kern="0" dirty="0">
                <a:solidFill>
                  <a:srgbClr val="000099"/>
                </a:solidFill>
                <a:latin typeface="Arial" panose="020B0604020202020204" pitchFamily="34" charset="0"/>
                <a:ea typeface="黑体" panose="02010609060101010101" pitchFamily="2" charset="-122"/>
              </a:rPr>
              <a:t>   </a:t>
            </a:r>
            <a:r>
              <a:rPr kumimoji="0" lang="en-US" altLang="zh-CN" sz="2800" kern="0" dirty="0" err="1">
                <a:solidFill>
                  <a:srgbClr val="000099"/>
                </a:solidFill>
                <a:latin typeface="Arial" panose="020B0604020202020204" pitchFamily="34" charset="0"/>
                <a:ea typeface="黑体" panose="02010609060101010101" pitchFamily="2" charset="-122"/>
              </a:rPr>
              <a:t>seq</a:t>
            </a:r>
            <a:r>
              <a:rPr kumimoji="0" lang="en-US" altLang="zh-CN" sz="2800" kern="0" dirty="0">
                <a:solidFill>
                  <a:srgbClr val="000099"/>
                </a:solidFill>
                <a:latin typeface="Arial" panose="020B0604020202020204" pitchFamily="34" charset="0"/>
                <a:ea typeface="黑体" panose="02010609060101010101" pitchFamily="2" charset="-122"/>
              </a:rPr>
              <a:t> = u</a:t>
            </a:r>
            <a:r>
              <a:rPr kumimoji="0" lang="zh-CN" altLang="en-US" sz="2800" kern="0" dirty="0">
                <a:solidFill>
                  <a:srgbClr val="000099"/>
                </a:solidFill>
                <a:latin typeface="Arial" panose="020B0604020202020204" pitchFamily="34" charset="0"/>
                <a:ea typeface="黑体" panose="02010609060101010101" pitchFamily="2" charset="-122"/>
              </a:rPr>
              <a:t>，等待 </a:t>
            </a:r>
            <a:r>
              <a:rPr kumimoji="0" lang="en-US" altLang="zh-CN" sz="2800" kern="0" dirty="0">
                <a:solidFill>
                  <a:srgbClr val="000099"/>
                </a:solidFill>
                <a:latin typeface="Arial" panose="020B0604020202020204" pitchFamily="34" charset="0"/>
                <a:ea typeface="黑体" panose="02010609060101010101" pitchFamily="2" charset="-122"/>
              </a:rPr>
              <a:t>B </a:t>
            </a:r>
            <a:r>
              <a:rPr kumimoji="0" lang="zh-CN" altLang="en-US" sz="2800" kern="0" dirty="0">
                <a:solidFill>
                  <a:srgbClr val="000099"/>
                </a:solidFill>
                <a:latin typeface="Arial" panose="020B0604020202020204" pitchFamily="34" charset="0"/>
                <a:ea typeface="黑体" panose="02010609060101010101" pitchFamily="2" charset="-122"/>
              </a:rPr>
              <a:t>的确认。</a:t>
            </a:r>
          </a:p>
        </p:txBody>
      </p:sp>
      <p:sp>
        <p:nvSpPr>
          <p:cNvPr id="34" name="Text Box 30"/>
          <p:cNvSpPr txBox="1">
            <a:spLocks noChangeArrowheads="1"/>
          </p:cNvSpPr>
          <p:nvPr/>
        </p:nvSpPr>
        <p:spPr bwMode="auto">
          <a:xfrm>
            <a:off x="1131888" y="34925"/>
            <a:ext cx="7924800" cy="650875"/>
          </a:xfrm>
          <a:prstGeom prst="rect">
            <a:avLst/>
          </a:prstGeom>
          <a:solidFill>
            <a:srgbClr val="FFFF99"/>
          </a:solidFill>
          <a:ln w="9525">
            <a:solidFill>
              <a:srgbClr val="3333CC"/>
            </a:solidFill>
            <a:miter lim="800000"/>
          </a:ln>
          <a:effectLst>
            <a:outerShdw dist="35921" dir="2700000" algn="ctr" rotWithShape="0">
              <a:srgbClr val="1C1C1C"/>
            </a:outerShdw>
          </a:effec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en-US" altLang="zh-CN" sz="3600" kern="0" dirty="0">
                <a:solidFill>
                  <a:srgbClr val="333399"/>
                </a:solidFill>
                <a:latin typeface="Arial" panose="020B0604020202020204" pitchFamily="34" charset="0"/>
                <a:ea typeface="黑体" panose="02010609060101010101" pitchFamily="2" charset="-122"/>
              </a:rPr>
              <a:t>TCP </a:t>
            </a:r>
            <a:r>
              <a:rPr kumimoji="0" lang="zh-CN" altLang="en-US" sz="3600" kern="0" dirty="0">
                <a:solidFill>
                  <a:srgbClr val="333399"/>
                </a:solidFill>
                <a:latin typeface="Arial" panose="020B0604020202020204" pitchFamily="34" charset="0"/>
                <a:ea typeface="黑体" panose="02010609060101010101" pitchFamily="2" charset="-122"/>
              </a:rPr>
              <a:t>的连接释放：采用</a:t>
            </a:r>
            <a:r>
              <a:rPr kumimoji="0" lang="zh-CN" altLang="zh-CN" sz="3600" kern="0" noProof="1">
                <a:solidFill>
                  <a:srgbClr val="FF0000"/>
                </a:solidFill>
                <a:latin typeface="Arial" panose="020B0604020202020204" pitchFamily="34" charset="0"/>
                <a:ea typeface="黑体" panose="02010609060101010101" pitchFamily="2" charset="-122"/>
              </a:rPr>
              <a:t>四报文握手</a:t>
            </a:r>
            <a:endParaRPr kumimoji="0" lang="zh-CN" altLang="en-US" sz="3600" kern="0" noProof="1">
              <a:solidFill>
                <a:srgbClr val="FF0000"/>
              </a:solidFill>
              <a:latin typeface="Arial" panose="020B0604020202020204" pitchFamily="34" charset="0"/>
              <a:ea typeface="黑体" panose="02010609060101010101" pitchFamily="2" charset="-122"/>
            </a:endParaRPr>
          </a:p>
        </p:txBody>
      </p:sp>
      <p:sp>
        <p:nvSpPr>
          <p:cNvPr id="1584156"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49F39542-A844-44D3-A6C0-9E6BE545D06A}" type="slidenum">
              <a:rPr lang="zh-CN" altLang="en-US" smtClean="0"/>
              <a:pPr/>
              <a:t>15</a:t>
            </a:fld>
            <a:endParaRPr lang="en-US" altLang="zh-CN" smtClean="0"/>
          </a:p>
        </p:txBody>
      </p:sp>
      <p:sp>
        <p:nvSpPr>
          <p:cNvPr id="1584157"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1500"/>
                                  </p:stCondLst>
                                  <p:childTnLst>
                                    <p:set>
                                      <p:cBhvr>
                                        <p:cTn id="6" dur="1" fill="hold">
                                          <p:stCondLst>
                                            <p:cond delay="0"/>
                                          </p:stCondLst>
                                        </p:cTn>
                                        <p:tgtEl>
                                          <p:spTgt spid="19"/>
                                        </p:tgtEl>
                                        <p:attrNameLst>
                                          <p:attrName>style.visibility</p:attrName>
                                        </p:attrNameLst>
                                      </p:cBhvr>
                                      <p:to>
                                        <p:strVal val="visible"/>
                                      </p:to>
                                    </p:set>
                                    <p:animEffect transition="in" filter="wipe(up)">
                                      <p:cBhvr>
                                        <p:cTn id="7" dur="1000"/>
                                        <p:tgtEl>
                                          <p:spTgt spid="19"/>
                                        </p:tgtEl>
                                      </p:cBhvr>
                                    </p:animEffect>
                                  </p:childTnLst>
                                </p:cTn>
                              </p:par>
                            </p:childTnLst>
                          </p:cTn>
                        </p:par>
                        <p:par>
                          <p:cTn id="8" fill="hold" nodeType="afterGroup">
                            <p:stCondLst>
                              <p:cond delay="2500"/>
                            </p:stCondLst>
                            <p:childTnLst>
                              <p:par>
                                <p:cTn id="9" presetID="22" presetClass="entr" presetSubtype="8"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left)">
                                      <p:cBhvr>
                                        <p:cTn id="11"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85153" name="Group 2"/>
          <p:cNvGrpSpPr>
            <a:grpSpLocks/>
          </p:cNvGrpSpPr>
          <p:nvPr/>
        </p:nvGrpSpPr>
        <p:grpSpPr bwMode="auto">
          <a:xfrm>
            <a:off x="2890838" y="2349500"/>
            <a:ext cx="4248150" cy="4062413"/>
            <a:chOff x="1474" y="1888"/>
            <a:chExt cx="2676" cy="2432"/>
          </a:xfrm>
        </p:grpSpPr>
        <p:sp>
          <p:nvSpPr>
            <p:cNvPr id="5" name="Line 3"/>
            <p:cNvSpPr>
              <a:spLocks noChangeShapeType="1"/>
            </p:cNvSpPr>
            <p:nvPr/>
          </p:nvSpPr>
          <p:spPr bwMode="auto">
            <a:xfrm>
              <a:off x="1474" y="1888"/>
              <a:ext cx="0" cy="2432"/>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6" name="Line 4"/>
            <p:cNvSpPr>
              <a:spLocks noChangeShapeType="1"/>
            </p:cNvSpPr>
            <p:nvPr/>
          </p:nvSpPr>
          <p:spPr bwMode="auto">
            <a:xfrm>
              <a:off x="4150" y="1888"/>
              <a:ext cx="0" cy="2432"/>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sp>
        <p:nvSpPr>
          <p:cNvPr id="7" name="AutoShape 5"/>
          <p:cNvSpPr>
            <a:spLocks noChangeArrowheads="1"/>
          </p:cNvSpPr>
          <p:nvPr/>
        </p:nvSpPr>
        <p:spPr bwMode="auto">
          <a:xfrm>
            <a:off x="3876675" y="1863725"/>
            <a:ext cx="2384425" cy="252413"/>
          </a:xfrm>
          <a:prstGeom prst="leftRightArrow">
            <a:avLst>
              <a:gd name="adj1" fmla="val 55880"/>
              <a:gd name="adj2" fmla="val 108285"/>
            </a:avLst>
          </a:prstGeom>
          <a:solidFill>
            <a:srgbClr val="FF0000"/>
          </a:solidFill>
          <a:ln w="12700" algn="ctr">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nvGrpSpPr>
          <p:cNvPr id="1585157" name="Group 6"/>
          <p:cNvGrpSpPr>
            <a:grpSpLocks/>
          </p:cNvGrpSpPr>
          <p:nvPr/>
        </p:nvGrpSpPr>
        <p:grpSpPr bwMode="auto">
          <a:xfrm>
            <a:off x="2943225" y="2355850"/>
            <a:ext cx="4133850" cy="768350"/>
            <a:chOff x="1614" y="1484"/>
            <a:chExt cx="2604" cy="484"/>
          </a:xfrm>
        </p:grpSpPr>
        <p:sp>
          <p:nvSpPr>
            <p:cNvPr id="9" name="Rectangle 7"/>
            <p:cNvSpPr>
              <a:spLocks noChangeArrowheads="1"/>
            </p:cNvSpPr>
            <p:nvPr/>
          </p:nvSpPr>
          <p:spPr bwMode="auto">
            <a:xfrm rot="597975">
              <a:off x="2449" y="1520"/>
              <a:ext cx="129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sz="2000" b="1" kern="0">
                  <a:solidFill>
                    <a:srgbClr val="3333CC"/>
                  </a:solidFill>
                  <a:latin typeface="+mn-lt"/>
                  <a:ea typeface="黑体" panose="02010609060101010101" pitchFamily="2" charset="-122"/>
                </a:rPr>
                <a:t>FIN = 1, seq = u</a:t>
              </a:r>
            </a:p>
          </p:txBody>
        </p:sp>
        <p:sp>
          <p:nvSpPr>
            <p:cNvPr id="10" name="Line 8"/>
            <p:cNvSpPr>
              <a:spLocks noChangeShapeType="1"/>
            </p:cNvSpPr>
            <p:nvPr/>
          </p:nvSpPr>
          <p:spPr bwMode="auto">
            <a:xfrm>
              <a:off x="1614" y="1484"/>
              <a:ext cx="2604" cy="484"/>
            </a:xfrm>
            <a:prstGeom prst="line">
              <a:avLst/>
            </a:prstGeom>
            <a:noFill/>
            <a:ln w="381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grpSp>
        <p:nvGrpSpPr>
          <p:cNvPr id="11" name="Group 9"/>
          <p:cNvGrpSpPr>
            <a:grpSpLocks/>
          </p:cNvGrpSpPr>
          <p:nvPr/>
        </p:nvGrpSpPr>
        <p:grpSpPr bwMode="auto">
          <a:xfrm>
            <a:off x="2957513" y="3167063"/>
            <a:ext cx="4133850" cy="769937"/>
            <a:chOff x="1623" y="1995"/>
            <a:chExt cx="2604" cy="485"/>
          </a:xfrm>
        </p:grpSpPr>
        <p:sp>
          <p:nvSpPr>
            <p:cNvPr id="12" name="Rectangle 10"/>
            <p:cNvSpPr>
              <a:spLocks noChangeArrowheads="1"/>
            </p:cNvSpPr>
            <p:nvPr/>
          </p:nvSpPr>
          <p:spPr bwMode="auto">
            <a:xfrm rot="20990024" flipH="1">
              <a:off x="1828" y="2020"/>
              <a:ext cx="203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ACK = 1, seq = v, ack= u </a:t>
              </a:r>
              <a:r>
                <a:rPr lang="en-US" altLang="zh-CN" b="1" kern="0">
                  <a:solidFill>
                    <a:srgbClr val="3333CC"/>
                  </a:solidFill>
                  <a:latin typeface="+mn-lt"/>
                  <a:ea typeface="黑体" panose="02010609060101010101" pitchFamily="2" charset="-122"/>
                  <a:sym typeface="Symbol" panose="05050102010706020507" pitchFamily="18" charset="2"/>
                </a:rPr>
                <a:t> 1</a:t>
              </a:r>
              <a:endParaRPr lang="en-US" altLang="zh-CN" b="1" kern="0">
                <a:solidFill>
                  <a:srgbClr val="3333CC"/>
                </a:solidFill>
                <a:latin typeface="+mn-lt"/>
                <a:ea typeface="黑体" panose="02010609060101010101" pitchFamily="2" charset="-122"/>
              </a:endParaRPr>
            </a:p>
          </p:txBody>
        </p:sp>
        <p:sp>
          <p:nvSpPr>
            <p:cNvPr id="13" name="Line 11"/>
            <p:cNvSpPr>
              <a:spLocks noChangeShapeType="1"/>
            </p:cNvSpPr>
            <p:nvPr/>
          </p:nvSpPr>
          <p:spPr bwMode="auto">
            <a:xfrm flipH="1">
              <a:off x="1623" y="1995"/>
              <a:ext cx="2604" cy="485"/>
            </a:xfrm>
            <a:prstGeom prst="line">
              <a:avLst/>
            </a:prstGeom>
            <a:noFill/>
            <a:ln w="381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sp>
        <p:nvSpPr>
          <p:cNvPr id="14" name="Rectangle 12"/>
          <p:cNvSpPr>
            <a:spLocks noChangeArrowheads="1"/>
          </p:cNvSpPr>
          <p:nvPr/>
        </p:nvSpPr>
        <p:spPr bwMode="auto">
          <a:xfrm>
            <a:off x="1987550" y="1611313"/>
            <a:ext cx="954088" cy="673100"/>
          </a:xfrm>
          <a:prstGeom prst="rect">
            <a:avLst/>
          </a:prstGeom>
          <a:solidFill>
            <a:srgbClr val="CCFF99"/>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15" name="Rectangle 13"/>
          <p:cNvSpPr>
            <a:spLocks noChangeArrowheads="1"/>
          </p:cNvSpPr>
          <p:nvPr/>
        </p:nvSpPr>
        <p:spPr bwMode="auto">
          <a:xfrm>
            <a:off x="7073900" y="1611313"/>
            <a:ext cx="955675" cy="1479550"/>
          </a:xfrm>
          <a:prstGeom prst="rect">
            <a:avLst/>
          </a:prstGeom>
          <a:solidFill>
            <a:srgbClr val="CCFF99"/>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nvGrpSpPr>
          <p:cNvPr id="1585165" name="Group 14"/>
          <p:cNvGrpSpPr>
            <a:grpSpLocks/>
          </p:cNvGrpSpPr>
          <p:nvPr/>
        </p:nvGrpSpPr>
        <p:grpSpPr bwMode="auto">
          <a:xfrm>
            <a:off x="1889125" y="1528763"/>
            <a:ext cx="6278563" cy="82550"/>
            <a:chOff x="1020" y="481"/>
            <a:chExt cx="4037" cy="46"/>
          </a:xfrm>
        </p:grpSpPr>
        <p:sp>
          <p:nvSpPr>
            <p:cNvPr id="17" name="Line 15"/>
            <p:cNvSpPr>
              <a:spLocks noChangeShapeType="1"/>
            </p:cNvSpPr>
            <p:nvPr/>
          </p:nvSpPr>
          <p:spPr bwMode="auto">
            <a:xfrm>
              <a:off x="1020" y="527"/>
              <a:ext cx="4037" cy="0"/>
            </a:xfrm>
            <a:prstGeom prst="line">
              <a:avLst/>
            </a:prstGeom>
            <a:noFill/>
            <a:ln w="12700">
              <a:solidFill>
                <a:srgbClr val="33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18" name="Line 16"/>
            <p:cNvSpPr>
              <a:spLocks noChangeShapeType="1"/>
            </p:cNvSpPr>
            <p:nvPr/>
          </p:nvSpPr>
          <p:spPr bwMode="auto">
            <a:xfrm>
              <a:off x="1020" y="481"/>
              <a:ext cx="4037" cy="0"/>
            </a:xfrm>
            <a:prstGeom prst="line">
              <a:avLst/>
            </a:prstGeom>
            <a:noFill/>
            <a:ln w="12700">
              <a:solidFill>
                <a:srgbClr val="33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grpSp>
        <p:nvGrpSpPr>
          <p:cNvPr id="1585168" name="Group 17"/>
          <p:cNvGrpSpPr>
            <a:grpSpLocks/>
          </p:cNvGrpSpPr>
          <p:nvPr/>
        </p:nvGrpSpPr>
        <p:grpSpPr bwMode="auto">
          <a:xfrm>
            <a:off x="879475" y="1257300"/>
            <a:ext cx="1403350" cy="1082675"/>
            <a:chOff x="314" y="792"/>
            <a:chExt cx="884" cy="682"/>
          </a:xfrm>
        </p:grpSpPr>
        <p:sp>
          <p:nvSpPr>
            <p:cNvPr id="20" name="Freeform 18"/>
            <p:cNvSpPr/>
            <p:nvPr/>
          </p:nvSpPr>
          <p:spPr bwMode="auto">
            <a:xfrm>
              <a:off x="349" y="792"/>
              <a:ext cx="849"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21" name="Rectangle 19"/>
            <p:cNvSpPr>
              <a:spLocks noChangeArrowheads="1"/>
            </p:cNvSpPr>
            <p:nvPr/>
          </p:nvSpPr>
          <p:spPr bwMode="auto">
            <a:xfrm>
              <a:off x="314" y="1227"/>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主动关闭</a:t>
              </a:r>
            </a:p>
          </p:txBody>
        </p:sp>
      </p:grpSp>
      <p:sp>
        <p:nvSpPr>
          <p:cNvPr id="22" name="Rectangle 20"/>
          <p:cNvSpPr>
            <a:spLocks noChangeArrowheads="1"/>
          </p:cNvSpPr>
          <p:nvPr/>
        </p:nvSpPr>
        <p:spPr bwMode="auto">
          <a:xfrm>
            <a:off x="4511675" y="1778000"/>
            <a:ext cx="1216025" cy="396875"/>
          </a:xfrm>
          <a:prstGeom prst="rect">
            <a:avLst/>
          </a:prstGeom>
          <a:solidFill>
            <a:srgbClr val="CCECFF"/>
          </a:solidFill>
          <a:ln w="38100" cmpd="dbl" algn="ctr">
            <a:solidFill>
              <a:srgbClr val="3333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sz="2000" b="1" kern="0">
                <a:solidFill>
                  <a:srgbClr val="3333CC"/>
                </a:solidFill>
                <a:latin typeface="+mn-lt"/>
                <a:ea typeface="黑体" panose="02010609060101010101" pitchFamily="2" charset="-122"/>
              </a:rPr>
              <a:t>数据传送</a:t>
            </a:r>
          </a:p>
        </p:txBody>
      </p:sp>
      <p:sp>
        <p:nvSpPr>
          <p:cNvPr id="23" name="Freeform 21"/>
          <p:cNvSpPr/>
          <p:nvPr/>
        </p:nvSpPr>
        <p:spPr bwMode="auto">
          <a:xfrm>
            <a:off x="7834313" y="1376363"/>
            <a:ext cx="573087" cy="1789112"/>
          </a:xfrm>
          <a:custGeom>
            <a:avLst/>
            <a:gdLst>
              <a:gd name="T0" fmla="*/ 127070 w 451"/>
              <a:gd name="T1" fmla="*/ 1789112 h 965"/>
              <a:gd name="T2" fmla="*/ 426956 w 451"/>
              <a:gd name="T3" fmla="*/ 1657478 h 965"/>
              <a:gd name="T4" fmla="*/ 541319 w 451"/>
              <a:gd name="T5" fmla="*/ 1312633 h 965"/>
              <a:gd name="T6" fmla="*/ 573087 w 451"/>
              <a:gd name="T7" fmla="*/ 773119 h 965"/>
              <a:gd name="T8" fmla="*/ 541319 w 451"/>
              <a:gd name="T9" fmla="*/ 383778 h 965"/>
              <a:gd name="T10" fmla="*/ 426956 w 451"/>
              <a:gd name="T11" fmla="*/ 133488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24" name="Rectangle 22"/>
          <p:cNvSpPr>
            <a:spLocks noChangeArrowheads="1"/>
          </p:cNvSpPr>
          <p:nvPr/>
        </p:nvSpPr>
        <p:spPr bwMode="auto">
          <a:xfrm>
            <a:off x="8393113" y="1778000"/>
            <a:ext cx="647700" cy="920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通知</a:t>
            </a:r>
          </a:p>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应用</a:t>
            </a:r>
          </a:p>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进程</a:t>
            </a:r>
          </a:p>
        </p:txBody>
      </p:sp>
      <p:sp>
        <p:nvSpPr>
          <p:cNvPr id="25" name="Rectangle 23"/>
          <p:cNvSpPr>
            <a:spLocks noChangeArrowheads="1"/>
          </p:cNvSpPr>
          <p:nvPr/>
        </p:nvSpPr>
        <p:spPr bwMode="auto">
          <a:xfrm>
            <a:off x="1968500" y="1622425"/>
            <a:ext cx="1042988"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ESTAB-</a:t>
            </a:r>
          </a:p>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LISHED</a:t>
            </a:r>
          </a:p>
        </p:txBody>
      </p:sp>
      <p:sp>
        <p:nvSpPr>
          <p:cNvPr id="26" name="Rectangle 24"/>
          <p:cNvSpPr>
            <a:spLocks noChangeArrowheads="1"/>
          </p:cNvSpPr>
          <p:nvPr/>
        </p:nvSpPr>
        <p:spPr bwMode="auto">
          <a:xfrm>
            <a:off x="7054850" y="2058988"/>
            <a:ext cx="1042988"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ESTAB-</a:t>
            </a:r>
          </a:p>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LISHED</a:t>
            </a:r>
          </a:p>
        </p:txBody>
      </p:sp>
      <p:pic>
        <p:nvPicPr>
          <p:cNvPr id="1585176" name="Picture 2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12975" y="969963"/>
            <a:ext cx="504825"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85177" name="Picture 2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99325" y="969963"/>
            <a:ext cx="504825"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Rectangle 27"/>
          <p:cNvSpPr>
            <a:spLocks noChangeArrowheads="1"/>
          </p:cNvSpPr>
          <p:nvPr/>
        </p:nvSpPr>
        <p:spPr bwMode="auto">
          <a:xfrm>
            <a:off x="2603500" y="938213"/>
            <a:ext cx="3508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A</a:t>
            </a:r>
          </a:p>
        </p:txBody>
      </p:sp>
      <p:sp>
        <p:nvSpPr>
          <p:cNvPr id="30" name="Rectangle 28"/>
          <p:cNvSpPr>
            <a:spLocks noChangeArrowheads="1"/>
          </p:cNvSpPr>
          <p:nvPr/>
        </p:nvSpPr>
        <p:spPr bwMode="auto">
          <a:xfrm>
            <a:off x="7104063" y="938213"/>
            <a:ext cx="35083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B</a:t>
            </a:r>
          </a:p>
        </p:txBody>
      </p:sp>
      <p:sp>
        <p:nvSpPr>
          <p:cNvPr id="31" name="Rectangle 29"/>
          <p:cNvSpPr>
            <a:spLocks noChangeArrowheads="1"/>
          </p:cNvSpPr>
          <p:nvPr/>
        </p:nvSpPr>
        <p:spPr bwMode="auto">
          <a:xfrm>
            <a:off x="2147888" y="647700"/>
            <a:ext cx="6477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客户</a:t>
            </a:r>
          </a:p>
        </p:txBody>
      </p:sp>
      <p:sp>
        <p:nvSpPr>
          <p:cNvPr id="32" name="Rectangle 30"/>
          <p:cNvSpPr>
            <a:spLocks noChangeArrowheads="1"/>
          </p:cNvSpPr>
          <p:nvPr/>
        </p:nvSpPr>
        <p:spPr bwMode="auto">
          <a:xfrm>
            <a:off x="7115175" y="647700"/>
            <a:ext cx="8810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服务器</a:t>
            </a:r>
          </a:p>
        </p:txBody>
      </p:sp>
      <p:sp>
        <p:nvSpPr>
          <p:cNvPr id="33" name="Text Box 32"/>
          <p:cNvSpPr txBox="1">
            <a:spLocks noChangeArrowheads="1"/>
          </p:cNvSpPr>
          <p:nvPr/>
        </p:nvSpPr>
        <p:spPr bwMode="auto">
          <a:xfrm>
            <a:off x="1214438" y="4216400"/>
            <a:ext cx="7986712" cy="2236788"/>
          </a:xfrm>
          <a:prstGeom prst="rect">
            <a:avLst/>
          </a:prstGeom>
          <a:solidFill>
            <a:srgbClr val="FFFF99"/>
          </a:solidFill>
          <a:ln w="9525">
            <a:solidFill>
              <a:srgbClr val="3333CC"/>
            </a:solidFill>
            <a:miter lim="800000"/>
          </a:ln>
          <a:effectLst>
            <a:outerShdw dist="35921" dir="2700000" algn="ctr" rotWithShape="0">
              <a:srgbClr val="1C1C1C"/>
            </a:outerShdw>
          </a:effec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buFontTx/>
              <a:buChar char="•"/>
              <a:defRPr/>
            </a:pPr>
            <a:r>
              <a:rPr kumimoji="0" lang="en-US" altLang="zh-CN" sz="2800" kern="0" dirty="0">
                <a:solidFill>
                  <a:srgbClr val="000099"/>
                </a:solidFill>
                <a:latin typeface="Arial" panose="020B0604020202020204" pitchFamily="34" charset="0"/>
                <a:ea typeface="黑体" panose="02010609060101010101" pitchFamily="2" charset="-122"/>
              </a:rPr>
              <a:t>  B </a:t>
            </a:r>
            <a:r>
              <a:rPr kumimoji="0" lang="zh-CN" altLang="en-US" sz="2800" kern="0" dirty="0">
                <a:solidFill>
                  <a:srgbClr val="000099"/>
                </a:solidFill>
                <a:latin typeface="Arial" panose="020B0604020202020204" pitchFamily="34" charset="0"/>
                <a:ea typeface="黑体" panose="02010609060101010101" pitchFamily="2" charset="-122"/>
              </a:rPr>
              <a:t>发出确认，确认号 </a:t>
            </a:r>
            <a:r>
              <a:rPr kumimoji="0" lang="en-US" altLang="zh-CN" sz="2800" kern="0" dirty="0" err="1">
                <a:solidFill>
                  <a:srgbClr val="000099"/>
                </a:solidFill>
                <a:latin typeface="Arial" panose="020B0604020202020204" pitchFamily="34" charset="0"/>
                <a:ea typeface="黑体" panose="02010609060101010101" pitchFamily="2" charset="-122"/>
              </a:rPr>
              <a:t>ack</a:t>
            </a:r>
            <a:r>
              <a:rPr kumimoji="0" lang="en-US" altLang="zh-CN" sz="2800" kern="0" dirty="0">
                <a:solidFill>
                  <a:srgbClr val="000099"/>
                </a:solidFill>
                <a:latin typeface="Arial" panose="020B0604020202020204" pitchFamily="34" charset="0"/>
                <a:ea typeface="黑体" panose="02010609060101010101" pitchFamily="2" charset="-122"/>
              </a:rPr>
              <a:t> = u </a:t>
            </a:r>
            <a:r>
              <a:rPr kumimoji="0" lang="en-US" altLang="zh-CN" sz="2800" kern="0" dirty="0">
                <a:solidFill>
                  <a:srgbClr val="000099"/>
                </a:solidFill>
                <a:latin typeface="Arial" panose="020B0604020202020204" pitchFamily="34" charset="0"/>
                <a:ea typeface="黑体" panose="02010609060101010101" pitchFamily="2" charset="-122"/>
                <a:sym typeface="Symbol" panose="05050102010706020507" pitchFamily="18" charset="2"/>
              </a:rPr>
              <a:t></a:t>
            </a:r>
            <a:r>
              <a:rPr kumimoji="0" lang="en-US" altLang="zh-CN" sz="2800" kern="0" dirty="0">
                <a:solidFill>
                  <a:srgbClr val="000099"/>
                </a:solidFill>
                <a:latin typeface="Arial" panose="020B0604020202020204" pitchFamily="34" charset="0"/>
                <a:ea typeface="黑体" panose="02010609060101010101" pitchFamily="2" charset="-122"/>
              </a:rPr>
              <a:t> 1</a:t>
            </a:r>
            <a:r>
              <a:rPr kumimoji="0" lang="zh-CN" altLang="en-US" sz="2800" kern="0" dirty="0">
                <a:solidFill>
                  <a:srgbClr val="000099"/>
                </a:solidFill>
                <a:latin typeface="Arial" panose="020B0604020202020204" pitchFamily="34" charset="0"/>
                <a:ea typeface="黑体" panose="02010609060101010101" pitchFamily="2" charset="-122"/>
              </a:rPr>
              <a:t>，</a:t>
            </a:r>
          </a:p>
          <a:p>
            <a:pPr eaLnBrk="1" fontAlgn="auto" hangingPunct="1">
              <a:spcBef>
                <a:spcPts val="0"/>
              </a:spcBef>
              <a:spcAft>
                <a:spcPts val="0"/>
              </a:spcAft>
              <a:defRPr/>
            </a:pPr>
            <a:r>
              <a:rPr kumimoji="0" lang="zh-CN" altLang="en-US" sz="2800" kern="0" dirty="0">
                <a:solidFill>
                  <a:srgbClr val="000099"/>
                </a:solidFill>
                <a:latin typeface="Arial" panose="020B0604020202020204" pitchFamily="34" charset="0"/>
                <a:ea typeface="黑体" panose="02010609060101010101" pitchFamily="2" charset="-122"/>
              </a:rPr>
              <a:t>   而这个报文段自己的序号 </a:t>
            </a:r>
            <a:r>
              <a:rPr kumimoji="0" lang="en-US" altLang="zh-CN" sz="2800" kern="0" dirty="0" err="1">
                <a:solidFill>
                  <a:srgbClr val="000099"/>
                </a:solidFill>
                <a:latin typeface="Arial" panose="020B0604020202020204" pitchFamily="34" charset="0"/>
                <a:ea typeface="黑体" panose="02010609060101010101" pitchFamily="2" charset="-122"/>
              </a:rPr>
              <a:t>seq</a:t>
            </a:r>
            <a:r>
              <a:rPr kumimoji="0" lang="en-US" altLang="zh-CN" sz="2800" kern="0" dirty="0">
                <a:solidFill>
                  <a:srgbClr val="000099"/>
                </a:solidFill>
                <a:latin typeface="Arial" panose="020B0604020202020204" pitchFamily="34" charset="0"/>
                <a:ea typeface="黑体" panose="02010609060101010101" pitchFamily="2" charset="-122"/>
              </a:rPr>
              <a:t> = v</a:t>
            </a:r>
            <a:r>
              <a:rPr kumimoji="0" lang="zh-CN" altLang="en-US" sz="2800" kern="0" dirty="0">
                <a:solidFill>
                  <a:srgbClr val="000099"/>
                </a:solidFill>
                <a:latin typeface="Arial" panose="020B0604020202020204" pitchFamily="34" charset="0"/>
                <a:ea typeface="黑体" panose="02010609060101010101" pitchFamily="2" charset="-122"/>
              </a:rPr>
              <a:t>。</a:t>
            </a:r>
          </a:p>
          <a:p>
            <a:pPr eaLnBrk="1" fontAlgn="auto" hangingPunct="1">
              <a:spcBef>
                <a:spcPts val="0"/>
              </a:spcBef>
              <a:spcAft>
                <a:spcPts val="0"/>
              </a:spcAft>
              <a:buFontTx/>
              <a:buChar char="•"/>
              <a:defRPr/>
            </a:pPr>
            <a:r>
              <a:rPr kumimoji="0" lang="zh-CN" altLang="en-US" sz="2800" kern="0" dirty="0">
                <a:solidFill>
                  <a:srgbClr val="000099"/>
                </a:solidFill>
                <a:latin typeface="Arial" panose="020B0604020202020204" pitchFamily="34" charset="0"/>
                <a:ea typeface="黑体" panose="02010609060101010101" pitchFamily="2" charset="-122"/>
              </a:rPr>
              <a:t>  </a:t>
            </a:r>
            <a:r>
              <a:rPr kumimoji="0" lang="en-US" altLang="zh-CN" sz="2800" kern="0" dirty="0">
                <a:solidFill>
                  <a:srgbClr val="000099"/>
                </a:solidFill>
                <a:latin typeface="Arial" panose="020B0604020202020204" pitchFamily="34" charset="0"/>
                <a:ea typeface="黑体" panose="02010609060101010101" pitchFamily="2" charset="-122"/>
              </a:rPr>
              <a:t>TCP </a:t>
            </a:r>
            <a:r>
              <a:rPr kumimoji="0" lang="zh-CN" altLang="en-US" sz="2800" kern="0" dirty="0">
                <a:solidFill>
                  <a:srgbClr val="000099"/>
                </a:solidFill>
                <a:latin typeface="Arial" panose="020B0604020202020204" pitchFamily="34" charset="0"/>
                <a:ea typeface="黑体" panose="02010609060101010101" pitchFamily="2" charset="-122"/>
              </a:rPr>
              <a:t>服务器进程通知高层应用进程。</a:t>
            </a:r>
          </a:p>
          <a:p>
            <a:pPr eaLnBrk="1" fontAlgn="auto" hangingPunct="1">
              <a:spcBef>
                <a:spcPts val="0"/>
              </a:spcBef>
              <a:spcAft>
                <a:spcPts val="0"/>
              </a:spcAft>
              <a:buFontTx/>
              <a:buChar char="•"/>
              <a:defRPr/>
            </a:pPr>
            <a:r>
              <a:rPr kumimoji="0" lang="zh-CN" altLang="en-US" sz="2800" kern="0" dirty="0">
                <a:solidFill>
                  <a:srgbClr val="000099"/>
                </a:solidFill>
                <a:latin typeface="Arial" panose="020B0604020202020204" pitchFamily="34" charset="0"/>
                <a:ea typeface="黑体" panose="02010609060101010101" pitchFamily="2" charset="-122"/>
              </a:rPr>
              <a:t>  从 </a:t>
            </a:r>
            <a:r>
              <a:rPr kumimoji="0" lang="en-US" altLang="zh-CN" sz="2800" kern="0" dirty="0">
                <a:solidFill>
                  <a:srgbClr val="000099"/>
                </a:solidFill>
                <a:latin typeface="Arial" panose="020B0604020202020204" pitchFamily="34" charset="0"/>
                <a:ea typeface="黑体" panose="02010609060101010101" pitchFamily="2" charset="-122"/>
              </a:rPr>
              <a:t>A </a:t>
            </a:r>
            <a:r>
              <a:rPr kumimoji="0" lang="zh-CN" altLang="en-US" sz="2800" kern="0" dirty="0">
                <a:solidFill>
                  <a:srgbClr val="000099"/>
                </a:solidFill>
                <a:latin typeface="Arial" panose="020B0604020202020204" pitchFamily="34" charset="0"/>
                <a:ea typeface="黑体" panose="02010609060101010101" pitchFamily="2" charset="-122"/>
              </a:rPr>
              <a:t>到 </a:t>
            </a:r>
            <a:r>
              <a:rPr kumimoji="0" lang="en-US" altLang="zh-CN" sz="2800" kern="0" dirty="0">
                <a:solidFill>
                  <a:srgbClr val="000099"/>
                </a:solidFill>
                <a:latin typeface="Arial" panose="020B0604020202020204" pitchFamily="34" charset="0"/>
                <a:ea typeface="黑体" panose="02010609060101010101" pitchFamily="2" charset="-122"/>
              </a:rPr>
              <a:t>B </a:t>
            </a:r>
            <a:r>
              <a:rPr kumimoji="0" lang="zh-CN" altLang="en-US" sz="2800" kern="0" dirty="0">
                <a:solidFill>
                  <a:srgbClr val="000099"/>
                </a:solidFill>
                <a:latin typeface="Arial" panose="020B0604020202020204" pitchFamily="34" charset="0"/>
                <a:ea typeface="黑体" panose="02010609060101010101" pitchFamily="2" charset="-122"/>
              </a:rPr>
              <a:t>这个方向的连接就释放了，</a:t>
            </a:r>
            <a:r>
              <a:rPr kumimoji="0" lang="en-US" altLang="zh-CN" sz="2800" kern="0" dirty="0">
                <a:solidFill>
                  <a:srgbClr val="000099"/>
                </a:solidFill>
                <a:latin typeface="Arial" panose="020B0604020202020204" pitchFamily="34" charset="0"/>
                <a:ea typeface="黑体" panose="02010609060101010101" pitchFamily="2" charset="-122"/>
              </a:rPr>
              <a:t>TCP </a:t>
            </a:r>
            <a:r>
              <a:rPr kumimoji="0" lang="zh-CN" altLang="en-US" sz="2800" kern="0" dirty="0">
                <a:solidFill>
                  <a:srgbClr val="000099"/>
                </a:solidFill>
                <a:latin typeface="Arial" panose="020B0604020202020204" pitchFamily="34" charset="0"/>
                <a:ea typeface="黑体" panose="02010609060101010101" pitchFamily="2" charset="-122"/>
              </a:rPr>
              <a:t>连接</a:t>
            </a:r>
          </a:p>
          <a:p>
            <a:pPr eaLnBrk="1" fontAlgn="auto" hangingPunct="1">
              <a:spcBef>
                <a:spcPts val="0"/>
              </a:spcBef>
              <a:spcAft>
                <a:spcPts val="0"/>
              </a:spcAft>
              <a:defRPr/>
            </a:pPr>
            <a:r>
              <a:rPr kumimoji="0" lang="zh-CN" altLang="en-US" sz="2800" kern="0" dirty="0">
                <a:solidFill>
                  <a:srgbClr val="000099"/>
                </a:solidFill>
                <a:latin typeface="Arial" panose="020B0604020202020204" pitchFamily="34" charset="0"/>
                <a:ea typeface="黑体" panose="02010609060101010101" pitchFamily="2" charset="-122"/>
              </a:rPr>
              <a:t>   处于</a:t>
            </a:r>
            <a:r>
              <a:rPr kumimoji="0" lang="zh-CN" altLang="en-US" sz="2800" kern="0" dirty="0">
                <a:solidFill>
                  <a:srgbClr val="FF0000"/>
                </a:solidFill>
                <a:latin typeface="Arial" panose="020B0604020202020204" pitchFamily="34" charset="0"/>
                <a:ea typeface="黑体" panose="02010609060101010101" pitchFamily="2" charset="-122"/>
              </a:rPr>
              <a:t>半关闭</a:t>
            </a:r>
            <a:r>
              <a:rPr kumimoji="0" lang="zh-CN" altLang="en-US" sz="2800" kern="0" dirty="0">
                <a:solidFill>
                  <a:srgbClr val="000099"/>
                </a:solidFill>
                <a:latin typeface="Arial" panose="020B0604020202020204" pitchFamily="34" charset="0"/>
                <a:ea typeface="黑体" panose="02010609060101010101" pitchFamily="2" charset="-122"/>
              </a:rPr>
              <a:t>状态。</a:t>
            </a:r>
            <a:r>
              <a:rPr kumimoji="0" lang="en-US" altLang="zh-CN" sz="2800" kern="0" dirty="0">
                <a:solidFill>
                  <a:srgbClr val="000099"/>
                </a:solidFill>
                <a:latin typeface="Arial" panose="020B0604020202020204" pitchFamily="34" charset="0"/>
                <a:ea typeface="黑体" panose="02010609060101010101" pitchFamily="2" charset="-122"/>
              </a:rPr>
              <a:t>B </a:t>
            </a:r>
            <a:r>
              <a:rPr kumimoji="0" lang="zh-CN" altLang="en-US" sz="2800" kern="0" dirty="0">
                <a:solidFill>
                  <a:srgbClr val="000099"/>
                </a:solidFill>
                <a:latin typeface="Arial" panose="020B0604020202020204" pitchFamily="34" charset="0"/>
                <a:ea typeface="黑体" panose="02010609060101010101" pitchFamily="2" charset="-122"/>
              </a:rPr>
              <a:t>若发送数据，</a:t>
            </a:r>
            <a:r>
              <a:rPr kumimoji="0" lang="en-US" altLang="zh-CN" sz="2800" kern="0" dirty="0">
                <a:solidFill>
                  <a:srgbClr val="000099"/>
                </a:solidFill>
                <a:latin typeface="Arial" panose="020B0604020202020204" pitchFamily="34" charset="0"/>
                <a:ea typeface="黑体" panose="02010609060101010101" pitchFamily="2" charset="-122"/>
              </a:rPr>
              <a:t>A </a:t>
            </a:r>
            <a:r>
              <a:rPr kumimoji="0" lang="zh-CN" altLang="en-US" sz="2800" kern="0" dirty="0">
                <a:solidFill>
                  <a:srgbClr val="000099"/>
                </a:solidFill>
                <a:latin typeface="Arial" panose="020B0604020202020204" pitchFamily="34" charset="0"/>
                <a:ea typeface="黑体" panose="02010609060101010101" pitchFamily="2" charset="-122"/>
              </a:rPr>
              <a:t>仍要接收。</a:t>
            </a:r>
          </a:p>
        </p:txBody>
      </p:sp>
      <p:sp>
        <p:nvSpPr>
          <p:cNvPr id="35" name="Text Box 30"/>
          <p:cNvSpPr txBox="1">
            <a:spLocks noChangeArrowheads="1"/>
          </p:cNvSpPr>
          <p:nvPr/>
        </p:nvSpPr>
        <p:spPr bwMode="auto">
          <a:xfrm>
            <a:off x="1131888" y="34925"/>
            <a:ext cx="7924800" cy="650875"/>
          </a:xfrm>
          <a:prstGeom prst="rect">
            <a:avLst/>
          </a:prstGeom>
          <a:solidFill>
            <a:srgbClr val="FFFF99"/>
          </a:solidFill>
          <a:ln w="9525">
            <a:solidFill>
              <a:srgbClr val="3333CC"/>
            </a:solidFill>
            <a:miter lim="800000"/>
          </a:ln>
          <a:effectLst>
            <a:outerShdw dist="35921" dir="2700000" algn="ctr" rotWithShape="0">
              <a:srgbClr val="1C1C1C"/>
            </a:outerShdw>
          </a:effec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en-US" altLang="zh-CN" sz="3600" kern="0" dirty="0">
                <a:solidFill>
                  <a:srgbClr val="333399"/>
                </a:solidFill>
                <a:latin typeface="Arial" panose="020B0604020202020204" pitchFamily="34" charset="0"/>
                <a:ea typeface="黑体" panose="02010609060101010101" pitchFamily="2" charset="-122"/>
              </a:rPr>
              <a:t>TCP </a:t>
            </a:r>
            <a:r>
              <a:rPr kumimoji="0" lang="zh-CN" altLang="en-US" sz="3600" kern="0" dirty="0">
                <a:solidFill>
                  <a:srgbClr val="333399"/>
                </a:solidFill>
                <a:latin typeface="Arial" panose="020B0604020202020204" pitchFamily="34" charset="0"/>
                <a:ea typeface="黑体" panose="02010609060101010101" pitchFamily="2" charset="-122"/>
              </a:rPr>
              <a:t>的连接释放：采用</a:t>
            </a:r>
            <a:r>
              <a:rPr kumimoji="0" lang="zh-CN" altLang="zh-CN" sz="3600" kern="0" noProof="1">
                <a:solidFill>
                  <a:srgbClr val="FF0000"/>
                </a:solidFill>
                <a:latin typeface="Arial" panose="020B0604020202020204" pitchFamily="34" charset="0"/>
                <a:ea typeface="黑体" panose="02010609060101010101" pitchFamily="2" charset="-122"/>
              </a:rPr>
              <a:t>四报文握手</a:t>
            </a:r>
            <a:endParaRPr kumimoji="0" lang="zh-CN" altLang="en-US" sz="3600" kern="0" noProof="1">
              <a:solidFill>
                <a:srgbClr val="FF0000"/>
              </a:solidFill>
              <a:latin typeface="Arial" panose="020B0604020202020204" pitchFamily="34" charset="0"/>
              <a:ea typeface="黑体" panose="02010609060101010101" pitchFamily="2" charset="-122"/>
            </a:endParaRPr>
          </a:p>
        </p:txBody>
      </p:sp>
      <p:sp>
        <p:nvSpPr>
          <p:cNvPr id="1585184" name="灯片编号占位符 3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46EF321A-CF23-4D25-8C4D-A31DA41590A8}" type="slidenum">
              <a:rPr lang="zh-CN" altLang="en-US" smtClean="0"/>
              <a:pPr/>
              <a:t>16</a:t>
            </a:fld>
            <a:endParaRPr lang="en-US" altLang="zh-CN" smtClean="0"/>
          </a:p>
        </p:txBody>
      </p:sp>
      <p:sp>
        <p:nvSpPr>
          <p:cNvPr id="1585185" name="页脚占位符 3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right)">
                                      <p:cBhvr>
                                        <p:cTn id="7" dur="1000"/>
                                        <p:tgtEl>
                                          <p:spTgt spid="11"/>
                                        </p:tgtEl>
                                      </p:cBhvr>
                                    </p:animEffect>
                                  </p:childTnLst>
                                </p:cTn>
                              </p:par>
                            </p:childTnLst>
                          </p:cTn>
                        </p:par>
                        <p:par>
                          <p:cTn id="8" fill="hold" nodeType="afterGroup">
                            <p:stCondLst>
                              <p:cond delay="1000"/>
                            </p:stCondLst>
                            <p:childTnLst>
                              <p:par>
                                <p:cTn id="9" presetID="22" presetClass="entr" presetSubtype="4" fill="hold" grpId="0"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wipe(down)">
                                      <p:cBhvr>
                                        <p:cTn id="11" dur="1000"/>
                                        <p:tgtEl>
                                          <p:spTgt spid="23"/>
                                        </p:tgtEl>
                                      </p:cBhvr>
                                    </p:animEffect>
                                  </p:childTnLst>
                                </p:cTn>
                              </p:par>
                            </p:childTnLst>
                          </p:cTn>
                        </p:par>
                        <p:par>
                          <p:cTn id="12" fill="hold" nodeType="afterGroup">
                            <p:stCondLst>
                              <p:cond delay="2000"/>
                            </p:stCondLst>
                            <p:childTnLst>
                              <p:par>
                                <p:cTn id="13" presetID="1" presetClass="entr" presetSubtype="0"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86177" name="Group 2"/>
          <p:cNvGrpSpPr>
            <a:grpSpLocks/>
          </p:cNvGrpSpPr>
          <p:nvPr/>
        </p:nvGrpSpPr>
        <p:grpSpPr bwMode="auto">
          <a:xfrm>
            <a:off x="2868613" y="2349500"/>
            <a:ext cx="4248150" cy="4062413"/>
            <a:chOff x="1474" y="1888"/>
            <a:chExt cx="2676" cy="2432"/>
          </a:xfrm>
        </p:grpSpPr>
        <p:sp>
          <p:nvSpPr>
            <p:cNvPr id="5" name="Line 3"/>
            <p:cNvSpPr>
              <a:spLocks noChangeShapeType="1"/>
            </p:cNvSpPr>
            <p:nvPr/>
          </p:nvSpPr>
          <p:spPr bwMode="auto">
            <a:xfrm>
              <a:off x="1474" y="1888"/>
              <a:ext cx="0" cy="2432"/>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6" name="Line 4"/>
            <p:cNvSpPr>
              <a:spLocks noChangeShapeType="1"/>
            </p:cNvSpPr>
            <p:nvPr/>
          </p:nvSpPr>
          <p:spPr bwMode="auto">
            <a:xfrm>
              <a:off x="4150" y="1888"/>
              <a:ext cx="0" cy="2432"/>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sp>
        <p:nvSpPr>
          <p:cNvPr id="7" name="AutoShape 5"/>
          <p:cNvSpPr>
            <a:spLocks noChangeArrowheads="1"/>
          </p:cNvSpPr>
          <p:nvPr/>
        </p:nvSpPr>
        <p:spPr bwMode="auto">
          <a:xfrm rot="-651552">
            <a:off x="4144963" y="3895725"/>
            <a:ext cx="676275" cy="236538"/>
          </a:xfrm>
          <a:prstGeom prst="leftArrow">
            <a:avLst>
              <a:gd name="adj1" fmla="val 53620"/>
              <a:gd name="adj2" fmla="val 119816"/>
            </a:avLst>
          </a:prstGeom>
          <a:solidFill>
            <a:srgbClr val="FF0000"/>
          </a:solidFill>
          <a:ln w="12700" algn="ctr">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8" name="AutoShape 6"/>
          <p:cNvSpPr>
            <a:spLocks noChangeArrowheads="1"/>
          </p:cNvSpPr>
          <p:nvPr/>
        </p:nvSpPr>
        <p:spPr bwMode="auto">
          <a:xfrm>
            <a:off x="3854450" y="1863725"/>
            <a:ext cx="2384425" cy="252413"/>
          </a:xfrm>
          <a:prstGeom prst="leftRightArrow">
            <a:avLst>
              <a:gd name="adj1" fmla="val 55880"/>
              <a:gd name="adj2" fmla="val 108285"/>
            </a:avLst>
          </a:prstGeom>
          <a:solidFill>
            <a:srgbClr val="FF0000"/>
          </a:solidFill>
          <a:ln w="12700" algn="ctr">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nvGrpSpPr>
          <p:cNvPr id="1586182" name="Group 7"/>
          <p:cNvGrpSpPr>
            <a:grpSpLocks/>
          </p:cNvGrpSpPr>
          <p:nvPr/>
        </p:nvGrpSpPr>
        <p:grpSpPr bwMode="auto">
          <a:xfrm>
            <a:off x="2921000" y="2355850"/>
            <a:ext cx="4133850" cy="768350"/>
            <a:chOff x="1614" y="1484"/>
            <a:chExt cx="2604" cy="484"/>
          </a:xfrm>
        </p:grpSpPr>
        <p:sp>
          <p:nvSpPr>
            <p:cNvPr id="10" name="Rectangle 8"/>
            <p:cNvSpPr>
              <a:spLocks noChangeArrowheads="1"/>
            </p:cNvSpPr>
            <p:nvPr/>
          </p:nvSpPr>
          <p:spPr bwMode="auto">
            <a:xfrm rot="597975">
              <a:off x="2449" y="1520"/>
              <a:ext cx="129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sz="2000" b="1" kern="0">
                  <a:solidFill>
                    <a:srgbClr val="3333CC"/>
                  </a:solidFill>
                  <a:latin typeface="+mn-lt"/>
                  <a:ea typeface="黑体" panose="02010609060101010101" pitchFamily="2" charset="-122"/>
                </a:rPr>
                <a:t>FIN = 1, seq = u</a:t>
              </a:r>
            </a:p>
          </p:txBody>
        </p:sp>
        <p:sp>
          <p:nvSpPr>
            <p:cNvPr id="11" name="Line 9"/>
            <p:cNvSpPr>
              <a:spLocks noChangeShapeType="1"/>
            </p:cNvSpPr>
            <p:nvPr/>
          </p:nvSpPr>
          <p:spPr bwMode="auto">
            <a:xfrm>
              <a:off x="1614" y="1484"/>
              <a:ext cx="2604" cy="484"/>
            </a:xfrm>
            <a:prstGeom prst="line">
              <a:avLst/>
            </a:prstGeom>
            <a:noFill/>
            <a:ln w="381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grpSp>
        <p:nvGrpSpPr>
          <p:cNvPr id="1586185" name="Group 10"/>
          <p:cNvGrpSpPr>
            <a:grpSpLocks/>
          </p:cNvGrpSpPr>
          <p:nvPr/>
        </p:nvGrpSpPr>
        <p:grpSpPr bwMode="auto">
          <a:xfrm>
            <a:off x="2935288" y="3167063"/>
            <a:ext cx="4133850" cy="769937"/>
            <a:chOff x="1623" y="1995"/>
            <a:chExt cx="2604" cy="485"/>
          </a:xfrm>
        </p:grpSpPr>
        <p:sp>
          <p:nvSpPr>
            <p:cNvPr id="13" name="Rectangle 11"/>
            <p:cNvSpPr>
              <a:spLocks noChangeArrowheads="1"/>
            </p:cNvSpPr>
            <p:nvPr/>
          </p:nvSpPr>
          <p:spPr bwMode="auto">
            <a:xfrm rot="20990024" flipH="1">
              <a:off x="1829" y="2020"/>
              <a:ext cx="203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ACK = 1, seq = v, ack= u </a:t>
              </a:r>
              <a:r>
                <a:rPr lang="en-US" altLang="zh-CN" b="1" kern="0">
                  <a:solidFill>
                    <a:srgbClr val="3333CC"/>
                  </a:solidFill>
                  <a:latin typeface="+mn-lt"/>
                  <a:ea typeface="黑体" panose="02010609060101010101" pitchFamily="2" charset="-122"/>
                  <a:sym typeface="Symbol" panose="05050102010706020507" pitchFamily="18" charset="2"/>
                </a:rPr>
                <a:t> 1</a:t>
              </a:r>
              <a:endParaRPr lang="en-US" altLang="zh-CN" b="1" kern="0">
                <a:solidFill>
                  <a:srgbClr val="3333CC"/>
                </a:solidFill>
                <a:latin typeface="+mn-lt"/>
                <a:ea typeface="黑体" panose="02010609060101010101" pitchFamily="2" charset="-122"/>
              </a:endParaRPr>
            </a:p>
          </p:txBody>
        </p:sp>
        <p:sp>
          <p:nvSpPr>
            <p:cNvPr id="14" name="Line 12"/>
            <p:cNvSpPr>
              <a:spLocks noChangeShapeType="1"/>
            </p:cNvSpPr>
            <p:nvPr/>
          </p:nvSpPr>
          <p:spPr bwMode="auto">
            <a:xfrm flipH="1">
              <a:off x="1623" y="1995"/>
              <a:ext cx="2604" cy="485"/>
            </a:xfrm>
            <a:prstGeom prst="line">
              <a:avLst/>
            </a:prstGeom>
            <a:noFill/>
            <a:ln w="381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grpSp>
        <p:nvGrpSpPr>
          <p:cNvPr id="15" name="Group 13"/>
          <p:cNvGrpSpPr>
            <a:grpSpLocks/>
          </p:cNvGrpSpPr>
          <p:nvPr/>
        </p:nvGrpSpPr>
        <p:grpSpPr bwMode="auto">
          <a:xfrm>
            <a:off x="2900363" y="4086225"/>
            <a:ext cx="4298950" cy="787400"/>
            <a:chOff x="1601" y="2574"/>
            <a:chExt cx="2708" cy="496"/>
          </a:xfrm>
        </p:grpSpPr>
        <p:sp>
          <p:nvSpPr>
            <p:cNvPr id="16" name="Line 14"/>
            <p:cNvSpPr>
              <a:spLocks noChangeShapeType="1"/>
            </p:cNvSpPr>
            <p:nvPr/>
          </p:nvSpPr>
          <p:spPr bwMode="auto">
            <a:xfrm flipH="1">
              <a:off x="1601" y="2585"/>
              <a:ext cx="2604" cy="485"/>
            </a:xfrm>
            <a:prstGeom prst="line">
              <a:avLst/>
            </a:prstGeom>
            <a:noFill/>
            <a:ln w="381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17" name="Rectangle 15"/>
            <p:cNvSpPr>
              <a:spLocks noChangeArrowheads="1"/>
            </p:cNvSpPr>
            <p:nvPr/>
          </p:nvSpPr>
          <p:spPr bwMode="auto">
            <a:xfrm rot="20943314" flipH="1">
              <a:off x="1683" y="2574"/>
              <a:ext cx="262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FIN = 1, ACK = 1, seq = w, ack= u </a:t>
              </a:r>
              <a:r>
                <a:rPr lang="en-US" altLang="zh-CN" b="1" kern="0">
                  <a:solidFill>
                    <a:srgbClr val="3333CC"/>
                  </a:solidFill>
                  <a:latin typeface="+mn-lt"/>
                  <a:ea typeface="黑体" panose="02010609060101010101" pitchFamily="2" charset="-122"/>
                  <a:sym typeface="Symbol" panose="05050102010706020507" pitchFamily="18" charset="2"/>
                </a:rPr>
                <a:t> 1</a:t>
              </a:r>
              <a:endParaRPr lang="en-US" altLang="zh-CN" b="1" kern="0">
                <a:solidFill>
                  <a:srgbClr val="3333CC"/>
                </a:solidFill>
                <a:latin typeface="+mn-lt"/>
                <a:ea typeface="黑体" panose="02010609060101010101" pitchFamily="2" charset="-122"/>
              </a:endParaRPr>
            </a:p>
          </p:txBody>
        </p:sp>
      </p:grpSp>
      <p:sp>
        <p:nvSpPr>
          <p:cNvPr id="18" name="Rectangle 16"/>
          <p:cNvSpPr>
            <a:spLocks noChangeArrowheads="1"/>
          </p:cNvSpPr>
          <p:nvPr/>
        </p:nvSpPr>
        <p:spPr bwMode="auto">
          <a:xfrm>
            <a:off x="1965325" y="1611313"/>
            <a:ext cx="954088" cy="673100"/>
          </a:xfrm>
          <a:prstGeom prst="rect">
            <a:avLst/>
          </a:prstGeom>
          <a:solidFill>
            <a:srgbClr val="CCFF99"/>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19" name="Rectangle 17"/>
          <p:cNvSpPr>
            <a:spLocks noChangeArrowheads="1"/>
          </p:cNvSpPr>
          <p:nvPr/>
        </p:nvSpPr>
        <p:spPr bwMode="auto">
          <a:xfrm>
            <a:off x="7051675" y="1611313"/>
            <a:ext cx="955675" cy="1479550"/>
          </a:xfrm>
          <a:prstGeom prst="rect">
            <a:avLst/>
          </a:prstGeom>
          <a:solidFill>
            <a:srgbClr val="CCFF99"/>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nvGrpSpPr>
          <p:cNvPr id="1586193" name="Group 18"/>
          <p:cNvGrpSpPr>
            <a:grpSpLocks/>
          </p:cNvGrpSpPr>
          <p:nvPr/>
        </p:nvGrpSpPr>
        <p:grpSpPr bwMode="auto">
          <a:xfrm>
            <a:off x="1866900" y="1528763"/>
            <a:ext cx="6278563" cy="82550"/>
            <a:chOff x="1020" y="481"/>
            <a:chExt cx="4037" cy="46"/>
          </a:xfrm>
        </p:grpSpPr>
        <p:sp>
          <p:nvSpPr>
            <p:cNvPr id="21" name="Line 19"/>
            <p:cNvSpPr>
              <a:spLocks noChangeShapeType="1"/>
            </p:cNvSpPr>
            <p:nvPr/>
          </p:nvSpPr>
          <p:spPr bwMode="auto">
            <a:xfrm>
              <a:off x="1020" y="527"/>
              <a:ext cx="4037" cy="0"/>
            </a:xfrm>
            <a:prstGeom prst="line">
              <a:avLst/>
            </a:prstGeom>
            <a:noFill/>
            <a:ln w="12700">
              <a:solidFill>
                <a:srgbClr val="33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22" name="Line 20"/>
            <p:cNvSpPr>
              <a:spLocks noChangeShapeType="1"/>
            </p:cNvSpPr>
            <p:nvPr/>
          </p:nvSpPr>
          <p:spPr bwMode="auto">
            <a:xfrm>
              <a:off x="1020" y="481"/>
              <a:ext cx="4037" cy="0"/>
            </a:xfrm>
            <a:prstGeom prst="line">
              <a:avLst/>
            </a:prstGeom>
            <a:noFill/>
            <a:ln w="12700">
              <a:solidFill>
                <a:srgbClr val="33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grpSp>
        <p:nvGrpSpPr>
          <p:cNvPr id="1586196" name="Group 21"/>
          <p:cNvGrpSpPr>
            <a:grpSpLocks/>
          </p:cNvGrpSpPr>
          <p:nvPr/>
        </p:nvGrpSpPr>
        <p:grpSpPr bwMode="auto">
          <a:xfrm>
            <a:off x="857250" y="1257300"/>
            <a:ext cx="1403350" cy="1082675"/>
            <a:chOff x="314" y="792"/>
            <a:chExt cx="884" cy="682"/>
          </a:xfrm>
        </p:grpSpPr>
        <p:sp>
          <p:nvSpPr>
            <p:cNvPr id="24" name="Freeform 22"/>
            <p:cNvSpPr/>
            <p:nvPr/>
          </p:nvSpPr>
          <p:spPr bwMode="auto">
            <a:xfrm>
              <a:off x="349" y="792"/>
              <a:ext cx="849"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25" name="Rectangle 23"/>
            <p:cNvSpPr>
              <a:spLocks noChangeArrowheads="1"/>
            </p:cNvSpPr>
            <p:nvPr/>
          </p:nvSpPr>
          <p:spPr bwMode="auto">
            <a:xfrm>
              <a:off x="314" y="1227"/>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主动关闭</a:t>
              </a:r>
            </a:p>
          </p:txBody>
        </p:sp>
      </p:grpSp>
      <p:grpSp>
        <p:nvGrpSpPr>
          <p:cNvPr id="26" name="Group 24"/>
          <p:cNvGrpSpPr>
            <a:grpSpLocks/>
          </p:cNvGrpSpPr>
          <p:nvPr/>
        </p:nvGrpSpPr>
        <p:grpSpPr bwMode="auto">
          <a:xfrm>
            <a:off x="7770813" y="1190625"/>
            <a:ext cx="1408112" cy="2905125"/>
            <a:chOff x="4669" y="750"/>
            <a:chExt cx="887" cy="1830"/>
          </a:xfrm>
        </p:grpSpPr>
        <p:sp>
          <p:nvSpPr>
            <p:cNvPr id="27" name="Freeform 25"/>
            <p:cNvSpPr/>
            <p:nvPr/>
          </p:nvSpPr>
          <p:spPr bwMode="auto">
            <a:xfrm>
              <a:off x="4669" y="750"/>
              <a:ext cx="887" cy="1830"/>
            </a:xfrm>
            <a:custGeom>
              <a:avLst/>
              <a:gdLst>
                <a:gd name="T0" fmla="*/ 0 w 868"/>
                <a:gd name="T1" fmla="*/ 0 h 1493"/>
                <a:gd name="T2" fmla="*/ 887 w 868"/>
                <a:gd name="T3" fmla="*/ 9 h 1493"/>
                <a:gd name="T4" fmla="*/ 887 w 868"/>
                <a:gd name="T5" fmla="*/ 1830 h 1493"/>
                <a:gd name="T6" fmla="*/ 127 w 868"/>
                <a:gd name="T7" fmla="*/ 1830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28" name="Rectangle 26"/>
            <p:cNvSpPr>
              <a:spLocks noChangeArrowheads="1"/>
            </p:cNvSpPr>
            <p:nvPr/>
          </p:nvSpPr>
          <p:spPr bwMode="auto">
            <a:xfrm>
              <a:off x="4855" y="2306"/>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被动关闭</a:t>
              </a:r>
            </a:p>
          </p:txBody>
        </p:sp>
      </p:grpSp>
      <p:sp>
        <p:nvSpPr>
          <p:cNvPr id="29" name="Rectangle 27"/>
          <p:cNvSpPr>
            <a:spLocks noChangeArrowheads="1"/>
          </p:cNvSpPr>
          <p:nvPr/>
        </p:nvSpPr>
        <p:spPr bwMode="auto">
          <a:xfrm>
            <a:off x="4489450" y="1778000"/>
            <a:ext cx="1214438" cy="396875"/>
          </a:xfrm>
          <a:prstGeom prst="rect">
            <a:avLst/>
          </a:prstGeom>
          <a:solidFill>
            <a:srgbClr val="CCECFF"/>
          </a:solidFill>
          <a:ln w="38100" cmpd="dbl" algn="ctr">
            <a:solidFill>
              <a:srgbClr val="3333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sz="2000" b="1" kern="0">
                <a:solidFill>
                  <a:srgbClr val="3333CC"/>
                </a:solidFill>
                <a:latin typeface="+mn-lt"/>
                <a:ea typeface="黑体" panose="02010609060101010101" pitchFamily="2" charset="-122"/>
              </a:rPr>
              <a:t>数据传送</a:t>
            </a:r>
          </a:p>
        </p:txBody>
      </p:sp>
      <p:grpSp>
        <p:nvGrpSpPr>
          <p:cNvPr id="1586203" name="Group 28"/>
          <p:cNvGrpSpPr>
            <a:grpSpLocks/>
          </p:cNvGrpSpPr>
          <p:nvPr/>
        </p:nvGrpSpPr>
        <p:grpSpPr bwMode="auto">
          <a:xfrm>
            <a:off x="7812088" y="1376363"/>
            <a:ext cx="1206500" cy="1789112"/>
            <a:chOff x="4695" y="867"/>
            <a:chExt cx="760" cy="1127"/>
          </a:xfrm>
        </p:grpSpPr>
        <p:sp>
          <p:nvSpPr>
            <p:cNvPr id="31" name="Freeform 29"/>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32" name="Rectangle 30"/>
            <p:cNvSpPr>
              <a:spLocks noChangeArrowheads="1"/>
            </p:cNvSpPr>
            <p:nvPr/>
          </p:nvSpPr>
          <p:spPr bwMode="auto">
            <a:xfrm>
              <a:off x="5047" y="1120"/>
              <a:ext cx="408" cy="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通知</a:t>
              </a:r>
            </a:p>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应用</a:t>
              </a:r>
            </a:p>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进程</a:t>
              </a:r>
            </a:p>
          </p:txBody>
        </p:sp>
      </p:grpSp>
      <p:sp>
        <p:nvSpPr>
          <p:cNvPr id="33" name="Rectangle 31"/>
          <p:cNvSpPr>
            <a:spLocks noChangeArrowheads="1"/>
          </p:cNvSpPr>
          <p:nvPr/>
        </p:nvSpPr>
        <p:spPr bwMode="auto">
          <a:xfrm>
            <a:off x="1946275" y="1622425"/>
            <a:ext cx="1041400"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ESTAB-</a:t>
            </a:r>
          </a:p>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LISHED</a:t>
            </a:r>
          </a:p>
        </p:txBody>
      </p:sp>
      <p:sp>
        <p:nvSpPr>
          <p:cNvPr id="34" name="Rectangle 32"/>
          <p:cNvSpPr>
            <a:spLocks noChangeArrowheads="1"/>
          </p:cNvSpPr>
          <p:nvPr/>
        </p:nvSpPr>
        <p:spPr bwMode="auto">
          <a:xfrm>
            <a:off x="7032625" y="2058988"/>
            <a:ext cx="1041400"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ESTAB-</a:t>
            </a:r>
          </a:p>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LISHED</a:t>
            </a:r>
          </a:p>
        </p:txBody>
      </p:sp>
      <p:pic>
        <p:nvPicPr>
          <p:cNvPr id="1586208" name="Picture 3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90750" y="969963"/>
            <a:ext cx="504825"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86209" name="Picture 3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77100" y="969963"/>
            <a:ext cx="504825"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 name="Rectangle 35"/>
          <p:cNvSpPr>
            <a:spLocks noChangeArrowheads="1"/>
          </p:cNvSpPr>
          <p:nvPr/>
        </p:nvSpPr>
        <p:spPr bwMode="auto">
          <a:xfrm>
            <a:off x="2581275" y="938213"/>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A</a:t>
            </a:r>
          </a:p>
        </p:txBody>
      </p:sp>
      <p:sp>
        <p:nvSpPr>
          <p:cNvPr id="38" name="Rectangle 36"/>
          <p:cNvSpPr>
            <a:spLocks noChangeArrowheads="1"/>
          </p:cNvSpPr>
          <p:nvPr/>
        </p:nvSpPr>
        <p:spPr bwMode="auto">
          <a:xfrm>
            <a:off x="7081838" y="938213"/>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B</a:t>
            </a:r>
          </a:p>
        </p:txBody>
      </p:sp>
      <p:sp>
        <p:nvSpPr>
          <p:cNvPr id="39" name="Rectangle 37"/>
          <p:cNvSpPr>
            <a:spLocks noChangeArrowheads="1"/>
          </p:cNvSpPr>
          <p:nvPr/>
        </p:nvSpPr>
        <p:spPr bwMode="auto">
          <a:xfrm>
            <a:off x="2125663" y="647700"/>
            <a:ext cx="6477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客户</a:t>
            </a:r>
          </a:p>
        </p:txBody>
      </p:sp>
      <p:sp>
        <p:nvSpPr>
          <p:cNvPr id="40" name="Rectangle 38"/>
          <p:cNvSpPr>
            <a:spLocks noChangeArrowheads="1"/>
          </p:cNvSpPr>
          <p:nvPr/>
        </p:nvSpPr>
        <p:spPr bwMode="auto">
          <a:xfrm>
            <a:off x="7092950" y="647700"/>
            <a:ext cx="8794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服务器</a:t>
            </a:r>
          </a:p>
        </p:txBody>
      </p:sp>
      <p:sp>
        <p:nvSpPr>
          <p:cNvPr id="41" name="Rectangle 39"/>
          <p:cNvSpPr>
            <a:spLocks noChangeArrowheads="1"/>
          </p:cNvSpPr>
          <p:nvPr/>
        </p:nvSpPr>
        <p:spPr bwMode="auto">
          <a:xfrm rot="-628888">
            <a:off x="4660900" y="3629025"/>
            <a:ext cx="1214438" cy="398463"/>
          </a:xfrm>
          <a:prstGeom prst="rect">
            <a:avLst/>
          </a:prstGeom>
          <a:solidFill>
            <a:srgbClr val="CCECFF"/>
          </a:solidFill>
          <a:ln w="38100" cmpd="dbl" algn="ctr">
            <a:solidFill>
              <a:srgbClr val="3333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sz="2000" b="1" kern="0">
                <a:solidFill>
                  <a:srgbClr val="3333CC"/>
                </a:solidFill>
                <a:latin typeface="+mn-lt"/>
                <a:ea typeface="黑体" panose="02010609060101010101" pitchFamily="2" charset="-122"/>
              </a:rPr>
              <a:t>数据传送</a:t>
            </a:r>
          </a:p>
        </p:txBody>
      </p:sp>
      <p:sp>
        <p:nvSpPr>
          <p:cNvPr id="42" name="Text Box 41"/>
          <p:cNvSpPr txBox="1">
            <a:spLocks noChangeArrowheads="1"/>
          </p:cNvSpPr>
          <p:nvPr/>
        </p:nvSpPr>
        <p:spPr bwMode="auto">
          <a:xfrm>
            <a:off x="1854200" y="5373688"/>
            <a:ext cx="6165850" cy="954087"/>
          </a:xfrm>
          <a:prstGeom prst="rect">
            <a:avLst/>
          </a:prstGeom>
          <a:solidFill>
            <a:srgbClr val="FFFF99"/>
          </a:solidFill>
          <a:ln w="9525">
            <a:solidFill>
              <a:srgbClr val="3333CC"/>
            </a:solidFill>
            <a:miter lim="800000"/>
          </a:ln>
          <a:effectLst>
            <a:outerShdw dist="35921" dir="2700000" algn="ctr" rotWithShape="0">
              <a:srgbClr val="1C1C1C"/>
            </a:outerShdw>
          </a:effectLst>
        </p:spPr>
        <p:txBody>
          <a:bodyPr wrap="none">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buFontTx/>
              <a:buChar char="•"/>
            </a:pPr>
            <a:r>
              <a:rPr lang="en-US" altLang="zh-CN" sz="2800" b="1">
                <a:solidFill>
                  <a:srgbClr val="000099"/>
                </a:solidFill>
                <a:ea typeface="黑体" panose="02010609060101010101" pitchFamily="49" charset="-122"/>
              </a:rPr>
              <a:t>  </a:t>
            </a:r>
            <a:r>
              <a:rPr lang="zh-CN" altLang="en-US" sz="2800" b="1">
                <a:solidFill>
                  <a:srgbClr val="000099"/>
                </a:solidFill>
                <a:ea typeface="黑体" panose="02010609060101010101" pitchFamily="49" charset="-122"/>
              </a:rPr>
              <a:t>若 </a:t>
            </a:r>
            <a:r>
              <a:rPr lang="en-US" altLang="zh-CN" sz="2800" b="1">
                <a:solidFill>
                  <a:srgbClr val="000099"/>
                </a:solidFill>
                <a:ea typeface="黑体" panose="02010609060101010101" pitchFamily="49" charset="-122"/>
              </a:rPr>
              <a:t>B </a:t>
            </a:r>
            <a:r>
              <a:rPr lang="zh-CN" altLang="en-US" sz="2800" b="1">
                <a:solidFill>
                  <a:srgbClr val="000099"/>
                </a:solidFill>
                <a:ea typeface="黑体" panose="02010609060101010101" pitchFamily="49" charset="-122"/>
              </a:rPr>
              <a:t>已经没有要向 </a:t>
            </a:r>
            <a:r>
              <a:rPr lang="en-US" altLang="zh-CN" sz="2800" b="1">
                <a:solidFill>
                  <a:srgbClr val="000099"/>
                </a:solidFill>
                <a:ea typeface="黑体" panose="02010609060101010101" pitchFamily="49" charset="-122"/>
              </a:rPr>
              <a:t>A </a:t>
            </a:r>
            <a:r>
              <a:rPr lang="zh-CN" altLang="en-US" sz="2800" b="1">
                <a:solidFill>
                  <a:srgbClr val="000099"/>
                </a:solidFill>
                <a:ea typeface="黑体" panose="02010609060101010101" pitchFamily="49" charset="-122"/>
              </a:rPr>
              <a:t>发送的数据，</a:t>
            </a:r>
          </a:p>
          <a:p>
            <a:pPr eaLnBrk="1" hangingPunct="1"/>
            <a:r>
              <a:rPr lang="zh-CN" altLang="en-US" sz="2800" b="1">
                <a:solidFill>
                  <a:srgbClr val="000099"/>
                </a:solidFill>
                <a:ea typeface="黑体" panose="02010609060101010101" pitchFamily="49" charset="-122"/>
              </a:rPr>
              <a:t>   其应用进程就通知 </a:t>
            </a:r>
            <a:r>
              <a:rPr lang="en-US" altLang="zh-CN" sz="2800" b="1">
                <a:solidFill>
                  <a:srgbClr val="000099"/>
                </a:solidFill>
                <a:ea typeface="黑体" panose="02010609060101010101" pitchFamily="49" charset="-122"/>
              </a:rPr>
              <a:t>TCP </a:t>
            </a:r>
            <a:r>
              <a:rPr lang="zh-CN" altLang="en-US" sz="2800" b="1">
                <a:solidFill>
                  <a:srgbClr val="000099"/>
                </a:solidFill>
                <a:ea typeface="黑体" panose="02010609060101010101" pitchFamily="49" charset="-122"/>
              </a:rPr>
              <a:t>释放连接。 </a:t>
            </a:r>
          </a:p>
        </p:txBody>
      </p:sp>
      <p:sp>
        <p:nvSpPr>
          <p:cNvPr id="44" name="Text Box 30"/>
          <p:cNvSpPr txBox="1">
            <a:spLocks noChangeArrowheads="1"/>
          </p:cNvSpPr>
          <p:nvPr/>
        </p:nvSpPr>
        <p:spPr bwMode="auto">
          <a:xfrm>
            <a:off x="1131888" y="34925"/>
            <a:ext cx="7924800" cy="650875"/>
          </a:xfrm>
          <a:prstGeom prst="rect">
            <a:avLst/>
          </a:prstGeom>
          <a:solidFill>
            <a:srgbClr val="FFFF99"/>
          </a:solidFill>
          <a:ln w="9525">
            <a:solidFill>
              <a:srgbClr val="3333CC"/>
            </a:solidFill>
            <a:miter lim="800000"/>
          </a:ln>
          <a:effectLst>
            <a:outerShdw dist="35921" dir="2700000" algn="ctr" rotWithShape="0">
              <a:srgbClr val="1C1C1C"/>
            </a:outerShdw>
          </a:effec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en-US" altLang="zh-CN" sz="3600" kern="0" dirty="0">
                <a:solidFill>
                  <a:srgbClr val="333399"/>
                </a:solidFill>
                <a:latin typeface="Arial" panose="020B0604020202020204" pitchFamily="34" charset="0"/>
                <a:ea typeface="黑体" panose="02010609060101010101" pitchFamily="2" charset="-122"/>
              </a:rPr>
              <a:t>TCP </a:t>
            </a:r>
            <a:r>
              <a:rPr kumimoji="0" lang="zh-CN" altLang="en-US" sz="3600" kern="0" dirty="0">
                <a:solidFill>
                  <a:srgbClr val="333399"/>
                </a:solidFill>
                <a:latin typeface="Arial" panose="020B0604020202020204" pitchFamily="34" charset="0"/>
                <a:ea typeface="黑体" panose="02010609060101010101" pitchFamily="2" charset="-122"/>
              </a:rPr>
              <a:t>的连接释放：采用</a:t>
            </a:r>
            <a:r>
              <a:rPr kumimoji="0" lang="zh-CN" altLang="zh-CN" sz="3600" kern="0" noProof="1">
                <a:solidFill>
                  <a:srgbClr val="FF0000"/>
                </a:solidFill>
                <a:latin typeface="Arial" panose="020B0604020202020204" pitchFamily="34" charset="0"/>
                <a:ea typeface="黑体" panose="02010609060101010101" pitchFamily="2" charset="-122"/>
              </a:rPr>
              <a:t>四报文握手</a:t>
            </a:r>
            <a:endParaRPr kumimoji="0" lang="zh-CN" altLang="en-US" sz="3600" kern="0" noProof="1">
              <a:solidFill>
                <a:srgbClr val="FF0000"/>
              </a:solidFill>
              <a:latin typeface="Arial" panose="020B0604020202020204" pitchFamily="34" charset="0"/>
              <a:ea typeface="黑体" panose="02010609060101010101" pitchFamily="2" charset="-122"/>
            </a:endParaRPr>
          </a:p>
        </p:txBody>
      </p:sp>
      <p:sp>
        <p:nvSpPr>
          <p:cNvPr id="1586217" name="灯片编号占位符 42"/>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BFDE181D-8605-4CB8-9C16-C92F06F60D48}" type="slidenum">
              <a:rPr lang="zh-CN" altLang="en-US" smtClean="0"/>
              <a:pPr/>
              <a:t>17</a:t>
            </a:fld>
            <a:endParaRPr lang="en-US" altLang="zh-CN" smtClean="0"/>
          </a:p>
        </p:txBody>
      </p:sp>
      <p:sp>
        <p:nvSpPr>
          <p:cNvPr id="1586218" name="页脚占位符 4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par>
                          <p:cTn id="7" fill="hold" nodeType="afterGroup">
                            <p:stCondLst>
                              <p:cond delay="1"/>
                            </p:stCondLst>
                            <p:childTnLst>
                              <p:par>
                                <p:cTn id="8" presetID="22" presetClass="entr" presetSubtype="1" fill="hold" nodeType="afterEffect">
                                  <p:stCondLst>
                                    <p:cond delay="1000"/>
                                  </p:stCondLst>
                                  <p:childTnLst>
                                    <p:set>
                                      <p:cBhvr>
                                        <p:cTn id="9" dur="1" fill="hold">
                                          <p:stCondLst>
                                            <p:cond delay="0"/>
                                          </p:stCondLst>
                                        </p:cTn>
                                        <p:tgtEl>
                                          <p:spTgt spid="26"/>
                                        </p:tgtEl>
                                        <p:attrNameLst>
                                          <p:attrName>style.visibility</p:attrName>
                                        </p:attrNameLst>
                                      </p:cBhvr>
                                      <p:to>
                                        <p:strVal val="visible"/>
                                      </p:to>
                                    </p:set>
                                    <p:animEffect transition="in" filter="wipe(up)">
                                      <p:cBhvr>
                                        <p:cTn id="10" dur="1000"/>
                                        <p:tgtEl>
                                          <p:spTgt spid="26"/>
                                        </p:tgtEl>
                                      </p:cBhvr>
                                    </p:animEffect>
                                  </p:childTnLst>
                                </p:cTn>
                              </p:par>
                            </p:childTnLst>
                          </p:cTn>
                        </p:par>
                        <p:par>
                          <p:cTn id="11" fill="hold" nodeType="afterGroup">
                            <p:stCondLst>
                              <p:cond delay="2001"/>
                            </p:stCondLst>
                            <p:childTnLst>
                              <p:par>
                                <p:cTn id="12" presetID="22" presetClass="entr" presetSubtype="2" fill="hold" nodeType="after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wipe(right)">
                                      <p:cBhvr>
                                        <p:cTn id="14" dur="1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87201" name="Group 2"/>
          <p:cNvGrpSpPr>
            <a:grpSpLocks/>
          </p:cNvGrpSpPr>
          <p:nvPr/>
        </p:nvGrpSpPr>
        <p:grpSpPr bwMode="auto">
          <a:xfrm>
            <a:off x="2890838" y="2349500"/>
            <a:ext cx="4248150" cy="4062413"/>
            <a:chOff x="1474" y="1888"/>
            <a:chExt cx="2676" cy="2432"/>
          </a:xfrm>
        </p:grpSpPr>
        <p:sp>
          <p:nvSpPr>
            <p:cNvPr id="5" name="Line 3"/>
            <p:cNvSpPr>
              <a:spLocks noChangeShapeType="1"/>
            </p:cNvSpPr>
            <p:nvPr/>
          </p:nvSpPr>
          <p:spPr bwMode="auto">
            <a:xfrm>
              <a:off x="1474" y="1888"/>
              <a:ext cx="0" cy="2432"/>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ysClr val="windowText" lastClr="000000"/>
                </a:solidFill>
              </a:endParaRPr>
            </a:p>
          </p:txBody>
        </p:sp>
        <p:sp>
          <p:nvSpPr>
            <p:cNvPr id="6" name="Line 4"/>
            <p:cNvSpPr>
              <a:spLocks noChangeShapeType="1"/>
            </p:cNvSpPr>
            <p:nvPr/>
          </p:nvSpPr>
          <p:spPr bwMode="auto">
            <a:xfrm>
              <a:off x="4150" y="1888"/>
              <a:ext cx="0" cy="2432"/>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kern="0">
                <a:solidFill>
                  <a:sysClr val="windowText" lastClr="000000"/>
                </a:solidFill>
              </a:endParaRPr>
            </a:p>
          </p:txBody>
        </p:sp>
      </p:grpSp>
      <p:sp>
        <p:nvSpPr>
          <p:cNvPr id="7" name="AutoShape 5"/>
          <p:cNvSpPr>
            <a:spLocks noChangeArrowheads="1"/>
          </p:cNvSpPr>
          <p:nvPr/>
        </p:nvSpPr>
        <p:spPr bwMode="auto">
          <a:xfrm rot="-651552">
            <a:off x="4137025" y="3895725"/>
            <a:ext cx="676275" cy="236538"/>
          </a:xfrm>
          <a:prstGeom prst="leftArrow">
            <a:avLst>
              <a:gd name="adj1" fmla="val 53620"/>
              <a:gd name="adj2" fmla="val 119816"/>
            </a:avLst>
          </a:prstGeom>
          <a:solidFill>
            <a:srgbClr val="FF0000"/>
          </a:solidFill>
          <a:ln w="12700" algn="ctr">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8" name="AutoShape 6"/>
          <p:cNvSpPr>
            <a:spLocks noChangeArrowheads="1"/>
          </p:cNvSpPr>
          <p:nvPr/>
        </p:nvSpPr>
        <p:spPr bwMode="auto">
          <a:xfrm>
            <a:off x="3846513" y="1863725"/>
            <a:ext cx="2384425" cy="252413"/>
          </a:xfrm>
          <a:prstGeom prst="leftRightArrow">
            <a:avLst>
              <a:gd name="adj1" fmla="val 55880"/>
              <a:gd name="adj2" fmla="val 108285"/>
            </a:avLst>
          </a:prstGeom>
          <a:solidFill>
            <a:srgbClr val="FF0000"/>
          </a:solidFill>
          <a:ln w="12700" algn="ctr">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nvGrpSpPr>
          <p:cNvPr id="1587206" name="Group 7"/>
          <p:cNvGrpSpPr>
            <a:grpSpLocks/>
          </p:cNvGrpSpPr>
          <p:nvPr/>
        </p:nvGrpSpPr>
        <p:grpSpPr bwMode="auto">
          <a:xfrm>
            <a:off x="2913063" y="2355850"/>
            <a:ext cx="4133850" cy="768350"/>
            <a:chOff x="1614" y="1484"/>
            <a:chExt cx="2604" cy="484"/>
          </a:xfrm>
        </p:grpSpPr>
        <p:sp>
          <p:nvSpPr>
            <p:cNvPr id="10" name="Rectangle 8"/>
            <p:cNvSpPr>
              <a:spLocks noChangeArrowheads="1"/>
            </p:cNvSpPr>
            <p:nvPr/>
          </p:nvSpPr>
          <p:spPr bwMode="auto">
            <a:xfrm rot="597975">
              <a:off x="2449" y="1520"/>
              <a:ext cx="129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sz="2000" b="1" kern="0">
                  <a:solidFill>
                    <a:srgbClr val="3333CC"/>
                  </a:solidFill>
                  <a:latin typeface="+mn-lt"/>
                  <a:ea typeface="黑体" panose="02010609060101010101" pitchFamily="2" charset="-122"/>
                </a:rPr>
                <a:t>FIN = 1, seq = u</a:t>
              </a:r>
            </a:p>
          </p:txBody>
        </p:sp>
        <p:sp>
          <p:nvSpPr>
            <p:cNvPr id="11" name="Line 9"/>
            <p:cNvSpPr>
              <a:spLocks noChangeShapeType="1"/>
            </p:cNvSpPr>
            <p:nvPr/>
          </p:nvSpPr>
          <p:spPr bwMode="auto">
            <a:xfrm>
              <a:off x="1614" y="1484"/>
              <a:ext cx="2604" cy="484"/>
            </a:xfrm>
            <a:prstGeom prst="line">
              <a:avLst/>
            </a:prstGeom>
            <a:noFill/>
            <a:ln w="381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grpSp>
        <p:nvGrpSpPr>
          <p:cNvPr id="1587209" name="Group 10"/>
          <p:cNvGrpSpPr>
            <a:grpSpLocks/>
          </p:cNvGrpSpPr>
          <p:nvPr/>
        </p:nvGrpSpPr>
        <p:grpSpPr bwMode="auto">
          <a:xfrm>
            <a:off x="2927350" y="3167063"/>
            <a:ext cx="4133850" cy="769937"/>
            <a:chOff x="1623" y="1995"/>
            <a:chExt cx="2604" cy="485"/>
          </a:xfrm>
        </p:grpSpPr>
        <p:sp>
          <p:nvSpPr>
            <p:cNvPr id="13" name="Rectangle 11"/>
            <p:cNvSpPr>
              <a:spLocks noChangeArrowheads="1"/>
            </p:cNvSpPr>
            <p:nvPr/>
          </p:nvSpPr>
          <p:spPr bwMode="auto">
            <a:xfrm rot="20990024" flipH="1">
              <a:off x="1828" y="2020"/>
              <a:ext cx="203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ACK = 1, seq = v, ack= u </a:t>
              </a:r>
              <a:r>
                <a:rPr lang="en-US" altLang="zh-CN" b="1" kern="0">
                  <a:solidFill>
                    <a:srgbClr val="3333CC"/>
                  </a:solidFill>
                  <a:latin typeface="+mn-lt"/>
                  <a:ea typeface="黑体" panose="02010609060101010101" pitchFamily="2" charset="-122"/>
                  <a:sym typeface="Symbol" panose="05050102010706020507" pitchFamily="18" charset="2"/>
                </a:rPr>
                <a:t> 1</a:t>
              </a:r>
              <a:endParaRPr lang="en-US" altLang="zh-CN" b="1" kern="0">
                <a:solidFill>
                  <a:srgbClr val="3333CC"/>
                </a:solidFill>
                <a:latin typeface="+mn-lt"/>
                <a:ea typeface="黑体" panose="02010609060101010101" pitchFamily="2" charset="-122"/>
              </a:endParaRPr>
            </a:p>
          </p:txBody>
        </p:sp>
        <p:sp>
          <p:nvSpPr>
            <p:cNvPr id="14" name="Line 12"/>
            <p:cNvSpPr>
              <a:spLocks noChangeShapeType="1"/>
            </p:cNvSpPr>
            <p:nvPr/>
          </p:nvSpPr>
          <p:spPr bwMode="auto">
            <a:xfrm flipH="1">
              <a:off x="1623" y="1995"/>
              <a:ext cx="2604" cy="485"/>
            </a:xfrm>
            <a:prstGeom prst="line">
              <a:avLst/>
            </a:prstGeom>
            <a:noFill/>
            <a:ln w="381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grpSp>
        <p:nvGrpSpPr>
          <p:cNvPr id="1587212" name="Group 13"/>
          <p:cNvGrpSpPr>
            <a:grpSpLocks/>
          </p:cNvGrpSpPr>
          <p:nvPr/>
        </p:nvGrpSpPr>
        <p:grpSpPr bwMode="auto">
          <a:xfrm>
            <a:off x="2892425" y="4086225"/>
            <a:ext cx="4298950" cy="787400"/>
            <a:chOff x="1601" y="2574"/>
            <a:chExt cx="2708" cy="496"/>
          </a:xfrm>
        </p:grpSpPr>
        <p:sp>
          <p:nvSpPr>
            <p:cNvPr id="16" name="Line 14"/>
            <p:cNvSpPr>
              <a:spLocks noChangeShapeType="1"/>
            </p:cNvSpPr>
            <p:nvPr/>
          </p:nvSpPr>
          <p:spPr bwMode="auto">
            <a:xfrm flipH="1">
              <a:off x="1601" y="2585"/>
              <a:ext cx="2604" cy="485"/>
            </a:xfrm>
            <a:prstGeom prst="line">
              <a:avLst/>
            </a:prstGeom>
            <a:noFill/>
            <a:ln w="381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17" name="Rectangle 15"/>
            <p:cNvSpPr>
              <a:spLocks noChangeArrowheads="1"/>
            </p:cNvSpPr>
            <p:nvPr/>
          </p:nvSpPr>
          <p:spPr bwMode="auto">
            <a:xfrm rot="20943314" flipH="1">
              <a:off x="1683" y="2574"/>
              <a:ext cx="262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FIN = 1, ACK = 1, seq = w, ack= u </a:t>
              </a:r>
              <a:r>
                <a:rPr lang="en-US" altLang="zh-CN" b="1" kern="0">
                  <a:solidFill>
                    <a:srgbClr val="3333CC"/>
                  </a:solidFill>
                  <a:latin typeface="+mn-lt"/>
                  <a:ea typeface="黑体" panose="02010609060101010101" pitchFamily="2" charset="-122"/>
                  <a:sym typeface="Symbol" panose="05050102010706020507" pitchFamily="18" charset="2"/>
                </a:rPr>
                <a:t> 1</a:t>
              </a:r>
              <a:endParaRPr lang="en-US" altLang="zh-CN" b="1" kern="0">
                <a:solidFill>
                  <a:srgbClr val="3333CC"/>
                </a:solidFill>
                <a:latin typeface="+mn-lt"/>
                <a:ea typeface="黑体" panose="02010609060101010101" pitchFamily="2" charset="-122"/>
              </a:endParaRPr>
            </a:p>
          </p:txBody>
        </p:sp>
      </p:grpSp>
      <p:sp>
        <p:nvSpPr>
          <p:cNvPr id="18" name="Rectangle 16"/>
          <p:cNvSpPr>
            <a:spLocks noChangeArrowheads="1"/>
          </p:cNvSpPr>
          <p:nvPr/>
        </p:nvSpPr>
        <p:spPr bwMode="auto">
          <a:xfrm>
            <a:off x="1957388" y="1611313"/>
            <a:ext cx="954087" cy="673100"/>
          </a:xfrm>
          <a:prstGeom prst="rect">
            <a:avLst/>
          </a:prstGeom>
          <a:solidFill>
            <a:srgbClr val="CCFF99"/>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19" name="Rectangle 17"/>
          <p:cNvSpPr>
            <a:spLocks noChangeArrowheads="1"/>
          </p:cNvSpPr>
          <p:nvPr/>
        </p:nvSpPr>
        <p:spPr bwMode="auto">
          <a:xfrm>
            <a:off x="7043738" y="1611313"/>
            <a:ext cx="955675" cy="1479550"/>
          </a:xfrm>
          <a:prstGeom prst="rect">
            <a:avLst/>
          </a:prstGeom>
          <a:solidFill>
            <a:srgbClr val="CCFF99"/>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nvGrpSpPr>
          <p:cNvPr id="1587217" name="Group 18"/>
          <p:cNvGrpSpPr>
            <a:grpSpLocks/>
          </p:cNvGrpSpPr>
          <p:nvPr/>
        </p:nvGrpSpPr>
        <p:grpSpPr bwMode="auto">
          <a:xfrm>
            <a:off x="1858963" y="1528763"/>
            <a:ext cx="6278562" cy="82550"/>
            <a:chOff x="1020" y="481"/>
            <a:chExt cx="4037" cy="46"/>
          </a:xfrm>
        </p:grpSpPr>
        <p:sp>
          <p:nvSpPr>
            <p:cNvPr id="21" name="Line 19"/>
            <p:cNvSpPr>
              <a:spLocks noChangeShapeType="1"/>
            </p:cNvSpPr>
            <p:nvPr/>
          </p:nvSpPr>
          <p:spPr bwMode="auto">
            <a:xfrm>
              <a:off x="1020" y="527"/>
              <a:ext cx="4037" cy="0"/>
            </a:xfrm>
            <a:prstGeom prst="line">
              <a:avLst/>
            </a:prstGeom>
            <a:noFill/>
            <a:ln w="12700">
              <a:solidFill>
                <a:srgbClr val="33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22" name="Line 20"/>
            <p:cNvSpPr>
              <a:spLocks noChangeShapeType="1"/>
            </p:cNvSpPr>
            <p:nvPr/>
          </p:nvSpPr>
          <p:spPr bwMode="auto">
            <a:xfrm>
              <a:off x="1020" y="481"/>
              <a:ext cx="4037" cy="0"/>
            </a:xfrm>
            <a:prstGeom prst="line">
              <a:avLst/>
            </a:prstGeom>
            <a:noFill/>
            <a:ln w="12700">
              <a:solidFill>
                <a:srgbClr val="33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grpSp>
        <p:nvGrpSpPr>
          <p:cNvPr id="1587220" name="Group 21"/>
          <p:cNvGrpSpPr>
            <a:grpSpLocks/>
          </p:cNvGrpSpPr>
          <p:nvPr/>
        </p:nvGrpSpPr>
        <p:grpSpPr bwMode="auto">
          <a:xfrm>
            <a:off x="849313" y="1257300"/>
            <a:ext cx="1403350" cy="1082675"/>
            <a:chOff x="314" y="792"/>
            <a:chExt cx="884" cy="682"/>
          </a:xfrm>
        </p:grpSpPr>
        <p:sp>
          <p:nvSpPr>
            <p:cNvPr id="24" name="Freeform 22"/>
            <p:cNvSpPr/>
            <p:nvPr/>
          </p:nvSpPr>
          <p:spPr bwMode="auto">
            <a:xfrm>
              <a:off x="349" y="792"/>
              <a:ext cx="849"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25" name="Rectangle 23"/>
            <p:cNvSpPr>
              <a:spLocks noChangeArrowheads="1"/>
            </p:cNvSpPr>
            <p:nvPr/>
          </p:nvSpPr>
          <p:spPr bwMode="auto">
            <a:xfrm>
              <a:off x="314" y="1227"/>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主动关闭</a:t>
              </a:r>
            </a:p>
          </p:txBody>
        </p:sp>
      </p:grpSp>
      <p:grpSp>
        <p:nvGrpSpPr>
          <p:cNvPr id="1587223" name="Group 24"/>
          <p:cNvGrpSpPr>
            <a:grpSpLocks/>
          </p:cNvGrpSpPr>
          <p:nvPr/>
        </p:nvGrpSpPr>
        <p:grpSpPr bwMode="auto">
          <a:xfrm>
            <a:off x="7762875" y="1190625"/>
            <a:ext cx="1408113" cy="2905125"/>
            <a:chOff x="4669" y="750"/>
            <a:chExt cx="887" cy="1830"/>
          </a:xfrm>
        </p:grpSpPr>
        <p:sp>
          <p:nvSpPr>
            <p:cNvPr id="27" name="Freeform 25"/>
            <p:cNvSpPr/>
            <p:nvPr/>
          </p:nvSpPr>
          <p:spPr bwMode="auto">
            <a:xfrm>
              <a:off x="4669" y="750"/>
              <a:ext cx="887" cy="1830"/>
            </a:xfrm>
            <a:custGeom>
              <a:avLst/>
              <a:gdLst>
                <a:gd name="T0" fmla="*/ 0 w 868"/>
                <a:gd name="T1" fmla="*/ 0 h 1493"/>
                <a:gd name="T2" fmla="*/ 887 w 868"/>
                <a:gd name="T3" fmla="*/ 9 h 1493"/>
                <a:gd name="T4" fmla="*/ 887 w 868"/>
                <a:gd name="T5" fmla="*/ 1830 h 1493"/>
                <a:gd name="T6" fmla="*/ 127 w 868"/>
                <a:gd name="T7" fmla="*/ 1830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28" name="Rectangle 26"/>
            <p:cNvSpPr>
              <a:spLocks noChangeArrowheads="1"/>
            </p:cNvSpPr>
            <p:nvPr/>
          </p:nvSpPr>
          <p:spPr bwMode="auto">
            <a:xfrm>
              <a:off x="4855" y="2306"/>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被动关闭</a:t>
              </a:r>
            </a:p>
          </p:txBody>
        </p:sp>
      </p:grpSp>
      <p:sp>
        <p:nvSpPr>
          <p:cNvPr id="29" name="Rectangle 27"/>
          <p:cNvSpPr>
            <a:spLocks noChangeArrowheads="1"/>
          </p:cNvSpPr>
          <p:nvPr/>
        </p:nvSpPr>
        <p:spPr bwMode="auto">
          <a:xfrm>
            <a:off x="4481513" y="1778000"/>
            <a:ext cx="1214437" cy="396875"/>
          </a:xfrm>
          <a:prstGeom prst="rect">
            <a:avLst/>
          </a:prstGeom>
          <a:solidFill>
            <a:srgbClr val="CCECFF"/>
          </a:solidFill>
          <a:ln w="38100" cmpd="dbl" algn="ctr">
            <a:solidFill>
              <a:srgbClr val="3333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sz="2000" b="1" kern="0">
                <a:solidFill>
                  <a:srgbClr val="3333CC"/>
                </a:solidFill>
                <a:latin typeface="+mn-lt"/>
                <a:ea typeface="黑体" panose="02010609060101010101" pitchFamily="2" charset="-122"/>
              </a:rPr>
              <a:t>数据传送</a:t>
            </a:r>
          </a:p>
        </p:txBody>
      </p:sp>
      <p:grpSp>
        <p:nvGrpSpPr>
          <p:cNvPr id="1587227" name="Group 28"/>
          <p:cNvGrpSpPr>
            <a:grpSpLocks/>
          </p:cNvGrpSpPr>
          <p:nvPr/>
        </p:nvGrpSpPr>
        <p:grpSpPr bwMode="auto">
          <a:xfrm>
            <a:off x="7804150" y="1376363"/>
            <a:ext cx="1206500" cy="1789112"/>
            <a:chOff x="4695" y="867"/>
            <a:chExt cx="760" cy="1127"/>
          </a:xfrm>
        </p:grpSpPr>
        <p:sp>
          <p:nvSpPr>
            <p:cNvPr id="31" name="Freeform 29"/>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32" name="Rectangle 30"/>
            <p:cNvSpPr>
              <a:spLocks noChangeArrowheads="1"/>
            </p:cNvSpPr>
            <p:nvPr/>
          </p:nvSpPr>
          <p:spPr bwMode="auto">
            <a:xfrm>
              <a:off x="5047" y="1120"/>
              <a:ext cx="408" cy="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通知</a:t>
              </a:r>
            </a:p>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应用</a:t>
              </a:r>
            </a:p>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进程</a:t>
              </a:r>
            </a:p>
          </p:txBody>
        </p:sp>
      </p:grpSp>
      <p:sp>
        <p:nvSpPr>
          <p:cNvPr id="33" name="Rectangle 31"/>
          <p:cNvSpPr>
            <a:spLocks noChangeArrowheads="1"/>
          </p:cNvSpPr>
          <p:nvPr/>
        </p:nvSpPr>
        <p:spPr bwMode="auto">
          <a:xfrm>
            <a:off x="1938338" y="1622425"/>
            <a:ext cx="1041400"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ESTAB-</a:t>
            </a:r>
          </a:p>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LISHED</a:t>
            </a:r>
          </a:p>
        </p:txBody>
      </p:sp>
      <p:sp>
        <p:nvSpPr>
          <p:cNvPr id="34" name="Rectangle 32"/>
          <p:cNvSpPr>
            <a:spLocks noChangeArrowheads="1"/>
          </p:cNvSpPr>
          <p:nvPr/>
        </p:nvSpPr>
        <p:spPr bwMode="auto">
          <a:xfrm>
            <a:off x="7024688" y="2058988"/>
            <a:ext cx="1041400"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ESTAB-</a:t>
            </a:r>
          </a:p>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LISHED</a:t>
            </a:r>
          </a:p>
        </p:txBody>
      </p:sp>
      <p:pic>
        <p:nvPicPr>
          <p:cNvPr id="1587232" name="Picture 3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82813" y="969963"/>
            <a:ext cx="504825"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87233" name="Picture 3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69163" y="969963"/>
            <a:ext cx="504825"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 name="Rectangle 35"/>
          <p:cNvSpPr>
            <a:spLocks noChangeArrowheads="1"/>
          </p:cNvSpPr>
          <p:nvPr/>
        </p:nvSpPr>
        <p:spPr bwMode="auto">
          <a:xfrm>
            <a:off x="2573338" y="938213"/>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A</a:t>
            </a:r>
          </a:p>
        </p:txBody>
      </p:sp>
      <p:sp>
        <p:nvSpPr>
          <p:cNvPr id="38" name="Rectangle 36"/>
          <p:cNvSpPr>
            <a:spLocks noChangeArrowheads="1"/>
          </p:cNvSpPr>
          <p:nvPr/>
        </p:nvSpPr>
        <p:spPr bwMode="auto">
          <a:xfrm>
            <a:off x="7073900" y="938213"/>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B</a:t>
            </a:r>
          </a:p>
        </p:txBody>
      </p:sp>
      <p:sp>
        <p:nvSpPr>
          <p:cNvPr id="39" name="Rectangle 37"/>
          <p:cNvSpPr>
            <a:spLocks noChangeArrowheads="1"/>
          </p:cNvSpPr>
          <p:nvPr/>
        </p:nvSpPr>
        <p:spPr bwMode="auto">
          <a:xfrm>
            <a:off x="2117725" y="647700"/>
            <a:ext cx="6461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客户</a:t>
            </a:r>
          </a:p>
        </p:txBody>
      </p:sp>
      <p:sp>
        <p:nvSpPr>
          <p:cNvPr id="40" name="Rectangle 38"/>
          <p:cNvSpPr>
            <a:spLocks noChangeArrowheads="1"/>
          </p:cNvSpPr>
          <p:nvPr/>
        </p:nvSpPr>
        <p:spPr bwMode="auto">
          <a:xfrm>
            <a:off x="7085013" y="647700"/>
            <a:ext cx="8794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服务器</a:t>
            </a:r>
          </a:p>
        </p:txBody>
      </p:sp>
      <p:sp>
        <p:nvSpPr>
          <p:cNvPr id="41" name="Rectangle 39"/>
          <p:cNvSpPr>
            <a:spLocks noChangeArrowheads="1"/>
          </p:cNvSpPr>
          <p:nvPr/>
        </p:nvSpPr>
        <p:spPr bwMode="auto">
          <a:xfrm rot="-628888">
            <a:off x="4652963" y="3629025"/>
            <a:ext cx="1214437" cy="398463"/>
          </a:xfrm>
          <a:prstGeom prst="rect">
            <a:avLst/>
          </a:prstGeom>
          <a:solidFill>
            <a:srgbClr val="CCECFF"/>
          </a:solidFill>
          <a:ln w="38100" cmpd="dbl" algn="ctr">
            <a:solidFill>
              <a:srgbClr val="3333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sz="2000" b="1" kern="0">
                <a:solidFill>
                  <a:srgbClr val="3333CC"/>
                </a:solidFill>
                <a:latin typeface="+mn-lt"/>
                <a:ea typeface="黑体" panose="02010609060101010101" pitchFamily="2" charset="-122"/>
              </a:rPr>
              <a:t>数据传送</a:t>
            </a:r>
          </a:p>
        </p:txBody>
      </p:sp>
      <p:sp>
        <p:nvSpPr>
          <p:cNvPr id="42" name="Text Box 41"/>
          <p:cNvSpPr txBox="1">
            <a:spLocks noChangeArrowheads="1"/>
          </p:cNvSpPr>
          <p:nvPr/>
        </p:nvSpPr>
        <p:spPr bwMode="auto">
          <a:xfrm>
            <a:off x="1371600" y="6021388"/>
            <a:ext cx="7397750" cy="528637"/>
          </a:xfrm>
          <a:prstGeom prst="rect">
            <a:avLst/>
          </a:prstGeom>
          <a:solidFill>
            <a:srgbClr val="FFFF99"/>
          </a:solidFill>
          <a:ln w="9525">
            <a:solidFill>
              <a:srgbClr val="3333CC"/>
            </a:solidFill>
            <a:miter lim="800000"/>
          </a:ln>
          <a:effectLst>
            <a:outerShdw dist="35921" dir="2700000" algn="ctr" rotWithShape="0">
              <a:srgbClr val="1C1C1C"/>
            </a:outerShdw>
          </a:effec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buFontTx/>
              <a:buChar char="•"/>
              <a:defRPr/>
            </a:pPr>
            <a:r>
              <a:rPr kumimoji="0" lang="en-US" altLang="zh-CN" sz="2800" kern="0">
                <a:solidFill>
                  <a:srgbClr val="000099"/>
                </a:solidFill>
                <a:latin typeface="Arial" panose="020B0604020202020204" pitchFamily="34" charset="0"/>
                <a:ea typeface="黑体" panose="02010609060101010101" pitchFamily="2" charset="-122"/>
              </a:rPr>
              <a:t>  A </a:t>
            </a:r>
            <a:r>
              <a:rPr kumimoji="0" lang="zh-CN" altLang="en-US" sz="2800" kern="0">
                <a:solidFill>
                  <a:srgbClr val="000099"/>
                </a:solidFill>
                <a:latin typeface="Arial" panose="020B0604020202020204" pitchFamily="34" charset="0"/>
                <a:ea typeface="黑体" panose="02010609060101010101" pitchFamily="2" charset="-122"/>
              </a:rPr>
              <a:t>收到连接释放报文段后，必须发出确认。 </a:t>
            </a:r>
          </a:p>
        </p:txBody>
      </p:sp>
      <p:grpSp>
        <p:nvGrpSpPr>
          <p:cNvPr id="43" name="Group 42"/>
          <p:cNvGrpSpPr>
            <a:grpSpLocks/>
          </p:cNvGrpSpPr>
          <p:nvPr/>
        </p:nvGrpSpPr>
        <p:grpSpPr bwMode="auto">
          <a:xfrm>
            <a:off x="2913063" y="4933950"/>
            <a:ext cx="4189412" cy="769938"/>
            <a:chOff x="1614" y="3081"/>
            <a:chExt cx="2639" cy="485"/>
          </a:xfrm>
        </p:grpSpPr>
        <p:sp>
          <p:nvSpPr>
            <p:cNvPr id="44" name="Rectangle 43"/>
            <p:cNvSpPr>
              <a:spLocks noChangeArrowheads="1"/>
            </p:cNvSpPr>
            <p:nvPr/>
          </p:nvSpPr>
          <p:spPr bwMode="auto">
            <a:xfrm rot="610931">
              <a:off x="1901" y="3121"/>
              <a:ext cx="235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dirty="0">
                  <a:solidFill>
                    <a:srgbClr val="3333CC"/>
                  </a:solidFill>
                  <a:latin typeface="+mn-lt"/>
                  <a:ea typeface="黑体" panose="02010609060101010101" pitchFamily="2" charset="-122"/>
                </a:rPr>
                <a:t>ACK = 1, </a:t>
              </a:r>
              <a:r>
                <a:rPr lang="en-US" altLang="zh-CN" b="1" kern="0" dirty="0" err="1">
                  <a:solidFill>
                    <a:srgbClr val="3333CC"/>
                  </a:solidFill>
                  <a:latin typeface="+mn-lt"/>
                  <a:ea typeface="黑体" panose="02010609060101010101" pitchFamily="2" charset="-122"/>
                </a:rPr>
                <a:t>seq</a:t>
              </a:r>
              <a:r>
                <a:rPr lang="en-US" altLang="zh-CN" b="1" kern="0" dirty="0">
                  <a:solidFill>
                    <a:srgbClr val="3333CC"/>
                  </a:solidFill>
                  <a:latin typeface="+mn-lt"/>
                  <a:ea typeface="黑体" panose="02010609060101010101" pitchFamily="2" charset="-122"/>
                </a:rPr>
                <a:t> = u + 1, </a:t>
              </a:r>
              <a:r>
                <a:rPr lang="en-US" altLang="zh-CN" b="1" kern="0" dirty="0" err="1">
                  <a:solidFill>
                    <a:srgbClr val="3333CC"/>
                  </a:solidFill>
                  <a:latin typeface="+mn-lt"/>
                  <a:ea typeface="黑体" panose="02010609060101010101" pitchFamily="2" charset="-122"/>
                </a:rPr>
                <a:t>ack</a:t>
              </a:r>
              <a:r>
                <a:rPr lang="en-US" altLang="zh-CN" b="1" kern="0" dirty="0">
                  <a:solidFill>
                    <a:srgbClr val="3333CC"/>
                  </a:solidFill>
                  <a:latin typeface="+mn-lt"/>
                  <a:ea typeface="黑体" panose="02010609060101010101" pitchFamily="2" charset="-122"/>
                </a:rPr>
                <a:t> = w </a:t>
              </a:r>
              <a:r>
                <a:rPr lang="en-US" altLang="zh-CN" b="1" kern="0" dirty="0">
                  <a:solidFill>
                    <a:srgbClr val="3333CC"/>
                  </a:solidFill>
                  <a:latin typeface="+mn-lt"/>
                  <a:ea typeface="黑体" panose="02010609060101010101" pitchFamily="2" charset="-122"/>
                  <a:sym typeface="Symbol" panose="05050102010706020507" pitchFamily="18" charset="2"/>
                </a:rPr>
                <a:t> 1</a:t>
              </a:r>
            </a:p>
          </p:txBody>
        </p:sp>
        <p:sp>
          <p:nvSpPr>
            <p:cNvPr id="45" name="Line 44"/>
            <p:cNvSpPr>
              <a:spLocks noChangeShapeType="1"/>
            </p:cNvSpPr>
            <p:nvPr/>
          </p:nvSpPr>
          <p:spPr bwMode="auto">
            <a:xfrm>
              <a:off x="1614" y="3081"/>
              <a:ext cx="2604" cy="485"/>
            </a:xfrm>
            <a:prstGeom prst="line">
              <a:avLst/>
            </a:prstGeom>
            <a:noFill/>
            <a:ln w="381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sp>
        <p:nvSpPr>
          <p:cNvPr id="47" name="Text Box 30"/>
          <p:cNvSpPr txBox="1">
            <a:spLocks noChangeArrowheads="1"/>
          </p:cNvSpPr>
          <p:nvPr/>
        </p:nvSpPr>
        <p:spPr bwMode="auto">
          <a:xfrm>
            <a:off x="1131888" y="34925"/>
            <a:ext cx="7924800" cy="650875"/>
          </a:xfrm>
          <a:prstGeom prst="rect">
            <a:avLst/>
          </a:prstGeom>
          <a:solidFill>
            <a:srgbClr val="FFFF99"/>
          </a:solidFill>
          <a:ln w="9525">
            <a:solidFill>
              <a:srgbClr val="3333CC"/>
            </a:solidFill>
            <a:miter lim="800000"/>
          </a:ln>
          <a:effectLst>
            <a:outerShdw dist="35921" dir="2700000" algn="ctr" rotWithShape="0">
              <a:srgbClr val="1C1C1C"/>
            </a:outerShdw>
          </a:effec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en-US" altLang="zh-CN" sz="3600" kern="0" dirty="0">
                <a:solidFill>
                  <a:srgbClr val="333399"/>
                </a:solidFill>
                <a:latin typeface="Arial" panose="020B0604020202020204" pitchFamily="34" charset="0"/>
                <a:ea typeface="黑体" panose="02010609060101010101" pitchFamily="2" charset="-122"/>
              </a:rPr>
              <a:t>TCP </a:t>
            </a:r>
            <a:r>
              <a:rPr kumimoji="0" lang="zh-CN" altLang="en-US" sz="3600" kern="0" dirty="0">
                <a:solidFill>
                  <a:srgbClr val="333399"/>
                </a:solidFill>
                <a:latin typeface="Arial" panose="020B0604020202020204" pitchFamily="34" charset="0"/>
                <a:ea typeface="黑体" panose="02010609060101010101" pitchFamily="2" charset="-122"/>
              </a:rPr>
              <a:t>的连接释放：采用</a:t>
            </a:r>
            <a:r>
              <a:rPr kumimoji="0" lang="zh-CN" altLang="zh-CN" sz="3600" kern="0" noProof="1">
                <a:solidFill>
                  <a:srgbClr val="FF0000"/>
                </a:solidFill>
                <a:latin typeface="Arial" panose="020B0604020202020204" pitchFamily="34" charset="0"/>
                <a:ea typeface="黑体" panose="02010609060101010101" pitchFamily="2" charset="-122"/>
              </a:rPr>
              <a:t>四报文握手</a:t>
            </a:r>
            <a:endParaRPr kumimoji="0" lang="zh-CN" altLang="en-US" sz="3600" kern="0" noProof="1">
              <a:solidFill>
                <a:srgbClr val="FF0000"/>
              </a:solidFill>
              <a:latin typeface="Arial" panose="020B0604020202020204" pitchFamily="34" charset="0"/>
              <a:ea typeface="黑体" panose="02010609060101010101" pitchFamily="2" charset="-122"/>
            </a:endParaRPr>
          </a:p>
        </p:txBody>
      </p:sp>
      <p:sp>
        <p:nvSpPr>
          <p:cNvPr id="1587244" name="灯片编号占位符 4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F9AE0A23-7A12-4AE8-9075-76DF44E3D427}" type="slidenum">
              <a:rPr lang="zh-CN" altLang="en-US" smtClean="0"/>
              <a:pPr/>
              <a:t>18</a:t>
            </a:fld>
            <a:endParaRPr lang="en-US" altLang="zh-CN" smtClean="0"/>
          </a:p>
        </p:txBody>
      </p:sp>
      <p:sp>
        <p:nvSpPr>
          <p:cNvPr id="1587245" name="页脚占位符 47"/>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1000"/>
                                  </p:stCondLst>
                                  <p:childTnLst>
                                    <p:set>
                                      <p:cBhvr>
                                        <p:cTn id="6" dur="1" fill="hold">
                                          <p:stCondLst>
                                            <p:cond delay="0"/>
                                          </p:stCondLst>
                                        </p:cTn>
                                        <p:tgtEl>
                                          <p:spTgt spid="43"/>
                                        </p:tgtEl>
                                        <p:attrNameLst>
                                          <p:attrName>style.visibility</p:attrName>
                                        </p:attrNameLst>
                                      </p:cBhvr>
                                      <p:to>
                                        <p:strVal val="visible"/>
                                      </p:to>
                                    </p:set>
                                    <p:animEffect transition="in" filter="wipe(left)">
                                      <p:cBhvr>
                                        <p:cTn id="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88225" name="Group 2"/>
          <p:cNvGrpSpPr>
            <a:grpSpLocks/>
          </p:cNvGrpSpPr>
          <p:nvPr/>
        </p:nvGrpSpPr>
        <p:grpSpPr bwMode="auto">
          <a:xfrm>
            <a:off x="2881313" y="2349500"/>
            <a:ext cx="4248150" cy="4062413"/>
            <a:chOff x="1474" y="1888"/>
            <a:chExt cx="2676" cy="2432"/>
          </a:xfrm>
        </p:grpSpPr>
        <p:sp>
          <p:nvSpPr>
            <p:cNvPr id="5" name="Line 3"/>
            <p:cNvSpPr>
              <a:spLocks noChangeShapeType="1"/>
            </p:cNvSpPr>
            <p:nvPr/>
          </p:nvSpPr>
          <p:spPr bwMode="auto">
            <a:xfrm>
              <a:off x="1474" y="1888"/>
              <a:ext cx="0" cy="2432"/>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6" name="Line 4"/>
            <p:cNvSpPr>
              <a:spLocks noChangeShapeType="1"/>
            </p:cNvSpPr>
            <p:nvPr/>
          </p:nvSpPr>
          <p:spPr bwMode="auto">
            <a:xfrm>
              <a:off x="4150" y="1888"/>
              <a:ext cx="0" cy="2432"/>
            </a:xfrm>
            <a:prstGeom prst="line">
              <a:avLst/>
            </a:prstGeom>
            <a:noFill/>
            <a:ln w="28575">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sp>
        <p:nvSpPr>
          <p:cNvPr id="7" name="AutoShape 5"/>
          <p:cNvSpPr>
            <a:spLocks noChangeArrowheads="1"/>
          </p:cNvSpPr>
          <p:nvPr/>
        </p:nvSpPr>
        <p:spPr bwMode="auto">
          <a:xfrm rot="-651552">
            <a:off x="4157663" y="3895725"/>
            <a:ext cx="676275" cy="236538"/>
          </a:xfrm>
          <a:prstGeom prst="leftArrow">
            <a:avLst>
              <a:gd name="adj1" fmla="val 53620"/>
              <a:gd name="adj2" fmla="val 119816"/>
            </a:avLst>
          </a:prstGeom>
          <a:solidFill>
            <a:srgbClr val="FF0000"/>
          </a:solidFill>
          <a:ln w="12700" algn="ctr">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8" name="AutoShape 6"/>
          <p:cNvSpPr>
            <a:spLocks noChangeArrowheads="1"/>
          </p:cNvSpPr>
          <p:nvPr/>
        </p:nvSpPr>
        <p:spPr bwMode="auto">
          <a:xfrm>
            <a:off x="3867150" y="1863725"/>
            <a:ext cx="2384425" cy="252413"/>
          </a:xfrm>
          <a:prstGeom prst="leftRightArrow">
            <a:avLst>
              <a:gd name="adj1" fmla="val 55880"/>
              <a:gd name="adj2" fmla="val 108285"/>
            </a:avLst>
          </a:prstGeom>
          <a:solidFill>
            <a:srgbClr val="FF0000"/>
          </a:solidFill>
          <a:ln w="12700" algn="ctr">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nvGrpSpPr>
          <p:cNvPr id="1588230" name="Group 7"/>
          <p:cNvGrpSpPr>
            <a:grpSpLocks/>
          </p:cNvGrpSpPr>
          <p:nvPr/>
        </p:nvGrpSpPr>
        <p:grpSpPr bwMode="auto">
          <a:xfrm>
            <a:off x="2933700" y="2355850"/>
            <a:ext cx="4133850" cy="768350"/>
            <a:chOff x="1614" y="1484"/>
            <a:chExt cx="2604" cy="484"/>
          </a:xfrm>
        </p:grpSpPr>
        <p:sp>
          <p:nvSpPr>
            <p:cNvPr id="10" name="Rectangle 8"/>
            <p:cNvSpPr>
              <a:spLocks noChangeArrowheads="1"/>
            </p:cNvSpPr>
            <p:nvPr/>
          </p:nvSpPr>
          <p:spPr bwMode="auto">
            <a:xfrm rot="597975">
              <a:off x="2449" y="1520"/>
              <a:ext cx="129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sz="2000" b="1" kern="0">
                  <a:solidFill>
                    <a:srgbClr val="3333CC"/>
                  </a:solidFill>
                  <a:latin typeface="+mn-lt"/>
                  <a:ea typeface="黑体" panose="02010609060101010101" pitchFamily="2" charset="-122"/>
                </a:rPr>
                <a:t>FIN = 1, seq = u</a:t>
              </a:r>
            </a:p>
          </p:txBody>
        </p:sp>
        <p:sp>
          <p:nvSpPr>
            <p:cNvPr id="11" name="Line 9"/>
            <p:cNvSpPr>
              <a:spLocks noChangeShapeType="1"/>
            </p:cNvSpPr>
            <p:nvPr/>
          </p:nvSpPr>
          <p:spPr bwMode="auto">
            <a:xfrm>
              <a:off x="1614" y="1484"/>
              <a:ext cx="2604" cy="484"/>
            </a:xfrm>
            <a:prstGeom prst="line">
              <a:avLst/>
            </a:prstGeom>
            <a:noFill/>
            <a:ln w="381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grpSp>
        <p:nvGrpSpPr>
          <p:cNvPr id="1588233" name="Group 10"/>
          <p:cNvGrpSpPr>
            <a:grpSpLocks/>
          </p:cNvGrpSpPr>
          <p:nvPr/>
        </p:nvGrpSpPr>
        <p:grpSpPr bwMode="auto">
          <a:xfrm>
            <a:off x="2947988" y="3167063"/>
            <a:ext cx="4133850" cy="769937"/>
            <a:chOff x="1623" y="1995"/>
            <a:chExt cx="2604" cy="485"/>
          </a:xfrm>
        </p:grpSpPr>
        <p:sp>
          <p:nvSpPr>
            <p:cNvPr id="13" name="Rectangle 11"/>
            <p:cNvSpPr>
              <a:spLocks noChangeArrowheads="1"/>
            </p:cNvSpPr>
            <p:nvPr/>
          </p:nvSpPr>
          <p:spPr bwMode="auto">
            <a:xfrm rot="20990024" flipH="1">
              <a:off x="1828" y="2020"/>
              <a:ext cx="203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ACK = 1, seq = v, ack= u </a:t>
              </a:r>
              <a:r>
                <a:rPr lang="en-US" altLang="zh-CN" b="1" kern="0">
                  <a:solidFill>
                    <a:srgbClr val="3333CC"/>
                  </a:solidFill>
                  <a:latin typeface="+mn-lt"/>
                  <a:ea typeface="黑体" panose="02010609060101010101" pitchFamily="2" charset="-122"/>
                  <a:sym typeface="Symbol" panose="05050102010706020507" pitchFamily="18" charset="2"/>
                </a:rPr>
                <a:t> 1</a:t>
              </a:r>
              <a:endParaRPr lang="en-US" altLang="zh-CN" b="1" kern="0">
                <a:solidFill>
                  <a:srgbClr val="3333CC"/>
                </a:solidFill>
                <a:latin typeface="+mn-lt"/>
                <a:ea typeface="黑体" panose="02010609060101010101" pitchFamily="2" charset="-122"/>
              </a:endParaRPr>
            </a:p>
          </p:txBody>
        </p:sp>
        <p:sp>
          <p:nvSpPr>
            <p:cNvPr id="14" name="Line 12"/>
            <p:cNvSpPr>
              <a:spLocks noChangeShapeType="1"/>
            </p:cNvSpPr>
            <p:nvPr/>
          </p:nvSpPr>
          <p:spPr bwMode="auto">
            <a:xfrm flipH="1">
              <a:off x="1623" y="1995"/>
              <a:ext cx="2604" cy="485"/>
            </a:xfrm>
            <a:prstGeom prst="line">
              <a:avLst/>
            </a:prstGeom>
            <a:noFill/>
            <a:ln w="381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grpSp>
        <p:nvGrpSpPr>
          <p:cNvPr id="1588236" name="Group 13"/>
          <p:cNvGrpSpPr>
            <a:grpSpLocks/>
          </p:cNvGrpSpPr>
          <p:nvPr/>
        </p:nvGrpSpPr>
        <p:grpSpPr bwMode="auto">
          <a:xfrm>
            <a:off x="2913063" y="4086225"/>
            <a:ext cx="4298950" cy="787400"/>
            <a:chOff x="1601" y="2574"/>
            <a:chExt cx="2708" cy="496"/>
          </a:xfrm>
        </p:grpSpPr>
        <p:sp>
          <p:nvSpPr>
            <p:cNvPr id="16" name="Line 14"/>
            <p:cNvSpPr>
              <a:spLocks noChangeShapeType="1"/>
            </p:cNvSpPr>
            <p:nvPr/>
          </p:nvSpPr>
          <p:spPr bwMode="auto">
            <a:xfrm flipH="1">
              <a:off x="1601" y="2585"/>
              <a:ext cx="2604" cy="485"/>
            </a:xfrm>
            <a:prstGeom prst="line">
              <a:avLst/>
            </a:prstGeom>
            <a:noFill/>
            <a:ln w="381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17" name="Rectangle 15"/>
            <p:cNvSpPr>
              <a:spLocks noChangeArrowheads="1"/>
            </p:cNvSpPr>
            <p:nvPr/>
          </p:nvSpPr>
          <p:spPr bwMode="auto">
            <a:xfrm rot="20943314" flipH="1">
              <a:off x="1683" y="2574"/>
              <a:ext cx="262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FIN = 1, ACK = 1, seq = w, ack= u </a:t>
              </a:r>
              <a:r>
                <a:rPr lang="en-US" altLang="zh-CN" b="1" kern="0">
                  <a:solidFill>
                    <a:srgbClr val="3333CC"/>
                  </a:solidFill>
                  <a:latin typeface="+mn-lt"/>
                  <a:ea typeface="黑体" panose="02010609060101010101" pitchFamily="2" charset="-122"/>
                  <a:sym typeface="Symbol" panose="05050102010706020507" pitchFamily="18" charset="2"/>
                </a:rPr>
                <a:t> 1</a:t>
              </a:r>
              <a:endParaRPr lang="en-US" altLang="zh-CN" b="1" kern="0">
                <a:solidFill>
                  <a:srgbClr val="3333CC"/>
                </a:solidFill>
                <a:latin typeface="+mn-lt"/>
                <a:ea typeface="黑体" panose="02010609060101010101" pitchFamily="2" charset="-122"/>
              </a:endParaRPr>
            </a:p>
          </p:txBody>
        </p:sp>
      </p:grpSp>
      <p:sp>
        <p:nvSpPr>
          <p:cNvPr id="18" name="Rectangle 16"/>
          <p:cNvSpPr>
            <a:spLocks noChangeArrowheads="1"/>
          </p:cNvSpPr>
          <p:nvPr/>
        </p:nvSpPr>
        <p:spPr bwMode="auto">
          <a:xfrm>
            <a:off x="1978025" y="1611313"/>
            <a:ext cx="954088" cy="673100"/>
          </a:xfrm>
          <a:prstGeom prst="rect">
            <a:avLst/>
          </a:prstGeom>
          <a:solidFill>
            <a:srgbClr val="CCFF99"/>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19" name="Rectangle 17"/>
          <p:cNvSpPr>
            <a:spLocks noChangeArrowheads="1"/>
          </p:cNvSpPr>
          <p:nvPr/>
        </p:nvSpPr>
        <p:spPr bwMode="auto">
          <a:xfrm>
            <a:off x="7064375" y="1611313"/>
            <a:ext cx="955675" cy="1479550"/>
          </a:xfrm>
          <a:prstGeom prst="rect">
            <a:avLst/>
          </a:prstGeom>
          <a:solidFill>
            <a:srgbClr val="CCFF99"/>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nvGrpSpPr>
          <p:cNvPr id="1588241" name="Group 18"/>
          <p:cNvGrpSpPr>
            <a:grpSpLocks/>
          </p:cNvGrpSpPr>
          <p:nvPr/>
        </p:nvGrpSpPr>
        <p:grpSpPr bwMode="auto">
          <a:xfrm>
            <a:off x="1879600" y="1528763"/>
            <a:ext cx="6278563" cy="82550"/>
            <a:chOff x="1020" y="481"/>
            <a:chExt cx="4037" cy="46"/>
          </a:xfrm>
        </p:grpSpPr>
        <p:sp>
          <p:nvSpPr>
            <p:cNvPr id="21" name="Line 19"/>
            <p:cNvSpPr>
              <a:spLocks noChangeShapeType="1"/>
            </p:cNvSpPr>
            <p:nvPr/>
          </p:nvSpPr>
          <p:spPr bwMode="auto">
            <a:xfrm>
              <a:off x="1020" y="527"/>
              <a:ext cx="4037" cy="0"/>
            </a:xfrm>
            <a:prstGeom prst="line">
              <a:avLst/>
            </a:prstGeom>
            <a:noFill/>
            <a:ln w="12700">
              <a:solidFill>
                <a:srgbClr val="33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22" name="Line 20"/>
            <p:cNvSpPr>
              <a:spLocks noChangeShapeType="1"/>
            </p:cNvSpPr>
            <p:nvPr/>
          </p:nvSpPr>
          <p:spPr bwMode="auto">
            <a:xfrm>
              <a:off x="1020" y="481"/>
              <a:ext cx="4037" cy="0"/>
            </a:xfrm>
            <a:prstGeom prst="line">
              <a:avLst/>
            </a:prstGeom>
            <a:noFill/>
            <a:ln w="12700">
              <a:solidFill>
                <a:srgbClr val="33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grpSp>
        <p:nvGrpSpPr>
          <p:cNvPr id="1588244" name="Group 21"/>
          <p:cNvGrpSpPr>
            <a:grpSpLocks/>
          </p:cNvGrpSpPr>
          <p:nvPr/>
        </p:nvGrpSpPr>
        <p:grpSpPr bwMode="auto">
          <a:xfrm>
            <a:off x="869950" y="1257300"/>
            <a:ext cx="1403350" cy="1082675"/>
            <a:chOff x="314" y="792"/>
            <a:chExt cx="884" cy="682"/>
          </a:xfrm>
        </p:grpSpPr>
        <p:sp>
          <p:nvSpPr>
            <p:cNvPr id="24" name="Freeform 22"/>
            <p:cNvSpPr/>
            <p:nvPr/>
          </p:nvSpPr>
          <p:spPr bwMode="auto">
            <a:xfrm>
              <a:off x="349" y="792"/>
              <a:ext cx="849"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25" name="Rectangle 23"/>
            <p:cNvSpPr>
              <a:spLocks noChangeArrowheads="1"/>
            </p:cNvSpPr>
            <p:nvPr/>
          </p:nvSpPr>
          <p:spPr bwMode="auto">
            <a:xfrm>
              <a:off x="314" y="1227"/>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主动关闭</a:t>
              </a:r>
            </a:p>
          </p:txBody>
        </p:sp>
      </p:grpSp>
      <p:grpSp>
        <p:nvGrpSpPr>
          <p:cNvPr id="1588247" name="Group 24"/>
          <p:cNvGrpSpPr>
            <a:grpSpLocks/>
          </p:cNvGrpSpPr>
          <p:nvPr/>
        </p:nvGrpSpPr>
        <p:grpSpPr bwMode="auto">
          <a:xfrm>
            <a:off x="7783513" y="1190625"/>
            <a:ext cx="1408112" cy="2905125"/>
            <a:chOff x="4669" y="750"/>
            <a:chExt cx="887" cy="1830"/>
          </a:xfrm>
        </p:grpSpPr>
        <p:sp>
          <p:nvSpPr>
            <p:cNvPr id="27" name="Freeform 25"/>
            <p:cNvSpPr/>
            <p:nvPr/>
          </p:nvSpPr>
          <p:spPr bwMode="auto">
            <a:xfrm>
              <a:off x="4669" y="750"/>
              <a:ext cx="887" cy="1830"/>
            </a:xfrm>
            <a:custGeom>
              <a:avLst/>
              <a:gdLst>
                <a:gd name="T0" fmla="*/ 0 w 868"/>
                <a:gd name="T1" fmla="*/ 0 h 1493"/>
                <a:gd name="T2" fmla="*/ 887 w 868"/>
                <a:gd name="T3" fmla="*/ 9 h 1493"/>
                <a:gd name="T4" fmla="*/ 887 w 868"/>
                <a:gd name="T5" fmla="*/ 1830 h 1493"/>
                <a:gd name="T6" fmla="*/ 127 w 868"/>
                <a:gd name="T7" fmla="*/ 1830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28" name="Rectangle 26"/>
            <p:cNvSpPr>
              <a:spLocks noChangeArrowheads="1"/>
            </p:cNvSpPr>
            <p:nvPr/>
          </p:nvSpPr>
          <p:spPr bwMode="auto">
            <a:xfrm>
              <a:off x="4855" y="2306"/>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被动关闭</a:t>
              </a:r>
            </a:p>
          </p:txBody>
        </p:sp>
      </p:grpSp>
      <p:sp>
        <p:nvSpPr>
          <p:cNvPr id="29" name="Rectangle 27"/>
          <p:cNvSpPr>
            <a:spLocks noChangeArrowheads="1"/>
          </p:cNvSpPr>
          <p:nvPr/>
        </p:nvSpPr>
        <p:spPr bwMode="auto">
          <a:xfrm>
            <a:off x="4502150" y="1778000"/>
            <a:ext cx="1214438" cy="396875"/>
          </a:xfrm>
          <a:prstGeom prst="rect">
            <a:avLst/>
          </a:prstGeom>
          <a:solidFill>
            <a:srgbClr val="CCECFF"/>
          </a:solidFill>
          <a:ln w="38100" cmpd="dbl" algn="ctr">
            <a:solidFill>
              <a:srgbClr val="3333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sz="2000" b="1" kern="0">
                <a:solidFill>
                  <a:srgbClr val="3333CC"/>
                </a:solidFill>
                <a:latin typeface="+mn-lt"/>
                <a:ea typeface="黑体" panose="02010609060101010101" pitchFamily="2" charset="-122"/>
              </a:rPr>
              <a:t>数据传送</a:t>
            </a:r>
          </a:p>
        </p:txBody>
      </p:sp>
      <p:grpSp>
        <p:nvGrpSpPr>
          <p:cNvPr id="1588251" name="Group 28"/>
          <p:cNvGrpSpPr>
            <a:grpSpLocks/>
          </p:cNvGrpSpPr>
          <p:nvPr/>
        </p:nvGrpSpPr>
        <p:grpSpPr bwMode="auto">
          <a:xfrm>
            <a:off x="7824788" y="1376363"/>
            <a:ext cx="1206500" cy="1789112"/>
            <a:chOff x="4695" y="867"/>
            <a:chExt cx="760" cy="1127"/>
          </a:xfrm>
        </p:grpSpPr>
        <p:sp>
          <p:nvSpPr>
            <p:cNvPr id="31" name="Freeform 29"/>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32" name="Rectangle 30"/>
            <p:cNvSpPr>
              <a:spLocks noChangeArrowheads="1"/>
            </p:cNvSpPr>
            <p:nvPr/>
          </p:nvSpPr>
          <p:spPr bwMode="auto">
            <a:xfrm>
              <a:off x="5047" y="1120"/>
              <a:ext cx="408" cy="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通知</a:t>
              </a:r>
            </a:p>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应用</a:t>
              </a:r>
            </a:p>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进程</a:t>
              </a:r>
            </a:p>
          </p:txBody>
        </p:sp>
      </p:grpSp>
      <p:sp>
        <p:nvSpPr>
          <p:cNvPr id="33" name="Rectangle 31"/>
          <p:cNvSpPr>
            <a:spLocks noChangeArrowheads="1"/>
          </p:cNvSpPr>
          <p:nvPr/>
        </p:nvSpPr>
        <p:spPr bwMode="auto">
          <a:xfrm>
            <a:off x="1958975" y="1622425"/>
            <a:ext cx="1041400"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ESTAB-</a:t>
            </a:r>
          </a:p>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LISHED</a:t>
            </a:r>
          </a:p>
        </p:txBody>
      </p:sp>
      <p:sp>
        <p:nvSpPr>
          <p:cNvPr id="34" name="Rectangle 32"/>
          <p:cNvSpPr>
            <a:spLocks noChangeArrowheads="1"/>
          </p:cNvSpPr>
          <p:nvPr/>
        </p:nvSpPr>
        <p:spPr bwMode="auto">
          <a:xfrm>
            <a:off x="7045325" y="2058988"/>
            <a:ext cx="1041400"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ESTAB-</a:t>
            </a:r>
          </a:p>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LISHED</a:t>
            </a:r>
          </a:p>
        </p:txBody>
      </p:sp>
      <p:pic>
        <p:nvPicPr>
          <p:cNvPr id="1588256" name="Picture 3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03450" y="969963"/>
            <a:ext cx="504825"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88257" name="Picture 3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89800" y="969963"/>
            <a:ext cx="504825"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 name="Rectangle 35"/>
          <p:cNvSpPr>
            <a:spLocks noChangeArrowheads="1"/>
          </p:cNvSpPr>
          <p:nvPr/>
        </p:nvSpPr>
        <p:spPr bwMode="auto">
          <a:xfrm>
            <a:off x="2593975" y="938213"/>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A</a:t>
            </a:r>
          </a:p>
        </p:txBody>
      </p:sp>
      <p:sp>
        <p:nvSpPr>
          <p:cNvPr id="38" name="Rectangle 36"/>
          <p:cNvSpPr>
            <a:spLocks noChangeArrowheads="1"/>
          </p:cNvSpPr>
          <p:nvPr/>
        </p:nvSpPr>
        <p:spPr bwMode="auto">
          <a:xfrm>
            <a:off x="7094538" y="938213"/>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B</a:t>
            </a:r>
          </a:p>
        </p:txBody>
      </p:sp>
      <p:sp>
        <p:nvSpPr>
          <p:cNvPr id="39" name="Rectangle 37"/>
          <p:cNvSpPr>
            <a:spLocks noChangeArrowheads="1"/>
          </p:cNvSpPr>
          <p:nvPr/>
        </p:nvSpPr>
        <p:spPr bwMode="auto">
          <a:xfrm>
            <a:off x="2138363" y="647700"/>
            <a:ext cx="6477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客户</a:t>
            </a:r>
          </a:p>
        </p:txBody>
      </p:sp>
      <p:sp>
        <p:nvSpPr>
          <p:cNvPr id="40" name="Rectangle 38"/>
          <p:cNvSpPr>
            <a:spLocks noChangeArrowheads="1"/>
          </p:cNvSpPr>
          <p:nvPr/>
        </p:nvSpPr>
        <p:spPr bwMode="auto">
          <a:xfrm>
            <a:off x="7105650" y="647700"/>
            <a:ext cx="8794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服务器</a:t>
            </a:r>
          </a:p>
        </p:txBody>
      </p:sp>
      <p:sp>
        <p:nvSpPr>
          <p:cNvPr id="41" name="Rectangle 39"/>
          <p:cNvSpPr>
            <a:spLocks noChangeArrowheads="1"/>
          </p:cNvSpPr>
          <p:nvPr/>
        </p:nvSpPr>
        <p:spPr bwMode="auto">
          <a:xfrm rot="-628888">
            <a:off x="4673600" y="3629025"/>
            <a:ext cx="1216025" cy="398463"/>
          </a:xfrm>
          <a:prstGeom prst="rect">
            <a:avLst/>
          </a:prstGeom>
          <a:solidFill>
            <a:srgbClr val="CCECFF"/>
          </a:solidFill>
          <a:ln w="38100" cmpd="dbl" algn="ctr">
            <a:solidFill>
              <a:srgbClr val="3333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sz="2000" b="1" kern="0" dirty="0">
                <a:solidFill>
                  <a:srgbClr val="3333CC"/>
                </a:solidFill>
                <a:latin typeface="+mn-lt"/>
                <a:ea typeface="黑体" panose="02010609060101010101" pitchFamily="2" charset="-122"/>
              </a:rPr>
              <a:t>数据传送</a:t>
            </a:r>
          </a:p>
        </p:txBody>
      </p:sp>
      <p:sp>
        <p:nvSpPr>
          <p:cNvPr id="42" name="Text Box 41"/>
          <p:cNvSpPr txBox="1">
            <a:spLocks noChangeArrowheads="1"/>
          </p:cNvSpPr>
          <p:nvPr/>
        </p:nvSpPr>
        <p:spPr bwMode="auto">
          <a:xfrm>
            <a:off x="1136650" y="5786438"/>
            <a:ext cx="8226425" cy="955675"/>
          </a:xfrm>
          <a:prstGeom prst="rect">
            <a:avLst/>
          </a:prstGeom>
          <a:solidFill>
            <a:srgbClr val="FFFF99"/>
          </a:solidFill>
          <a:ln w="9525">
            <a:solidFill>
              <a:srgbClr val="3333CC"/>
            </a:solidFill>
            <a:miter lim="800000"/>
          </a:ln>
          <a:effectLst>
            <a:outerShdw dist="35921" dir="2700000" algn="ctr" rotWithShape="0">
              <a:srgbClr val="1C1C1C"/>
            </a:outerShdw>
          </a:effectLst>
        </p:spPr>
        <p:txBody>
          <a:bodyPr wrap="none">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buFontTx/>
              <a:buChar char="•"/>
            </a:pPr>
            <a:r>
              <a:rPr lang="en-US" altLang="zh-CN" sz="2800" b="1">
                <a:solidFill>
                  <a:srgbClr val="000099"/>
                </a:solidFill>
                <a:ea typeface="黑体" panose="02010609060101010101" pitchFamily="49" charset="-122"/>
              </a:rPr>
              <a:t>  </a:t>
            </a:r>
            <a:r>
              <a:rPr lang="zh-CN" altLang="en-US" sz="2800" b="1">
                <a:solidFill>
                  <a:srgbClr val="000099"/>
                </a:solidFill>
                <a:ea typeface="黑体" panose="02010609060101010101" pitchFamily="49" charset="-122"/>
              </a:rPr>
              <a:t>在确认报文段中 </a:t>
            </a:r>
            <a:r>
              <a:rPr lang="en-US" altLang="zh-CN" sz="2800" b="1">
                <a:solidFill>
                  <a:srgbClr val="000099"/>
                </a:solidFill>
                <a:ea typeface="黑体" panose="02010609060101010101" pitchFamily="49" charset="-122"/>
              </a:rPr>
              <a:t>ACK = 1</a:t>
            </a:r>
            <a:r>
              <a:rPr lang="zh-CN" altLang="en-US" sz="2800" b="1">
                <a:solidFill>
                  <a:srgbClr val="000099"/>
                </a:solidFill>
                <a:ea typeface="黑体" panose="02010609060101010101" pitchFamily="49" charset="-122"/>
              </a:rPr>
              <a:t>，确认号 </a:t>
            </a:r>
            <a:r>
              <a:rPr lang="en-US" altLang="zh-CN" sz="2800" b="1">
                <a:solidFill>
                  <a:srgbClr val="000099"/>
                </a:solidFill>
                <a:ea typeface="黑体" panose="02010609060101010101" pitchFamily="49" charset="-122"/>
              </a:rPr>
              <a:t>ack </a:t>
            </a:r>
            <a:r>
              <a:rPr lang="en-US" altLang="zh-CN" sz="2800" b="1">
                <a:solidFill>
                  <a:srgbClr val="000099"/>
                </a:solidFill>
                <a:ea typeface="黑体" panose="02010609060101010101" pitchFamily="49" charset="-122"/>
                <a:sym typeface="Symbol" panose="05050102010706020507" pitchFamily="18" charset="2"/>
              </a:rPr>
              <a:t></a:t>
            </a:r>
            <a:r>
              <a:rPr lang="en-US" altLang="zh-CN" sz="2800" b="1">
                <a:solidFill>
                  <a:srgbClr val="000099"/>
                </a:solidFill>
                <a:ea typeface="黑体" panose="02010609060101010101" pitchFamily="49" charset="-122"/>
              </a:rPr>
              <a:t> w </a:t>
            </a:r>
            <a:r>
              <a:rPr lang="en-US" altLang="zh-CN" sz="2800" b="1">
                <a:solidFill>
                  <a:srgbClr val="000099"/>
                </a:solidFill>
                <a:ea typeface="黑体" panose="02010609060101010101" pitchFamily="49" charset="-122"/>
                <a:sym typeface="Symbol" panose="05050102010706020507" pitchFamily="18" charset="2"/>
              </a:rPr>
              <a:t></a:t>
            </a:r>
            <a:r>
              <a:rPr lang="en-US" altLang="zh-CN" sz="2800" b="1">
                <a:solidFill>
                  <a:srgbClr val="000099"/>
                </a:solidFill>
                <a:ea typeface="黑体" panose="02010609060101010101" pitchFamily="49" charset="-122"/>
              </a:rPr>
              <a:t> 1</a:t>
            </a:r>
            <a:r>
              <a:rPr lang="zh-CN" altLang="en-US" sz="2800" b="1">
                <a:solidFill>
                  <a:srgbClr val="000099"/>
                </a:solidFill>
                <a:ea typeface="黑体" panose="02010609060101010101" pitchFamily="49" charset="-122"/>
              </a:rPr>
              <a:t>，</a:t>
            </a:r>
          </a:p>
          <a:p>
            <a:pPr eaLnBrk="1" hangingPunct="1"/>
            <a:r>
              <a:rPr lang="zh-CN" altLang="en-US" sz="2800" b="1">
                <a:solidFill>
                  <a:srgbClr val="000099"/>
                </a:solidFill>
                <a:ea typeface="黑体" panose="02010609060101010101" pitchFamily="49" charset="-122"/>
              </a:rPr>
              <a:t>   自己的序号 </a:t>
            </a:r>
            <a:r>
              <a:rPr lang="en-US" altLang="zh-CN" sz="2800" b="1">
                <a:solidFill>
                  <a:srgbClr val="000099"/>
                </a:solidFill>
                <a:ea typeface="黑体" panose="02010609060101010101" pitchFamily="49" charset="-122"/>
              </a:rPr>
              <a:t>seq = u + 1</a:t>
            </a:r>
            <a:r>
              <a:rPr lang="zh-CN" altLang="en-US" sz="2800" b="1">
                <a:solidFill>
                  <a:srgbClr val="000099"/>
                </a:solidFill>
                <a:ea typeface="黑体" panose="02010609060101010101" pitchFamily="49" charset="-122"/>
              </a:rPr>
              <a:t>。 </a:t>
            </a:r>
          </a:p>
        </p:txBody>
      </p:sp>
      <p:sp>
        <p:nvSpPr>
          <p:cNvPr id="43" name="Rectangle 42"/>
          <p:cNvSpPr>
            <a:spLocks noChangeArrowheads="1"/>
          </p:cNvSpPr>
          <p:nvPr/>
        </p:nvSpPr>
        <p:spPr bwMode="auto">
          <a:xfrm rot="610931">
            <a:off x="3390900" y="4997450"/>
            <a:ext cx="37322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dirty="0">
                <a:solidFill>
                  <a:srgbClr val="3333CC"/>
                </a:solidFill>
                <a:latin typeface="+mn-lt"/>
                <a:ea typeface="黑体" panose="02010609060101010101" pitchFamily="2" charset="-122"/>
              </a:rPr>
              <a:t>ACK = 1, </a:t>
            </a:r>
            <a:r>
              <a:rPr lang="en-US" altLang="zh-CN" b="1" kern="0" dirty="0" err="1">
                <a:solidFill>
                  <a:srgbClr val="3333CC"/>
                </a:solidFill>
                <a:latin typeface="+mn-lt"/>
                <a:ea typeface="黑体" panose="02010609060101010101" pitchFamily="2" charset="-122"/>
              </a:rPr>
              <a:t>seq</a:t>
            </a:r>
            <a:r>
              <a:rPr lang="en-US" altLang="zh-CN" b="1" kern="0" dirty="0">
                <a:solidFill>
                  <a:srgbClr val="3333CC"/>
                </a:solidFill>
                <a:latin typeface="+mn-lt"/>
                <a:ea typeface="黑体" panose="02010609060101010101" pitchFamily="2" charset="-122"/>
              </a:rPr>
              <a:t> = u + 1, </a:t>
            </a:r>
            <a:r>
              <a:rPr lang="en-US" altLang="zh-CN" b="1" kern="0" dirty="0" err="1">
                <a:solidFill>
                  <a:srgbClr val="3333CC"/>
                </a:solidFill>
                <a:latin typeface="+mn-lt"/>
                <a:ea typeface="黑体" panose="02010609060101010101" pitchFamily="2" charset="-122"/>
              </a:rPr>
              <a:t>ack</a:t>
            </a:r>
            <a:r>
              <a:rPr lang="en-US" altLang="zh-CN" b="1" kern="0" dirty="0">
                <a:solidFill>
                  <a:srgbClr val="3333CC"/>
                </a:solidFill>
                <a:latin typeface="+mn-lt"/>
                <a:ea typeface="黑体" panose="02010609060101010101" pitchFamily="2" charset="-122"/>
              </a:rPr>
              <a:t> = w </a:t>
            </a:r>
            <a:r>
              <a:rPr lang="en-US" altLang="zh-CN" b="1" kern="0" dirty="0">
                <a:solidFill>
                  <a:srgbClr val="3333CC"/>
                </a:solidFill>
                <a:latin typeface="+mn-lt"/>
                <a:ea typeface="黑体" panose="02010609060101010101" pitchFamily="2" charset="-122"/>
                <a:sym typeface="Symbol" panose="05050102010706020507" pitchFamily="18" charset="2"/>
              </a:rPr>
              <a:t> 1</a:t>
            </a:r>
          </a:p>
        </p:txBody>
      </p:sp>
      <p:sp>
        <p:nvSpPr>
          <p:cNvPr id="44" name="Line 43"/>
          <p:cNvSpPr>
            <a:spLocks noChangeShapeType="1"/>
          </p:cNvSpPr>
          <p:nvPr/>
        </p:nvSpPr>
        <p:spPr bwMode="auto">
          <a:xfrm>
            <a:off x="2933700" y="4933950"/>
            <a:ext cx="4133850" cy="769938"/>
          </a:xfrm>
          <a:prstGeom prst="line">
            <a:avLst/>
          </a:prstGeom>
          <a:noFill/>
          <a:ln w="381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46" name="Text Box 30"/>
          <p:cNvSpPr txBox="1">
            <a:spLocks noChangeArrowheads="1"/>
          </p:cNvSpPr>
          <p:nvPr/>
        </p:nvSpPr>
        <p:spPr bwMode="auto">
          <a:xfrm>
            <a:off x="1131888" y="34925"/>
            <a:ext cx="7924800" cy="650875"/>
          </a:xfrm>
          <a:prstGeom prst="rect">
            <a:avLst/>
          </a:prstGeom>
          <a:solidFill>
            <a:srgbClr val="FFFF99"/>
          </a:solidFill>
          <a:ln w="9525">
            <a:solidFill>
              <a:srgbClr val="3333CC"/>
            </a:solidFill>
            <a:miter lim="800000"/>
          </a:ln>
          <a:effectLst>
            <a:outerShdw dist="35921" dir="2700000" algn="ctr" rotWithShape="0">
              <a:srgbClr val="1C1C1C"/>
            </a:outerShdw>
          </a:effectLst>
        </p:spPr>
        <p:txBody>
          <a:bodyPr>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en-US" altLang="zh-CN" sz="3600" kern="0" dirty="0">
                <a:solidFill>
                  <a:srgbClr val="333399"/>
                </a:solidFill>
                <a:latin typeface="Arial" panose="020B0604020202020204" pitchFamily="34" charset="0"/>
                <a:ea typeface="黑体" panose="02010609060101010101" pitchFamily="2" charset="-122"/>
              </a:rPr>
              <a:t>TCP </a:t>
            </a:r>
            <a:r>
              <a:rPr kumimoji="0" lang="zh-CN" altLang="en-US" sz="3600" kern="0" dirty="0">
                <a:solidFill>
                  <a:srgbClr val="333399"/>
                </a:solidFill>
                <a:latin typeface="Arial" panose="020B0604020202020204" pitchFamily="34" charset="0"/>
                <a:ea typeface="黑体" panose="02010609060101010101" pitchFamily="2" charset="-122"/>
              </a:rPr>
              <a:t>的连接释放：采用</a:t>
            </a:r>
            <a:r>
              <a:rPr kumimoji="0" lang="zh-CN" altLang="zh-CN" sz="3600" kern="0" noProof="1">
                <a:solidFill>
                  <a:srgbClr val="FF0000"/>
                </a:solidFill>
                <a:latin typeface="Arial" panose="020B0604020202020204" pitchFamily="34" charset="0"/>
                <a:ea typeface="黑体" panose="02010609060101010101" pitchFamily="2" charset="-122"/>
              </a:rPr>
              <a:t>四报文握手</a:t>
            </a:r>
            <a:endParaRPr kumimoji="0" lang="zh-CN" altLang="en-US" sz="3600" kern="0" noProof="1">
              <a:solidFill>
                <a:srgbClr val="FF0000"/>
              </a:solidFill>
              <a:latin typeface="Arial" panose="020B0604020202020204" pitchFamily="34" charset="0"/>
              <a:ea typeface="黑体" panose="02010609060101010101" pitchFamily="2" charset="-122"/>
            </a:endParaRPr>
          </a:p>
        </p:txBody>
      </p:sp>
      <p:sp>
        <p:nvSpPr>
          <p:cNvPr id="1588267" name="灯片编号占位符 4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FCD3E9B1-9CA3-4BD7-8116-F2D209772ADF}" type="slidenum">
              <a:rPr lang="zh-CN" altLang="en-US" smtClean="0"/>
              <a:pPr/>
              <a:t>19</a:t>
            </a:fld>
            <a:endParaRPr lang="en-US" altLang="zh-CN" smtClean="0"/>
          </a:p>
        </p:txBody>
      </p:sp>
      <p:sp>
        <p:nvSpPr>
          <p:cNvPr id="1588268" name="页脚占位符 4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
          <p:cNvGrpSpPr>
            <a:grpSpLocks/>
          </p:cNvGrpSpPr>
          <p:nvPr/>
        </p:nvGrpSpPr>
        <p:grpSpPr bwMode="auto">
          <a:xfrm>
            <a:off x="1833563" y="6213475"/>
            <a:ext cx="1012825" cy="528638"/>
            <a:chOff x="975" y="3914"/>
            <a:chExt cx="638" cy="333"/>
          </a:xfrm>
        </p:grpSpPr>
        <p:sp>
          <p:nvSpPr>
            <p:cNvPr id="5" name="Rectangle 3"/>
            <p:cNvSpPr>
              <a:spLocks noChangeArrowheads="1"/>
            </p:cNvSpPr>
            <p:nvPr/>
          </p:nvSpPr>
          <p:spPr bwMode="auto">
            <a:xfrm>
              <a:off x="1012" y="3914"/>
              <a:ext cx="601" cy="333"/>
            </a:xfrm>
            <a:prstGeom prst="rect">
              <a:avLst/>
            </a:prstGeom>
            <a:solidFill>
              <a:srgbClr val="663300"/>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6" name="Text Box 4"/>
            <p:cNvSpPr txBox="1">
              <a:spLocks noChangeArrowheads="1"/>
            </p:cNvSpPr>
            <p:nvPr/>
          </p:nvSpPr>
          <p:spPr bwMode="auto">
            <a:xfrm>
              <a:off x="975" y="3967"/>
              <a:ext cx="612" cy="212"/>
            </a:xfrm>
            <a:prstGeom prst="rect">
              <a:avLst/>
            </a:prstGeom>
            <a:noFill/>
            <a:ln>
              <a:noFill/>
            </a:ln>
            <a:effectLst/>
            <a:extLst>
              <a:ext uri="{909E8E84-426E-40DD-AFC4-6F175D3DCCD1}">
                <a14:hiddenFill xmlns:a14="http://schemas.microsoft.com/office/drawing/2010/main">
                  <a:solidFill>
                    <a:srgbClr val="663300"/>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fontAlgn="auto">
                <a:spcBef>
                  <a:spcPts val="0"/>
                </a:spcBef>
                <a:spcAft>
                  <a:spcPts val="0"/>
                </a:spcAft>
                <a:defRPr/>
              </a:pPr>
              <a:r>
                <a:rPr lang="en-US" altLang="zh-CN" sz="1800" kern="0">
                  <a:solidFill>
                    <a:srgbClr val="FFFF99"/>
                  </a:solidFill>
                  <a:latin typeface="+mn-lt"/>
                  <a:ea typeface="黑体" panose="02010609060101010101" pitchFamily="2" charset="-122"/>
                </a:rPr>
                <a:t>CLOSED</a:t>
              </a:r>
            </a:p>
          </p:txBody>
        </p:sp>
      </p:grpSp>
      <p:sp>
        <p:nvSpPr>
          <p:cNvPr id="7" name="AutoShape 5"/>
          <p:cNvSpPr>
            <a:spLocks noChangeArrowheads="1"/>
          </p:cNvSpPr>
          <p:nvPr/>
        </p:nvSpPr>
        <p:spPr bwMode="auto">
          <a:xfrm rot="-651552">
            <a:off x="4071938" y="3895725"/>
            <a:ext cx="676275" cy="236538"/>
          </a:xfrm>
          <a:prstGeom prst="leftArrow">
            <a:avLst>
              <a:gd name="adj1" fmla="val 53620"/>
              <a:gd name="adj2" fmla="val 119816"/>
            </a:avLst>
          </a:prstGeom>
          <a:solidFill>
            <a:srgbClr val="FF0000"/>
          </a:solidFill>
          <a:ln w="12700" algn="ctr">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8" name="AutoShape 6"/>
          <p:cNvSpPr>
            <a:spLocks noChangeArrowheads="1"/>
          </p:cNvSpPr>
          <p:nvPr/>
        </p:nvSpPr>
        <p:spPr bwMode="auto">
          <a:xfrm>
            <a:off x="3781425" y="1863725"/>
            <a:ext cx="2384425" cy="252413"/>
          </a:xfrm>
          <a:prstGeom prst="leftRightArrow">
            <a:avLst>
              <a:gd name="adj1" fmla="val 55880"/>
              <a:gd name="adj2" fmla="val 108285"/>
            </a:avLst>
          </a:prstGeom>
          <a:solidFill>
            <a:srgbClr val="FF0000"/>
          </a:solidFill>
          <a:ln w="12700" algn="ctr">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9" name="Rectangle 7"/>
          <p:cNvSpPr>
            <a:spLocks noChangeArrowheads="1"/>
          </p:cNvSpPr>
          <p:nvPr/>
        </p:nvSpPr>
        <p:spPr bwMode="auto">
          <a:xfrm rot="610931">
            <a:off x="3305175" y="4997450"/>
            <a:ext cx="3733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dirty="0">
                <a:solidFill>
                  <a:srgbClr val="3333CC"/>
                </a:solidFill>
                <a:latin typeface="+mn-lt"/>
                <a:ea typeface="黑体" panose="02010609060101010101" pitchFamily="2" charset="-122"/>
              </a:rPr>
              <a:t>ACK = 1, </a:t>
            </a:r>
            <a:r>
              <a:rPr lang="en-US" altLang="zh-CN" b="1" kern="0" dirty="0" err="1">
                <a:solidFill>
                  <a:srgbClr val="3333CC"/>
                </a:solidFill>
                <a:latin typeface="+mn-lt"/>
                <a:ea typeface="黑体" panose="02010609060101010101" pitchFamily="2" charset="-122"/>
              </a:rPr>
              <a:t>seq</a:t>
            </a:r>
            <a:r>
              <a:rPr lang="en-US" altLang="zh-CN" b="1" kern="0" dirty="0">
                <a:solidFill>
                  <a:srgbClr val="3333CC"/>
                </a:solidFill>
                <a:latin typeface="+mn-lt"/>
                <a:ea typeface="黑体" panose="02010609060101010101" pitchFamily="2" charset="-122"/>
              </a:rPr>
              <a:t> = u + 1, </a:t>
            </a:r>
            <a:r>
              <a:rPr lang="en-US" altLang="zh-CN" b="1" kern="0" dirty="0" err="1">
                <a:solidFill>
                  <a:srgbClr val="3333CC"/>
                </a:solidFill>
                <a:latin typeface="+mn-lt"/>
                <a:ea typeface="黑体" panose="02010609060101010101" pitchFamily="2" charset="-122"/>
              </a:rPr>
              <a:t>ack</a:t>
            </a:r>
            <a:r>
              <a:rPr lang="en-US" altLang="zh-CN" b="1" kern="0" dirty="0">
                <a:solidFill>
                  <a:srgbClr val="3333CC"/>
                </a:solidFill>
                <a:latin typeface="+mn-lt"/>
                <a:ea typeface="黑体" panose="02010609060101010101" pitchFamily="2" charset="-122"/>
              </a:rPr>
              <a:t> = w </a:t>
            </a:r>
            <a:r>
              <a:rPr lang="en-US" altLang="zh-CN" b="1" kern="0" dirty="0">
                <a:solidFill>
                  <a:srgbClr val="3333CC"/>
                </a:solidFill>
                <a:latin typeface="+mn-lt"/>
                <a:ea typeface="黑体" panose="02010609060101010101" pitchFamily="2" charset="-122"/>
                <a:sym typeface="Symbol" panose="05050102010706020507" pitchFamily="18" charset="2"/>
              </a:rPr>
              <a:t> 1</a:t>
            </a:r>
          </a:p>
        </p:txBody>
      </p:sp>
      <p:grpSp>
        <p:nvGrpSpPr>
          <p:cNvPr id="1589255" name="Group 8"/>
          <p:cNvGrpSpPr>
            <a:grpSpLocks/>
          </p:cNvGrpSpPr>
          <p:nvPr/>
        </p:nvGrpSpPr>
        <p:grpSpPr bwMode="auto">
          <a:xfrm>
            <a:off x="2847975" y="2355850"/>
            <a:ext cx="4133850" cy="768350"/>
            <a:chOff x="1614" y="1484"/>
            <a:chExt cx="2604" cy="484"/>
          </a:xfrm>
        </p:grpSpPr>
        <p:sp>
          <p:nvSpPr>
            <p:cNvPr id="11" name="Rectangle 9"/>
            <p:cNvSpPr>
              <a:spLocks noChangeArrowheads="1"/>
            </p:cNvSpPr>
            <p:nvPr/>
          </p:nvSpPr>
          <p:spPr bwMode="auto">
            <a:xfrm rot="597975">
              <a:off x="2449" y="1520"/>
              <a:ext cx="129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sz="2000" b="1" kern="0">
                  <a:solidFill>
                    <a:srgbClr val="3333CC"/>
                  </a:solidFill>
                  <a:latin typeface="+mn-lt"/>
                  <a:ea typeface="黑体" panose="02010609060101010101" pitchFamily="2" charset="-122"/>
                </a:rPr>
                <a:t>FIN = 1, seq = u</a:t>
              </a:r>
            </a:p>
          </p:txBody>
        </p:sp>
        <p:sp>
          <p:nvSpPr>
            <p:cNvPr id="12" name="Line 10"/>
            <p:cNvSpPr>
              <a:spLocks noChangeShapeType="1"/>
            </p:cNvSpPr>
            <p:nvPr/>
          </p:nvSpPr>
          <p:spPr bwMode="auto">
            <a:xfrm>
              <a:off x="1614" y="1484"/>
              <a:ext cx="2604" cy="484"/>
            </a:xfrm>
            <a:prstGeom prst="line">
              <a:avLst/>
            </a:prstGeom>
            <a:noFill/>
            <a:ln w="381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grpSp>
        <p:nvGrpSpPr>
          <p:cNvPr id="1589258" name="Group 11"/>
          <p:cNvGrpSpPr>
            <a:grpSpLocks/>
          </p:cNvGrpSpPr>
          <p:nvPr/>
        </p:nvGrpSpPr>
        <p:grpSpPr bwMode="auto">
          <a:xfrm>
            <a:off x="2862263" y="3167063"/>
            <a:ext cx="4133850" cy="769937"/>
            <a:chOff x="1623" y="1995"/>
            <a:chExt cx="2604" cy="485"/>
          </a:xfrm>
        </p:grpSpPr>
        <p:sp>
          <p:nvSpPr>
            <p:cNvPr id="14" name="Rectangle 12"/>
            <p:cNvSpPr>
              <a:spLocks noChangeArrowheads="1"/>
            </p:cNvSpPr>
            <p:nvPr/>
          </p:nvSpPr>
          <p:spPr bwMode="auto">
            <a:xfrm rot="20990024" flipH="1">
              <a:off x="1829" y="2020"/>
              <a:ext cx="203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ACK = 1, seq = v, ack= u </a:t>
              </a:r>
              <a:r>
                <a:rPr lang="en-US" altLang="zh-CN" b="1" kern="0">
                  <a:solidFill>
                    <a:srgbClr val="3333CC"/>
                  </a:solidFill>
                  <a:latin typeface="+mn-lt"/>
                  <a:ea typeface="黑体" panose="02010609060101010101" pitchFamily="2" charset="-122"/>
                  <a:sym typeface="Symbol" panose="05050102010706020507" pitchFamily="18" charset="2"/>
                </a:rPr>
                <a:t> 1</a:t>
              </a:r>
              <a:endParaRPr lang="en-US" altLang="zh-CN" b="1" kern="0">
                <a:solidFill>
                  <a:srgbClr val="3333CC"/>
                </a:solidFill>
                <a:latin typeface="+mn-lt"/>
                <a:ea typeface="黑体" panose="02010609060101010101" pitchFamily="2" charset="-122"/>
              </a:endParaRPr>
            </a:p>
          </p:txBody>
        </p:sp>
        <p:sp>
          <p:nvSpPr>
            <p:cNvPr id="15" name="Line 13"/>
            <p:cNvSpPr>
              <a:spLocks noChangeShapeType="1"/>
            </p:cNvSpPr>
            <p:nvPr/>
          </p:nvSpPr>
          <p:spPr bwMode="auto">
            <a:xfrm flipH="1">
              <a:off x="1623" y="1995"/>
              <a:ext cx="2604" cy="485"/>
            </a:xfrm>
            <a:prstGeom prst="line">
              <a:avLst/>
            </a:prstGeom>
            <a:noFill/>
            <a:ln w="381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sp>
        <p:nvSpPr>
          <p:cNvPr id="16" name="Line 14"/>
          <p:cNvSpPr>
            <a:spLocks noChangeShapeType="1"/>
          </p:cNvSpPr>
          <p:nvPr/>
        </p:nvSpPr>
        <p:spPr bwMode="auto">
          <a:xfrm>
            <a:off x="2847975" y="4933950"/>
            <a:ext cx="4133850" cy="769938"/>
          </a:xfrm>
          <a:prstGeom prst="line">
            <a:avLst/>
          </a:prstGeom>
          <a:noFill/>
          <a:ln w="381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17" name="Line 15"/>
          <p:cNvSpPr>
            <a:spLocks noChangeShapeType="1"/>
          </p:cNvSpPr>
          <p:nvPr/>
        </p:nvSpPr>
        <p:spPr bwMode="auto">
          <a:xfrm flipH="1">
            <a:off x="2827338" y="4103688"/>
            <a:ext cx="4133850" cy="769937"/>
          </a:xfrm>
          <a:prstGeom prst="line">
            <a:avLst/>
          </a:prstGeom>
          <a:noFill/>
          <a:ln w="38100">
            <a:solidFill>
              <a:srgbClr val="3333CC"/>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18" name="Rectangle 16"/>
          <p:cNvSpPr>
            <a:spLocks noChangeArrowheads="1"/>
          </p:cNvSpPr>
          <p:nvPr/>
        </p:nvSpPr>
        <p:spPr bwMode="auto">
          <a:xfrm rot="20943314" flipH="1">
            <a:off x="2959100" y="4086225"/>
            <a:ext cx="41687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FIN = 1, ACK = 1, seq = w, ack= u </a:t>
            </a:r>
            <a:r>
              <a:rPr lang="en-US" altLang="zh-CN" b="1" kern="0">
                <a:solidFill>
                  <a:srgbClr val="3333CC"/>
                </a:solidFill>
                <a:latin typeface="+mn-lt"/>
                <a:ea typeface="黑体" panose="02010609060101010101" pitchFamily="2" charset="-122"/>
                <a:sym typeface="Symbol" panose="05050102010706020507" pitchFamily="18" charset="2"/>
              </a:rPr>
              <a:t> 1</a:t>
            </a:r>
            <a:endParaRPr lang="en-US" altLang="zh-CN" b="1" kern="0">
              <a:solidFill>
                <a:srgbClr val="3333CC"/>
              </a:solidFill>
              <a:latin typeface="+mn-lt"/>
              <a:ea typeface="黑体" panose="02010609060101010101" pitchFamily="2" charset="-122"/>
            </a:endParaRPr>
          </a:p>
        </p:txBody>
      </p:sp>
      <p:sp>
        <p:nvSpPr>
          <p:cNvPr id="19" name="Rectangle 17"/>
          <p:cNvSpPr>
            <a:spLocks noChangeArrowheads="1"/>
          </p:cNvSpPr>
          <p:nvPr/>
        </p:nvSpPr>
        <p:spPr bwMode="auto">
          <a:xfrm>
            <a:off x="1892300" y="1611313"/>
            <a:ext cx="954088" cy="673100"/>
          </a:xfrm>
          <a:prstGeom prst="rect">
            <a:avLst/>
          </a:prstGeom>
          <a:solidFill>
            <a:srgbClr val="CCFF99"/>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20" name="Rectangle 18"/>
          <p:cNvSpPr>
            <a:spLocks noChangeArrowheads="1"/>
          </p:cNvSpPr>
          <p:nvPr/>
        </p:nvSpPr>
        <p:spPr bwMode="auto">
          <a:xfrm>
            <a:off x="1892300" y="2368550"/>
            <a:ext cx="954088" cy="1554163"/>
          </a:xfrm>
          <a:prstGeom prst="rect">
            <a:avLst/>
          </a:prstGeom>
          <a:solidFill>
            <a:srgbClr val="FFCCFF"/>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21" name="Rectangle 19"/>
          <p:cNvSpPr>
            <a:spLocks noChangeArrowheads="1"/>
          </p:cNvSpPr>
          <p:nvPr/>
        </p:nvSpPr>
        <p:spPr bwMode="auto">
          <a:xfrm>
            <a:off x="6978650" y="1611313"/>
            <a:ext cx="955675" cy="1479550"/>
          </a:xfrm>
          <a:prstGeom prst="rect">
            <a:avLst/>
          </a:prstGeom>
          <a:solidFill>
            <a:srgbClr val="CCFF99"/>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nvGrpSpPr>
          <p:cNvPr id="1589267" name="Group 20"/>
          <p:cNvGrpSpPr>
            <a:grpSpLocks/>
          </p:cNvGrpSpPr>
          <p:nvPr/>
        </p:nvGrpSpPr>
        <p:grpSpPr bwMode="auto">
          <a:xfrm>
            <a:off x="1793875" y="1528763"/>
            <a:ext cx="6278563" cy="82550"/>
            <a:chOff x="1020" y="481"/>
            <a:chExt cx="4037" cy="46"/>
          </a:xfrm>
        </p:grpSpPr>
        <p:sp>
          <p:nvSpPr>
            <p:cNvPr id="23" name="Line 21"/>
            <p:cNvSpPr>
              <a:spLocks noChangeShapeType="1"/>
            </p:cNvSpPr>
            <p:nvPr/>
          </p:nvSpPr>
          <p:spPr bwMode="auto">
            <a:xfrm>
              <a:off x="1020" y="527"/>
              <a:ext cx="4037" cy="0"/>
            </a:xfrm>
            <a:prstGeom prst="line">
              <a:avLst/>
            </a:prstGeom>
            <a:noFill/>
            <a:ln w="12700">
              <a:solidFill>
                <a:srgbClr val="33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24" name="Line 22"/>
            <p:cNvSpPr>
              <a:spLocks noChangeShapeType="1"/>
            </p:cNvSpPr>
            <p:nvPr/>
          </p:nvSpPr>
          <p:spPr bwMode="auto">
            <a:xfrm>
              <a:off x="1020" y="481"/>
              <a:ext cx="4037" cy="0"/>
            </a:xfrm>
            <a:prstGeom prst="line">
              <a:avLst/>
            </a:prstGeom>
            <a:noFill/>
            <a:ln w="12700">
              <a:solidFill>
                <a:srgbClr val="3333CC"/>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sp>
        <p:nvSpPr>
          <p:cNvPr id="25" name="Rectangle 23"/>
          <p:cNvSpPr>
            <a:spLocks noChangeArrowheads="1"/>
          </p:cNvSpPr>
          <p:nvPr/>
        </p:nvSpPr>
        <p:spPr bwMode="auto">
          <a:xfrm>
            <a:off x="1865313" y="2703513"/>
            <a:ext cx="977900"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FIN-</a:t>
            </a:r>
          </a:p>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WAIT-1</a:t>
            </a:r>
          </a:p>
        </p:txBody>
      </p:sp>
      <p:sp>
        <p:nvSpPr>
          <p:cNvPr id="26" name="Rectangle 24"/>
          <p:cNvSpPr>
            <a:spLocks noChangeArrowheads="1"/>
          </p:cNvSpPr>
          <p:nvPr/>
        </p:nvSpPr>
        <p:spPr bwMode="auto">
          <a:xfrm>
            <a:off x="6978650" y="3178175"/>
            <a:ext cx="955675" cy="877888"/>
          </a:xfrm>
          <a:prstGeom prst="rect">
            <a:avLst/>
          </a:prstGeom>
          <a:solidFill>
            <a:srgbClr val="FF66FF"/>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27" name="Rectangle 25"/>
          <p:cNvSpPr>
            <a:spLocks noChangeArrowheads="1"/>
          </p:cNvSpPr>
          <p:nvPr/>
        </p:nvSpPr>
        <p:spPr bwMode="auto">
          <a:xfrm>
            <a:off x="6919913" y="3290888"/>
            <a:ext cx="1055687"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CLOSE-</a:t>
            </a:r>
          </a:p>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WAIT</a:t>
            </a:r>
          </a:p>
        </p:txBody>
      </p:sp>
      <p:sp>
        <p:nvSpPr>
          <p:cNvPr id="28" name="Rectangle 26"/>
          <p:cNvSpPr>
            <a:spLocks noChangeArrowheads="1"/>
          </p:cNvSpPr>
          <p:nvPr/>
        </p:nvSpPr>
        <p:spPr bwMode="auto">
          <a:xfrm>
            <a:off x="1892300" y="3995738"/>
            <a:ext cx="954088" cy="871537"/>
          </a:xfrm>
          <a:prstGeom prst="rect">
            <a:avLst/>
          </a:prstGeom>
          <a:solidFill>
            <a:srgbClr val="CCCC00"/>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29" name="Rectangle 27"/>
          <p:cNvSpPr>
            <a:spLocks noChangeArrowheads="1"/>
          </p:cNvSpPr>
          <p:nvPr/>
        </p:nvSpPr>
        <p:spPr bwMode="auto">
          <a:xfrm>
            <a:off x="1865313" y="4049713"/>
            <a:ext cx="977900"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FIN-</a:t>
            </a:r>
          </a:p>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WAIT-2</a:t>
            </a:r>
          </a:p>
        </p:txBody>
      </p:sp>
      <p:sp>
        <p:nvSpPr>
          <p:cNvPr id="30" name="Rectangle 28"/>
          <p:cNvSpPr>
            <a:spLocks noChangeArrowheads="1"/>
          </p:cNvSpPr>
          <p:nvPr/>
        </p:nvSpPr>
        <p:spPr bwMode="auto">
          <a:xfrm>
            <a:off x="6978650" y="4135438"/>
            <a:ext cx="955675" cy="1482725"/>
          </a:xfrm>
          <a:prstGeom prst="rect">
            <a:avLst/>
          </a:prstGeom>
          <a:solidFill>
            <a:srgbClr val="00FFFF"/>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31" name="Rectangle 29"/>
          <p:cNvSpPr>
            <a:spLocks noChangeArrowheads="1"/>
          </p:cNvSpPr>
          <p:nvPr/>
        </p:nvSpPr>
        <p:spPr bwMode="auto">
          <a:xfrm>
            <a:off x="7007225" y="4556125"/>
            <a:ext cx="862013"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LAST-</a:t>
            </a:r>
          </a:p>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ACK</a:t>
            </a:r>
          </a:p>
        </p:txBody>
      </p:sp>
      <p:grpSp>
        <p:nvGrpSpPr>
          <p:cNvPr id="32" name="Group 30"/>
          <p:cNvGrpSpPr>
            <a:grpSpLocks/>
          </p:cNvGrpSpPr>
          <p:nvPr/>
        </p:nvGrpSpPr>
        <p:grpSpPr bwMode="auto">
          <a:xfrm>
            <a:off x="681038" y="4921250"/>
            <a:ext cx="2165350" cy="1268413"/>
            <a:chOff x="249" y="3081"/>
            <a:chExt cx="1364" cy="799"/>
          </a:xfrm>
        </p:grpSpPr>
        <p:sp>
          <p:nvSpPr>
            <p:cNvPr id="33" name="Rectangle 31"/>
            <p:cNvSpPr>
              <a:spLocks noChangeArrowheads="1"/>
            </p:cNvSpPr>
            <p:nvPr/>
          </p:nvSpPr>
          <p:spPr bwMode="auto">
            <a:xfrm>
              <a:off x="249" y="3081"/>
              <a:ext cx="8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dirty="0">
                  <a:solidFill>
                    <a:srgbClr val="FF0000"/>
                  </a:solidFill>
                  <a:latin typeface="+mn-lt"/>
                  <a:ea typeface="黑体" panose="02010609060101010101" pitchFamily="2" charset="-122"/>
                </a:rPr>
                <a:t>等待 </a:t>
              </a:r>
              <a:r>
                <a:rPr lang="en-US" altLang="zh-CN" b="1" kern="0" dirty="0">
                  <a:solidFill>
                    <a:srgbClr val="FF0000"/>
                  </a:solidFill>
                  <a:latin typeface="+mn-lt"/>
                  <a:ea typeface="黑体" panose="02010609060101010101" pitchFamily="2" charset="-122"/>
                </a:rPr>
                <a:t>2MSL</a:t>
              </a:r>
            </a:p>
          </p:txBody>
        </p:sp>
        <p:sp>
          <p:nvSpPr>
            <p:cNvPr id="34" name="Rectangle 32"/>
            <p:cNvSpPr>
              <a:spLocks noChangeArrowheads="1"/>
            </p:cNvSpPr>
            <p:nvPr/>
          </p:nvSpPr>
          <p:spPr bwMode="auto">
            <a:xfrm>
              <a:off x="1012" y="3097"/>
              <a:ext cx="601" cy="779"/>
            </a:xfrm>
            <a:prstGeom prst="rect">
              <a:avLst/>
            </a:prstGeom>
            <a:solidFill>
              <a:srgbClr val="FFFF99"/>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35" name="Rectangle 33"/>
            <p:cNvSpPr>
              <a:spLocks noChangeArrowheads="1"/>
            </p:cNvSpPr>
            <p:nvPr/>
          </p:nvSpPr>
          <p:spPr bwMode="auto">
            <a:xfrm>
              <a:off x="1039" y="3292"/>
              <a:ext cx="511" cy="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TIME-</a:t>
              </a:r>
            </a:p>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WAIT</a:t>
              </a:r>
            </a:p>
          </p:txBody>
        </p:sp>
        <p:sp>
          <p:nvSpPr>
            <p:cNvPr id="36" name="Freeform 34"/>
            <p:cNvSpPr/>
            <p:nvPr/>
          </p:nvSpPr>
          <p:spPr bwMode="auto">
            <a:xfrm>
              <a:off x="255" y="3081"/>
              <a:ext cx="749" cy="799"/>
            </a:xfrm>
            <a:custGeom>
              <a:avLst/>
              <a:gdLst>
                <a:gd name="T0" fmla="*/ 749 w 635"/>
                <a:gd name="T1" fmla="*/ 0 h 499"/>
                <a:gd name="T2" fmla="*/ 0 w 635"/>
                <a:gd name="T3" fmla="*/ 0 h 499"/>
                <a:gd name="T4" fmla="*/ 0 w 635"/>
                <a:gd name="T5" fmla="*/ 799 h 499"/>
                <a:gd name="T6" fmla="*/ 749 w 635"/>
                <a:gd name="T7" fmla="*/ 799 h 49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5" h="499">
                  <a:moveTo>
                    <a:pt x="635" y="0"/>
                  </a:moveTo>
                  <a:lnTo>
                    <a:pt x="0" y="0"/>
                  </a:lnTo>
                  <a:lnTo>
                    <a:pt x="0" y="499"/>
                  </a:lnTo>
                  <a:lnTo>
                    <a:pt x="635" y="499"/>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37" name="Text Box 35"/>
            <p:cNvSpPr txBox="1">
              <a:spLocks noChangeArrowheads="1"/>
            </p:cNvSpPr>
            <p:nvPr/>
          </p:nvSpPr>
          <p:spPr bwMode="auto">
            <a:xfrm>
              <a:off x="476" y="3208"/>
              <a:ext cx="373" cy="4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en-US" altLang="zh-CN" sz="3600" kern="0">
                  <a:solidFill>
                    <a:srgbClr val="3333CC"/>
                  </a:solidFill>
                  <a:latin typeface="+mn-lt"/>
                  <a:ea typeface="黑体" panose="02010609060101010101" pitchFamily="2" charset="-122"/>
                  <a:sym typeface="Wingdings" panose="05000000000000000000" pitchFamily="2" charset="2"/>
                </a:rPr>
                <a:t></a:t>
              </a:r>
            </a:p>
          </p:txBody>
        </p:sp>
      </p:grpSp>
      <p:sp>
        <p:nvSpPr>
          <p:cNvPr id="38" name="Rectangle 36"/>
          <p:cNvSpPr>
            <a:spLocks noChangeArrowheads="1"/>
          </p:cNvSpPr>
          <p:nvPr/>
        </p:nvSpPr>
        <p:spPr bwMode="auto">
          <a:xfrm>
            <a:off x="6978650" y="5708650"/>
            <a:ext cx="955675" cy="528638"/>
          </a:xfrm>
          <a:prstGeom prst="rect">
            <a:avLst/>
          </a:prstGeom>
          <a:solidFill>
            <a:srgbClr val="663300"/>
          </a:solidFill>
          <a:ln>
            <a:noFill/>
          </a:ln>
          <a:effectLst>
            <a:outerShdw dist="35921" dir="2700000" algn="ctr" rotWithShape="0">
              <a:srgbClr val="1C1C1C"/>
            </a:outerShdw>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grpSp>
        <p:nvGrpSpPr>
          <p:cNvPr id="1589284" name="Group 37"/>
          <p:cNvGrpSpPr>
            <a:grpSpLocks/>
          </p:cNvGrpSpPr>
          <p:nvPr/>
        </p:nvGrpSpPr>
        <p:grpSpPr bwMode="auto">
          <a:xfrm>
            <a:off x="784225" y="1257300"/>
            <a:ext cx="1403350" cy="1082675"/>
            <a:chOff x="314" y="792"/>
            <a:chExt cx="884" cy="682"/>
          </a:xfrm>
        </p:grpSpPr>
        <p:sp>
          <p:nvSpPr>
            <p:cNvPr id="40" name="Freeform 38"/>
            <p:cNvSpPr/>
            <p:nvPr/>
          </p:nvSpPr>
          <p:spPr bwMode="auto">
            <a:xfrm>
              <a:off x="349" y="792"/>
              <a:ext cx="849"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41" name="Rectangle 39"/>
            <p:cNvSpPr>
              <a:spLocks noChangeArrowheads="1"/>
            </p:cNvSpPr>
            <p:nvPr/>
          </p:nvSpPr>
          <p:spPr bwMode="auto">
            <a:xfrm>
              <a:off x="314" y="1227"/>
              <a:ext cx="70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主动关闭</a:t>
              </a:r>
            </a:p>
          </p:txBody>
        </p:sp>
      </p:grpSp>
      <p:sp>
        <p:nvSpPr>
          <p:cNvPr id="42" name="Freeform 40"/>
          <p:cNvSpPr/>
          <p:nvPr/>
        </p:nvSpPr>
        <p:spPr bwMode="auto">
          <a:xfrm>
            <a:off x="7697788" y="1190625"/>
            <a:ext cx="1408112" cy="2905125"/>
          </a:xfrm>
          <a:custGeom>
            <a:avLst/>
            <a:gdLst>
              <a:gd name="T0" fmla="*/ 0 w 868"/>
              <a:gd name="T1" fmla="*/ 0 h 1493"/>
              <a:gd name="T2" fmla="*/ 1408112 w 868"/>
              <a:gd name="T3" fmla="*/ 13621 h 1493"/>
              <a:gd name="T4" fmla="*/ 1408112 w 868"/>
              <a:gd name="T5" fmla="*/ 2905125 h 1493"/>
              <a:gd name="T6" fmla="*/ 201159 w 868"/>
              <a:gd name="T7" fmla="*/ 2905125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43" name="Rectangle 41"/>
          <p:cNvSpPr>
            <a:spLocks noChangeArrowheads="1"/>
          </p:cNvSpPr>
          <p:nvPr/>
        </p:nvSpPr>
        <p:spPr bwMode="auto">
          <a:xfrm>
            <a:off x="7993063" y="3660775"/>
            <a:ext cx="11128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被动关闭</a:t>
            </a:r>
          </a:p>
        </p:txBody>
      </p:sp>
      <p:sp>
        <p:nvSpPr>
          <p:cNvPr id="44" name="Rectangle 42"/>
          <p:cNvSpPr>
            <a:spLocks noChangeArrowheads="1"/>
          </p:cNvSpPr>
          <p:nvPr/>
        </p:nvSpPr>
        <p:spPr bwMode="auto">
          <a:xfrm>
            <a:off x="4416425" y="1778000"/>
            <a:ext cx="1216025" cy="396875"/>
          </a:xfrm>
          <a:prstGeom prst="rect">
            <a:avLst/>
          </a:prstGeom>
          <a:solidFill>
            <a:srgbClr val="CCECFF"/>
          </a:solidFill>
          <a:ln w="38100" cmpd="dbl" algn="ctr">
            <a:solidFill>
              <a:srgbClr val="3333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sz="2000" b="1" kern="0">
                <a:solidFill>
                  <a:srgbClr val="3333CC"/>
                </a:solidFill>
                <a:latin typeface="+mn-lt"/>
                <a:ea typeface="黑体" panose="02010609060101010101" pitchFamily="2" charset="-122"/>
              </a:rPr>
              <a:t>数据传送</a:t>
            </a:r>
          </a:p>
        </p:txBody>
      </p:sp>
      <p:grpSp>
        <p:nvGrpSpPr>
          <p:cNvPr id="1589290" name="Group 43"/>
          <p:cNvGrpSpPr>
            <a:grpSpLocks/>
          </p:cNvGrpSpPr>
          <p:nvPr/>
        </p:nvGrpSpPr>
        <p:grpSpPr bwMode="auto">
          <a:xfrm>
            <a:off x="7739063" y="1376363"/>
            <a:ext cx="1206500" cy="1789112"/>
            <a:chOff x="4695" y="867"/>
            <a:chExt cx="760" cy="1127"/>
          </a:xfrm>
        </p:grpSpPr>
        <p:sp>
          <p:nvSpPr>
            <p:cNvPr id="46" name="Freeform 44"/>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auto">
                <a:spcBef>
                  <a:spcPts val="0"/>
                </a:spcBef>
                <a:spcAft>
                  <a:spcPts val="0"/>
                </a:spcAft>
                <a:defRPr/>
              </a:pPr>
              <a:endParaRPr lang="zh-CN" altLang="en-US" b="1" kern="0">
                <a:solidFill>
                  <a:sysClr val="windowText" lastClr="000000"/>
                </a:solidFill>
                <a:latin typeface="+mn-lt"/>
                <a:ea typeface="黑体" panose="02010609060101010101" pitchFamily="2" charset="-122"/>
              </a:endParaRPr>
            </a:p>
          </p:txBody>
        </p:sp>
        <p:sp>
          <p:nvSpPr>
            <p:cNvPr id="47" name="Rectangle 45"/>
            <p:cNvSpPr>
              <a:spLocks noChangeArrowheads="1"/>
            </p:cNvSpPr>
            <p:nvPr/>
          </p:nvSpPr>
          <p:spPr bwMode="auto">
            <a:xfrm>
              <a:off x="5047" y="1120"/>
              <a:ext cx="408" cy="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通知</a:t>
              </a:r>
            </a:p>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应用</a:t>
              </a:r>
            </a:p>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进程</a:t>
              </a:r>
            </a:p>
          </p:txBody>
        </p:sp>
      </p:grpSp>
      <p:sp>
        <p:nvSpPr>
          <p:cNvPr id="48" name="Rectangle 46"/>
          <p:cNvSpPr>
            <a:spLocks noChangeArrowheads="1"/>
          </p:cNvSpPr>
          <p:nvPr/>
        </p:nvSpPr>
        <p:spPr bwMode="auto">
          <a:xfrm>
            <a:off x="1873250" y="1622425"/>
            <a:ext cx="1042988"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ESTAB-</a:t>
            </a:r>
          </a:p>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LISHED</a:t>
            </a:r>
          </a:p>
        </p:txBody>
      </p:sp>
      <p:sp>
        <p:nvSpPr>
          <p:cNvPr id="49" name="Rectangle 47"/>
          <p:cNvSpPr>
            <a:spLocks noChangeArrowheads="1"/>
          </p:cNvSpPr>
          <p:nvPr/>
        </p:nvSpPr>
        <p:spPr bwMode="auto">
          <a:xfrm>
            <a:off x="6959600" y="2058988"/>
            <a:ext cx="1042988"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ESTAB-</a:t>
            </a:r>
          </a:p>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LISHED</a:t>
            </a:r>
          </a:p>
        </p:txBody>
      </p:sp>
      <p:pic>
        <p:nvPicPr>
          <p:cNvPr id="1589295" name="Picture 48"/>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17725" y="969963"/>
            <a:ext cx="504825"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89296" name="Picture 49"/>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04075" y="969963"/>
            <a:ext cx="504825"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 name="Rectangle 50"/>
          <p:cNvSpPr>
            <a:spLocks noChangeArrowheads="1"/>
          </p:cNvSpPr>
          <p:nvPr/>
        </p:nvSpPr>
        <p:spPr bwMode="auto">
          <a:xfrm>
            <a:off x="2508250" y="938213"/>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A</a:t>
            </a:r>
          </a:p>
        </p:txBody>
      </p:sp>
      <p:sp>
        <p:nvSpPr>
          <p:cNvPr id="53" name="Rectangle 51"/>
          <p:cNvSpPr>
            <a:spLocks noChangeArrowheads="1"/>
          </p:cNvSpPr>
          <p:nvPr/>
        </p:nvSpPr>
        <p:spPr bwMode="auto">
          <a:xfrm>
            <a:off x="7008813" y="938213"/>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en-US" altLang="zh-CN" b="1" kern="0">
                <a:solidFill>
                  <a:srgbClr val="3333CC"/>
                </a:solidFill>
                <a:latin typeface="+mn-lt"/>
                <a:ea typeface="黑体" panose="02010609060101010101" pitchFamily="2" charset="-122"/>
              </a:rPr>
              <a:t>B</a:t>
            </a:r>
          </a:p>
        </p:txBody>
      </p:sp>
      <p:sp>
        <p:nvSpPr>
          <p:cNvPr id="54" name="Rectangle 52"/>
          <p:cNvSpPr>
            <a:spLocks noChangeArrowheads="1"/>
          </p:cNvSpPr>
          <p:nvPr/>
        </p:nvSpPr>
        <p:spPr bwMode="auto">
          <a:xfrm>
            <a:off x="2052638" y="647700"/>
            <a:ext cx="6477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客户</a:t>
            </a:r>
          </a:p>
        </p:txBody>
      </p:sp>
      <p:sp>
        <p:nvSpPr>
          <p:cNvPr id="55" name="Rectangle 53"/>
          <p:cNvSpPr>
            <a:spLocks noChangeArrowheads="1"/>
          </p:cNvSpPr>
          <p:nvPr/>
        </p:nvSpPr>
        <p:spPr bwMode="auto">
          <a:xfrm>
            <a:off x="7019925" y="647700"/>
            <a:ext cx="8810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b="1" kern="0">
                <a:solidFill>
                  <a:srgbClr val="3333CC"/>
                </a:solidFill>
                <a:latin typeface="+mn-lt"/>
                <a:ea typeface="黑体" panose="02010609060101010101" pitchFamily="2" charset="-122"/>
              </a:rPr>
              <a:t>服务器</a:t>
            </a:r>
          </a:p>
        </p:txBody>
      </p:sp>
      <p:sp>
        <p:nvSpPr>
          <p:cNvPr id="56" name="Rectangle 54"/>
          <p:cNvSpPr>
            <a:spLocks noChangeArrowheads="1"/>
          </p:cNvSpPr>
          <p:nvPr/>
        </p:nvSpPr>
        <p:spPr bwMode="auto">
          <a:xfrm rot="-628888">
            <a:off x="4589463" y="3629025"/>
            <a:ext cx="1214437" cy="398463"/>
          </a:xfrm>
          <a:prstGeom prst="rect">
            <a:avLst/>
          </a:prstGeom>
          <a:solidFill>
            <a:srgbClr val="CCECFF"/>
          </a:solidFill>
          <a:ln w="38100" cmpd="dbl" algn="ctr">
            <a:solidFill>
              <a:srgbClr val="3333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fontAlgn="auto" hangingPunct="0">
              <a:spcBef>
                <a:spcPts val="0"/>
              </a:spcBef>
              <a:spcAft>
                <a:spcPts val="0"/>
              </a:spcAft>
              <a:defRPr/>
            </a:pPr>
            <a:r>
              <a:rPr lang="zh-CN" altLang="en-US" sz="2000" b="1" kern="0">
                <a:solidFill>
                  <a:srgbClr val="3333CC"/>
                </a:solidFill>
                <a:latin typeface="+mn-lt"/>
                <a:ea typeface="黑体" panose="02010609060101010101" pitchFamily="2" charset="-122"/>
              </a:rPr>
              <a:t>数据传送</a:t>
            </a:r>
          </a:p>
        </p:txBody>
      </p:sp>
      <p:sp>
        <p:nvSpPr>
          <p:cNvPr id="1589302" name="Text Box 55"/>
          <p:cNvSpPr txBox="1">
            <a:spLocks noChangeArrowheads="1"/>
          </p:cNvSpPr>
          <p:nvPr/>
        </p:nvSpPr>
        <p:spPr bwMode="auto">
          <a:xfrm>
            <a:off x="6931025" y="5803900"/>
            <a:ext cx="9715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r>
              <a:rPr lang="en-US" altLang="zh-CN" b="1">
                <a:solidFill>
                  <a:srgbClr val="FFFF99"/>
                </a:solidFill>
                <a:ea typeface="黑体" panose="02010609060101010101" pitchFamily="49" charset="-122"/>
              </a:rPr>
              <a:t>CLOSED</a:t>
            </a:r>
          </a:p>
        </p:txBody>
      </p:sp>
      <p:sp>
        <p:nvSpPr>
          <p:cNvPr id="58" name="Text Box 56"/>
          <p:cNvSpPr txBox="1">
            <a:spLocks noChangeArrowheads="1"/>
          </p:cNvSpPr>
          <p:nvPr/>
        </p:nvSpPr>
        <p:spPr bwMode="auto">
          <a:xfrm>
            <a:off x="2986088" y="115888"/>
            <a:ext cx="39655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en-US" altLang="zh-CN" sz="2800" kern="0">
                <a:solidFill>
                  <a:srgbClr val="3333CC"/>
                </a:solidFill>
                <a:latin typeface="Arial" panose="020B0604020202020204" pitchFamily="34" charset="0"/>
                <a:ea typeface="黑体" panose="02010609060101010101" pitchFamily="2" charset="-122"/>
              </a:rPr>
              <a:t>5.9.2   TCP </a:t>
            </a:r>
            <a:r>
              <a:rPr kumimoji="0" lang="zh-CN" altLang="en-US" sz="2800" kern="0">
                <a:solidFill>
                  <a:srgbClr val="3333CC"/>
                </a:solidFill>
                <a:latin typeface="Arial" panose="020B0604020202020204" pitchFamily="34" charset="0"/>
                <a:ea typeface="黑体" panose="02010609060101010101" pitchFamily="2" charset="-122"/>
              </a:rPr>
              <a:t>的连接释放 </a:t>
            </a:r>
          </a:p>
        </p:txBody>
      </p:sp>
      <p:sp>
        <p:nvSpPr>
          <p:cNvPr id="59" name="Text Box 57"/>
          <p:cNvSpPr txBox="1">
            <a:spLocks noChangeArrowheads="1"/>
          </p:cNvSpPr>
          <p:nvPr/>
        </p:nvSpPr>
        <p:spPr bwMode="auto">
          <a:xfrm>
            <a:off x="969963" y="92075"/>
            <a:ext cx="7962900" cy="528638"/>
          </a:xfrm>
          <a:prstGeom prst="rect">
            <a:avLst/>
          </a:prstGeom>
          <a:solidFill>
            <a:srgbClr val="FFFF99"/>
          </a:solidFill>
          <a:ln w="9525">
            <a:solidFill>
              <a:srgbClr val="3333CC"/>
            </a:solidFill>
            <a:miter lim="800000"/>
          </a:ln>
          <a:effectLst>
            <a:outerShdw dist="35921" dir="2700000" algn="ctr" rotWithShape="0">
              <a:srgbClr val="1C1C1C"/>
            </a:outerShdw>
          </a:effectLst>
        </p:spPr>
        <p:txBody>
          <a:bodyPr wrap="none">
            <a:spAutoFit/>
          </a:bodyPr>
          <a:lstStyle>
            <a:lvl1pPr eaLnBrk="0" hangingPunct="0">
              <a:defRPr kumimoji="1" sz="2400" b="1">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b="1">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b="1">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b="1">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b="1">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b="1">
                <a:solidFill>
                  <a:schemeClr val="tx1"/>
                </a:solidFill>
                <a:latin typeface="Tahoma" panose="020B0604030504040204" pitchFamily="34" charset="0"/>
                <a:ea typeface="宋体" panose="02010600030101010101" pitchFamily="2" charset="-122"/>
              </a:defRPr>
            </a:lvl9pPr>
          </a:lstStyle>
          <a:p>
            <a:pPr eaLnBrk="1" fontAlgn="auto" hangingPunct="1">
              <a:spcBef>
                <a:spcPts val="0"/>
              </a:spcBef>
              <a:spcAft>
                <a:spcPts val="0"/>
              </a:spcAft>
              <a:defRPr/>
            </a:pPr>
            <a:r>
              <a:rPr kumimoji="0" lang="en-US" altLang="zh-CN" sz="2800" kern="0" dirty="0">
                <a:solidFill>
                  <a:srgbClr val="3333CC"/>
                </a:solidFill>
                <a:latin typeface="Arial" panose="020B0604020202020204" pitchFamily="34" charset="0"/>
                <a:ea typeface="黑体" panose="02010609060101010101" pitchFamily="2" charset="-122"/>
              </a:rPr>
              <a:t>TCP </a:t>
            </a:r>
            <a:r>
              <a:rPr kumimoji="0" lang="zh-CN" altLang="en-US" sz="2800" kern="0" dirty="0">
                <a:solidFill>
                  <a:srgbClr val="3333CC"/>
                </a:solidFill>
                <a:latin typeface="Arial" panose="020B0604020202020204" pitchFamily="34" charset="0"/>
                <a:ea typeface="黑体" panose="02010609060101010101" pitchFamily="2" charset="-122"/>
              </a:rPr>
              <a:t>连接必须经过时间 </a:t>
            </a:r>
            <a:r>
              <a:rPr kumimoji="0" lang="en-US" altLang="zh-CN" sz="2800" kern="0" dirty="0">
                <a:solidFill>
                  <a:srgbClr val="3333CC"/>
                </a:solidFill>
                <a:latin typeface="Arial" panose="020B0604020202020204" pitchFamily="34" charset="0"/>
                <a:ea typeface="黑体" panose="02010609060101010101" pitchFamily="2" charset="-122"/>
              </a:rPr>
              <a:t>2MSL </a:t>
            </a:r>
            <a:r>
              <a:rPr kumimoji="0" lang="zh-CN" altLang="en-US" sz="2800" kern="0" dirty="0">
                <a:solidFill>
                  <a:srgbClr val="3333CC"/>
                </a:solidFill>
                <a:latin typeface="Arial" panose="020B0604020202020204" pitchFamily="34" charset="0"/>
                <a:ea typeface="黑体" panose="02010609060101010101" pitchFamily="2" charset="-122"/>
              </a:rPr>
              <a:t>后才真正释放掉。 </a:t>
            </a:r>
          </a:p>
        </p:txBody>
      </p:sp>
      <p:sp>
        <p:nvSpPr>
          <p:cNvPr id="1589305" name="灯片编号占位符 59"/>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E4E703E5-B009-4234-A44B-6DF7486A9870}" type="slidenum">
              <a:rPr lang="zh-CN" altLang="en-US" smtClean="0"/>
              <a:pPr/>
              <a:t>20</a:t>
            </a:fld>
            <a:endParaRPr lang="en-US" altLang="zh-CN" smtClean="0"/>
          </a:p>
        </p:txBody>
      </p:sp>
      <p:sp>
        <p:nvSpPr>
          <p:cNvPr id="1589306" name="页脚占位符 60"/>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500"/>
                                  </p:stCondLst>
                                  <p:childTnLst>
                                    <p:set>
                                      <p:cBhvr>
                                        <p:cTn id="6" dur="1" fill="hold">
                                          <p:stCondLst>
                                            <p:cond delay="0"/>
                                          </p:stCondLst>
                                        </p:cTn>
                                        <p:tgtEl>
                                          <p:spTgt spid="32"/>
                                        </p:tgtEl>
                                        <p:attrNameLst>
                                          <p:attrName>style.visibility</p:attrName>
                                        </p:attrNameLst>
                                      </p:cBhvr>
                                      <p:to>
                                        <p:strVal val="visible"/>
                                      </p:to>
                                    </p:set>
                                    <p:animEffect transition="in" filter="wipe(up)">
                                      <p:cBhvr>
                                        <p:cTn id="7" dur="1000"/>
                                        <p:tgtEl>
                                          <p:spTgt spid="32"/>
                                        </p:tgtEl>
                                      </p:cBhvr>
                                    </p:animEffect>
                                  </p:childTnLst>
                                </p:cTn>
                              </p:par>
                            </p:childTnLst>
                          </p:cTn>
                        </p:par>
                        <p:par>
                          <p:cTn id="8" fill="hold" nodeType="afterGroup">
                            <p:stCondLst>
                              <p:cond delay="1500"/>
                            </p:stCondLst>
                            <p:childTnLst>
                              <p:par>
                                <p:cTn id="9" presetID="22" presetClass="entr" presetSubtype="1" fill="hold" nodeType="afterEffect">
                                  <p:stCondLst>
                                    <p:cond delay="500"/>
                                  </p:stCondLst>
                                  <p:childTnLst>
                                    <p:set>
                                      <p:cBhvr>
                                        <p:cTn id="10" dur="1" fill="hold">
                                          <p:stCondLst>
                                            <p:cond delay="0"/>
                                          </p:stCondLst>
                                        </p:cTn>
                                        <p:tgtEl>
                                          <p:spTgt spid="4"/>
                                        </p:tgtEl>
                                        <p:attrNameLst>
                                          <p:attrName>style.visibility</p:attrName>
                                        </p:attrNameLst>
                                      </p:cBhvr>
                                      <p:to>
                                        <p:strVal val="visible"/>
                                      </p:to>
                                    </p:set>
                                    <p:animEffect transition="in" filter="wipe(up)">
                                      <p:cBhvr>
                                        <p:cTn id="1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0273"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A </a:t>
            </a:r>
            <a:r>
              <a:rPr lang="zh-CN" altLang="en-US" smtClean="0">
                <a:ea typeface="黑体" panose="02010609060101010101" pitchFamily="49" charset="-122"/>
              </a:rPr>
              <a:t>必须等待 </a:t>
            </a:r>
            <a:r>
              <a:rPr lang="en-US" altLang="zh-CN" smtClean="0">
                <a:ea typeface="黑体" panose="02010609060101010101" pitchFamily="49" charset="-122"/>
              </a:rPr>
              <a:t>2MSL </a:t>
            </a:r>
            <a:r>
              <a:rPr lang="zh-CN" altLang="en-US" smtClean="0">
                <a:ea typeface="黑体" panose="02010609060101010101" pitchFamily="49" charset="-122"/>
              </a:rPr>
              <a:t>的时间</a:t>
            </a:r>
          </a:p>
        </p:txBody>
      </p:sp>
      <p:sp>
        <p:nvSpPr>
          <p:cNvPr id="1590274" name="Rectangle 3"/>
          <p:cNvSpPr>
            <a:spLocks noGrp="1" noChangeArrowheads="1"/>
          </p:cNvSpPr>
          <p:nvPr>
            <p:ph idx="1"/>
          </p:nvPr>
        </p:nvSpPr>
        <p:spPr>
          <a:xfrm>
            <a:off x="495300" y="1196975"/>
            <a:ext cx="9066213" cy="4933950"/>
          </a:xfrm>
        </p:spPr>
        <p:txBody>
          <a:bodyPr/>
          <a:lstStyle/>
          <a:p>
            <a:r>
              <a:rPr lang="zh-CN" altLang="en-US" smtClean="0">
                <a:solidFill>
                  <a:srgbClr val="FF0000"/>
                </a:solidFill>
                <a:ea typeface="黑体" panose="02010609060101010101" pitchFamily="49" charset="-122"/>
              </a:rPr>
              <a:t>第一，</a:t>
            </a:r>
            <a:r>
              <a:rPr lang="zh-CN" altLang="en-US" smtClean="0">
                <a:ea typeface="黑体" panose="02010609060101010101" pitchFamily="49" charset="-122"/>
              </a:rPr>
              <a:t>为了保证 </a:t>
            </a:r>
            <a:r>
              <a:rPr lang="en-US" altLang="zh-CN" smtClean="0">
                <a:ea typeface="黑体" panose="02010609060101010101" pitchFamily="49" charset="-122"/>
              </a:rPr>
              <a:t>A </a:t>
            </a:r>
            <a:r>
              <a:rPr lang="zh-CN" altLang="en-US" smtClean="0">
                <a:ea typeface="黑体" panose="02010609060101010101" pitchFamily="49" charset="-122"/>
              </a:rPr>
              <a:t>发送的最后一个 </a:t>
            </a:r>
            <a:r>
              <a:rPr lang="en-US" altLang="zh-CN" smtClean="0">
                <a:ea typeface="黑体" panose="02010609060101010101" pitchFamily="49" charset="-122"/>
              </a:rPr>
              <a:t>ACK </a:t>
            </a:r>
            <a:r>
              <a:rPr lang="zh-CN" altLang="en-US" smtClean="0">
                <a:ea typeface="黑体" panose="02010609060101010101" pitchFamily="49" charset="-122"/>
              </a:rPr>
              <a:t>报文段能够到达 </a:t>
            </a:r>
            <a:r>
              <a:rPr lang="en-US" altLang="zh-CN" smtClean="0">
                <a:ea typeface="黑体" panose="02010609060101010101" pitchFamily="49" charset="-122"/>
              </a:rPr>
              <a:t>B</a:t>
            </a:r>
            <a:r>
              <a:rPr lang="zh-CN" altLang="en-US" smtClean="0">
                <a:ea typeface="黑体" panose="02010609060101010101" pitchFamily="49" charset="-122"/>
              </a:rPr>
              <a:t>。</a:t>
            </a:r>
          </a:p>
          <a:p>
            <a:r>
              <a:rPr lang="zh-CN" altLang="en-US" smtClean="0">
                <a:solidFill>
                  <a:srgbClr val="FF0000"/>
                </a:solidFill>
                <a:ea typeface="黑体" panose="02010609060101010101" pitchFamily="49" charset="-122"/>
              </a:rPr>
              <a:t>第二，</a:t>
            </a:r>
            <a:r>
              <a:rPr lang="zh-CN" altLang="en-US" smtClean="0">
                <a:ea typeface="黑体" panose="02010609060101010101" pitchFamily="49" charset="-122"/>
              </a:rPr>
              <a:t>防止 “已失效的连接请求报文段”出现在本连接中。</a:t>
            </a:r>
            <a:r>
              <a:rPr lang="en-US" altLang="zh-CN" smtClean="0">
                <a:ea typeface="黑体" panose="02010609060101010101" pitchFamily="49" charset="-122"/>
              </a:rPr>
              <a:t>A </a:t>
            </a:r>
            <a:r>
              <a:rPr lang="zh-CN" altLang="en-US" smtClean="0">
                <a:ea typeface="黑体" panose="02010609060101010101" pitchFamily="49" charset="-122"/>
              </a:rPr>
              <a:t>在发送完最后一个 </a:t>
            </a:r>
            <a:r>
              <a:rPr lang="en-US" altLang="zh-CN" smtClean="0">
                <a:ea typeface="黑体" panose="02010609060101010101" pitchFamily="49" charset="-122"/>
              </a:rPr>
              <a:t>ACK </a:t>
            </a:r>
            <a:r>
              <a:rPr lang="zh-CN" altLang="en-US" smtClean="0">
                <a:ea typeface="黑体" panose="02010609060101010101" pitchFamily="49" charset="-122"/>
              </a:rPr>
              <a:t>报文段后，再经过时间 </a:t>
            </a:r>
            <a:r>
              <a:rPr lang="en-US" altLang="zh-CN" smtClean="0">
                <a:ea typeface="黑体" panose="02010609060101010101" pitchFamily="49" charset="-122"/>
              </a:rPr>
              <a:t>2MSL</a:t>
            </a:r>
            <a:r>
              <a:rPr lang="zh-CN" altLang="en-US" smtClean="0">
                <a:ea typeface="黑体" panose="02010609060101010101" pitchFamily="49" charset="-122"/>
              </a:rPr>
              <a:t>，就可以使本连接持续的时间内所产生的所有报文段，都从网络中消失。这样就可以使下一个新的连接中不会出现这种旧的连接请求报文段。</a:t>
            </a:r>
          </a:p>
        </p:txBody>
      </p:sp>
      <p:sp>
        <p:nvSpPr>
          <p:cNvPr id="159027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8859015-62A1-44B2-A57E-46374F8A4F00}" type="slidenum">
              <a:rPr lang="zh-CN" altLang="en-US" smtClean="0"/>
              <a:pPr eaLnBrk="1" hangingPunct="1"/>
              <a:t>21</a:t>
            </a:fld>
            <a:endParaRPr lang="en-US" altLang="zh-CN" smtClean="0"/>
          </a:p>
        </p:txBody>
      </p:sp>
      <p:sp>
        <p:nvSpPr>
          <p:cNvPr id="159027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1297"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5.9.3  TCP </a:t>
            </a:r>
            <a:r>
              <a:rPr lang="zh-CN" altLang="zh-CN" smtClean="0">
                <a:ea typeface="黑体" panose="02010609060101010101" pitchFamily="49" charset="-122"/>
              </a:rPr>
              <a:t>的有限状态机</a:t>
            </a:r>
            <a:endParaRPr lang="zh-CN" altLang="en-US" smtClean="0">
              <a:ea typeface="黑体" panose="02010609060101010101" pitchFamily="49" charset="-122"/>
            </a:endParaRPr>
          </a:p>
        </p:txBody>
      </p:sp>
      <p:sp>
        <p:nvSpPr>
          <p:cNvPr id="1591298" name="Rectangle 3"/>
          <p:cNvSpPr>
            <a:spLocks noGrp="1" noChangeArrowheads="1"/>
          </p:cNvSpPr>
          <p:nvPr>
            <p:ph idx="1"/>
          </p:nvPr>
        </p:nvSpPr>
        <p:spPr>
          <a:xfrm>
            <a:off x="495300" y="1196975"/>
            <a:ext cx="9066213" cy="4933950"/>
          </a:xfrm>
        </p:spPr>
        <p:txBody>
          <a:bodyPr/>
          <a:lstStyle/>
          <a:p>
            <a:r>
              <a:rPr lang="en-US" altLang="zh-CN" dirty="0" smtClean="0">
                <a:solidFill>
                  <a:srgbClr val="0000FF"/>
                </a:solidFill>
                <a:ea typeface="黑体" panose="02010609060101010101" pitchFamily="49" charset="-122"/>
              </a:rPr>
              <a:t>TCP </a:t>
            </a:r>
            <a:r>
              <a:rPr lang="zh-CN" altLang="zh-CN" dirty="0" smtClean="0">
                <a:solidFill>
                  <a:srgbClr val="0000FF"/>
                </a:solidFill>
                <a:ea typeface="黑体" panose="02010609060101010101" pitchFamily="49" charset="-122"/>
              </a:rPr>
              <a:t>的有限状态机</a:t>
            </a:r>
            <a:r>
              <a:rPr lang="zh-CN" altLang="en-US" dirty="0" smtClean="0">
                <a:solidFill>
                  <a:srgbClr val="0000FF"/>
                </a:solidFill>
                <a:ea typeface="黑体" panose="02010609060101010101" pitchFamily="49" charset="-122"/>
              </a:rPr>
              <a:t>可以</a:t>
            </a:r>
            <a:r>
              <a:rPr lang="zh-CN" altLang="zh-CN" dirty="0" smtClean="0">
                <a:solidFill>
                  <a:srgbClr val="0000FF"/>
                </a:solidFill>
                <a:ea typeface="黑体" panose="02010609060101010101" pitchFamily="49" charset="-122"/>
              </a:rPr>
              <a:t>更清晰地看出</a:t>
            </a:r>
            <a:r>
              <a:rPr lang="en-US" altLang="zh-CN" dirty="0" smtClean="0">
                <a:solidFill>
                  <a:srgbClr val="0000FF"/>
                </a:solidFill>
                <a:ea typeface="黑体" panose="02010609060101010101" pitchFamily="49" charset="-122"/>
              </a:rPr>
              <a:t> TCP </a:t>
            </a:r>
            <a:r>
              <a:rPr lang="zh-CN" altLang="zh-CN" dirty="0" smtClean="0">
                <a:solidFill>
                  <a:srgbClr val="0000FF"/>
                </a:solidFill>
                <a:ea typeface="黑体" panose="02010609060101010101" pitchFamily="49" charset="-122"/>
              </a:rPr>
              <a:t>连接的各种状态之间的关系</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en-US" altLang="zh-CN" dirty="0" smtClean="0">
                <a:ea typeface="黑体" panose="02010609060101010101" pitchFamily="49" charset="-122"/>
              </a:rPr>
              <a:t>TCP </a:t>
            </a:r>
            <a:r>
              <a:rPr lang="zh-CN" altLang="en-US" dirty="0" smtClean="0">
                <a:ea typeface="黑体" panose="02010609060101010101" pitchFamily="49" charset="-122"/>
              </a:rPr>
              <a:t>有限状态机的图中每一个</a:t>
            </a:r>
            <a:r>
              <a:rPr lang="zh-CN" altLang="en-US" dirty="0" smtClean="0">
                <a:solidFill>
                  <a:srgbClr val="0000FF"/>
                </a:solidFill>
                <a:ea typeface="黑体" panose="02010609060101010101" pitchFamily="49" charset="-122"/>
              </a:rPr>
              <a:t>方框</a:t>
            </a:r>
            <a:r>
              <a:rPr lang="zh-CN" altLang="en-US" dirty="0" smtClean="0">
                <a:ea typeface="黑体" panose="02010609060101010101" pitchFamily="49" charset="-122"/>
              </a:rPr>
              <a:t>都是 </a:t>
            </a:r>
            <a:r>
              <a:rPr lang="en-US" altLang="zh-CN" dirty="0" smtClean="0">
                <a:ea typeface="黑体" panose="02010609060101010101" pitchFamily="49" charset="-122"/>
              </a:rPr>
              <a:t>TCP </a:t>
            </a:r>
            <a:r>
              <a:rPr lang="zh-CN" altLang="en-US" dirty="0" smtClean="0">
                <a:ea typeface="黑体" panose="02010609060101010101" pitchFamily="49" charset="-122"/>
              </a:rPr>
              <a:t>可能具有的</a:t>
            </a:r>
            <a:r>
              <a:rPr lang="zh-CN" altLang="en-US" dirty="0" smtClean="0">
                <a:solidFill>
                  <a:srgbClr val="0000FF"/>
                </a:solidFill>
                <a:ea typeface="黑体" panose="02010609060101010101" pitchFamily="49" charset="-122"/>
              </a:rPr>
              <a:t>状态</a:t>
            </a:r>
            <a:r>
              <a:rPr lang="zh-CN" altLang="en-US" dirty="0" smtClean="0">
                <a:ea typeface="黑体" panose="02010609060101010101" pitchFamily="49" charset="-122"/>
              </a:rPr>
              <a:t>。</a:t>
            </a:r>
          </a:p>
          <a:p>
            <a:r>
              <a:rPr lang="zh-CN" altLang="en-US" dirty="0" smtClean="0">
                <a:ea typeface="黑体" panose="02010609060101010101" pitchFamily="49" charset="-122"/>
              </a:rPr>
              <a:t>每个方框中的</a:t>
            </a:r>
            <a:r>
              <a:rPr lang="zh-CN" altLang="en-US" dirty="0" smtClean="0">
                <a:solidFill>
                  <a:srgbClr val="0000FF"/>
                </a:solidFill>
                <a:ea typeface="黑体" panose="02010609060101010101" pitchFamily="49" charset="-122"/>
              </a:rPr>
              <a:t>大写英文字符串</a:t>
            </a:r>
            <a:r>
              <a:rPr lang="zh-CN" altLang="en-US" dirty="0" smtClean="0">
                <a:ea typeface="黑体" panose="02010609060101010101" pitchFamily="49" charset="-122"/>
              </a:rPr>
              <a:t>是 </a:t>
            </a:r>
            <a:r>
              <a:rPr lang="en-US" altLang="zh-CN" dirty="0" smtClean="0">
                <a:ea typeface="黑体" panose="02010609060101010101" pitchFamily="49" charset="-122"/>
              </a:rPr>
              <a:t>TCP </a:t>
            </a:r>
            <a:r>
              <a:rPr lang="zh-CN" altLang="en-US" dirty="0" smtClean="0">
                <a:ea typeface="黑体" panose="02010609060101010101" pitchFamily="49" charset="-122"/>
              </a:rPr>
              <a:t>标准所使用的 </a:t>
            </a:r>
            <a:r>
              <a:rPr lang="en-US" altLang="zh-CN" dirty="0" smtClean="0">
                <a:ea typeface="黑体" panose="02010609060101010101" pitchFamily="49" charset="-122"/>
              </a:rPr>
              <a:t>TCP </a:t>
            </a:r>
            <a:r>
              <a:rPr lang="zh-CN" altLang="en-US" dirty="0" smtClean="0">
                <a:ea typeface="黑体" panose="02010609060101010101" pitchFamily="49" charset="-122"/>
              </a:rPr>
              <a:t>连接</a:t>
            </a:r>
            <a:r>
              <a:rPr lang="zh-CN" altLang="en-US" dirty="0" smtClean="0">
                <a:solidFill>
                  <a:srgbClr val="0000FF"/>
                </a:solidFill>
                <a:ea typeface="黑体" panose="02010609060101010101" pitchFamily="49" charset="-122"/>
              </a:rPr>
              <a:t>状态名</a:t>
            </a:r>
            <a:r>
              <a:rPr lang="zh-CN" altLang="en-US" dirty="0" smtClean="0">
                <a:ea typeface="黑体" panose="02010609060101010101" pitchFamily="49" charset="-122"/>
              </a:rPr>
              <a:t>。</a:t>
            </a:r>
            <a:endParaRPr lang="en-US" altLang="zh-CN" dirty="0" smtClean="0">
              <a:ea typeface="黑体" panose="02010609060101010101" pitchFamily="49" charset="-122"/>
            </a:endParaRPr>
          </a:p>
          <a:p>
            <a:r>
              <a:rPr lang="zh-CN" altLang="en-US" dirty="0" smtClean="0">
                <a:ea typeface="黑体" panose="02010609060101010101" pitchFamily="49" charset="-122"/>
              </a:rPr>
              <a:t>状态之间的</a:t>
            </a:r>
            <a:r>
              <a:rPr lang="zh-CN" altLang="en-US" dirty="0" smtClean="0">
                <a:solidFill>
                  <a:srgbClr val="0000FF"/>
                </a:solidFill>
                <a:ea typeface="黑体" panose="02010609060101010101" pitchFamily="49" charset="-122"/>
              </a:rPr>
              <a:t>箭头</a:t>
            </a:r>
            <a:r>
              <a:rPr lang="zh-CN" altLang="en-US" dirty="0" smtClean="0">
                <a:ea typeface="黑体" panose="02010609060101010101" pitchFamily="49" charset="-122"/>
              </a:rPr>
              <a:t>表示可能发生的</a:t>
            </a:r>
            <a:r>
              <a:rPr lang="zh-CN" altLang="en-US" dirty="0" smtClean="0">
                <a:solidFill>
                  <a:srgbClr val="0000FF"/>
                </a:solidFill>
                <a:ea typeface="黑体" panose="02010609060101010101" pitchFamily="49" charset="-122"/>
              </a:rPr>
              <a:t>状态变迁</a:t>
            </a:r>
            <a:r>
              <a:rPr lang="zh-CN" altLang="en-US" dirty="0" smtClean="0">
                <a:ea typeface="黑体" panose="02010609060101010101" pitchFamily="49" charset="-122"/>
              </a:rPr>
              <a:t>。</a:t>
            </a:r>
          </a:p>
        </p:txBody>
      </p:sp>
      <p:sp>
        <p:nvSpPr>
          <p:cNvPr id="159129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382336D-89DC-41C8-9367-A7175F66D766}" type="slidenum">
              <a:rPr lang="zh-CN" altLang="en-US" smtClean="0"/>
              <a:pPr eaLnBrk="1" hangingPunct="1"/>
              <a:t>22</a:t>
            </a:fld>
            <a:endParaRPr lang="en-US" altLang="zh-CN" smtClean="0"/>
          </a:p>
        </p:txBody>
      </p:sp>
      <p:sp>
        <p:nvSpPr>
          <p:cNvPr id="159130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3345"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5.9.3  TCP </a:t>
            </a:r>
            <a:r>
              <a:rPr lang="zh-CN" altLang="zh-CN" smtClean="0">
                <a:ea typeface="黑体" panose="02010609060101010101" pitchFamily="49" charset="-122"/>
              </a:rPr>
              <a:t>的有限状态机</a:t>
            </a:r>
            <a:endParaRPr lang="zh-CN" altLang="en-US" smtClean="0">
              <a:ea typeface="黑体" panose="02010609060101010101" pitchFamily="49" charset="-122"/>
            </a:endParaRPr>
          </a:p>
        </p:txBody>
      </p:sp>
      <p:sp>
        <p:nvSpPr>
          <p:cNvPr id="1593346"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箭头旁边的</a:t>
            </a:r>
            <a:r>
              <a:rPr lang="zh-CN" altLang="en-US" dirty="0" smtClean="0">
                <a:solidFill>
                  <a:srgbClr val="0000FF"/>
                </a:solidFill>
                <a:ea typeface="黑体" panose="02010609060101010101" pitchFamily="49" charset="-122"/>
              </a:rPr>
              <a:t>字</a:t>
            </a:r>
            <a:r>
              <a:rPr lang="zh-CN" altLang="en-US" dirty="0" smtClean="0">
                <a:ea typeface="黑体" panose="02010609060101010101" pitchFamily="49" charset="-122"/>
              </a:rPr>
              <a:t>，表明引起这种变迁的</a:t>
            </a:r>
            <a:r>
              <a:rPr lang="zh-CN" altLang="en-US" dirty="0" smtClean="0">
                <a:solidFill>
                  <a:srgbClr val="0000FF"/>
                </a:solidFill>
                <a:ea typeface="黑体" panose="02010609060101010101" pitchFamily="49" charset="-122"/>
              </a:rPr>
              <a:t>原因</a:t>
            </a:r>
            <a:r>
              <a:rPr lang="zh-CN" altLang="en-US" dirty="0" smtClean="0">
                <a:ea typeface="黑体" panose="02010609060101010101" pitchFamily="49" charset="-122"/>
              </a:rPr>
              <a:t>，</a:t>
            </a:r>
            <a:r>
              <a:rPr lang="zh-CN" altLang="en-US" dirty="0" smtClean="0">
                <a:solidFill>
                  <a:srgbClr val="0000FF"/>
                </a:solidFill>
                <a:ea typeface="黑体" panose="02010609060101010101" pitchFamily="49" charset="-122"/>
              </a:rPr>
              <a:t>或</a:t>
            </a:r>
            <a:r>
              <a:rPr lang="zh-CN" altLang="en-US" dirty="0" smtClean="0">
                <a:ea typeface="黑体" panose="02010609060101010101" pitchFamily="49" charset="-122"/>
              </a:rPr>
              <a:t>表明发生状态变迁后又出现什么</a:t>
            </a:r>
            <a:r>
              <a:rPr lang="zh-CN" altLang="en-US" dirty="0" smtClean="0">
                <a:solidFill>
                  <a:srgbClr val="0000FF"/>
                </a:solidFill>
                <a:ea typeface="黑体" panose="02010609060101010101" pitchFamily="49" charset="-122"/>
              </a:rPr>
              <a:t>动作</a:t>
            </a:r>
            <a:r>
              <a:rPr lang="zh-CN" altLang="en-US" dirty="0" smtClean="0">
                <a:ea typeface="黑体" panose="02010609060101010101" pitchFamily="49" charset="-122"/>
              </a:rPr>
              <a:t>。</a:t>
            </a:r>
          </a:p>
          <a:p>
            <a:r>
              <a:rPr lang="zh-CN" altLang="en-US" dirty="0" smtClean="0">
                <a:ea typeface="黑体" panose="02010609060101010101" pitchFamily="49" charset="-122"/>
              </a:rPr>
              <a:t>图中有三种不同的箭头。</a:t>
            </a:r>
          </a:p>
          <a:p>
            <a:pPr lvl="1"/>
            <a:r>
              <a:rPr lang="zh-CN" altLang="en-US" dirty="0" smtClean="0">
                <a:solidFill>
                  <a:srgbClr val="FF0000"/>
                </a:solidFill>
                <a:latin typeface="黑体" panose="02010609060101010101" pitchFamily="49" charset="-122"/>
                <a:ea typeface="黑体" panose="02010609060101010101" pitchFamily="49" charset="-122"/>
              </a:rPr>
              <a:t>粗实线箭头</a:t>
            </a:r>
            <a:r>
              <a:rPr lang="zh-CN" altLang="en-US" dirty="0" smtClean="0">
                <a:solidFill>
                  <a:srgbClr val="0000FF"/>
                </a:solidFill>
                <a:latin typeface="黑体" panose="02010609060101010101" pitchFamily="49" charset="-122"/>
                <a:ea typeface="黑体" panose="02010609060101010101" pitchFamily="49" charset="-122"/>
              </a:rPr>
              <a:t>表示对客户进程的正常变迁。</a:t>
            </a:r>
          </a:p>
          <a:p>
            <a:pPr lvl="1"/>
            <a:r>
              <a:rPr lang="zh-CN" altLang="en-US" dirty="0" smtClean="0">
                <a:solidFill>
                  <a:srgbClr val="FF0000"/>
                </a:solidFill>
                <a:latin typeface="黑体" panose="02010609060101010101" pitchFamily="49" charset="-122"/>
                <a:ea typeface="黑体" panose="02010609060101010101" pitchFamily="49" charset="-122"/>
              </a:rPr>
              <a:t>粗虚线箭头</a:t>
            </a:r>
            <a:r>
              <a:rPr lang="zh-CN" altLang="en-US" dirty="0" smtClean="0">
                <a:solidFill>
                  <a:srgbClr val="0000FF"/>
                </a:solidFill>
                <a:latin typeface="黑体" panose="02010609060101010101" pitchFamily="49" charset="-122"/>
                <a:ea typeface="黑体" panose="02010609060101010101" pitchFamily="49" charset="-122"/>
              </a:rPr>
              <a:t>表示对服务器进程的正常变迁。</a:t>
            </a:r>
          </a:p>
          <a:p>
            <a:pPr lvl="1"/>
            <a:r>
              <a:rPr lang="zh-CN" altLang="en-US" dirty="0" smtClean="0">
                <a:solidFill>
                  <a:srgbClr val="FF0000"/>
                </a:solidFill>
                <a:latin typeface="黑体" panose="02010609060101010101" pitchFamily="49" charset="-122"/>
                <a:ea typeface="黑体" panose="02010609060101010101" pitchFamily="49" charset="-122"/>
              </a:rPr>
              <a:t>细线箭头</a:t>
            </a:r>
            <a:r>
              <a:rPr lang="zh-CN" altLang="en-US" dirty="0" smtClean="0">
                <a:solidFill>
                  <a:srgbClr val="0000FF"/>
                </a:solidFill>
                <a:latin typeface="黑体" panose="02010609060101010101" pitchFamily="49" charset="-122"/>
                <a:ea typeface="黑体" panose="02010609060101010101" pitchFamily="49" charset="-122"/>
              </a:rPr>
              <a:t>表示异常变迁。 </a:t>
            </a:r>
          </a:p>
          <a:p>
            <a:endParaRPr lang="zh-CN" altLang="en-US" sz="2800" dirty="0" smtClean="0">
              <a:solidFill>
                <a:schemeClr val="folHlink"/>
              </a:solidFill>
              <a:latin typeface="黑体" panose="02010609060101010101" pitchFamily="49" charset="-122"/>
              <a:ea typeface="黑体" panose="02010609060101010101" pitchFamily="49" charset="-122"/>
            </a:endParaRPr>
          </a:p>
        </p:txBody>
      </p:sp>
      <p:sp>
        <p:nvSpPr>
          <p:cNvPr id="159334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82DAE66-B274-430A-8D02-28716F6A4524}" type="slidenum">
              <a:rPr lang="zh-CN" altLang="en-US" smtClean="0"/>
              <a:pPr eaLnBrk="1" hangingPunct="1"/>
              <a:t>23</a:t>
            </a:fld>
            <a:endParaRPr lang="en-US" altLang="zh-CN" smtClean="0"/>
          </a:p>
        </p:txBody>
      </p:sp>
      <p:sp>
        <p:nvSpPr>
          <p:cNvPr id="159334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5393" name="Rectangle 4"/>
          <p:cNvSpPr>
            <a:spLocks noGrp="1" noChangeArrowheads="1"/>
          </p:cNvSpPr>
          <p:nvPr>
            <p:ph type="title" idx="4294967295"/>
          </p:nvPr>
        </p:nvSpPr>
        <p:spPr>
          <a:xfrm>
            <a:off x="8337550" y="1365250"/>
            <a:ext cx="1208088" cy="3503613"/>
          </a:xfrm>
        </p:spPr>
        <p:txBody>
          <a:bodyPr/>
          <a:lstStyle/>
          <a:p>
            <a:pPr algn="ctr"/>
            <a:r>
              <a:rPr lang="en-US" altLang="zh-CN" sz="3200" smtClean="0">
                <a:ea typeface="黑体" panose="02010609060101010101" pitchFamily="49" charset="-122"/>
              </a:rPr>
              <a:t>TCP</a:t>
            </a:r>
            <a:br>
              <a:rPr lang="en-US" altLang="zh-CN" sz="3200" smtClean="0">
                <a:ea typeface="黑体" panose="02010609060101010101" pitchFamily="49" charset="-122"/>
              </a:rPr>
            </a:br>
            <a:r>
              <a:rPr lang="zh-CN" altLang="en-US" sz="3200" smtClean="0">
                <a:ea typeface="黑体" panose="02010609060101010101" pitchFamily="49" charset="-122"/>
              </a:rPr>
              <a:t>的</a:t>
            </a:r>
            <a:br>
              <a:rPr lang="zh-CN" altLang="en-US" sz="3200" smtClean="0">
                <a:ea typeface="黑体" panose="02010609060101010101" pitchFamily="49" charset="-122"/>
              </a:rPr>
            </a:br>
            <a:r>
              <a:rPr lang="zh-CN" altLang="en-US" sz="3200" smtClean="0">
                <a:ea typeface="黑体" panose="02010609060101010101" pitchFamily="49" charset="-122"/>
              </a:rPr>
              <a:t>有</a:t>
            </a:r>
            <a:br>
              <a:rPr lang="zh-CN" altLang="en-US" sz="3200" smtClean="0">
                <a:ea typeface="黑体" panose="02010609060101010101" pitchFamily="49" charset="-122"/>
              </a:rPr>
            </a:br>
            <a:r>
              <a:rPr lang="zh-CN" altLang="en-US" sz="3200" smtClean="0">
                <a:ea typeface="黑体" panose="02010609060101010101" pitchFamily="49" charset="-122"/>
              </a:rPr>
              <a:t>限</a:t>
            </a:r>
            <a:br>
              <a:rPr lang="zh-CN" altLang="en-US" sz="3200" smtClean="0">
                <a:ea typeface="黑体" panose="02010609060101010101" pitchFamily="49" charset="-122"/>
              </a:rPr>
            </a:br>
            <a:r>
              <a:rPr lang="zh-CN" altLang="en-US" sz="3200" smtClean="0">
                <a:ea typeface="黑体" panose="02010609060101010101" pitchFamily="49" charset="-122"/>
              </a:rPr>
              <a:t>状</a:t>
            </a:r>
            <a:br>
              <a:rPr lang="zh-CN" altLang="en-US" sz="3200" smtClean="0">
                <a:ea typeface="黑体" panose="02010609060101010101" pitchFamily="49" charset="-122"/>
              </a:rPr>
            </a:br>
            <a:r>
              <a:rPr lang="zh-CN" altLang="en-US" sz="3200" smtClean="0">
                <a:ea typeface="黑体" panose="02010609060101010101" pitchFamily="49" charset="-122"/>
              </a:rPr>
              <a:t>态</a:t>
            </a:r>
            <a:br>
              <a:rPr lang="zh-CN" altLang="en-US" sz="3200" smtClean="0">
                <a:ea typeface="黑体" panose="02010609060101010101" pitchFamily="49" charset="-122"/>
              </a:rPr>
            </a:br>
            <a:r>
              <a:rPr lang="zh-CN" altLang="en-US" sz="3200" smtClean="0">
                <a:ea typeface="黑体" panose="02010609060101010101" pitchFamily="49" charset="-122"/>
              </a:rPr>
              <a:t>机 </a:t>
            </a:r>
          </a:p>
        </p:txBody>
      </p:sp>
      <p:sp>
        <p:nvSpPr>
          <p:cNvPr id="1595394" name="Rectangle 5"/>
          <p:cNvSpPr>
            <a:spLocks noChangeArrowheads="1"/>
          </p:cNvSpPr>
          <p:nvPr/>
        </p:nvSpPr>
        <p:spPr bwMode="auto">
          <a:xfrm>
            <a:off x="930275" y="4575175"/>
            <a:ext cx="4541838" cy="2263775"/>
          </a:xfrm>
          <a:prstGeom prst="rect">
            <a:avLst/>
          </a:prstGeom>
          <a:solidFill>
            <a:srgbClr val="66FFFF"/>
          </a:solidFill>
          <a:ln w="9525">
            <a:solidFill>
              <a:schemeClr val="tx1"/>
            </a:solidFill>
            <a:prstDash val="dash"/>
            <a:miter lim="800000"/>
            <a:headEnd/>
            <a:tailEnd/>
          </a:ln>
        </p:spPr>
        <p:txBody>
          <a:bodyPr wrap="none" anchor="ctr"/>
          <a:lstStyle/>
          <a:p>
            <a:pPr eaLnBrk="0" hangingPunct="0"/>
            <a:endParaRPr lang="zh-CN" altLang="en-US" b="1">
              <a:ea typeface="黑体" panose="02010609060101010101" pitchFamily="49" charset="-122"/>
            </a:endParaRPr>
          </a:p>
        </p:txBody>
      </p:sp>
      <p:sp>
        <p:nvSpPr>
          <p:cNvPr id="1595395" name="Rectangle 6"/>
          <p:cNvSpPr>
            <a:spLocks noChangeArrowheads="1"/>
          </p:cNvSpPr>
          <p:nvPr/>
        </p:nvSpPr>
        <p:spPr bwMode="auto">
          <a:xfrm>
            <a:off x="5726113" y="3632200"/>
            <a:ext cx="1576387" cy="2012950"/>
          </a:xfrm>
          <a:prstGeom prst="rect">
            <a:avLst/>
          </a:prstGeom>
          <a:solidFill>
            <a:srgbClr val="66FFFF"/>
          </a:solidFill>
          <a:ln w="9525">
            <a:solidFill>
              <a:schemeClr val="tx1"/>
            </a:solidFill>
            <a:prstDash val="dash"/>
            <a:miter lim="800000"/>
            <a:headEnd/>
            <a:tailEnd/>
          </a:ln>
        </p:spPr>
        <p:txBody>
          <a:bodyPr wrap="none" anchor="ctr"/>
          <a:lstStyle/>
          <a:p>
            <a:pPr eaLnBrk="0" hangingPunct="0"/>
            <a:endParaRPr lang="zh-CN" altLang="en-US" b="1">
              <a:ea typeface="黑体" panose="02010609060101010101" pitchFamily="49" charset="-122"/>
            </a:endParaRPr>
          </a:p>
        </p:txBody>
      </p:sp>
      <p:sp>
        <p:nvSpPr>
          <p:cNvPr id="1595396" name="Line 7"/>
          <p:cNvSpPr>
            <a:spLocks noChangeShapeType="1"/>
          </p:cNvSpPr>
          <p:nvPr/>
        </p:nvSpPr>
        <p:spPr bwMode="auto">
          <a:xfrm rot="5400000" flipV="1">
            <a:off x="5303838" y="3290888"/>
            <a:ext cx="0" cy="1187450"/>
          </a:xfrm>
          <a:prstGeom prst="line">
            <a:avLst/>
          </a:prstGeom>
          <a:noFill/>
          <a:ln w="57150">
            <a:solidFill>
              <a:srgbClr val="C00000"/>
            </a:solidFill>
            <a:prstDash val="sysDot"/>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sp>
        <p:nvSpPr>
          <p:cNvPr id="1595397" name="Rectangle 8"/>
          <p:cNvSpPr>
            <a:spLocks noChangeArrowheads="1"/>
          </p:cNvSpPr>
          <p:nvPr/>
        </p:nvSpPr>
        <p:spPr bwMode="auto">
          <a:xfrm>
            <a:off x="3609975" y="236538"/>
            <a:ext cx="846138" cy="252412"/>
          </a:xfrm>
          <a:prstGeom prst="rect">
            <a:avLst/>
          </a:prstGeom>
          <a:solidFill>
            <a:srgbClr val="FFFF99"/>
          </a:solidFill>
          <a:ln w="9525">
            <a:solidFill>
              <a:schemeClr val="tx1"/>
            </a:solidFill>
            <a:miter lim="800000"/>
            <a:headEnd/>
            <a:tailEnd/>
          </a:ln>
        </p:spPr>
        <p:txBody>
          <a:bodyPr wrap="none" anchor="ctr"/>
          <a:lstStyle/>
          <a:p>
            <a:pPr algn="ctr" eaLnBrk="0" hangingPunct="0"/>
            <a:r>
              <a:rPr lang="en-US" altLang="zh-CN" sz="1400" b="1">
                <a:ea typeface="黑体" panose="02010609060101010101" pitchFamily="49" charset="-122"/>
              </a:rPr>
              <a:t>CLOSED</a:t>
            </a:r>
          </a:p>
        </p:txBody>
      </p:sp>
      <p:sp>
        <p:nvSpPr>
          <p:cNvPr id="1595398" name="Rectangle 9"/>
          <p:cNvSpPr>
            <a:spLocks noChangeArrowheads="1"/>
          </p:cNvSpPr>
          <p:nvPr/>
        </p:nvSpPr>
        <p:spPr bwMode="auto">
          <a:xfrm>
            <a:off x="3270250" y="3759200"/>
            <a:ext cx="1439863" cy="250825"/>
          </a:xfrm>
          <a:prstGeom prst="rect">
            <a:avLst/>
          </a:prstGeom>
          <a:solidFill>
            <a:srgbClr val="FFFF99"/>
          </a:solidFill>
          <a:ln w="9525">
            <a:solidFill>
              <a:schemeClr val="tx1"/>
            </a:solidFill>
            <a:miter lim="800000"/>
            <a:headEnd/>
            <a:tailEnd/>
          </a:ln>
        </p:spPr>
        <p:txBody>
          <a:bodyPr wrap="none" anchor="ctr"/>
          <a:lstStyle/>
          <a:p>
            <a:pPr algn="ctr" eaLnBrk="0" hangingPunct="0"/>
            <a:r>
              <a:rPr lang="en-US" altLang="zh-CN" sz="1400" b="1">
                <a:ea typeface="黑体" panose="02010609060101010101" pitchFamily="49" charset="-122"/>
              </a:rPr>
              <a:t>ESTABLISHED</a:t>
            </a:r>
          </a:p>
        </p:txBody>
      </p:sp>
      <p:sp>
        <p:nvSpPr>
          <p:cNvPr id="1595399" name="Rectangle 10"/>
          <p:cNvSpPr>
            <a:spLocks noChangeArrowheads="1"/>
          </p:cNvSpPr>
          <p:nvPr/>
        </p:nvSpPr>
        <p:spPr bwMode="auto">
          <a:xfrm>
            <a:off x="3609975" y="1243013"/>
            <a:ext cx="846138" cy="252412"/>
          </a:xfrm>
          <a:prstGeom prst="rect">
            <a:avLst/>
          </a:prstGeom>
          <a:solidFill>
            <a:srgbClr val="FFFF99"/>
          </a:solidFill>
          <a:ln w="9525">
            <a:solidFill>
              <a:schemeClr val="tx1"/>
            </a:solidFill>
            <a:miter lim="800000"/>
            <a:headEnd/>
            <a:tailEnd/>
          </a:ln>
        </p:spPr>
        <p:txBody>
          <a:bodyPr wrap="none" anchor="ctr"/>
          <a:lstStyle/>
          <a:p>
            <a:pPr algn="ctr" eaLnBrk="0" hangingPunct="0"/>
            <a:r>
              <a:rPr lang="en-US" altLang="zh-CN" sz="1400" b="1">
                <a:ea typeface="黑体" panose="02010609060101010101" pitchFamily="49" charset="-122"/>
              </a:rPr>
              <a:t>LISTEN</a:t>
            </a:r>
          </a:p>
        </p:txBody>
      </p:sp>
      <p:sp>
        <p:nvSpPr>
          <p:cNvPr id="1595400" name="Rectangle 11"/>
          <p:cNvSpPr>
            <a:spLocks noChangeArrowheads="1"/>
          </p:cNvSpPr>
          <p:nvPr/>
        </p:nvSpPr>
        <p:spPr bwMode="auto">
          <a:xfrm>
            <a:off x="5854700" y="3759200"/>
            <a:ext cx="1354138" cy="250825"/>
          </a:xfrm>
          <a:prstGeom prst="rect">
            <a:avLst/>
          </a:prstGeom>
          <a:solidFill>
            <a:srgbClr val="FFFF99"/>
          </a:solidFill>
          <a:ln w="9525">
            <a:solidFill>
              <a:schemeClr val="tx1"/>
            </a:solidFill>
            <a:miter lim="800000"/>
            <a:headEnd/>
            <a:tailEnd/>
          </a:ln>
        </p:spPr>
        <p:txBody>
          <a:bodyPr wrap="none" anchor="ctr"/>
          <a:lstStyle/>
          <a:p>
            <a:pPr algn="ctr" eaLnBrk="0" hangingPunct="0"/>
            <a:r>
              <a:rPr lang="en-US" altLang="zh-CN" sz="1400" b="1">
                <a:ea typeface="黑体" panose="02010609060101010101" pitchFamily="49" charset="-122"/>
              </a:rPr>
              <a:t>CLOSE_WAIT</a:t>
            </a:r>
          </a:p>
        </p:txBody>
      </p:sp>
      <p:sp>
        <p:nvSpPr>
          <p:cNvPr id="1595401" name="Rectangle 12"/>
          <p:cNvSpPr>
            <a:spLocks noChangeArrowheads="1"/>
          </p:cNvSpPr>
          <p:nvPr/>
        </p:nvSpPr>
        <p:spPr bwMode="auto">
          <a:xfrm>
            <a:off x="984250" y="4891088"/>
            <a:ext cx="1184275" cy="250825"/>
          </a:xfrm>
          <a:prstGeom prst="rect">
            <a:avLst/>
          </a:prstGeom>
          <a:solidFill>
            <a:srgbClr val="FFFF99"/>
          </a:solidFill>
          <a:ln w="9525">
            <a:solidFill>
              <a:schemeClr val="tx1"/>
            </a:solidFill>
            <a:miter lim="800000"/>
            <a:headEnd/>
            <a:tailEnd/>
          </a:ln>
        </p:spPr>
        <p:txBody>
          <a:bodyPr wrap="none" anchor="ctr"/>
          <a:lstStyle/>
          <a:p>
            <a:pPr algn="ctr" eaLnBrk="0" hangingPunct="0"/>
            <a:r>
              <a:rPr lang="en-US" altLang="zh-CN" sz="1400" b="1">
                <a:ea typeface="黑体" panose="02010609060101010101" pitchFamily="49" charset="-122"/>
              </a:rPr>
              <a:t>FIN_WAIT_1</a:t>
            </a:r>
          </a:p>
        </p:txBody>
      </p:sp>
      <p:sp>
        <p:nvSpPr>
          <p:cNvPr id="1595402" name="Rectangle 13"/>
          <p:cNvSpPr>
            <a:spLocks noChangeArrowheads="1"/>
          </p:cNvSpPr>
          <p:nvPr/>
        </p:nvSpPr>
        <p:spPr bwMode="auto">
          <a:xfrm>
            <a:off x="984250" y="2312988"/>
            <a:ext cx="1184275" cy="250825"/>
          </a:xfrm>
          <a:prstGeom prst="rect">
            <a:avLst/>
          </a:prstGeom>
          <a:solidFill>
            <a:srgbClr val="FFFF99"/>
          </a:solidFill>
          <a:ln w="9525">
            <a:solidFill>
              <a:schemeClr val="tx1"/>
            </a:solidFill>
            <a:miter lim="800000"/>
            <a:headEnd/>
            <a:tailEnd/>
          </a:ln>
        </p:spPr>
        <p:txBody>
          <a:bodyPr wrap="none" anchor="ctr"/>
          <a:lstStyle/>
          <a:p>
            <a:pPr algn="ctr" eaLnBrk="0" hangingPunct="0"/>
            <a:r>
              <a:rPr lang="en-US" altLang="zh-CN" sz="1400" b="1">
                <a:ea typeface="黑体" panose="02010609060101010101" pitchFamily="49" charset="-122"/>
              </a:rPr>
              <a:t>SYN_RCVD</a:t>
            </a:r>
          </a:p>
        </p:txBody>
      </p:sp>
      <p:sp>
        <p:nvSpPr>
          <p:cNvPr id="1595403" name="Rectangle 14"/>
          <p:cNvSpPr>
            <a:spLocks noChangeArrowheads="1"/>
          </p:cNvSpPr>
          <p:nvPr/>
        </p:nvSpPr>
        <p:spPr bwMode="auto">
          <a:xfrm>
            <a:off x="984250" y="6337300"/>
            <a:ext cx="1184275" cy="250825"/>
          </a:xfrm>
          <a:prstGeom prst="rect">
            <a:avLst/>
          </a:prstGeom>
          <a:solidFill>
            <a:srgbClr val="FFFF99"/>
          </a:solidFill>
          <a:ln w="9525">
            <a:solidFill>
              <a:schemeClr val="tx1"/>
            </a:solidFill>
            <a:miter lim="800000"/>
            <a:headEnd/>
            <a:tailEnd/>
          </a:ln>
        </p:spPr>
        <p:txBody>
          <a:bodyPr wrap="none" anchor="ctr"/>
          <a:lstStyle/>
          <a:p>
            <a:pPr algn="ctr" eaLnBrk="0" hangingPunct="0"/>
            <a:r>
              <a:rPr lang="en-US" altLang="zh-CN" sz="1400" b="1">
                <a:ea typeface="黑体" panose="02010609060101010101" pitchFamily="49" charset="-122"/>
              </a:rPr>
              <a:t>FIN_WAIT_2</a:t>
            </a:r>
          </a:p>
        </p:txBody>
      </p:sp>
      <p:sp>
        <p:nvSpPr>
          <p:cNvPr id="1595404" name="Rectangle 15"/>
          <p:cNvSpPr>
            <a:spLocks noChangeArrowheads="1"/>
          </p:cNvSpPr>
          <p:nvPr/>
        </p:nvSpPr>
        <p:spPr bwMode="auto">
          <a:xfrm>
            <a:off x="3567113" y="4891088"/>
            <a:ext cx="931862" cy="250825"/>
          </a:xfrm>
          <a:prstGeom prst="rect">
            <a:avLst/>
          </a:prstGeom>
          <a:solidFill>
            <a:srgbClr val="FFFF99"/>
          </a:solidFill>
          <a:ln w="9525">
            <a:solidFill>
              <a:schemeClr val="tx1"/>
            </a:solidFill>
            <a:miter lim="800000"/>
            <a:headEnd/>
            <a:tailEnd/>
          </a:ln>
        </p:spPr>
        <p:txBody>
          <a:bodyPr wrap="none" anchor="ctr"/>
          <a:lstStyle/>
          <a:p>
            <a:pPr algn="ctr" eaLnBrk="0" hangingPunct="0"/>
            <a:r>
              <a:rPr lang="en-US" altLang="zh-CN" sz="1400" b="1">
                <a:ea typeface="黑体" panose="02010609060101010101" pitchFamily="49" charset="-122"/>
              </a:rPr>
              <a:t>CLOSING</a:t>
            </a:r>
          </a:p>
        </p:txBody>
      </p:sp>
      <p:sp>
        <p:nvSpPr>
          <p:cNvPr id="1595405" name="Rectangle 16"/>
          <p:cNvSpPr>
            <a:spLocks noChangeArrowheads="1"/>
          </p:cNvSpPr>
          <p:nvPr/>
        </p:nvSpPr>
        <p:spPr bwMode="auto">
          <a:xfrm>
            <a:off x="3440113" y="6337300"/>
            <a:ext cx="1185862" cy="250825"/>
          </a:xfrm>
          <a:prstGeom prst="rect">
            <a:avLst/>
          </a:prstGeom>
          <a:solidFill>
            <a:srgbClr val="FFFF99"/>
          </a:solidFill>
          <a:ln w="9525">
            <a:solidFill>
              <a:schemeClr val="tx1"/>
            </a:solidFill>
            <a:miter lim="800000"/>
            <a:headEnd/>
            <a:tailEnd/>
          </a:ln>
        </p:spPr>
        <p:txBody>
          <a:bodyPr wrap="none" anchor="ctr"/>
          <a:lstStyle/>
          <a:p>
            <a:pPr algn="ctr" eaLnBrk="0" hangingPunct="0"/>
            <a:r>
              <a:rPr lang="en-US" altLang="zh-CN" sz="1400" b="1">
                <a:ea typeface="黑体" panose="02010609060101010101" pitchFamily="49" charset="-122"/>
              </a:rPr>
              <a:t>TIME_WAIT</a:t>
            </a:r>
          </a:p>
        </p:txBody>
      </p:sp>
      <p:sp>
        <p:nvSpPr>
          <p:cNvPr id="1595406" name="Rectangle 17"/>
          <p:cNvSpPr>
            <a:spLocks noChangeArrowheads="1"/>
          </p:cNvSpPr>
          <p:nvPr/>
        </p:nvSpPr>
        <p:spPr bwMode="auto">
          <a:xfrm>
            <a:off x="5981700" y="2312988"/>
            <a:ext cx="1100138" cy="250825"/>
          </a:xfrm>
          <a:prstGeom prst="rect">
            <a:avLst/>
          </a:prstGeom>
          <a:solidFill>
            <a:srgbClr val="FFFF99"/>
          </a:solidFill>
          <a:ln w="9525">
            <a:solidFill>
              <a:schemeClr val="tx1"/>
            </a:solidFill>
            <a:miter lim="800000"/>
            <a:headEnd/>
            <a:tailEnd/>
          </a:ln>
        </p:spPr>
        <p:txBody>
          <a:bodyPr wrap="none" anchor="ctr"/>
          <a:lstStyle/>
          <a:p>
            <a:pPr algn="ctr" eaLnBrk="0" hangingPunct="0"/>
            <a:r>
              <a:rPr lang="en-US" altLang="zh-CN" sz="1400" b="1">
                <a:ea typeface="黑体" panose="02010609060101010101" pitchFamily="49" charset="-122"/>
              </a:rPr>
              <a:t>SYN_SENT</a:t>
            </a:r>
          </a:p>
        </p:txBody>
      </p:sp>
      <p:sp>
        <p:nvSpPr>
          <p:cNvPr id="1595407" name="Rectangle 18"/>
          <p:cNvSpPr>
            <a:spLocks noChangeArrowheads="1"/>
          </p:cNvSpPr>
          <p:nvPr/>
        </p:nvSpPr>
        <p:spPr bwMode="auto">
          <a:xfrm>
            <a:off x="5938838" y="5267325"/>
            <a:ext cx="1185862" cy="252413"/>
          </a:xfrm>
          <a:prstGeom prst="rect">
            <a:avLst/>
          </a:prstGeom>
          <a:solidFill>
            <a:srgbClr val="FFFF99"/>
          </a:solidFill>
          <a:ln w="9525">
            <a:solidFill>
              <a:schemeClr val="tx1"/>
            </a:solidFill>
            <a:miter lim="800000"/>
            <a:headEnd/>
            <a:tailEnd/>
          </a:ln>
        </p:spPr>
        <p:txBody>
          <a:bodyPr wrap="none" anchor="ctr"/>
          <a:lstStyle/>
          <a:p>
            <a:pPr algn="ctr" eaLnBrk="0" hangingPunct="0"/>
            <a:r>
              <a:rPr lang="en-US" altLang="zh-CN" sz="1400" b="1">
                <a:ea typeface="黑体" panose="02010609060101010101" pitchFamily="49" charset="-122"/>
              </a:rPr>
              <a:t>LAST_ACK</a:t>
            </a:r>
          </a:p>
        </p:txBody>
      </p:sp>
      <p:sp>
        <p:nvSpPr>
          <p:cNvPr id="1595408" name="Line 19"/>
          <p:cNvSpPr>
            <a:spLocks noChangeShapeType="1"/>
          </p:cNvSpPr>
          <p:nvPr/>
        </p:nvSpPr>
        <p:spPr bwMode="auto">
          <a:xfrm>
            <a:off x="4287838" y="488950"/>
            <a:ext cx="2243137" cy="1824038"/>
          </a:xfrm>
          <a:prstGeom prst="line">
            <a:avLst/>
          </a:prstGeom>
          <a:noFill/>
          <a:ln w="57150">
            <a:solidFill>
              <a:srgbClr val="0000FF"/>
            </a:solidFill>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sp>
        <p:nvSpPr>
          <p:cNvPr id="1595409" name="Line 20"/>
          <p:cNvSpPr>
            <a:spLocks noChangeShapeType="1"/>
          </p:cNvSpPr>
          <p:nvPr/>
        </p:nvSpPr>
        <p:spPr bwMode="auto">
          <a:xfrm flipH="1">
            <a:off x="4371975" y="2563813"/>
            <a:ext cx="1736725" cy="1195387"/>
          </a:xfrm>
          <a:prstGeom prst="line">
            <a:avLst/>
          </a:prstGeom>
          <a:noFill/>
          <a:ln w="57150">
            <a:solidFill>
              <a:srgbClr val="0000FF"/>
            </a:solidFill>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sp>
        <p:nvSpPr>
          <p:cNvPr id="1595410" name="Line 21"/>
          <p:cNvSpPr>
            <a:spLocks noChangeShapeType="1"/>
          </p:cNvSpPr>
          <p:nvPr/>
        </p:nvSpPr>
        <p:spPr bwMode="auto">
          <a:xfrm flipH="1">
            <a:off x="1916113" y="4010025"/>
            <a:ext cx="1693862" cy="881063"/>
          </a:xfrm>
          <a:prstGeom prst="line">
            <a:avLst/>
          </a:prstGeom>
          <a:noFill/>
          <a:ln w="57150">
            <a:solidFill>
              <a:srgbClr val="0000FF"/>
            </a:solidFill>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sp>
        <p:nvSpPr>
          <p:cNvPr id="1595411" name="Line 22"/>
          <p:cNvSpPr>
            <a:spLocks noChangeShapeType="1"/>
          </p:cNvSpPr>
          <p:nvPr/>
        </p:nvSpPr>
        <p:spPr bwMode="auto">
          <a:xfrm flipH="1">
            <a:off x="1554163" y="5141913"/>
            <a:ext cx="0" cy="1195387"/>
          </a:xfrm>
          <a:prstGeom prst="line">
            <a:avLst/>
          </a:prstGeom>
          <a:noFill/>
          <a:ln w="57150">
            <a:solidFill>
              <a:srgbClr val="0000FF"/>
            </a:solidFill>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sp>
        <p:nvSpPr>
          <p:cNvPr id="1595412" name="Line 23"/>
          <p:cNvSpPr>
            <a:spLocks noChangeShapeType="1"/>
          </p:cNvSpPr>
          <p:nvPr/>
        </p:nvSpPr>
        <p:spPr bwMode="auto">
          <a:xfrm>
            <a:off x="2166938" y="6462713"/>
            <a:ext cx="1277937" cy="0"/>
          </a:xfrm>
          <a:prstGeom prst="line">
            <a:avLst/>
          </a:prstGeom>
          <a:noFill/>
          <a:ln w="57150">
            <a:solidFill>
              <a:srgbClr val="0000FF"/>
            </a:solidFill>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sp>
        <p:nvSpPr>
          <p:cNvPr id="1595413" name="Line 24"/>
          <p:cNvSpPr>
            <a:spLocks noChangeShapeType="1"/>
          </p:cNvSpPr>
          <p:nvPr/>
        </p:nvSpPr>
        <p:spPr bwMode="auto">
          <a:xfrm>
            <a:off x="3857625" y="498475"/>
            <a:ext cx="6350" cy="736600"/>
          </a:xfrm>
          <a:prstGeom prst="line">
            <a:avLst/>
          </a:prstGeom>
          <a:noFill/>
          <a:ln w="57150">
            <a:solidFill>
              <a:srgbClr val="C00000"/>
            </a:solidFill>
            <a:prstDash val="sysDot"/>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sp>
        <p:nvSpPr>
          <p:cNvPr id="1595414" name="Line 25"/>
          <p:cNvSpPr>
            <a:spLocks noChangeShapeType="1"/>
          </p:cNvSpPr>
          <p:nvPr/>
        </p:nvSpPr>
        <p:spPr bwMode="auto">
          <a:xfrm flipH="1">
            <a:off x="1363663" y="1306513"/>
            <a:ext cx="2246312" cy="1006475"/>
          </a:xfrm>
          <a:prstGeom prst="line">
            <a:avLst/>
          </a:prstGeom>
          <a:noFill/>
          <a:ln w="57150">
            <a:solidFill>
              <a:srgbClr val="C00000"/>
            </a:solidFill>
            <a:prstDash val="sysDot"/>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sp>
        <p:nvSpPr>
          <p:cNvPr id="1595415" name="Line 26"/>
          <p:cNvSpPr>
            <a:spLocks noChangeShapeType="1"/>
          </p:cNvSpPr>
          <p:nvPr/>
        </p:nvSpPr>
        <p:spPr bwMode="auto">
          <a:xfrm>
            <a:off x="1830388" y="2563813"/>
            <a:ext cx="1863725" cy="1195387"/>
          </a:xfrm>
          <a:prstGeom prst="line">
            <a:avLst/>
          </a:prstGeom>
          <a:noFill/>
          <a:ln w="57150">
            <a:solidFill>
              <a:srgbClr val="C00000"/>
            </a:solidFill>
            <a:prstDash val="sysDot"/>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sp>
        <p:nvSpPr>
          <p:cNvPr id="1595416" name="Line 27"/>
          <p:cNvSpPr>
            <a:spLocks noChangeShapeType="1"/>
          </p:cNvSpPr>
          <p:nvPr/>
        </p:nvSpPr>
        <p:spPr bwMode="auto">
          <a:xfrm>
            <a:off x="6659563" y="4010025"/>
            <a:ext cx="0" cy="1257300"/>
          </a:xfrm>
          <a:prstGeom prst="line">
            <a:avLst/>
          </a:prstGeom>
          <a:noFill/>
          <a:ln w="57150">
            <a:solidFill>
              <a:srgbClr val="C00000"/>
            </a:solidFill>
            <a:prstDash val="sysDot"/>
            <a:round/>
            <a:headEnd/>
            <a:tailEnd type="triangle" w="med"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sp>
        <p:nvSpPr>
          <p:cNvPr id="1595417" name="Freeform 28"/>
          <p:cNvSpPr>
            <a:spLocks noChangeArrowheads="1"/>
          </p:cNvSpPr>
          <p:nvPr/>
        </p:nvSpPr>
        <p:spPr bwMode="auto">
          <a:xfrm>
            <a:off x="7134225" y="5386388"/>
            <a:ext cx="1203325" cy="6350"/>
          </a:xfrm>
          <a:custGeom>
            <a:avLst/>
            <a:gdLst>
              <a:gd name="T0" fmla="*/ 0 w 682"/>
              <a:gd name="T1" fmla="*/ 5 h 5"/>
              <a:gd name="T2" fmla="*/ 682 w 682"/>
              <a:gd name="T3" fmla="*/ 0 h 5"/>
            </a:gdLst>
            <a:ahLst/>
            <a:cxnLst>
              <a:cxn ang="0">
                <a:pos x="T0" y="T1"/>
              </a:cxn>
              <a:cxn ang="0">
                <a:pos x="T2" y="T3"/>
              </a:cxn>
            </a:cxnLst>
            <a:rect l="0" t="0" r="r" b="b"/>
            <a:pathLst>
              <a:path w="682" h="5">
                <a:moveTo>
                  <a:pt x="0" y="5"/>
                </a:moveTo>
                <a:lnTo>
                  <a:pt x="682" y="0"/>
                </a:lnTo>
              </a:path>
            </a:pathLst>
          </a:custGeom>
          <a:noFill/>
          <a:ln w="57150">
            <a:solidFill>
              <a:srgbClr val="C00000"/>
            </a:solidFill>
            <a:prstDash val="sysDot"/>
            <a:round/>
            <a:headEnd/>
            <a:tailEnd type="triangle" w="med"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黑体" panose="02010609060101010101" pitchFamily="49" charset="-122"/>
            </a:endParaRPr>
          </a:p>
        </p:txBody>
      </p:sp>
      <p:sp>
        <p:nvSpPr>
          <p:cNvPr id="1595418" name="Line 29"/>
          <p:cNvSpPr>
            <a:spLocks noChangeShapeType="1"/>
          </p:cNvSpPr>
          <p:nvPr/>
        </p:nvSpPr>
        <p:spPr bwMode="auto">
          <a:xfrm>
            <a:off x="1554163" y="2563813"/>
            <a:ext cx="0" cy="2327275"/>
          </a:xfrm>
          <a:prstGeom prst="line">
            <a:avLst/>
          </a:prstGeom>
          <a:noFill/>
          <a:ln w="190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sp>
        <p:nvSpPr>
          <p:cNvPr id="1595419" name="Line 30"/>
          <p:cNvSpPr>
            <a:spLocks noChangeShapeType="1"/>
          </p:cNvSpPr>
          <p:nvPr/>
        </p:nvSpPr>
        <p:spPr bwMode="auto">
          <a:xfrm>
            <a:off x="4032250" y="5141913"/>
            <a:ext cx="0" cy="1195387"/>
          </a:xfrm>
          <a:prstGeom prst="line">
            <a:avLst/>
          </a:prstGeom>
          <a:noFill/>
          <a:ln w="190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sp>
        <p:nvSpPr>
          <p:cNvPr id="1595420" name="Line 31"/>
          <p:cNvSpPr>
            <a:spLocks noChangeShapeType="1"/>
          </p:cNvSpPr>
          <p:nvPr/>
        </p:nvSpPr>
        <p:spPr bwMode="auto">
          <a:xfrm rot="-5400000">
            <a:off x="2863850" y="4319588"/>
            <a:ext cx="1587" cy="1392238"/>
          </a:xfrm>
          <a:prstGeom prst="line">
            <a:avLst/>
          </a:prstGeom>
          <a:noFill/>
          <a:ln w="190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sp>
        <p:nvSpPr>
          <p:cNvPr id="1595421" name="Line 33"/>
          <p:cNvSpPr>
            <a:spLocks noChangeShapeType="1"/>
          </p:cNvSpPr>
          <p:nvPr/>
        </p:nvSpPr>
        <p:spPr bwMode="auto">
          <a:xfrm rot="5400000" flipH="1">
            <a:off x="4071144" y="529432"/>
            <a:ext cx="0" cy="3821112"/>
          </a:xfrm>
          <a:prstGeom prst="line">
            <a:avLst/>
          </a:prstGeom>
          <a:noFill/>
          <a:ln w="190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sp>
        <p:nvSpPr>
          <p:cNvPr id="1595422" name="Line 34"/>
          <p:cNvSpPr>
            <a:spLocks noChangeShapeType="1"/>
          </p:cNvSpPr>
          <p:nvPr/>
        </p:nvSpPr>
        <p:spPr bwMode="auto">
          <a:xfrm rot="-5400000">
            <a:off x="2184400" y="882650"/>
            <a:ext cx="876300" cy="1974850"/>
          </a:xfrm>
          <a:prstGeom prst="line">
            <a:avLst/>
          </a:prstGeom>
          <a:noFill/>
          <a:ln w="190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sp>
        <p:nvSpPr>
          <p:cNvPr id="1595423" name="Line 35"/>
          <p:cNvSpPr>
            <a:spLocks noChangeShapeType="1"/>
          </p:cNvSpPr>
          <p:nvPr/>
        </p:nvSpPr>
        <p:spPr bwMode="auto">
          <a:xfrm>
            <a:off x="1916113" y="5141913"/>
            <a:ext cx="1693862" cy="1195387"/>
          </a:xfrm>
          <a:prstGeom prst="line">
            <a:avLst/>
          </a:prstGeom>
          <a:noFill/>
          <a:ln w="190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sp>
        <p:nvSpPr>
          <p:cNvPr id="1595424" name="Freeform 36"/>
          <p:cNvSpPr>
            <a:spLocks noChangeArrowheads="1"/>
          </p:cNvSpPr>
          <p:nvPr/>
        </p:nvSpPr>
        <p:spPr bwMode="auto">
          <a:xfrm>
            <a:off x="4456113" y="1368425"/>
            <a:ext cx="1666875" cy="933450"/>
          </a:xfrm>
          <a:custGeom>
            <a:avLst/>
            <a:gdLst>
              <a:gd name="T0" fmla="*/ 0 w 944"/>
              <a:gd name="T1" fmla="*/ 0 h 712"/>
              <a:gd name="T2" fmla="*/ 944 w 944"/>
              <a:gd name="T3" fmla="*/ 712 h 712"/>
            </a:gdLst>
            <a:ahLst/>
            <a:cxnLst>
              <a:cxn ang="0">
                <a:pos x="T0" y="T1"/>
              </a:cxn>
              <a:cxn ang="0">
                <a:pos x="T2" y="T3"/>
              </a:cxn>
            </a:cxnLst>
            <a:rect l="0" t="0" r="r" b="b"/>
            <a:pathLst>
              <a:path w="944" h="712">
                <a:moveTo>
                  <a:pt x="0" y="0"/>
                </a:moveTo>
                <a:lnTo>
                  <a:pt x="944" y="712"/>
                </a:lnTo>
              </a:path>
            </a:pathLst>
          </a:custGeom>
          <a:noFill/>
          <a:ln w="19050">
            <a:solidFill>
              <a:srgbClr val="FF0000"/>
            </a:solidFill>
            <a:round/>
            <a:headEnd/>
            <a:tailEnd type="triangl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黑体" panose="02010609060101010101" pitchFamily="49" charset="-122"/>
            </a:endParaRPr>
          </a:p>
        </p:txBody>
      </p:sp>
      <p:sp>
        <p:nvSpPr>
          <p:cNvPr id="1595425" name="Text Box 37"/>
          <p:cNvSpPr txBox="1">
            <a:spLocks noChangeArrowheads="1"/>
          </p:cNvSpPr>
          <p:nvPr/>
        </p:nvSpPr>
        <p:spPr bwMode="auto">
          <a:xfrm>
            <a:off x="6086475" y="2554288"/>
            <a:ext cx="9032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400" b="1">
                <a:ea typeface="黑体" panose="02010609060101010101" pitchFamily="49" charset="-122"/>
              </a:rPr>
              <a:t>主动打开</a:t>
            </a:r>
          </a:p>
        </p:txBody>
      </p:sp>
      <p:sp>
        <p:nvSpPr>
          <p:cNvPr id="1595426" name="Text Box 38"/>
          <p:cNvSpPr txBox="1">
            <a:spLocks noChangeArrowheads="1"/>
          </p:cNvSpPr>
          <p:nvPr/>
        </p:nvSpPr>
        <p:spPr bwMode="auto">
          <a:xfrm>
            <a:off x="3568700" y="1495425"/>
            <a:ext cx="9032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400" b="1">
                <a:ea typeface="黑体" panose="02010609060101010101" pitchFamily="49" charset="-122"/>
              </a:rPr>
              <a:t>被动打开</a:t>
            </a:r>
          </a:p>
        </p:txBody>
      </p:sp>
      <p:sp>
        <p:nvSpPr>
          <p:cNvPr id="1595427" name="Text Box 39"/>
          <p:cNvSpPr txBox="1">
            <a:spLocks noChangeArrowheads="1"/>
          </p:cNvSpPr>
          <p:nvPr/>
        </p:nvSpPr>
        <p:spPr bwMode="auto">
          <a:xfrm>
            <a:off x="5981700" y="3359150"/>
            <a:ext cx="9017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400" b="1">
                <a:ea typeface="黑体" panose="02010609060101010101" pitchFamily="49" charset="-122"/>
              </a:rPr>
              <a:t>被动关闭</a:t>
            </a:r>
          </a:p>
        </p:txBody>
      </p:sp>
      <p:sp>
        <p:nvSpPr>
          <p:cNvPr id="1595428" name="Text Box 40"/>
          <p:cNvSpPr txBox="1">
            <a:spLocks noChangeArrowheads="1"/>
          </p:cNvSpPr>
          <p:nvPr/>
        </p:nvSpPr>
        <p:spPr bwMode="auto">
          <a:xfrm>
            <a:off x="3462338" y="4260850"/>
            <a:ext cx="9017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400" b="1">
                <a:ea typeface="黑体" panose="02010609060101010101" pitchFamily="49" charset="-122"/>
              </a:rPr>
              <a:t>主动关闭</a:t>
            </a:r>
          </a:p>
        </p:txBody>
      </p:sp>
      <p:sp>
        <p:nvSpPr>
          <p:cNvPr id="1595429" name="Text Box 41"/>
          <p:cNvSpPr txBox="1">
            <a:spLocks noChangeArrowheads="1"/>
          </p:cNvSpPr>
          <p:nvPr/>
        </p:nvSpPr>
        <p:spPr bwMode="auto">
          <a:xfrm>
            <a:off x="3767138" y="-26988"/>
            <a:ext cx="544512" cy="307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400" b="1">
                <a:ea typeface="黑体" panose="02010609060101010101" pitchFamily="49" charset="-122"/>
              </a:rPr>
              <a:t>起点</a:t>
            </a:r>
          </a:p>
        </p:txBody>
      </p:sp>
      <p:sp>
        <p:nvSpPr>
          <p:cNvPr id="1595430" name="Text Box 42"/>
          <p:cNvSpPr txBox="1">
            <a:spLocks noChangeArrowheads="1"/>
          </p:cNvSpPr>
          <p:nvPr/>
        </p:nvSpPr>
        <p:spPr bwMode="auto">
          <a:xfrm>
            <a:off x="2844800" y="592138"/>
            <a:ext cx="9017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400" b="1">
                <a:ea typeface="黑体" panose="02010609060101010101" pitchFamily="49" charset="-122"/>
              </a:rPr>
              <a:t>被动打开</a:t>
            </a:r>
          </a:p>
        </p:txBody>
      </p:sp>
      <p:sp>
        <p:nvSpPr>
          <p:cNvPr id="1595431" name="Text Box 43"/>
          <p:cNvSpPr txBox="1">
            <a:spLocks noChangeArrowheads="1"/>
          </p:cNvSpPr>
          <p:nvPr/>
        </p:nvSpPr>
        <p:spPr bwMode="auto">
          <a:xfrm>
            <a:off x="5043488" y="717550"/>
            <a:ext cx="10826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400" b="1">
                <a:ea typeface="黑体" panose="02010609060101010101" pitchFamily="49" charset="-122"/>
              </a:rPr>
              <a:t>主动打开</a:t>
            </a:r>
          </a:p>
          <a:p>
            <a:pPr eaLnBrk="0" hangingPunct="0"/>
            <a:r>
              <a:rPr lang="zh-CN" altLang="en-US" sz="1400" b="1">
                <a:ea typeface="黑体" panose="02010609060101010101" pitchFamily="49" charset="-122"/>
              </a:rPr>
              <a:t>  发送 </a:t>
            </a:r>
            <a:r>
              <a:rPr lang="en-US" altLang="zh-CN" sz="1400" b="1">
                <a:ea typeface="黑体" panose="02010609060101010101" pitchFamily="49" charset="-122"/>
              </a:rPr>
              <a:t>SYN</a:t>
            </a:r>
          </a:p>
        </p:txBody>
      </p:sp>
      <p:sp>
        <p:nvSpPr>
          <p:cNvPr id="1595432" name="Text Box 44"/>
          <p:cNvSpPr txBox="1">
            <a:spLocks noChangeArrowheads="1"/>
          </p:cNvSpPr>
          <p:nvPr/>
        </p:nvSpPr>
        <p:spPr bwMode="auto">
          <a:xfrm>
            <a:off x="3609975" y="2438400"/>
            <a:ext cx="9032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400" b="1">
                <a:ea typeface="黑体" panose="02010609060101010101" pitchFamily="49" charset="-122"/>
              </a:rPr>
              <a:t>同时打开</a:t>
            </a:r>
          </a:p>
        </p:txBody>
      </p:sp>
      <p:sp>
        <p:nvSpPr>
          <p:cNvPr id="1595433" name="Text Box 45"/>
          <p:cNvSpPr txBox="1">
            <a:spLocks noChangeArrowheads="1"/>
          </p:cNvSpPr>
          <p:nvPr/>
        </p:nvSpPr>
        <p:spPr bwMode="auto">
          <a:xfrm>
            <a:off x="2835275" y="2200275"/>
            <a:ext cx="25352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400" b="1">
                <a:ea typeface="黑体" panose="02010609060101010101" pitchFamily="49" charset="-122"/>
              </a:rPr>
              <a:t>收到 </a:t>
            </a:r>
            <a:r>
              <a:rPr lang="en-US" altLang="zh-CN" sz="1400" b="1">
                <a:ea typeface="黑体" panose="02010609060101010101" pitchFamily="49" charset="-122"/>
              </a:rPr>
              <a:t>SYN</a:t>
            </a:r>
            <a:r>
              <a:rPr lang="zh-CN" altLang="en-US" sz="1400" b="1">
                <a:ea typeface="黑体" panose="02010609060101010101" pitchFamily="49" charset="-122"/>
              </a:rPr>
              <a:t>，发送 </a:t>
            </a:r>
            <a:r>
              <a:rPr lang="en-US" altLang="zh-CN" sz="1400" b="1">
                <a:ea typeface="黑体" panose="02010609060101010101" pitchFamily="49" charset="-122"/>
              </a:rPr>
              <a:t>SYN</a:t>
            </a:r>
            <a:r>
              <a:rPr lang="zh-CN" altLang="en-US" sz="1400" b="1">
                <a:ea typeface="黑体" panose="02010609060101010101" pitchFamily="49" charset="-122"/>
              </a:rPr>
              <a:t>，</a:t>
            </a:r>
            <a:r>
              <a:rPr lang="en-US" altLang="zh-CN" sz="1400" b="1">
                <a:ea typeface="黑体" panose="02010609060101010101" pitchFamily="49" charset="-122"/>
              </a:rPr>
              <a:t> ACK</a:t>
            </a:r>
          </a:p>
        </p:txBody>
      </p:sp>
      <p:sp>
        <p:nvSpPr>
          <p:cNvPr id="1595434" name="Text Box 46"/>
          <p:cNvSpPr txBox="1">
            <a:spLocks noChangeArrowheads="1"/>
          </p:cNvSpPr>
          <p:nvPr/>
        </p:nvSpPr>
        <p:spPr bwMode="auto">
          <a:xfrm>
            <a:off x="2309813" y="2670175"/>
            <a:ext cx="9763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400" b="1">
                <a:ea typeface="黑体" panose="02010609060101010101" pitchFamily="49" charset="-122"/>
              </a:rPr>
              <a:t>收到 </a:t>
            </a:r>
            <a:r>
              <a:rPr lang="en-US" altLang="zh-CN" sz="1400" b="1">
                <a:ea typeface="黑体" panose="02010609060101010101" pitchFamily="49" charset="-122"/>
              </a:rPr>
              <a:t>ACK</a:t>
            </a:r>
          </a:p>
        </p:txBody>
      </p:sp>
      <p:sp>
        <p:nvSpPr>
          <p:cNvPr id="1595435" name="Text Box 47"/>
          <p:cNvSpPr txBox="1">
            <a:spLocks noChangeArrowheads="1"/>
          </p:cNvSpPr>
          <p:nvPr/>
        </p:nvSpPr>
        <p:spPr bwMode="auto">
          <a:xfrm>
            <a:off x="3484563" y="3284538"/>
            <a:ext cx="9017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400" b="1">
                <a:solidFill>
                  <a:srgbClr val="FF0000"/>
                </a:solidFill>
                <a:ea typeface="黑体" panose="02010609060101010101" pitchFamily="49" charset="-122"/>
              </a:rPr>
              <a:t>数据传送</a:t>
            </a:r>
          </a:p>
          <a:p>
            <a:pPr eaLnBrk="0" hangingPunct="0"/>
            <a:r>
              <a:rPr lang="zh-CN" altLang="en-US" sz="1400" b="1">
                <a:solidFill>
                  <a:srgbClr val="FF0000"/>
                </a:solidFill>
                <a:ea typeface="黑体" panose="02010609060101010101" pitchFamily="49" charset="-122"/>
              </a:rPr>
              <a:t>    阶段</a:t>
            </a:r>
          </a:p>
        </p:txBody>
      </p:sp>
      <p:sp>
        <p:nvSpPr>
          <p:cNvPr id="1595436" name="Text Box 48"/>
          <p:cNvSpPr txBox="1">
            <a:spLocks noChangeArrowheads="1"/>
          </p:cNvSpPr>
          <p:nvPr/>
        </p:nvSpPr>
        <p:spPr bwMode="auto">
          <a:xfrm>
            <a:off x="5702300" y="4314825"/>
            <a:ext cx="8985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400" b="1">
                <a:ea typeface="黑体" panose="02010609060101010101" pitchFamily="49" charset="-122"/>
              </a:rPr>
              <a:t>   </a:t>
            </a:r>
            <a:r>
              <a:rPr lang="zh-CN" altLang="en-US" sz="1400" b="1">
                <a:ea typeface="黑体" panose="02010609060101010101" pitchFamily="49" charset="-122"/>
              </a:rPr>
              <a:t>关闭</a:t>
            </a:r>
          </a:p>
          <a:p>
            <a:pPr eaLnBrk="0" hangingPunct="0"/>
            <a:r>
              <a:rPr lang="zh-CN" altLang="en-US" sz="1400" b="1">
                <a:ea typeface="黑体" panose="02010609060101010101" pitchFamily="49" charset="-122"/>
              </a:rPr>
              <a:t>发送 </a:t>
            </a:r>
            <a:r>
              <a:rPr lang="en-US" altLang="zh-CN" sz="1400" b="1">
                <a:ea typeface="黑体" panose="02010609060101010101" pitchFamily="49" charset="-122"/>
              </a:rPr>
              <a:t>FIN</a:t>
            </a:r>
          </a:p>
        </p:txBody>
      </p:sp>
      <p:sp>
        <p:nvSpPr>
          <p:cNvPr id="1595437" name="Text Box 49"/>
          <p:cNvSpPr txBox="1">
            <a:spLocks noChangeArrowheads="1"/>
          </p:cNvSpPr>
          <p:nvPr/>
        </p:nvSpPr>
        <p:spPr bwMode="auto">
          <a:xfrm>
            <a:off x="1963738" y="3933825"/>
            <a:ext cx="8985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400" b="1">
                <a:ea typeface="黑体" panose="02010609060101010101" pitchFamily="49" charset="-122"/>
              </a:rPr>
              <a:t>   </a:t>
            </a:r>
            <a:r>
              <a:rPr lang="zh-CN" altLang="en-US" sz="1400" b="1">
                <a:ea typeface="黑体" panose="02010609060101010101" pitchFamily="49" charset="-122"/>
              </a:rPr>
              <a:t>关闭</a:t>
            </a:r>
          </a:p>
          <a:p>
            <a:pPr eaLnBrk="0" hangingPunct="0"/>
            <a:r>
              <a:rPr lang="zh-CN" altLang="en-US" sz="1400" b="1">
                <a:ea typeface="黑体" panose="02010609060101010101" pitchFamily="49" charset="-122"/>
              </a:rPr>
              <a:t>发送 </a:t>
            </a:r>
            <a:r>
              <a:rPr lang="en-US" altLang="zh-CN" sz="1400" b="1">
                <a:ea typeface="黑体" panose="02010609060101010101" pitchFamily="49" charset="-122"/>
              </a:rPr>
              <a:t>FIN</a:t>
            </a:r>
          </a:p>
        </p:txBody>
      </p:sp>
      <p:sp>
        <p:nvSpPr>
          <p:cNvPr id="1595438" name="Text Box 50"/>
          <p:cNvSpPr txBox="1">
            <a:spLocks noChangeArrowheads="1"/>
          </p:cNvSpPr>
          <p:nvPr/>
        </p:nvSpPr>
        <p:spPr bwMode="auto">
          <a:xfrm>
            <a:off x="1506538" y="3429000"/>
            <a:ext cx="8985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400" b="1">
                <a:ea typeface="黑体" panose="02010609060101010101" pitchFamily="49" charset="-122"/>
              </a:rPr>
              <a:t>   </a:t>
            </a:r>
            <a:r>
              <a:rPr lang="zh-CN" altLang="en-US" sz="1400" b="1">
                <a:ea typeface="黑体" panose="02010609060101010101" pitchFamily="49" charset="-122"/>
              </a:rPr>
              <a:t>关闭</a:t>
            </a:r>
          </a:p>
          <a:p>
            <a:pPr eaLnBrk="0" hangingPunct="0"/>
            <a:r>
              <a:rPr lang="zh-CN" altLang="en-US" sz="1400" b="1">
                <a:ea typeface="黑体" panose="02010609060101010101" pitchFamily="49" charset="-122"/>
              </a:rPr>
              <a:t>发送 </a:t>
            </a:r>
            <a:r>
              <a:rPr lang="en-US" altLang="zh-CN" sz="1400" b="1">
                <a:ea typeface="黑体" panose="02010609060101010101" pitchFamily="49" charset="-122"/>
              </a:rPr>
              <a:t>FIN</a:t>
            </a:r>
          </a:p>
        </p:txBody>
      </p:sp>
      <p:sp>
        <p:nvSpPr>
          <p:cNvPr id="1595439" name="Text Box 51"/>
          <p:cNvSpPr txBox="1">
            <a:spLocks noChangeArrowheads="1"/>
          </p:cNvSpPr>
          <p:nvPr/>
        </p:nvSpPr>
        <p:spPr bwMode="auto">
          <a:xfrm>
            <a:off x="2590800" y="1787525"/>
            <a:ext cx="9525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400" b="1">
                <a:ea typeface="黑体" panose="02010609060101010101" pitchFamily="49" charset="-122"/>
              </a:rPr>
              <a:t>收到 </a:t>
            </a:r>
            <a:r>
              <a:rPr lang="en-US" altLang="zh-CN" sz="1400" b="1">
                <a:ea typeface="黑体" panose="02010609060101010101" pitchFamily="49" charset="-122"/>
              </a:rPr>
              <a:t>RST</a:t>
            </a:r>
          </a:p>
        </p:txBody>
      </p:sp>
      <p:sp>
        <p:nvSpPr>
          <p:cNvPr id="1595440" name="Text Box 52"/>
          <p:cNvSpPr txBox="1">
            <a:spLocks noChangeArrowheads="1"/>
          </p:cNvSpPr>
          <p:nvPr/>
        </p:nvSpPr>
        <p:spPr bwMode="auto">
          <a:xfrm>
            <a:off x="1273175" y="1243013"/>
            <a:ext cx="14446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400" b="1">
                <a:ea typeface="黑体" panose="02010609060101010101" pitchFamily="49" charset="-122"/>
              </a:rPr>
              <a:t>         </a:t>
            </a:r>
            <a:r>
              <a:rPr lang="zh-CN" altLang="en-US" sz="1400" b="1">
                <a:ea typeface="黑体" panose="02010609060101010101" pitchFamily="49" charset="-122"/>
              </a:rPr>
              <a:t>收到 </a:t>
            </a:r>
            <a:r>
              <a:rPr lang="en-US" altLang="zh-CN" sz="1400" b="1">
                <a:ea typeface="黑体" panose="02010609060101010101" pitchFamily="49" charset="-122"/>
              </a:rPr>
              <a:t>SYN</a:t>
            </a:r>
          </a:p>
          <a:p>
            <a:pPr eaLnBrk="0" hangingPunct="0"/>
            <a:r>
              <a:rPr lang="zh-CN" altLang="en-US" sz="1400" b="1">
                <a:ea typeface="黑体" panose="02010609060101010101" pitchFamily="49" charset="-122"/>
              </a:rPr>
              <a:t>发送 </a:t>
            </a:r>
            <a:r>
              <a:rPr lang="en-US" altLang="zh-CN" sz="1400" b="1">
                <a:ea typeface="黑体" panose="02010609060101010101" pitchFamily="49" charset="-122"/>
              </a:rPr>
              <a:t>SYN, ACK</a:t>
            </a:r>
          </a:p>
        </p:txBody>
      </p:sp>
      <p:sp>
        <p:nvSpPr>
          <p:cNvPr id="1595441" name="Text Box 53"/>
          <p:cNvSpPr txBox="1">
            <a:spLocks noChangeArrowheads="1"/>
          </p:cNvSpPr>
          <p:nvPr/>
        </p:nvSpPr>
        <p:spPr bwMode="auto">
          <a:xfrm>
            <a:off x="7223125" y="1916113"/>
            <a:ext cx="7223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400" b="1">
                <a:ea typeface="黑体" panose="02010609060101010101" pitchFamily="49" charset="-122"/>
              </a:rPr>
              <a:t>  </a:t>
            </a:r>
            <a:r>
              <a:rPr lang="zh-CN" altLang="en-US" sz="1400" b="1">
                <a:ea typeface="黑体" panose="02010609060101010101" pitchFamily="49" charset="-122"/>
              </a:rPr>
              <a:t>关闭</a:t>
            </a:r>
          </a:p>
          <a:p>
            <a:pPr eaLnBrk="0" hangingPunct="0"/>
            <a:r>
              <a:rPr lang="zh-CN" altLang="en-US" sz="1400" b="1">
                <a:ea typeface="黑体" panose="02010609060101010101" pitchFamily="49" charset="-122"/>
              </a:rPr>
              <a:t>或超时</a:t>
            </a:r>
          </a:p>
        </p:txBody>
      </p:sp>
      <p:sp>
        <p:nvSpPr>
          <p:cNvPr id="1595442" name="Text Box 54"/>
          <p:cNvSpPr txBox="1">
            <a:spLocks noChangeArrowheads="1"/>
          </p:cNvSpPr>
          <p:nvPr/>
        </p:nvSpPr>
        <p:spPr bwMode="auto">
          <a:xfrm>
            <a:off x="7248525" y="5013325"/>
            <a:ext cx="9763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400" b="1">
                <a:ea typeface="黑体" panose="02010609060101010101" pitchFamily="49" charset="-122"/>
              </a:rPr>
              <a:t>收到 </a:t>
            </a:r>
            <a:r>
              <a:rPr lang="en-US" altLang="zh-CN" sz="1400" b="1">
                <a:ea typeface="黑体" panose="02010609060101010101" pitchFamily="49" charset="-122"/>
              </a:rPr>
              <a:t>ACK</a:t>
            </a:r>
          </a:p>
        </p:txBody>
      </p:sp>
      <p:sp>
        <p:nvSpPr>
          <p:cNvPr id="1595443" name="Text Box 55"/>
          <p:cNvSpPr txBox="1">
            <a:spLocks noChangeArrowheads="1"/>
          </p:cNvSpPr>
          <p:nvPr/>
        </p:nvSpPr>
        <p:spPr bwMode="auto">
          <a:xfrm>
            <a:off x="5345113" y="2846388"/>
            <a:ext cx="16938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400" b="1">
                <a:ea typeface="黑体" panose="02010609060101010101" pitchFamily="49" charset="-122"/>
              </a:rPr>
              <a:t>     </a:t>
            </a:r>
            <a:r>
              <a:rPr lang="zh-CN" altLang="en-US" sz="1400" b="1">
                <a:ea typeface="黑体" panose="02010609060101010101" pitchFamily="49" charset="-122"/>
              </a:rPr>
              <a:t>收到 </a:t>
            </a:r>
            <a:r>
              <a:rPr lang="en-US" altLang="zh-CN" sz="1400" b="1">
                <a:ea typeface="黑体" panose="02010609060101010101" pitchFamily="49" charset="-122"/>
              </a:rPr>
              <a:t>SYN, ACK</a:t>
            </a:r>
          </a:p>
          <a:p>
            <a:pPr eaLnBrk="0" hangingPunct="0"/>
            <a:r>
              <a:rPr lang="zh-CN" altLang="en-US" sz="1400" b="1">
                <a:ea typeface="黑体" panose="02010609060101010101" pitchFamily="49" charset="-122"/>
              </a:rPr>
              <a:t>发送 </a:t>
            </a:r>
            <a:r>
              <a:rPr lang="en-US" altLang="zh-CN" sz="1400" b="1">
                <a:ea typeface="黑体" panose="02010609060101010101" pitchFamily="49" charset="-122"/>
              </a:rPr>
              <a:t>ACK</a:t>
            </a:r>
          </a:p>
        </p:txBody>
      </p:sp>
      <p:sp>
        <p:nvSpPr>
          <p:cNvPr id="1595444" name="Text Box 56"/>
          <p:cNvSpPr txBox="1">
            <a:spLocks noChangeArrowheads="1"/>
          </p:cNvSpPr>
          <p:nvPr/>
        </p:nvSpPr>
        <p:spPr bwMode="auto">
          <a:xfrm>
            <a:off x="4000500" y="5549900"/>
            <a:ext cx="9763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400" b="1">
                <a:ea typeface="黑体" panose="02010609060101010101" pitchFamily="49" charset="-122"/>
              </a:rPr>
              <a:t>收到 </a:t>
            </a:r>
            <a:r>
              <a:rPr lang="en-US" altLang="zh-CN" sz="1400" b="1">
                <a:ea typeface="黑体" panose="02010609060101010101" pitchFamily="49" charset="-122"/>
              </a:rPr>
              <a:t>ACK</a:t>
            </a:r>
          </a:p>
        </p:txBody>
      </p:sp>
      <p:sp>
        <p:nvSpPr>
          <p:cNvPr id="1595445" name="Text Box 57"/>
          <p:cNvSpPr txBox="1">
            <a:spLocks noChangeArrowheads="1"/>
          </p:cNvSpPr>
          <p:nvPr/>
        </p:nvSpPr>
        <p:spPr bwMode="auto">
          <a:xfrm>
            <a:off x="1525588" y="5624513"/>
            <a:ext cx="9763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400" b="1">
                <a:ea typeface="黑体" panose="02010609060101010101" pitchFamily="49" charset="-122"/>
              </a:rPr>
              <a:t>收到 </a:t>
            </a:r>
            <a:r>
              <a:rPr lang="en-US" altLang="zh-CN" sz="1400" b="1">
                <a:ea typeface="黑体" panose="02010609060101010101" pitchFamily="49" charset="-122"/>
              </a:rPr>
              <a:t>ACK</a:t>
            </a:r>
          </a:p>
        </p:txBody>
      </p:sp>
      <p:sp>
        <p:nvSpPr>
          <p:cNvPr id="1595446" name="Text Box 58"/>
          <p:cNvSpPr txBox="1">
            <a:spLocks noChangeArrowheads="1"/>
          </p:cNvSpPr>
          <p:nvPr/>
        </p:nvSpPr>
        <p:spPr bwMode="auto">
          <a:xfrm>
            <a:off x="2178050" y="5949950"/>
            <a:ext cx="9763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400" b="1">
                <a:ea typeface="黑体" panose="02010609060101010101" pitchFamily="49" charset="-122"/>
              </a:rPr>
              <a:t>收到 </a:t>
            </a:r>
            <a:r>
              <a:rPr lang="en-US" altLang="zh-CN" sz="1400" b="1">
                <a:ea typeface="黑体" panose="02010609060101010101" pitchFamily="49" charset="-122"/>
              </a:rPr>
              <a:t>FIN</a:t>
            </a:r>
          </a:p>
          <a:p>
            <a:pPr eaLnBrk="0" hangingPunct="0"/>
            <a:r>
              <a:rPr lang="zh-CN" altLang="en-US" sz="1400" b="1">
                <a:ea typeface="黑体" panose="02010609060101010101" pitchFamily="49" charset="-122"/>
              </a:rPr>
              <a:t>发送 </a:t>
            </a:r>
            <a:r>
              <a:rPr lang="en-US" altLang="zh-CN" sz="1400" b="1">
                <a:ea typeface="黑体" panose="02010609060101010101" pitchFamily="49" charset="-122"/>
              </a:rPr>
              <a:t>ACK</a:t>
            </a:r>
          </a:p>
        </p:txBody>
      </p:sp>
      <p:sp>
        <p:nvSpPr>
          <p:cNvPr id="1595447" name="Text Box 59"/>
          <p:cNvSpPr txBox="1">
            <a:spLocks noChangeArrowheads="1"/>
          </p:cNvSpPr>
          <p:nvPr/>
        </p:nvSpPr>
        <p:spPr bwMode="auto">
          <a:xfrm>
            <a:off x="2366963" y="5310188"/>
            <a:ext cx="13763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400" b="1">
                <a:ea typeface="黑体" panose="02010609060101010101" pitchFamily="49" charset="-122"/>
              </a:rPr>
              <a:t>收到 </a:t>
            </a:r>
            <a:r>
              <a:rPr lang="en-US" altLang="zh-CN" sz="1400" b="1">
                <a:ea typeface="黑体" panose="02010609060101010101" pitchFamily="49" charset="-122"/>
              </a:rPr>
              <a:t>FIN, ACK</a:t>
            </a:r>
          </a:p>
          <a:p>
            <a:pPr eaLnBrk="0" hangingPunct="0"/>
            <a:r>
              <a:rPr lang="en-US" altLang="zh-CN" sz="1400" b="1">
                <a:ea typeface="黑体" panose="02010609060101010101" pitchFamily="49" charset="-122"/>
              </a:rPr>
              <a:t>     </a:t>
            </a:r>
            <a:r>
              <a:rPr lang="zh-CN" altLang="en-US" sz="1400" b="1">
                <a:ea typeface="黑体" panose="02010609060101010101" pitchFamily="49" charset="-122"/>
              </a:rPr>
              <a:t>发送 </a:t>
            </a:r>
            <a:r>
              <a:rPr lang="en-US" altLang="zh-CN" sz="1400" b="1">
                <a:ea typeface="黑体" panose="02010609060101010101" pitchFamily="49" charset="-122"/>
              </a:rPr>
              <a:t>ACK</a:t>
            </a:r>
          </a:p>
        </p:txBody>
      </p:sp>
      <p:sp>
        <p:nvSpPr>
          <p:cNvPr id="1595448" name="Text Box 60"/>
          <p:cNvSpPr txBox="1">
            <a:spLocks noChangeArrowheads="1"/>
          </p:cNvSpPr>
          <p:nvPr/>
        </p:nvSpPr>
        <p:spPr bwMode="auto">
          <a:xfrm>
            <a:off x="2420938" y="4581525"/>
            <a:ext cx="9763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400" b="1">
                <a:ea typeface="黑体" panose="02010609060101010101" pitchFamily="49" charset="-122"/>
              </a:rPr>
              <a:t>收到 </a:t>
            </a:r>
            <a:r>
              <a:rPr lang="en-US" altLang="zh-CN" sz="1400" b="1">
                <a:ea typeface="黑体" panose="02010609060101010101" pitchFamily="49" charset="-122"/>
              </a:rPr>
              <a:t>FIN</a:t>
            </a:r>
          </a:p>
          <a:p>
            <a:pPr eaLnBrk="0" hangingPunct="0"/>
            <a:r>
              <a:rPr lang="zh-CN" altLang="en-US" sz="1400" b="1">
                <a:ea typeface="黑体" panose="02010609060101010101" pitchFamily="49" charset="-122"/>
              </a:rPr>
              <a:t>发送 </a:t>
            </a:r>
            <a:r>
              <a:rPr lang="en-US" altLang="zh-CN" sz="1400" b="1">
                <a:ea typeface="黑体" panose="02010609060101010101" pitchFamily="49" charset="-122"/>
              </a:rPr>
              <a:t>ACK</a:t>
            </a:r>
          </a:p>
        </p:txBody>
      </p:sp>
      <p:sp>
        <p:nvSpPr>
          <p:cNvPr id="1595449" name="Text Box 61"/>
          <p:cNvSpPr txBox="1">
            <a:spLocks noChangeArrowheads="1"/>
          </p:cNvSpPr>
          <p:nvPr/>
        </p:nvSpPr>
        <p:spPr bwMode="auto">
          <a:xfrm>
            <a:off x="3533775" y="4630738"/>
            <a:ext cx="9032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400" b="1">
                <a:ea typeface="黑体" panose="02010609060101010101" pitchFamily="49" charset="-122"/>
              </a:rPr>
              <a:t>同时关闭</a:t>
            </a:r>
          </a:p>
        </p:txBody>
      </p:sp>
      <p:sp>
        <p:nvSpPr>
          <p:cNvPr id="1595450" name="Text Box 62"/>
          <p:cNvSpPr txBox="1">
            <a:spLocks noChangeArrowheads="1"/>
          </p:cNvSpPr>
          <p:nvPr/>
        </p:nvSpPr>
        <p:spPr bwMode="auto">
          <a:xfrm>
            <a:off x="4710113" y="3357563"/>
            <a:ext cx="9763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400" b="1">
                <a:ea typeface="黑体" panose="02010609060101010101" pitchFamily="49" charset="-122"/>
              </a:rPr>
              <a:t>收到 </a:t>
            </a:r>
            <a:r>
              <a:rPr lang="en-US" altLang="zh-CN" sz="1400" b="1">
                <a:ea typeface="黑体" panose="02010609060101010101" pitchFamily="49" charset="-122"/>
              </a:rPr>
              <a:t>FIN</a:t>
            </a:r>
          </a:p>
          <a:p>
            <a:pPr eaLnBrk="0" hangingPunct="0"/>
            <a:r>
              <a:rPr lang="zh-CN" altLang="en-US" sz="1400" b="1">
                <a:ea typeface="黑体" panose="02010609060101010101" pitchFamily="49" charset="-122"/>
              </a:rPr>
              <a:t>发送 </a:t>
            </a:r>
            <a:r>
              <a:rPr lang="en-US" altLang="zh-CN" sz="1400" b="1">
                <a:ea typeface="黑体" panose="02010609060101010101" pitchFamily="49" charset="-122"/>
              </a:rPr>
              <a:t>ACK</a:t>
            </a:r>
          </a:p>
        </p:txBody>
      </p:sp>
      <p:sp>
        <p:nvSpPr>
          <p:cNvPr id="1595451" name="Text Box 63"/>
          <p:cNvSpPr txBox="1">
            <a:spLocks noChangeArrowheads="1"/>
          </p:cNvSpPr>
          <p:nvPr/>
        </p:nvSpPr>
        <p:spPr bwMode="auto">
          <a:xfrm>
            <a:off x="4287838" y="1808163"/>
            <a:ext cx="9636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400" b="1">
                <a:ea typeface="黑体" panose="02010609060101010101" pitchFamily="49" charset="-122"/>
              </a:rPr>
              <a:t>发送 </a:t>
            </a:r>
            <a:r>
              <a:rPr lang="en-US" altLang="zh-CN" sz="1400" b="1">
                <a:ea typeface="黑体" panose="02010609060101010101" pitchFamily="49" charset="-122"/>
              </a:rPr>
              <a:t>SYN</a:t>
            </a:r>
          </a:p>
        </p:txBody>
      </p:sp>
      <p:sp>
        <p:nvSpPr>
          <p:cNvPr id="1595452" name="Text Box 64"/>
          <p:cNvSpPr txBox="1">
            <a:spLocks noChangeArrowheads="1"/>
          </p:cNvSpPr>
          <p:nvPr/>
        </p:nvSpPr>
        <p:spPr bwMode="auto">
          <a:xfrm>
            <a:off x="2844800" y="6551613"/>
            <a:ext cx="23383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400" b="1">
                <a:ea typeface="黑体" panose="02010609060101010101" pitchFamily="49" charset="-122"/>
              </a:rPr>
              <a:t>定时经过两倍报文段寿命后</a:t>
            </a:r>
          </a:p>
        </p:txBody>
      </p:sp>
      <p:sp>
        <p:nvSpPr>
          <p:cNvPr id="1595453" name="Line 65"/>
          <p:cNvSpPr>
            <a:spLocks noChangeShapeType="1"/>
          </p:cNvSpPr>
          <p:nvPr/>
        </p:nvSpPr>
        <p:spPr bwMode="auto">
          <a:xfrm flipV="1">
            <a:off x="4116388" y="488950"/>
            <a:ext cx="0" cy="758825"/>
          </a:xfrm>
          <a:prstGeom prst="line">
            <a:avLst/>
          </a:prstGeom>
          <a:noFill/>
          <a:ln w="190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sp>
        <p:nvSpPr>
          <p:cNvPr id="1595454" name="Text Box 66"/>
          <p:cNvSpPr txBox="1">
            <a:spLocks noChangeArrowheads="1"/>
          </p:cNvSpPr>
          <p:nvPr/>
        </p:nvSpPr>
        <p:spPr bwMode="auto">
          <a:xfrm>
            <a:off x="4103688" y="846138"/>
            <a:ext cx="5429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400" b="1">
                <a:ea typeface="黑体" panose="02010609060101010101" pitchFamily="49" charset="-122"/>
              </a:rPr>
              <a:t>关闭</a:t>
            </a:r>
          </a:p>
        </p:txBody>
      </p:sp>
      <p:sp>
        <p:nvSpPr>
          <p:cNvPr id="1595455" name="Freeform 67"/>
          <p:cNvSpPr>
            <a:spLocks noChangeArrowheads="1"/>
          </p:cNvSpPr>
          <p:nvPr/>
        </p:nvSpPr>
        <p:spPr bwMode="auto">
          <a:xfrm>
            <a:off x="4456113" y="363538"/>
            <a:ext cx="3876675" cy="6094412"/>
          </a:xfrm>
          <a:custGeom>
            <a:avLst/>
            <a:gdLst>
              <a:gd name="T0" fmla="*/ 103 w 2196"/>
              <a:gd name="T1" fmla="*/ 4653 h 4653"/>
              <a:gd name="T2" fmla="*/ 1518 w 2196"/>
              <a:gd name="T3" fmla="*/ 4650 h 4653"/>
              <a:gd name="T4" fmla="*/ 1926 w 2196"/>
              <a:gd name="T5" fmla="*/ 4650 h 4653"/>
              <a:gd name="T6" fmla="*/ 2004 w 2196"/>
              <a:gd name="T7" fmla="*/ 4620 h 4653"/>
              <a:gd name="T8" fmla="*/ 2082 w 2196"/>
              <a:gd name="T9" fmla="*/ 4584 h 4653"/>
              <a:gd name="T10" fmla="*/ 2148 w 2196"/>
              <a:gd name="T11" fmla="*/ 4500 h 4653"/>
              <a:gd name="T12" fmla="*/ 2190 w 2196"/>
              <a:gd name="T13" fmla="*/ 4386 h 4653"/>
              <a:gd name="T14" fmla="*/ 2195 w 2196"/>
              <a:gd name="T15" fmla="*/ 4300 h 4653"/>
              <a:gd name="T16" fmla="*/ 2196 w 2196"/>
              <a:gd name="T17" fmla="*/ 336 h 4653"/>
              <a:gd name="T18" fmla="*/ 2184 w 2196"/>
              <a:gd name="T19" fmla="*/ 210 h 4653"/>
              <a:gd name="T20" fmla="*/ 2154 w 2196"/>
              <a:gd name="T21" fmla="*/ 126 h 4653"/>
              <a:gd name="T22" fmla="*/ 2070 w 2196"/>
              <a:gd name="T23" fmla="*/ 54 h 4653"/>
              <a:gd name="T24" fmla="*/ 1950 w 2196"/>
              <a:gd name="T25" fmla="*/ 6 h 4653"/>
              <a:gd name="T26" fmla="*/ 1806 w 2196"/>
              <a:gd name="T27" fmla="*/ 0 h 4653"/>
              <a:gd name="T28" fmla="*/ 256 w 2196"/>
              <a:gd name="T29" fmla="*/ 0 h 4653"/>
              <a:gd name="T30" fmla="*/ 0 w 2196"/>
              <a:gd name="T31" fmla="*/ 0 h 4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96" h="4653">
                <a:moveTo>
                  <a:pt x="103" y="4653"/>
                </a:moveTo>
                <a:lnTo>
                  <a:pt x="1518" y="4650"/>
                </a:lnTo>
                <a:lnTo>
                  <a:pt x="1926" y="4650"/>
                </a:lnTo>
                <a:lnTo>
                  <a:pt x="2004" y="4620"/>
                </a:lnTo>
                <a:lnTo>
                  <a:pt x="2082" y="4584"/>
                </a:lnTo>
                <a:lnTo>
                  <a:pt x="2148" y="4500"/>
                </a:lnTo>
                <a:lnTo>
                  <a:pt x="2190" y="4386"/>
                </a:lnTo>
                <a:lnTo>
                  <a:pt x="2195" y="4300"/>
                </a:lnTo>
                <a:lnTo>
                  <a:pt x="2196" y="336"/>
                </a:lnTo>
                <a:lnTo>
                  <a:pt x="2184" y="210"/>
                </a:lnTo>
                <a:lnTo>
                  <a:pt x="2154" y="126"/>
                </a:lnTo>
                <a:lnTo>
                  <a:pt x="2070" y="54"/>
                </a:lnTo>
                <a:lnTo>
                  <a:pt x="1950" y="6"/>
                </a:lnTo>
                <a:lnTo>
                  <a:pt x="1806" y="0"/>
                </a:lnTo>
                <a:lnTo>
                  <a:pt x="256" y="0"/>
                </a:lnTo>
                <a:lnTo>
                  <a:pt x="0" y="0"/>
                </a:lnTo>
              </a:path>
            </a:pathLst>
          </a:custGeom>
          <a:noFill/>
          <a:ln w="57150">
            <a:solidFill>
              <a:srgbClr val="0000FF"/>
            </a:solidFill>
            <a:round/>
            <a:headEnd/>
            <a:tailEnd type="triangle" w="med"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ea typeface="黑体" panose="02010609060101010101" pitchFamily="49" charset="-122"/>
            </a:endParaRPr>
          </a:p>
        </p:txBody>
      </p:sp>
      <p:sp>
        <p:nvSpPr>
          <p:cNvPr id="1595456" name="Line 31"/>
          <p:cNvSpPr>
            <a:spLocks noChangeShapeType="1"/>
          </p:cNvSpPr>
          <p:nvPr/>
        </p:nvSpPr>
        <p:spPr bwMode="auto">
          <a:xfrm rot="-5400000">
            <a:off x="7723188" y="1828800"/>
            <a:ext cx="0" cy="1219200"/>
          </a:xfrm>
          <a:prstGeom prst="line">
            <a:avLst/>
          </a:prstGeom>
          <a:noFill/>
          <a:ln w="19050">
            <a:solidFill>
              <a:srgbClr val="FF0000"/>
            </a:solidFill>
            <a:round/>
            <a:headEnd/>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sp>
        <p:nvSpPr>
          <p:cNvPr id="159545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03F668B1-7D6A-405E-94A0-4E63637157F6}" type="slidenum">
              <a:rPr lang="zh-CN" altLang="en-US" smtClean="0"/>
              <a:pPr/>
              <a:t>24</a:t>
            </a:fld>
            <a:endParaRPr lang="en-US" altLang="zh-CN" smtClean="0"/>
          </a:p>
        </p:txBody>
      </p:sp>
      <p:sp>
        <p:nvSpPr>
          <p:cNvPr id="159545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sld>
</file>

<file path=ppt/theme/theme1.xml><?xml version="1.0" encoding="utf-8"?>
<a:theme xmlns:a="http://schemas.openxmlformats.org/drawingml/2006/main" name="Presentati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Template>
  <TotalTime>627</TotalTime>
  <Words>1801</Words>
  <Application>Microsoft Office PowerPoint</Application>
  <PresentationFormat>A4 纸张(210x297 毫米)</PresentationFormat>
  <Paragraphs>389</Paragraphs>
  <Slides>24</Slides>
  <Notes>8</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24</vt:i4>
      </vt:variant>
    </vt:vector>
  </HeadingPairs>
  <TitlesOfParts>
    <vt:vector size="32" baseType="lpstr">
      <vt:lpstr>黑体</vt:lpstr>
      <vt:lpstr>宋体</vt:lpstr>
      <vt:lpstr>Arial</vt:lpstr>
      <vt:lpstr>Symbol</vt:lpstr>
      <vt:lpstr>Tahoma</vt:lpstr>
      <vt:lpstr>Times New Roman</vt:lpstr>
      <vt:lpstr>Wingdings</vt:lpstr>
      <vt:lpstr>Presentation</vt:lpstr>
      <vt:lpstr>第 5 章  运输层</vt:lpstr>
      <vt:lpstr>第 5 章  运输层</vt:lpstr>
      <vt:lpstr>5.9  TCP 的运输连接管理</vt:lpstr>
      <vt:lpstr>运输连接的三个阶段</vt:lpstr>
      <vt:lpstr>TCP 连接建立过程中要解决的三个问题</vt:lpstr>
      <vt:lpstr>客户服务器方式 </vt:lpstr>
      <vt:lpstr>5.9.1  TCP 的连接建立</vt:lpstr>
      <vt:lpstr>PowerPoint 演示文稿</vt:lpstr>
      <vt:lpstr>PowerPoint 演示文稿</vt:lpstr>
      <vt:lpstr>PowerPoint 演示文稿</vt:lpstr>
      <vt:lpstr>PowerPoint 演示文稿</vt:lpstr>
      <vt:lpstr>PowerPoint 演示文稿</vt:lpstr>
      <vt:lpstr>三报文握手建立连接的原因</vt:lpstr>
      <vt:lpstr>5.9.2  TCP 的连接释放</vt:lpstr>
      <vt:lpstr>PowerPoint 演示文稿</vt:lpstr>
      <vt:lpstr>PowerPoint 演示文稿</vt:lpstr>
      <vt:lpstr>PowerPoint 演示文稿</vt:lpstr>
      <vt:lpstr>PowerPoint 演示文稿</vt:lpstr>
      <vt:lpstr>PowerPoint 演示文稿</vt:lpstr>
      <vt:lpstr>PowerPoint 演示文稿</vt:lpstr>
      <vt:lpstr>A 必须等待 2MSL 的时间</vt:lpstr>
      <vt:lpstr>5.9.3  TCP 的有限状态机</vt:lpstr>
      <vt:lpstr>5.9.3  TCP 的有限状态机</vt:lpstr>
      <vt:lpstr>TCP 的 有 限 状 态 机 </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920</dc:creator>
  <cp:lastModifiedBy>个人用户</cp:lastModifiedBy>
  <cp:revision>60</cp:revision>
  <cp:lastPrinted>2020-04-16T07:06:14Z</cp:lastPrinted>
  <dcterms:created xsi:type="dcterms:W3CDTF">2016-10-01T05:27:00Z</dcterms:created>
  <dcterms:modified xsi:type="dcterms:W3CDTF">2021-01-25T09:29:39Z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y fmtid="{D5CDD505-2E9C-101B-9397-08002B2CF9AE}" pid="3" name="KSOProductBuildVer">
    <vt:lpwstr>2052-11.3.0.8513</vt:lpwstr>
  </property>
</Properties>
</file>
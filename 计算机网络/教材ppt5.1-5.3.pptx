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1956" r:id="rId2"/>
    <p:sldId id="1957" r:id="rId3"/>
    <p:sldId id="1958" r:id="rId4"/>
    <p:sldId id="1959" r:id="rId5"/>
    <p:sldId id="1960" r:id="rId6"/>
    <p:sldId id="1961" r:id="rId7"/>
    <p:sldId id="1962" r:id="rId8"/>
    <p:sldId id="1963" r:id="rId9"/>
    <p:sldId id="1964" r:id="rId10"/>
    <p:sldId id="1965" r:id="rId11"/>
    <p:sldId id="1966" r:id="rId12"/>
    <p:sldId id="1967" r:id="rId13"/>
    <p:sldId id="1968" r:id="rId14"/>
    <p:sldId id="1969" r:id="rId15"/>
    <p:sldId id="1970" r:id="rId16"/>
    <p:sldId id="1971" r:id="rId17"/>
    <p:sldId id="2002" r:id="rId18"/>
    <p:sldId id="1972" r:id="rId19"/>
    <p:sldId id="1973" r:id="rId20"/>
    <p:sldId id="1974" r:id="rId21"/>
    <p:sldId id="1975" r:id="rId22"/>
    <p:sldId id="1976" r:id="rId23"/>
    <p:sldId id="1977" r:id="rId24"/>
    <p:sldId id="1978" r:id="rId25"/>
    <p:sldId id="1979" r:id="rId26"/>
    <p:sldId id="1980" r:id="rId27"/>
    <p:sldId id="1981" r:id="rId28"/>
    <p:sldId id="1982" r:id="rId29"/>
    <p:sldId id="1983" r:id="rId30"/>
    <p:sldId id="2003" r:id="rId31"/>
    <p:sldId id="1988" r:id="rId32"/>
    <p:sldId id="1984" r:id="rId33"/>
    <p:sldId id="1985" r:id="rId34"/>
    <p:sldId id="1986" r:id="rId35"/>
    <p:sldId id="1987" r:id="rId36"/>
    <p:sldId id="1989" r:id="rId37"/>
    <p:sldId id="1990" r:id="rId38"/>
    <p:sldId id="1991" r:id="rId39"/>
    <p:sldId id="1992" r:id="rId40"/>
    <p:sldId id="1993" r:id="rId41"/>
    <p:sldId id="1994" r:id="rId42"/>
    <p:sldId id="1995" r:id="rId43"/>
    <p:sldId id="1996" r:id="rId44"/>
    <p:sldId id="1997" r:id="rId45"/>
    <p:sldId id="1998" r:id="rId46"/>
    <p:sldId id="1999" r:id="rId47"/>
    <p:sldId id="2000" r:id="rId48"/>
    <p:sldId id="2001" r:id="rId49"/>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108"/>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DD3D4F-8AFC-4693-A6E9-41E1313FB157}"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288194" name="Rectangle 2"/>
          <p:cNvSpPr>
            <a:spLocks noGrp="1" noRot="1" noChangeAspect="1" noChangeArrowheads="1" noTextEdit="1"/>
          </p:cNvSpPr>
          <p:nvPr>
            <p:ph type="sldImg" idx="4294967295"/>
          </p:nvPr>
        </p:nvSpPr>
        <p:spPr>
          <a:ln/>
        </p:spPr>
      </p:sp>
      <p:sp>
        <p:nvSpPr>
          <p:cNvPr id="1288195"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504B13-B8F2-4184-BADD-B8A872D88E53}"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291266" name="Rectangle 2"/>
          <p:cNvSpPr>
            <a:spLocks noGrp="1" noRot="1" noChangeAspect="1" noChangeArrowheads="1" noTextEdit="1"/>
          </p:cNvSpPr>
          <p:nvPr>
            <p:ph type="sldImg" idx="4294967295"/>
          </p:nvPr>
        </p:nvSpPr>
        <p:spPr>
          <a:ln/>
        </p:spPr>
      </p:sp>
      <p:sp>
        <p:nvSpPr>
          <p:cNvPr id="12912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71A8AE-B8AF-4851-B9BE-0ED555613C32}"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293314" name="Rectangle 2"/>
          <p:cNvSpPr>
            <a:spLocks noGrp="1" noRot="1" noChangeAspect="1" noChangeArrowheads="1" noTextEdit="1"/>
          </p:cNvSpPr>
          <p:nvPr>
            <p:ph type="sldImg" idx="4294967295"/>
          </p:nvPr>
        </p:nvSpPr>
        <p:spPr>
          <a:ln/>
        </p:spPr>
      </p:sp>
      <p:sp>
        <p:nvSpPr>
          <p:cNvPr id="12933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327286-5414-4E3F-8373-DF608BB2247E}"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295362" name="Rectangle 2"/>
          <p:cNvSpPr>
            <a:spLocks noGrp="1" noRot="1" noChangeAspect="1" noChangeArrowheads="1" noTextEdit="1"/>
          </p:cNvSpPr>
          <p:nvPr>
            <p:ph type="sldImg" idx="4294967295"/>
          </p:nvPr>
        </p:nvSpPr>
        <p:spPr>
          <a:ln/>
        </p:spPr>
      </p:sp>
      <p:sp>
        <p:nvSpPr>
          <p:cNvPr id="12953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C5ADC2-5D5B-42B0-8C1C-711C234AEE4D}"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297410" name="Rectangle 2"/>
          <p:cNvSpPr>
            <a:spLocks noGrp="1" noRot="1" noChangeAspect="1" noChangeArrowheads="1" noTextEdit="1"/>
          </p:cNvSpPr>
          <p:nvPr>
            <p:ph type="sldImg" idx="4294967295"/>
          </p:nvPr>
        </p:nvSpPr>
        <p:spPr>
          <a:ln/>
        </p:spPr>
      </p:sp>
      <p:sp>
        <p:nvSpPr>
          <p:cNvPr id="12974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814D2D0-6928-4B28-BCA1-60F7A8FF2E53}"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1299458" name="Rectangle 2"/>
          <p:cNvSpPr>
            <a:spLocks noGrp="1" noRot="1" noChangeAspect="1" noChangeArrowheads="1" noTextEdit="1"/>
          </p:cNvSpPr>
          <p:nvPr>
            <p:ph type="sldImg" idx="4294967295"/>
          </p:nvPr>
        </p:nvSpPr>
        <p:spPr>
          <a:ln/>
        </p:spPr>
      </p:sp>
      <p:sp>
        <p:nvSpPr>
          <p:cNvPr id="12994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09788E-B485-4A8F-9934-0FA4721A9FBC}"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1301506" name="Rectangle 2"/>
          <p:cNvSpPr>
            <a:spLocks noGrp="1" noRot="1" noChangeAspect="1" noChangeArrowheads="1" noTextEdit="1"/>
          </p:cNvSpPr>
          <p:nvPr>
            <p:ph type="sldImg" idx="4294967295"/>
          </p:nvPr>
        </p:nvSpPr>
        <p:spPr>
          <a:ln/>
        </p:spPr>
      </p:sp>
      <p:sp>
        <p:nvSpPr>
          <p:cNvPr id="13015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4D5D71-84CF-4B61-9B34-DF32E480A646}" type="slidenum">
              <a:rPr lang="en-US" altLang="zh-CN" smtClean="0"/>
              <a:pPr eaLnBrk="1" hangingPunct="1"/>
              <a:t>10</a:t>
            </a:fld>
            <a:endParaRPr lang="en-US" altLang="zh-CN" smtClean="0"/>
          </a:p>
        </p:txBody>
      </p:sp>
      <p:sp>
        <p:nvSpPr>
          <p:cNvPr id="1304578" name="Rectangle 2"/>
          <p:cNvSpPr>
            <a:spLocks noGrp="1" noRot="1" noChangeAspect="1" noChangeArrowheads="1" noTextEdit="1"/>
          </p:cNvSpPr>
          <p:nvPr>
            <p:ph type="sldImg" idx="4294967295"/>
          </p:nvPr>
        </p:nvSpPr>
        <p:spPr>
          <a:ln/>
        </p:spPr>
      </p:sp>
      <p:sp>
        <p:nvSpPr>
          <p:cNvPr id="13045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654AB4-2CFB-4B2C-AD8D-14F3C31B4936}"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1306626" name="Rectangle 2"/>
          <p:cNvSpPr>
            <a:spLocks noGrp="1" noRot="1" noChangeAspect="1" noChangeArrowheads="1" noTextEdit="1"/>
          </p:cNvSpPr>
          <p:nvPr>
            <p:ph type="sldImg" idx="4294967295"/>
          </p:nvPr>
        </p:nvSpPr>
        <p:spPr>
          <a:ln/>
        </p:spPr>
      </p:sp>
      <p:sp>
        <p:nvSpPr>
          <p:cNvPr id="1306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E56FC1-6A3D-40DF-B4E9-A9C538D76BD8}" type="slidenum">
              <a:rPr lang="en-US" altLang="zh-CN" smtClean="0"/>
              <a:pPr eaLnBrk="1" hangingPunct="1"/>
              <a:t>12</a:t>
            </a:fld>
            <a:endParaRPr lang="en-US" altLang="zh-CN" smtClean="0"/>
          </a:p>
        </p:txBody>
      </p:sp>
      <p:sp>
        <p:nvSpPr>
          <p:cNvPr id="1308674" name="Rectangle 2"/>
          <p:cNvSpPr>
            <a:spLocks noGrp="1" noRot="1" noChangeAspect="1" noChangeArrowheads="1" noTextEdit="1"/>
          </p:cNvSpPr>
          <p:nvPr>
            <p:ph type="sldImg" idx="4294967295"/>
          </p:nvPr>
        </p:nvSpPr>
        <p:spPr>
          <a:ln/>
        </p:spPr>
      </p:sp>
      <p:sp>
        <p:nvSpPr>
          <p:cNvPr id="1308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DE4365-C0D1-44D9-9E1A-5B99D14F1BB6}"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311746" name="Rectangle 2"/>
          <p:cNvSpPr>
            <a:spLocks noGrp="1" noRot="1" noChangeAspect="1" noChangeArrowheads="1" noTextEdit="1"/>
          </p:cNvSpPr>
          <p:nvPr>
            <p:ph type="sldImg" idx="4294967295"/>
          </p:nvPr>
        </p:nvSpPr>
        <p:spPr>
          <a:ln/>
        </p:spPr>
      </p:sp>
      <p:sp>
        <p:nvSpPr>
          <p:cNvPr id="13117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3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0D2FB3-BDF9-4D0D-A485-09AC34D32FB1}"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313794" name="Rectangle 2"/>
          <p:cNvSpPr>
            <a:spLocks noGrp="1" noRot="1" noChangeAspect="1" noChangeArrowheads="1" noTextEdit="1"/>
          </p:cNvSpPr>
          <p:nvPr>
            <p:ph type="sldImg" idx="4294967295"/>
          </p:nvPr>
        </p:nvSpPr>
        <p:spPr>
          <a:ln/>
        </p:spPr>
      </p:sp>
      <p:sp>
        <p:nvSpPr>
          <p:cNvPr id="13137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5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2E6FBF-7C7A-4883-AFC3-C91403B9F958}"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315842" name="Rectangle 2"/>
          <p:cNvSpPr>
            <a:spLocks noGrp="1" noRot="1" noChangeAspect="1" noChangeArrowheads="1" noTextEdit="1"/>
          </p:cNvSpPr>
          <p:nvPr>
            <p:ph type="sldImg" idx="4294967295"/>
          </p:nvPr>
        </p:nvSpPr>
        <p:spPr>
          <a:ln/>
        </p:spPr>
      </p:sp>
      <p:sp>
        <p:nvSpPr>
          <p:cNvPr id="13158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7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CAE2F3-5042-4650-BE5C-1787F01A2392}"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317890" name="Rectangle 2"/>
          <p:cNvSpPr>
            <a:spLocks noGrp="1" noRot="1" noChangeAspect="1" noChangeArrowheads="1" noTextEdit="1"/>
          </p:cNvSpPr>
          <p:nvPr>
            <p:ph type="sldImg" idx="4294967295"/>
          </p:nvPr>
        </p:nvSpPr>
        <p:spPr>
          <a:ln/>
        </p:spPr>
      </p:sp>
      <p:sp>
        <p:nvSpPr>
          <p:cNvPr id="1317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1145C8-FC3C-4E1D-A63F-C157EDD03072}"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1319938" name="Rectangle 2"/>
          <p:cNvSpPr>
            <a:spLocks noGrp="1" noRot="1" noChangeAspect="1" noChangeArrowheads="1" noTextEdit="1"/>
          </p:cNvSpPr>
          <p:nvPr>
            <p:ph type="sldImg" idx="4294967295"/>
          </p:nvPr>
        </p:nvSpPr>
        <p:spPr>
          <a:ln/>
        </p:spPr>
      </p:sp>
      <p:sp>
        <p:nvSpPr>
          <p:cNvPr id="13199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3FFEF8-301F-427C-9B26-3547DF31958B}"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321986" name="Rectangle 2"/>
          <p:cNvSpPr>
            <a:spLocks noGrp="1" noRot="1" noChangeAspect="1" noChangeArrowheads="1" noTextEdit="1"/>
          </p:cNvSpPr>
          <p:nvPr>
            <p:ph type="sldImg" idx="4294967295"/>
          </p:nvPr>
        </p:nvSpPr>
        <p:spPr>
          <a:ln/>
        </p:spPr>
      </p:sp>
      <p:sp>
        <p:nvSpPr>
          <p:cNvPr id="13219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A696B-B36C-412E-BE18-9C45068BB8C4}"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324034" name="Rectangle 2"/>
          <p:cNvSpPr>
            <a:spLocks noGrp="1" noRot="1" noChangeAspect="1" noChangeArrowheads="1" noTextEdit="1"/>
          </p:cNvSpPr>
          <p:nvPr>
            <p:ph type="sldImg" idx="4294967295"/>
          </p:nvPr>
        </p:nvSpPr>
        <p:spPr>
          <a:ln/>
        </p:spPr>
      </p:sp>
      <p:sp>
        <p:nvSpPr>
          <p:cNvPr id="13240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6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CA5767-FE09-4F6A-8B28-3CDBE9F80576}"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326082" name="Rectangle 2"/>
          <p:cNvSpPr>
            <a:spLocks noGrp="1" noRot="1" noChangeAspect="1" noChangeArrowheads="1" noTextEdit="1"/>
          </p:cNvSpPr>
          <p:nvPr>
            <p:ph type="sldImg" idx="4294967295"/>
          </p:nvPr>
        </p:nvSpPr>
        <p:spPr>
          <a:ln/>
        </p:spPr>
      </p:sp>
      <p:sp>
        <p:nvSpPr>
          <p:cNvPr id="13260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8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999830-37C1-4940-BE54-52372CB3207A}"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328130" name="Rectangle 2"/>
          <p:cNvSpPr>
            <a:spLocks noGrp="1" noRot="1" noChangeAspect="1" noChangeArrowheads="1" noTextEdit="1"/>
          </p:cNvSpPr>
          <p:nvPr>
            <p:ph type="sldImg" idx="4294967295"/>
          </p:nvPr>
        </p:nvSpPr>
        <p:spPr>
          <a:ln/>
        </p:spPr>
      </p:sp>
      <p:sp>
        <p:nvSpPr>
          <p:cNvPr id="13281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0FD1277-462D-4C34-8C30-FDCCA154AF23}"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330178" name="Rectangle 2"/>
          <p:cNvSpPr>
            <a:spLocks noGrp="1" noRot="1" noChangeAspect="1" noChangeArrowheads="1" noTextEdit="1"/>
          </p:cNvSpPr>
          <p:nvPr>
            <p:ph type="sldImg" idx="4294967295"/>
          </p:nvPr>
        </p:nvSpPr>
        <p:spPr>
          <a:ln/>
        </p:spPr>
      </p:sp>
      <p:sp>
        <p:nvSpPr>
          <p:cNvPr id="13301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4D75A1-44CC-49D8-AABE-50F0F732329D}"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1333250" name="Rectangle 2"/>
          <p:cNvSpPr>
            <a:spLocks noGrp="1" noRot="1" noChangeAspect="1" noChangeArrowheads="1" noTextEdit="1"/>
          </p:cNvSpPr>
          <p:nvPr>
            <p:ph type="sldImg" idx="4294967295"/>
          </p:nvPr>
        </p:nvSpPr>
        <p:spPr>
          <a:ln/>
        </p:spPr>
      </p:sp>
      <p:sp>
        <p:nvSpPr>
          <p:cNvPr id="1333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F9E303-95D1-41E0-B083-122A84DCA430}"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1335298" name="Rectangle 2"/>
          <p:cNvSpPr>
            <a:spLocks noGrp="1" noRot="1" noChangeAspect="1" noChangeArrowheads="1" noTextEdit="1"/>
          </p:cNvSpPr>
          <p:nvPr>
            <p:ph type="sldImg" idx="4294967295"/>
          </p:nvPr>
        </p:nvSpPr>
        <p:spPr>
          <a:ln/>
        </p:spPr>
      </p:sp>
      <p:sp>
        <p:nvSpPr>
          <p:cNvPr id="1335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D742A9-3BC3-4572-8560-725945E5534B}"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1337346" name="Rectangle 2"/>
          <p:cNvSpPr>
            <a:spLocks noGrp="1" noRot="1" noChangeAspect="1" noChangeArrowheads="1" noTextEdit="1"/>
          </p:cNvSpPr>
          <p:nvPr>
            <p:ph type="sldImg" idx="4294967295"/>
          </p:nvPr>
        </p:nvSpPr>
        <p:spPr>
          <a:ln/>
        </p:spPr>
      </p:sp>
      <p:sp>
        <p:nvSpPr>
          <p:cNvPr id="1337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30E549-753C-4A4B-8B5F-689393DD8A6F}"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1339394" name="Rectangle 2"/>
          <p:cNvSpPr>
            <a:spLocks noGrp="1" noRot="1" noChangeAspect="1" noChangeArrowheads="1" noTextEdit="1"/>
          </p:cNvSpPr>
          <p:nvPr>
            <p:ph type="sldImg" idx="4294967295"/>
          </p:nvPr>
        </p:nvSpPr>
        <p:spPr>
          <a:ln/>
        </p:spPr>
      </p:sp>
      <p:sp>
        <p:nvSpPr>
          <p:cNvPr id="1339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9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8EEA35-1BA2-436C-97F5-1AA611A22E33}"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1349634" name="Rectangle 2"/>
          <p:cNvSpPr>
            <a:spLocks noGrp="1" noRot="1" noChangeAspect="1" noChangeArrowheads="1" noTextEdit="1"/>
          </p:cNvSpPr>
          <p:nvPr>
            <p:ph type="sldImg" idx="4294967295"/>
          </p:nvPr>
        </p:nvSpPr>
        <p:spPr>
          <a:ln/>
        </p:spPr>
      </p:sp>
      <p:sp>
        <p:nvSpPr>
          <p:cNvPr id="1349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A51332-89A3-45DF-8E8A-418B6BCDB76F}"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1341442" name="Rectangle 2"/>
          <p:cNvSpPr>
            <a:spLocks noGrp="1" noRot="1" noChangeAspect="1" noChangeArrowheads="1" noTextEdit="1"/>
          </p:cNvSpPr>
          <p:nvPr>
            <p:ph type="sldImg" idx="4294967295"/>
          </p:nvPr>
        </p:nvSpPr>
        <p:spPr>
          <a:ln/>
        </p:spPr>
      </p:sp>
      <p:sp>
        <p:nvSpPr>
          <p:cNvPr id="1341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3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8CC121-08C6-48C5-AC85-BF7A202EEBE8}"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1343490" name="Rectangle 2"/>
          <p:cNvSpPr>
            <a:spLocks noGrp="1" noRot="1" noChangeAspect="1" noChangeArrowheads="1" noTextEdit="1"/>
          </p:cNvSpPr>
          <p:nvPr>
            <p:ph type="sldImg" idx="4294967295"/>
          </p:nvPr>
        </p:nvSpPr>
        <p:spPr>
          <a:ln/>
        </p:spPr>
      </p:sp>
      <p:sp>
        <p:nvSpPr>
          <p:cNvPr id="1343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CCB4AD-7411-411D-B8EE-514FD89D74A9}"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1345538" name="Rectangle 2"/>
          <p:cNvSpPr>
            <a:spLocks noGrp="1" noRot="1" noChangeAspect="1" noChangeArrowheads="1" noTextEdit="1"/>
          </p:cNvSpPr>
          <p:nvPr>
            <p:ph type="sldImg" idx="4294967295"/>
          </p:nvPr>
        </p:nvSpPr>
        <p:spPr>
          <a:ln/>
        </p:spPr>
      </p:sp>
      <p:sp>
        <p:nvSpPr>
          <p:cNvPr id="1345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7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CE8802-DE66-46BA-A633-C4CA1DFBEF28}"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1347586" name="Rectangle 2"/>
          <p:cNvSpPr>
            <a:spLocks noGrp="1" noRot="1" noChangeAspect="1" noChangeArrowheads="1" noTextEdit="1"/>
          </p:cNvSpPr>
          <p:nvPr>
            <p:ph type="sldImg" idx="4294967295"/>
          </p:nvPr>
        </p:nvSpPr>
        <p:spPr>
          <a:ln/>
        </p:spPr>
      </p:sp>
      <p:sp>
        <p:nvSpPr>
          <p:cNvPr id="1347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3CBF4AE-CA48-4D1F-B61C-82C1442EF7FF}" type="slidenum">
              <a:rPr lang="en-US" altLang="zh-CN" smtClean="0"/>
              <a:pPr/>
              <a:t>36</a:t>
            </a:fld>
            <a:endParaRPr lang="en-US" altLang="zh-CN" smtClean="0"/>
          </a:p>
        </p:txBody>
      </p:sp>
      <p:sp>
        <p:nvSpPr>
          <p:cNvPr id="1351682" name="Rectangle 2"/>
          <p:cNvSpPr>
            <a:spLocks noGrp="1" noRot="1" noChangeAspect="1" noChangeArrowheads="1" noTextEdit="1"/>
          </p:cNvSpPr>
          <p:nvPr>
            <p:ph type="sldImg" idx="4294967295"/>
          </p:nvPr>
        </p:nvSpPr>
        <p:spPr>
          <a:ln/>
        </p:spPr>
      </p:sp>
      <p:sp>
        <p:nvSpPr>
          <p:cNvPr id="1351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A17D926-E0C1-4C0D-8F9F-37857FD913F9}" type="slidenum">
              <a:rPr lang="en-US" altLang="zh-CN" smtClean="0"/>
              <a:pPr/>
              <a:t>37</a:t>
            </a:fld>
            <a:endParaRPr lang="en-US" altLang="zh-CN" smtClean="0"/>
          </a:p>
        </p:txBody>
      </p:sp>
      <p:sp>
        <p:nvSpPr>
          <p:cNvPr id="1353730" name="Rectangle 2"/>
          <p:cNvSpPr>
            <a:spLocks noGrp="1" noRot="1" noChangeAspect="1" noChangeArrowheads="1" noTextEdit="1"/>
          </p:cNvSpPr>
          <p:nvPr>
            <p:ph type="sldImg" idx="4294967295"/>
          </p:nvPr>
        </p:nvSpPr>
        <p:spPr>
          <a:ln/>
        </p:spPr>
      </p:sp>
      <p:sp>
        <p:nvSpPr>
          <p:cNvPr id="1353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34CDA7-056B-4376-9D6F-DEDC86D02818}"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1355778" name="Rectangle 2"/>
          <p:cNvSpPr>
            <a:spLocks noGrp="1" noRot="1" noChangeAspect="1" noChangeArrowheads="1" noTextEdit="1"/>
          </p:cNvSpPr>
          <p:nvPr>
            <p:ph type="sldImg" idx="4294967295"/>
          </p:nvPr>
        </p:nvSpPr>
        <p:spPr>
          <a:ln/>
        </p:spPr>
      </p:sp>
      <p:sp>
        <p:nvSpPr>
          <p:cNvPr id="1355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B42F20-F3C5-4A78-AD2A-F753E9DDCA73}"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1357826" name="Rectangle 2"/>
          <p:cNvSpPr>
            <a:spLocks noGrp="1" noRot="1" noChangeAspect="1" noChangeArrowheads="1" noTextEdit="1"/>
          </p:cNvSpPr>
          <p:nvPr>
            <p:ph type="sldImg" idx="4294967295"/>
          </p:nvPr>
        </p:nvSpPr>
        <p:spPr>
          <a:ln/>
        </p:spPr>
      </p:sp>
      <p:sp>
        <p:nvSpPr>
          <p:cNvPr id="1357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7A37E8-65BE-4A2C-A6F3-C347BE4C6A9C}"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1359874" name="Rectangle 2"/>
          <p:cNvSpPr>
            <a:spLocks noGrp="1" noRot="1" noChangeAspect="1" noChangeArrowheads="1" noTextEdit="1"/>
          </p:cNvSpPr>
          <p:nvPr>
            <p:ph type="sldImg" idx="4294967295"/>
          </p:nvPr>
        </p:nvSpPr>
        <p:spPr>
          <a:ln/>
        </p:spPr>
      </p:sp>
      <p:sp>
        <p:nvSpPr>
          <p:cNvPr id="1359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0DE0E8-45CF-4F26-9CC7-B6C1DC81CA3E}"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1361922" name="Rectangle 2"/>
          <p:cNvSpPr>
            <a:spLocks noGrp="1" noRot="1" noChangeAspect="1" noChangeArrowheads="1" noTextEdit="1"/>
          </p:cNvSpPr>
          <p:nvPr>
            <p:ph type="sldImg" idx="4294967295"/>
          </p:nvPr>
        </p:nvSpPr>
        <p:spPr>
          <a:ln/>
        </p:spPr>
      </p:sp>
      <p:sp>
        <p:nvSpPr>
          <p:cNvPr id="1361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C9D6519-2759-4D09-AA96-46CDDE20F07C}"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1363970" name="Rectangle 2"/>
          <p:cNvSpPr>
            <a:spLocks noGrp="1" noRot="1" noChangeAspect="1" noChangeArrowheads="1" noTextEdit="1"/>
          </p:cNvSpPr>
          <p:nvPr>
            <p:ph type="sldImg" idx="4294967295"/>
          </p:nvPr>
        </p:nvSpPr>
        <p:spPr>
          <a:ln/>
        </p:spPr>
      </p:sp>
      <p:sp>
        <p:nvSpPr>
          <p:cNvPr id="1363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A6980B-7F84-4023-9C1C-ED39A0A21494}"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1366018" name="Rectangle 2"/>
          <p:cNvSpPr>
            <a:spLocks noGrp="1" noRot="1" noChangeAspect="1" noChangeArrowheads="1" noTextEdit="1"/>
          </p:cNvSpPr>
          <p:nvPr>
            <p:ph type="sldImg" idx="4294967295"/>
          </p:nvPr>
        </p:nvSpPr>
        <p:spPr>
          <a:ln/>
        </p:spPr>
      </p:sp>
      <p:sp>
        <p:nvSpPr>
          <p:cNvPr id="1366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9A9446-7D64-446A-8FC5-4EE6F53D0676}"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1368066" name="Rectangle 2"/>
          <p:cNvSpPr>
            <a:spLocks noGrp="1" noRot="1" noChangeAspect="1" noChangeArrowheads="1" noTextEdit="1"/>
          </p:cNvSpPr>
          <p:nvPr>
            <p:ph type="sldImg" idx="4294967295"/>
          </p:nvPr>
        </p:nvSpPr>
        <p:spPr>
          <a:ln/>
        </p:spPr>
      </p:sp>
      <p:sp>
        <p:nvSpPr>
          <p:cNvPr id="1368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0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F18C8B-822A-4D28-AE75-6188A9B77027}"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1370114" name="Rectangle 2"/>
          <p:cNvSpPr>
            <a:spLocks noGrp="1" noRot="1" noChangeAspect="1" noChangeArrowheads="1" noTextEdit="1"/>
          </p:cNvSpPr>
          <p:nvPr>
            <p:ph type="sldImg" idx="4294967295"/>
          </p:nvPr>
        </p:nvSpPr>
        <p:spPr>
          <a:ln/>
        </p:spPr>
      </p:sp>
      <p:sp>
        <p:nvSpPr>
          <p:cNvPr id="1370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CFAF87-00D0-4F19-B412-58716867C036}"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1372162" name="Rectangle 2"/>
          <p:cNvSpPr>
            <a:spLocks noGrp="1" noRot="1" noChangeAspect="1" noChangeArrowheads="1" noTextEdit="1"/>
          </p:cNvSpPr>
          <p:nvPr>
            <p:ph type="sldImg" idx="4294967295"/>
          </p:nvPr>
        </p:nvSpPr>
        <p:spPr>
          <a:ln/>
        </p:spPr>
      </p:sp>
      <p:sp>
        <p:nvSpPr>
          <p:cNvPr id="1372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7B1714-A00B-4EF2-A63B-5F6975812D61}"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1375234" name="Rectangle 2"/>
          <p:cNvSpPr>
            <a:spLocks noGrp="1" noRot="1" noChangeAspect="1" noChangeArrowheads="1" noTextEdit="1"/>
          </p:cNvSpPr>
          <p:nvPr>
            <p:ph type="sldImg" idx="4294967295"/>
          </p:nvPr>
        </p:nvSpPr>
        <p:spPr>
          <a:ln/>
        </p:spPr>
      </p:sp>
      <p:sp>
        <p:nvSpPr>
          <p:cNvPr id="13752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169" name="Rectangle 2"/>
          <p:cNvSpPr>
            <a:spLocks noGrp="1" noChangeArrowheads="1"/>
          </p:cNvSpPr>
          <p:nvPr>
            <p:ph type="ctrTitle"/>
          </p:nvPr>
        </p:nvSpPr>
        <p:spPr/>
        <p:txBody>
          <a:bodyPr/>
          <a:lstStyle/>
          <a:p>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5 </a:t>
            </a:r>
            <a:r>
              <a:rPr lang="zh-CN" altLang="en-US" smtClean="0">
                <a:latin typeface="Arial" panose="020B0604020202020204" pitchFamily="34" charset="0"/>
                <a:ea typeface="黑体" panose="02010609060101010101" pitchFamily="49" charset="-122"/>
              </a:rPr>
              <a:t>章  运输层</a:t>
            </a:r>
          </a:p>
        </p:txBody>
      </p:sp>
      <p:sp>
        <p:nvSpPr>
          <p:cNvPr id="1287170"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5.1-5.3</a:t>
            </a:r>
            <a:endParaRPr lang="zh-CN" altLang="en-US" dirty="0" smtClean="0">
              <a:latin typeface="黑体" panose="02010609060101010101" pitchFamily="49" charset="-122"/>
              <a:ea typeface="宋体" panose="02010600030101010101" pitchFamily="2" charset="-122"/>
            </a:endParaRPr>
          </a:p>
        </p:txBody>
      </p:sp>
      <p:sp>
        <p:nvSpPr>
          <p:cNvPr id="1287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45DFF6-F5DA-465C-B287-F18645B4BE58}" type="slidenum">
              <a:rPr lang="zh-CN" altLang="en-US" smtClean="0"/>
              <a:pPr eaLnBrk="1" hangingPunct="1"/>
              <a:t>1</a:t>
            </a:fld>
            <a:endParaRPr lang="en-US" altLang="zh-CN" smtClean="0"/>
          </a:p>
        </p:txBody>
      </p:sp>
      <p:sp>
        <p:nvSpPr>
          <p:cNvPr id="1287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7"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5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运输</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1289218"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5.1  </a:t>
            </a:r>
            <a:r>
              <a:rPr lang="zh-CN" altLang="zh-CN" sz="2800" dirty="0" smtClean="0">
                <a:ea typeface="黑体" panose="02010609060101010101" pitchFamily="49" charset="-122"/>
              </a:rPr>
              <a:t>运输层协议概述</a:t>
            </a:r>
          </a:p>
          <a:p>
            <a:r>
              <a:rPr lang="en-US" altLang="zh-CN" sz="2800" dirty="0" smtClean="0">
                <a:ea typeface="黑体" panose="02010609060101010101" pitchFamily="49" charset="-122"/>
              </a:rPr>
              <a:t>5.2  </a:t>
            </a:r>
            <a:r>
              <a:rPr lang="zh-CN" altLang="zh-CN" sz="2800" dirty="0" smtClean="0">
                <a:ea typeface="黑体" panose="02010609060101010101" pitchFamily="49" charset="-122"/>
              </a:rPr>
              <a:t>用户数据报协议</a:t>
            </a:r>
            <a:r>
              <a:rPr lang="en-US" altLang="zh-CN" sz="2800" dirty="0" smtClean="0">
                <a:ea typeface="黑体" panose="02010609060101010101" pitchFamily="49" charset="-122"/>
              </a:rPr>
              <a:t> UDP </a:t>
            </a:r>
            <a:endParaRPr lang="zh-CN" altLang="zh-CN" sz="2800" dirty="0" smtClean="0">
              <a:ea typeface="黑体" panose="02010609060101010101" pitchFamily="49" charset="-122"/>
            </a:endParaRPr>
          </a:p>
          <a:p>
            <a:r>
              <a:rPr lang="en-US" altLang="zh-CN" sz="2800" dirty="0" smtClean="0">
                <a:ea typeface="黑体" panose="02010609060101010101" pitchFamily="49" charset="-122"/>
              </a:rPr>
              <a:t>5.3  </a:t>
            </a:r>
            <a:r>
              <a:rPr lang="zh-CN" altLang="zh-CN" sz="2800" dirty="0" smtClean="0">
                <a:ea typeface="黑体" panose="02010609060101010101" pitchFamily="49" charset="-122"/>
              </a:rPr>
              <a:t>传输控制协议</a:t>
            </a:r>
            <a:r>
              <a:rPr lang="en-US" altLang="zh-CN" sz="2800" dirty="0" smtClean="0">
                <a:ea typeface="黑体" panose="02010609060101010101" pitchFamily="49" charset="-122"/>
              </a:rPr>
              <a:t> TCP </a:t>
            </a:r>
            <a:r>
              <a:rPr lang="zh-CN" altLang="zh-CN" sz="2800" smtClean="0">
                <a:ea typeface="黑体" panose="02010609060101010101" pitchFamily="49" charset="-122"/>
              </a:rPr>
              <a:t>概述</a:t>
            </a:r>
            <a:endParaRPr lang="zh-CN" altLang="zh-CN" sz="2800" dirty="0" smtClean="0">
              <a:ea typeface="黑体" panose="02010609060101010101" pitchFamily="49" charset="-122"/>
            </a:endParaRPr>
          </a:p>
        </p:txBody>
      </p:sp>
      <p:sp>
        <p:nvSpPr>
          <p:cNvPr id="12892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9FFB69-87C2-430A-9CCD-5067B2933901}" type="slidenum">
              <a:rPr lang="zh-CN" altLang="en-US" smtClean="0"/>
              <a:pPr eaLnBrk="1" hangingPunct="1"/>
              <a:t>2</a:t>
            </a:fld>
            <a:endParaRPr lang="en-US" altLang="zh-CN" smtClean="0"/>
          </a:p>
        </p:txBody>
      </p:sp>
      <p:sp>
        <p:nvSpPr>
          <p:cNvPr id="12892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4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  </a:t>
            </a:r>
            <a:r>
              <a:rPr lang="zh-CN" altLang="zh-CN" smtClean="0">
                <a:ea typeface="黑体" panose="02010609060101010101" pitchFamily="49" charset="-122"/>
              </a:rPr>
              <a:t>运输层协议概述</a:t>
            </a:r>
          </a:p>
        </p:txBody>
      </p:sp>
      <p:sp>
        <p:nvSpPr>
          <p:cNvPr id="129024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5.1.1  </a:t>
            </a:r>
            <a:r>
              <a:rPr lang="zh-CN" altLang="zh-CN" smtClean="0">
                <a:ea typeface="黑体" panose="02010609060101010101" pitchFamily="49" charset="-122"/>
              </a:rPr>
              <a:t>进程之间的通信</a:t>
            </a:r>
          </a:p>
          <a:p>
            <a:r>
              <a:rPr lang="en-US" altLang="zh-CN" smtClean="0">
                <a:ea typeface="黑体" panose="02010609060101010101" pitchFamily="49" charset="-122"/>
              </a:rPr>
              <a:t>5.1.2  </a:t>
            </a:r>
            <a:r>
              <a:rPr lang="zh-CN" altLang="zh-CN" smtClean="0">
                <a:ea typeface="黑体" panose="02010609060101010101" pitchFamily="49" charset="-122"/>
              </a:rPr>
              <a:t>运输层的两个主要协议</a:t>
            </a:r>
          </a:p>
          <a:p>
            <a:r>
              <a:rPr lang="en-US" altLang="zh-CN" smtClean="0">
                <a:ea typeface="黑体" panose="02010609060101010101" pitchFamily="49" charset="-122"/>
              </a:rPr>
              <a:t>5.1.3  </a:t>
            </a:r>
            <a:r>
              <a:rPr lang="zh-CN" altLang="zh-CN" smtClean="0">
                <a:ea typeface="黑体" panose="02010609060101010101" pitchFamily="49" charset="-122"/>
              </a:rPr>
              <a:t>运输层的端口</a:t>
            </a:r>
          </a:p>
        </p:txBody>
      </p:sp>
      <p:sp>
        <p:nvSpPr>
          <p:cNvPr id="12902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80523A-D638-4FA1-B3E1-9E724A8CCF3B}" type="slidenum">
              <a:rPr lang="zh-CN" altLang="en-US" smtClean="0"/>
              <a:pPr eaLnBrk="1" hangingPunct="1"/>
              <a:t>3</a:t>
            </a:fld>
            <a:endParaRPr lang="en-US" altLang="zh-CN" smtClean="0"/>
          </a:p>
        </p:txBody>
      </p:sp>
      <p:sp>
        <p:nvSpPr>
          <p:cNvPr id="12902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5.1.1  </a:t>
            </a:r>
            <a:r>
              <a:rPr lang="zh-CN" altLang="zh-CN" smtClean="0">
                <a:ea typeface="黑体" panose="02010609060101010101" pitchFamily="49" charset="-122"/>
              </a:rPr>
              <a:t>进程之间的通信</a:t>
            </a:r>
          </a:p>
        </p:txBody>
      </p:sp>
      <p:sp>
        <p:nvSpPr>
          <p:cNvPr id="1292290"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从通信和信息处理的角度看，运输层向它上面的应用层提供通信服务，</a:t>
            </a:r>
            <a:r>
              <a:rPr lang="zh-CN" altLang="zh-CN" smtClean="0">
                <a:solidFill>
                  <a:srgbClr val="FF0000"/>
                </a:solidFill>
                <a:ea typeface="黑体" panose="02010609060101010101" pitchFamily="49" charset="-122"/>
              </a:rPr>
              <a:t>它属于面向通信部分的最高层，同时也是用户功能中的最低层。</a:t>
            </a:r>
            <a:endParaRPr lang="en-US" altLang="zh-CN" smtClean="0">
              <a:solidFill>
                <a:srgbClr val="FF0000"/>
              </a:solidFill>
              <a:ea typeface="黑体" panose="02010609060101010101" pitchFamily="49" charset="-122"/>
            </a:endParaRPr>
          </a:p>
          <a:p>
            <a:r>
              <a:rPr lang="zh-CN" altLang="en-US" smtClean="0">
                <a:ea typeface="黑体" panose="02010609060101010101" pitchFamily="49" charset="-122"/>
              </a:rPr>
              <a:t>当网络的边缘部分中的两个主机使用网络的核心部分的功能进行端到端的通信时，</a:t>
            </a:r>
            <a:r>
              <a:rPr lang="zh-CN" altLang="en-US" smtClean="0">
                <a:solidFill>
                  <a:srgbClr val="FF0000"/>
                </a:solidFill>
                <a:ea typeface="黑体" panose="02010609060101010101" pitchFamily="49" charset="-122"/>
              </a:rPr>
              <a:t>只有位于网络边缘部分的主机的协议栈才有运输层，</a:t>
            </a:r>
            <a:r>
              <a:rPr lang="zh-CN" altLang="en-US" smtClean="0">
                <a:ea typeface="黑体" panose="02010609060101010101" pitchFamily="49" charset="-122"/>
              </a:rPr>
              <a:t>而网络核心部分中的路由器在转发分组时都只用到下三层的功能。 </a:t>
            </a:r>
            <a:endParaRPr lang="en-US" altLang="zh-CN" smtClean="0">
              <a:solidFill>
                <a:srgbClr val="FF0000"/>
              </a:solidFill>
              <a:ea typeface="黑体" panose="02010609060101010101" pitchFamily="49" charset="-122"/>
            </a:endParaRPr>
          </a:p>
          <a:p>
            <a:endParaRPr lang="zh-CN" altLang="zh-CN" smtClean="0">
              <a:ea typeface="黑体" panose="02010609060101010101" pitchFamily="49" charset="-122"/>
            </a:endParaRPr>
          </a:p>
        </p:txBody>
      </p:sp>
      <p:sp>
        <p:nvSpPr>
          <p:cNvPr id="12922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ADC032-004E-436E-B7C8-14D8A3EBF53A}" type="slidenum">
              <a:rPr lang="zh-CN" altLang="en-US" smtClean="0"/>
              <a:pPr eaLnBrk="1" hangingPunct="1"/>
              <a:t>4</a:t>
            </a:fld>
            <a:endParaRPr lang="en-US" altLang="zh-CN" smtClean="0"/>
          </a:p>
        </p:txBody>
      </p:sp>
      <p:sp>
        <p:nvSpPr>
          <p:cNvPr id="12922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337" name="Rectangle 314"/>
          <p:cNvSpPr>
            <a:spLocks noChangeArrowheads="1"/>
          </p:cNvSpPr>
          <p:nvPr/>
        </p:nvSpPr>
        <p:spPr bwMode="auto">
          <a:xfrm>
            <a:off x="309563" y="1349375"/>
            <a:ext cx="1571625" cy="2538413"/>
          </a:xfrm>
          <a:prstGeom prst="rect">
            <a:avLst/>
          </a:prstGeom>
          <a:solidFill>
            <a:srgbClr val="FFFF99"/>
          </a:solidFill>
          <a:ln w="1270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38" name="Rectangle 324"/>
          <p:cNvSpPr>
            <a:spLocks noChangeArrowheads="1"/>
          </p:cNvSpPr>
          <p:nvPr/>
        </p:nvSpPr>
        <p:spPr bwMode="auto">
          <a:xfrm>
            <a:off x="8162925" y="1349375"/>
            <a:ext cx="1573213" cy="2538413"/>
          </a:xfrm>
          <a:prstGeom prst="rect">
            <a:avLst/>
          </a:prstGeom>
          <a:solidFill>
            <a:srgbClr val="FFFF99"/>
          </a:solidFill>
          <a:ln w="1270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39" name="Rectangle 313"/>
          <p:cNvSpPr>
            <a:spLocks noChangeArrowheads="1"/>
          </p:cNvSpPr>
          <p:nvPr/>
        </p:nvSpPr>
        <p:spPr bwMode="auto">
          <a:xfrm>
            <a:off x="328613" y="2459038"/>
            <a:ext cx="9412287" cy="469900"/>
          </a:xfrm>
          <a:prstGeom prst="rect">
            <a:avLst/>
          </a:prstGeom>
          <a:solidFill>
            <a:srgbClr val="66FFFF">
              <a:alpha val="6784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0" name="Rectangle 2"/>
          <p:cNvSpPr>
            <a:spLocks noGrp="1" noChangeArrowheads="1"/>
          </p:cNvSpPr>
          <p:nvPr>
            <p:ph type="title"/>
          </p:nvPr>
        </p:nvSpPr>
        <p:spPr/>
        <p:txBody>
          <a:bodyPr/>
          <a:lstStyle/>
          <a:p>
            <a:pPr algn="ctr"/>
            <a:r>
              <a:rPr lang="zh-CN" altLang="en-US" smtClean="0">
                <a:ea typeface="黑体" panose="02010609060101010101" pitchFamily="49" charset="-122"/>
              </a:rPr>
              <a:t>运输层的作用</a:t>
            </a:r>
          </a:p>
        </p:txBody>
      </p:sp>
      <p:sp>
        <p:nvSpPr>
          <p:cNvPr id="1294341" name="Line 315"/>
          <p:cNvSpPr>
            <a:spLocks noChangeShapeType="1"/>
          </p:cNvSpPr>
          <p:nvPr/>
        </p:nvSpPr>
        <p:spPr bwMode="auto">
          <a:xfrm>
            <a:off x="1870075" y="4984750"/>
            <a:ext cx="6272213"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2" name="Line 316"/>
          <p:cNvSpPr>
            <a:spLocks noChangeShapeType="1"/>
          </p:cNvSpPr>
          <p:nvPr/>
        </p:nvSpPr>
        <p:spPr bwMode="auto">
          <a:xfrm>
            <a:off x="309563" y="2935288"/>
            <a:ext cx="15684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3" name="Line 317"/>
          <p:cNvSpPr>
            <a:spLocks noChangeShapeType="1"/>
          </p:cNvSpPr>
          <p:nvPr/>
        </p:nvSpPr>
        <p:spPr bwMode="auto">
          <a:xfrm>
            <a:off x="309563" y="3414713"/>
            <a:ext cx="15684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4" name="Rectangle 318"/>
          <p:cNvSpPr>
            <a:spLocks noChangeArrowheads="1"/>
          </p:cNvSpPr>
          <p:nvPr/>
        </p:nvSpPr>
        <p:spPr bwMode="auto">
          <a:xfrm>
            <a:off x="317500" y="2011363"/>
            <a:ext cx="1558925" cy="447675"/>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5" name="Rectangle 319"/>
          <p:cNvSpPr>
            <a:spLocks noChangeArrowheads="1"/>
          </p:cNvSpPr>
          <p:nvPr/>
        </p:nvSpPr>
        <p:spPr bwMode="auto">
          <a:xfrm>
            <a:off x="273050" y="1470025"/>
            <a:ext cx="325438"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zh-CN" sz="2000" b="1">
                <a:solidFill>
                  <a:srgbClr val="000099"/>
                </a:solidFill>
                <a:ea typeface="黑体" panose="02010609060101010101" pitchFamily="49" charset="-122"/>
              </a:rPr>
              <a:t>5</a:t>
            </a:r>
          </a:p>
          <a:p>
            <a:pPr>
              <a:lnSpc>
                <a:spcPct val="150000"/>
              </a:lnSpc>
            </a:pPr>
            <a:r>
              <a:rPr lang="en-US" altLang="zh-CN" sz="2000" b="1">
                <a:solidFill>
                  <a:srgbClr val="000099"/>
                </a:solidFill>
                <a:ea typeface="黑体" panose="02010609060101010101" pitchFamily="49" charset="-122"/>
              </a:rPr>
              <a:t>4</a:t>
            </a:r>
          </a:p>
          <a:p>
            <a:pPr>
              <a:lnSpc>
                <a:spcPct val="150000"/>
              </a:lnSpc>
            </a:pPr>
            <a:r>
              <a:rPr lang="en-US" altLang="zh-CN" sz="2000" b="1">
                <a:solidFill>
                  <a:srgbClr val="000099"/>
                </a:solidFill>
                <a:ea typeface="黑体" panose="02010609060101010101" pitchFamily="49" charset="-122"/>
              </a:rPr>
              <a:t>3</a:t>
            </a:r>
          </a:p>
          <a:p>
            <a:pPr>
              <a:lnSpc>
                <a:spcPct val="150000"/>
              </a:lnSpc>
            </a:pPr>
            <a:r>
              <a:rPr lang="en-US" altLang="zh-CN" sz="2000" b="1">
                <a:solidFill>
                  <a:srgbClr val="000099"/>
                </a:solidFill>
                <a:ea typeface="黑体" panose="02010609060101010101" pitchFamily="49" charset="-122"/>
              </a:rPr>
              <a:t>2</a:t>
            </a:r>
          </a:p>
          <a:p>
            <a:pPr>
              <a:lnSpc>
                <a:spcPct val="150000"/>
              </a:lnSpc>
            </a:pPr>
            <a:r>
              <a:rPr lang="en-US" altLang="zh-CN" sz="2000" b="1">
                <a:solidFill>
                  <a:srgbClr val="000099"/>
                </a:solidFill>
                <a:ea typeface="黑体" panose="02010609060101010101" pitchFamily="49" charset="-122"/>
              </a:rPr>
              <a:t>1</a:t>
            </a:r>
          </a:p>
        </p:txBody>
      </p:sp>
      <p:grpSp>
        <p:nvGrpSpPr>
          <p:cNvPr id="1294346" name="Group 320"/>
          <p:cNvGrpSpPr>
            <a:grpSpLocks/>
          </p:cNvGrpSpPr>
          <p:nvPr/>
        </p:nvGrpSpPr>
        <p:grpSpPr bwMode="auto">
          <a:xfrm>
            <a:off x="3249613" y="2468563"/>
            <a:ext cx="1150937" cy="1419225"/>
            <a:chOff x="2017" y="1543"/>
            <a:chExt cx="619" cy="922"/>
          </a:xfrm>
        </p:grpSpPr>
        <p:sp>
          <p:nvSpPr>
            <p:cNvPr id="1294347" name="Rectangle 321"/>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8" name="Line 322"/>
            <p:cNvSpPr>
              <a:spLocks noChangeShapeType="1"/>
            </p:cNvSpPr>
            <p:nvPr/>
          </p:nvSpPr>
          <p:spPr bwMode="auto">
            <a:xfrm>
              <a:off x="2017" y="1845"/>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49" name="Line 323"/>
            <p:cNvSpPr>
              <a:spLocks noChangeShapeType="1"/>
            </p:cNvSpPr>
            <p:nvPr/>
          </p:nvSpPr>
          <p:spPr bwMode="auto">
            <a:xfrm>
              <a:off x="2017" y="2157"/>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294350" name="Line 325"/>
          <p:cNvSpPr>
            <a:spLocks noChangeShapeType="1"/>
          </p:cNvSpPr>
          <p:nvPr/>
        </p:nvSpPr>
        <p:spPr bwMode="auto">
          <a:xfrm>
            <a:off x="8162925" y="2935288"/>
            <a:ext cx="15716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1" name="Line 326"/>
          <p:cNvSpPr>
            <a:spLocks noChangeShapeType="1"/>
          </p:cNvSpPr>
          <p:nvPr/>
        </p:nvSpPr>
        <p:spPr bwMode="auto">
          <a:xfrm>
            <a:off x="8162925" y="3414713"/>
            <a:ext cx="15716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2" name="Rectangle 327"/>
          <p:cNvSpPr>
            <a:spLocks noChangeArrowheads="1"/>
          </p:cNvSpPr>
          <p:nvPr/>
        </p:nvSpPr>
        <p:spPr bwMode="auto">
          <a:xfrm>
            <a:off x="8167688" y="2011363"/>
            <a:ext cx="1568450" cy="447675"/>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1294353" name="Group 328"/>
          <p:cNvGrpSpPr>
            <a:grpSpLocks/>
          </p:cNvGrpSpPr>
          <p:nvPr/>
        </p:nvGrpSpPr>
        <p:grpSpPr bwMode="auto">
          <a:xfrm>
            <a:off x="5626100" y="2468563"/>
            <a:ext cx="1150938" cy="1419225"/>
            <a:chOff x="3295" y="1543"/>
            <a:chExt cx="619" cy="922"/>
          </a:xfrm>
        </p:grpSpPr>
        <p:sp>
          <p:nvSpPr>
            <p:cNvPr id="1294354" name="Rectangle 329"/>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5" name="Line 330"/>
            <p:cNvSpPr>
              <a:spLocks noChangeShapeType="1"/>
            </p:cNvSpPr>
            <p:nvPr/>
          </p:nvSpPr>
          <p:spPr bwMode="auto">
            <a:xfrm>
              <a:off x="3295" y="1845"/>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6" name="Line 331"/>
            <p:cNvSpPr>
              <a:spLocks noChangeShapeType="1"/>
            </p:cNvSpPr>
            <p:nvPr/>
          </p:nvSpPr>
          <p:spPr bwMode="auto">
            <a:xfrm>
              <a:off x="3295" y="2157"/>
              <a:ext cx="6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294357" name="Rectangle 332"/>
          <p:cNvSpPr>
            <a:spLocks noChangeArrowheads="1"/>
          </p:cNvSpPr>
          <p:nvPr/>
        </p:nvSpPr>
        <p:spPr bwMode="auto">
          <a:xfrm>
            <a:off x="2820988" y="1666875"/>
            <a:ext cx="44307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运输层提供应用进程</a:t>
            </a:r>
            <a:r>
              <a:rPr lang="zh-CN" altLang="zh-CN" sz="2000" b="1">
                <a:solidFill>
                  <a:srgbClr val="000099"/>
                </a:solidFill>
                <a:ea typeface="黑体" panose="02010609060101010101" pitchFamily="49" charset="-122"/>
              </a:rPr>
              <a:t>间的逻辑</a:t>
            </a:r>
            <a:r>
              <a:rPr lang="zh-CN" altLang="en-US" sz="2000" b="1">
                <a:solidFill>
                  <a:srgbClr val="000099"/>
                </a:solidFill>
                <a:ea typeface="黑体" panose="02010609060101010101" pitchFamily="49" charset="-122"/>
              </a:rPr>
              <a:t>通信</a:t>
            </a:r>
          </a:p>
        </p:txBody>
      </p:sp>
      <p:sp>
        <p:nvSpPr>
          <p:cNvPr id="1294358" name="Rectangle 333"/>
          <p:cNvSpPr>
            <a:spLocks noChangeArrowheads="1"/>
          </p:cNvSpPr>
          <p:nvPr/>
        </p:nvSpPr>
        <p:spPr bwMode="auto">
          <a:xfrm>
            <a:off x="309563" y="4516438"/>
            <a:ext cx="156845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59" name="Freeform 334"/>
          <p:cNvSpPr>
            <a:spLocks noChangeArrowheads="1"/>
          </p:cNvSpPr>
          <p:nvPr/>
        </p:nvSpPr>
        <p:spPr bwMode="auto">
          <a:xfrm>
            <a:off x="1171575" y="4810125"/>
            <a:ext cx="711200"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60" name="Freeform 335"/>
          <p:cNvSpPr>
            <a:spLocks noChangeArrowheads="1"/>
          </p:cNvSpPr>
          <p:nvPr/>
        </p:nvSpPr>
        <p:spPr bwMode="auto">
          <a:xfrm>
            <a:off x="1104900" y="4997450"/>
            <a:ext cx="771525"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61" name="Rectangle 336"/>
          <p:cNvSpPr>
            <a:spLocks noChangeArrowheads="1"/>
          </p:cNvSpPr>
          <p:nvPr/>
        </p:nvSpPr>
        <p:spPr bwMode="auto">
          <a:xfrm>
            <a:off x="560388" y="4149725"/>
            <a:ext cx="957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主机 </a:t>
            </a:r>
            <a:r>
              <a:rPr lang="en-US" altLang="zh-CN" sz="2000" b="1">
                <a:solidFill>
                  <a:srgbClr val="000099"/>
                </a:solidFill>
                <a:ea typeface="黑体" panose="02010609060101010101" pitchFamily="49" charset="-122"/>
              </a:rPr>
              <a:t>A</a:t>
            </a:r>
          </a:p>
        </p:txBody>
      </p:sp>
      <p:sp>
        <p:nvSpPr>
          <p:cNvPr id="1294362" name="Rectangle 337"/>
          <p:cNvSpPr>
            <a:spLocks noChangeArrowheads="1"/>
          </p:cNvSpPr>
          <p:nvPr/>
        </p:nvSpPr>
        <p:spPr bwMode="auto">
          <a:xfrm>
            <a:off x="8407400" y="4149725"/>
            <a:ext cx="955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主机 </a:t>
            </a:r>
            <a:r>
              <a:rPr lang="en-US" altLang="zh-CN" sz="2000" b="1">
                <a:solidFill>
                  <a:srgbClr val="000099"/>
                </a:solidFill>
                <a:ea typeface="黑体" panose="02010609060101010101" pitchFamily="49" charset="-122"/>
              </a:rPr>
              <a:t>B</a:t>
            </a:r>
          </a:p>
        </p:txBody>
      </p:sp>
      <p:sp>
        <p:nvSpPr>
          <p:cNvPr id="1294363" name="Freeform 338"/>
          <p:cNvSpPr>
            <a:spLocks noChangeArrowheads="1"/>
          </p:cNvSpPr>
          <p:nvPr/>
        </p:nvSpPr>
        <p:spPr bwMode="auto">
          <a:xfrm>
            <a:off x="1060450" y="2459038"/>
            <a:ext cx="7943850" cy="1617662"/>
          </a:xfrm>
          <a:custGeom>
            <a:avLst/>
            <a:gdLst>
              <a:gd name="T0" fmla="*/ 0 w 4272"/>
              <a:gd name="T1" fmla="*/ 0 h 1138"/>
              <a:gd name="T2" fmla="*/ 0 w 4272"/>
              <a:gd name="T3" fmla="*/ 996 h 1138"/>
              <a:gd name="T4" fmla="*/ 9 w 4272"/>
              <a:gd name="T5" fmla="*/ 1056 h 1138"/>
              <a:gd name="T6" fmla="*/ 36 w 4272"/>
              <a:gd name="T7" fmla="*/ 1094 h 1138"/>
              <a:gd name="T8" fmla="*/ 75 w 4272"/>
              <a:gd name="T9" fmla="*/ 1110 h 1138"/>
              <a:gd name="T10" fmla="*/ 127 w 4272"/>
              <a:gd name="T11" fmla="*/ 1116 h 1138"/>
              <a:gd name="T12" fmla="*/ 1211 w 4272"/>
              <a:gd name="T13" fmla="*/ 1116 h 1138"/>
              <a:gd name="T14" fmla="*/ 1250 w 4272"/>
              <a:gd name="T15" fmla="*/ 1116 h 1138"/>
              <a:gd name="T16" fmla="*/ 1287 w 4272"/>
              <a:gd name="T17" fmla="*/ 1100 h 1138"/>
              <a:gd name="T18" fmla="*/ 1305 w 4272"/>
              <a:gd name="T19" fmla="*/ 1056 h 1138"/>
              <a:gd name="T20" fmla="*/ 1308 w 4272"/>
              <a:gd name="T21" fmla="*/ 1022 h 1138"/>
              <a:gd name="T22" fmla="*/ 1308 w 4272"/>
              <a:gd name="T23" fmla="*/ 307 h 1138"/>
              <a:gd name="T24" fmla="*/ 1311 w 4272"/>
              <a:gd name="T25" fmla="*/ 261 h 1138"/>
              <a:gd name="T26" fmla="*/ 1376 w 4272"/>
              <a:gd name="T27" fmla="*/ 191 h 1138"/>
              <a:gd name="T28" fmla="*/ 1620 w 4272"/>
              <a:gd name="T29" fmla="*/ 191 h 1138"/>
              <a:gd name="T30" fmla="*/ 1676 w 4272"/>
              <a:gd name="T31" fmla="*/ 252 h 1138"/>
              <a:gd name="T32" fmla="*/ 1680 w 4272"/>
              <a:gd name="T33" fmla="*/ 280 h 1138"/>
              <a:gd name="T34" fmla="*/ 1680 w 4272"/>
              <a:gd name="T35" fmla="*/ 1014 h 1138"/>
              <a:gd name="T36" fmla="*/ 1683 w 4272"/>
              <a:gd name="T37" fmla="*/ 1047 h 1138"/>
              <a:gd name="T38" fmla="*/ 1701 w 4272"/>
              <a:gd name="T39" fmla="*/ 1100 h 1138"/>
              <a:gd name="T40" fmla="*/ 1755 w 4272"/>
              <a:gd name="T41" fmla="*/ 1116 h 1138"/>
              <a:gd name="T42" fmla="*/ 1808 w 4272"/>
              <a:gd name="T43" fmla="*/ 1116 h 1138"/>
              <a:gd name="T44" fmla="*/ 2486 w 4272"/>
              <a:gd name="T45" fmla="*/ 1116 h 1138"/>
              <a:gd name="T46" fmla="*/ 2564 w 4272"/>
              <a:gd name="T47" fmla="*/ 1116 h 1138"/>
              <a:gd name="T48" fmla="*/ 2600 w 4272"/>
              <a:gd name="T49" fmla="*/ 1091 h 1138"/>
              <a:gd name="T50" fmla="*/ 2608 w 4272"/>
              <a:gd name="T51" fmla="*/ 999 h 1138"/>
              <a:gd name="T52" fmla="*/ 2608 w 4272"/>
              <a:gd name="T53" fmla="*/ 264 h 1138"/>
              <a:gd name="T54" fmla="*/ 2616 w 4272"/>
              <a:gd name="T55" fmla="*/ 227 h 1138"/>
              <a:gd name="T56" fmla="*/ 2676 w 4272"/>
              <a:gd name="T57" fmla="*/ 191 h 1138"/>
              <a:gd name="T58" fmla="*/ 2868 w 4272"/>
              <a:gd name="T59" fmla="*/ 195 h 1138"/>
              <a:gd name="T60" fmla="*/ 2928 w 4272"/>
              <a:gd name="T61" fmla="*/ 251 h 1138"/>
              <a:gd name="T62" fmla="*/ 2928 w 4272"/>
              <a:gd name="T63" fmla="*/ 280 h 1138"/>
              <a:gd name="T64" fmla="*/ 2928 w 4272"/>
              <a:gd name="T65" fmla="*/ 1002 h 1138"/>
              <a:gd name="T66" fmla="*/ 2944 w 4272"/>
              <a:gd name="T67" fmla="*/ 1087 h 1138"/>
              <a:gd name="T68" fmla="*/ 3014 w 4272"/>
              <a:gd name="T69" fmla="*/ 1116 h 1138"/>
              <a:gd name="T70" fmla="*/ 3071 w 4272"/>
              <a:gd name="T71" fmla="*/ 1116 h 1138"/>
              <a:gd name="T72" fmla="*/ 4117 w 4272"/>
              <a:gd name="T73" fmla="*/ 1116 h 1138"/>
              <a:gd name="T74" fmla="*/ 4190 w 4272"/>
              <a:gd name="T75" fmla="*/ 1116 h 1138"/>
              <a:gd name="T76" fmla="*/ 4251 w 4272"/>
              <a:gd name="T77" fmla="*/ 1097 h 1138"/>
              <a:gd name="T78" fmla="*/ 4269 w 4272"/>
              <a:gd name="T79" fmla="*/ 1044 h 1138"/>
              <a:gd name="T80" fmla="*/ 4271 w 4272"/>
              <a:gd name="T81" fmla="*/ 994 h 1138"/>
              <a:gd name="T82" fmla="*/ 4272 w 4272"/>
              <a:gd name="T83" fmla="*/ 0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a:solidFill>
              <a:srgbClr val="FF0000"/>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64" name="Rectangle 339"/>
          <p:cNvSpPr>
            <a:spLocks noChangeArrowheads="1"/>
          </p:cNvSpPr>
          <p:nvPr/>
        </p:nvSpPr>
        <p:spPr bwMode="auto">
          <a:xfrm>
            <a:off x="2087563" y="1201738"/>
            <a:ext cx="1208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应用进程</a:t>
            </a:r>
          </a:p>
        </p:txBody>
      </p:sp>
      <p:sp>
        <p:nvSpPr>
          <p:cNvPr id="1294365" name="Freeform 340"/>
          <p:cNvSpPr>
            <a:spLocks noChangeArrowheads="1"/>
          </p:cNvSpPr>
          <p:nvPr/>
        </p:nvSpPr>
        <p:spPr bwMode="auto">
          <a:xfrm>
            <a:off x="7710488" y="1492250"/>
            <a:ext cx="582612" cy="161925"/>
          </a:xfrm>
          <a:custGeom>
            <a:avLst/>
            <a:gdLst>
              <a:gd name="T0" fmla="*/ 0 w 297"/>
              <a:gd name="T1" fmla="*/ 0 h 105"/>
              <a:gd name="T2" fmla="*/ 297 w 297"/>
              <a:gd name="T3" fmla="*/ 105 h 105"/>
            </a:gdLst>
            <a:ahLst/>
            <a:cxnLst>
              <a:cxn ang="0">
                <a:pos x="T0" y="T1"/>
              </a:cxn>
              <a:cxn ang="0">
                <a:pos x="T2" y="T3"/>
              </a:cxn>
            </a:cxnLst>
            <a:rect l="0" t="0" r="r" b="b"/>
            <a:pathLst>
              <a:path w="297" h="105">
                <a:moveTo>
                  <a:pt x="0" y="0"/>
                </a:moveTo>
                <a:lnTo>
                  <a:pt x="297" y="105"/>
                </a:lnTo>
              </a:path>
            </a:pathLst>
          </a:custGeom>
          <a:noFill/>
          <a:ln w="28575">
            <a:solidFill>
              <a:srgbClr val="333399"/>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66" name="Rectangle 341"/>
          <p:cNvSpPr>
            <a:spLocks noChangeArrowheads="1"/>
          </p:cNvSpPr>
          <p:nvPr/>
        </p:nvSpPr>
        <p:spPr bwMode="auto">
          <a:xfrm>
            <a:off x="6537325" y="1201738"/>
            <a:ext cx="1209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应用进程</a:t>
            </a:r>
          </a:p>
        </p:txBody>
      </p:sp>
      <p:sp>
        <p:nvSpPr>
          <p:cNvPr id="1294367" name="AutoShape 342"/>
          <p:cNvSpPr>
            <a:spLocks noChangeArrowheads="1"/>
          </p:cNvSpPr>
          <p:nvPr/>
        </p:nvSpPr>
        <p:spPr bwMode="auto">
          <a:xfrm>
            <a:off x="1857375" y="2016125"/>
            <a:ext cx="6300788" cy="368300"/>
          </a:xfrm>
          <a:prstGeom prst="leftRightArrow">
            <a:avLst>
              <a:gd name="adj1" fmla="val 59176"/>
              <a:gd name="adj2" fmla="val 215669"/>
            </a:avLst>
          </a:prstGeom>
          <a:solidFill>
            <a:srgbClr val="99FF66"/>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68" name="Rectangle 343"/>
          <p:cNvSpPr>
            <a:spLocks noChangeArrowheads="1"/>
          </p:cNvSpPr>
          <p:nvPr/>
        </p:nvSpPr>
        <p:spPr bwMode="auto">
          <a:xfrm>
            <a:off x="3308350" y="4429125"/>
            <a:ext cx="121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路由器 </a:t>
            </a:r>
            <a:r>
              <a:rPr lang="en-US" altLang="zh-CN" sz="2000" b="1">
                <a:solidFill>
                  <a:srgbClr val="000099"/>
                </a:solidFill>
                <a:ea typeface="黑体" panose="02010609060101010101" pitchFamily="49" charset="-122"/>
              </a:rPr>
              <a:t>1</a:t>
            </a:r>
          </a:p>
        </p:txBody>
      </p:sp>
      <p:pic>
        <p:nvPicPr>
          <p:cNvPr id="1294369" name="Picture 3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2488" y="4776788"/>
            <a:ext cx="7842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70" name="Rectangle 345"/>
          <p:cNvSpPr>
            <a:spLocks noChangeArrowheads="1"/>
          </p:cNvSpPr>
          <p:nvPr/>
        </p:nvSpPr>
        <p:spPr bwMode="auto">
          <a:xfrm>
            <a:off x="5699125" y="4429125"/>
            <a:ext cx="121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路由器 </a:t>
            </a:r>
            <a:r>
              <a:rPr lang="en-US" altLang="zh-CN" sz="2000" b="1">
                <a:solidFill>
                  <a:srgbClr val="000099"/>
                </a:solidFill>
                <a:ea typeface="黑体" panose="02010609060101010101" pitchFamily="49" charset="-122"/>
              </a:rPr>
              <a:t>2</a:t>
            </a:r>
          </a:p>
        </p:txBody>
      </p:sp>
      <p:sp>
        <p:nvSpPr>
          <p:cNvPr id="1294371" name="Oval 346"/>
          <p:cNvSpPr>
            <a:spLocks noChangeArrowheads="1"/>
          </p:cNvSpPr>
          <p:nvPr/>
        </p:nvSpPr>
        <p:spPr bwMode="auto">
          <a:xfrm>
            <a:off x="585788" y="4625975"/>
            <a:ext cx="684212"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72" name="Rectangle 347"/>
          <p:cNvSpPr>
            <a:spLocks noChangeArrowheads="1"/>
          </p:cNvSpPr>
          <p:nvPr/>
        </p:nvSpPr>
        <p:spPr bwMode="auto">
          <a:xfrm>
            <a:off x="633413" y="4575175"/>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94373" name="Oval 348"/>
          <p:cNvSpPr>
            <a:spLocks noChangeArrowheads="1"/>
          </p:cNvSpPr>
          <p:nvPr/>
        </p:nvSpPr>
        <p:spPr bwMode="auto">
          <a:xfrm>
            <a:off x="8920163" y="1376363"/>
            <a:ext cx="684212" cy="355600"/>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74" name="Line 349"/>
          <p:cNvSpPr>
            <a:spLocks noChangeShapeType="1"/>
          </p:cNvSpPr>
          <p:nvPr/>
        </p:nvSpPr>
        <p:spPr bwMode="auto">
          <a:xfrm rot="5400000">
            <a:off x="3340100" y="3409950"/>
            <a:ext cx="9461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75" name="Line 350"/>
          <p:cNvSpPr>
            <a:spLocks noChangeShapeType="1"/>
          </p:cNvSpPr>
          <p:nvPr/>
        </p:nvSpPr>
        <p:spPr bwMode="auto">
          <a:xfrm rot="5400000">
            <a:off x="5712619" y="3407569"/>
            <a:ext cx="9572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1294376" name="Picture 35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7213" y="4689475"/>
            <a:ext cx="9810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77" name="Rectangle 352"/>
          <p:cNvSpPr>
            <a:spLocks noChangeArrowheads="1"/>
          </p:cNvSpPr>
          <p:nvPr/>
        </p:nvSpPr>
        <p:spPr bwMode="auto">
          <a:xfrm>
            <a:off x="6983413" y="4770438"/>
            <a:ext cx="806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LAN</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pic>
        <p:nvPicPr>
          <p:cNvPr id="1294378" name="Picture 35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5800" y="4689475"/>
            <a:ext cx="1071563"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79" name="Rectangle 354"/>
          <p:cNvSpPr>
            <a:spLocks noChangeArrowheads="1"/>
          </p:cNvSpPr>
          <p:nvPr/>
        </p:nvSpPr>
        <p:spPr bwMode="auto">
          <a:xfrm>
            <a:off x="4619625" y="4781550"/>
            <a:ext cx="782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WAN</a:t>
            </a:r>
          </a:p>
        </p:txBody>
      </p:sp>
      <p:sp>
        <p:nvSpPr>
          <p:cNvPr id="1294380" name="Oval 355"/>
          <p:cNvSpPr>
            <a:spLocks noChangeArrowheads="1"/>
          </p:cNvSpPr>
          <p:nvPr/>
        </p:nvSpPr>
        <p:spPr bwMode="auto">
          <a:xfrm>
            <a:off x="1795463" y="4910138"/>
            <a:ext cx="168275" cy="138112"/>
          </a:xfrm>
          <a:prstGeom prst="ellipse">
            <a:avLst/>
          </a:prstGeom>
          <a:solidFill>
            <a:schemeClr val="bg1"/>
          </a:solidFill>
          <a:ln w="28575">
            <a:solidFill>
              <a:srgbClr val="333399"/>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1" name="Oval 356"/>
          <p:cNvSpPr>
            <a:spLocks noChangeArrowheads="1"/>
          </p:cNvSpPr>
          <p:nvPr/>
        </p:nvSpPr>
        <p:spPr bwMode="auto">
          <a:xfrm>
            <a:off x="568325" y="4995863"/>
            <a:ext cx="685800"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2" name="Rectangle 357"/>
          <p:cNvSpPr>
            <a:spLocks noChangeArrowheads="1"/>
          </p:cNvSpPr>
          <p:nvPr/>
        </p:nvSpPr>
        <p:spPr bwMode="auto">
          <a:xfrm>
            <a:off x="588963" y="4945063"/>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94383" name="Rectangle 358"/>
          <p:cNvSpPr>
            <a:spLocks noChangeArrowheads="1"/>
          </p:cNvSpPr>
          <p:nvPr/>
        </p:nvSpPr>
        <p:spPr bwMode="auto">
          <a:xfrm flipH="1">
            <a:off x="8158163" y="4516438"/>
            <a:ext cx="156845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4" name="Freeform 359"/>
          <p:cNvSpPr>
            <a:spLocks noChangeArrowheads="1"/>
          </p:cNvSpPr>
          <p:nvPr/>
        </p:nvSpPr>
        <p:spPr bwMode="auto">
          <a:xfrm flipH="1">
            <a:off x="8158163" y="4810125"/>
            <a:ext cx="709612"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85" name="Freeform 360"/>
          <p:cNvSpPr>
            <a:spLocks noChangeArrowheads="1"/>
          </p:cNvSpPr>
          <p:nvPr/>
        </p:nvSpPr>
        <p:spPr bwMode="auto">
          <a:xfrm flipH="1">
            <a:off x="8158163" y="4997450"/>
            <a:ext cx="769937"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386" name="Oval 361"/>
          <p:cNvSpPr>
            <a:spLocks noChangeArrowheads="1"/>
          </p:cNvSpPr>
          <p:nvPr/>
        </p:nvSpPr>
        <p:spPr bwMode="auto">
          <a:xfrm flipH="1">
            <a:off x="8653463" y="4625975"/>
            <a:ext cx="684212"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7" name="Rectangle 362"/>
          <p:cNvSpPr>
            <a:spLocks noChangeArrowheads="1"/>
          </p:cNvSpPr>
          <p:nvPr/>
        </p:nvSpPr>
        <p:spPr bwMode="auto">
          <a:xfrm flipH="1">
            <a:off x="8664575" y="4575175"/>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3</a:t>
            </a:r>
            <a:endParaRPr lang="en-US" altLang="zh-CN" sz="2000" b="1">
              <a:solidFill>
                <a:srgbClr val="000099"/>
              </a:solidFill>
              <a:ea typeface="黑体" panose="02010609060101010101" pitchFamily="49" charset="-122"/>
            </a:endParaRPr>
          </a:p>
        </p:txBody>
      </p:sp>
      <p:sp>
        <p:nvSpPr>
          <p:cNvPr id="1294388" name="Oval 364"/>
          <p:cNvSpPr>
            <a:spLocks noChangeArrowheads="1"/>
          </p:cNvSpPr>
          <p:nvPr/>
        </p:nvSpPr>
        <p:spPr bwMode="auto">
          <a:xfrm flipH="1">
            <a:off x="8637588" y="4995863"/>
            <a:ext cx="684212" cy="3143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89" name="Rectangle 365"/>
          <p:cNvSpPr>
            <a:spLocks noChangeArrowheads="1"/>
          </p:cNvSpPr>
          <p:nvPr/>
        </p:nvSpPr>
        <p:spPr bwMode="auto">
          <a:xfrm flipH="1">
            <a:off x="8664575" y="495935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4</a:t>
            </a:r>
            <a:endParaRPr lang="en-US" altLang="zh-CN" sz="2000" b="1">
              <a:solidFill>
                <a:srgbClr val="000099"/>
              </a:solidFill>
              <a:ea typeface="黑体" panose="02010609060101010101" pitchFamily="49" charset="-122"/>
            </a:endParaRPr>
          </a:p>
        </p:txBody>
      </p:sp>
      <p:sp>
        <p:nvSpPr>
          <p:cNvPr id="1294390" name="Rectangle 366"/>
          <p:cNvSpPr>
            <a:spLocks noChangeArrowheads="1"/>
          </p:cNvSpPr>
          <p:nvPr/>
        </p:nvSpPr>
        <p:spPr bwMode="auto">
          <a:xfrm>
            <a:off x="4633913" y="2501900"/>
            <a:ext cx="749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层</a:t>
            </a:r>
          </a:p>
        </p:txBody>
      </p:sp>
      <p:pic>
        <p:nvPicPr>
          <p:cNvPr id="1294391" name="Picture 3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7563" y="4689475"/>
            <a:ext cx="9810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392" name="Rectangle 368"/>
          <p:cNvSpPr>
            <a:spLocks noChangeArrowheads="1"/>
          </p:cNvSpPr>
          <p:nvPr/>
        </p:nvSpPr>
        <p:spPr bwMode="auto">
          <a:xfrm>
            <a:off x="2228850" y="4768850"/>
            <a:ext cx="806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LAN</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94393" name="Freeform 370"/>
          <p:cNvSpPr>
            <a:spLocks noChangeArrowheads="1"/>
          </p:cNvSpPr>
          <p:nvPr/>
        </p:nvSpPr>
        <p:spPr bwMode="auto">
          <a:xfrm>
            <a:off x="1789113" y="1506538"/>
            <a:ext cx="354012" cy="128587"/>
          </a:xfrm>
          <a:custGeom>
            <a:avLst/>
            <a:gdLst>
              <a:gd name="T0" fmla="*/ 174 w 174"/>
              <a:gd name="T1" fmla="*/ 0 h 84"/>
              <a:gd name="T2" fmla="*/ 0 w 174"/>
              <a:gd name="T3" fmla="*/ 84 h 84"/>
            </a:gdLst>
            <a:ahLst/>
            <a:cxnLst>
              <a:cxn ang="0">
                <a:pos x="T0" y="T1"/>
              </a:cxn>
              <a:cxn ang="0">
                <a:pos x="T2" y="T3"/>
              </a:cxn>
            </a:cxnLst>
            <a:rect l="0" t="0" r="r" b="b"/>
            <a:pathLst>
              <a:path w="174" h="84">
                <a:moveTo>
                  <a:pt x="174" y="0"/>
                </a:moveTo>
                <a:lnTo>
                  <a:pt x="0" y="84"/>
                </a:lnTo>
              </a:path>
            </a:pathLst>
          </a:custGeom>
          <a:noFill/>
          <a:ln w="28575">
            <a:solidFill>
              <a:srgbClr val="333399"/>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4" name="Oval 384"/>
          <p:cNvSpPr>
            <a:spLocks noChangeArrowheads="1"/>
          </p:cNvSpPr>
          <p:nvPr/>
        </p:nvSpPr>
        <p:spPr bwMode="auto">
          <a:xfrm>
            <a:off x="392113" y="1373188"/>
            <a:ext cx="687387" cy="354012"/>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5" name="Rectangle 385"/>
          <p:cNvSpPr>
            <a:spLocks noChangeArrowheads="1"/>
          </p:cNvSpPr>
          <p:nvPr/>
        </p:nvSpPr>
        <p:spPr bwMode="auto">
          <a:xfrm>
            <a:off x="444500" y="133350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94396" name="Oval 387"/>
          <p:cNvSpPr>
            <a:spLocks noChangeArrowheads="1"/>
          </p:cNvSpPr>
          <p:nvPr/>
        </p:nvSpPr>
        <p:spPr bwMode="auto">
          <a:xfrm>
            <a:off x="1131888" y="1447800"/>
            <a:ext cx="687387" cy="376238"/>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7" name="Rectangle 388"/>
          <p:cNvSpPr>
            <a:spLocks noChangeArrowheads="1"/>
          </p:cNvSpPr>
          <p:nvPr/>
        </p:nvSpPr>
        <p:spPr bwMode="auto">
          <a:xfrm>
            <a:off x="1165225" y="142240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94398" name="Oval 389"/>
          <p:cNvSpPr>
            <a:spLocks noChangeArrowheads="1"/>
          </p:cNvSpPr>
          <p:nvPr/>
        </p:nvSpPr>
        <p:spPr bwMode="auto">
          <a:xfrm>
            <a:off x="969963" y="2395538"/>
            <a:ext cx="168275" cy="136525"/>
          </a:xfrm>
          <a:prstGeom prst="ellipse">
            <a:avLst/>
          </a:prstGeom>
          <a:solidFill>
            <a:schemeClr val="bg1"/>
          </a:solidFill>
          <a:ln w="2857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399" name="Rectangle 392"/>
          <p:cNvSpPr>
            <a:spLocks noChangeArrowheads="1"/>
          </p:cNvSpPr>
          <p:nvPr/>
        </p:nvSpPr>
        <p:spPr bwMode="auto">
          <a:xfrm>
            <a:off x="8964613" y="1327150"/>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4</a:t>
            </a:r>
            <a:endParaRPr lang="en-US" altLang="zh-CN" sz="2000" b="1">
              <a:solidFill>
                <a:srgbClr val="000099"/>
              </a:solidFill>
              <a:ea typeface="黑体" panose="02010609060101010101" pitchFamily="49" charset="-122"/>
            </a:endParaRPr>
          </a:p>
        </p:txBody>
      </p:sp>
      <p:sp>
        <p:nvSpPr>
          <p:cNvPr id="1294400" name="Oval 393"/>
          <p:cNvSpPr>
            <a:spLocks noChangeArrowheads="1"/>
          </p:cNvSpPr>
          <p:nvPr/>
        </p:nvSpPr>
        <p:spPr bwMode="auto">
          <a:xfrm>
            <a:off x="8910638" y="2395538"/>
            <a:ext cx="163512" cy="136525"/>
          </a:xfrm>
          <a:prstGeom prst="ellipse">
            <a:avLst/>
          </a:prstGeom>
          <a:solidFill>
            <a:schemeClr val="bg1"/>
          </a:solidFill>
          <a:ln w="2857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01" name="Rectangle 396"/>
          <p:cNvSpPr>
            <a:spLocks noChangeArrowheads="1"/>
          </p:cNvSpPr>
          <p:nvPr/>
        </p:nvSpPr>
        <p:spPr bwMode="auto">
          <a:xfrm>
            <a:off x="2087563" y="1662113"/>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端口</a:t>
            </a:r>
          </a:p>
        </p:txBody>
      </p:sp>
      <p:sp>
        <p:nvSpPr>
          <p:cNvPr id="1294402" name="Rectangle 397"/>
          <p:cNvSpPr>
            <a:spLocks noChangeArrowheads="1"/>
          </p:cNvSpPr>
          <p:nvPr/>
        </p:nvSpPr>
        <p:spPr bwMode="auto">
          <a:xfrm>
            <a:off x="7231063" y="15716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端口</a:t>
            </a:r>
          </a:p>
        </p:txBody>
      </p:sp>
      <p:sp>
        <p:nvSpPr>
          <p:cNvPr id="1294403" name="Line 398"/>
          <p:cNvSpPr>
            <a:spLocks noChangeShapeType="1"/>
          </p:cNvSpPr>
          <p:nvPr/>
        </p:nvSpPr>
        <p:spPr bwMode="auto">
          <a:xfrm>
            <a:off x="7845425" y="1814513"/>
            <a:ext cx="625475" cy="1365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4" name="Line 399"/>
          <p:cNvSpPr>
            <a:spLocks noChangeShapeType="1"/>
          </p:cNvSpPr>
          <p:nvPr/>
        </p:nvSpPr>
        <p:spPr bwMode="auto">
          <a:xfrm flipH="1">
            <a:off x="1530350" y="1828800"/>
            <a:ext cx="588963" cy="12223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5" name="Rectangle 400"/>
          <p:cNvSpPr>
            <a:spLocks noChangeArrowheads="1"/>
          </p:cNvSpPr>
          <p:nvPr/>
        </p:nvSpPr>
        <p:spPr bwMode="auto">
          <a:xfrm>
            <a:off x="9402763" y="1454150"/>
            <a:ext cx="325437"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zh-CN" sz="2000" b="1">
                <a:solidFill>
                  <a:srgbClr val="000099"/>
                </a:solidFill>
                <a:ea typeface="黑体" panose="02010609060101010101" pitchFamily="49" charset="-122"/>
              </a:rPr>
              <a:t>5</a:t>
            </a:r>
          </a:p>
          <a:p>
            <a:pPr>
              <a:lnSpc>
                <a:spcPct val="150000"/>
              </a:lnSpc>
            </a:pPr>
            <a:r>
              <a:rPr lang="en-US" altLang="zh-CN" sz="2000" b="1">
                <a:solidFill>
                  <a:srgbClr val="000099"/>
                </a:solidFill>
                <a:ea typeface="黑体" panose="02010609060101010101" pitchFamily="49" charset="-122"/>
              </a:rPr>
              <a:t>4</a:t>
            </a:r>
          </a:p>
          <a:p>
            <a:pPr>
              <a:lnSpc>
                <a:spcPct val="150000"/>
              </a:lnSpc>
            </a:pPr>
            <a:r>
              <a:rPr lang="en-US" altLang="zh-CN" sz="2000" b="1">
                <a:solidFill>
                  <a:srgbClr val="000099"/>
                </a:solidFill>
                <a:ea typeface="黑体" panose="02010609060101010101" pitchFamily="49" charset="-122"/>
              </a:rPr>
              <a:t>3</a:t>
            </a:r>
          </a:p>
          <a:p>
            <a:pPr>
              <a:lnSpc>
                <a:spcPct val="150000"/>
              </a:lnSpc>
            </a:pPr>
            <a:r>
              <a:rPr lang="en-US" altLang="zh-CN" sz="2000" b="1">
                <a:solidFill>
                  <a:srgbClr val="000099"/>
                </a:solidFill>
                <a:ea typeface="黑体" panose="02010609060101010101" pitchFamily="49" charset="-122"/>
              </a:rPr>
              <a:t>2</a:t>
            </a:r>
          </a:p>
          <a:p>
            <a:pPr>
              <a:lnSpc>
                <a:spcPct val="150000"/>
              </a:lnSpc>
            </a:pPr>
            <a:r>
              <a:rPr lang="en-US" altLang="zh-CN" sz="2000" b="1">
                <a:solidFill>
                  <a:srgbClr val="000099"/>
                </a:solidFill>
                <a:ea typeface="黑体" panose="02010609060101010101" pitchFamily="49" charset="-122"/>
              </a:rPr>
              <a:t>1</a:t>
            </a:r>
          </a:p>
        </p:txBody>
      </p:sp>
      <p:sp>
        <p:nvSpPr>
          <p:cNvPr id="1294406" name="Line 401"/>
          <p:cNvSpPr>
            <a:spLocks noChangeShapeType="1"/>
          </p:cNvSpPr>
          <p:nvPr/>
        </p:nvSpPr>
        <p:spPr bwMode="auto">
          <a:xfrm>
            <a:off x="1908175" y="5602288"/>
            <a:ext cx="624681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7" name="Line 402"/>
          <p:cNvSpPr>
            <a:spLocks noChangeShapeType="1"/>
          </p:cNvSpPr>
          <p:nvPr/>
        </p:nvSpPr>
        <p:spPr bwMode="auto">
          <a:xfrm flipH="1">
            <a:off x="1908175" y="5478463"/>
            <a:ext cx="0" cy="300037"/>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08" name="Rectangle 404"/>
          <p:cNvSpPr>
            <a:spLocks noChangeArrowheads="1"/>
          </p:cNvSpPr>
          <p:nvPr/>
        </p:nvSpPr>
        <p:spPr bwMode="auto">
          <a:xfrm>
            <a:off x="3783013" y="5399088"/>
            <a:ext cx="237807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协议的作用范围</a:t>
            </a:r>
          </a:p>
        </p:txBody>
      </p:sp>
      <p:sp>
        <p:nvSpPr>
          <p:cNvPr id="1294409" name="Line 405"/>
          <p:cNvSpPr>
            <a:spLocks noChangeShapeType="1"/>
          </p:cNvSpPr>
          <p:nvPr/>
        </p:nvSpPr>
        <p:spPr bwMode="auto">
          <a:xfrm>
            <a:off x="836613" y="5329238"/>
            <a:ext cx="0" cy="849312"/>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10" name="Line 406"/>
          <p:cNvSpPr>
            <a:spLocks noChangeShapeType="1"/>
          </p:cNvSpPr>
          <p:nvPr/>
        </p:nvSpPr>
        <p:spPr bwMode="auto">
          <a:xfrm>
            <a:off x="8959850" y="5256213"/>
            <a:ext cx="0" cy="904875"/>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11" name="Line 407"/>
          <p:cNvSpPr>
            <a:spLocks noChangeShapeType="1"/>
          </p:cNvSpPr>
          <p:nvPr/>
        </p:nvSpPr>
        <p:spPr bwMode="auto">
          <a:xfrm>
            <a:off x="836613" y="6002338"/>
            <a:ext cx="8123237"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12" name="Rectangle 408"/>
          <p:cNvSpPr>
            <a:spLocks noChangeArrowheads="1"/>
          </p:cNvSpPr>
          <p:nvPr/>
        </p:nvSpPr>
        <p:spPr bwMode="auto">
          <a:xfrm>
            <a:off x="2620963" y="5792788"/>
            <a:ext cx="43307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运输层协议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和 </a:t>
            </a:r>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的作用范围</a:t>
            </a:r>
          </a:p>
        </p:txBody>
      </p:sp>
      <p:pic>
        <p:nvPicPr>
          <p:cNvPr id="1294413" name="Picture 40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7713" y="4776788"/>
            <a:ext cx="7842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4414" name="Rectangle 411"/>
          <p:cNvSpPr>
            <a:spLocks noChangeArrowheads="1"/>
          </p:cNvSpPr>
          <p:nvPr/>
        </p:nvSpPr>
        <p:spPr bwMode="auto">
          <a:xfrm>
            <a:off x="668338" y="1890713"/>
            <a:ext cx="233362"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5" name="Rectangle 412"/>
          <p:cNvSpPr>
            <a:spLocks noChangeArrowheads="1"/>
          </p:cNvSpPr>
          <p:nvPr/>
        </p:nvSpPr>
        <p:spPr bwMode="auto">
          <a:xfrm>
            <a:off x="1300163" y="1890713"/>
            <a:ext cx="234950"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6" name="Rectangle 413"/>
          <p:cNvSpPr>
            <a:spLocks noChangeArrowheads="1"/>
          </p:cNvSpPr>
          <p:nvPr/>
        </p:nvSpPr>
        <p:spPr bwMode="auto">
          <a:xfrm>
            <a:off x="8440738" y="1903413"/>
            <a:ext cx="234950"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7" name="Rectangle 414"/>
          <p:cNvSpPr>
            <a:spLocks noChangeArrowheads="1"/>
          </p:cNvSpPr>
          <p:nvPr/>
        </p:nvSpPr>
        <p:spPr bwMode="auto">
          <a:xfrm>
            <a:off x="9239250" y="1903413"/>
            <a:ext cx="233363" cy="2159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8" name="Freeform 390"/>
          <p:cNvSpPr>
            <a:spLocks noChangeArrowheads="1"/>
          </p:cNvSpPr>
          <p:nvPr/>
        </p:nvSpPr>
        <p:spPr bwMode="auto">
          <a:xfrm>
            <a:off x="8561388" y="1733550"/>
            <a:ext cx="360362" cy="695325"/>
          </a:xfrm>
          <a:custGeom>
            <a:avLst/>
            <a:gdLst>
              <a:gd name="T0" fmla="*/ 4 w 193"/>
              <a:gd name="T1" fmla="*/ 0 h 453"/>
              <a:gd name="T2" fmla="*/ 13 w 193"/>
              <a:gd name="T3" fmla="*/ 306 h 453"/>
              <a:gd name="T4" fmla="*/ 85 w 193"/>
              <a:gd name="T5" fmla="*/ 399 h 453"/>
              <a:gd name="T6" fmla="*/ 157 w 193"/>
              <a:gd name="T7" fmla="*/ 444 h 453"/>
              <a:gd name="T8" fmla="*/ 193 w 193"/>
              <a:gd name="T9" fmla="*/ 453 h 453"/>
            </a:gdLst>
            <a:ahLst/>
            <a:cxnLst>
              <a:cxn ang="0">
                <a:pos x="T0" y="T1"/>
              </a:cxn>
              <a:cxn ang="0">
                <a:pos x="T2" y="T3"/>
              </a:cxn>
              <a:cxn ang="0">
                <a:pos x="T4" y="T5"/>
              </a:cxn>
              <a:cxn ang="0">
                <a:pos x="T6" y="T7"/>
              </a:cxn>
              <a:cxn ang="0">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19" name="Freeform 391"/>
          <p:cNvSpPr>
            <a:spLocks noChangeArrowheads="1"/>
          </p:cNvSpPr>
          <p:nvPr/>
        </p:nvSpPr>
        <p:spPr bwMode="auto">
          <a:xfrm>
            <a:off x="9050338" y="1736725"/>
            <a:ext cx="315912" cy="688975"/>
          </a:xfrm>
          <a:custGeom>
            <a:avLst/>
            <a:gdLst>
              <a:gd name="T0" fmla="*/ 170 w 171"/>
              <a:gd name="T1" fmla="*/ 0 h 447"/>
              <a:gd name="T2" fmla="*/ 165 w 171"/>
              <a:gd name="T3" fmla="*/ 264 h 447"/>
              <a:gd name="T4" fmla="*/ 135 w 171"/>
              <a:gd name="T5" fmla="*/ 351 h 447"/>
              <a:gd name="T6" fmla="*/ 81 w 171"/>
              <a:gd name="T7" fmla="*/ 411 h 447"/>
              <a:gd name="T8" fmla="*/ 0 w 171"/>
              <a:gd name="T9" fmla="*/ 447 h 447"/>
            </a:gdLst>
            <a:ahLst/>
            <a:cxnLst>
              <a:cxn ang="0">
                <a:pos x="T0" y="T1"/>
              </a:cxn>
              <a:cxn ang="0">
                <a:pos x="T2" y="T3"/>
              </a:cxn>
              <a:cxn ang="0">
                <a:pos x="T4" y="T5"/>
              </a:cxn>
              <a:cxn ang="0">
                <a:pos x="T6" y="T7"/>
              </a:cxn>
              <a:cxn ang="0">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0" name="Oval 394"/>
          <p:cNvSpPr>
            <a:spLocks noChangeArrowheads="1"/>
          </p:cNvSpPr>
          <p:nvPr/>
        </p:nvSpPr>
        <p:spPr bwMode="auto">
          <a:xfrm>
            <a:off x="8242300" y="1511300"/>
            <a:ext cx="682625" cy="352425"/>
          </a:xfrm>
          <a:prstGeom prst="ellipse">
            <a:avLst/>
          </a:prstGeom>
          <a:solidFill>
            <a:srgbClr val="FFCCFF"/>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1" name="Rectangle 395"/>
          <p:cNvSpPr>
            <a:spLocks noChangeArrowheads="1"/>
          </p:cNvSpPr>
          <p:nvPr/>
        </p:nvSpPr>
        <p:spPr bwMode="auto">
          <a:xfrm>
            <a:off x="8269288" y="1463675"/>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AP</a:t>
            </a:r>
            <a:r>
              <a:rPr lang="en-US" altLang="zh-CN" sz="2000" b="1" baseline="-25000">
                <a:solidFill>
                  <a:srgbClr val="000099"/>
                </a:solidFill>
                <a:ea typeface="黑体" panose="02010609060101010101" pitchFamily="49" charset="-122"/>
              </a:rPr>
              <a:t>3</a:t>
            </a:r>
            <a:endParaRPr lang="en-US" altLang="zh-CN" sz="2000" b="1">
              <a:solidFill>
                <a:srgbClr val="000099"/>
              </a:solidFill>
              <a:ea typeface="黑体" panose="02010609060101010101" pitchFamily="49" charset="-122"/>
            </a:endParaRPr>
          </a:p>
        </p:txBody>
      </p:sp>
      <p:sp>
        <p:nvSpPr>
          <p:cNvPr id="1294422" name="Freeform 386"/>
          <p:cNvSpPr>
            <a:spLocks noChangeArrowheads="1"/>
          </p:cNvSpPr>
          <p:nvPr/>
        </p:nvSpPr>
        <p:spPr bwMode="auto">
          <a:xfrm>
            <a:off x="1139825" y="1797050"/>
            <a:ext cx="293688" cy="628650"/>
          </a:xfrm>
          <a:custGeom>
            <a:avLst/>
            <a:gdLst>
              <a:gd name="T0" fmla="*/ 156 w 159"/>
              <a:gd name="T1" fmla="*/ 0 h 408"/>
              <a:gd name="T2" fmla="*/ 147 w 159"/>
              <a:gd name="T3" fmla="*/ 279 h 408"/>
              <a:gd name="T4" fmla="*/ 81 w 159"/>
              <a:gd name="T5" fmla="*/ 372 h 408"/>
              <a:gd name="T6" fmla="*/ 0 w 159"/>
              <a:gd name="T7" fmla="*/ 408 h 408"/>
            </a:gdLst>
            <a:ahLst/>
            <a:cxnLst>
              <a:cxn ang="0">
                <a:pos x="T0" y="T1"/>
              </a:cxn>
              <a:cxn ang="0">
                <a:pos x="T2" y="T3"/>
              </a:cxn>
              <a:cxn ang="0">
                <a:pos x="T4" y="T5"/>
              </a:cxn>
              <a:cxn ang="0">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3" name="Freeform 383"/>
          <p:cNvSpPr>
            <a:spLocks noChangeArrowheads="1"/>
          </p:cNvSpPr>
          <p:nvPr/>
        </p:nvSpPr>
        <p:spPr bwMode="auto">
          <a:xfrm>
            <a:off x="766763" y="1709738"/>
            <a:ext cx="276225" cy="757237"/>
          </a:xfrm>
          <a:custGeom>
            <a:avLst/>
            <a:gdLst>
              <a:gd name="T0" fmla="*/ 8 w 149"/>
              <a:gd name="T1" fmla="*/ 0 h 492"/>
              <a:gd name="T2" fmla="*/ 5 w 149"/>
              <a:gd name="T3" fmla="*/ 285 h 492"/>
              <a:gd name="T4" fmla="*/ 38 w 149"/>
              <a:gd name="T5" fmla="*/ 414 h 492"/>
              <a:gd name="T6" fmla="*/ 149 w 149"/>
              <a:gd name="T7" fmla="*/ 492 h 492"/>
            </a:gdLst>
            <a:ahLst/>
            <a:cxnLst>
              <a:cxn ang="0">
                <a:pos x="T0" y="T1"/>
              </a:cxn>
              <a:cxn ang="0">
                <a:pos x="T2" y="T3"/>
              </a:cxn>
              <a:cxn ang="0">
                <a:pos x="T4" y="T5"/>
              </a:cxn>
              <a:cxn ang="0">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4" name="Oval 363"/>
          <p:cNvSpPr>
            <a:spLocks noChangeArrowheads="1"/>
          </p:cNvSpPr>
          <p:nvPr/>
        </p:nvSpPr>
        <p:spPr bwMode="auto">
          <a:xfrm flipH="1">
            <a:off x="8067675" y="4910138"/>
            <a:ext cx="165100" cy="138112"/>
          </a:xfrm>
          <a:prstGeom prst="ellipse">
            <a:avLst/>
          </a:prstGeom>
          <a:solidFill>
            <a:schemeClr val="bg1"/>
          </a:solidFill>
          <a:ln w="28575">
            <a:solidFill>
              <a:srgbClr val="333399"/>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4425" name="矩形 1"/>
          <p:cNvSpPr>
            <a:spLocks noChangeArrowheads="1"/>
          </p:cNvSpPr>
          <p:nvPr/>
        </p:nvSpPr>
        <p:spPr bwMode="auto">
          <a:xfrm>
            <a:off x="1285875" y="6237288"/>
            <a:ext cx="8228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运输层为相互通信的应用进程提供了逻辑通信</a:t>
            </a:r>
            <a:endParaRPr lang="zh-CN" altLang="en-US" sz="2400" b="1">
              <a:solidFill>
                <a:srgbClr val="000099"/>
              </a:solidFill>
              <a:ea typeface="黑体" panose="02010609060101010101" pitchFamily="49" charset="-122"/>
            </a:endParaRPr>
          </a:p>
        </p:txBody>
      </p:sp>
      <p:sp>
        <p:nvSpPr>
          <p:cNvPr id="1294426" name="Line 402"/>
          <p:cNvSpPr>
            <a:spLocks noChangeShapeType="1"/>
          </p:cNvSpPr>
          <p:nvPr/>
        </p:nvSpPr>
        <p:spPr bwMode="auto">
          <a:xfrm flipH="1">
            <a:off x="8188325" y="5478463"/>
            <a:ext cx="0" cy="300037"/>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442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D499D8-5416-41F4-A6E9-3EA846FB459A}" type="slidenum">
              <a:rPr lang="zh-CN" altLang="en-US" smtClean="0"/>
              <a:pPr eaLnBrk="1" hangingPunct="1"/>
              <a:t>5</a:t>
            </a:fld>
            <a:endParaRPr lang="en-US" altLang="zh-CN" smtClean="0"/>
          </a:p>
        </p:txBody>
      </p:sp>
      <p:sp>
        <p:nvSpPr>
          <p:cNvPr id="129442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运输层的作用</a:t>
            </a:r>
          </a:p>
        </p:txBody>
      </p:sp>
      <p:sp>
        <p:nvSpPr>
          <p:cNvPr id="1296386"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a:t>
            </a:r>
            <a:r>
              <a:rPr lang="zh-CN" altLang="zh-CN" dirty="0" smtClean="0">
                <a:solidFill>
                  <a:srgbClr val="FF0000"/>
                </a:solidFill>
                <a:ea typeface="黑体" panose="02010609060101010101" pitchFamily="49" charset="-122"/>
              </a:rPr>
              <a:t>逻辑通信</a:t>
            </a:r>
            <a:r>
              <a:rPr lang="zh-CN" altLang="zh-CN" dirty="0" smtClean="0">
                <a:ea typeface="黑体" panose="02010609060101010101" pitchFamily="49" charset="-122"/>
              </a:rPr>
              <a:t>”的意思是“好像</a:t>
            </a:r>
            <a:r>
              <a:rPr lang="zh-CN" altLang="en-US" dirty="0" smtClean="0">
                <a:ea typeface="黑体" panose="02010609060101010101" pitchFamily="49" charset="-122"/>
              </a:rPr>
              <a:t>这种通信就是沿着水平方向直接传送数据。但事实上这两个运输层之间并没有一条水平方向的物理连接</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从</a:t>
            </a:r>
            <a:r>
              <a:rPr lang="en-US" altLang="zh-CN" dirty="0" smtClean="0">
                <a:solidFill>
                  <a:srgbClr val="FF0000"/>
                </a:solidFill>
                <a:ea typeface="黑体" panose="02010609060101010101" pitchFamily="49" charset="-122"/>
              </a:rPr>
              <a:t>IP</a:t>
            </a:r>
            <a:r>
              <a:rPr lang="zh-CN" altLang="zh-CN" dirty="0" smtClean="0">
                <a:solidFill>
                  <a:srgbClr val="FF0000"/>
                </a:solidFill>
                <a:ea typeface="黑体" panose="02010609060101010101" pitchFamily="49" charset="-122"/>
              </a:rPr>
              <a:t>层来说，通信的两端是两台主机。</a:t>
            </a:r>
            <a:r>
              <a:rPr lang="zh-CN" altLang="zh-CN" dirty="0" smtClean="0">
                <a:ea typeface="黑体" panose="02010609060101010101" pitchFamily="49" charset="-122"/>
              </a:rPr>
              <a:t>但“两台主机之间的通信”这种说法还不够清楚。</a:t>
            </a:r>
            <a:endParaRPr lang="en-US" altLang="zh-CN" dirty="0" smtClean="0">
              <a:ea typeface="黑体" panose="02010609060101010101" pitchFamily="49" charset="-122"/>
            </a:endParaRPr>
          </a:p>
          <a:p>
            <a:r>
              <a:rPr lang="zh-CN" altLang="zh-CN" dirty="0" smtClean="0">
                <a:ea typeface="黑体" panose="02010609060101010101" pitchFamily="49" charset="-122"/>
              </a:rPr>
              <a:t>严格地讲，两台主机进行通信就是两台主机中的应用进程互相通信。</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从运输层的角度看，通信的真正端点并不是主机而是主机中的进程。</a:t>
            </a:r>
            <a:r>
              <a:rPr lang="zh-CN" altLang="zh-CN" dirty="0" smtClean="0">
                <a:ea typeface="黑体" panose="02010609060101010101" pitchFamily="49" charset="-122"/>
              </a:rPr>
              <a:t>也就是说，端到端的通信是应用进程之间的通信。</a:t>
            </a:r>
            <a:endParaRPr lang="en-US" altLang="zh-CN" dirty="0" smtClean="0">
              <a:ea typeface="黑体" panose="02010609060101010101" pitchFamily="49" charset="-122"/>
            </a:endParaRPr>
          </a:p>
        </p:txBody>
      </p:sp>
      <p:sp>
        <p:nvSpPr>
          <p:cNvPr id="129638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3EE977-2687-4757-BF42-147DB868B1B7}" type="slidenum">
              <a:rPr lang="zh-CN" altLang="en-US" smtClean="0"/>
              <a:pPr eaLnBrk="1" hangingPunct="1"/>
              <a:t>6</a:t>
            </a:fld>
            <a:endParaRPr lang="en-US" altLang="zh-CN" smtClean="0"/>
          </a:p>
        </p:txBody>
      </p:sp>
      <p:sp>
        <p:nvSpPr>
          <p:cNvPr id="129638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3" name="Rectangle 2"/>
          <p:cNvSpPr>
            <a:spLocks noGrp="1" noChangeArrowheads="1"/>
          </p:cNvSpPr>
          <p:nvPr>
            <p:ph type="title"/>
          </p:nvPr>
        </p:nvSpPr>
        <p:spPr/>
        <p:txBody>
          <a:bodyPr/>
          <a:lstStyle/>
          <a:p>
            <a:pPr algn="ctr"/>
            <a:r>
              <a:rPr lang="zh-CN" altLang="zh-CN" smtClean="0">
                <a:ea typeface="黑体" panose="02010609060101010101" pitchFamily="49" charset="-122"/>
              </a:rPr>
              <a:t>网络层和运输层有明显的区别</a:t>
            </a:r>
            <a:endParaRPr lang="zh-CN" altLang="en-US" smtClean="0">
              <a:ea typeface="黑体" panose="02010609060101010101" pitchFamily="49" charset="-122"/>
            </a:endParaRPr>
          </a:p>
        </p:txBody>
      </p:sp>
      <p:sp>
        <p:nvSpPr>
          <p:cNvPr id="1298434" name="矩形 3"/>
          <p:cNvSpPr>
            <a:spLocks noChangeArrowheads="1"/>
          </p:cNvSpPr>
          <p:nvPr/>
        </p:nvSpPr>
        <p:spPr bwMode="auto">
          <a:xfrm>
            <a:off x="992188" y="1125538"/>
            <a:ext cx="8424862" cy="954087"/>
          </a:xfrm>
          <a:prstGeom prst="rect">
            <a:avLst/>
          </a:prstGeom>
          <a:solidFill>
            <a:srgbClr val="FFFF66"/>
          </a:solidFill>
          <a:ln w="9525">
            <a:solidFill>
              <a:srgbClr val="000099"/>
            </a:solidFill>
            <a:round/>
            <a:headEnd/>
            <a:tailEnd/>
          </a:ln>
        </p:spPr>
        <p:txBody>
          <a:bodyPr>
            <a:spAutoFit/>
          </a:bodyPr>
          <a:lstStyle/>
          <a:p>
            <a:pPr eaLnBrk="0" hangingPunct="0"/>
            <a:r>
              <a:rPr lang="zh-CN" altLang="zh-CN" sz="2800" b="1" dirty="0">
                <a:solidFill>
                  <a:srgbClr val="FF0000"/>
                </a:solidFill>
                <a:ea typeface="黑体" panose="02010609060101010101" pitchFamily="49" charset="-122"/>
              </a:rPr>
              <a:t>网络层</a:t>
            </a:r>
            <a:r>
              <a:rPr lang="zh-CN" altLang="zh-CN" sz="2800" b="1" dirty="0">
                <a:ea typeface="黑体" panose="02010609060101010101" pitchFamily="49" charset="-122"/>
              </a:rPr>
              <a:t>是为</a:t>
            </a:r>
            <a:r>
              <a:rPr lang="zh-CN" altLang="zh-CN" sz="2800" b="1" dirty="0">
                <a:solidFill>
                  <a:srgbClr val="0000FF"/>
                </a:solidFill>
                <a:ea typeface="黑体" panose="02010609060101010101" pitchFamily="49" charset="-122"/>
              </a:rPr>
              <a:t>主机</a:t>
            </a:r>
            <a:r>
              <a:rPr lang="zh-CN" altLang="zh-CN" sz="2800" b="1" dirty="0">
                <a:ea typeface="黑体" panose="02010609060101010101" pitchFamily="49" charset="-122"/>
              </a:rPr>
              <a:t>之间提供逻辑通信，</a:t>
            </a:r>
            <a:endParaRPr lang="en-US" altLang="zh-CN" sz="2800" b="1" dirty="0">
              <a:ea typeface="黑体" panose="02010609060101010101" pitchFamily="49" charset="-122"/>
            </a:endParaRPr>
          </a:p>
          <a:p>
            <a:pPr eaLnBrk="0" hangingPunct="0"/>
            <a:r>
              <a:rPr lang="zh-CN" altLang="zh-CN" sz="2800" b="1" dirty="0">
                <a:ea typeface="黑体" panose="02010609060101010101" pitchFamily="49" charset="-122"/>
              </a:rPr>
              <a:t>而</a:t>
            </a:r>
            <a:r>
              <a:rPr lang="zh-CN" altLang="zh-CN" sz="2800" b="1" dirty="0">
                <a:solidFill>
                  <a:srgbClr val="FF0000"/>
                </a:solidFill>
                <a:ea typeface="黑体" panose="02010609060101010101" pitchFamily="49" charset="-122"/>
              </a:rPr>
              <a:t>运输层</a:t>
            </a:r>
            <a:r>
              <a:rPr lang="zh-CN" altLang="zh-CN" sz="2800" b="1" dirty="0">
                <a:ea typeface="黑体" panose="02010609060101010101" pitchFamily="49" charset="-122"/>
              </a:rPr>
              <a:t>为</a:t>
            </a:r>
            <a:r>
              <a:rPr lang="zh-CN" altLang="zh-CN" sz="2800" b="1" dirty="0">
                <a:solidFill>
                  <a:srgbClr val="0000FF"/>
                </a:solidFill>
                <a:ea typeface="黑体" panose="02010609060101010101" pitchFamily="49" charset="-122"/>
              </a:rPr>
              <a:t>应用进程</a:t>
            </a:r>
            <a:r>
              <a:rPr lang="zh-CN" altLang="zh-CN" sz="2800" b="1" dirty="0">
                <a:ea typeface="黑体" panose="02010609060101010101" pitchFamily="49" charset="-122"/>
              </a:rPr>
              <a:t>之间提供端到端的逻辑通信</a:t>
            </a:r>
            <a:r>
              <a:rPr lang="zh-CN" altLang="en-US" sz="2800" b="1" dirty="0">
                <a:ea typeface="黑体" panose="02010609060101010101" pitchFamily="49" charset="-122"/>
              </a:rPr>
              <a:t>。</a:t>
            </a:r>
          </a:p>
        </p:txBody>
      </p:sp>
      <p:grpSp>
        <p:nvGrpSpPr>
          <p:cNvPr id="1298435" name="组合 5"/>
          <p:cNvGrpSpPr>
            <a:grpSpLocks/>
          </p:cNvGrpSpPr>
          <p:nvPr/>
        </p:nvGrpSpPr>
        <p:grpSpPr bwMode="auto">
          <a:xfrm>
            <a:off x="1712913" y="2106613"/>
            <a:ext cx="6905625" cy="4043362"/>
            <a:chOff x="1206500" y="1993380"/>
            <a:chExt cx="6905626" cy="4043958"/>
          </a:xfrm>
        </p:grpSpPr>
        <p:sp>
          <p:nvSpPr>
            <p:cNvPr id="1298436" name="Line 2"/>
            <p:cNvSpPr>
              <a:spLocks noChangeShapeType="1"/>
            </p:cNvSpPr>
            <p:nvPr/>
          </p:nvSpPr>
          <p:spPr bwMode="auto">
            <a:xfrm>
              <a:off x="2217738" y="4076700"/>
              <a:ext cx="4926013"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37" name="Rectangle 3"/>
            <p:cNvSpPr>
              <a:spLocks noChangeArrowheads="1"/>
            </p:cNvSpPr>
            <p:nvPr/>
          </p:nvSpPr>
          <p:spPr bwMode="auto">
            <a:xfrm>
              <a:off x="1206500" y="2379663"/>
              <a:ext cx="1781175" cy="1033463"/>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8438" name="Rectangle 4"/>
            <p:cNvSpPr>
              <a:spLocks noChangeArrowheads="1"/>
            </p:cNvSpPr>
            <p:nvPr/>
          </p:nvSpPr>
          <p:spPr bwMode="auto">
            <a:xfrm>
              <a:off x="6302376" y="2379663"/>
              <a:ext cx="1781175" cy="1033463"/>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8439" name="Text Box 6"/>
            <p:cNvSpPr txBox="1">
              <a:spLocks noChangeArrowheads="1"/>
            </p:cNvSpPr>
            <p:nvPr/>
          </p:nvSpPr>
          <p:spPr bwMode="auto">
            <a:xfrm>
              <a:off x="1206500"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sp>
          <p:nvSpPr>
            <p:cNvPr id="1298440" name="Rectangle 7"/>
            <p:cNvSpPr>
              <a:spLocks noChangeArrowheads="1"/>
            </p:cNvSpPr>
            <p:nvPr/>
          </p:nvSpPr>
          <p:spPr bwMode="auto">
            <a:xfrm>
              <a:off x="1423988" y="1993380"/>
              <a:ext cx="14208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应用进程</a:t>
              </a:r>
            </a:p>
          </p:txBody>
        </p:sp>
        <p:sp>
          <p:nvSpPr>
            <p:cNvPr id="1298441" name="Rectangle 8"/>
            <p:cNvSpPr>
              <a:spLocks noChangeArrowheads="1"/>
            </p:cNvSpPr>
            <p:nvPr/>
          </p:nvSpPr>
          <p:spPr bwMode="auto">
            <a:xfrm>
              <a:off x="1889125" y="28495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t>
              </a:r>
            </a:p>
          </p:txBody>
        </p:sp>
        <p:sp>
          <p:nvSpPr>
            <p:cNvPr id="1298442" name="Text Box 9"/>
            <p:cNvSpPr txBox="1">
              <a:spLocks noChangeArrowheads="1"/>
            </p:cNvSpPr>
            <p:nvPr/>
          </p:nvSpPr>
          <p:spPr bwMode="auto">
            <a:xfrm>
              <a:off x="2185988"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sp>
          <p:nvSpPr>
            <p:cNvPr id="1298443" name="Text Box 10"/>
            <p:cNvSpPr txBox="1">
              <a:spLocks noChangeArrowheads="1"/>
            </p:cNvSpPr>
            <p:nvPr/>
          </p:nvSpPr>
          <p:spPr bwMode="auto">
            <a:xfrm>
              <a:off x="6302376"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sp>
          <p:nvSpPr>
            <p:cNvPr id="1298444" name="Rectangle 11"/>
            <p:cNvSpPr>
              <a:spLocks noChangeArrowheads="1"/>
            </p:cNvSpPr>
            <p:nvPr/>
          </p:nvSpPr>
          <p:spPr bwMode="auto">
            <a:xfrm>
              <a:off x="6519863" y="1993380"/>
              <a:ext cx="14208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应用进程</a:t>
              </a:r>
            </a:p>
          </p:txBody>
        </p:sp>
        <p:sp>
          <p:nvSpPr>
            <p:cNvPr id="1298445" name="Rectangle 12"/>
            <p:cNvSpPr>
              <a:spLocks noChangeArrowheads="1"/>
            </p:cNvSpPr>
            <p:nvPr/>
          </p:nvSpPr>
          <p:spPr bwMode="auto">
            <a:xfrm>
              <a:off x="6985001" y="28495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a:t>
              </a:r>
            </a:p>
          </p:txBody>
        </p:sp>
        <p:sp>
          <p:nvSpPr>
            <p:cNvPr id="1298446" name="Text Box 13"/>
            <p:cNvSpPr txBox="1">
              <a:spLocks noChangeArrowheads="1"/>
            </p:cNvSpPr>
            <p:nvPr/>
          </p:nvSpPr>
          <p:spPr bwMode="auto">
            <a:xfrm>
              <a:off x="7281863" y="2276475"/>
              <a:ext cx="83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solidFill>
                    <a:srgbClr val="000099"/>
                  </a:solidFill>
                  <a:ea typeface="黑体" panose="02010609060101010101" pitchFamily="49" charset="-122"/>
                  <a:sym typeface="Wingdings" panose="05000000000000000000" pitchFamily="2" charset="2"/>
                </a:rPr>
                <a:t></a:t>
              </a:r>
              <a:endParaRPr lang="en-US" altLang="zh-CN" sz="7200" b="1">
                <a:solidFill>
                  <a:srgbClr val="000099"/>
                </a:solidFill>
                <a:ea typeface="黑体" panose="02010609060101010101" pitchFamily="49" charset="-122"/>
              </a:endParaRPr>
            </a:p>
          </p:txBody>
        </p:sp>
        <p:pic>
          <p:nvPicPr>
            <p:cNvPr id="1298447"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0550" y="3651250"/>
              <a:ext cx="5334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8448"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4363" y="3651250"/>
              <a:ext cx="5349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8449" name="AutoShape 16"/>
            <p:cNvSpPr>
              <a:spLocks noChangeArrowheads="1"/>
            </p:cNvSpPr>
            <p:nvPr/>
          </p:nvSpPr>
          <p:spPr bwMode="auto">
            <a:xfrm>
              <a:off x="7073901" y="3213100"/>
              <a:ext cx="255588" cy="573088"/>
            </a:xfrm>
            <a:prstGeom prst="upDownArrow">
              <a:avLst>
                <a:gd name="adj1" fmla="val 50000"/>
                <a:gd name="adj2" fmla="val 44845"/>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98450" name="Line 17"/>
            <p:cNvSpPr>
              <a:spLocks noChangeShapeType="1"/>
            </p:cNvSpPr>
            <p:nvPr/>
          </p:nvSpPr>
          <p:spPr bwMode="auto">
            <a:xfrm>
              <a:off x="2132013" y="4160838"/>
              <a:ext cx="0" cy="11096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1" name="Line 18"/>
            <p:cNvSpPr>
              <a:spLocks noChangeShapeType="1"/>
            </p:cNvSpPr>
            <p:nvPr/>
          </p:nvSpPr>
          <p:spPr bwMode="auto">
            <a:xfrm>
              <a:off x="7229476" y="4160838"/>
              <a:ext cx="0" cy="110966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2" name="Line 19"/>
            <p:cNvSpPr>
              <a:spLocks noChangeShapeType="1"/>
            </p:cNvSpPr>
            <p:nvPr/>
          </p:nvSpPr>
          <p:spPr bwMode="auto">
            <a:xfrm>
              <a:off x="2132013" y="5014913"/>
              <a:ext cx="509746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3" name="Rectangle 20"/>
            <p:cNvSpPr>
              <a:spLocks noChangeArrowheads="1"/>
            </p:cNvSpPr>
            <p:nvPr/>
          </p:nvSpPr>
          <p:spPr bwMode="auto">
            <a:xfrm>
              <a:off x="2865438" y="4557713"/>
              <a:ext cx="3538538" cy="704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协议的作用范围</a:t>
              </a:r>
            </a:p>
            <a:p>
              <a:pPr algn="ctr"/>
              <a:r>
                <a:rPr lang="zh-CN" altLang="en-US" sz="2000" b="1">
                  <a:solidFill>
                    <a:srgbClr val="000099"/>
                  </a:solidFill>
                  <a:ea typeface="黑体" panose="02010609060101010101" pitchFamily="49" charset="-122"/>
                </a:rPr>
                <a:t>（提供主机之间的逻辑通信）</a:t>
              </a:r>
            </a:p>
          </p:txBody>
        </p:sp>
        <p:sp>
          <p:nvSpPr>
            <p:cNvPr id="1298454" name="Line 21"/>
            <p:cNvSpPr>
              <a:spLocks noChangeShapeType="1"/>
            </p:cNvSpPr>
            <p:nvPr/>
          </p:nvSpPr>
          <p:spPr bwMode="auto">
            <a:xfrm>
              <a:off x="1535114" y="3262313"/>
              <a:ext cx="0" cy="264623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5" name="Line 22"/>
            <p:cNvSpPr>
              <a:spLocks noChangeShapeType="1"/>
            </p:cNvSpPr>
            <p:nvPr/>
          </p:nvSpPr>
          <p:spPr bwMode="auto">
            <a:xfrm>
              <a:off x="7799388" y="3308350"/>
              <a:ext cx="0" cy="260020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98456" name="Line 23"/>
            <p:cNvSpPr>
              <a:spLocks noChangeShapeType="1"/>
            </p:cNvSpPr>
            <p:nvPr/>
          </p:nvSpPr>
          <p:spPr bwMode="auto">
            <a:xfrm>
              <a:off x="1538288" y="5696025"/>
              <a:ext cx="628491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C00000"/>
                </a:solidFill>
                <a:ea typeface="黑体" panose="02010609060101010101" pitchFamily="49" charset="-122"/>
              </a:endParaRPr>
            </a:p>
          </p:txBody>
        </p:sp>
        <p:sp>
          <p:nvSpPr>
            <p:cNvPr id="1298457" name="Rectangle 24"/>
            <p:cNvSpPr>
              <a:spLocks noChangeArrowheads="1"/>
            </p:cNvSpPr>
            <p:nvPr/>
          </p:nvSpPr>
          <p:spPr bwMode="auto">
            <a:xfrm>
              <a:off x="3070225" y="5332488"/>
              <a:ext cx="3538538" cy="704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00000"/>
                  </a:solidFill>
                  <a:ea typeface="黑体" panose="02010609060101010101" pitchFamily="49" charset="-122"/>
                </a:rPr>
                <a:t>TCP </a:t>
              </a:r>
              <a:r>
                <a:rPr lang="zh-CN" altLang="en-US" sz="2000" b="1">
                  <a:solidFill>
                    <a:srgbClr val="C00000"/>
                  </a:solidFill>
                  <a:ea typeface="黑体" panose="02010609060101010101" pitchFamily="49" charset="-122"/>
                </a:rPr>
                <a:t>和 </a:t>
              </a:r>
              <a:r>
                <a:rPr lang="en-US" altLang="zh-CN" sz="2000" b="1">
                  <a:solidFill>
                    <a:srgbClr val="C00000"/>
                  </a:solidFill>
                  <a:ea typeface="黑体" panose="02010609060101010101" pitchFamily="49" charset="-122"/>
                </a:rPr>
                <a:t>UDP </a:t>
              </a:r>
              <a:r>
                <a:rPr lang="zh-CN" altLang="en-US" sz="2000" b="1">
                  <a:solidFill>
                    <a:srgbClr val="C00000"/>
                  </a:solidFill>
                  <a:ea typeface="黑体" panose="02010609060101010101" pitchFamily="49" charset="-122"/>
                </a:rPr>
                <a:t>协议的作用范围</a:t>
              </a:r>
            </a:p>
            <a:p>
              <a:r>
                <a:rPr lang="zh-CN" altLang="en-US" sz="2000" b="1">
                  <a:solidFill>
                    <a:srgbClr val="C00000"/>
                  </a:solidFill>
                  <a:ea typeface="黑体" panose="02010609060101010101" pitchFamily="49" charset="-122"/>
                </a:rPr>
                <a:t>（提供进程之间的逻辑通信）</a:t>
              </a:r>
            </a:p>
          </p:txBody>
        </p:sp>
        <p:sp>
          <p:nvSpPr>
            <p:cNvPr id="1298458" name="AutoShape 25"/>
            <p:cNvSpPr>
              <a:spLocks noChangeArrowheads="1"/>
            </p:cNvSpPr>
            <p:nvPr/>
          </p:nvSpPr>
          <p:spPr bwMode="auto">
            <a:xfrm>
              <a:off x="1984375" y="3213100"/>
              <a:ext cx="255588" cy="573088"/>
            </a:xfrm>
            <a:prstGeom prst="upDownArrow">
              <a:avLst>
                <a:gd name="adj1" fmla="val 50000"/>
                <a:gd name="adj2" fmla="val 44845"/>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aphicFrame>
          <p:nvGraphicFramePr>
            <p:cNvPr id="1298459" name="Object 26"/>
            <p:cNvGraphicFramePr>
              <a:graphicFrameLocks noChangeAspect="1"/>
            </p:cNvGraphicFramePr>
            <p:nvPr/>
          </p:nvGraphicFramePr>
          <p:xfrm>
            <a:off x="3036888" y="3081338"/>
            <a:ext cx="3200400" cy="1525588"/>
          </p:xfrm>
          <a:graphic>
            <a:graphicData uri="http://schemas.openxmlformats.org/presentationml/2006/ole">
              <mc:AlternateContent xmlns:mc="http://schemas.openxmlformats.org/markup-compatibility/2006">
                <mc:Choice xmlns:v="urn:schemas-microsoft-com:vml" Requires="v">
                  <p:oleObj spid="_x0000_s1298494" r:id="rId5" imgW="1687068" imgH="964692" progId="">
                    <p:embed/>
                  </p:oleObj>
                </mc:Choice>
                <mc:Fallback>
                  <p:oleObj r:id="rId5" imgW="1687068" imgH="964692" progId="">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6888" y="3081338"/>
                          <a:ext cx="3200400" cy="152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98460" name="Rectangle 27"/>
            <p:cNvSpPr>
              <a:spLocks noChangeArrowheads="1"/>
            </p:cNvSpPr>
            <p:nvPr/>
          </p:nvSpPr>
          <p:spPr bwMode="auto">
            <a:xfrm>
              <a:off x="3979863" y="3594100"/>
              <a:ext cx="12604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000099"/>
                  </a:solidFill>
                  <a:ea typeface="黑体" panose="02010609060101010101" pitchFamily="49" charset="-122"/>
                </a:rPr>
                <a:t>互联网</a:t>
              </a:r>
              <a:endParaRPr lang="en-US" altLang="zh-CN" sz="2800" b="1">
                <a:solidFill>
                  <a:srgbClr val="000099"/>
                </a:solidFill>
                <a:ea typeface="黑体" panose="02010609060101010101" pitchFamily="49" charset="-122"/>
              </a:endParaRPr>
            </a:p>
          </p:txBody>
        </p:sp>
      </p:grpSp>
      <p:sp>
        <p:nvSpPr>
          <p:cNvPr id="1298461" name="矩形 58"/>
          <p:cNvSpPr>
            <a:spLocks noChangeArrowheads="1"/>
          </p:cNvSpPr>
          <p:nvPr/>
        </p:nvSpPr>
        <p:spPr bwMode="auto">
          <a:xfrm>
            <a:off x="2114550" y="6237288"/>
            <a:ext cx="6059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运输层协议和网络层协议的主要区别</a:t>
            </a:r>
            <a:endParaRPr lang="zh-CN" altLang="en-US" sz="2400" b="1">
              <a:ea typeface="黑体" panose="02010609060101010101" pitchFamily="49" charset="-122"/>
            </a:endParaRPr>
          </a:p>
        </p:txBody>
      </p:sp>
      <p:sp>
        <p:nvSpPr>
          <p:cNvPr id="129846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A26376-7EB5-4323-AFE1-0BF434FCD8DA}" type="slidenum">
              <a:rPr lang="zh-CN" altLang="en-US" smtClean="0"/>
              <a:pPr eaLnBrk="1" hangingPunct="1"/>
              <a:t>7</a:t>
            </a:fld>
            <a:endParaRPr lang="en-US" altLang="zh-CN" smtClean="0"/>
          </a:p>
        </p:txBody>
      </p:sp>
      <p:sp>
        <p:nvSpPr>
          <p:cNvPr id="1298463"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运输层的作用</a:t>
            </a:r>
          </a:p>
        </p:txBody>
      </p:sp>
      <p:sp>
        <p:nvSpPr>
          <p:cNvPr id="1300482"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在一台主机中经常有</a:t>
            </a:r>
            <a:r>
              <a:rPr lang="zh-CN" altLang="zh-CN" dirty="0" smtClean="0">
                <a:solidFill>
                  <a:srgbClr val="FF0000"/>
                </a:solidFill>
                <a:ea typeface="黑体" panose="02010609060101010101" pitchFamily="49" charset="-122"/>
              </a:rPr>
              <a:t>多个应用进程</a:t>
            </a:r>
            <a:r>
              <a:rPr lang="zh-CN" altLang="zh-CN" dirty="0" smtClean="0">
                <a:ea typeface="黑体" panose="02010609060101010101" pitchFamily="49" charset="-122"/>
              </a:rPr>
              <a:t>同时分别和另一台主机中的多个应用进程通信。</a:t>
            </a:r>
            <a:endParaRPr lang="en-US" altLang="zh-CN" dirty="0" smtClean="0">
              <a:ea typeface="黑体" panose="02010609060101010101" pitchFamily="49" charset="-122"/>
            </a:endParaRPr>
          </a:p>
          <a:p>
            <a:r>
              <a:rPr lang="zh-CN" altLang="zh-CN" dirty="0" smtClean="0">
                <a:ea typeface="黑体" panose="02010609060101010101" pitchFamily="49" charset="-122"/>
              </a:rPr>
              <a:t>这表明运输层有一个很重要的功能——</a:t>
            </a:r>
            <a:r>
              <a:rPr lang="zh-CN" altLang="zh-CN" dirty="0" smtClean="0">
                <a:solidFill>
                  <a:srgbClr val="FF0000"/>
                </a:solidFill>
                <a:ea typeface="黑体" panose="02010609060101010101" pitchFamily="49" charset="-122"/>
              </a:rPr>
              <a:t>复用</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(multiplexing)</a:t>
            </a:r>
            <a:r>
              <a:rPr lang="zh-CN" altLang="zh-CN" dirty="0" smtClean="0">
                <a:ea typeface="黑体" panose="02010609060101010101" pitchFamily="49" charset="-122"/>
              </a:rPr>
              <a:t>和</a:t>
            </a:r>
            <a:r>
              <a:rPr lang="zh-CN" altLang="zh-CN" dirty="0" smtClean="0">
                <a:solidFill>
                  <a:srgbClr val="FF0000"/>
                </a:solidFill>
                <a:ea typeface="黑体" panose="02010609060101010101" pitchFamily="49" charset="-122"/>
              </a:rPr>
              <a:t>分用</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a:t>
            </a:r>
            <a:r>
              <a:rPr lang="en-US" altLang="zh-CN" dirty="0" err="1" smtClean="0">
                <a:ea typeface="黑体" panose="02010609060101010101" pitchFamily="49" charset="-122"/>
              </a:rPr>
              <a:t>demultiplexing</a:t>
            </a:r>
            <a:r>
              <a:rPr lang="en-US" altLang="zh-CN" dirty="0" smtClean="0">
                <a:ea typeface="黑体" panose="02010609060101010101" pitchFamily="49" charset="-122"/>
              </a:rPr>
              <a:t>)</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根据应用程序的不同需求，运输层需要有两种不同的运输协议，即</a:t>
            </a:r>
            <a:r>
              <a:rPr lang="zh-CN" altLang="zh-CN" dirty="0" smtClean="0">
                <a:solidFill>
                  <a:srgbClr val="FF0000"/>
                </a:solidFill>
                <a:ea typeface="黑体" panose="02010609060101010101" pitchFamily="49" charset="-122"/>
              </a:rPr>
              <a:t>面向连接的</a:t>
            </a:r>
            <a:r>
              <a:rPr lang="en-US" altLang="zh-CN" dirty="0" smtClean="0">
                <a:solidFill>
                  <a:srgbClr val="FF0000"/>
                </a:solidFill>
                <a:ea typeface="黑体" panose="02010609060101010101" pitchFamily="49" charset="-122"/>
              </a:rPr>
              <a:t> TCP </a:t>
            </a:r>
            <a:r>
              <a:rPr lang="zh-CN" altLang="zh-CN" dirty="0" smtClean="0">
                <a:ea typeface="黑体" panose="02010609060101010101" pitchFamily="49" charset="-122"/>
              </a:rPr>
              <a:t>和无</a:t>
            </a:r>
            <a:r>
              <a:rPr lang="zh-CN" altLang="zh-CN" dirty="0" smtClean="0">
                <a:solidFill>
                  <a:srgbClr val="FF0000"/>
                </a:solidFill>
                <a:ea typeface="黑体" panose="02010609060101010101" pitchFamily="49" charset="-122"/>
              </a:rPr>
              <a:t>连接的</a:t>
            </a:r>
            <a:r>
              <a:rPr lang="en-US" altLang="zh-CN" dirty="0" smtClean="0">
                <a:solidFill>
                  <a:srgbClr val="FF0000"/>
                </a:solidFill>
                <a:ea typeface="黑体" panose="02010609060101010101" pitchFamily="49" charset="-122"/>
              </a:rPr>
              <a:t> UDP </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endParaRPr lang="zh-CN" altLang="en-US" dirty="0" smtClean="0">
              <a:ea typeface="黑体" panose="02010609060101010101" pitchFamily="49" charset="-122"/>
            </a:endParaRPr>
          </a:p>
        </p:txBody>
      </p:sp>
      <p:sp>
        <p:nvSpPr>
          <p:cNvPr id="130048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AD7F47-85DC-48B6-8817-A8A27D0F601B}" type="slidenum">
              <a:rPr lang="zh-CN" altLang="en-US" smtClean="0"/>
              <a:pPr eaLnBrk="1" hangingPunct="1"/>
              <a:t>8</a:t>
            </a:fld>
            <a:endParaRPr lang="en-US" altLang="zh-CN" smtClean="0"/>
          </a:p>
        </p:txBody>
      </p:sp>
      <p:sp>
        <p:nvSpPr>
          <p:cNvPr id="130048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529" name="Rectangle 2"/>
          <p:cNvSpPr>
            <a:spLocks noGrp="1" noChangeArrowheads="1"/>
          </p:cNvSpPr>
          <p:nvPr>
            <p:ph type="title"/>
          </p:nvPr>
        </p:nvSpPr>
        <p:spPr/>
        <p:txBody>
          <a:bodyPr/>
          <a:lstStyle/>
          <a:p>
            <a:pPr algn="ctr"/>
            <a:r>
              <a:rPr lang="zh-CN" altLang="en-US" smtClean="0">
                <a:ea typeface="黑体" panose="02010609060101010101" pitchFamily="49" charset="-122"/>
              </a:rPr>
              <a:t>基于端口的</a:t>
            </a:r>
            <a:r>
              <a:rPr lang="zh-CN" altLang="en-US" smtClean="0">
                <a:solidFill>
                  <a:srgbClr val="C00000"/>
                </a:solidFill>
                <a:ea typeface="黑体" panose="02010609060101010101" pitchFamily="49" charset="-122"/>
              </a:rPr>
              <a:t>复用</a:t>
            </a:r>
            <a:r>
              <a:rPr lang="zh-CN" altLang="en-US" smtClean="0">
                <a:ea typeface="黑体" panose="02010609060101010101" pitchFamily="49" charset="-122"/>
              </a:rPr>
              <a:t>和</a:t>
            </a:r>
            <a:r>
              <a:rPr lang="zh-CN" altLang="en-US" smtClean="0">
                <a:solidFill>
                  <a:srgbClr val="C00000"/>
                </a:solidFill>
                <a:ea typeface="黑体" panose="02010609060101010101" pitchFamily="49" charset="-122"/>
              </a:rPr>
              <a:t>分用</a:t>
            </a:r>
            <a:r>
              <a:rPr lang="zh-CN" altLang="en-US" smtClean="0">
                <a:ea typeface="黑体" panose="02010609060101010101" pitchFamily="49" charset="-122"/>
              </a:rPr>
              <a:t>功能</a:t>
            </a:r>
          </a:p>
        </p:txBody>
      </p:sp>
      <p:grpSp>
        <p:nvGrpSpPr>
          <p:cNvPr id="1302530" name="组合 1"/>
          <p:cNvGrpSpPr>
            <a:grpSpLocks/>
          </p:cNvGrpSpPr>
          <p:nvPr/>
        </p:nvGrpSpPr>
        <p:grpSpPr bwMode="auto">
          <a:xfrm>
            <a:off x="247650" y="1196975"/>
            <a:ext cx="9601200" cy="5241925"/>
            <a:chOff x="272480" y="1301751"/>
            <a:chExt cx="9602564" cy="5241925"/>
          </a:xfrm>
        </p:grpSpPr>
        <p:sp>
          <p:nvSpPr>
            <p:cNvPr id="1302531" name="AutoShape 5"/>
            <p:cNvSpPr>
              <a:spLocks noChangeArrowheads="1"/>
            </p:cNvSpPr>
            <p:nvPr/>
          </p:nvSpPr>
          <p:spPr bwMode="auto">
            <a:xfrm>
              <a:off x="5556113" y="1354716"/>
              <a:ext cx="4318931" cy="4160156"/>
            </a:xfrm>
            <a:prstGeom prst="roundRect">
              <a:avLst>
                <a:gd name="adj" fmla="val 16667"/>
              </a:avLst>
            </a:prstGeom>
            <a:solidFill>
              <a:srgbClr val="FFFF99"/>
            </a:solidFill>
            <a:ln w="9525">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2" name="AutoShape 6"/>
            <p:cNvSpPr>
              <a:spLocks noChangeArrowheads="1"/>
            </p:cNvSpPr>
            <p:nvPr/>
          </p:nvSpPr>
          <p:spPr bwMode="auto">
            <a:xfrm>
              <a:off x="695905" y="1354716"/>
              <a:ext cx="4318931" cy="4160156"/>
            </a:xfrm>
            <a:prstGeom prst="roundRect">
              <a:avLst>
                <a:gd name="adj" fmla="val 16667"/>
              </a:avLst>
            </a:prstGeom>
            <a:solidFill>
              <a:srgbClr val="FFFF99"/>
            </a:solidFill>
            <a:ln w="9525">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3" name="Rectangle 7"/>
            <p:cNvSpPr>
              <a:spLocks noChangeArrowheads="1"/>
            </p:cNvSpPr>
            <p:nvPr/>
          </p:nvSpPr>
          <p:spPr bwMode="auto">
            <a:xfrm>
              <a:off x="5640798" y="4667433"/>
              <a:ext cx="4149561" cy="92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4" name="AutoShape 8"/>
            <p:cNvSpPr>
              <a:spLocks noChangeArrowheads="1"/>
            </p:cNvSpPr>
            <p:nvPr/>
          </p:nvSpPr>
          <p:spPr bwMode="auto">
            <a:xfrm>
              <a:off x="6064223" y="4667433"/>
              <a:ext cx="3302712" cy="693359"/>
            </a:xfrm>
            <a:custGeom>
              <a:avLst/>
              <a:gdLst>
                <a:gd name="T0" fmla="*/ 0 w 21600"/>
                <a:gd name="T1" fmla="*/ 0 h 21600"/>
                <a:gd name="T2" fmla="*/ 2074 w 21600"/>
                <a:gd name="T3" fmla="*/ 21600 h 21600"/>
                <a:gd name="T4" fmla="*/ 19526 w 21600"/>
                <a:gd name="T5" fmla="*/ 21600 h 21600"/>
                <a:gd name="T6" fmla="*/ 21600 w 21600"/>
                <a:gd name="T7" fmla="*/ 0 h 21600"/>
                <a:gd name="T8" fmla="*/ 0 w 21600"/>
                <a:gd name="T9" fmla="*/ 0 h 21600"/>
              </a:gdLst>
              <a:ahLst/>
              <a:cxnLst>
                <a:cxn ang="0">
                  <a:pos x="T0" y="T1"/>
                </a:cxn>
                <a:cxn ang="0">
                  <a:pos x="T2" y="T3"/>
                </a:cxn>
                <a:cxn ang="0">
                  <a:pos x="T4" y="T5"/>
                </a:cxn>
                <a:cxn ang="0">
                  <a:pos x="T6" y="T7"/>
                </a:cxn>
                <a:cxn ang="0">
                  <a:pos x="T8" y="T9"/>
                </a:cxn>
              </a:cxnLst>
              <a:rect l="0" t="0" r="r" b="b"/>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5" name="Rectangle 9"/>
            <p:cNvSpPr>
              <a:spLocks noChangeArrowheads="1"/>
            </p:cNvSpPr>
            <p:nvPr/>
          </p:nvSpPr>
          <p:spPr bwMode="auto">
            <a:xfrm>
              <a:off x="272480" y="4667433"/>
              <a:ext cx="4657670" cy="92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6" name="Rectangle 10"/>
            <p:cNvSpPr>
              <a:spLocks noChangeArrowheads="1"/>
            </p:cNvSpPr>
            <p:nvPr/>
          </p:nvSpPr>
          <p:spPr bwMode="auto">
            <a:xfrm>
              <a:off x="272480" y="1971035"/>
              <a:ext cx="4657670" cy="130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7" name="Line 11"/>
            <p:cNvSpPr>
              <a:spLocks noChangeShapeType="1"/>
            </p:cNvSpPr>
            <p:nvPr/>
          </p:nvSpPr>
          <p:spPr bwMode="auto">
            <a:xfrm flipH="1">
              <a:off x="1204014" y="281847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8" name="Line 12"/>
            <p:cNvSpPr>
              <a:spLocks noChangeShapeType="1"/>
            </p:cNvSpPr>
            <p:nvPr/>
          </p:nvSpPr>
          <p:spPr bwMode="auto">
            <a:xfrm flipH="1">
              <a:off x="1796808" y="281847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39" name="Text Box 13"/>
            <p:cNvSpPr txBox="1">
              <a:spLocks noChangeArrowheads="1"/>
            </p:cNvSpPr>
            <p:nvPr/>
          </p:nvSpPr>
          <p:spPr bwMode="auto">
            <a:xfrm>
              <a:off x="272480" y="1937330"/>
              <a:ext cx="416367" cy="92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ea typeface="黑体" panose="02010609060101010101" pitchFamily="49" charset="-122"/>
                </a:rPr>
                <a:t>应</a:t>
              </a:r>
            </a:p>
            <a:p>
              <a:r>
                <a:rPr lang="zh-CN" altLang="en-US" b="1">
                  <a:ea typeface="黑体" panose="02010609060101010101" pitchFamily="49" charset="-122"/>
                </a:rPr>
                <a:t>用</a:t>
              </a:r>
            </a:p>
            <a:p>
              <a:r>
                <a:rPr lang="zh-CN" altLang="en-US" b="1">
                  <a:ea typeface="黑体" panose="02010609060101010101" pitchFamily="49" charset="-122"/>
                </a:rPr>
                <a:t>层</a:t>
              </a:r>
            </a:p>
          </p:txBody>
        </p:sp>
        <p:sp>
          <p:nvSpPr>
            <p:cNvPr id="1302540" name="Text Box 14"/>
            <p:cNvSpPr txBox="1">
              <a:spLocks noChangeArrowheads="1"/>
            </p:cNvSpPr>
            <p:nvPr/>
          </p:nvSpPr>
          <p:spPr bwMode="auto">
            <a:xfrm>
              <a:off x="272480" y="3176389"/>
              <a:ext cx="416367" cy="92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ea typeface="黑体" panose="02010609060101010101" pitchFamily="49" charset="-122"/>
                </a:rPr>
                <a:t>运</a:t>
              </a:r>
            </a:p>
            <a:p>
              <a:r>
                <a:rPr lang="zh-CN" altLang="en-US" b="1">
                  <a:ea typeface="黑体" panose="02010609060101010101" pitchFamily="49" charset="-122"/>
                </a:rPr>
                <a:t>输</a:t>
              </a:r>
            </a:p>
            <a:p>
              <a:r>
                <a:rPr lang="zh-CN" altLang="en-US" b="1">
                  <a:ea typeface="黑体" panose="02010609060101010101" pitchFamily="49" charset="-122"/>
                </a:rPr>
                <a:t>层</a:t>
              </a:r>
            </a:p>
          </p:txBody>
        </p:sp>
        <p:sp>
          <p:nvSpPr>
            <p:cNvPr id="1302541" name="Text Box 15"/>
            <p:cNvSpPr txBox="1">
              <a:spLocks noChangeArrowheads="1"/>
            </p:cNvSpPr>
            <p:nvPr/>
          </p:nvSpPr>
          <p:spPr bwMode="auto">
            <a:xfrm>
              <a:off x="272480" y="4539033"/>
              <a:ext cx="416367" cy="922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ea typeface="黑体" panose="02010609060101010101" pitchFamily="49" charset="-122"/>
                </a:rPr>
                <a:t>网</a:t>
              </a:r>
            </a:p>
            <a:p>
              <a:r>
                <a:rPr lang="zh-CN" altLang="en-US" b="1">
                  <a:ea typeface="黑体" panose="02010609060101010101" pitchFamily="49" charset="-122"/>
                </a:rPr>
                <a:t>络</a:t>
              </a:r>
            </a:p>
            <a:p>
              <a:r>
                <a:rPr lang="zh-CN" altLang="en-US" b="1">
                  <a:ea typeface="黑体" panose="02010609060101010101" pitchFamily="49" charset="-122"/>
                </a:rPr>
                <a:t>层</a:t>
              </a:r>
            </a:p>
          </p:txBody>
        </p:sp>
        <p:sp>
          <p:nvSpPr>
            <p:cNvPr id="1302542" name="Text Box 16"/>
            <p:cNvSpPr txBox="1">
              <a:spLocks noChangeArrowheads="1"/>
            </p:cNvSpPr>
            <p:nvPr/>
          </p:nvSpPr>
          <p:spPr bwMode="auto">
            <a:xfrm>
              <a:off x="1191664" y="4190748"/>
              <a:ext cx="14035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报文段</a:t>
              </a:r>
            </a:p>
          </p:txBody>
        </p:sp>
        <p:sp>
          <p:nvSpPr>
            <p:cNvPr id="1302543" name="Text Box 17"/>
            <p:cNvSpPr txBox="1">
              <a:spLocks noChangeArrowheads="1"/>
            </p:cNvSpPr>
            <p:nvPr/>
          </p:nvSpPr>
          <p:spPr bwMode="auto">
            <a:xfrm>
              <a:off x="3187052" y="4028643"/>
              <a:ext cx="1346137" cy="59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altLang="zh-CN" b="1">
                  <a:solidFill>
                    <a:srgbClr val="000099"/>
                  </a:solidFill>
                  <a:ea typeface="黑体" panose="02010609060101010101" pitchFamily="49" charset="-122"/>
                </a:rPr>
                <a:t>UDP</a:t>
              </a:r>
            </a:p>
            <a:p>
              <a:pPr>
                <a:lnSpc>
                  <a:spcPct val="90000"/>
                </a:lnSpc>
              </a:pPr>
              <a:r>
                <a:rPr lang="zh-CN" altLang="en-US" b="1">
                  <a:solidFill>
                    <a:srgbClr val="000099"/>
                  </a:solidFill>
                  <a:ea typeface="黑体" panose="02010609060101010101" pitchFamily="49" charset="-122"/>
                </a:rPr>
                <a:t>用户数据报</a:t>
              </a:r>
            </a:p>
          </p:txBody>
        </p:sp>
        <p:sp>
          <p:nvSpPr>
            <p:cNvPr id="1302544" name="Text Box 18"/>
            <p:cNvSpPr txBox="1">
              <a:spLocks noChangeArrowheads="1"/>
            </p:cNvSpPr>
            <p:nvPr/>
          </p:nvSpPr>
          <p:spPr bwMode="auto">
            <a:xfrm>
              <a:off x="2098180" y="176399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应用进程</a:t>
              </a:r>
            </a:p>
          </p:txBody>
        </p:sp>
        <p:sp>
          <p:nvSpPr>
            <p:cNvPr id="1302545" name="AutoShape 19"/>
            <p:cNvSpPr>
              <a:spLocks noChangeArrowheads="1"/>
            </p:cNvSpPr>
            <p:nvPr/>
          </p:nvSpPr>
          <p:spPr bwMode="auto">
            <a:xfrm>
              <a:off x="865274" y="3280714"/>
              <a:ext cx="1863068" cy="693359"/>
            </a:xfrm>
            <a:custGeom>
              <a:avLst/>
              <a:gdLst>
                <a:gd name="T0" fmla="*/ 86684 w 21600"/>
                <a:gd name="T1" fmla="*/ 6933 h 21600"/>
                <a:gd name="T2" fmla="*/ 45541 w 21600"/>
                <a:gd name="T3" fmla="*/ 13867 h 21600"/>
                <a:gd name="T4" fmla="*/ 4398 w 21600"/>
                <a:gd name="T5" fmla="*/ 6933 h 21600"/>
                <a:gd name="T6" fmla="*/ 45541 w 21600"/>
                <a:gd name="T7" fmla="*/ 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复用</a:t>
              </a:r>
            </a:p>
          </p:txBody>
        </p:sp>
        <p:sp>
          <p:nvSpPr>
            <p:cNvPr id="1302546" name="Text Box 20"/>
            <p:cNvSpPr txBox="1">
              <a:spLocks noChangeArrowheads="1"/>
            </p:cNvSpPr>
            <p:nvPr/>
          </p:nvSpPr>
          <p:spPr bwMode="auto">
            <a:xfrm>
              <a:off x="808818" y="203523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47" name="Rectangle 21"/>
            <p:cNvSpPr>
              <a:spLocks noChangeArrowheads="1"/>
            </p:cNvSpPr>
            <p:nvPr/>
          </p:nvSpPr>
          <p:spPr bwMode="auto">
            <a:xfrm>
              <a:off x="1119329" y="320367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48" name="Rectangle 22"/>
            <p:cNvSpPr>
              <a:spLocks noChangeArrowheads="1"/>
            </p:cNvSpPr>
            <p:nvPr/>
          </p:nvSpPr>
          <p:spPr bwMode="auto">
            <a:xfrm>
              <a:off x="1712124" y="320367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49" name="Rectangle 23"/>
            <p:cNvSpPr>
              <a:spLocks noChangeArrowheads="1"/>
            </p:cNvSpPr>
            <p:nvPr/>
          </p:nvSpPr>
          <p:spPr bwMode="auto">
            <a:xfrm>
              <a:off x="2304918" y="320367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0" name="Line 24"/>
            <p:cNvSpPr>
              <a:spLocks noChangeShapeType="1"/>
            </p:cNvSpPr>
            <p:nvPr/>
          </p:nvSpPr>
          <p:spPr bwMode="auto">
            <a:xfrm flipH="1">
              <a:off x="2389603" y="281847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1" name="Text Box 25"/>
            <p:cNvSpPr txBox="1">
              <a:spLocks noChangeArrowheads="1"/>
            </p:cNvSpPr>
            <p:nvPr/>
          </p:nvSpPr>
          <p:spPr bwMode="auto">
            <a:xfrm>
              <a:off x="1410434" y="203523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52" name="Text Box 26"/>
            <p:cNvSpPr txBox="1">
              <a:spLocks noChangeArrowheads="1"/>
            </p:cNvSpPr>
            <p:nvPr/>
          </p:nvSpPr>
          <p:spPr bwMode="auto">
            <a:xfrm>
              <a:off x="1997935" y="203523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53" name="AutoShape 27"/>
            <p:cNvSpPr>
              <a:spLocks noChangeArrowheads="1"/>
            </p:cNvSpPr>
            <p:nvPr/>
          </p:nvSpPr>
          <p:spPr bwMode="auto">
            <a:xfrm>
              <a:off x="1204014" y="4667433"/>
              <a:ext cx="3302712" cy="693359"/>
            </a:xfrm>
            <a:custGeom>
              <a:avLst/>
              <a:gdLst>
                <a:gd name="T0" fmla="*/ 272473 w 21600"/>
                <a:gd name="T1" fmla="*/ 6933 h 21600"/>
                <a:gd name="T2" fmla="*/ 143117 w 21600"/>
                <a:gd name="T3" fmla="*/ 13867 h 21600"/>
                <a:gd name="T4" fmla="*/ 13761 w 21600"/>
                <a:gd name="T5" fmla="*/ 6933 h 21600"/>
                <a:gd name="T6" fmla="*/ 143117 w 21600"/>
                <a:gd name="T7" fmla="*/ 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复用</a:t>
              </a:r>
            </a:p>
          </p:txBody>
        </p:sp>
        <p:sp>
          <p:nvSpPr>
            <p:cNvPr id="1302554" name="Line 28"/>
            <p:cNvSpPr>
              <a:spLocks noChangeShapeType="1"/>
            </p:cNvSpPr>
            <p:nvPr/>
          </p:nvSpPr>
          <p:spPr bwMode="auto">
            <a:xfrm flipH="1">
              <a:off x="3321137"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5" name="Line 29"/>
            <p:cNvSpPr>
              <a:spLocks noChangeShapeType="1"/>
            </p:cNvSpPr>
            <p:nvPr/>
          </p:nvSpPr>
          <p:spPr bwMode="auto">
            <a:xfrm flipH="1">
              <a:off x="3913931"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6" name="AutoShape 30"/>
            <p:cNvSpPr>
              <a:spLocks noChangeArrowheads="1"/>
            </p:cNvSpPr>
            <p:nvPr/>
          </p:nvSpPr>
          <p:spPr bwMode="auto">
            <a:xfrm>
              <a:off x="2982397" y="3293554"/>
              <a:ext cx="1863068" cy="693359"/>
            </a:xfrm>
            <a:custGeom>
              <a:avLst/>
              <a:gdLst>
                <a:gd name="T0" fmla="*/ 86684 w 21600"/>
                <a:gd name="T1" fmla="*/ 6933 h 21600"/>
                <a:gd name="T2" fmla="*/ 45541 w 21600"/>
                <a:gd name="T3" fmla="*/ 13867 h 21600"/>
                <a:gd name="T4" fmla="*/ 4398 w 21600"/>
                <a:gd name="T5" fmla="*/ 6933 h 21600"/>
                <a:gd name="T6" fmla="*/ 45541 w 21600"/>
                <a:gd name="T7" fmla="*/ 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r>
                <a:rPr lang="en-US" altLang="zh-CN" b="1">
                  <a:solidFill>
                    <a:srgbClr val="000099"/>
                  </a:solidFill>
                  <a:ea typeface="黑体" panose="02010609060101010101" pitchFamily="49" charset="-122"/>
                </a:rPr>
                <a:t>UDP </a:t>
              </a:r>
              <a:r>
                <a:rPr lang="zh-CN" altLang="en-US" b="1">
                  <a:solidFill>
                    <a:srgbClr val="000099"/>
                  </a:solidFill>
                  <a:ea typeface="黑体" panose="02010609060101010101" pitchFamily="49" charset="-122"/>
                </a:rPr>
                <a:t>复用</a:t>
              </a:r>
            </a:p>
          </p:txBody>
        </p:sp>
        <p:sp>
          <p:nvSpPr>
            <p:cNvPr id="1302557" name="Text Box 31"/>
            <p:cNvSpPr txBox="1">
              <a:spLocks noChangeArrowheads="1"/>
            </p:cNvSpPr>
            <p:nvPr/>
          </p:nvSpPr>
          <p:spPr bwMode="auto">
            <a:xfrm>
              <a:off x="2925941"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58" name="Rectangle 32"/>
            <p:cNvSpPr>
              <a:spLocks noChangeArrowheads="1"/>
            </p:cNvSpPr>
            <p:nvPr/>
          </p:nvSpPr>
          <p:spPr bwMode="auto">
            <a:xfrm>
              <a:off x="3236452"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59" name="Rectangle 33"/>
            <p:cNvSpPr>
              <a:spLocks noChangeArrowheads="1"/>
            </p:cNvSpPr>
            <p:nvPr/>
          </p:nvSpPr>
          <p:spPr bwMode="auto">
            <a:xfrm>
              <a:off x="3829246"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0" name="Rectangle 34"/>
            <p:cNvSpPr>
              <a:spLocks noChangeArrowheads="1"/>
            </p:cNvSpPr>
            <p:nvPr/>
          </p:nvSpPr>
          <p:spPr bwMode="auto">
            <a:xfrm>
              <a:off x="4422041"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1" name="Line 35"/>
            <p:cNvSpPr>
              <a:spLocks noChangeShapeType="1"/>
            </p:cNvSpPr>
            <p:nvPr/>
          </p:nvSpPr>
          <p:spPr bwMode="auto">
            <a:xfrm flipH="1">
              <a:off x="4506726"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2" name="Text Box 36"/>
            <p:cNvSpPr txBox="1">
              <a:spLocks noChangeArrowheads="1"/>
            </p:cNvSpPr>
            <p:nvPr/>
          </p:nvSpPr>
          <p:spPr bwMode="auto">
            <a:xfrm>
              <a:off x="3527556"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63" name="Text Box 37"/>
            <p:cNvSpPr txBox="1">
              <a:spLocks noChangeArrowheads="1"/>
            </p:cNvSpPr>
            <p:nvPr/>
          </p:nvSpPr>
          <p:spPr bwMode="auto">
            <a:xfrm>
              <a:off x="4115058"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64" name="Rectangle 38"/>
            <p:cNvSpPr>
              <a:spLocks noChangeArrowheads="1"/>
            </p:cNvSpPr>
            <p:nvPr/>
          </p:nvSpPr>
          <p:spPr bwMode="auto">
            <a:xfrm>
              <a:off x="5640798" y="1971035"/>
              <a:ext cx="4149561" cy="130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5" name="Line 39"/>
            <p:cNvSpPr>
              <a:spLocks noChangeShapeType="1"/>
            </p:cNvSpPr>
            <p:nvPr/>
          </p:nvSpPr>
          <p:spPr bwMode="auto">
            <a:xfrm flipH="1" flipV="1">
              <a:off x="6035995"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6" name="Line 40"/>
            <p:cNvSpPr>
              <a:spLocks noChangeShapeType="1"/>
            </p:cNvSpPr>
            <p:nvPr/>
          </p:nvSpPr>
          <p:spPr bwMode="auto">
            <a:xfrm flipH="1" flipV="1">
              <a:off x="6628789"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67" name="Text Box 41"/>
            <p:cNvSpPr txBox="1">
              <a:spLocks noChangeArrowheads="1"/>
            </p:cNvSpPr>
            <p:nvPr/>
          </p:nvSpPr>
          <p:spPr bwMode="auto">
            <a:xfrm>
              <a:off x="5991888" y="4261368"/>
              <a:ext cx="14035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报文段</a:t>
              </a:r>
            </a:p>
          </p:txBody>
        </p:sp>
        <p:sp>
          <p:nvSpPr>
            <p:cNvPr id="1302568" name="Text Box 42"/>
            <p:cNvSpPr txBox="1">
              <a:spLocks noChangeArrowheads="1"/>
            </p:cNvSpPr>
            <p:nvPr/>
          </p:nvSpPr>
          <p:spPr bwMode="auto">
            <a:xfrm>
              <a:off x="8034911" y="4142598"/>
              <a:ext cx="1346137" cy="59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altLang="zh-CN" b="1">
                  <a:solidFill>
                    <a:srgbClr val="000099"/>
                  </a:solidFill>
                  <a:ea typeface="黑体" panose="02010609060101010101" pitchFamily="49" charset="-122"/>
                </a:rPr>
                <a:t>UDP</a:t>
              </a:r>
            </a:p>
            <a:p>
              <a:pPr>
                <a:lnSpc>
                  <a:spcPct val="90000"/>
                </a:lnSpc>
              </a:pPr>
              <a:r>
                <a:rPr lang="zh-CN" altLang="en-US" b="1">
                  <a:solidFill>
                    <a:srgbClr val="000099"/>
                  </a:solidFill>
                  <a:ea typeface="黑体" panose="02010609060101010101" pitchFamily="49" charset="-122"/>
                </a:rPr>
                <a:t>用户数据报</a:t>
              </a:r>
            </a:p>
          </p:txBody>
        </p:sp>
        <p:sp>
          <p:nvSpPr>
            <p:cNvPr id="1302569" name="AutoShape 43"/>
            <p:cNvSpPr>
              <a:spLocks noChangeArrowheads="1"/>
            </p:cNvSpPr>
            <p:nvPr/>
          </p:nvSpPr>
          <p:spPr bwMode="auto">
            <a:xfrm>
              <a:off x="5697255" y="3293554"/>
              <a:ext cx="1863068" cy="693359"/>
            </a:xfrm>
            <a:custGeom>
              <a:avLst/>
              <a:gdLst>
                <a:gd name="T0" fmla="*/ 0 w 21600"/>
                <a:gd name="T1" fmla="*/ 0 h 21600"/>
                <a:gd name="T2" fmla="*/ 2074 w 21600"/>
                <a:gd name="T3" fmla="*/ 21600 h 21600"/>
                <a:gd name="T4" fmla="*/ 19526 w 21600"/>
                <a:gd name="T5" fmla="*/ 21600 h 21600"/>
                <a:gd name="T6" fmla="*/ 21600 w 21600"/>
                <a:gd name="T7" fmla="*/ 0 h 21600"/>
                <a:gd name="T8" fmla="*/ 0 w 21600"/>
                <a:gd name="T9" fmla="*/ 0 h 21600"/>
              </a:gdLst>
              <a:ahLst/>
              <a:cxnLst>
                <a:cxn ang="0">
                  <a:pos x="T0" y="T1"/>
                </a:cxn>
                <a:cxn ang="0">
                  <a:pos x="T2" y="T3"/>
                </a:cxn>
                <a:cxn ang="0">
                  <a:pos x="T4" y="T5"/>
                </a:cxn>
                <a:cxn ang="0">
                  <a:pos x="T6" y="T7"/>
                </a:cxn>
                <a:cxn ang="0">
                  <a:pos x="T8" y="T9"/>
                </a:cxn>
              </a:cxnLst>
              <a:rect l="0" t="0" r="r" b="b"/>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0" name="Text Box 44"/>
            <p:cNvSpPr txBox="1">
              <a:spLocks noChangeArrowheads="1"/>
            </p:cNvSpPr>
            <p:nvPr/>
          </p:nvSpPr>
          <p:spPr bwMode="auto">
            <a:xfrm>
              <a:off x="5640798"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71" name="Rectangle 45"/>
            <p:cNvSpPr>
              <a:spLocks noChangeArrowheads="1"/>
            </p:cNvSpPr>
            <p:nvPr/>
          </p:nvSpPr>
          <p:spPr bwMode="auto">
            <a:xfrm>
              <a:off x="5951310"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2" name="Rectangle 46"/>
            <p:cNvSpPr>
              <a:spLocks noChangeArrowheads="1"/>
            </p:cNvSpPr>
            <p:nvPr/>
          </p:nvSpPr>
          <p:spPr bwMode="auto">
            <a:xfrm>
              <a:off x="6544104"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3" name="Rectangle 47"/>
            <p:cNvSpPr>
              <a:spLocks noChangeArrowheads="1"/>
            </p:cNvSpPr>
            <p:nvPr/>
          </p:nvSpPr>
          <p:spPr bwMode="auto">
            <a:xfrm>
              <a:off x="7136898" y="321651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4" name="Line 48"/>
            <p:cNvSpPr>
              <a:spLocks noChangeShapeType="1"/>
            </p:cNvSpPr>
            <p:nvPr/>
          </p:nvSpPr>
          <p:spPr bwMode="auto">
            <a:xfrm flipH="1" flipV="1">
              <a:off x="7221583" y="283131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5" name="Text Box 49"/>
            <p:cNvSpPr txBox="1">
              <a:spLocks noChangeArrowheads="1"/>
            </p:cNvSpPr>
            <p:nvPr/>
          </p:nvSpPr>
          <p:spPr bwMode="auto">
            <a:xfrm>
              <a:off x="6242414"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76" name="Text Box 50"/>
            <p:cNvSpPr txBox="1">
              <a:spLocks noChangeArrowheads="1"/>
            </p:cNvSpPr>
            <p:nvPr/>
          </p:nvSpPr>
          <p:spPr bwMode="auto">
            <a:xfrm>
              <a:off x="6829916" y="204807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grpSp>
          <p:nvGrpSpPr>
            <p:cNvPr id="1302577" name="Group 51"/>
            <p:cNvGrpSpPr>
              <a:grpSpLocks/>
            </p:cNvGrpSpPr>
            <p:nvPr/>
          </p:nvGrpSpPr>
          <p:grpSpPr bwMode="auto">
            <a:xfrm>
              <a:off x="1575922" y="3974073"/>
              <a:ext cx="7169989" cy="702989"/>
              <a:chOff x="912" y="1920"/>
              <a:chExt cx="4064" cy="398"/>
            </a:xfrm>
          </p:grpSpPr>
          <p:sp>
            <p:nvSpPr>
              <p:cNvPr id="1302578" name="Line 52"/>
              <p:cNvSpPr>
                <a:spLocks noChangeShapeType="1"/>
              </p:cNvSpPr>
              <p:nvPr/>
            </p:nvSpPr>
            <p:spPr bwMode="auto">
              <a:xfrm>
                <a:off x="912" y="1920"/>
                <a:ext cx="0" cy="384"/>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79" name="Line 53"/>
              <p:cNvSpPr>
                <a:spLocks noChangeShapeType="1"/>
              </p:cNvSpPr>
              <p:nvPr/>
            </p:nvSpPr>
            <p:spPr bwMode="auto">
              <a:xfrm>
                <a:off x="2112" y="1928"/>
                <a:ext cx="0" cy="382"/>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0" name="Line 54"/>
              <p:cNvSpPr>
                <a:spLocks noChangeShapeType="1"/>
              </p:cNvSpPr>
              <p:nvPr/>
            </p:nvSpPr>
            <p:spPr bwMode="auto">
              <a:xfrm flipV="1">
                <a:off x="3776" y="1928"/>
                <a:ext cx="0" cy="384"/>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1" name="Line 55"/>
              <p:cNvSpPr>
                <a:spLocks noChangeShapeType="1"/>
              </p:cNvSpPr>
              <p:nvPr/>
            </p:nvSpPr>
            <p:spPr bwMode="auto">
              <a:xfrm flipV="1">
                <a:off x="4976" y="1936"/>
                <a:ext cx="0" cy="382"/>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302582" name="Line 56"/>
            <p:cNvSpPr>
              <a:spLocks noChangeShapeType="1"/>
            </p:cNvSpPr>
            <p:nvPr/>
          </p:nvSpPr>
          <p:spPr bwMode="auto">
            <a:xfrm flipH="1" flipV="1">
              <a:off x="8153117" y="284415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3" name="Line 57"/>
            <p:cNvSpPr>
              <a:spLocks noChangeShapeType="1"/>
            </p:cNvSpPr>
            <p:nvPr/>
          </p:nvSpPr>
          <p:spPr bwMode="auto">
            <a:xfrm flipH="1" flipV="1">
              <a:off x="8745912" y="284415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4" name="AutoShape 58"/>
            <p:cNvSpPr>
              <a:spLocks noChangeArrowheads="1"/>
            </p:cNvSpPr>
            <p:nvPr/>
          </p:nvSpPr>
          <p:spPr bwMode="auto">
            <a:xfrm>
              <a:off x="7814378" y="3306394"/>
              <a:ext cx="1863068" cy="693359"/>
            </a:xfrm>
            <a:custGeom>
              <a:avLst/>
              <a:gdLst>
                <a:gd name="T0" fmla="*/ 0 w 21600"/>
                <a:gd name="T1" fmla="*/ 0 h 21600"/>
                <a:gd name="T2" fmla="*/ 2074 w 21600"/>
                <a:gd name="T3" fmla="*/ 21600 h 21600"/>
                <a:gd name="T4" fmla="*/ 19526 w 21600"/>
                <a:gd name="T5" fmla="*/ 21600 h 21600"/>
                <a:gd name="T6" fmla="*/ 21600 w 21600"/>
                <a:gd name="T7" fmla="*/ 0 h 21600"/>
                <a:gd name="T8" fmla="*/ 0 w 21600"/>
                <a:gd name="T9" fmla="*/ 0 h 21600"/>
              </a:gdLst>
              <a:ahLst/>
              <a:cxnLst>
                <a:cxn ang="0">
                  <a:pos x="T0" y="T1"/>
                </a:cxn>
                <a:cxn ang="0">
                  <a:pos x="T2" y="T3"/>
                </a:cxn>
                <a:cxn ang="0">
                  <a:pos x="T4" y="T5"/>
                </a:cxn>
                <a:cxn ang="0">
                  <a:pos x="T6" y="T7"/>
                </a:cxn>
                <a:cxn ang="0">
                  <a:pos x="T8" y="T9"/>
                </a:cxn>
              </a:cxnLst>
              <a:rect l="0" t="0" r="r" b="b"/>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5" name="Text Box 59"/>
            <p:cNvSpPr txBox="1">
              <a:spLocks noChangeArrowheads="1"/>
            </p:cNvSpPr>
            <p:nvPr/>
          </p:nvSpPr>
          <p:spPr bwMode="auto">
            <a:xfrm>
              <a:off x="7757921" y="206091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86" name="Rectangle 60"/>
            <p:cNvSpPr>
              <a:spLocks noChangeArrowheads="1"/>
            </p:cNvSpPr>
            <p:nvPr/>
          </p:nvSpPr>
          <p:spPr bwMode="auto">
            <a:xfrm>
              <a:off x="8068433" y="322935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7" name="Rectangle 61"/>
            <p:cNvSpPr>
              <a:spLocks noChangeArrowheads="1"/>
            </p:cNvSpPr>
            <p:nvPr/>
          </p:nvSpPr>
          <p:spPr bwMode="auto">
            <a:xfrm>
              <a:off x="8661227" y="322935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8" name="Rectangle 62"/>
            <p:cNvSpPr>
              <a:spLocks noChangeArrowheads="1"/>
            </p:cNvSpPr>
            <p:nvPr/>
          </p:nvSpPr>
          <p:spPr bwMode="auto">
            <a:xfrm>
              <a:off x="9254021" y="3229354"/>
              <a:ext cx="169370" cy="15408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89" name="Line 63"/>
            <p:cNvSpPr>
              <a:spLocks noChangeShapeType="1"/>
            </p:cNvSpPr>
            <p:nvPr/>
          </p:nvSpPr>
          <p:spPr bwMode="auto">
            <a:xfrm flipH="1" flipV="1">
              <a:off x="9338706" y="2844155"/>
              <a:ext cx="0" cy="385200"/>
            </a:xfrm>
            <a:prstGeom prst="line">
              <a:avLst/>
            </a:prstGeom>
            <a:noFill/>
            <a:ln w="28575">
              <a:solidFill>
                <a:srgbClr val="CC00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02590" name="Text Box 64"/>
            <p:cNvSpPr txBox="1">
              <a:spLocks noChangeArrowheads="1"/>
            </p:cNvSpPr>
            <p:nvPr/>
          </p:nvSpPr>
          <p:spPr bwMode="auto">
            <a:xfrm>
              <a:off x="8359537" y="206091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91" name="Text Box 65"/>
            <p:cNvSpPr txBox="1">
              <a:spLocks noChangeArrowheads="1"/>
            </p:cNvSpPr>
            <p:nvPr/>
          </p:nvSpPr>
          <p:spPr bwMode="auto">
            <a:xfrm>
              <a:off x="8947038" y="2060915"/>
              <a:ext cx="723350" cy="1015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b="1">
                  <a:solidFill>
                    <a:srgbClr val="000099"/>
                  </a:solidFill>
                  <a:ea typeface="黑体" panose="02010609060101010101" pitchFamily="49" charset="-122"/>
                  <a:sym typeface="Wingdings" panose="05000000000000000000" pitchFamily="2" charset="2"/>
                </a:rPr>
                <a:t></a:t>
              </a:r>
              <a:endParaRPr lang="en-US" altLang="zh-CN" sz="6000" b="1">
                <a:solidFill>
                  <a:srgbClr val="000099"/>
                </a:solidFill>
                <a:ea typeface="黑体" panose="02010609060101010101" pitchFamily="49" charset="-122"/>
              </a:endParaRPr>
            </a:p>
          </p:txBody>
        </p:sp>
        <p:sp>
          <p:nvSpPr>
            <p:cNvPr id="1302592" name="Text Box 66"/>
            <p:cNvSpPr txBox="1">
              <a:spLocks noChangeArrowheads="1"/>
            </p:cNvSpPr>
            <p:nvPr/>
          </p:nvSpPr>
          <p:spPr bwMode="auto">
            <a:xfrm>
              <a:off x="6968974" y="176399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应用进程</a:t>
              </a:r>
            </a:p>
          </p:txBody>
        </p:sp>
        <p:sp>
          <p:nvSpPr>
            <p:cNvPr id="1302593" name="Text Box 67"/>
            <p:cNvSpPr txBox="1">
              <a:spLocks noChangeArrowheads="1"/>
            </p:cNvSpPr>
            <p:nvPr/>
          </p:nvSpPr>
          <p:spPr bwMode="auto">
            <a:xfrm>
              <a:off x="7283333" y="2879464"/>
              <a:ext cx="802742" cy="46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端口</a:t>
              </a:r>
            </a:p>
          </p:txBody>
        </p:sp>
        <p:sp>
          <p:nvSpPr>
            <p:cNvPr id="1302594" name="Text Box 68"/>
            <p:cNvSpPr txBox="1">
              <a:spLocks noChangeArrowheads="1"/>
            </p:cNvSpPr>
            <p:nvPr/>
          </p:nvSpPr>
          <p:spPr bwMode="auto">
            <a:xfrm>
              <a:off x="2463702" y="2866625"/>
              <a:ext cx="802742" cy="46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端口</a:t>
              </a:r>
            </a:p>
          </p:txBody>
        </p:sp>
        <p:sp>
          <p:nvSpPr>
            <p:cNvPr id="1302595" name="Text Box 69"/>
            <p:cNvSpPr txBox="1">
              <a:spLocks noChangeArrowheads="1"/>
            </p:cNvSpPr>
            <p:nvPr/>
          </p:nvSpPr>
          <p:spPr bwMode="auto">
            <a:xfrm>
              <a:off x="6106565" y="3447634"/>
              <a:ext cx="11711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分用</a:t>
              </a:r>
            </a:p>
          </p:txBody>
        </p:sp>
        <p:sp>
          <p:nvSpPr>
            <p:cNvPr id="1302596" name="Text Box 70"/>
            <p:cNvSpPr txBox="1">
              <a:spLocks noChangeArrowheads="1"/>
            </p:cNvSpPr>
            <p:nvPr/>
          </p:nvSpPr>
          <p:spPr bwMode="auto">
            <a:xfrm>
              <a:off x="8237802" y="3434794"/>
              <a:ext cx="11968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UDP </a:t>
              </a:r>
              <a:r>
                <a:rPr lang="zh-CN" altLang="en-US" b="1">
                  <a:solidFill>
                    <a:srgbClr val="000099"/>
                  </a:solidFill>
                  <a:ea typeface="黑体" panose="02010609060101010101" pitchFamily="49" charset="-122"/>
                </a:rPr>
                <a:t>分用</a:t>
              </a:r>
            </a:p>
          </p:txBody>
        </p:sp>
        <p:sp>
          <p:nvSpPr>
            <p:cNvPr id="1302597" name="Text Box 71"/>
            <p:cNvSpPr txBox="1">
              <a:spLocks noChangeArrowheads="1"/>
            </p:cNvSpPr>
            <p:nvPr/>
          </p:nvSpPr>
          <p:spPr bwMode="auto">
            <a:xfrm>
              <a:off x="7267454" y="4815093"/>
              <a:ext cx="927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分用</a:t>
              </a:r>
            </a:p>
          </p:txBody>
        </p:sp>
        <p:sp>
          <p:nvSpPr>
            <p:cNvPr id="1302598" name="AutoShape 72"/>
            <p:cNvSpPr>
              <a:spLocks noChangeArrowheads="1"/>
            </p:cNvSpPr>
            <p:nvPr/>
          </p:nvSpPr>
          <p:spPr bwMode="auto">
            <a:xfrm>
              <a:off x="2728342" y="5360792"/>
              <a:ext cx="338740" cy="693359"/>
            </a:xfrm>
            <a:prstGeom prst="downArrow">
              <a:avLst>
                <a:gd name="adj1" fmla="val 50000"/>
                <a:gd name="adj2" fmla="val 56242"/>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302599" name="AutoShape 73"/>
            <p:cNvSpPr>
              <a:spLocks noChangeArrowheads="1"/>
            </p:cNvSpPr>
            <p:nvPr/>
          </p:nvSpPr>
          <p:spPr bwMode="auto">
            <a:xfrm flipV="1">
              <a:off x="7503866" y="5360792"/>
              <a:ext cx="338740" cy="693359"/>
            </a:xfrm>
            <a:prstGeom prst="downArrow">
              <a:avLst>
                <a:gd name="adj1" fmla="val 50000"/>
                <a:gd name="adj2" fmla="val 56242"/>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grpSp>
          <p:nvGrpSpPr>
            <p:cNvPr id="1302600" name="Group 74"/>
            <p:cNvGrpSpPr>
              <a:grpSpLocks/>
            </p:cNvGrpSpPr>
            <p:nvPr/>
          </p:nvGrpSpPr>
          <p:grpSpPr bwMode="auto">
            <a:xfrm>
              <a:off x="5579049" y="6054151"/>
              <a:ext cx="1803083" cy="489525"/>
              <a:chOff x="2736" y="3216"/>
              <a:chExt cx="864" cy="240"/>
            </a:xfrm>
          </p:grpSpPr>
          <p:sp>
            <p:nvSpPr>
              <p:cNvPr id="1302601" name="AutoShape 75"/>
              <p:cNvSpPr>
                <a:spLocks noChangeArrowheads="1"/>
              </p:cNvSpPr>
              <p:nvPr/>
            </p:nvSpPr>
            <p:spPr bwMode="auto">
              <a:xfrm>
                <a:off x="3168" y="3216"/>
                <a:ext cx="432" cy="24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a:noFill/>
              </a:ln>
              <a:scene3d>
                <a:camera prst="legacyObliqueTopLeft"/>
                <a:lightRig rig="legacyFlat3" dir="t"/>
              </a:scene3d>
              <a:sp3d extrusionH="125400" prstMaterial="legacyMatte">
                <a:bevelT w="13500" h="13500" prst="angle"/>
                <a:bevelB w="13500" h="13500" prst="angle"/>
                <a:extrusionClr>
                  <a:srgbClr val="00FFFF"/>
                </a:extrusionClr>
                <a:contourClr>
                  <a:srgbClr val="00FFFF"/>
                </a:contourClr>
              </a:sp3d>
              <a:extLst>
                <a:ext uri="{91240B29-F687-4F45-9708-019B960494DF}">
                  <a14:hiddenLine xmlns:a14="http://schemas.microsoft.com/office/drawing/2010/main" w="9525">
                    <a:noFill/>
                    <a:round/>
                    <a:headEnd/>
                    <a:tailEnd/>
                  </a14:hiddenLine>
                </a:ext>
              </a:extLst>
            </p:spPr>
            <p:txBody>
              <a:bodyPr wrap="none" anchor="ctr">
                <a:flatTx/>
              </a:bodyPr>
              <a:lstStyle/>
              <a:p>
                <a:pPr eaLnBrk="0" hangingPunct="0"/>
                <a:endParaRPr lang="zh-CN" altLang="en-US" b="1">
                  <a:solidFill>
                    <a:srgbClr val="000099"/>
                  </a:solidFill>
                  <a:ea typeface="黑体" panose="02010609060101010101" pitchFamily="49" charset="-122"/>
                </a:endParaRPr>
              </a:p>
            </p:txBody>
          </p:sp>
          <p:sp>
            <p:nvSpPr>
              <p:cNvPr id="1302602" name="Rectangle 76"/>
              <p:cNvSpPr>
                <a:spLocks noChangeArrowheads="1"/>
              </p:cNvSpPr>
              <p:nvPr/>
            </p:nvSpPr>
            <p:spPr bwMode="auto">
              <a:xfrm>
                <a:off x="2736" y="3216"/>
                <a:ext cx="624" cy="240"/>
              </a:xfrm>
              <a:prstGeom prst="rect">
                <a:avLst/>
              </a:prstGeom>
              <a:solidFill>
                <a:srgbClr val="00FFFF"/>
              </a:solidFill>
              <a:ln>
                <a:noFill/>
              </a:ln>
              <a:scene3d>
                <a:camera prst="legacyObliqueTopLeft"/>
                <a:lightRig rig="legacyFlat3" dir="t"/>
              </a:scene3d>
              <a:sp3d extrusionH="125400" prstMaterial="legacyMatte">
                <a:bevelT w="13500" h="13500" prst="angle"/>
                <a:bevelB w="13500" h="13500" prst="angle"/>
                <a:extrusionClr>
                  <a:schemeClr val="bg1"/>
                </a:extrusionClr>
                <a:contourClr>
                  <a:srgbClr val="00FFFF"/>
                </a:contourClr>
              </a:sp3d>
              <a:extLst>
                <a:ext uri="{91240B29-F687-4F45-9708-019B960494DF}">
                  <a14:hiddenLine xmlns:a14="http://schemas.microsoft.com/office/drawing/2010/main" w="9525">
                    <a:noFill/>
                    <a:miter lim="800000"/>
                    <a:headEnd/>
                    <a:tailEnd/>
                  </a14:hiddenLine>
                </a:ext>
              </a:extLst>
            </p:spPr>
            <p:txBody>
              <a:bodyPr wrap="none" anchor="ctr">
                <a:flatTx/>
              </a:bodyPr>
              <a:lstStyle/>
              <a:p>
                <a:pPr eaLnBrk="0" hangingPunct="0"/>
                <a:r>
                  <a:rPr lang="en-US" altLang="zh-CN" b="1">
                    <a:ea typeface="黑体" panose="02010609060101010101" pitchFamily="49" charset="-122"/>
                  </a:rPr>
                  <a:t>IP </a:t>
                </a:r>
                <a:r>
                  <a:rPr lang="zh-CN" altLang="en-US" b="1">
                    <a:ea typeface="黑体" panose="02010609060101010101" pitchFamily="49" charset="-122"/>
                  </a:rPr>
                  <a:t>数据报</a:t>
                </a:r>
              </a:p>
            </p:txBody>
          </p:sp>
        </p:grpSp>
        <p:grpSp>
          <p:nvGrpSpPr>
            <p:cNvPr id="1302603" name="Group 77"/>
            <p:cNvGrpSpPr>
              <a:grpSpLocks/>
            </p:cNvGrpSpPr>
            <p:nvPr/>
          </p:nvGrpSpPr>
          <p:grpSpPr bwMode="auto">
            <a:xfrm>
              <a:off x="3428757" y="6054151"/>
              <a:ext cx="1803083" cy="489525"/>
              <a:chOff x="2736" y="3216"/>
              <a:chExt cx="864" cy="240"/>
            </a:xfrm>
          </p:grpSpPr>
          <p:sp>
            <p:nvSpPr>
              <p:cNvPr id="1302604" name="AutoShape 78"/>
              <p:cNvSpPr>
                <a:spLocks noChangeArrowheads="1"/>
              </p:cNvSpPr>
              <p:nvPr/>
            </p:nvSpPr>
            <p:spPr bwMode="auto">
              <a:xfrm>
                <a:off x="3168" y="3216"/>
                <a:ext cx="432" cy="24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6200 w 21600"/>
                  <a:gd name="T15" fmla="*/ 0 h 21600"/>
                  <a:gd name="T16" fmla="*/ 1350 w 21600"/>
                  <a:gd name="T17" fmla="*/ 5400 h 21600"/>
                  <a:gd name="T18" fmla="*/ 1350 w 21600"/>
                  <a:gd name="T19" fmla="*/ 16200 h 21600"/>
                  <a:gd name="T20" fmla="*/ 2700 w 21600"/>
                  <a:gd name="T21" fmla="*/ 16200 h 21600"/>
                  <a:gd name="T22" fmla="*/ 2700 w 21600"/>
                  <a:gd name="T23" fmla="*/ 5400 h 21600"/>
                  <a:gd name="T24" fmla="*/ 1350 w 21600"/>
                  <a:gd name="T25" fmla="*/ 5400 h 21600"/>
                  <a:gd name="T26" fmla="*/ 0 w 21600"/>
                  <a:gd name="T27" fmla="*/ 5400 h 21600"/>
                  <a:gd name="T28" fmla="*/ 0 w 21600"/>
                  <a:gd name="T29" fmla="*/ 16200 h 21600"/>
                  <a:gd name="T30" fmla="*/ 675 w 21600"/>
                  <a:gd name="T31" fmla="*/ 16200 h 21600"/>
                  <a:gd name="T32" fmla="*/ 675 w 21600"/>
                  <a:gd name="T33" fmla="*/ 5400 h 21600"/>
                  <a:gd name="T34" fmla="*/ 0 w 21600"/>
                  <a:gd name="T35"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a:noFill/>
              </a:ln>
              <a:scene3d>
                <a:camera prst="legacyObliqueTopLeft"/>
                <a:lightRig rig="legacyFlat3" dir="t"/>
              </a:scene3d>
              <a:sp3d extrusionH="125400" prstMaterial="legacyMatte">
                <a:bevelT w="13500" h="13500" prst="angle"/>
                <a:bevelB w="13500" h="13500" prst="angle"/>
                <a:extrusionClr>
                  <a:srgbClr val="00FFFF"/>
                </a:extrusionClr>
                <a:contourClr>
                  <a:srgbClr val="00FFFF"/>
                </a:contourClr>
              </a:sp3d>
              <a:extLst>
                <a:ext uri="{91240B29-F687-4F45-9708-019B960494DF}">
                  <a14:hiddenLine xmlns:a14="http://schemas.microsoft.com/office/drawing/2010/main" w="9525">
                    <a:noFill/>
                    <a:round/>
                    <a:headEnd/>
                    <a:tailEnd/>
                  </a14:hiddenLine>
                </a:ext>
              </a:extLst>
            </p:spPr>
            <p:txBody>
              <a:bodyPr wrap="none" anchor="ctr">
                <a:flatTx/>
              </a:bodyPr>
              <a:lstStyle/>
              <a:p>
                <a:pPr eaLnBrk="0" hangingPunct="0"/>
                <a:endParaRPr lang="zh-CN" altLang="en-US" b="1">
                  <a:solidFill>
                    <a:srgbClr val="000099"/>
                  </a:solidFill>
                  <a:ea typeface="黑体" panose="02010609060101010101" pitchFamily="49" charset="-122"/>
                </a:endParaRPr>
              </a:p>
            </p:txBody>
          </p:sp>
          <p:sp>
            <p:nvSpPr>
              <p:cNvPr id="1302605" name="Rectangle 79"/>
              <p:cNvSpPr>
                <a:spLocks noChangeArrowheads="1"/>
              </p:cNvSpPr>
              <p:nvPr/>
            </p:nvSpPr>
            <p:spPr bwMode="auto">
              <a:xfrm>
                <a:off x="2736" y="3216"/>
                <a:ext cx="624" cy="240"/>
              </a:xfrm>
              <a:prstGeom prst="rect">
                <a:avLst/>
              </a:prstGeom>
              <a:solidFill>
                <a:srgbClr val="00FFFF"/>
              </a:solidFill>
              <a:ln>
                <a:noFill/>
              </a:ln>
              <a:scene3d>
                <a:camera prst="legacyObliqueTopLeft"/>
                <a:lightRig rig="legacyFlat3" dir="t"/>
              </a:scene3d>
              <a:sp3d extrusionH="125400" prstMaterial="legacyMatte">
                <a:bevelT w="13500" h="13500" prst="angle"/>
                <a:bevelB w="13500" h="13500" prst="angle"/>
                <a:extrusionClr>
                  <a:schemeClr val="bg1"/>
                </a:extrusionClr>
                <a:contourClr>
                  <a:srgbClr val="00FFFF"/>
                </a:contourClr>
              </a:sp3d>
              <a:extLst>
                <a:ext uri="{91240B29-F687-4F45-9708-019B960494DF}">
                  <a14:hiddenLine xmlns:a14="http://schemas.microsoft.com/office/drawing/2010/main" w="9525">
                    <a:noFill/>
                    <a:miter lim="800000"/>
                    <a:headEnd/>
                    <a:tailEnd/>
                  </a14:hiddenLine>
                </a:ext>
              </a:extLst>
            </p:spPr>
            <p:txBody>
              <a:bodyPr wrap="none" anchor="ctr">
                <a:flatTx/>
              </a:bodyPr>
              <a:lstStyle/>
              <a:p>
                <a:pPr eaLnBrk="0" hangingPunct="0"/>
                <a:r>
                  <a:rPr lang="en-US" altLang="zh-CN" b="1">
                    <a:ea typeface="黑体" panose="02010609060101010101" pitchFamily="49" charset="-122"/>
                  </a:rPr>
                  <a:t>IP </a:t>
                </a:r>
                <a:r>
                  <a:rPr lang="zh-CN" altLang="en-US" b="1">
                    <a:ea typeface="黑体" panose="02010609060101010101" pitchFamily="49" charset="-122"/>
                  </a:rPr>
                  <a:t>数据报</a:t>
                </a:r>
              </a:p>
            </p:txBody>
          </p:sp>
        </p:grpSp>
        <p:sp>
          <p:nvSpPr>
            <p:cNvPr id="1302606" name="Text Box 80"/>
            <p:cNvSpPr txBox="1">
              <a:spLocks noChangeArrowheads="1"/>
            </p:cNvSpPr>
            <p:nvPr/>
          </p:nvSpPr>
          <p:spPr bwMode="auto">
            <a:xfrm>
              <a:off x="2314204" y="1327431"/>
              <a:ext cx="959762" cy="39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发送方</a:t>
              </a:r>
            </a:p>
          </p:txBody>
        </p:sp>
        <p:sp>
          <p:nvSpPr>
            <p:cNvPr id="1302607" name="Text Box 81"/>
            <p:cNvSpPr txBox="1">
              <a:spLocks noChangeArrowheads="1"/>
            </p:cNvSpPr>
            <p:nvPr/>
          </p:nvSpPr>
          <p:spPr bwMode="auto">
            <a:xfrm>
              <a:off x="7125013" y="1301751"/>
              <a:ext cx="959762" cy="39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接收方</a:t>
              </a:r>
            </a:p>
          </p:txBody>
        </p:sp>
      </p:grpSp>
      <p:sp>
        <p:nvSpPr>
          <p:cNvPr id="13026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A11A2E-7D2F-4926-BDDE-2695EA11606D}" type="slidenum">
              <a:rPr lang="zh-CN" altLang="en-US" smtClean="0"/>
              <a:pPr eaLnBrk="1" hangingPunct="1"/>
              <a:t>9</a:t>
            </a:fld>
            <a:endParaRPr lang="en-US" altLang="zh-CN" smtClean="0"/>
          </a:p>
        </p:txBody>
      </p:sp>
      <p:sp>
        <p:nvSpPr>
          <p:cNvPr id="13026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35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屏蔽作用</a:t>
            </a:r>
          </a:p>
        </p:txBody>
      </p:sp>
      <p:sp>
        <p:nvSpPr>
          <p:cNvPr id="130355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运输层向高层用户</a:t>
            </a:r>
            <a:r>
              <a:rPr lang="zh-CN" altLang="en-US" smtClean="0">
                <a:solidFill>
                  <a:srgbClr val="FF0000"/>
                </a:solidFill>
                <a:ea typeface="黑体" panose="02010609060101010101" pitchFamily="49" charset="-122"/>
              </a:rPr>
              <a:t>屏蔽</a:t>
            </a:r>
            <a:r>
              <a:rPr lang="zh-CN" altLang="en-US" smtClean="0">
                <a:ea typeface="黑体" panose="02010609060101010101" pitchFamily="49" charset="-122"/>
              </a:rPr>
              <a:t>了下面网络核心的细节（如网络拓扑、所采用的路由选择协议等），它使应用进程看见的就是好像在两个运输层实体之间有一条</a:t>
            </a:r>
            <a:r>
              <a:rPr lang="zh-CN" altLang="en-US" smtClean="0">
                <a:solidFill>
                  <a:srgbClr val="FF0000"/>
                </a:solidFill>
                <a:ea typeface="黑体" panose="02010609060101010101" pitchFamily="49" charset="-122"/>
              </a:rPr>
              <a:t>端到端的逻辑通信信道。</a:t>
            </a:r>
          </a:p>
        </p:txBody>
      </p:sp>
      <p:grpSp>
        <p:nvGrpSpPr>
          <p:cNvPr id="1303555" name="Group 12"/>
          <p:cNvGrpSpPr>
            <a:grpSpLocks/>
          </p:cNvGrpSpPr>
          <p:nvPr/>
        </p:nvGrpSpPr>
        <p:grpSpPr bwMode="auto">
          <a:xfrm>
            <a:off x="1733550" y="3721100"/>
            <a:ext cx="6604000" cy="2444750"/>
            <a:chOff x="864" y="2352"/>
            <a:chExt cx="3840" cy="1540"/>
          </a:xfrm>
        </p:grpSpPr>
        <p:graphicFrame>
          <p:nvGraphicFramePr>
            <p:cNvPr id="1303556" name="Object 4"/>
            <p:cNvGraphicFramePr>
              <a:graphicFrameLocks noChangeAspect="1"/>
            </p:cNvGraphicFramePr>
            <p:nvPr/>
          </p:nvGraphicFramePr>
          <p:xfrm>
            <a:off x="1536" y="2496"/>
            <a:ext cx="2448" cy="1396"/>
          </p:xfrm>
          <a:graphic>
            <a:graphicData uri="http://schemas.openxmlformats.org/presentationml/2006/ole">
              <mc:AlternateContent xmlns:mc="http://schemas.openxmlformats.org/markup-compatibility/2006">
                <mc:Choice xmlns:v="urn:schemas-microsoft-com:vml" Requires="v">
                  <p:oleObj spid="_x0000_s1303594" r:id="rId4" imgW="1646640" imgH="938520" progId="">
                    <p:embed/>
                  </p:oleObj>
                </mc:Choice>
                <mc:Fallback>
                  <p:oleObj r:id="rId4" imgW="1646640" imgH="93852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6" y="2496"/>
                          <a:ext cx="2448" cy="1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03557" name="Text Box 6"/>
            <p:cNvSpPr txBox="1">
              <a:spLocks noChangeArrowheads="1"/>
            </p:cNvSpPr>
            <p:nvPr/>
          </p:nvSpPr>
          <p:spPr bwMode="auto">
            <a:xfrm>
              <a:off x="2382" y="3168"/>
              <a:ext cx="6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ahoma" panose="020B0604030504040204" pitchFamily="34" charset="0"/>
                  <a:ea typeface="宋体" panose="02010600030101010101" pitchFamily="2" charset="-122"/>
                </a:rPr>
                <a:t>互联网</a:t>
              </a:r>
              <a:endParaRPr lang="en-US" altLang="zh-CN" sz="2400" b="1">
                <a:latin typeface="Tahoma" panose="020B0604030504040204" pitchFamily="34" charset="0"/>
                <a:ea typeface="宋体" panose="02010600030101010101" pitchFamily="2" charset="-122"/>
              </a:endParaRPr>
            </a:p>
          </p:txBody>
        </p:sp>
        <p:sp>
          <p:nvSpPr>
            <p:cNvPr id="1303558" name="Oval 8"/>
            <p:cNvSpPr>
              <a:spLocks noChangeArrowheads="1"/>
            </p:cNvSpPr>
            <p:nvPr/>
          </p:nvSpPr>
          <p:spPr bwMode="auto">
            <a:xfrm>
              <a:off x="864" y="2352"/>
              <a:ext cx="528" cy="336"/>
            </a:xfrm>
            <a:prstGeom prst="ellipse">
              <a:avLst/>
            </a:prstGeom>
            <a:solidFill>
              <a:schemeClr val="accent1"/>
            </a:solidFill>
            <a:ln w="9525">
              <a:solidFill>
                <a:schemeClr val="tx1"/>
              </a:solidFill>
              <a:miter lim="800000"/>
              <a:headEnd/>
              <a:tailEnd/>
            </a:ln>
          </p:spPr>
          <p:txBody>
            <a:bodyPr wrap="none" anchor="ctr"/>
            <a:lstStyle/>
            <a:p>
              <a:pPr eaLnBrk="0" hangingPunct="0"/>
              <a:r>
                <a:rPr lang="en-US" altLang="zh-CN" sz="2400" b="1">
                  <a:solidFill>
                    <a:srgbClr val="000099"/>
                  </a:solidFill>
                  <a:ea typeface="黑体" panose="02010609060101010101" pitchFamily="49" charset="-122"/>
                </a:rPr>
                <a:t>AP</a:t>
              </a:r>
            </a:p>
          </p:txBody>
        </p:sp>
        <p:sp>
          <p:nvSpPr>
            <p:cNvPr id="1303559" name="Oval 9"/>
            <p:cNvSpPr>
              <a:spLocks noChangeArrowheads="1"/>
            </p:cNvSpPr>
            <p:nvPr/>
          </p:nvSpPr>
          <p:spPr bwMode="auto">
            <a:xfrm>
              <a:off x="4176" y="2352"/>
              <a:ext cx="528" cy="336"/>
            </a:xfrm>
            <a:prstGeom prst="ellipse">
              <a:avLst/>
            </a:prstGeom>
            <a:solidFill>
              <a:schemeClr val="accent1"/>
            </a:solidFill>
            <a:ln w="9525">
              <a:solidFill>
                <a:schemeClr val="tx1"/>
              </a:solidFill>
              <a:miter lim="800000"/>
              <a:headEnd/>
              <a:tailEnd/>
            </a:ln>
          </p:spPr>
          <p:txBody>
            <a:bodyPr wrap="none" anchor="ctr"/>
            <a:lstStyle/>
            <a:p>
              <a:pPr eaLnBrk="0" hangingPunct="0"/>
              <a:r>
                <a:rPr lang="en-US" altLang="zh-CN" sz="2400" b="1">
                  <a:solidFill>
                    <a:srgbClr val="000099"/>
                  </a:solidFill>
                  <a:ea typeface="黑体" panose="02010609060101010101" pitchFamily="49" charset="-122"/>
                </a:rPr>
                <a:t>AP</a:t>
              </a:r>
            </a:p>
          </p:txBody>
        </p:sp>
        <p:sp>
          <p:nvSpPr>
            <p:cNvPr id="1303560" name="Freeform 10"/>
            <p:cNvSpPr>
              <a:spLocks noChangeArrowheads="1"/>
            </p:cNvSpPr>
            <p:nvPr/>
          </p:nvSpPr>
          <p:spPr bwMode="auto">
            <a:xfrm>
              <a:off x="1296" y="2592"/>
              <a:ext cx="2928" cy="429"/>
            </a:xfrm>
            <a:custGeom>
              <a:avLst/>
              <a:gdLst>
                <a:gd name="T0" fmla="*/ 0 w 2928"/>
                <a:gd name="T1" fmla="*/ 48 h 429"/>
                <a:gd name="T2" fmla="*/ 748 w 2928"/>
                <a:gd name="T3" fmla="*/ 381 h 429"/>
                <a:gd name="T4" fmla="*/ 2208 w 2928"/>
                <a:gd name="T5" fmla="*/ 336 h 429"/>
                <a:gd name="T6" fmla="*/ 2928 w 2928"/>
                <a:gd name="T7" fmla="*/ 0 h 429"/>
              </a:gdLst>
              <a:ahLst/>
              <a:cxnLst>
                <a:cxn ang="0">
                  <a:pos x="T0" y="T1"/>
                </a:cxn>
                <a:cxn ang="0">
                  <a:pos x="T2" y="T3"/>
                </a:cxn>
                <a:cxn ang="0">
                  <a:pos x="T4" y="T5"/>
                </a:cxn>
                <a:cxn ang="0">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eaLnBrk="0" hangingPunct="0"/>
              <a:endParaRPr lang="zh-CN" altLang="en-US">
                <a:ea typeface="宋体" panose="02010600030101010101" pitchFamily="2" charset="-122"/>
              </a:endParaRPr>
            </a:p>
          </p:txBody>
        </p:sp>
        <p:sp>
          <p:nvSpPr>
            <p:cNvPr id="1303561" name="Text Box 11"/>
            <p:cNvSpPr txBox="1">
              <a:spLocks noChangeArrowheads="1"/>
            </p:cNvSpPr>
            <p:nvPr/>
          </p:nvSpPr>
          <p:spPr bwMode="auto">
            <a:xfrm>
              <a:off x="2112" y="2688"/>
              <a:ext cx="11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ahoma" panose="020B0604030504040204" pitchFamily="34" charset="0"/>
                  <a:ea typeface="宋体" panose="02010600030101010101" pitchFamily="2" charset="-122"/>
                </a:rPr>
                <a:t>逻辑通信信道</a:t>
              </a:r>
            </a:p>
          </p:txBody>
        </p:sp>
      </p:grpSp>
      <p:sp>
        <p:nvSpPr>
          <p:cNvPr id="130356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A07886-4B61-499E-9906-8C468D59479B}" type="slidenum">
              <a:rPr lang="zh-CN" altLang="en-US" smtClean="0"/>
              <a:pPr eaLnBrk="1" hangingPunct="1"/>
              <a:t>10</a:t>
            </a:fld>
            <a:endParaRPr lang="en-US" altLang="zh-CN" smtClean="0"/>
          </a:p>
        </p:txBody>
      </p:sp>
      <p:sp>
        <p:nvSpPr>
          <p:cNvPr id="130356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5601"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两种不同的运输协议</a:t>
            </a:r>
          </a:p>
        </p:txBody>
      </p:sp>
      <p:sp>
        <p:nvSpPr>
          <p:cNvPr id="1305602"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但这条逻辑通信信道对上层的表现却因运输层使用的不同协议而有很大的差别。</a:t>
            </a:r>
            <a:endParaRPr lang="en-US" altLang="zh-CN" dirty="0" smtClean="0">
              <a:ea typeface="黑体" panose="02010609060101010101" pitchFamily="49" charset="-122"/>
            </a:endParaRPr>
          </a:p>
          <a:p>
            <a:r>
              <a:rPr lang="zh-CN" altLang="en-US" dirty="0" smtClean="0">
                <a:ea typeface="黑体" panose="02010609060101010101" pitchFamily="49" charset="-122"/>
              </a:rPr>
              <a:t>当运输层采用面向连接的 </a:t>
            </a:r>
            <a:r>
              <a:rPr lang="en-US" altLang="zh-CN" dirty="0" smtClean="0">
                <a:solidFill>
                  <a:srgbClr val="FF0000"/>
                </a:solidFill>
                <a:ea typeface="黑体" panose="02010609060101010101" pitchFamily="49" charset="-122"/>
              </a:rPr>
              <a:t>TCP</a:t>
            </a:r>
            <a:r>
              <a:rPr lang="en-US" altLang="zh-CN" dirty="0" smtClean="0">
                <a:ea typeface="黑体" panose="02010609060101010101" pitchFamily="49" charset="-122"/>
              </a:rPr>
              <a:t> </a:t>
            </a:r>
            <a:r>
              <a:rPr lang="zh-CN" altLang="en-US" dirty="0" smtClean="0">
                <a:ea typeface="黑体" panose="02010609060101010101" pitchFamily="49" charset="-122"/>
              </a:rPr>
              <a:t>协议时，尽管下面的网络是不可靠的（只提供尽最大努力服务），但这种逻辑通信信道就相当于一条</a:t>
            </a:r>
            <a:r>
              <a:rPr lang="zh-CN" altLang="en-US" dirty="0" smtClean="0">
                <a:solidFill>
                  <a:srgbClr val="FF0000"/>
                </a:solidFill>
                <a:ea typeface="黑体" panose="02010609060101010101" pitchFamily="49" charset="-122"/>
              </a:rPr>
              <a:t>全双工的可靠信道。</a:t>
            </a:r>
          </a:p>
          <a:p>
            <a:r>
              <a:rPr lang="zh-CN" altLang="en-US" dirty="0" smtClean="0">
                <a:ea typeface="黑体" panose="02010609060101010101" pitchFamily="49" charset="-122"/>
              </a:rPr>
              <a:t>当运输层采用无连接的 </a:t>
            </a:r>
            <a:r>
              <a:rPr lang="en-US" altLang="zh-CN" dirty="0" smtClean="0">
                <a:solidFill>
                  <a:srgbClr val="FF0000"/>
                </a:solidFill>
                <a:ea typeface="黑体" panose="02010609060101010101" pitchFamily="49" charset="-122"/>
              </a:rPr>
              <a:t>UDP</a:t>
            </a:r>
            <a:r>
              <a:rPr lang="en-US" altLang="zh-CN" dirty="0" smtClean="0">
                <a:ea typeface="黑体" panose="02010609060101010101" pitchFamily="49" charset="-122"/>
              </a:rPr>
              <a:t> </a:t>
            </a:r>
            <a:r>
              <a:rPr lang="zh-CN" altLang="en-US" dirty="0" smtClean="0">
                <a:ea typeface="黑体" panose="02010609060101010101" pitchFamily="49" charset="-122"/>
              </a:rPr>
              <a:t>协议时，这种逻辑通信信道是一条</a:t>
            </a:r>
            <a:r>
              <a:rPr lang="zh-CN" altLang="en-US" dirty="0" smtClean="0">
                <a:solidFill>
                  <a:srgbClr val="FF0000"/>
                </a:solidFill>
                <a:ea typeface="黑体" panose="02010609060101010101" pitchFamily="49" charset="-122"/>
              </a:rPr>
              <a:t>不可靠信道。 </a:t>
            </a:r>
          </a:p>
        </p:txBody>
      </p:sp>
      <p:sp>
        <p:nvSpPr>
          <p:cNvPr id="1305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6CAB69-567F-48D7-B45F-ACE0FE2ADA95}" type="slidenum">
              <a:rPr lang="zh-CN" altLang="en-US" smtClean="0"/>
              <a:pPr eaLnBrk="1" hangingPunct="1"/>
              <a:t>11</a:t>
            </a:fld>
            <a:endParaRPr lang="en-US" altLang="zh-CN" smtClean="0"/>
          </a:p>
        </p:txBody>
      </p:sp>
      <p:sp>
        <p:nvSpPr>
          <p:cNvPr id="1305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7649" name="Rectangle 2"/>
          <p:cNvSpPr>
            <a:spLocks noGrp="1" noChangeArrowheads="1"/>
          </p:cNvSpPr>
          <p:nvPr>
            <p:ph type="title"/>
          </p:nvPr>
        </p:nvSpPr>
        <p:spPr/>
        <p:txBody>
          <a:bodyPr/>
          <a:lstStyle/>
          <a:p>
            <a:pPr algn="ctr"/>
            <a:r>
              <a:rPr lang="zh-CN" altLang="en-US" smtClean="0">
                <a:ea typeface="黑体" panose="02010609060101010101" pitchFamily="49" charset="-122"/>
              </a:rPr>
              <a:t>可靠信道与不可靠信道</a:t>
            </a:r>
          </a:p>
        </p:txBody>
      </p:sp>
      <p:sp>
        <p:nvSpPr>
          <p:cNvPr id="60" name="Rectangle 5"/>
          <p:cNvSpPr>
            <a:spLocks noChangeArrowheads="1"/>
          </p:cNvSpPr>
          <p:nvPr/>
        </p:nvSpPr>
        <p:spPr bwMode="auto">
          <a:xfrm>
            <a:off x="415925" y="3240088"/>
            <a:ext cx="9290050" cy="2573337"/>
          </a:xfrm>
          <a:prstGeom prst="rect">
            <a:avLst/>
          </a:prstGeom>
          <a:solidFill>
            <a:srgbClr val="FFFF66"/>
          </a:solidFill>
          <a:ln>
            <a:noFill/>
          </a:ln>
          <a:effec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61" name="AutoShape 6"/>
          <p:cNvSpPr>
            <a:spLocks noChangeArrowheads="1"/>
          </p:cNvSpPr>
          <p:nvPr/>
        </p:nvSpPr>
        <p:spPr bwMode="auto">
          <a:xfrm>
            <a:off x="8893175" y="1365250"/>
            <a:ext cx="739775" cy="677863"/>
          </a:xfrm>
          <a:prstGeom prst="cloudCallout">
            <a:avLst>
              <a:gd name="adj1" fmla="val -45565"/>
              <a:gd name="adj2" fmla="val 111593"/>
            </a:avLst>
          </a:prstGeom>
          <a:solidFill>
            <a:srgbClr val="FF66FF"/>
          </a:solidFill>
          <a:ln w="9525">
            <a:solidFill>
              <a:srgbClr val="000000"/>
            </a:solidFill>
            <a:round/>
          </a:ln>
          <a:effectLst/>
        </p:spPr>
        <p:txBody>
          <a:bodyPr wrap="none" anchor="ctr"/>
          <a:lstStyle/>
          <a:p>
            <a:pPr fontAlgn="auto">
              <a:spcBef>
                <a:spcPts val="0"/>
              </a:spcBef>
              <a:spcAft>
                <a:spcPts val="0"/>
              </a:spcAft>
              <a:defRPr/>
            </a:pPr>
            <a:endParaRPr lang="zh-CN" altLang="zh-CN" sz="3200" kern="0">
              <a:solidFill>
                <a:sysClr val="windowText" lastClr="000000"/>
              </a:solidFill>
              <a:ea typeface="黑体" panose="02010609060101010101" pitchFamily="2" charset="-122"/>
            </a:endParaRPr>
          </a:p>
        </p:txBody>
      </p:sp>
      <p:sp>
        <p:nvSpPr>
          <p:cNvPr id="62" name="Text Box 7"/>
          <p:cNvSpPr txBox="1">
            <a:spLocks noChangeArrowheads="1"/>
          </p:cNvSpPr>
          <p:nvPr/>
        </p:nvSpPr>
        <p:spPr bwMode="auto">
          <a:xfrm>
            <a:off x="8993188" y="1341438"/>
            <a:ext cx="388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sz="4000" kern="0" dirty="0">
                <a:solidFill>
                  <a:srgbClr val="1C1C1C"/>
                </a:solidFill>
                <a:ea typeface="黑体" panose="02010609060101010101" pitchFamily="2" charset="-122"/>
              </a:rPr>
              <a:t>？</a:t>
            </a:r>
          </a:p>
        </p:txBody>
      </p:sp>
      <p:sp>
        <p:nvSpPr>
          <p:cNvPr id="63" name="Line 8"/>
          <p:cNvSpPr>
            <a:spLocks noChangeShapeType="1"/>
          </p:cNvSpPr>
          <p:nvPr/>
        </p:nvSpPr>
        <p:spPr bwMode="auto">
          <a:xfrm>
            <a:off x="776288" y="3257550"/>
            <a:ext cx="4191000" cy="0"/>
          </a:xfrm>
          <a:prstGeom prst="line">
            <a:avLst/>
          </a:prstGeom>
          <a:noFill/>
          <a:ln w="38100">
            <a:solidFill>
              <a:srgbClr val="C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1307654" name="Text Box 9"/>
          <p:cNvSpPr txBox="1">
            <a:spLocks noChangeArrowheads="1"/>
          </p:cNvSpPr>
          <p:nvPr/>
        </p:nvSpPr>
        <p:spPr bwMode="auto">
          <a:xfrm>
            <a:off x="415925" y="1797050"/>
            <a:ext cx="495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latin typeface="Tahoma" panose="020B0604030504040204" pitchFamily="34" charset="0"/>
                <a:ea typeface="黑体" panose="02010609060101010101" pitchFamily="49" charset="-122"/>
              </a:rPr>
              <a:t>应</a:t>
            </a:r>
          </a:p>
          <a:p>
            <a:r>
              <a:rPr lang="zh-CN" altLang="en-US" sz="2400" b="1">
                <a:latin typeface="Tahoma" panose="020B0604030504040204" pitchFamily="34" charset="0"/>
                <a:ea typeface="黑体" panose="02010609060101010101" pitchFamily="49" charset="-122"/>
              </a:rPr>
              <a:t>用</a:t>
            </a:r>
          </a:p>
          <a:p>
            <a:r>
              <a:rPr lang="zh-CN" altLang="en-US" sz="2400" b="1">
                <a:latin typeface="Tahoma" panose="020B0604030504040204" pitchFamily="34" charset="0"/>
                <a:ea typeface="黑体" panose="02010609060101010101" pitchFamily="49" charset="-122"/>
              </a:rPr>
              <a:t>层</a:t>
            </a:r>
          </a:p>
        </p:txBody>
      </p:sp>
      <p:sp>
        <p:nvSpPr>
          <p:cNvPr id="65" name="Text Box 10"/>
          <p:cNvSpPr txBox="1">
            <a:spLocks noChangeArrowheads="1"/>
          </p:cNvSpPr>
          <p:nvPr/>
        </p:nvSpPr>
        <p:spPr bwMode="auto">
          <a:xfrm>
            <a:off x="430213" y="3852863"/>
            <a:ext cx="4953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kern="0" dirty="0">
                <a:solidFill>
                  <a:srgbClr val="0000CC"/>
                </a:solidFill>
                <a:ea typeface="黑体" panose="02010609060101010101" pitchFamily="2" charset="-122"/>
              </a:rPr>
              <a:t>运</a:t>
            </a:r>
          </a:p>
          <a:p>
            <a:pPr eaLnBrk="1" fontAlgn="auto" hangingPunct="1">
              <a:spcBef>
                <a:spcPts val="0"/>
              </a:spcBef>
              <a:spcAft>
                <a:spcPts val="0"/>
              </a:spcAft>
              <a:defRPr/>
            </a:pPr>
            <a:r>
              <a:rPr lang="zh-CN" altLang="en-US" kern="0" dirty="0">
                <a:solidFill>
                  <a:srgbClr val="0000CC"/>
                </a:solidFill>
                <a:ea typeface="黑体" panose="02010609060101010101" pitchFamily="2" charset="-122"/>
              </a:rPr>
              <a:t>输</a:t>
            </a:r>
          </a:p>
          <a:p>
            <a:pPr eaLnBrk="1" fontAlgn="auto" hangingPunct="1">
              <a:spcBef>
                <a:spcPts val="0"/>
              </a:spcBef>
              <a:spcAft>
                <a:spcPts val="0"/>
              </a:spcAft>
              <a:defRPr/>
            </a:pPr>
            <a:r>
              <a:rPr lang="zh-CN" altLang="en-US" kern="0" dirty="0">
                <a:solidFill>
                  <a:srgbClr val="0000CC"/>
                </a:solidFill>
                <a:ea typeface="黑体" panose="02010609060101010101" pitchFamily="2" charset="-122"/>
              </a:rPr>
              <a:t>层</a:t>
            </a:r>
          </a:p>
        </p:txBody>
      </p:sp>
      <p:sp>
        <p:nvSpPr>
          <p:cNvPr id="1307656" name="Text Box 13"/>
          <p:cNvSpPr txBox="1">
            <a:spLocks noChangeArrowheads="1"/>
          </p:cNvSpPr>
          <p:nvPr/>
        </p:nvSpPr>
        <p:spPr bwMode="auto">
          <a:xfrm>
            <a:off x="7494588" y="1527175"/>
            <a:ext cx="1490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接收进程</a:t>
            </a:r>
          </a:p>
        </p:txBody>
      </p:sp>
      <p:grpSp>
        <p:nvGrpSpPr>
          <p:cNvPr id="1307657" name="Group 15"/>
          <p:cNvGrpSpPr>
            <a:grpSpLocks/>
          </p:cNvGrpSpPr>
          <p:nvPr/>
        </p:nvGrpSpPr>
        <p:grpSpPr bwMode="auto">
          <a:xfrm>
            <a:off x="1481138" y="1989138"/>
            <a:ext cx="2593975" cy="2205037"/>
            <a:chOff x="865" y="1467"/>
            <a:chExt cx="1348" cy="931"/>
          </a:xfrm>
        </p:grpSpPr>
        <p:sp>
          <p:nvSpPr>
            <p:cNvPr id="71" name="Freeform 16"/>
            <p:cNvSpPr/>
            <p:nvPr/>
          </p:nvSpPr>
          <p:spPr bwMode="auto">
            <a:xfrm>
              <a:off x="865" y="1474"/>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72" name="Freeform 17"/>
            <p:cNvSpPr/>
            <p:nvPr/>
          </p:nvSpPr>
          <p:spPr bwMode="auto">
            <a:xfrm flipH="1">
              <a:off x="2025"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grpSp>
      <p:grpSp>
        <p:nvGrpSpPr>
          <p:cNvPr id="1307660" name="组合 1"/>
          <p:cNvGrpSpPr>
            <a:grpSpLocks/>
          </p:cNvGrpSpPr>
          <p:nvPr/>
        </p:nvGrpSpPr>
        <p:grpSpPr bwMode="auto">
          <a:xfrm>
            <a:off x="1662113" y="3970338"/>
            <a:ext cx="2154237" cy="447675"/>
            <a:chOff x="1662339" y="3970363"/>
            <a:chExt cx="2154091" cy="447675"/>
          </a:xfrm>
        </p:grpSpPr>
        <p:sp>
          <p:nvSpPr>
            <p:cNvPr id="69" name="AutoShape 14"/>
            <p:cNvSpPr>
              <a:spLocks noChangeArrowheads="1"/>
            </p:cNvSpPr>
            <p:nvPr/>
          </p:nvSpPr>
          <p:spPr bwMode="auto">
            <a:xfrm rot="-5400000">
              <a:off x="2515547" y="3117155"/>
              <a:ext cx="447675" cy="2154091"/>
            </a:xfrm>
            <a:prstGeom prst="can">
              <a:avLst>
                <a:gd name="adj" fmla="val 52844"/>
              </a:avLst>
            </a:prstGeom>
            <a:gradFill rotWithShape="1">
              <a:gsLst>
                <a:gs pos="0">
                  <a:srgbClr val="475E76"/>
                </a:gs>
                <a:gs pos="50000">
                  <a:srgbClr val="99CCFF"/>
                </a:gs>
                <a:gs pos="100000">
                  <a:srgbClr val="475E76"/>
                </a:gs>
              </a:gsLst>
              <a:lin ang="0" scaled="1"/>
            </a:gra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rgbClr val="0000CC"/>
                </a:solidFill>
              </a:endParaRPr>
            </a:p>
          </p:txBody>
        </p:sp>
        <p:sp>
          <p:nvSpPr>
            <p:cNvPr id="75" name="Text Box 20"/>
            <p:cNvSpPr txBox="1">
              <a:spLocks noChangeArrowheads="1"/>
            </p:cNvSpPr>
            <p:nvPr/>
          </p:nvSpPr>
          <p:spPr bwMode="auto">
            <a:xfrm>
              <a:off x="1843302" y="3986238"/>
              <a:ext cx="197312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sz="2000" kern="0" dirty="0">
                  <a:solidFill>
                    <a:srgbClr val="0000CC"/>
                  </a:solidFill>
                  <a:ea typeface="黑体" panose="02010609060101010101" pitchFamily="2" charset="-122"/>
                </a:rPr>
                <a:t>全双工可靠信道</a:t>
              </a:r>
            </a:p>
          </p:txBody>
        </p:sp>
      </p:grpSp>
      <p:grpSp>
        <p:nvGrpSpPr>
          <p:cNvPr id="1307663" name="Group 21"/>
          <p:cNvGrpSpPr>
            <a:grpSpLocks/>
          </p:cNvGrpSpPr>
          <p:nvPr/>
        </p:nvGrpSpPr>
        <p:grpSpPr bwMode="auto">
          <a:xfrm>
            <a:off x="6130925" y="1971675"/>
            <a:ext cx="2141538" cy="2222500"/>
            <a:chOff x="3508" y="1467"/>
            <a:chExt cx="1349" cy="931"/>
          </a:xfrm>
        </p:grpSpPr>
        <p:sp>
          <p:nvSpPr>
            <p:cNvPr id="77" name="Freeform 22"/>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78" name="Freeform 23"/>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grpSp>
      <p:sp>
        <p:nvSpPr>
          <p:cNvPr id="79" name="Rectangle 24"/>
          <p:cNvSpPr>
            <a:spLocks noChangeArrowheads="1"/>
          </p:cNvSpPr>
          <p:nvPr/>
        </p:nvSpPr>
        <p:spPr bwMode="auto">
          <a:xfrm>
            <a:off x="6249144"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81" name="Line 26"/>
          <p:cNvSpPr>
            <a:spLocks noChangeShapeType="1"/>
          </p:cNvSpPr>
          <p:nvPr/>
        </p:nvSpPr>
        <p:spPr bwMode="auto">
          <a:xfrm>
            <a:off x="5468938" y="3257550"/>
            <a:ext cx="3965575" cy="3175"/>
          </a:xfrm>
          <a:prstGeom prst="line">
            <a:avLst/>
          </a:prstGeom>
          <a:noFill/>
          <a:ln w="38100">
            <a:solidFill>
              <a:srgbClr val="C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kern="0">
              <a:solidFill>
                <a:sysClr val="windowText" lastClr="000000"/>
              </a:solidFill>
            </a:endParaRPr>
          </a:p>
        </p:txBody>
      </p:sp>
      <p:sp>
        <p:nvSpPr>
          <p:cNvPr id="82" name="Text Box 27"/>
          <p:cNvSpPr txBox="1">
            <a:spLocks noChangeArrowheads="1"/>
          </p:cNvSpPr>
          <p:nvPr/>
        </p:nvSpPr>
        <p:spPr bwMode="auto">
          <a:xfrm>
            <a:off x="1497013" y="4437063"/>
            <a:ext cx="2439987"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kern="0" dirty="0">
                <a:solidFill>
                  <a:srgbClr val="1C1C1C"/>
                </a:solidFill>
                <a:ea typeface="黑体" panose="02010609060101010101" pitchFamily="2" charset="-122"/>
              </a:rPr>
              <a:t>使用 面向连接的</a:t>
            </a:r>
          </a:p>
          <a:p>
            <a:pPr eaLnBrk="1" fontAlgn="auto" hangingPunct="1">
              <a:spcBef>
                <a:spcPts val="0"/>
              </a:spcBef>
              <a:spcAft>
                <a:spcPts val="0"/>
              </a:spcAft>
              <a:defRPr/>
            </a:pPr>
            <a:r>
              <a:rPr lang="zh-CN" altLang="en-US" kern="0" dirty="0">
                <a:solidFill>
                  <a:srgbClr val="1C1C1C"/>
                </a:solidFill>
                <a:ea typeface="黑体" panose="02010609060101010101" pitchFamily="2" charset="-122"/>
              </a:rPr>
              <a:t>协议，如 </a:t>
            </a:r>
            <a:r>
              <a:rPr lang="en-US" altLang="zh-CN" kern="0" dirty="0">
                <a:solidFill>
                  <a:srgbClr val="1C1C1C"/>
                </a:solidFill>
                <a:ea typeface="黑体" panose="02010609060101010101" pitchFamily="2" charset="-122"/>
              </a:rPr>
              <a:t>TCP</a:t>
            </a:r>
            <a:r>
              <a:rPr lang="zh-CN" altLang="en-US" kern="0" dirty="0">
                <a:solidFill>
                  <a:srgbClr val="1C1C1C"/>
                </a:solidFill>
                <a:ea typeface="黑体" panose="02010609060101010101" pitchFamily="2" charset="-122"/>
              </a:rPr>
              <a:t>。</a:t>
            </a:r>
            <a:endParaRPr lang="en-US" altLang="zh-CN" kern="0" dirty="0">
              <a:solidFill>
                <a:srgbClr val="1C1C1C"/>
              </a:solidFill>
              <a:ea typeface="黑体" panose="02010609060101010101" pitchFamily="2" charset="-122"/>
            </a:endParaRPr>
          </a:p>
        </p:txBody>
      </p:sp>
      <p:sp>
        <p:nvSpPr>
          <p:cNvPr id="83" name="Text Box 28"/>
          <p:cNvSpPr txBox="1">
            <a:spLocks noChangeArrowheads="1"/>
          </p:cNvSpPr>
          <p:nvPr/>
        </p:nvSpPr>
        <p:spPr bwMode="auto">
          <a:xfrm>
            <a:off x="6176963" y="4581525"/>
            <a:ext cx="248285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kern="0" dirty="0">
                <a:solidFill>
                  <a:srgbClr val="1C1C1C"/>
                </a:solidFill>
                <a:ea typeface="黑体" panose="02010609060101010101" pitchFamily="2" charset="-122"/>
              </a:rPr>
              <a:t>使用 无连接的</a:t>
            </a:r>
          </a:p>
          <a:p>
            <a:pPr eaLnBrk="1" fontAlgn="auto" hangingPunct="1">
              <a:spcBef>
                <a:spcPts val="0"/>
              </a:spcBef>
              <a:spcAft>
                <a:spcPts val="0"/>
              </a:spcAft>
              <a:defRPr/>
            </a:pPr>
            <a:r>
              <a:rPr lang="zh-CN" altLang="en-US" kern="0" dirty="0">
                <a:solidFill>
                  <a:srgbClr val="1C1C1C"/>
                </a:solidFill>
                <a:ea typeface="黑体" panose="02010609060101010101" pitchFamily="2" charset="-122"/>
              </a:rPr>
              <a:t>协议，如 </a:t>
            </a:r>
            <a:r>
              <a:rPr lang="en-US" altLang="zh-CN" kern="0" dirty="0">
                <a:solidFill>
                  <a:srgbClr val="1C1C1C"/>
                </a:solidFill>
                <a:ea typeface="黑体" panose="02010609060101010101" pitchFamily="2" charset="-122"/>
              </a:rPr>
              <a:t>UDP</a:t>
            </a:r>
            <a:r>
              <a:rPr lang="zh-CN" altLang="en-US" kern="0" dirty="0">
                <a:solidFill>
                  <a:srgbClr val="1C1C1C"/>
                </a:solidFill>
                <a:ea typeface="黑体" panose="02010609060101010101" pitchFamily="2" charset="-122"/>
              </a:rPr>
              <a:t>。</a:t>
            </a:r>
            <a:endParaRPr lang="en-US" altLang="zh-CN" kern="0" dirty="0">
              <a:solidFill>
                <a:srgbClr val="1C1C1C"/>
              </a:solidFill>
              <a:ea typeface="黑体" panose="02010609060101010101" pitchFamily="2" charset="-122"/>
            </a:endParaRPr>
          </a:p>
        </p:txBody>
      </p:sp>
      <p:sp>
        <p:nvSpPr>
          <p:cNvPr id="84" name="Line 29"/>
          <p:cNvSpPr>
            <a:spLocks noChangeShapeType="1"/>
          </p:cNvSpPr>
          <p:nvPr/>
        </p:nvSpPr>
        <p:spPr bwMode="auto">
          <a:xfrm>
            <a:off x="1281113"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85" name="Line 30"/>
          <p:cNvSpPr>
            <a:spLocks noChangeShapeType="1"/>
          </p:cNvSpPr>
          <p:nvPr/>
        </p:nvSpPr>
        <p:spPr bwMode="auto">
          <a:xfrm flipV="1">
            <a:off x="4227513"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86" name="Line 31"/>
          <p:cNvSpPr>
            <a:spLocks noChangeShapeType="1"/>
          </p:cNvSpPr>
          <p:nvPr/>
        </p:nvSpPr>
        <p:spPr bwMode="auto">
          <a:xfrm flipV="1">
            <a:off x="8424863"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87" name="Line 32"/>
          <p:cNvSpPr>
            <a:spLocks noChangeShapeType="1"/>
          </p:cNvSpPr>
          <p:nvPr/>
        </p:nvSpPr>
        <p:spPr bwMode="auto">
          <a:xfrm>
            <a:off x="5995988" y="3343275"/>
            <a:ext cx="0" cy="50800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grpSp>
        <p:nvGrpSpPr>
          <p:cNvPr id="1307674" name="Group 33"/>
          <p:cNvGrpSpPr>
            <a:grpSpLocks/>
          </p:cNvGrpSpPr>
          <p:nvPr/>
        </p:nvGrpSpPr>
        <p:grpSpPr bwMode="auto">
          <a:xfrm>
            <a:off x="6426200" y="3702050"/>
            <a:ext cx="1562100" cy="819150"/>
            <a:chOff x="1776" y="2768"/>
            <a:chExt cx="1824" cy="736"/>
          </a:xfrm>
        </p:grpSpPr>
        <p:grpSp>
          <p:nvGrpSpPr>
            <p:cNvPr id="1307675" name="Group 34"/>
            <p:cNvGrpSpPr>
              <a:grpSpLocks/>
            </p:cNvGrpSpPr>
            <p:nvPr/>
          </p:nvGrpSpPr>
          <p:grpSpPr bwMode="auto">
            <a:xfrm>
              <a:off x="1787" y="2783"/>
              <a:ext cx="1813" cy="721"/>
              <a:chOff x="1787" y="2783"/>
              <a:chExt cx="1813" cy="721"/>
            </a:xfrm>
          </p:grpSpPr>
          <p:sp>
            <p:nvSpPr>
              <p:cNvPr id="99" name="Oval 35"/>
              <p:cNvSpPr>
                <a:spLocks noChangeArrowheads="1"/>
              </p:cNvSpPr>
              <p:nvPr/>
            </p:nvSpPr>
            <p:spPr bwMode="auto">
              <a:xfrm>
                <a:off x="2414" y="2784"/>
                <a:ext cx="779"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0" name="Oval 36"/>
              <p:cNvSpPr>
                <a:spLocks noChangeArrowheads="1"/>
              </p:cNvSpPr>
              <p:nvPr/>
            </p:nvSpPr>
            <p:spPr bwMode="auto">
              <a:xfrm>
                <a:off x="1974" y="2864"/>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1" name="Oval 37"/>
              <p:cNvSpPr>
                <a:spLocks noChangeArrowheads="1"/>
              </p:cNvSpPr>
              <p:nvPr/>
            </p:nvSpPr>
            <p:spPr bwMode="auto">
              <a:xfrm>
                <a:off x="1787" y="3046"/>
                <a:ext cx="397" cy="232"/>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2" name="Oval 38"/>
              <p:cNvSpPr>
                <a:spLocks noChangeArrowheads="1"/>
              </p:cNvSpPr>
              <p:nvPr/>
            </p:nvSpPr>
            <p:spPr bwMode="auto">
              <a:xfrm>
                <a:off x="1908" y="3155"/>
                <a:ext cx="604" cy="25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3" name="Oval 39"/>
              <p:cNvSpPr>
                <a:spLocks noChangeArrowheads="1"/>
              </p:cNvSpPr>
              <p:nvPr/>
            </p:nvSpPr>
            <p:spPr bwMode="auto">
              <a:xfrm>
                <a:off x="2347" y="3199"/>
                <a:ext cx="912" cy="30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4" name="Oval 40"/>
              <p:cNvSpPr>
                <a:spLocks noChangeArrowheads="1"/>
              </p:cNvSpPr>
              <p:nvPr/>
            </p:nvSpPr>
            <p:spPr bwMode="auto">
              <a:xfrm>
                <a:off x="2942" y="2871"/>
                <a:ext cx="571" cy="22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5" name="Oval 41"/>
              <p:cNvSpPr>
                <a:spLocks noChangeArrowheads="1"/>
              </p:cNvSpPr>
              <p:nvPr/>
            </p:nvSpPr>
            <p:spPr bwMode="auto">
              <a:xfrm>
                <a:off x="3029" y="3023"/>
                <a:ext cx="571" cy="22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6" name="Oval 42"/>
              <p:cNvSpPr>
                <a:spLocks noChangeArrowheads="1"/>
              </p:cNvSpPr>
              <p:nvPr/>
            </p:nvSpPr>
            <p:spPr bwMode="auto">
              <a:xfrm>
                <a:off x="2973" y="3075"/>
                <a:ext cx="571" cy="37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107" name="Oval 43"/>
              <p:cNvSpPr>
                <a:spLocks noChangeArrowheads="1"/>
              </p:cNvSpPr>
              <p:nvPr/>
            </p:nvSpPr>
            <p:spPr bwMode="auto">
              <a:xfrm>
                <a:off x="2117" y="2958"/>
                <a:ext cx="1175" cy="378"/>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grpSp>
        <p:sp>
          <p:nvSpPr>
            <p:cNvPr id="90" name="Oval 44"/>
            <p:cNvSpPr>
              <a:spLocks noChangeArrowheads="1"/>
            </p:cNvSpPr>
            <p:nvPr/>
          </p:nvSpPr>
          <p:spPr bwMode="auto">
            <a:xfrm>
              <a:off x="2403"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1" name="Oval 45"/>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2" name="Oval 46"/>
            <p:cNvSpPr>
              <a:spLocks noChangeArrowheads="1"/>
            </p:cNvSpPr>
            <p:nvPr/>
          </p:nvSpPr>
          <p:spPr bwMode="auto">
            <a:xfrm>
              <a:off x="1776" y="3030"/>
              <a:ext cx="397"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3" name="Oval 47"/>
            <p:cNvSpPr>
              <a:spLocks noChangeArrowheads="1"/>
            </p:cNvSpPr>
            <p:nvPr/>
          </p:nvSpPr>
          <p:spPr bwMode="auto">
            <a:xfrm>
              <a:off x="1896"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4" name="Oval 48"/>
            <p:cNvSpPr>
              <a:spLocks noChangeArrowheads="1"/>
            </p:cNvSpPr>
            <p:nvPr/>
          </p:nvSpPr>
          <p:spPr bwMode="auto">
            <a:xfrm>
              <a:off x="2336" y="3183"/>
              <a:ext cx="912" cy="305"/>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5" name="Oval 49"/>
            <p:cNvSpPr>
              <a:spLocks noChangeArrowheads="1"/>
            </p:cNvSpPr>
            <p:nvPr/>
          </p:nvSpPr>
          <p:spPr bwMode="auto">
            <a:xfrm>
              <a:off x="2931" y="2855"/>
              <a:ext cx="571" cy="225"/>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6" name="Oval 50"/>
            <p:cNvSpPr>
              <a:spLocks noChangeArrowheads="1"/>
            </p:cNvSpPr>
            <p:nvPr/>
          </p:nvSpPr>
          <p:spPr bwMode="auto">
            <a:xfrm>
              <a:off x="3018" y="3008"/>
              <a:ext cx="571" cy="227"/>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7" name="Oval 51"/>
            <p:cNvSpPr>
              <a:spLocks noChangeArrowheads="1"/>
            </p:cNvSpPr>
            <p:nvPr/>
          </p:nvSpPr>
          <p:spPr bwMode="auto">
            <a:xfrm>
              <a:off x="2962"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98" name="Oval 52"/>
            <p:cNvSpPr>
              <a:spLocks noChangeArrowheads="1"/>
            </p:cNvSpPr>
            <p:nvPr/>
          </p:nvSpPr>
          <p:spPr bwMode="auto">
            <a:xfrm>
              <a:off x="2106" y="2943"/>
              <a:ext cx="1175" cy="378"/>
            </a:xfrm>
            <a:prstGeom prst="ellipse">
              <a:avLst/>
            </a:pr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kern="0">
                <a:solidFill>
                  <a:sysClr val="windowText" lastClr="000000"/>
                </a:solidFill>
              </a:endParaRPr>
            </a:p>
          </p:txBody>
        </p:sp>
      </p:grpSp>
      <p:sp>
        <p:nvSpPr>
          <p:cNvPr id="108" name="Text Box 53"/>
          <p:cNvSpPr txBox="1">
            <a:spLocks noChangeArrowheads="1"/>
          </p:cNvSpPr>
          <p:nvPr/>
        </p:nvSpPr>
        <p:spPr bwMode="auto">
          <a:xfrm>
            <a:off x="6465888" y="3914775"/>
            <a:ext cx="14747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lang="zh-CN" altLang="en-US" sz="2000" kern="0" dirty="0">
                <a:solidFill>
                  <a:srgbClr val="0000CC"/>
                </a:solidFill>
                <a:ea typeface="黑体" panose="02010609060101010101" pitchFamily="2" charset="-122"/>
              </a:rPr>
              <a:t>不可靠信道</a:t>
            </a:r>
          </a:p>
        </p:txBody>
      </p:sp>
      <p:sp>
        <p:nvSpPr>
          <p:cNvPr id="1307695" name="Text Box 59"/>
          <p:cNvSpPr txBox="1">
            <a:spLocks noChangeArrowheads="1"/>
          </p:cNvSpPr>
          <p:nvPr/>
        </p:nvSpPr>
        <p:spPr bwMode="auto">
          <a:xfrm>
            <a:off x="5384800" y="1557338"/>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发送进程</a:t>
            </a:r>
          </a:p>
        </p:txBody>
      </p:sp>
      <p:sp>
        <p:nvSpPr>
          <p:cNvPr id="113" name="Rectangle 24"/>
          <p:cNvSpPr>
            <a:spLocks noChangeArrowheads="1"/>
          </p:cNvSpPr>
          <p:nvPr/>
        </p:nvSpPr>
        <p:spPr bwMode="auto">
          <a:xfrm>
            <a:off x="8439721"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1307697" name="Text Box 13"/>
          <p:cNvSpPr txBox="1">
            <a:spLocks noChangeArrowheads="1"/>
          </p:cNvSpPr>
          <p:nvPr/>
        </p:nvSpPr>
        <p:spPr bwMode="auto">
          <a:xfrm>
            <a:off x="3317875" y="1557338"/>
            <a:ext cx="14906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接收进程</a:t>
            </a:r>
          </a:p>
        </p:txBody>
      </p:sp>
      <p:sp>
        <p:nvSpPr>
          <p:cNvPr id="1307698" name="Text Box 59"/>
          <p:cNvSpPr txBox="1">
            <a:spLocks noChangeArrowheads="1"/>
          </p:cNvSpPr>
          <p:nvPr/>
        </p:nvSpPr>
        <p:spPr bwMode="auto">
          <a:xfrm>
            <a:off x="855663" y="1585913"/>
            <a:ext cx="1481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latin typeface="Tahoma" panose="020B0604030504040204" pitchFamily="34" charset="0"/>
                <a:ea typeface="黑体" panose="02010609060101010101" pitchFamily="49" charset="-122"/>
              </a:rPr>
              <a:t>发送进程</a:t>
            </a:r>
          </a:p>
        </p:txBody>
      </p:sp>
      <p:sp>
        <p:nvSpPr>
          <p:cNvPr id="116" name="Rectangle 24"/>
          <p:cNvSpPr>
            <a:spLocks noChangeArrowheads="1"/>
          </p:cNvSpPr>
          <p:nvPr/>
        </p:nvSpPr>
        <p:spPr bwMode="auto">
          <a:xfrm>
            <a:off x="1578639"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117" name="Rectangle 24"/>
          <p:cNvSpPr>
            <a:spLocks noChangeArrowheads="1"/>
          </p:cNvSpPr>
          <p:nvPr/>
        </p:nvSpPr>
        <p:spPr bwMode="auto">
          <a:xfrm>
            <a:off x="4191249" y="2204864"/>
            <a:ext cx="401711" cy="936104"/>
          </a:xfrm>
          <a:prstGeom prst="rect">
            <a:avLst/>
          </a:prstGeom>
          <a:solidFill>
            <a:srgbClr val="66FFFF"/>
          </a:solidFill>
          <a:ln w="9525">
            <a:solidFill>
              <a:srgbClr val="000000"/>
            </a:solidFill>
            <a:miter lim="800000"/>
          </a:ln>
          <a:effectLst/>
        </p:spPr>
        <p:txBody>
          <a:bodyPr vert="wordArtVertRtl" wrap="none" anchor="ctr"/>
          <a:lstStyle/>
          <a:p>
            <a:pPr algn="ctr" fontAlgn="auto">
              <a:spcBef>
                <a:spcPts val="0"/>
              </a:spcBef>
              <a:spcAft>
                <a:spcPts val="0"/>
              </a:spcAft>
              <a:defRPr/>
            </a:pPr>
            <a:r>
              <a:rPr lang="zh-CN" altLang="en-US" b="1" kern="0" dirty="0">
                <a:solidFill>
                  <a:srgbClr val="000099"/>
                </a:solidFill>
                <a:latin typeface="+mn-lt"/>
                <a:ea typeface="黑体" panose="02010609060101010101" pitchFamily="2" charset="-122"/>
              </a:rPr>
              <a:t>数据</a:t>
            </a:r>
          </a:p>
        </p:txBody>
      </p:sp>
      <p:sp>
        <p:nvSpPr>
          <p:cNvPr id="130770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20411E-6E07-4226-B092-5103D0BF034C}" type="slidenum">
              <a:rPr lang="zh-CN" altLang="en-US" smtClean="0"/>
              <a:pPr eaLnBrk="1" hangingPunct="1"/>
              <a:t>12</a:t>
            </a:fld>
            <a:endParaRPr lang="en-US" altLang="zh-CN" smtClean="0"/>
          </a:p>
        </p:txBody>
      </p:sp>
      <p:sp>
        <p:nvSpPr>
          <p:cNvPr id="130770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969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5.1.2  </a:t>
            </a:r>
            <a:r>
              <a:rPr lang="zh-CN" altLang="zh-CN" smtClean="0">
                <a:ea typeface="黑体" panose="02010609060101010101" pitchFamily="49" charset="-122"/>
              </a:rPr>
              <a:t>运输层的两个主要协议</a:t>
            </a:r>
            <a:endParaRPr lang="zh-CN" altLang="en-US"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0680" indent="-360680">
              <a:buFont typeface="Wingdings" panose="05000000000000000000" pitchFamily="2" charset="2"/>
              <a:buNone/>
            </a:pPr>
            <a:r>
              <a:rPr lang="en-US" altLang="zh-CN" sz="2800" noProof="1"/>
              <a:t>	TCP/IP </a:t>
            </a:r>
            <a:r>
              <a:rPr lang="zh-CN" altLang="en-US" sz="2800" noProof="1"/>
              <a:t>的运输层有两个主要协议：</a:t>
            </a:r>
          </a:p>
          <a:p>
            <a:r>
              <a:rPr lang="en-US" altLang="zh-CN" sz="2800" noProof="1">
                <a:solidFill>
                  <a:srgbClr val="FF0000"/>
                </a:solidFill>
              </a:rPr>
              <a:t>(1) </a:t>
            </a:r>
            <a:r>
              <a:rPr lang="zh-CN" altLang="en-US" sz="2800" u="sng" noProof="1">
                <a:solidFill>
                  <a:srgbClr val="FF0000"/>
                </a:solidFill>
              </a:rPr>
              <a:t>用户数据报协议 </a:t>
            </a:r>
            <a:r>
              <a:rPr lang="en-US" altLang="zh-CN" sz="2800" u="sng" noProof="1">
                <a:solidFill>
                  <a:srgbClr val="FF0000"/>
                </a:solidFill>
              </a:rPr>
              <a:t>UDP </a:t>
            </a:r>
            <a:r>
              <a:rPr lang="en-US" altLang="zh-CN" sz="2800" u="sng" noProof="1"/>
              <a:t>(User Datagram Protocol)</a:t>
            </a:r>
          </a:p>
          <a:p>
            <a:r>
              <a:rPr lang="en-US" altLang="zh-CN" sz="2800" noProof="1">
                <a:solidFill>
                  <a:srgbClr val="FF0000"/>
                </a:solidFill>
              </a:rPr>
              <a:t>(2) </a:t>
            </a:r>
            <a:r>
              <a:rPr lang="zh-CN" altLang="en-US" sz="2800" u="sng" noProof="1">
                <a:solidFill>
                  <a:srgbClr val="FF0000"/>
                </a:solidFill>
              </a:rPr>
              <a:t>传输控制协议 </a:t>
            </a:r>
            <a:r>
              <a:rPr lang="en-US" altLang="zh-CN" sz="2800" u="sng" noProof="1">
                <a:solidFill>
                  <a:srgbClr val="FF0000"/>
                </a:solidFill>
              </a:rPr>
              <a:t>TCP</a:t>
            </a:r>
            <a:r>
              <a:rPr lang="en-US" altLang="zh-CN" sz="2800" u="sng" noProof="1">
                <a:solidFill>
                  <a:srgbClr val="0000FF"/>
                </a:solidFill>
              </a:rPr>
              <a:t> </a:t>
            </a:r>
            <a:r>
              <a:rPr lang="en-US" altLang="zh-CN" sz="2800" u="sng" noProof="1"/>
              <a:t>(Transmission Control Protocol)</a:t>
            </a:r>
          </a:p>
          <a:p>
            <a:endParaRPr lang="zh-CN" altLang="en-US" sz="2800" noProof="1"/>
          </a:p>
        </p:txBody>
      </p:sp>
      <p:grpSp>
        <p:nvGrpSpPr>
          <p:cNvPr id="1309699" name="组合 32"/>
          <p:cNvGrpSpPr>
            <a:grpSpLocks/>
          </p:cNvGrpSpPr>
          <p:nvPr/>
        </p:nvGrpSpPr>
        <p:grpSpPr bwMode="auto">
          <a:xfrm>
            <a:off x="3584575" y="3027363"/>
            <a:ext cx="4241800" cy="2417762"/>
            <a:chOff x="3951288" y="3139919"/>
            <a:chExt cx="4242072" cy="2417763"/>
          </a:xfrm>
        </p:grpSpPr>
        <p:sp>
          <p:nvSpPr>
            <p:cNvPr id="1309700" name="Rectangle 5"/>
            <p:cNvSpPr>
              <a:spLocks noChangeArrowheads="1"/>
            </p:cNvSpPr>
            <p:nvPr/>
          </p:nvSpPr>
          <p:spPr bwMode="auto">
            <a:xfrm>
              <a:off x="3952875" y="3139919"/>
              <a:ext cx="3021013" cy="2417763"/>
            </a:xfrm>
            <a:prstGeom prst="rect">
              <a:avLst/>
            </a:prstGeom>
            <a:solidFill>
              <a:schemeClr val="bg1"/>
            </a:solidFill>
            <a:ln w="254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1" name="Line 6"/>
            <p:cNvSpPr>
              <a:spLocks noChangeShapeType="1"/>
            </p:cNvSpPr>
            <p:nvPr/>
          </p:nvSpPr>
          <p:spPr bwMode="auto">
            <a:xfrm>
              <a:off x="3951288" y="3649507"/>
              <a:ext cx="30178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2" name="Line 7"/>
            <p:cNvSpPr>
              <a:spLocks noChangeShapeType="1"/>
            </p:cNvSpPr>
            <p:nvPr/>
          </p:nvSpPr>
          <p:spPr bwMode="auto">
            <a:xfrm>
              <a:off x="3951288" y="4168619"/>
              <a:ext cx="30289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3" name="Rectangle 8"/>
            <p:cNvSpPr>
              <a:spLocks noChangeArrowheads="1"/>
            </p:cNvSpPr>
            <p:nvPr/>
          </p:nvSpPr>
          <p:spPr bwMode="auto">
            <a:xfrm>
              <a:off x="3976688" y="3166907"/>
              <a:ext cx="2986087" cy="46196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4" name="Rectangle 9"/>
            <p:cNvSpPr>
              <a:spLocks noChangeArrowheads="1"/>
            </p:cNvSpPr>
            <p:nvPr/>
          </p:nvSpPr>
          <p:spPr bwMode="auto">
            <a:xfrm>
              <a:off x="3976688" y="4187669"/>
              <a:ext cx="2978150" cy="1346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5" name="Line 10"/>
            <p:cNvSpPr>
              <a:spLocks noChangeShapeType="1"/>
            </p:cNvSpPr>
            <p:nvPr/>
          </p:nvSpPr>
          <p:spPr bwMode="auto">
            <a:xfrm>
              <a:off x="5449888" y="3654269"/>
              <a:ext cx="0" cy="50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06" name="Rectangle 11"/>
            <p:cNvSpPr>
              <a:spLocks noChangeArrowheads="1"/>
            </p:cNvSpPr>
            <p:nvPr/>
          </p:nvSpPr>
          <p:spPr bwMode="auto">
            <a:xfrm>
              <a:off x="5754688" y="3717032"/>
              <a:ext cx="79829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TCP</a:t>
              </a:r>
            </a:p>
          </p:txBody>
        </p:sp>
        <p:sp>
          <p:nvSpPr>
            <p:cNvPr id="1309707" name="Rectangle 12"/>
            <p:cNvSpPr>
              <a:spLocks noChangeArrowheads="1"/>
            </p:cNvSpPr>
            <p:nvPr/>
          </p:nvSpPr>
          <p:spPr bwMode="auto">
            <a:xfrm>
              <a:off x="4243388" y="3717032"/>
              <a:ext cx="83356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UDP</a:t>
              </a:r>
            </a:p>
          </p:txBody>
        </p:sp>
        <p:sp>
          <p:nvSpPr>
            <p:cNvPr id="1309708" name="Rectangle 15"/>
            <p:cNvSpPr>
              <a:spLocks noChangeArrowheads="1"/>
            </p:cNvSpPr>
            <p:nvPr/>
          </p:nvSpPr>
          <p:spPr bwMode="auto">
            <a:xfrm>
              <a:off x="5211763" y="4203544"/>
              <a:ext cx="472887"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IP</a:t>
              </a:r>
            </a:p>
          </p:txBody>
        </p:sp>
        <p:sp>
          <p:nvSpPr>
            <p:cNvPr id="1309709" name="Rectangle 18"/>
            <p:cNvSpPr>
              <a:spLocks noChangeArrowheads="1"/>
            </p:cNvSpPr>
            <p:nvPr/>
          </p:nvSpPr>
          <p:spPr bwMode="auto">
            <a:xfrm>
              <a:off x="4962525" y="3219294"/>
              <a:ext cx="111088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应用层</a:t>
              </a:r>
            </a:p>
          </p:txBody>
        </p:sp>
        <p:sp>
          <p:nvSpPr>
            <p:cNvPr id="1309710" name="Rectangle 19"/>
            <p:cNvSpPr>
              <a:spLocks noChangeArrowheads="1"/>
            </p:cNvSpPr>
            <p:nvPr/>
          </p:nvSpPr>
          <p:spPr bwMode="auto">
            <a:xfrm>
              <a:off x="4232920" y="4875057"/>
              <a:ext cx="256540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与各种网络接口</a:t>
              </a:r>
            </a:p>
          </p:txBody>
        </p:sp>
        <p:sp>
          <p:nvSpPr>
            <p:cNvPr id="1309711" name="Line 20"/>
            <p:cNvSpPr>
              <a:spLocks noChangeShapeType="1"/>
            </p:cNvSpPr>
            <p:nvPr/>
          </p:nvSpPr>
          <p:spPr bwMode="auto">
            <a:xfrm>
              <a:off x="3951288" y="4668682"/>
              <a:ext cx="30178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09712" name="Text Box 22"/>
            <p:cNvSpPr txBox="1">
              <a:spLocks noChangeArrowheads="1"/>
            </p:cNvSpPr>
            <p:nvPr/>
          </p:nvSpPr>
          <p:spPr bwMode="auto">
            <a:xfrm>
              <a:off x="7080555" y="3687415"/>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运输层</a:t>
              </a:r>
            </a:p>
          </p:txBody>
        </p:sp>
      </p:grpSp>
      <p:sp>
        <p:nvSpPr>
          <p:cNvPr id="1309713" name="矩形 31"/>
          <p:cNvSpPr>
            <a:spLocks noChangeArrowheads="1"/>
          </p:cNvSpPr>
          <p:nvPr/>
        </p:nvSpPr>
        <p:spPr bwMode="auto">
          <a:xfrm>
            <a:off x="2576513" y="5589588"/>
            <a:ext cx="48847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TCP/IP </a:t>
            </a:r>
            <a:r>
              <a:rPr lang="zh-CN" altLang="zh-CN" sz="2400" b="1">
                <a:ea typeface="黑体" panose="02010609060101010101" pitchFamily="49" charset="-122"/>
              </a:rPr>
              <a:t>体系中的运输层协议</a:t>
            </a:r>
            <a:endParaRPr lang="zh-CN" altLang="en-US" sz="2400" b="1">
              <a:ea typeface="黑体" panose="02010609060101010101" pitchFamily="49" charset="-122"/>
            </a:endParaRPr>
          </a:p>
        </p:txBody>
      </p:sp>
      <p:sp>
        <p:nvSpPr>
          <p:cNvPr id="130971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994B3D-70B1-4B52-99A8-BE4937ED03F6}" type="slidenum">
              <a:rPr lang="zh-CN" altLang="en-US" smtClean="0"/>
              <a:pPr eaLnBrk="1" hangingPunct="1"/>
              <a:t>13</a:t>
            </a:fld>
            <a:endParaRPr lang="en-US" altLang="zh-CN" smtClean="0"/>
          </a:p>
        </p:txBody>
      </p:sp>
      <p:sp>
        <p:nvSpPr>
          <p:cNvPr id="130971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21"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与 </a:t>
            </a:r>
            <a:r>
              <a:rPr lang="en-US" altLang="zh-CN" smtClean="0">
                <a:ea typeface="黑体" panose="02010609060101010101" pitchFamily="49" charset="-122"/>
              </a:rPr>
              <a:t>UDP </a:t>
            </a:r>
          </a:p>
        </p:txBody>
      </p:sp>
      <p:sp>
        <p:nvSpPr>
          <p:cNvPr id="351234" name="Rectangle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两个对等运输实体在通信时传送的数据单位叫作</a:t>
            </a:r>
            <a:r>
              <a:rPr lang="zh-CN" altLang="en-US" u="sng" dirty="0" smtClean="0">
                <a:solidFill>
                  <a:srgbClr val="FF0000"/>
                </a:solidFill>
                <a:ea typeface="黑体" panose="02010609060101010101" pitchFamily="49" charset="-122"/>
              </a:rPr>
              <a:t>运输协议数据单元</a:t>
            </a:r>
            <a:r>
              <a:rPr lang="zh-CN" altLang="en-US" u="sng" dirty="0" smtClean="0">
                <a:ea typeface="黑体" panose="02010609060101010101" pitchFamily="49" charset="-122"/>
              </a:rPr>
              <a:t> </a:t>
            </a:r>
            <a:r>
              <a:rPr lang="en-US" altLang="zh-CN" u="sng" dirty="0" smtClean="0">
                <a:ea typeface="黑体" panose="02010609060101010101" pitchFamily="49" charset="-122"/>
              </a:rPr>
              <a:t>TPDU (Transport Protocol Data Unit)</a:t>
            </a:r>
            <a:r>
              <a:rPr lang="zh-CN" altLang="en-US" u="sng" dirty="0" smtClean="0">
                <a:ea typeface="黑体" panose="02010609060101010101" pitchFamily="49" charset="-122"/>
              </a:rPr>
              <a:t>。</a:t>
            </a:r>
          </a:p>
          <a:p>
            <a:r>
              <a:rPr lang="en-US" altLang="zh-CN" dirty="0" smtClean="0">
                <a:ea typeface="黑体" panose="02010609060101010101" pitchFamily="49" charset="-122"/>
              </a:rPr>
              <a:t>TCP </a:t>
            </a:r>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TCP </a:t>
            </a:r>
            <a:r>
              <a:rPr lang="zh-CN" altLang="en-US" dirty="0" smtClean="0">
                <a:solidFill>
                  <a:srgbClr val="FF0000"/>
                </a:solidFill>
                <a:ea typeface="黑体" panose="02010609060101010101" pitchFamily="49" charset="-122"/>
              </a:rPr>
              <a:t>报文段</a:t>
            </a:r>
            <a:r>
              <a:rPr lang="en-US" altLang="zh-CN" dirty="0" smtClean="0">
                <a:ea typeface="黑体" panose="02010609060101010101" pitchFamily="49" charset="-122"/>
              </a:rPr>
              <a:t>(segment)</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 UDP </a:t>
            </a:r>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报文</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用户数据报。 </a:t>
            </a:r>
          </a:p>
        </p:txBody>
      </p:sp>
      <p:sp>
        <p:nvSpPr>
          <p:cNvPr id="13107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4EAEF0-69D2-414D-9ABD-A02D691A52AB}" type="slidenum">
              <a:rPr lang="zh-CN" altLang="en-US" smtClean="0"/>
              <a:pPr eaLnBrk="1" hangingPunct="1"/>
              <a:t>14</a:t>
            </a:fld>
            <a:endParaRPr lang="en-US" altLang="zh-CN" smtClean="0"/>
          </a:p>
        </p:txBody>
      </p:sp>
      <p:sp>
        <p:nvSpPr>
          <p:cNvPr id="13107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2769"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与 </a:t>
            </a:r>
            <a:r>
              <a:rPr lang="en-US" altLang="zh-CN" smtClean="0">
                <a:ea typeface="黑体" panose="02010609060101010101" pitchFamily="49" charset="-122"/>
              </a:rPr>
              <a:t>UDP </a:t>
            </a:r>
          </a:p>
        </p:txBody>
      </p:sp>
      <p:sp>
        <p:nvSpPr>
          <p:cNvPr id="1312770" name="Rectangle 15"/>
          <p:cNvSpPr>
            <a:spLocks noGrp="1" noChangeArrowheads="1"/>
          </p:cNvSpPr>
          <p:nvPr>
            <p:ph idx="1"/>
          </p:nvPr>
        </p:nvSpPr>
        <p:spPr>
          <a:xfrm>
            <a:off x="495300" y="1196975"/>
            <a:ext cx="9066213" cy="4933950"/>
          </a:xfrm>
        </p:spPr>
        <p:txBody>
          <a:bodyPr/>
          <a:lstStyle/>
          <a:p>
            <a:r>
              <a:rPr lang="en-US" altLang="zh-CN" dirty="0" smtClean="0">
                <a:solidFill>
                  <a:srgbClr val="0000FF"/>
                </a:solidFill>
                <a:ea typeface="黑体" panose="02010609060101010101" pitchFamily="49" charset="-122"/>
              </a:rPr>
              <a:t>UDP</a:t>
            </a:r>
            <a:r>
              <a:rPr lang="zh-CN" altLang="en-US" dirty="0" smtClean="0">
                <a:solidFill>
                  <a:srgbClr val="0000FF"/>
                </a:solidFill>
                <a:ea typeface="黑体" panose="02010609060101010101" pitchFamily="49" charset="-122"/>
              </a:rPr>
              <a:t>：一种无连接协议</a:t>
            </a:r>
          </a:p>
          <a:p>
            <a:pPr lvl="1"/>
            <a:r>
              <a:rPr lang="zh-CN" altLang="en-US" dirty="0" smtClean="0">
                <a:ea typeface="黑体" panose="02010609060101010101" pitchFamily="49" charset="-122"/>
              </a:rPr>
              <a:t>提供无连接服务。</a:t>
            </a:r>
          </a:p>
          <a:p>
            <a:pPr lvl="1"/>
            <a:r>
              <a:rPr lang="zh-CN" altLang="en-US" dirty="0" smtClean="0">
                <a:solidFill>
                  <a:srgbClr val="FF0000"/>
                </a:solidFill>
                <a:ea typeface="黑体" panose="02010609060101010101" pitchFamily="49" charset="-122"/>
              </a:rPr>
              <a:t>在传送数据之前不需要先建立连接。</a:t>
            </a:r>
          </a:p>
          <a:p>
            <a:pPr lvl="1"/>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报文</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用户数据报。</a:t>
            </a:r>
            <a:endParaRPr lang="zh-CN" altLang="en-US" sz="3600" dirty="0" smtClean="0">
              <a:solidFill>
                <a:srgbClr val="FF0000"/>
              </a:solidFill>
              <a:ea typeface="黑体" panose="02010609060101010101" pitchFamily="49" charset="-122"/>
            </a:endParaRPr>
          </a:p>
          <a:p>
            <a:pPr lvl="1"/>
            <a:r>
              <a:rPr lang="zh-CN" altLang="en-US" dirty="0" smtClean="0">
                <a:ea typeface="黑体" panose="02010609060101010101" pitchFamily="49" charset="-122"/>
              </a:rPr>
              <a:t>对方的运输层在收到 </a:t>
            </a:r>
            <a:r>
              <a:rPr lang="en-US" altLang="zh-CN" dirty="0" smtClean="0">
                <a:ea typeface="黑体" panose="02010609060101010101" pitchFamily="49" charset="-122"/>
              </a:rPr>
              <a:t>UDP </a:t>
            </a:r>
            <a:r>
              <a:rPr lang="zh-CN" altLang="en-US" dirty="0" smtClean="0">
                <a:ea typeface="黑体" panose="02010609060101010101" pitchFamily="49" charset="-122"/>
              </a:rPr>
              <a:t>报文后，不需要给出任何确认。</a:t>
            </a:r>
          </a:p>
          <a:p>
            <a:pPr lvl="1"/>
            <a:r>
              <a:rPr lang="zh-CN" altLang="en-US" dirty="0" smtClean="0">
                <a:ea typeface="黑体" panose="02010609060101010101" pitchFamily="49" charset="-122"/>
              </a:rPr>
              <a:t>虽然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不提供可靠交付，</a:t>
            </a:r>
            <a:r>
              <a:rPr lang="zh-CN" altLang="en-US" dirty="0" smtClean="0">
                <a:ea typeface="黑体" panose="02010609060101010101" pitchFamily="49" charset="-122"/>
              </a:rPr>
              <a:t>但在某些情况下 </a:t>
            </a:r>
            <a:r>
              <a:rPr lang="en-US" altLang="zh-CN" dirty="0" smtClean="0">
                <a:ea typeface="黑体" panose="02010609060101010101" pitchFamily="49" charset="-122"/>
              </a:rPr>
              <a:t>UDP </a:t>
            </a:r>
            <a:r>
              <a:rPr lang="zh-CN" altLang="en-US" dirty="0" smtClean="0">
                <a:ea typeface="黑体" panose="02010609060101010101" pitchFamily="49" charset="-122"/>
              </a:rPr>
              <a:t>是一种最有效的工作方式。</a:t>
            </a:r>
          </a:p>
          <a:p>
            <a:endParaRPr lang="zh-CN" altLang="en-US" sz="2800" dirty="0" smtClean="0">
              <a:ea typeface="黑体" panose="02010609060101010101" pitchFamily="49" charset="-122"/>
            </a:endParaRPr>
          </a:p>
        </p:txBody>
      </p:sp>
      <p:sp>
        <p:nvSpPr>
          <p:cNvPr id="13127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498003-DFAD-4DF5-BACE-8AD5EBC5DAB4}" type="slidenum">
              <a:rPr lang="zh-CN" altLang="en-US" smtClean="0"/>
              <a:pPr eaLnBrk="1" hangingPunct="1"/>
              <a:t>15</a:t>
            </a:fld>
            <a:endParaRPr lang="en-US" altLang="zh-CN" smtClean="0"/>
          </a:p>
        </p:txBody>
      </p:sp>
      <p:sp>
        <p:nvSpPr>
          <p:cNvPr id="13127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4817"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与 </a:t>
            </a:r>
            <a:r>
              <a:rPr lang="en-US" altLang="zh-CN" smtClean="0">
                <a:ea typeface="黑体" panose="02010609060101010101" pitchFamily="49" charset="-122"/>
              </a:rPr>
              <a:t>UDP </a:t>
            </a:r>
          </a:p>
        </p:txBody>
      </p:sp>
      <p:sp>
        <p:nvSpPr>
          <p:cNvPr id="1314818" name="Rectangle 15"/>
          <p:cNvSpPr>
            <a:spLocks noGrp="1" noChangeArrowheads="1"/>
          </p:cNvSpPr>
          <p:nvPr>
            <p:ph idx="1"/>
          </p:nvPr>
        </p:nvSpPr>
        <p:spPr>
          <a:xfrm>
            <a:off x="495300" y="1196975"/>
            <a:ext cx="9066213" cy="4933950"/>
          </a:xfrm>
        </p:spPr>
        <p:txBody>
          <a:bodyPr/>
          <a:lstStyle/>
          <a:p>
            <a:pPr algn="just"/>
            <a:r>
              <a:rPr lang="en-US" altLang="zh-CN" dirty="0" smtClean="0">
                <a:solidFill>
                  <a:srgbClr val="0000FF"/>
                </a:solidFill>
                <a:ea typeface="黑体" panose="02010609060101010101" pitchFamily="49" charset="-122"/>
              </a:rPr>
              <a:t>TCP</a:t>
            </a:r>
            <a:r>
              <a:rPr lang="zh-CN" altLang="en-US" dirty="0" smtClean="0">
                <a:solidFill>
                  <a:srgbClr val="0000FF"/>
                </a:solidFill>
                <a:ea typeface="黑体" panose="02010609060101010101" pitchFamily="49" charset="-122"/>
              </a:rPr>
              <a:t>：一种面向连接的协议</a:t>
            </a:r>
          </a:p>
          <a:p>
            <a:pPr lvl="1" algn="just"/>
            <a:r>
              <a:rPr lang="zh-CN" altLang="en-US" dirty="0" smtClean="0">
                <a:ea typeface="黑体" panose="02010609060101010101" pitchFamily="49" charset="-122"/>
              </a:rPr>
              <a:t>提供面向连接的服务。</a:t>
            </a:r>
          </a:p>
          <a:p>
            <a:pPr lvl="1" algn="just"/>
            <a:r>
              <a:rPr lang="zh-CN" altLang="en-US" dirty="0" smtClean="0">
                <a:ea typeface="黑体" panose="02010609060101010101" pitchFamily="49" charset="-122"/>
              </a:rPr>
              <a:t>传送的数据单位协议是 </a:t>
            </a:r>
            <a:r>
              <a:rPr lang="en-US" altLang="zh-CN" dirty="0" smtClean="0">
                <a:solidFill>
                  <a:srgbClr val="FF0000"/>
                </a:solidFill>
                <a:ea typeface="黑体" panose="02010609060101010101" pitchFamily="49" charset="-122"/>
              </a:rPr>
              <a:t>TCP </a:t>
            </a:r>
            <a:r>
              <a:rPr lang="zh-CN" altLang="en-US" dirty="0" smtClean="0">
                <a:solidFill>
                  <a:srgbClr val="FF0000"/>
                </a:solidFill>
                <a:ea typeface="黑体" panose="02010609060101010101" pitchFamily="49" charset="-122"/>
              </a:rPr>
              <a:t>报文段 </a:t>
            </a:r>
            <a:r>
              <a:rPr lang="en-US" altLang="zh-CN" dirty="0" smtClean="0">
                <a:ea typeface="黑体" panose="02010609060101010101" pitchFamily="49" charset="-122"/>
              </a:rPr>
              <a:t>(segment)</a:t>
            </a:r>
            <a:r>
              <a:rPr lang="zh-CN" altLang="en-US" dirty="0" smtClean="0">
                <a:ea typeface="黑体" panose="02010609060101010101" pitchFamily="49" charset="-122"/>
              </a:rPr>
              <a:t>。</a:t>
            </a:r>
            <a:endParaRPr lang="en-US" altLang="zh-CN" sz="3600" dirty="0" smtClean="0">
              <a:ea typeface="黑体" panose="02010609060101010101" pitchFamily="49" charset="-122"/>
            </a:endParaRPr>
          </a:p>
          <a:p>
            <a:pPr lvl="1" algn="just"/>
            <a:r>
              <a:rPr lang="en-US" altLang="zh-CN" dirty="0" smtClean="0">
                <a:solidFill>
                  <a:srgbClr val="FF0000"/>
                </a:solidFill>
                <a:ea typeface="黑体" panose="02010609060101010101" pitchFamily="49" charset="-122"/>
              </a:rPr>
              <a:t>TCP </a:t>
            </a:r>
            <a:r>
              <a:rPr lang="zh-CN" altLang="en-US" dirty="0" smtClean="0">
                <a:solidFill>
                  <a:srgbClr val="FF0000"/>
                </a:solidFill>
                <a:ea typeface="黑体" panose="02010609060101010101" pitchFamily="49" charset="-122"/>
              </a:rPr>
              <a:t>不提供广播或多播服务。</a:t>
            </a:r>
          </a:p>
          <a:p>
            <a:pPr lvl="1" algn="just"/>
            <a:r>
              <a:rPr lang="zh-CN" altLang="en-US" dirty="0" smtClean="0">
                <a:ea typeface="黑体" panose="02010609060101010101" pitchFamily="49" charset="-122"/>
              </a:rPr>
              <a:t>由于 </a:t>
            </a:r>
            <a:r>
              <a:rPr lang="en-US" altLang="zh-CN" dirty="0" smtClean="0">
                <a:ea typeface="黑体" panose="02010609060101010101" pitchFamily="49" charset="-122"/>
              </a:rPr>
              <a:t>TCP </a:t>
            </a:r>
            <a:r>
              <a:rPr lang="zh-CN" altLang="en-US" dirty="0" smtClean="0">
                <a:ea typeface="黑体" panose="02010609060101010101" pitchFamily="49" charset="-122"/>
              </a:rPr>
              <a:t>要</a:t>
            </a:r>
            <a:r>
              <a:rPr lang="zh-CN" altLang="en-US" dirty="0" smtClean="0">
                <a:solidFill>
                  <a:srgbClr val="FF0000"/>
                </a:solidFill>
                <a:ea typeface="黑体" panose="02010609060101010101" pitchFamily="49" charset="-122"/>
              </a:rPr>
              <a:t>提供可靠的、面向连接的运输服务，</a:t>
            </a:r>
            <a:r>
              <a:rPr lang="zh-CN" altLang="en-US" dirty="0" smtClean="0">
                <a:ea typeface="黑体" panose="02010609060101010101" pitchFamily="49" charset="-122"/>
              </a:rPr>
              <a:t>因此不可避免地增加了许多的开销。这不仅使协议数据单元的首部增大很多，还要占用许多的处理机资源。</a:t>
            </a:r>
          </a:p>
        </p:txBody>
      </p:sp>
      <p:sp>
        <p:nvSpPr>
          <p:cNvPr id="13148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60C7297-E895-407B-B004-022B2A5F97BA}" type="slidenum">
              <a:rPr lang="zh-CN" altLang="en-US" smtClean="0"/>
              <a:pPr eaLnBrk="1" hangingPunct="1"/>
              <a:t>16</a:t>
            </a:fld>
            <a:endParaRPr lang="en-US" altLang="zh-CN" smtClean="0"/>
          </a:p>
        </p:txBody>
      </p:sp>
      <p:sp>
        <p:nvSpPr>
          <p:cNvPr id="13148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smtClean="0"/>
              <a:t>使用</a:t>
            </a:r>
            <a:r>
              <a:rPr lang="en-US" altLang="zh-CN" sz="3600" dirty="0" smtClean="0"/>
              <a:t>UDP</a:t>
            </a:r>
            <a:r>
              <a:rPr lang="zh-CN" altLang="en-US" sz="3600" dirty="0" smtClean="0"/>
              <a:t>和</a:t>
            </a:r>
            <a:r>
              <a:rPr lang="en-US" altLang="zh-CN" sz="3600" dirty="0" smtClean="0"/>
              <a:t>TCP</a:t>
            </a:r>
            <a:r>
              <a:rPr lang="zh-CN" altLang="en-US" sz="3600" dirty="0" smtClean="0"/>
              <a:t>的各种应用和应用层协议</a:t>
            </a:r>
            <a:endParaRPr lang="zh-CN" altLang="en-US" sz="3600" dirty="0"/>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5599" y="1412832"/>
            <a:ext cx="5951623" cy="4660068"/>
          </a:xfrm>
        </p:spPr>
      </p:pic>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17</a:t>
            </a:fld>
            <a:endParaRPr lang="en-US" altLang="zh-CN"/>
          </a:p>
        </p:txBody>
      </p:sp>
    </p:spTree>
    <p:extLst>
      <p:ext uri="{BB962C8B-B14F-4D97-AF65-F5344CB8AC3E}">
        <p14:creationId xmlns:p14="http://schemas.microsoft.com/office/powerpoint/2010/main" val="33030446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6865" name="Rectangle 2"/>
          <p:cNvSpPr>
            <a:spLocks noGrp="1" noChangeArrowheads="1"/>
          </p:cNvSpPr>
          <p:nvPr>
            <p:ph type="title"/>
          </p:nvPr>
        </p:nvSpPr>
        <p:spPr>
          <a:xfrm>
            <a:off x="495300" y="188913"/>
            <a:ext cx="9066213" cy="792162"/>
          </a:xfrm>
        </p:spPr>
        <p:txBody>
          <a:bodyPr/>
          <a:lstStyle/>
          <a:p>
            <a:pPr algn="ctr">
              <a:lnSpc>
                <a:spcPct val="110000"/>
              </a:lnSpc>
              <a:spcBef>
                <a:spcPts val="600"/>
              </a:spcBef>
            </a:pPr>
            <a:r>
              <a:rPr lang="zh-CN" altLang="en-US" smtClean="0">
                <a:ea typeface="黑体" panose="02010609060101010101" pitchFamily="49" charset="-122"/>
              </a:rPr>
              <a:t>还要强调两点 </a:t>
            </a:r>
          </a:p>
        </p:txBody>
      </p:sp>
      <p:sp>
        <p:nvSpPr>
          <p:cNvPr id="355339" name="Rectangle 11"/>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运输层的 </a:t>
            </a:r>
            <a:r>
              <a:rPr lang="en-US" altLang="zh-CN" sz="2800" dirty="0" smtClean="0">
                <a:solidFill>
                  <a:srgbClr val="0000FF"/>
                </a:solidFill>
                <a:ea typeface="黑体" panose="02010609060101010101" pitchFamily="49" charset="-122"/>
              </a:rPr>
              <a:t>UDP </a:t>
            </a:r>
            <a:r>
              <a:rPr lang="zh-CN" altLang="en-US" sz="2800" dirty="0" smtClean="0">
                <a:solidFill>
                  <a:srgbClr val="0000FF"/>
                </a:solidFill>
                <a:ea typeface="黑体" panose="02010609060101010101" pitchFamily="49" charset="-122"/>
              </a:rPr>
              <a:t>用户数据报</a:t>
            </a:r>
            <a:r>
              <a:rPr lang="zh-CN" altLang="en-US" sz="2800" dirty="0" smtClean="0">
                <a:ea typeface="黑体" panose="02010609060101010101" pitchFamily="49" charset="-122"/>
              </a:rPr>
              <a:t>与网际层的</a:t>
            </a:r>
            <a:r>
              <a:rPr lang="en-US" altLang="zh-CN" sz="2800" dirty="0" smtClean="0">
                <a:solidFill>
                  <a:srgbClr val="0000FF"/>
                </a:solidFill>
                <a:ea typeface="黑体" panose="02010609060101010101" pitchFamily="49" charset="-122"/>
              </a:rPr>
              <a:t>IP</a:t>
            </a:r>
            <a:r>
              <a:rPr lang="zh-CN" altLang="en-US" sz="2800" dirty="0" smtClean="0">
                <a:solidFill>
                  <a:srgbClr val="0000FF"/>
                </a:solidFill>
                <a:ea typeface="黑体" panose="02010609060101010101" pitchFamily="49" charset="-122"/>
              </a:rPr>
              <a:t>数据报</a:t>
            </a:r>
            <a:r>
              <a:rPr lang="zh-CN" altLang="en-US" sz="2800" dirty="0" smtClean="0">
                <a:ea typeface="黑体" panose="02010609060101010101" pitchFamily="49" charset="-122"/>
              </a:rPr>
              <a:t>有</a:t>
            </a:r>
            <a:r>
              <a:rPr lang="zh-CN" altLang="en-US" sz="2800" dirty="0" smtClean="0">
                <a:solidFill>
                  <a:srgbClr val="0000FF"/>
                </a:solidFill>
                <a:ea typeface="黑体" panose="02010609060101010101" pitchFamily="49" charset="-122"/>
              </a:rPr>
              <a:t>很大区别</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pPr lvl="1"/>
            <a:r>
              <a:rPr lang="en-US" altLang="zh-CN" sz="2400" dirty="0" smtClean="0">
                <a:ea typeface="黑体" panose="02010609060101010101" pitchFamily="49" charset="-122"/>
              </a:rPr>
              <a:t>IP </a:t>
            </a:r>
            <a:r>
              <a:rPr lang="zh-CN" altLang="en-US" sz="2400" dirty="0" smtClean="0">
                <a:ea typeface="黑体" panose="02010609060101010101" pitchFamily="49" charset="-122"/>
              </a:rPr>
              <a:t>数据报要经过互连网中许多路由器的存储转发。</a:t>
            </a:r>
            <a:endParaRPr lang="en-US" altLang="zh-CN" sz="2400" dirty="0" smtClean="0">
              <a:ea typeface="黑体" panose="02010609060101010101" pitchFamily="49" charset="-122"/>
            </a:endParaRPr>
          </a:p>
          <a:p>
            <a:pPr lvl="1"/>
            <a:r>
              <a:rPr lang="en-US" altLang="zh-CN" sz="2400" dirty="0" smtClean="0">
                <a:ea typeface="黑体" panose="02010609060101010101" pitchFamily="49" charset="-122"/>
              </a:rPr>
              <a:t>UDP </a:t>
            </a:r>
            <a:r>
              <a:rPr lang="zh-CN" altLang="en-US" sz="2400" dirty="0" smtClean="0">
                <a:ea typeface="黑体" panose="02010609060101010101" pitchFamily="49" charset="-122"/>
              </a:rPr>
              <a:t>用户数据报是在运输层的端到端抽象的逻辑信道中传送的。</a:t>
            </a:r>
          </a:p>
          <a:p>
            <a:pPr>
              <a:spcBef>
                <a:spcPts val="1200"/>
              </a:spcBef>
            </a:pPr>
            <a:r>
              <a:rPr lang="en-US" altLang="zh-CN" sz="2800" dirty="0" smtClean="0">
                <a:solidFill>
                  <a:srgbClr val="0000FF"/>
                </a:solidFill>
                <a:ea typeface="黑体" panose="02010609060101010101" pitchFamily="49" charset="-122"/>
              </a:rPr>
              <a:t>TCP </a:t>
            </a:r>
            <a:r>
              <a:rPr lang="zh-CN" altLang="en-US" sz="2800" dirty="0" smtClean="0">
                <a:solidFill>
                  <a:srgbClr val="0000FF"/>
                </a:solidFill>
                <a:ea typeface="黑体" panose="02010609060101010101" pitchFamily="49" charset="-122"/>
              </a:rPr>
              <a:t>报文段</a:t>
            </a:r>
            <a:r>
              <a:rPr lang="zh-CN" altLang="en-US" sz="2800" dirty="0" smtClean="0">
                <a:ea typeface="黑体" panose="02010609060101010101" pitchFamily="49" charset="-122"/>
              </a:rPr>
              <a:t>是在运输层抽象的端到端逻辑信道中传送，这种信道是可靠的</a:t>
            </a:r>
            <a:r>
              <a:rPr lang="zh-CN" altLang="en-US" sz="2800" dirty="0" smtClean="0">
                <a:solidFill>
                  <a:srgbClr val="0000FF"/>
                </a:solidFill>
                <a:ea typeface="黑体" panose="02010609060101010101" pitchFamily="49" charset="-122"/>
              </a:rPr>
              <a:t>全双工信道</a:t>
            </a:r>
            <a:r>
              <a:rPr lang="zh-CN" altLang="en-US" sz="2800" dirty="0" smtClean="0">
                <a:ea typeface="黑体" panose="02010609060101010101" pitchFamily="49" charset="-122"/>
              </a:rPr>
              <a:t>。但这样的信道却不知道究竟经过了哪些路由器，而这些路由器也根本不知道上面的运输层是否建立了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 </a:t>
            </a:r>
          </a:p>
        </p:txBody>
      </p:sp>
      <p:sp>
        <p:nvSpPr>
          <p:cNvPr id="1316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A93251-F19D-41A3-87AF-DDEBE550B090}" type="slidenum">
              <a:rPr lang="zh-CN" altLang="en-US" smtClean="0"/>
              <a:pPr eaLnBrk="1" hangingPunct="1"/>
              <a:t>18</a:t>
            </a:fld>
            <a:endParaRPr lang="en-US" altLang="zh-CN" smtClean="0"/>
          </a:p>
        </p:txBody>
      </p:sp>
      <p:sp>
        <p:nvSpPr>
          <p:cNvPr id="1316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89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5.1.3  </a:t>
            </a:r>
            <a:r>
              <a:rPr lang="zh-CN" altLang="en-US" smtClean="0">
                <a:ea typeface="黑体" panose="02010609060101010101" pitchFamily="49" charset="-122"/>
              </a:rPr>
              <a:t>运输层的端口 </a:t>
            </a:r>
          </a:p>
        </p:txBody>
      </p:sp>
      <p:sp>
        <p:nvSpPr>
          <p:cNvPr id="1318914" name="Rectangle 3"/>
          <p:cNvSpPr>
            <a:spLocks noGrp="1" noChangeArrowheads="1"/>
          </p:cNvSpPr>
          <p:nvPr>
            <p:ph idx="1"/>
          </p:nvPr>
        </p:nvSpPr>
        <p:spPr>
          <a:xfrm>
            <a:off x="495300" y="1196975"/>
            <a:ext cx="9066213" cy="4933950"/>
          </a:xfrm>
        </p:spPr>
        <p:txBody>
          <a:bodyPr/>
          <a:lstStyle/>
          <a:p>
            <a:pPr>
              <a:spcBef>
                <a:spcPts val="1200"/>
              </a:spcBef>
            </a:pPr>
            <a:r>
              <a:rPr lang="zh-CN" altLang="en-US" sz="3000" dirty="0" smtClean="0">
                <a:ea typeface="黑体" panose="02010609060101010101" pitchFamily="49" charset="-122"/>
              </a:rPr>
              <a:t>运行在计算机中的进程是用</a:t>
            </a:r>
            <a:r>
              <a:rPr lang="zh-CN" altLang="en-US" sz="3000" dirty="0" smtClean="0">
                <a:solidFill>
                  <a:srgbClr val="FF0000"/>
                </a:solidFill>
                <a:ea typeface="黑体" panose="02010609060101010101" pitchFamily="49" charset="-122"/>
              </a:rPr>
              <a:t>进程标识符</a:t>
            </a:r>
            <a:r>
              <a:rPr lang="zh-CN" altLang="en-US" sz="3000" dirty="0" smtClean="0">
                <a:ea typeface="黑体" panose="02010609060101010101" pitchFamily="49" charset="-122"/>
              </a:rPr>
              <a:t>来标志的。</a:t>
            </a:r>
          </a:p>
          <a:p>
            <a:pPr>
              <a:spcBef>
                <a:spcPts val="1200"/>
              </a:spcBef>
            </a:pPr>
            <a:r>
              <a:rPr lang="zh-CN" altLang="en-US" sz="3000" dirty="0" smtClean="0">
                <a:solidFill>
                  <a:srgbClr val="FF0000"/>
                </a:solidFill>
                <a:ea typeface="黑体" panose="02010609060101010101" pitchFamily="49" charset="-122"/>
              </a:rPr>
              <a:t>但运行在应用层的各种应用进程却不应当让计算机操作系统指派它的进程标识符。</a:t>
            </a:r>
            <a:r>
              <a:rPr lang="zh-CN" altLang="en-US" sz="3000" dirty="0" smtClean="0">
                <a:ea typeface="黑体" panose="02010609060101010101" pitchFamily="49" charset="-122"/>
              </a:rPr>
              <a:t>这是因为在互联网上使用的计算机的操作系统种类很多，而</a:t>
            </a:r>
            <a:r>
              <a:rPr lang="zh-CN" altLang="en-US" sz="3000" dirty="0" smtClean="0">
                <a:solidFill>
                  <a:srgbClr val="0000FF"/>
                </a:solidFill>
                <a:ea typeface="黑体" panose="02010609060101010101" pitchFamily="49" charset="-122"/>
              </a:rPr>
              <a:t>不同</a:t>
            </a:r>
            <a:r>
              <a:rPr lang="zh-CN" altLang="en-US" sz="3000" dirty="0" smtClean="0">
                <a:ea typeface="黑体" panose="02010609060101010101" pitchFamily="49" charset="-122"/>
              </a:rPr>
              <a:t>的</a:t>
            </a:r>
            <a:r>
              <a:rPr lang="zh-CN" altLang="en-US" sz="3000" dirty="0" smtClean="0">
                <a:solidFill>
                  <a:srgbClr val="0000FF"/>
                </a:solidFill>
                <a:ea typeface="黑体" panose="02010609060101010101" pitchFamily="49" charset="-122"/>
              </a:rPr>
              <a:t>操作系统</a:t>
            </a:r>
            <a:r>
              <a:rPr lang="zh-CN" altLang="en-US" sz="3000" dirty="0" smtClean="0">
                <a:ea typeface="黑体" panose="02010609060101010101" pitchFamily="49" charset="-122"/>
              </a:rPr>
              <a:t>又使用</a:t>
            </a:r>
            <a:r>
              <a:rPr lang="zh-CN" altLang="en-US" sz="3000" dirty="0" smtClean="0">
                <a:solidFill>
                  <a:srgbClr val="0000FF"/>
                </a:solidFill>
                <a:ea typeface="黑体" panose="02010609060101010101" pitchFamily="49" charset="-122"/>
              </a:rPr>
              <a:t>不同格式</a:t>
            </a:r>
            <a:r>
              <a:rPr lang="zh-CN" altLang="en-US" sz="3000" dirty="0" smtClean="0">
                <a:ea typeface="黑体" panose="02010609060101010101" pitchFamily="49" charset="-122"/>
              </a:rPr>
              <a:t>的进程标识符。</a:t>
            </a:r>
          </a:p>
          <a:p>
            <a:pPr>
              <a:spcBef>
                <a:spcPts val="1200"/>
              </a:spcBef>
            </a:pPr>
            <a:r>
              <a:rPr lang="zh-CN" altLang="en-US" sz="3000" dirty="0" smtClean="0">
                <a:ea typeface="黑体" panose="02010609060101010101" pitchFamily="49" charset="-122"/>
              </a:rPr>
              <a:t>为了使运行不同操作系统的计算机的应用进程能够互相通信，就</a:t>
            </a:r>
            <a:r>
              <a:rPr lang="zh-CN" altLang="en-US" sz="3000" dirty="0" smtClean="0">
                <a:solidFill>
                  <a:srgbClr val="FF0000"/>
                </a:solidFill>
                <a:ea typeface="黑体" panose="02010609060101010101" pitchFamily="49" charset="-122"/>
              </a:rPr>
              <a:t>必须用统一的方法对 </a:t>
            </a:r>
            <a:r>
              <a:rPr lang="en-US" altLang="zh-CN" sz="3000" dirty="0" smtClean="0">
                <a:solidFill>
                  <a:srgbClr val="FF0000"/>
                </a:solidFill>
                <a:ea typeface="黑体" panose="02010609060101010101" pitchFamily="49" charset="-122"/>
              </a:rPr>
              <a:t>TCP/IP </a:t>
            </a:r>
            <a:r>
              <a:rPr lang="zh-CN" altLang="en-US" sz="3000" dirty="0" smtClean="0">
                <a:solidFill>
                  <a:srgbClr val="FF0000"/>
                </a:solidFill>
                <a:ea typeface="黑体" panose="02010609060101010101" pitchFamily="49" charset="-122"/>
              </a:rPr>
              <a:t>体系的应用进程进行标志</a:t>
            </a:r>
            <a:r>
              <a:rPr lang="zh-CN" altLang="en-US" sz="3000" dirty="0" smtClean="0">
                <a:ea typeface="黑体" panose="02010609060101010101" pitchFamily="49" charset="-122"/>
              </a:rPr>
              <a:t>。 </a:t>
            </a:r>
          </a:p>
        </p:txBody>
      </p:sp>
      <p:sp>
        <p:nvSpPr>
          <p:cNvPr id="13189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F2FE25-E19B-4986-AC32-EC815C43093B}" type="slidenum">
              <a:rPr lang="zh-CN" altLang="en-US" smtClean="0"/>
              <a:pPr eaLnBrk="1" hangingPunct="1"/>
              <a:t>19</a:t>
            </a:fld>
            <a:endParaRPr lang="en-US" altLang="zh-CN" smtClean="0"/>
          </a:p>
        </p:txBody>
      </p:sp>
      <p:sp>
        <p:nvSpPr>
          <p:cNvPr id="13189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需要解决的问题 </a:t>
            </a:r>
          </a:p>
        </p:txBody>
      </p:sp>
      <p:sp>
        <p:nvSpPr>
          <p:cNvPr id="1320962"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由于</a:t>
            </a:r>
            <a:r>
              <a:rPr lang="zh-CN" altLang="en-US" dirty="0" smtClean="0">
                <a:solidFill>
                  <a:srgbClr val="0000FF"/>
                </a:solidFill>
                <a:ea typeface="黑体" panose="02010609060101010101" pitchFamily="49" charset="-122"/>
              </a:rPr>
              <a:t>进程</a:t>
            </a:r>
            <a:r>
              <a:rPr lang="zh-CN" altLang="en-US" dirty="0" smtClean="0">
                <a:ea typeface="黑体" panose="02010609060101010101" pitchFamily="49" charset="-122"/>
              </a:rPr>
              <a:t>的创建和撤销都是</a:t>
            </a:r>
            <a:r>
              <a:rPr lang="zh-CN" altLang="en-US" dirty="0" smtClean="0">
                <a:solidFill>
                  <a:srgbClr val="0000FF"/>
                </a:solidFill>
                <a:ea typeface="黑体" panose="02010609060101010101" pitchFamily="49" charset="-122"/>
              </a:rPr>
              <a:t>动态</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发送方</a:t>
            </a:r>
            <a:r>
              <a:rPr lang="zh-CN" altLang="en-US" dirty="0" smtClean="0">
                <a:ea typeface="黑体" panose="02010609060101010101" pitchFamily="49" charset="-122"/>
              </a:rPr>
              <a:t>几乎</a:t>
            </a:r>
            <a:r>
              <a:rPr lang="zh-CN" altLang="en-US" dirty="0" smtClean="0">
                <a:solidFill>
                  <a:srgbClr val="0000FF"/>
                </a:solidFill>
                <a:ea typeface="黑体" panose="02010609060101010101" pitchFamily="49" charset="-122"/>
              </a:rPr>
              <a:t>无法识别</a:t>
            </a:r>
            <a:r>
              <a:rPr lang="zh-CN" altLang="en-US" dirty="0" smtClean="0">
                <a:ea typeface="黑体" panose="02010609060101010101" pitchFamily="49" charset="-122"/>
              </a:rPr>
              <a:t>其他机器上的进程。</a:t>
            </a:r>
          </a:p>
          <a:p>
            <a:r>
              <a:rPr lang="zh-CN" altLang="en-US" dirty="0" smtClean="0">
                <a:ea typeface="黑体" panose="02010609060101010101" pitchFamily="49" charset="-122"/>
              </a:rPr>
              <a:t>有时我们会</a:t>
            </a:r>
            <a:r>
              <a:rPr lang="zh-CN" altLang="en-US" dirty="0" smtClean="0">
                <a:solidFill>
                  <a:srgbClr val="0000FF"/>
                </a:solidFill>
                <a:ea typeface="黑体" panose="02010609060101010101" pitchFamily="49" charset="-122"/>
              </a:rPr>
              <a:t>改换</a:t>
            </a:r>
            <a:r>
              <a:rPr lang="zh-CN" altLang="en-US" dirty="0" smtClean="0">
                <a:ea typeface="黑体" panose="02010609060101010101" pitchFamily="49" charset="-122"/>
              </a:rPr>
              <a:t>接收报文的进程，但</a:t>
            </a:r>
            <a:r>
              <a:rPr lang="zh-CN" altLang="en-US" dirty="0" smtClean="0">
                <a:solidFill>
                  <a:srgbClr val="0000FF"/>
                </a:solidFill>
                <a:ea typeface="黑体" panose="02010609060101010101" pitchFamily="49" charset="-122"/>
              </a:rPr>
              <a:t>并不需要通知所有发送方</a:t>
            </a:r>
            <a:r>
              <a:rPr lang="zh-CN" altLang="en-US" dirty="0" smtClean="0">
                <a:ea typeface="黑体" panose="02010609060101010101" pitchFamily="49" charset="-122"/>
              </a:rPr>
              <a:t>。</a:t>
            </a:r>
          </a:p>
          <a:p>
            <a:r>
              <a:rPr lang="zh-CN" altLang="en-US" dirty="0" smtClean="0">
                <a:ea typeface="黑体" panose="02010609060101010101" pitchFamily="49" charset="-122"/>
              </a:rPr>
              <a:t>我们往往需要利用</a:t>
            </a:r>
            <a:r>
              <a:rPr lang="zh-CN" altLang="en-US" dirty="0" smtClean="0">
                <a:solidFill>
                  <a:srgbClr val="0000FF"/>
                </a:solidFill>
                <a:ea typeface="黑体" panose="02010609060101010101" pitchFamily="49" charset="-122"/>
              </a:rPr>
              <a:t>目的主机提供的功能来识别终点</a:t>
            </a:r>
            <a:r>
              <a:rPr lang="zh-CN" altLang="en-US" dirty="0" smtClean="0">
                <a:ea typeface="黑体" panose="02010609060101010101" pitchFamily="49" charset="-122"/>
              </a:rPr>
              <a:t>，而</a:t>
            </a:r>
            <a:r>
              <a:rPr lang="zh-CN" altLang="en-US" dirty="0" smtClean="0">
                <a:solidFill>
                  <a:srgbClr val="0000FF"/>
                </a:solidFill>
                <a:ea typeface="黑体" panose="02010609060101010101" pitchFamily="49" charset="-122"/>
              </a:rPr>
              <a:t>不需要</a:t>
            </a:r>
            <a:r>
              <a:rPr lang="zh-CN" altLang="en-US" dirty="0" smtClean="0">
                <a:ea typeface="黑体" panose="02010609060101010101" pitchFamily="49" charset="-122"/>
              </a:rPr>
              <a:t>知道实现</a:t>
            </a:r>
            <a:r>
              <a:rPr lang="zh-CN" altLang="en-US" dirty="0" smtClean="0">
                <a:solidFill>
                  <a:srgbClr val="0000FF"/>
                </a:solidFill>
                <a:ea typeface="黑体" panose="02010609060101010101" pitchFamily="49" charset="-122"/>
              </a:rPr>
              <a:t>这个功能的进程</a:t>
            </a:r>
            <a:r>
              <a:rPr lang="zh-CN" altLang="en-US" dirty="0" smtClean="0">
                <a:ea typeface="黑体" panose="02010609060101010101" pitchFamily="49" charset="-122"/>
              </a:rPr>
              <a:t>。</a:t>
            </a:r>
          </a:p>
          <a:p>
            <a:endParaRPr lang="en-US" altLang="zh-CN" dirty="0" smtClean="0">
              <a:ea typeface="黑体" panose="02010609060101010101" pitchFamily="49" charset="-122"/>
            </a:endParaRPr>
          </a:p>
        </p:txBody>
      </p:sp>
      <p:sp>
        <p:nvSpPr>
          <p:cNvPr id="132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0896E1-1AD4-4C7F-A85D-5904B4A4F42C}" type="slidenum">
              <a:rPr lang="zh-CN" altLang="en-US" smtClean="0"/>
              <a:pPr eaLnBrk="1" hangingPunct="1"/>
              <a:t>20</a:t>
            </a:fld>
            <a:endParaRPr lang="en-US" altLang="zh-CN" smtClean="0"/>
          </a:p>
        </p:txBody>
      </p:sp>
      <p:sp>
        <p:nvSpPr>
          <p:cNvPr id="132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30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端口号 </a:t>
            </a:r>
            <a:r>
              <a:rPr lang="en-US" altLang="zh-CN" smtClean="0">
                <a:ea typeface="黑体" panose="02010609060101010101" pitchFamily="49" charset="-122"/>
              </a:rPr>
              <a:t>(protocol port number)</a:t>
            </a:r>
          </a:p>
        </p:txBody>
      </p:sp>
      <p:sp>
        <p:nvSpPr>
          <p:cNvPr id="132301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解决这个问题的方法就是在运输层使用</a:t>
            </a:r>
            <a:r>
              <a:rPr lang="zh-CN" altLang="en-US" dirty="0" smtClean="0">
                <a:solidFill>
                  <a:srgbClr val="FF0000"/>
                </a:solidFill>
                <a:ea typeface="黑体" panose="02010609060101010101" pitchFamily="49" charset="-122"/>
              </a:rPr>
              <a:t>协议端口号 </a:t>
            </a:r>
            <a:r>
              <a:rPr lang="en-US" altLang="zh-CN" dirty="0" smtClean="0">
                <a:ea typeface="黑体" panose="02010609060101010101" pitchFamily="49" charset="-122"/>
              </a:rPr>
              <a:t>(protocol port number)</a:t>
            </a:r>
            <a:r>
              <a:rPr lang="zh-CN" altLang="en-US" dirty="0" smtClean="0">
                <a:ea typeface="黑体" panose="02010609060101010101" pitchFamily="49" charset="-122"/>
              </a:rPr>
              <a:t>，或通常简称为</a:t>
            </a:r>
            <a:r>
              <a:rPr lang="zh-CN" altLang="en-US" dirty="0" smtClean="0">
                <a:solidFill>
                  <a:srgbClr val="FF0000"/>
                </a:solidFill>
                <a:ea typeface="黑体" panose="02010609060101010101" pitchFamily="49" charset="-122"/>
              </a:rPr>
              <a:t>端口 </a:t>
            </a:r>
            <a:r>
              <a:rPr lang="en-US" altLang="zh-CN" dirty="0" smtClean="0">
                <a:ea typeface="黑体" panose="02010609060101010101" pitchFamily="49" charset="-122"/>
              </a:rPr>
              <a:t>(port)</a:t>
            </a:r>
            <a:r>
              <a:rPr lang="zh-CN" altLang="en-US" dirty="0" smtClean="0">
                <a:ea typeface="黑体" panose="02010609060101010101" pitchFamily="49" charset="-122"/>
              </a:rPr>
              <a:t>。</a:t>
            </a:r>
          </a:p>
          <a:p>
            <a:r>
              <a:rPr lang="zh-CN" altLang="en-US" dirty="0" smtClean="0">
                <a:ea typeface="黑体" panose="02010609060101010101" pitchFamily="49" charset="-122"/>
              </a:rPr>
              <a:t>虽然通信的终点是应用进程，但我们可以把</a:t>
            </a:r>
            <a:r>
              <a:rPr lang="zh-CN" altLang="en-US" dirty="0" smtClean="0">
                <a:solidFill>
                  <a:srgbClr val="0000FF"/>
                </a:solidFill>
                <a:ea typeface="黑体" panose="02010609060101010101" pitchFamily="49" charset="-122"/>
              </a:rPr>
              <a:t>端口想象是通信的终点</a:t>
            </a:r>
            <a:r>
              <a:rPr lang="zh-CN" altLang="en-US" dirty="0" smtClean="0">
                <a:ea typeface="黑体" panose="02010609060101010101" pitchFamily="49" charset="-122"/>
              </a:rPr>
              <a:t>，因为我们只要把要</a:t>
            </a:r>
            <a:r>
              <a:rPr lang="zh-CN" altLang="en-US" dirty="0" smtClean="0">
                <a:solidFill>
                  <a:srgbClr val="0000FF"/>
                </a:solidFill>
                <a:ea typeface="黑体" panose="02010609060101010101" pitchFamily="49" charset="-122"/>
              </a:rPr>
              <a:t>传送的报文交到目的主机的某一个合适的目的端口</a:t>
            </a:r>
            <a:r>
              <a:rPr lang="zh-CN" altLang="en-US" dirty="0" smtClean="0">
                <a:ea typeface="黑体" panose="02010609060101010101" pitchFamily="49" charset="-122"/>
              </a:rPr>
              <a:t>，剩下的工作（即最后交付目的进程）就由 </a:t>
            </a:r>
            <a:r>
              <a:rPr lang="en-US" altLang="zh-CN" dirty="0" smtClean="0">
                <a:ea typeface="黑体" panose="02010609060101010101" pitchFamily="49" charset="-122"/>
              </a:rPr>
              <a:t>TCP </a:t>
            </a:r>
            <a:r>
              <a:rPr lang="zh-CN" altLang="en-US" dirty="0" smtClean="0">
                <a:ea typeface="黑体" panose="02010609060101010101" pitchFamily="49" charset="-122"/>
              </a:rPr>
              <a:t>或</a:t>
            </a:r>
            <a:r>
              <a:rPr lang="en-US" altLang="zh-CN" dirty="0" smtClean="0">
                <a:ea typeface="黑体" panose="02010609060101010101" pitchFamily="49" charset="-122"/>
              </a:rPr>
              <a:t>UDP</a:t>
            </a:r>
            <a:r>
              <a:rPr lang="zh-CN" altLang="en-US" dirty="0" smtClean="0">
                <a:ea typeface="黑体" panose="02010609060101010101" pitchFamily="49" charset="-122"/>
              </a:rPr>
              <a:t>来完成。</a:t>
            </a:r>
          </a:p>
        </p:txBody>
      </p:sp>
      <p:sp>
        <p:nvSpPr>
          <p:cNvPr id="13230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CC7D21-A6B4-498E-BA0F-E1D9A332CFDD}" type="slidenum">
              <a:rPr lang="zh-CN" altLang="en-US" smtClean="0"/>
              <a:pPr eaLnBrk="1" hangingPunct="1"/>
              <a:t>21</a:t>
            </a:fld>
            <a:endParaRPr lang="en-US" altLang="zh-CN" smtClean="0"/>
          </a:p>
        </p:txBody>
      </p:sp>
      <p:sp>
        <p:nvSpPr>
          <p:cNvPr id="13230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50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软件端口与硬件端口</a:t>
            </a:r>
          </a:p>
        </p:txBody>
      </p:sp>
      <p:sp>
        <p:nvSpPr>
          <p:cNvPr id="132505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两个不同的概念。</a:t>
            </a:r>
            <a:endParaRPr lang="en-US" altLang="zh-CN" dirty="0" smtClean="0">
              <a:ea typeface="黑体" panose="02010609060101010101" pitchFamily="49" charset="-122"/>
            </a:endParaRPr>
          </a:p>
          <a:p>
            <a:r>
              <a:rPr lang="zh-CN" altLang="en-US" dirty="0" smtClean="0">
                <a:ea typeface="黑体" panose="02010609060101010101" pitchFamily="49" charset="-122"/>
              </a:rPr>
              <a:t>在协议栈层间的抽象的协议端口是</a:t>
            </a:r>
            <a:r>
              <a:rPr lang="zh-CN" altLang="en-US" dirty="0" smtClean="0">
                <a:solidFill>
                  <a:srgbClr val="FF0000"/>
                </a:solidFill>
                <a:ea typeface="黑体" panose="02010609060101010101" pitchFamily="49" charset="-122"/>
              </a:rPr>
              <a:t>软件端口。</a:t>
            </a:r>
          </a:p>
          <a:p>
            <a:r>
              <a:rPr lang="zh-CN" altLang="en-US" dirty="0" smtClean="0">
                <a:ea typeface="黑体" panose="02010609060101010101" pitchFamily="49" charset="-122"/>
              </a:rPr>
              <a:t>路由器或交换机上的端口是</a:t>
            </a:r>
            <a:r>
              <a:rPr lang="zh-CN" altLang="en-US" dirty="0" smtClean="0">
                <a:solidFill>
                  <a:srgbClr val="FF0000"/>
                </a:solidFill>
                <a:ea typeface="黑体" panose="02010609060101010101" pitchFamily="49" charset="-122"/>
              </a:rPr>
              <a:t>硬件端口。</a:t>
            </a:r>
          </a:p>
          <a:p>
            <a:r>
              <a:rPr lang="zh-CN" altLang="en-US" dirty="0" smtClean="0">
                <a:solidFill>
                  <a:srgbClr val="0000FF"/>
                </a:solidFill>
                <a:ea typeface="黑体" panose="02010609060101010101" pitchFamily="49" charset="-122"/>
              </a:rPr>
              <a:t>硬件端口</a:t>
            </a:r>
            <a:r>
              <a:rPr lang="zh-CN" altLang="en-US" dirty="0" smtClean="0">
                <a:ea typeface="黑体" panose="02010609060101010101" pitchFamily="49" charset="-122"/>
              </a:rPr>
              <a:t>是不同硬件设备进行交互的接口，而</a:t>
            </a:r>
            <a:r>
              <a:rPr lang="zh-CN" altLang="en-US" dirty="0" smtClean="0">
                <a:solidFill>
                  <a:srgbClr val="0000FF"/>
                </a:solidFill>
                <a:ea typeface="黑体" panose="02010609060101010101" pitchFamily="49" charset="-122"/>
              </a:rPr>
              <a:t>软件端口</a:t>
            </a:r>
            <a:r>
              <a:rPr lang="zh-CN" altLang="en-US" dirty="0" smtClean="0">
                <a:ea typeface="黑体" panose="02010609060101010101" pitchFamily="49" charset="-122"/>
              </a:rPr>
              <a:t>是应用层的各种协议进程与运输实体进行层间交互的一种地址。 </a:t>
            </a:r>
          </a:p>
        </p:txBody>
      </p:sp>
      <p:sp>
        <p:nvSpPr>
          <p:cNvPr id="13250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966814-64C7-48D4-9845-EBF2A99494F4}" type="slidenum">
              <a:rPr lang="zh-CN" altLang="en-US" smtClean="0"/>
              <a:pPr eaLnBrk="1" hangingPunct="1"/>
              <a:t>22</a:t>
            </a:fld>
            <a:endParaRPr lang="en-US" altLang="zh-CN" smtClean="0"/>
          </a:p>
        </p:txBody>
      </p:sp>
      <p:sp>
        <p:nvSpPr>
          <p:cNvPr id="13250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710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TCP/IP </a:t>
            </a:r>
            <a:r>
              <a:rPr lang="zh-CN" altLang="en-US" smtClean="0">
                <a:ea typeface="黑体" panose="02010609060101010101" pitchFamily="49" charset="-122"/>
              </a:rPr>
              <a:t>运输层端口 </a:t>
            </a:r>
          </a:p>
        </p:txBody>
      </p:sp>
      <p:sp>
        <p:nvSpPr>
          <p:cNvPr id="141315" name="Rectangle 3"/>
          <p:cNvSpPr>
            <a:spLocks noGrp="1" noChangeArrowheads="1"/>
          </p:cNvSpPr>
          <p:nvPr>
            <p:ph idx="1"/>
          </p:nvPr>
        </p:nvSpPr>
        <p:spPr>
          <a:xfrm>
            <a:off x="495300" y="1196975"/>
            <a:ext cx="9066213" cy="4933950"/>
          </a:xfrm>
        </p:spPr>
        <p:txBody>
          <a:bodyPr/>
          <a:lstStyle/>
          <a:p>
            <a:pPr algn="just"/>
            <a:r>
              <a:rPr lang="zh-CN" altLang="en-US" dirty="0" smtClean="0">
                <a:ea typeface="黑体" panose="02010609060101010101" pitchFamily="49" charset="-122"/>
              </a:rPr>
              <a:t>端口用一个 </a:t>
            </a:r>
            <a:r>
              <a:rPr lang="en-US" altLang="zh-CN" dirty="0" smtClean="0">
                <a:solidFill>
                  <a:srgbClr val="0000FF"/>
                </a:solidFill>
                <a:ea typeface="黑体" panose="02010609060101010101" pitchFamily="49" charset="-122"/>
              </a:rPr>
              <a:t>16 </a:t>
            </a:r>
            <a:r>
              <a:rPr lang="zh-CN" altLang="en-US" dirty="0" smtClean="0">
                <a:solidFill>
                  <a:srgbClr val="0000FF"/>
                </a:solidFill>
                <a:ea typeface="黑体" panose="02010609060101010101" pitchFamily="49" charset="-122"/>
              </a:rPr>
              <a:t>位端口号</a:t>
            </a:r>
            <a:r>
              <a:rPr lang="zh-CN" altLang="en-US" dirty="0" smtClean="0">
                <a:ea typeface="黑体" panose="02010609060101010101" pitchFamily="49" charset="-122"/>
              </a:rPr>
              <a:t>进行标志。</a:t>
            </a:r>
          </a:p>
          <a:p>
            <a:pPr algn="just"/>
            <a:r>
              <a:rPr lang="zh-CN" altLang="en-US" dirty="0" smtClean="0">
                <a:ea typeface="黑体" panose="02010609060101010101" pitchFamily="49" charset="-122"/>
              </a:rPr>
              <a:t>端口号只具有</a:t>
            </a:r>
            <a:r>
              <a:rPr lang="zh-CN" altLang="en-US" dirty="0" smtClean="0">
                <a:solidFill>
                  <a:srgbClr val="FF0000"/>
                </a:solidFill>
                <a:ea typeface="黑体" panose="02010609060101010101" pitchFamily="49" charset="-122"/>
              </a:rPr>
              <a:t>本地意义，</a:t>
            </a:r>
            <a:r>
              <a:rPr lang="zh-CN" altLang="en-US" dirty="0" smtClean="0">
                <a:ea typeface="黑体" panose="02010609060101010101" pitchFamily="49" charset="-122"/>
              </a:rPr>
              <a:t>即端口号只是为了标志</a:t>
            </a:r>
            <a:r>
              <a:rPr lang="zh-CN" altLang="en-US" dirty="0" smtClean="0">
                <a:solidFill>
                  <a:srgbClr val="FF0000"/>
                </a:solidFill>
                <a:ea typeface="黑体" panose="02010609060101010101" pitchFamily="49" charset="-122"/>
              </a:rPr>
              <a:t>本计算机应用层中的各进程。</a:t>
            </a:r>
            <a:endParaRPr lang="en-US" altLang="zh-CN" dirty="0" smtClean="0">
              <a:solidFill>
                <a:srgbClr val="FF0000"/>
              </a:solidFill>
              <a:ea typeface="黑体" panose="02010609060101010101" pitchFamily="49" charset="-122"/>
            </a:endParaRPr>
          </a:p>
          <a:p>
            <a:pPr algn="just"/>
            <a:r>
              <a:rPr lang="zh-CN" altLang="en-US" dirty="0" smtClean="0">
                <a:ea typeface="黑体" panose="02010609060101010101" pitchFamily="49" charset="-122"/>
              </a:rPr>
              <a:t>在互联网中，不同计算机的相同端口号是没有联系的。</a:t>
            </a:r>
            <a:endParaRPr lang="en-US" altLang="zh-CN" dirty="0" smtClean="0">
              <a:ea typeface="黑体" panose="02010609060101010101" pitchFamily="49" charset="-122"/>
            </a:endParaRPr>
          </a:p>
        </p:txBody>
      </p:sp>
      <p:sp>
        <p:nvSpPr>
          <p:cNvPr id="2" name="矩形 1"/>
          <p:cNvSpPr>
            <a:spLocks noChangeArrowheads="1"/>
          </p:cNvSpPr>
          <p:nvPr/>
        </p:nvSpPr>
        <p:spPr bwMode="auto">
          <a:xfrm>
            <a:off x="415925" y="4292600"/>
            <a:ext cx="9418638" cy="1385888"/>
          </a:xfrm>
          <a:prstGeom prst="rect">
            <a:avLst/>
          </a:prstGeom>
          <a:solidFill>
            <a:srgbClr val="FFFF66"/>
          </a:solidFill>
          <a:ln w="9525">
            <a:solidFill>
              <a:srgbClr val="002060"/>
            </a:solidFill>
            <a:round/>
            <a:headEnd/>
            <a:tailEnd/>
          </a:ln>
        </p:spPr>
        <p:txBody>
          <a:bodyPr>
            <a:spAutoFit/>
          </a:bodyPr>
          <a:lstStyle/>
          <a:p>
            <a:pPr eaLnBrk="0" hangingPunct="0"/>
            <a:r>
              <a:rPr lang="zh-CN" altLang="zh-CN" sz="2800" b="1" dirty="0">
                <a:solidFill>
                  <a:srgbClr val="000099"/>
                </a:solidFill>
                <a:ea typeface="黑体" panose="02010609060101010101" pitchFamily="49" charset="-122"/>
              </a:rPr>
              <a:t>由此可见，两个计算机中的</a:t>
            </a:r>
            <a:r>
              <a:rPr lang="zh-CN" altLang="zh-CN" sz="2800" b="1" dirty="0">
                <a:solidFill>
                  <a:srgbClr val="FF0000"/>
                </a:solidFill>
                <a:ea typeface="黑体" panose="02010609060101010101" pitchFamily="49" charset="-122"/>
              </a:rPr>
              <a:t>进程</a:t>
            </a:r>
            <a:r>
              <a:rPr lang="zh-CN" altLang="zh-CN" sz="2800" b="1" dirty="0">
                <a:solidFill>
                  <a:srgbClr val="000099"/>
                </a:solidFill>
                <a:ea typeface="黑体" panose="02010609060101010101" pitchFamily="49" charset="-122"/>
              </a:rPr>
              <a:t>要互相</a:t>
            </a:r>
            <a:r>
              <a:rPr lang="zh-CN" altLang="zh-CN" sz="2800" b="1" dirty="0">
                <a:solidFill>
                  <a:srgbClr val="FF0000"/>
                </a:solidFill>
                <a:ea typeface="黑体" panose="02010609060101010101" pitchFamily="49" charset="-122"/>
              </a:rPr>
              <a:t>通信</a:t>
            </a:r>
            <a:r>
              <a:rPr lang="zh-CN" altLang="zh-CN" sz="2800" b="1" dirty="0">
                <a:solidFill>
                  <a:srgbClr val="000099"/>
                </a:solidFill>
                <a:ea typeface="黑体" panose="02010609060101010101" pitchFamily="49" charset="-122"/>
              </a:rPr>
              <a:t>，不仅必须知道对方的</a:t>
            </a:r>
            <a:r>
              <a:rPr lang="en-US" altLang="zh-CN" sz="2800" b="1" dirty="0">
                <a:solidFill>
                  <a:srgbClr val="000099"/>
                </a:solidFill>
                <a:ea typeface="黑体" panose="02010609060101010101" pitchFamily="49" charset="-122"/>
              </a:rPr>
              <a:t> </a:t>
            </a:r>
            <a:r>
              <a:rPr lang="en-US" altLang="zh-CN" sz="2800" b="1" dirty="0">
                <a:solidFill>
                  <a:srgbClr val="FF0000"/>
                </a:solidFill>
                <a:ea typeface="黑体" panose="02010609060101010101" pitchFamily="49" charset="-122"/>
              </a:rPr>
              <a:t>IP </a:t>
            </a:r>
            <a:r>
              <a:rPr lang="zh-CN" altLang="zh-CN" sz="2800" b="1" dirty="0">
                <a:solidFill>
                  <a:srgbClr val="FF0000"/>
                </a:solidFill>
                <a:ea typeface="黑体" panose="02010609060101010101" pitchFamily="49" charset="-122"/>
              </a:rPr>
              <a:t>地址</a:t>
            </a:r>
            <a:r>
              <a:rPr lang="zh-CN" altLang="zh-CN" sz="2800" b="1" dirty="0">
                <a:solidFill>
                  <a:srgbClr val="000099"/>
                </a:solidFill>
                <a:ea typeface="黑体" panose="02010609060101010101" pitchFamily="49" charset="-122"/>
              </a:rPr>
              <a:t>（为了找到对方的计算机），而且还要知道对方的</a:t>
            </a:r>
            <a:r>
              <a:rPr lang="zh-CN" altLang="zh-CN" sz="2800" b="1" dirty="0">
                <a:solidFill>
                  <a:srgbClr val="FF0000"/>
                </a:solidFill>
                <a:ea typeface="黑体" panose="02010609060101010101" pitchFamily="49" charset="-122"/>
              </a:rPr>
              <a:t>端口号</a:t>
            </a:r>
            <a:r>
              <a:rPr lang="zh-CN" altLang="zh-CN" sz="2800" b="1" dirty="0">
                <a:solidFill>
                  <a:srgbClr val="000099"/>
                </a:solidFill>
                <a:ea typeface="黑体" panose="02010609060101010101" pitchFamily="49" charset="-122"/>
              </a:rPr>
              <a:t>（为了找到对方计算机中的应用进程）</a:t>
            </a:r>
            <a:r>
              <a:rPr lang="zh-CN" altLang="en-US" sz="2800" b="1" dirty="0">
                <a:solidFill>
                  <a:srgbClr val="000099"/>
                </a:solidFill>
                <a:ea typeface="黑体" panose="02010609060101010101" pitchFamily="49" charset="-122"/>
              </a:rPr>
              <a:t>。</a:t>
            </a:r>
          </a:p>
        </p:txBody>
      </p:sp>
      <p:sp>
        <p:nvSpPr>
          <p:cNvPr id="13271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74B8B3-979F-409A-A5A7-726260D1A81E}" type="slidenum">
              <a:rPr lang="zh-CN" altLang="en-US" smtClean="0"/>
              <a:pPr eaLnBrk="1" hangingPunct="1"/>
              <a:t>23</a:t>
            </a:fld>
            <a:endParaRPr lang="en-US" altLang="zh-CN" smtClean="0"/>
          </a:p>
        </p:txBody>
      </p:sp>
      <p:sp>
        <p:nvSpPr>
          <p:cNvPr id="13271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1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两大类端口 </a:t>
            </a:r>
          </a:p>
        </p:txBody>
      </p:sp>
      <p:sp>
        <p:nvSpPr>
          <p:cNvPr id="1329154" name="Rectangle 12"/>
          <p:cNvSpPr>
            <a:spLocks noGrp="1" noChangeArrowheads="1"/>
          </p:cNvSpPr>
          <p:nvPr>
            <p:ph idx="1"/>
          </p:nvPr>
        </p:nvSpPr>
        <p:spPr>
          <a:xfrm>
            <a:off x="495300" y="1196975"/>
            <a:ext cx="9066213" cy="4933950"/>
          </a:xfrm>
        </p:spPr>
        <p:txBody>
          <a:bodyPr/>
          <a:lstStyle/>
          <a:p>
            <a:pPr marL="360363" indent="-360363">
              <a:buFont typeface="Wingdings" panose="05000000000000000000" pitchFamily="2" charset="2"/>
              <a:buNone/>
            </a:pPr>
            <a:r>
              <a:rPr lang="en-US" altLang="zh-CN" sz="2800" dirty="0" smtClean="0">
                <a:solidFill>
                  <a:srgbClr val="0000FF"/>
                </a:solidFill>
                <a:ea typeface="黑体" panose="02010609060101010101" pitchFamily="49" charset="-122"/>
              </a:rPr>
              <a:t>(1) </a:t>
            </a:r>
            <a:r>
              <a:rPr lang="zh-CN" altLang="zh-CN" sz="2800" dirty="0" smtClean="0">
                <a:solidFill>
                  <a:srgbClr val="0000FF"/>
                </a:solidFill>
                <a:ea typeface="黑体" panose="02010609060101010101" pitchFamily="49" charset="-122"/>
              </a:rPr>
              <a:t>服务器端使用的端口号</a:t>
            </a:r>
            <a:endParaRPr lang="en-US" altLang="zh-CN" sz="2800" dirty="0" smtClean="0">
              <a:solidFill>
                <a:srgbClr val="0000FF"/>
              </a:solidFill>
              <a:ea typeface="黑体" panose="02010609060101010101" pitchFamily="49" charset="-122"/>
            </a:endParaRPr>
          </a:p>
          <a:p>
            <a:pPr lvl="1"/>
            <a:r>
              <a:rPr lang="zh-CN" altLang="en-US" sz="2400" dirty="0" smtClean="0">
                <a:solidFill>
                  <a:srgbClr val="FF0000"/>
                </a:solidFill>
                <a:ea typeface="黑体" panose="02010609060101010101" pitchFamily="49" charset="-122"/>
              </a:rPr>
              <a:t>熟知端口，</a:t>
            </a:r>
            <a:r>
              <a:rPr lang="zh-CN" altLang="en-US" sz="2400" dirty="0" smtClean="0">
                <a:ea typeface="黑体" panose="02010609060101010101" pitchFamily="49" charset="-122"/>
              </a:rPr>
              <a:t>数值一般为 </a:t>
            </a:r>
            <a:r>
              <a:rPr lang="en-US" altLang="zh-CN" sz="2400" dirty="0" smtClean="0">
                <a:ea typeface="黑体" panose="02010609060101010101" pitchFamily="49" charset="-122"/>
              </a:rPr>
              <a:t>0~1023</a:t>
            </a:r>
            <a:r>
              <a:rPr lang="zh-CN" altLang="en-US" sz="2400" dirty="0" smtClean="0">
                <a:ea typeface="黑体" panose="02010609060101010101" pitchFamily="49" charset="-122"/>
              </a:rPr>
              <a:t>。</a:t>
            </a:r>
          </a:p>
          <a:p>
            <a:pPr lvl="1"/>
            <a:r>
              <a:rPr lang="zh-CN" altLang="en-US" sz="2400" dirty="0" smtClean="0">
                <a:solidFill>
                  <a:srgbClr val="FF0000"/>
                </a:solidFill>
                <a:ea typeface="黑体" panose="02010609060101010101" pitchFamily="49" charset="-122"/>
              </a:rPr>
              <a:t>登记端口号，</a:t>
            </a:r>
            <a:r>
              <a:rPr lang="zh-CN" altLang="en-US" sz="2400" dirty="0" smtClean="0">
                <a:ea typeface="黑体" panose="02010609060101010101" pitchFamily="49" charset="-122"/>
              </a:rPr>
              <a:t>数值为 </a:t>
            </a:r>
            <a:r>
              <a:rPr lang="en-US" altLang="zh-CN" sz="2400" dirty="0" smtClean="0">
                <a:ea typeface="黑体" panose="02010609060101010101" pitchFamily="49" charset="-122"/>
              </a:rPr>
              <a:t>1024~49151</a:t>
            </a:r>
            <a:r>
              <a:rPr lang="zh-CN" altLang="en-US" sz="2400" dirty="0" smtClean="0">
                <a:ea typeface="黑体" panose="02010609060101010101" pitchFamily="49" charset="-122"/>
              </a:rPr>
              <a:t>，为没有熟知端口号的应用程序使用的。使用这个范围的端口号必须在 </a:t>
            </a:r>
            <a:r>
              <a:rPr lang="en-US" altLang="zh-CN" sz="2400" dirty="0" smtClean="0">
                <a:ea typeface="黑体" panose="02010609060101010101" pitchFamily="49" charset="-122"/>
              </a:rPr>
              <a:t>IANA </a:t>
            </a:r>
            <a:r>
              <a:rPr lang="zh-CN" altLang="en-US" sz="2400" dirty="0" smtClean="0">
                <a:ea typeface="黑体" panose="02010609060101010101" pitchFamily="49" charset="-122"/>
              </a:rPr>
              <a:t>登记，以防止重复。</a:t>
            </a:r>
            <a:endParaRPr lang="en-US" altLang="zh-CN" sz="2400" dirty="0" smtClean="0">
              <a:ea typeface="黑体" panose="02010609060101010101" pitchFamily="49" charset="-122"/>
            </a:endParaRPr>
          </a:p>
          <a:p>
            <a:pPr marL="360363" indent="-360363">
              <a:buFont typeface="Wingdings" panose="05000000000000000000" pitchFamily="2" charset="2"/>
              <a:buNone/>
            </a:pPr>
            <a:r>
              <a:rPr lang="en-US" altLang="zh-CN" sz="2800" dirty="0" smtClean="0">
                <a:solidFill>
                  <a:srgbClr val="0000FF"/>
                </a:solidFill>
                <a:ea typeface="黑体" panose="02010609060101010101" pitchFamily="49" charset="-122"/>
              </a:rPr>
              <a:t>(2) </a:t>
            </a:r>
            <a:r>
              <a:rPr lang="zh-CN" altLang="zh-CN" sz="2800" dirty="0" smtClean="0">
                <a:solidFill>
                  <a:srgbClr val="0000FF"/>
                </a:solidFill>
                <a:ea typeface="黑体" panose="02010609060101010101" pitchFamily="49" charset="-122"/>
              </a:rPr>
              <a:t>客户端使用的端口号</a:t>
            </a:r>
            <a:endParaRPr lang="zh-CN" altLang="en-US" sz="2800" dirty="0" smtClean="0">
              <a:solidFill>
                <a:srgbClr val="0000FF"/>
              </a:solidFill>
              <a:ea typeface="黑体" panose="02010609060101010101" pitchFamily="49" charset="-122"/>
            </a:endParaRPr>
          </a:p>
          <a:p>
            <a:pPr lvl="1"/>
            <a:r>
              <a:rPr lang="zh-CN" altLang="en-US" sz="2400" dirty="0" smtClean="0">
                <a:solidFill>
                  <a:srgbClr val="FF0000"/>
                </a:solidFill>
                <a:ea typeface="黑体" panose="02010609060101010101" pitchFamily="49" charset="-122"/>
              </a:rPr>
              <a:t>又称为短暂端口号，</a:t>
            </a:r>
            <a:r>
              <a:rPr lang="zh-CN" altLang="en-US" sz="2400" dirty="0" smtClean="0">
                <a:ea typeface="黑体" panose="02010609060101010101" pitchFamily="49" charset="-122"/>
              </a:rPr>
              <a:t>数值为 </a:t>
            </a:r>
            <a:r>
              <a:rPr lang="en-US" altLang="zh-CN" sz="2400" dirty="0" smtClean="0">
                <a:ea typeface="黑体" panose="02010609060101010101" pitchFamily="49" charset="-122"/>
              </a:rPr>
              <a:t>49152~65535</a:t>
            </a:r>
            <a:r>
              <a:rPr lang="zh-CN" altLang="en-US" sz="2400" dirty="0" smtClean="0">
                <a:ea typeface="黑体" panose="02010609060101010101" pitchFamily="49" charset="-122"/>
              </a:rPr>
              <a:t>，留给客户进程选择暂时使用。</a:t>
            </a:r>
            <a:endParaRPr lang="en-US" altLang="zh-CN" sz="2400" dirty="0" smtClean="0">
              <a:ea typeface="黑体" panose="02010609060101010101" pitchFamily="49" charset="-122"/>
            </a:endParaRPr>
          </a:p>
          <a:p>
            <a:pPr lvl="1"/>
            <a:r>
              <a:rPr lang="zh-CN" altLang="en-US" sz="2400" dirty="0" smtClean="0">
                <a:ea typeface="黑体" panose="02010609060101010101" pitchFamily="49" charset="-122"/>
              </a:rPr>
              <a:t>当服务器进程收到客户进程的报文时，就知道了客户进程所使用的动态端口号。通信结束后，这个端口号可供其他客户进程以后使用。 </a:t>
            </a:r>
          </a:p>
        </p:txBody>
      </p:sp>
      <p:sp>
        <p:nvSpPr>
          <p:cNvPr id="13291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5591F1-D2C9-4400-9C83-095F367A9417}" type="slidenum">
              <a:rPr lang="zh-CN" altLang="en-US" smtClean="0"/>
              <a:pPr eaLnBrk="1" hangingPunct="1"/>
              <a:t>24</a:t>
            </a:fld>
            <a:endParaRPr lang="en-US" altLang="zh-CN" smtClean="0"/>
          </a:p>
        </p:txBody>
      </p:sp>
      <p:sp>
        <p:nvSpPr>
          <p:cNvPr id="13291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常用的熟知端口</a:t>
            </a:r>
          </a:p>
        </p:txBody>
      </p:sp>
      <p:sp>
        <p:nvSpPr>
          <p:cNvPr id="1331202" name="Rectangle 3"/>
          <p:cNvSpPr>
            <a:spLocks noGrp="1" noChangeArrowheads="1"/>
          </p:cNvSpPr>
          <p:nvPr>
            <p:ph type="body" idx="1"/>
          </p:nvPr>
        </p:nvSpPr>
        <p:spPr>
          <a:xfrm>
            <a:off x="495300" y="1196975"/>
            <a:ext cx="9066213" cy="4933950"/>
          </a:xfrm>
        </p:spPr>
        <p:txBody>
          <a:bodyPr/>
          <a:lstStyle/>
          <a:p>
            <a:pPr>
              <a:buFont typeface="Wingdings" panose="05000000000000000000" pitchFamily="2" charset="2"/>
              <a:buNone/>
            </a:pPr>
            <a:r>
              <a:rPr lang="en-US" altLang="zh-CN" smtClean="0">
                <a:ea typeface="黑体" panose="02010609060101010101" pitchFamily="49" charset="-122"/>
              </a:rPr>
              <a:t> </a:t>
            </a:r>
          </a:p>
        </p:txBody>
      </p:sp>
      <p:graphicFrame>
        <p:nvGraphicFramePr>
          <p:cNvPr id="2011188" name="Group 52"/>
          <p:cNvGraphicFramePr>
            <a:graphicFrameLocks noGrp="1"/>
          </p:cNvGraphicFramePr>
          <p:nvPr/>
        </p:nvGraphicFramePr>
        <p:xfrm>
          <a:off x="546100" y="4397375"/>
          <a:ext cx="9029700" cy="1192213"/>
        </p:xfrm>
        <a:graphic>
          <a:graphicData uri="http://schemas.openxmlformats.org/drawingml/2006/table">
            <a:tbl>
              <a:tblPr/>
              <a:tblGrid>
                <a:gridCol w="4787409">
                  <a:extLst>
                    <a:ext uri="{9D8B030D-6E8A-4147-A177-3AD203B41FA5}">
                      <a16:colId xmlns:a16="http://schemas.microsoft.com/office/drawing/2014/main" val="20000"/>
                    </a:ext>
                  </a:extLst>
                </a:gridCol>
                <a:gridCol w="4242291">
                  <a:extLst>
                    <a:ext uri="{9D8B030D-6E8A-4147-A177-3AD203B41FA5}">
                      <a16:colId xmlns:a16="http://schemas.microsoft.com/office/drawing/2014/main" val="20001"/>
                    </a:ext>
                  </a:extLst>
                </a:gridCol>
              </a:tblGrid>
              <a:tr h="6129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a:ln>
                            <a:noFill/>
                          </a:ln>
                          <a:solidFill>
                            <a:schemeClr val="tx1"/>
                          </a:solidFill>
                          <a:effectLst/>
                          <a:latin typeface="Tahoma" panose="020B0604030504040204" pitchFamily="34" charset="0"/>
                          <a:ea typeface="黑体" panose="02010609060101010101" pitchFamily="2" charset="-122"/>
                        </a:rPr>
                        <a:t>UDP</a:t>
                      </a:r>
                    </a:p>
                  </a:txBody>
                  <a:tcPr marL="99050" marR="99050" marT="45732" marB="45732"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a:ln>
                            <a:noFill/>
                          </a:ln>
                          <a:solidFill>
                            <a:schemeClr val="tx1"/>
                          </a:solidFill>
                          <a:effectLst/>
                          <a:latin typeface="Tahoma" panose="020B0604030504040204" pitchFamily="34" charset="0"/>
                          <a:ea typeface="黑体" panose="02010609060101010101" pitchFamily="2" charset="-122"/>
                        </a:rPr>
                        <a:t>TCP</a:t>
                      </a:r>
                    </a:p>
                  </a:txBody>
                  <a:tcPr marL="99050" marR="99050" marT="45732" marB="45732"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r h="579275">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3200" b="1" i="0" u="none" strike="noStrike" cap="none" normalizeH="0" baseline="0" dirty="0">
                          <a:ln>
                            <a:noFill/>
                          </a:ln>
                          <a:solidFill>
                            <a:schemeClr val="tx1"/>
                          </a:solidFill>
                          <a:effectLst/>
                          <a:latin typeface="Tahoma" panose="020B0604030504040204" pitchFamily="34" charset="0"/>
                          <a:ea typeface="黑体" panose="02010609060101010101" pitchFamily="2" charset="-122"/>
                        </a:rPr>
                        <a:t>IP</a:t>
                      </a:r>
                    </a:p>
                  </a:txBody>
                  <a:tcPr marL="99050" marR="99050" marT="45732" marB="45732"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p>
                  </a:txBody>
                  <a:tcPr/>
                </a:tc>
                <a:extLst>
                  <a:ext uri="{0D108BD9-81ED-4DB2-BD59-A6C34878D82A}">
                    <a16:rowId xmlns:a16="http://schemas.microsoft.com/office/drawing/2014/main" val="10001"/>
                  </a:ext>
                </a:extLst>
              </a:tr>
            </a:tbl>
          </a:graphicData>
        </a:graphic>
      </p:graphicFrame>
      <p:grpSp>
        <p:nvGrpSpPr>
          <p:cNvPr id="1331213" name="组合 1"/>
          <p:cNvGrpSpPr>
            <a:grpSpLocks/>
          </p:cNvGrpSpPr>
          <p:nvPr/>
        </p:nvGrpSpPr>
        <p:grpSpPr bwMode="auto">
          <a:xfrm>
            <a:off x="515938" y="1174750"/>
            <a:ext cx="9332912" cy="3370263"/>
            <a:chOff x="515258" y="1175047"/>
            <a:chExt cx="9334286" cy="3369618"/>
          </a:xfrm>
        </p:grpSpPr>
        <p:sp>
          <p:nvSpPr>
            <p:cNvPr id="1331214" name="Text Box 14"/>
            <p:cNvSpPr txBox="1">
              <a:spLocks noChangeArrowheads="1"/>
            </p:cNvSpPr>
            <p:nvPr/>
          </p:nvSpPr>
          <p:spPr bwMode="auto">
            <a:xfrm>
              <a:off x="5183701" y="3296889"/>
              <a:ext cx="1429146"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SMTP</a:t>
              </a:r>
            </a:p>
          </p:txBody>
        </p:sp>
        <p:sp>
          <p:nvSpPr>
            <p:cNvPr id="1331215" name="Text Box 15"/>
            <p:cNvSpPr txBox="1">
              <a:spLocks noChangeArrowheads="1"/>
            </p:cNvSpPr>
            <p:nvPr/>
          </p:nvSpPr>
          <p:spPr bwMode="auto">
            <a:xfrm>
              <a:off x="6228399" y="2831231"/>
              <a:ext cx="131908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FTP</a:t>
              </a:r>
            </a:p>
          </p:txBody>
        </p:sp>
        <p:sp>
          <p:nvSpPr>
            <p:cNvPr id="1331216" name="Text Box 16"/>
            <p:cNvSpPr txBox="1">
              <a:spLocks noChangeArrowheads="1"/>
            </p:cNvSpPr>
            <p:nvPr/>
          </p:nvSpPr>
          <p:spPr bwMode="auto">
            <a:xfrm>
              <a:off x="6899407" y="2327175"/>
              <a:ext cx="1539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Telnet</a:t>
              </a:r>
            </a:p>
          </p:txBody>
        </p:sp>
        <p:sp>
          <p:nvSpPr>
            <p:cNvPr id="1331217" name="Text Box 17"/>
            <p:cNvSpPr txBox="1">
              <a:spLocks noChangeArrowheads="1"/>
            </p:cNvSpPr>
            <p:nvPr/>
          </p:nvSpPr>
          <p:spPr bwMode="auto">
            <a:xfrm>
              <a:off x="759900" y="3373089"/>
              <a:ext cx="109894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RPC</a:t>
              </a:r>
            </a:p>
          </p:txBody>
        </p:sp>
        <p:sp>
          <p:nvSpPr>
            <p:cNvPr id="1331218" name="Text Box 18"/>
            <p:cNvSpPr txBox="1">
              <a:spLocks noChangeArrowheads="1"/>
            </p:cNvSpPr>
            <p:nvPr/>
          </p:nvSpPr>
          <p:spPr bwMode="auto">
            <a:xfrm>
              <a:off x="1547878" y="2992089"/>
              <a:ext cx="131908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DNS</a:t>
              </a:r>
            </a:p>
          </p:txBody>
        </p:sp>
        <p:sp>
          <p:nvSpPr>
            <p:cNvPr id="1331219" name="Text Box 19"/>
            <p:cNvSpPr txBox="1">
              <a:spLocks noChangeArrowheads="1"/>
            </p:cNvSpPr>
            <p:nvPr/>
          </p:nvSpPr>
          <p:spPr bwMode="auto">
            <a:xfrm>
              <a:off x="3186128" y="1967135"/>
              <a:ext cx="1539214"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SNMP</a:t>
              </a:r>
            </a:p>
          </p:txBody>
        </p:sp>
        <p:sp>
          <p:nvSpPr>
            <p:cNvPr id="1331220" name="Text Box 20"/>
            <p:cNvSpPr txBox="1">
              <a:spLocks noChangeArrowheads="1"/>
            </p:cNvSpPr>
            <p:nvPr/>
          </p:nvSpPr>
          <p:spPr bwMode="auto">
            <a:xfrm>
              <a:off x="2349476" y="2471191"/>
              <a:ext cx="164928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TFTP</a:t>
              </a:r>
            </a:p>
          </p:txBody>
        </p:sp>
        <p:sp>
          <p:nvSpPr>
            <p:cNvPr id="1331221" name="Oval 21"/>
            <p:cNvSpPr>
              <a:spLocks noChangeArrowheads="1"/>
            </p:cNvSpPr>
            <p:nvPr/>
          </p:nvSpPr>
          <p:spPr bwMode="auto">
            <a:xfrm>
              <a:off x="900112"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2" name="Oval 22"/>
            <p:cNvSpPr>
              <a:spLocks noChangeArrowheads="1"/>
            </p:cNvSpPr>
            <p:nvPr/>
          </p:nvSpPr>
          <p:spPr bwMode="auto">
            <a:xfrm>
              <a:off x="1824631"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3" name="Oval 23"/>
            <p:cNvSpPr>
              <a:spLocks noChangeArrowheads="1"/>
            </p:cNvSpPr>
            <p:nvPr/>
          </p:nvSpPr>
          <p:spPr bwMode="auto">
            <a:xfrm>
              <a:off x="3516327"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4" name="Oval 24"/>
            <p:cNvSpPr>
              <a:spLocks noChangeArrowheads="1"/>
            </p:cNvSpPr>
            <p:nvPr/>
          </p:nvSpPr>
          <p:spPr bwMode="auto">
            <a:xfrm>
              <a:off x="2700006"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5" name="Oval 25"/>
            <p:cNvSpPr>
              <a:spLocks noChangeArrowheads="1"/>
            </p:cNvSpPr>
            <p:nvPr/>
          </p:nvSpPr>
          <p:spPr bwMode="auto">
            <a:xfrm>
              <a:off x="5596451"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6" name="Oval 26"/>
            <p:cNvSpPr>
              <a:spLocks noChangeArrowheads="1"/>
            </p:cNvSpPr>
            <p:nvPr/>
          </p:nvSpPr>
          <p:spPr bwMode="auto">
            <a:xfrm>
              <a:off x="6411433"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7" name="Oval 27"/>
            <p:cNvSpPr>
              <a:spLocks noChangeArrowheads="1"/>
            </p:cNvSpPr>
            <p:nvPr/>
          </p:nvSpPr>
          <p:spPr bwMode="auto">
            <a:xfrm>
              <a:off x="7219289"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28" name="Line 28"/>
            <p:cNvSpPr>
              <a:spLocks noChangeShapeType="1"/>
            </p:cNvSpPr>
            <p:nvPr/>
          </p:nvSpPr>
          <p:spPr bwMode="auto">
            <a:xfrm>
              <a:off x="1090099" y="3825526"/>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29" name="Line 29"/>
            <p:cNvSpPr>
              <a:spLocks noChangeShapeType="1"/>
            </p:cNvSpPr>
            <p:nvPr/>
          </p:nvSpPr>
          <p:spPr bwMode="auto">
            <a:xfrm>
              <a:off x="1989731" y="3444526"/>
              <a:ext cx="0" cy="762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0" name="Line 30"/>
            <p:cNvSpPr>
              <a:spLocks noChangeShapeType="1"/>
            </p:cNvSpPr>
            <p:nvPr/>
          </p:nvSpPr>
          <p:spPr bwMode="auto">
            <a:xfrm>
              <a:off x="3681427" y="2471191"/>
              <a:ext cx="0" cy="173533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1" name="Line 31"/>
            <p:cNvSpPr>
              <a:spLocks noChangeShapeType="1"/>
            </p:cNvSpPr>
            <p:nvPr/>
          </p:nvSpPr>
          <p:spPr bwMode="auto">
            <a:xfrm>
              <a:off x="2865106" y="2941289"/>
              <a:ext cx="0" cy="12652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2" name="Line 32"/>
            <p:cNvSpPr>
              <a:spLocks noChangeShapeType="1"/>
            </p:cNvSpPr>
            <p:nvPr/>
          </p:nvSpPr>
          <p:spPr bwMode="auto">
            <a:xfrm>
              <a:off x="5761551" y="3749326"/>
              <a:ext cx="0" cy="457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3" name="Line 33"/>
            <p:cNvSpPr>
              <a:spLocks noChangeShapeType="1"/>
            </p:cNvSpPr>
            <p:nvPr/>
          </p:nvSpPr>
          <p:spPr bwMode="auto">
            <a:xfrm>
              <a:off x="6611375" y="3251645"/>
              <a:ext cx="0" cy="95488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4" name="Line 34"/>
            <p:cNvSpPr>
              <a:spLocks noChangeShapeType="1"/>
            </p:cNvSpPr>
            <p:nvPr/>
          </p:nvSpPr>
          <p:spPr bwMode="auto">
            <a:xfrm>
              <a:off x="7394707" y="2730747"/>
              <a:ext cx="0" cy="147577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35" name="Text Box 35"/>
            <p:cNvSpPr txBox="1">
              <a:spLocks noChangeArrowheads="1"/>
            </p:cNvSpPr>
            <p:nvPr/>
          </p:nvSpPr>
          <p:spPr bwMode="auto">
            <a:xfrm>
              <a:off x="515258" y="3825526"/>
              <a:ext cx="8169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111</a:t>
              </a:r>
            </a:p>
          </p:txBody>
        </p:sp>
        <p:sp>
          <p:nvSpPr>
            <p:cNvPr id="1331236" name="Text Box 36"/>
            <p:cNvSpPr txBox="1">
              <a:spLocks noChangeArrowheads="1"/>
            </p:cNvSpPr>
            <p:nvPr/>
          </p:nvSpPr>
          <p:spPr bwMode="auto">
            <a:xfrm>
              <a:off x="1494431" y="3825526"/>
              <a:ext cx="1123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53</a:t>
              </a:r>
            </a:p>
          </p:txBody>
        </p:sp>
        <p:sp>
          <p:nvSpPr>
            <p:cNvPr id="1331237" name="Text Box 37"/>
            <p:cNvSpPr txBox="1">
              <a:spLocks noChangeArrowheads="1"/>
            </p:cNvSpPr>
            <p:nvPr/>
          </p:nvSpPr>
          <p:spPr bwMode="auto">
            <a:xfrm>
              <a:off x="3681427" y="3825526"/>
              <a:ext cx="8169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161</a:t>
              </a:r>
            </a:p>
          </p:txBody>
        </p:sp>
        <p:sp>
          <p:nvSpPr>
            <p:cNvPr id="1331238" name="Text Box 38"/>
            <p:cNvSpPr txBox="1">
              <a:spLocks noChangeArrowheads="1"/>
            </p:cNvSpPr>
            <p:nvPr/>
          </p:nvSpPr>
          <p:spPr bwMode="auto">
            <a:xfrm>
              <a:off x="2947656"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69</a:t>
              </a:r>
            </a:p>
          </p:txBody>
        </p:sp>
        <p:sp>
          <p:nvSpPr>
            <p:cNvPr id="1331239" name="Text Box 39"/>
            <p:cNvSpPr txBox="1">
              <a:spLocks noChangeArrowheads="1"/>
            </p:cNvSpPr>
            <p:nvPr/>
          </p:nvSpPr>
          <p:spPr bwMode="auto">
            <a:xfrm>
              <a:off x="5260958"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25</a:t>
              </a:r>
            </a:p>
          </p:txBody>
        </p:sp>
        <p:sp>
          <p:nvSpPr>
            <p:cNvPr id="1331240" name="Text Box 40"/>
            <p:cNvSpPr txBox="1">
              <a:spLocks noChangeArrowheads="1"/>
            </p:cNvSpPr>
            <p:nvPr/>
          </p:nvSpPr>
          <p:spPr bwMode="auto">
            <a:xfrm>
              <a:off x="6125212" y="3825526"/>
              <a:ext cx="114194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21  20</a:t>
              </a:r>
            </a:p>
          </p:txBody>
        </p:sp>
        <p:sp>
          <p:nvSpPr>
            <p:cNvPr id="1331241" name="Text Box 41"/>
            <p:cNvSpPr txBox="1">
              <a:spLocks noChangeArrowheads="1"/>
            </p:cNvSpPr>
            <p:nvPr/>
          </p:nvSpPr>
          <p:spPr bwMode="auto">
            <a:xfrm>
              <a:off x="7466939"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23</a:t>
              </a:r>
            </a:p>
          </p:txBody>
        </p:sp>
        <p:sp>
          <p:nvSpPr>
            <p:cNvPr id="1331242" name="Text Box 42"/>
            <p:cNvSpPr txBox="1">
              <a:spLocks noChangeArrowheads="1"/>
            </p:cNvSpPr>
            <p:nvPr/>
          </p:nvSpPr>
          <p:spPr bwMode="auto">
            <a:xfrm>
              <a:off x="7619487" y="1736054"/>
              <a:ext cx="1539214"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HTTP</a:t>
              </a:r>
            </a:p>
          </p:txBody>
        </p:sp>
        <p:sp>
          <p:nvSpPr>
            <p:cNvPr id="1331243" name="Oval 43"/>
            <p:cNvSpPr>
              <a:spLocks noChangeArrowheads="1"/>
            </p:cNvSpPr>
            <p:nvPr/>
          </p:nvSpPr>
          <p:spPr bwMode="auto">
            <a:xfrm>
              <a:off x="7979527"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44" name="Line 44"/>
            <p:cNvSpPr>
              <a:spLocks noChangeShapeType="1"/>
            </p:cNvSpPr>
            <p:nvPr/>
          </p:nvSpPr>
          <p:spPr bwMode="auto">
            <a:xfrm>
              <a:off x="8154945" y="2195164"/>
              <a:ext cx="0" cy="201136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45" name="Text Box 45"/>
            <p:cNvSpPr txBox="1">
              <a:spLocks noChangeArrowheads="1"/>
            </p:cNvSpPr>
            <p:nvPr/>
          </p:nvSpPr>
          <p:spPr bwMode="auto">
            <a:xfrm>
              <a:off x="8227177"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80</a:t>
              </a:r>
            </a:p>
          </p:txBody>
        </p:sp>
        <p:sp>
          <p:nvSpPr>
            <p:cNvPr id="1331246" name="Text Box 42"/>
            <p:cNvSpPr txBox="1">
              <a:spLocks noChangeArrowheads="1"/>
            </p:cNvSpPr>
            <p:nvPr/>
          </p:nvSpPr>
          <p:spPr bwMode="auto">
            <a:xfrm>
              <a:off x="8195551" y="1175047"/>
              <a:ext cx="1539214"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HTTPS</a:t>
              </a:r>
            </a:p>
          </p:txBody>
        </p:sp>
        <p:sp>
          <p:nvSpPr>
            <p:cNvPr id="1331247" name="Oval 43"/>
            <p:cNvSpPr>
              <a:spLocks noChangeArrowheads="1"/>
            </p:cNvSpPr>
            <p:nvPr/>
          </p:nvSpPr>
          <p:spPr bwMode="auto">
            <a:xfrm>
              <a:off x="8683525"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48" name="Line 44"/>
            <p:cNvSpPr>
              <a:spLocks noChangeShapeType="1"/>
            </p:cNvSpPr>
            <p:nvPr/>
          </p:nvSpPr>
          <p:spPr bwMode="auto">
            <a:xfrm>
              <a:off x="8858943" y="1676052"/>
              <a:ext cx="0" cy="253047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49" name="Text Box 45"/>
            <p:cNvSpPr txBox="1">
              <a:spLocks noChangeArrowheads="1"/>
            </p:cNvSpPr>
            <p:nvPr/>
          </p:nvSpPr>
          <p:spPr bwMode="auto">
            <a:xfrm>
              <a:off x="8931175" y="3825526"/>
              <a:ext cx="91836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443</a:t>
              </a:r>
            </a:p>
          </p:txBody>
        </p:sp>
        <p:sp>
          <p:nvSpPr>
            <p:cNvPr id="1331250" name="Text Box 19"/>
            <p:cNvSpPr txBox="1">
              <a:spLocks noChangeArrowheads="1"/>
            </p:cNvSpPr>
            <p:nvPr/>
          </p:nvSpPr>
          <p:spPr bwMode="auto">
            <a:xfrm>
              <a:off x="3659047" y="1299365"/>
              <a:ext cx="21672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Times New Roman" panose="02020603050405020304" pitchFamily="18" charset="0"/>
                  <a:ea typeface="宋体" panose="02010600030101010101" pitchFamily="2" charset="-122"/>
                </a:rPr>
                <a:t>SNMP(trap)</a:t>
              </a:r>
            </a:p>
          </p:txBody>
        </p:sp>
        <p:sp>
          <p:nvSpPr>
            <p:cNvPr id="1331251" name="Oval 23"/>
            <p:cNvSpPr>
              <a:spLocks noChangeArrowheads="1"/>
            </p:cNvSpPr>
            <p:nvPr/>
          </p:nvSpPr>
          <p:spPr bwMode="auto">
            <a:xfrm>
              <a:off x="4333229" y="4230340"/>
              <a:ext cx="343958" cy="314325"/>
            </a:xfrm>
            <a:prstGeom prst="ellipse">
              <a:avLst/>
            </a:prstGeom>
            <a:solidFill>
              <a:schemeClr val="accent2"/>
            </a:solidFill>
            <a:ln w="1905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331252" name="Line 30"/>
            <p:cNvSpPr>
              <a:spLocks noChangeShapeType="1"/>
            </p:cNvSpPr>
            <p:nvPr/>
          </p:nvSpPr>
          <p:spPr bwMode="auto">
            <a:xfrm>
              <a:off x="4498329" y="1818477"/>
              <a:ext cx="0" cy="238804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31253" name="Text Box 37"/>
            <p:cNvSpPr txBox="1">
              <a:spLocks noChangeArrowheads="1"/>
            </p:cNvSpPr>
            <p:nvPr/>
          </p:nvSpPr>
          <p:spPr bwMode="auto">
            <a:xfrm>
              <a:off x="4498329" y="3825526"/>
              <a:ext cx="8169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imes New Roman" panose="02020603050405020304" pitchFamily="18" charset="0"/>
                  <a:ea typeface="宋体" panose="02010600030101010101" pitchFamily="2" charset="-122"/>
                </a:rPr>
                <a:t>162</a:t>
              </a:r>
            </a:p>
          </p:txBody>
        </p:sp>
      </p:grpSp>
      <p:sp>
        <p:nvSpPr>
          <p:cNvPr id="133125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26C34B-EAEA-4D43-BB4C-59625CAC1E4B}" type="slidenum">
              <a:rPr lang="zh-CN" altLang="en-US" smtClean="0"/>
              <a:pPr eaLnBrk="1" hangingPunct="1"/>
              <a:t>25</a:t>
            </a:fld>
            <a:endParaRPr lang="en-US" altLang="zh-CN" smtClean="0"/>
          </a:p>
        </p:txBody>
      </p:sp>
      <p:sp>
        <p:nvSpPr>
          <p:cNvPr id="133125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5.2  </a:t>
            </a:r>
            <a:r>
              <a:rPr lang="zh-CN" altLang="zh-CN" smtClean="0">
                <a:ea typeface="黑体" panose="02010609060101010101" pitchFamily="49" charset="-122"/>
              </a:rPr>
              <a:t>用户数据报协议</a:t>
            </a:r>
            <a:r>
              <a:rPr lang="en-US" altLang="zh-CN" smtClean="0">
                <a:ea typeface="黑体" panose="02010609060101010101" pitchFamily="49" charset="-122"/>
              </a:rPr>
              <a:t> UDP</a:t>
            </a:r>
            <a:endParaRPr lang="zh-CN" altLang="zh-CN" smtClean="0">
              <a:ea typeface="黑体" panose="02010609060101010101" pitchFamily="49" charset="-122"/>
            </a:endParaRPr>
          </a:p>
        </p:txBody>
      </p:sp>
      <p:sp>
        <p:nvSpPr>
          <p:cNvPr id="1332226"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5.2.1  UDP </a:t>
            </a:r>
            <a:r>
              <a:rPr lang="zh-CN" altLang="zh-CN" smtClean="0">
                <a:ea typeface="黑体" panose="02010609060101010101" pitchFamily="49" charset="-122"/>
              </a:rPr>
              <a:t>概述</a:t>
            </a:r>
          </a:p>
          <a:p>
            <a:r>
              <a:rPr lang="en-US" altLang="zh-CN" smtClean="0">
                <a:ea typeface="黑体" panose="02010609060101010101" pitchFamily="49" charset="-122"/>
              </a:rPr>
              <a:t>5.2.2  UDP </a:t>
            </a:r>
            <a:r>
              <a:rPr lang="zh-CN" altLang="zh-CN" smtClean="0">
                <a:ea typeface="黑体" panose="02010609060101010101" pitchFamily="49" charset="-122"/>
              </a:rPr>
              <a:t>的首部格式</a:t>
            </a:r>
          </a:p>
        </p:txBody>
      </p:sp>
      <p:sp>
        <p:nvSpPr>
          <p:cNvPr id="133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C07981-985A-4D7B-B6B2-6C761BD668A5}" type="slidenum">
              <a:rPr lang="zh-CN" altLang="en-US" smtClean="0"/>
              <a:pPr eaLnBrk="1" hangingPunct="1"/>
              <a:t>26</a:t>
            </a:fld>
            <a:endParaRPr lang="en-US" altLang="zh-CN" smtClean="0"/>
          </a:p>
        </p:txBody>
      </p:sp>
      <p:sp>
        <p:nvSpPr>
          <p:cNvPr id="133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2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5.2.1  UDP</a:t>
            </a:r>
            <a:r>
              <a:rPr lang="zh-CN" altLang="zh-CN" smtClean="0">
                <a:ea typeface="黑体" panose="02010609060101010101" pitchFamily="49" charset="-122"/>
              </a:rPr>
              <a:t>概述</a:t>
            </a:r>
          </a:p>
        </p:txBody>
      </p:sp>
      <p:sp>
        <p:nvSpPr>
          <p:cNvPr id="1334274" name="Rectangle 3"/>
          <p:cNvSpPr>
            <a:spLocks noGrp="1" noChangeArrowheads="1"/>
          </p:cNvSpPr>
          <p:nvPr>
            <p:ph idx="1"/>
          </p:nvPr>
        </p:nvSpPr>
        <p:spPr>
          <a:xfrm>
            <a:off x="495300" y="1196975"/>
            <a:ext cx="9066213" cy="4933950"/>
          </a:xfrm>
        </p:spPr>
        <p:txBody>
          <a:bodyPr/>
          <a:lstStyle/>
          <a:p>
            <a:pPr>
              <a:spcBef>
                <a:spcPts val="1200"/>
              </a:spcBef>
            </a:pPr>
            <a:r>
              <a:rPr lang="en-US" altLang="zh-CN" dirty="0" smtClean="0">
                <a:ea typeface="黑体" panose="02010609060101010101" pitchFamily="49" charset="-122"/>
              </a:rPr>
              <a:t>UDP </a:t>
            </a:r>
            <a:r>
              <a:rPr lang="zh-CN" altLang="en-US" dirty="0" smtClean="0">
                <a:ea typeface="黑体" panose="02010609060101010101" pitchFamily="49" charset="-122"/>
              </a:rPr>
              <a:t>只在 </a:t>
            </a:r>
            <a:r>
              <a:rPr lang="en-US" altLang="zh-CN" dirty="0" smtClean="0">
                <a:ea typeface="黑体" panose="02010609060101010101" pitchFamily="49" charset="-122"/>
              </a:rPr>
              <a:t>IP </a:t>
            </a:r>
            <a:r>
              <a:rPr lang="zh-CN" altLang="en-US" dirty="0" smtClean="0">
                <a:ea typeface="黑体" panose="02010609060101010101" pitchFamily="49" charset="-122"/>
              </a:rPr>
              <a:t>的数据报服务之上增加了很少一点的功能：</a:t>
            </a:r>
            <a:endParaRPr lang="en-US" altLang="zh-CN" dirty="0" smtClean="0">
              <a:ea typeface="黑体" panose="02010609060101010101" pitchFamily="49" charset="-122"/>
            </a:endParaRPr>
          </a:p>
          <a:p>
            <a:pPr lvl="1">
              <a:spcBef>
                <a:spcPts val="1200"/>
              </a:spcBef>
            </a:pPr>
            <a:r>
              <a:rPr lang="zh-CN" altLang="zh-CN" dirty="0" smtClean="0">
                <a:solidFill>
                  <a:srgbClr val="FF0000"/>
                </a:solidFill>
                <a:ea typeface="黑体" panose="02010609060101010101" pitchFamily="49" charset="-122"/>
              </a:rPr>
              <a:t>复用</a:t>
            </a:r>
            <a:r>
              <a:rPr lang="zh-CN" altLang="zh-CN" dirty="0" smtClean="0">
                <a:ea typeface="黑体" panose="02010609060101010101" pitchFamily="49" charset="-122"/>
              </a:rPr>
              <a:t>和</a:t>
            </a:r>
            <a:r>
              <a:rPr lang="zh-CN" altLang="zh-CN" dirty="0" smtClean="0">
                <a:solidFill>
                  <a:srgbClr val="FF0000"/>
                </a:solidFill>
                <a:ea typeface="黑体" panose="02010609060101010101" pitchFamily="49" charset="-122"/>
              </a:rPr>
              <a:t>分用</a:t>
            </a:r>
            <a:r>
              <a:rPr lang="zh-CN" altLang="zh-CN" dirty="0" smtClean="0">
                <a:ea typeface="黑体" panose="02010609060101010101" pitchFamily="49" charset="-122"/>
              </a:rPr>
              <a:t>的功能</a:t>
            </a:r>
            <a:endParaRPr lang="en-US" altLang="zh-CN" dirty="0" smtClean="0">
              <a:ea typeface="黑体" panose="02010609060101010101" pitchFamily="49" charset="-122"/>
            </a:endParaRPr>
          </a:p>
          <a:p>
            <a:pPr lvl="1">
              <a:spcBef>
                <a:spcPts val="1200"/>
              </a:spcBef>
            </a:pPr>
            <a:r>
              <a:rPr lang="zh-CN" altLang="zh-CN" dirty="0" smtClean="0">
                <a:solidFill>
                  <a:srgbClr val="FF0000"/>
                </a:solidFill>
                <a:ea typeface="黑体" panose="02010609060101010101" pitchFamily="49" charset="-122"/>
              </a:rPr>
              <a:t>差错检测</a:t>
            </a:r>
            <a:r>
              <a:rPr lang="zh-CN" altLang="zh-CN" dirty="0" smtClean="0">
                <a:ea typeface="黑体" panose="02010609060101010101" pitchFamily="49" charset="-122"/>
              </a:rPr>
              <a:t>的功能</a:t>
            </a:r>
            <a:endParaRPr lang="en-US" altLang="zh-CN" dirty="0" smtClean="0">
              <a:ea typeface="黑体" panose="02010609060101010101" pitchFamily="49" charset="-122"/>
            </a:endParaRPr>
          </a:p>
          <a:p>
            <a:pPr>
              <a:spcBef>
                <a:spcPts val="1200"/>
              </a:spcBef>
            </a:pPr>
            <a:r>
              <a:rPr lang="zh-CN" altLang="en-US" dirty="0" smtClean="0">
                <a:ea typeface="黑体" panose="02010609060101010101" pitchFamily="49" charset="-122"/>
              </a:rPr>
              <a:t>虽然 </a:t>
            </a:r>
            <a:r>
              <a:rPr lang="en-US" altLang="zh-CN" dirty="0" smtClean="0">
                <a:ea typeface="黑体" panose="02010609060101010101" pitchFamily="49" charset="-122"/>
              </a:rPr>
              <a:t>UDP </a:t>
            </a:r>
            <a:r>
              <a:rPr lang="zh-CN" altLang="en-US" dirty="0" smtClean="0">
                <a:ea typeface="黑体" panose="02010609060101010101" pitchFamily="49" charset="-122"/>
              </a:rPr>
              <a:t>用户数据报只能提供不可靠的交付，但 </a:t>
            </a:r>
            <a:r>
              <a:rPr lang="en-US" altLang="zh-CN" dirty="0" smtClean="0">
                <a:ea typeface="黑体" panose="02010609060101010101" pitchFamily="49" charset="-122"/>
              </a:rPr>
              <a:t>UDP </a:t>
            </a:r>
            <a:r>
              <a:rPr lang="zh-CN" altLang="en-US" dirty="0" smtClean="0">
                <a:ea typeface="黑体" panose="02010609060101010101" pitchFamily="49" charset="-122"/>
              </a:rPr>
              <a:t>在某些方面有其特殊的优点。</a:t>
            </a:r>
          </a:p>
        </p:txBody>
      </p:sp>
      <p:sp>
        <p:nvSpPr>
          <p:cNvPr id="1334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A71A2B-9ECF-489B-83C0-F958859566BA}" type="slidenum">
              <a:rPr lang="zh-CN" altLang="en-US" smtClean="0"/>
              <a:pPr eaLnBrk="1" hangingPunct="1"/>
              <a:t>27</a:t>
            </a:fld>
            <a:endParaRPr lang="en-US" altLang="zh-CN" smtClean="0"/>
          </a:p>
        </p:txBody>
      </p:sp>
      <p:sp>
        <p:nvSpPr>
          <p:cNvPr id="1334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632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UDP </a:t>
            </a:r>
            <a:r>
              <a:rPr lang="zh-CN" altLang="en-US" smtClean="0">
                <a:ea typeface="黑体" panose="02010609060101010101" pitchFamily="49" charset="-122"/>
              </a:rPr>
              <a:t>的主要特点 </a:t>
            </a:r>
          </a:p>
        </p:txBody>
      </p:sp>
      <p:sp>
        <p:nvSpPr>
          <p:cNvPr id="1336322" name="Rectangle 3"/>
          <p:cNvSpPr>
            <a:spLocks noGrp="1" noChangeArrowheads="1"/>
          </p:cNvSpPr>
          <p:nvPr>
            <p:ph idx="1"/>
          </p:nvPr>
        </p:nvSpPr>
        <p:spPr>
          <a:xfrm>
            <a:off x="495300" y="1196975"/>
            <a:ext cx="9066213" cy="4933950"/>
          </a:xfrm>
        </p:spPr>
        <p:txBody>
          <a:bodyPr/>
          <a:lstStyle/>
          <a:p>
            <a:r>
              <a:rPr lang="en-US" altLang="zh-CN" sz="2800" smtClean="0">
                <a:solidFill>
                  <a:srgbClr val="FF0000"/>
                </a:solidFill>
                <a:ea typeface="黑体" panose="02010609060101010101" pitchFamily="49" charset="-122"/>
              </a:rPr>
              <a:t>(1) UDP </a:t>
            </a:r>
            <a:r>
              <a:rPr lang="zh-CN" altLang="en-US" sz="2800" smtClean="0">
                <a:solidFill>
                  <a:srgbClr val="FF0000"/>
                </a:solidFill>
                <a:ea typeface="黑体" panose="02010609060101010101" pitchFamily="49" charset="-122"/>
              </a:rPr>
              <a:t>是无连接的</a:t>
            </a:r>
            <a:r>
              <a:rPr lang="zh-CN" altLang="en-US" sz="2800" smtClean="0">
                <a:ea typeface="黑体" panose="02010609060101010101" pitchFamily="49" charset="-122"/>
              </a:rPr>
              <a:t>，发送数据之前不需要建立连接，</a:t>
            </a:r>
            <a:r>
              <a:rPr lang="zh-CN" altLang="zh-CN" sz="2800" smtClean="0">
                <a:ea typeface="黑体" panose="02010609060101010101" pitchFamily="49" charset="-122"/>
              </a:rPr>
              <a:t>，因此减少了开销和发送数据之前的时延。</a:t>
            </a:r>
            <a:endParaRPr lang="zh-CN" altLang="en-US" sz="2800" smtClean="0">
              <a:ea typeface="黑体" panose="02010609060101010101" pitchFamily="49" charset="-122"/>
            </a:endParaRPr>
          </a:p>
          <a:p>
            <a:r>
              <a:rPr lang="en-US" altLang="zh-CN" sz="2800" smtClean="0">
                <a:solidFill>
                  <a:srgbClr val="FF0000"/>
                </a:solidFill>
                <a:ea typeface="黑体" panose="02010609060101010101" pitchFamily="49" charset="-122"/>
              </a:rPr>
              <a:t>(2) UDP </a:t>
            </a:r>
            <a:r>
              <a:rPr lang="zh-CN" altLang="en-US" sz="2800" smtClean="0">
                <a:solidFill>
                  <a:srgbClr val="FF0000"/>
                </a:solidFill>
                <a:ea typeface="黑体" panose="02010609060101010101" pitchFamily="49" charset="-122"/>
              </a:rPr>
              <a:t>使用尽最大努力交付，</a:t>
            </a:r>
            <a:r>
              <a:rPr lang="zh-CN" altLang="en-US" sz="2800" smtClean="0">
                <a:ea typeface="黑体" panose="02010609060101010101" pitchFamily="49" charset="-122"/>
              </a:rPr>
              <a:t>即不保证可靠交付，</a:t>
            </a:r>
            <a:r>
              <a:rPr lang="zh-CN" altLang="zh-CN" sz="2800" smtClean="0">
                <a:ea typeface="黑体" panose="02010609060101010101" pitchFamily="49" charset="-122"/>
              </a:rPr>
              <a:t>因此主机不需要维持复杂的连接状态表。</a:t>
            </a:r>
            <a:endParaRPr lang="zh-CN" altLang="en-US" sz="2800" smtClean="0">
              <a:ea typeface="黑体" panose="02010609060101010101" pitchFamily="49" charset="-122"/>
            </a:endParaRPr>
          </a:p>
          <a:p>
            <a:r>
              <a:rPr lang="en-US" altLang="zh-CN" sz="2800" smtClean="0">
                <a:solidFill>
                  <a:srgbClr val="FF0000"/>
                </a:solidFill>
                <a:ea typeface="黑体" panose="02010609060101010101" pitchFamily="49" charset="-122"/>
              </a:rPr>
              <a:t>(3) UDP </a:t>
            </a:r>
            <a:r>
              <a:rPr lang="zh-CN" altLang="en-US" sz="2800" smtClean="0">
                <a:solidFill>
                  <a:srgbClr val="FF0000"/>
                </a:solidFill>
                <a:ea typeface="黑体" panose="02010609060101010101" pitchFamily="49" charset="-122"/>
              </a:rPr>
              <a:t>是面向报文的。</a:t>
            </a:r>
            <a:r>
              <a:rPr lang="en-US" altLang="zh-CN" sz="2800" smtClean="0">
                <a:ea typeface="黑体" panose="02010609060101010101" pitchFamily="49" charset="-122"/>
              </a:rPr>
              <a:t>UDP </a:t>
            </a:r>
            <a:r>
              <a:rPr lang="zh-CN" altLang="zh-CN" sz="2800" smtClean="0">
                <a:ea typeface="黑体" panose="02010609060101010101" pitchFamily="49" charset="-122"/>
              </a:rPr>
              <a:t>对应用层交下来的报文，既不合并，也不拆分，而是保留这些报文的边界。</a:t>
            </a:r>
            <a:r>
              <a:rPr lang="en-US" altLang="zh-CN" sz="2800" smtClean="0">
                <a:ea typeface="黑体" panose="02010609060101010101" pitchFamily="49" charset="-122"/>
              </a:rPr>
              <a:t>UDP </a:t>
            </a:r>
            <a:r>
              <a:rPr lang="zh-CN" altLang="zh-CN" sz="2800" smtClean="0">
                <a:ea typeface="黑体" panose="02010609060101010101" pitchFamily="49" charset="-122"/>
              </a:rPr>
              <a:t>一次交付一个完整的报文。</a:t>
            </a:r>
            <a:endParaRPr lang="en-US" altLang="zh-CN" sz="2800" smtClean="0">
              <a:ea typeface="黑体" panose="02010609060101010101" pitchFamily="49" charset="-122"/>
            </a:endParaRPr>
          </a:p>
          <a:p>
            <a:r>
              <a:rPr lang="en-US" altLang="zh-CN" sz="2800" smtClean="0">
                <a:solidFill>
                  <a:srgbClr val="FF0000"/>
                </a:solidFill>
                <a:ea typeface="黑体" panose="02010609060101010101" pitchFamily="49" charset="-122"/>
              </a:rPr>
              <a:t>(4) UDP </a:t>
            </a:r>
            <a:r>
              <a:rPr lang="zh-CN" altLang="zh-CN" sz="2800" smtClean="0">
                <a:solidFill>
                  <a:srgbClr val="FF0000"/>
                </a:solidFill>
                <a:ea typeface="黑体" panose="02010609060101010101" pitchFamily="49" charset="-122"/>
              </a:rPr>
              <a:t>没有拥塞控制，</a:t>
            </a:r>
            <a:r>
              <a:rPr lang="zh-CN" altLang="zh-CN" sz="2800" smtClean="0">
                <a:ea typeface="黑体" panose="02010609060101010101" pitchFamily="49" charset="-122"/>
              </a:rPr>
              <a:t>因此网络出现的拥塞不会使源主机的发送速率降低。这对某些实时应用是很重要的。</a:t>
            </a:r>
            <a:r>
              <a:rPr lang="zh-CN" altLang="en-US" sz="2800" smtClean="0">
                <a:ea typeface="黑体" panose="02010609060101010101" pitchFamily="49" charset="-122"/>
              </a:rPr>
              <a:t>很适合多媒体通信的要求。 </a:t>
            </a:r>
          </a:p>
        </p:txBody>
      </p:sp>
      <p:sp>
        <p:nvSpPr>
          <p:cNvPr id="1336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9AFA45-D3B6-4A0D-B2E9-34F1EEF7404F}" type="slidenum">
              <a:rPr lang="zh-CN" altLang="en-US" smtClean="0"/>
              <a:pPr eaLnBrk="1" hangingPunct="1"/>
              <a:t>28</a:t>
            </a:fld>
            <a:endParaRPr lang="en-US" altLang="zh-CN" smtClean="0"/>
          </a:p>
        </p:txBody>
      </p:sp>
      <p:sp>
        <p:nvSpPr>
          <p:cNvPr id="1336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36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UDP </a:t>
            </a:r>
            <a:r>
              <a:rPr lang="zh-CN" altLang="en-US" smtClean="0">
                <a:ea typeface="黑体" panose="02010609060101010101" pitchFamily="49" charset="-122"/>
              </a:rPr>
              <a:t>的主要特点 </a:t>
            </a:r>
          </a:p>
        </p:txBody>
      </p:sp>
      <p:sp>
        <p:nvSpPr>
          <p:cNvPr id="1338370"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(5) UDP </a:t>
            </a:r>
            <a:r>
              <a:rPr lang="zh-CN" altLang="zh-CN" dirty="0" smtClean="0">
                <a:solidFill>
                  <a:srgbClr val="FF0000"/>
                </a:solidFill>
                <a:ea typeface="黑体" panose="02010609060101010101" pitchFamily="49" charset="-122"/>
              </a:rPr>
              <a:t>支持一对一、一对多、多对一和多对多的交互通信。</a:t>
            </a:r>
          </a:p>
          <a:p>
            <a:r>
              <a:rPr lang="en-US" altLang="zh-CN" dirty="0" smtClean="0">
                <a:solidFill>
                  <a:srgbClr val="FF0000"/>
                </a:solidFill>
                <a:ea typeface="黑体" panose="02010609060101010101" pitchFamily="49" charset="-122"/>
              </a:rPr>
              <a:t>(6) UDP </a:t>
            </a:r>
            <a:r>
              <a:rPr lang="zh-CN" altLang="zh-CN" dirty="0" smtClean="0">
                <a:solidFill>
                  <a:srgbClr val="FF0000"/>
                </a:solidFill>
                <a:ea typeface="黑体" panose="02010609060101010101" pitchFamily="49" charset="-122"/>
              </a:rPr>
              <a:t>的首部开销小，</a:t>
            </a:r>
            <a:r>
              <a:rPr lang="zh-CN" altLang="zh-CN" dirty="0" smtClean="0">
                <a:ea typeface="黑体" panose="02010609060101010101" pitchFamily="49" charset="-122"/>
              </a:rPr>
              <a:t>只有</a:t>
            </a:r>
            <a:r>
              <a:rPr lang="en-US" altLang="zh-CN" dirty="0" smtClean="0">
                <a:ea typeface="黑体" panose="02010609060101010101" pitchFamily="49" charset="-122"/>
              </a:rPr>
              <a:t> </a:t>
            </a:r>
            <a:r>
              <a:rPr lang="en-US" altLang="zh-CN" dirty="0" smtClean="0">
                <a:solidFill>
                  <a:srgbClr val="0000FF"/>
                </a:solidFill>
                <a:ea typeface="黑体" panose="02010609060101010101" pitchFamily="49" charset="-122"/>
              </a:rPr>
              <a:t>8 </a:t>
            </a:r>
            <a:r>
              <a:rPr lang="zh-CN" altLang="zh-CN" dirty="0" smtClean="0">
                <a:ea typeface="黑体" panose="02010609060101010101" pitchFamily="49" charset="-122"/>
              </a:rPr>
              <a:t>个字节，比</a:t>
            </a:r>
            <a:r>
              <a:rPr lang="en-US" altLang="zh-CN" dirty="0" smtClean="0">
                <a:ea typeface="黑体" panose="02010609060101010101" pitchFamily="49" charset="-122"/>
              </a:rPr>
              <a:t> TCP </a:t>
            </a:r>
            <a:r>
              <a:rPr lang="zh-CN" altLang="zh-CN" dirty="0" smtClean="0">
                <a:ea typeface="黑体" panose="02010609060101010101" pitchFamily="49" charset="-122"/>
              </a:rPr>
              <a:t>的</a:t>
            </a:r>
            <a:r>
              <a:rPr lang="en-US" altLang="zh-CN" dirty="0" smtClean="0">
                <a:ea typeface="黑体" panose="02010609060101010101" pitchFamily="49" charset="-122"/>
              </a:rPr>
              <a:t> 20 </a:t>
            </a:r>
            <a:r>
              <a:rPr lang="zh-CN" altLang="zh-CN" dirty="0" smtClean="0">
                <a:ea typeface="黑体" panose="02010609060101010101" pitchFamily="49" charset="-122"/>
              </a:rPr>
              <a:t>个字节的首部要短。</a:t>
            </a:r>
          </a:p>
        </p:txBody>
      </p:sp>
      <p:sp>
        <p:nvSpPr>
          <p:cNvPr id="1338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0F06AC-F3DC-49B5-B8D1-4EEE300A9D35}" type="slidenum">
              <a:rPr lang="zh-CN" altLang="en-US" smtClean="0"/>
              <a:pPr eaLnBrk="1" hangingPunct="1"/>
              <a:t>29</a:t>
            </a:fld>
            <a:endParaRPr lang="en-US" altLang="zh-CN" smtClean="0"/>
          </a:p>
        </p:txBody>
      </p:sp>
      <p:sp>
        <p:nvSpPr>
          <p:cNvPr id="1338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en-US" dirty="0" smtClean="0"/>
              <a:t>与端口号的关系</a:t>
            </a:r>
            <a:r>
              <a:rPr lang="zh-CN" altLang="en-US" dirty="0" smtClean="0"/>
              <a:t>例</a:t>
            </a:r>
            <a:r>
              <a:rPr lang="en-US" altLang="zh-CN" dirty="0" smtClean="0"/>
              <a:t>-</a:t>
            </a:r>
            <a:r>
              <a:rPr lang="zh-CN" altLang="en-US" dirty="0" smtClean="0"/>
              <a:t>多对一</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30</a:t>
            </a:fld>
            <a:endParaRPr lang="en-US" altLang="zh-CN"/>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298" y="1844868"/>
            <a:ext cx="8868945" cy="2808234"/>
          </a:xfrm>
          <a:prstGeom prst="rect">
            <a:avLst/>
          </a:prstGeom>
        </p:spPr>
      </p:pic>
    </p:spTree>
    <p:extLst>
      <p:ext uri="{BB962C8B-B14F-4D97-AF65-F5344CB8AC3E}">
        <p14:creationId xmlns:p14="http://schemas.microsoft.com/office/powerpoint/2010/main" val="42072851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8609" name="Rectangle 2"/>
          <p:cNvSpPr>
            <a:spLocks noGrp="1" noChangeArrowheads="1"/>
          </p:cNvSpPr>
          <p:nvPr>
            <p:ph type="title"/>
          </p:nvPr>
        </p:nvSpPr>
        <p:spPr/>
        <p:txBody>
          <a:bodyPr/>
          <a:lstStyle/>
          <a:p>
            <a:pPr algn="ctr"/>
            <a:r>
              <a:rPr lang="en-US" altLang="zh-CN" smtClean="0">
                <a:ea typeface="黑体" panose="02010609060101010101" pitchFamily="49" charset="-122"/>
              </a:rPr>
              <a:t>UDP </a:t>
            </a:r>
            <a:r>
              <a:rPr lang="zh-CN" altLang="en-US" smtClean="0">
                <a:ea typeface="黑体" panose="02010609060101010101" pitchFamily="49" charset="-122"/>
              </a:rPr>
              <a:t>基于端口的分用 </a:t>
            </a:r>
          </a:p>
        </p:txBody>
      </p:sp>
      <p:grpSp>
        <p:nvGrpSpPr>
          <p:cNvPr id="1348610" name="Group 14"/>
          <p:cNvGrpSpPr>
            <a:grpSpLocks/>
          </p:cNvGrpSpPr>
          <p:nvPr/>
        </p:nvGrpSpPr>
        <p:grpSpPr bwMode="auto">
          <a:xfrm>
            <a:off x="704850" y="2722563"/>
            <a:ext cx="7019925" cy="3038475"/>
            <a:chOff x="1655" y="663"/>
            <a:chExt cx="1951" cy="1316"/>
          </a:xfrm>
        </p:grpSpPr>
        <p:sp>
          <p:nvSpPr>
            <p:cNvPr id="1348611" name="Rectangle 4"/>
            <p:cNvSpPr>
              <a:spLocks noChangeArrowheads="1"/>
            </p:cNvSpPr>
            <p:nvPr/>
          </p:nvSpPr>
          <p:spPr bwMode="auto">
            <a:xfrm>
              <a:off x="2290" y="1752"/>
              <a:ext cx="681" cy="227"/>
            </a:xfrm>
            <a:prstGeom prst="rect">
              <a:avLst/>
            </a:pr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层</a:t>
              </a:r>
            </a:p>
          </p:txBody>
        </p:sp>
        <p:sp>
          <p:nvSpPr>
            <p:cNvPr id="1348612" name="Text Box 5"/>
            <p:cNvSpPr txBox="1">
              <a:spLocks noChangeArrowheads="1"/>
            </p:cNvSpPr>
            <p:nvPr/>
          </p:nvSpPr>
          <p:spPr bwMode="auto">
            <a:xfrm>
              <a:off x="1941" y="1505"/>
              <a:ext cx="68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UDP </a:t>
              </a:r>
              <a:r>
                <a:rPr lang="zh-CN" altLang="en-US" sz="2400" b="1">
                  <a:solidFill>
                    <a:srgbClr val="000099"/>
                  </a:solidFill>
                  <a:ea typeface="黑体" panose="02010609060101010101" pitchFamily="49" charset="-122"/>
                </a:rPr>
                <a:t>数据报到达</a:t>
              </a:r>
            </a:p>
          </p:txBody>
        </p:sp>
        <p:sp>
          <p:nvSpPr>
            <p:cNvPr id="1348613" name="Rectangle 6"/>
            <p:cNvSpPr>
              <a:spLocks noChangeArrowheads="1"/>
            </p:cNvSpPr>
            <p:nvPr/>
          </p:nvSpPr>
          <p:spPr bwMode="auto">
            <a:xfrm>
              <a:off x="2381" y="663"/>
              <a:ext cx="499" cy="22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端口 </a:t>
              </a:r>
              <a:r>
                <a:rPr lang="en-US" altLang="zh-CN" sz="2400" b="1">
                  <a:solidFill>
                    <a:srgbClr val="000099"/>
                  </a:solidFill>
                  <a:ea typeface="黑体" panose="02010609060101010101" pitchFamily="49" charset="-122"/>
                </a:rPr>
                <a:t>2</a:t>
              </a:r>
            </a:p>
          </p:txBody>
        </p:sp>
        <p:sp>
          <p:nvSpPr>
            <p:cNvPr id="1348614" name="Line 7"/>
            <p:cNvSpPr>
              <a:spLocks noChangeShapeType="1"/>
            </p:cNvSpPr>
            <p:nvPr/>
          </p:nvSpPr>
          <p:spPr bwMode="auto">
            <a:xfrm flipV="1">
              <a:off x="2630" y="1434"/>
              <a:ext cx="0" cy="31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5" name="Line 8"/>
            <p:cNvSpPr>
              <a:spLocks noChangeShapeType="1"/>
            </p:cNvSpPr>
            <p:nvPr/>
          </p:nvSpPr>
          <p:spPr bwMode="auto">
            <a:xfrm flipV="1">
              <a:off x="2630" y="890"/>
              <a:ext cx="0" cy="31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6" name="Line 9"/>
            <p:cNvSpPr>
              <a:spLocks noChangeShapeType="1"/>
            </p:cNvSpPr>
            <p:nvPr/>
          </p:nvSpPr>
          <p:spPr bwMode="auto">
            <a:xfrm flipV="1">
              <a:off x="2766" y="890"/>
              <a:ext cx="477" cy="31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7" name="Line 10"/>
            <p:cNvSpPr>
              <a:spLocks noChangeShapeType="1"/>
            </p:cNvSpPr>
            <p:nvPr/>
          </p:nvSpPr>
          <p:spPr bwMode="auto">
            <a:xfrm flipH="1" flipV="1">
              <a:off x="2018" y="890"/>
              <a:ext cx="477" cy="31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400" b="1">
                <a:solidFill>
                  <a:srgbClr val="000099"/>
                </a:solidFill>
                <a:ea typeface="黑体" panose="02010609060101010101" pitchFamily="49" charset="-122"/>
              </a:endParaRPr>
            </a:p>
          </p:txBody>
        </p:sp>
        <p:sp>
          <p:nvSpPr>
            <p:cNvPr id="1348618" name="Rectangle 11"/>
            <p:cNvSpPr>
              <a:spLocks noChangeArrowheads="1"/>
            </p:cNvSpPr>
            <p:nvPr/>
          </p:nvSpPr>
          <p:spPr bwMode="auto">
            <a:xfrm>
              <a:off x="3107" y="663"/>
              <a:ext cx="499" cy="227"/>
            </a:xfrm>
            <a:prstGeom prst="rect">
              <a:avLst/>
            </a:prstGeom>
            <a:solidFill>
              <a:srgbClr val="00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端口 </a:t>
              </a:r>
              <a:r>
                <a:rPr lang="en-US" altLang="zh-CN" sz="2400" b="1">
                  <a:solidFill>
                    <a:srgbClr val="000099"/>
                  </a:solidFill>
                  <a:ea typeface="黑体" panose="02010609060101010101" pitchFamily="49" charset="-122"/>
                </a:rPr>
                <a:t>3</a:t>
              </a:r>
            </a:p>
          </p:txBody>
        </p:sp>
        <p:sp>
          <p:nvSpPr>
            <p:cNvPr id="1348619" name="Rectangle 12"/>
            <p:cNvSpPr>
              <a:spLocks noChangeArrowheads="1"/>
            </p:cNvSpPr>
            <p:nvPr/>
          </p:nvSpPr>
          <p:spPr bwMode="auto">
            <a:xfrm>
              <a:off x="1655" y="663"/>
              <a:ext cx="499" cy="227"/>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端口 </a:t>
              </a:r>
              <a:r>
                <a:rPr lang="en-US" altLang="zh-CN" sz="2400" b="1">
                  <a:solidFill>
                    <a:srgbClr val="000099"/>
                  </a:solidFill>
                  <a:ea typeface="黑体" panose="02010609060101010101" pitchFamily="49" charset="-122"/>
                </a:rPr>
                <a:t>1</a:t>
              </a:r>
            </a:p>
          </p:txBody>
        </p:sp>
        <p:sp>
          <p:nvSpPr>
            <p:cNvPr id="1348620" name="Rectangle 13"/>
            <p:cNvSpPr>
              <a:spLocks noChangeArrowheads="1"/>
            </p:cNvSpPr>
            <p:nvPr/>
          </p:nvSpPr>
          <p:spPr bwMode="auto">
            <a:xfrm>
              <a:off x="2290" y="1207"/>
              <a:ext cx="681" cy="227"/>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UDP </a:t>
              </a:r>
              <a:r>
                <a:rPr lang="zh-CN" altLang="en-US" sz="2400" b="1">
                  <a:solidFill>
                    <a:srgbClr val="000099"/>
                  </a:solidFill>
                  <a:ea typeface="黑体" panose="02010609060101010101" pitchFamily="49" charset="-122"/>
                </a:rPr>
                <a:t>分用</a:t>
              </a:r>
            </a:p>
          </p:txBody>
        </p:sp>
      </p:grpSp>
      <p:sp>
        <p:nvSpPr>
          <p:cNvPr id="1348621" name="矩形 2"/>
          <p:cNvSpPr>
            <a:spLocks noChangeArrowheads="1"/>
          </p:cNvSpPr>
          <p:nvPr/>
        </p:nvSpPr>
        <p:spPr bwMode="auto">
          <a:xfrm>
            <a:off x="1136650" y="1282700"/>
            <a:ext cx="7848600" cy="1200150"/>
          </a:xfrm>
          <a:prstGeom prst="rect">
            <a:avLst/>
          </a:prstGeom>
          <a:solidFill>
            <a:srgbClr val="66FFFF"/>
          </a:solidFill>
          <a:ln w="9525">
            <a:solidFill>
              <a:srgbClr val="000066"/>
            </a:solidFill>
            <a:round/>
            <a:headEnd/>
            <a:tailEnd/>
          </a:ln>
        </p:spPr>
        <p:txBody>
          <a:bodyPr>
            <a:spAutoFit/>
          </a:bodyPr>
          <a:lstStyle/>
          <a:p>
            <a:pPr eaLnBrk="0" hangingPunct="0"/>
            <a:r>
              <a:rPr lang="zh-CN" altLang="zh-CN" sz="2400" b="1">
                <a:solidFill>
                  <a:srgbClr val="000066"/>
                </a:solidFill>
                <a:ea typeface="黑体" panose="02010609060101010101" pitchFamily="49" charset="-122"/>
              </a:rPr>
              <a:t>当运输层从</a:t>
            </a:r>
            <a:r>
              <a:rPr lang="en-US" altLang="zh-CN" sz="2400" b="1">
                <a:solidFill>
                  <a:srgbClr val="000066"/>
                </a:solidFill>
                <a:ea typeface="黑体" panose="02010609060101010101" pitchFamily="49" charset="-122"/>
              </a:rPr>
              <a:t> IP </a:t>
            </a:r>
            <a:r>
              <a:rPr lang="zh-CN" altLang="zh-CN" sz="2400" b="1">
                <a:solidFill>
                  <a:srgbClr val="000066"/>
                </a:solidFill>
                <a:ea typeface="黑体" panose="02010609060101010101" pitchFamily="49" charset="-122"/>
              </a:rPr>
              <a:t>层收到</a:t>
            </a:r>
            <a:r>
              <a:rPr lang="en-US" altLang="zh-CN" sz="2400" b="1">
                <a:solidFill>
                  <a:srgbClr val="000066"/>
                </a:solidFill>
                <a:ea typeface="黑体" panose="02010609060101010101" pitchFamily="49" charset="-122"/>
              </a:rPr>
              <a:t> UDP </a:t>
            </a:r>
            <a:r>
              <a:rPr lang="zh-CN" altLang="zh-CN" sz="2400" b="1">
                <a:solidFill>
                  <a:srgbClr val="000066"/>
                </a:solidFill>
                <a:ea typeface="黑体" panose="02010609060101010101" pitchFamily="49" charset="-122"/>
              </a:rPr>
              <a:t>数据报时，就根据首部中的目的端口，把</a:t>
            </a:r>
            <a:r>
              <a:rPr lang="en-US" altLang="zh-CN" sz="2400" b="1">
                <a:solidFill>
                  <a:srgbClr val="000066"/>
                </a:solidFill>
                <a:ea typeface="黑体" panose="02010609060101010101" pitchFamily="49" charset="-122"/>
              </a:rPr>
              <a:t> UDP </a:t>
            </a:r>
            <a:r>
              <a:rPr lang="zh-CN" altLang="zh-CN" sz="2400" b="1">
                <a:solidFill>
                  <a:srgbClr val="000066"/>
                </a:solidFill>
                <a:ea typeface="黑体" panose="02010609060101010101" pitchFamily="49" charset="-122"/>
              </a:rPr>
              <a:t>数据报通过相应的端口，上交最后的终点——应用进程。</a:t>
            </a:r>
            <a:endParaRPr lang="zh-CN" altLang="en-US" sz="2400" b="1">
              <a:solidFill>
                <a:srgbClr val="000066"/>
              </a:solidFill>
              <a:ea typeface="黑体" panose="02010609060101010101" pitchFamily="49" charset="-122"/>
            </a:endParaRPr>
          </a:p>
        </p:txBody>
      </p:sp>
      <p:sp>
        <p:nvSpPr>
          <p:cNvPr id="1348622" name="矩形 4"/>
          <p:cNvSpPr>
            <a:spLocks noChangeArrowheads="1"/>
          </p:cNvSpPr>
          <p:nvPr/>
        </p:nvSpPr>
        <p:spPr bwMode="auto">
          <a:xfrm>
            <a:off x="6176963" y="3641725"/>
            <a:ext cx="3327400" cy="1938338"/>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400" b="1">
                <a:solidFill>
                  <a:schemeClr val="bg1"/>
                </a:solidFill>
                <a:ea typeface="黑体" panose="02010609060101010101" pitchFamily="49" charset="-122"/>
              </a:rPr>
              <a:t>请注意，虽然在</a:t>
            </a:r>
            <a:r>
              <a:rPr lang="en-US" altLang="zh-CN" sz="2400" b="1">
                <a:solidFill>
                  <a:schemeClr val="bg1"/>
                </a:solidFill>
                <a:ea typeface="黑体" panose="02010609060101010101" pitchFamily="49" charset="-122"/>
              </a:rPr>
              <a:t> UDP </a:t>
            </a:r>
            <a:r>
              <a:rPr lang="zh-CN" altLang="zh-CN" sz="2400" b="1">
                <a:solidFill>
                  <a:schemeClr val="bg1"/>
                </a:solidFill>
                <a:ea typeface="黑体" panose="02010609060101010101" pitchFamily="49" charset="-122"/>
              </a:rPr>
              <a:t>之间的通信要用到其端口号，但由于</a:t>
            </a:r>
            <a:r>
              <a:rPr lang="en-US" altLang="zh-CN" sz="2400" b="1">
                <a:solidFill>
                  <a:schemeClr val="bg1"/>
                </a:solidFill>
                <a:ea typeface="黑体" panose="02010609060101010101" pitchFamily="49" charset="-122"/>
              </a:rPr>
              <a:t> UDP </a:t>
            </a:r>
            <a:r>
              <a:rPr lang="zh-CN" altLang="zh-CN" sz="2400" b="1">
                <a:solidFill>
                  <a:schemeClr val="bg1"/>
                </a:solidFill>
                <a:ea typeface="黑体" panose="02010609060101010101" pitchFamily="49" charset="-122"/>
              </a:rPr>
              <a:t>的通信是无连接的，因此</a:t>
            </a:r>
            <a:r>
              <a:rPr lang="zh-CN" altLang="zh-CN" sz="2400" b="1">
                <a:solidFill>
                  <a:srgbClr val="FFC000"/>
                </a:solidFill>
                <a:ea typeface="黑体" panose="02010609060101010101" pitchFamily="49" charset="-122"/>
              </a:rPr>
              <a:t>不需要使用套接字</a:t>
            </a:r>
            <a:r>
              <a:rPr lang="zh-CN" altLang="en-US" sz="2400" b="1">
                <a:solidFill>
                  <a:srgbClr val="FFC000"/>
                </a:solidFill>
                <a:ea typeface="黑体" panose="02010609060101010101" pitchFamily="49" charset="-122"/>
              </a:rPr>
              <a:t>。</a:t>
            </a:r>
          </a:p>
        </p:txBody>
      </p:sp>
      <p:sp>
        <p:nvSpPr>
          <p:cNvPr id="13486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91075D-1D90-4F08-B065-578BC15DEAC9}" type="slidenum">
              <a:rPr lang="zh-CN" altLang="en-US" smtClean="0"/>
              <a:pPr eaLnBrk="1" hangingPunct="1"/>
              <a:t>31</a:t>
            </a:fld>
            <a:endParaRPr lang="en-US" altLang="zh-CN" smtClean="0"/>
          </a:p>
        </p:txBody>
      </p:sp>
      <p:sp>
        <p:nvSpPr>
          <p:cNvPr id="13486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0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面向报文的 </a:t>
            </a:r>
            <a:r>
              <a:rPr lang="en-US" altLang="zh-CN" smtClean="0">
                <a:ea typeface="黑体" panose="02010609060101010101" pitchFamily="49" charset="-122"/>
              </a:rPr>
              <a:t>UDP</a:t>
            </a:r>
          </a:p>
        </p:txBody>
      </p:sp>
      <p:sp>
        <p:nvSpPr>
          <p:cNvPr id="13404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发送方 </a:t>
            </a:r>
            <a:r>
              <a:rPr lang="en-US" altLang="zh-CN" dirty="0" smtClean="0">
                <a:ea typeface="黑体" panose="02010609060101010101" pitchFamily="49" charset="-122"/>
              </a:rPr>
              <a:t>UDP </a:t>
            </a:r>
            <a:r>
              <a:rPr lang="zh-CN" altLang="en-US" dirty="0" smtClean="0">
                <a:ea typeface="黑体" panose="02010609060101010101" pitchFamily="49" charset="-122"/>
              </a:rPr>
              <a:t>对应用程序交下来的报文，在添加首部后就向下交付 </a:t>
            </a:r>
            <a:r>
              <a:rPr lang="en-US" altLang="zh-CN" dirty="0" smtClean="0">
                <a:ea typeface="黑体" panose="02010609060101010101" pitchFamily="49" charset="-122"/>
              </a:rPr>
              <a:t>IP </a:t>
            </a:r>
            <a:r>
              <a:rPr lang="zh-CN" altLang="en-US" dirty="0" smtClean="0">
                <a:ea typeface="黑体" panose="02010609060101010101" pitchFamily="49" charset="-122"/>
              </a:rPr>
              <a:t>层。</a:t>
            </a:r>
            <a:r>
              <a:rPr lang="en-US" altLang="zh-CN" dirty="0" smtClean="0">
                <a:ea typeface="黑体" panose="02010609060101010101" pitchFamily="49" charset="-122"/>
              </a:rPr>
              <a:t>UDP </a:t>
            </a:r>
            <a:r>
              <a:rPr lang="zh-CN" altLang="en-US" dirty="0" smtClean="0">
                <a:ea typeface="黑体" panose="02010609060101010101" pitchFamily="49" charset="-122"/>
              </a:rPr>
              <a:t>对应用层交下来的报文，</a:t>
            </a:r>
            <a:r>
              <a:rPr lang="zh-CN" altLang="en-US" dirty="0" smtClean="0">
                <a:solidFill>
                  <a:srgbClr val="FF0000"/>
                </a:solidFill>
                <a:ea typeface="黑体" panose="02010609060101010101" pitchFamily="49" charset="-122"/>
              </a:rPr>
              <a:t>既不合并，也不拆分，</a:t>
            </a:r>
            <a:r>
              <a:rPr lang="zh-CN" altLang="en-US" dirty="0" smtClean="0">
                <a:ea typeface="黑体" panose="02010609060101010101" pitchFamily="49" charset="-122"/>
              </a:rPr>
              <a:t>而是保留这些报文的边界。</a:t>
            </a:r>
          </a:p>
          <a:p>
            <a:r>
              <a:rPr lang="zh-CN" altLang="en-US" dirty="0" smtClean="0">
                <a:ea typeface="黑体" panose="02010609060101010101" pitchFamily="49" charset="-122"/>
              </a:rPr>
              <a:t>应用层交给 </a:t>
            </a:r>
            <a:r>
              <a:rPr lang="en-US" altLang="zh-CN" dirty="0" smtClean="0">
                <a:ea typeface="黑体" panose="02010609060101010101" pitchFamily="49" charset="-122"/>
              </a:rPr>
              <a:t>UDP </a:t>
            </a:r>
            <a:r>
              <a:rPr lang="zh-CN" altLang="en-US" dirty="0" smtClean="0">
                <a:ea typeface="黑体" panose="02010609060101010101" pitchFamily="49" charset="-122"/>
              </a:rPr>
              <a:t>多长的报文，</a:t>
            </a:r>
            <a:r>
              <a:rPr lang="en-US" altLang="zh-CN" dirty="0" smtClean="0">
                <a:ea typeface="黑体" panose="02010609060101010101" pitchFamily="49" charset="-122"/>
              </a:rPr>
              <a:t>UDP </a:t>
            </a:r>
            <a:r>
              <a:rPr lang="zh-CN" altLang="en-US" dirty="0" smtClean="0">
                <a:ea typeface="黑体" panose="02010609060101010101" pitchFamily="49" charset="-122"/>
              </a:rPr>
              <a:t>就照样发送，即</a:t>
            </a:r>
            <a:r>
              <a:rPr lang="zh-CN" altLang="en-US" dirty="0" smtClean="0">
                <a:solidFill>
                  <a:srgbClr val="FF0000"/>
                </a:solidFill>
                <a:ea typeface="黑体" panose="02010609060101010101" pitchFamily="49" charset="-122"/>
              </a:rPr>
              <a:t>一次发送一个报文。</a:t>
            </a:r>
          </a:p>
        </p:txBody>
      </p:sp>
      <p:sp>
        <p:nvSpPr>
          <p:cNvPr id="1340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C1D5AC-DA0F-4EE4-8197-D4F36479E322}" type="slidenum">
              <a:rPr lang="zh-CN" altLang="en-US" smtClean="0"/>
              <a:pPr eaLnBrk="1" hangingPunct="1"/>
              <a:t>32</a:t>
            </a:fld>
            <a:endParaRPr lang="en-US" altLang="zh-CN" smtClean="0"/>
          </a:p>
        </p:txBody>
      </p:sp>
      <p:sp>
        <p:nvSpPr>
          <p:cNvPr id="1340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465"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面向报文的 </a:t>
            </a:r>
            <a:r>
              <a:rPr lang="en-US" altLang="zh-CN" dirty="0" smtClean="0">
                <a:ea typeface="黑体" panose="02010609060101010101" pitchFamily="49" charset="-122"/>
              </a:rPr>
              <a:t>UDP</a:t>
            </a:r>
          </a:p>
        </p:txBody>
      </p:sp>
      <p:sp>
        <p:nvSpPr>
          <p:cNvPr id="134246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接收方 </a:t>
            </a:r>
            <a:r>
              <a:rPr lang="en-US" altLang="zh-CN" dirty="0" smtClean="0">
                <a:ea typeface="黑体" panose="02010609060101010101" pitchFamily="49" charset="-122"/>
              </a:rPr>
              <a:t>UDP </a:t>
            </a:r>
            <a:r>
              <a:rPr lang="zh-CN" altLang="en-US" dirty="0" smtClean="0">
                <a:ea typeface="黑体" panose="02010609060101010101" pitchFamily="49" charset="-122"/>
              </a:rPr>
              <a:t>对 </a:t>
            </a:r>
            <a:r>
              <a:rPr lang="en-US" altLang="zh-CN" dirty="0" smtClean="0">
                <a:ea typeface="黑体" panose="02010609060101010101" pitchFamily="49" charset="-122"/>
              </a:rPr>
              <a:t>IP </a:t>
            </a:r>
            <a:r>
              <a:rPr lang="zh-CN" altLang="en-US" dirty="0" smtClean="0">
                <a:ea typeface="黑体" panose="02010609060101010101" pitchFamily="49" charset="-122"/>
              </a:rPr>
              <a:t>层交上来的 </a:t>
            </a:r>
            <a:r>
              <a:rPr lang="en-US" altLang="zh-CN" dirty="0" smtClean="0">
                <a:ea typeface="黑体" panose="02010609060101010101" pitchFamily="49" charset="-122"/>
              </a:rPr>
              <a:t>UDP </a:t>
            </a:r>
            <a:r>
              <a:rPr lang="zh-CN" altLang="en-US" dirty="0" smtClean="0">
                <a:ea typeface="黑体" panose="02010609060101010101" pitchFamily="49" charset="-122"/>
              </a:rPr>
              <a:t>用户数据报，在去除首部后就原封不动地交付上层的应用进程，</a:t>
            </a:r>
            <a:r>
              <a:rPr lang="zh-CN" altLang="en-US" dirty="0" smtClean="0">
                <a:solidFill>
                  <a:srgbClr val="FF0000"/>
                </a:solidFill>
                <a:ea typeface="黑体" panose="02010609060101010101" pitchFamily="49" charset="-122"/>
              </a:rPr>
              <a:t>一次交付一个完整的报文。</a:t>
            </a:r>
          </a:p>
          <a:p>
            <a:r>
              <a:rPr lang="zh-CN" altLang="en-US" dirty="0" smtClean="0">
                <a:ea typeface="黑体" panose="02010609060101010101" pitchFamily="49" charset="-122"/>
              </a:rPr>
              <a:t>应用程序必须</a:t>
            </a:r>
            <a:r>
              <a:rPr lang="zh-CN" altLang="en-US" dirty="0" smtClean="0">
                <a:solidFill>
                  <a:srgbClr val="FF0000"/>
                </a:solidFill>
                <a:ea typeface="黑体" panose="02010609060101010101" pitchFamily="49" charset="-122"/>
              </a:rPr>
              <a:t>选择合适大小的报文。</a:t>
            </a:r>
            <a:endParaRPr lang="en-US" altLang="zh-CN" dirty="0" smtClean="0">
              <a:solidFill>
                <a:srgbClr val="FF0000"/>
              </a:solidFill>
              <a:ea typeface="黑体" panose="02010609060101010101" pitchFamily="49" charset="-122"/>
            </a:endParaRPr>
          </a:p>
          <a:p>
            <a:pPr lvl="1"/>
            <a:r>
              <a:rPr lang="zh-CN" altLang="zh-CN" dirty="0" smtClean="0">
                <a:solidFill>
                  <a:srgbClr val="0000FF"/>
                </a:solidFill>
                <a:ea typeface="黑体" panose="02010609060101010101" pitchFamily="49" charset="-122"/>
              </a:rPr>
              <a:t>若报文太长，</a:t>
            </a:r>
            <a:r>
              <a:rPr lang="en-US" altLang="zh-CN" dirty="0" smtClean="0">
                <a:ea typeface="黑体" panose="02010609060101010101" pitchFamily="49" charset="-122"/>
              </a:rPr>
              <a:t>UDP </a:t>
            </a:r>
            <a:r>
              <a:rPr lang="zh-CN" altLang="zh-CN" dirty="0" smtClean="0">
                <a:ea typeface="黑体" panose="02010609060101010101" pitchFamily="49" charset="-122"/>
              </a:rPr>
              <a:t>把它交给</a:t>
            </a:r>
            <a:r>
              <a:rPr lang="en-US" altLang="zh-CN" dirty="0" smtClean="0">
                <a:ea typeface="黑体" panose="02010609060101010101" pitchFamily="49" charset="-122"/>
              </a:rPr>
              <a:t> IP </a:t>
            </a:r>
            <a:r>
              <a:rPr lang="zh-CN" altLang="zh-CN" dirty="0" smtClean="0">
                <a:ea typeface="黑体" panose="02010609060101010101" pitchFamily="49" charset="-122"/>
              </a:rPr>
              <a:t>层后，</a:t>
            </a:r>
            <a:r>
              <a:rPr lang="en-US" altLang="zh-CN" dirty="0" smtClean="0">
                <a:ea typeface="黑体" panose="02010609060101010101" pitchFamily="49" charset="-122"/>
              </a:rPr>
              <a:t>IP </a:t>
            </a:r>
            <a:r>
              <a:rPr lang="zh-CN" altLang="zh-CN" dirty="0" smtClean="0">
                <a:ea typeface="黑体" panose="02010609060101010101" pitchFamily="49" charset="-122"/>
              </a:rPr>
              <a:t>层在传送时可能要进行分片，这会降低</a:t>
            </a:r>
            <a:r>
              <a:rPr lang="en-US" altLang="zh-CN" dirty="0" smtClean="0">
                <a:ea typeface="黑体" panose="02010609060101010101" pitchFamily="49" charset="-122"/>
              </a:rPr>
              <a:t> IP </a:t>
            </a:r>
            <a:r>
              <a:rPr lang="zh-CN" altLang="zh-CN" dirty="0" smtClean="0">
                <a:ea typeface="黑体" panose="02010609060101010101" pitchFamily="49" charset="-122"/>
              </a:rPr>
              <a:t>层的效率。</a:t>
            </a:r>
            <a:endParaRPr lang="en-US" altLang="zh-CN" dirty="0" smtClean="0">
              <a:ea typeface="黑体" panose="02010609060101010101" pitchFamily="49" charset="-122"/>
            </a:endParaRPr>
          </a:p>
          <a:p>
            <a:pPr lvl="1"/>
            <a:r>
              <a:rPr lang="zh-CN" altLang="zh-CN" dirty="0" smtClean="0">
                <a:solidFill>
                  <a:srgbClr val="0000FF"/>
                </a:solidFill>
                <a:ea typeface="黑体" panose="02010609060101010101" pitchFamily="49" charset="-122"/>
              </a:rPr>
              <a:t>若报文太短，</a:t>
            </a:r>
            <a:r>
              <a:rPr lang="en-US" altLang="zh-CN" dirty="0" smtClean="0">
                <a:ea typeface="黑体" panose="02010609060101010101" pitchFamily="49" charset="-122"/>
              </a:rPr>
              <a:t>UDP </a:t>
            </a:r>
            <a:r>
              <a:rPr lang="zh-CN" altLang="zh-CN" dirty="0" smtClean="0">
                <a:ea typeface="黑体" panose="02010609060101010101" pitchFamily="49" charset="-122"/>
              </a:rPr>
              <a:t>把它交给</a:t>
            </a:r>
            <a:r>
              <a:rPr lang="en-US" altLang="zh-CN" dirty="0" smtClean="0">
                <a:ea typeface="黑体" panose="02010609060101010101" pitchFamily="49" charset="-122"/>
              </a:rPr>
              <a:t> IP </a:t>
            </a:r>
            <a:r>
              <a:rPr lang="zh-CN" altLang="zh-CN" dirty="0" smtClean="0">
                <a:ea typeface="黑体" panose="02010609060101010101" pitchFamily="49" charset="-122"/>
              </a:rPr>
              <a:t>层后，会使</a:t>
            </a:r>
            <a:r>
              <a:rPr lang="en-US" altLang="zh-CN" dirty="0" smtClean="0">
                <a:ea typeface="黑体" panose="02010609060101010101" pitchFamily="49" charset="-122"/>
              </a:rPr>
              <a:t> IP </a:t>
            </a:r>
            <a:r>
              <a:rPr lang="zh-CN" altLang="zh-CN" dirty="0" smtClean="0">
                <a:ea typeface="黑体" panose="02010609060101010101" pitchFamily="49" charset="-122"/>
              </a:rPr>
              <a:t>数据报的首部的相对长度太大，这也降低了</a:t>
            </a:r>
            <a:r>
              <a:rPr lang="en-US" altLang="zh-CN" dirty="0" smtClean="0">
                <a:ea typeface="黑体" panose="02010609060101010101" pitchFamily="49" charset="-122"/>
              </a:rPr>
              <a:t> IP </a:t>
            </a:r>
            <a:r>
              <a:rPr lang="zh-CN" altLang="zh-CN" dirty="0" smtClean="0">
                <a:ea typeface="黑体" panose="02010609060101010101" pitchFamily="49" charset="-122"/>
              </a:rPr>
              <a:t>层的效率。</a:t>
            </a:r>
            <a:endParaRPr lang="zh-CN" altLang="en-US" dirty="0" smtClean="0">
              <a:ea typeface="黑体" panose="02010609060101010101" pitchFamily="49" charset="-122"/>
            </a:endParaRPr>
          </a:p>
        </p:txBody>
      </p:sp>
      <p:sp>
        <p:nvSpPr>
          <p:cNvPr id="1342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BCA719D-6BF0-41DE-8A28-40E2D8D47D10}" type="slidenum">
              <a:rPr lang="zh-CN" altLang="en-US" smtClean="0"/>
              <a:pPr eaLnBrk="1" hangingPunct="1"/>
              <a:t>33</a:t>
            </a:fld>
            <a:endParaRPr lang="en-US" altLang="zh-CN" smtClean="0"/>
          </a:p>
        </p:txBody>
      </p:sp>
      <p:sp>
        <p:nvSpPr>
          <p:cNvPr id="1342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513" name="Rectangle 2"/>
          <p:cNvSpPr>
            <a:spLocks noGrp="1" noChangeArrowheads="1"/>
          </p:cNvSpPr>
          <p:nvPr>
            <p:ph type="title"/>
          </p:nvPr>
        </p:nvSpPr>
        <p:spPr/>
        <p:txBody>
          <a:bodyPr/>
          <a:lstStyle/>
          <a:p>
            <a:pPr algn="ctr"/>
            <a:r>
              <a:rPr lang="en-US" altLang="zh-CN" sz="4000" smtClean="0">
                <a:ea typeface="黑体" panose="02010609060101010101" pitchFamily="49" charset="-122"/>
              </a:rPr>
              <a:t>UDP </a:t>
            </a:r>
            <a:r>
              <a:rPr lang="zh-CN" altLang="en-US" sz="4000" smtClean="0">
                <a:ea typeface="黑体" panose="02010609060101010101" pitchFamily="49" charset="-122"/>
              </a:rPr>
              <a:t>是面向报文的 </a:t>
            </a:r>
          </a:p>
        </p:txBody>
      </p:sp>
      <p:sp>
        <p:nvSpPr>
          <p:cNvPr id="23" name="AutoShape 3"/>
          <p:cNvSpPr>
            <a:spLocks noChangeArrowheads="1"/>
          </p:cNvSpPr>
          <p:nvPr/>
        </p:nvSpPr>
        <p:spPr bwMode="auto">
          <a:xfrm flipH="1">
            <a:off x="422275" y="4565650"/>
            <a:ext cx="863600" cy="363538"/>
          </a:xfrm>
          <a:prstGeom prst="rightArrow">
            <a:avLst>
              <a:gd name="adj1" fmla="val 50000"/>
              <a:gd name="adj2" fmla="val 118788"/>
            </a:avLst>
          </a:prstGeom>
          <a:solidFill>
            <a:srgbClr val="C00000"/>
          </a:solidFill>
          <a:ln w="12700">
            <a:solidFill>
              <a:srgbClr val="000000"/>
            </a:solidFill>
            <a:miter lim="800000"/>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4" name="Rectangle 4"/>
          <p:cNvSpPr>
            <a:spLocks noChangeArrowheads="1"/>
          </p:cNvSpPr>
          <p:nvPr/>
        </p:nvSpPr>
        <p:spPr bwMode="auto">
          <a:xfrm>
            <a:off x="2360613" y="3678238"/>
            <a:ext cx="5915025" cy="690562"/>
          </a:xfrm>
          <a:prstGeom prst="rect">
            <a:avLst/>
          </a:prstGeom>
          <a:gradFill rotWithShape="1">
            <a:gsLst>
              <a:gs pos="0">
                <a:srgbClr val="66FF99"/>
              </a:gs>
              <a:gs pos="100000">
                <a:srgbClr val="47B26B"/>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5" name="Rectangle 5"/>
          <p:cNvSpPr>
            <a:spLocks noChangeArrowheads="1"/>
          </p:cNvSpPr>
          <p:nvPr/>
        </p:nvSpPr>
        <p:spPr bwMode="auto">
          <a:xfrm>
            <a:off x="3789363" y="2268538"/>
            <a:ext cx="4486275" cy="682625"/>
          </a:xfrm>
          <a:prstGeom prst="rect">
            <a:avLst/>
          </a:prstGeom>
          <a:gradFill rotWithShape="1">
            <a:gsLst>
              <a:gs pos="0">
                <a:srgbClr val="B2B28E"/>
              </a:gs>
              <a:gs pos="100000">
                <a:srgbClr val="FFFFC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6" name="Rectangle 6"/>
          <p:cNvSpPr>
            <a:spLocks noChangeArrowheads="1"/>
          </p:cNvSpPr>
          <p:nvPr/>
        </p:nvSpPr>
        <p:spPr bwMode="auto">
          <a:xfrm>
            <a:off x="2360613" y="2952750"/>
            <a:ext cx="5915025" cy="722313"/>
          </a:xfrm>
          <a:prstGeom prst="rect">
            <a:avLst/>
          </a:prstGeom>
          <a:solidFill>
            <a:srgbClr val="FFFFFF"/>
          </a:solidFill>
          <a:ln w="28575">
            <a:solidFill>
              <a:srgbClr val="000000"/>
            </a:solidFill>
            <a:miter lim="800000"/>
          </a:ln>
          <a:effectLst>
            <a:outerShdw dist="35921" dir="2700000" algn="ctr" rotWithShape="0">
              <a:srgbClr val="1C1C1C"/>
            </a:outerShdw>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7" name="Rectangle 7"/>
          <p:cNvSpPr>
            <a:spLocks noChangeArrowheads="1"/>
          </p:cNvSpPr>
          <p:nvPr/>
        </p:nvSpPr>
        <p:spPr bwMode="auto">
          <a:xfrm>
            <a:off x="1238250" y="4408488"/>
            <a:ext cx="7037388" cy="749300"/>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8" name="Rectangle 8"/>
          <p:cNvSpPr>
            <a:spLocks noChangeArrowheads="1"/>
          </p:cNvSpPr>
          <p:nvPr/>
        </p:nvSpPr>
        <p:spPr bwMode="auto">
          <a:xfrm>
            <a:off x="2401888" y="4437063"/>
            <a:ext cx="5849937" cy="6905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29" name="Rectangle 9"/>
          <p:cNvSpPr>
            <a:spLocks noChangeArrowheads="1"/>
          </p:cNvSpPr>
          <p:nvPr/>
        </p:nvSpPr>
        <p:spPr bwMode="auto">
          <a:xfrm>
            <a:off x="3748088" y="4573588"/>
            <a:ext cx="3032125"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IP </a:t>
            </a:r>
            <a:r>
              <a:rPr lang="zh-CN" altLang="en-US" sz="2400" b="1" kern="0">
                <a:solidFill>
                  <a:srgbClr val="000099"/>
                </a:solidFill>
                <a:latin typeface="+mn-lt"/>
                <a:ea typeface="黑体" panose="02010609060101010101" pitchFamily="2" charset="-122"/>
              </a:rPr>
              <a:t>数据报的数据部分</a:t>
            </a:r>
          </a:p>
        </p:txBody>
      </p:sp>
      <p:sp>
        <p:nvSpPr>
          <p:cNvPr id="30" name="Rectangle 10"/>
          <p:cNvSpPr>
            <a:spLocks noChangeArrowheads="1"/>
          </p:cNvSpPr>
          <p:nvPr/>
        </p:nvSpPr>
        <p:spPr bwMode="auto">
          <a:xfrm>
            <a:off x="1200150" y="4543425"/>
            <a:ext cx="1176338"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IP </a:t>
            </a:r>
            <a:r>
              <a:rPr lang="zh-CN" altLang="en-US" sz="2400" b="1" kern="0">
                <a:solidFill>
                  <a:srgbClr val="000099"/>
                </a:solidFill>
                <a:latin typeface="+mn-lt"/>
                <a:ea typeface="黑体" panose="02010609060101010101" pitchFamily="2" charset="-122"/>
              </a:rPr>
              <a:t>首部</a:t>
            </a:r>
          </a:p>
        </p:txBody>
      </p:sp>
      <p:sp>
        <p:nvSpPr>
          <p:cNvPr id="31" name="Rectangle 11"/>
          <p:cNvSpPr>
            <a:spLocks noChangeArrowheads="1"/>
          </p:cNvSpPr>
          <p:nvPr/>
        </p:nvSpPr>
        <p:spPr bwMode="auto">
          <a:xfrm>
            <a:off x="8480425" y="4540250"/>
            <a:ext cx="8667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IP </a:t>
            </a:r>
            <a:r>
              <a:rPr lang="zh-CN" altLang="en-US" sz="2400" b="1" kern="0">
                <a:solidFill>
                  <a:srgbClr val="000099"/>
                </a:solidFill>
                <a:latin typeface="+mn-lt"/>
                <a:ea typeface="黑体" panose="02010609060101010101" pitchFamily="2" charset="-122"/>
              </a:rPr>
              <a:t>层</a:t>
            </a:r>
          </a:p>
        </p:txBody>
      </p:sp>
      <p:sp>
        <p:nvSpPr>
          <p:cNvPr id="32" name="Line 12"/>
          <p:cNvSpPr>
            <a:spLocks noChangeShapeType="1"/>
          </p:cNvSpPr>
          <p:nvPr/>
        </p:nvSpPr>
        <p:spPr bwMode="auto">
          <a:xfrm>
            <a:off x="3824288" y="2952750"/>
            <a:ext cx="0" cy="7223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3" name="AutoShape 13"/>
          <p:cNvSpPr>
            <a:spLocks noChangeArrowheads="1"/>
          </p:cNvSpPr>
          <p:nvPr/>
        </p:nvSpPr>
        <p:spPr bwMode="auto">
          <a:xfrm rot="16200000" flipH="1">
            <a:off x="4891088" y="3994150"/>
            <a:ext cx="963612" cy="325438"/>
          </a:xfrm>
          <a:prstGeom prst="rightArrow">
            <a:avLst>
              <a:gd name="adj1" fmla="val 50000"/>
              <a:gd name="adj2" fmla="val 148062"/>
            </a:avLst>
          </a:prstGeom>
          <a:solidFill>
            <a:srgbClr val="33CC33"/>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4" name="Rectangle 14"/>
          <p:cNvSpPr>
            <a:spLocks noChangeArrowheads="1"/>
          </p:cNvSpPr>
          <p:nvPr/>
        </p:nvSpPr>
        <p:spPr bwMode="auto">
          <a:xfrm>
            <a:off x="2360613" y="3060700"/>
            <a:ext cx="15367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a:solidFill>
                  <a:srgbClr val="000099"/>
                </a:solidFill>
                <a:latin typeface="+mn-lt"/>
                <a:ea typeface="黑体" panose="02010609060101010101" pitchFamily="2" charset="-122"/>
              </a:rPr>
              <a:t>UDP </a:t>
            </a:r>
            <a:r>
              <a:rPr lang="zh-CN" altLang="en-US" sz="2400" b="1" kern="0">
                <a:solidFill>
                  <a:srgbClr val="000099"/>
                </a:solidFill>
                <a:latin typeface="+mn-lt"/>
                <a:ea typeface="黑体" panose="02010609060101010101" pitchFamily="2" charset="-122"/>
              </a:rPr>
              <a:t>首部</a:t>
            </a:r>
          </a:p>
        </p:txBody>
      </p:sp>
      <p:sp>
        <p:nvSpPr>
          <p:cNvPr id="35" name="Rectangle 15"/>
          <p:cNvSpPr>
            <a:spLocks noChangeArrowheads="1"/>
          </p:cNvSpPr>
          <p:nvPr/>
        </p:nvSpPr>
        <p:spPr bwMode="auto">
          <a:xfrm>
            <a:off x="4189413" y="3065463"/>
            <a:ext cx="4011612"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400" b="1" kern="0" dirty="0">
                <a:solidFill>
                  <a:srgbClr val="000099"/>
                </a:solidFill>
                <a:latin typeface="+mn-lt"/>
                <a:ea typeface="黑体" panose="02010609060101010101" pitchFamily="2" charset="-122"/>
              </a:rPr>
              <a:t>UDP </a:t>
            </a:r>
            <a:r>
              <a:rPr lang="zh-CN" altLang="en-US" sz="2400" b="1" kern="0" dirty="0">
                <a:solidFill>
                  <a:srgbClr val="000099"/>
                </a:solidFill>
                <a:latin typeface="+mn-lt"/>
                <a:ea typeface="黑体" panose="02010609060101010101" pitchFamily="2" charset="-122"/>
              </a:rPr>
              <a:t>用户数据报的数据部分</a:t>
            </a:r>
          </a:p>
        </p:txBody>
      </p:sp>
      <p:sp>
        <p:nvSpPr>
          <p:cNvPr id="36" name="Rectangle 16"/>
          <p:cNvSpPr>
            <a:spLocks noChangeArrowheads="1"/>
          </p:cNvSpPr>
          <p:nvPr/>
        </p:nvSpPr>
        <p:spPr bwMode="auto">
          <a:xfrm>
            <a:off x="8378825" y="3073400"/>
            <a:ext cx="1111250" cy="458788"/>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400" b="1" kern="0">
                <a:solidFill>
                  <a:srgbClr val="000099"/>
                </a:solidFill>
                <a:latin typeface="+mn-lt"/>
                <a:ea typeface="黑体" panose="02010609060101010101" pitchFamily="2" charset="-122"/>
              </a:rPr>
              <a:t>运输层</a:t>
            </a:r>
          </a:p>
        </p:txBody>
      </p:sp>
      <p:sp>
        <p:nvSpPr>
          <p:cNvPr id="37" name="Line 17"/>
          <p:cNvSpPr>
            <a:spLocks noChangeShapeType="1"/>
          </p:cNvSpPr>
          <p:nvPr/>
        </p:nvSpPr>
        <p:spPr bwMode="auto">
          <a:xfrm>
            <a:off x="2360613" y="4408488"/>
            <a:ext cx="0" cy="7493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8" name="AutoShape 18"/>
          <p:cNvSpPr>
            <a:spLocks noChangeArrowheads="1"/>
          </p:cNvSpPr>
          <p:nvPr/>
        </p:nvSpPr>
        <p:spPr bwMode="auto">
          <a:xfrm rot="16200000" flipH="1">
            <a:off x="5557045" y="2548731"/>
            <a:ext cx="963612" cy="327025"/>
          </a:xfrm>
          <a:prstGeom prst="rightArrow">
            <a:avLst>
              <a:gd name="adj1" fmla="val 50000"/>
              <a:gd name="adj2" fmla="val 147344"/>
            </a:avLst>
          </a:prstGeom>
          <a:solidFill>
            <a:srgbClr val="FFFF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39" name="Rectangle 19"/>
          <p:cNvSpPr>
            <a:spLocks noChangeArrowheads="1"/>
          </p:cNvSpPr>
          <p:nvPr/>
        </p:nvSpPr>
        <p:spPr bwMode="auto">
          <a:xfrm>
            <a:off x="3824288" y="1628775"/>
            <a:ext cx="4425950" cy="601663"/>
          </a:xfrm>
          <a:prstGeom prst="rect">
            <a:avLst/>
          </a:prstGeom>
          <a:solidFill>
            <a:srgbClr val="FFFFCC"/>
          </a:solidFill>
          <a:ln w="28575">
            <a:solidFill>
              <a:srgbClr val="000000"/>
            </a:solidFill>
            <a:miter lim="800000"/>
          </a:ln>
          <a:effectLst>
            <a:outerShdw dist="35921" dir="2700000" algn="ctr" rotWithShape="0">
              <a:srgbClr val="1C1C1C"/>
            </a:outerShdw>
          </a:effectLst>
        </p:spPr>
        <p:txBody>
          <a:bodyPr wrap="none" anchor="ctr"/>
          <a:lstStyle/>
          <a:p>
            <a:pPr algn="ctr" defTabSz="762000" eaLnBrk="0" fontAlgn="auto" hangingPunct="0">
              <a:spcBef>
                <a:spcPts val="0"/>
              </a:spcBef>
              <a:spcAft>
                <a:spcPts val="0"/>
              </a:spcAft>
              <a:defRPr/>
            </a:pPr>
            <a:r>
              <a:rPr lang="zh-CN" altLang="en-US" sz="2400" b="1" kern="0" dirty="0">
                <a:solidFill>
                  <a:srgbClr val="000099"/>
                </a:solidFill>
                <a:latin typeface="+mn-lt"/>
                <a:ea typeface="黑体" panose="02010609060101010101" pitchFamily="2" charset="-122"/>
              </a:rPr>
              <a:t>应用层报文</a:t>
            </a:r>
          </a:p>
        </p:txBody>
      </p:sp>
      <p:sp>
        <p:nvSpPr>
          <p:cNvPr id="40" name="Rectangle 20"/>
          <p:cNvSpPr>
            <a:spLocks noChangeArrowheads="1"/>
          </p:cNvSpPr>
          <p:nvPr/>
        </p:nvSpPr>
        <p:spPr bwMode="auto">
          <a:xfrm>
            <a:off x="8378825" y="1628775"/>
            <a:ext cx="11112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400" b="1" kern="0">
                <a:solidFill>
                  <a:srgbClr val="000099"/>
                </a:solidFill>
                <a:latin typeface="+mn-lt"/>
                <a:ea typeface="黑体" panose="02010609060101010101" pitchFamily="2" charset="-122"/>
              </a:rPr>
              <a:t>应用层</a:t>
            </a:r>
          </a:p>
        </p:txBody>
      </p:sp>
      <p:sp>
        <p:nvSpPr>
          <p:cNvPr id="13445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EE605F-2239-4A94-9CE0-72A00A5CCBA9}" type="slidenum">
              <a:rPr lang="zh-CN" altLang="en-US" smtClean="0"/>
              <a:pPr eaLnBrk="1" hangingPunct="1"/>
              <a:t>34</a:t>
            </a:fld>
            <a:endParaRPr lang="en-US" altLang="zh-CN" smtClean="0"/>
          </a:p>
        </p:txBody>
      </p:sp>
      <p:sp>
        <p:nvSpPr>
          <p:cNvPr id="13445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6561" name="Rectangle 5"/>
          <p:cNvSpPr>
            <a:spLocks noGrp="1" noChangeArrowheads="1"/>
          </p:cNvSpPr>
          <p:nvPr>
            <p:ph type="title"/>
          </p:nvPr>
        </p:nvSpPr>
        <p:spPr/>
        <p:txBody>
          <a:bodyPr/>
          <a:lstStyle/>
          <a:p>
            <a:r>
              <a:rPr lang="en-US" altLang="zh-CN" smtClean="0">
                <a:ea typeface="黑体" panose="02010609060101010101" pitchFamily="49" charset="-122"/>
              </a:rPr>
              <a:t>5.2.2  UDP </a:t>
            </a:r>
            <a:r>
              <a:rPr lang="zh-CN" altLang="en-US" smtClean="0">
                <a:ea typeface="黑体" panose="02010609060101010101" pitchFamily="49" charset="-122"/>
              </a:rPr>
              <a:t>的首部格式 </a:t>
            </a:r>
          </a:p>
        </p:txBody>
      </p:sp>
      <p:sp>
        <p:nvSpPr>
          <p:cNvPr id="1346562" name="矩形 2"/>
          <p:cNvSpPr>
            <a:spLocks noChangeArrowheads="1"/>
          </p:cNvSpPr>
          <p:nvPr/>
        </p:nvSpPr>
        <p:spPr bwMode="auto">
          <a:xfrm>
            <a:off x="1136650" y="1125538"/>
            <a:ext cx="7488238" cy="830262"/>
          </a:xfrm>
          <a:prstGeom prst="rect">
            <a:avLst/>
          </a:prstGeom>
          <a:solidFill>
            <a:srgbClr val="66FFFF"/>
          </a:solidFill>
          <a:ln w="9525">
            <a:solidFill>
              <a:srgbClr val="000066"/>
            </a:solidFill>
            <a:round/>
            <a:headEnd/>
            <a:tailEnd/>
          </a:ln>
        </p:spPr>
        <p:txBody>
          <a:bodyPr>
            <a:spAutoFit/>
          </a:bodyPr>
          <a:lstStyle/>
          <a:p>
            <a:pPr eaLnBrk="0" hangingPunct="0"/>
            <a:r>
              <a:rPr lang="zh-CN" altLang="zh-CN" sz="2400" b="1">
                <a:solidFill>
                  <a:srgbClr val="000066"/>
                </a:solidFill>
                <a:ea typeface="黑体" panose="02010609060101010101" pitchFamily="49" charset="-122"/>
              </a:rPr>
              <a:t>用户数据报</a:t>
            </a:r>
            <a:r>
              <a:rPr lang="en-US" altLang="zh-CN" sz="2400" b="1">
                <a:solidFill>
                  <a:srgbClr val="000066"/>
                </a:solidFill>
                <a:ea typeface="黑体" panose="02010609060101010101" pitchFamily="49" charset="-122"/>
              </a:rPr>
              <a:t> UDP </a:t>
            </a:r>
            <a:r>
              <a:rPr lang="zh-CN" altLang="zh-CN" sz="2400" b="1">
                <a:solidFill>
                  <a:srgbClr val="000066"/>
                </a:solidFill>
                <a:ea typeface="黑体" panose="02010609060101010101" pitchFamily="49" charset="-122"/>
              </a:rPr>
              <a:t>有</a:t>
            </a:r>
            <a:r>
              <a:rPr lang="zh-CN" altLang="zh-CN" sz="2400" b="1">
                <a:solidFill>
                  <a:srgbClr val="C00000"/>
                </a:solidFill>
                <a:ea typeface="黑体" panose="02010609060101010101" pitchFamily="49" charset="-122"/>
              </a:rPr>
              <a:t>两个字段</a:t>
            </a:r>
            <a:r>
              <a:rPr lang="zh-CN" altLang="zh-CN" sz="2400" b="1">
                <a:solidFill>
                  <a:srgbClr val="000066"/>
                </a:solidFill>
                <a:ea typeface="黑体" panose="02010609060101010101" pitchFamily="49" charset="-122"/>
              </a:rPr>
              <a:t>：数据字段和首部字段。首部字段很简单，</a:t>
            </a:r>
            <a:r>
              <a:rPr lang="zh-CN" altLang="zh-CN" sz="2400" b="1">
                <a:solidFill>
                  <a:srgbClr val="C00000"/>
                </a:solidFill>
                <a:ea typeface="黑体" panose="02010609060101010101" pitchFamily="49" charset="-122"/>
              </a:rPr>
              <a:t>只有</a:t>
            </a:r>
            <a:r>
              <a:rPr lang="en-US" altLang="zh-CN" sz="2400" b="1">
                <a:solidFill>
                  <a:srgbClr val="C00000"/>
                </a:solidFill>
                <a:ea typeface="黑体" panose="02010609060101010101" pitchFamily="49" charset="-122"/>
              </a:rPr>
              <a:t> 8 </a:t>
            </a:r>
            <a:r>
              <a:rPr lang="zh-CN" altLang="zh-CN" sz="2400" b="1">
                <a:solidFill>
                  <a:srgbClr val="C00000"/>
                </a:solidFill>
                <a:ea typeface="黑体" panose="02010609060101010101" pitchFamily="49" charset="-122"/>
              </a:rPr>
              <a:t>个字节</a:t>
            </a:r>
            <a:r>
              <a:rPr lang="zh-CN" altLang="en-US" sz="2400" b="1">
                <a:solidFill>
                  <a:srgbClr val="C00000"/>
                </a:solidFill>
                <a:ea typeface="黑体" panose="02010609060101010101" pitchFamily="49" charset="-122"/>
              </a:rPr>
              <a:t>。</a:t>
            </a:r>
          </a:p>
        </p:txBody>
      </p:sp>
      <p:grpSp>
        <p:nvGrpSpPr>
          <p:cNvPr id="1346563" name="组合 4"/>
          <p:cNvGrpSpPr>
            <a:grpSpLocks/>
          </p:cNvGrpSpPr>
          <p:nvPr/>
        </p:nvGrpSpPr>
        <p:grpSpPr bwMode="auto">
          <a:xfrm>
            <a:off x="388938" y="2060575"/>
            <a:ext cx="9244012" cy="4151313"/>
            <a:chOff x="389640" y="2060848"/>
            <a:chExt cx="9243880" cy="4150380"/>
          </a:xfrm>
        </p:grpSpPr>
        <p:sp>
          <p:nvSpPr>
            <p:cNvPr id="1346564"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5" name="Freeform 3"/>
            <p:cNvSpPr>
              <a:spLocks noChangeArrowheads="1"/>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6"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7" name="AutoShape 6"/>
            <p:cNvSpPr>
              <a:spLocks noChangeArrowheads="1"/>
            </p:cNvSpPr>
            <p:nvPr/>
          </p:nvSpPr>
          <p:spPr bwMode="auto">
            <a:xfrm>
              <a:off x="1670885" y="5245917"/>
              <a:ext cx="865056" cy="288925"/>
            </a:xfrm>
            <a:prstGeom prst="leftArrow">
              <a:avLst>
                <a:gd name="adj1" fmla="val 50000"/>
                <a:gd name="adj2" fmla="val 69085"/>
              </a:avLst>
            </a:prstGeom>
            <a:solidFill>
              <a:srgbClr val="C0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8" name="Freeform 7"/>
            <p:cNvSpPr>
              <a:spLocks noChangeArrowheads="1"/>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69"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0"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1" name="Line 10"/>
            <p:cNvSpPr>
              <a:spLocks noChangeShapeType="1"/>
            </p:cNvSpPr>
            <p:nvPr/>
          </p:nvSpPr>
          <p:spPr bwMode="auto">
            <a:xfrm>
              <a:off x="4420832" y="3483781"/>
              <a:ext cx="1719"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2"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3" name="Line 12"/>
            <p:cNvSpPr>
              <a:spLocks noChangeShapeType="1"/>
            </p:cNvSpPr>
            <p:nvPr/>
          </p:nvSpPr>
          <p:spPr bwMode="auto">
            <a:xfrm>
              <a:off x="3459468" y="2465659"/>
              <a:ext cx="344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4" name="Line 13"/>
            <p:cNvSpPr>
              <a:spLocks noChangeShapeType="1"/>
            </p:cNvSpPr>
            <p:nvPr/>
          </p:nvSpPr>
          <p:spPr bwMode="auto">
            <a:xfrm>
              <a:off x="5674559" y="3483781"/>
              <a:ext cx="344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5" name="Line 14"/>
            <p:cNvSpPr>
              <a:spLocks noChangeShapeType="1"/>
            </p:cNvSpPr>
            <p:nvPr/>
          </p:nvSpPr>
          <p:spPr bwMode="auto">
            <a:xfrm>
              <a:off x="6930007" y="3483781"/>
              <a:ext cx="172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6" name="Freeform 15"/>
            <p:cNvSpPr>
              <a:spLocks noChangeArrowheads="1"/>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77" name="Text Box 16"/>
            <p:cNvSpPr txBox="1">
              <a:spLocks noChangeArrowheads="1"/>
            </p:cNvSpPr>
            <p:nvPr/>
          </p:nvSpPr>
          <p:spPr bwMode="auto">
            <a:xfrm>
              <a:off x="1939172" y="348060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伪首部</a:t>
              </a:r>
            </a:p>
          </p:txBody>
        </p:sp>
        <p:sp>
          <p:nvSpPr>
            <p:cNvPr id="1346578" name="Text Box 17"/>
            <p:cNvSpPr txBox="1">
              <a:spLocks noChangeArrowheads="1"/>
            </p:cNvSpPr>
            <p:nvPr/>
          </p:nvSpPr>
          <p:spPr bwMode="auto">
            <a:xfrm>
              <a:off x="3177422" y="348060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源端口</a:t>
              </a:r>
            </a:p>
          </p:txBody>
        </p:sp>
        <p:sp>
          <p:nvSpPr>
            <p:cNvPr id="1346579" name="Text Box 18"/>
            <p:cNvSpPr txBox="1">
              <a:spLocks noChangeArrowheads="1"/>
            </p:cNvSpPr>
            <p:nvPr/>
          </p:nvSpPr>
          <p:spPr bwMode="auto">
            <a:xfrm>
              <a:off x="4357198" y="3480607"/>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目的端口</a:t>
              </a:r>
            </a:p>
          </p:txBody>
        </p:sp>
        <p:sp>
          <p:nvSpPr>
            <p:cNvPr id="1346580" name="Text Box 19"/>
            <p:cNvSpPr txBox="1">
              <a:spLocks noChangeArrowheads="1"/>
            </p:cNvSpPr>
            <p:nvPr/>
          </p:nvSpPr>
          <p:spPr bwMode="auto">
            <a:xfrm>
              <a:off x="5803544" y="3479020"/>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长  度</a:t>
              </a:r>
            </a:p>
          </p:txBody>
        </p:sp>
        <p:sp>
          <p:nvSpPr>
            <p:cNvPr id="1346581" name="Text Box 20"/>
            <p:cNvSpPr txBox="1">
              <a:spLocks noChangeArrowheads="1"/>
            </p:cNvSpPr>
            <p:nvPr/>
          </p:nvSpPr>
          <p:spPr bwMode="auto">
            <a:xfrm>
              <a:off x="7043513" y="3480607"/>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检验和</a:t>
              </a:r>
            </a:p>
          </p:txBody>
        </p:sp>
        <p:sp>
          <p:nvSpPr>
            <p:cNvPr id="1346582" name="Text Box 21"/>
            <p:cNvSpPr txBox="1">
              <a:spLocks noChangeArrowheads="1"/>
            </p:cNvSpPr>
            <p:nvPr/>
          </p:nvSpPr>
          <p:spPr bwMode="auto">
            <a:xfrm>
              <a:off x="5960044" y="5199880"/>
              <a:ext cx="13356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46583" name="Text Box 22"/>
            <p:cNvSpPr txBox="1">
              <a:spLocks noChangeArrowheads="1"/>
            </p:cNvSpPr>
            <p:nvPr/>
          </p:nvSpPr>
          <p:spPr bwMode="auto">
            <a:xfrm>
              <a:off x="2649446" y="5199880"/>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46584" name="Line 23"/>
            <p:cNvSpPr>
              <a:spLocks noChangeShapeType="1"/>
            </p:cNvSpPr>
            <p:nvPr/>
          </p:nvSpPr>
          <p:spPr bwMode="auto">
            <a:xfrm>
              <a:off x="5877495" y="2465659"/>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85" name="Line 24"/>
            <p:cNvSpPr>
              <a:spLocks noChangeShapeType="1"/>
            </p:cNvSpPr>
            <p:nvPr/>
          </p:nvSpPr>
          <p:spPr bwMode="auto">
            <a:xfrm>
              <a:off x="6455345" y="2465659"/>
              <a:ext cx="172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86" name="Line 25"/>
            <p:cNvSpPr>
              <a:spLocks noChangeShapeType="1"/>
            </p:cNvSpPr>
            <p:nvPr/>
          </p:nvSpPr>
          <p:spPr bwMode="auto">
            <a:xfrm>
              <a:off x="7033194" y="2465659"/>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87" name="Text Box 26"/>
            <p:cNvSpPr txBox="1">
              <a:spLocks noChangeArrowheads="1"/>
            </p:cNvSpPr>
            <p:nvPr/>
          </p:nvSpPr>
          <p:spPr bwMode="auto">
            <a:xfrm>
              <a:off x="6986761" y="2462485"/>
              <a:ext cx="1244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a:t>
              </a:r>
              <a:r>
                <a:rPr lang="zh-CN" altLang="en-US" sz="2000" b="1">
                  <a:solidFill>
                    <a:srgbClr val="000099"/>
                  </a:solidFill>
                  <a:ea typeface="黑体" panose="02010609060101010101" pitchFamily="49" charset="-122"/>
                </a:rPr>
                <a:t>长度</a:t>
              </a:r>
            </a:p>
          </p:txBody>
        </p:sp>
        <p:sp>
          <p:nvSpPr>
            <p:cNvPr id="1346588" name="Text Box 27"/>
            <p:cNvSpPr txBox="1">
              <a:spLocks noChangeArrowheads="1"/>
            </p:cNvSpPr>
            <p:nvPr/>
          </p:nvSpPr>
          <p:spPr bwMode="auto">
            <a:xfrm>
              <a:off x="1467949" y="2462485"/>
              <a:ext cx="13374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46589" name="Text Box 28"/>
            <p:cNvSpPr txBox="1">
              <a:spLocks noChangeArrowheads="1"/>
            </p:cNvSpPr>
            <p:nvPr/>
          </p:nvSpPr>
          <p:spPr bwMode="auto">
            <a:xfrm>
              <a:off x="3784509" y="2462485"/>
              <a:ext cx="15955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46590" name="Text Box 29"/>
            <p:cNvSpPr txBox="1">
              <a:spLocks noChangeArrowheads="1"/>
            </p:cNvSpPr>
            <p:nvPr/>
          </p:nvSpPr>
          <p:spPr bwMode="auto">
            <a:xfrm>
              <a:off x="5987561" y="2462485"/>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0</a:t>
              </a:r>
            </a:p>
          </p:txBody>
        </p:sp>
        <p:sp>
          <p:nvSpPr>
            <p:cNvPr id="1346591" name="Text Box 30"/>
            <p:cNvSpPr txBox="1">
              <a:spLocks noChangeArrowheads="1"/>
            </p:cNvSpPr>
            <p:nvPr/>
          </p:nvSpPr>
          <p:spPr bwMode="auto">
            <a:xfrm>
              <a:off x="6457065" y="2462485"/>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17</a:t>
              </a:r>
            </a:p>
          </p:txBody>
        </p:sp>
        <p:sp>
          <p:nvSpPr>
            <p:cNvPr id="1346592"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93" name="Rectangle 32"/>
            <p:cNvSpPr>
              <a:spLocks noChangeArrowheads="1"/>
            </p:cNvSpPr>
            <p:nvPr/>
          </p:nvSpPr>
          <p:spPr bwMode="auto">
            <a:xfrm>
              <a:off x="5289326" y="5690416"/>
              <a:ext cx="1270927"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594" name="Text Box 33"/>
            <p:cNvSpPr txBox="1">
              <a:spLocks noChangeArrowheads="1"/>
            </p:cNvSpPr>
            <p:nvPr/>
          </p:nvSpPr>
          <p:spPr bwMode="auto">
            <a:xfrm>
              <a:off x="5239453" y="5811118"/>
              <a:ext cx="12668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346595" name="Text Box 34"/>
            <p:cNvSpPr txBox="1">
              <a:spLocks noChangeArrowheads="1"/>
            </p:cNvSpPr>
            <p:nvPr/>
          </p:nvSpPr>
          <p:spPr bwMode="auto">
            <a:xfrm>
              <a:off x="389640" y="2083073"/>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46596" name="Text Box 35"/>
            <p:cNvSpPr txBox="1">
              <a:spLocks noChangeArrowheads="1"/>
            </p:cNvSpPr>
            <p:nvPr/>
          </p:nvSpPr>
          <p:spPr bwMode="auto">
            <a:xfrm>
              <a:off x="2062997"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46597" name="Text Box 36"/>
            <p:cNvSpPr txBox="1">
              <a:spLocks noChangeArrowheads="1"/>
            </p:cNvSpPr>
            <p:nvPr/>
          </p:nvSpPr>
          <p:spPr bwMode="auto">
            <a:xfrm>
              <a:off x="4475865"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46598" name="Text Box 37"/>
            <p:cNvSpPr txBox="1">
              <a:spLocks noChangeArrowheads="1"/>
            </p:cNvSpPr>
            <p:nvPr/>
          </p:nvSpPr>
          <p:spPr bwMode="auto">
            <a:xfrm>
              <a:off x="5987561"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46599" name="Text Box 38"/>
            <p:cNvSpPr txBox="1">
              <a:spLocks noChangeArrowheads="1"/>
            </p:cNvSpPr>
            <p:nvPr/>
          </p:nvSpPr>
          <p:spPr bwMode="auto">
            <a:xfrm>
              <a:off x="6551653"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46600" name="Text Box 39"/>
            <p:cNvSpPr txBox="1">
              <a:spLocks noChangeArrowheads="1"/>
            </p:cNvSpPr>
            <p:nvPr/>
          </p:nvSpPr>
          <p:spPr bwMode="auto">
            <a:xfrm>
              <a:off x="7404669" y="2060848"/>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1" name="Text Box 40"/>
            <p:cNvSpPr txBox="1">
              <a:spLocks noChangeArrowheads="1"/>
            </p:cNvSpPr>
            <p:nvPr/>
          </p:nvSpPr>
          <p:spPr bwMode="auto">
            <a:xfrm>
              <a:off x="2198861" y="3105956"/>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12</a:t>
              </a:r>
            </a:p>
          </p:txBody>
        </p:sp>
        <p:sp>
          <p:nvSpPr>
            <p:cNvPr id="1346602" name="Text Box 41"/>
            <p:cNvSpPr txBox="1">
              <a:spLocks noChangeArrowheads="1"/>
            </p:cNvSpPr>
            <p:nvPr/>
          </p:nvSpPr>
          <p:spPr bwMode="auto">
            <a:xfrm>
              <a:off x="3574695"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3" name="Text Box 42"/>
            <p:cNvSpPr txBox="1">
              <a:spLocks noChangeArrowheads="1"/>
            </p:cNvSpPr>
            <p:nvPr/>
          </p:nvSpPr>
          <p:spPr bwMode="auto">
            <a:xfrm>
              <a:off x="4902374"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4" name="Text Box 43"/>
            <p:cNvSpPr txBox="1">
              <a:spLocks noChangeArrowheads="1"/>
            </p:cNvSpPr>
            <p:nvPr/>
          </p:nvSpPr>
          <p:spPr bwMode="auto">
            <a:xfrm>
              <a:off x="6061513"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5" name="Text Box 44"/>
            <p:cNvSpPr txBox="1">
              <a:spLocks noChangeArrowheads="1"/>
            </p:cNvSpPr>
            <p:nvPr/>
          </p:nvSpPr>
          <p:spPr bwMode="auto">
            <a:xfrm>
              <a:off x="7380592" y="3110720"/>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46606" name="Text Box 45"/>
            <p:cNvSpPr txBox="1">
              <a:spLocks noChangeArrowheads="1"/>
            </p:cNvSpPr>
            <p:nvPr/>
          </p:nvSpPr>
          <p:spPr bwMode="auto">
            <a:xfrm>
              <a:off x="945132" y="3105956"/>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46607" name="Text Box 46"/>
            <p:cNvSpPr txBox="1">
              <a:spLocks noChangeArrowheads="1"/>
            </p:cNvSpPr>
            <p:nvPr/>
          </p:nvSpPr>
          <p:spPr bwMode="auto">
            <a:xfrm>
              <a:off x="1064568" y="5594404"/>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发送在前</a:t>
              </a:r>
            </a:p>
          </p:txBody>
        </p:sp>
        <p:sp>
          <p:nvSpPr>
            <p:cNvPr id="1346608"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46609" name="Text Box 49"/>
            <p:cNvSpPr txBox="1">
              <a:spLocks noChangeArrowheads="1"/>
            </p:cNvSpPr>
            <p:nvPr/>
          </p:nvSpPr>
          <p:spPr bwMode="auto">
            <a:xfrm>
              <a:off x="6560252" y="4333874"/>
              <a:ext cx="13356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46610" name="Text Box 50"/>
            <p:cNvSpPr txBox="1">
              <a:spLocks noChangeArrowheads="1"/>
            </p:cNvSpPr>
            <p:nvPr/>
          </p:nvSpPr>
          <p:spPr bwMode="auto">
            <a:xfrm>
              <a:off x="3856740" y="4333874"/>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46611" name="Text Box 52"/>
            <p:cNvSpPr txBox="1">
              <a:spLocks noChangeArrowheads="1"/>
            </p:cNvSpPr>
            <p:nvPr/>
          </p:nvSpPr>
          <p:spPr bwMode="auto">
            <a:xfrm>
              <a:off x="1442152" y="4291012"/>
              <a:ext cx="20844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56" name="Rectangle 4"/>
            <p:cNvSpPr>
              <a:spLocks noChangeArrowheads="1"/>
            </p:cNvSpPr>
            <p:nvPr/>
          </p:nvSpPr>
          <p:spPr bwMode="auto">
            <a:xfrm>
              <a:off x="3710643" y="4758991"/>
              <a:ext cx="5914941" cy="396786"/>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grpSp>
      <p:sp>
        <p:nvSpPr>
          <p:cNvPr id="1346613" name="矩形 3"/>
          <p:cNvSpPr>
            <a:spLocks noChangeArrowheads="1"/>
          </p:cNvSpPr>
          <p:nvPr/>
        </p:nvSpPr>
        <p:spPr bwMode="auto">
          <a:xfrm>
            <a:off x="2198688" y="6248400"/>
            <a:ext cx="6426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UD P</a:t>
            </a:r>
            <a:r>
              <a:rPr lang="zh-CN" altLang="zh-CN" sz="2400" b="1">
                <a:ea typeface="黑体" panose="02010609060101010101" pitchFamily="49" charset="-122"/>
              </a:rPr>
              <a:t>用户数据报的首部和伪首部</a:t>
            </a:r>
            <a:endParaRPr lang="zh-CN" altLang="en-US" sz="2400" b="1">
              <a:ea typeface="黑体" panose="02010609060101010101" pitchFamily="49" charset="-122"/>
            </a:endParaRPr>
          </a:p>
        </p:txBody>
      </p:sp>
      <p:sp>
        <p:nvSpPr>
          <p:cNvPr id="1346614"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CB4EA3-3200-4505-AADB-8CC04499E811}" type="slidenum">
              <a:rPr lang="zh-CN" altLang="en-US" smtClean="0"/>
              <a:pPr eaLnBrk="1" hangingPunct="1"/>
              <a:t>35</a:t>
            </a:fld>
            <a:endParaRPr lang="en-US" altLang="zh-CN" smtClean="0"/>
          </a:p>
        </p:txBody>
      </p:sp>
      <p:sp>
        <p:nvSpPr>
          <p:cNvPr id="1346615"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657" name="Text Box 60"/>
          <p:cNvSpPr txBox="1">
            <a:spLocks noChangeArrowheads="1"/>
          </p:cNvSpPr>
          <p:nvPr/>
        </p:nvSpPr>
        <p:spPr bwMode="auto">
          <a:xfrm>
            <a:off x="661988" y="333375"/>
            <a:ext cx="8178800" cy="1384300"/>
          </a:xfrm>
          <a:prstGeom prst="rect">
            <a:avLst/>
          </a:prstGeom>
          <a:solidFill>
            <a:srgbClr val="66FFFF"/>
          </a:solidFill>
          <a:ln w="9525">
            <a:solidFill>
              <a:srgbClr val="000066"/>
            </a:solidFill>
            <a:round/>
            <a:headEnd/>
            <a:tailEnd/>
          </a:ln>
        </p:spPr>
        <p:txBody>
          <a:bodyPr>
            <a:spAutoFit/>
          </a:bodyPr>
          <a:lstStyle/>
          <a:p>
            <a:pPr eaLnBrk="0" hangingPunct="0"/>
            <a:r>
              <a:rPr lang="zh-CN" altLang="en-US" sz="2800" b="1">
                <a:solidFill>
                  <a:srgbClr val="000066"/>
                </a:solidFill>
                <a:ea typeface="黑体" panose="02010609060101010101" pitchFamily="49" charset="-122"/>
              </a:rPr>
              <a:t>用户数据报 </a:t>
            </a:r>
            <a:r>
              <a:rPr lang="en-US" altLang="zh-CN" sz="2800" b="1">
                <a:solidFill>
                  <a:srgbClr val="000066"/>
                </a:solidFill>
                <a:ea typeface="黑体" panose="02010609060101010101" pitchFamily="49" charset="-122"/>
              </a:rPr>
              <a:t>UDP </a:t>
            </a:r>
            <a:r>
              <a:rPr lang="zh-CN" altLang="en-US" sz="2800" b="1">
                <a:solidFill>
                  <a:srgbClr val="000066"/>
                </a:solidFill>
                <a:ea typeface="黑体" panose="02010609060101010101" pitchFamily="49" charset="-122"/>
              </a:rPr>
              <a:t>有两个字段：数据字段和首部字段。首部字段有 </a:t>
            </a:r>
            <a:r>
              <a:rPr lang="en-US" altLang="zh-CN" sz="2800" b="1">
                <a:solidFill>
                  <a:srgbClr val="000066"/>
                </a:solidFill>
                <a:ea typeface="黑体" panose="02010609060101010101" pitchFamily="49" charset="-122"/>
              </a:rPr>
              <a:t>8 </a:t>
            </a:r>
            <a:r>
              <a:rPr lang="zh-CN" altLang="en-US" sz="2800" b="1">
                <a:solidFill>
                  <a:srgbClr val="000066"/>
                </a:solidFill>
                <a:ea typeface="黑体" panose="02010609060101010101" pitchFamily="49" charset="-122"/>
              </a:rPr>
              <a:t>个字节，由 </a:t>
            </a:r>
            <a:r>
              <a:rPr lang="en-US" altLang="zh-CN" sz="2800" b="1">
                <a:solidFill>
                  <a:srgbClr val="000066"/>
                </a:solidFill>
                <a:ea typeface="黑体" panose="02010609060101010101" pitchFamily="49" charset="-122"/>
              </a:rPr>
              <a:t>4 </a:t>
            </a:r>
            <a:r>
              <a:rPr lang="zh-CN" altLang="en-US" sz="2800" b="1">
                <a:solidFill>
                  <a:srgbClr val="000066"/>
                </a:solidFill>
                <a:ea typeface="黑体" panose="02010609060101010101" pitchFamily="49" charset="-122"/>
              </a:rPr>
              <a:t>个字段组成，每个字段都是 </a:t>
            </a:r>
            <a:r>
              <a:rPr lang="en-US" altLang="zh-CN" sz="2800" b="1">
                <a:solidFill>
                  <a:srgbClr val="000066"/>
                </a:solidFill>
                <a:ea typeface="黑体" panose="02010609060101010101" pitchFamily="49" charset="-122"/>
              </a:rPr>
              <a:t>2 </a:t>
            </a:r>
            <a:r>
              <a:rPr lang="zh-CN" altLang="en-US" sz="2800" b="1">
                <a:solidFill>
                  <a:srgbClr val="000066"/>
                </a:solidFill>
                <a:ea typeface="黑体" panose="02010609060101010101" pitchFamily="49" charset="-122"/>
              </a:rPr>
              <a:t>个字节。 </a:t>
            </a:r>
          </a:p>
        </p:txBody>
      </p:sp>
      <p:sp>
        <p:nvSpPr>
          <p:cNvPr id="1350658" name="Rectangle 2"/>
          <p:cNvSpPr>
            <a:spLocks noChangeArrowheads="1"/>
          </p:cNvSpPr>
          <p:nvPr/>
        </p:nvSpPr>
        <p:spPr bwMode="auto">
          <a:xfrm>
            <a:off x="2535238" y="5156200"/>
            <a:ext cx="1169987" cy="457200"/>
          </a:xfrm>
          <a:prstGeom prst="rect">
            <a:avLst/>
          </a:prstGeom>
          <a:solidFill>
            <a:srgbClr val="FF9900"/>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59" name="Freeform 3"/>
          <p:cNvSpPr>
            <a:spLocks noChangeArrowheads="1"/>
          </p:cNvSpPr>
          <p:nvPr/>
        </p:nvSpPr>
        <p:spPr bwMode="auto">
          <a:xfrm>
            <a:off x="3165475" y="3941763"/>
            <a:ext cx="5019675" cy="34925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0" name="Rectangle 4"/>
          <p:cNvSpPr>
            <a:spLocks noChangeArrowheads="1"/>
          </p:cNvSpPr>
          <p:nvPr/>
        </p:nvSpPr>
        <p:spPr bwMode="auto">
          <a:xfrm>
            <a:off x="3703638" y="4291013"/>
            <a:ext cx="11715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1" name="AutoShape 6"/>
          <p:cNvSpPr>
            <a:spLocks noChangeArrowheads="1"/>
          </p:cNvSpPr>
          <p:nvPr/>
        </p:nvSpPr>
        <p:spPr bwMode="auto">
          <a:xfrm>
            <a:off x="1671638" y="5246688"/>
            <a:ext cx="863600" cy="288925"/>
          </a:xfrm>
          <a:prstGeom prst="leftArrow">
            <a:avLst>
              <a:gd name="adj1" fmla="val 50000"/>
              <a:gd name="adj2" fmla="val 68969"/>
            </a:avLst>
          </a:prstGeom>
          <a:solidFill>
            <a:srgbClr val="C0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2" name="Freeform 7"/>
          <p:cNvSpPr>
            <a:spLocks noChangeArrowheads="1"/>
          </p:cNvSpPr>
          <p:nvPr/>
        </p:nvSpPr>
        <p:spPr bwMode="auto">
          <a:xfrm>
            <a:off x="1042988" y="2922588"/>
            <a:ext cx="7246937" cy="561975"/>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3" name="Rectangle 8"/>
          <p:cNvSpPr>
            <a:spLocks noChangeArrowheads="1"/>
          </p:cNvSpPr>
          <p:nvPr/>
        </p:nvSpPr>
        <p:spPr bwMode="auto">
          <a:xfrm>
            <a:off x="3165475" y="3484563"/>
            <a:ext cx="50196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4" name="Rectangle 9"/>
          <p:cNvSpPr>
            <a:spLocks noChangeArrowheads="1"/>
          </p:cNvSpPr>
          <p:nvPr/>
        </p:nvSpPr>
        <p:spPr bwMode="auto">
          <a:xfrm>
            <a:off x="3705225" y="5159375"/>
            <a:ext cx="5927725" cy="457200"/>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5" name="Line 10"/>
          <p:cNvSpPr>
            <a:spLocks noChangeShapeType="1"/>
          </p:cNvSpPr>
          <p:nvPr/>
        </p:nvSpPr>
        <p:spPr bwMode="auto">
          <a:xfrm>
            <a:off x="442118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6" name="Rectangle 11"/>
          <p:cNvSpPr>
            <a:spLocks noChangeArrowheads="1"/>
          </p:cNvSpPr>
          <p:nvPr/>
        </p:nvSpPr>
        <p:spPr bwMode="auto">
          <a:xfrm>
            <a:off x="1047750" y="2465388"/>
            <a:ext cx="7242175" cy="4572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7" name="Line 12"/>
          <p:cNvSpPr>
            <a:spLocks noChangeShapeType="1"/>
          </p:cNvSpPr>
          <p:nvPr/>
        </p:nvSpPr>
        <p:spPr bwMode="auto">
          <a:xfrm>
            <a:off x="3459163" y="2465388"/>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8" name="Line 13"/>
          <p:cNvSpPr>
            <a:spLocks noChangeShapeType="1"/>
          </p:cNvSpPr>
          <p:nvPr/>
        </p:nvSpPr>
        <p:spPr bwMode="auto">
          <a:xfrm>
            <a:off x="5675313" y="3484563"/>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69" name="Line 14"/>
          <p:cNvSpPr>
            <a:spLocks noChangeShapeType="1"/>
          </p:cNvSpPr>
          <p:nvPr/>
        </p:nvSpPr>
        <p:spPr bwMode="auto">
          <a:xfrm>
            <a:off x="692943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70" name="Freeform 15"/>
          <p:cNvSpPr>
            <a:spLocks noChangeArrowheads="1"/>
          </p:cNvSpPr>
          <p:nvPr/>
        </p:nvSpPr>
        <p:spPr bwMode="auto">
          <a:xfrm>
            <a:off x="1811338" y="3484563"/>
            <a:ext cx="135413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71" name="Text Box 16"/>
          <p:cNvSpPr txBox="1">
            <a:spLocks noChangeArrowheads="1"/>
          </p:cNvSpPr>
          <p:nvPr/>
        </p:nvSpPr>
        <p:spPr bwMode="auto">
          <a:xfrm>
            <a:off x="193992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伪首部</a:t>
            </a:r>
          </a:p>
        </p:txBody>
      </p:sp>
      <p:sp>
        <p:nvSpPr>
          <p:cNvPr id="1350672" name="Text Box 17"/>
          <p:cNvSpPr txBox="1">
            <a:spLocks noChangeArrowheads="1"/>
          </p:cNvSpPr>
          <p:nvPr/>
        </p:nvSpPr>
        <p:spPr bwMode="auto">
          <a:xfrm>
            <a:off x="317817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源端口</a:t>
            </a:r>
          </a:p>
        </p:txBody>
      </p:sp>
      <p:sp>
        <p:nvSpPr>
          <p:cNvPr id="1350673" name="Text Box 18"/>
          <p:cNvSpPr txBox="1">
            <a:spLocks noChangeArrowheads="1"/>
          </p:cNvSpPr>
          <p:nvPr/>
        </p:nvSpPr>
        <p:spPr bwMode="auto">
          <a:xfrm>
            <a:off x="4357688" y="348138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目的端口</a:t>
            </a:r>
          </a:p>
        </p:txBody>
      </p:sp>
      <p:sp>
        <p:nvSpPr>
          <p:cNvPr id="1350674" name="Text Box 19"/>
          <p:cNvSpPr txBox="1">
            <a:spLocks noChangeArrowheads="1"/>
          </p:cNvSpPr>
          <p:nvPr/>
        </p:nvSpPr>
        <p:spPr bwMode="auto">
          <a:xfrm>
            <a:off x="5803900" y="347980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长  度</a:t>
            </a:r>
          </a:p>
        </p:txBody>
      </p:sp>
      <p:sp>
        <p:nvSpPr>
          <p:cNvPr id="1350675" name="Text Box 20"/>
          <p:cNvSpPr txBox="1">
            <a:spLocks noChangeArrowheads="1"/>
          </p:cNvSpPr>
          <p:nvPr/>
        </p:nvSpPr>
        <p:spPr bwMode="auto">
          <a:xfrm>
            <a:off x="7043738" y="348138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检验和</a:t>
            </a:r>
          </a:p>
        </p:txBody>
      </p:sp>
      <p:sp>
        <p:nvSpPr>
          <p:cNvPr id="1350676" name="Text Box 21"/>
          <p:cNvSpPr txBox="1">
            <a:spLocks noChangeArrowheads="1"/>
          </p:cNvSpPr>
          <p:nvPr/>
        </p:nvSpPr>
        <p:spPr bwMode="auto">
          <a:xfrm>
            <a:off x="5959475" y="5200650"/>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50677" name="Text Box 22"/>
          <p:cNvSpPr txBox="1">
            <a:spLocks noChangeArrowheads="1"/>
          </p:cNvSpPr>
          <p:nvPr/>
        </p:nvSpPr>
        <p:spPr bwMode="auto">
          <a:xfrm>
            <a:off x="2649538" y="520065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0678" name="Line 23"/>
          <p:cNvSpPr>
            <a:spLocks noChangeShapeType="1"/>
          </p:cNvSpPr>
          <p:nvPr/>
        </p:nvSpPr>
        <p:spPr bwMode="auto">
          <a:xfrm>
            <a:off x="58769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79" name="Line 24"/>
          <p:cNvSpPr>
            <a:spLocks noChangeShapeType="1"/>
          </p:cNvSpPr>
          <p:nvPr/>
        </p:nvSpPr>
        <p:spPr bwMode="auto">
          <a:xfrm>
            <a:off x="6454775" y="246538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0" name="Line 25"/>
          <p:cNvSpPr>
            <a:spLocks noChangeShapeType="1"/>
          </p:cNvSpPr>
          <p:nvPr/>
        </p:nvSpPr>
        <p:spPr bwMode="auto">
          <a:xfrm>
            <a:off x="70326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1" name="Text Box 26"/>
          <p:cNvSpPr txBox="1">
            <a:spLocks noChangeArrowheads="1"/>
          </p:cNvSpPr>
          <p:nvPr/>
        </p:nvSpPr>
        <p:spPr bwMode="auto">
          <a:xfrm>
            <a:off x="6986588" y="2462213"/>
            <a:ext cx="124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a:t>
            </a:r>
            <a:r>
              <a:rPr lang="zh-CN" altLang="en-US" sz="2000" b="1">
                <a:solidFill>
                  <a:srgbClr val="000099"/>
                </a:solidFill>
                <a:ea typeface="黑体" panose="02010609060101010101" pitchFamily="49" charset="-122"/>
              </a:rPr>
              <a:t>长度</a:t>
            </a:r>
          </a:p>
        </p:txBody>
      </p:sp>
      <p:sp>
        <p:nvSpPr>
          <p:cNvPr id="1350682" name="Text Box 27"/>
          <p:cNvSpPr txBox="1">
            <a:spLocks noChangeArrowheads="1"/>
          </p:cNvSpPr>
          <p:nvPr/>
        </p:nvSpPr>
        <p:spPr bwMode="auto">
          <a:xfrm>
            <a:off x="1468438" y="2462213"/>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0683" name="Text Box 28"/>
          <p:cNvSpPr txBox="1">
            <a:spLocks noChangeArrowheads="1"/>
          </p:cNvSpPr>
          <p:nvPr/>
        </p:nvSpPr>
        <p:spPr bwMode="auto">
          <a:xfrm>
            <a:off x="3784600" y="2462213"/>
            <a:ext cx="1595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0684" name="Text Box 29"/>
          <p:cNvSpPr txBox="1">
            <a:spLocks noChangeArrowheads="1"/>
          </p:cNvSpPr>
          <p:nvPr/>
        </p:nvSpPr>
        <p:spPr bwMode="auto">
          <a:xfrm>
            <a:off x="5988050" y="24622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0</a:t>
            </a:r>
          </a:p>
        </p:txBody>
      </p:sp>
      <p:sp>
        <p:nvSpPr>
          <p:cNvPr id="1350685" name="Text Box 30"/>
          <p:cNvSpPr txBox="1">
            <a:spLocks noChangeArrowheads="1"/>
          </p:cNvSpPr>
          <p:nvPr/>
        </p:nvSpPr>
        <p:spPr bwMode="auto">
          <a:xfrm>
            <a:off x="6456363" y="2462213"/>
            <a:ext cx="471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17</a:t>
            </a:r>
          </a:p>
        </p:txBody>
      </p:sp>
      <p:sp>
        <p:nvSpPr>
          <p:cNvPr id="1350686" name="Line 31"/>
          <p:cNvSpPr>
            <a:spLocks noChangeShapeType="1"/>
          </p:cNvSpPr>
          <p:nvPr/>
        </p:nvSpPr>
        <p:spPr bwMode="auto">
          <a:xfrm>
            <a:off x="2489200" y="5845175"/>
            <a:ext cx="7143750" cy="0"/>
          </a:xfrm>
          <a:prstGeom prst="line">
            <a:avLst/>
          </a:prstGeom>
          <a:noFill/>
          <a:ln w="952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7" name="Rectangle 32"/>
          <p:cNvSpPr>
            <a:spLocks noChangeArrowheads="1"/>
          </p:cNvSpPr>
          <p:nvPr/>
        </p:nvSpPr>
        <p:spPr bwMode="auto">
          <a:xfrm>
            <a:off x="5289550" y="5691188"/>
            <a:ext cx="12700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688" name="Text Box 33"/>
          <p:cNvSpPr txBox="1">
            <a:spLocks noChangeArrowheads="1"/>
          </p:cNvSpPr>
          <p:nvPr/>
        </p:nvSpPr>
        <p:spPr bwMode="auto">
          <a:xfrm>
            <a:off x="5238750" y="5811838"/>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350689" name="Text Box 34"/>
          <p:cNvSpPr txBox="1">
            <a:spLocks noChangeArrowheads="1"/>
          </p:cNvSpPr>
          <p:nvPr/>
        </p:nvSpPr>
        <p:spPr bwMode="auto">
          <a:xfrm>
            <a:off x="388938" y="20828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0690" name="Text Box 35"/>
          <p:cNvSpPr txBox="1">
            <a:spLocks noChangeArrowheads="1"/>
          </p:cNvSpPr>
          <p:nvPr/>
        </p:nvSpPr>
        <p:spPr bwMode="auto">
          <a:xfrm>
            <a:off x="20637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0691" name="Text Box 36"/>
          <p:cNvSpPr txBox="1">
            <a:spLocks noChangeArrowheads="1"/>
          </p:cNvSpPr>
          <p:nvPr/>
        </p:nvSpPr>
        <p:spPr bwMode="auto">
          <a:xfrm>
            <a:off x="4475163" y="2060575"/>
            <a:ext cx="328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0692" name="Text Box 37"/>
          <p:cNvSpPr txBox="1">
            <a:spLocks noChangeArrowheads="1"/>
          </p:cNvSpPr>
          <p:nvPr/>
        </p:nvSpPr>
        <p:spPr bwMode="auto">
          <a:xfrm>
            <a:off x="59880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0693" name="Text Box 38"/>
          <p:cNvSpPr txBox="1">
            <a:spLocks noChangeArrowheads="1"/>
          </p:cNvSpPr>
          <p:nvPr/>
        </p:nvSpPr>
        <p:spPr bwMode="auto">
          <a:xfrm>
            <a:off x="6551613"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0694" name="Text Box 39"/>
          <p:cNvSpPr txBox="1">
            <a:spLocks noChangeArrowheads="1"/>
          </p:cNvSpPr>
          <p:nvPr/>
        </p:nvSpPr>
        <p:spPr bwMode="auto">
          <a:xfrm>
            <a:off x="7404100" y="2060575"/>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5" name="Text Box 40"/>
          <p:cNvSpPr txBox="1">
            <a:spLocks noChangeArrowheads="1"/>
          </p:cNvSpPr>
          <p:nvPr/>
        </p:nvSpPr>
        <p:spPr bwMode="auto">
          <a:xfrm>
            <a:off x="2198688" y="31067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12</a:t>
            </a:r>
          </a:p>
        </p:txBody>
      </p:sp>
      <p:sp>
        <p:nvSpPr>
          <p:cNvPr id="1350696" name="Text Box 41"/>
          <p:cNvSpPr txBox="1">
            <a:spLocks noChangeArrowheads="1"/>
          </p:cNvSpPr>
          <p:nvPr/>
        </p:nvSpPr>
        <p:spPr bwMode="auto">
          <a:xfrm>
            <a:off x="357505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7" name="Text Box 42"/>
          <p:cNvSpPr txBox="1">
            <a:spLocks noChangeArrowheads="1"/>
          </p:cNvSpPr>
          <p:nvPr/>
        </p:nvSpPr>
        <p:spPr bwMode="auto">
          <a:xfrm>
            <a:off x="490220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8" name="Text Box 43"/>
          <p:cNvSpPr txBox="1">
            <a:spLocks noChangeArrowheads="1"/>
          </p:cNvSpPr>
          <p:nvPr/>
        </p:nvSpPr>
        <p:spPr bwMode="auto">
          <a:xfrm>
            <a:off x="6061075"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699" name="Text Box 44"/>
          <p:cNvSpPr txBox="1">
            <a:spLocks noChangeArrowheads="1"/>
          </p:cNvSpPr>
          <p:nvPr/>
        </p:nvSpPr>
        <p:spPr bwMode="auto">
          <a:xfrm>
            <a:off x="7380288"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0700" name="Text Box 45"/>
          <p:cNvSpPr txBox="1">
            <a:spLocks noChangeArrowheads="1"/>
          </p:cNvSpPr>
          <p:nvPr/>
        </p:nvSpPr>
        <p:spPr bwMode="auto">
          <a:xfrm>
            <a:off x="944563" y="310673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0701" name="Text Box 46"/>
          <p:cNvSpPr txBox="1">
            <a:spLocks noChangeArrowheads="1"/>
          </p:cNvSpPr>
          <p:nvPr/>
        </p:nvSpPr>
        <p:spPr bwMode="auto">
          <a:xfrm>
            <a:off x="1065213" y="559435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发送在前</a:t>
            </a:r>
          </a:p>
        </p:txBody>
      </p:sp>
      <p:sp>
        <p:nvSpPr>
          <p:cNvPr id="1350702" name="Rectangle 48"/>
          <p:cNvSpPr>
            <a:spLocks noChangeArrowheads="1"/>
          </p:cNvSpPr>
          <p:nvPr/>
        </p:nvSpPr>
        <p:spPr bwMode="auto">
          <a:xfrm>
            <a:off x="4875213" y="4291013"/>
            <a:ext cx="4757737" cy="457200"/>
          </a:xfrm>
          <a:prstGeom prst="rect">
            <a:avLst/>
          </a:prstGeom>
          <a:solidFill>
            <a:srgbClr val="FFC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0703" name="Text Box 49"/>
          <p:cNvSpPr txBox="1">
            <a:spLocks noChangeArrowheads="1"/>
          </p:cNvSpPr>
          <p:nvPr/>
        </p:nvSpPr>
        <p:spPr bwMode="auto">
          <a:xfrm>
            <a:off x="6559550" y="4333875"/>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01" name="Text Box 50"/>
          <p:cNvSpPr txBox="1">
            <a:spLocks noChangeArrowheads="1"/>
          </p:cNvSpPr>
          <p:nvPr/>
        </p:nvSpPr>
        <p:spPr bwMode="auto">
          <a:xfrm>
            <a:off x="3856038" y="4333875"/>
            <a:ext cx="842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0705" name="Text Box 52"/>
          <p:cNvSpPr txBox="1">
            <a:spLocks noChangeArrowheads="1"/>
          </p:cNvSpPr>
          <p:nvPr/>
        </p:nvSpPr>
        <p:spPr bwMode="auto">
          <a:xfrm>
            <a:off x="1441450" y="4291013"/>
            <a:ext cx="2084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103" name="Rectangle 4"/>
          <p:cNvSpPr>
            <a:spLocks noChangeArrowheads="1"/>
          </p:cNvSpPr>
          <p:nvPr/>
        </p:nvSpPr>
        <p:spPr bwMode="auto">
          <a:xfrm>
            <a:off x="3709988" y="4759325"/>
            <a:ext cx="5915025" cy="395288"/>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445499" name="Rectangle 59"/>
          <p:cNvSpPr>
            <a:spLocks noChangeArrowheads="1"/>
          </p:cNvSpPr>
          <p:nvPr/>
        </p:nvSpPr>
        <p:spPr bwMode="auto">
          <a:xfrm>
            <a:off x="3170238" y="3443288"/>
            <a:ext cx="5022850" cy="461962"/>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5070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FE66B56-923F-4F92-977A-0F62358E92AB}" type="slidenum">
              <a:rPr lang="zh-CN" altLang="en-US" smtClean="0"/>
              <a:pPr/>
              <a:t>36</a:t>
            </a:fld>
            <a:endParaRPr lang="en-US" altLang="zh-CN" smtClean="0"/>
          </a:p>
        </p:txBody>
      </p:sp>
      <p:sp>
        <p:nvSpPr>
          <p:cNvPr id="135070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grpId="0" nodeType="afterEffect">
                                  <p:stCondLst>
                                    <p:cond delay="0"/>
                                  </p:stCondLst>
                                  <p:iterate type="lt">
                                    <p:tmAbs val="0"/>
                                  </p:iterate>
                                  <p:childTnLst>
                                    <p:anim calcmode="discrete" valueType="str">
                                      <p:cBhvr>
                                        <p:cTn id="6" dur="1000" fill="hold"/>
                                        <p:tgtEl>
                                          <p:spTgt spid="101"/>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4000"/>
                            </p:stCondLst>
                            <p:childTnLst>
                              <p:par>
                                <p:cTn id="8" presetID="1" presetClass="entr" presetSubtype="0" fill="hold" grpId="0" nodeType="afterEffect">
                                  <p:stCondLst>
                                    <p:cond delay="0"/>
                                  </p:stCondLst>
                                  <p:childTnLst>
                                    <p:set>
                                      <p:cBhvr>
                                        <p:cTn id="9" dur="1" fill="hold">
                                          <p:stCondLst>
                                            <p:cond delay="0"/>
                                          </p:stCondLst>
                                        </p:cTn>
                                        <p:tgtEl>
                                          <p:spTgt spid="445499"/>
                                        </p:tgtEl>
                                        <p:attrNameLst>
                                          <p:attrName>style.visibility</p:attrName>
                                        </p:attrNameLst>
                                      </p:cBhvr>
                                      <p:to>
                                        <p:strVal val="visible"/>
                                      </p:to>
                                    </p:set>
                                  </p:childTnLst>
                                </p:cTn>
                              </p:par>
                            </p:childTnLst>
                          </p:cTn>
                        </p:par>
                        <p:par>
                          <p:cTn id="10" fill="hold" nodeType="afterGroup">
                            <p:stCondLst>
                              <p:cond delay="4001"/>
                            </p:stCondLst>
                            <p:childTnLst>
                              <p:par>
                                <p:cTn id="11" presetID="35" presetClass="emph" presetSubtype="0" repeatCount="3000" fill="hold" grpId="1" nodeType="afterEffect">
                                  <p:stCondLst>
                                    <p:cond delay="500"/>
                                  </p:stCondLst>
                                  <p:childTnLst>
                                    <p:anim calcmode="discrete" valueType="str">
                                      <p:cBhvr>
                                        <p:cTn id="12" dur="1000" fill="hold"/>
                                        <p:tgtEl>
                                          <p:spTgt spid="4454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445499" grpId="0" animBg="1"/>
      <p:bldP spid="445499"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2705" name="Text Box 53"/>
          <p:cNvSpPr txBox="1">
            <a:spLocks noChangeArrowheads="1"/>
          </p:cNvSpPr>
          <p:nvPr/>
        </p:nvSpPr>
        <p:spPr bwMode="auto">
          <a:xfrm>
            <a:off x="631825" y="333375"/>
            <a:ext cx="8353425" cy="954088"/>
          </a:xfrm>
          <a:prstGeom prst="rect">
            <a:avLst/>
          </a:prstGeom>
          <a:solidFill>
            <a:srgbClr val="66FFFF"/>
          </a:solidFill>
          <a:ln w="9525">
            <a:solidFill>
              <a:srgbClr val="000066"/>
            </a:solidFill>
            <a:round/>
            <a:headEnd/>
            <a:tailEnd/>
          </a:ln>
        </p:spPr>
        <p:txBody>
          <a:bodyPr>
            <a:spAutoFit/>
          </a:bodyPr>
          <a:lstStyle/>
          <a:p>
            <a:pPr eaLnBrk="0" hangingPunct="0"/>
            <a:r>
              <a:rPr lang="zh-CN" altLang="en-US" sz="2800" b="1" dirty="0">
                <a:solidFill>
                  <a:srgbClr val="000066"/>
                </a:solidFill>
                <a:ea typeface="黑体" panose="02010609060101010101" pitchFamily="49" charset="-122"/>
              </a:rPr>
              <a:t>在计算检验和时，临时把“伪首部”和 </a:t>
            </a:r>
            <a:r>
              <a:rPr lang="en-US" altLang="zh-CN" sz="2800" b="1" dirty="0">
                <a:solidFill>
                  <a:srgbClr val="000066"/>
                </a:solidFill>
                <a:ea typeface="黑体" panose="02010609060101010101" pitchFamily="49" charset="-122"/>
              </a:rPr>
              <a:t>UDP </a:t>
            </a:r>
            <a:r>
              <a:rPr lang="zh-CN" altLang="en-US" sz="2800" b="1" dirty="0">
                <a:solidFill>
                  <a:srgbClr val="000066"/>
                </a:solidFill>
                <a:ea typeface="黑体" panose="02010609060101010101" pitchFamily="49" charset="-122"/>
              </a:rPr>
              <a:t>用户数据报连接在一起。伪首部仅仅是为了计算检验和。</a:t>
            </a:r>
          </a:p>
        </p:txBody>
      </p:sp>
      <p:sp>
        <p:nvSpPr>
          <p:cNvPr id="1352706" name="Rectangle 2"/>
          <p:cNvSpPr>
            <a:spLocks noChangeArrowheads="1"/>
          </p:cNvSpPr>
          <p:nvPr/>
        </p:nvSpPr>
        <p:spPr bwMode="auto">
          <a:xfrm>
            <a:off x="2535238" y="5156200"/>
            <a:ext cx="1169987" cy="457200"/>
          </a:xfrm>
          <a:prstGeom prst="rect">
            <a:avLst/>
          </a:prstGeom>
          <a:solidFill>
            <a:srgbClr val="FF9900"/>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07" name="Freeform 3"/>
          <p:cNvSpPr>
            <a:spLocks noChangeArrowheads="1"/>
          </p:cNvSpPr>
          <p:nvPr/>
        </p:nvSpPr>
        <p:spPr bwMode="auto">
          <a:xfrm>
            <a:off x="3165475" y="3941763"/>
            <a:ext cx="5019675" cy="34925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08" name="Rectangle 4"/>
          <p:cNvSpPr>
            <a:spLocks noChangeArrowheads="1"/>
          </p:cNvSpPr>
          <p:nvPr/>
        </p:nvSpPr>
        <p:spPr bwMode="auto">
          <a:xfrm>
            <a:off x="3703638" y="4291013"/>
            <a:ext cx="11715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09" name="AutoShape 6"/>
          <p:cNvSpPr>
            <a:spLocks noChangeArrowheads="1"/>
          </p:cNvSpPr>
          <p:nvPr/>
        </p:nvSpPr>
        <p:spPr bwMode="auto">
          <a:xfrm>
            <a:off x="1671638" y="5246688"/>
            <a:ext cx="863600" cy="288925"/>
          </a:xfrm>
          <a:prstGeom prst="leftArrow">
            <a:avLst>
              <a:gd name="adj1" fmla="val 50000"/>
              <a:gd name="adj2" fmla="val 68969"/>
            </a:avLst>
          </a:prstGeom>
          <a:solidFill>
            <a:srgbClr val="C0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0" name="Freeform 7"/>
          <p:cNvSpPr>
            <a:spLocks noChangeArrowheads="1"/>
          </p:cNvSpPr>
          <p:nvPr/>
        </p:nvSpPr>
        <p:spPr bwMode="auto">
          <a:xfrm>
            <a:off x="1042988" y="2922588"/>
            <a:ext cx="7246937" cy="561975"/>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1" name="Rectangle 8"/>
          <p:cNvSpPr>
            <a:spLocks noChangeArrowheads="1"/>
          </p:cNvSpPr>
          <p:nvPr/>
        </p:nvSpPr>
        <p:spPr bwMode="auto">
          <a:xfrm>
            <a:off x="3165475" y="3484563"/>
            <a:ext cx="5019675" cy="4572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2" name="Rectangle 9"/>
          <p:cNvSpPr>
            <a:spLocks noChangeArrowheads="1"/>
          </p:cNvSpPr>
          <p:nvPr/>
        </p:nvSpPr>
        <p:spPr bwMode="auto">
          <a:xfrm>
            <a:off x="3705225" y="5159375"/>
            <a:ext cx="5927725" cy="457200"/>
          </a:xfrm>
          <a:prstGeom prst="rect">
            <a:avLst/>
          </a:prstGeom>
          <a:solidFill>
            <a:srgbClr val="99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3" name="Line 10"/>
          <p:cNvSpPr>
            <a:spLocks noChangeShapeType="1"/>
          </p:cNvSpPr>
          <p:nvPr/>
        </p:nvSpPr>
        <p:spPr bwMode="auto">
          <a:xfrm>
            <a:off x="442118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4" name="Rectangle 11"/>
          <p:cNvSpPr>
            <a:spLocks noChangeArrowheads="1"/>
          </p:cNvSpPr>
          <p:nvPr/>
        </p:nvSpPr>
        <p:spPr bwMode="auto">
          <a:xfrm>
            <a:off x="1047750" y="2465388"/>
            <a:ext cx="7242175" cy="4572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5" name="Line 12"/>
          <p:cNvSpPr>
            <a:spLocks noChangeShapeType="1"/>
          </p:cNvSpPr>
          <p:nvPr/>
        </p:nvSpPr>
        <p:spPr bwMode="auto">
          <a:xfrm>
            <a:off x="3459163" y="2465388"/>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6" name="Line 13"/>
          <p:cNvSpPr>
            <a:spLocks noChangeShapeType="1"/>
          </p:cNvSpPr>
          <p:nvPr/>
        </p:nvSpPr>
        <p:spPr bwMode="auto">
          <a:xfrm>
            <a:off x="5675313" y="3484563"/>
            <a:ext cx="317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7" name="Line 14"/>
          <p:cNvSpPr>
            <a:spLocks noChangeShapeType="1"/>
          </p:cNvSpPr>
          <p:nvPr/>
        </p:nvSpPr>
        <p:spPr bwMode="auto">
          <a:xfrm>
            <a:off x="6929438" y="3484563"/>
            <a:ext cx="1587"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8" name="Freeform 15"/>
          <p:cNvSpPr>
            <a:spLocks noChangeArrowheads="1"/>
          </p:cNvSpPr>
          <p:nvPr/>
        </p:nvSpPr>
        <p:spPr bwMode="auto">
          <a:xfrm>
            <a:off x="1811338" y="3484563"/>
            <a:ext cx="135413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19" name="Text Box 16"/>
          <p:cNvSpPr txBox="1">
            <a:spLocks noChangeArrowheads="1"/>
          </p:cNvSpPr>
          <p:nvPr/>
        </p:nvSpPr>
        <p:spPr bwMode="auto">
          <a:xfrm>
            <a:off x="193992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伪首部</a:t>
            </a:r>
          </a:p>
        </p:txBody>
      </p:sp>
      <p:sp>
        <p:nvSpPr>
          <p:cNvPr id="1352720" name="Text Box 17"/>
          <p:cNvSpPr txBox="1">
            <a:spLocks noChangeArrowheads="1"/>
          </p:cNvSpPr>
          <p:nvPr/>
        </p:nvSpPr>
        <p:spPr bwMode="auto">
          <a:xfrm>
            <a:off x="3178175" y="3481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源端口</a:t>
            </a:r>
          </a:p>
        </p:txBody>
      </p:sp>
      <p:sp>
        <p:nvSpPr>
          <p:cNvPr id="1352721" name="Text Box 18"/>
          <p:cNvSpPr txBox="1">
            <a:spLocks noChangeArrowheads="1"/>
          </p:cNvSpPr>
          <p:nvPr/>
        </p:nvSpPr>
        <p:spPr bwMode="auto">
          <a:xfrm>
            <a:off x="4357688" y="348138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目的端口</a:t>
            </a:r>
          </a:p>
        </p:txBody>
      </p:sp>
      <p:sp>
        <p:nvSpPr>
          <p:cNvPr id="1352722" name="Text Box 19"/>
          <p:cNvSpPr txBox="1">
            <a:spLocks noChangeArrowheads="1"/>
          </p:cNvSpPr>
          <p:nvPr/>
        </p:nvSpPr>
        <p:spPr bwMode="auto">
          <a:xfrm>
            <a:off x="5803900" y="347980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长  度</a:t>
            </a:r>
          </a:p>
        </p:txBody>
      </p:sp>
      <p:sp>
        <p:nvSpPr>
          <p:cNvPr id="1352723" name="Text Box 20"/>
          <p:cNvSpPr txBox="1">
            <a:spLocks noChangeArrowheads="1"/>
          </p:cNvSpPr>
          <p:nvPr/>
        </p:nvSpPr>
        <p:spPr bwMode="auto">
          <a:xfrm>
            <a:off x="7043738" y="348138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检验和</a:t>
            </a:r>
          </a:p>
        </p:txBody>
      </p:sp>
      <p:sp>
        <p:nvSpPr>
          <p:cNvPr id="1352724" name="Text Box 21"/>
          <p:cNvSpPr txBox="1">
            <a:spLocks noChangeArrowheads="1"/>
          </p:cNvSpPr>
          <p:nvPr/>
        </p:nvSpPr>
        <p:spPr bwMode="auto">
          <a:xfrm>
            <a:off x="5959475" y="5200650"/>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52725" name="Text Box 22"/>
          <p:cNvSpPr txBox="1">
            <a:spLocks noChangeArrowheads="1"/>
          </p:cNvSpPr>
          <p:nvPr/>
        </p:nvSpPr>
        <p:spPr bwMode="auto">
          <a:xfrm>
            <a:off x="2649538" y="520065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2726" name="Line 23"/>
          <p:cNvSpPr>
            <a:spLocks noChangeShapeType="1"/>
          </p:cNvSpPr>
          <p:nvPr/>
        </p:nvSpPr>
        <p:spPr bwMode="auto">
          <a:xfrm>
            <a:off x="58769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27" name="Line 24"/>
          <p:cNvSpPr>
            <a:spLocks noChangeShapeType="1"/>
          </p:cNvSpPr>
          <p:nvPr/>
        </p:nvSpPr>
        <p:spPr bwMode="auto">
          <a:xfrm>
            <a:off x="6454775" y="2465388"/>
            <a:ext cx="1588"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28" name="Line 25"/>
          <p:cNvSpPr>
            <a:spLocks noChangeShapeType="1"/>
          </p:cNvSpPr>
          <p:nvPr/>
        </p:nvSpPr>
        <p:spPr bwMode="auto">
          <a:xfrm>
            <a:off x="7032625" y="246538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29" name="Text Box 26"/>
          <p:cNvSpPr txBox="1">
            <a:spLocks noChangeArrowheads="1"/>
          </p:cNvSpPr>
          <p:nvPr/>
        </p:nvSpPr>
        <p:spPr bwMode="auto">
          <a:xfrm>
            <a:off x="6986588" y="2462213"/>
            <a:ext cx="124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a:t>
            </a:r>
            <a:r>
              <a:rPr lang="zh-CN" altLang="en-US" sz="2000" b="1">
                <a:solidFill>
                  <a:srgbClr val="000099"/>
                </a:solidFill>
                <a:ea typeface="黑体" panose="02010609060101010101" pitchFamily="49" charset="-122"/>
              </a:rPr>
              <a:t>长度</a:t>
            </a:r>
          </a:p>
        </p:txBody>
      </p:sp>
      <p:sp>
        <p:nvSpPr>
          <p:cNvPr id="1352730" name="Text Box 27"/>
          <p:cNvSpPr txBox="1">
            <a:spLocks noChangeArrowheads="1"/>
          </p:cNvSpPr>
          <p:nvPr/>
        </p:nvSpPr>
        <p:spPr bwMode="auto">
          <a:xfrm>
            <a:off x="1468438" y="2462213"/>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源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2731" name="Text Box 28"/>
          <p:cNvSpPr txBox="1">
            <a:spLocks noChangeArrowheads="1"/>
          </p:cNvSpPr>
          <p:nvPr/>
        </p:nvSpPr>
        <p:spPr bwMode="auto">
          <a:xfrm>
            <a:off x="3784600" y="2462213"/>
            <a:ext cx="1595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目的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1352732" name="Text Box 29"/>
          <p:cNvSpPr txBox="1">
            <a:spLocks noChangeArrowheads="1"/>
          </p:cNvSpPr>
          <p:nvPr/>
        </p:nvSpPr>
        <p:spPr bwMode="auto">
          <a:xfrm>
            <a:off x="5988050" y="24622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0</a:t>
            </a:r>
          </a:p>
        </p:txBody>
      </p:sp>
      <p:sp>
        <p:nvSpPr>
          <p:cNvPr id="1352733" name="Text Box 30"/>
          <p:cNvSpPr txBox="1">
            <a:spLocks noChangeArrowheads="1"/>
          </p:cNvSpPr>
          <p:nvPr/>
        </p:nvSpPr>
        <p:spPr bwMode="auto">
          <a:xfrm>
            <a:off x="6456363" y="2462213"/>
            <a:ext cx="471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17</a:t>
            </a:r>
          </a:p>
        </p:txBody>
      </p:sp>
      <p:sp>
        <p:nvSpPr>
          <p:cNvPr id="1352734" name="Line 31"/>
          <p:cNvSpPr>
            <a:spLocks noChangeShapeType="1"/>
          </p:cNvSpPr>
          <p:nvPr/>
        </p:nvSpPr>
        <p:spPr bwMode="auto">
          <a:xfrm>
            <a:off x="2489200" y="5845175"/>
            <a:ext cx="7143750" cy="0"/>
          </a:xfrm>
          <a:prstGeom prst="line">
            <a:avLst/>
          </a:prstGeom>
          <a:noFill/>
          <a:ln w="952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35" name="Rectangle 32"/>
          <p:cNvSpPr>
            <a:spLocks noChangeArrowheads="1"/>
          </p:cNvSpPr>
          <p:nvPr/>
        </p:nvSpPr>
        <p:spPr bwMode="auto">
          <a:xfrm>
            <a:off x="5289550" y="5691188"/>
            <a:ext cx="127000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36" name="Text Box 33"/>
          <p:cNvSpPr txBox="1">
            <a:spLocks noChangeArrowheads="1"/>
          </p:cNvSpPr>
          <p:nvPr/>
        </p:nvSpPr>
        <p:spPr bwMode="auto">
          <a:xfrm>
            <a:off x="5238750" y="5811838"/>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352737" name="Text Box 34"/>
          <p:cNvSpPr txBox="1">
            <a:spLocks noChangeArrowheads="1"/>
          </p:cNvSpPr>
          <p:nvPr/>
        </p:nvSpPr>
        <p:spPr bwMode="auto">
          <a:xfrm>
            <a:off x="388938" y="20828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2738" name="Text Box 35"/>
          <p:cNvSpPr txBox="1">
            <a:spLocks noChangeArrowheads="1"/>
          </p:cNvSpPr>
          <p:nvPr/>
        </p:nvSpPr>
        <p:spPr bwMode="auto">
          <a:xfrm>
            <a:off x="20637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2739" name="Text Box 36"/>
          <p:cNvSpPr txBox="1">
            <a:spLocks noChangeArrowheads="1"/>
          </p:cNvSpPr>
          <p:nvPr/>
        </p:nvSpPr>
        <p:spPr bwMode="auto">
          <a:xfrm>
            <a:off x="4475163" y="2060575"/>
            <a:ext cx="328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4</a:t>
            </a:r>
          </a:p>
        </p:txBody>
      </p:sp>
      <p:sp>
        <p:nvSpPr>
          <p:cNvPr id="1352740" name="Text Box 37"/>
          <p:cNvSpPr txBox="1">
            <a:spLocks noChangeArrowheads="1"/>
          </p:cNvSpPr>
          <p:nvPr/>
        </p:nvSpPr>
        <p:spPr bwMode="auto">
          <a:xfrm>
            <a:off x="5988050"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2741" name="Text Box 38"/>
          <p:cNvSpPr txBox="1">
            <a:spLocks noChangeArrowheads="1"/>
          </p:cNvSpPr>
          <p:nvPr/>
        </p:nvSpPr>
        <p:spPr bwMode="auto">
          <a:xfrm>
            <a:off x="6551613" y="2060575"/>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a:t>
            </a:r>
          </a:p>
        </p:txBody>
      </p:sp>
      <p:sp>
        <p:nvSpPr>
          <p:cNvPr id="1352742" name="Text Box 39"/>
          <p:cNvSpPr txBox="1">
            <a:spLocks noChangeArrowheads="1"/>
          </p:cNvSpPr>
          <p:nvPr/>
        </p:nvSpPr>
        <p:spPr bwMode="auto">
          <a:xfrm>
            <a:off x="7404100" y="2060575"/>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3" name="Text Box 40"/>
          <p:cNvSpPr txBox="1">
            <a:spLocks noChangeArrowheads="1"/>
          </p:cNvSpPr>
          <p:nvPr/>
        </p:nvSpPr>
        <p:spPr bwMode="auto">
          <a:xfrm>
            <a:off x="2198688" y="31067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12</a:t>
            </a:r>
          </a:p>
        </p:txBody>
      </p:sp>
      <p:sp>
        <p:nvSpPr>
          <p:cNvPr id="1352744" name="Text Box 41"/>
          <p:cNvSpPr txBox="1">
            <a:spLocks noChangeArrowheads="1"/>
          </p:cNvSpPr>
          <p:nvPr/>
        </p:nvSpPr>
        <p:spPr bwMode="auto">
          <a:xfrm>
            <a:off x="357505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5" name="Text Box 42"/>
          <p:cNvSpPr txBox="1">
            <a:spLocks noChangeArrowheads="1"/>
          </p:cNvSpPr>
          <p:nvPr/>
        </p:nvSpPr>
        <p:spPr bwMode="auto">
          <a:xfrm>
            <a:off x="4902200"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6" name="Text Box 43"/>
          <p:cNvSpPr txBox="1">
            <a:spLocks noChangeArrowheads="1"/>
          </p:cNvSpPr>
          <p:nvPr/>
        </p:nvSpPr>
        <p:spPr bwMode="auto">
          <a:xfrm>
            <a:off x="6061075"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7" name="Text Box 44"/>
          <p:cNvSpPr txBox="1">
            <a:spLocks noChangeArrowheads="1"/>
          </p:cNvSpPr>
          <p:nvPr/>
        </p:nvSpPr>
        <p:spPr bwMode="auto">
          <a:xfrm>
            <a:off x="7380288" y="31115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2</a:t>
            </a:r>
          </a:p>
        </p:txBody>
      </p:sp>
      <p:sp>
        <p:nvSpPr>
          <p:cNvPr id="1352748" name="Text Box 45"/>
          <p:cNvSpPr txBox="1">
            <a:spLocks noChangeArrowheads="1"/>
          </p:cNvSpPr>
          <p:nvPr/>
        </p:nvSpPr>
        <p:spPr bwMode="auto">
          <a:xfrm>
            <a:off x="944563" y="310673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字节</a:t>
            </a:r>
          </a:p>
        </p:txBody>
      </p:sp>
      <p:sp>
        <p:nvSpPr>
          <p:cNvPr id="1352749" name="Text Box 46"/>
          <p:cNvSpPr txBox="1">
            <a:spLocks noChangeArrowheads="1"/>
          </p:cNvSpPr>
          <p:nvPr/>
        </p:nvSpPr>
        <p:spPr bwMode="auto">
          <a:xfrm>
            <a:off x="1065213" y="559435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发送在前</a:t>
            </a:r>
          </a:p>
        </p:txBody>
      </p:sp>
      <p:sp>
        <p:nvSpPr>
          <p:cNvPr id="1352750" name="Rectangle 48"/>
          <p:cNvSpPr>
            <a:spLocks noChangeArrowheads="1"/>
          </p:cNvSpPr>
          <p:nvPr/>
        </p:nvSpPr>
        <p:spPr bwMode="auto">
          <a:xfrm>
            <a:off x="4875213" y="4291013"/>
            <a:ext cx="4757737" cy="457200"/>
          </a:xfrm>
          <a:prstGeom prst="rect">
            <a:avLst/>
          </a:prstGeom>
          <a:solidFill>
            <a:srgbClr val="FFC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52751" name="Text Box 49"/>
          <p:cNvSpPr txBox="1">
            <a:spLocks noChangeArrowheads="1"/>
          </p:cNvSpPr>
          <p:nvPr/>
        </p:nvSpPr>
        <p:spPr bwMode="auto">
          <a:xfrm>
            <a:off x="6559550" y="4333875"/>
            <a:ext cx="133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         据</a:t>
            </a:r>
          </a:p>
        </p:txBody>
      </p:sp>
      <p:sp>
        <p:nvSpPr>
          <p:cNvPr id="1352752" name="Text Box 50"/>
          <p:cNvSpPr txBox="1">
            <a:spLocks noChangeArrowheads="1"/>
          </p:cNvSpPr>
          <p:nvPr/>
        </p:nvSpPr>
        <p:spPr bwMode="auto">
          <a:xfrm>
            <a:off x="3856038" y="4333875"/>
            <a:ext cx="842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  部</a:t>
            </a:r>
          </a:p>
        </p:txBody>
      </p:sp>
      <p:sp>
        <p:nvSpPr>
          <p:cNvPr id="1352753" name="Text Box 52"/>
          <p:cNvSpPr txBox="1">
            <a:spLocks noChangeArrowheads="1"/>
          </p:cNvSpPr>
          <p:nvPr/>
        </p:nvSpPr>
        <p:spPr bwMode="auto">
          <a:xfrm>
            <a:off x="1441450" y="4291013"/>
            <a:ext cx="2084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102" name="Rectangle 4"/>
          <p:cNvSpPr>
            <a:spLocks noChangeArrowheads="1"/>
          </p:cNvSpPr>
          <p:nvPr/>
        </p:nvSpPr>
        <p:spPr bwMode="auto">
          <a:xfrm>
            <a:off x="3709988" y="4759325"/>
            <a:ext cx="5915025" cy="395288"/>
          </a:xfrm>
          <a:prstGeom prst="rect">
            <a:avLst/>
          </a:prstGeom>
          <a:gradFill flip="none" rotWithShape="1">
            <a:gsLst>
              <a:gs pos="0">
                <a:srgbClr val="99FF66"/>
              </a:gs>
              <a:gs pos="100000">
                <a:srgbClr val="47B26B"/>
              </a:gs>
            </a:gsLst>
            <a:lin ang="16200000" scaled="1"/>
            <a:tileRect/>
          </a:gradFill>
          <a:ln>
            <a:noFill/>
          </a:ln>
          <a:effectLst/>
        </p:spPr>
        <p:txBody>
          <a:bodyPr wrap="none" anchor="ctr"/>
          <a:lstStyle/>
          <a:p>
            <a:pPr fontAlgn="auto">
              <a:spcBef>
                <a:spcPts val="0"/>
              </a:spcBef>
              <a:spcAft>
                <a:spcPts val="0"/>
              </a:spcAft>
              <a:defRPr/>
            </a:pPr>
            <a:endParaRPr lang="zh-CN" altLang="en-US" sz="2400" b="1" kern="0">
              <a:solidFill>
                <a:srgbClr val="000099"/>
              </a:solidFill>
              <a:latin typeface="+mn-lt"/>
              <a:ea typeface="黑体" panose="02010609060101010101" pitchFamily="2" charset="-122"/>
            </a:endParaRPr>
          </a:p>
        </p:txBody>
      </p:sp>
      <p:sp>
        <p:nvSpPr>
          <p:cNvPr id="501812" name="Rectangle 52"/>
          <p:cNvSpPr>
            <a:spLocks noChangeArrowheads="1"/>
          </p:cNvSpPr>
          <p:nvPr/>
        </p:nvSpPr>
        <p:spPr bwMode="auto">
          <a:xfrm>
            <a:off x="1784350" y="3500438"/>
            <a:ext cx="1357313" cy="461962"/>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5275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91E2098-CFC6-4B36-8778-4D4D55BC8FE7}" type="slidenum">
              <a:rPr lang="zh-CN" altLang="en-US" smtClean="0"/>
              <a:pPr/>
              <a:t>37</a:t>
            </a:fld>
            <a:endParaRPr lang="en-US" altLang="zh-CN" smtClean="0"/>
          </a:p>
        </p:txBody>
      </p:sp>
      <p:sp>
        <p:nvSpPr>
          <p:cNvPr id="135275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2"/>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grpId="1" nodeType="afterEffect">
                                  <p:stCondLst>
                                    <p:cond delay="500"/>
                                  </p:stCondLst>
                                  <p:childTnLst>
                                    <p:anim calcmode="discrete" valueType="str">
                                      <p:cBhvr>
                                        <p:cTn id="9" dur="1000" fill="hold"/>
                                        <p:tgtEl>
                                          <p:spTgt spid="5018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2" grpId="0" animBg="1"/>
      <p:bldP spid="501812"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753" name="Rectangle 36"/>
          <p:cNvSpPr>
            <a:spLocks noChangeArrowheads="1"/>
          </p:cNvSpPr>
          <p:nvPr/>
        </p:nvSpPr>
        <p:spPr bwMode="auto">
          <a:xfrm>
            <a:off x="3879850" y="3433763"/>
            <a:ext cx="660400" cy="36195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黑体" panose="02010609060101010101" pitchFamily="49" charset="-122"/>
            </a:endParaRPr>
          </a:p>
        </p:txBody>
      </p:sp>
      <p:sp>
        <p:nvSpPr>
          <p:cNvPr id="1354754" name="Rectangle 35"/>
          <p:cNvSpPr>
            <a:spLocks noChangeArrowheads="1"/>
          </p:cNvSpPr>
          <p:nvPr/>
        </p:nvSpPr>
        <p:spPr bwMode="auto">
          <a:xfrm>
            <a:off x="1754188" y="2420938"/>
            <a:ext cx="2786062" cy="6715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黑体" panose="02010609060101010101" pitchFamily="49" charset="-122"/>
            </a:endParaRPr>
          </a:p>
        </p:txBody>
      </p:sp>
      <p:sp>
        <p:nvSpPr>
          <p:cNvPr id="1354755" name="Rectangle 2"/>
          <p:cNvSpPr>
            <a:spLocks noGrp="1" noChangeArrowheads="1"/>
          </p:cNvSpPr>
          <p:nvPr>
            <p:ph type="title"/>
          </p:nvPr>
        </p:nvSpPr>
        <p:spPr/>
        <p:txBody>
          <a:bodyPr/>
          <a:lstStyle/>
          <a:p>
            <a:pPr algn="ctr"/>
            <a:r>
              <a:rPr lang="zh-CN" altLang="en-US" smtClean="0">
                <a:ea typeface="黑体" panose="02010609060101010101" pitchFamily="49" charset="-122"/>
              </a:rPr>
              <a:t>计算 </a:t>
            </a:r>
            <a:r>
              <a:rPr lang="en-US" altLang="zh-CN" smtClean="0">
                <a:ea typeface="黑体" panose="02010609060101010101" pitchFamily="49" charset="-122"/>
              </a:rPr>
              <a:t>UDP </a:t>
            </a:r>
            <a:r>
              <a:rPr lang="zh-CN" altLang="en-US" smtClean="0">
                <a:ea typeface="黑体" panose="02010609060101010101" pitchFamily="49" charset="-122"/>
              </a:rPr>
              <a:t>检验和的例子 </a:t>
            </a:r>
          </a:p>
        </p:txBody>
      </p:sp>
      <p:sp>
        <p:nvSpPr>
          <p:cNvPr id="377863" name="Text Box 7"/>
          <p:cNvSpPr txBox="1">
            <a:spLocks noChangeArrowheads="1"/>
          </p:cNvSpPr>
          <p:nvPr/>
        </p:nvSpPr>
        <p:spPr bwMode="auto">
          <a:xfrm>
            <a:off x="4659313" y="1093788"/>
            <a:ext cx="5246687"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ea typeface="黑体" panose="02010609060101010101" pitchFamily="49" charset="-122"/>
              </a:rPr>
              <a:t>10011001 00010011  →  153.19</a:t>
            </a:r>
          </a:p>
          <a:p>
            <a:pPr eaLnBrk="0" hangingPunct="0"/>
            <a:r>
              <a:rPr lang="en-US" altLang="zh-CN" sz="2000" b="1">
                <a:ea typeface="黑体" panose="02010609060101010101" pitchFamily="49" charset="-122"/>
              </a:rPr>
              <a:t>00001000 01101000  →  8.104</a:t>
            </a:r>
          </a:p>
          <a:p>
            <a:pPr eaLnBrk="0" hangingPunct="0"/>
            <a:r>
              <a:rPr lang="en-US" altLang="zh-CN" sz="2000" b="1">
                <a:ea typeface="黑体" panose="02010609060101010101" pitchFamily="49" charset="-122"/>
              </a:rPr>
              <a:t>10101011 00000011  →  171.3</a:t>
            </a:r>
          </a:p>
          <a:p>
            <a:pPr eaLnBrk="0" hangingPunct="0"/>
            <a:r>
              <a:rPr lang="en-US" altLang="zh-CN" sz="2000" b="1">
                <a:ea typeface="黑体" panose="02010609060101010101" pitchFamily="49" charset="-122"/>
              </a:rPr>
              <a:t>00001110 00001011  →  14.11</a:t>
            </a:r>
          </a:p>
          <a:p>
            <a:pPr eaLnBrk="0" hangingPunct="0"/>
            <a:r>
              <a:rPr lang="en-US" altLang="zh-CN" sz="2000" b="1">
                <a:ea typeface="黑体" panose="02010609060101010101" pitchFamily="49" charset="-122"/>
              </a:rPr>
              <a:t>00000000 00010001  →  0 </a:t>
            </a:r>
            <a:r>
              <a:rPr lang="zh-CN" altLang="en-US" sz="2000" b="1">
                <a:ea typeface="黑体" panose="02010609060101010101" pitchFamily="49" charset="-122"/>
              </a:rPr>
              <a:t>和 </a:t>
            </a:r>
            <a:r>
              <a:rPr lang="en-US" altLang="zh-CN" sz="2000" b="1">
                <a:ea typeface="黑体" panose="02010609060101010101" pitchFamily="49" charset="-122"/>
              </a:rPr>
              <a:t>17</a:t>
            </a:r>
          </a:p>
          <a:p>
            <a:pPr eaLnBrk="0" hangingPunct="0"/>
            <a:r>
              <a:rPr lang="en-US" altLang="zh-CN" sz="2000" b="1">
                <a:ea typeface="黑体" panose="02010609060101010101" pitchFamily="49" charset="-122"/>
              </a:rPr>
              <a:t>00000000 00001111  →  15</a:t>
            </a:r>
          </a:p>
          <a:p>
            <a:pPr eaLnBrk="0" hangingPunct="0"/>
            <a:r>
              <a:rPr lang="en-US" altLang="zh-CN" sz="2000" b="1">
                <a:ea typeface="黑体" panose="02010609060101010101" pitchFamily="49" charset="-122"/>
              </a:rPr>
              <a:t>00000100 00111111  →  1087</a:t>
            </a:r>
          </a:p>
          <a:p>
            <a:pPr eaLnBrk="0" hangingPunct="0"/>
            <a:r>
              <a:rPr lang="en-US" altLang="zh-CN" sz="2000" b="1">
                <a:ea typeface="黑体" panose="02010609060101010101" pitchFamily="49" charset="-122"/>
              </a:rPr>
              <a:t>00000000 00001101  →  13</a:t>
            </a:r>
          </a:p>
          <a:p>
            <a:pPr eaLnBrk="0" hangingPunct="0"/>
            <a:r>
              <a:rPr lang="en-US" altLang="zh-CN" sz="2000" b="1">
                <a:ea typeface="黑体" panose="02010609060101010101" pitchFamily="49" charset="-122"/>
              </a:rPr>
              <a:t>00000000 00001111  →  15</a:t>
            </a:r>
          </a:p>
          <a:p>
            <a:pPr eaLnBrk="0" hangingPunct="0"/>
            <a:r>
              <a:rPr lang="en-US" altLang="zh-CN" sz="2000" b="1">
                <a:ea typeface="黑体" panose="02010609060101010101" pitchFamily="49" charset="-122"/>
              </a:rPr>
              <a:t>00000000 00000000  →  0</a:t>
            </a:r>
            <a:r>
              <a:rPr lang="zh-CN" altLang="en-US" sz="2000" b="1">
                <a:ea typeface="黑体" panose="02010609060101010101" pitchFamily="49" charset="-122"/>
              </a:rPr>
              <a:t>（检验和）</a:t>
            </a:r>
          </a:p>
          <a:p>
            <a:pPr eaLnBrk="0" hangingPunct="0"/>
            <a:r>
              <a:rPr lang="en-US" altLang="zh-CN" sz="2000" b="1">
                <a:ea typeface="黑体" panose="02010609060101010101" pitchFamily="49" charset="-122"/>
              </a:rPr>
              <a:t>01010100 01000101  →  </a:t>
            </a:r>
            <a:r>
              <a:rPr lang="zh-CN" altLang="en-US" sz="2000" b="1">
                <a:ea typeface="黑体" panose="02010609060101010101" pitchFamily="49" charset="-122"/>
              </a:rPr>
              <a:t>数据</a:t>
            </a:r>
          </a:p>
          <a:p>
            <a:pPr eaLnBrk="0" hangingPunct="0"/>
            <a:r>
              <a:rPr lang="en-US" altLang="zh-CN" sz="2000" b="1">
                <a:ea typeface="黑体" panose="02010609060101010101" pitchFamily="49" charset="-122"/>
              </a:rPr>
              <a:t>01010011 01010100  →  </a:t>
            </a:r>
            <a:r>
              <a:rPr lang="zh-CN" altLang="en-US" sz="2000" b="1">
                <a:ea typeface="黑体" panose="02010609060101010101" pitchFamily="49" charset="-122"/>
              </a:rPr>
              <a:t>数据</a:t>
            </a:r>
          </a:p>
          <a:p>
            <a:pPr eaLnBrk="0" hangingPunct="0"/>
            <a:r>
              <a:rPr lang="en-US" altLang="zh-CN" sz="2000" b="1">
                <a:ea typeface="黑体" panose="02010609060101010101" pitchFamily="49" charset="-122"/>
              </a:rPr>
              <a:t>01001001 01001110  →  </a:t>
            </a:r>
            <a:r>
              <a:rPr lang="zh-CN" altLang="en-US" sz="2000" b="1">
                <a:ea typeface="黑体" panose="02010609060101010101" pitchFamily="49" charset="-122"/>
              </a:rPr>
              <a:t>数据</a:t>
            </a:r>
          </a:p>
          <a:p>
            <a:pPr eaLnBrk="0" hangingPunct="0"/>
            <a:r>
              <a:rPr lang="en-US" altLang="zh-CN" sz="2000" b="1">
                <a:ea typeface="黑体" panose="02010609060101010101" pitchFamily="49" charset="-122"/>
              </a:rPr>
              <a:t>01000111 00000000  →  </a:t>
            </a:r>
            <a:r>
              <a:rPr lang="zh-CN" altLang="en-US" sz="2000" b="1">
                <a:ea typeface="黑体" panose="02010609060101010101" pitchFamily="49" charset="-122"/>
              </a:rPr>
              <a:t>数据和 </a:t>
            </a:r>
            <a:r>
              <a:rPr lang="en-US" altLang="zh-CN" sz="2000" b="1">
                <a:ea typeface="黑体" panose="02010609060101010101" pitchFamily="49" charset="-122"/>
              </a:rPr>
              <a:t>0</a:t>
            </a:r>
            <a:r>
              <a:rPr lang="zh-CN" altLang="en-US" sz="2000" b="1">
                <a:ea typeface="黑体" panose="02010609060101010101" pitchFamily="49" charset="-122"/>
              </a:rPr>
              <a:t>（填充）</a:t>
            </a:r>
          </a:p>
          <a:p>
            <a:pPr eaLnBrk="0" hangingPunct="0"/>
            <a:endParaRPr lang="zh-CN" altLang="en-US" sz="1000" b="1">
              <a:ea typeface="黑体" panose="02010609060101010101" pitchFamily="49" charset="-122"/>
            </a:endParaRPr>
          </a:p>
          <a:p>
            <a:pPr eaLnBrk="0" hangingPunct="0"/>
            <a:r>
              <a:rPr lang="en-US" altLang="zh-CN" sz="2000" b="1">
                <a:ea typeface="黑体" panose="02010609060101010101" pitchFamily="49" charset="-122"/>
              </a:rPr>
              <a:t>10010110 11101101  →  </a:t>
            </a:r>
            <a:r>
              <a:rPr lang="zh-CN" altLang="en-US" sz="2000" b="1">
                <a:ea typeface="黑体" panose="02010609060101010101" pitchFamily="49" charset="-122"/>
              </a:rPr>
              <a:t>求和得出的结果</a:t>
            </a:r>
          </a:p>
          <a:p>
            <a:pPr eaLnBrk="0" hangingPunct="0">
              <a:lnSpc>
                <a:spcPct val="130000"/>
              </a:lnSpc>
            </a:pPr>
            <a:r>
              <a:rPr lang="en-US" altLang="zh-CN" sz="2000" b="1">
                <a:ea typeface="黑体" panose="02010609060101010101" pitchFamily="49" charset="-122"/>
              </a:rPr>
              <a:t>01101001 00010010  →  </a:t>
            </a:r>
            <a:r>
              <a:rPr lang="zh-CN" altLang="en-US" sz="2000" b="1">
                <a:ea typeface="黑体" panose="02010609060101010101" pitchFamily="49" charset="-122"/>
              </a:rPr>
              <a:t>检验和 </a:t>
            </a:r>
          </a:p>
        </p:txBody>
      </p:sp>
      <p:sp>
        <p:nvSpPr>
          <p:cNvPr id="1354757" name="Freeform 5"/>
          <p:cNvSpPr>
            <a:spLocks noChangeArrowheads="1"/>
          </p:cNvSpPr>
          <p:nvPr/>
        </p:nvSpPr>
        <p:spPr bwMode="auto">
          <a:xfrm>
            <a:off x="1754188" y="3114675"/>
            <a:ext cx="2813050" cy="673100"/>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1354758" name="Rectangle 6"/>
          <p:cNvSpPr>
            <a:spLocks noChangeArrowheads="1"/>
          </p:cNvSpPr>
          <p:nvPr/>
        </p:nvSpPr>
        <p:spPr bwMode="auto">
          <a:xfrm>
            <a:off x="1754188" y="1430338"/>
            <a:ext cx="2813050" cy="10096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ea typeface="黑体" panose="02010609060101010101" pitchFamily="49" charset="-122"/>
            </a:endParaRPr>
          </a:p>
        </p:txBody>
      </p:sp>
      <p:sp>
        <p:nvSpPr>
          <p:cNvPr id="1354759" name="Rectangle 8"/>
          <p:cNvSpPr>
            <a:spLocks noChangeArrowheads="1"/>
          </p:cNvSpPr>
          <p:nvPr/>
        </p:nvSpPr>
        <p:spPr bwMode="auto">
          <a:xfrm>
            <a:off x="1755775" y="1404938"/>
            <a:ext cx="2808288" cy="23764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60" name="Line 9"/>
          <p:cNvSpPr>
            <a:spLocks noChangeShapeType="1"/>
          </p:cNvSpPr>
          <p:nvPr/>
        </p:nvSpPr>
        <p:spPr bwMode="auto">
          <a:xfrm>
            <a:off x="1754188" y="1766888"/>
            <a:ext cx="28130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1" name="Line 10"/>
          <p:cNvSpPr>
            <a:spLocks noChangeShapeType="1"/>
          </p:cNvSpPr>
          <p:nvPr/>
        </p:nvSpPr>
        <p:spPr bwMode="auto">
          <a:xfrm>
            <a:off x="1754188" y="2103438"/>
            <a:ext cx="28130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2" name="Line 11"/>
          <p:cNvSpPr>
            <a:spLocks noChangeShapeType="1"/>
          </p:cNvSpPr>
          <p:nvPr/>
        </p:nvSpPr>
        <p:spPr bwMode="auto">
          <a:xfrm>
            <a:off x="1754188" y="2439988"/>
            <a:ext cx="2813050"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3" name="Line 12"/>
          <p:cNvSpPr>
            <a:spLocks noChangeShapeType="1"/>
          </p:cNvSpPr>
          <p:nvPr/>
        </p:nvSpPr>
        <p:spPr bwMode="auto">
          <a:xfrm>
            <a:off x="1754188" y="2778125"/>
            <a:ext cx="28130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4" name="Line 13"/>
          <p:cNvSpPr>
            <a:spLocks noChangeShapeType="1"/>
          </p:cNvSpPr>
          <p:nvPr/>
        </p:nvSpPr>
        <p:spPr bwMode="auto">
          <a:xfrm>
            <a:off x="1754188" y="3114675"/>
            <a:ext cx="28130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5" name="Line 14"/>
          <p:cNvSpPr>
            <a:spLocks noChangeShapeType="1"/>
          </p:cNvSpPr>
          <p:nvPr/>
        </p:nvSpPr>
        <p:spPr bwMode="auto">
          <a:xfrm>
            <a:off x="1754188" y="3451225"/>
            <a:ext cx="28130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6" name="Line 15"/>
          <p:cNvSpPr>
            <a:spLocks noChangeShapeType="1"/>
          </p:cNvSpPr>
          <p:nvPr/>
        </p:nvSpPr>
        <p:spPr bwMode="auto">
          <a:xfrm>
            <a:off x="3160713" y="2103438"/>
            <a:ext cx="0" cy="1684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7" name="Line 16"/>
          <p:cNvSpPr>
            <a:spLocks noChangeShapeType="1"/>
          </p:cNvSpPr>
          <p:nvPr/>
        </p:nvSpPr>
        <p:spPr bwMode="auto">
          <a:xfrm>
            <a:off x="3862388" y="3114675"/>
            <a:ext cx="0" cy="673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8" name="Line 17"/>
          <p:cNvSpPr>
            <a:spLocks noChangeShapeType="1"/>
          </p:cNvSpPr>
          <p:nvPr/>
        </p:nvSpPr>
        <p:spPr bwMode="auto">
          <a:xfrm>
            <a:off x="2446338" y="3095625"/>
            <a:ext cx="0" cy="673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69" name="Line 18"/>
          <p:cNvSpPr>
            <a:spLocks noChangeShapeType="1"/>
          </p:cNvSpPr>
          <p:nvPr/>
        </p:nvSpPr>
        <p:spPr bwMode="auto">
          <a:xfrm>
            <a:off x="2457450" y="2124075"/>
            <a:ext cx="0" cy="336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54770" name="Text Box 19"/>
          <p:cNvSpPr txBox="1">
            <a:spLocks noChangeArrowheads="1"/>
          </p:cNvSpPr>
          <p:nvPr/>
        </p:nvSpPr>
        <p:spPr bwMode="auto">
          <a:xfrm>
            <a:off x="2300288" y="1411288"/>
            <a:ext cx="1743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153.19.8.104</a:t>
            </a:r>
          </a:p>
        </p:txBody>
      </p:sp>
      <p:sp>
        <p:nvSpPr>
          <p:cNvPr id="1354771" name="Text Box 20"/>
          <p:cNvSpPr txBox="1">
            <a:spLocks noChangeArrowheads="1"/>
          </p:cNvSpPr>
          <p:nvPr/>
        </p:nvSpPr>
        <p:spPr bwMode="auto">
          <a:xfrm>
            <a:off x="2336800" y="1752600"/>
            <a:ext cx="152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171.3.14.11</a:t>
            </a:r>
          </a:p>
        </p:txBody>
      </p:sp>
      <p:sp>
        <p:nvSpPr>
          <p:cNvPr id="1354772" name="AutoShape 22"/>
          <p:cNvSpPr>
            <a:spLocks/>
          </p:cNvSpPr>
          <p:nvPr/>
        </p:nvSpPr>
        <p:spPr bwMode="auto">
          <a:xfrm>
            <a:off x="1601788" y="1392238"/>
            <a:ext cx="74612" cy="1039812"/>
          </a:xfrm>
          <a:prstGeom prst="leftBrace">
            <a:avLst>
              <a:gd name="adj1" fmla="val 12581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73" name="AutoShape 23"/>
          <p:cNvSpPr>
            <a:spLocks/>
          </p:cNvSpPr>
          <p:nvPr/>
        </p:nvSpPr>
        <p:spPr bwMode="auto">
          <a:xfrm>
            <a:off x="1592263" y="2490788"/>
            <a:ext cx="84137" cy="604837"/>
          </a:xfrm>
          <a:prstGeom prst="leftBrace">
            <a:avLst>
              <a:gd name="adj1" fmla="val 6489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74" name="AutoShape 24"/>
          <p:cNvSpPr>
            <a:spLocks/>
          </p:cNvSpPr>
          <p:nvPr/>
        </p:nvSpPr>
        <p:spPr bwMode="auto">
          <a:xfrm>
            <a:off x="1598613" y="3132138"/>
            <a:ext cx="85725" cy="635000"/>
          </a:xfrm>
          <a:prstGeom prst="leftBrace">
            <a:avLst>
              <a:gd name="adj1" fmla="val 668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54775" name="Text Box 25"/>
          <p:cNvSpPr txBox="1">
            <a:spLocks noChangeArrowheads="1"/>
          </p:cNvSpPr>
          <p:nvPr/>
        </p:nvSpPr>
        <p:spPr bwMode="auto">
          <a:xfrm>
            <a:off x="547688" y="1549400"/>
            <a:ext cx="11287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12 </a:t>
            </a:r>
            <a:r>
              <a:rPr lang="zh-CN" altLang="en-US" sz="2000" b="1">
                <a:ea typeface="黑体" panose="02010609060101010101" pitchFamily="49" charset="-122"/>
              </a:rPr>
              <a:t>字节</a:t>
            </a:r>
          </a:p>
          <a:p>
            <a:pPr algn="ctr" eaLnBrk="0" hangingPunct="0"/>
            <a:r>
              <a:rPr lang="zh-CN" altLang="en-US" sz="2000" b="1">
                <a:ea typeface="黑体" panose="02010609060101010101" pitchFamily="49" charset="-122"/>
              </a:rPr>
              <a:t>伪首部</a:t>
            </a:r>
          </a:p>
        </p:txBody>
      </p:sp>
      <p:sp>
        <p:nvSpPr>
          <p:cNvPr id="1354776" name="Text Box 26"/>
          <p:cNvSpPr txBox="1">
            <a:spLocks noChangeArrowheads="1"/>
          </p:cNvSpPr>
          <p:nvPr/>
        </p:nvSpPr>
        <p:spPr bwMode="auto">
          <a:xfrm>
            <a:off x="339725" y="2376488"/>
            <a:ext cx="13096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8 </a:t>
            </a:r>
            <a:r>
              <a:rPr lang="zh-CN" altLang="en-US" sz="2000" b="1">
                <a:ea typeface="黑体" panose="02010609060101010101" pitchFamily="49" charset="-122"/>
              </a:rPr>
              <a:t>字节</a:t>
            </a:r>
          </a:p>
          <a:p>
            <a:pPr algn="ctr" eaLnBrk="0" hangingPunct="0"/>
            <a:r>
              <a:rPr lang="en-US" altLang="zh-CN" sz="2000" b="1">
                <a:ea typeface="黑体" panose="02010609060101010101" pitchFamily="49" charset="-122"/>
              </a:rPr>
              <a:t>UDP </a:t>
            </a:r>
            <a:r>
              <a:rPr lang="zh-CN" altLang="en-US" sz="2000" b="1">
                <a:ea typeface="黑体" panose="02010609060101010101" pitchFamily="49" charset="-122"/>
              </a:rPr>
              <a:t>首部</a:t>
            </a:r>
          </a:p>
        </p:txBody>
      </p:sp>
      <p:sp>
        <p:nvSpPr>
          <p:cNvPr id="1354777" name="Text Box 27"/>
          <p:cNvSpPr txBox="1">
            <a:spLocks noChangeArrowheads="1"/>
          </p:cNvSpPr>
          <p:nvPr/>
        </p:nvSpPr>
        <p:spPr bwMode="auto">
          <a:xfrm>
            <a:off x="625475" y="3079750"/>
            <a:ext cx="9128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7 </a:t>
            </a:r>
            <a:r>
              <a:rPr lang="zh-CN" altLang="en-US" sz="2000" b="1">
                <a:ea typeface="黑体" panose="02010609060101010101" pitchFamily="49" charset="-122"/>
              </a:rPr>
              <a:t>字节</a:t>
            </a:r>
          </a:p>
          <a:p>
            <a:pPr algn="ctr" eaLnBrk="0" hangingPunct="0"/>
            <a:r>
              <a:rPr lang="zh-CN" altLang="en-US" sz="2000" b="1">
                <a:ea typeface="黑体" panose="02010609060101010101" pitchFamily="49" charset="-122"/>
              </a:rPr>
              <a:t>数据</a:t>
            </a:r>
          </a:p>
        </p:txBody>
      </p:sp>
      <p:grpSp>
        <p:nvGrpSpPr>
          <p:cNvPr id="1354778" name="Group 34"/>
          <p:cNvGrpSpPr>
            <a:grpSpLocks/>
          </p:cNvGrpSpPr>
          <p:nvPr/>
        </p:nvGrpSpPr>
        <p:grpSpPr bwMode="auto">
          <a:xfrm>
            <a:off x="3578225" y="3708400"/>
            <a:ext cx="698500" cy="630238"/>
            <a:chOff x="1651" y="2763"/>
            <a:chExt cx="406" cy="397"/>
          </a:xfrm>
        </p:grpSpPr>
        <p:sp>
          <p:nvSpPr>
            <p:cNvPr id="1354779" name="Text Box 28"/>
            <p:cNvSpPr txBox="1">
              <a:spLocks noChangeArrowheads="1"/>
            </p:cNvSpPr>
            <p:nvPr/>
          </p:nvSpPr>
          <p:spPr bwMode="auto">
            <a:xfrm>
              <a:off x="1651" y="2908"/>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ea typeface="黑体" panose="02010609060101010101" pitchFamily="49" charset="-122"/>
                </a:rPr>
                <a:t>填充</a:t>
              </a:r>
            </a:p>
          </p:txBody>
        </p:sp>
        <p:sp>
          <p:nvSpPr>
            <p:cNvPr id="1354780" name="Line 29"/>
            <p:cNvSpPr>
              <a:spLocks noChangeShapeType="1"/>
            </p:cNvSpPr>
            <p:nvPr/>
          </p:nvSpPr>
          <p:spPr bwMode="auto">
            <a:xfrm flipV="1">
              <a:off x="1890" y="2763"/>
              <a:ext cx="134" cy="207"/>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377886" name="Line 30"/>
          <p:cNvSpPr>
            <a:spLocks noChangeShapeType="1"/>
          </p:cNvSpPr>
          <p:nvPr/>
        </p:nvSpPr>
        <p:spPr bwMode="auto">
          <a:xfrm flipV="1">
            <a:off x="4518025" y="5481638"/>
            <a:ext cx="5219700" cy="95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77887" name="Text Box 31"/>
          <p:cNvSpPr txBox="1">
            <a:spLocks noChangeArrowheads="1"/>
          </p:cNvSpPr>
          <p:nvPr/>
        </p:nvSpPr>
        <p:spPr bwMode="auto">
          <a:xfrm>
            <a:off x="1970088" y="5508625"/>
            <a:ext cx="27495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zh-CN" altLang="en-US" sz="2000" b="1">
                <a:solidFill>
                  <a:srgbClr val="C00000"/>
                </a:solidFill>
                <a:ea typeface="黑体" panose="02010609060101010101" pitchFamily="49" charset="-122"/>
              </a:rPr>
              <a:t>按二进制反码运算求和</a:t>
            </a:r>
          </a:p>
          <a:p>
            <a:pPr algn="r" eaLnBrk="0" hangingPunct="0">
              <a:lnSpc>
                <a:spcPct val="130000"/>
              </a:lnSpc>
            </a:pPr>
            <a:r>
              <a:rPr lang="zh-CN" altLang="en-US" sz="2000" b="1">
                <a:solidFill>
                  <a:srgbClr val="C00000"/>
                </a:solidFill>
                <a:ea typeface="黑体" panose="02010609060101010101" pitchFamily="49" charset="-122"/>
              </a:rPr>
              <a:t>将得出的结果求反码</a:t>
            </a:r>
          </a:p>
        </p:txBody>
      </p:sp>
      <p:sp>
        <p:nvSpPr>
          <p:cNvPr id="1354783" name="Text Box 21"/>
          <p:cNvSpPr txBox="1">
            <a:spLocks noChangeArrowheads="1"/>
          </p:cNvSpPr>
          <p:nvPr/>
        </p:nvSpPr>
        <p:spPr bwMode="auto">
          <a:xfrm>
            <a:off x="1801813" y="2060575"/>
            <a:ext cx="312102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10000"/>
              </a:lnSpc>
            </a:pPr>
            <a:r>
              <a:rPr lang="zh-CN" altLang="en-US" sz="2000" b="1">
                <a:ea typeface="黑体" panose="02010609060101010101" pitchFamily="49" charset="-122"/>
              </a:rPr>
              <a:t>全 </a:t>
            </a:r>
            <a:r>
              <a:rPr lang="en-US" altLang="zh-CN" sz="2000" b="1">
                <a:ea typeface="黑体" panose="02010609060101010101" pitchFamily="49" charset="-122"/>
              </a:rPr>
              <a:t>0   17          15</a:t>
            </a:r>
          </a:p>
          <a:p>
            <a:pPr eaLnBrk="0" hangingPunct="0">
              <a:lnSpc>
                <a:spcPct val="110000"/>
              </a:lnSpc>
            </a:pPr>
            <a:r>
              <a:rPr lang="en-US" altLang="zh-CN" sz="2000" b="1">
                <a:ea typeface="黑体" panose="02010609060101010101" pitchFamily="49" charset="-122"/>
              </a:rPr>
              <a:t>    1087            13</a:t>
            </a:r>
          </a:p>
          <a:p>
            <a:pPr eaLnBrk="0" hangingPunct="0">
              <a:lnSpc>
                <a:spcPct val="110000"/>
              </a:lnSpc>
            </a:pPr>
            <a:r>
              <a:rPr lang="en-US" altLang="zh-CN" sz="2000" b="1">
                <a:ea typeface="黑体" panose="02010609060101010101" pitchFamily="49" charset="-122"/>
              </a:rPr>
              <a:t>      15             </a:t>
            </a:r>
            <a:r>
              <a:rPr lang="zh-CN" altLang="en-US" sz="2000" b="1">
                <a:ea typeface="黑体" panose="02010609060101010101" pitchFamily="49" charset="-122"/>
              </a:rPr>
              <a:t>全 </a:t>
            </a:r>
            <a:r>
              <a:rPr lang="en-US" altLang="zh-CN" sz="2000" b="1">
                <a:ea typeface="黑体" panose="02010609060101010101" pitchFamily="49" charset="-122"/>
              </a:rPr>
              <a:t>0</a:t>
            </a:r>
          </a:p>
          <a:p>
            <a:pPr eaLnBrk="0" hangingPunct="0">
              <a:lnSpc>
                <a:spcPct val="110000"/>
              </a:lnSpc>
            </a:pPr>
            <a:r>
              <a:rPr lang="zh-CN" altLang="en-US" sz="2000" b="1">
                <a:ea typeface="黑体" panose="02010609060101010101" pitchFamily="49" charset="-122"/>
              </a:rPr>
              <a:t>数据  数据   数据  数据</a:t>
            </a:r>
          </a:p>
          <a:p>
            <a:pPr eaLnBrk="0" hangingPunct="0">
              <a:lnSpc>
                <a:spcPct val="110000"/>
              </a:lnSpc>
            </a:pPr>
            <a:r>
              <a:rPr lang="zh-CN" altLang="en-US" sz="2000" b="1">
                <a:ea typeface="黑体" panose="02010609060101010101" pitchFamily="49" charset="-122"/>
              </a:rPr>
              <a:t>数据  数据   数据  全 </a:t>
            </a:r>
            <a:r>
              <a:rPr lang="en-US" altLang="zh-CN" sz="2000" b="1">
                <a:ea typeface="黑体" panose="02010609060101010101" pitchFamily="49" charset="-122"/>
              </a:rPr>
              <a:t>0</a:t>
            </a:r>
          </a:p>
        </p:txBody>
      </p:sp>
      <p:sp>
        <p:nvSpPr>
          <p:cNvPr id="1354784" name="矩形 2"/>
          <p:cNvSpPr>
            <a:spLocks noChangeArrowheads="1"/>
          </p:cNvSpPr>
          <p:nvPr/>
        </p:nvSpPr>
        <p:spPr bwMode="auto">
          <a:xfrm>
            <a:off x="515938" y="4160838"/>
            <a:ext cx="2655887" cy="101600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chemeClr val="bg1"/>
                </a:solidFill>
                <a:ea typeface="黑体" panose="02010609060101010101" pitchFamily="49" charset="-122"/>
              </a:rPr>
              <a:t>UDP</a:t>
            </a:r>
            <a:r>
              <a:rPr lang="zh-CN" altLang="zh-CN" sz="2000" b="1">
                <a:solidFill>
                  <a:schemeClr val="bg1"/>
                </a:solidFill>
                <a:ea typeface="黑体" panose="02010609060101010101" pitchFamily="49" charset="-122"/>
              </a:rPr>
              <a:t>的检验和是把首部和数据部分一起都检验。</a:t>
            </a:r>
            <a:endParaRPr lang="zh-CN" altLang="en-US" sz="2000" b="1">
              <a:solidFill>
                <a:schemeClr val="bg1"/>
              </a:solidFill>
              <a:ea typeface="黑体" panose="02010609060101010101" pitchFamily="49" charset="-122"/>
            </a:endParaRPr>
          </a:p>
        </p:txBody>
      </p:sp>
      <p:sp>
        <p:nvSpPr>
          <p:cNvPr id="135478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E4395F-9074-499D-A4C3-FF378921059B}" type="slidenum">
              <a:rPr lang="zh-CN" altLang="en-US" smtClean="0"/>
              <a:pPr eaLnBrk="1" hangingPunct="1"/>
              <a:t>38</a:t>
            </a:fld>
            <a:endParaRPr lang="en-US" altLang="zh-CN" smtClean="0"/>
          </a:p>
        </p:txBody>
      </p:sp>
      <p:sp>
        <p:nvSpPr>
          <p:cNvPr id="135478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78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78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78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3" grpId="0"/>
      <p:bldP spid="377886" grpId="0" animBg="1"/>
      <p:bldP spid="37788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5.3  </a:t>
            </a:r>
            <a:r>
              <a:rPr lang="zh-CN" altLang="zh-CN" smtClean="0">
                <a:ea typeface="黑体" panose="02010609060101010101" pitchFamily="49" charset="-122"/>
              </a:rPr>
              <a:t>传输控制协议</a:t>
            </a:r>
            <a:r>
              <a:rPr lang="en-US" altLang="zh-CN" smtClean="0">
                <a:ea typeface="黑体" panose="02010609060101010101" pitchFamily="49" charset="-122"/>
              </a:rPr>
              <a:t> TCP </a:t>
            </a:r>
            <a:r>
              <a:rPr lang="zh-CN" altLang="zh-CN" smtClean="0">
                <a:ea typeface="黑体" panose="02010609060101010101" pitchFamily="49" charset="-122"/>
              </a:rPr>
              <a:t>概述</a:t>
            </a:r>
          </a:p>
        </p:txBody>
      </p:sp>
      <p:sp>
        <p:nvSpPr>
          <p:cNvPr id="135680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5.3.1  TCP </a:t>
            </a:r>
            <a:r>
              <a:rPr lang="zh-CN" altLang="zh-CN" smtClean="0">
                <a:ea typeface="黑体" panose="02010609060101010101" pitchFamily="49" charset="-122"/>
              </a:rPr>
              <a:t>最主要的特点</a:t>
            </a:r>
          </a:p>
          <a:p>
            <a:r>
              <a:rPr lang="en-US" altLang="zh-CN" smtClean="0">
                <a:ea typeface="黑体" panose="02010609060101010101" pitchFamily="49" charset="-122"/>
              </a:rPr>
              <a:t>5.3.2  TCP </a:t>
            </a:r>
            <a:r>
              <a:rPr lang="zh-CN" altLang="zh-CN" smtClean="0">
                <a:ea typeface="黑体" panose="02010609060101010101" pitchFamily="49" charset="-122"/>
              </a:rPr>
              <a:t>的连接</a:t>
            </a:r>
          </a:p>
        </p:txBody>
      </p:sp>
      <p:sp>
        <p:nvSpPr>
          <p:cNvPr id="13568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83E71B-5C7B-4095-B549-161B5D240FD7}" type="slidenum">
              <a:rPr lang="zh-CN" altLang="en-US" smtClean="0"/>
              <a:pPr eaLnBrk="1" hangingPunct="1"/>
              <a:t>39</a:t>
            </a:fld>
            <a:endParaRPr lang="en-US" altLang="zh-CN" smtClean="0"/>
          </a:p>
        </p:txBody>
      </p:sp>
      <p:sp>
        <p:nvSpPr>
          <p:cNvPr id="13568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88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5.3.1  TCP </a:t>
            </a:r>
            <a:r>
              <a:rPr lang="zh-CN" altLang="en-US" smtClean="0">
                <a:ea typeface="黑体" panose="02010609060101010101" pitchFamily="49" charset="-122"/>
              </a:rPr>
              <a:t>最主要的特点 </a:t>
            </a:r>
          </a:p>
        </p:txBody>
      </p:sp>
      <p:sp>
        <p:nvSpPr>
          <p:cNvPr id="1358850" name="Rectangle 40"/>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TCP </a:t>
            </a:r>
            <a:r>
              <a:rPr lang="zh-CN" altLang="en-US" sz="2800" dirty="0" smtClean="0">
                <a:ea typeface="黑体" panose="02010609060101010101" pitchFamily="49" charset="-122"/>
              </a:rPr>
              <a:t>是</a:t>
            </a:r>
            <a:r>
              <a:rPr lang="zh-CN" altLang="en-US" sz="2800" dirty="0" smtClean="0">
                <a:solidFill>
                  <a:srgbClr val="FF0000"/>
                </a:solidFill>
                <a:ea typeface="黑体" panose="02010609060101010101" pitchFamily="49" charset="-122"/>
              </a:rPr>
              <a:t>面向连接</a:t>
            </a:r>
            <a:r>
              <a:rPr lang="zh-CN" altLang="en-US" sz="2800" dirty="0" smtClean="0">
                <a:ea typeface="黑体" panose="02010609060101010101" pitchFamily="49" charset="-122"/>
              </a:rPr>
              <a:t>的运输层协议。</a:t>
            </a:r>
          </a:p>
          <a:p>
            <a:r>
              <a:rPr lang="zh-CN" altLang="en-US" sz="2800" dirty="0" smtClean="0">
                <a:ea typeface="黑体" panose="02010609060101010101" pitchFamily="49" charset="-122"/>
              </a:rPr>
              <a:t>每一条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a:t>
            </a:r>
            <a:r>
              <a:rPr lang="zh-CN" altLang="en-US" sz="2800" dirty="0" smtClean="0">
                <a:solidFill>
                  <a:srgbClr val="FF0000"/>
                </a:solidFill>
                <a:ea typeface="黑体" panose="02010609060101010101" pitchFamily="49" charset="-122"/>
              </a:rPr>
              <a:t>只能有两个端点 </a:t>
            </a:r>
            <a:r>
              <a:rPr lang="en-US" altLang="zh-CN" sz="2800" dirty="0" smtClean="0">
                <a:ea typeface="黑体" panose="02010609060101010101" pitchFamily="49" charset="-122"/>
              </a:rPr>
              <a:t>(endpoint)</a:t>
            </a:r>
            <a:r>
              <a:rPr lang="zh-CN" altLang="en-US" sz="2800" dirty="0" smtClean="0">
                <a:ea typeface="黑体" panose="02010609060101010101" pitchFamily="49" charset="-122"/>
              </a:rPr>
              <a:t>，每一条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a:t>
            </a:r>
            <a:r>
              <a:rPr lang="zh-CN" altLang="en-US" sz="2800" dirty="0" smtClean="0">
                <a:solidFill>
                  <a:srgbClr val="FF0000"/>
                </a:solidFill>
                <a:ea typeface="黑体" panose="02010609060101010101" pitchFamily="49" charset="-122"/>
              </a:rPr>
              <a:t>只能是点对点</a:t>
            </a:r>
            <a:r>
              <a:rPr lang="zh-CN" altLang="en-US" sz="2800" dirty="0" smtClean="0">
                <a:ea typeface="黑体" panose="02010609060101010101" pitchFamily="49" charset="-122"/>
              </a:rPr>
              <a:t>的（一对一）。 </a:t>
            </a:r>
          </a:p>
          <a:p>
            <a:r>
              <a:rPr lang="en-US" altLang="zh-CN" sz="2800" dirty="0" smtClean="0">
                <a:ea typeface="黑体" panose="02010609060101010101" pitchFamily="49" charset="-122"/>
              </a:rPr>
              <a:t>TCP </a:t>
            </a:r>
            <a:r>
              <a:rPr lang="zh-CN" altLang="en-US" sz="2800" dirty="0" smtClean="0">
                <a:ea typeface="黑体" panose="02010609060101010101" pitchFamily="49" charset="-122"/>
              </a:rPr>
              <a:t>提供</a:t>
            </a:r>
            <a:r>
              <a:rPr lang="zh-CN" altLang="en-US" sz="2800" dirty="0" smtClean="0">
                <a:solidFill>
                  <a:srgbClr val="FF0000"/>
                </a:solidFill>
                <a:ea typeface="黑体" panose="02010609060101010101" pitchFamily="49" charset="-122"/>
              </a:rPr>
              <a:t>可靠交付</a:t>
            </a:r>
            <a:r>
              <a:rPr lang="zh-CN" altLang="en-US" sz="2800" dirty="0" smtClean="0">
                <a:ea typeface="黑体" panose="02010609060101010101" pitchFamily="49" charset="-122"/>
              </a:rPr>
              <a:t>的服务。</a:t>
            </a:r>
          </a:p>
          <a:p>
            <a:r>
              <a:rPr lang="en-US" altLang="zh-CN" sz="2800" dirty="0" smtClean="0">
                <a:ea typeface="黑体" panose="02010609060101010101" pitchFamily="49" charset="-122"/>
              </a:rPr>
              <a:t>TCP </a:t>
            </a:r>
            <a:r>
              <a:rPr lang="zh-CN" altLang="en-US" sz="2800" dirty="0" smtClean="0">
                <a:ea typeface="黑体" panose="02010609060101010101" pitchFamily="49" charset="-122"/>
              </a:rPr>
              <a:t>提供</a:t>
            </a:r>
            <a:r>
              <a:rPr lang="zh-CN" altLang="en-US" sz="2800" dirty="0" smtClean="0">
                <a:solidFill>
                  <a:srgbClr val="FF0000"/>
                </a:solidFill>
                <a:ea typeface="黑体" panose="02010609060101010101" pitchFamily="49" charset="-122"/>
              </a:rPr>
              <a:t>全双工</a:t>
            </a:r>
            <a:r>
              <a:rPr lang="zh-CN" altLang="en-US" sz="2800" dirty="0" smtClean="0">
                <a:ea typeface="黑体" panose="02010609060101010101" pitchFamily="49" charset="-122"/>
              </a:rPr>
              <a:t>通信。</a:t>
            </a:r>
          </a:p>
          <a:p>
            <a:r>
              <a:rPr lang="zh-CN" altLang="en-US" sz="2800" dirty="0" smtClean="0">
                <a:solidFill>
                  <a:srgbClr val="FF0000"/>
                </a:solidFill>
                <a:ea typeface="黑体" panose="02010609060101010101" pitchFamily="49" charset="-122"/>
              </a:rPr>
              <a:t>面向字节流</a:t>
            </a:r>
            <a:endParaRPr lang="en-US" altLang="zh-CN" sz="2800" dirty="0" smtClean="0">
              <a:ea typeface="黑体" panose="02010609060101010101" pitchFamily="49" charset="-122"/>
            </a:endParaRPr>
          </a:p>
          <a:p>
            <a:pPr lvl="1"/>
            <a:r>
              <a:rPr lang="en-US" altLang="zh-CN" sz="2400" dirty="0" smtClean="0">
                <a:ea typeface="黑体" panose="02010609060101010101" pitchFamily="49" charset="-122"/>
              </a:rPr>
              <a:t>TCP </a:t>
            </a:r>
            <a:r>
              <a:rPr lang="zh-CN" altLang="zh-CN" sz="2400" dirty="0" smtClean="0">
                <a:ea typeface="黑体" panose="02010609060101010101" pitchFamily="49" charset="-122"/>
              </a:rPr>
              <a:t>中的</a:t>
            </a:r>
            <a:r>
              <a:rPr lang="zh-CN" altLang="zh-CN" sz="2400" dirty="0" smtClean="0">
                <a:solidFill>
                  <a:srgbClr val="0000FF"/>
                </a:solidFill>
                <a:ea typeface="黑体" panose="02010609060101010101" pitchFamily="49" charset="-122"/>
              </a:rPr>
              <a:t>“流”</a:t>
            </a:r>
            <a:r>
              <a:rPr lang="en-US" altLang="zh-CN" sz="2400" dirty="0" smtClean="0">
                <a:solidFill>
                  <a:srgbClr val="0000FF"/>
                </a:solidFill>
                <a:ea typeface="黑体" panose="02010609060101010101" pitchFamily="49" charset="-122"/>
              </a:rPr>
              <a:t>(stream)</a:t>
            </a:r>
            <a:r>
              <a:rPr lang="zh-CN" altLang="zh-CN" sz="2400" dirty="0" smtClean="0">
                <a:ea typeface="黑体" panose="02010609060101010101" pitchFamily="49" charset="-122"/>
              </a:rPr>
              <a:t>指的是流入</a:t>
            </a:r>
            <a:r>
              <a:rPr lang="zh-CN" altLang="en-US" sz="2400" dirty="0" smtClean="0">
                <a:ea typeface="黑体" panose="02010609060101010101" pitchFamily="49" charset="-122"/>
              </a:rPr>
              <a:t>或流出</a:t>
            </a:r>
            <a:r>
              <a:rPr lang="zh-CN" altLang="zh-CN" sz="2400" dirty="0" smtClean="0">
                <a:ea typeface="黑体" panose="02010609060101010101" pitchFamily="49" charset="-122"/>
              </a:rPr>
              <a:t>进程的字节序列。</a:t>
            </a:r>
            <a:endParaRPr lang="en-US" altLang="zh-CN" sz="2400" dirty="0" smtClean="0">
              <a:ea typeface="黑体" panose="02010609060101010101" pitchFamily="49" charset="-122"/>
            </a:endParaRPr>
          </a:p>
          <a:p>
            <a:pPr lvl="1"/>
            <a:r>
              <a:rPr lang="zh-CN" altLang="zh-CN" sz="2400" dirty="0" smtClean="0">
                <a:solidFill>
                  <a:srgbClr val="0000FF"/>
                </a:solidFill>
                <a:ea typeface="黑体" panose="02010609060101010101" pitchFamily="49" charset="-122"/>
              </a:rPr>
              <a:t>“面向字节流”的含义是：</a:t>
            </a:r>
            <a:r>
              <a:rPr lang="zh-CN" altLang="zh-CN" sz="2400" dirty="0" smtClean="0">
                <a:ea typeface="黑体" panose="02010609060101010101" pitchFamily="49" charset="-122"/>
              </a:rPr>
              <a:t>虽然应用程序和</a:t>
            </a:r>
            <a:r>
              <a:rPr lang="en-US" altLang="zh-CN" sz="2400" dirty="0" smtClean="0">
                <a:ea typeface="黑体" panose="02010609060101010101" pitchFamily="49" charset="-122"/>
              </a:rPr>
              <a:t> TCP </a:t>
            </a:r>
            <a:r>
              <a:rPr lang="zh-CN" altLang="zh-CN" sz="2400" dirty="0" smtClean="0">
                <a:ea typeface="黑体" panose="02010609060101010101" pitchFamily="49" charset="-122"/>
              </a:rPr>
              <a:t>的交互是一次一个数据块，但</a:t>
            </a:r>
            <a:r>
              <a:rPr lang="en-US" altLang="zh-CN" sz="2400" dirty="0" smtClean="0">
                <a:ea typeface="黑体" panose="02010609060101010101" pitchFamily="49" charset="-122"/>
              </a:rPr>
              <a:t> TCP </a:t>
            </a:r>
            <a:r>
              <a:rPr lang="zh-CN" altLang="zh-CN" sz="2400" dirty="0" smtClean="0">
                <a:ea typeface="黑体" panose="02010609060101010101" pitchFamily="49" charset="-122"/>
              </a:rPr>
              <a:t>把应用程序交下来的数据看成仅仅是一连串无结构的字节流。</a:t>
            </a:r>
            <a:endParaRPr lang="zh-CN" altLang="en-US" sz="2400" dirty="0" smtClean="0">
              <a:ea typeface="黑体" panose="02010609060101010101" pitchFamily="49" charset="-122"/>
            </a:endParaRPr>
          </a:p>
          <a:p>
            <a:pPr lvl="1"/>
            <a:endParaRPr lang="zh-CN" altLang="en-US" sz="2400" dirty="0" smtClean="0">
              <a:ea typeface="黑体" panose="02010609060101010101" pitchFamily="49" charset="-122"/>
            </a:endParaRPr>
          </a:p>
        </p:txBody>
      </p:sp>
      <p:sp>
        <p:nvSpPr>
          <p:cNvPr id="1358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4680FD-1680-4746-9823-01EBB0917CB1}" type="slidenum">
              <a:rPr lang="zh-CN" altLang="en-US" smtClean="0"/>
              <a:pPr eaLnBrk="1" hangingPunct="1"/>
              <a:t>40</a:t>
            </a:fld>
            <a:endParaRPr lang="en-US" altLang="zh-CN" smtClean="0"/>
          </a:p>
        </p:txBody>
      </p:sp>
      <p:sp>
        <p:nvSpPr>
          <p:cNvPr id="1358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0897"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TCP </a:t>
            </a:r>
            <a:r>
              <a:rPr lang="zh-CN" altLang="en-US" sz="4000" smtClean="0">
                <a:ea typeface="黑体" panose="02010609060101010101" pitchFamily="49" charset="-122"/>
              </a:rPr>
              <a:t>面向流的概念 </a:t>
            </a:r>
          </a:p>
        </p:txBody>
      </p:sp>
      <p:sp>
        <p:nvSpPr>
          <p:cNvPr id="1360898" name="内容占位符 1"/>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 </a:t>
            </a:r>
            <a:r>
              <a:rPr lang="zh-CN" altLang="zh-CN" smtClean="0">
                <a:solidFill>
                  <a:srgbClr val="FF0000"/>
                </a:solidFill>
                <a:ea typeface="黑体" panose="02010609060101010101" pitchFamily="49" charset="-122"/>
              </a:rPr>
              <a:t>不保证</a:t>
            </a:r>
            <a:r>
              <a:rPr lang="zh-CN" altLang="zh-CN" smtClean="0">
                <a:ea typeface="黑体" panose="02010609060101010101" pitchFamily="49" charset="-122"/>
              </a:rPr>
              <a:t>接收方应用程序所收到的数据块和发送方应用程序所发出的</a:t>
            </a:r>
            <a:r>
              <a:rPr lang="zh-CN" altLang="zh-CN" smtClean="0">
                <a:solidFill>
                  <a:srgbClr val="FF0000"/>
                </a:solidFill>
                <a:ea typeface="黑体" panose="02010609060101010101" pitchFamily="49" charset="-122"/>
              </a:rPr>
              <a:t>数据块具有对应大小的关系</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但接收方应用程序收到的字节流必须和发送方应用程序发出的</a:t>
            </a:r>
            <a:r>
              <a:rPr lang="zh-CN" altLang="zh-CN" smtClean="0">
                <a:solidFill>
                  <a:srgbClr val="FF0000"/>
                </a:solidFill>
                <a:ea typeface="黑体" panose="02010609060101010101" pitchFamily="49" charset="-122"/>
              </a:rPr>
              <a:t>字节流完全一样。</a:t>
            </a:r>
            <a:endParaRPr lang="zh-CN" altLang="en-US" smtClean="0">
              <a:solidFill>
                <a:srgbClr val="FF0000"/>
              </a:solidFill>
              <a:ea typeface="黑体" panose="02010609060101010101" pitchFamily="49" charset="-122"/>
            </a:endParaRPr>
          </a:p>
        </p:txBody>
      </p:sp>
      <p:sp>
        <p:nvSpPr>
          <p:cNvPr id="136089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849CE5-3F87-448D-A633-0CEBDFA625C0}" type="slidenum">
              <a:rPr lang="zh-CN" altLang="en-US" smtClean="0"/>
              <a:pPr eaLnBrk="1" hangingPunct="1"/>
              <a:t>41</a:t>
            </a:fld>
            <a:endParaRPr lang="en-US" altLang="zh-CN" smtClean="0"/>
          </a:p>
        </p:txBody>
      </p:sp>
      <p:sp>
        <p:nvSpPr>
          <p:cNvPr id="136090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5" name="Rectangle 2"/>
          <p:cNvSpPr>
            <a:spLocks noGrp="1" noChangeArrowheads="1"/>
          </p:cNvSpPr>
          <p:nvPr>
            <p:ph type="title"/>
          </p:nvPr>
        </p:nvSpPr>
        <p:spPr/>
        <p:txBody>
          <a:bodyPr/>
          <a:lstStyle/>
          <a:p>
            <a:pPr algn="ctr"/>
            <a:r>
              <a:rPr lang="en-US" altLang="zh-CN" sz="4000" smtClean="0">
                <a:ea typeface="黑体" panose="02010609060101010101" pitchFamily="49" charset="-122"/>
              </a:rPr>
              <a:t>TCP </a:t>
            </a:r>
            <a:r>
              <a:rPr lang="zh-CN" altLang="en-US" sz="4000" smtClean="0">
                <a:ea typeface="黑体" panose="02010609060101010101" pitchFamily="49" charset="-122"/>
              </a:rPr>
              <a:t>面向流的概念 </a:t>
            </a:r>
          </a:p>
        </p:txBody>
      </p:sp>
      <p:sp>
        <p:nvSpPr>
          <p:cNvPr id="1362946" name="AutoShape 47"/>
          <p:cNvSpPr>
            <a:spLocks noChangeArrowheads="1"/>
          </p:cNvSpPr>
          <p:nvPr/>
        </p:nvSpPr>
        <p:spPr bwMode="auto">
          <a:xfrm>
            <a:off x="7086600" y="5035550"/>
            <a:ext cx="284163" cy="130175"/>
          </a:xfrm>
          <a:prstGeom prst="rightArrow">
            <a:avLst>
              <a:gd name="adj1" fmla="val 50000"/>
              <a:gd name="adj2" fmla="val 50369"/>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2947" name="Rectangle 107"/>
          <p:cNvSpPr>
            <a:spLocks noChangeArrowheads="1"/>
          </p:cNvSpPr>
          <p:nvPr/>
        </p:nvSpPr>
        <p:spPr bwMode="auto">
          <a:xfrm>
            <a:off x="3440113" y="1622425"/>
            <a:ext cx="3679825" cy="869950"/>
          </a:xfrm>
          <a:prstGeom prst="rect">
            <a:avLst/>
          </a:prstGeom>
          <a:solidFill>
            <a:srgbClr val="FFFFCC"/>
          </a:solidFill>
          <a:ln w="38100" cmpd="dbl">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1362948" name="Group 80"/>
          <p:cNvGrpSpPr>
            <a:grpSpLocks/>
          </p:cNvGrpSpPr>
          <p:nvPr/>
        </p:nvGrpSpPr>
        <p:grpSpPr bwMode="auto">
          <a:xfrm>
            <a:off x="6202363" y="4946650"/>
            <a:ext cx="936625" cy="287338"/>
            <a:chOff x="2925" y="1570"/>
            <a:chExt cx="545" cy="181"/>
          </a:xfrm>
        </p:grpSpPr>
        <p:grpSp>
          <p:nvGrpSpPr>
            <p:cNvPr id="1362949" name="Group 81"/>
            <p:cNvGrpSpPr>
              <a:grpSpLocks/>
            </p:cNvGrpSpPr>
            <p:nvPr/>
          </p:nvGrpSpPr>
          <p:grpSpPr bwMode="auto">
            <a:xfrm>
              <a:off x="3061" y="1570"/>
              <a:ext cx="272" cy="181"/>
              <a:chOff x="3061" y="1842"/>
              <a:chExt cx="272" cy="181"/>
            </a:xfrm>
          </p:grpSpPr>
          <p:sp>
            <p:nvSpPr>
              <p:cNvPr id="1362950" name="Rectangle 82"/>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7</a:t>
                </a:r>
              </a:p>
            </p:txBody>
          </p:sp>
          <p:sp>
            <p:nvSpPr>
              <p:cNvPr id="1362951" name="Rectangle 83"/>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6</a:t>
                </a:r>
              </a:p>
            </p:txBody>
          </p:sp>
        </p:grpSp>
        <p:sp>
          <p:nvSpPr>
            <p:cNvPr id="1362952" name="Rectangle 84"/>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8</a:t>
              </a:r>
            </a:p>
          </p:txBody>
        </p:sp>
        <p:sp>
          <p:nvSpPr>
            <p:cNvPr id="1362953" name="Rectangle 85"/>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grpSp>
      <p:sp>
        <p:nvSpPr>
          <p:cNvPr id="1362954" name="Text Box 62"/>
          <p:cNvSpPr txBox="1">
            <a:spLocks noChangeArrowheads="1"/>
          </p:cNvSpPr>
          <p:nvPr/>
        </p:nvSpPr>
        <p:spPr bwMode="auto">
          <a:xfrm>
            <a:off x="7869238" y="1560513"/>
            <a:ext cx="77628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000099"/>
                </a:solidFill>
                <a:ea typeface="黑体" panose="02010609060101010101" pitchFamily="49" charset="-122"/>
                <a:sym typeface="Wingdings" panose="05000000000000000000" pitchFamily="2" charset="2"/>
              </a:rPr>
              <a:t></a:t>
            </a:r>
            <a:endParaRPr lang="en-US" altLang="zh-CN" sz="6600" b="1">
              <a:solidFill>
                <a:srgbClr val="000099"/>
              </a:solidFill>
              <a:ea typeface="黑体" panose="02010609060101010101" pitchFamily="49" charset="-122"/>
            </a:endParaRPr>
          </a:p>
        </p:txBody>
      </p:sp>
      <p:sp>
        <p:nvSpPr>
          <p:cNvPr id="1362955" name="Freeform 44"/>
          <p:cNvSpPr>
            <a:spLocks noChangeArrowheads="1"/>
          </p:cNvSpPr>
          <p:nvPr/>
        </p:nvSpPr>
        <p:spPr bwMode="auto">
          <a:xfrm>
            <a:off x="7842250" y="4586288"/>
            <a:ext cx="387350" cy="889000"/>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2956" name="Text Box 45"/>
          <p:cNvSpPr txBox="1">
            <a:spLocks noChangeArrowheads="1"/>
          </p:cNvSpPr>
          <p:nvPr/>
        </p:nvSpPr>
        <p:spPr bwMode="auto">
          <a:xfrm>
            <a:off x="1081088" y="1560513"/>
            <a:ext cx="77628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6600" b="1">
                <a:solidFill>
                  <a:srgbClr val="000099"/>
                </a:solidFill>
                <a:ea typeface="黑体" panose="02010609060101010101" pitchFamily="49" charset="-122"/>
                <a:sym typeface="Wingdings" panose="05000000000000000000" pitchFamily="2" charset="2"/>
              </a:rPr>
              <a:t></a:t>
            </a:r>
            <a:endParaRPr lang="en-US" altLang="zh-CN" sz="6600" b="1">
              <a:solidFill>
                <a:srgbClr val="000099"/>
              </a:solidFill>
              <a:ea typeface="黑体" panose="02010609060101010101" pitchFamily="49" charset="-122"/>
            </a:endParaRPr>
          </a:p>
        </p:txBody>
      </p:sp>
      <p:sp>
        <p:nvSpPr>
          <p:cNvPr id="1362957" name="AutoShape 46"/>
          <p:cNvSpPr>
            <a:spLocks noChangeArrowheads="1"/>
          </p:cNvSpPr>
          <p:nvPr/>
        </p:nvSpPr>
        <p:spPr bwMode="auto">
          <a:xfrm>
            <a:off x="4913313" y="5037138"/>
            <a:ext cx="285750" cy="130175"/>
          </a:xfrm>
          <a:prstGeom prst="rightArrow">
            <a:avLst>
              <a:gd name="adj1" fmla="val 50000"/>
              <a:gd name="adj2" fmla="val 50650"/>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2958" name="AutoShape 48"/>
          <p:cNvSpPr>
            <a:spLocks noChangeArrowheads="1"/>
          </p:cNvSpPr>
          <p:nvPr/>
        </p:nvSpPr>
        <p:spPr bwMode="auto">
          <a:xfrm>
            <a:off x="2951163" y="5035550"/>
            <a:ext cx="285750" cy="130175"/>
          </a:xfrm>
          <a:prstGeom prst="rightArrow">
            <a:avLst>
              <a:gd name="adj1" fmla="val 50000"/>
              <a:gd name="adj2" fmla="val 50650"/>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2959" name="Line 49"/>
          <p:cNvSpPr>
            <a:spLocks noChangeShapeType="1"/>
          </p:cNvSpPr>
          <p:nvPr/>
        </p:nvSpPr>
        <p:spPr bwMode="auto">
          <a:xfrm>
            <a:off x="1443038" y="2427288"/>
            <a:ext cx="3175" cy="1487487"/>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2960" name="Text Box 50"/>
          <p:cNvSpPr txBox="1">
            <a:spLocks noChangeArrowheads="1"/>
          </p:cNvSpPr>
          <p:nvPr/>
        </p:nvSpPr>
        <p:spPr bwMode="auto">
          <a:xfrm>
            <a:off x="5511800" y="4562475"/>
            <a:ext cx="1931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发送 </a:t>
            </a:r>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报文段</a:t>
            </a:r>
          </a:p>
        </p:txBody>
      </p:sp>
      <p:sp>
        <p:nvSpPr>
          <p:cNvPr id="1362961" name="Rectangle 51"/>
          <p:cNvSpPr>
            <a:spLocks noChangeArrowheads="1"/>
          </p:cNvSpPr>
          <p:nvPr/>
        </p:nvSpPr>
        <p:spPr bwMode="auto">
          <a:xfrm>
            <a:off x="550863" y="3903663"/>
            <a:ext cx="1801812"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en-US" altLang="zh-CN" b="1">
              <a:solidFill>
                <a:srgbClr val="000099"/>
              </a:solidFill>
              <a:ea typeface="黑体" panose="02010609060101010101" pitchFamily="49" charset="-122"/>
            </a:endParaRPr>
          </a:p>
          <a:p>
            <a:pPr algn="ctr" eaLnBrk="0" hangingPunct="0"/>
            <a:endParaRPr lang="en-US" altLang="zh-CN" sz="900" b="1">
              <a:solidFill>
                <a:srgbClr val="000099"/>
              </a:solidFill>
              <a:ea typeface="黑体" panose="02010609060101010101" pitchFamily="49" charset="-122"/>
            </a:endParaRPr>
          </a:p>
          <a:p>
            <a:pPr algn="ctr" eaLnBrk="0" hangingPunct="0"/>
            <a:endParaRPr lang="en-US" altLang="zh-CN" b="1">
              <a:solidFill>
                <a:srgbClr val="000099"/>
              </a:solidFill>
              <a:ea typeface="黑体" panose="02010609060101010101" pitchFamily="49" charset="-122"/>
            </a:endParaRPr>
          </a:p>
        </p:txBody>
      </p:sp>
      <p:sp>
        <p:nvSpPr>
          <p:cNvPr id="1362962" name="Line 52"/>
          <p:cNvSpPr>
            <a:spLocks noChangeShapeType="1"/>
          </p:cNvSpPr>
          <p:nvPr/>
        </p:nvSpPr>
        <p:spPr bwMode="auto">
          <a:xfrm flipV="1">
            <a:off x="8258175" y="2427288"/>
            <a:ext cx="0" cy="1476375"/>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2963" name="Rectangle 53"/>
          <p:cNvSpPr>
            <a:spLocks noChangeArrowheads="1"/>
          </p:cNvSpPr>
          <p:nvPr/>
        </p:nvSpPr>
        <p:spPr bwMode="auto">
          <a:xfrm>
            <a:off x="7358063" y="3903663"/>
            <a:ext cx="1800225"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endParaRPr lang="en-US" altLang="zh-CN" b="1">
              <a:solidFill>
                <a:srgbClr val="000099"/>
              </a:solidFill>
              <a:ea typeface="黑体" panose="02010609060101010101" pitchFamily="49" charset="-122"/>
            </a:endParaRPr>
          </a:p>
          <a:p>
            <a:pPr algn="ctr" eaLnBrk="0" hangingPunct="0"/>
            <a:endParaRPr lang="en-US" altLang="zh-CN" sz="900" b="1">
              <a:solidFill>
                <a:srgbClr val="000099"/>
              </a:solidFill>
              <a:ea typeface="黑体" panose="02010609060101010101" pitchFamily="49" charset="-122"/>
            </a:endParaRPr>
          </a:p>
          <a:p>
            <a:pPr algn="ctr" eaLnBrk="0" hangingPunct="0"/>
            <a:endParaRPr lang="en-US" altLang="zh-CN" b="1">
              <a:solidFill>
                <a:srgbClr val="000099"/>
              </a:solidFill>
              <a:ea typeface="黑体" panose="02010609060101010101" pitchFamily="49" charset="-122"/>
            </a:endParaRPr>
          </a:p>
        </p:txBody>
      </p:sp>
      <p:sp>
        <p:nvSpPr>
          <p:cNvPr id="1362964" name="Text Box 54"/>
          <p:cNvSpPr txBox="1">
            <a:spLocks noChangeArrowheads="1"/>
          </p:cNvSpPr>
          <p:nvPr/>
        </p:nvSpPr>
        <p:spPr bwMode="auto">
          <a:xfrm>
            <a:off x="887413" y="1341438"/>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发送方</a:t>
            </a:r>
          </a:p>
        </p:txBody>
      </p:sp>
      <p:sp>
        <p:nvSpPr>
          <p:cNvPr id="1362965" name="Text Box 55"/>
          <p:cNvSpPr txBox="1">
            <a:spLocks noChangeArrowheads="1"/>
          </p:cNvSpPr>
          <p:nvPr/>
        </p:nvSpPr>
        <p:spPr bwMode="auto">
          <a:xfrm>
            <a:off x="7686675" y="1341438"/>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接收方</a:t>
            </a:r>
          </a:p>
        </p:txBody>
      </p:sp>
      <p:sp>
        <p:nvSpPr>
          <p:cNvPr id="1362966" name="AutoShape 56"/>
          <p:cNvSpPr>
            <a:spLocks noChangeArrowheads="1"/>
          </p:cNvSpPr>
          <p:nvPr/>
        </p:nvSpPr>
        <p:spPr bwMode="auto">
          <a:xfrm>
            <a:off x="2222500" y="3146425"/>
            <a:ext cx="1306513" cy="609600"/>
          </a:xfrm>
          <a:prstGeom prst="wedgeRoundRectCallout">
            <a:avLst>
              <a:gd name="adj1" fmla="val -85792"/>
              <a:gd name="adj2" fmla="val 120833"/>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b="1">
              <a:solidFill>
                <a:srgbClr val="000099"/>
              </a:solidFill>
              <a:ea typeface="黑体" panose="02010609060101010101" pitchFamily="49" charset="-122"/>
            </a:endParaRPr>
          </a:p>
        </p:txBody>
      </p:sp>
      <p:sp>
        <p:nvSpPr>
          <p:cNvPr id="1362967" name="Text Box 57"/>
          <p:cNvSpPr txBox="1">
            <a:spLocks noChangeArrowheads="1"/>
          </p:cNvSpPr>
          <p:nvPr/>
        </p:nvSpPr>
        <p:spPr bwMode="auto">
          <a:xfrm>
            <a:off x="2228850" y="3128963"/>
            <a:ext cx="13382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把字节写入</a:t>
            </a:r>
          </a:p>
          <a:p>
            <a:pPr algn="ctr" eaLnBrk="0" hangingPunct="0"/>
            <a:r>
              <a:rPr lang="zh-CN" altLang="en-US" b="1">
                <a:solidFill>
                  <a:srgbClr val="C00000"/>
                </a:solidFill>
                <a:ea typeface="黑体" panose="02010609060101010101" pitchFamily="49" charset="-122"/>
              </a:rPr>
              <a:t>发送缓存</a:t>
            </a:r>
          </a:p>
        </p:txBody>
      </p:sp>
      <p:sp>
        <p:nvSpPr>
          <p:cNvPr id="1362968" name="AutoShape 58"/>
          <p:cNvSpPr>
            <a:spLocks noChangeArrowheads="1"/>
          </p:cNvSpPr>
          <p:nvPr/>
        </p:nvSpPr>
        <p:spPr bwMode="auto">
          <a:xfrm>
            <a:off x="6669088" y="2859088"/>
            <a:ext cx="1279525" cy="609600"/>
          </a:xfrm>
          <a:prstGeom prst="wedgeRoundRectCallout">
            <a:avLst>
              <a:gd name="adj1" fmla="val 80912"/>
              <a:gd name="adj2" fmla="val 178384"/>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b="1">
              <a:solidFill>
                <a:srgbClr val="000099"/>
              </a:solidFill>
              <a:ea typeface="黑体" panose="02010609060101010101" pitchFamily="49" charset="-122"/>
            </a:endParaRPr>
          </a:p>
        </p:txBody>
      </p:sp>
      <p:sp>
        <p:nvSpPr>
          <p:cNvPr id="1362969" name="Text Box 59"/>
          <p:cNvSpPr txBox="1">
            <a:spLocks noChangeArrowheads="1"/>
          </p:cNvSpPr>
          <p:nvPr/>
        </p:nvSpPr>
        <p:spPr bwMode="auto">
          <a:xfrm>
            <a:off x="6642100" y="2859088"/>
            <a:ext cx="13382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从</a:t>
            </a:r>
            <a:r>
              <a:rPr lang="zh-CN" altLang="en-US" b="1">
                <a:solidFill>
                  <a:srgbClr val="C00000"/>
                </a:solidFill>
                <a:ea typeface="黑体" panose="02010609060101010101" pitchFamily="49" charset="-122"/>
              </a:rPr>
              <a:t>接收缓存</a:t>
            </a:r>
          </a:p>
          <a:p>
            <a:pPr algn="ctr" eaLnBrk="0" hangingPunct="0"/>
            <a:r>
              <a:rPr lang="zh-CN" altLang="en-US" b="1">
                <a:solidFill>
                  <a:srgbClr val="000099"/>
                </a:solidFill>
                <a:ea typeface="黑体" panose="02010609060101010101" pitchFamily="49" charset="-122"/>
              </a:rPr>
              <a:t>读取字节</a:t>
            </a:r>
          </a:p>
        </p:txBody>
      </p:sp>
      <p:sp>
        <p:nvSpPr>
          <p:cNvPr id="1362970" name="Text Box 60"/>
          <p:cNvSpPr txBox="1">
            <a:spLocks noChangeArrowheads="1"/>
          </p:cNvSpPr>
          <p:nvPr/>
        </p:nvSpPr>
        <p:spPr bwMode="auto">
          <a:xfrm>
            <a:off x="1676400" y="1941513"/>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应用进程</a:t>
            </a:r>
          </a:p>
        </p:txBody>
      </p:sp>
      <p:sp>
        <p:nvSpPr>
          <p:cNvPr id="1362971" name="Text Box 61"/>
          <p:cNvSpPr txBox="1">
            <a:spLocks noChangeArrowheads="1"/>
          </p:cNvSpPr>
          <p:nvPr/>
        </p:nvSpPr>
        <p:spPr bwMode="auto">
          <a:xfrm>
            <a:off x="8488363" y="18859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应用进程</a:t>
            </a:r>
          </a:p>
        </p:txBody>
      </p:sp>
      <p:grpSp>
        <p:nvGrpSpPr>
          <p:cNvPr id="1362972" name="Group 63"/>
          <p:cNvGrpSpPr>
            <a:grpSpLocks/>
          </p:cNvGrpSpPr>
          <p:nvPr/>
        </p:nvGrpSpPr>
        <p:grpSpPr bwMode="auto">
          <a:xfrm>
            <a:off x="8415338" y="2571750"/>
            <a:ext cx="233362" cy="1150938"/>
            <a:chOff x="3107" y="210"/>
            <a:chExt cx="136" cy="725"/>
          </a:xfrm>
        </p:grpSpPr>
        <p:sp>
          <p:nvSpPr>
            <p:cNvPr id="1362973" name="Rectangle 64"/>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a:t>
              </a:r>
            </a:p>
          </p:txBody>
        </p:sp>
        <p:sp>
          <p:nvSpPr>
            <p:cNvPr id="1362974" name="Rectangle 65"/>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2</a:t>
              </a:r>
            </a:p>
          </p:txBody>
        </p:sp>
        <p:sp>
          <p:nvSpPr>
            <p:cNvPr id="1362975" name="Rectangle 66"/>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3</a:t>
              </a:r>
            </a:p>
          </p:txBody>
        </p:sp>
        <p:sp>
          <p:nvSpPr>
            <p:cNvPr id="1362976" name="Rectangle 67"/>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0</a:t>
              </a:r>
            </a:p>
          </p:txBody>
        </p:sp>
      </p:grpSp>
      <p:sp>
        <p:nvSpPr>
          <p:cNvPr id="1362977" name="Rectangle 68"/>
          <p:cNvSpPr>
            <a:spLocks noChangeArrowheads="1"/>
          </p:cNvSpPr>
          <p:nvPr/>
        </p:nvSpPr>
        <p:spPr bwMode="auto">
          <a:xfrm>
            <a:off x="819150" y="4227513"/>
            <a:ext cx="233363"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18</a:t>
            </a:r>
          </a:p>
        </p:txBody>
      </p:sp>
      <p:sp>
        <p:nvSpPr>
          <p:cNvPr id="1362978" name="Rectangle 69"/>
          <p:cNvSpPr>
            <a:spLocks noChangeArrowheads="1"/>
          </p:cNvSpPr>
          <p:nvPr/>
        </p:nvSpPr>
        <p:spPr bwMode="auto">
          <a:xfrm>
            <a:off x="1052513" y="4227513"/>
            <a:ext cx="233362"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17</a:t>
            </a:r>
          </a:p>
        </p:txBody>
      </p:sp>
      <p:sp>
        <p:nvSpPr>
          <p:cNvPr id="1362979" name="Rectangle 70"/>
          <p:cNvSpPr>
            <a:spLocks noChangeArrowheads="1"/>
          </p:cNvSpPr>
          <p:nvPr/>
        </p:nvSpPr>
        <p:spPr bwMode="auto">
          <a:xfrm>
            <a:off x="1285875" y="4227513"/>
            <a:ext cx="234950"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16</a:t>
            </a:r>
          </a:p>
        </p:txBody>
      </p:sp>
      <p:sp>
        <p:nvSpPr>
          <p:cNvPr id="1362980" name="Rectangle 71"/>
          <p:cNvSpPr>
            <a:spLocks noChangeArrowheads="1"/>
          </p:cNvSpPr>
          <p:nvPr/>
        </p:nvSpPr>
        <p:spPr bwMode="auto">
          <a:xfrm>
            <a:off x="1520825" y="4227513"/>
            <a:ext cx="233363"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15</a:t>
            </a:r>
          </a:p>
        </p:txBody>
      </p:sp>
      <p:sp>
        <p:nvSpPr>
          <p:cNvPr id="1362981" name="Rectangle 72"/>
          <p:cNvSpPr>
            <a:spLocks noChangeArrowheads="1"/>
          </p:cNvSpPr>
          <p:nvPr/>
        </p:nvSpPr>
        <p:spPr bwMode="auto">
          <a:xfrm>
            <a:off x="1754188" y="4227513"/>
            <a:ext cx="233362" cy="287337"/>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14</a:t>
            </a:r>
          </a:p>
        </p:txBody>
      </p:sp>
      <p:grpSp>
        <p:nvGrpSpPr>
          <p:cNvPr id="1362982" name="Group 73"/>
          <p:cNvGrpSpPr>
            <a:grpSpLocks/>
          </p:cNvGrpSpPr>
          <p:nvPr/>
        </p:nvGrpSpPr>
        <p:grpSpPr bwMode="auto">
          <a:xfrm>
            <a:off x="1597025" y="2643188"/>
            <a:ext cx="234950" cy="863600"/>
            <a:chOff x="1429" y="164"/>
            <a:chExt cx="136" cy="544"/>
          </a:xfrm>
        </p:grpSpPr>
        <p:sp>
          <p:nvSpPr>
            <p:cNvPr id="1362983" name="Rectangle 74"/>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19</a:t>
              </a:r>
            </a:p>
          </p:txBody>
        </p:sp>
        <p:sp>
          <p:nvSpPr>
            <p:cNvPr id="1362984" name="Rectangle 75"/>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20</a:t>
              </a:r>
            </a:p>
          </p:txBody>
        </p:sp>
        <p:sp>
          <p:nvSpPr>
            <p:cNvPr id="1362985" name="Rectangle 76"/>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21</a:t>
              </a:r>
            </a:p>
          </p:txBody>
        </p:sp>
      </p:grpSp>
      <p:grpSp>
        <p:nvGrpSpPr>
          <p:cNvPr id="1362986" name="Group 77"/>
          <p:cNvGrpSpPr>
            <a:grpSpLocks/>
          </p:cNvGrpSpPr>
          <p:nvPr/>
        </p:nvGrpSpPr>
        <p:grpSpPr bwMode="auto">
          <a:xfrm>
            <a:off x="8026400" y="4225925"/>
            <a:ext cx="468313" cy="287338"/>
            <a:chOff x="2789" y="1842"/>
            <a:chExt cx="272" cy="181"/>
          </a:xfrm>
        </p:grpSpPr>
        <p:sp>
          <p:nvSpPr>
            <p:cNvPr id="1362987" name="Rectangle 78"/>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4</a:t>
              </a:r>
            </a:p>
          </p:txBody>
        </p:sp>
        <p:sp>
          <p:nvSpPr>
            <p:cNvPr id="1362988" name="Rectangle 79"/>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5</a:t>
              </a:r>
            </a:p>
          </p:txBody>
        </p:sp>
      </p:grpSp>
      <p:grpSp>
        <p:nvGrpSpPr>
          <p:cNvPr id="1362989" name="Group 86"/>
          <p:cNvGrpSpPr>
            <a:grpSpLocks/>
          </p:cNvGrpSpPr>
          <p:nvPr/>
        </p:nvGrpSpPr>
        <p:grpSpPr bwMode="auto">
          <a:xfrm>
            <a:off x="2066925" y="4946650"/>
            <a:ext cx="935038" cy="287338"/>
            <a:chOff x="2200" y="1298"/>
            <a:chExt cx="544" cy="181"/>
          </a:xfrm>
        </p:grpSpPr>
        <p:sp>
          <p:nvSpPr>
            <p:cNvPr id="1362990" name="Rectangle 87"/>
            <p:cNvSpPr>
              <a:spLocks noChangeArrowheads="1"/>
            </p:cNvSpPr>
            <p:nvPr/>
          </p:nvSpPr>
          <p:spPr bwMode="auto">
            <a:xfrm>
              <a:off x="2200" y="1298"/>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13</a:t>
              </a:r>
            </a:p>
          </p:txBody>
        </p:sp>
        <p:sp>
          <p:nvSpPr>
            <p:cNvPr id="1362991" name="Rectangle 88"/>
            <p:cNvSpPr>
              <a:spLocks noChangeArrowheads="1"/>
            </p:cNvSpPr>
            <p:nvPr/>
          </p:nvSpPr>
          <p:spPr bwMode="auto">
            <a:xfrm>
              <a:off x="2336" y="1298"/>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12</a:t>
              </a:r>
            </a:p>
          </p:txBody>
        </p:sp>
        <p:sp>
          <p:nvSpPr>
            <p:cNvPr id="1362992" name="Rectangle 89"/>
            <p:cNvSpPr>
              <a:spLocks noChangeArrowheads="1"/>
            </p:cNvSpPr>
            <p:nvPr/>
          </p:nvSpPr>
          <p:spPr bwMode="auto">
            <a:xfrm>
              <a:off x="2472" y="1298"/>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11</a:t>
              </a:r>
            </a:p>
          </p:txBody>
        </p:sp>
        <p:sp>
          <p:nvSpPr>
            <p:cNvPr id="1362993" name="Rectangle 90"/>
            <p:cNvSpPr>
              <a:spLocks noChangeArrowheads="1"/>
            </p:cNvSpPr>
            <p:nvPr/>
          </p:nvSpPr>
          <p:spPr bwMode="auto">
            <a:xfrm>
              <a:off x="2608" y="1298"/>
              <a:ext cx="136" cy="181"/>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grpSp>
      <p:grpSp>
        <p:nvGrpSpPr>
          <p:cNvPr id="1362994" name="Group 91"/>
          <p:cNvGrpSpPr>
            <a:grpSpLocks/>
          </p:cNvGrpSpPr>
          <p:nvPr/>
        </p:nvGrpSpPr>
        <p:grpSpPr bwMode="auto">
          <a:xfrm>
            <a:off x="4251325" y="4948238"/>
            <a:ext cx="468313" cy="287337"/>
            <a:chOff x="2290" y="482"/>
            <a:chExt cx="272" cy="181"/>
          </a:xfrm>
        </p:grpSpPr>
        <p:sp>
          <p:nvSpPr>
            <p:cNvPr id="1362995" name="Rectangle 92"/>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10</a:t>
              </a:r>
            </a:p>
          </p:txBody>
        </p:sp>
        <p:sp>
          <p:nvSpPr>
            <p:cNvPr id="1362996" name="Rectangle 93"/>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9</a:t>
              </a:r>
            </a:p>
          </p:txBody>
        </p:sp>
      </p:grpSp>
      <p:sp>
        <p:nvSpPr>
          <p:cNvPr id="1362997" name="Rectangle 94"/>
          <p:cNvSpPr>
            <a:spLocks noChangeArrowheads="1"/>
          </p:cNvSpPr>
          <p:nvPr/>
        </p:nvSpPr>
        <p:spPr bwMode="auto">
          <a:xfrm>
            <a:off x="4719638" y="4948238"/>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sp>
        <p:nvSpPr>
          <p:cNvPr id="1362998" name="AutoShape 95"/>
          <p:cNvSpPr>
            <a:spLocks noChangeArrowheads="1"/>
          </p:cNvSpPr>
          <p:nvPr/>
        </p:nvSpPr>
        <p:spPr bwMode="auto">
          <a:xfrm>
            <a:off x="3470275" y="3867150"/>
            <a:ext cx="2030413" cy="609600"/>
          </a:xfrm>
          <a:prstGeom prst="wedgeRoundRectCallout">
            <a:avLst>
              <a:gd name="adj1" fmla="val -73306"/>
              <a:gd name="adj2" fmla="val 126301"/>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b="1">
              <a:solidFill>
                <a:srgbClr val="000099"/>
              </a:solidFill>
              <a:ea typeface="黑体" panose="02010609060101010101" pitchFamily="49" charset="-122"/>
            </a:endParaRPr>
          </a:p>
        </p:txBody>
      </p:sp>
      <p:sp>
        <p:nvSpPr>
          <p:cNvPr id="1362999" name="Text Box 96"/>
          <p:cNvSpPr txBox="1">
            <a:spLocks noChangeArrowheads="1"/>
          </p:cNvSpPr>
          <p:nvPr/>
        </p:nvSpPr>
        <p:spPr bwMode="auto">
          <a:xfrm>
            <a:off x="3471863" y="3848100"/>
            <a:ext cx="1930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加上 </a:t>
            </a:r>
            <a:r>
              <a:rPr lang="en-US" altLang="zh-CN" b="1">
                <a:solidFill>
                  <a:srgbClr val="000099"/>
                </a:solidFill>
                <a:ea typeface="黑体" panose="02010609060101010101" pitchFamily="49" charset="-122"/>
              </a:rPr>
              <a:t>TCP </a:t>
            </a:r>
            <a:r>
              <a:rPr lang="zh-CN" altLang="en-US" b="1">
                <a:solidFill>
                  <a:srgbClr val="000099"/>
                </a:solidFill>
                <a:ea typeface="黑体" panose="02010609060101010101" pitchFamily="49" charset="-122"/>
              </a:rPr>
              <a:t>首部</a:t>
            </a:r>
          </a:p>
          <a:p>
            <a:pPr algn="ctr" eaLnBrk="0" hangingPunct="0"/>
            <a:r>
              <a:rPr lang="zh-CN" altLang="en-US" b="1">
                <a:solidFill>
                  <a:srgbClr val="000099"/>
                </a:solidFill>
                <a:ea typeface="黑体" panose="02010609060101010101" pitchFamily="49" charset="-122"/>
              </a:rPr>
              <a:t>构成 </a:t>
            </a:r>
            <a:r>
              <a:rPr lang="en-US" altLang="zh-CN" b="1">
                <a:solidFill>
                  <a:srgbClr val="C00000"/>
                </a:solidFill>
                <a:ea typeface="黑体" panose="02010609060101010101" pitchFamily="49" charset="-122"/>
              </a:rPr>
              <a:t>TCP </a:t>
            </a:r>
            <a:r>
              <a:rPr lang="zh-CN" altLang="en-US" b="1">
                <a:solidFill>
                  <a:srgbClr val="C00000"/>
                </a:solidFill>
                <a:ea typeface="黑体" panose="02010609060101010101" pitchFamily="49" charset="-122"/>
              </a:rPr>
              <a:t>报文段</a:t>
            </a:r>
          </a:p>
        </p:txBody>
      </p:sp>
      <p:sp>
        <p:nvSpPr>
          <p:cNvPr id="1363000" name="Line 97"/>
          <p:cNvSpPr>
            <a:spLocks noChangeShapeType="1"/>
          </p:cNvSpPr>
          <p:nvPr/>
        </p:nvSpPr>
        <p:spPr bwMode="auto">
          <a:xfrm>
            <a:off x="1979613" y="2798763"/>
            <a:ext cx="0" cy="576262"/>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3001" name="Line 98"/>
          <p:cNvSpPr>
            <a:spLocks noChangeShapeType="1"/>
          </p:cNvSpPr>
          <p:nvPr/>
        </p:nvSpPr>
        <p:spPr bwMode="auto">
          <a:xfrm flipV="1">
            <a:off x="8769350" y="2859088"/>
            <a:ext cx="0" cy="576262"/>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3002" name="Text Box 99"/>
          <p:cNvSpPr txBox="1">
            <a:spLocks noChangeArrowheads="1"/>
          </p:cNvSpPr>
          <p:nvPr/>
        </p:nvSpPr>
        <p:spPr bwMode="auto">
          <a:xfrm>
            <a:off x="517525" y="3833813"/>
            <a:ext cx="646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黑体" panose="02010609060101010101" pitchFamily="49" charset="-122"/>
              </a:rPr>
              <a:t>TCP</a:t>
            </a:r>
          </a:p>
        </p:txBody>
      </p:sp>
      <p:sp>
        <p:nvSpPr>
          <p:cNvPr id="1363003" name="Text Box 100"/>
          <p:cNvSpPr txBox="1">
            <a:spLocks noChangeArrowheads="1"/>
          </p:cNvSpPr>
          <p:nvPr/>
        </p:nvSpPr>
        <p:spPr bwMode="auto">
          <a:xfrm>
            <a:off x="7323138" y="3843338"/>
            <a:ext cx="6461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黑体" panose="02010609060101010101" pitchFamily="49" charset="-122"/>
              </a:rPr>
              <a:t>TCP</a:t>
            </a:r>
          </a:p>
        </p:txBody>
      </p:sp>
      <p:sp>
        <p:nvSpPr>
          <p:cNvPr id="1363004" name="Text Box 101"/>
          <p:cNvSpPr txBox="1">
            <a:spLocks noChangeArrowheads="1"/>
          </p:cNvSpPr>
          <p:nvPr/>
        </p:nvSpPr>
        <p:spPr bwMode="auto">
          <a:xfrm>
            <a:off x="1911350" y="2543175"/>
            <a:ext cx="876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字节流</a:t>
            </a:r>
          </a:p>
        </p:txBody>
      </p:sp>
      <p:sp>
        <p:nvSpPr>
          <p:cNvPr id="1363005" name="Text Box 102"/>
          <p:cNvSpPr txBox="1">
            <a:spLocks noChangeArrowheads="1"/>
          </p:cNvSpPr>
          <p:nvPr/>
        </p:nvSpPr>
        <p:spPr bwMode="auto">
          <a:xfrm>
            <a:off x="8647113" y="2543175"/>
            <a:ext cx="877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字节流</a:t>
            </a:r>
          </a:p>
        </p:txBody>
      </p:sp>
      <p:sp>
        <p:nvSpPr>
          <p:cNvPr id="1363006" name="Rectangle 103"/>
          <p:cNvSpPr>
            <a:spLocks noChangeArrowheads="1"/>
          </p:cNvSpPr>
          <p:nvPr/>
        </p:nvSpPr>
        <p:spPr bwMode="auto">
          <a:xfrm>
            <a:off x="3595688" y="1701800"/>
            <a:ext cx="233362"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H</a:t>
            </a:r>
          </a:p>
        </p:txBody>
      </p:sp>
      <p:sp>
        <p:nvSpPr>
          <p:cNvPr id="1363007" name="Text Box 104"/>
          <p:cNvSpPr txBox="1">
            <a:spLocks noChangeArrowheads="1"/>
          </p:cNvSpPr>
          <p:nvPr/>
        </p:nvSpPr>
        <p:spPr bwMode="auto">
          <a:xfrm>
            <a:off x="3908425" y="1677988"/>
            <a:ext cx="29003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表示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报文段的首部</a:t>
            </a:r>
          </a:p>
        </p:txBody>
      </p:sp>
      <p:sp>
        <p:nvSpPr>
          <p:cNvPr id="1363008" name="Rectangle 105"/>
          <p:cNvSpPr>
            <a:spLocks noChangeArrowheads="1"/>
          </p:cNvSpPr>
          <p:nvPr/>
        </p:nvSpPr>
        <p:spPr bwMode="auto">
          <a:xfrm>
            <a:off x="3595688" y="2044700"/>
            <a:ext cx="233362" cy="287338"/>
          </a:xfrm>
          <a:prstGeom prst="rect">
            <a:avLst/>
          </a:prstGeom>
          <a:solidFill>
            <a:srgbClr val="66FFCC"/>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x</a:t>
            </a:r>
          </a:p>
        </p:txBody>
      </p:sp>
      <p:sp>
        <p:nvSpPr>
          <p:cNvPr id="1363009" name="Text Box 106"/>
          <p:cNvSpPr txBox="1">
            <a:spLocks noChangeArrowheads="1"/>
          </p:cNvSpPr>
          <p:nvPr/>
        </p:nvSpPr>
        <p:spPr bwMode="auto">
          <a:xfrm>
            <a:off x="3908425" y="2020888"/>
            <a:ext cx="3049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表示序号为 </a:t>
            </a:r>
            <a:r>
              <a:rPr lang="en-US" altLang="zh-CN" sz="2000" b="1">
                <a:solidFill>
                  <a:srgbClr val="000099"/>
                </a:solidFill>
                <a:ea typeface="黑体" panose="02010609060101010101" pitchFamily="49" charset="-122"/>
              </a:rPr>
              <a:t>x </a:t>
            </a:r>
            <a:r>
              <a:rPr lang="zh-CN" altLang="en-US" sz="2000" b="1">
                <a:solidFill>
                  <a:srgbClr val="000099"/>
                </a:solidFill>
                <a:ea typeface="黑体" panose="02010609060101010101" pitchFamily="49" charset="-122"/>
              </a:rPr>
              <a:t>的数据字节</a:t>
            </a:r>
          </a:p>
        </p:txBody>
      </p:sp>
      <p:sp>
        <p:nvSpPr>
          <p:cNvPr id="1363010" name="AutoShape 108"/>
          <p:cNvSpPr>
            <a:spLocks noChangeArrowheads="1"/>
          </p:cNvSpPr>
          <p:nvPr/>
        </p:nvSpPr>
        <p:spPr bwMode="auto">
          <a:xfrm rot="-5400000">
            <a:off x="4694238" y="2209800"/>
            <a:ext cx="360362" cy="6554788"/>
          </a:xfrm>
          <a:prstGeom prst="can">
            <a:avLst>
              <a:gd name="adj" fmla="val 28632"/>
            </a:avLst>
          </a:prstGeom>
          <a:gradFill rotWithShape="1">
            <a:gsLst>
              <a:gs pos="0">
                <a:srgbClr val="939300"/>
              </a:gs>
              <a:gs pos="50000">
                <a:srgbClr val="FFFF00"/>
              </a:gs>
              <a:gs pos="100000">
                <a:srgbClr val="939300"/>
              </a:gs>
            </a:gsLst>
            <a:lin ang="0" scaled="1"/>
          </a:gra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363011" name="Text Box 109"/>
          <p:cNvSpPr txBox="1">
            <a:spLocks noChangeArrowheads="1"/>
          </p:cNvSpPr>
          <p:nvPr/>
        </p:nvSpPr>
        <p:spPr bwMode="auto">
          <a:xfrm>
            <a:off x="4110038" y="5283200"/>
            <a:ext cx="122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连接</a:t>
            </a:r>
            <a:endParaRPr lang="zh-CN" altLang="en-US" b="1">
              <a:solidFill>
                <a:srgbClr val="000099"/>
              </a:solidFill>
              <a:ea typeface="黑体" panose="02010609060101010101" pitchFamily="49" charset="-122"/>
            </a:endParaRPr>
          </a:p>
        </p:txBody>
      </p:sp>
      <p:sp>
        <p:nvSpPr>
          <p:cNvPr id="1363012" name="Freeform 110"/>
          <p:cNvSpPr>
            <a:spLocks noChangeArrowheads="1"/>
          </p:cNvSpPr>
          <p:nvPr/>
        </p:nvSpPr>
        <p:spPr bwMode="auto">
          <a:xfrm>
            <a:off x="1450975" y="4586288"/>
            <a:ext cx="217488" cy="892175"/>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6301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281B8-7525-42CC-BDB7-3CE5D14F8FE1}" type="slidenum">
              <a:rPr lang="zh-CN" altLang="en-US" smtClean="0"/>
              <a:pPr eaLnBrk="1" hangingPunct="1"/>
              <a:t>42</a:t>
            </a:fld>
            <a:endParaRPr lang="en-US" altLang="zh-CN" smtClean="0"/>
          </a:p>
        </p:txBody>
      </p:sp>
      <p:sp>
        <p:nvSpPr>
          <p:cNvPr id="136301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4993" name="Rectangle 2"/>
          <p:cNvSpPr>
            <a:spLocks noGrp="1" noChangeArrowheads="1"/>
          </p:cNvSpPr>
          <p:nvPr>
            <p:ph type="title"/>
          </p:nvPr>
        </p:nvSpPr>
        <p:spPr/>
        <p:txBody>
          <a:bodyPr/>
          <a:lstStyle/>
          <a:p>
            <a:pPr algn="ctr"/>
            <a:r>
              <a:rPr lang="en-US" altLang="zh-CN" sz="4000" smtClean="0">
                <a:ea typeface="黑体" panose="02010609060101010101" pitchFamily="49" charset="-122"/>
              </a:rPr>
              <a:t>TCP </a:t>
            </a:r>
            <a:r>
              <a:rPr lang="zh-CN" altLang="en-US" sz="4000" smtClean="0">
                <a:ea typeface="黑体" panose="02010609060101010101" pitchFamily="49" charset="-122"/>
              </a:rPr>
              <a:t>面向流的概念 </a:t>
            </a:r>
          </a:p>
        </p:txBody>
      </p:sp>
      <p:grpSp>
        <p:nvGrpSpPr>
          <p:cNvPr id="1364994" name="Group 3"/>
          <p:cNvGrpSpPr>
            <a:grpSpLocks/>
          </p:cNvGrpSpPr>
          <p:nvPr/>
        </p:nvGrpSpPr>
        <p:grpSpPr bwMode="auto">
          <a:xfrm>
            <a:off x="673100" y="1085850"/>
            <a:ext cx="8743950" cy="4268788"/>
            <a:chOff x="139" y="1169"/>
            <a:chExt cx="5508" cy="2665"/>
          </a:xfrm>
        </p:grpSpPr>
        <p:sp>
          <p:nvSpPr>
            <p:cNvPr id="1364995" name="Text Box 4"/>
            <p:cNvSpPr txBox="1">
              <a:spLocks noChangeArrowheads="1"/>
            </p:cNvSpPr>
            <p:nvPr/>
          </p:nvSpPr>
          <p:spPr bwMode="auto">
            <a:xfrm>
              <a:off x="503" y="1309"/>
              <a:ext cx="523"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ea typeface="黑体" panose="02010609060101010101" pitchFamily="49" charset="-122"/>
                  <a:sym typeface="Wingdings" panose="05000000000000000000" pitchFamily="2" charset="2"/>
                </a:rPr>
                <a:t></a:t>
              </a:r>
              <a:endParaRPr lang="en-US" altLang="zh-CN" sz="7200" b="1">
                <a:ea typeface="黑体" panose="02010609060101010101" pitchFamily="49" charset="-122"/>
              </a:endParaRPr>
            </a:p>
          </p:txBody>
        </p:sp>
        <p:sp>
          <p:nvSpPr>
            <p:cNvPr id="1364996" name="AutoShape 5"/>
            <p:cNvSpPr>
              <a:spLocks noChangeArrowheads="1"/>
            </p:cNvSpPr>
            <p:nvPr/>
          </p:nvSpPr>
          <p:spPr bwMode="auto">
            <a:xfrm>
              <a:off x="1900" y="3539"/>
              <a:ext cx="196" cy="155"/>
            </a:xfrm>
            <a:prstGeom prst="rightArrow">
              <a:avLst>
                <a:gd name="adj1" fmla="val 50000"/>
                <a:gd name="adj2" fmla="val 31613"/>
              </a:avLst>
            </a:prstGeom>
            <a:solidFill>
              <a:srgbClr val="C00000"/>
            </a:solidFill>
            <a:ln w="9525">
              <a:solidFill>
                <a:srgbClr val="C00000"/>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4997" name="AutoShape 6"/>
            <p:cNvSpPr>
              <a:spLocks noChangeArrowheads="1"/>
            </p:cNvSpPr>
            <p:nvPr/>
          </p:nvSpPr>
          <p:spPr bwMode="auto">
            <a:xfrm>
              <a:off x="4673" y="3539"/>
              <a:ext cx="194" cy="155"/>
            </a:xfrm>
            <a:prstGeom prst="rightArrow">
              <a:avLst>
                <a:gd name="adj1" fmla="val 50000"/>
                <a:gd name="adj2" fmla="val 31285"/>
              </a:avLst>
            </a:prstGeom>
            <a:solidFill>
              <a:srgbClr val="C00000"/>
            </a:solidFill>
            <a:ln w="9525">
              <a:solidFill>
                <a:srgbClr val="C00000"/>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4998" name="AutoShape 7"/>
            <p:cNvSpPr>
              <a:spLocks noChangeArrowheads="1"/>
            </p:cNvSpPr>
            <p:nvPr/>
          </p:nvSpPr>
          <p:spPr bwMode="auto">
            <a:xfrm>
              <a:off x="3116" y="3539"/>
              <a:ext cx="196" cy="155"/>
            </a:xfrm>
            <a:prstGeom prst="rightArrow">
              <a:avLst>
                <a:gd name="adj1" fmla="val 50000"/>
                <a:gd name="adj2" fmla="val 31613"/>
              </a:avLst>
            </a:prstGeom>
            <a:solidFill>
              <a:srgbClr val="C00000"/>
            </a:solidFill>
            <a:ln w="9525">
              <a:solidFill>
                <a:srgbClr val="C00000"/>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4999" name="Text Box 8"/>
            <p:cNvSpPr txBox="1">
              <a:spLocks noChangeArrowheads="1"/>
            </p:cNvSpPr>
            <p:nvPr/>
          </p:nvSpPr>
          <p:spPr bwMode="auto">
            <a:xfrm>
              <a:off x="255" y="2338"/>
              <a:ext cx="5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C00000"/>
                  </a:solidFill>
                  <a:ea typeface="黑体" panose="02010609060101010101" pitchFamily="49" charset="-122"/>
                </a:rPr>
                <a:t>端口</a:t>
              </a:r>
            </a:p>
          </p:txBody>
        </p:sp>
        <p:sp>
          <p:nvSpPr>
            <p:cNvPr id="1365000" name="Line 9"/>
            <p:cNvSpPr>
              <a:spLocks noChangeShapeType="1"/>
            </p:cNvSpPr>
            <p:nvPr/>
          </p:nvSpPr>
          <p:spPr bwMode="auto">
            <a:xfrm>
              <a:off x="757" y="1883"/>
              <a:ext cx="5" cy="744"/>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65001" name="Text Box 10"/>
            <p:cNvSpPr txBox="1">
              <a:spLocks noChangeArrowheads="1"/>
            </p:cNvSpPr>
            <p:nvPr/>
          </p:nvSpPr>
          <p:spPr bwMode="auto">
            <a:xfrm rot="5400000">
              <a:off x="826" y="2251"/>
              <a:ext cx="2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ea typeface="黑体" panose="02010609060101010101" pitchFamily="49" charset="-122"/>
                </a:rPr>
                <a:t>…</a:t>
              </a:r>
            </a:p>
          </p:txBody>
        </p:sp>
        <p:sp>
          <p:nvSpPr>
            <p:cNvPr id="1365002" name="Rectangle 12"/>
            <p:cNvSpPr>
              <a:spLocks noChangeArrowheads="1"/>
            </p:cNvSpPr>
            <p:nvPr/>
          </p:nvSpPr>
          <p:spPr bwMode="auto">
            <a:xfrm>
              <a:off x="860" y="1993"/>
              <a:ext cx="411" cy="107"/>
            </a:xfrm>
            <a:prstGeom prst="rect">
              <a:avLst/>
            </a:prstGeom>
            <a:solidFill>
              <a:srgbClr val="CC0099"/>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3" name="Rectangle 13"/>
            <p:cNvSpPr>
              <a:spLocks noChangeArrowheads="1"/>
            </p:cNvSpPr>
            <p:nvPr/>
          </p:nvSpPr>
          <p:spPr bwMode="auto">
            <a:xfrm>
              <a:off x="860" y="2154"/>
              <a:ext cx="102" cy="110"/>
            </a:xfrm>
            <a:prstGeom prst="rect">
              <a:avLst/>
            </a:prstGeom>
            <a:solidFill>
              <a:srgbClr val="CC0099"/>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4" name="Rectangle 14"/>
            <p:cNvSpPr>
              <a:spLocks noChangeArrowheads="1"/>
            </p:cNvSpPr>
            <p:nvPr/>
          </p:nvSpPr>
          <p:spPr bwMode="auto">
            <a:xfrm>
              <a:off x="860" y="2479"/>
              <a:ext cx="257" cy="110"/>
            </a:xfrm>
            <a:prstGeom prst="rect">
              <a:avLst/>
            </a:prstGeom>
            <a:solidFill>
              <a:srgbClr val="CC0099"/>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5" name="Rectangle 15"/>
            <p:cNvSpPr>
              <a:spLocks noChangeArrowheads="1"/>
            </p:cNvSpPr>
            <p:nvPr/>
          </p:nvSpPr>
          <p:spPr bwMode="auto">
            <a:xfrm>
              <a:off x="139" y="2696"/>
              <a:ext cx="1236" cy="706"/>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r>
                <a:rPr lang="en-US" altLang="zh-CN" sz="2800" b="1">
                  <a:ea typeface="黑体" panose="02010609060101010101" pitchFamily="49" charset="-122"/>
                </a:rPr>
                <a:t>TCP</a:t>
              </a:r>
            </a:p>
            <a:p>
              <a:pPr eaLnBrk="0" hangingPunct="0"/>
              <a:endParaRPr lang="en-US" altLang="zh-CN" sz="1200" b="1">
                <a:ea typeface="黑体" panose="02010609060101010101" pitchFamily="49" charset="-122"/>
              </a:endParaRPr>
            </a:p>
            <a:p>
              <a:pPr eaLnBrk="0" hangingPunct="0"/>
              <a:endParaRPr lang="en-US" altLang="zh-CN" b="1">
                <a:ea typeface="黑体" panose="02010609060101010101" pitchFamily="49" charset="-122"/>
              </a:endParaRPr>
            </a:p>
          </p:txBody>
        </p:sp>
        <p:sp>
          <p:nvSpPr>
            <p:cNvPr id="1365006" name="Line 16"/>
            <p:cNvSpPr>
              <a:spLocks noChangeShapeType="1"/>
            </p:cNvSpPr>
            <p:nvPr/>
          </p:nvSpPr>
          <p:spPr bwMode="auto">
            <a:xfrm flipV="1">
              <a:off x="5030" y="1883"/>
              <a:ext cx="0" cy="813"/>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65007" name="Text Box 17"/>
            <p:cNvSpPr txBox="1">
              <a:spLocks noChangeArrowheads="1"/>
            </p:cNvSpPr>
            <p:nvPr/>
          </p:nvSpPr>
          <p:spPr bwMode="auto">
            <a:xfrm rot="5400000">
              <a:off x="5098" y="2254"/>
              <a:ext cx="2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ea typeface="黑体" panose="02010609060101010101" pitchFamily="49" charset="-122"/>
                </a:rPr>
                <a:t>…</a:t>
              </a:r>
            </a:p>
          </p:txBody>
        </p:sp>
        <p:sp>
          <p:nvSpPr>
            <p:cNvPr id="1365008" name="Rectangle 18"/>
            <p:cNvSpPr>
              <a:spLocks noChangeArrowheads="1"/>
            </p:cNvSpPr>
            <p:nvPr/>
          </p:nvSpPr>
          <p:spPr bwMode="auto">
            <a:xfrm>
              <a:off x="5133" y="2479"/>
              <a:ext cx="309" cy="110"/>
            </a:xfrm>
            <a:prstGeom prst="rect">
              <a:avLst/>
            </a:prstGeom>
            <a:solidFill>
              <a:srgbClr val="99CCFF"/>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09" name="Rectangle 19"/>
            <p:cNvSpPr>
              <a:spLocks noChangeArrowheads="1"/>
            </p:cNvSpPr>
            <p:nvPr/>
          </p:nvSpPr>
          <p:spPr bwMode="auto">
            <a:xfrm>
              <a:off x="4412" y="2696"/>
              <a:ext cx="1235" cy="706"/>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r>
                <a:rPr lang="en-US" altLang="zh-CN" sz="2800" b="1">
                  <a:ea typeface="黑体" panose="02010609060101010101" pitchFamily="49" charset="-122"/>
                </a:rPr>
                <a:t>TCP</a:t>
              </a:r>
            </a:p>
            <a:p>
              <a:pPr eaLnBrk="0" hangingPunct="0"/>
              <a:endParaRPr lang="en-US" altLang="zh-CN" sz="1200" b="1">
                <a:ea typeface="黑体" panose="02010609060101010101" pitchFamily="49" charset="-122"/>
              </a:endParaRPr>
            </a:p>
            <a:p>
              <a:pPr eaLnBrk="0" hangingPunct="0"/>
              <a:endParaRPr lang="en-US" altLang="zh-CN" b="1">
                <a:ea typeface="黑体" panose="02010609060101010101" pitchFamily="49" charset="-122"/>
              </a:endParaRPr>
            </a:p>
          </p:txBody>
        </p:sp>
        <p:sp>
          <p:nvSpPr>
            <p:cNvPr id="1365010" name="Rectangle 20"/>
            <p:cNvSpPr>
              <a:spLocks noChangeArrowheads="1"/>
            </p:cNvSpPr>
            <p:nvPr/>
          </p:nvSpPr>
          <p:spPr bwMode="auto">
            <a:xfrm>
              <a:off x="4547" y="3042"/>
              <a:ext cx="979" cy="275"/>
            </a:xfrm>
            <a:prstGeom prst="rect">
              <a:avLst/>
            </a:prstGeom>
            <a:solidFill>
              <a:srgbClr val="FF99FF"/>
            </a:solidFill>
            <a:ln w="19050">
              <a:solidFill>
                <a:schemeClr val="tx2"/>
              </a:solidFill>
              <a:miter lim="800000"/>
              <a:headEnd/>
              <a:tailEnd/>
            </a:ln>
          </p:spPr>
          <p:txBody>
            <a:bodyPr wrap="none" anchor="ctr"/>
            <a:lstStyle/>
            <a:p>
              <a:pPr algn="ctr" eaLnBrk="0" hangingPunct="0"/>
              <a:r>
                <a:rPr lang="zh-CN" altLang="en-US" sz="2000" b="1">
                  <a:ea typeface="黑体" panose="02010609060101010101" pitchFamily="49" charset="-122"/>
                </a:rPr>
                <a:t>接收缓存</a:t>
              </a:r>
            </a:p>
          </p:txBody>
        </p:sp>
        <p:sp>
          <p:nvSpPr>
            <p:cNvPr id="1365011" name="Freeform 21"/>
            <p:cNvSpPr>
              <a:spLocks noChangeArrowheads="1"/>
            </p:cNvSpPr>
            <p:nvPr/>
          </p:nvSpPr>
          <p:spPr bwMode="auto">
            <a:xfrm>
              <a:off x="757" y="3402"/>
              <a:ext cx="4273" cy="432"/>
            </a:xfrm>
            <a:custGeom>
              <a:avLst/>
              <a:gdLst>
                <a:gd name="T0" fmla="*/ 0 w 3264"/>
                <a:gd name="T1" fmla="*/ 0 h 384"/>
                <a:gd name="T2" fmla="*/ 0 w 3264"/>
                <a:gd name="T3" fmla="*/ 384 h 384"/>
                <a:gd name="T4" fmla="*/ 3264 w 3264"/>
                <a:gd name="T5" fmla="*/ 384 h 384"/>
                <a:gd name="T6" fmla="*/ 3264 w 3264"/>
                <a:gd name="T7" fmla="*/ 0 h 384"/>
              </a:gdLst>
              <a:ahLst/>
              <a:cxnLst>
                <a:cxn ang="0">
                  <a:pos x="T0" y="T1"/>
                </a:cxn>
                <a:cxn ang="0">
                  <a:pos x="T2" y="T3"/>
                </a:cxn>
                <a:cxn ang="0">
                  <a:pos x="T4" y="T5"/>
                </a:cxn>
                <a:cxn ang="0">
                  <a:pos x="T6" y="T7"/>
                </a:cxn>
              </a:cxnLst>
              <a:rect l="0" t="0" r="r" b="b"/>
              <a:pathLst>
                <a:path w="3264" h="384">
                  <a:moveTo>
                    <a:pt x="0" y="0"/>
                  </a:moveTo>
                  <a:lnTo>
                    <a:pt x="0" y="384"/>
                  </a:lnTo>
                  <a:lnTo>
                    <a:pt x="3264" y="384"/>
                  </a:lnTo>
                  <a:lnTo>
                    <a:pt x="3264" y="0"/>
                  </a:lnTo>
                </a:path>
              </a:pathLst>
            </a:cu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1365012" name="Rectangle 22"/>
            <p:cNvSpPr>
              <a:spLocks noChangeArrowheads="1"/>
            </p:cNvSpPr>
            <p:nvPr/>
          </p:nvSpPr>
          <p:spPr bwMode="auto">
            <a:xfrm>
              <a:off x="275" y="3042"/>
              <a:ext cx="977" cy="275"/>
            </a:xfrm>
            <a:prstGeom prst="rect">
              <a:avLst/>
            </a:prstGeom>
            <a:solidFill>
              <a:srgbClr val="FF99FF"/>
            </a:solidFill>
            <a:ln w="19050">
              <a:solidFill>
                <a:schemeClr val="tx2"/>
              </a:solidFill>
              <a:miter lim="800000"/>
              <a:headEnd/>
              <a:tailEnd/>
            </a:ln>
          </p:spPr>
          <p:txBody>
            <a:bodyPr wrap="none" anchor="ctr"/>
            <a:lstStyle/>
            <a:p>
              <a:pPr algn="ctr" eaLnBrk="0" hangingPunct="0"/>
              <a:r>
                <a:rPr lang="zh-CN" altLang="en-US" sz="2000" b="1">
                  <a:ea typeface="黑体" panose="02010609060101010101" pitchFamily="49" charset="-122"/>
                </a:rPr>
                <a:t>发送缓存</a:t>
              </a:r>
            </a:p>
          </p:txBody>
        </p:sp>
        <p:sp>
          <p:nvSpPr>
            <p:cNvPr id="1365013" name="Rectangle 23"/>
            <p:cNvSpPr>
              <a:spLocks noChangeArrowheads="1"/>
            </p:cNvSpPr>
            <p:nvPr/>
          </p:nvSpPr>
          <p:spPr bwMode="auto">
            <a:xfrm>
              <a:off x="980" y="3466"/>
              <a:ext cx="936" cy="278"/>
            </a:xfrm>
            <a:prstGeom prst="rect">
              <a:avLst/>
            </a:prstGeom>
            <a:solidFill>
              <a:srgbClr val="66CCFF"/>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ea typeface="黑体" panose="02010609060101010101" pitchFamily="49" charset="-122"/>
                </a:rPr>
                <a:t>报文段</a:t>
              </a:r>
            </a:p>
          </p:txBody>
        </p:sp>
        <p:sp>
          <p:nvSpPr>
            <p:cNvPr id="1365014" name="Text Box 24"/>
            <p:cNvSpPr txBox="1">
              <a:spLocks noChangeArrowheads="1"/>
            </p:cNvSpPr>
            <p:nvPr/>
          </p:nvSpPr>
          <p:spPr bwMode="auto">
            <a:xfrm>
              <a:off x="3382" y="3436"/>
              <a:ext cx="2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ea typeface="黑体" panose="02010609060101010101" pitchFamily="49" charset="-122"/>
                </a:rPr>
                <a:t>…</a:t>
              </a:r>
            </a:p>
          </p:txBody>
        </p:sp>
        <p:sp>
          <p:nvSpPr>
            <p:cNvPr id="1365015" name="Rectangle 25"/>
            <p:cNvSpPr>
              <a:spLocks noChangeArrowheads="1"/>
            </p:cNvSpPr>
            <p:nvPr/>
          </p:nvSpPr>
          <p:spPr bwMode="auto">
            <a:xfrm>
              <a:off x="2216" y="3466"/>
              <a:ext cx="936" cy="278"/>
            </a:xfrm>
            <a:prstGeom prst="rect">
              <a:avLst/>
            </a:prstGeom>
            <a:solidFill>
              <a:srgbClr val="66CCFF"/>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ea typeface="黑体" panose="02010609060101010101" pitchFamily="49" charset="-122"/>
                </a:rPr>
                <a:t>报文段</a:t>
              </a:r>
            </a:p>
          </p:txBody>
        </p:sp>
        <p:sp>
          <p:nvSpPr>
            <p:cNvPr id="1365016" name="Rectangle 26"/>
            <p:cNvSpPr>
              <a:spLocks noChangeArrowheads="1"/>
            </p:cNvSpPr>
            <p:nvPr/>
          </p:nvSpPr>
          <p:spPr bwMode="auto">
            <a:xfrm>
              <a:off x="3760" y="3466"/>
              <a:ext cx="936" cy="278"/>
            </a:xfrm>
            <a:prstGeom prst="rect">
              <a:avLst/>
            </a:prstGeom>
            <a:solidFill>
              <a:srgbClr val="66CCFF"/>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ea typeface="黑体" panose="02010609060101010101" pitchFamily="49" charset="-122"/>
                </a:rPr>
                <a:t>报文段</a:t>
              </a:r>
            </a:p>
          </p:txBody>
        </p:sp>
        <p:sp>
          <p:nvSpPr>
            <p:cNvPr id="1365017" name="Rectangle 27"/>
            <p:cNvSpPr>
              <a:spLocks noChangeArrowheads="1"/>
            </p:cNvSpPr>
            <p:nvPr/>
          </p:nvSpPr>
          <p:spPr bwMode="auto">
            <a:xfrm>
              <a:off x="5133" y="2154"/>
              <a:ext cx="309" cy="110"/>
            </a:xfrm>
            <a:prstGeom prst="rect">
              <a:avLst/>
            </a:prstGeom>
            <a:solidFill>
              <a:srgbClr val="99CCFF"/>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18" name="Rectangle 28"/>
            <p:cNvSpPr>
              <a:spLocks noChangeArrowheads="1"/>
            </p:cNvSpPr>
            <p:nvPr/>
          </p:nvSpPr>
          <p:spPr bwMode="auto">
            <a:xfrm>
              <a:off x="5133" y="1993"/>
              <a:ext cx="309" cy="107"/>
            </a:xfrm>
            <a:prstGeom prst="rect">
              <a:avLst/>
            </a:prstGeom>
            <a:solidFill>
              <a:srgbClr val="99CCFF"/>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19" name="Text Box 29"/>
            <p:cNvSpPr txBox="1">
              <a:spLocks noChangeArrowheads="1"/>
            </p:cNvSpPr>
            <p:nvPr/>
          </p:nvSpPr>
          <p:spPr bwMode="auto">
            <a:xfrm>
              <a:off x="4510" y="2354"/>
              <a:ext cx="5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C00000"/>
                  </a:solidFill>
                  <a:ea typeface="黑体" panose="02010609060101010101" pitchFamily="49" charset="-122"/>
                </a:rPr>
                <a:t>端口</a:t>
              </a:r>
            </a:p>
          </p:txBody>
        </p:sp>
        <p:sp>
          <p:nvSpPr>
            <p:cNvPr id="1365020" name="Text Box 30"/>
            <p:cNvSpPr txBox="1">
              <a:spLocks noChangeArrowheads="1"/>
            </p:cNvSpPr>
            <p:nvPr/>
          </p:nvSpPr>
          <p:spPr bwMode="auto">
            <a:xfrm>
              <a:off x="401" y="1169"/>
              <a:ext cx="7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发送端</a:t>
              </a:r>
            </a:p>
          </p:txBody>
        </p:sp>
        <p:sp>
          <p:nvSpPr>
            <p:cNvPr id="1365021" name="Text Box 31"/>
            <p:cNvSpPr txBox="1">
              <a:spLocks noChangeArrowheads="1"/>
            </p:cNvSpPr>
            <p:nvPr/>
          </p:nvSpPr>
          <p:spPr bwMode="auto">
            <a:xfrm>
              <a:off x="4671" y="1170"/>
              <a:ext cx="7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接收端</a:t>
              </a:r>
            </a:p>
          </p:txBody>
        </p:sp>
        <p:sp>
          <p:nvSpPr>
            <p:cNvPr id="1365022" name="AutoShape 32"/>
            <p:cNvSpPr>
              <a:spLocks noChangeArrowheads="1"/>
            </p:cNvSpPr>
            <p:nvPr/>
          </p:nvSpPr>
          <p:spPr bwMode="auto">
            <a:xfrm>
              <a:off x="1375" y="1945"/>
              <a:ext cx="1141" cy="622"/>
            </a:xfrm>
            <a:prstGeom prst="wedgeRoundRectCallout">
              <a:avLst>
                <a:gd name="adj1" fmla="val -74366"/>
                <a:gd name="adj2" fmla="val 137620"/>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eaLnBrk="0" hangingPunct="0"/>
              <a:endParaRPr lang="zh-CN" altLang="zh-CN" sz="3200" b="1">
                <a:ea typeface="黑体" panose="02010609060101010101" pitchFamily="49" charset="-122"/>
              </a:endParaRPr>
            </a:p>
          </p:txBody>
        </p:sp>
        <p:sp>
          <p:nvSpPr>
            <p:cNvPr id="1365023" name="Text Box 33"/>
            <p:cNvSpPr txBox="1">
              <a:spLocks noChangeArrowheads="1"/>
            </p:cNvSpPr>
            <p:nvPr/>
          </p:nvSpPr>
          <p:spPr bwMode="auto">
            <a:xfrm>
              <a:off x="1394" y="2001"/>
              <a:ext cx="109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向发送缓存</a:t>
              </a:r>
            </a:p>
            <a:p>
              <a:r>
                <a:rPr lang="zh-CN" altLang="en-US" sz="2400" b="1">
                  <a:ea typeface="黑体" panose="02010609060101010101" pitchFamily="49" charset="-122"/>
                </a:rPr>
                <a:t>写入数据块</a:t>
              </a:r>
            </a:p>
          </p:txBody>
        </p:sp>
        <p:sp>
          <p:nvSpPr>
            <p:cNvPr id="1365024" name="AutoShape 34"/>
            <p:cNvSpPr>
              <a:spLocks noChangeArrowheads="1"/>
            </p:cNvSpPr>
            <p:nvPr/>
          </p:nvSpPr>
          <p:spPr bwMode="auto">
            <a:xfrm>
              <a:off x="2988" y="1965"/>
              <a:ext cx="1104" cy="622"/>
            </a:xfrm>
            <a:prstGeom prst="wedgeRoundRectCallout">
              <a:avLst>
                <a:gd name="adj1" fmla="val 97102"/>
                <a:gd name="adj2" fmla="val 139389"/>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eaLnBrk="0" hangingPunct="0"/>
              <a:endParaRPr lang="zh-CN" altLang="zh-CN" sz="3200" b="1">
                <a:ea typeface="黑体" panose="02010609060101010101" pitchFamily="49" charset="-122"/>
              </a:endParaRPr>
            </a:p>
          </p:txBody>
        </p:sp>
        <p:sp>
          <p:nvSpPr>
            <p:cNvPr id="1365025" name="Text Box 35"/>
            <p:cNvSpPr txBox="1">
              <a:spLocks noChangeArrowheads="1"/>
            </p:cNvSpPr>
            <p:nvPr/>
          </p:nvSpPr>
          <p:spPr bwMode="auto">
            <a:xfrm>
              <a:off x="3007" y="2012"/>
              <a:ext cx="1091"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从接收缓存</a:t>
              </a:r>
            </a:p>
            <a:p>
              <a:r>
                <a:rPr lang="zh-CN" altLang="en-US" sz="2400" b="1">
                  <a:ea typeface="黑体" panose="02010609060101010101" pitchFamily="49" charset="-122"/>
                </a:rPr>
                <a:t>读取数据块</a:t>
              </a:r>
            </a:p>
          </p:txBody>
        </p:sp>
        <p:sp>
          <p:nvSpPr>
            <p:cNvPr id="1365026" name="Text Box 36"/>
            <p:cNvSpPr txBox="1">
              <a:spLocks noChangeArrowheads="1"/>
            </p:cNvSpPr>
            <p:nvPr/>
          </p:nvSpPr>
          <p:spPr bwMode="auto">
            <a:xfrm>
              <a:off x="910" y="1474"/>
              <a:ext cx="88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应用进程</a:t>
              </a:r>
            </a:p>
          </p:txBody>
        </p:sp>
        <p:sp>
          <p:nvSpPr>
            <p:cNvPr id="1365027" name="Text Box 37"/>
            <p:cNvSpPr txBox="1">
              <a:spLocks noChangeArrowheads="1"/>
            </p:cNvSpPr>
            <p:nvPr/>
          </p:nvSpPr>
          <p:spPr bwMode="auto">
            <a:xfrm>
              <a:off x="4001" y="1475"/>
              <a:ext cx="88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ea typeface="黑体" panose="02010609060101010101" pitchFamily="49" charset="-122"/>
                </a:rPr>
                <a:t>应用进程</a:t>
              </a:r>
            </a:p>
          </p:txBody>
        </p:sp>
        <p:sp>
          <p:nvSpPr>
            <p:cNvPr id="1365028" name="Text Box 38"/>
            <p:cNvSpPr txBox="1">
              <a:spLocks noChangeArrowheads="1"/>
            </p:cNvSpPr>
            <p:nvPr/>
          </p:nvSpPr>
          <p:spPr bwMode="auto">
            <a:xfrm>
              <a:off x="4772" y="1339"/>
              <a:ext cx="519" cy="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7200" b="1">
                  <a:ea typeface="黑体" panose="02010609060101010101" pitchFamily="49" charset="-122"/>
                  <a:sym typeface="Wingdings" panose="05000000000000000000" pitchFamily="2" charset="2"/>
                </a:rPr>
                <a:t></a:t>
              </a:r>
              <a:endParaRPr lang="en-US" altLang="zh-CN" sz="7200" b="1">
                <a:ea typeface="黑体" panose="02010609060101010101" pitchFamily="49" charset="-122"/>
              </a:endParaRPr>
            </a:p>
          </p:txBody>
        </p:sp>
        <p:sp>
          <p:nvSpPr>
            <p:cNvPr id="1365029" name="Rectangle 39"/>
            <p:cNvSpPr>
              <a:spLocks noChangeArrowheads="1"/>
            </p:cNvSpPr>
            <p:nvPr/>
          </p:nvSpPr>
          <p:spPr bwMode="auto">
            <a:xfrm>
              <a:off x="688" y="2610"/>
              <a:ext cx="148" cy="147"/>
            </a:xfrm>
            <a:prstGeom prst="rect">
              <a:avLst/>
            </a:prstGeom>
            <a:solidFill>
              <a:srgbClr val="CC6600"/>
            </a:solidFill>
            <a:ln w="1905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65030" name="Rectangle 40"/>
            <p:cNvSpPr>
              <a:spLocks noChangeArrowheads="1"/>
            </p:cNvSpPr>
            <p:nvPr/>
          </p:nvSpPr>
          <p:spPr bwMode="auto">
            <a:xfrm>
              <a:off x="4953" y="2610"/>
              <a:ext cx="148" cy="147"/>
            </a:xfrm>
            <a:prstGeom prst="rect">
              <a:avLst/>
            </a:prstGeom>
            <a:solidFill>
              <a:srgbClr val="CC6600"/>
            </a:solidFill>
            <a:ln w="1905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grpSp>
      <p:sp>
        <p:nvSpPr>
          <p:cNvPr id="1365031" name="Rectangle 41"/>
          <p:cNvSpPr>
            <a:spLocks noChangeArrowheads="1"/>
          </p:cNvSpPr>
          <p:nvPr/>
        </p:nvSpPr>
        <p:spPr bwMode="auto">
          <a:xfrm>
            <a:off x="725488" y="5548313"/>
            <a:ext cx="8691562" cy="904875"/>
          </a:xfrm>
          <a:prstGeom prst="rect">
            <a:avLst/>
          </a:prstGeom>
          <a:solidFill>
            <a:srgbClr val="66FF66"/>
          </a:solidFill>
          <a:ln w="12700">
            <a:solidFill>
              <a:srgbClr val="000066"/>
            </a:solidFill>
            <a:round/>
            <a:headEnd/>
            <a:tailEnd/>
          </a:ln>
        </p:spPr>
        <p:txBody>
          <a:bodyPr>
            <a:spAutoFit/>
          </a:bodyPr>
          <a:lstStyle>
            <a:lvl1pPr marL="176213" indent="-17621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FontTx/>
              <a:buChar char="•"/>
            </a:pPr>
            <a:r>
              <a:rPr lang="en-US" altLang="zh-CN" sz="2400" b="1">
                <a:ea typeface="黑体" panose="02010609060101010101" pitchFamily="49" charset="-122"/>
              </a:rPr>
              <a:t>TCP </a:t>
            </a:r>
            <a:r>
              <a:rPr lang="zh-CN" altLang="en-US" sz="2400" b="1">
                <a:solidFill>
                  <a:srgbClr val="FF0000"/>
                </a:solidFill>
                <a:ea typeface="黑体" panose="02010609060101010101" pitchFamily="49" charset="-122"/>
              </a:rPr>
              <a:t>不关心</a:t>
            </a:r>
            <a:r>
              <a:rPr lang="zh-CN" altLang="en-US" sz="2400" b="1">
                <a:ea typeface="黑体" panose="02010609060101010101" pitchFamily="49" charset="-122"/>
              </a:rPr>
              <a:t>应用进程一次把多长的报文发送到 </a:t>
            </a:r>
            <a:r>
              <a:rPr lang="en-US" altLang="zh-CN" sz="2400" b="1">
                <a:ea typeface="黑体" panose="02010609060101010101" pitchFamily="49" charset="-122"/>
              </a:rPr>
              <a:t>TCP </a:t>
            </a:r>
            <a:r>
              <a:rPr lang="zh-CN" altLang="en-US" sz="2400" b="1">
                <a:ea typeface="黑体" panose="02010609060101010101" pitchFamily="49" charset="-122"/>
              </a:rPr>
              <a:t>缓存。</a:t>
            </a:r>
          </a:p>
          <a:p>
            <a:pPr>
              <a:lnSpc>
                <a:spcPct val="110000"/>
              </a:lnSpc>
              <a:buFontTx/>
              <a:buChar char="•"/>
            </a:pPr>
            <a:r>
              <a:rPr lang="en-US" altLang="zh-CN" sz="2400" b="1">
                <a:solidFill>
                  <a:srgbClr val="C00000"/>
                </a:solidFill>
                <a:ea typeface="黑体" panose="02010609060101010101" pitchFamily="49" charset="-122"/>
              </a:rPr>
              <a:t>TCP </a:t>
            </a:r>
            <a:r>
              <a:rPr lang="zh-CN" altLang="en-US" sz="2400" b="1">
                <a:solidFill>
                  <a:srgbClr val="C00000"/>
                </a:solidFill>
                <a:ea typeface="黑体" panose="02010609060101010101" pitchFamily="49" charset="-122"/>
              </a:rPr>
              <a:t>对连续的字节流进行分段，形成 </a:t>
            </a:r>
            <a:r>
              <a:rPr lang="en-US" altLang="zh-CN" sz="2400" b="1">
                <a:solidFill>
                  <a:srgbClr val="C00000"/>
                </a:solidFill>
                <a:ea typeface="黑体" panose="02010609060101010101" pitchFamily="49" charset="-122"/>
              </a:rPr>
              <a:t>TCP </a:t>
            </a:r>
            <a:r>
              <a:rPr lang="zh-CN" altLang="en-US" sz="2400" b="1">
                <a:solidFill>
                  <a:srgbClr val="C00000"/>
                </a:solidFill>
                <a:ea typeface="黑体" panose="02010609060101010101" pitchFamily="49" charset="-122"/>
              </a:rPr>
              <a:t>报文段。</a:t>
            </a:r>
          </a:p>
        </p:txBody>
      </p:sp>
      <p:sp>
        <p:nvSpPr>
          <p:cNvPr id="13650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2699C7-FFAF-4831-8F7F-60E7F3A72C30}" type="slidenum">
              <a:rPr lang="zh-CN" altLang="en-US" smtClean="0"/>
              <a:pPr eaLnBrk="1" hangingPunct="1"/>
              <a:t>43</a:t>
            </a:fld>
            <a:endParaRPr lang="en-US" altLang="zh-CN" smtClean="0"/>
          </a:p>
        </p:txBody>
      </p:sp>
      <p:sp>
        <p:nvSpPr>
          <p:cNvPr id="13650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70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注 意</a:t>
            </a:r>
          </a:p>
        </p:txBody>
      </p:sp>
      <p:sp>
        <p:nvSpPr>
          <p:cNvPr id="1367042" name="Rectangle 3"/>
          <p:cNvSpPr>
            <a:spLocks noGrp="1" noChangeArrowheads="1"/>
          </p:cNvSpPr>
          <p:nvPr>
            <p:ph idx="1"/>
          </p:nvPr>
        </p:nvSpPr>
        <p:spPr>
          <a:xfrm>
            <a:off x="495300" y="1196975"/>
            <a:ext cx="9066213" cy="4933950"/>
          </a:xfrm>
        </p:spPr>
        <p:txBody>
          <a:bodyPr/>
          <a:lstStyle/>
          <a:p>
            <a:r>
              <a:rPr lang="en-US" altLang="zh-CN" sz="3000" smtClean="0">
                <a:ea typeface="黑体" panose="02010609060101010101" pitchFamily="49" charset="-122"/>
              </a:rPr>
              <a:t>TCP </a:t>
            </a:r>
            <a:r>
              <a:rPr lang="zh-CN" altLang="en-US" sz="3000" smtClean="0">
                <a:ea typeface="黑体" panose="02010609060101010101" pitchFamily="49" charset="-122"/>
              </a:rPr>
              <a:t>连接是一条</a:t>
            </a:r>
            <a:r>
              <a:rPr lang="zh-CN" altLang="en-US" sz="3000" smtClean="0">
                <a:solidFill>
                  <a:srgbClr val="FF0000"/>
                </a:solidFill>
                <a:ea typeface="黑体" panose="02010609060101010101" pitchFamily="49" charset="-122"/>
              </a:rPr>
              <a:t>虚连接</a:t>
            </a:r>
            <a:r>
              <a:rPr lang="zh-CN" altLang="en-US" sz="3000" smtClean="0">
                <a:ea typeface="黑体" panose="02010609060101010101" pitchFamily="49" charset="-122"/>
              </a:rPr>
              <a:t>而不是一条真正的物理连接。</a:t>
            </a:r>
          </a:p>
          <a:p>
            <a:r>
              <a:rPr lang="en-US" altLang="zh-CN" sz="3000" smtClean="0">
                <a:ea typeface="黑体" panose="02010609060101010101" pitchFamily="49" charset="-122"/>
              </a:rPr>
              <a:t>TCP </a:t>
            </a:r>
            <a:r>
              <a:rPr lang="zh-CN" altLang="en-US" sz="3000" smtClean="0">
                <a:ea typeface="黑体" panose="02010609060101010101" pitchFamily="49" charset="-122"/>
              </a:rPr>
              <a:t>对应用进程一次把多长的报文发送到</a:t>
            </a:r>
            <a:r>
              <a:rPr lang="en-US" altLang="zh-CN" sz="3000" smtClean="0">
                <a:ea typeface="黑体" panose="02010609060101010101" pitchFamily="49" charset="-122"/>
              </a:rPr>
              <a:t>TCP </a:t>
            </a:r>
            <a:r>
              <a:rPr lang="zh-CN" altLang="en-US" sz="3000" smtClean="0">
                <a:ea typeface="黑体" panose="02010609060101010101" pitchFamily="49" charset="-122"/>
              </a:rPr>
              <a:t>的缓存中是不关心的。</a:t>
            </a:r>
          </a:p>
          <a:p>
            <a:r>
              <a:rPr lang="en-US" altLang="zh-CN" sz="3000" smtClean="0">
                <a:ea typeface="黑体" panose="02010609060101010101" pitchFamily="49" charset="-122"/>
              </a:rPr>
              <a:t>TCP </a:t>
            </a:r>
            <a:r>
              <a:rPr lang="zh-CN" altLang="en-US" sz="3000" smtClean="0">
                <a:ea typeface="黑体" panose="02010609060101010101" pitchFamily="49" charset="-122"/>
              </a:rPr>
              <a:t>根据对方给出的</a:t>
            </a:r>
            <a:r>
              <a:rPr lang="zh-CN" altLang="en-US" sz="3000" smtClean="0">
                <a:solidFill>
                  <a:srgbClr val="FF0000"/>
                </a:solidFill>
                <a:ea typeface="黑体" panose="02010609060101010101" pitchFamily="49" charset="-122"/>
              </a:rPr>
              <a:t>窗口值</a:t>
            </a:r>
            <a:r>
              <a:rPr lang="zh-CN" altLang="en-US" sz="3000" smtClean="0">
                <a:ea typeface="黑体" panose="02010609060101010101" pitchFamily="49" charset="-122"/>
              </a:rPr>
              <a:t>和</a:t>
            </a:r>
            <a:r>
              <a:rPr lang="zh-CN" altLang="en-US" sz="3000" smtClean="0">
                <a:solidFill>
                  <a:srgbClr val="FF0000"/>
                </a:solidFill>
                <a:ea typeface="黑体" panose="02010609060101010101" pitchFamily="49" charset="-122"/>
              </a:rPr>
              <a:t>当前网络拥塞</a:t>
            </a:r>
            <a:r>
              <a:rPr lang="zh-CN" altLang="en-US" sz="3000" smtClean="0">
                <a:ea typeface="黑体" panose="02010609060101010101" pitchFamily="49" charset="-122"/>
              </a:rPr>
              <a:t>的程度来决定一个报文段应包含多少个字节（</a:t>
            </a:r>
            <a:r>
              <a:rPr lang="en-US" altLang="zh-CN" sz="3000" smtClean="0">
                <a:ea typeface="黑体" panose="02010609060101010101" pitchFamily="49" charset="-122"/>
              </a:rPr>
              <a:t>UDP </a:t>
            </a:r>
            <a:r>
              <a:rPr lang="zh-CN" altLang="en-US" sz="3000" smtClean="0">
                <a:ea typeface="黑体" panose="02010609060101010101" pitchFamily="49" charset="-122"/>
              </a:rPr>
              <a:t>发送的报文长度是应用进程给出的）。</a:t>
            </a:r>
          </a:p>
          <a:p>
            <a:r>
              <a:rPr lang="en-US" altLang="zh-CN" sz="3000" smtClean="0">
                <a:ea typeface="黑体" panose="02010609060101010101" pitchFamily="49" charset="-122"/>
              </a:rPr>
              <a:t>TCP </a:t>
            </a:r>
            <a:r>
              <a:rPr lang="zh-CN" altLang="en-US" sz="3000" smtClean="0">
                <a:ea typeface="黑体" panose="02010609060101010101" pitchFamily="49" charset="-122"/>
              </a:rPr>
              <a:t>可把太长的数据块划分短一些再传送。</a:t>
            </a:r>
            <a:endParaRPr lang="en-US" altLang="zh-CN" sz="3000" smtClean="0">
              <a:ea typeface="黑体" panose="02010609060101010101" pitchFamily="49" charset="-122"/>
            </a:endParaRPr>
          </a:p>
          <a:p>
            <a:r>
              <a:rPr lang="en-US" altLang="zh-CN" sz="3000" smtClean="0">
                <a:ea typeface="黑体" panose="02010609060101010101" pitchFamily="49" charset="-122"/>
              </a:rPr>
              <a:t>TCP </a:t>
            </a:r>
            <a:r>
              <a:rPr lang="zh-CN" altLang="en-US" sz="3000" smtClean="0">
                <a:ea typeface="黑体" panose="02010609060101010101" pitchFamily="49" charset="-122"/>
              </a:rPr>
              <a:t>也可等待积累有足够多的字节后再构成报文段发送出去。 </a:t>
            </a:r>
          </a:p>
        </p:txBody>
      </p:sp>
      <p:sp>
        <p:nvSpPr>
          <p:cNvPr id="13670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947EEB-E0C8-43ED-AC36-762FC4C87566}" type="slidenum">
              <a:rPr lang="zh-CN" altLang="en-US" smtClean="0"/>
              <a:pPr eaLnBrk="1" hangingPunct="1"/>
              <a:t>44</a:t>
            </a:fld>
            <a:endParaRPr lang="en-US" altLang="zh-CN" smtClean="0"/>
          </a:p>
        </p:txBody>
      </p:sp>
      <p:sp>
        <p:nvSpPr>
          <p:cNvPr id="13670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0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5.3.2  TCP </a:t>
            </a:r>
            <a:r>
              <a:rPr lang="zh-CN" altLang="en-US" smtClean="0">
                <a:ea typeface="黑体" panose="02010609060101010101" pitchFamily="49" charset="-122"/>
              </a:rPr>
              <a:t>的连接 </a:t>
            </a:r>
          </a:p>
        </p:txBody>
      </p:sp>
      <p:sp>
        <p:nvSpPr>
          <p:cNvPr id="136909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TCP </a:t>
            </a:r>
            <a:r>
              <a:rPr lang="zh-CN" altLang="en-US" dirty="0" smtClean="0">
                <a:ea typeface="黑体" panose="02010609060101010101" pitchFamily="49" charset="-122"/>
              </a:rPr>
              <a:t>把连接作为</a:t>
            </a:r>
            <a:r>
              <a:rPr lang="zh-CN" altLang="en-US" dirty="0" smtClean="0">
                <a:solidFill>
                  <a:srgbClr val="FF0000"/>
                </a:solidFill>
                <a:ea typeface="黑体" panose="02010609060101010101" pitchFamily="49" charset="-122"/>
              </a:rPr>
              <a:t>最基本的抽象。</a:t>
            </a:r>
          </a:p>
          <a:p>
            <a:r>
              <a:rPr lang="zh-CN" altLang="en-US" dirty="0" smtClean="0">
                <a:ea typeface="黑体" panose="02010609060101010101" pitchFamily="49" charset="-122"/>
              </a:rPr>
              <a:t>每一条 </a:t>
            </a:r>
            <a:r>
              <a:rPr lang="en-US" altLang="zh-CN" dirty="0" smtClean="0">
                <a:ea typeface="黑体" panose="02010609060101010101" pitchFamily="49" charset="-122"/>
              </a:rPr>
              <a:t>TCP </a:t>
            </a:r>
            <a:r>
              <a:rPr lang="zh-CN" altLang="en-US" dirty="0" smtClean="0">
                <a:ea typeface="黑体" panose="02010609060101010101" pitchFamily="49" charset="-122"/>
              </a:rPr>
              <a:t>连接</a:t>
            </a:r>
            <a:r>
              <a:rPr lang="zh-CN" altLang="en-US" dirty="0" smtClean="0">
                <a:solidFill>
                  <a:srgbClr val="FF0000"/>
                </a:solidFill>
                <a:ea typeface="黑体" panose="02010609060101010101" pitchFamily="49" charset="-122"/>
              </a:rPr>
              <a:t>有两个端点。</a:t>
            </a:r>
          </a:p>
          <a:p>
            <a:r>
              <a:rPr lang="en-US" altLang="zh-CN" dirty="0" smtClean="0">
                <a:ea typeface="黑体" panose="02010609060101010101" pitchFamily="49" charset="-122"/>
              </a:rPr>
              <a:t>TCP </a:t>
            </a:r>
            <a:r>
              <a:rPr lang="zh-CN" altLang="en-US" dirty="0" smtClean="0">
                <a:ea typeface="黑体" panose="02010609060101010101" pitchFamily="49" charset="-122"/>
              </a:rPr>
              <a:t>连接的端点不是主机，不是主机的</a:t>
            </a:r>
            <a:r>
              <a:rPr lang="en-US" altLang="zh-CN" dirty="0" smtClean="0">
                <a:ea typeface="黑体" panose="02010609060101010101" pitchFamily="49" charset="-122"/>
              </a:rPr>
              <a:t>IP </a:t>
            </a:r>
            <a:r>
              <a:rPr lang="zh-CN" altLang="en-US" dirty="0" smtClean="0">
                <a:ea typeface="黑体" panose="02010609060101010101" pitchFamily="49" charset="-122"/>
              </a:rPr>
              <a:t>地址，不是应用进程，也不是运输层的协议端口。</a:t>
            </a:r>
            <a:r>
              <a:rPr lang="en-US" altLang="zh-CN" dirty="0" smtClean="0">
                <a:solidFill>
                  <a:srgbClr val="0000FF"/>
                </a:solidFill>
                <a:ea typeface="黑体" panose="02010609060101010101" pitchFamily="49" charset="-122"/>
              </a:rPr>
              <a:t>TCP </a:t>
            </a:r>
            <a:r>
              <a:rPr lang="zh-CN" altLang="en-US" dirty="0" smtClean="0">
                <a:solidFill>
                  <a:srgbClr val="0000FF"/>
                </a:solidFill>
                <a:ea typeface="黑体" panose="02010609060101010101" pitchFamily="49" charset="-122"/>
              </a:rPr>
              <a:t>连接的端点叫做套接字 </a:t>
            </a:r>
            <a:r>
              <a:rPr lang="en-US" altLang="zh-CN" dirty="0" smtClean="0">
                <a:solidFill>
                  <a:srgbClr val="0000FF"/>
                </a:solidFill>
                <a:ea typeface="黑体" panose="02010609060101010101" pitchFamily="49" charset="-122"/>
              </a:rPr>
              <a:t>(socket) </a:t>
            </a:r>
            <a:r>
              <a:rPr lang="zh-CN" altLang="en-US" dirty="0" smtClean="0">
                <a:solidFill>
                  <a:srgbClr val="0000FF"/>
                </a:solidFill>
                <a:ea typeface="黑体" panose="02010609060101010101" pitchFamily="49" charset="-122"/>
              </a:rPr>
              <a:t>或插口。</a:t>
            </a:r>
          </a:p>
          <a:p>
            <a:r>
              <a:rPr lang="zh-CN" altLang="en-US" dirty="0" smtClean="0">
                <a:solidFill>
                  <a:srgbClr val="C00000"/>
                </a:solidFill>
                <a:ea typeface="黑体" panose="02010609060101010101" pitchFamily="49" charset="-122"/>
              </a:rPr>
              <a:t>端口号拼接到 </a:t>
            </a:r>
            <a:r>
              <a:rPr lang="en-US" altLang="zh-CN" dirty="0" smtClean="0">
                <a:solidFill>
                  <a:srgbClr val="C00000"/>
                </a:solidFill>
                <a:ea typeface="黑体" panose="02010609060101010101" pitchFamily="49" charset="-122"/>
              </a:rPr>
              <a:t>(</a:t>
            </a:r>
            <a:r>
              <a:rPr lang="en-US" altLang="zh-CN" dirty="0" err="1" smtClean="0">
                <a:solidFill>
                  <a:srgbClr val="C00000"/>
                </a:solidFill>
                <a:ea typeface="黑体" panose="02010609060101010101" pitchFamily="49" charset="-122"/>
              </a:rPr>
              <a:t>contatenated</a:t>
            </a:r>
            <a:r>
              <a:rPr lang="en-US" altLang="zh-CN" dirty="0" smtClean="0">
                <a:solidFill>
                  <a:srgbClr val="C00000"/>
                </a:solidFill>
                <a:ea typeface="黑体" panose="02010609060101010101" pitchFamily="49" charset="-122"/>
              </a:rPr>
              <a:t> with) IP </a:t>
            </a:r>
            <a:r>
              <a:rPr lang="zh-CN" altLang="en-US" dirty="0" smtClean="0">
                <a:solidFill>
                  <a:srgbClr val="C00000"/>
                </a:solidFill>
                <a:ea typeface="黑体" panose="02010609060101010101" pitchFamily="49" charset="-122"/>
              </a:rPr>
              <a:t>地址即构成了套接字。</a:t>
            </a:r>
            <a:r>
              <a:rPr lang="zh-CN" altLang="en-US" dirty="0" smtClean="0">
                <a:ea typeface="黑体" panose="02010609060101010101" pitchFamily="49" charset="-122"/>
              </a:rPr>
              <a:t>   </a:t>
            </a:r>
          </a:p>
        </p:txBody>
      </p:sp>
      <p:sp>
        <p:nvSpPr>
          <p:cNvPr id="13690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C4D6AC-F8D3-48D1-A819-C489264438C3}" type="slidenum">
              <a:rPr lang="zh-CN" altLang="en-US" smtClean="0"/>
              <a:pPr eaLnBrk="1" hangingPunct="1"/>
              <a:t>45</a:t>
            </a:fld>
            <a:endParaRPr lang="en-US" altLang="zh-CN" smtClean="0"/>
          </a:p>
        </p:txBody>
      </p:sp>
      <p:sp>
        <p:nvSpPr>
          <p:cNvPr id="13690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1137" name="Rectangle 2"/>
          <p:cNvSpPr>
            <a:spLocks noGrp="1" noChangeArrowheads="1"/>
          </p:cNvSpPr>
          <p:nvPr>
            <p:ph type="title"/>
          </p:nvPr>
        </p:nvSpPr>
        <p:spPr/>
        <p:txBody>
          <a:bodyPr/>
          <a:lstStyle/>
          <a:p>
            <a:pPr algn="ctr"/>
            <a:r>
              <a:rPr lang="zh-CN" altLang="en-US" smtClean="0">
                <a:ea typeface="黑体" panose="02010609060101010101" pitchFamily="49" charset="-122"/>
              </a:rPr>
              <a:t>套接字 </a:t>
            </a:r>
            <a:r>
              <a:rPr lang="en-US" altLang="zh-CN" smtClean="0">
                <a:ea typeface="黑体" panose="02010609060101010101" pitchFamily="49" charset="-122"/>
              </a:rPr>
              <a:t>(socket)</a:t>
            </a:r>
          </a:p>
        </p:txBody>
      </p:sp>
      <p:sp>
        <p:nvSpPr>
          <p:cNvPr id="1371138" name="Rectangle 5"/>
          <p:cNvSpPr>
            <a:spLocks noChangeArrowheads="1"/>
          </p:cNvSpPr>
          <p:nvPr/>
        </p:nvSpPr>
        <p:spPr bwMode="auto">
          <a:xfrm>
            <a:off x="631825" y="4005263"/>
            <a:ext cx="9001125" cy="1295400"/>
          </a:xfrm>
          <a:prstGeom prst="rect">
            <a:avLst/>
          </a:prstGeom>
          <a:solidFill>
            <a:srgbClr val="FFFF66"/>
          </a:solidFill>
          <a:ln w="38100" cmpd="dbl">
            <a:solidFill>
              <a:schemeClr val="tx1"/>
            </a:solidFill>
            <a:miter lim="800000"/>
            <a:headEnd/>
            <a:tailEnd/>
          </a:ln>
        </p:spPr>
        <p:txBody>
          <a:bodyPr wrap="none" anchor="ctr"/>
          <a:lstStyle/>
          <a:p>
            <a:pPr eaLnBrk="0" hangingPunct="0">
              <a:lnSpc>
                <a:spcPct val="110000"/>
              </a:lnSpc>
            </a:pPr>
            <a:r>
              <a:rPr lang="en-US" altLang="zh-CN" sz="3200" b="1">
                <a:ea typeface="黑体" panose="02010609060101010101" pitchFamily="49" charset="-122"/>
              </a:rPr>
              <a:t>TCP </a:t>
            </a:r>
            <a:r>
              <a:rPr lang="zh-CN" altLang="en-US" sz="3200" b="1">
                <a:ea typeface="黑体" panose="02010609060101010101" pitchFamily="49" charset="-122"/>
              </a:rPr>
              <a:t>连接 </a:t>
            </a:r>
            <a:r>
              <a:rPr lang="en-US" altLang="zh-CN" sz="3200" b="1">
                <a:ea typeface="黑体" panose="02010609060101010101" pitchFamily="49" charset="-122"/>
              </a:rPr>
              <a:t>::= {socket1, socket2} </a:t>
            </a:r>
          </a:p>
          <a:p>
            <a:pPr eaLnBrk="0" hangingPunct="0">
              <a:lnSpc>
                <a:spcPct val="110000"/>
              </a:lnSpc>
            </a:pPr>
            <a:r>
              <a:rPr lang="en-US" altLang="zh-CN" sz="3200" b="1">
                <a:ea typeface="黑体" panose="02010609060101010101" pitchFamily="49" charset="-122"/>
              </a:rPr>
              <a:t>             	  = {(IP1: port1)</a:t>
            </a:r>
            <a:r>
              <a:rPr lang="zh-CN" altLang="en-US" sz="3200" b="1">
                <a:ea typeface="黑体" panose="02010609060101010101" pitchFamily="49" charset="-122"/>
              </a:rPr>
              <a:t>，</a:t>
            </a:r>
            <a:r>
              <a:rPr lang="en-US" altLang="zh-CN" sz="3200" b="1">
                <a:ea typeface="黑体" panose="02010609060101010101" pitchFamily="49" charset="-122"/>
              </a:rPr>
              <a:t>(IP2: port2)}     (5-2)</a:t>
            </a:r>
          </a:p>
        </p:txBody>
      </p:sp>
      <p:sp>
        <p:nvSpPr>
          <p:cNvPr id="1371139" name="Rectangle 4"/>
          <p:cNvSpPr>
            <a:spLocks noChangeArrowheads="1"/>
          </p:cNvSpPr>
          <p:nvPr/>
        </p:nvSpPr>
        <p:spPr bwMode="auto">
          <a:xfrm>
            <a:off x="642938" y="1630363"/>
            <a:ext cx="9001125" cy="717550"/>
          </a:xfrm>
          <a:prstGeom prst="rect">
            <a:avLst/>
          </a:prstGeom>
          <a:solidFill>
            <a:srgbClr val="FFFF66"/>
          </a:solidFill>
          <a:ln w="38100" cmpd="dbl">
            <a:solidFill>
              <a:schemeClr val="tx1"/>
            </a:solidFill>
            <a:miter lim="800000"/>
            <a:headEnd/>
            <a:tailEnd/>
          </a:ln>
        </p:spPr>
        <p:txBody>
          <a:bodyPr wrap="none" anchor="ctr"/>
          <a:lstStyle/>
          <a:p>
            <a:pPr eaLnBrk="0" hangingPunct="0"/>
            <a:r>
              <a:rPr lang="zh-CN" altLang="en-US" sz="3200" b="1">
                <a:ea typeface="黑体" panose="02010609060101010101" pitchFamily="49" charset="-122"/>
              </a:rPr>
              <a:t>套接字 </a:t>
            </a:r>
            <a:r>
              <a:rPr lang="en-US" altLang="zh-CN" sz="3200" b="1">
                <a:ea typeface="黑体" panose="02010609060101010101" pitchFamily="49" charset="-122"/>
              </a:rPr>
              <a:t>socket = (IP</a:t>
            </a:r>
            <a:r>
              <a:rPr lang="zh-CN" altLang="en-US" sz="3200" b="1">
                <a:ea typeface="黑体" panose="02010609060101010101" pitchFamily="49" charset="-122"/>
              </a:rPr>
              <a:t>地址 </a:t>
            </a:r>
            <a:r>
              <a:rPr lang="en-US" altLang="zh-CN" sz="3200" b="1">
                <a:ea typeface="黑体" panose="02010609060101010101" pitchFamily="49" charset="-122"/>
              </a:rPr>
              <a:t>: </a:t>
            </a:r>
            <a:r>
              <a:rPr lang="zh-CN" altLang="en-US" sz="3200" b="1">
                <a:ea typeface="黑体" panose="02010609060101010101" pitchFamily="49" charset="-122"/>
              </a:rPr>
              <a:t>端口号</a:t>
            </a:r>
            <a:r>
              <a:rPr lang="en-US" altLang="zh-CN" sz="3200" b="1">
                <a:ea typeface="黑体" panose="02010609060101010101" pitchFamily="49" charset="-122"/>
              </a:rPr>
              <a:t>)               (5-1)</a:t>
            </a:r>
          </a:p>
        </p:txBody>
      </p:sp>
      <p:sp>
        <p:nvSpPr>
          <p:cNvPr id="1371140" name="矩形 2"/>
          <p:cNvSpPr>
            <a:spLocks noChangeArrowheads="1"/>
          </p:cNvSpPr>
          <p:nvPr/>
        </p:nvSpPr>
        <p:spPr bwMode="auto">
          <a:xfrm>
            <a:off x="642938" y="2784475"/>
            <a:ext cx="87741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40000"/>
              </a:spcBef>
              <a:spcAft>
                <a:spcPct val="50000"/>
              </a:spcAft>
            </a:pPr>
            <a:r>
              <a:rPr lang="zh-CN" altLang="en-US" sz="3200" b="1">
                <a:ea typeface="黑体" panose="02010609060101010101" pitchFamily="49" charset="-122"/>
              </a:rPr>
              <a:t>每一条 </a:t>
            </a:r>
            <a:r>
              <a:rPr lang="en-US" altLang="zh-CN" sz="3200" b="1">
                <a:ea typeface="黑体" panose="02010609060101010101" pitchFamily="49" charset="-122"/>
              </a:rPr>
              <a:t>TCP </a:t>
            </a:r>
            <a:r>
              <a:rPr lang="zh-CN" altLang="en-US" sz="3200" b="1">
                <a:ea typeface="黑体" panose="02010609060101010101" pitchFamily="49" charset="-122"/>
              </a:rPr>
              <a:t>连接</a:t>
            </a:r>
            <a:r>
              <a:rPr lang="zh-CN" altLang="en-US" sz="3200" b="1">
                <a:solidFill>
                  <a:srgbClr val="FF0000"/>
                </a:solidFill>
                <a:ea typeface="黑体" panose="02010609060101010101" pitchFamily="49" charset="-122"/>
              </a:rPr>
              <a:t>唯一</a:t>
            </a:r>
            <a:r>
              <a:rPr lang="zh-CN" altLang="en-US" sz="3200" b="1">
                <a:ea typeface="黑体" panose="02010609060101010101" pitchFamily="49" charset="-122"/>
              </a:rPr>
              <a:t>地被通信两端的</a:t>
            </a:r>
            <a:r>
              <a:rPr lang="zh-CN" altLang="en-US" sz="3200" b="1">
                <a:solidFill>
                  <a:srgbClr val="FF0000"/>
                </a:solidFill>
                <a:ea typeface="黑体" panose="02010609060101010101" pitchFamily="49" charset="-122"/>
              </a:rPr>
              <a:t>两个端点</a:t>
            </a:r>
            <a:r>
              <a:rPr lang="zh-CN" altLang="en-US" sz="3200" b="1">
                <a:ea typeface="黑体" panose="02010609060101010101" pitchFamily="49" charset="-122"/>
              </a:rPr>
              <a:t>（即两个套接字）所确定。即：</a:t>
            </a:r>
          </a:p>
        </p:txBody>
      </p:sp>
      <p:sp>
        <p:nvSpPr>
          <p:cNvPr id="137114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160DA6-E0F6-4DA6-8703-01006DD5BAC3}" type="slidenum">
              <a:rPr lang="zh-CN" altLang="en-US" smtClean="0"/>
              <a:pPr eaLnBrk="1" hangingPunct="1"/>
              <a:t>46</a:t>
            </a:fld>
            <a:endParaRPr lang="en-US" altLang="zh-CN" smtClean="0"/>
          </a:p>
        </p:txBody>
      </p:sp>
      <p:sp>
        <p:nvSpPr>
          <p:cNvPr id="137114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3185"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en-US" smtClean="0">
                <a:ea typeface="黑体" panose="02010609060101010101" pitchFamily="49" charset="-122"/>
              </a:rPr>
              <a:t>连接，</a:t>
            </a:r>
            <a:r>
              <a:rPr lang="en-US" altLang="zh-CN" smtClean="0">
                <a:ea typeface="黑体" panose="02010609060101010101" pitchFamily="49" charset="-122"/>
              </a:rPr>
              <a:t>IP </a:t>
            </a:r>
            <a:r>
              <a:rPr lang="zh-CN" altLang="en-US" smtClean="0">
                <a:ea typeface="黑体" panose="02010609060101010101" pitchFamily="49" charset="-122"/>
              </a:rPr>
              <a:t>地址，套接字</a:t>
            </a:r>
          </a:p>
        </p:txBody>
      </p:sp>
      <p:sp>
        <p:nvSpPr>
          <p:cNvPr id="137318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 </a:t>
            </a:r>
            <a:r>
              <a:rPr lang="zh-CN" altLang="zh-CN" smtClean="0">
                <a:ea typeface="黑体" panose="02010609060101010101" pitchFamily="49" charset="-122"/>
              </a:rPr>
              <a:t>连接就是由协议软件所提供的一种抽象。</a:t>
            </a:r>
            <a:endParaRPr lang="en-US" altLang="zh-CN" smtClean="0">
              <a:ea typeface="黑体" panose="02010609060101010101" pitchFamily="49" charset="-122"/>
            </a:endParaRPr>
          </a:p>
          <a:p>
            <a:r>
              <a:rPr lang="en-US" altLang="zh-CN" smtClean="0">
                <a:ea typeface="黑体" panose="02010609060101010101" pitchFamily="49" charset="-122"/>
              </a:rPr>
              <a:t>TCP </a:t>
            </a:r>
            <a:r>
              <a:rPr lang="zh-CN" altLang="zh-CN" smtClean="0">
                <a:ea typeface="黑体" panose="02010609060101010101" pitchFamily="49" charset="-122"/>
              </a:rPr>
              <a:t>连接的端点是个很抽象的套接字，即（</a:t>
            </a:r>
            <a:r>
              <a:rPr lang="en-US" altLang="zh-CN" smtClean="0">
                <a:ea typeface="黑体" panose="02010609060101010101" pitchFamily="49" charset="-122"/>
              </a:rPr>
              <a:t>IP </a:t>
            </a:r>
            <a:r>
              <a:rPr lang="zh-CN" altLang="zh-CN" smtClean="0">
                <a:ea typeface="黑体" panose="02010609060101010101" pitchFamily="49" charset="-122"/>
              </a:rPr>
              <a:t>地址：端口号）。</a:t>
            </a:r>
            <a:endParaRPr lang="en-US" altLang="zh-CN" smtClean="0">
              <a:ea typeface="黑体" panose="02010609060101010101" pitchFamily="49" charset="-122"/>
            </a:endParaRPr>
          </a:p>
          <a:p>
            <a:r>
              <a:rPr lang="zh-CN" altLang="zh-CN" smtClean="0">
                <a:ea typeface="黑体" panose="02010609060101010101" pitchFamily="49" charset="-122"/>
              </a:rPr>
              <a:t>同一个</a:t>
            </a:r>
            <a:r>
              <a:rPr lang="en-US" altLang="zh-CN" smtClean="0">
                <a:ea typeface="黑体" panose="02010609060101010101" pitchFamily="49" charset="-122"/>
              </a:rPr>
              <a:t> IP </a:t>
            </a:r>
            <a:r>
              <a:rPr lang="zh-CN" altLang="zh-CN" smtClean="0">
                <a:ea typeface="黑体" panose="02010609060101010101" pitchFamily="49" charset="-122"/>
              </a:rPr>
              <a:t>地址可以有多个不同的</a:t>
            </a:r>
            <a:r>
              <a:rPr lang="en-US" altLang="zh-CN" smtClean="0">
                <a:ea typeface="黑体" panose="02010609060101010101" pitchFamily="49" charset="-122"/>
              </a:rPr>
              <a:t> TCP </a:t>
            </a:r>
            <a:r>
              <a:rPr lang="zh-CN" altLang="zh-CN" smtClean="0">
                <a:ea typeface="黑体" panose="02010609060101010101" pitchFamily="49" charset="-122"/>
              </a:rPr>
              <a:t>连接</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同一个端口号也可以出现在多个不同的</a:t>
            </a:r>
            <a:r>
              <a:rPr lang="en-US" altLang="zh-CN" smtClean="0">
                <a:ea typeface="黑体" panose="02010609060101010101" pitchFamily="49" charset="-122"/>
              </a:rPr>
              <a:t> TCP </a:t>
            </a:r>
            <a:r>
              <a:rPr lang="zh-CN" altLang="zh-CN" smtClean="0">
                <a:ea typeface="黑体" panose="02010609060101010101" pitchFamily="49" charset="-122"/>
              </a:rPr>
              <a:t>连接中。</a:t>
            </a:r>
            <a:endParaRPr lang="zh-CN" altLang="en-US" smtClean="0">
              <a:ea typeface="黑体" panose="02010609060101010101" pitchFamily="49" charset="-122"/>
            </a:endParaRPr>
          </a:p>
        </p:txBody>
      </p:sp>
      <p:sp>
        <p:nvSpPr>
          <p:cNvPr id="13731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B7753E-C8B5-48D2-834E-BC2EE862A833}" type="slidenum">
              <a:rPr lang="zh-CN" altLang="en-US" smtClean="0"/>
              <a:pPr eaLnBrk="1" hangingPunct="1"/>
              <a:t>47</a:t>
            </a:fld>
            <a:endParaRPr lang="en-US" altLang="zh-CN" smtClean="0"/>
          </a:p>
        </p:txBody>
      </p:sp>
      <p:sp>
        <p:nvSpPr>
          <p:cNvPr id="13731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Socket </a:t>
            </a:r>
            <a:r>
              <a:rPr lang="zh-CN" altLang="en-US" smtClean="0">
                <a:ea typeface="黑体" panose="02010609060101010101" pitchFamily="49" charset="-122"/>
              </a:rPr>
              <a:t>有多种不同的意思 </a:t>
            </a:r>
          </a:p>
        </p:txBody>
      </p:sp>
      <p:sp>
        <p:nvSpPr>
          <p:cNvPr id="137421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应用编程接口  </a:t>
            </a:r>
            <a:r>
              <a:rPr lang="en-US" altLang="zh-CN" smtClean="0">
                <a:ea typeface="黑体" panose="02010609060101010101" pitchFamily="49" charset="-122"/>
              </a:rPr>
              <a:t>API  </a:t>
            </a:r>
            <a:r>
              <a:rPr lang="zh-CN" altLang="en-US" smtClean="0">
                <a:ea typeface="黑体" panose="02010609060101010101" pitchFamily="49" charset="-122"/>
              </a:rPr>
              <a:t>称为 </a:t>
            </a:r>
            <a:r>
              <a:rPr lang="en-US" altLang="zh-CN" smtClean="0">
                <a:ea typeface="黑体" panose="02010609060101010101" pitchFamily="49" charset="-122"/>
              </a:rPr>
              <a:t>socket API, </a:t>
            </a:r>
            <a:r>
              <a:rPr lang="zh-CN" altLang="en-US" smtClean="0">
                <a:ea typeface="黑体" panose="02010609060101010101" pitchFamily="49" charset="-122"/>
              </a:rPr>
              <a:t>简称为 </a:t>
            </a:r>
            <a:r>
              <a:rPr lang="en-US" altLang="zh-CN" smtClean="0">
                <a:ea typeface="黑体" panose="02010609060101010101" pitchFamily="49" charset="-122"/>
              </a:rPr>
              <a:t>socket</a:t>
            </a:r>
            <a:r>
              <a:rPr lang="zh-CN" altLang="en-US" smtClean="0">
                <a:ea typeface="黑体" panose="02010609060101010101" pitchFamily="49" charset="-122"/>
              </a:rPr>
              <a:t>。</a:t>
            </a:r>
          </a:p>
          <a:p>
            <a:r>
              <a:rPr lang="en-US" altLang="zh-CN" smtClean="0">
                <a:ea typeface="黑体" panose="02010609060101010101" pitchFamily="49" charset="-122"/>
              </a:rPr>
              <a:t>socket API </a:t>
            </a:r>
            <a:r>
              <a:rPr lang="zh-CN" altLang="en-US" smtClean="0">
                <a:ea typeface="黑体" panose="02010609060101010101" pitchFamily="49" charset="-122"/>
              </a:rPr>
              <a:t>中使用的一个函数名也叫作 </a:t>
            </a:r>
            <a:r>
              <a:rPr lang="en-US" altLang="zh-CN" smtClean="0">
                <a:ea typeface="黑体" panose="02010609060101010101" pitchFamily="49" charset="-122"/>
              </a:rPr>
              <a:t>socket</a:t>
            </a:r>
            <a:r>
              <a:rPr lang="zh-CN" altLang="en-US" smtClean="0">
                <a:ea typeface="黑体" panose="02010609060101010101" pitchFamily="49" charset="-122"/>
              </a:rPr>
              <a:t>。</a:t>
            </a:r>
          </a:p>
          <a:p>
            <a:r>
              <a:rPr lang="zh-CN" altLang="en-US" smtClean="0">
                <a:ea typeface="黑体" panose="02010609060101010101" pitchFamily="49" charset="-122"/>
              </a:rPr>
              <a:t>调用 </a:t>
            </a:r>
            <a:r>
              <a:rPr lang="en-US" altLang="zh-CN" smtClean="0">
                <a:ea typeface="黑体" panose="02010609060101010101" pitchFamily="49" charset="-122"/>
              </a:rPr>
              <a:t>socket </a:t>
            </a:r>
            <a:r>
              <a:rPr lang="zh-CN" altLang="en-US" smtClean="0">
                <a:ea typeface="黑体" panose="02010609060101010101" pitchFamily="49" charset="-122"/>
              </a:rPr>
              <a:t>函数的端点称为 </a:t>
            </a:r>
            <a:r>
              <a:rPr lang="en-US" altLang="zh-CN" smtClean="0">
                <a:ea typeface="黑体" panose="02010609060101010101" pitchFamily="49" charset="-122"/>
              </a:rPr>
              <a:t>socket</a:t>
            </a:r>
            <a:r>
              <a:rPr lang="zh-CN" altLang="en-US" smtClean="0">
                <a:ea typeface="黑体" panose="02010609060101010101" pitchFamily="49" charset="-122"/>
              </a:rPr>
              <a:t>。</a:t>
            </a:r>
          </a:p>
          <a:p>
            <a:r>
              <a:rPr lang="zh-CN" altLang="en-US" smtClean="0">
                <a:ea typeface="黑体" panose="02010609060101010101" pitchFamily="49" charset="-122"/>
              </a:rPr>
              <a:t>调用 </a:t>
            </a:r>
            <a:r>
              <a:rPr lang="en-US" altLang="zh-CN" smtClean="0">
                <a:ea typeface="黑体" panose="02010609060101010101" pitchFamily="49" charset="-122"/>
              </a:rPr>
              <a:t>socket </a:t>
            </a:r>
            <a:r>
              <a:rPr lang="zh-CN" altLang="en-US" smtClean="0">
                <a:ea typeface="黑体" panose="02010609060101010101" pitchFamily="49" charset="-122"/>
              </a:rPr>
              <a:t>函数时其返回值称为 </a:t>
            </a:r>
            <a:r>
              <a:rPr lang="en-US" altLang="zh-CN" smtClean="0">
                <a:ea typeface="黑体" panose="02010609060101010101" pitchFamily="49" charset="-122"/>
              </a:rPr>
              <a:t>socket </a:t>
            </a:r>
            <a:r>
              <a:rPr lang="zh-CN" altLang="en-US" smtClean="0">
                <a:ea typeface="黑体" panose="02010609060101010101" pitchFamily="49" charset="-122"/>
              </a:rPr>
              <a:t>描述符，可简称为 </a:t>
            </a:r>
            <a:r>
              <a:rPr lang="en-US" altLang="zh-CN" smtClean="0">
                <a:ea typeface="黑体" panose="02010609060101010101" pitchFamily="49" charset="-122"/>
              </a:rPr>
              <a:t>socket</a:t>
            </a:r>
            <a:r>
              <a:rPr lang="zh-CN" altLang="en-US" smtClean="0">
                <a:ea typeface="黑体" panose="02010609060101010101" pitchFamily="49" charset="-122"/>
              </a:rPr>
              <a:t>。</a:t>
            </a:r>
          </a:p>
          <a:p>
            <a:r>
              <a:rPr lang="zh-CN" altLang="en-US" smtClean="0">
                <a:ea typeface="黑体" panose="02010609060101010101" pitchFamily="49" charset="-122"/>
              </a:rPr>
              <a:t>在操作系统内核中连网协议的 </a:t>
            </a:r>
            <a:r>
              <a:rPr lang="en-US" altLang="zh-CN" smtClean="0">
                <a:ea typeface="黑体" panose="02010609060101010101" pitchFamily="49" charset="-122"/>
              </a:rPr>
              <a:t>Berkeley </a:t>
            </a:r>
            <a:r>
              <a:rPr lang="zh-CN" altLang="en-US" smtClean="0">
                <a:ea typeface="黑体" panose="02010609060101010101" pitchFamily="49" charset="-122"/>
              </a:rPr>
              <a:t>实现，称为 </a:t>
            </a:r>
            <a:r>
              <a:rPr lang="en-US" altLang="zh-CN" smtClean="0">
                <a:ea typeface="黑体" panose="02010609060101010101" pitchFamily="49" charset="-122"/>
              </a:rPr>
              <a:t>socket </a:t>
            </a:r>
            <a:r>
              <a:rPr lang="zh-CN" altLang="en-US" smtClean="0">
                <a:ea typeface="黑体" panose="02010609060101010101" pitchFamily="49" charset="-122"/>
              </a:rPr>
              <a:t>实现。    </a:t>
            </a:r>
          </a:p>
        </p:txBody>
      </p:sp>
      <p:sp>
        <p:nvSpPr>
          <p:cNvPr id="1374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96376F-8DBE-4518-A344-E9A9A5AE0785}" type="slidenum">
              <a:rPr lang="zh-CN" altLang="en-US" smtClean="0"/>
              <a:pPr eaLnBrk="1" hangingPunct="1"/>
              <a:t>48</a:t>
            </a:fld>
            <a:endParaRPr lang="en-US" altLang="zh-CN" smtClean="0"/>
          </a:p>
        </p:txBody>
      </p:sp>
      <p:sp>
        <p:nvSpPr>
          <p:cNvPr id="1374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428</TotalTime>
  <Words>3515</Words>
  <Application>Microsoft Office PowerPoint</Application>
  <PresentationFormat>A4 纸张(210x297 毫米)</PresentationFormat>
  <Paragraphs>658</Paragraphs>
  <Slides>48</Slides>
  <Notes>41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0</vt:i4>
      </vt:variant>
      <vt:variant>
        <vt:lpstr>幻灯片标题</vt:lpstr>
      </vt:variant>
      <vt:variant>
        <vt:i4>48</vt:i4>
      </vt:variant>
    </vt:vector>
  </HeadingPairs>
  <TitlesOfParts>
    <vt:vector size="55" baseType="lpstr">
      <vt:lpstr>黑体</vt:lpstr>
      <vt:lpstr>宋体</vt:lpstr>
      <vt:lpstr>Arial</vt:lpstr>
      <vt:lpstr>Tahoma</vt:lpstr>
      <vt:lpstr>Times New Roman</vt:lpstr>
      <vt:lpstr>Wingdings</vt:lpstr>
      <vt:lpstr>Presentation</vt:lpstr>
      <vt:lpstr>第 5 章  运输层</vt:lpstr>
      <vt:lpstr>第 5 章  运输层</vt:lpstr>
      <vt:lpstr>5.1  运输层协议概述</vt:lpstr>
      <vt:lpstr>5.1.1  进程之间的通信</vt:lpstr>
      <vt:lpstr>运输层的作用</vt:lpstr>
      <vt:lpstr>运输层的作用</vt:lpstr>
      <vt:lpstr>网络层和运输层有明显的区别</vt:lpstr>
      <vt:lpstr>运输层的作用</vt:lpstr>
      <vt:lpstr>基于端口的复用和分用功能</vt:lpstr>
      <vt:lpstr>屏蔽作用</vt:lpstr>
      <vt:lpstr>两种不同的运输协议</vt:lpstr>
      <vt:lpstr>可靠信道与不可靠信道</vt:lpstr>
      <vt:lpstr>5.1.2  运输层的两个主要协议</vt:lpstr>
      <vt:lpstr>TCP 与 UDP </vt:lpstr>
      <vt:lpstr>TCP 与 UDP </vt:lpstr>
      <vt:lpstr>TCP 与 UDP </vt:lpstr>
      <vt:lpstr>使用UDP和TCP的各种应用和应用层协议</vt:lpstr>
      <vt:lpstr>还要强调两点 </vt:lpstr>
      <vt:lpstr>5.1.3  运输层的端口 </vt:lpstr>
      <vt:lpstr>需要解决的问题 </vt:lpstr>
      <vt:lpstr>端口号 (protocol port number)</vt:lpstr>
      <vt:lpstr>软件端口与硬件端口</vt:lpstr>
      <vt:lpstr>TCP/IP 运输层端口 </vt:lpstr>
      <vt:lpstr>两大类端口 </vt:lpstr>
      <vt:lpstr>常用的熟知端口</vt:lpstr>
      <vt:lpstr>5.2  用户数据报协议 UDP</vt:lpstr>
      <vt:lpstr>5.2.1  UDP概述</vt:lpstr>
      <vt:lpstr>UDP 的主要特点 </vt:lpstr>
      <vt:lpstr>UDP 的主要特点 </vt:lpstr>
      <vt:lpstr>UDP与端口号的关系例-多对一</vt:lpstr>
      <vt:lpstr>UDP 基于端口的分用 </vt:lpstr>
      <vt:lpstr>面向报文的 UDP</vt:lpstr>
      <vt:lpstr>面向报文的 UDP</vt:lpstr>
      <vt:lpstr>UDP 是面向报文的 </vt:lpstr>
      <vt:lpstr>5.2.2  UDP 的首部格式 </vt:lpstr>
      <vt:lpstr>PowerPoint 演示文稿</vt:lpstr>
      <vt:lpstr>PowerPoint 演示文稿</vt:lpstr>
      <vt:lpstr>计算 UDP 检验和的例子 </vt:lpstr>
      <vt:lpstr>5.3  传输控制协议 TCP 概述</vt:lpstr>
      <vt:lpstr>5.3.1  TCP 最主要的特点 </vt:lpstr>
      <vt:lpstr>TCP 面向流的概念 </vt:lpstr>
      <vt:lpstr>TCP 面向流的概念 </vt:lpstr>
      <vt:lpstr>TCP 面向流的概念 </vt:lpstr>
      <vt:lpstr>注 意</vt:lpstr>
      <vt:lpstr>5.3.2  TCP 的连接 </vt:lpstr>
      <vt:lpstr>套接字 (socket)</vt:lpstr>
      <vt:lpstr>TCP 连接，IP 地址，套接字</vt:lpstr>
      <vt:lpstr>Socket 有多种不同的意思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69</cp:revision>
  <dcterms:created xsi:type="dcterms:W3CDTF">2016-10-01T05:27:00Z</dcterms:created>
  <dcterms:modified xsi:type="dcterms:W3CDTF">2023-04-18T01:14:57Z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
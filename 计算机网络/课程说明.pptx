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424" r:id="rId2"/>
    <p:sldId id="431" r:id="rId3"/>
    <p:sldId id="408" r:id="rId4"/>
    <p:sldId id="409" r:id="rId5"/>
    <p:sldId id="395" r:id="rId6"/>
    <p:sldId id="396" r:id="rId7"/>
    <p:sldId id="410" r:id="rId8"/>
    <p:sldId id="411" r:id="rId9"/>
    <p:sldId id="412" r:id="rId10"/>
    <p:sldId id="413" r:id="rId11"/>
    <p:sldId id="414" r:id="rId12"/>
    <p:sldId id="420" r:id="rId13"/>
    <p:sldId id="422" r:id="rId14"/>
    <p:sldId id="423" r:id="rId15"/>
    <p:sldId id="425" r:id="rId16"/>
    <p:sldId id="426" r:id="rId17"/>
    <p:sldId id="427" r:id="rId18"/>
    <p:sldId id="428" r:id="rId19"/>
    <p:sldId id="429" r:id="rId20"/>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3399"/>
    <a:srgbClr val="0000CC"/>
    <a:srgbClr val="FFD393"/>
    <a:srgbClr val="FFD28F"/>
    <a:srgbClr val="FFAB2F"/>
    <a:srgbClr val="E7E7FF"/>
    <a:srgbClr val="CACAEE"/>
    <a:srgbClr val="FF9B09"/>
    <a:srgbClr val="FFA2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4" autoAdjust="0"/>
    <p:restoredTop sz="93175" autoAdjust="0"/>
  </p:normalViewPr>
  <p:slideViewPr>
    <p:cSldViewPr>
      <p:cViewPr varScale="1">
        <p:scale>
          <a:sx n="87" d="100"/>
          <a:sy n="87" d="100"/>
        </p:scale>
        <p:origin x="291"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1860" y="45"/>
      </p:cViewPr>
      <p:guideLst/>
    </p:cSldViewPr>
  </p:notes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3107705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381002840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D42158-D3E2-476E-A39B-4F1C4A2D0553}"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93538" name="Rectangle 2"/>
          <p:cNvSpPr>
            <a:spLocks noGrp="1" noRot="1" noChangeAspect="1" noChangeArrowheads="1" noTextEdit="1"/>
          </p:cNvSpPr>
          <p:nvPr>
            <p:ph type="sldImg" idx="4294967295"/>
          </p:nvPr>
        </p:nvSpPr>
        <p:spPr>
          <a:ln/>
        </p:spPr>
      </p:sp>
      <p:sp>
        <p:nvSpPr>
          <p:cNvPr id="193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03566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7231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56003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40280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823786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18668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11218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614493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D42158-D3E2-476E-A39B-4F1C4A2D0553}"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193538" name="Rectangle 2"/>
          <p:cNvSpPr>
            <a:spLocks noGrp="1" noRot="1" noChangeAspect="1" noChangeArrowheads="1" noTextEdit="1"/>
          </p:cNvSpPr>
          <p:nvPr>
            <p:ph type="sldImg" idx="4294967295"/>
          </p:nvPr>
        </p:nvSpPr>
        <p:spPr>
          <a:ln/>
        </p:spPr>
      </p:sp>
      <p:sp>
        <p:nvSpPr>
          <p:cNvPr id="193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38066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D42158-D3E2-476E-A39B-4F1C4A2D0553}"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93538" name="Rectangle 2"/>
          <p:cNvSpPr>
            <a:spLocks noGrp="1" noRot="1" noChangeAspect="1" noChangeArrowheads="1" noTextEdit="1"/>
          </p:cNvSpPr>
          <p:nvPr>
            <p:ph type="sldImg" idx="4294967295"/>
          </p:nvPr>
        </p:nvSpPr>
        <p:spPr>
          <a:ln/>
        </p:spPr>
      </p:sp>
      <p:sp>
        <p:nvSpPr>
          <p:cNvPr id="193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133215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timing>
    <p:tnLst>
      <p:par>
        <p:cTn id="1" dur="indefinite" restart="never" nodeType="tmRoot"/>
      </p:par>
    </p:tnLst>
  </p:timing>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405405"/>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timing>
    <p:tnLst>
      <p:par>
        <p:cTn id="1" dur="indefinite" restart="never" nodeType="tmRoot"/>
      </p:par>
    </p:tnLst>
  </p:timing>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timing>
    <p:tnLst>
      <p:par>
        <p:cTn id="1" dur="indefinite" restart="never" nodeType="tmRoot"/>
      </p:par>
    </p:tnLst>
  </p:timing>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timing>
    <p:tnLst>
      <p:par>
        <p:cTn id="1" dur="indefinite" restart="never" nodeType="tmRoot"/>
      </p:par>
    </p:tnLst>
  </p:timing>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slideLayout" Target="../slideLayouts/slideLayout8.xml"/><Relationship Id="rId1" Type="http://schemas.openxmlformats.org/officeDocument/2006/relationships/tags" Target="../tags/tag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jpeg"/><Relationship Id="rId4" Type="http://schemas.openxmlformats.org/officeDocument/2006/relationships/image" Target="../media/image8.wmf"/><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11.wmf"/><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6.xml"/><Relationship Id="rId5" Type="http://schemas.openxmlformats.org/officeDocument/2006/relationships/image" Target="../media/image7.wmf"/><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7.wmf"/><Relationship Id="rId2" Type="http://schemas.openxmlformats.org/officeDocument/2006/relationships/tags" Target="../tags/tag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1.wmf"/><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15.png"/><Relationship Id="rId5" Type="http://schemas.openxmlformats.org/officeDocument/2006/relationships/image" Target="../media/image19.jpe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8.xml"/><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image" Target="../media/image7.wmf"/><Relationship Id="rId5" Type="http://schemas.openxmlformats.org/officeDocument/2006/relationships/image" Target="../media/image2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en-US" altLang="zh-CN" b="1" dirty="0" smtClean="0">
                <a:solidFill>
                  <a:schemeClr val="accent2">
                    <a:lumMod val="75000"/>
                  </a:schemeClr>
                </a:solidFill>
              </a:rPr>
              <a:t>《</a:t>
            </a:r>
            <a:r>
              <a:rPr lang="zh-CN" altLang="en-US" b="1" dirty="0" smtClean="0">
                <a:solidFill>
                  <a:schemeClr val="accent2">
                    <a:lumMod val="75000"/>
                  </a:schemeClr>
                </a:solidFill>
              </a:rPr>
              <a:t>计算机网络</a:t>
            </a:r>
            <a:r>
              <a:rPr lang="en-US" altLang="zh-CN" b="1" dirty="0" smtClean="0">
                <a:solidFill>
                  <a:schemeClr val="accent2">
                    <a:lumMod val="75000"/>
                  </a:schemeClr>
                </a:solidFill>
              </a:rPr>
              <a:t>》</a:t>
            </a:r>
            <a:r>
              <a:rPr lang="en-US" altLang="zh-CN" b="1" dirty="0" smtClean="0">
                <a:solidFill>
                  <a:srgbClr val="002060"/>
                </a:solidFill>
              </a:rPr>
              <a:t/>
            </a:r>
            <a:br>
              <a:rPr lang="en-US" altLang="zh-CN" b="1" dirty="0" smtClean="0">
                <a:solidFill>
                  <a:srgbClr val="002060"/>
                </a:solidFill>
              </a:rPr>
            </a:br>
            <a:r>
              <a:rPr lang="zh-CN" altLang="en-US" b="1" dirty="0" smtClean="0">
                <a:latin typeface="华光隶书_CNKI" panose="02000500000000000000" pitchFamily="2" charset="-122"/>
                <a:ea typeface="华光隶书_CNKI" panose="02000500000000000000" pitchFamily="2" charset="-122"/>
              </a:rPr>
              <a:t>课前说明</a:t>
            </a:r>
            <a:endParaRPr lang="zh-CN" altLang="en-US" b="1" dirty="0">
              <a:latin typeface="华光隶书_CNKI" panose="02000500000000000000" pitchFamily="2" charset="-122"/>
              <a:ea typeface="华光隶书_CNKI" panose="02000500000000000000" pitchFamily="2" charset="-122"/>
            </a:endParaRPr>
          </a:p>
        </p:txBody>
      </p:sp>
      <p:sp>
        <p:nvSpPr>
          <p:cNvPr id="3" name="副标题 2"/>
          <p:cNvSpPr>
            <a:spLocks noGrp="1"/>
          </p:cNvSpPr>
          <p:nvPr>
            <p:ph type="subTitle" idx="1"/>
          </p:nvPr>
        </p:nvSpPr>
        <p:spPr/>
        <p:txBody>
          <a:bodyPr>
            <a:noAutofit/>
          </a:bodyPr>
          <a:lstStyle/>
          <a:p>
            <a:pPr algn="r"/>
            <a:endParaRPr lang="en-US" altLang="zh-CN" sz="2925" dirty="0">
              <a:solidFill>
                <a:schemeClr val="accent2">
                  <a:lumMod val="50000"/>
                </a:schemeClr>
              </a:solidFill>
            </a:endParaRPr>
          </a:p>
          <a:p>
            <a:pPr algn="r"/>
            <a:r>
              <a:rPr lang="en-US" altLang="zh-CN" sz="2925" dirty="0">
                <a:solidFill>
                  <a:schemeClr val="accent2">
                    <a:lumMod val="50000"/>
                  </a:schemeClr>
                </a:solidFill>
              </a:rPr>
              <a:t>--</a:t>
            </a:r>
            <a:r>
              <a:rPr lang="zh-CN" altLang="en-US" sz="2925" dirty="0">
                <a:solidFill>
                  <a:schemeClr val="accent2">
                    <a:lumMod val="50000"/>
                  </a:schemeClr>
                </a:solidFill>
              </a:rPr>
              <a:t>沈阳建筑大学 赵明</a:t>
            </a:r>
          </a:p>
        </p:txBody>
      </p:sp>
    </p:spTree>
    <p:extLst>
      <p:ext uri="{BB962C8B-B14F-4D97-AF65-F5344CB8AC3E}">
        <p14:creationId xmlns:p14="http://schemas.microsoft.com/office/powerpoint/2010/main" val="26906542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smtClean="0"/>
              <a:t>未来</a:t>
            </a:r>
            <a:r>
              <a:rPr lang="zh-CN" altLang="en-US" sz="3600" dirty="0"/>
              <a:t>网络</a:t>
            </a:r>
            <a:r>
              <a:rPr lang="en-US" altLang="zh-CN" sz="3600" dirty="0"/>
              <a:t>,</a:t>
            </a:r>
            <a:r>
              <a:rPr lang="zh-CN" altLang="en-US" sz="3600" dirty="0"/>
              <a:t>让搭乘“网络高铁”成为</a:t>
            </a:r>
            <a:r>
              <a:rPr lang="zh-CN" altLang="en-US" sz="3600" dirty="0" smtClean="0"/>
              <a:t>可能</a:t>
            </a:r>
            <a:endParaRPr lang="zh-CN" altLang="en-US" sz="3600"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2</a:t>
            </a:fld>
            <a:endParaRPr lang="en-US" altLang="zh-CN"/>
          </a:p>
        </p:txBody>
      </p:sp>
      <p:sp>
        <p:nvSpPr>
          <p:cNvPr id="8" name="矩形 7"/>
          <p:cNvSpPr/>
          <p:nvPr/>
        </p:nvSpPr>
        <p:spPr>
          <a:xfrm>
            <a:off x="823131" y="1340826"/>
            <a:ext cx="8568714" cy="369332"/>
          </a:xfrm>
          <a:prstGeom prst="rect">
            <a:avLst/>
          </a:prstGeom>
        </p:spPr>
        <p:txBody>
          <a:bodyPr wrap="square">
            <a:spAutoFit/>
          </a:bodyPr>
          <a:lstStyle/>
          <a:p>
            <a:r>
              <a:rPr lang="zh-CN" altLang="en-US" dirty="0"/>
              <a:t>https://haokan.baidu.com/v?pd=wisenatural&amp;vid=</a:t>
            </a:r>
            <a:r>
              <a:rPr lang="zh-CN" altLang="en-US" dirty="0" smtClean="0"/>
              <a:t>4004962030867056570</a:t>
            </a:r>
            <a:endParaRPr lang="en-US" altLang="zh-CN" dirty="0" smtClean="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582" y="1916874"/>
            <a:ext cx="8607807" cy="4774435"/>
          </a:xfrm>
          <a:prstGeom prst="rect">
            <a:avLst/>
          </a:prstGeom>
        </p:spPr>
      </p:pic>
    </p:spTree>
    <p:extLst>
      <p:ext uri="{BB962C8B-B14F-4D97-AF65-F5344CB8AC3E}">
        <p14:creationId xmlns:p14="http://schemas.microsoft.com/office/powerpoint/2010/main" val="711664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8628" y="188730"/>
            <a:ext cx="9066212" cy="792088"/>
          </a:xfrm>
        </p:spPr>
        <p:txBody>
          <a:bodyPr/>
          <a:lstStyle/>
          <a:p>
            <a:r>
              <a:rPr lang="zh-CN" altLang="en-US" dirty="0" smtClean="0"/>
              <a:t>互联网现状</a:t>
            </a:r>
            <a:endParaRPr lang="zh-CN" altLang="en-US" dirty="0"/>
          </a:p>
        </p:txBody>
      </p:sp>
      <p:grpSp>
        <p:nvGrpSpPr>
          <p:cNvPr id="13" name="组合 12"/>
          <p:cNvGrpSpPr/>
          <p:nvPr/>
        </p:nvGrpSpPr>
        <p:grpSpPr>
          <a:xfrm>
            <a:off x="416622" y="4725108"/>
            <a:ext cx="3024252" cy="2016168"/>
            <a:chOff x="416622" y="1288979"/>
            <a:chExt cx="3499831" cy="2262493"/>
          </a:xfrm>
        </p:grpSpPr>
        <p:pic>
          <p:nvPicPr>
            <p:cNvPr id="8" name="图片 7" descr="C:\Users\a\Desktop\互联网用户数.png"/>
            <p:cNvPicPr/>
            <p:nvPr/>
          </p:nvPicPr>
          <p:blipFill rotWithShape="1">
            <a:blip r:embed="rId3">
              <a:extLst>
                <a:ext uri="{28A0092B-C50C-407E-A947-70E740481C1C}">
                  <a14:useLocalDpi xmlns:a14="http://schemas.microsoft.com/office/drawing/2010/main" val="0"/>
                </a:ext>
              </a:extLst>
            </a:blip>
            <a:srcRect b="9119"/>
            <a:stretch/>
          </p:blipFill>
          <p:spPr bwMode="auto">
            <a:xfrm>
              <a:off x="416622" y="1288979"/>
              <a:ext cx="3456288" cy="2262493"/>
            </a:xfrm>
            <a:prstGeom prst="rect">
              <a:avLst/>
            </a:prstGeom>
            <a:noFill/>
            <a:ln w="19050">
              <a:solidFill>
                <a:schemeClr val="tx1">
                  <a:lumMod val="50000"/>
                  <a:lumOff val="50000"/>
                </a:schemeClr>
              </a:solidFill>
            </a:ln>
            <a:extLst>
              <a:ext uri="{53640926-AAD7-44D8-BBD7-CCE9431645EC}">
                <a14:shadowObscured xmlns:a14="http://schemas.microsoft.com/office/drawing/2010/main"/>
              </a:ext>
            </a:extLst>
          </p:spPr>
        </p:pic>
        <p:sp>
          <p:nvSpPr>
            <p:cNvPr id="9" name="文本框 8"/>
            <p:cNvSpPr txBox="1"/>
            <p:nvPr/>
          </p:nvSpPr>
          <p:spPr>
            <a:xfrm>
              <a:off x="2666512" y="1556844"/>
              <a:ext cx="1249941" cy="414455"/>
            </a:xfrm>
            <a:prstGeom prst="rect">
              <a:avLst/>
            </a:prstGeom>
            <a:noFill/>
          </p:spPr>
          <p:txBody>
            <a:bodyPr wrap="square" rtlCol="0">
              <a:spAutoFit/>
            </a:bodyPr>
            <a:lstStyle/>
            <a:p>
              <a:r>
                <a:rPr lang="en-US" altLang="zh-CN" b="1" dirty="0" smtClean="0">
                  <a:solidFill>
                    <a:srgbClr val="FF0000"/>
                  </a:solidFill>
                </a:rPr>
                <a:t>51.69</a:t>
              </a:r>
              <a:r>
                <a:rPr lang="zh-CN" altLang="en-US" b="1" dirty="0">
                  <a:solidFill>
                    <a:srgbClr val="FF0000"/>
                  </a:solidFill>
                </a:rPr>
                <a:t>亿</a:t>
              </a:r>
            </a:p>
          </p:txBody>
        </p:sp>
      </p:gr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6136" y="4233006"/>
            <a:ext cx="3061751" cy="2004228"/>
          </a:xfrm>
          <a:prstGeom prst="rect">
            <a:avLst/>
          </a:prstGeom>
          <a:ln w="19050">
            <a:solidFill>
              <a:schemeClr val="tx1">
                <a:lumMod val="50000"/>
                <a:lumOff val="50000"/>
              </a:schemeClr>
            </a:solidFill>
          </a:ln>
        </p:spPr>
      </p:pic>
      <p:pic>
        <p:nvPicPr>
          <p:cNvPr id="12" name="图片 11"/>
          <p:cNvPicPr>
            <a:picLocks noChangeAspect="1"/>
          </p:cNvPicPr>
          <p:nvPr/>
        </p:nvPicPr>
        <p:blipFill>
          <a:blip r:embed="rId5"/>
          <a:stretch>
            <a:fillRect/>
          </a:stretch>
        </p:blipFill>
        <p:spPr>
          <a:xfrm>
            <a:off x="6787658" y="3806465"/>
            <a:ext cx="2989744" cy="1998733"/>
          </a:xfrm>
          <a:prstGeom prst="rect">
            <a:avLst/>
          </a:prstGeom>
          <a:ln w="19050">
            <a:solidFill>
              <a:schemeClr val="tx1">
                <a:lumMod val="50000"/>
                <a:lumOff val="50000"/>
              </a:schemeClr>
            </a:solidFill>
          </a:ln>
        </p:spPr>
      </p:pic>
      <p:sp>
        <p:nvSpPr>
          <p:cNvPr id="15" name="五边形 14"/>
          <p:cNvSpPr/>
          <p:nvPr/>
        </p:nvSpPr>
        <p:spPr bwMode="auto">
          <a:xfrm>
            <a:off x="632640" y="3852318"/>
            <a:ext cx="2376198" cy="720060"/>
          </a:xfrm>
          <a:prstGeom prst="homePlate">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4000" b="1" i="0" u="none" strike="noStrike" cap="none" normalizeH="0" baseline="0" dirty="0" smtClean="0">
                <a:ln>
                  <a:noFill/>
                </a:ln>
                <a:solidFill>
                  <a:srgbClr val="C00000"/>
                </a:solidFill>
                <a:effectLst/>
                <a:latin typeface="黑体" panose="02010609060101010101" pitchFamily="49" charset="-122"/>
                <a:ea typeface="黑体" panose="02010609060101010101" pitchFamily="49" charset="-122"/>
              </a:rPr>
              <a:t>庞  大</a:t>
            </a:r>
          </a:p>
        </p:txBody>
      </p:sp>
      <p:sp>
        <p:nvSpPr>
          <p:cNvPr id="16" name="五边形 15"/>
          <p:cNvSpPr/>
          <p:nvPr/>
        </p:nvSpPr>
        <p:spPr bwMode="auto">
          <a:xfrm>
            <a:off x="3728898" y="3368934"/>
            <a:ext cx="2376198" cy="720060"/>
          </a:xfrm>
          <a:prstGeom prst="homePlat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4000" b="1" i="0" u="none" strike="noStrike" cap="none" normalizeH="0" baseline="0" dirty="0" smtClean="0">
                <a:ln>
                  <a:noFill/>
                </a:ln>
                <a:solidFill>
                  <a:srgbClr val="333399"/>
                </a:solidFill>
                <a:effectLst/>
                <a:latin typeface="黑体" panose="02010609060101010101" pitchFamily="49" charset="-122"/>
                <a:ea typeface="黑体" panose="02010609060101010101" pitchFamily="49" charset="-122"/>
              </a:rPr>
              <a:t>异  构</a:t>
            </a:r>
          </a:p>
        </p:txBody>
      </p:sp>
      <p:sp>
        <p:nvSpPr>
          <p:cNvPr id="17" name="五边形 16"/>
          <p:cNvSpPr/>
          <p:nvPr/>
        </p:nvSpPr>
        <p:spPr bwMode="auto">
          <a:xfrm>
            <a:off x="6969168" y="2798381"/>
            <a:ext cx="2376198" cy="720060"/>
          </a:xfrm>
          <a:prstGeom prst="homePlate">
            <a:avLst/>
          </a:prstGeom>
          <a:solidFill>
            <a:srgbClr val="33339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4000" b="1" i="0" u="none" strike="noStrike" cap="none" normalizeH="0" baseline="0" dirty="0" smtClean="0">
                <a:ln>
                  <a:noFill/>
                </a:ln>
                <a:solidFill>
                  <a:srgbClr val="FFC000"/>
                </a:solidFill>
                <a:effectLst/>
                <a:latin typeface="黑体" panose="02010609060101010101" pitchFamily="49" charset="-122"/>
                <a:ea typeface="黑体" panose="02010609060101010101" pitchFamily="49" charset="-122"/>
              </a:rPr>
              <a:t>动  态</a:t>
            </a:r>
          </a:p>
        </p:txBody>
      </p:sp>
      <p:pic>
        <p:nvPicPr>
          <p:cNvPr id="18" name="图片 17"/>
          <p:cNvPicPr>
            <a:picLocks noChangeAspect="1"/>
          </p:cNvPicPr>
          <p:nvPr/>
        </p:nvPicPr>
        <p:blipFill>
          <a:blip r:embed="rId6"/>
          <a:stretch>
            <a:fillRect/>
          </a:stretch>
        </p:blipFill>
        <p:spPr>
          <a:xfrm>
            <a:off x="632640" y="1210334"/>
            <a:ext cx="2442465" cy="1832994"/>
          </a:xfrm>
          <a:prstGeom prst="rect">
            <a:avLst/>
          </a:prstGeom>
        </p:spPr>
      </p:pic>
      <p:sp>
        <p:nvSpPr>
          <p:cNvPr id="19" name="十角星 18"/>
          <p:cNvSpPr/>
          <p:nvPr/>
        </p:nvSpPr>
        <p:spPr bwMode="auto">
          <a:xfrm>
            <a:off x="2864827" y="1133458"/>
            <a:ext cx="5904492" cy="1719494"/>
          </a:xfrm>
          <a:prstGeom prst="star10">
            <a:avLst/>
          </a:prstGeom>
          <a:noFill/>
          <a:ln w="5715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4000" b="1" i="0" u="none" strike="noStrike" cap="none" normalizeH="0" baseline="0" dirty="0" smtClean="0">
                <a:ln>
                  <a:noFill/>
                </a:ln>
                <a:solidFill>
                  <a:srgbClr val="FF0000"/>
                </a:solidFill>
                <a:effectLst/>
                <a:latin typeface="黑体" panose="02010609060101010101" pitchFamily="49" charset="-122"/>
                <a:ea typeface="黑体" panose="02010609060101010101" pitchFamily="49" charset="-122"/>
              </a:rPr>
              <a:t>计算机网络技术！</a:t>
            </a:r>
          </a:p>
        </p:txBody>
      </p:sp>
    </p:spTree>
    <p:custDataLst>
      <p:tags r:id="rId1"/>
    </p:custDataLst>
    <p:extLst>
      <p:ext uri="{BB962C8B-B14F-4D97-AF65-F5344CB8AC3E}">
        <p14:creationId xmlns:p14="http://schemas.microsoft.com/office/powerpoint/2010/main" val="553744938"/>
      </p:ext>
    </p:extLst>
  </p:cSld>
  <p:clrMapOvr>
    <a:masterClrMapping/>
  </p:clrMapOvr>
  <mc:AlternateContent xmlns:mc="http://schemas.openxmlformats.org/markup-compatibility/2006" xmlns:p14="http://schemas.microsoft.com/office/powerpoint/2010/main">
    <mc:Choice Requires="p14">
      <p:transition spd="slow" p14:dur="2000" advTm="4002"/>
    </mc:Choice>
    <mc:Fallback xmlns="">
      <p:transition spd="slow" advTm="40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arn(inVertical)">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9"/>
          <p:cNvSpPr/>
          <p:nvPr/>
        </p:nvSpPr>
        <p:spPr bwMode="auto">
          <a:xfrm>
            <a:off x="8515350" y="770892"/>
            <a:ext cx="312738" cy="1800225"/>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1905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 name="Line 18"/>
          <p:cNvSpPr>
            <a:spLocks noChangeShapeType="1"/>
          </p:cNvSpPr>
          <p:nvPr/>
        </p:nvSpPr>
        <p:spPr bwMode="auto">
          <a:xfrm flipV="1">
            <a:off x="3641725" y="699454"/>
            <a:ext cx="5040313"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1" name="Line 19"/>
          <p:cNvSpPr>
            <a:spLocks noChangeShapeType="1"/>
          </p:cNvSpPr>
          <p:nvPr/>
        </p:nvSpPr>
        <p:spPr bwMode="auto">
          <a:xfrm flipV="1">
            <a:off x="4289425" y="2571117"/>
            <a:ext cx="865188"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2" name="Line 20"/>
          <p:cNvSpPr>
            <a:spLocks noChangeShapeType="1"/>
          </p:cNvSpPr>
          <p:nvPr/>
        </p:nvSpPr>
        <p:spPr bwMode="auto">
          <a:xfrm>
            <a:off x="1409700" y="69945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797"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9922" y="2428242"/>
            <a:ext cx="520726"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798" name="Group 22"/>
          <p:cNvGrpSpPr>
            <a:grpSpLocks/>
          </p:cNvGrpSpPr>
          <p:nvPr/>
        </p:nvGrpSpPr>
        <p:grpSpPr bwMode="auto">
          <a:xfrm>
            <a:off x="4146279" y="339092"/>
            <a:ext cx="1439935" cy="863600"/>
            <a:chOff x="385" y="2795"/>
            <a:chExt cx="1769" cy="816"/>
          </a:xfrm>
        </p:grpSpPr>
        <p:sp>
          <p:nvSpPr>
            <p:cNvPr id="25"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6" name="Oval 24"/>
            <p:cNvSpPr>
              <a:spLocks noChangeArrowheads="1"/>
            </p:cNvSpPr>
            <p:nvPr/>
          </p:nvSpPr>
          <p:spPr bwMode="auto">
            <a:xfrm>
              <a:off x="928"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7" name="Oval 2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8" name="Oval 2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9" name="Oval 2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0"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1" name="Oval 2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2" name="Oval 3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3" name="Oval 31"/>
            <p:cNvSpPr>
              <a:spLocks noChangeArrowheads="1"/>
            </p:cNvSpPr>
            <p:nvPr/>
          </p:nvSpPr>
          <p:spPr bwMode="auto">
            <a:xfrm rot="1336630">
              <a:off x="1474"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4" name="Oval 32"/>
            <p:cNvSpPr>
              <a:spLocks noChangeArrowheads="1"/>
            </p:cNvSpPr>
            <p:nvPr/>
          </p:nvSpPr>
          <p:spPr bwMode="auto">
            <a:xfrm>
              <a:off x="1004"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5" name="Oval 3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6" name="Oval 3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7" name="Oval 35"/>
            <p:cNvSpPr>
              <a:spLocks noChangeArrowheads="1"/>
            </p:cNvSpPr>
            <p:nvPr/>
          </p:nvSpPr>
          <p:spPr bwMode="auto">
            <a:xfrm>
              <a:off x="1515"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8" name="Oval 3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39"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0" name="Oval 3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1" name="Freeform 3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sp>
        <p:nvSpPr>
          <p:cNvPr id="42" name="Text Box 40"/>
          <p:cNvSpPr txBox="1">
            <a:spLocks noChangeArrowheads="1"/>
          </p:cNvSpPr>
          <p:nvPr/>
        </p:nvSpPr>
        <p:spPr bwMode="auto">
          <a:xfrm>
            <a:off x="606425" y="334329"/>
            <a:ext cx="700088"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C00000"/>
                </a:solidFill>
                <a:effectLst/>
                <a:uLnTx/>
                <a:uFillTx/>
                <a:latin typeface="Arial"/>
                <a:ea typeface="黑体" panose="02010609060101010101" pitchFamily="2" charset="-122"/>
                <a:cs typeface="+mn-cs"/>
              </a:rPr>
              <a:t>主机</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Arial"/>
                <a:ea typeface="黑体" panose="02010609060101010101" pitchFamily="2" charset="-122"/>
                <a:cs typeface="+mn-cs"/>
              </a:rPr>
              <a:t>H</a:t>
            </a:r>
            <a:r>
              <a:rPr kumimoji="0" lang="en-US" altLang="zh-CN" sz="2000" b="1" i="0" u="none" strike="noStrike" kern="0" cap="none" spc="0" normalizeH="0" baseline="-25000" noProof="0" dirty="0">
                <a:ln>
                  <a:noFill/>
                </a:ln>
                <a:solidFill>
                  <a:srgbClr val="C00000"/>
                </a:solidFill>
                <a:effectLst/>
                <a:uLnTx/>
                <a:uFillTx/>
                <a:latin typeface="Arial"/>
                <a:ea typeface="黑体" panose="02010609060101010101" pitchFamily="2" charset="-122"/>
                <a:cs typeface="+mn-cs"/>
              </a:rPr>
              <a:t>1</a:t>
            </a:r>
          </a:p>
        </p:txBody>
      </p:sp>
      <p:pic>
        <p:nvPicPr>
          <p:cNvPr id="715817"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93090" y="554992"/>
            <a:ext cx="520726"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18" name="Group 42"/>
          <p:cNvGrpSpPr>
            <a:grpSpLocks/>
          </p:cNvGrpSpPr>
          <p:nvPr/>
        </p:nvGrpSpPr>
        <p:grpSpPr bwMode="auto">
          <a:xfrm>
            <a:off x="6665768" y="339092"/>
            <a:ext cx="1439934" cy="863600"/>
            <a:chOff x="385" y="2795"/>
            <a:chExt cx="1769" cy="816"/>
          </a:xfrm>
        </p:grpSpPr>
        <p:sp>
          <p:nvSpPr>
            <p:cNvPr id="45" name="Oval 4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6" name="Oval 44"/>
            <p:cNvSpPr>
              <a:spLocks noChangeArrowheads="1"/>
            </p:cNvSpPr>
            <p:nvPr/>
          </p:nvSpPr>
          <p:spPr bwMode="auto">
            <a:xfrm>
              <a:off x="927"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7" name="Oval 4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8" name="Oval 4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49" name="Oval 4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0" name="Oval 4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1" name="Oval 4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2" name="Oval 5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3" name="Oval 51"/>
            <p:cNvSpPr>
              <a:spLocks noChangeArrowheads="1"/>
            </p:cNvSpPr>
            <p:nvPr/>
          </p:nvSpPr>
          <p:spPr bwMode="auto">
            <a:xfrm rot="1336630">
              <a:off x="1473"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4" name="Oval 52"/>
            <p:cNvSpPr>
              <a:spLocks noChangeArrowheads="1"/>
            </p:cNvSpPr>
            <p:nvPr/>
          </p:nvSpPr>
          <p:spPr bwMode="auto">
            <a:xfrm>
              <a:off x="1003"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5" name="Oval 5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6" name="Oval 5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7" name="Oval 55"/>
            <p:cNvSpPr>
              <a:spLocks noChangeArrowheads="1"/>
            </p:cNvSpPr>
            <p:nvPr/>
          </p:nvSpPr>
          <p:spPr bwMode="auto">
            <a:xfrm>
              <a:off x="1514"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8" name="Oval 5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9" name="Oval 5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0" name="Oval 5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1" name="Freeform 5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nvGrpSpPr>
          <p:cNvPr id="715836" name="Group 60"/>
          <p:cNvGrpSpPr>
            <a:grpSpLocks/>
          </p:cNvGrpSpPr>
          <p:nvPr/>
        </p:nvGrpSpPr>
        <p:grpSpPr bwMode="auto">
          <a:xfrm>
            <a:off x="5081364" y="1994854"/>
            <a:ext cx="415946" cy="504825"/>
            <a:chOff x="4416" y="2717"/>
            <a:chExt cx="404" cy="577"/>
          </a:xfrm>
        </p:grpSpPr>
        <p:sp>
          <p:nvSpPr>
            <p:cNvPr id="63" name="AutoShape 61"/>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838" name="Group 62"/>
            <p:cNvGrpSpPr>
              <a:grpSpLocks/>
            </p:cNvGrpSpPr>
            <p:nvPr/>
          </p:nvGrpSpPr>
          <p:grpSpPr bwMode="auto">
            <a:xfrm>
              <a:off x="4562" y="3066"/>
              <a:ext cx="13" cy="70"/>
              <a:chOff x="4562" y="3066"/>
              <a:chExt cx="13" cy="70"/>
            </a:xfrm>
          </p:grpSpPr>
          <p:sp>
            <p:nvSpPr>
              <p:cNvPr id="109" name="Rectangle 63"/>
              <p:cNvSpPr>
                <a:spLocks noChangeArrowheads="1"/>
              </p:cNvSpPr>
              <p:nvPr/>
            </p:nvSpPr>
            <p:spPr bwMode="auto">
              <a:xfrm>
                <a:off x="4563" y="3067"/>
                <a:ext cx="12" cy="69"/>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10" name="Line 64"/>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sp>
          <p:nvSpPr>
            <p:cNvPr id="65" name="Rectangle 65"/>
            <p:cNvSpPr>
              <a:spLocks noChangeArrowheads="1"/>
            </p:cNvSpPr>
            <p:nvPr/>
          </p:nvSpPr>
          <p:spPr bwMode="auto">
            <a:xfrm>
              <a:off x="4503" y="3022"/>
              <a:ext cx="43" cy="112"/>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6" name="Freeform 66"/>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7" name="Freeform 67"/>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8" name="Freeform 68"/>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9" name="Freeform 69"/>
            <p:cNvSpPr/>
            <p:nvPr/>
          </p:nvSpPr>
          <p:spPr bwMode="auto">
            <a:xfrm>
              <a:off x="4503"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0" name="Freeform 70"/>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1" name="Freeform 71"/>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2" name="Rectangle 72"/>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3" name="Line 73"/>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4" name="Freeform 74"/>
            <p:cNvSpPr/>
            <p:nvPr/>
          </p:nvSpPr>
          <p:spPr bwMode="auto">
            <a:xfrm>
              <a:off x="4472"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5" name="Freeform 75"/>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6" name="Freeform 76"/>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7" name="Rectangle 77"/>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8" name="Rectangle 78"/>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9" name="Rectangle 79"/>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0" name="Rectangle 80"/>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1" name="Oval 81"/>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2" name="Rectangle 82"/>
            <p:cNvSpPr>
              <a:spLocks noChangeArrowheads="1"/>
            </p:cNvSpPr>
            <p:nvPr/>
          </p:nvSpPr>
          <p:spPr bwMode="auto">
            <a:xfrm>
              <a:off x="4563" y="3036"/>
              <a:ext cx="26" cy="25"/>
            </a:xfrm>
            <a:prstGeom prst="rect">
              <a:avLst/>
            </a:prstGeom>
            <a:solidFill>
              <a:srgbClr val="80808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3" name="Freeform 83"/>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860" name="Group 84"/>
            <p:cNvGrpSpPr>
              <a:grpSpLocks/>
            </p:cNvGrpSpPr>
            <p:nvPr/>
          </p:nvGrpSpPr>
          <p:grpSpPr bwMode="auto">
            <a:xfrm>
              <a:off x="4455" y="2913"/>
              <a:ext cx="126" cy="116"/>
              <a:chOff x="4455" y="2913"/>
              <a:chExt cx="126" cy="116"/>
            </a:xfrm>
          </p:grpSpPr>
          <p:sp>
            <p:nvSpPr>
              <p:cNvPr id="107" name="Oval 85"/>
              <p:cNvSpPr>
                <a:spLocks noChangeArrowheads="1"/>
              </p:cNvSpPr>
              <p:nvPr/>
            </p:nvSpPr>
            <p:spPr bwMode="auto">
              <a:xfrm>
                <a:off x="4466" y="2913"/>
                <a:ext cx="116" cy="116"/>
              </a:xfrm>
              <a:prstGeom prst="ellipse">
                <a:avLst/>
              </a:prstGeom>
              <a:solidFill>
                <a:srgbClr val="808080"/>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8" name="Oval 86"/>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nvGrpSpPr>
            <p:cNvPr id="715863" name="Group 87"/>
            <p:cNvGrpSpPr>
              <a:grpSpLocks/>
            </p:cNvGrpSpPr>
            <p:nvPr/>
          </p:nvGrpSpPr>
          <p:grpSpPr bwMode="auto">
            <a:xfrm>
              <a:off x="4504" y="3136"/>
              <a:ext cx="43" cy="112"/>
              <a:chOff x="4504" y="3136"/>
              <a:chExt cx="43" cy="112"/>
            </a:xfrm>
          </p:grpSpPr>
          <p:sp>
            <p:nvSpPr>
              <p:cNvPr id="98" name="Rectangle 88"/>
              <p:cNvSpPr>
                <a:spLocks noChangeArrowheads="1"/>
              </p:cNvSpPr>
              <p:nvPr/>
            </p:nvSpPr>
            <p:spPr bwMode="auto">
              <a:xfrm>
                <a:off x="4506" y="3136"/>
                <a:ext cx="40" cy="112"/>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865" name="Group 89"/>
              <p:cNvGrpSpPr>
                <a:grpSpLocks/>
              </p:cNvGrpSpPr>
              <p:nvPr/>
            </p:nvGrpSpPr>
            <p:grpSpPr bwMode="auto">
              <a:xfrm>
                <a:off x="4504" y="3149"/>
                <a:ext cx="43" cy="87"/>
                <a:chOff x="4504" y="3149"/>
                <a:chExt cx="43" cy="87"/>
              </a:xfrm>
            </p:grpSpPr>
            <p:sp>
              <p:nvSpPr>
                <p:cNvPr id="100" name="Line 90"/>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1" name="Line 91"/>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2" name="Line 92"/>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3" name="Line 93"/>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4" name="Line 94"/>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5" name="Line 95"/>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06" name="Line 96"/>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sp>
          <p:nvSpPr>
            <p:cNvPr id="86" name="Rectangle 97"/>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7" name="Freeform 98"/>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8" name="Freeform 99"/>
            <p:cNvSpPr/>
            <p:nvPr/>
          </p:nvSpPr>
          <p:spPr bwMode="auto">
            <a:xfrm>
              <a:off x="4657" y="2848"/>
              <a:ext cx="63"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9" name="Freeform 100"/>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0" name="Freeform 101"/>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1" name="Freeform 102"/>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2" name="Freeform 103"/>
            <p:cNvSpPr/>
            <p:nvPr/>
          </p:nvSpPr>
          <p:spPr bwMode="auto">
            <a:xfrm>
              <a:off x="4685"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3" name="Freeform 104"/>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4" name="Freeform 105"/>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5" name="Freeform 106"/>
            <p:cNvSpPr/>
            <p:nvPr/>
          </p:nvSpPr>
          <p:spPr bwMode="auto">
            <a:xfrm>
              <a:off x="4759"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6" name="Freeform 107"/>
            <p:cNvSpPr/>
            <p:nvPr/>
          </p:nvSpPr>
          <p:spPr bwMode="auto">
            <a:xfrm>
              <a:off x="4725"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97" name="Freeform 108"/>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pic>
        <p:nvPicPr>
          <p:cNvPr id="715885" name="Picture 10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33947" y="1418592"/>
            <a:ext cx="989061"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6" name="Picture 1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9077" y="2426654"/>
            <a:ext cx="520726"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7" name="Picture 1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0572" y="554992"/>
            <a:ext cx="520726"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88" name="Group 112"/>
          <p:cNvGrpSpPr>
            <a:grpSpLocks/>
          </p:cNvGrpSpPr>
          <p:nvPr/>
        </p:nvGrpSpPr>
        <p:grpSpPr bwMode="auto">
          <a:xfrm flipH="1">
            <a:off x="8626428" y="2067879"/>
            <a:ext cx="415946" cy="504825"/>
            <a:chOff x="4416" y="2717"/>
            <a:chExt cx="404" cy="577"/>
          </a:xfrm>
        </p:grpSpPr>
        <p:sp>
          <p:nvSpPr>
            <p:cNvPr id="115" name="AutoShape 113"/>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890" name="Group 114"/>
            <p:cNvGrpSpPr>
              <a:grpSpLocks/>
            </p:cNvGrpSpPr>
            <p:nvPr/>
          </p:nvGrpSpPr>
          <p:grpSpPr bwMode="auto">
            <a:xfrm>
              <a:off x="4562" y="3066"/>
              <a:ext cx="13" cy="70"/>
              <a:chOff x="4562" y="3066"/>
              <a:chExt cx="13" cy="70"/>
            </a:xfrm>
          </p:grpSpPr>
          <p:sp>
            <p:nvSpPr>
              <p:cNvPr id="161" name="Rectangle 115"/>
              <p:cNvSpPr>
                <a:spLocks noChangeArrowheads="1"/>
              </p:cNvSpPr>
              <p:nvPr/>
            </p:nvSpPr>
            <p:spPr bwMode="auto">
              <a:xfrm>
                <a:off x="4562" y="3067"/>
                <a:ext cx="12" cy="69"/>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62" name="Line 116"/>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sp>
          <p:nvSpPr>
            <p:cNvPr id="117" name="Rectangle 117"/>
            <p:cNvSpPr>
              <a:spLocks noChangeArrowheads="1"/>
            </p:cNvSpPr>
            <p:nvPr/>
          </p:nvSpPr>
          <p:spPr bwMode="auto">
            <a:xfrm>
              <a:off x="4502" y="3022"/>
              <a:ext cx="43" cy="112"/>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18" name="Freeform 118"/>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19" name="Freeform 119"/>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0" name="Freeform 120"/>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1" name="Freeform 121"/>
            <p:cNvSpPr/>
            <p:nvPr/>
          </p:nvSpPr>
          <p:spPr bwMode="auto">
            <a:xfrm>
              <a:off x="4502"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2" name="Freeform 122"/>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3" name="Freeform 123"/>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4" name="Rectangle 124"/>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5" name="Line 125"/>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6" name="Freeform 126"/>
            <p:cNvSpPr/>
            <p:nvPr/>
          </p:nvSpPr>
          <p:spPr bwMode="auto">
            <a:xfrm>
              <a:off x="4471"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7" name="Freeform 127"/>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8" name="Freeform 128"/>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29" name="Rectangle 129"/>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0" name="Rectangle 130"/>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1" name="Rectangle 131"/>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2" name="Rectangle 132"/>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3" name="Oval 133"/>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4" name="Rectangle 134"/>
            <p:cNvSpPr>
              <a:spLocks noChangeArrowheads="1"/>
            </p:cNvSpPr>
            <p:nvPr/>
          </p:nvSpPr>
          <p:spPr bwMode="auto">
            <a:xfrm>
              <a:off x="4562" y="3036"/>
              <a:ext cx="26" cy="25"/>
            </a:xfrm>
            <a:prstGeom prst="rect">
              <a:avLst/>
            </a:prstGeom>
            <a:solidFill>
              <a:srgbClr val="80808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5" name="Freeform 135"/>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912" name="Group 136"/>
            <p:cNvGrpSpPr>
              <a:grpSpLocks/>
            </p:cNvGrpSpPr>
            <p:nvPr/>
          </p:nvGrpSpPr>
          <p:grpSpPr bwMode="auto">
            <a:xfrm>
              <a:off x="4455" y="2913"/>
              <a:ext cx="126" cy="116"/>
              <a:chOff x="4455" y="2913"/>
              <a:chExt cx="126" cy="116"/>
            </a:xfrm>
          </p:grpSpPr>
          <p:sp>
            <p:nvSpPr>
              <p:cNvPr id="159" name="Oval 137"/>
              <p:cNvSpPr>
                <a:spLocks noChangeArrowheads="1"/>
              </p:cNvSpPr>
              <p:nvPr/>
            </p:nvSpPr>
            <p:spPr bwMode="auto">
              <a:xfrm>
                <a:off x="4465" y="2913"/>
                <a:ext cx="116" cy="116"/>
              </a:xfrm>
              <a:prstGeom prst="ellipse">
                <a:avLst/>
              </a:prstGeom>
              <a:solidFill>
                <a:srgbClr val="808080"/>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60" name="Oval 138"/>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nvGrpSpPr>
            <p:cNvPr id="715915" name="Group 139"/>
            <p:cNvGrpSpPr>
              <a:grpSpLocks/>
            </p:cNvGrpSpPr>
            <p:nvPr/>
          </p:nvGrpSpPr>
          <p:grpSpPr bwMode="auto">
            <a:xfrm>
              <a:off x="4504" y="3136"/>
              <a:ext cx="43" cy="112"/>
              <a:chOff x="4504" y="3136"/>
              <a:chExt cx="43" cy="112"/>
            </a:xfrm>
          </p:grpSpPr>
          <p:sp>
            <p:nvSpPr>
              <p:cNvPr id="150" name="Rectangle 140"/>
              <p:cNvSpPr>
                <a:spLocks noChangeArrowheads="1"/>
              </p:cNvSpPr>
              <p:nvPr/>
            </p:nvSpPr>
            <p:spPr bwMode="auto">
              <a:xfrm>
                <a:off x="4505" y="3136"/>
                <a:ext cx="40" cy="112"/>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917" name="Group 141"/>
              <p:cNvGrpSpPr>
                <a:grpSpLocks/>
              </p:cNvGrpSpPr>
              <p:nvPr/>
            </p:nvGrpSpPr>
            <p:grpSpPr bwMode="auto">
              <a:xfrm>
                <a:off x="4504" y="3149"/>
                <a:ext cx="43" cy="87"/>
                <a:chOff x="4504" y="3149"/>
                <a:chExt cx="43" cy="87"/>
              </a:xfrm>
            </p:grpSpPr>
            <p:sp>
              <p:nvSpPr>
                <p:cNvPr id="152" name="Line 142"/>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3" name="Line 143"/>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4" name="Line 144"/>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5" name="Line 145"/>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6" name="Line 146"/>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7" name="Line 147"/>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58" name="Line 148"/>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sp>
          <p:nvSpPr>
            <p:cNvPr id="138" name="Rectangle 149"/>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39" name="Freeform 150"/>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0" name="Freeform 151"/>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1" name="Freeform 152"/>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2" name="Freeform 153"/>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3" name="Freeform 154"/>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4" name="Freeform 155"/>
            <p:cNvSpPr/>
            <p:nvPr/>
          </p:nvSpPr>
          <p:spPr bwMode="auto">
            <a:xfrm>
              <a:off x="4684"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5" name="Freeform 156"/>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6" name="Freeform 157"/>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7" name="Freeform 158"/>
            <p:cNvSpPr/>
            <p:nvPr/>
          </p:nvSpPr>
          <p:spPr bwMode="auto">
            <a:xfrm>
              <a:off x="4758"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8" name="Freeform 159"/>
            <p:cNvSpPr/>
            <p:nvPr/>
          </p:nvSpPr>
          <p:spPr bwMode="auto">
            <a:xfrm>
              <a:off x="4724"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49" name="Freeform 160"/>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pic>
        <p:nvPicPr>
          <p:cNvPr id="715937" name="Picture 161" descr="D-Link%20DI-713P%20Wireless%20Broadband%20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3491" y="2196467"/>
            <a:ext cx="749337"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38" name="Group 162"/>
          <p:cNvGrpSpPr>
            <a:grpSpLocks/>
          </p:cNvGrpSpPr>
          <p:nvPr/>
        </p:nvGrpSpPr>
        <p:grpSpPr bwMode="auto">
          <a:xfrm>
            <a:off x="2633316" y="2355217"/>
            <a:ext cx="671546" cy="495300"/>
            <a:chOff x="762" y="2391"/>
            <a:chExt cx="423" cy="312"/>
          </a:xfrm>
        </p:grpSpPr>
        <p:grpSp>
          <p:nvGrpSpPr>
            <p:cNvPr id="715939" name="Group 163"/>
            <p:cNvGrpSpPr>
              <a:grpSpLocks/>
            </p:cNvGrpSpPr>
            <p:nvPr/>
          </p:nvGrpSpPr>
          <p:grpSpPr bwMode="auto">
            <a:xfrm>
              <a:off x="867" y="2432"/>
              <a:ext cx="318" cy="271"/>
              <a:chOff x="657" y="1570"/>
              <a:chExt cx="318" cy="311"/>
            </a:xfrm>
          </p:grpSpPr>
          <p:sp>
            <p:nvSpPr>
              <p:cNvPr id="173" name="Line 16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41" name="Picture 165"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42" name="Group 166"/>
            <p:cNvGrpSpPr>
              <a:grpSpLocks/>
            </p:cNvGrpSpPr>
            <p:nvPr/>
          </p:nvGrpSpPr>
          <p:grpSpPr bwMode="auto">
            <a:xfrm>
              <a:off x="762" y="2391"/>
              <a:ext cx="306" cy="90"/>
              <a:chOff x="748" y="2251"/>
              <a:chExt cx="306" cy="90"/>
            </a:xfrm>
          </p:grpSpPr>
          <p:sp>
            <p:nvSpPr>
              <p:cNvPr id="167" name="AutoShape 16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68" name="AutoShape 16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69" name="AutoShape 16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70" name="AutoShape 17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71" name="AutoShape 17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72" name="AutoShape 17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sp>
        <p:nvSpPr>
          <p:cNvPr id="175" name="Freeform 173"/>
          <p:cNvSpPr/>
          <p:nvPr/>
        </p:nvSpPr>
        <p:spPr bwMode="auto">
          <a:xfrm rot="1390605">
            <a:off x="4122738" y="1923417"/>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nvGrpSpPr>
          <p:cNvPr id="715950" name="Group 174"/>
          <p:cNvGrpSpPr>
            <a:grpSpLocks/>
          </p:cNvGrpSpPr>
          <p:nvPr/>
        </p:nvGrpSpPr>
        <p:grpSpPr bwMode="auto">
          <a:xfrm>
            <a:off x="1337852" y="1058229"/>
            <a:ext cx="503262" cy="684213"/>
            <a:chOff x="431" y="1479"/>
            <a:chExt cx="317" cy="431"/>
          </a:xfrm>
        </p:grpSpPr>
        <p:sp>
          <p:nvSpPr>
            <p:cNvPr id="177" name="Line 175"/>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52" name="Picture 17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5953" name="Picture 17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93381" y="375604"/>
            <a:ext cx="50326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Line 178"/>
          <p:cNvSpPr>
            <a:spLocks noChangeShapeType="1"/>
          </p:cNvSpPr>
          <p:nvPr/>
        </p:nvSpPr>
        <p:spPr bwMode="auto">
          <a:xfrm flipV="1">
            <a:off x="904875" y="1058229"/>
            <a:ext cx="3025775"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81" name="Line 179"/>
          <p:cNvSpPr>
            <a:spLocks noChangeShapeType="1"/>
          </p:cNvSpPr>
          <p:nvPr/>
        </p:nvSpPr>
        <p:spPr bwMode="auto">
          <a:xfrm>
            <a:off x="3713163" y="69945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56" name="Picture 1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084" y="554992"/>
            <a:ext cx="520726"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57" name="Group 181"/>
          <p:cNvGrpSpPr>
            <a:grpSpLocks/>
          </p:cNvGrpSpPr>
          <p:nvPr/>
        </p:nvGrpSpPr>
        <p:grpSpPr bwMode="auto">
          <a:xfrm>
            <a:off x="1841114" y="2931479"/>
            <a:ext cx="671547" cy="495300"/>
            <a:chOff x="762" y="2391"/>
            <a:chExt cx="423" cy="312"/>
          </a:xfrm>
        </p:grpSpPr>
        <p:grpSp>
          <p:nvGrpSpPr>
            <p:cNvPr id="715958" name="Group 182"/>
            <p:cNvGrpSpPr>
              <a:grpSpLocks/>
            </p:cNvGrpSpPr>
            <p:nvPr/>
          </p:nvGrpSpPr>
          <p:grpSpPr bwMode="auto">
            <a:xfrm>
              <a:off x="867" y="2432"/>
              <a:ext cx="318" cy="271"/>
              <a:chOff x="657" y="1570"/>
              <a:chExt cx="318" cy="311"/>
            </a:xfrm>
          </p:grpSpPr>
          <p:sp>
            <p:nvSpPr>
              <p:cNvPr id="192" name="Line 183"/>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60" name="Picture 184"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61" name="Group 185"/>
            <p:cNvGrpSpPr>
              <a:grpSpLocks/>
            </p:cNvGrpSpPr>
            <p:nvPr/>
          </p:nvGrpSpPr>
          <p:grpSpPr bwMode="auto">
            <a:xfrm>
              <a:off x="762" y="2391"/>
              <a:ext cx="306" cy="90"/>
              <a:chOff x="748" y="2251"/>
              <a:chExt cx="306" cy="90"/>
            </a:xfrm>
          </p:grpSpPr>
          <p:sp>
            <p:nvSpPr>
              <p:cNvPr id="186" name="AutoShape 186"/>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87" name="AutoShape 187"/>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88" name="AutoShape 188"/>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89" name="AutoShape 189"/>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90" name="AutoShape 190"/>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91" name="AutoShape 191"/>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grpSp>
        <p:nvGrpSpPr>
          <p:cNvPr id="715968" name="Group 192"/>
          <p:cNvGrpSpPr>
            <a:grpSpLocks/>
          </p:cNvGrpSpPr>
          <p:nvPr/>
        </p:nvGrpSpPr>
        <p:grpSpPr bwMode="auto">
          <a:xfrm>
            <a:off x="2704757" y="3363279"/>
            <a:ext cx="671547" cy="495300"/>
            <a:chOff x="762" y="2391"/>
            <a:chExt cx="423" cy="312"/>
          </a:xfrm>
        </p:grpSpPr>
        <p:grpSp>
          <p:nvGrpSpPr>
            <p:cNvPr id="715969" name="Group 193"/>
            <p:cNvGrpSpPr>
              <a:grpSpLocks/>
            </p:cNvGrpSpPr>
            <p:nvPr/>
          </p:nvGrpSpPr>
          <p:grpSpPr bwMode="auto">
            <a:xfrm>
              <a:off x="867" y="2432"/>
              <a:ext cx="318" cy="271"/>
              <a:chOff x="657" y="1570"/>
              <a:chExt cx="318" cy="311"/>
            </a:xfrm>
          </p:grpSpPr>
          <p:sp>
            <p:nvSpPr>
              <p:cNvPr id="203" name="Line 19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71" name="Picture 195"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72" name="Group 196"/>
            <p:cNvGrpSpPr>
              <a:grpSpLocks/>
            </p:cNvGrpSpPr>
            <p:nvPr/>
          </p:nvGrpSpPr>
          <p:grpSpPr bwMode="auto">
            <a:xfrm>
              <a:off x="762" y="2391"/>
              <a:ext cx="306" cy="90"/>
              <a:chOff x="748" y="2251"/>
              <a:chExt cx="306" cy="90"/>
            </a:xfrm>
          </p:grpSpPr>
          <p:sp>
            <p:nvSpPr>
              <p:cNvPr id="197" name="AutoShape 19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98" name="AutoShape 19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199" name="AutoShape 19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0" name="AutoShape 20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1" name="AutoShape 20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2" name="AutoShape 20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sp>
        <p:nvSpPr>
          <p:cNvPr id="205" name="Line 203"/>
          <p:cNvSpPr>
            <a:spLocks noChangeShapeType="1"/>
          </p:cNvSpPr>
          <p:nvPr/>
        </p:nvSpPr>
        <p:spPr bwMode="auto">
          <a:xfrm>
            <a:off x="7170738" y="1634492"/>
            <a:ext cx="1511300" cy="649287"/>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6" name="Line 204"/>
          <p:cNvSpPr>
            <a:spLocks noChangeShapeType="1"/>
          </p:cNvSpPr>
          <p:nvPr/>
        </p:nvSpPr>
        <p:spPr bwMode="auto">
          <a:xfrm flipH="1">
            <a:off x="5513388" y="1707517"/>
            <a:ext cx="719137" cy="431800"/>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7" name="Freeform 205"/>
          <p:cNvSpPr/>
          <p:nvPr/>
        </p:nvSpPr>
        <p:spPr bwMode="auto">
          <a:xfrm rot="1901313">
            <a:off x="3330575" y="2283779"/>
            <a:ext cx="203200" cy="300038"/>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8" name="Freeform 206"/>
          <p:cNvSpPr/>
          <p:nvPr/>
        </p:nvSpPr>
        <p:spPr bwMode="auto">
          <a:xfrm rot="18818791" flipH="1">
            <a:off x="3329782" y="2044860"/>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09" name="Freeform 207"/>
          <p:cNvSpPr/>
          <p:nvPr/>
        </p:nvSpPr>
        <p:spPr bwMode="auto">
          <a:xfrm rot="3575381">
            <a:off x="4171157" y="2103598"/>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10" name="Text Box 208"/>
          <p:cNvSpPr txBox="1">
            <a:spLocks noChangeArrowheads="1"/>
          </p:cNvSpPr>
          <p:nvPr/>
        </p:nvSpPr>
        <p:spPr bwMode="auto">
          <a:xfrm>
            <a:off x="2230438" y="3539492"/>
            <a:ext cx="841375"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C00000"/>
                </a:solidFill>
                <a:effectLst/>
                <a:uLnTx/>
                <a:uFillTx/>
                <a:latin typeface="Arial" panose="020B0604020202020204" pitchFamily="34" charset="0"/>
                <a:ea typeface="黑体" panose="02010609060101010101" pitchFamily="49" charset="-122"/>
                <a:cs typeface="+mn-cs"/>
              </a:rPr>
              <a:t> </a:t>
            </a:r>
            <a:r>
              <a:rPr kumimoji="0" lang="zh-CN" altLang="en-US" sz="2000" b="1" i="0" u="none" strike="noStrike" kern="1200" cap="none" spc="0" normalizeH="0" baseline="0" noProof="0">
                <a:ln>
                  <a:noFill/>
                </a:ln>
                <a:solidFill>
                  <a:srgbClr val="C00000"/>
                </a:solidFill>
                <a:effectLst/>
                <a:uLnTx/>
                <a:uFillTx/>
                <a:latin typeface="Arial" panose="020B0604020202020204" pitchFamily="34" charset="0"/>
                <a:ea typeface="黑体" panose="02010609060101010101" pitchFamily="49" charset="-122"/>
                <a:cs typeface="+mn-cs"/>
              </a:rPr>
              <a:t>主机 </a:t>
            </a:r>
            <a:endParaRPr kumimoji="0" lang="en-US" altLang="zh-CN" sz="2000" b="1" i="0" u="none" strike="noStrike" kern="1200" cap="none" spc="0" normalizeH="0" baseline="0" noProof="0">
              <a:ln>
                <a:noFill/>
              </a:ln>
              <a:solidFill>
                <a:srgbClr val="C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a:ln>
                  <a:noFill/>
                </a:ln>
                <a:solidFill>
                  <a:srgbClr val="C00000"/>
                </a:solidFill>
                <a:effectLst/>
                <a:uLnTx/>
                <a:uFillTx/>
                <a:latin typeface="Arial" panose="020B0604020202020204" pitchFamily="34" charset="0"/>
                <a:ea typeface="黑体" panose="02010609060101010101" pitchFamily="49" charset="-122"/>
                <a:cs typeface="+mn-cs"/>
              </a:rPr>
              <a:t>H</a:t>
            </a:r>
            <a:r>
              <a:rPr kumimoji="0" lang="en-US" altLang="zh-CN" sz="2000" b="1" i="0" u="none" strike="noStrike" kern="1200" cap="none" spc="0" normalizeH="0" baseline="-25000" noProof="0">
                <a:ln>
                  <a:noFill/>
                </a:ln>
                <a:solidFill>
                  <a:srgbClr val="C00000"/>
                </a:solidFill>
                <a:effectLst/>
                <a:uLnTx/>
                <a:uFillTx/>
                <a:latin typeface="Arial" panose="020B0604020202020204" pitchFamily="34" charset="0"/>
                <a:ea typeface="黑体" panose="02010609060101010101" pitchFamily="49" charset="-122"/>
                <a:cs typeface="+mn-cs"/>
              </a:rPr>
              <a:t>2</a:t>
            </a:r>
          </a:p>
        </p:txBody>
      </p:sp>
      <p:grpSp>
        <p:nvGrpSpPr>
          <p:cNvPr id="715985" name="Group 209"/>
          <p:cNvGrpSpPr>
            <a:grpSpLocks/>
          </p:cNvGrpSpPr>
          <p:nvPr/>
        </p:nvGrpSpPr>
        <p:grpSpPr bwMode="auto">
          <a:xfrm>
            <a:off x="2130053" y="1059817"/>
            <a:ext cx="503263" cy="684212"/>
            <a:chOff x="431" y="1479"/>
            <a:chExt cx="317" cy="431"/>
          </a:xfrm>
        </p:grpSpPr>
        <p:sp>
          <p:nvSpPr>
            <p:cNvPr id="212" name="Line 210"/>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87" name="Picture 21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88" name="Group 212"/>
          <p:cNvGrpSpPr>
            <a:grpSpLocks/>
          </p:cNvGrpSpPr>
          <p:nvPr/>
        </p:nvGrpSpPr>
        <p:grpSpPr bwMode="auto">
          <a:xfrm>
            <a:off x="3138167" y="1061404"/>
            <a:ext cx="503262" cy="684213"/>
            <a:chOff x="431" y="1479"/>
            <a:chExt cx="317" cy="431"/>
          </a:xfrm>
        </p:grpSpPr>
        <p:sp>
          <p:nvSpPr>
            <p:cNvPr id="215" name="Line 213"/>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pic>
          <p:nvPicPr>
            <p:cNvPr id="715990" name="Picture 21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7" name="Text Box 215"/>
          <p:cNvSpPr txBox="1">
            <a:spLocks noChangeArrowheads="1"/>
          </p:cNvSpPr>
          <p:nvPr/>
        </p:nvSpPr>
        <p:spPr bwMode="auto">
          <a:xfrm>
            <a:off x="3195638" y="332742"/>
            <a:ext cx="46196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1</a:t>
            </a:r>
          </a:p>
        </p:txBody>
      </p:sp>
      <p:sp>
        <p:nvSpPr>
          <p:cNvPr id="218" name="Text Box 216"/>
          <p:cNvSpPr txBox="1">
            <a:spLocks noChangeArrowheads="1"/>
          </p:cNvSpPr>
          <p:nvPr/>
        </p:nvSpPr>
        <p:spPr bwMode="auto">
          <a:xfrm>
            <a:off x="8451850" y="2660017"/>
            <a:ext cx="4619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4</a:t>
            </a:r>
          </a:p>
        </p:txBody>
      </p:sp>
      <p:sp>
        <p:nvSpPr>
          <p:cNvPr id="219" name="Text Box 217"/>
          <p:cNvSpPr txBox="1">
            <a:spLocks noChangeArrowheads="1"/>
          </p:cNvSpPr>
          <p:nvPr/>
        </p:nvSpPr>
        <p:spPr bwMode="auto">
          <a:xfrm>
            <a:off x="4721225" y="2156779"/>
            <a:ext cx="4619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5</a:t>
            </a:r>
          </a:p>
        </p:txBody>
      </p:sp>
      <p:sp>
        <p:nvSpPr>
          <p:cNvPr id="220" name="Text Box 218"/>
          <p:cNvSpPr txBox="1">
            <a:spLocks noChangeArrowheads="1"/>
          </p:cNvSpPr>
          <p:nvPr/>
        </p:nvSpPr>
        <p:spPr bwMode="auto">
          <a:xfrm>
            <a:off x="5643563" y="332742"/>
            <a:ext cx="46196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2</a:t>
            </a:r>
          </a:p>
        </p:txBody>
      </p:sp>
      <p:sp>
        <p:nvSpPr>
          <p:cNvPr id="221" name="Text Box 219"/>
          <p:cNvSpPr txBox="1">
            <a:spLocks noChangeArrowheads="1"/>
          </p:cNvSpPr>
          <p:nvPr/>
        </p:nvSpPr>
        <p:spPr bwMode="auto">
          <a:xfrm>
            <a:off x="8235950" y="356554"/>
            <a:ext cx="4619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3</a:t>
            </a:r>
          </a:p>
        </p:txBody>
      </p:sp>
      <p:sp>
        <p:nvSpPr>
          <p:cNvPr id="226" name="Text Box 224"/>
          <p:cNvSpPr txBox="1">
            <a:spLocks noChangeArrowheads="1"/>
          </p:cNvSpPr>
          <p:nvPr/>
        </p:nvSpPr>
        <p:spPr bwMode="auto">
          <a:xfrm>
            <a:off x="5081588" y="2660017"/>
            <a:ext cx="46196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5</a:t>
            </a:r>
          </a:p>
        </p:txBody>
      </p:sp>
      <p:grpSp>
        <p:nvGrpSpPr>
          <p:cNvPr id="716002" name="Group 226"/>
          <p:cNvGrpSpPr>
            <a:grpSpLocks/>
          </p:cNvGrpSpPr>
          <p:nvPr/>
        </p:nvGrpSpPr>
        <p:grpSpPr bwMode="auto">
          <a:xfrm>
            <a:off x="7673881" y="1131254"/>
            <a:ext cx="1439935" cy="863600"/>
            <a:chOff x="385" y="2795"/>
            <a:chExt cx="1769" cy="816"/>
          </a:xfrm>
        </p:grpSpPr>
        <p:sp>
          <p:nvSpPr>
            <p:cNvPr id="229" name="Oval 227"/>
            <p:cNvSpPr>
              <a:spLocks noChangeArrowheads="1"/>
            </p:cNvSpPr>
            <p:nvPr/>
          </p:nvSpPr>
          <p:spPr bwMode="auto">
            <a:xfrm>
              <a:off x="1588" y="306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0" name="Oval 228"/>
            <p:cNvSpPr>
              <a:spLocks noChangeArrowheads="1"/>
            </p:cNvSpPr>
            <p:nvPr/>
          </p:nvSpPr>
          <p:spPr bwMode="auto">
            <a:xfrm>
              <a:off x="927" y="3274"/>
              <a:ext cx="885"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1" name="Oval 229"/>
            <p:cNvSpPr>
              <a:spLocks noChangeArrowheads="1"/>
            </p:cNvSpPr>
            <p:nvPr/>
          </p:nvSpPr>
          <p:spPr bwMode="auto">
            <a:xfrm>
              <a:off x="502" y="3205"/>
              <a:ext cx="585" cy="28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2" name="Oval 230"/>
            <p:cNvSpPr>
              <a:spLocks noChangeArrowheads="1"/>
            </p:cNvSpPr>
            <p:nvPr/>
          </p:nvSpPr>
          <p:spPr bwMode="auto">
            <a:xfrm>
              <a:off x="385" y="3085"/>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3" name="Oval 231"/>
            <p:cNvSpPr>
              <a:spLocks noChangeArrowheads="1"/>
            </p:cNvSpPr>
            <p:nvPr/>
          </p:nvSpPr>
          <p:spPr bwMode="auto">
            <a:xfrm>
              <a:off x="566" y="2884"/>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4" name="Oval 232"/>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5" name="Oval 233"/>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6" name="Oval 234"/>
            <p:cNvSpPr>
              <a:spLocks noChangeArrowheads="1"/>
            </p:cNvSpPr>
            <p:nvPr/>
          </p:nvSpPr>
          <p:spPr bwMode="auto">
            <a:xfrm>
              <a:off x="705" y="2987"/>
              <a:ext cx="1141" cy="41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7" name="Oval 235"/>
            <p:cNvSpPr>
              <a:spLocks noChangeArrowheads="1"/>
            </p:cNvSpPr>
            <p:nvPr/>
          </p:nvSpPr>
          <p:spPr bwMode="auto">
            <a:xfrm rot="1336630">
              <a:off x="1473" y="3067"/>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8" name="Oval 236"/>
            <p:cNvSpPr>
              <a:spLocks noChangeArrowheads="1"/>
            </p:cNvSpPr>
            <p:nvPr/>
          </p:nvSpPr>
          <p:spPr bwMode="auto">
            <a:xfrm>
              <a:off x="1003" y="2812"/>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39" name="Oval 237"/>
            <p:cNvSpPr>
              <a:spLocks noChangeArrowheads="1"/>
            </p:cNvSpPr>
            <p:nvPr/>
          </p:nvSpPr>
          <p:spPr bwMode="auto">
            <a:xfrm>
              <a:off x="576" y="2899"/>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0" name="Oval 238"/>
            <p:cNvSpPr>
              <a:spLocks noChangeArrowheads="1"/>
            </p:cNvSpPr>
            <p:nvPr/>
          </p:nvSpPr>
          <p:spPr bwMode="auto">
            <a:xfrm>
              <a:off x="397" y="3100"/>
              <a:ext cx="382"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1" name="Oval 239"/>
            <p:cNvSpPr>
              <a:spLocks noChangeArrowheads="1"/>
            </p:cNvSpPr>
            <p:nvPr/>
          </p:nvSpPr>
          <p:spPr bwMode="auto">
            <a:xfrm>
              <a:off x="1514" y="2908"/>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2" name="Oval 240"/>
            <p:cNvSpPr>
              <a:spLocks noChangeArrowheads="1"/>
            </p:cNvSpPr>
            <p:nvPr/>
          </p:nvSpPr>
          <p:spPr bwMode="auto">
            <a:xfrm>
              <a:off x="1598" y="3076"/>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3" name="Oval 241"/>
            <p:cNvSpPr>
              <a:spLocks noChangeArrowheads="1"/>
            </p:cNvSpPr>
            <p:nvPr/>
          </p:nvSpPr>
          <p:spPr bwMode="auto">
            <a:xfrm>
              <a:off x="715" y="3004"/>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4" name="Oval 242"/>
            <p:cNvSpPr>
              <a:spLocks noChangeArrowheads="1"/>
            </p:cNvSpPr>
            <p:nvPr/>
          </p:nvSpPr>
          <p:spPr bwMode="auto">
            <a:xfrm>
              <a:off x="514" y="3220"/>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245" name="Freeform 243"/>
            <p:cNvSpPr/>
            <p:nvPr/>
          </p:nvSpPr>
          <p:spPr bwMode="auto">
            <a:xfrm>
              <a:off x="566"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sp>
        <p:nvSpPr>
          <p:cNvPr id="246" name="Text Box 244"/>
          <p:cNvSpPr txBox="1">
            <a:spLocks noChangeArrowheads="1"/>
          </p:cNvSpPr>
          <p:nvPr/>
        </p:nvSpPr>
        <p:spPr bwMode="auto">
          <a:xfrm>
            <a:off x="8105775" y="2132967"/>
            <a:ext cx="4619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Arial"/>
                <a:ea typeface="黑体" panose="02010609060101010101" pitchFamily="2" charset="-122"/>
                <a:cs typeface="+mn-cs"/>
              </a:rPr>
              <a:t> R</a:t>
            </a:r>
            <a:r>
              <a:rPr kumimoji="0" lang="en-US" altLang="zh-CN" sz="1600" b="1" i="0" u="none" strike="noStrike" kern="0" cap="none" spc="0" normalizeH="0" baseline="-25000" noProof="0">
                <a:ln>
                  <a:noFill/>
                </a:ln>
                <a:solidFill>
                  <a:srgbClr val="000099"/>
                </a:solidFill>
                <a:effectLst/>
                <a:uLnTx/>
                <a:uFillTx/>
                <a:latin typeface="Arial"/>
                <a:ea typeface="黑体" panose="02010609060101010101" pitchFamily="2" charset="-122"/>
                <a:cs typeface="+mn-cs"/>
              </a:rPr>
              <a:t>4</a:t>
            </a:r>
          </a:p>
        </p:txBody>
      </p:sp>
      <p:sp>
        <p:nvSpPr>
          <p:cNvPr id="247" name="AutoShape 245"/>
          <p:cNvSpPr>
            <a:spLocks noChangeArrowheads="1"/>
          </p:cNvSpPr>
          <p:nvPr/>
        </p:nvSpPr>
        <p:spPr bwMode="auto">
          <a:xfrm>
            <a:off x="4364038" y="798324"/>
            <a:ext cx="1366837" cy="196540"/>
          </a:xfrm>
          <a:prstGeom prst="rightArrow">
            <a:avLst>
              <a:gd name="adj1" fmla="val 59778"/>
              <a:gd name="adj2" fmla="val 96979"/>
            </a:avLst>
          </a:prstGeom>
          <a:solidFill>
            <a:srgbClr val="FF9900"/>
          </a:solidFill>
          <a:ln w="9525">
            <a:solidFill>
              <a:srgbClr val="000000"/>
            </a:solidFill>
            <a:miter lim="800000"/>
          </a:ln>
          <a:effectLst/>
          <a:extLst/>
        </p:spPr>
        <p:txBody>
          <a:bodyPr wrap="none" anchor="ctr"/>
          <a:lstStyle/>
          <a:p>
            <a:pPr algn="ctr" fontAlgn="auto">
              <a:spcBef>
                <a:spcPts val="0"/>
              </a:spcBef>
              <a:spcAft>
                <a:spcPts val="0"/>
              </a:spcAft>
            </a:pPr>
            <a:endParaRPr lang="zh-CN" altLang="en-US" sz="1600" b="1" kern="0" dirty="0">
              <a:solidFill>
                <a:srgbClr val="000099"/>
              </a:solidFill>
              <a:latin typeface="Arial"/>
              <a:ea typeface="黑体" panose="02010609060101010101" pitchFamily="2" charset="-122"/>
            </a:endParaRPr>
          </a:p>
        </p:txBody>
      </p:sp>
      <p:sp>
        <p:nvSpPr>
          <p:cNvPr id="248" name="AutoShape 246"/>
          <p:cNvSpPr>
            <a:spLocks noChangeArrowheads="1"/>
          </p:cNvSpPr>
          <p:nvPr/>
        </p:nvSpPr>
        <p:spPr bwMode="auto">
          <a:xfrm>
            <a:off x="6665913" y="842329"/>
            <a:ext cx="1584325" cy="199496"/>
          </a:xfrm>
          <a:prstGeom prst="rightArrow">
            <a:avLst>
              <a:gd name="adj1" fmla="val 59778"/>
              <a:gd name="adj2" fmla="val 110567"/>
            </a:avLst>
          </a:prstGeom>
          <a:solidFill>
            <a:srgbClr val="FF9900"/>
          </a:solidFill>
          <a:ln w="9525">
            <a:solidFill>
              <a:srgbClr val="000000"/>
            </a:solidFill>
            <a:miter lim="800000"/>
          </a:ln>
          <a:effectLst/>
          <a:extLst/>
        </p:spPr>
        <p:txBody>
          <a:bodyPr wrap="none" anchor="ctr"/>
          <a:lstStyle/>
          <a:p>
            <a:pPr algn="ctr" fontAlgn="auto">
              <a:spcBef>
                <a:spcPts val="0"/>
              </a:spcBef>
              <a:spcAft>
                <a:spcPts val="0"/>
              </a:spcAft>
            </a:pPr>
            <a:endParaRPr lang="zh-CN" altLang="en-US" sz="1600" b="1" kern="0" dirty="0">
              <a:solidFill>
                <a:srgbClr val="000099"/>
              </a:solidFill>
              <a:latin typeface="Arial"/>
              <a:ea typeface="黑体" panose="02010609060101010101" pitchFamily="2" charset="-122"/>
            </a:endParaRPr>
          </a:p>
        </p:txBody>
      </p:sp>
      <p:sp>
        <p:nvSpPr>
          <p:cNvPr id="249" name="AutoShape 247"/>
          <p:cNvSpPr>
            <a:spLocks noChangeArrowheads="1"/>
          </p:cNvSpPr>
          <p:nvPr/>
        </p:nvSpPr>
        <p:spPr bwMode="auto">
          <a:xfrm>
            <a:off x="1912938" y="554991"/>
            <a:ext cx="1227137" cy="179387"/>
          </a:xfrm>
          <a:prstGeom prst="rightArrow">
            <a:avLst>
              <a:gd name="adj1" fmla="val 59778"/>
              <a:gd name="adj2" fmla="val 92053"/>
            </a:avLst>
          </a:prstGeom>
          <a:solidFill>
            <a:srgbClr val="FF9900"/>
          </a:solidFill>
          <a:ln w="9525">
            <a:solidFill>
              <a:srgbClr val="000000"/>
            </a:solidFill>
            <a:miter lim="800000"/>
          </a:ln>
          <a:effectLs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000099"/>
              </a:solidFill>
              <a:effectLst/>
              <a:uLnTx/>
              <a:uFillTx/>
              <a:latin typeface="Arial"/>
              <a:ea typeface="黑体" panose="02010609060101010101" pitchFamily="2" charset="-122"/>
              <a:cs typeface="+mn-cs"/>
            </a:endParaRPr>
          </a:p>
        </p:txBody>
      </p:sp>
      <p:sp>
        <p:nvSpPr>
          <p:cNvPr id="250" name="AutoShape 248"/>
          <p:cNvSpPr>
            <a:spLocks noChangeArrowheads="1"/>
          </p:cNvSpPr>
          <p:nvPr/>
        </p:nvSpPr>
        <p:spPr bwMode="auto">
          <a:xfrm rot="6744589" flipV="1">
            <a:off x="8195270" y="1311183"/>
            <a:ext cx="1368425" cy="243164"/>
          </a:xfrm>
          <a:prstGeom prst="rightArrow">
            <a:avLst>
              <a:gd name="adj1" fmla="val 59778"/>
              <a:gd name="adj2" fmla="val 102652"/>
            </a:avLst>
          </a:prstGeom>
          <a:solidFill>
            <a:srgbClr val="FF9900"/>
          </a:solidFill>
          <a:ln w="9525">
            <a:solidFill>
              <a:srgbClr val="000000"/>
            </a:solidFill>
            <a:miter lim="800000"/>
          </a:ln>
          <a:effectLst/>
          <a:extLst/>
        </p:spPr>
        <p:txBody>
          <a:bodyPr wrap="none" anchor="ctr"/>
          <a:lstStyle/>
          <a:p>
            <a:pPr algn="ctr" fontAlgn="auto">
              <a:spcBef>
                <a:spcPts val="0"/>
              </a:spcBef>
              <a:spcAft>
                <a:spcPts val="0"/>
              </a:spcAft>
            </a:pPr>
            <a:endParaRPr lang="zh-CN" altLang="en-US" sz="1600" b="1" kern="0" dirty="0">
              <a:solidFill>
                <a:srgbClr val="000099"/>
              </a:solidFill>
              <a:latin typeface="Arial"/>
              <a:ea typeface="黑体" panose="02010609060101010101" pitchFamily="2" charset="-122"/>
            </a:endParaRPr>
          </a:p>
        </p:txBody>
      </p:sp>
      <p:sp>
        <p:nvSpPr>
          <p:cNvPr id="251" name="AutoShape 249"/>
          <p:cNvSpPr>
            <a:spLocks noChangeArrowheads="1"/>
          </p:cNvSpPr>
          <p:nvPr/>
        </p:nvSpPr>
        <p:spPr bwMode="auto">
          <a:xfrm flipH="1">
            <a:off x="5946773" y="2355218"/>
            <a:ext cx="2016125" cy="199988"/>
          </a:xfrm>
          <a:prstGeom prst="rightArrow">
            <a:avLst>
              <a:gd name="adj1" fmla="val 59778"/>
              <a:gd name="adj2" fmla="val 151908"/>
            </a:avLst>
          </a:prstGeom>
          <a:solidFill>
            <a:srgbClr val="FF9900"/>
          </a:solidFill>
          <a:ln w="9525">
            <a:solidFill>
              <a:srgbClr val="000000"/>
            </a:solidFill>
            <a:miter lim="800000"/>
          </a:ln>
          <a:effectLst/>
          <a:extLst/>
        </p:spPr>
        <p:txBody>
          <a:bodyPr wrap="none" anchor="ctr"/>
          <a:lstStyle/>
          <a:p>
            <a:pPr algn="ctr" fontAlgn="auto">
              <a:spcBef>
                <a:spcPts val="0"/>
              </a:spcBef>
              <a:spcAft>
                <a:spcPts val="0"/>
              </a:spcAft>
            </a:pPr>
            <a:endParaRPr lang="zh-CN" altLang="en-US" sz="1600" b="1" kern="0" dirty="0">
              <a:solidFill>
                <a:srgbClr val="000099"/>
              </a:solidFill>
              <a:latin typeface="Arial"/>
              <a:ea typeface="黑体" panose="02010609060101010101" pitchFamily="2" charset="-122"/>
            </a:endParaRPr>
          </a:p>
        </p:txBody>
      </p:sp>
      <p:sp>
        <p:nvSpPr>
          <p:cNvPr id="252" name="AutoShape 250"/>
          <p:cNvSpPr>
            <a:spLocks noChangeArrowheads="1"/>
          </p:cNvSpPr>
          <p:nvPr/>
        </p:nvSpPr>
        <p:spPr bwMode="auto">
          <a:xfrm rot="20314671" flipH="1">
            <a:off x="3330905" y="2862897"/>
            <a:ext cx="1511300" cy="230182"/>
          </a:xfrm>
          <a:prstGeom prst="rightArrow">
            <a:avLst>
              <a:gd name="adj1" fmla="val 59778"/>
              <a:gd name="adj2" fmla="val 113871"/>
            </a:avLst>
          </a:prstGeom>
          <a:solidFill>
            <a:srgbClr val="FF9900"/>
          </a:solidFill>
          <a:ln w="9525">
            <a:solidFill>
              <a:srgbClr val="000000"/>
            </a:solidFill>
            <a:miter lim="800000"/>
          </a:ln>
          <a:effectLst/>
          <a:extLst/>
        </p:spPr>
        <p:txBody>
          <a:bodyPr wrap="none" anchor="ctr"/>
          <a:lstStyle/>
          <a:p>
            <a:pPr algn="ctr" fontAlgn="auto">
              <a:spcBef>
                <a:spcPts val="0"/>
              </a:spcBef>
              <a:spcAft>
                <a:spcPts val="0"/>
              </a:spcAft>
            </a:pPr>
            <a:endParaRPr lang="zh-CN" altLang="en-US" sz="1600" b="1" kern="0" dirty="0">
              <a:solidFill>
                <a:srgbClr val="000099"/>
              </a:solidFill>
              <a:latin typeface="Arial"/>
              <a:ea typeface="黑体" panose="02010609060101010101" pitchFamily="2" charset="-122"/>
            </a:endParaRPr>
          </a:p>
        </p:txBody>
      </p:sp>
      <p:sp>
        <p:nvSpPr>
          <p:cNvPr id="2" name="矩形 1"/>
          <p:cNvSpPr/>
          <p:nvPr/>
        </p:nvSpPr>
        <p:spPr>
          <a:xfrm>
            <a:off x="3121213" y="6030373"/>
            <a:ext cx="2438398" cy="587661"/>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lvl="0" algn="ctr">
              <a:lnSpc>
                <a:spcPct val="110000"/>
              </a:lnSpc>
              <a:spcBef>
                <a:spcPts val="600"/>
              </a:spcBef>
              <a:buClr>
                <a:srgbClr val="333399"/>
              </a:buClr>
              <a:buSzPct val="75000"/>
            </a:pPr>
            <a:r>
              <a:rPr lang="zh-CN" altLang="en-US" sz="3200" b="1" kern="0" dirty="0" smtClean="0">
                <a:solidFill>
                  <a:srgbClr val="C00000"/>
                </a:solidFill>
                <a:latin typeface="Arial"/>
                <a:ea typeface="黑体" panose="02010609060101010101" pitchFamily="49" charset="-122"/>
              </a:rPr>
              <a:t>大事化小</a:t>
            </a:r>
            <a:endParaRPr lang="zh-CN" altLang="en-US" sz="3200" b="1" kern="0" dirty="0">
              <a:solidFill>
                <a:srgbClr val="C00000"/>
              </a:solidFill>
              <a:latin typeface="Arial"/>
              <a:ea typeface="黑体" panose="02010609060101010101" pitchFamily="49" charset="-122"/>
            </a:endParaRPr>
          </a:p>
        </p:txBody>
      </p:sp>
      <p:pic>
        <p:nvPicPr>
          <p:cNvPr id="24" name="图片 23"/>
          <p:cNvPicPr>
            <a:picLocks noChangeAspect="1"/>
          </p:cNvPicPr>
          <p:nvPr/>
        </p:nvPicPr>
        <p:blipFill>
          <a:blip r:embed="rId8"/>
          <a:stretch>
            <a:fillRect/>
          </a:stretch>
        </p:blipFill>
        <p:spPr>
          <a:xfrm>
            <a:off x="7453490" y="3289890"/>
            <a:ext cx="1885950" cy="1619250"/>
          </a:xfrm>
          <a:prstGeom prst="rect">
            <a:avLst/>
          </a:prstGeom>
        </p:spPr>
      </p:pic>
      <p:sp>
        <p:nvSpPr>
          <p:cNvPr id="43" name="文本框 42"/>
          <p:cNvSpPr txBox="1"/>
          <p:nvPr/>
        </p:nvSpPr>
        <p:spPr>
          <a:xfrm>
            <a:off x="5841031" y="3040113"/>
            <a:ext cx="2094205" cy="646331"/>
          </a:xfrm>
          <a:prstGeom prst="rect">
            <a:avLst/>
          </a:prstGeom>
          <a:noFill/>
        </p:spPr>
        <p:txBody>
          <a:bodyPr wrap="square" rtlCol="0">
            <a:spAutoFit/>
          </a:bodyPr>
          <a:lstStyle/>
          <a:p>
            <a:r>
              <a:rPr lang="zh-CN" altLang="en-US" sz="3600" b="1" dirty="0" smtClean="0">
                <a:solidFill>
                  <a:srgbClr val="C00000"/>
                </a:solidFill>
              </a:rPr>
              <a:t>太难了！</a:t>
            </a:r>
            <a:endParaRPr lang="zh-CN" altLang="en-US" sz="3600" b="1" dirty="0">
              <a:solidFill>
                <a:srgbClr val="C00000"/>
              </a:solidFill>
            </a:endParaRPr>
          </a:p>
        </p:txBody>
      </p:sp>
      <p:sp>
        <p:nvSpPr>
          <p:cNvPr id="715904" name="虚尾箭头 715903"/>
          <p:cNvSpPr/>
          <p:nvPr/>
        </p:nvSpPr>
        <p:spPr bwMode="auto">
          <a:xfrm rot="5400000">
            <a:off x="3156685" y="4475469"/>
            <a:ext cx="2146855" cy="576048"/>
          </a:xfrm>
          <a:prstGeom prst="stripedRightArrow">
            <a:avLst/>
          </a:prstGeom>
          <a:solidFill>
            <a:srgbClr val="C0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FF"/>
              </a:solidFill>
              <a:effectLst/>
              <a:latin typeface="Arial" panose="020B0604020202020204" pitchFamily="34" charset="0"/>
            </a:endParaRPr>
          </a:p>
        </p:txBody>
      </p:sp>
      <p:sp>
        <p:nvSpPr>
          <p:cNvPr id="715905" name="十角星 715904"/>
          <p:cNvSpPr/>
          <p:nvPr/>
        </p:nvSpPr>
        <p:spPr bwMode="auto">
          <a:xfrm>
            <a:off x="1855791" y="4252428"/>
            <a:ext cx="1857372" cy="1796492"/>
          </a:xfrm>
          <a:prstGeom prst="star10">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rgbClr val="0000CC"/>
                </a:solidFill>
                <a:effectLst/>
              </a:rPr>
              <a:t>分层</a:t>
            </a:r>
            <a:endParaRPr kumimoji="0" lang="en-US" altLang="zh-CN" sz="2800" b="1" i="0" u="none" strike="noStrike" cap="none" normalizeH="0" baseline="0" dirty="0" smtClean="0">
              <a:ln>
                <a:noFill/>
              </a:ln>
              <a:solidFill>
                <a:srgbClr val="0000CC"/>
              </a:solidFill>
              <a:effectLst/>
            </a:endParaRPr>
          </a:p>
          <a:p>
            <a:pPr marL="0" marR="0" indent="0" algn="ctr" defTabSz="914400" rtl="0" eaLnBrk="0" fontAlgn="base" latinLnBrk="0" hangingPunct="0">
              <a:lnSpc>
                <a:spcPct val="100000"/>
              </a:lnSpc>
              <a:spcBef>
                <a:spcPct val="0"/>
              </a:spcBef>
              <a:spcAft>
                <a:spcPct val="0"/>
              </a:spcAft>
              <a:buClrTx/>
              <a:buSzTx/>
              <a:buFontTx/>
              <a:buNone/>
            </a:pPr>
            <a:r>
              <a:rPr lang="zh-CN" altLang="en-US" sz="2800" b="1" dirty="0">
                <a:solidFill>
                  <a:srgbClr val="0000CC"/>
                </a:solidFill>
              </a:rPr>
              <a:t>协作</a:t>
            </a:r>
            <a:endParaRPr kumimoji="0" lang="zh-CN" altLang="en-US" sz="2800" b="1" i="0" u="none" strike="noStrike" cap="none" normalizeH="0" baseline="0" dirty="0" smtClean="0">
              <a:ln>
                <a:noFill/>
              </a:ln>
              <a:solidFill>
                <a:srgbClr val="0000CC"/>
              </a:solidFill>
              <a:effectLst/>
            </a:endParaRPr>
          </a:p>
        </p:txBody>
      </p:sp>
      <p:sp>
        <p:nvSpPr>
          <p:cNvPr id="3" name="文本框 2"/>
          <p:cNvSpPr txBox="1"/>
          <p:nvPr/>
        </p:nvSpPr>
        <p:spPr>
          <a:xfrm>
            <a:off x="1714504" y="617962"/>
            <a:ext cx="648054" cy="923330"/>
          </a:xfrm>
          <a:prstGeom prst="rect">
            <a:avLst/>
          </a:prstGeom>
          <a:noFill/>
        </p:spPr>
        <p:txBody>
          <a:bodyPr wrap="square" rtlCol="0">
            <a:spAutoFit/>
          </a:bodyPr>
          <a:lstStyle/>
          <a:p>
            <a:r>
              <a:rPr lang="zh-CN" altLang="en-US" sz="5400" b="1" dirty="0" smtClean="0">
                <a:solidFill>
                  <a:srgbClr val="FF0000"/>
                </a:solidFill>
                <a:latin typeface="+mj-lt"/>
              </a:rPr>
              <a:t>？</a:t>
            </a:r>
            <a:endParaRPr lang="zh-CN" altLang="en-US" sz="5400" b="1" dirty="0">
              <a:solidFill>
                <a:srgbClr val="FF0000"/>
              </a:solidFill>
              <a:latin typeface="+mj-lt"/>
            </a:endParaRPr>
          </a:p>
        </p:txBody>
      </p:sp>
      <p:sp>
        <p:nvSpPr>
          <p:cNvPr id="253" name="文本框 252"/>
          <p:cNvSpPr txBox="1"/>
          <p:nvPr/>
        </p:nvSpPr>
        <p:spPr>
          <a:xfrm>
            <a:off x="2616473" y="612288"/>
            <a:ext cx="648054" cy="923330"/>
          </a:xfrm>
          <a:prstGeom prst="rect">
            <a:avLst/>
          </a:prstGeom>
          <a:noFill/>
        </p:spPr>
        <p:txBody>
          <a:bodyPr wrap="square" rtlCol="0">
            <a:spAutoFit/>
          </a:bodyPr>
          <a:lstStyle/>
          <a:p>
            <a:r>
              <a:rPr lang="zh-CN" altLang="en-US" sz="5400" b="1" dirty="0" smtClean="0">
                <a:solidFill>
                  <a:srgbClr val="FF0000"/>
                </a:solidFill>
                <a:latin typeface="+mj-lt"/>
              </a:rPr>
              <a:t>？</a:t>
            </a:r>
            <a:endParaRPr lang="zh-CN" altLang="en-US" sz="5400" b="1" dirty="0">
              <a:solidFill>
                <a:srgbClr val="FF0000"/>
              </a:solidFill>
              <a:latin typeface="+mj-lt"/>
            </a:endParaRPr>
          </a:p>
        </p:txBody>
      </p:sp>
      <p:sp>
        <p:nvSpPr>
          <p:cNvPr id="254" name="文本框 253"/>
          <p:cNvSpPr txBox="1"/>
          <p:nvPr/>
        </p:nvSpPr>
        <p:spPr>
          <a:xfrm>
            <a:off x="1425260" y="2876951"/>
            <a:ext cx="648054" cy="923330"/>
          </a:xfrm>
          <a:prstGeom prst="rect">
            <a:avLst/>
          </a:prstGeom>
          <a:noFill/>
        </p:spPr>
        <p:txBody>
          <a:bodyPr wrap="square" rtlCol="0">
            <a:spAutoFit/>
          </a:bodyPr>
          <a:lstStyle/>
          <a:p>
            <a:r>
              <a:rPr lang="zh-CN" altLang="en-US" sz="5400" b="1" dirty="0" smtClean="0">
                <a:solidFill>
                  <a:srgbClr val="FF0000"/>
                </a:solidFill>
                <a:latin typeface="+mj-lt"/>
              </a:rPr>
              <a:t>？</a:t>
            </a:r>
            <a:endParaRPr lang="zh-CN" altLang="en-US" sz="5400" b="1" dirty="0">
              <a:solidFill>
                <a:srgbClr val="FF0000"/>
              </a:solidFill>
              <a:latin typeface="+mj-lt"/>
            </a:endParaRPr>
          </a:p>
        </p:txBody>
      </p:sp>
      <p:sp>
        <p:nvSpPr>
          <p:cNvPr id="255" name="文本框 254"/>
          <p:cNvSpPr txBox="1"/>
          <p:nvPr/>
        </p:nvSpPr>
        <p:spPr>
          <a:xfrm>
            <a:off x="5141511" y="1070934"/>
            <a:ext cx="648054" cy="923330"/>
          </a:xfrm>
          <a:prstGeom prst="rect">
            <a:avLst/>
          </a:prstGeom>
          <a:noFill/>
        </p:spPr>
        <p:txBody>
          <a:bodyPr wrap="square" rtlCol="0">
            <a:spAutoFit/>
          </a:bodyPr>
          <a:lstStyle/>
          <a:p>
            <a:r>
              <a:rPr lang="zh-CN" altLang="en-US" sz="5400" b="1" dirty="0" smtClean="0">
                <a:solidFill>
                  <a:srgbClr val="FF0000"/>
                </a:solidFill>
                <a:latin typeface="+mj-lt"/>
              </a:rPr>
              <a:t>？</a:t>
            </a:r>
            <a:endParaRPr lang="zh-CN" altLang="en-US" sz="5400" b="1" dirty="0">
              <a:solidFill>
                <a:srgbClr val="FF0000"/>
              </a:solidFill>
              <a:latin typeface="+mj-lt"/>
            </a:endParaRPr>
          </a:p>
        </p:txBody>
      </p:sp>
      <p:sp>
        <p:nvSpPr>
          <p:cNvPr id="260" name="文本框 259"/>
          <p:cNvSpPr txBox="1"/>
          <p:nvPr/>
        </p:nvSpPr>
        <p:spPr>
          <a:xfrm>
            <a:off x="161955" y="1554186"/>
            <a:ext cx="648054" cy="923330"/>
          </a:xfrm>
          <a:prstGeom prst="rect">
            <a:avLst/>
          </a:prstGeom>
          <a:noFill/>
        </p:spPr>
        <p:txBody>
          <a:bodyPr wrap="square" rtlCol="0">
            <a:spAutoFit/>
          </a:bodyPr>
          <a:lstStyle/>
          <a:p>
            <a:r>
              <a:rPr lang="zh-CN" altLang="en-US" sz="5400" b="1" dirty="0" smtClean="0">
                <a:solidFill>
                  <a:srgbClr val="FF0000"/>
                </a:solidFill>
                <a:latin typeface="+mj-lt"/>
              </a:rPr>
              <a:t>？</a:t>
            </a:r>
            <a:endParaRPr lang="zh-CN" altLang="en-US" sz="5400" b="1" dirty="0">
              <a:solidFill>
                <a:srgbClr val="FF0000"/>
              </a:solidFill>
              <a:latin typeface="+mj-lt"/>
            </a:endParaRPr>
          </a:p>
        </p:txBody>
      </p:sp>
      <p:grpSp>
        <p:nvGrpSpPr>
          <p:cNvPr id="13" name="组合 12"/>
          <p:cNvGrpSpPr/>
          <p:nvPr/>
        </p:nvGrpSpPr>
        <p:grpSpPr>
          <a:xfrm>
            <a:off x="482394" y="1005659"/>
            <a:ext cx="918124" cy="1263270"/>
            <a:chOff x="482394" y="1268820"/>
            <a:chExt cx="918124" cy="1263270"/>
          </a:xfrm>
        </p:grpSpPr>
        <p:pic>
          <p:nvPicPr>
            <p:cNvPr id="256" name="Picture 2" descr="https://gimg2.baidu.com/image_search/src=http%3A%2F%2Fi-1.lanrentuku.com%2F2020%2F11%2F5%2F36692b78-ebaa-4002-bc42-3d9964d9217d.png&amp;refer=http%3A%2F%2Fi-1.lanrentuku.com&amp;app=2002&amp;size=f9999,10000&amp;q=a80&amp;n=0&amp;g=0n&amp;fmt=auto?sec=1670544748&amp;t=929f1dd6b466af4d5de175d854c63d0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2394" y="1268820"/>
              <a:ext cx="572389" cy="572389"/>
            </a:xfrm>
            <a:prstGeom prst="rect">
              <a:avLst/>
            </a:prstGeom>
            <a:noFill/>
            <a:extLst>
              <a:ext uri="{909E8E84-426E-40DD-AFC4-6F175D3DCCD1}">
                <a14:hiddenFill xmlns:a14="http://schemas.microsoft.com/office/drawing/2010/main">
                  <a:solidFill>
                    <a:srgbClr val="FFFFFF"/>
                  </a:solidFill>
                </a14:hiddenFill>
              </a:ext>
            </a:extLst>
          </p:spPr>
        </p:pic>
        <p:pic>
          <p:nvPicPr>
            <p:cNvPr id="257" name="图片 256" descr="https://img2.baidu.com/it/u=1689139718,1536130278&amp;fm=253&amp;fmt=auto&amp;app=138&amp;f=JPEG?w=640&amp;h=320"/>
            <p:cNvPicPr/>
            <p:nvPr/>
          </p:nvPicPr>
          <p:blipFill rotWithShape="1">
            <a:blip r:embed="rId10" cstate="print">
              <a:extLst>
                <a:ext uri="{28A0092B-C50C-407E-A947-70E740481C1C}">
                  <a14:useLocalDpi xmlns:a14="http://schemas.microsoft.com/office/drawing/2010/main" val="0"/>
                </a:ext>
              </a:extLst>
            </a:blip>
            <a:srcRect l="31501" t="13163" r="31084" b="13843"/>
            <a:stretch/>
          </p:blipFill>
          <p:spPr bwMode="auto">
            <a:xfrm>
              <a:off x="690769" y="1772862"/>
              <a:ext cx="373907" cy="345793"/>
            </a:xfrm>
            <a:prstGeom prst="rect">
              <a:avLst/>
            </a:prstGeom>
            <a:noFill/>
            <a:ln>
              <a:noFill/>
            </a:ln>
            <a:extLst>
              <a:ext uri="{53640926-AAD7-44D8-BBD7-CCE9431645EC}">
                <a14:shadowObscured xmlns:a14="http://schemas.microsoft.com/office/drawing/2010/main"/>
              </a:ext>
            </a:extLst>
          </p:spPr>
        </p:pic>
        <p:pic>
          <p:nvPicPr>
            <p:cNvPr id="258" name="图片 257" descr="https://gimg2.baidu.com/image_search/src=http%3A%2F%2Fwww.d3sy.com%2Fd%2Ffile%2Fapp%2F20220417%2Fktlopkjx3wv.png&amp;refer=http%3A%2F%2Fwww.d3sy.com&amp;app=2002&amp;size=f9999,10000&amp;q=a80&amp;n=0&amp;g=0n&amp;fmt=auto?sec=1670544897&amp;t=9e06a93f3dec884a4a349bf81fcb2e99"/>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20664" y="2103207"/>
              <a:ext cx="479854" cy="428883"/>
            </a:xfrm>
            <a:prstGeom prst="rect">
              <a:avLst/>
            </a:prstGeom>
            <a:noFill/>
            <a:ln>
              <a:noFill/>
            </a:ln>
          </p:spPr>
        </p:pic>
        <p:cxnSp>
          <p:nvCxnSpPr>
            <p:cNvPr id="5" name="直接连接符 4"/>
            <p:cNvCxnSpPr>
              <a:stCxn id="256" idx="3"/>
              <a:endCxn id="715952" idx="1"/>
            </p:cNvCxnSpPr>
            <p:nvPr/>
          </p:nvCxnSpPr>
          <p:spPr bwMode="auto">
            <a:xfrm>
              <a:off x="1054783" y="1555015"/>
              <a:ext cx="283069" cy="108707"/>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8" name="直接连接符 7"/>
            <p:cNvCxnSpPr>
              <a:stCxn id="257" idx="3"/>
              <a:endCxn id="715952" idx="1"/>
            </p:cNvCxnSpPr>
            <p:nvPr/>
          </p:nvCxnSpPr>
          <p:spPr bwMode="auto">
            <a:xfrm flipV="1">
              <a:off x="1064676" y="1663722"/>
              <a:ext cx="273176" cy="282037"/>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 name="直接连接符 9"/>
            <p:cNvCxnSpPr>
              <a:stCxn id="258" idx="0"/>
              <a:endCxn id="715952" idx="1"/>
            </p:cNvCxnSpPr>
            <p:nvPr/>
          </p:nvCxnSpPr>
          <p:spPr bwMode="auto">
            <a:xfrm flipV="1">
              <a:off x="1160591" y="1663722"/>
              <a:ext cx="177261" cy="439485"/>
            </a:xfrm>
            <a:prstGeom prst="line">
              <a:avLst/>
            </a:prstGeom>
            <a:solidFill>
              <a:schemeClr val="accent1"/>
            </a:solidFill>
            <a:ln w="9525" cap="flat" cmpd="sng" algn="ctr">
              <a:solidFill>
                <a:schemeClr val="tx1"/>
              </a:solidFill>
              <a:prstDash val="solid"/>
              <a:round/>
              <a:headEnd type="none" w="med" len="med"/>
              <a:tailEnd type="none" w="med" len="med"/>
            </a:ln>
          </p:spPr>
        </p:cxnSp>
      </p:grpSp>
      <p:sp>
        <p:nvSpPr>
          <p:cNvPr id="261" name="十角星 260"/>
          <p:cNvSpPr/>
          <p:nvPr/>
        </p:nvSpPr>
        <p:spPr bwMode="auto">
          <a:xfrm>
            <a:off x="4727463" y="4178942"/>
            <a:ext cx="1769326" cy="1773644"/>
          </a:xfrm>
          <a:prstGeom prst="star10">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rgbClr val="0000CC"/>
                </a:solidFill>
                <a:effectLst/>
                <a:latin typeface="Arial" panose="020B0604020202020204" pitchFamily="34" charset="0"/>
              </a:rPr>
              <a:t>协议</a:t>
            </a:r>
            <a:endParaRPr kumimoji="0" lang="en-US" altLang="zh-CN" sz="2800" b="1" i="0" u="none" strike="noStrike" cap="none" normalizeH="0" baseline="0" dirty="0" smtClean="0">
              <a:ln>
                <a:noFill/>
              </a:ln>
              <a:solidFill>
                <a:srgbClr val="0000CC"/>
              </a:solidFill>
              <a:effectLst/>
              <a:latin typeface="Arial" panose="020B0604020202020204" pitchFamily="34" charset="0"/>
            </a:endParaRPr>
          </a:p>
          <a:p>
            <a:pPr marL="0" marR="0" indent="0" algn="ctr" defTabSz="914400" rtl="0" eaLnBrk="0" fontAlgn="base" latinLnBrk="0" hangingPunct="0">
              <a:lnSpc>
                <a:spcPct val="100000"/>
              </a:lnSpc>
              <a:spcBef>
                <a:spcPct val="0"/>
              </a:spcBef>
              <a:spcAft>
                <a:spcPct val="0"/>
              </a:spcAft>
              <a:buClrTx/>
              <a:buSzTx/>
              <a:buFontTx/>
              <a:buNone/>
            </a:pPr>
            <a:r>
              <a:rPr lang="zh-CN" altLang="en-US" sz="2800" b="1" dirty="0">
                <a:solidFill>
                  <a:srgbClr val="0000CC"/>
                </a:solidFill>
              </a:rPr>
              <a:t>规则</a:t>
            </a:r>
            <a:endParaRPr kumimoji="0" lang="zh-CN" altLang="en-US" sz="2800" b="1" i="0" u="none" strike="noStrike" cap="none" normalizeH="0" baseline="0" dirty="0" smtClean="0">
              <a:ln>
                <a:noFill/>
              </a:ln>
              <a:solidFill>
                <a:srgbClr val="0000CC"/>
              </a:solidFill>
              <a:effectLst/>
            </a:endParaRPr>
          </a:p>
        </p:txBody>
      </p:sp>
    </p:spTree>
    <p:custDataLst>
      <p:tags r:id="rId1"/>
    </p:custDataLst>
    <p:extLst>
      <p:ext uri="{BB962C8B-B14F-4D97-AF65-F5344CB8AC3E}">
        <p14:creationId xmlns:p14="http://schemas.microsoft.com/office/powerpoint/2010/main" val="1929918865"/>
      </p:ext>
    </p:extLst>
  </p:cSld>
  <p:clrMapOvr>
    <a:masterClrMapping/>
  </p:clrMapOvr>
  <mc:AlternateContent xmlns:mc="http://schemas.openxmlformats.org/markup-compatibility/2006" xmlns:p14="http://schemas.microsoft.com/office/powerpoint/2010/main">
    <mc:Choice Requires="p14">
      <p:transition spd="slow" p14:dur="2000" advTm="4712"/>
    </mc:Choice>
    <mc:Fallback xmlns="">
      <p:transition spd="slow" advTm="47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300"/>
                                  </p:stCondLst>
                                  <p:childTnLst>
                                    <p:set>
                                      <p:cBhvr>
                                        <p:cTn id="21" dur="1" fill="hold">
                                          <p:stCondLst>
                                            <p:cond delay="0"/>
                                          </p:stCondLst>
                                        </p:cTn>
                                        <p:tgtEl>
                                          <p:spTgt spid="247"/>
                                        </p:tgtEl>
                                        <p:attrNameLst>
                                          <p:attrName>style.visibility</p:attrName>
                                        </p:attrNameLst>
                                      </p:cBhvr>
                                      <p:to>
                                        <p:strVal val="visible"/>
                                      </p:to>
                                    </p:set>
                                  </p:childTnLst>
                                </p:cTn>
                              </p:par>
                            </p:childTnLst>
                          </p:cTn>
                        </p:par>
                        <p:par>
                          <p:cTn id="22" fill="hold">
                            <p:stCondLst>
                              <p:cond delay="300"/>
                            </p:stCondLst>
                            <p:childTnLst>
                              <p:par>
                                <p:cTn id="23" presetID="1" presetClass="entr" presetSubtype="0" fill="hold" grpId="0" nodeType="afterEffect">
                                  <p:stCondLst>
                                    <p:cond delay="300"/>
                                  </p:stCondLst>
                                  <p:childTnLst>
                                    <p:set>
                                      <p:cBhvr>
                                        <p:cTn id="24" dur="1" fill="hold">
                                          <p:stCondLst>
                                            <p:cond delay="0"/>
                                          </p:stCondLst>
                                        </p:cTn>
                                        <p:tgtEl>
                                          <p:spTgt spid="248"/>
                                        </p:tgtEl>
                                        <p:attrNameLst>
                                          <p:attrName>style.visibility</p:attrName>
                                        </p:attrNameLst>
                                      </p:cBhvr>
                                      <p:to>
                                        <p:strVal val="visible"/>
                                      </p:to>
                                    </p:set>
                                  </p:childTnLst>
                                </p:cTn>
                              </p:par>
                            </p:childTnLst>
                          </p:cTn>
                        </p:par>
                        <p:par>
                          <p:cTn id="25" fill="hold">
                            <p:stCondLst>
                              <p:cond delay="600"/>
                            </p:stCondLst>
                            <p:childTnLst>
                              <p:par>
                                <p:cTn id="26" presetID="1" presetClass="entr" presetSubtype="0" fill="hold" grpId="0" nodeType="afterEffect">
                                  <p:stCondLst>
                                    <p:cond delay="300"/>
                                  </p:stCondLst>
                                  <p:childTnLst>
                                    <p:set>
                                      <p:cBhvr>
                                        <p:cTn id="27" dur="1" fill="hold">
                                          <p:stCondLst>
                                            <p:cond delay="0"/>
                                          </p:stCondLst>
                                        </p:cTn>
                                        <p:tgtEl>
                                          <p:spTgt spid="250"/>
                                        </p:tgtEl>
                                        <p:attrNameLst>
                                          <p:attrName>style.visibility</p:attrName>
                                        </p:attrNameLst>
                                      </p:cBhvr>
                                      <p:to>
                                        <p:strVal val="visible"/>
                                      </p:to>
                                    </p:set>
                                  </p:childTnLst>
                                </p:cTn>
                              </p:par>
                            </p:childTnLst>
                          </p:cTn>
                        </p:par>
                        <p:par>
                          <p:cTn id="28" fill="hold">
                            <p:stCondLst>
                              <p:cond delay="900"/>
                            </p:stCondLst>
                            <p:childTnLst>
                              <p:par>
                                <p:cTn id="29" presetID="1" presetClass="entr" presetSubtype="0" fill="hold" grpId="0" nodeType="afterEffect">
                                  <p:stCondLst>
                                    <p:cond delay="300"/>
                                  </p:stCondLst>
                                  <p:childTnLst>
                                    <p:set>
                                      <p:cBhvr>
                                        <p:cTn id="30" dur="1" fill="hold">
                                          <p:stCondLst>
                                            <p:cond delay="0"/>
                                          </p:stCondLst>
                                        </p:cTn>
                                        <p:tgtEl>
                                          <p:spTgt spid="251"/>
                                        </p:tgtEl>
                                        <p:attrNameLst>
                                          <p:attrName>style.visibility</p:attrName>
                                        </p:attrNameLst>
                                      </p:cBhvr>
                                      <p:to>
                                        <p:strVal val="visible"/>
                                      </p:to>
                                    </p:set>
                                  </p:childTnLst>
                                </p:cTn>
                              </p:par>
                            </p:childTnLst>
                          </p:cTn>
                        </p:par>
                        <p:par>
                          <p:cTn id="31" fill="hold">
                            <p:stCondLst>
                              <p:cond delay="1200"/>
                            </p:stCondLst>
                            <p:childTnLst>
                              <p:par>
                                <p:cTn id="32" presetID="1" presetClass="entr" presetSubtype="0" fill="hold" grpId="0" nodeType="afterEffect">
                                  <p:stCondLst>
                                    <p:cond delay="0"/>
                                  </p:stCondLst>
                                  <p:childTnLst>
                                    <p:set>
                                      <p:cBhvr>
                                        <p:cTn id="33" dur="1" fill="hold">
                                          <p:stCondLst>
                                            <p:cond delay="0"/>
                                          </p:stCondLst>
                                        </p:cTn>
                                        <p:tgtEl>
                                          <p:spTgt spid="25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5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249"/>
                                          </p:stCondLst>
                                        </p:cTn>
                                        <p:tgtEl>
                                          <p:spTgt spid="26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500" fill="hold"/>
                                        <p:tgtEl>
                                          <p:spTgt spid="24"/>
                                        </p:tgtEl>
                                        <p:attrNameLst>
                                          <p:attrName>ppt_x</p:attrName>
                                        </p:attrNameLst>
                                      </p:cBhvr>
                                      <p:tavLst>
                                        <p:tav tm="0">
                                          <p:val>
                                            <p:strVal val="#ppt_x"/>
                                          </p:val>
                                        </p:tav>
                                        <p:tav tm="100000">
                                          <p:val>
                                            <p:strVal val="#ppt_x"/>
                                          </p:val>
                                        </p:tav>
                                      </p:tavLst>
                                    </p:anim>
                                    <p:anim calcmode="lin" valueType="num">
                                      <p:cBhvr additive="base">
                                        <p:cTn id="47" dur="500" fill="hold"/>
                                        <p:tgtEl>
                                          <p:spTgt spid="2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 calcmode="lin" valueType="num">
                                      <p:cBhvr additive="base">
                                        <p:cTn id="50" dur="500" fill="hold"/>
                                        <p:tgtEl>
                                          <p:spTgt spid="43"/>
                                        </p:tgtEl>
                                        <p:attrNameLst>
                                          <p:attrName>ppt_x</p:attrName>
                                        </p:attrNameLst>
                                      </p:cBhvr>
                                      <p:tavLst>
                                        <p:tav tm="0">
                                          <p:val>
                                            <p:strVal val="#ppt_x"/>
                                          </p:val>
                                        </p:tav>
                                        <p:tav tm="100000">
                                          <p:val>
                                            <p:strVal val="#ppt_x"/>
                                          </p:val>
                                        </p:tav>
                                      </p:tavLst>
                                    </p:anim>
                                    <p:anim calcmode="lin" valueType="num">
                                      <p:cBhvr additive="base">
                                        <p:cTn id="51"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15905"/>
                                        </p:tgtEl>
                                        <p:attrNameLst>
                                          <p:attrName>style.visibility</p:attrName>
                                        </p:attrNameLst>
                                      </p:cBhvr>
                                      <p:to>
                                        <p:strVal val="visible"/>
                                      </p:to>
                                    </p:set>
                                    <p:animEffect transition="in" filter="fade">
                                      <p:cBhvr>
                                        <p:cTn id="56" dur="1000"/>
                                        <p:tgtEl>
                                          <p:spTgt spid="715905"/>
                                        </p:tgtEl>
                                      </p:cBhvr>
                                    </p:animEffect>
                                    <p:anim calcmode="lin" valueType="num">
                                      <p:cBhvr>
                                        <p:cTn id="57" dur="1000" fill="hold"/>
                                        <p:tgtEl>
                                          <p:spTgt spid="715905"/>
                                        </p:tgtEl>
                                        <p:attrNameLst>
                                          <p:attrName>ppt_x</p:attrName>
                                        </p:attrNameLst>
                                      </p:cBhvr>
                                      <p:tavLst>
                                        <p:tav tm="0">
                                          <p:val>
                                            <p:strVal val="#ppt_x"/>
                                          </p:val>
                                        </p:tav>
                                        <p:tav tm="100000">
                                          <p:val>
                                            <p:strVal val="#ppt_x"/>
                                          </p:val>
                                        </p:tav>
                                      </p:tavLst>
                                    </p:anim>
                                    <p:anim calcmode="lin" valueType="num">
                                      <p:cBhvr>
                                        <p:cTn id="58" dur="1000" fill="hold"/>
                                        <p:tgtEl>
                                          <p:spTgt spid="715905"/>
                                        </p:tgtEl>
                                        <p:attrNameLst>
                                          <p:attrName>ppt_y</p:attrName>
                                        </p:attrNameLst>
                                      </p:cBhvr>
                                      <p:tavLst>
                                        <p:tav tm="0">
                                          <p:val>
                                            <p:strVal val="#ppt_y+.1"/>
                                          </p:val>
                                        </p:tav>
                                        <p:tav tm="100000">
                                          <p:val>
                                            <p:strVal val="#ppt_y"/>
                                          </p:val>
                                        </p:tav>
                                      </p:tavLst>
                                    </p:anim>
                                  </p:childTnLst>
                                </p:cTn>
                              </p:par>
                            </p:childTnLst>
                          </p:cTn>
                        </p:par>
                        <p:par>
                          <p:cTn id="59" fill="hold">
                            <p:stCondLst>
                              <p:cond delay="1000"/>
                            </p:stCondLst>
                            <p:childTnLst>
                              <p:par>
                                <p:cTn id="60" presetID="42" presetClass="entr" presetSubtype="0" fill="hold" grpId="0" nodeType="afterEffect">
                                  <p:stCondLst>
                                    <p:cond delay="0"/>
                                  </p:stCondLst>
                                  <p:childTnLst>
                                    <p:set>
                                      <p:cBhvr>
                                        <p:cTn id="61" dur="1" fill="hold">
                                          <p:stCondLst>
                                            <p:cond delay="0"/>
                                          </p:stCondLst>
                                        </p:cTn>
                                        <p:tgtEl>
                                          <p:spTgt spid="261"/>
                                        </p:tgtEl>
                                        <p:attrNameLst>
                                          <p:attrName>style.visibility</p:attrName>
                                        </p:attrNameLst>
                                      </p:cBhvr>
                                      <p:to>
                                        <p:strVal val="visible"/>
                                      </p:to>
                                    </p:set>
                                    <p:animEffect transition="in" filter="fade">
                                      <p:cBhvr>
                                        <p:cTn id="62" dur="1000"/>
                                        <p:tgtEl>
                                          <p:spTgt spid="261"/>
                                        </p:tgtEl>
                                      </p:cBhvr>
                                    </p:animEffect>
                                    <p:anim calcmode="lin" valueType="num">
                                      <p:cBhvr>
                                        <p:cTn id="63" dur="1000" fill="hold"/>
                                        <p:tgtEl>
                                          <p:spTgt spid="261"/>
                                        </p:tgtEl>
                                        <p:attrNameLst>
                                          <p:attrName>ppt_x</p:attrName>
                                        </p:attrNameLst>
                                      </p:cBhvr>
                                      <p:tavLst>
                                        <p:tav tm="0">
                                          <p:val>
                                            <p:strVal val="#ppt_x"/>
                                          </p:val>
                                        </p:tav>
                                        <p:tav tm="100000">
                                          <p:val>
                                            <p:strVal val="#ppt_x"/>
                                          </p:val>
                                        </p:tav>
                                      </p:tavLst>
                                    </p:anim>
                                    <p:anim calcmode="lin" valueType="num">
                                      <p:cBhvr>
                                        <p:cTn id="64" dur="1000" fill="hold"/>
                                        <p:tgtEl>
                                          <p:spTgt spid="261"/>
                                        </p:tgtEl>
                                        <p:attrNameLst>
                                          <p:attrName>ppt_y</p:attrName>
                                        </p:attrNameLst>
                                      </p:cBhvr>
                                      <p:tavLst>
                                        <p:tav tm="0">
                                          <p:val>
                                            <p:strVal val="#ppt_y+.1"/>
                                          </p:val>
                                        </p:tav>
                                        <p:tav tm="100000">
                                          <p:val>
                                            <p:strVal val="#ppt_y"/>
                                          </p:val>
                                        </p:tav>
                                      </p:tavLst>
                                    </p:anim>
                                  </p:childTnLst>
                                </p:cTn>
                              </p:par>
                            </p:childTnLst>
                          </p:cTn>
                        </p:par>
                        <p:par>
                          <p:cTn id="65" fill="hold">
                            <p:stCondLst>
                              <p:cond delay="2000"/>
                            </p:stCondLst>
                            <p:childTnLst>
                              <p:par>
                                <p:cTn id="66" presetID="1" presetClass="entr" presetSubtype="0" fill="hold" grpId="0" nodeType="afterEffect">
                                  <p:stCondLst>
                                    <p:cond delay="0"/>
                                  </p:stCondLst>
                                  <p:childTnLst>
                                    <p:set>
                                      <p:cBhvr>
                                        <p:cTn id="67" dur="1" fill="hold">
                                          <p:stCondLst>
                                            <p:cond delay="0"/>
                                          </p:stCondLst>
                                        </p:cTn>
                                        <p:tgtEl>
                                          <p:spTgt spid="715904"/>
                                        </p:tgtEl>
                                        <p:attrNameLst>
                                          <p:attrName>style.visibility</p:attrName>
                                        </p:attrNameLst>
                                      </p:cBhvr>
                                      <p:to>
                                        <p:strVal val="visible"/>
                                      </p:to>
                                    </p:set>
                                  </p:childTnLst>
                                </p:cTn>
                              </p:par>
                            </p:childTnLst>
                          </p:cTn>
                        </p:par>
                        <p:par>
                          <p:cTn id="68" fill="hold">
                            <p:stCondLst>
                              <p:cond delay="2000"/>
                            </p:stCondLst>
                            <p:childTnLst>
                              <p:par>
                                <p:cTn id="69" presetID="16" presetClass="entr" presetSubtype="21" fill="hold" grpId="0" nodeType="after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barn(inVertical)">
                                      <p:cBhvr>
                                        <p:cTn id="7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animBg="1"/>
      <p:bldP spid="248" grpId="0" animBg="1"/>
      <p:bldP spid="249" grpId="0" animBg="1"/>
      <p:bldP spid="250" grpId="0" animBg="1"/>
      <p:bldP spid="251" grpId="0" animBg="1"/>
      <p:bldP spid="252" grpId="0" animBg="1"/>
      <p:bldP spid="2" grpId="0" animBg="1"/>
      <p:bldP spid="43" grpId="0"/>
      <p:bldP spid="715904" grpId="0" animBg="1"/>
      <p:bldP spid="715905" grpId="0" animBg="1"/>
      <p:bldP spid="3" grpId="0"/>
      <p:bldP spid="253" grpId="0"/>
      <p:bldP spid="254" grpId="0"/>
      <p:bldP spid="255" grpId="0"/>
      <p:bldP spid="260" grpId="0"/>
      <p:bldP spid="26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ChangeArrowheads="1"/>
          </p:cNvSpPr>
          <p:nvPr>
            <p:ph type="title"/>
          </p:nvPr>
        </p:nvSpPr>
        <p:spPr/>
        <p:txBody>
          <a:bodyPr/>
          <a:lstStyle/>
          <a:p>
            <a:pPr algn="ctr"/>
            <a:r>
              <a:rPr lang="zh-CN" altLang="en-US" dirty="0" smtClean="0">
                <a:ea typeface="黑体" panose="02010609060101010101" pitchFamily="49" charset="-122"/>
              </a:rPr>
              <a:t>五层协议的体系结构 </a:t>
            </a:r>
          </a:p>
        </p:txBody>
      </p:sp>
      <p:sp>
        <p:nvSpPr>
          <p:cNvPr id="192515" name="Text Box 4"/>
          <p:cNvSpPr txBox="1">
            <a:spLocks noChangeArrowheads="1"/>
          </p:cNvSpPr>
          <p:nvPr/>
        </p:nvSpPr>
        <p:spPr bwMode="auto">
          <a:xfrm>
            <a:off x="2255086" y="3381783"/>
            <a:ext cx="1211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数据链路层</a:t>
            </a:r>
          </a:p>
        </p:txBody>
      </p:sp>
      <p:grpSp>
        <p:nvGrpSpPr>
          <p:cNvPr id="192516" name="Group 5"/>
          <p:cNvGrpSpPr>
            <a:grpSpLocks/>
          </p:cNvGrpSpPr>
          <p:nvPr/>
        </p:nvGrpSpPr>
        <p:grpSpPr bwMode="auto">
          <a:xfrm>
            <a:off x="1983624" y="1268820"/>
            <a:ext cx="2079625" cy="3240088"/>
            <a:chOff x="673" y="1389"/>
            <a:chExt cx="1535" cy="2041"/>
          </a:xfrm>
        </p:grpSpPr>
        <p:sp>
          <p:nvSpPr>
            <p:cNvPr id="192517"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8" name="Freeform 7"/>
            <p:cNvSpPr>
              <a:spLocks noChangeArrowheads="1"/>
            </p:cNvSpPr>
            <p:nvPr/>
          </p:nvSpPr>
          <p:spPr bwMode="auto">
            <a:xfrm>
              <a:off x="673" y="292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9" name="Freeform 8"/>
            <p:cNvSpPr>
              <a:spLocks noChangeArrowheads="1"/>
            </p:cNvSpPr>
            <p:nvPr/>
          </p:nvSpPr>
          <p:spPr bwMode="auto">
            <a:xfrm>
              <a:off x="673" y="253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0" name="Freeform 9"/>
            <p:cNvSpPr>
              <a:spLocks noChangeArrowheads="1"/>
            </p:cNvSpPr>
            <p:nvPr/>
          </p:nvSpPr>
          <p:spPr bwMode="auto">
            <a:xfrm>
              <a:off x="673" y="2147"/>
              <a:ext cx="1535"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1" name="Freeform 10"/>
            <p:cNvSpPr>
              <a:spLocks noChangeArrowheads="1"/>
            </p:cNvSpPr>
            <p:nvPr/>
          </p:nvSpPr>
          <p:spPr bwMode="auto">
            <a:xfrm>
              <a:off x="673" y="1765"/>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14699" name="Text Box 11"/>
          <p:cNvSpPr txBox="1">
            <a:spLocks noChangeArrowheads="1"/>
          </p:cNvSpPr>
          <p:nvPr/>
        </p:nvSpPr>
        <p:spPr bwMode="auto">
          <a:xfrm>
            <a:off x="1640724" y="1556158"/>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solidFill>
                  <a:srgbClr val="000099"/>
                </a:solidFill>
                <a:ea typeface="黑体" panose="02010609060101010101" pitchFamily="49" charset="-122"/>
              </a:rPr>
              <a:t>5      </a:t>
            </a:r>
            <a:r>
              <a:rPr lang="zh-CN" altLang="en-US" sz="2000" b="1" dirty="0" smtClean="0">
                <a:solidFill>
                  <a:srgbClr val="000099"/>
                </a:solidFill>
                <a:ea typeface="黑体" panose="02010609060101010101" pitchFamily="49" charset="-122"/>
              </a:rPr>
              <a:t>应用层协议</a:t>
            </a:r>
            <a:endParaRPr lang="zh-CN" altLang="en-US" sz="2000" b="1" dirty="0">
              <a:solidFill>
                <a:srgbClr val="000099"/>
              </a:solidFill>
              <a:ea typeface="黑体" panose="02010609060101010101" pitchFamily="49" charset="-122"/>
            </a:endParaRPr>
          </a:p>
        </p:txBody>
      </p:sp>
      <p:sp>
        <p:nvSpPr>
          <p:cNvPr id="114700" name="Text Box 12"/>
          <p:cNvSpPr txBox="1">
            <a:spLocks noChangeArrowheads="1"/>
          </p:cNvSpPr>
          <p:nvPr/>
        </p:nvSpPr>
        <p:spPr bwMode="auto">
          <a:xfrm>
            <a:off x="1640724" y="2167345"/>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solidFill>
                  <a:srgbClr val="000099"/>
                </a:solidFill>
                <a:ea typeface="黑体" panose="02010609060101010101" pitchFamily="49" charset="-122"/>
              </a:rPr>
              <a:t>4     </a:t>
            </a:r>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运输层协议</a:t>
            </a:r>
            <a:endParaRPr lang="zh-CN" altLang="en-US" sz="2000" b="1" dirty="0">
              <a:solidFill>
                <a:srgbClr val="000099"/>
              </a:solidFill>
              <a:ea typeface="黑体" panose="02010609060101010101" pitchFamily="49" charset="-122"/>
            </a:endParaRPr>
          </a:p>
        </p:txBody>
      </p:sp>
      <p:sp>
        <p:nvSpPr>
          <p:cNvPr id="114701" name="Text Box 13"/>
          <p:cNvSpPr txBox="1">
            <a:spLocks noChangeArrowheads="1"/>
          </p:cNvSpPr>
          <p:nvPr/>
        </p:nvSpPr>
        <p:spPr bwMode="auto">
          <a:xfrm>
            <a:off x="1640724" y="2780120"/>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solidFill>
                  <a:srgbClr val="000099"/>
                </a:solidFill>
                <a:ea typeface="黑体" panose="02010609060101010101" pitchFamily="49" charset="-122"/>
              </a:rPr>
              <a:t>3      </a:t>
            </a:r>
            <a:r>
              <a:rPr lang="zh-CN" altLang="en-US" sz="2000" b="1" dirty="0" smtClean="0">
                <a:solidFill>
                  <a:srgbClr val="000099"/>
                </a:solidFill>
                <a:ea typeface="黑体" panose="02010609060101010101" pitchFamily="49" charset="-122"/>
              </a:rPr>
              <a:t>网络层协议</a:t>
            </a:r>
            <a:endParaRPr lang="zh-CN" altLang="en-US" sz="2000" b="1" dirty="0">
              <a:solidFill>
                <a:srgbClr val="000099"/>
              </a:solidFill>
              <a:ea typeface="黑体" panose="02010609060101010101" pitchFamily="49" charset="-122"/>
            </a:endParaRPr>
          </a:p>
        </p:txBody>
      </p:sp>
      <p:sp>
        <p:nvSpPr>
          <p:cNvPr id="114702" name="Text Box 14"/>
          <p:cNvSpPr txBox="1">
            <a:spLocks noChangeArrowheads="1"/>
          </p:cNvSpPr>
          <p:nvPr/>
        </p:nvSpPr>
        <p:spPr bwMode="auto">
          <a:xfrm>
            <a:off x="1640724" y="3392895"/>
            <a:ext cx="22749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solidFill>
                  <a:srgbClr val="000099"/>
                </a:solidFill>
                <a:ea typeface="黑体" panose="02010609060101010101" pitchFamily="49" charset="-122"/>
              </a:rPr>
              <a:t>2  </a:t>
            </a:r>
            <a:r>
              <a:rPr lang="zh-CN" altLang="en-US" sz="2000" b="1" dirty="0" smtClean="0">
                <a:solidFill>
                  <a:srgbClr val="000099"/>
                </a:solidFill>
                <a:ea typeface="黑体" panose="02010609060101010101" pitchFamily="49" charset="-122"/>
              </a:rPr>
              <a:t>数据链路层协议</a:t>
            </a:r>
            <a:endParaRPr lang="zh-CN" altLang="en-US" sz="2000" b="1" dirty="0">
              <a:solidFill>
                <a:srgbClr val="000099"/>
              </a:solidFill>
              <a:ea typeface="黑体" panose="02010609060101010101" pitchFamily="49" charset="-122"/>
            </a:endParaRPr>
          </a:p>
        </p:txBody>
      </p:sp>
      <p:sp>
        <p:nvSpPr>
          <p:cNvPr id="114703" name="Text Box 15"/>
          <p:cNvSpPr txBox="1">
            <a:spLocks noChangeArrowheads="1"/>
          </p:cNvSpPr>
          <p:nvPr/>
        </p:nvSpPr>
        <p:spPr bwMode="auto">
          <a:xfrm>
            <a:off x="1640724" y="4005670"/>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solidFill>
                  <a:srgbClr val="000099"/>
                </a:solidFill>
                <a:ea typeface="黑体" panose="02010609060101010101" pitchFamily="49" charset="-122"/>
              </a:rPr>
              <a:t>1     </a:t>
            </a:r>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物理层协议</a:t>
            </a:r>
            <a:endParaRPr lang="zh-CN" altLang="en-US" sz="2000" b="1" dirty="0">
              <a:solidFill>
                <a:srgbClr val="000099"/>
              </a:solidFill>
              <a:ea typeface="黑体" panose="02010609060101010101" pitchFamily="49" charset="-122"/>
            </a:endParaRPr>
          </a:p>
        </p:txBody>
      </p:sp>
      <p:sp>
        <p:nvSpPr>
          <p:cNvPr id="114691" name="Rectangle 3"/>
          <p:cNvSpPr>
            <a:spLocks noGrp="1" noChangeArrowheads="1"/>
          </p:cNvSpPr>
          <p:nvPr>
            <p:ph type="body" idx="4294967295"/>
          </p:nvPr>
        </p:nvSpPr>
        <p:spPr>
          <a:xfrm>
            <a:off x="3775225" y="1340901"/>
            <a:ext cx="5053109" cy="3167062"/>
          </a:xfrm>
        </p:spPr>
        <p:txBody>
          <a:bodyPr/>
          <a:lstStyle/>
          <a:p>
            <a:pPr>
              <a:lnSpc>
                <a:spcPct val="125000"/>
              </a:lnSpc>
              <a:buFont typeface="Wingdings" panose="05000000000000000000" pitchFamily="2" charset="2"/>
              <a:buChar char="l"/>
            </a:pPr>
            <a:r>
              <a:rPr lang="zh-CN" altLang="en-US" sz="2800" dirty="0" smtClean="0">
                <a:ea typeface="黑体" panose="02010609060101010101" pitchFamily="49" charset="-122"/>
              </a:rPr>
              <a:t>应用层 </a:t>
            </a:r>
            <a:r>
              <a:rPr lang="en-US" altLang="zh-CN" sz="2800" dirty="0" smtClean="0">
                <a:ea typeface="黑体" panose="02010609060101010101" pitchFamily="49" charset="-122"/>
              </a:rPr>
              <a:t>(application layer) </a:t>
            </a:r>
          </a:p>
          <a:p>
            <a:pPr>
              <a:lnSpc>
                <a:spcPct val="125000"/>
              </a:lnSpc>
              <a:buFont typeface="Wingdings" panose="05000000000000000000" pitchFamily="2" charset="2"/>
              <a:buChar char="l"/>
            </a:pPr>
            <a:r>
              <a:rPr lang="zh-CN" altLang="en-US" sz="2800" dirty="0" smtClean="0">
                <a:ea typeface="黑体" panose="02010609060101010101" pitchFamily="49" charset="-122"/>
              </a:rPr>
              <a:t>运输层 </a:t>
            </a:r>
            <a:r>
              <a:rPr lang="en-US" altLang="zh-CN" sz="2800" dirty="0" smtClean="0">
                <a:ea typeface="黑体" panose="02010609060101010101" pitchFamily="49" charset="-122"/>
              </a:rPr>
              <a:t>(transport layer) </a:t>
            </a:r>
          </a:p>
          <a:p>
            <a:pPr>
              <a:lnSpc>
                <a:spcPct val="125000"/>
              </a:lnSpc>
              <a:buFont typeface="Wingdings" panose="05000000000000000000" pitchFamily="2" charset="2"/>
              <a:buChar char="l"/>
            </a:pPr>
            <a:r>
              <a:rPr lang="zh-CN" altLang="en-US" sz="2800" dirty="0" smtClean="0">
                <a:ea typeface="黑体" panose="02010609060101010101" pitchFamily="49" charset="-122"/>
              </a:rPr>
              <a:t>网络层 </a:t>
            </a:r>
            <a:r>
              <a:rPr lang="en-US" altLang="zh-CN" sz="2800" dirty="0" smtClean="0">
                <a:ea typeface="黑体" panose="02010609060101010101" pitchFamily="49" charset="-122"/>
              </a:rPr>
              <a:t>(network layer) </a:t>
            </a:r>
          </a:p>
          <a:p>
            <a:pPr>
              <a:lnSpc>
                <a:spcPct val="125000"/>
              </a:lnSpc>
              <a:buFont typeface="Wingdings" panose="05000000000000000000" pitchFamily="2" charset="2"/>
              <a:buChar char="l"/>
            </a:pPr>
            <a:r>
              <a:rPr lang="zh-CN" altLang="en-US" sz="2800" dirty="0" smtClean="0">
                <a:ea typeface="黑体" panose="02010609060101010101" pitchFamily="49" charset="-122"/>
              </a:rPr>
              <a:t>数据链路层 </a:t>
            </a:r>
            <a:r>
              <a:rPr lang="en-US" altLang="zh-CN" sz="2800" dirty="0" smtClean="0">
                <a:ea typeface="黑体" panose="02010609060101010101" pitchFamily="49" charset="-122"/>
              </a:rPr>
              <a:t>(data link layer) </a:t>
            </a:r>
          </a:p>
          <a:p>
            <a:pPr>
              <a:lnSpc>
                <a:spcPct val="125000"/>
              </a:lnSpc>
              <a:buFont typeface="Wingdings" panose="05000000000000000000" pitchFamily="2" charset="2"/>
              <a:buChar char="l"/>
            </a:pPr>
            <a:r>
              <a:rPr lang="zh-CN" altLang="en-US" sz="2800" dirty="0" smtClean="0">
                <a:ea typeface="黑体" panose="02010609060101010101" pitchFamily="49" charset="-122"/>
              </a:rPr>
              <a:t>物理层 </a:t>
            </a:r>
            <a:r>
              <a:rPr lang="en-US" altLang="zh-CN" sz="2800" dirty="0" smtClean="0">
                <a:ea typeface="黑体" panose="02010609060101010101" pitchFamily="49" charset="-122"/>
              </a:rPr>
              <a:t>(physical layer) </a:t>
            </a:r>
          </a:p>
        </p:txBody>
      </p:sp>
      <p:sp>
        <p:nvSpPr>
          <p:cNvPr id="2" name="矩形 1"/>
          <p:cNvSpPr/>
          <p:nvPr/>
        </p:nvSpPr>
        <p:spPr>
          <a:xfrm>
            <a:off x="416623" y="4874723"/>
            <a:ext cx="9360780" cy="523220"/>
          </a:xfrm>
          <a:prstGeom prst="rect">
            <a:avLst/>
          </a:prstGeom>
          <a:solidFill>
            <a:schemeClr val="bg2">
              <a:lumMod val="20000"/>
              <a:lumOff val="80000"/>
            </a:schemeClr>
          </a:solidFill>
          <a:ln w="25400">
            <a:solidFill>
              <a:srgbClr val="0000FF"/>
            </a:solidFill>
          </a:ln>
        </p:spPr>
        <p:txBody>
          <a:bodyPr wrap="square">
            <a:spAutoFit/>
          </a:bodyPr>
          <a:lstStyle/>
          <a:p>
            <a:r>
              <a:rPr lang="zh-CN" altLang="en-US" sz="2800" b="1" dirty="0" smtClean="0">
                <a:solidFill>
                  <a:srgbClr val="C00000"/>
                </a:solidFill>
                <a:latin typeface="黑体" panose="02010609060101010101" pitchFamily="49" charset="-122"/>
                <a:ea typeface="黑体" panose="02010609060101010101" pitchFamily="49" charset="-122"/>
              </a:rPr>
              <a:t>网络协议</a:t>
            </a:r>
            <a:r>
              <a:rPr lang="zh-CN" altLang="en-US" sz="2800" b="1" dirty="0" smtClean="0">
                <a:latin typeface="黑体" panose="02010609060101010101" pitchFamily="49" charset="-122"/>
                <a:ea typeface="黑体" panose="02010609060101010101" pitchFamily="49" charset="-122"/>
              </a:rPr>
              <a:t>，简称</a:t>
            </a:r>
            <a:r>
              <a:rPr lang="zh-CN" altLang="en-US" sz="2800" b="1" dirty="0" smtClean="0">
                <a:solidFill>
                  <a:srgbClr val="C00000"/>
                </a:solidFill>
                <a:latin typeface="黑体" panose="02010609060101010101" pitchFamily="49" charset="-122"/>
                <a:ea typeface="黑体" panose="02010609060101010101" pitchFamily="49" charset="-122"/>
              </a:rPr>
              <a:t>协议</a:t>
            </a:r>
            <a:r>
              <a:rPr lang="zh-CN" altLang="en-US" sz="2800" b="1" dirty="0" smtClean="0">
                <a:latin typeface="黑体" panose="02010609060101010101" pitchFamily="49" charset="-122"/>
                <a:ea typeface="黑体" panose="02010609060101010101" pitchFamily="49" charset="-122"/>
              </a:rPr>
              <a:t>，数据交换的规则</a:t>
            </a:r>
            <a:r>
              <a:rPr lang="zh-CN" altLang="en-US" sz="2800" b="1" dirty="0">
                <a:latin typeface="黑体" panose="02010609060101010101" pitchFamily="49" charset="-122"/>
                <a:ea typeface="黑体" panose="02010609060101010101" pitchFamily="49" charset="-122"/>
              </a:rPr>
              <a:t>、标准或是</a:t>
            </a:r>
            <a:r>
              <a:rPr lang="zh-CN" altLang="en-US" sz="2800" b="1" dirty="0" smtClean="0">
                <a:latin typeface="黑体" panose="02010609060101010101" pitchFamily="49" charset="-122"/>
                <a:ea typeface="黑体" panose="02010609060101010101" pitchFamily="49" charset="-122"/>
              </a:rPr>
              <a:t>约定。</a:t>
            </a:r>
            <a:endParaRPr lang="zh-CN" altLang="en-US" sz="2800" b="1" dirty="0">
              <a:latin typeface="黑体" panose="02010609060101010101" pitchFamily="49" charset="-122"/>
              <a:ea typeface="黑体" panose="02010609060101010101" pitchFamily="49" charset="-122"/>
            </a:endParaRPr>
          </a:p>
        </p:txBody>
      </p:sp>
    </p:spTree>
    <p:custDataLst>
      <p:tags r:id="rId1"/>
    </p:custDataLst>
    <p:extLst>
      <p:ext uri="{BB962C8B-B14F-4D97-AF65-F5344CB8AC3E}">
        <p14:creationId xmlns:p14="http://schemas.microsoft.com/office/powerpoint/2010/main" val="496903009"/>
      </p:ext>
    </p:extLst>
  </p:cSld>
  <p:clrMapOvr>
    <a:masterClrMapping/>
  </p:clrMapOvr>
  <mc:AlternateContent xmlns:mc="http://schemas.openxmlformats.org/markup-compatibility/2006" xmlns:p14="http://schemas.microsoft.com/office/powerpoint/2010/main">
    <mc:Choice Requires="p14">
      <p:transition spd="slow" p14:dur="2000" advTm="4397"/>
    </mc:Choice>
    <mc:Fallback xmlns="">
      <p:transition spd="slow" advTm="439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4" end="4"/>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00"/>
                                  </p:stCondLst>
                                  <p:childTnLst>
                                    <p:set>
                                      <p:cBhvr>
                                        <p:cTn id="9" dur="1" fill="hold">
                                          <p:stCondLst>
                                            <p:cond delay="0"/>
                                          </p:stCondLst>
                                        </p:cTn>
                                        <p:tgtEl>
                                          <p:spTgt spid="11470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4691">
                                            <p:txEl>
                                              <p:pRg st="3" end="3"/>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200"/>
                                  </p:stCondLst>
                                  <p:childTnLst>
                                    <p:set>
                                      <p:cBhvr>
                                        <p:cTn id="16" dur="1" fill="hold">
                                          <p:stCondLst>
                                            <p:cond delay="0"/>
                                          </p:stCondLst>
                                        </p:cTn>
                                        <p:tgtEl>
                                          <p:spTgt spid="1147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200"/>
                                  </p:stCondLst>
                                  <p:childTnLst>
                                    <p:set>
                                      <p:cBhvr>
                                        <p:cTn id="23" dur="1" fill="hold">
                                          <p:stCondLst>
                                            <p:cond delay="0"/>
                                          </p:stCondLst>
                                        </p:cTn>
                                        <p:tgtEl>
                                          <p:spTgt spid="11470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4691">
                                            <p:txEl>
                                              <p:pRg st="1" end="1"/>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200"/>
                                  </p:stCondLst>
                                  <p:childTnLst>
                                    <p:set>
                                      <p:cBhvr>
                                        <p:cTn id="30" dur="1" fill="hold">
                                          <p:stCondLst>
                                            <p:cond delay="0"/>
                                          </p:stCondLst>
                                        </p:cTn>
                                        <p:tgtEl>
                                          <p:spTgt spid="1147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691">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200"/>
                                  </p:stCondLst>
                                  <p:childTnLst>
                                    <p:set>
                                      <p:cBhvr>
                                        <p:cTn id="37" dur="1" fill="hold">
                                          <p:stCondLst>
                                            <p:cond delay="0"/>
                                          </p:stCondLst>
                                        </p:cTn>
                                        <p:tgtEl>
                                          <p:spTgt spid="11469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arn(inVertic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9" grpId="0" uiExpand="1"/>
      <p:bldP spid="114700" grpId="0" uiExpand="1"/>
      <p:bldP spid="114701" grpId="0" uiExpand="1"/>
      <p:bldP spid="114702" grpId="0" uiExpand="1"/>
      <p:bldP spid="114703" grpId="0"/>
      <p:bldP spid="114691" grpId="0" uiExpand="1" build="p"/>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a:ea typeface="黑体" panose="02010609060101010101" pitchFamily="49" charset="-122"/>
              </a:rPr>
              <a:t>物理层</a:t>
            </a:r>
            <a:endParaRPr lang="zh-CN" altLang="en-US" dirty="0" smtClean="0">
              <a:ea typeface="黑体" panose="02010609060101010101" pitchFamily="49" charset="-122"/>
            </a:endParaRP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链路</a:t>
            </a:r>
            <a:endParaRPr lang="en-US" altLang="zh-CN" sz="2000" b="1" dirty="0">
              <a:solidFill>
                <a:srgbClr val="333399"/>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物理</a:t>
            </a:r>
            <a:endParaRPr lang="en-US" altLang="zh-CN" sz="2000" b="1" dirty="0">
              <a:solidFill>
                <a:srgbClr val="C00000"/>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链路</a:t>
            </a:r>
            <a:endParaRPr lang="en-US" altLang="zh-CN" sz="2000" b="1" dirty="0">
              <a:solidFill>
                <a:srgbClr val="333399"/>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物理</a:t>
            </a:r>
            <a:endParaRPr lang="en-US" altLang="zh-CN" sz="2000" b="1" dirty="0">
              <a:solidFill>
                <a:srgbClr val="C00000"/>
              </a:solidFill>
              <a:ea typeface="宋体" panose="02010600030101010101" pitchFamily="2" charset="-122"/>
            </a:endParaRPr>
          </a:p>
        </p:txBody>
      </p:sp>
      <p:pic>
        <p:nvPicPr>
          <p:cNvPr id="3" name="图片 2"/>
          <p:cNvPicPr>
            <a:picLocks noChangeAspect="1"/>
          </p:cNvPicPr>
          <p:nvPr/>
        </p:nvPicPr>
        <p:blipFill>
          <a:blip r:embed="rId4"/>
          <a:stretch>
            <a:fillRect/>
          </a:stretch>
        </p:blipFill>
        <p:spPr>
          <a:xfrm>
            <a:off x="1436436" y="5566120"/>
            <a:ext cx="7093202" cy="364360"/>
          </a:xfrm>
          <a:prstGeom prst="rect">
            <a:avLst/>
          </a:prstGeom>
        </p:spPr>
      </p:pic>
      <p:grpSp>
        <p:nvGrpSpPr>
          <p:cNvPr id="5" name="组合 4"/>
          <p:cNvGrpSpPr/>
          <p:nvPr/>
        </p:nvGrpSpPr>
        <p:grpSpPr>
          <a:xfrm>
            <a:off x="1506538" y="2801164"/>
            <a:ext cx="7055071" cy="370587"/>
            <a:chOff x="2061469" y="3067894"/>
            <a:chExt cx="7500044" cy="705070"/>
          </a:xfrm>
        </p:grpSpPr>
        <p:grpSp>
          <p:nvGrpSpPr>
            <p:cNvPr id="52" name="Group 66"/>
            <p:cNvGrpSpPr>
              <a:grpSpLocks/>
            </p:cNvGrpSpPr>
            <p:nvPr/>
          </p:nvGrpSpPr>
          <p:grpSpPr bwMode="auto">
            <a:xfrm>
              <a:off x="2063123" y="3067894"/>
              <a:ext cx="7498390" cy="705070"/>
              <a:chOff x="1260" y="3138"/>
              <a:chExt cx="4470" cy="192"/>
            </a:xfrm>
          </p:grpSpPr>
          <p:sp>
            <p:nvSpPr>
              <p:cNvPr id="53" name="Freeform 46"/>
              <p:cNvSpPr>
                <a:spLocks noChangeArrowheads="1"/>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4" name="Freeform 47"/>
              <p:cNvSpPr>
                <a:spLocks noChangeArrowheads="1"/>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5" name="Freeform 48"/>
              <p:cNvSpPr>
                <a:spLocks noChangeArrowheads="1"/>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6" name="Freeform 49"/>
              <p:cNvSpPr>
                <a:spLocks noChangeArrowheads="1"/>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7" name="Freeform 50"/>
              <p:cNvSpPr>
                <a:spLocks noChangeArrowheads="1"/>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8" name="Freeform 51"/>
              <p:cNvSpPr>
                <a:spLocks noChangeArrowheads="1"/>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9" name="Freeform 52"/>
              <p:cNvSpPr>
                <a:spLocks noChangeArrowheads="1"/>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60" name="Freeform 53"/>
              <p:cNvSpPr>
                <a:spLocks noChangeArrowheads="1"/>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61" name="Freeform 54"/>
              <p:cNvSpPr>
                <a:spLocks noChangeArrowheads="1"/>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62" name="Freeform 55"/>
              <p:cNvSpPr>
                <a:spLocks noChangeArrowheads="1"/>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cxnSp>
          <p:nvCxnSpPr>
            <p:cNvPr id="63" name="直接连接符 61"/>
            <p:cNvCxnSpPr>
              <a:cxnSpLocks noChangeShapeType="1"/>
            </p:cNvCxnSpPr>
            <p:nvPr/>
          </p:nvCxnSpPr>
          <p:spPr bwMode="auto">
            <a:xfrm>
              <a:off x="2061469" y="3423310"/>
              <a:ext cx="7494470" cy="0"/>
            </a:xfrm>
            <a:prstGeom prst="line">
              <a:avLst/>
            </a:prstGeom>
            <a:noFill/>
            <a:ln w="12700">
              <a:solidFill>
                <a:schemeClr val="tx1"/>
              </a:solidFill>
              <a:round/>
              <a:headEnd/>
              <a:tailEnd/>
            </a:ln>
          </p:spPr>
        </p:cxnSp>
      </p:grpSp>
      <p:grpSp>
        <p:nvGrpSpPr>
          <p:cNvPr id="65" name="组合 64"/>
          <p:cNvGrpSpPr/>
          <p:nvPr/>
        </p:nvGrpSpPr>
        <p:grpSpPr>
          <a:xfrm>
            <a:off x="1510717" y="2168620"/>
            <a:ext cx="7018921" cy="468314"/>
            <a:chOff x="1788214" y="1917700"/>
            <a:chExt cx="7773299" cy="1154114"/>
          </a:xfrm>
        </p:grpSpPr>
        <p:sp>
          <p:nvSpPr>
            <p:cNvPr id="66" name="Freeform 13"/>
            <p:cNvSpPr>
              <a:spLocks noChangeArrowheads="1"/>
            </p:cNvSpPr>
            <p:nvPr/>
          </p:nvSpPr>
          <p:spPr bwMode="auto">
            <a:xfrm>
              <a:off x="9415778" y="1917700"/>
              <a:ext cx="1719"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67" name="组合 3"/>
            <p:cNvGrpSpPr>
              <a:grpSpLocks/>
            </p:cNvGrpSpPr>
            <p:nvPr/>
          </p:nvGrpSpPr>
          <p:grpSpPr bwMode="auto">
            <a:xfrm>
              <a:off x="2000034" y="2219325"/>
              <a:ext cx="7401985" cy="852489"/>
              <a:chOff x="1856018" y="2290663"/>
              <a:chExt cx="7401984" cy="852489"/>
            </a:xfrm>
          </p:grpSpPr>
          <p:sp>
            <p:nvSpPr>
              <p:cNvPr id="69" name="Freeform 14"/>
              <p:cNvSpPr>
                <a:spLocks noChangeArrowheads="1"/>
              </p:cNvSpPr>
              <p:nvPr/>
            </p:nvSpPr>
            <p:spPr bwMode="auto">
              <a:xfrm>
                <a:off x="1856018" y="2735163"/>
                <a:ext cx="816901" cy="1588"/>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70" name="Freeform 15"/>
              <p:cNvSpPr>
                <a:spLocks noChangeArrowheads="1"/>
              </p:cNvSpPr>
              <p:nvPr/>
            </p:nvSpPr>
            <p:spPr bwMode="auto">
              <a:xfrm>
                <a:off x="3493260" y="2731989"/>
                <a:ext cx="1666478" cy="4763"/>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71" name="Line 16"/>
              <p:cNvSpPr>
                <a:spLocks noChangeShapeType="1"/>
              </p:cNvSpPr>
              <p:nvPr/>
            </p:nvSpPr>
            <p:spPr bwMode="auto">
              <a:xfrm>
                <a:off x="7629359" y="2735163"/>
                <a:ext cx="162864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72" name="Freeform 17"/>
              <p:cNvSpPr>
                <a:spLocks noChangeArrowheads="1"/>
              </p:cNvSpPr>
              <p:nvPr/>
            </p:nvSpPr>
            <p:spPr bwMode="auto">
              <a:xfrm>
                <a:off x="6803858" y="2297013"/>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73" name="Freeform 18"/>
              <p:cNvSpPr>
                <a:spLocks noChangeArrowheads="1"/>
              </p:cNvSpPr>
              <p:nvPr/>
            </p:nvSpPr>
            <p:spPr bwMode="auto">
              <a:xfrm>
                <a:off x="6860612" y="2301777"/>
                <a:ext cx="151342" cy="841375"/>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74" name="Freeform 19"/>
              <p:cNvSpPr>
                <a:spLocks noChangeArrowheads="1"/>
              </p:cNvSpPr>
              <p:nvPr/>
            </p:nvSpPr>
            <p:spPr bwMode="auto">
              <a:xfrm>
                <a:off x="700851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75" name="Freeform 20"/>
              <p:cNvSpPr>
                <a:spLocks noChangeArrowheads="1"/>
              </p:cNvSpPr>
              <p:nvPr/>
            </p:nvSpPr>
            <p:spPr bwMode="auto">
              <a:xfrm>
                <a:off x="7063547" y="2301777"/>
                <a:ext cx="144463" cy="841375"/>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76" name="Group 21"/>
              <p:cNvGrpSpPr>
                <a:grpSpLocks/>
              </p:cNvGrpSpPr>
              <p:nvPr/>
            </p:nvGrpSpPr>
            <p:grpSpPr bwMode="auto">
              <a:xfrm>
                <a:off x="7209730" y="2290663"/>
                <a:ext cx="202935" cy="847725"/>
                <a:chOff x="4075" y="1309"/>
                <a:chExt cx="118" cy="713"/>
              </a:xfrm>
            </p:grpSpPr>
            <p:sp>
              <p:nvSpPr>
                <p:cNvPr id="111" name="Freeform 22"/>
                <p:cNvSpPr>
                  <a:spLocks noChangeArrowheads="1"/>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12" name="Freeform 23"/>
                <p:cNvSpPr>
                  <a:spLocks noChangeArrowheads="1"/>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77" name="Freeform 24"/>
              <p:cNvSpPr>
                <a:spLocks noChangeArrowheads="1"/>
              </p:cNvSpPr>
              <p:nvPr/>
            </p:nvSpPr>
            <p:spPr bwMode="auto">
              <a:xfrm>
                <a:off x="7412665" y="2290663"/>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78" name="Freeform 25"/>
              <p:cNvSpPr>
                <a:spLocks noChangeArrowheads="1"/>
              </p:cNvSpPr>
              <p:nvPr/>
            </p:nvSpPr>
            <p:spPr bwMode="auto">
              <a:xfrm>
                <a:off x="7472858" y="2295427"/>
                <a:ext cx="142742" cy="841375"/>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79" name="Freeform 26"/>
              <p:cNvSpPr>
                <a:spLocks noChangeArrowheads="1"/>
              </p:cNvSpPr>
              <p:nvPr/>
            </p:nvSpPr>
            <p:spPr bwMode="auto">
              <a:xfrm>
                <a:off x="5986958"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0" name="Freeform 27"/>
              <p:cNvSpPr>
                <a:spLocks noChangeArrowheads="1"/>
              </p:cNvSpPr>
              <p:nvPr/>
            </p:nvSpPr>
            <p:spPr bwMode="auto">
              <a:xfrm>
                <a:off x="6043711"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1" name="Freeform 28"/>
              <p:cNvSpPr>
                <a:spLocks noChangeArrowheads="1"/>
              </p:cNvSpPr>
              <p:nvPr/>
            </p:nvSpPr>
            <p:spPr bwMode="auto">
              <a:xfrm>
                <a:off x="6191613"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2" name="Freeform 29"/>
              <p:cNvSpPr>
                <a:spLocks noChangeArrowheads="1"/>
              </p:cNvSpPr>
              <p:nvPr/>
            </p:nvSpPr>
            <p:spPr bwMode="auto">
              <a:xfrm>
                <a:off x="6246646" y="2301777"/>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83" name="Group 30"/>
              <p:cNvGrpSpPr>
                <a:grpSpLocks/>
              </p:cNvGrpSpPr>
              <p:nvPr/>
            </p:nvGrpSpPr>
            <p:grpSpPr bwMode="auto">
              <a:xfrm>
                <a:off x="6392829" y="2290663"/>
                <a:ext cx="407590" cy="847725"/>
                <a:chOff x="3600" y="1309"/>
                <a:chExt cx="237" cy="713"/>
              </a:xfrm>
            </p:grpSpPr>
            <p:grpSp>
              <p:nvGrpSpPr>
                <p:cNvPr id="105" name="Group 31"/>
                <p:cNvGrpSpPr>
                  <a:grpSpLocks/>
                </p:cNvGrpSpPr>
                <p:nvPr/>
              </p:nvGrpSpPr>
              <p:grpSpPr bwMode="auto">
                <a:xfrm>
                  <a:off x="3600" y="1309"/>
                  <a:ext cx="118" cy="713"/>
                  <a:chOff x="3600" y="1309"/>
                  <a:chExt cx="118" cy="713"/>
                </a:xfrm>
              </p:grpSpPr>
              <p:sp>
                <p:nvSpPr>
                  <p:cNvPr id="109" name="Freeform 32"/>
                  <p:cNvSpPr>
                    <a:spLocks noChangeArrowheads="1"/>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10" name="Freeform 33"/>
                  <p:cNvSpPr>
                    <a:spLocks noChangeArrowheads="1"/>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106" name="Group 34"/>
                <p:cNvGrpSpPr>
                  <a:grpSpLocks/>
                </p:cNvGrpSpPr>
                <p:nvPr/>
              </p:nvGrpSpPr>
              <p:grpSpPr bwMode="auto">
                <a:xfrm>
                  <a:off x="3718" y="1309"/>
                  <a:ext cx="119" cy="713"/>
                  <a:chOff x="3718" y="1309"/>
                  <a:chExt cx="119" cy="713"/>
                </a:xfrm>
              </p:grpSpPr>
              <p:sp>
                <p:nvSpPr>
                  <p:cNvPr id="107" name="Freeform 35"/>
                  <p:cNvSpPr>
                    <a:spLocks noChangeArrowheads="1"/>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08" name="Freeform 36"/>
                  <p:cNvSpPr>
                    <a:spLocks noChangeArrowheads="1"/>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84" name="Freeform 37"/>
              <p:cNvSpPr>
                <a:spLocks noChangeArrowheads="1"/>
              </p:cNvSpPr>
              <p:nvPr/>
            </p:nvSpPr>
            <p:spPr bwMode="auto">
              <a:xfrm>
                <a:off x="5154579"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5" name="Freeform 38"/>
              <p:cNvSpPr>
                <a:spLocks noChangeArrowheads="1"/>
              </p:cNvSpPr>
              <p:nvPr/>
            </p:nvSpPr>
            <p:spPr bwMode="auto">
              <a:xfrm>
                <a:off x="5211332" y="2301777"/>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6" name="Freeform 39"/>
              <p:cNvSpPr>
                <a:spLocks noChangeArrowheads="1"/>
              </p:cNvSpPr>
              <p:nvPr/>
            </p:nvSpPr>
            <p:spPr bwMode="auto">
              <a:xfrm>
                <a:off x="535923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87" name="Freeform 40"/>
              <p:cNvSpPr>
                <a:spLocks noChangeArrowheads="1"/>
              </p:cNvSpPr>
              <p:nvPr/>
            </p:nvSpPr>
            <p:spPr bwMode="auto">
              <a:xfrm>
                <a:off x="5414267"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88" name="Group 41"/>
              <p:cNvGrpSpPr>
                <a:grpSpLocks/>
              </p:cNvGrpSpPr>
              <p:nvPr/>
            </p:nvGrpSpPr>
            <p:grpSpPr bwMode="auto">
              <a:xfrm>
                <a:off x="5562169" y="2290663"/>
                <a:ext cx="201216" cy="847725"/>
                <a:chOff x="3117" y="1309"/>
                <a:chExt cx="117" cy="713"/>
              </a:xfrm>
            </p:grpSpPr>
            <p:sp>
              <p:nvSpPr>
                <p:cNvPr id="103" name="Freeform 42"/>
                <p:cNvSpPr>
                  <a:spLocks noChangeArrowheads="1"/>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04" name="Freeform 43"/>
                <p:cNvSpPr>
                  <a:spLocks noChangeArrowheads="1"/>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89" name="Freeform 44"/>
              <p:cNvSpPr>
                <a:spLocks noChangeArrowheads="1"/>
              </p:cNvSpPr>
              <p:nvPr/>
            </p:nvSpPr>
            <p:spPr bwMode="auto">
              <a:xfrm>
                <a:off x="5763385" y="2290663"/>
                <a:ext cx="60192"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90" name="Freeform 45"/>
              <p:cNvSpPr>
                <a:spLocks noChangeArrowheads="1"/>
              </p:cNvSpPr>
              <p:nvPr/>
            </p:nvSpPr>
            <p:spPr bwMode="auto">
              <a:xfrm>
                <a:off x="5823577" y="2295427"/>
                <a:ext cx="156502" cy="841375"/>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91" name="Group 157"/>
              <p:cNvGrpSpPr>
                <a:grpSpLocks/>
              </p:cNvGrpSpPr>
              <p:nvPr/>
            </p:nvGrpSpPr>
            <p:grpSpPr bwMode="auto">
              <a:xfrm>
                <a:off x="2676358" y="2298601"/>
                <a:ext cx="818621" cy="844550"/>
                <a:chOff x="1439" y="1316"/>
                <a:chExt cx="476" cy="711"/>
              </a:xfrm>
            </p:grpSpPr>
            <p:grpSp>
              <p:nvGrpSpPr>
                <p:cNvPr id="92" name="Group 158"/>
                <p:cNvGrpSpPr>
                  <a:grpSpLocks/>
                </p:cNvGrpSpPr>
                <p:nvPr/>
              </p:nvGrpSpPr>
              <p:grpSpPr bwMode="auto">
                <a:xfrm>
                  <a:off x="1439" y="1316"/>
                  <a:ext cx="239" cy="711"/>
                  <a:chOff x="1439" y="1316"/>
                  <a:chExt cx="239" cy="711"/>
                </a:xfrm>
              </p:grpSpPr>
              <p:sp>
                <p:nvSpPr>
                  <p:cNvPr id="99" name="Freeform 159"/>
                  <p:cNvSpPr>
                    <a:spLocks noChangeArrowheads="1"/>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00" name="Freeform 160"/>
                  <p:cNvSpPr>
                    <a:spLocks noChangeArrowheads="1"/>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01" name="Freeform 161"/>
                  <p:cNvSpPr>
                    <a:spLocks noChangeArrowheads="1"/>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102" name="Freeform 162"/>
                  <p:cNvSpPr>
                    <a:spLocks noChangeArrowheads="1"/>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solidFill>
                        <a:srgbClr val="C00000"/>
                      </a:solidFill>
                      <a:ea typeface="黑体" panose="02010609060101010101" pitchFamily="49" charset="-122"/>
                    </a:endParaRPr>
                  </a:p>
                </p:txBody>
              </p:sp>
            </p:grpSp>
            <p:grpSp>
              <p:nvGrpSpPr>
                <p:cNvPr id="93" name="Group 163"/>
                <p:cNvGrpSpPr>
                  <a:grpSpLocks/>
                </p:cNvGrpSpPr>
                <p:nvPr/>
              </p:nvGrpSpPr>
              <p:grpSpPr bwMode="auto">
                <a:xfrm>
                  <a:off x="1676" y="1316"/>
                  <a:ext cx="239" cy="711"/>
                  <a:chOff x="1676" y="1316"/>
                  <a:chExt cx="239" cy="711"/>
                </a:xfrm>
              </p:grpSpPr>
              <p:sp>
                <p:nvSpPr>
                  <p:cNvPr id="95" name="Freeform 164"/>
                  <p:cNvSpPr>
                    <a:spLocks noChangeArrowheads="1"/>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96" name="Freeform 165"/>
                  <p:cNvSpPr>
                    <a:spLocks noChangeArrowheads="1"/>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97" name="Freeform 166"/>
                  <p:cNvSpPr>
                    <a:spLocks noChangeArrowheads="1"/>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98" name="Freeform 167"/>
                  <p:cNvSpPr>
                    <a:spLocks noChangeArrowheads="1"/>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94" name="Line 168"/>
                <p:cNvSpPr>
                  <a:spLocks noChangeShapeType="1"/>
                </p:cNvSpPr>
                <p:nvPr/>
              </p:nvSpPr>
              <p:spPr bwMode="auto">
                <a:xfrm flipV="1">
                  <a:off x="1674" y="1661"/>
                  <a:ext cx="3" cy="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grpSp>
        </p:grpSp>
        <p:cxnSp>
          <p:nvCxnSpPr>
            <p:cNvPr id="68" name="直接连接符 175"/>
            <p:cNvCxnSpPr>
              <a:cxnSpLocks noChangeShapeType="1"/>
            </p:cNvCxnSpPr>
            <p:nvPr/>
          </p:nvCxnSpPr>
          <p:spPr bwMode="auto">
            <a:xfrm>
              <a:off x="1788214" y="2657475"/>
              <a:ext cx="7773299" cy="0"/>
            </a:xfrm>
            <a:prstGeom prst="line">
              <a:avLst/>
            </a:prstGeom>
            <a:noFill/>
            <a:ln w="12700">
              <a:solidFill>
                <a:schemeClr val="tx1"/>
              </a:solidFill>
              <a:round/>
              <a:headEnd/>
              <a:tailEnd/>
            </a:ln>
          </p:spPr>
        </p:cxnSp>
      </p:grpSp>
      <p:sp>
        <p:nvSpPr>
          <p:cNvPr id="6" name="左右箭头标注 5"/>
          <p:cNvSpPr/>
          <p:nvPr/>
        </p:nvSpPr>
        <p:spPr bwMode="auto">
          <a:xfrm>
            <a:off x="1506538" y="5038107"/>
            <a:ext cx="6971334" cy="479067"/>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zh-CN" sz="2800" dirty="0" smtClean="0">
                <a:solidFill>
                  <a:srgbClr val="C00000"/>
                </a:solidFill>
                <a:ea typeface="黑体" panose="02010609060101010101" pitchFamily="49" charset="-122"/>
              </a:rPr>
              <a:t>传输</a:t>
            </a:r>
            <a:r>
              <a:rPr lang="zh-CN" altLang="en-US" sz="2800" dirty="0" smtClean="0">
                <a:solidFill>
                  <a:srgbClr val="C00000"/>
                </a:solidFill>
                <a:ea typeface="黑体" panose="02010609060101010101" pitchFamily="49" charset="-122"/>
              </a:rPr>
              <a:t>媒体传输</a:t>
            </a:r>
            <a:r>
              <a:rPr lang="zh-CN" altLang="zh-CN" sz="2800" dirty="0" smtClean="0">
                <a:solidFill>
                  <a:srgbClr val="C00000"/>
                </a:solidFill>
                <a:ea typeface="黑体" panose="02010609060101010101" pitchFamily="49" charset="-122"/>
              </a:rPr>
              <a:t>数据</a:t>
            </a:r>
            <a:r>
              <a:rPr lang="zh-CN" altLang="zh-CN" sz="2800" dirty="0">
                <a:solidFill>
                  <a:srgbClr val="C00000"/>
                </a:solidFill>
                <a:ea typeface="黑体" panose="02010609060101010101" pitchFamily="49" charset="-122"/>
              </a:rPr>
              <a:t>比特</a:t>
            </a:r>
            <a:r>
              <a:rPr lang="zh-CN" altLang="zh-CN" sz="2800" dirty="0" smtClean="0">
                <a:solidFill>
                  <a:srgbClr val="C00000"/>
                </a:solidFill>
                <a:ea typeface="黑体" panose="02010609060101010101" pitchFamily="49" charset="-122"/>
              </a:rPr>
              <a:t>流</a:t>
            </a:r>
            <a:endParaRPr lang="en-US" altLang="zh-CN" sz="2800" b="1" dirty="0">
              <a:solidFill>
                <a:srgbClr val="C00000"/>
              </a:solidFill>
              <a:ea typeface="黑体" panose="02010609060101010101" pitchFamily="49" charset="-122"/>
            </a:endParaRPr>
          </a:p>
        </p:txBody>
      </p:sp>
    </p:spTree>
    <p:custDataLst>
      <p:tags r:id="rId1"/>
    </p:custDataLst>
    <p:extLst>
      <p:ext uri="{BB962C8B-B14F-4D97-AF65-F5344CB8AC3E}">
        <p14:creationId xmlns:p14="http://schemas.microsoft.com/office/powerpoint/2010/main" val="249494061"/>
      </p:ext>
    </p:extLst>
  </p:cSld>
  <p:clrMapOvr>
    <a:masterClrMapping/>
  </p:clrMapOvr>
  <mc:AlternateContent xmlns:mc="http://schemas.openxmlformats.org/markup-compatibility/2006" xmlns:p14="http://schemas.microsoft.com/office/powerpoint/2010/main">
    <mc:Choice Requires="p14">
      <p:transition spd="slow" p14:dur="2000" advTm="1945"/>
    </mc:Choice>
    <mc:Fallback xmlns="">
      <p:transition spd="slow" advTm="19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inVertical)">
                                      <p:cBhvr>
                                        <p:cTn id="7" dur="500"/>
                                        <p:tgtEl>
                                          <p:spTgt spid="6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2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inVertical)">
                                      <p:cBhvr>
                                        <p:cTn id="16" dur="500"/>
                                        <p:tgtEl>
                                          <p:spTgt spid="3"/>
                                        </p:tgtEl>
                                      </p:cBhvr>
                                    </p:animEffect>
                                  </p:childTnLst>
                                </p:cTn>
                              </p:par>
                            </p:childTnLst>
                          </p:cTn>
                        </p:par>
                        <p:par>
                          <p:cTn id="17" fill="hold">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smtClean="0">
                <a:ea typeface="黑体" panose="02010609060101010101" pitchFamily="49" charset="-122"/>
              </a:rPr>
              <a:t>数据链路层</a:t>
            </a: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链路</a:t>
            </a:r>
            <a:endParaRPr lang="en-US" altLang="zh-CN" sz="2000" b="1" dirty="0">
              <a:solidFill>
                <a:srgbClr val="C00000"/>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链路</a:t>
            </a:r>
            <a:endParaRPr lang="en-US" altLang="zh-CN" sz="2000" b="1" dirty="0">
              <a:solidFill>
                <a:srgbClr val="C00000"/>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4940301"/>
            <a:ext cx="6971334" cy="576874"/>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传输媒体上</a:t>
            </a:r>
            <a:r>
              <a:rPr lang="zh-CN" altLang="zh-CN" sz="2800" dirty="0" smtClean="0">
                <a:solidFill>
                  <a:srgbClr val="0000CC"/>
                </a:solidFill>
                <a:ea typeface="黑体" panose="02010609060101010101" pitchFamily="49" charset="-122"/>
              </a:rPr>
              <a:t>比特流</a:t>
            </a:r>
            <a:r>
              <a:rPr lang="zh-CN" altLang="en-US" sz="2800" dirty="0">
                <a:solidFill>
                  <a:srgbClr val="0000CC"/>
                </a:solidFill>
                <a:ea typeface="黑体" panose="02010609060101010101" pitchFamily="49" charset="-122"/>
              </a:rPr>
              <a:t>传输</a:t>
            </a:r>
            <a:endParaRPr lang="en-US" altLang="zh-CN" sz="2800" b="1" dirty="0">
              <a:solidFill>
                <a:srgbClr val="0000CC"/>
              </a:solidFill>
              <a:ea typeface="黑体" panose="02010609060101010101" pitchFamily="49" charset="-122"/>
            </a:endParaRPr>
          </a:p>
        </p:txBody>
      </p:sp>
      <p:sp>
        <p:nvSpPr>
          <p:cNvPr id="114" name="Line 4"/>
          <p:cNvSpPr>
            <a:spLocks noChangeShapeType="1"/>
          </p:cNvSpPr>
          <p:nvPr/>
        </p:nvSpPr>
        <p:spPr bwMode="auto">
          <a:xfrm flipH="1" flipV="1">
            <a:off x="7579844" y="2862475"/>
            <a:ext cx="537258" cy="56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5" name="Line 5"/>
          <p:cNvSpPr>
            <a:spLocks noChangeShapeType="1"/>
          </p:cNvSpPr>
          <p:nvPr/>
        </p:nvSpPr>
        <p:spPr bwMode="auto">
          <a:xfrm flipH="1" flipV="1">
            <a:off x="6707823" y="2589658"/>
            <a:ext cx="506826" cy="19324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6" name="Line 6"/>
          <p:cNvSpPr>
            <a:spLocks noChangeShapeType="1"/>
          </p:cNvSpPr>
          <p:nvPr/>
        </p:nvSpPr>
        <p:spPr bwMode="auto">
          <a:xfrm flipV="1">
            <a:off x="5997331" y="2578291"/>
            <a:ext cx="608659" cy="13640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7" name="Line 7"/>
          <p:cNvSpPr>
            <a:spLocks noChangeShapeType="1"/>
          </p:cNvSpPr>
          <p:nvPr/>
        </p:nvSpPr>
        <p:spPr bwMode="auto">
          <a:xfrm flipV="1">
            <a:off x="5145209" y="2646495"/>
            <a:ext cx="730391" cy="6820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8" name="Line 8"/>
          <p:cNvSpPr>
            <a:spLocks noChangeShapeType="1"/>
          </p:cNvSpPr>
          <p:nvPr/>
        </p:nvSpPr>
        <p:spPr bwMode="auto">
          <a:xfrm>
            <a:off x="4293086" y="2714699"/>
            <a:ext cx="730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9" name="Line 9"/>
          <p:cNvSpPr>
            <a:spLocks noChangeShapeType="1"/>
          </p:cNvSpPr>
          <p:nvPr/>
        </p:nvSpPr>
        <p:spPr bwMode="auto">
          <a:xfrm>
            <a:off x="3380098" y="2510086"/>
            <a:ext cx="730391" cy="2046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0" name="Freeform 10"/>
          <p:cNvSpPr>
            <a:spLocks noChangeArrowheads="1"/>
          </p:cNvSpPr>
          <p:nvPr/>
        </p:nvSpPr>
        <p:spPr bwMode="auto">
          <a:xfrm>
            <a:off x="1939215" y="2544189"/>
            <a:ext cx="1399915" cy="454695"/>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121" name="Group 11"/>
          <p:cNvGrpSpPr>
            <a:grpSpLocks/>
          </p:cNvGrpSpPr>
          <p:nvPr/>
        </p:nvGrpSpPr>
        <p:grpSpPr bwMode="auto">
          <a:xfrm>
            <a:off x="2223647" y="2373678"/>
            <a:ext cx="901283" cy="699094"/>
            <a:chOff x="1680" y="240"/>
            <a:chExt cx="2529" cy="1270"/>
          </a:xfrm>
        </p:grpSpPr>
        <p:sp>
          <p:nvSpPr>
            <p:cNvPr id="622" name="Oval 12"/>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3" name="Oval 13"/>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4" name="Oval 14"/>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5" name="Oval 15"/>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6" name="Oval 16"/>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7" name="Oval 17"/>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8" name="Oval 18"/>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9" name="Oval 19"/>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30" name="Oval 20"/>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22" name="Group 28"/>
          <p:cNvGrpSpPr>
            <a:grpSpLocks/>
          </p:cNvGrpSpPr>
          <p:nvPr/>
        </p:nvGrpSpPr>
        <p:grpSpPr bwMode="auto">
          <a:xfrm>
            <a:off x="3745294" y="2373678"/>
            <a:ext cx="901283" cy="699094"/>
            <a:chOff x="1680" y="240"/>
            <a:chExt cx="2529" cy="1270"/>
          </a:xfrm>
        </p:grpSpPr>
        <p:sp>
          <p:nvSpPr>
            <p:cNvPr id="613" name="Oval 29"/>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4" name="Oval 30"/>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5" name="Oval 31"/>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6" name="Oval 32"/>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7" name="Oval 33"/>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8" name="Oval 34"/>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9" name="Oval 35"/>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0" name="Oval 36"/>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21" name="Oval 37"/>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3" name="Text Box 38"/>
          <p:cNvSpPr txBox="1">
            <a:spLocks noChangeArrowheads="1"/>
          </p:cNvSpPr>
          <p:nvPr/>
        </p:nvSpPr>
        <p:spPr bwMode="auto">
          <a:xfrm>
            <a:off x="3800904" y="2594380"/>
            <a:ext cx="650298" cy="33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dirty="0">
                <a:solidFill>
                  <a:srgbClr val="000099"/>
                </a:solidFill>
                <a:ea typeface="黑体" panose="02010609060101010101" pitchFamily="49" charset="-122"/>
              </a:rPr>
              <a:t>双绞线</a:t>
            </a:r>
          </a:p>
        </p:txBody>
      </p:sp>
      <p:pic>
        <p:nvPicPr>
          <p:cNvPr id="124"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0911" y="2402096"/>
            <a:ext cx="352319" cy="2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 name="Picture 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01745" y="2578291"/>
            <a:ext cx="352319" cy="2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 name="Picture 8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84173" y="2635128"/>
            <a:ext cx="426061" cy="42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 name="Picture 8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4258" y="2444724"/>
            <a:ext cx="352319" cy="2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8" name="Group 90"/>
          <p:cNvGrpSpPr>
            <a:grpSpLocks/>
          </p:cNvGrpSpPr>
          <p:nvPr/>
        </p:nvGrpSpPr>
        <p:grpSpPr bwMode="auto">
          <a:xfrm>
            <a:off x="5449538" y="2373678"/>
            <a:ext cx="901283" cy="699094"/>
            <a:chOff x="1680" y="240"/>
            <a:chExt cx="2529" cy="1270"/>
          </a:xfrm>
        </p:grpSpPr>
        <p:sp>
          <p:nvSpPr>
            <p:cNvPr id="604" name="Oval 9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5" name="Oval 9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6" name="Oval 9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7" name="Oval 9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8" name="Oval 9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9" name="Oval 9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0" name="Oval 9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1" name="Oval 9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12" name="Oval 9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9" name="Text Box 100"/>
          <p:cNvSpPr txBox="1">
            <a:spLocks noChangeArrowheads="1"/>
          </p:cNvSpPr>
          <p:nvPr/>
        </p:nvSpPr>
        <p:spPr bwMode="auto">
          <a:xfrm>
            <a:off x="5601054" y="2542768"/>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dirty="0" smtClean="0">
                <a:solidFill>
                  <a:srgbClr val="000099"/>
                </a:solidFill>
                <a:ea typeface="黑体" panose="02010609060101010101" pitchFamily="49" charset="-122"/>
              </a:rPr>
              <a:t>无线</a:t>
            </a:r>
            <a:endParaRPr lang="zh-CN" altLang="en-US" b="1" dirty="0">
              <a:solidFill>
                <a:srgbClr val="000099"/>
              </a:solidFill>
              <a:ea typeface="黑体" panose="02010609060101010101" pitchFamily="49" charset="-122"/>
            </a:endParaRPr>
          </a:p>
        </p:txBody>
      </p:sp>
      <p:sp>
        <p:nvSpPr>
          <p:cNvPr id="130" name="Text Box 101"/>
          <p:cNvSpPr txBox="1">
            <a:spLocks noChangeArrowheads="1"/>
          </p:cNvSpPr>
          <p:nvPr/>
        </p:nvSpPr>
        <p:spPr bwMode="auto">
          <a:xfrm>
            <a:off x="1575191" y="2242953"/>
            <a:ext cx="698787" cy="33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131" name="Text Box 102"/>
          <p:cNvSpPr txBox="1">
            <a:spLocks noChangeArrowheads="1"/>
          </p:cNvSpPr>
          <p:nvPr/>
        </p:nvSpPr>
        <p:spPr bwMode="auto">
          <a:xfrm>
            <a:off x="7730838" y="2349523"/>
            <a:ext cx="698787" cy="331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132" name="Text Box 103"/>
          <p:cNvSpPr txBox="1">
            <a:spLocks noChangeArrowheads="1"/>
          </p:cNvSpPr>
          <p:nvPr/>
        </p:nvSpPr>
        <p:spPr bwMode="auto">
          <a:xfrm>
            <a:off x="2956378" y="2078126"/>
            <a:ext cx="856804" cy="33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133" name="Text Box 104"/>
          <p:cNvSpPr txBox="1">
            <a:spLocks noChangeArrowheads="1"/>
          </p:cNvSpPr>
          <p:nvPr/>
        </p:nvSpPr>
        <p:spPr bwMode="auto">
          <a:xfrm>
            <a:off x="4681692" y="2254320"/>
            <a:ext cx="855633" cy="33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134" name="Text Box 105"/>
          <p:cNvSpPr txBox="1">
            <a:spLocks noChangeArrowheads="1"/>
          </p:cNvSpPr>
          <p:nvPr/>
        </p:nvSpPr>
        <p:spPr bwMode="auto">
          <a:xfrm>
            <a:off x="6234942" y="2129279"/>
            <a:ext cx="855634" cy="33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135" name="Text Box 106"/>
          <p:cNvSpPr txBox="1">
            <a:spLocks noChangeArrowheads="1"/>
          </p:cNvSpPr>
          <p:nvPr/>
        </p:nvSpPr>
        <p:spPr bwMode="auto">
          <a:xfrm>
            <a:off x="2288778" y="2594380"/>
            <a:ext cx="650298" cy="33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dirty="0" smtClean="0">
                <a:solidFill>
                  <a:srgbClr val="000099"/>
                </a:solidFill>
                <a:ea typeface="黑体" panose="02010609060101010101" pitchFamily="49" charset="-122"/>
              </a:rPr>
              <a:t>电话</a:t>
            </a:r>
            <a:r>
              <a:rPr lang="zh-CN" altLang="en-US" b="1" dirty="0">
                <a:solidFill>
                  <a:srgbClr val="000099"/>
                </a:solidFill>
                <a:ea typeface="黑体" panose="02010609060101010101" pitchFamily="49" charset="-122"/>
              </a:rPr>
              <a:t>线</a:t>
            </a:r>
          </a:p>
        </p:txBody>
      </p:sp>
      <p:grpSp>
        <p:nvGrpSpPr>
          <p:cNvPr id="136" name="Group 114"/>
          <p:cNvGrpSpPr>
            <a:grpSpLocks/>
          </p:cNvGrpSpPr>
          <p:nvPr/>
        </p:nvGrpSpPr>
        <p:grpSpPr bwMode="auto">
          <a:xfrm>
            <a:off x="1614988" y="2578291"/>
            <a:ext cx="531406" cy="488797"/>
            <a:chOff x="624" y="2968"/>
            <a:chExt cx="1331" cy="920"/>
          </a:xfrm>
        </p:grpSpPr>
        <p:sp>
          <p:nvSpPr>
            <p:cNvPr id="152" name="Freeform 11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53" name="Freeform 11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54" name="Freeform 11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55" name="Freeform 11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56" name="Freeform 11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57" name="Freeform 12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58" name="Freeform 12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59" name="Freeform 12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60" name="Freeform 12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61" name="Freeform 12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62" name="Freeform 12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63" name="Freeform 12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64" name="Group 127"/>
            <p:cNvGrpSpPr>
              <a:grpSpLocks/>
            </p:cNvGrpSpPr>
            <p:nvPr/>
          </p:nvGrpSpPr>
          <p:grpSpPr bwMode="auto">
            <a:xfrm>
              <a:off x="700" y="3526"/>
              <a:ext cx="515" cy="270"/>
              <a:chOff x="700" y="3526"/>
              <a:chExt cx="515" cy="270"/>
            </a:xfrm>
          </p:grpSpPr>
          <p:grpSp>
            <p:nvGrpSpPr>
              <p:cNvPr id="190" name="Group 128"/>
              <p:cNvGrpSpPr>
                <a:grpSpLocks/>
              </p:cNvGrpSpPr>
              <p:nvPr/>
            </p:nvGrpSpPr>
            <p:grpSpPr bwMode="auto">
              <a:xfrm>
                <a:off x="737" y="3534"/>
                <a:ext cx="49" cy="23"/>
                <a:chOff x="737" y="3534"/>
                <a:chExt cx="49" cy="23"/>
              </a:xfrm>
            </p:grpSpPr>
            <p:sp>
              <p:nvSpPr>
                <p:cNvPr id="601" name="Freeform 12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2" name="Freeform 13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3" name="Freeform 13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91" name="Group 132"/>
              <p:cNvGrpSpPr>
                <a:grpSpLocks/>
              </p:cNvGrpSpPr>
              <p:nvPr/>
            </p:nvGrpSpPr>
            <p:grpSpPr bwMode="auto">
              <a:xfrm>
                <a:off x="748" y="3547"/>
                <a:ext cx="50" cy="23"/>
                <a:chOff x="748" y="3547"/>
                <a:chExt cx="50" cy="23"/>
              </a:xfrm>
            </p:grpSpPr>
            <p:sp>
              <p:nvSpPr>
                <p:cNvPr id="598" name="Freeform 13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9" name="Freeform 13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600" name="Freeform 13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92" name="Freeform 13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93" name="Freeform 13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94" name="Freeform 13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95" name="Freeform 13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96" name="Group 140"/>
              <p:cNvGrpSpPr>
                <a:grpSpLocks/>
              </p:cNvGrpSpPr>
              <p:nvPr/>
            </p:nvGrpSpPr>
            <p:grpSpPr bwMode="auto">
              <a:xfrm>
                <a:off x="872" y="3547"/>
                <a:ext cx="50" cy="23"/>
                <a:chOff x="872" y="3547"/>
                <a:chExt cx="50" cy="23"/>
              </a:xfrm>
            </p:grpSpPr>
            <p:sp>
              <p:nvSpPr>
                <p:cNvPr id="595" name="Freeform 14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6" name="Freeform 14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7" name="Freeform 14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97" name="Group 144"/>
              <p:cNvGrpSpPr>
                <a:grpSpLocks/>
              </p:cNvGrpSpPr>
              <p:nvPr/>
            </p:nvGrpSpPr>
            <p:grpSpPr bwMode="auto">
              <a:xfrm>
                <a:off x="885" y="3559"/>
                <a:ext cx="50" cy="23"/>
                <a:chOff x="885" y="3559"/>
                <a:chExt cx="50" cy="23"/>
              </a:xfrm>
            </p:grpSpPr>
            <p:sp>
              <p:nvSpPr>
                <p:cNvPr id="592" name="Freeform 14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3" name="Freeform 14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4" name="Freeform 14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98" name="Group 148"/>
              <p:cNvGrpSpPr>
                <a:grpSpLocks/>
              </p:cNvGrpSpPr>
              <p:nvPr/>
            </p:nvGrpSpPr>
            <p:grpSpPr bwMode="auto">
              <a:xfrm>
                <a:off x="898" y="3571"/>
                <a:ext cx="49" cy="23"/>
                <a:chOff x="898" y="3571"/>
                <a:chExt cx="49" cy="23"/>
              </a:xfrm>
            </p:grpSpPr>
            <p:sp>
              <p:nvSpPr>
                <p:cNvPr id="589" name="Freeform 14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0" name="Freeform 15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91" name="Freeform 15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99" name="Group 152"/>
              <p:cNvGrpSpPr>
                <a:grpSpLocks/>
              </p:cNvGrpSpPr>
              <p:nvPr/>
            </p:nvGrpSpPr>
            <p:grpSpPr bwMode="auto">
              <a:xfrm>
                <a:off x="911" y="3585"/>
                <a:ext cx="49" cy="23"/>
                <a:chOff x="911" y="3585"/>
                <a:chExt cx="49" cy="23"/>
              </a:xfrm>
            </p:grpSpPr>
            <p:sp>
              <p:nvSpPr>
                <p:cNvPr id="586" name="Freeform 15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7" name="Freeform 15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8" name="Freeform 15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00" name="Group 156"/>
              <p:cNvGrpSpPr>
                <a:grpSpLocks/>
              </p:cNvGrpSpPr>
              <p:nvPr/>
            </p:nvGrpSpPr>
            <p:grpSpPr bwMode="auto">
              <a:xfrm>
                <a:off x="923" y="3600"/>
                <a:ext cx="99" cy="73"/>
                <a:chOff x="923" y="3600"/>
                <a:chExt cx="99" cy="73"/>
              </a:xfrm>
            </p:grpSpPr>
            <p:grpSp>
              <p:nvGrpSpPr>
                <p:cNvPr id="566" name="Group 157"/>
                <p:cNvGrpSpPr>
                  <a:grpSpLocks/>
                </p:cNvGrpSpPr>
                <p:nvPr/>
              </p:nvGrpSpPr>
              <p:grpSpPr bwMode="auto">
                <a:xfrm>
                  <a:off x="923" y="3600"/>
                  <a:ext cx="49" cy="23"/>
                  <a:chOff x="923" y="3600"/>
                  <a:chExt cx="49" cy="23"/>
                </a:xfrm>
              </p:grpSpPr>
              <p:sp>
                <p:nvSpPr>
                  <p:cNvPr id="583" name="Freeform 15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4" name="Freeform 15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5" name="Freeform 16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67" name="Group 161"/>
                <p:cNvGrpSpPr>
                  <a:grpSpLocks/>
                </p:cNvGrpSpPr>
                <p:nvPr/>
              </p:nvGrpSpPr>
              <p:grpSpPr bwMode="auto">
                <a:xfrm>
                  <a:off x="935" y="3612"/>
                  <a:ext cx="48" cy="23"/>
                  <a:chOff x="935" y="3612"/>
                  <a:chExt cx="48" cy="23"/>
                </a:xfrm>
              </p:grpSpPr>
              <p:sp>
                <p:nvSpPr>
                  <p:cNvPr id="580" name="Freeform 16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1" name="Freeform 16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82" name="Freeform 16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68" name="Group 165"/>
                <p:cNvGrpSpPr>
                  <a:grpSpLocks/>
                </p:cNvGrpSpPr>
                <p:nvPr/>
              </p:nvGrpSpPr>
              <p:grpSpPr bwMode="auto">
                <a:xfrm>
                  <a:off x="947" y="3625"/>
                  <a:ext cx="50" cy="22"/>
                  <a:chOff x="947" y="3625"/>
                  <a:chExt cx="50" cy="22"/>
                </a:xfrm>
              </p:grpSpPr>
              <p:sp>
                <p:nvSpPr>
                  <p:cNvPr id="577" name="Freeform 16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8" name="Freeform 16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9" name="Freeform 16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69" name="Group 169"/>
                <p:cNvGrpSpPr>
                  <a:grpSpLocks/>
                </p:cNvGrpSpPr>
                <p:nvPr/>
              </p:nvGrpSpPr>
              <p:grpSpPr bwMode="auto">
                <a:xfrm>
                  <a:off x="960" y="3637"/>
                  <a:ext cx="50" cy="23"/>
                  <a:chOff x="960" y="3637"/>
                  <a:chExt cx="50" cy="23"/>
                </a:xfrm>
              </p:grpSpPr>
              <p:sp>
                <p:nvSpPr>
                  <p:cNvPr id="574" name="Freeform 17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5" name="Freeform 17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6" name="Freeform 17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70" name="Group 173"/>
                <p:cNvGrpSpPr>
                  <a:grpSpLocks/>
                </p:cNvGrpSpPr>
                <p:nvPr/>
              </p:nvGrpSpPr>
              <p:grpSpPr bwMode="auto">
                <a:xfrm>
                  <a:off x="973" y="3650"/>
                  <a:ext cx="49" cy="23"/>
                  <a:chOff x="973" y="3650"/>
                  <a:chExt cx="49" cy="23"/>
                </a:xfrm>
              </p:grpSpPr>
              <p:sp>
                <p:nvSpPr>
                  <p:cNvPr id="571" name="Freeform 17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2" name="Freeform 17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73" name="Freeform 17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01" name="Group 177"/>
              <p:cNvGrpSpPr>
                <a:grpSpLocks/>
              </p:cNvGrpSpPr>
              <p:nvPr/>
            </p:nvGrpSpPr>
            <p:grpSpPr bwMode="auto">
              <a:xfrm>
                <a:off x="985" y="3665"/>
                <a:ext cx="100" cy="73"/>
                <a:chOff x="985" y="3665"/>
                <a:chExt cx="100" cy="73"/>
              </a:xfrm>
            </p:grpSpPr>
            <p:grpSp>
              <p:nvGrpSpPr>
                <p:cNvPr id="546" name="Group 178"/>
                <p:cNvGrpSpPr>
                  <a:grpSpLocks/>
                </p:cNvGrpSpPr>
                <p:nvPr/>
              </p:nvGrpSpPr>
              <p:grpSpPr bwMode="auto">
                <a:xfrm>
                  <a:off x="985" y="3665"/>
                  <a:ext cx="50" cy="23"/>
                  <a:chOff x="985" y="3665"/>
                  <a:chExt cx="50" cy="23"/>
                </a:xfrm>
              </p:grpSpPr>
              <p:sp>
                <p:nvSpPr>
                  <p:cNvPr id="563" name="Freeform 17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64" name="Freeform 18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65" name="Freeform 18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47" name="Group 182"/>
                <p:cNvGrpSpPr>
                  <a:grpSpLocks/>
                </p:cNvGrpSpPr>
                <p:nvPr/>
              </p:nvGrpSpPr>
              <p:grpSpPr bwMode="auto">
                <a:xfrm>
                  <a:off x="997" y="3677"/>
                  <a:ext cx="49" cy="23"/>
                  <a:chOff x="997" y="3677"/>
                  <a:chExt cx="49" cy="23"/>
                </a:xfrm>
              </p:grpSpPr>
              <p:sp>
                <p:nvSpPr>
                  <p:cNvPr id="560" name="Freeform 18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61" name="Freeform 18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62" name="Freeform 18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48" name="Group 186"/>
                <p:cNvGrpSpPr>
                  <a:grpSpLocks/>
                </p:cNvGrpSpPr>
                <p:nvPr/>
              </p:nvGrpSpPr>
              <p:grpSpPr bwMode="auto">
                <a:xfrm>
                  <a:off x="1010" y="3690"/>
                  <a:ext cx="48" cy="23"/>
                  <a:chOff x="1010" y="3690"/>
                  <a:chExt cx="48" cy="23"/>
                </a:xfrm>
              </p:grpSpPr>
              <p:sp>
                <p:nvSpPr>
                  <p:cNvPr id="557" name="Freeform 18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8" name="Freeform 18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9" name="Freeform 18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49" name="Group 190"/>
                <p:cNvGrpSpPr>
                  <a:grpSpLocks/>
                </p:cNvGrpSpPr>
                <p:nvPr/>
              </p:nvGrpSpPr>
              <p:grpSpPr bwMode="auto">
                <a:xfrm>
                  <a:off x="1023" y="3703"/>
                  <a:ext cx="49" cy="22"/>
                  <a:chOff x="1023" y="3703"/>
                  <a:chExt cx="49" cy="22"/>
                </a:xfrm>
              </p:grpSpPr>
              <p:sp>
                <p:nvSpPr>
                  <p:cNvPr id="554" name="Freeform 19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5" name="Freeform 19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6" name="Freeform 19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50" name="Group 194"/>
                <p:cNvGrpSpPr>
                  <a:grpSpLocks/>
                </p:cNvGrpSpPr>
                <p:nvPr/>
              </p:nvGrpSpPr>
              <p:grpSpPr bwMode="auto">
                <a:xfrm>
                  <a:off x="1036" y="3716"/>
                  <a:ext cx="49" cy="22"/>
                  <a:chOff x="1036" y="3716"/>
                  <a:chExt cx="49" cy="22"/>
                </a:xfrm>
              </p:grpSpPr>
              <p:sp>
                <p:nvSpPr>
                  <p:cNvPr id="551" name="Freeform 19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2" name="Freeform 19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53" name="Freeform 19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02" name="Group 198"/>
              <p:cNvGrpSpPr>
                <a:grpSpLocks/>
              </p:cNvGrpSpPr>
              <p:nvPr/>
            </p:nvGrpSpPr>
            <p:grpSpPr bwMode="auto">
              <a:xfrm>
                <a:off x="1046" y="3727"/>
                <a:ext cx="49" cy="23"/>
                <a:chOff x="1046" y="3727"/>
                <a:chExt cx="49" cy="23"/>
              </a:xfrm>
            </p:grpSpPr>
            <p:sp>
              <p:nvSpPr>
                <p:cNvPr id="543" name="Freeform 19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44" name="Freeform 20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45" name="Freeform 20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03" name="Group 202"/>
              <p:cNvGrpSpPr>
                <a:grpSpLocks/>
              </p:cNvGrpSpPr>
              <p:nvPr/>
            </p:nvGrpSpPr>
            <p:grpSpPr bwMode="auto">
              <a:xfrm>
                <a:off x="1058" y="3739"/>
                <a:ext cx="50" cy="23"/>
                <a:chOff x="1058" y="3739"/>
                <a:chExt cx="50" cy="23"/>
              </a:xfrm>
            </p:grpSpPr>
            <p:sp>
              <p:nvSpPr>
                <p:cNvPr id="540" name="Freeform 20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41" name="Freeform 20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42" name="Freeform 20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04" name="Group 206"/>
              <p:cNvGrpSpPr>
                <a:grpSpLocks/>
              </p:cNvGrpSpPr>
              <p:nvPr/>
            </p:nvGrpSpPr>
            <p:grpSpPr bwMode="auto">
              <a:xfrm>
                <a:off x="1072" y="3753"/>
                <a:ext cx="48" cy="22"/>
                <a:chOff x="1072" y="3753"/>
                <a:chExt cx="48" cy="22"/>
              </a:xfrm>
            </p:grpSpPr>
            <p:sp>
              <p:nvSpPr>
                <p:cNvPr id="537" name="Freeform 20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8" name="Freeform 20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9" name="Freeform 20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205" name="Freeform 21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06" name="Freeform 21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07" name="Freeform 21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208" name="Group 213"/>
              <p:cNvGrpSpPr>
                <a:grpSpLocks/>
              </p:cNvGrpSpPr>
              <p:nvPr/>
            </p:nvGrpSpPr>
            <p:grpSpPr bwMode="auto">
              <a:xfrm>
                <a:off x="832" y="3547"/>
                <a:ext cx="49" cy="23"/>
                <a:chOff x="832" y="3547"/>
                <a:chExt cx="49" cy="23"/>
              </a:xfrm>
            </p:grpSpPr>
            <p:sp>
              <p:nvSpPr>
                <p:cNvPr id="534" name="Freeform 21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5" name="Freeform 21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6" name="Freeform 21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09" name="Group 217"/>
              <p:cNvGrpSpPr>
                <a:grpSpLocks/>
              </p:cNvGrpSpPr>
              <p:nvPr/>
            </p:nvGrpSpPr>
            <p:grpSpPr bwMode="auto">
              <a:xfrm>
                <a:off x="844" y="3560"/>
                <a:ext cx="49" cy="22"/>
                <a:chOff x="844" y="3560"/>
                <a:chExt cx="49" cy="22"/>
              </a:xfrm>
            </p:grpSpPr>
            <p:sp>
              <p:nvSpPr>
                <p:cNvPr id="531" name="Freeform 21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2" name="Freeform 21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3" name="Freeform 22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10" name="Group 221"/>
              <p:cNvGrpSpPr>
                <a:grpSpLocks/>
              </p:cNvGrpSpPr>
              <p:nvPr/>
            </p:nvGrpSpPr>
            <p:grpSpPr bwMode="auto">
              <a:xfrm>
                <a:off x="857" y="3572"/>
                <a:ext cx="50" cy="23"/>
                <a:chOff x="857" y="3572"/>
                <a:chExt cx="50" cy="23"/>
              </a:xfrm>
            </p:grpSpPr>
            <p:sp>
              <p:nvSpPr>
                <p:cNvPr id="528" name="Freeform 22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9" name="Freeform 22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30" name="Freeform 22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11" name="Group 225"/>
              <p:cNvGrpSpPr>
                <a:grpSpLocks/>
              </p:cNvGrpSpPr>
              <p:nvPr/>
            </p:nvGrpSpPr>
            <p:grpSpPr bwMode="auto">
              <a:xfrm>
                <a:off x="870" y="3585"/>
                <a:ext cx="48" cy="23"/>
                <a:chOff x="870" y="3585"/>
                <a:chExt cx="48" cy="23"/>
              </a:xfrm>
            </p:grpSpPr>
            <p:sp>
              <p:nvSpPr>
                <p:cNvPr id="525" name="Freeform 22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6" name="Freeform 22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7" name="Freeform 22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12" name="Group 229"/>
              <p:cNvGrpSpPr>
                <a:grpSpLocks/>
              </p:cNvGrpSpPr>
              <p:nvPr/>
            </p:nvGrpSpPr>
            <p:grpSpPr bwMode="auto">
              <a:xfrm>
                <a:off x="882" y="3600"/>
                <a:ext cx="100" cy="73"/>
                <a:chOff x="882" y="3600"/>
                <a:chExt cx="100" cy="73"/>
              </a:xfrm>
            </p:grpSpPr>
            <p:grpSp>
              <p:nvGrpSpPr>
                <p:cNvPr id="505" name="Group 230"/>
                <p:cNvGrpSpPr>
                  <a:grpSpLocks/>
                </p:cNvGrpSpPr>
                <p:nvPr/>
              </p:nvGrpSpPr>
              <p:grpSpPr bwMode="auto">
                <a:xfrm>
                  <a:off x="882" y="3600"/>
                  <a:ext cx="49" cy="23"/>
                  <a:chOff x="882" y="3600"/>
                  <a:chExt cx="49" cy="23"/>
                </a:xfrm>
              </p:grpSpPr>
              <p:sp>
                <p:nvSpPr>
                  <p:cNvPr id="522" name="Freeform 23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3" name="Freeform 23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4" name="Freeform 23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06" name="Group 234"/>
                <p:cNvGrpSpPr>
                  <a:grpSpLocks/>
                </p:cNvGrpSpPr>
                <p:nvPr/>
              </p:nvGrpSpPr>
              <p:grpSpPr bwMode="auto">
                <a:xfrm>
                  <a:off x="894" y="3612"/>
                  <a:ext cx="49" cy="23"/>
                  <a:chOff x="894" y="3612"/>
                  <a:chExt cx="49" cy="23"/>
                </a:xfrm>
              </p:grpSpPr>
              <p:sp>
                <p:nvSpPr>
                  <p:cNvPr id="519" name="Freeform 23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0" name="Freeform 23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21" name="Freeform 23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07" name="Group 238"/>
                <p:cNvGrpSpPr>
                  <a:grpSpLocks/>
                </p:cNvGrpSpPr>
                <p:nvPr/>
              </p:nvGrpSpPr>
              <p:grpSpPr bwMode="auto">
                <a:xfrm>
                  <a:off x="907" y="3625"/>
                  <a:ext cx="49" cy="23"/>
                  <a:chOff x="907" y="3625"/>
                  <a:chExt cx="49" cy="23"/>
                </a:xfrm>
              </p:grpSpPr>
              <p:sp>
                <p:nvSpPr>
                  <p:cNvPr id="516" name="Freeform 23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7" name="Freeform 24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8" name="Freeform 24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08" name="Group 242"/>
                <p:cNvGrpSpPr>
                  <a:grpSpLocks/>
                </p:cNvGrpSpPr>
                <p:nvPr/>
              </p:nvGrpSpPr>
              <p:grpSpPr bwMode="auto">
                <a:xfrm>
                  <a:off x="919" y="3638"/>
                  <a:ext cx="49" cy="22"/>
                  <a:chOff x="919" y="3638"/>
                  <a:chExt cx="49" cy="22"/>
                </a:xfrm>
              </p:grpSpPr>
              <p:sp>
                <p:nvSpPr>
                  <p:cNvPr id="513" name="Freeform 24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4" name="Freeform 24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5" name="Freeform 24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509" name="Group 246"/>
                <p:cNvGrpSpPr>
                  <a:grpSpLocks/>
                </p:cNvGrpSpPr>
                <p:nvPr/>
              </p:nvGrpSpPr>
              <p:grpSpPr bwMode="auto">
                <a:xfrm>
                  <a:off x="932" y="3651"/>
                  <a:ext cx="50" cy="22"/>
                  <a:chOff x="932" y="3651"/>
                  <a:chExt cx="50" cy="22"/>
                </a:xfrm>
              </p:grpSpPr>
              <p:sp>
                <p:nvSpPr>
                  <p:cNvPr id="510" name="Freeform 24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1" name="Freeform 24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12" name="Freeform 24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13" name="Group 250"/>
              <p:cNvGrpSpPr>
                <a:grpSpLocks/>
              </p:cNvGrpSpPr>
              <p:nvPr/>
            </p:nvGrpSpPr>
            <p:grpSpPr bwMode="auto">
              <a:xfrm>
                <a:off x="944" y="3665"/>
                <a:ext cx="99" cy="74"/>
                <a:chOff x="944" y="3665"/>
                <a:chExt cx="99" cy="74"/>
              </a:xfrm>
            </p:grpSpPr>
            <p:grpSp>
              <p:nvGrpSpPr>
                <p:cNvPr id="485" name="Group 251"/>
                <p:cNvGrpSpPr>
                  <a:grpSpLocks/>
                </p:cNvGrpSpPr>
                <p:nvPr/>
              </p:nvGrpSpPr>
              <p:grpSpPr bwMode="auto">
                <a:xfrm>
                  <a:off x="944" y="3665"/>
                  <a:ext cx="49" cy="23"/>
                  <a:chOff x="944" y="3665"/>
                  <a:chExt cx="49" cy="23"/>
                </a:xfrm>
              </p:grpSpPr>
              <p:sp>
                <p:nvSpPr>
                  <p:cNvPr id="502" name="Freeform 25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03" name="Freeform 25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04" name="Freeform 25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86" name="Group 255"/>
                <p:cNvGrpSpPr>
                  <a:grpSpLocks/>
                </p:cNvGrpSpPr>
                <p:nvPr/>
              </p:nvGrpSpPr>
              <p:grpSpPr bwMode="auto">
                <a:xfrm>
                  <a:off x="957" y="3678"/>
                  <a:ext cx="48" cy="23"/>
                  <a:chOff x="957" y="3678"/>
                  <a:chExt cx="48" cy="23"/>
                </a:xfrm>
              </p:grpSpPr>
              <p:sp>
                <p:nvSpPr>
                  <p:cNvPr id="499" name="Freeform 25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00" name="Freeform 25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501" name="Freeform 25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87" name="Group 259"/>
                <p:cNvGrpSpPr>
                  <a:grpSpLocks/>
                </p:cNvGrpSpPr>
                <p:nvPr/>
              </p:nvGrpSpPr>
              <p:grpSpPr bwMode="auto">
                <a:xfrm>
                  <a:off x="969" y="3690"/>
                  <a:ext cx="49" cy="23"/>
                  <a:chOff x="969" y="3690"/>
                  <a:chExt cx="49" cy="23"/>
                </a:xfrm>
              </p:grpSpPr>
              <p:sp>
                <p:nvSpPr>
                  <p:cNvPr id="496" name="Freeform 26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7" name="Freeform 26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8" name="Freeform 26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88" name="Group 263"/>
                <p:cNvGrpSpPr>
                  <a:grpSpLocks/>
                </p:cNvGrpSpPr>
                <p:nvPr/>
              </p:nvGrpSpPr>
              <p:grpSpPr bwMode="auto">
                <a:xfrm>
                  <a:off x="982" y="3703"/>
                  <a:ext cx="49" cy="23"/>
                  <a:chOff x="982" y="3703"/>
                  <a:chExt cx="49" cy="23"/>
                </a:xfrm>
              </p:grpSpPr>
              <p:sp>
                <p:nvSpPr>
                  <p:cNvPr id="493" name="Freeform 26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4" name="Freeform 26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5" name="Freeform 26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89" name="Group 267"/>
                <p:cNvGrpSpPr>
                  <a:grpSpLocks/>
                </p:cNvGrpSpPr>
                <p:nvPr/>
              </p:nvGrpSpPr>
              <p:grpSpPr bwMode="auto">
                <a:xfrm>
                  <a:off x="995" y="3716"/>
                  <a:ext cx="48" cy="23"/>
                  <a:chOff x="995" y="3716"/>
                  <a:chExt cx="48" cy="23"/>
                </a:xfrm>
              </p:grpSpPr>
              <p:sp>
                <p:nvSpPr>
                  <p:cNvPr id="490" name="Freeform 26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1" name="Freeform 26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92" name="Freeform 27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14" name="Group 271"/>
              <p:cNvGrpSpPr>
                <a:grpSpLocks/>
              </p:cNvGrpSpPr>
              <p:nvPr/>
            </p:nvGrpSpPr>
            <p:grpSpPr bwMode="auto">
              <a:xfrm>
                <a:off x="1005" y="3727"/>
                <a:ext cx="49" cy="23"/>
                <a:chOff x="1005" y="3727"/>
                <a:chExt cx="49" cy="23"/>
              </a:xfrm>
            </p:grpSpPr>
            <p:sp>
              <p:nvSpPr>
                <p:cNvPr id="482" name="Freeform 27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83" name="Freeform 27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84" name="Freeform 27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15" name="Group 275"/>
              <p:cNvGrpSpPr>
                <a:grpSpLocks/>
              </p:cNvGrpSpPr>
              <p:nvPr/>
            </p:nvGrpSpPr>
            <p:grpSpPr bwMode="auto">
              <a:xfrm>
                <a:off x="1018" y="3740"/>
                <a:ext cx="49" cy="22"/>
                <a:chOff x="1018" y="3740"/>
                <a:chExt cx="49" cy="22"/>
              </a:xfrm>
            </p:grpSpPr>
            <p:sp>
              <p:nvSpPr>
                <p:cNvPr id="479" name="Freeform 27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80" name="Freeform 27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81" name="Freeform 27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16" name="Group 279"/>
              <p:cNvGrpSpPr>
                <a:grpSpLocks/>
              </p:cNvGrpSpPr>
              <p:nvPr/>
            </p:nvGrpSpPr>
            <p:grpSpPr bwMode="auto">
              <a:xfrm>
                <a:off x="1030" y="3753"/>
                <a:ext cx="49" cy="23"/>
                <a:chOff x="1030" y="3753"/>
                <a:chExt cx="49" cy="23"/>
              </a:xfrm>
            </p:grpSpPr>
            <p:sp>
              <p:nvSpPr>
                <p:cNvPr id="476" name="Freeform 28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7" name="Freeform 28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8" name="Freeform 28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217" name="Freeform 28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18" name="Freeform 28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19" name="Freeform 28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220" name="Group 286"/>
              <p:cNvGrpSpPr>
                <a:grpSpLocks/>
              </p:cNvGrpSpPr>
              <p:nvPr/>
            </p:nvGrpSpPr>
            <p:grpSpPr bwMode="auto">
              <a:xfrm>
                <a:off x="790" y="3547"/>
                <a:ext cx="49" cy="23"/>
                <a:chOff x="790" y="3547"/>
                <a:chExt cx="49" cy="23"/>
              </a:xfrm>
            </p:grpSpPr>
            <p:sp>
              <p:nvSpPr>
                <p:cNvPr id="473" name="Freeform 28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4" name="Freeform 28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5" name="Freeform 28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1" name="Group 290"/>
              <p:cNvGrpSpPr>
                <a:grpSpLocks/>
              </p:cNvGrpSpPr>
              <p:nvPr/>
            </p:nvGrpSpPr>
            <p:grpSpPr bwMode="auto">
              <a:xfrm>
                <a:off x="803" y="3560"/>
                <a:ext cx="49" cy="22"/>
                <a:chOff x="803" y="3560"/>
                <a:chExt cx="49" cy="22"/>
              </a:xfrm>
            </p:grpSpPr>
            <p:sp>
              <p:nvSpPr>
                <p:cNvPr id="470" name="Freeform 29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1" name="Freeform 29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72" name="Freeform 29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2" name="Group 294"/>
              <p:cNvGrpSpPr>
                <a:grpSpLocks/>
              </p:cNvGrpSpPr>
              <p:nvPr/>
            </p:nvGrpSpPr>
            <p:grpSpPr bwMode="auto">
              <a:xfrm>
                <a:off x="815" y="3572"/>
                <a:ext cx="50" cy="23"/>
                <a:chOff x="815" y="3572"/>
                <a:chExt cx="50" cy="23"/>
              </a:xfrm>
            </p:grpSpPr>
            <p:sp>
              <p:nvSpPr>
                <p:cNvPr id="467" name="Freeform 29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8" name="Freeform 29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9" name="Freeform 29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3" name="Group 298"/>
              <p:cNvGrpSpPr>
                <a:grpSpLocks/>
              </p:cNvGrpSpPr>
              <p:nvPr/>
            </p:nvGrpSpPr>
            <p:grpSpPr bwMode="auto">
              <a:xfrm>
                <a:off x="828" y="3585"/>
                <a:ext cx="49" cy="23"/>
                <a:chOff x="828" y="3585"/>
                <a:chExt cx="49" cy="23"/>
              </a:xfrm>
            </p:grpSpPr>
            <p:sp>
              <p:nvSpPr>
                <p:cNvPr id="464" name="Freeform 29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5" name="Freeform 30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6" name="Freeform 30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4" name="Group 302"/>
              <p:cNvGrpSpPr>
                <a:grpSpLocks/>
              </p:cNvGrpSpPr>
              <p:nvPr/>
            </p:nvGrpSpPr>
            <p:grpSpPr bwMode="auto">
              <a:xfrm>
                <a:off x="840" y="3600"/>
                <a:ext cx="100" cy="73"/>
                <a:chOff x="840" y="3600"/>
                <a:chExt cx="100" cy="73"/>
              </a:xfrm>
            </p:grpSpPr>
            <p:grpSp>
              <p:nvGrpSpPr>
                <p:cNvPr id="444" name="Group 303"/>
                <p:cNvGrpSpPr>
                  <a:grpSpLocks/>
                </p:cNvGrpSpPr>
                <p:nvPr/>
              </p:nvGrpSpPr>
              <p:grpSpPr bwMode="auto">
                <a:xfrm>
                  <a:off x="840" y="3600"/>
                  <a:ext cx="49" cy="23"/>
                  <a:chOff x="840" y="3600"/>
                  <a:chExt cx="49" cy="23"/>
                </a:xfrm>
              </p:grpSpPr>
              <p:sp>
                <p:nvSpPr>
                  <p:cNvPr id="461" name="Freeform 30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2" name="Freeform 30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3" name="Freeform 30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45" name="Group 307"/>
                <p:cNvGrpSpPr>
                  <a:grpSpLocks/>
                </p:cNvGrpSpPr>
                <p:nvPr/>
              </p:nvGrpSpPr>
              <p:grpSpPr bwMode="auto">
                <a:xfrm>
                  <a:off x="853" y="3612"/>
                  <a:ext cx="48" cy="23"/>
                  <a:chOff x="853" y="3612"/>
                  <a:chExt cx="48" cy="23"/>
                </a:xfrm>
              </p:grpSpPr>
              <p:sp>
                <p:nvSpPr>
                  <p:cNvPr id="458" name="Freeform 30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9" name="Freeform 30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60" name="Freeform 31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46" name="Group 311"/>
                <p:cNvGrpSpPr>
                  <a:grpSpLocks/>
                </p:cNvGrpSpPr>
                <p:nvPr/>
              </p:nvGrpSpPr>
              <p:grpSpPr bwMode="auto">
                <a:xfrm>
                  <a:off x="865" y="3625"/>
                  <a:ext cx="49" cy="23"/>
                  <a:chOff x="865" y="3625"/>
                  <a:chExt cx="49" cy="23"/>
                </a:xfrm>
              </p:grpSpPr>
              <p:sp>
                <p:nvSpPr>
                  <p:cNvPr id="455" name="Freeform 31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6" name="Freeform 31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7" name="Freeform 31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47" name="Group 315"/>
                <p:cNvGrpSpPr>
                  <a:grpSpLocks/>
                </p:cNvGrpSpPr>
                <p:nvPr/>
              </p:nvGrpSpPr>
              <p:grpSpPr bwMode="auto">
                <a:xfrm>
                  <a:off x="878" y="3638"/>
                  <a:ext cx="49" cy="22"/>
                  <a:chOff x="878" y="3638"/>
                  <a:chExt cx="49" cy="22"/>
                </a:xfrm>
              </p:grpSpPr>
              <p:sp>
                <p:nvSpPr>
                  <p:cNvPr id="452" name="Freeform 31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3" name="Freeform 31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4" name="Freeform 31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48" name="Group 319"/>
                <p:cNvGrpSpPr>
                  <a:grpSpLocks/>
                </p:cNvGrpSpPr>
                <p:nvPr/>
              </p:nvGrpSpPr>
              <p:grpSpPr bwMode="auto">
                <a:xfrm>
                  <a:off x="890" y="3651"/>
                  <a:ext cx="50" cy="22"/>
                  <a:chOff x="890" y="3651"/>
                  <a:chExt cx="50" cy="22"/>
                </a:xfrm>
              </p:grpSpPr>
              <p:sp>
                <p:nvSpPr>
                  <p:cNvPr id="449" name="Freeform 32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0" name="Freeform 32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51" name="Freeform 32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25" name="Group 323"/>
              <p:cNvGrpSpPr>
                <a:grpSpLocks/>
              </p:cNvGrpSpPr>
              <p:nvPr/>
            </p:nvGrpSpPr>
            <p:grpSpPr bwMode="auto">
              <a:xfrm>
                <a:off x="903" y="3665"/>
                <a:ext cx="99" cy="74"/>
                <a:chOff x="903" y="3665"/>
                <a:chExt cx="99" cy="74"/>
              </a:xfrm>
            </p:grpSpPr>
            <p:grpSp>
              <p:nvGrpSpPr>
                <p:cNvPr id="424" name="Group 324"/>
                <p:cNvGrpSpPr>
                  <a:grpSpLocks/>
                </p:cNvGrpSpPr>
                <p:nvPr/>
              </p:nvGrpSpPr>
              <p:grpSpPr bwMode="auto">
                <a:xfrm>
                  <a:off x="903" y="3665"/>
                  <a:ext cx="49" cy="23"/>
                  <a:chOff x="903" y="3665"/>
                  <a:chExt cx="49" cy="23"/>
                </a:xfrm>
              </p:grpSpPr>
              <p:sp>
                <p:nvSpPr>
                  <p:cNvPr id="441" name="Freeform 32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2" name="Freeform 32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3" name="Freeform 32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 name="Group 328"/>
                <p:cNvGrpSpPr>
                  <a:grpSpLocks/>
                </p:cNvGrpSpPr>
                <p:nvPr/>
              </p:nvGrpSpPr>
              <p:grpSpPr bwMode="auto">
                <a:xfrm>
                  <a:off x="914" y="3678"/>
                  <a:ext cx="49" cy="23"/>
                  <a:chOff x="914" y="3678"/>
                  <a:chExt cx="49" cy="23"/>
                </a:xfrm>
              </p:grpSpPr>
              <p:sp>
                <p:nvSpPr>
                  <p:cNvPr id="438" name="Freeform 32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9" name="Freeform 33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0" name="Freeform 33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6" name="Group 332"/>
                <p:cNvGrpSpPr>
                  <a:grpSpLocks/>
                </p:cNvGrpSpPr>
                <p:nvPr/>
              </p:nvGrpSpPr>
              <p:grpSpPr bwMode="auto">
                <a:xfrm>
                  <a:off x="928" y="3690"/>
                  <a:ext cx="48" cy="23"/>
                  <a:chOff x="928" y="3690"/>
                  <a:chExt cx="48" cy="23"/>
                </a:xfrm>
              </p:grpSpPr>
              <p:sp>
                <p:nvSpPr>
                  <p:cNvPr id="435" name="Freeform 33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6" name="Freeform 33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7" name="Freeform 33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7" name="Group 336"/>
                <p:cNvGrpSpPr>
                  <a:grpSpLocks/>
                </p:cNvGrpSpPr>
                <p:nvPr/>
              </p:nvGrpSpPr>
              <p:grpSpPr bwMode="auto">
                <a:xfrm>
                  <a:off x="940" y="3703"/>
                  <a:ext cx="49" cy="23"/>
                  <a:chOff x="940" y="3703"/>
                  <a:chExt cx="49" cy="23"/>
                </a:xfrm>
              </p:grpSpPr>
              <p:sp>
                <p:nvSpPr>
                  <p:cNvPr id="432" name="Freeform 33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3" name="Freeform 33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4" name="Freeform 33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8" name="Group 340"/>
                <p:cNvGrpSpPr>
                  <a:grpSpLocks/>
                </p:cNvGrpSpPr>
                <p:nvPr/>
              </p:nvGrpSpPr>
              <p:grpSpPr bwMode="auto">
                <a:xfrm>
                  <a:off x="953" y="3716"/>
                  <a:ext cx="49" cy="23"/>
                  <a:chOff x="953" y="3716"/>
                  <a:chExt cx="49" cy="23"/>
                </a:xfrm>
              </p:grpSpPr>
              <p:sp>
                <p:nvSpPr>
                  <p:cNvPr id="429" name="Freeform 34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0" name="Freeform 34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31" name="Freeform 34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26" name="Group 344"/>
              <p:cNvGrpSpPr>
                <a:grpSpLocks/>
              </p:cNvGrpSpPr>
              <p:nvPr/>
            </p:nvGrpSpPr>
            <p:grpSpPr bwMode="auto">
              <a:xfrm>
                <a:off x="963" y="3727"/>
                <a:ext cx="49" cy="23"/>
                <a:chOff x="963" y="3727"/>
                <a:chExt cx="49" cy="23"/>
              </a:xfrm>
            </p:grpSpPr>
            <p:sp>
              <p:nvSpPr>
                <p:cNvPr id="421" name="Freeform 34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 name="Freeform 34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 name="Freeform 34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7" name="Group 348"/>
              <p:cNvGrpSpPr>
                <a:grpSpLocks/>
              </p:cNvGrpSpPr>
              <p:nvPr/>
            </p:nvGrpSpPr>
            <p:grpSpPr bwMode="auto">
              <a:xfrm>
                <a:off x="976" y="3740"/>
                <a:ext cx="50" cy="22"/>
                <a:chOff x="976" y="3740"/>
                <a:chExt cx="50" cy="22"/>
              </a:xfrm>
            </p:grpSpPr>
            <p:sp>
              <p:nvSpPr>
                <p:cNvPr id="418" name="Freeform 34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9" name="Freeform 35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0" name="Freeform 35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8" name="Group 352"/>
              <p:cNvGrpSpPr>
                <a:grpSpLocks/>
              </p:cNvGrpSpPr>
              <p:nvPr/>
            </p:nvGrpSpPr>
            <p:grpSpPr bwMode="auto">
              <a:xfrm>
                <a:off x="761" y="3560"/>
                <a:ext cx="50" cy="22"/>
                <a:chOff x="761" y="3560"/>
                <a:chExt cx="50" cy="22"/>
              </a:xfrm>
            </p:grpSpPr>
            <p:sp>
              <p:nvSpPr>
                <p:cNvPr id="415" name="Freeform 35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6" name="Freeform 35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7" name="Freeform 35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29" name="Group 356"/>
              <p:cNvGrpSpPr>
                <a:grpSpLocks/>
              </p:cNvGrpSpPr>
              <p:nvPr/>
            </p:nvGrpSpPr>
            <p:grpSpPr bwMode="auto">
              <a:xfrm>
                <a:off x="774" y="3572"/>
                <a:ext cx="49" cy="23"/>
                <a:chOff x="774" y="3572"/>
                <a:chExt cx="49" cy="23"/>
              </a:xfrm>
            </p:grpSpPr>
            <p:sp>
              <p:nvSpPr>
                <p:cNvPr id="412" name="Freeform 35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3" name="Freeform 35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4" name="Freeform 35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0" name="Group 360"/>
              <p:cNvGrpSpPr>
                <a:grpSpLocks/>
              </p:cNvGrpSpPr>
              <p:nvPr/>
            </p:nvGrpSpPr>
            <p:grpSpPr bwMode="auto">
              <a:xfrm>
                <a:off x="787" y="3585"/>
                <a:ext cx="49" cy="23"/>
                <a:chOff x="787" y="3585"/>
                <a:chExt cx="49" cy="23"/>
              </a:xfrm>
            </p:grpSpPr>
            <p:sp>
              <p:nvSpPr>
                <p:cNvPr id="409" name="Freeform 36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0" name="Freeform 36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11" name="Freeform 36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1" name="Group 364"/>
              <p:cNvGrpSpPr>
                <a:grpSpLocks/>
              </p:cNvGrpSpPr>
              <p:nvPr/>
            </p:nvGrpSpPr>
            <p:grpSpPr bwMode="auto">
              <a:xfrm>
                <a:off x="799" y="3600"/>
                <a:ext cx="99" cy="73"/>
                <a:chOff x="799" y="3600"/>
                <a:chExt cx="99" cy="73"/>
              </a:xfrm>
            </p:grpSpPr>
            <p:grpSp>
              <p:nvGrpSpPr>
                <p:cNvPr id="389" name="Group 365"/>
                <p:cNvGrpSpPr>
                  <a:grpSpLocks/>
                </p:cNvGrpSpPr>
                <p:nvPr/>
              </p:nvGrpSpPr>
              <p:grpSpPr bwMode="auto">
                <a:xfrm>
                  <a:off x="799" y="3600"/>
                  <a:ext cx="48" cy="23"/>
                  <a:chOff x="799" y="3600"/>
                  <a:chExt cx="48" cy="23"/>
                </a:xfrm>
              </p:grpSpPr>
              <p:sp>
                <p:nvSpPr>
                  <p:cNvPr id="406" name="Freeform 36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7" name="Freeform 36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8" name="Freeform 36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90" name="Group 369"/>
                <p:cNvGrpSpPr>
                  <a:grpSpLocks/>
                </p:cNvGrpSpPr>
                <p:nvPr/>
              </p:nvGrpSpPr>
              <p:grpSpPr bwMode="auto">
                <a:xfrm>
                  <a:off x="811" y="3612"/>
                  <a:ext cx="48" cy="23"/>
                  <a:chOff x="811" y="3612"/>
                  <a:chExt cx="48" cy="23"/>
                </a:xfrm>
              </p:grpSpPr>
              <p:sp>
                <p:nvSpPr>
                  <p:cNvPr id="403" name="Freeform 37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4" name="Freeform 37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5" name="Freeform 37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91" name="Group 373"/>
                <p:cNvGrpSpPr>
                  <a:grpSpLocks/>
                </p:cNvGrpSpPr>
                <p:nvPr/>
              </p:nvGrpSpPr>
              <p:grpSpPr bwMode="auto">
                <a:xfrm>
                  <a:off x="823" y="3625"/>
                  <a:ext cx="49" cy="23"/>
                  <a:chOff x="823" y="3625"/>
                  <a:chExt cx="49" cy="23"/>
                </a:xfrm>
              </p:grpSpPr>
              <p:sp>
                <p:nvSpPr>
                  <p:cNvPr id="400" name="Freeform 37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1" name="Freeform 37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02" name="Freeform 37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92" name="Group 377"/>
                <p:cNvGrpSpPr>
                  <a:grpSpLocks/>
                </p:cNvGrpSpPr>
                <p:nvPr/>
              </p:nvGrpSpPr>
              <p:grpSpPr bwMode="auto">
                <a:xfrm>
                  <a:off x="836" y="3638"/>
                  <a:ext cx="50" cy="22"/>
                  <a:chOff x="836" y="3638"/>
                  <a:chExt cx="50" cy="22"/>
                </a:xfrm>
              </p:grpSpPr>
              <p:sp>
                <p:nvSpPr>
                  <p:cNvPr id="397" name="Freeform 37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98" name="Freeform 37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99" name="Freeform 38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93" name="Group 381"/>
                <p:cNvGrpSpPr>
                  <a:grpSpLocks/>
                </p:cNvGrpSpPr>
                <p:nvPr/>
              </p:nvGrpSpPr>
              <p:grpSpPr bwMode="auto">
                <a:xfrm>
                  <a:off x="849" y="3651"/>
                  <a:ext cx="49" cy="22"/>
                  <a:chOff x="849" y="3651"/>
                  <a:chExt cx="49" cy="22"/>
                </a:xfrm>
              </p:grpSpPr>
              <p:sp>
                <p:nvSpPr>
                  <p:cNvPr id="394" name="Freeform 38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95" name="Freeform 38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96" name="Freeform 38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32" name="Group 385"/>
              <p:cNvGrpSpPr>
                <a:grpSpLocks/>
              </p:cNvGrpSpPr>
              <p:nvPr/>
            </p:nvGrpSpPr>
            <p:grpSpPr bwMode="auto">
              <a:xfrm>
                <a:off x="861" y="3665"/>
                <a:ext cx="99" cy="74"/>
                <a:chOff x="861" y="3665"/>
                <a:chExt cx="99" cy="74"/>
              </a:xfrm>
            </p:grpSpPr>
            <p:grpSp>
              <p:nvGrpSpPr>
                <p:cNvPr id="369" name="Group 386"/>
                <p:cNvGrpSpPr>
                  <a:grpSpLocks/>
                </p:cNvGrpSpPr>
                <p:nvPr/>
              </p:nvGrpSpPr>
              <p:grpSpPr bwMode="auto">
                <a:xfrm>
                  <a:off x="861" y="3665"/>
                  <a:ext cx="50" cy="23"/>
                  <a:chOff x="861" y="3665"/>
                  <a:chExt cx="50" cy="23"/>
                </a:xfrm>
              </p:grpSpPr>
              <p:sp>
                <p:nvSpPr>
                  <p:cNvPr id="386" name="Freeform 38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7" name="Freeform 38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8" name="Freeform 38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70" name="Group 390"/>
                <p:cNvGrpSpPr>
                  <a:grpSpLocks/>
                </p:cNvGrpSpPr>
                <p:nvPr/>
              </p:nvGrpSpPr>
              <p:grpSpPr bwMode="auto">
                <a:xfrm>
                  <a:off x="873" y="3678"/>
                  <a:ext cx="49" cy="23"/>
                  <a:chOff x="873" y="3678"/>
                  <a:chExt cx="49" cy="23"/>
                </a:xfrm>
              </p:grpSpPr>
              <p:sp>
                <p:nvSpPr>
                  <p:cNvPr id="383" name="Freeform 39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4" name="Freeform 39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5" name="Freeform 39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71" name="Group 394"/>
                <p:cNvGrpSpPr>
                  <a:grpSpLocks/>
                </p:cNvGrpSpPr>
                <p:nvPr/>
              </p:nvGrpSpPr>
              <p:grpSpPr bwMode="auto">
                <a:xfrm>
                  <a:off x="886" y="3690"/>
                  <a:ext cx="49" cy="23"/>
                  <a:chOff x="886" y="3690"/>
                  <a:chExt cx="49" cy="23"/>
                </a:xfrm>
              </p:grpSpPr>
              <p:sp>
                <p:nvSpPr>
                  <p:cNvPr id="380" name="Freeform 39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1" name="Freeform 39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82" name="Freeform 39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72" name="Group 398"/>
                <p:cNvGrpSpPr>
                  <a:grpSpLocks/>
                </p:cNvGrpSpPr>
                <p:nvPr/>
              </p:nvGrpSpPr>
              <p:grpSpPr bwMode="auto">
                <a:xfrm>
                  <a:off x="899" y="3703"/>
                  <a:ext cx="48" cy="23"/>
                  <a:chOff x="899" y="3703"/>
                  <a:chExt cx="48" cy="23"/>
                </a:xfrm>
              </p:grpSpPr>
              <p:sp>
                <p:nvSpPr>
                  <p:cNvPr id="377" name="Freeform 39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78" name="Freeform 40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79" name="Freeform 40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73" name="Group 402"/>
                <p:cNvGrpSpPr>
                  <a:grpSpLocks/>
                </p:cNvGrpSpPr>
                <p:nvPr/>
              </p:nvGrpSpPr>
              <p:grpSpPr bwMode="auto">
                <a:xfrm>
                  <a:off x="912" y="3716"/>
                  <a:ext cx="48" cy="23"/>
                  <a:chOff x="912" y="3716"/>
                  <a:chExt cx="48" cy="23"/>
                </a:xfrm>
              </p:grpSpPr>
              <p:sp>
                <p:nvSpPr>
                  <p:cNvPr id="374" name="Freeform 40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75" name="Freeform 40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76" name="Freeform 40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33" name="Group 406"/>
              <p:cNvGrpSpPr>
                <a:grpSpLocks/>
              </p:cNvGrpSpPr>
              <p:nvPr/>
            </p:nvGrpSpPr>
            <p:grpSpPr bwMode="auto">
              <a:xfrm>
                <a:off x="922" y="3727"/>
                <a:ext cx="49" cy="23"/>
                <a:chOff x="922" y="3727"/>
                <a:chExt cx="49" cy="23"/>
              </a:xfrm>
            </p:grpSpPr>
            <p:sp>
              <p:nvSpPr>
                <p:cNvPr id="366" name="Freeform 40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7" name="Freeform 40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8" name="Freeform 40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4" name="Group 410"/>
              <p:cNvGrpSpPr>
                <a:grpSpLocks/>
              </p:cNvGrpSpPr>
              <p:nvPr/>
            </p:nvGrpSpPr>
            <p:grpSpPr bwMode="auto">
              <a:xfrm>
                <a:off x="895" y="3526"/>
                <a:ext cx="44" cy="23"/>
                <a:chOff x="895" y="3526"/>
                <a:chExt cx="44" cy="23"/>
              </a:xfrm>
            </p:grpSpPr>
            <p:sp>
              <p:nvSpPr>
                <p:cNvPr id="363" name="Freeform 41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4" name="Freeform 41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5" name="Freeform 41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5" name="Group 414"/>
              <p:cNvGrpSpPr>
                <a:grpSpLocks/>
              </p:cNvGrpSpPr>
              <p:nvPr/>
            </p:nvGrpSpPr>
            <p:grpSpPr bwMode="auto">
              <a:xfrm>
                <a:off x="907" y="3540"/>
                <a:ext cx="45" cy="22"/>
                <a:chOff x="907" y="3540"/>
                <a:chExt cx="45" cy="22"/>
              </a:xfrm>
            </p:grpSpPr>
            <p:sp>
              <p:nvSpPr>
                <p:cNvPr id="360" name="Freeform 41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1" name="Freeform 41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62" name="Freeform 41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6" name="Group 418"/>
              <p:cNvGrpSpPr>
                <a:grpSpLocks/>
              </p:cNvGrpSpPr>
              <p:nvPr/>
            </p:nvGrpSpPr>
            <p:grpSpPr bwMode="auto">
              <a:xfrm>
                <a:off x="920" y="3553"/>
                <a:ext cx="45" cy="23"/>
                <a:chOff x="920" y="3553"/>
                <a:chExt cx="45" cy="23"/>
              </a:xfrm>
            </p:grpSpPr>
            <p:sp>
              <p:nvSpPr>
                <p:cNvPr id="357" name="Freeform 41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8" name="Freeform 42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9" name="Freeform 42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7" name="Group 422"/>
              <p:cNvGrpSpPr>
                <a:grpSpLocks/>
              </p:cNvGrpSpPr>
              <p:nvPr/>
            </p:nvGrpSpPr>
            <p:grpSpPr bwMode="auto">
              <a:xfrm>
                <a:off x="934" y="3566"/>
                <a:ext cx="44" cy="23"/>
                <a:chOff x="934" y="3566"/>
                <a:chExt cx="44" cy="23"/>
              </a:xfrm>
            </p:grpSpPr>
            <p:sp>
              <p:nvSpPr>
                <p:cNvPr id="354" name="Freeform 42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5" name="Freeform 42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6" name="Freeform 42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38" name="Group 426"/>
              <p:cNvGrpSpPr>
                <a:grpSpLocks/>
              </p:cNvGrpSpPr>
              <p:nvPr/>
            </p:nvGrpSpPr>
            <p:grpSpPr bwMode="auto">
              <a:xfrm>
                <a:off x="949" y="3579"/>
                <a:ext cx="83" cy="63"/>
                <a:chOff x="949" y="3579"/>
                <a:chExt cx="83" cy="63"/>
              </a:xfrm>
            </p:grpSpPr>
            <p:grpSp>
              <p:nvGrpSpPr>
                <p:cNvPr id="338" name="Group 427"/>
                <p:cNvGrpSpPr>
                  <a:grpSpLocks/>
                </p:cNvGrpSpPr>
                <p:nvPr/>
              </p:nvGrpSpPr>
              <p:grpSpPr bwMode="auto">
                <a:xfrm>
                  <a:off x="949" y="3579"/>
                  <a:ext cx="44" cy="23"/>
                  <a:chOff x="949" y="3579"/>
                  <a:chExt cx="44" cy="23"/>
                </a:xfrm>
              </p:grpSpPr>
              <p:sp>
                <p:nvSpPr>
                  <p:cNvPr id="351" name="Freeform 42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2" name="Freeform 42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3" name="Freeform 43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39" name="Group 431"/>
                <p:cNvGrpSpPr>
                  <a:grpSpLocks/>
                </p:cNvGrpSpPr>
                <p:nvPr/>
              </p:nvGrpSpPr>
              <p:grpSpPr bwMode="auto">
                <a:xfrm>
                  <a:off x="961" y="3592"/>
                  <a:ext cx="45" cy="23"/>
                  <a:chOff x="961" y="3592"/>
                  <a:chExt cx="45" cy="23"/>
                </a:xfrm>
              </p:grpSpPr>
              <p:sp>
                <p:nvSpPr>
                  <p:cNvPr id="348" name="Freeform 43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49" name="Freeform 43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50" name="Freeform 43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40" name="Group 435"/>
                <p:cNvGrpSpPr>
                  <a:grpSpLocks/>
                </p:cNvGrpSpPr>
                <p:nvPr/>
              </p:nvGrpSpPr>
              <p:grpSpPr bwMode="auto">
                <a:xfrm>
                  <a:off x="974" y="3606"/>
                  <a:ext cx="44" cy="23"/>
                  <a:chOff x="974" y="3606"/>
                  <a:chExt cx="44" cy="23"/>
                </a:xfrm>
              </p:grpSpPr>
              <p:sp>
                <p:nvSpPr>
                  <p:cNvPr id="345" name="Freeform 43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46" name="Freeform 43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47" name="Freeform 43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41" name="Group 439"/>
                <p:cNvGrpSpPr>
                  <a:grpSpLocks/>
                </p:cNvGrpSpPr>
                <p:nvPr/>
              </p:nvGrpSpPr>
              <p:grpSpPr bwMode="auto">
                <a:xfrm>
                  <a:off x="987" y="3619"/>
                  <a:ext cx="45" cy="23"/>
                  <a:chOff x="987" y="3619"/>
                  <a:chExt cx="45" cy="23"/>
                </a:xfrm>
              </p:grpSpPr>
              <p:sp>
                <p:nvSpPr>
                  <p:cNvPr id="342" name="Freeform 44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43" name="Freeform 44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44" name="Freeform 44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39" name="Group 443"/>
              <p:cNvGrpSpPr>
                <a:grpSpLocks/>
              </p:cNvGrpSpPr>
              <p:nvPr/>
            </p:nvGrpSpPr>
            <p:grpSpPr bwMode="auto">
              <a:xfrm>
                <a:off x="1002" y="3632"/>
                <a:ext cx="83" cy="63"/>
                <a:chOff x="1002" y="3632"/>
                <a:chExt cx="83" cy="63"/>
              </a:xfrm>
            </p:grpSpPr>
            <p:grpSp>
              <p:nvGrpSpPr>
                <p:cNvPr id="322" name="Group 444"/>
                <p:cNvGrpSpPr>
                  <a:grpSpLocks/>
                </p:cNvGrpSpPr>
                <p:nvPr/>
              </p:nvGrpSpPr>
              <p:grpSpPr bwMode="auto">
                <a:xfrm>
                  <a:off x="1002" y="3632"/>
                  <a:ext cx="44" cy="22"/>
                  <a:chOff x="1002" y="3632"/>
                  <a:chExt cx="44" cy="22"/>
                </a:xfrm>
              </p:grpSpPr>
              <p:sp>
                <p:nvSpPr>
                  <p:cNvPr id="335" name="Freeform 44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6" name="Freeform 44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7" name="Freeform 44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23" name="Group 448"/>
                <p:cNvGrpSpPr>
                  <a:grpSpLocks/>
                </p:cNvGrpSpPr>
                <p:nvPr/>
              </p:nvGrpSpPr>
              <p:grpSpPr bwMode="auto">
                <a:xfrm>
                  <a:off x="1014" y="3645"/>
                  <a:ext cx="44" cy="23"/>
                  <a:chOff x="1014" y="3645"/>
                  <a:chExt cx="44" cy="23"/>
                </a:xfrm>
              </p:grpSpPr>
              <p:sp>
                <p:nvSpPr>
                  <p:cNvPr id="332" name="Freeform 44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3" name="Freeform 45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4" name="Freeform 45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24" name="Group 452"/>
                <p:cNvGrpSpPr>
                  <a:grpSpLocks/>
                </p:cNvGrpSpPr>
                <p:nvPr/>
              </p:nvGrpSpPr>
              <p:grpSpPr bwMode="auto">
                <a:xfrm>
                  <a:off x="1027" y="3659"/>
                  <a:ext cx="45" cy="23"/>
                  <a:chOff x="1027" y="3659"/>
                  <a:chExt cx="45" cy="23"/>
                </a:xfrm>
              </p:grpSpPr>
              <p:sp>
                <p:nvSpPr>
                  <p:cNvPr id="329" name="Freeform 45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0" name="Freeform 45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31" name="Freeform 45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325" name="Group 456"/>
                <p:cNvGrpSpPr>
                  <a:grpSpLocks/>
                </p:cNvGrpSpPr>
                <p:nvPr/>
              </p:nvGrpSpPr>
              <p:grpSpPr bwMode="auto">
                <a:xfrm>
                  <a:off x="1040" y="3672"/>
                  <a:ext cx="45" cy="23"/>
                  <a:chOff x="1040" y="3672"/>
                  <a:chExt cx="45" cy="23"/>
                </a:xfrm>
              </p:grpSpPr>
              <p:sp>
                <p:nvSpPr>
                  <p:cNvPr id="326" name="Freeform 45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27" name="Freeform 45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28" name="Freeform 45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240" name="Group 460"/>
              <p:cNvGrpSpPr>
                <a:grpSpLocks/>
              </p:cNvGrpSpPr>
              <p:nvPr/>
            </p:nvGrpSpPr>
            <p:grpSpPr bwMode="auto">
              <a:xfrm>
                <a:off x="1054" y="3685"/>
                <a:ext cx="45" cy="23"/>
                <a:chOff x="1054" y="3685"/>
                <a:chExt cx="45" cy="23"/>
              </a:xfrm>
            </p:grpSpPr>
            <p:sp>
              <p:nvSpPr>
                <p:cNvPr id="319" name="Freeform 46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20" name="Freeform 46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21" name="Freeform 46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1" name="Group 464"/>
              <p:cNvGrpSpPr>
                <a:grpSpLocks/>
              </p:cNvGrpSpPr>
              <p:nvPr/>
            </p:nvGrpSpPr>
            <p:grpSpPr bwMode="auto">
              <a:xfrm>
                <a:off x="1067" y="3698"/>
                <a:ext cx="45" cy="23"/>
                <a:chOff x="1067" y="3698"/>
                <a:chExt cx="45" cy="23"/>
              </a:xfrm>
            </p:grpSpPr>
            <p:sp>
              <p:nvSpPr>
                <p:cNvPr id="316" name="Freeform 46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7" name="Freeform 46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8" name="Freeform 46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2" name="Group 468"/>
              <p:cNvGrpSpPr>
                <a:grpSpLocks/>
              </p:cNvGrpSpPr>
              <p:nvPr/>
            </p:nvGrpSpPr>
            <p:grpSpPr bwMode="auto">
              <a:xfrm>
                <a:off x="1079" y="3712"/>
                <a:ext cx="44" cy="23"/>
                <a:chOff x="1079" y="3712"/>
                <a:chExt cx="44" cy="23"/>
              </a:xfrm>
            </p:grpSpPr>
            <p:sp>
              <p:nvSpPr>
                <p:cNvPr id="313" name="Freeform 46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4" name="Freeform 47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5" name="Freeform 47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3" name="Group 472"/>
              <p:cNvGrpSpPr>
                <a:grpSpLocks/>
              </p:cNvGrpSpPr>
              <p:nvPr/>
            </p:nvGrpSpPr>
            <p:grpSpPr bwMode="auto">
              <a:xfrm>
                <a:off x="1093" y="3725"/>
                <a:ext cx="45" cy="23"/>
                <a:chOff x="1093" y="3725"/>
                <a:chExt cx="45" cy="23"/>
              </a:xfrm>
            </p:grpSpPr>
            <p:sp>
              <p:nvSpPr>
                <p:cNvPr id="310" name="Freeform 47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1" name="Freeform 47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12" name="Freeform 47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4" name="Group 476"/>
              <p:cNvGrpSpPr>
                <a:grpSpLocks/>
              </p:cNvGrpSpPr>
              <p:nvPr/>
            </p:nvGrpSpPr>
            <p:grpSpPr bwMode="auto">
              <a:xfrm>
                <a:off x="1108" y="3739"/>
                <a:ext cx="44" cy="23"/>
                <a:chOff x="1108" y="3739"/>
                <a:chExt cx="44" cy="23"/>
              </a:xfrm>
            </p:grpSpPr>
            <p:sp>
              <p:nvSpPr>
                <p:cNvPr id="307" name="Freeform 47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8" name="Freeform 47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9" name="Freeform 47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5" name="Group 480"/>
              <p:cNvGrpSpPr>
                <a:grpSpLocks/>
              </p:cNvGrpSpPr>
              <p:nvPr/>
            </p:nvGrpSpPr>
            <p:grpSpPr bwMode="auto">
              <a:xfrm>
                <a:off x="1121" y="3753"/>
                <a:ext cx="45" cy="23"/>
                <a:chOff x="1121" y="3753"/>
                <a:chExt cx="45" cy="23"/>
              </a:xfrm>
            </p:grpSpPr>
            <p:sp>
              <p:nvSpPr>
                <p:cNvPr id="304" name="Freeform 48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5" name="Freeform 48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6" name="Freeform 48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46" name="Group 484"/>
              <p:cNvGrpSpPr>
                <a:grpSpLocks/>
              </p:cNvGrpSpPr>
              <p:nvPr/>
            </p:nvGrpSpPr>
            <p:grpSpPr bwMode="auto">
              <a:xfrm>
                <a:off x="1133" y="3767"/>
                <a:ext cx="44" cy="23"/>
                <a:chOff x="1133" y="3767"/>
                <a:chExt cx="44" cy="23"/>
              </a:xfrm>
            </p:grpSpPr>
            <p:sp>
              <p:nvSpPr>
                <p:cNvPr id="301" name="Freeform 48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2" name="Freeform 48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3" name="Freeform 48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247" name="Freeform 48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48" name="Freeform 48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49" name="Freeform 49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0" name="Freeform 49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1" name="Freeform 49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2" name="Freeform 49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3" name="Freeform 49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4" name="Freeform 49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5" name="Freeform 49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6" name="Freeform 49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57" name="Freeform 49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258" name="Group 499"/>
              <p:cNvGrpSpPr>
                <a:grpSpLocks/>
              </p:cNvGrpSpPr>
              <p:nvPr/>
            </p:nvGrpSpPr>
            <p:grpSpPr bwMode="auto">
              <a:xfrm>
                <a:off x="700" y="3535"/>
                <a:ext cx="49" cy="24"/>
                <a:chOff x="700" y="3535"/>
                <a:chExt cx="49" cy="24"/>
              </a:xfrm>
            </p:grpSpPr>
            <p:sp>
              <p:nvSpPr>
                <p:cNvPr id="298" name="Freeform 50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9" name="Freeform 50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300" name="Freeform 50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59" name="Group 503"/>
              <p:cNvGrpSpPr>
                <a:grpSpLocks/>
              </p:cNvGrpSpPr>
              <p:nvPr/>
            </p:nvGrpSpPr>
            <p:grpSpPr bwMode="auto">
              <a:xfrm>
                <a:off x="714" y="3551"/>
                <a:ext cx="49" cy="22"/>
                <a:chOff x="714" y="3551"/>
                <a:chExt cx="49" cy="22"/>
              </a:xfrm>
            </p:grpSpPr>
            <p:sp>
              <p:nvSpPr>
                <p:cNvPr id="295" name="Freeform 50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6" name="Freeform 50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7" name="Freeform 50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0" name="Group 507"/>
              <p:cNvGrpSpPr>
                <a:grpSpLocks/>
              </p:cNvGrpSpPr>
              <p:nvPr/>
            </p:nvGrpSpPr>
            <p:grpSpPr bwMode="auto">
              <a:xfrm>
                <a:off x="728" y="3564"/>
                <a:ext cx="48" cy="23"/>
                <a:chOff x="728" y="3564"/>
                <a:chExt cx="48" cy="23"/>
              </a:xfrm>
            </p:grpSpPr>
            <p:sp>
              <p:nvSpPr>
                <p:cNvPr id="292" name="Freeform 50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3" name="Freeform 50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4" name="Freeform 51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1" name="Group 511"/>
              <p:cNvGrpSpPr>
                <a:grpSpLocks/>
              </p:cNvGrpSpPr>
              <p:nvPr/>
            </p:nvGrpSpPr>
            <p:grpSpPr bwMode="auto">
              <a:xfrm>
                <a:off x="742" y="3582"/>
                <a:ext cx="49" cy="23"/>
                <a:chOff x="742" y="3582"/>
                <a:chExt cx="49" cy="23"/>
              </a:xfrm>
            </p:grpSpPr>
            <p:sp>
              <p:nvSpPr>
                <p:cNvPr id="289" name="Freeform 51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0" name="Freeform 51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91" name="Freeform 51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2" name="Group 515"/>
              <p:cNvGrpSpPr>
                <a:grpSpLocks/>
              </p:cNvGrpSpPr>
              <p:nvPr/>
            </p:nvGrpSpPr>
            <p:grpSpPr bwMode="auto">
              <a:xfrm>
                <a:off x="752" y="3597"/>
                <a:ext cx="133" cy="106"/>
                <a:chOff x="752" y="3597"/>
                <a:chExt cx="133" cy="106"/>
              </a:xfrm>
            </p:grpSpPr>
            <p:sp>
              <p:nvSpPr>
                <p:cNvPr id="286" name="Freeform 51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7" name="Freeform 51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8" name="Freeform 51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3" name="Group 519"/>
              <p:cNvGrpSpPr>
                <a:grpSpLocks/>
              </p:cNvGrpSpPr>
              <p:nvPr/>
            </p:nvGrpSpPr>
            <p:grpSpPr bwMode="auto">
              <a:xfrm>
                <a:off x="844" y="3694"/>
                <a:ext cx="48" cy="23"/>
                <a:chOff x="844" y="3694"/>
                <a:chExt cx="48" cy="23"/>
              </a:xfrm>
            </p:grpSpPr>
            <p:sp>
              <p:nvSpPr>
                <p:cNvPr id="283" name="Freeform 52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4" name="Freeform 52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5" name="Freeform 52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4" name="Group 523"/>
              <p:cNvGrpSpPr>
                <a:grpSpLocks/>
              </p:cNvGrpSpPr>
              <p:nvPr/>
            </p:nvGrpSpPr>
            <p:grpSpPr bwMode="auto">
              <a:xfrm>
                <a:off x="857" y="3710"/>
                <a:ext cx="49" cy="22"/>
                <a:chOff x="857" y="3710"/>
                <a:chExt cx="49" cy="22"/>
              </a:xfrm>
            </p:grpSpPr>
            <p:sp>
              <p:nvSpPr>
                <p:cNvPr id="280" name="Freeform 52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1" name="Freeform 52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82" name="Freeform 52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5" name="Group 527"/>
              <p:cNvGrpSpPr>
                <a:grpSpLocks/>
              </p:cNvGrpSpPr>
              <p:nvPr/>
            </p:nvGrpSpPr>
            <p:grpSpPr bwMode="auto">
              <a:xfrm>
                <a:off x="1086" y="3766"/>
                <a:ext cx="49" cy="23"/>
                <a:chOff x="1086" y="3766"/>
                <a:chExt cx="49" cy="23"/>
              </a:xfrm>
            </p:grpSpPr>
            <p:sp>
              <p:nvSpPr>
                <p:cNvPr id="277" name="Freeform 52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8" name="Freeform 52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9" name="Freeform 53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6" name="Group 531"/>
              <p:cNvGrpSpPr>
                <a:grpSpLocks/>
              </p:cNvGrpSpPr>
              <p:nvPr/>
            </p:nvGrpSpPr>
            <p:grpSpPr bwMode="auto">
              <a:xfrm>
                <a:off x="934" y="3740"/>
                <a:ext cx="48" cy="23"/>
                <a:chOff x="934" y="3740"/>
                <a:chExt cx="48" cy="23"/>
              </a:xfrm>
            </p:grpSpPr>
            <p:sp>
              <p:nvSpPr>
                <p:cNvPr id="274" name="Freeform 53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5" name="Freeform 53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6" name="Freeform 53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267" name="Group 535"/>
              <p:cNvGrpSpPr>
                <a:grpSpLocks/>
              </p:cNvGrpSpPr>
              <p:nvPr/>
            </p:nvGrpSpPr>
            <p:grpSpPr bwMode="auto">
              <a:xfrm>
                <a:off x="943" y="3754"/>
                <a:ext cx="49" cy="23"/>
                <a:chOff x="943" y="3754"/>
                <a:chExt cx="49" cy="23"/>
              </a:xfrm>
            </p:grpSpPr>
            <p:sp>
              <p:nvSpPr>
                <p:cNvPr id="271" name="Freeform 53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2" name="Freeform 53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3" name="Freeform 53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268" name="Freeform 53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69" name="Freeform 54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270" name="Freeform 54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65" name="Group 542"/>
            <p:cNvGrpSpPr>
              <a:grpSpLocks/>
            </p:cNvGrpSpPr>
            <p:nvPr/>
          </p:nvGrpSpPr>
          <p:grpSpPr bwMode="auto">
            <a:xfrm>
              <a:off x="920" y="3821"/>
              <a:ext cx="413" cy="50"/>
              <a:chOff x="920" y="3821"/>
              <a:chExt cx="413" cy="50"/>
            </a:xfrm>
          </p:grpSpPr>
          <p:sp>
            <p:nvSpPr>
              <p:cNvPr id="186" name="Freeform 54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87" name="Freeform 54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8" name="Rectangle 54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9" name="Rectangle 54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黑体" panose="02010609060101010101" pitchFamily="49" charset="-122"/>
                </a:endParaRPr>
              </a:p>
            </p:txBody>
          </p:sp>
        </p:grpSp>
        <p:grpSp>
          <p:nvGrpSpPr>
            <p:cNvPr id="166" name="Group 547"/>
            <p:cNvGrpSpPr>
              <a:grpSpLocks/>
            </p:cNvGrpSpPr>
            <p:nvPr/>
          </p:nvGrpSpPr>
          <p:grpSpPr bwMode="auto">
            <a:xfrm>
              <a:off x="1227" y="3477"/>
              <a:ext cx="508" cy="321"/>
              <a:chOff x="1227" y="3477"/>
              <a:chExt cx="508" cy="321"/>
            </a:xfrm>
          </p:grpSpPr>
          <p:sp>
            <p:nvSpPr>
              <p:cNvPr id="167" name="Freeform 54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68" name="Freeform 54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69" name="Freeform 55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0" name="Line 55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71" name="Freeform 55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2" name="Freeform 55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3" name="Freeform 55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4" name="Freeform 55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5" name="Freeform 55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6" name="Freeform 55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7" name="Freeform 55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8" name="Freeform 55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79" name="Freeform 56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80" name="Freeform 56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181" name="Oval 56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2" name="Oval 56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3" name="Freeform 56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4" name="Oval 56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85" name="Oval 56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137" name="Group 567"/>
          <p:cNvGrpSpPr>
            <a:grpSpLocks/>
          </p:cNvGrpSpPr>
          <p:nvPr/>
        </p:nvGrpSpPr>
        <p:grpSpPr bwMode="auto">
          <a:xfrm>
            <a:off x="6910319" y="2441882"/>
            <a:ext cx="901283" cy="699094"/>
            <a:chOff x="1680" y="240"/>
            <a:chExt cx="2529" cy="1270"/>
          </a:xfrm>
        </p:grpSpPr>
        <p:sp>
          <p:nvSpPr>
            <p:cNvPr id="143" name="Oval 568"/>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4" name="Oval 569"/>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5" name="Oval 570"/>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6" name="Oval 571"/>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7" name="Oval 572"/>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8" name="Oval 573"/>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9" name="Oval 574"/>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50" name="Oval 575"/>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51" name="Oval 576"/>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38" name="Text Box 577"/>
          <p:cNvSpPr txBox="1">
            <a:spLocks noChangeArrowheads="1"/>
          </p:cNvSpPr>
          <p:nvPr/>
        </p:nvSpPr>
        <p:spPr bwMode="auto">
          <a:xfrm>
            <a:off x="7041174" y="2650026"/>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dirty="0" smtClean="0">
                <a:solidFill>
                  <a:srgbClr val="000099"/>
                </a:solidFill>
                <a:ea typeface="黑体" panose="02010609060101010101" pitchFamily="49" charset="-122"/>
              </a:rPr>
              <a:t>光纤</a:t>
            </a:r>
            <a:endParaRPr lang="zh-CN" altLang="en-US" b="1" dirty="0">
              <a:solidFill>
                <a:srgbClr val="000099"/>
              </a:solidFill>
              <a:ea typeface="黑体" panose="02010609060101010101" pitchFamily="49" charset="-122"/>
            </a:endParaRPr>
          </a:p>
        </p:txBody>
      </p:sp>
      <p:sp>
        <p:nvSpPr>
          <p:cNvPr id="139" name="Line 578"/>
          <p:cNvSpPr>
            <a:spLocks noChangeShapeType="1"/>
          </p:cNvSpPr>
          <p:nvPr/>
        </p:nvSpPr>
        <p:spPr bwMode="auto">
          <a:xfrm flipV="1">
            <a:off x="2151076" y="2400252"/>
            <a:ext cx="978536" cy="322550"/>
          </a:xfrm>
          <a:prstGeom prst="line">
            <a:avLst/>
          </a:prstGeom>
          <a:noFill/>
          <a:ln w="57150">
            <a:solidFill>
              <a:srgbClr val="FF0000"/>
            </a:solidFill>
            <a:round/>
            <a:headEnd type="triangle"/>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 name="Line 579"/>
          <p:cNvSpPr>
            <a:spLocks noChangeShapeType="1"/>
          </p:cNvSpPr>
          <p:nvPr/>
        </p:nvSpPr>
        <p:spPr bwMode="auto">
          <a:xfrm flipV="1">
            <a:off x="5291521" y="2512928"/>
            <a:ext cx="1122508" cy="103728"/>
          </a:xfrm>
          <a:prstGeom prst="line">
            <a:avLst/>
          </a:prstGeom>
          <a:noFill/>
          <a:ln w="57150">
            <a:solidFill>
              <a:srgbClr val="FF0000"/>
            </a:solidFill>
            <a:round/>
            <a:headEnd type="triangle"/>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 name="Line 580"/>
          <p:cNvSpPr>
            <a:spLocks noChangeShapeType="1"/>
          </p:cNvSpPr>
          <p:nvPr/>
        </p:nvSpPr>
        <p:spPr bwMode="auto">
          <a:xfrm>
            <a:off x="6893932" y="2554135"/>
            <a:ext cx="1267649" cy="234452"/>
          </a:xfrm>
          <a:prstGeom prst="line">
            <a:avLst/>
          </a:prstGeom>
          <a:noFill/>
          <a:ln w="57150">
            <a:solidFill>
              <a:srgbClr val="FF0000"/>
            </a:solidFill>
            <a:round/>
            <a:headEnd type="triangle"/>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 name="Line 581"/>
          <p:cNvSpPr>
            <a:spLocks noChangeShapeType="1"/>
          </p:cNvSpPr>
          <p:nvPr/>
        </p:nvSpPr>
        <p:spPr bwMode="auto">
          <a:xfrm>
            <a:off x="3642290" y="2474564"/>
            <a:ext cx="1232534" cy="127883"/>
          </a:xfrm>
          <a:prstGeom prst="line">
            <a:avLst/>
          </a:prstGeom>
          <a:noFill/>
          <a:ln w="57150">
            <a:solidFill>
              <a:srgbClr val="FF0000"/>
            </a:solidFill>
            <a:round/>
            <a:headEnd type="triangle"/>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31" name="左右箭头标注 630"/>
          <p:cNvSpPr/>
          <p:nvPr/>
        </p:nvSpPr>
        <p:spPr bwMode="auto">
          <a:xfrm>
            <a:off x="1509960" y="4349808"/>
            <a:ext cx="6971334" cy="584648"/>
          </a:xfrm>
          <a:prstGeom prst="leftRightArrowCallout">
            <a:avLst>
              <a:gd name="adj1" fmla="val 16667"/>
              <a:gd name="adj2" fmla="val 25000"/>
              <a:gd name="adj3" fmla="val 25000"/>
              <a:gd name="adj4" fmla="val 81491"/>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C00000"/>
                </a:solidFill>
                <a:ea typeface="黑体" panose="02010609060101010101" pitchFamily="49" charset="-122"/>
              </a:rPr>
              <a:t>互连节点间数据传输控制</a:t>
            </a:r>
            <a:endParaRPr lang="en-US" altLang="zh-CN" sz="2800" b="1" dirty="0">
              <a:solidFill>
                <a:srgbClr val="C00000"/>
              </a:solidFill>
              <a:ea typeface="黑体" panose="02010609060101010101" pitchFamily="49" charset="-122"/>
            </a:endParaRPr>
          </a:p>
        </p:txBody>
      </p:sp>
    </p:spTree>
    <p:custDataLst>
      <p:tags r:id="rId1"/>
    </p:custDataLst>
    <p:extLst>
      <p:ext uri="{BB962C8B-B14F-4D97-AF65-F5344CB8AC3E}">
        <p14:creationId xmlns:p14="http://schemas.microsoft.com/office/powerpoint/2010/main" val="1661318607"/>
      </p:ext>
    </p:extLst>
  </p:cSld>
  <p:clrMapOvr>
    <a:masterClrMapping/>
  </p:clrMapOvr>
  <mc:AlternateContent xmlns:mc="http://schemas.openxmlformats.org/markup-compatibility/2006" xmlns:p14="http://schemas.microsoft.com/office/powerpoint/2010/main">
    <mc:Choice Requires="p14">
      <p:transition spd="slow" p14:dur="2000" advTm="1146"/>
    </mc:Choice>
    <mc:Fallback xmlns="">
      <p:transition spd="slow" advTm="11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
                                        </p:tgtEl>
                                        <p:attrNameLst>
                                          <p:attrName>style.visibility</p:attrName>
                                        </p:attrNameLst>
                                      </p:cBhvr>
                                      <p:to>
                                        <p:strVal val="visible"/>
                                      </p:to>
                                    </p:set>
                                  </p:childTnLst>
                                </p:cTn>
                              </p:par>
                              <p:par>
                                <p:cTn id="7" presetID="1" presetClass="entr" presetSubtype="0" fill="hold" grpId="0" nodeType="withEffect">
                                  <p:stCondLst>
                                    <p:cond delay="200"/>
                                  </p:stCondLst>
                                  <p:childTnLst>
                                    <p:set>
                                      <p:cBhvr>
                                        <p:cTn id="8" dur="1" fill="hold">
                                          <p:stCondLst>
                                            <p:cond delay="0"/>
                                          </p:stCondLst>
                                        </p:cTn>
                                        <p:tgtEl>
                                          <p:spTgt spid="142"/>
                                        </p:tgtEl>
                                        <p:attrNameLst>
                                          <p:attrName>style.visibility</p:attrName>
                                        </p:attrNameLst>
                                      </p:cBhvr>
                                      <p:to>
                                        <p:strVal val="visible"/>
                                      </p:to>
                                    </p:set>
                                  </p:childTnLst>
                                </p:cTn>
                              </p:par>
                            </p:childTnLst>
                          </p:cTn>
                        </p:par>
                        <p:par>
                          <p:cTn id="9" fill="hold">
                            <p:stCondLst>
                              <p:cond delay="200"/>
                            </p:stCondLst>
                            <p:childTnLst>
                              <p:par>
                                <p:cTn id="10" presetID="1" presetClass="entr" presetSubtype="0" fill="hold" grpId="0" nodeType="afterEffect">
                                  <p:stCondLst>
                                    <p:cond delay="200"/>
                                  </p:stCondLst>
                                  <p:childTnLst>
                                    <p:set>
                                      <p:cBhvr>
                                        <p:cTn id="11" dur="1" fill="hold">
                                          <p:stCondLst>
                                            <p:cond delay="0"/>
                                          </p:stCondLst>
                                        </p:cTn>
                                        <p:tgtEl>
                                          <p:spTgt spid="140"/>
                                        </p:tgtEl>
                                        <p:attrNameLst>
                                          <p:attrName>style.visibility</p:attrName>
                                        </p:attrNameLst>
                                      </p:cBhvr>
                                      <p:to>
                                        <p:strVal val="visible"/>
                                      </p:to>
                                    </p:set>
                                  </p:childTnLst>
                                </p:cTn>
                              </p:par>
                            </p:childTnLst>
                          </p:cTn>
                        </p:par>
                        <p:par>
                          <p:cTn id="12" fill="hold">
                            <p:stCondLst>
                              <p:cond delay="400"/>
                            </p:stCondLst>
                            <p:childTnLst>
                              <p:par>
                                <p:cTn id="13" presetID="1" presetClass="entr" presetSubtype="0" fill="hold" grpId="0" nodeType="afterEffect">
                                  <p:stCondLst>
                                    <p:cond delay="200"/>
                                  </p:stCondLst>
                                  <p:childTnLst>
                                    <p:set>
                                      <p:cBhvr>
                                        <p:cTn id="14" dur="1" fill="hold">
                                          <p:stCondLst>
                                            <p:cond delay="0"/>
                                          </p:stCondLst>
                                        </p:cTn>
                                        <p:tgtEl>
                                          <p:spTgt spid="141"/>
                                        </p:tgtEl>
                                        <p:attrNameLst>
                                          <p:attrName>style.visibility</p:attrName>
                                        </p:attrNameLst>
                                      </p:cBhvr>
                                      <p:to>
                                        <p:strVal val="visible"/>
                                      </p:to>
                                    </p:set>
                                  </p:childTnLst>
                                </p:cTn>
                              </p:par>
                            </p:childTnLst>
                          </p:cTn>
                        </p:par>
                        <p:par>
                          <p:cTn id="15" fill="hold">
                            <p:stCondLst>
                              <p:cond delay="600"/>
                            </p:stCondLst>
                            <p:childTnLst>
                              <p:par>
                                <p:cTn id="16" presetID="16" presetClass="entr" presetSubtype="21" fill="hold" grpId="0" nodeType="afterEffect">
                                  <p:stCondLst>
                                    <p:cond delay="1000"/>
                                  </p:stCondLst>
                                  <p:childTnLst>
                                    <p:set>
                                      <p:cBhvr>
                                        <p:cTn id="17" dur="1" fill="hold">
                                          <p:stCondLst>
                                            <p:cond delay="0"/>
                                          </p:stCondLst>
                                        </p:cTn>
                                        <p:tgtEl>
                                          <p:spTgt spid="631"/>
                                        </p:tgtEl>
                                        <p:attrNameLst>
                                          <p:attrName>style.visibility</p:attrName>
                                        </p:attrNameLst>
                                      </p:cBhvr>
                                      <p:to>
                                        <p:strVal val="visible"/>
                                      </p:to>
                                    </p:set>
                                    <p:animEffect transition="in" filter="barn(inVertical)">
                                      <p:cBhvr>
                                        <p:cTn id="18" dur="500"/>
                                        <p:tgtEl>
                                          <p:spTgt spid="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140" grpId="0" animBg="1"/>
      <p:bldP spid="141" grpId="0" animBg="1"/>
      <p:bldP spid="142" grpId="0" animBg="1"/>
      <p:bldP spid="6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smtClean="0">
                <a:ea typeface="黑体" panose="02010609060101010101" pitchFamily="49" charset="-122"/>
              </a:rPr>
              <a:t>网络层</a:t>
            </a:r>
            <a:r>
              <a:rPr lang="zh-CN" altLang="en-US" dirty="0" smtClean="0">
                <a:solidFill>
                  <a:srgbClr val="FF0000"/>
                </a:solidFill>
                <a:ea typeface="黑体" panose="02010609060101010101" pitchFamily="49" charset="-122"/>
              </a:rPr>
              <a:t>（核心）</a:t>
            </a: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网络</a:t>
            </a:r>
            <a:endParaRPr lang="en-US" altLang="zh-CN" sz="2000" b="1" dirty="0">
              <a:solidFill>
                <a:srgbClr val="C00000"/>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网络</a:t>
            </a:r>
            <a:endParaRPr lang="en-US" altLang="zh-CN" sz="2000" b="1" dirty="0">
              <a:solidFill>
                <a:srgbClr val="C00000"/>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4940301"/>
            <a:ext cx="6971334" cy="576874"/>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传输媒体上</a:t>
            </a:r>
            <a:r>
              <a:rPr lang="zh-CN" altLang="zh-CN" sz="2800" dirty="0" smtClean="0">
                <a:solidFill>
                  <a:srgbClr val="0000CC"/>
                </a:solidFill>
                <a:ea typeface="黑体" panose="02010609060101010101" pitchFamily="49" charset="-122"/>
              </a:rPr>
              <a:t>比特流</a:t>
            </a:r>
            <a:r>
              <a:rPr lang="zh-CN" altLang="en-US" sz="2800" dirty="0">
                <a:solidFill>
                  <a:srgbClr val="0000CC"/>
                </a:solidFill>
                <a:ea typeface="黑体" panose="02010609060101010101" pitchFamily="49" charset="-122"/>
              </a:rPr>
              <a:t>传输</a:t>
            </a:r>
            <a:endParaRPr lang="en-US" altLang="zh-CN" sz="2800" b="1" dirty="0">
              <a:solidFill>
                <a:srgbClr val="0000CC"/>
              </a:solidFill>
              <a:ea typeface="黑体" panose="02010609060101010101" pitchFamily="49" charset="-122"/>
            </a:endParaRPr>
          </a:p>
        </p:txBody>
      </p:sp>
      <p:sp>
        <p:nvSpPr>
          <p:cNvPr id="631" name="左右箭头标注 630"/>
          <p:cNvSpPr/>
          <p:nvPr/>
        </p:nvSpPr>
        <p:spPr bwMode="auto">
          <a:xfrm>
            <a:off x="1509960" y="4349808"/>
            <a:ext cx="6971334" cy="584648"/>
          </a:xfrm>
          <a:prstGeom prst="leftRightArrowCallout">
            <a:avLst>
              <a:gd name="adj1" fmla="val 16667"/>
              <a:gd name="adj2" fmla="val 25000"/>
              <a:gd name="adj3" fmla="val 25000"/>
              <a:gd name="adj4" fmla="val 81491"/>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传输媒体两端节点数据传输控制</a:t>
            </a:r>
            <a:endParaRPr lang="en-US" altLang="zh-CN" sz="2800" b="1" dirty="0">
              <a:solidFill>
                <a:srgbClr val="0000CC"/>
              </a:solidFill>
              <a:ea typeface="黑体" panose="02010609060101010101" pitchFamily="49" charset="-122"/>
            </a:endParaRPr>
          </a:p>
        </p:txBody>
      </p:sp>
      <p:sp>
        <p:nvSpPr>
          <p:cNvPr id="632" name="左右箭头标注 631"/>
          <p:cNvSpPr/>
          <p:nvPr/>
        </p:nvSpPr>
        <p:spPr bwMode="auto">
          <a:xfrm>
            <a:off x="1506538" y="3780430"/>
            <a:ext cx="6971334" cy="584648"/>
          </a:xfrm>
          <a:prstGeom prst="leftRightArrowCallout">
            <a:avLst>
              <a:gd name="adj1" fmla="val 16667"/>
              <a:gd name="adj2" fmla="val 25000"/>
              <a:gd name="adj3" fmla="val 25000"/>
              <a:gd name="adj4" fmla="val 72030"/>
            </a:avLst>
          </a:prstGeom>
          <a:solidFill>
            <a:srgbClr val="FFAC33"/>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C00000"/>
                </a:solidFill>
                <a:ea typeface="黑体" panose="02010609060101010101" pitchFamily="49" charset="-122"/>
              </a:rPr>
              <a:t>网络任意节点数据传输</a:t>
            </a:r>
            <a:endParaRPr lang="en-US" altLang="zh-CN" sz="2800" b="1" dirty="0">
              <a:solidFill>
                <a:srgbClr val="C00000"/>
              </a:solidFill>
              <a:ea typeface="黑体" panose="02010609060101010101" pitchFamily="49" charset="-122"/>
            </a:endParaRPr>
          </a:p>
        </p:txBody>
      </p:sp>
      <p:sp>
        <p:nvSpPr>
          <p:cNvPr id="114" name="Oval 4"/>
          <p:cNvSpPr>
            <a:spLocks noChangeArrowheads="1"/>
          </p:cNvSpPr>
          <p:nvPr/>
        </p:nvSpPr>
        <p:spPr bwMode="auto">
          <a:xfrm rot="19925028">
            <a:off x="3982311" y="1469680"/>
            <a:ext cx="1233477" cy="765724"/>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15" name="Oval 5"/>
          <p:cNvSpPr>
            <a:spLocks noChangeArrowheads="1"/>
          </p:cNvSpPr>
          <p:nvPr/>
        </p:nvSpPr>
        <p:spPr bwMode="auto">
          <a:xfrm rot="20825028">
            <a:off x="4808343" y="1315255"/>
            <a:ext cx="1077502" cy="71051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16" name="Oval 6"/>
          <p:cNvSpPr>
            <a:spLocks noChangeArrowheads="1"/>
          </p:cNvSpPr>
          <p:nvPr/>
        </p:nvSpPr>
        <p:spPr bwMode="auto">
          <a:xfrm rot="21425028">
            <a:off x="5596176" y="1574498"/>
            <a:ext cx="794995" cy="91934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17" name="Oval 7"/>
          <p:cNvSpPr>
            <a:spLocks noChangeArrowheads="1"/>
          </p:cNvSpPr>
          <p:nvPr/>
        </p:nvSpPr>
        <p:spPr bwMode="auto">
          <a:xfrm rot="18365028">
            <a:off x="5732187" y="2079400"/>
            <a:ext cx="759323" cy="74167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18" name="Oval 8"/>
          <p:cNvSpPr>
            <a:spLocks noChangeArrowheads="1"/>
          </p:cNvSpPr>
          <p:nvPr/>
        </p:nvSpPr>
        <p:spPr bwMode="auto">
          <a:xfrm rot="19925028">
            <a:off x="4840970" y="2485845"/>
            <a:ext cx="1348867" cy="85373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19" name="Oval 9"/>
          <p:cNvSpPr>
            <a:spLocks noChangeArrowheads="1"/>
          </p:cNvSpPr>
          <p:nvPr/>
        </p:nvSpPr>
        <p:spPr bwMode="auto">
          <a:xfrm rot="21005028">
            <a:off x="4310972" y="2846703"/>
            <a:ext cx="964499" cy="58969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0" name="Oval 10"/>
          <p:cNvSpPr>
            <a:spLocks noChangeArrowheads="1"/>
          </p:cNvSpPr>
          <p:nvPr/>
        </p:nvSpPr>
        <p:spPr bwMode="auto">
          <a:xfrm rot="19925028">
            <a:off x="3940930" y="2589861"/>
            <a:ext cx="610372" cy="69771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1" name="Oval 11"/>
          <p:cNvSpPr>
            <a:spLocks noChangeArrowheads="1"/>
          </p:cNvSpPr>
          <p:nvPr/>
        </p:nvSpPr>
        <p:spPr bwMode="auto">
          <a:xfrm rot="18065028">
            <a:off x="3795603" y="2092248"/>
            <a:ext cx="768925" cy="61196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2" name="Freeform 12"/>
          <p:cNvSpPr>
            <a:spLocks noChangeArrowheads="1"/>
          </p:cNvSpPr>
          <p:nvPr/>
        </p:nvSpPr>
        <p:spPr bwMode="auto">
          <a:xfrm>
            <a:off x="3997431" y="1448877"/>
            <a:ext cx="2346789" cy="1860301"/>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3" name="Line 13"/>
          <p:cNvSpPr>
            <a:spLocks noChangeShapeType="1"/>
          </p:cNvSpPr>
          <p:nvPr/>
        </p:nvSpPr>
        <p:spPr bwMode="auto">
          <a:xfrm flipV="1">
            <a:off x="4595071" y="1451278"/>
            <a:ext cx="816482" cy="3216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4" name="Line 14"/>
          <p:cNvSpPr>
            <a:spLocks noChangeShapeType="1"/>
          </p:cNvSpPr>
          <p:nvPr/>
        </p:nvSpPr>
        <p:spPr bwMode="auto">
          <a:xfrm>
            <a:off x="5512618" y="1494485"/>
            <a:ext cx="482250" cy="8081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5" name="Line 15"/>
          <p:cNvSpPr>
            <a:spLocks noChangeShapeType="1"/>
          </p:cNvSpPr>
          <p:nvPr/>
        </p:nvSpPr>
        <p:spPr bwMode="auto">
          <a:xfrm flipH="1">
            <a:off x="4113617" y="1824938"/>
            <a:ext cx="424953" cy="728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6" name="Line 16"/>
          <p:cNvSpPr>
            <a:spLocks noChangeShapeType="1"/>
          </p:cNvSpPr>
          <p:nvPr/>
        </p:nvSpPr>
        <p:spPr bwMode="auto">
          <a:xfrm>
            <a:off x="4139878" y="2653872"/>
            <a:ext cx="967683" cy="51128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7" name="Line 17"/>
          <p:cNvSpPr>
            <a:spLocks noChangeShapeType="1"/>
          </p:cNvSpPr>
          <p:nvPr/>
        </p:nvSpPr>
        <p:spPr bwMode="auto">
          <a:xfrm flipV="1">
            <a:off x="5148941" y="2462641"/>
            <a:ext cx="845926" cy="7553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8" name="Line 18"/>
          <p:cNvSpPr>
            <a:spLocks noChangeShapeType="1"/>
          </p:cNvSpPr>
          <p:nvPr/>
        </p:nvSpPr>
        <p:spPr bwMode="auto">
          <a:xfrm>
            <a:off x="4627698" y="1828939"/>
            <a:ext cx="1357620" cy="5480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29" name="Line 19"/>
          <p:cNvSpPr>
            <a:spLocks noChangeShapeType="1"/>
          </p:cNvSpPr>
          <p:nvPr/>
        </p:nvSpPr>
        <p:spPr bwMode="auto">
          <a:xfrm>
            <a:off x="4564034" y="1736124"/>
            <a:ext cx="637429" cy="14290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0" name="Line 20"/>
          <p:cNvSpPr>
            <a:spLocks noChangeShapeType="1"/>
          </p:cNvSpPr>
          <p:nvPr/>
        </p:nvSpPr>
        <p:spPr bwMode="auto">
          <a:xfrm flipV="1">
            <a:off x="4770145" y="3205961"/>
            <a:ext cx="407445" cy="3176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1" name="Line 21"/>
          <p:cNvSpPr>
            <a:spLocks noChangeShapeType="1"/>
          </p:cNvSpPr>
          <p:nvPr/>
        </p:nvSpPr>
        <p:spPr bwMode="auto">
          <a:xfrm rot="16200000">
            <a:off x="5611047" y="1117826"/>
            <a:ext cx="238439" cy="51487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2" name="Line 22"/>
          <p:cNvSpPr>
            <a:spLocks noChangeShapeType="1"/>
          </p:cNvSpPr>
          <p:nvPr/>
        </p:nvSpPr>
        <p:spPr bwMode="auto">
          <a:xfrm>
            <a:off x="6054552" y="2462641"/>
            <a:ext cx="407445" cy="58329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3" name="Line 23"/>
          <p:cNvSpPr>
            <a:spLocks noChangeShapeType="1"/>
          </p:cNvSpPr>
          <p:nvPr/>
        </p:nvSpPr>
        <p:spPr bwMode="auto">
          <a:xfrm>
            <a:off x="3551788" y="2615465"/>
            <a:ext cx="568195" cy="960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4" name="Line 24"/>
          <p:cNvSpPr>
            <a:spLocks noChangeShapeType="1"/>
          </p:cNvSpPr>
          <p:nvPr/>
        </p:nvSpPr>
        <p:spPr bwMode="auto">
          <a:xfrm rot="5400000" flipH="1">
            <a:off x="4316529" y="1517292"/>
            <a:ext cx="445672" cy="1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35" name="Text Box 25"/>
          <p:cNvSpPr txBox="1">
            <a:spLocks noChangeArrowheads="1"/>
          </p:cNvSpPr>
          <p:nvPr/>
        </p:nvSpPr>
        <p:spPr bwMode="auto">
          <a:xfrm>
            <a:off x="3013833" y="2425835"/>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1</a:t>
            </a:r>
            <a:endParaRPr lang="en-US" altLang="zh-CN" sz="1600" b="1">
              <a:solidFill>
                <a:srgbClr val="000099"/>
              </a:solidFill>
              <a:ea typeface="黑体" panose="02010609060101010101" pitchFamily="49" charset="-122"/>
            </a:endParaRPr>
          </a:p>
        </p:txBody>
      </p:sp>
      <p:sp>
        <p:nvSpPr>
          <p:cNvPr id="136" name="Text Box 26"/>
          <p:cNvSpPr txBox="1">
            <a:spLocks noChangeArrowheads="1"/>
          </p:cNvSpPr>
          <p:nvPr/>
        </p:nvSpPr>
        <p:spPr bwMode="auto">
          <a:xfrm>
            <a:off x="6700735" y="2873908"/>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5</a:t>
            </a:r>
            <a:endParaRPr lang="en-US" altLang="zh-CN" sz="1600" b="1">
              <a:solidFill>
                <a:srgbClr val="000099"/>
              </a:solidFill>
              <a:ea typeface="黑体" panose="02010609060101010101" pitchFamily="49" charset="-122"/>
            </a:endParaRPr>
          </a:p>
        </p:txBody>
      </p:sp>
      <p:sp>
        <p:nvSpPr>
          <p:cNvPr id="137" name="Text Box 27"/>
          <p:cNvSpPr txBox="1">
            <a:spLocks noChangeArrowheads="1"/>
          </p:cNvSpPr>
          <p:nvPr/>
        </p:nvSpPr>
        <p:spPr bwMode="auto">
          <a:xfrm>
            <a:off x="4118391" y="1017608"/>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2</a:t>
            </a:r>
            <a:endParaRPr lang="en-US" altLang="zh-CN" sz="1600" b="1">
              <a:solidFill>
                <a:srgbClr val="000099"/>
              </a:solidFill>
              <a:ea typeface="黑体" panose="02010609060101010101" pitchFamily="49" charset="-122"/>
            </a:endParaRPr>
          </a:p>
        </p:txBody>
      </p:sp>
      <p:sp>
        <p:nvSpPr>
          <p:cNvPr id="138" name="Text Box 28"/>
          <p:cNvSpPr txBox="1">
            <a:spLocks noChangeArrowheads="1"/>
          </p:cNvSpPr>
          <p:nvPr/>
        </p:nvSpPr>
        <p:spPr bwMode="auto">
          <a:xfrm>
            <a:off x="6144476" y="908790"/>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4</a:t>
            </a:r>
            <a:endParaRPr lang="en-US" altLang="zh-CN" sz="1600" b="1">
              <a:solidFill>
                <a:srgbClr val="000099"/>
              </a:solidFill>
              <a:ea typeface="黑体" panose="02010609060101010101" pitchFamily="49" charset="-122"/>
            </a:endParaRPr>
          </a:p>
        </p:txBody>
      </p:sp>
      <p:sp>
        <p:nvSpPr>
          <p:cNvPr id="139" name="Text Box 29"/>
          <p:cNvSpPr txBox="1">
            <a:spLocks noChangeArrowheads="1"/>
          </p:cNvSpPr>
          <p:nvPr/>
        </p:nvSpPr>
        <p:spPr bwMode="auto">
          <a:xfrm>
            <a:off x="4304607" y="3376389"/>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3</a:t>
            </a:r>
            <a:endParaRPr lang="en-US" altLang="zh-CN" sz="1600" b="1">
              <a:solidFill>
                <a:srgbClr val="000099"/>
              </a:solidFill>
              <a:ea typeface="黑体" panose="02010609060101010101" pitchFamily="49" charset="-122"/>
            </a:endParaRPr>
          </a:p>
        </p:txBody>
      </p:sp>
      <p:sp>
        <p:nvSpPr>
          <p:cNvPr id="140" name="Line 30"/>
          <p:cNvSpPr>
            <a:spLocks noChangeShapeType="1"/>
          </p:cNvSpPr>
          <p:nvPr/>
        </p:nvSpPr>
        <p:spPr bwMode="auto">
          <a:xfrm flipV="1">
            <a:off x="6054552" y="1970561"/>
            <a:ext cx="576948" cy="3856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41" name="Text Box 31"/>
          <p:cNvSpPr txBox="1">
            <a:spLocks noChangeArrowheads="1"/>
          </p:cNvSpPr>
          <p:nvPr/>
        </p:nvSpPr>
        <p:spPr bwMode="auto">
          <a:xfrm>
            <a:off x="6823201" y="1601356"/>
            <a:ext cx="407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H</a:t>
            </a:r>
            <a:r>
              <a:rPr lang="en-US" altLang="zh-CN" sz="1600" b="1" baseline="-25000">
                <a:solidFill>
                  <a:srgbClr val="000099"/>
                </a:solidFill>
                <a:ea typeface="黑体" panose="02010609060101010101" pitchFamily="49" charset="-122"/>
              </a:rPr>
              <a:t>6</a:t>
            </a:r>
            <a:endParaRPr lang="en-US" altLang="zh-CN" sz="1600" b="1">
              <a:solidFill>
                <a:srgbClr val="000099"/>
              </a:solidFill>
              <a:ea typeface="黑体" panose="02010609060101010101" pitchFamily="49" charset="-122"/>
            </a:endParaRPr>
          </a:p>
        </p:txBody>
      </p:sp>
      <p:pic>
        <p:nvPicPr>
          <p:cNvPr id="142"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26160" y="915191"/>
            <a:ext cx="372431" cy="34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94625" y="1684915"/>
            <a:ext cx="374818" cy="34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 name="Picture 3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7585" y="2462641"/>
            <a:ext cx="374022" cy="34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8569" y="3469203"/>
            <a:ext cx="373227" cy="34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44220" y="2941118"/>
            <a:ext cx="374817" cy="342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62700" y="1030409"/>
            <a:ext cx="374817" cy="342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Text Box 38"/>
          <p:cNvSpPr txBox="1">
            <a:spLocks noChangeArrowheads="1"/>
          </p:cNvSpPr>
          <p:nvPr/>
        </p:nvSpPr>
        <p:spPr bwMode="auto">
          <a:xfrm>
            <a:off x="3348221" y="3094743"/>
            <a:ext cx="8050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1600" b="1">
                <a:solidFill>
                  <a:srgbClr val="000099"/>
                </a:solidFill>
                <a:ea typeface="黑体" panose="02010609060101010101" pitchFamily="49" charset="-122"/>
              </a:rPr>
              <a:t>发送的</a:t>
            </a:r>
          </a:p>
          <a:p>
            <a:pPr algn="ctr" eaLnBrk="0" hangingPunct="0"/>
            <a:r>
              <a:rPr lang="zh-CN" altLang="en-US" sz="1600" b="1">
                <a:solidFill>
                  <a:srgbClr val="000099"/>
                </a:solidFill>
                <a:ea typeface="黑体" panose="02010609060101010101" pitchFamily="49" charset="-122"/>
              </a:rPr>
              <a:t>分组</a:t>
            </a:r>
          </a:p>
        </p:txBody>
      </p:sp>
      <p:pic>
        <p:nvPicPr>
          <p:cNvPr id="149" name="Picture 3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78615" y="1672913"/>
            <a:ext cx="395508" cy="25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 name="Picture 4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79451" y="1375265"/>
            <a:ext cx="396304" cy="25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4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3533" y="2267409"/>
            <a:ext cx="396304" cy="25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4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7156" y="2981925"/>
            <a:ext cx="396304" cy="255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43"/>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90269" y="2445038"/>
            <a:ext cx="396304" cy="25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45"/>
          <p:cNvSpPr txBox="1">
            <a:spLocks noChangeArrowheads="1"/>
          </p:cNvSpPr>
          <p:nvPr/>
        </p:nvSpPr>
        <p:spPr bwMode="auto">
          <a:xfrm>
            <a:off x="3282014" y="1199236"/>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路由器</a:t>
            </a:r>
          </a:p>
        </p:txBody>
      </p:sp>
      <p:sp>
        <p:nvSpPr>
          <p:cNvPr id="155" name="Line 46"/>
          <p:cNvSpPr>
            <a:spLocks noChangeShapeType="1"/>
          </p:cNvSpPr>
          <p:nvPr/>
        </p:nvSpPr>
        <p:spPr bwMode="auto">
          <a:xfrm>
            <a:off x="3862942" y="1494485"/>
            <a:ext cx="515673" cy="237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sp>
        <p:nvSpPr>
          <p:cNvPr id="156" name="Text Box 47"/>
          <p:cNvSpPr txBox="1">
            <a:spLocks noChangeArrowheads="1"/>
          </p:cNvSpPr>
          <p:nvPr/>
        </p:nvSpPr>
        <p:spPr bwMode="auto">
          <a:xfrm>
            <a:off x="3976740" y="2178595"/>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A</a:t>
            </a:r>
          </a:p>
        </p:txBody>
      </p:sp>
      <p:sp>
        <p:nvSpPr>
          <p:cNvPr id="157" name="Text Box 48"/>
          <p:cNvSpPr txBox="1">
            <a:spLocks noChangeArrowheads="1"/>
          </p:cNvSpPr>
          <p:nvPr/>
        </p:nvSpPr>
        <p:spPr bwMode="auto">
          <a:xfrm>
            <a:off x="5947120" y="1997765"/>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E</a:t>
            </a:r>
          </a:p>
        </p:txBody>
      </p:sp>
      <p:sp>
        <p:nvSpPr>
          <p:cNvPr id="158" name="Text Box 49"/>
          <p:cNvSpPr txBox="1">
            <a:spLocks noChangeArrowheads="1"/>
          </p:cNvSpPr>
          <p:nvPr/>
        </p:nvSpPr>
        <p:spPr bwMode="auto">
          <a:xfrm>
            <a:off x="5324015" y="1561696"/>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D</a:t>
            </a:r>
          </a:p>
        </p:txBody>
      </p:sp>
      <p:sp>
        <p:nvSpPr>
          <p:cNvPr id="159" name="Text Box 50"/>
          <p:cNvSpPr txBox="1">
            <a:spLocks noChangeArrowheads="1"/>
          </p:cNvSpPr>
          <p:nvPr/>
        </p:nvSpPr>
        <p:spPr bwMode="auto">
          <a:xfrm>
            <a:off x="4579155" y="141847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B</a:t>
            </a:r>
          </a:p>
        </p:txBody>
      </p:sp>
      <p:sp>
        <p:nvSpPr>
          <p:cNvPr id="160" name="Text Box 51"/>
          <p:cNvSpPr txBox="1">
            <a:spLocks noChangeArrowheads="1"/>
          </p:cNvSpPr>
          <p:nvPr/>
        </p:nvSpPr>
        <p:spPr bwMode="auto">
          <a:xfrm>
            <a:off x="5337544" y="3013930"/>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C</a:t>
            </a:r>
          </a:p>
        </p:txBody>
      </p:sp>
      <p:sp>
        <p:nvSpPr>
          <p:cNvPr id="161" name="Line 52"/>
          <p:cNvSpPr>
            <a:spLocks noChangeShapeType="1"/>
          </p:cNvSpPr>
          <p:nvPr/>
        </p:nvSpPr>
        <p:spPr bwMode="auto">
          <a:xfrm flipV="1">
            <a:off x="3654445" y="2783492"/>
            <a:ext cx="128918" cy="4160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grpSp>
        <p:nvGrpSpPr>
          <p:cNvPr id="4" name="组合 3"/>
          <p:cNvGrpSpPr/>
          <p:nvPr/>
        </p:nvGrpSpPr>
        <p:grpSpPr>
          <a:xfrm>
            <a:off x="3694235" y="2481043"/>
            <a:ext cx="2626111" cy="516085"/>
            <a:chOff x="3694235" y="2481043"/>
            <a:chExt cx="2626111" cy="516085"/>
          </a:xfrm>
        </p:grpSpPr>
        <p:sp>
          <p:nvSpPr>
            <p:cNvPr id="162" name="Rectangle 53"/>
            <p:cNvSpPr>
              <a:spLocks noChangeArrowheads="1"/>
            </p:cNvSpPr>
            <p:nvPr/>
          </p:nvSpPr>
          <p:spPr bwMode="auto">
            <a:xfrm>
              <a:off x="3694235" y="2664274"/>
              <a:ext cx="128918" cy="119219"/>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3" name="Rectangle 54"/>
            <p:cNvSpPr>
              <a:spLocks noChangeArrowheads="1"/>
            </p:cNvSpPr>
            <p:nvPr/>
          </p:nvSpPr>
          <p:spPr bwMode="auto">
            <a:xfrm>
              <a:off x="3885224" y="2664274"/>
              <a:ext cx="129714" cy="119219"/>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4" name="Rectangle 55"/>
            <p:cNvSpPr>
              <a:spLocks noChangeArrowheads="1"/>
            </p:cNvSpPr>
            <p:nvPr/>
          </p:nvSpPr>
          <p:spPr bwMode="auto">
            <a:xfrm>
              <a:off x="4426363" y="2664274"/>
              <a:ext cx="128918" cy="119219"/>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5" name="Rectangle 56"/>
            <p:cNvSpPr>
              <a:spLocks noChangeArrowheads="1"/>
            </p:cNvSpPr>
            <p:nvPr/>
          </p:nvSpPr>
          <p:spPr bwMode="auto">
            <a:xfrm>
              <a:off x="4748658" y="2842702"/>
              <a:ext cx="128918" cy="119220"/>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6" name="Rectangle 57"/>
            <p:cNvSpPr>
              <a:spLocks noChangeArrowheads="1"/>
            </p:cNvSpPr>
            <p:nvPr/>
          </p:nvSpPr>
          <p:spPr bwMode="auto">
            <a:xfrm>
              <a:off x="5281043" y="2822699"/>
              <a:ext cx="129714" cy="120019"/>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7" name="Rectangle 58"/>
            <p:cNvSpPr>
              <a:spLocks noChangeArrowheads="1"/>
            </p:cNvSpPr>
            <p:nvPr/>
          </p:nvSpPr>
          <p:spPr bwMode="auto">
            <a:xfrm>
              <a:off x="5465666" y="2645071"/>
              <a:ext cx="128918" cy="119219"/>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8" name="Rectangle 59"/>
            <p:cNvSpPr>
              <a:spLocks noChangeArrowheads="1"/>
            </p:cNvSpPr>
            <p:nvPr/>
          </p:nvSpPr>
          <p:spPr bwMode="auto">
            <a:xfrm>
              <a:off x="6002030" y="2609064"/>
              <a:ext cx="128918" cy="119220"/>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69" name="Rectangle 60"/>
            <p:cNvSpPr>
              <a:spLocks noChangeArrowheads="1"/>
            </p:cNvSpPr>
            <p:nvPr/>
          </p:nvSpPr>
          <p:spPr bwMode="auto">
            <a:xfrm>
              <a:off x="5641536" y="2481043"/>
              <a:ext cx="129714" cy="119220"/>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0" name="Rectangle 61"/>
            <p:cNvSpPr>
              <a:spLocks noChangeArrowheads="1"/>
            </p:cNvSpPr>
            <p:nvPr/>
          </p:nvSpPr>
          <p:spPr bwMode="auto">
            <a:xfrm>
              <a:off x="6191428" y="2877908"/>
              <a:ext cx="128918" cy="119220"/>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grpSp>
      <p:grpSp>
        <p:nvGrpSpPr>
          <p:cNvPr id="2" name="组合 1"/>
          <p:cNvGrpSpPr/>
          <p:nvPr/>
        </p:nvGrpSpPr>
        <p:grpSpPr>
          <a:xfrm>
            <a:off x="3628980" y="1772930"/>
            <a:ext cx="2871215" cy="1081775"/>
            <a:chOff x="3628980" y="1772930"/>
            <a:chExt cx="2871215" cy="1081775"/>
          </a:xfrm>
        </p:grpSpPr>
        <p:sp>
          <p:nvSpPr>
            <p:cNvPr id="171" name="Rectangle 62"/>
            <p:cNvSpPr>
              <a:spLocks noChangeArrowheads="1"/>
            </p:cNvSpPr>
            <p:nvPr/>
          </p:nvSpPr>
          <p:spPr bwMode="auto">
            <a:xfrm>
              <a:off x="3628980" y="2437836"/>
              <a:ext cx="128918" cy="11922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2" name="Rectangle 63"/>
            <p:cNvSpPr>
              <a:spLocks noChangeArrowheads="1"/>
            </p:cNvSpPr>
            <p:nvPr/>
          </p:nvSpPr>
          <p:spPr bwMode="auto">
            <a:xfrm>
              <a:off x="4435117" y="2033772"/>
              <a:ext cx="128918" cy="1192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3" name="Rectangle 64"/>
            <p:cNvSpPr>
              <a:spLocks noChangeArrowheads="1"/>
            </p:cNvSpPr>
            <p:nvPr/>
          </p:nvSpPr>
          <p:spPr bwMode="auto">
            <a:xfrm>
              <a:off x="4877576" y="1772930"/>
              <a:ext cx="129714" cy="1192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4" name="Rectangle 65"/>
            <p:cNvSpPr>
              <a:spLocks noChangeArrowheads="1"/>
            </p:cNvSpPr>
            <p:nvPr/>
          </p:nvSpPr>
          <p:spPr bwMode="auto">
            <a:xfrm>
              <a:off x="5135413" y="1868144"/>
              <a:ext cx="128123" cy="11922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5" name="Rectangle 66"/>
            <p:cNvSpPr>
              <a:spLocks noChangeArrowheads="1"/>
            </p:cNvSpPr>
            <p:nvPr/>
          </p:nvSpPr>
          <p:spPr bwMode="auto">
            <a:xfrm>
              <a:off x="5650290" y="2068978"/>
              <a:ext cx="128918" cy="1192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6" name="Rectangle 67"/>
            <p:cNvSpPr>
              <a:spLocks noChangeArrowheads="1"/>
            </p:cNvSpPr>
            <p:nvPr/>
          </p:nvSpPr>
          <p:spPr bwMode="auto">
            <a:xfrm>
              <a:off x="4297445" y="2307416"/>
              <a:ext cx="128918" cy="1192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7" name="Rectangle 68"/>
            <p:cNvSpPr>
              <a:spLocks noChangeArrowheads="1"/>
            </p:cNvSpPr>
            <p:nvPr/>
          </p:nvSpPr>
          <p:spPr bwMode="auto">
            <a:xfrm>
              <a:off x="6229626" y="2521050"/>
              <a:ext cx="128918" cy="1200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8" name="Rectangle 69"/>
            <p:cNvSpPr>
              <a:spLocks noChangeArrowheads="1"/>
            </p:cNvSpPr>
            <p:nvPr/>
          </p:nvSpPr>
          <p:spPr bwMode="auto">
            <a:xfrm>
              <a:off x="3821562" y="2437836"/>
              <a:ext cx="128918" cy="11922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79" name="Rectangle 70"/>
            <p:cNvSpPr>
              <a:spLocks noChangeArrowheads="1"/>
            </p:cNvSpPr>
            <p:nvPr/>
          </p:nvSpPr>
          <p:spPr bwMode="auto">
            <a:xfrm>
              <a:off x="6371277" y="2735485"/>
              <a:ext cx="128918" cy="11922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sp>
          <p:nvSpPr>
            <p:cNvPr id="180" name="Rectangle 71"/>
            <p:cNvSpPr>
              <a:spLocks noChangeArrowheads="1"/>
            </p:cNvSpPr>
            <p:nvPr/>
          </p:nvSpPr>
          <p:spPr bwMode="auto">
            <a:xfrm>
              <a:off x="5370967" y="1952159"/>
              <a:ext cx="128123" cy="119219"/>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sz="1600" b="1">
                <a:solidFill>
                  <a:srgbClr val="000099"/>
                </a:solidFill>
                <a:ea typeface="宋体" panose="02010600030101010101" pitchFamily="2" charset="-122"/>
              </a:endParaRPr>
            </a:p>
          </p:txBody>
        </p:sp>
      </p:grpSp>
      <p:sp>
        <p:nvSpPr>
          <p:cNvPr id="181" name="Line 73"/>
          <p:cNvSpPr>
            <a:spLocks noChangeShapeType="1"/>
          </p:cNvSpPr>
          <p:nvPr/>
        </p:nvSpPr>
        <p:spPr bwMode="auto">
          <a:xfrm>
            <a:off x="5199872" y="1057614"/>
            <a:ext cx="63663" cy="239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solidFill>
                <a:srgbClr val="000099"/>
              </a:solidFill>
              <a:ea typeface="宋体" panose="02010600030101010101" pitchFamily="2" charset="-122"/>
            </a:endParaRPr>
          </a:p>
        </p:txBody>
      </p:sp>
      <p:sp>
        <p:nvSpPr>
          <p:cNvPr id="182" name="Text Box 74"/>
          <p:cNvSpPr txBox="1">
            <a:spLocks noChangeArrowheads="1"/>
          </p:cNvSpPr>
          <p:nvPr/>
        </p:nvSpPr>
        <p:spPr bwMode="auto">
          <a:xfrm>
            <a:off x="3190498" y="2101782"/>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主机</a:t>
            </a:r>
          </a:p>
        </p:txBody>
      </p:sp>
    </p:spTree>
    <p:custDataLst>
      <p:tags r:id="rId1"/>
    </p:custDataLst>
    <p:extLst>
      <p:ext uri="{BB962C8B-B14F-4D97-AF65-F5344CB8AC3E}">
        <p14:creationId xmlns:p14="http://schemas.microsoft.com/office/powerpoint/2010/main" val="4284752577"/>
      </p:ext>
    </p:extLst>
  </p:cSld>
  <p:clrMapOvr>
    <a:masterClrMapping/>
  </p:clrMapOvr>
  <mc:AlternateContent xmlns:mc="http://schemas.openxmlformats.org/markup-compatibility/2006" xmlns:p14="http://schemas.microsoft.com/office/powerpoint/2010/main">
    <mc:Choice Requires="p14">
      <p:transition spd="slow" p14:dur="2000" advTm="2522"/>
    </mc:Choice>
    <mc:Fallback xmlns="">
      <p:transition spd="slow" advTm="252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30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32"/>
                                        </p:tgtEl>
                                        <p:attrNameLst>
                                          <p:attrName>style.visibility</p:attrName>
                                        </p:attrNameLst>
                                      </p:cBhvr>
                                      <p:to>
                                        <p:strVal val="visible"/>
                                      </p:to>
                                    </p:set>
                                    <p:animEffect transition="in" filter="barn(inVertical)">
                                      <p:cBhvr>
                                        <p:cTn id="14" dur="500"/>
                                        <p:tgtEl>
                                          <p:spTgt spid="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smtClean="0">
                <a:ea typeface="黑体" panose="02010609060101010101" pitchFamily="49" charset="-122"/>
              </a:rPr>
              <a:t>传输层</a:t>
            </a:r>
            <a:endParaRPr lang="zh-CN" altLang="en-US" dirty="0" smtClean="0">
              <a:solidFill>
                <a:srgbClr val="FF0000"/>
              </a:solidFill>
              <a:ea typeface="黑体" panose="02010609060101010101" pitchFamily="49" charset="-122"/>
            </a:endParaRPr>
          </a:p>
        </p:txBody>
      </p:sp>
      <p:sp>
        <p:nvSpPr>
          <p:cNvPr id="194562" name="AutoShape 3"/>
          <p:cNvSpPr>
            <a:spLocks noChangeArrowheads="1"/>
          </p:cNvSpPr>
          <p:nvPr/>
        </p:nvSpPr>
        <p:spPr bwMode="auto">
          <a:xfrm rot="16200000">
            <a:off x="4774250" y="905950"/>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C00000"/>
                </a:solidFill>
                <a:ea typeface="宋体" panose="02010600030101010101" pitchFamily="2" charset="-122"/>
              </a:rPr>
              <a:t>传输</a:t>
            </a:r>
            <a:endParaRPr lang="en-US" altLang="zh-CN" sz="2000" b="1" dirty="0">
              <a:solidFill>
                <a:srgbClr val="C00000"/>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C00000"/>
                </a:solidFill>
                <a:ea typeface="宋体" panose="02010600030101010101" pitchFamily="2" charset="-122"/>
              </a:rPr>
              <a:t>传输</a:t>
            </a:r>
            <a:endParaRPr lang="en-US" altLang="zh-CN" sz="2000" b="1" dirty="0">
              <a:solidFill>
                <a:srgbClr val="C00000"/>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4940301"/>
            <a:ext cx="6971334" cy="576874"/>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传输媒体上</a:t>
            </a:r>
            <a:r>
              <a:rPr lang="zh-CN" altLang="zh-CN" sz="2800" dirty="0" smtClean="0">
                <a:solidFill>
                  <a:srgbClr val="0000CC"/>
                </a:solidFill>
                <a:ea typeface="黑体" panose="02010609060101010101" pitchFamily="49" charset="-122"/>
              </a:rPr>
              <a:t>比特流</a:t>
            </a:r>
            <a:r>
              <a:rPr lang="zh-CN" altLang="en-US" sz="2800" dirty="0">
                <a:solidFill>
                  <a:srgbClr val="0000CC"/>
                </a:solidFill>
                <a:ea typeface="黑体" panose="02010609060101010101" pitchFamily="49" charset="-122"/>
              </a:rPr>
              <a:t>传输</a:t>
            </a:r>
            <a:endParaRPr lang="en-US" altLang="zh-CN" sz="2800" b="1" dirty="0">
              <a:solidFill>
                <a:srgbClr val="0000CC"/>
              </a:solidFill>
              <a:ea typeface="黑体" panose="02010609060101010101" pitchFamily="49" charset="-122"/>
            </a:endParaRPr>
          </a:p>
        </p:txBody>
      </p:sp>
      <p:sp>
        <p:nvSpPr>
          <p:cNvPr id="631" name="左右箭头标注 630"/>
          <p:cNvSpPr/>
          <p:nvPr/>
        </p:nvSpPr>
        <p:spPr bwMode="auto">
          <a:xfrm>
            <a:off x="1509960" y="4349808"/>
            <a:ext cx="6971334" cy="584648"/>
          </a:xfrm>
          <a:prstGeom prst="leftRightArrowCallout">
            <a:avLst>
              <a:gd name="adj1" fmla="val 16667"/>
              <a:gd name="adj2" fmla="val 25000"/>
              <a:gd name="adj3" fmla="val 25000"/>
              <a:gd name="adj4" fmla="val 81491"/>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传输媒体两端节点数据传输控制</a:t>
            </a:r>
            <a:endParaRPr lang="en-US" altLang="zh-CN" sz="2800" b="1" dirty="0">
              <a:solidFill>
                <a:srgbClr val="0000CC"/>
              </a:solidFill>
              <a:ea typeface="黑体" panose="02010609060101010101" pitchFamily="49" charset="-122"/>
            </a:endParaRPr>
          </a:p>
        </p:txBody>
      </p:sp>
      <p:sp>
        <p:nvSpPr>
          <p:cNvPr id="632" name="左右箭头标注 631"/>
          <p:cNvSpPr/>
          <p:nvPr/>
        </p:nvSpPr>
        <p:spPr bwMode="auto">
          <a:xfrm>
            <a:off x="1506538" y="3780430"/>
            <a:ext cx="6971334" cy="584648"/>
          </a:xfrm>
          <a:prstGeom prst="leftRightArrowCallout">
            <a:avLst>
              <a:gd name="adj1" fmla="val 16667"/>
              <a:gd name="adj2" fmla="val 25000"/>
              <a:gd name="adj3" fmla="val 25000"/>
              <a:gd name="adj4" fmla="val 72030"/>
            </a:avLst>
          </a:prstGeom>
          <a:solidFill>
            <a:srgbClr val="FFAC33"/>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网络任意节点数据传输</a:t>
            </a:r>
            <a:endParaRPr lang="en-US" altLang="zh-CN" sz="2800" b="1" dirty="0">
              <a:solidFill>
                <a:srgbClr val="0000CC"/>
              </a:solidFill>
              <a:ea typeface="黑体" panose="02010609060101010101" pitchFamily="49" charset="-122"/>
            </a:endParaRPr>
          </a:p>
        </p:txBody>
      </p:sp>
      <p:sp>
        <p:nvSpPr>
          <p:cNvPr id="103" name="左右箭头标注 102"/>
          <p:cNvSpPr/>
          <p:nvPr/>
        </p:nvSpPr>
        <p:spPr bwMode="auto">
          <a:xfrm>
            <a:off x="1497339" y="3195782"/>
            <a:ext cx="6971334" cy="584648"/>
          </a:xfrm>
          <a:prstGeom prst="leftRightArrowCallout">
            <a:avLst>
              <a:gd name="adj1" fmla="val 16667"/>
              <a:gd name="adj2" fmla="val 25000"/>
              <a:gd name="adj3" fmla="val 25000"/>
              <a:gd name="adj4" fmla="val 60950"/>
            </a:avLst>
          </a:prstGeom>
          <a:solidFill>
            <a:srgbClr val="FFA21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C00000"/>
                </a:solidFill>
                <a:ea typeface="黑体" panose="02010609060101010101" pitchFamily="49" charset="-122"/>
              </a:rPr>
              <a:t>主机进程间数据传输</a:t>
            </a:r>
            <a:endParaRPr lang="en-US" altLang="zh-CN" sz="2800" dirty="0">
              <a:solidFill>
                <a:srgbClr val="C00000"/>
              </a:solidFill>
              <a:ea typeface="黑体" panose="02010609060101010101" pitchFamily="49" charset="-122"/>
            </a:endParaRPr>
          </a:p>
        </p:txBody>
      </p:sp>
      <p:grpSp>
        <p:nvGrpSpPr>
          <p:cNvPr id="2" name="组合 1"/>
          <p:cNvGrpSpPr/>
          <p:nvPr/>
        </p:nvGrpSpPr>
        <p:grpSpPr>
          <a:xfrm>
            <a:off x="2411229" y="1153465"/>
            <a:ext cx="4845963" cy="1843499"/>
            <a:chOff x="2360784" y="908790"/>
            <a:chExt cx="4845963" cy="1843499"/>
          </a:xfrm>
        </p:grpSpPr>
        <p:sp>
          <p:nvSpPr>
            <p:cNvPr id="105" name="Line 2"/>
            <p:cNvSpPr>
              <a:spLocks noChangeShapeType="1"/>
            </p:cNvSpPr>
            <p:nvPr/>
          </p:nvSpPr>
          <p:spPr bwMode="auto">
            <a:xfrm>
              <a:off x="3082975" y="2404968"/>
              <a:ext cx="343657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06" name="Rectangle 3"/>
            <p:cNvSpPr>
              <a:spLocks noChangeArrowheads="1"/>
            </p:cNvSpPr>
            <p:nvPr/>
          </p:nvSpPr>
          <p:spPr bwMode="auto">
            <a:xfrm>
              <a:off x="2377496" y="1293334"/>
              <a:ext cx="1242617" cy="6769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7" name="Rectangle 4"/>
            <p:cNvSpPr>
              <a:spLocks noChangeArrowheads="1"/>
            </p:cNvSpPr>
            <p:nvPr/>
          </p:nvSpPr>
          <p:spPr bwMode="auto">
            <a:xfrm>
              <a:off x="5932578" y="1293334"/>
              <a:ext cx="1242617" cy="6769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8" name="Text Box 6"/>
            <p:cNvSpPr txBox="1">
              <a:spLocks noChangeArrowheads="1"/>
            </p:cNvSpPr>
            <p:nvPr/>
          </p:nvSpPr>
          <p:spPr bwMode="auto">
            <a:xfrm>
              <a:off x="2377496" y="1225742"/>
              <a:ext cx="579224" cy="78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dirty="0">
                  <a:solidFill>
                    <a:srgbClr val="000099"/>
                  </a:solidFill>
                  <a:ea typeface="黑体" panose="02010609060101010101" pitchFamily="49" charset="-122"/>
                  <a:sym typeface="Wingdings" panose="05000000000000000000" pitchFamily="2" charset="2"/>
                </a:rPr>
                <a:t></a:t>
              </a:r>
              <a:endParaRPr lang="en-US" altLang="zh-CN" sz="7200" b="1" dirty="0">
                <a:solidFill>
                  <a:srgbClr val="000099"/>
                </a:solidFill>
                <a:ea typeface="黑体" panose="02010609060101010101" pitchFamily="49" charset="-122"/>
              </a:endParaRPr>
            </a:p>
          </p:txBody>
        </p:sp>
        <p:sp>
          <p:nvSpPr>
            <p:cNvPr id="109" name="Rectangle 7"/>
            <p:cNvSpPr>
              <a:spLocks noChangeArrowheads="1"/>
            </p:cNvSpPr>
            <p:nvPr/>
          </p:nvSpPr>
          <p:spPr bwMode="auto">
            <a:xfrm>
              <a:off x="2360784" y="912504"/>
              <a:ext cx="1317669"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200" b="1" dirty="0">
                  <a:solidFill>
                    <a:srgbClr val="000099"/>
                  </a:solidFill>
                  <a:ea typeface="黑体" panose="02010609060101010101" pitchFamily="49" charset="-122"/>
                </a:rPr>
                <a:t>应用进程</a:t>
              </a:r>
            </a:p>
          </p:txBody>
        </p:sp>
        <p:sp>
          <p:nvSpPr>
            <p:cNvPr id="110" name="Rectangle 8"/>
            <p:cNvSpPr>
              <a:spLocks noChangeArrowheads="1"/>
            </p:cNvSpPr>
            <p:nvPr/>
          </p:nvSpPr>
          <p:spPr bwMode="auto">
            <a:xfrm>
              <a:off x="2853722" y="1601139"/>
              <a:ext cx="306778" cy="25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11" name="Text Box 9"/>
            <p:cNvSpPr txBox="1">
              <a:spLocks noChangeArrowheads="1"/>
            </p:cNvSpPr>
            <p:nvPr/>
          </p:nvSpPr>
          <p:spPr bwMode="auto">
            <a:xfrm>
              <a:off x="3060825" y="1225742"/>
              <a:ext cx="579224" cy="78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dirty="0">
                  <a:solidFill>
                    <a:srgbClr val="000099"/>
                  </a:solidFill>
                  <a:ea typeface="黑体" panose="02010609060101010101" pitchFamily="49" charset="-122"/>
                  <a:sym typeface="Wingdings" panose="05000000000000000000" pitchFamily="2" charset="2"/>
                </a:rPr>
                <a:t></a:t>
              </a:r>
              <a:endParaRPr lang="en-US" altLang="zh-CN" sz="7200" b="1" dirty="0">
                <a:solidFill>
                  <a:srgbClr val="000099"/>
                </a:solidFill>
                <a:ea typeface="黑体" panose="02010609060101010101" pitchFamily="49" charset="-122"/>
              </a:endParaRPr>
            </a:p>
          </p:txBody>
        </p:sp>
        <p:sp>
          <p:nvSpPr>
            <p:cNvPr id="112" name="Text Box 10"/>
            <p:cNvSpPr txBox="1">
              <a:spLocks noChangeArrowheads="1"/>
            </p:cNvSpPr>
            <p:nvPr/>
          </p:nvSpPr>
          <p:spPr bwMode="auto">
            <a:xfrm>
              <a:off x="5932578" y="1225742"/>
              <a:ext cx="579224" cy="78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dirty="0">
                  <a:solidFill>
                    <a:srgbClr val="000099"/>
                  </a:solidFill>
                  <a:ea typeface="黑体" panose="02010609060101010101" pitchFamily="49" charset="-122"/>
                  <a:sym typeface="Wingdings" panose="05000000000000000000" pitchFamily="2" charset="2"/>
                </a:rPr>
                <a:t></a:t>
              </a:r>
              <a:endParaRPr lang="en-US" altLang="zh-CN" sz="7200" b="1" dirty="0">
                <a:solidFill>
                  <a:srgbClr val="000099"/>
                </a:solidFill>
                <a:ea typeface="黑体" panose="02010609060101010101" pitchFamily="49" charset="-122"/>
              </a:endParaRPr>
            </a:p>
          </p:txBody>
        </p:sp>
        <p:sp>
          <p:nvSpPr>
            <p:cNvPr id="183" name="Rectangle 11"/>
            <p:cNvSpPr>
              <a:spLocks noChangeArrowheads="1"/>
            </p:cNvSpPr>
            <p:nvPr/>
          </p:nvSpPr>
          <p:spPr bwMode="auto">
            <a:xfrm>
              <a:off x="5889078" y="908790"/>
              <a:ext cx="1317669"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200" b="1" dirty="0">
                  <a:solidFill>
                    <a:srgbClr val="000099"/>
                  </a:solidFill>
                  <a:ea typeface="黑体" panose="02010609060101010101" pitchFamily="49" charset="-122"/>
                </a:rPr>
                <a:t>应用进程</a:t>
              </a:r>
            </a:p>
          </p:txBody>
        </p:sp>
        <p:sp>
          <p:nvSpPr>
            <p:cNvPr id="184" name="Rectangle 12"/>
            <p:cNvSpPr>
              <a:spLocks noChangeArrowheads="1"/>
            </p:cNvSpPr>
            <p:nvPr/>
          </p:nvSpPr>
          <p:spPr bwMode="auto">
            <a:xfrm>
              <a:off x="6408804" y="1601139"/>
              <a:ext cx="306778" cy="25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85" name="Text Box 13"/>
            <p:cNvSpPr txBox="1">
              <a:spLocks noChangeArrowheads="1"/>
            </p:cNvSpPr>
            <p:nvPr/>
          </p:nvSpPr>
          <p:spPr bwMode="auto">
            <a:xfrm>
              <a:off x="6615906" y="1225742"/>
              <a:ext cx="579224" cy="78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dirty="0">
                  <a:solidFill>
                    <a:srgbClr val="000099"/>
                  </a:solidFill>
                  <a:ea typeface="黑体" panose="02010609060101010101" pitchFamily="49" charset="-122"/>
                  <a:sym typeface="Wingdings" panose="05000000000000000000" pitchFamily="2" charset="2"/>
                </a:rPr>
                <a:t></a:t>
              </a:r>
              <a:endParaRPr lang="en-US" altLang="zh-CN" sz="7200" b="1" dirty="0">
                <a:solidFill>
                  <a:srgbClr val="000099"/>
                </a:solidFill>
                <a:ea typeface="黑体" panose="02010609060101010101" pitchFamily="49" charset="-122"/>
              </a:endParaRPr>
            </a:p>
          </p:txBody>
        </p:sp>
        <p:pic>
          <p:nvPicPr>
            <p:cNvPr id="186" name="Picture 1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3787" y="2126279"/>
              <a:ext cx="372121" cy="35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 name="Picture 1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4406" y="2126279"/>
              <a:ext cx="373228" cy="35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AutoShape 16"/>
            <p:cNvSpPr>
              <a:spLocks noChangeArrowheads="1"/>
            </p:cNvSpPr>
            <p:nvPr/>
          </p:nvSpPr>
          <p:spPr bwMode="auto">
            <a:xfrm>
              <a:off x="6470824" y="1839272"/>
              <a:ext cx="178308" cy="37539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7" name="AutoShape 25"/>
            <p:cNvSpPr>
              <a:spLocks noChangeArrowheads="1"/>
            </p:cNvSpPr>
            <p:nvPr/>
          </p:nvSpPr>
          <p:spPr bwMode="auto">
            <a:xfrm>
              <a:off x="2920172" y="1839272"/>
              <a:ext cx="178308" cy="37539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aphicFrame>
          <p:nvGraphicFramePr>
            <p:cNvPr id="198" name="Object 26"/>
            <p:cNvGraphicFramePr>
              <a:graphicFrameLocks noChangeAspect="1"/>
            </p:cNvGraphicFramePr>
            <p:nvPr>
              <p:extLst>
                <p:ext uri="{D42A27DB-BD31-4B8C-83A1-F6EECF244321}">
                  <p14:modId xmlns:p14="http://schemas.microsoft.com/office/powerpoint/2010/main" val="1709244860"/>
                </p:ext>
              </p:extLst>
            </p:nvPr>
          </p:nvGraphicFramePr>
          <p:xfrm>
            <a:off x="3654446" y="1752962"/>
            <a:ext cx="2232724" cy="999327"/>
          </p:xfrm>
          <a:graphic>
            <a:graphicData uri="http://schemas.openxmlformats.org/presentationml/2006/ole">
              <mc:AlternateContent xmlns:mc="http://schemas.openxmlformats.org/markup-compatibility/2006">
                <mc:Choice xmlns:v="urn:schemas-microsoft-com:vml" Requires="v">
                  <p:oleObj spid="_x0000_s259231" r:id="rId6" imgW="1687068" imgH="964692" progId="">
                    <p:embed/>
                  </p:oleObj>
                </mc:Choice>
                <mc:Fallback>
                  <p:oleObj r:id="rId6" imgW="1687068" imgH="964692" progId="">
                    <p:embed/>
                    <p:pic>
                      <p:nvPicPr>
                        <p:cNvPr id="1298459"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4446" y="1752962"/>
                          <a:ext cx="2232724" cy="99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9" name="Rectangle 27"/>
            <p:cNvSpPr>
              <a:spLocks noChangeArrowheads="1"/>
            </p:cNvSpPr>
            <p:nvPr/>
          </p:nvSpPr>
          <p:spPr bwMode="auto">
            <a:xfrm>
              <a:off x="4304946" y="1988880"/>
              <a:ext cx="1033938" cy="42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200" b="1" dirty="0">
                  <a:solidFill>
                    <a:srgbClr val="000099"/>
                  </a:solidFill>
                  <a:ea typeface="黑体" panose="02010609060101010101" pitchFamily="49" charset="-122"/>
                </a:rPr>
                <a:t>互联网</a:t>
              </a:r>
              <a:endParaRPr lang="en-US" altLang="zh-CN" sz="2200" b="1" dirty="0">
                <a:solidFill>
                  <a:srgbClr val="000099"/>
                </a:solidFill>
                <a:ea typeface="黑体" panose="02010609060101010101" pitchFamily="49" charset="-122"/>
              </a:endParaRPr>
            </a:p>
          </p:txBody>
        </p:sp>
      </p:grpSp>
    </p:spTree>
    <p:custDataLst>
      <p:tags r:id="rId2"/>
    </p:custDataLst>
    <p:extLst>
      <p:ext uri="{BB962C8B-B14F-4D97-AF65-F5344CB8AC3E}">
        <p14:creationId xmlns:p14="http://schemas.microsoft.com/office/powerpoint/2010/main" val="1496695116"/>
      </p:ext>
    </p:extLst>
  </p:cSld>
  <p:clrMapOvr>
    <a:masterClrMapping/>
  </p:clrMapOvr>
  <mc:AlternateContent xmlns:mc="http://schemas.openxmlformats.org/markup-compatibility/2006" xmlns:p14="http://schemas.microsoft.com/office/powerpoint/2010/main">
    <mc:Choice Requires="p14">
      <p:transition spd="slow" p14:dur="2000" advTm="2168"/>
    </mc:Choice>
    <mc:Fallback xmlns="">
      <p:transition spd="slow" advTm="21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grpId="0" nodeType="afterEffect">
                                  <p:stCondLst>
                                    <p:cond delay="1000"/>
                                  </p:stCondLst>
                                  <p:childTnLst>
                                    <p:set>
                                      <p:cBhvr>
                                        <p:cTn id="9" dur="1" fill="hold">
                                          <p:stCondLst>
                                            <p:cond delay="0"/>
                                          </p:stCondLst>
                                        </p:cTn>
                                        <p:tgtEl>
                                          <p:spTgt spid="103"/>
                                        </p:tgtEl>
                                        <p:attrNameLst>
                                          <p:attrName>style.visibility</p:attrName>
                                        </p:attrNameLst>
                                      </p:cBhvr>
                                      <p:to>
                                        <p:strVal val="visible"/>
                                      </p:to>
                                    </p:set>
                                    <p:animEffect transition="in" filter="barn(inVertical)">
                                      <p:cBhvr>
                                        <p:cTn id="1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smtClean="0">
                <a:ea typeface="黑体" panose="02010609060101010101" pitchFamily="49" charset="-122"/>
              </a:rPr>
              <a:t>应用层</a:t>
            </a:r>
            <a:endParaRPr lang="zh-CN" altLang="en-US" dirty="0" smtClean="0">
              <a:solidFill>
                <a:srgbClr val="FF0000"/>
              </a:solidFill>
              <a:ea typeface="黑体" panose="02010609060101010101" pitchFamily="49" charset="-122"/>
            </a:endParaRP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应用</a:t>
            </a:r>
            <a:endParaRPr lang="en-US" altLang="zh-CN" sz="2000" b="1" dirty="0">
              <a:solidFill>
                <a:srgbClr val="C00000"/>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C00000"/>
                </a:solidFill>
                <a:ea typeface="宋体" panose="02010600030101010101" pitchFamily="2" charset="-122"/>
              </a:rPr>
              <a:t>应用</a:t>
            </a:r>
            <a:endParaRPr lang="en-US" altLang="zh-CN" sz="2000" b="1" dirty="0">
              <a:solidFill>
                <a:srgbClr val="C00000"/>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4940301"/>
            <a:ext cx="6971334" cy="576874"/>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传输媒体上</a:t>
            </a:r>
            <a:r>
              <a:rPr lang="zh-CN" altLang="zh-CN" sz="2800" dirty="0" smtClean="0">
                <a:solidFill>
                  <a:srgbClr val="0000CC"/>
                </a:solidFill>
                <a:ea typeface="黑体" panose="02010609060101010101" pitchFamily="49" charset="-122"/>
              </a:rPr>
              <a:t>比特流</a:t>
            </a:r>
            <a:r>
              <a:rPr lang="zh-CN" altLang="en-US" sz="2800" dirty="0">
                <a:solidFill>
                  <a:srgbClr val="0000CC"/>
                </a:solidFill>
                <a:ea typeface="黑体" panose="02010609060101010101" pitchFamily="49" charset="-122"/>
              </a:rPr>
              <a:t>传输</a:t>
            </a:r>
            <a:endParaRPr lang="en-US" altLang="zh-CN" sz="2800" b="1" dirty="0">
              <a:solidFill>
                <a:srgbClr val="0000CC"/>
              </a:solidFill>
              <a:ea typeface="黑体" panose="02010609060101010101" pitchFamily="49" charset="-122"/>
            </a:endParaRPr>
          </a:p>
        </p:txBody>
      </p:sp>
      <p:sp>
        <p:nvSpPr>
          <p:cNvPr id="631" name="左右箭头标注 630"/>
          <p:cNvSpPr/>
          <p:nvPr/>
        </p:nvSpPr>
        <p:spPr bwMode="auto">
          <a:xfrm>
            <a:off x="1509960" y="4349808"/>
            <a:ext cx="6971334" cy="584648"/>
          </a:xfrm>
          <a:prstGeom prst="leftRightArrowCallout">
            <a:avLst>
              <a:gd name="adj1" fmla="val 16667"/>
              <a:gd name="adj2" fmla="val 25000"/>
              <a:gd name="adj3" fmla="val 25000"/>
              <a:gd name="adj4" fmla="val 81491"/>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传输媒体两端节点数据传输控制</a:t>
            </a:r>
            <a:endParaRPr lang="en-US" altLang="zh-CN" sz="2800" b="1" dirty="0">
              <a:solidFill>
                <a:srgbClr val="0000CC"/>
              </a:solidFill>
              <a:ea typeface="黑体" panose="02010609060101010101" pitchFamily="49" charset="-122"/>
            </a:endParaRPr>
          </a:p>
        </p:txBody>
      </p:sp>
      <p:sp>
        <p:nvSpPr>
          <p:cNvPr id="632" name="左右箭头标注 631"/>
          <p:cNvSpPr/>
          <p:nvPr/>
        </p:nvSpPr>
        <p:spPr bwMode="auto">
          <a:xfrm>
            <a:off x="1506538" y="3780430"/>
            <a:ext cx="6971334" cy="584648"/>
          </a:xfrm>
          <a:prstGeom prst="leftRightArrowCallout">
            <a:avLst>
              <a:gd name="adj1" fmla="val 16667"/>
              <a:gd name="adj2" fmla="val 25000"/>
              <a:gd name="adj3" fmla="val 25000"/>
              <a:gd name="adj4" fmla="val 72030"/>
            </a:avLst>
          </a:prstGeom>
          <a:solidFill>
            <a:srgbClr val="FFAC33"/>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网络任意节点数据传输</a:t>
            </a:r>
            <a:endParaRPr lang="en-US" altLang="zh-CN" sz="2800" b="1" dirty="0">
              <a:solidFill>
                <a:srgbClr val="0000CC"/>
              </a:solidFill>
              <a:ea typeface="黑体" panose="02010609060101010101" pitchFamily="49" charset="-122"/>
            </a:endParaRPr>
          </a:p>
        </p:txBody>
      </p:sp>
      <p:sp>
        <p:nvSpPr>
          <p:cNvPr id="103" name="左右箭头标注 102"/>
          <p:cNvSpPr/>
          <p:nvPr/>
        </p:nvSpPr>
        <p:spPr bwMode="auto">
          <a:xfrm>
            <a:off x="1497339" y="3195782"/>
            <a:ext cx="6971334" cy="584648"/>
          </a:xfrm>
          <a:prstGeom prst="leftRightArrowCallout">
            <a:avLst>
              <a:gd name="adj1" fmla="val 16667"/>
              <a:gd name="adj2" fmla="val 25000"/>
              <a:gd name="adj3" fmla="val 25000"/>
              <a:gd name="adj4" fmla="val 60950"/>
            </a:avLst>
          </a:prstGeom>
          <a:solidFill>
            <a:srgbClr val="FFA21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主机进程间数据传输</a:t>
            </a:r>
            <a:endParaRPr lang="en-US" altLang="zh-CN" sz="2800" dirty="0">
              <a:solidFill>
                <a:srgbClr val="0000CC"/>
              </a:solidFill>
              <a:ea typeface="黑体" panose="02010609060101010101" pitchFamily="49" charset="-122"/>
            </a:endParaRPr>
          </a:p>
        </p:txBody>
      </p:sp>
      <p:sp>
        <p:nvSpPr>
          <p:cNvPr id="52" name="左右箭头标注 51"/>
          <p:cNvSpPr/>
          <p:nvPr/>
        </p:nvSpPr>
        <p:spPr bwMode="auto">
          <a:xfrm>
            <a:off x="1496712" y="2636934"/>
            <a:ext cx="6971334" cy="584648"/>
          </a:xfrm>
          <a:prstGeom prst="leftRightArrowCallout">
            <a:avLst>
              <a:gd name="adj1" fmla="val 16667"/>
              <a:gd name="adj2" fmla="val 25000"/>
              <a:gd name="adj3" fmla="val 25000"/>
              <a:gd name="adj4" fmla="val 51500"/>
            </a:avLst>
          </a:prstGeom>
          <a:solidFill>
            <a:srgbClr val="FF9B0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C00000"/>
                </a:solidFill>
                <a:ea typeface="黑体" panose="02010609060101010101" pitchFamily="49" charset="-122"/>
              </a:rPr>
              <a:t>面向应用通信规则</a:t>
            </a:r>
            <a:endParaRPr lang="en-US" altLang="zh-CN" sz="2800" dirty="0">
              <a:solidFill>
                <a:srgbClr val="C00000"/>
              </a:solidFill>
              <a:ea typeface="黑体" panose="02010609060101010101" pitchFamily="49" charset="-122"/>
            </a:endParaRPr>
          </a:p>
        </p:txBody>
      </p:sp>
      <p:pic>
        <p:nvPicPr>
          <p:cNvPr id="260098" name="Picture 2" descr="https://gimg2.baidu.com/image_search/src=http%3A%2F%2Fi-1.lanrentuku.com%2F2020%2F11%2F5%2F36692b78-ebaa-4002-bc42-3d9964d9217d.png&amp;refer=http%3A%2F%2Fi-1.lanrentuku.com&amp;app=2002&amp;size=f9999,10000&amp;q=a80&amp;n=0&amp;g=0n&amp;fmt=auto?sec=1670544748&amp;t=929f1dd6b466af4d5de175d854c63d0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6966" y="1162816"/>
            <a:ext cx="1206436" cy="1206436"/>
          </a:xfrm>
          <a:prstGeom prst="rect">
            <a:avLst/>
          </a:prstGeom>
          <a:noFill/>
          <a:extLst>
            <a:ext uri="{909E8E84-426E-40DD-AFC4-6F175D3DCCD1}">
              <a14:hiddenFill xmlns:a14="http://schemas.microsoft.com/office/drawing/2010/main">
                <a:solidFill>
                  <a:srgbClr val="FFFFFF"/>
                </a:solidFill>
              </a14:hiddenFill>
            </a:ext>
          </a:extLst>
        </p:spPr>
      </p:pic>
      <p:pic>
        <p:nvPicPr>
          <p:cNvPr id="55" name="图片 54" descr="https://img2.baidu.com/it/u=1689139718,1536130278&amp;fm=253&amp;fmt=auto&amp;app=138&amp;f=JPEG?w=640&amp;h=320"/>
          <p:cNvPicPr/>
          <p:nvPr/>
        </p:nvPicPr>
        <p:blipFill rotWithShape="1">
          <a:blip r:embed="rId5" cstate="print">
            <a:extLst>
              <a:ext uri="{28A0092B-C50C-407E-A947-70E740481C1C}">
                <a14:useLocalDpi xmlns:a14="http://schemas.microsoft.com/office/drawing/2010/main" val="0"/>
              </a:ext>
            </a:extLst>
          </a:blip>
          <a:srcRect l="31501" t="13163" r="31084" b="13843"/>
          <a:stretch/>
        </p:blipFill>
        <p:spPr bwMode="auto">
          <a:xfrm>
            <a:off x="3944916" y="1328232"/>
            <a:ext cx="936078" cy="865694"/>
          </a:xfrm>
          <a:prstGeom prst="rect">
            <a:avLst/>
          </a:prstGeom>
          <a:noFill/>
          <a:ln>
            <a:noFill/>
          </a:ln>
          <a:extLst>
            <a:ext uri="{53640926-AAD7-44D8-BBD7-CCE9431645EC}">
              <a14:shadowObscured xmlns:a14="http://schemas.microsoft.com/office/drawing/2010/main"/>
            </a:ext>
          </a:extLst>
        </p:spPr>
      </p:pic>
      <p:pic>
        <p:nvPicPr>
          <p:cNvPr id="56" name="图片 55" descr="https://gimg2.baidu.com/image_search/src=http%3A%2F%2Fwww.d3sy.com%2Fd%2Ffile%2Fapp%2F20220417%2Fktlopkjx3wv.png&amp;refer=http%3A%2F%2Fwww.d3sy.com&amp;app=2002&amp;size=f9999,10000&amp;q=a80&amp;n=0&amp;g=0n&amp;fmt=auto?sec=1670544897&amp;t=9e06a93f3dec884a4a349bf81fcb2e99"/>
          <p:cNvPicPr/>
          <p:nvPr/>
        </p:nvPicPr>
        <p:blipFill>
          <a:blip r:embed="rId6">
            <a:extLst>
              <a:ext uri="{28A0092B-C50C-407E-A947-70E740481C1C}">
                <a14:useLocalDpi xmlns:a14="http://schemas.microsoft.com/office/drawing/2010/main" val="0"/>
              </a:ext>
            </a:extLst>
          </a:blip>
          <a:srcRect/>
          <a:stretch>
            <a:fillRect/>
          </a:stretch>
        </p:blipFill>
        <p:spPr bwMode="auto">
          <a:xfrm>
            <a:off x="5056756" y="1299072"/>
            <a:ext cx="1055708" cy="943569"/>
          </a:xfrm>
          <a:prstGeom prst="rect">
            <a:avLst/>
          </a:prstGeom>
          <a:noFill/>
          <a:ln>
            <a:noFill/>
          </a:ln>
        </p:spPr>
      </p:pic>
      <p:pic>
        <p:nvPicPr>
          <p:cNvPr id="260102" name="Picture 6" descr="https://img2.baidu.com/it/u=3708030947,3839568117&amp;fm=253&amp;fmt=auto&amp;app=138&amp;f=PNG?w=500&amp;h=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21114" y="1186194"/>
            <a:ext cx="1231470" cy="123147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28956991"/>
      </p:ext>
    </p:extLst>
  </p:cSld>
  <p:clrMapOvr>
    <a:masterClrMapping/>
  </p:clrMapOvr>
  <mc:AlternateContent xmlns:mc="http://schemas.openxmlformats.org/markup-compatibility/2006" xmlns:p14="http://schemas.microsoft.com/office/powerpoint/2010/main">
    <mc:Choice Requires="p14">
      <p:transition spd="slow" p14:dur="2000" advTm="2603"/>
    </mc:Choice>
    <mc:Fallback xmlns="">
      <p:transition spd="slow" advTm="26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60098"/>
                                        </p:tgtEl>
                                        <p:attrNameLst>
                                          <p:attrName>style.visibility</p:attrName>
                                        </p:attrNameLst>
                                      </p:cBhvr>
                                      <p:to>
                                        <p:strVal val="visible"/>
                                      </p:to>
                                    </p:set>
                                    <p:anim calcmode="lin" valueType="num">
                                      <p:cBhvr additive="base">
                                        <p:cTn id="7" dur="200" fill="hold"/>
                                        <p:tgtEl>
                                          <p:spTgt spid="260098"/>
                                        </p:tgtEl>
                                        <p:attrNameLst>
                                          <p:attrName>ppt_x</p:attrName>
                                        </p:attrNameLst>
                                      </p:cBhvr>
                                      <p:tavLst>
                                        <p:tav tm="0">
                                          <p:val>
                                            <p:strVal val="#ppt_x"/>
                                          </p:val>
                                        </p:tav>
                                        <p:tav tm="100000">
                                          <p:val>
                                            <p:strVal val="#ppt_x"/>
                                          </p:val>
                                        </p:tav>
                                      </p:tavLst>
                                    </p:anim>
                                    <p:anim calcmode="lin" valueType="num">
                                      <p:cBhvr additive="base">
                                        <p:cTn id="8" dur="200" fill="hold"/>
                                        <p:tgtEl>
                                          <p:spTgt spid="260098"/>
                                        </p:tgtEl>
                                        <p:attrNameLst>
                                          <p:attrName>ppt_y</p:attrName>
                                        </p:attrNameLst>
                                      </p:cBhvr>
                                      <p:tavLst>
                                        <p:tav tm="0">
                                          <p:val>
                                            <p:strVal val="0-#ppt_h/2"/>
                                          </p:val>
                                        </p:tav>
                                        <p:tav tm="100000">
                                          <p:val>
                                            <p:strVal val="#ppt_y"/>
                                          </p:val>
                                        </p:tav>
                                      </p:tavLst>
                                    </p:anim>
                                  </p:childTnLst>
                                </p:cTn>
                              </p:par>
                            </p:childTnLst>
                          </p:cTn>
                        </p:par>
                        <p:par>
                          <p:cTn id="9" fill="hold">
                            <p:stCondLst>
                              <p:cond delay="200"/>
                            </p:stCondLst>
                            <p:childTnLst>
                              <p:par>
                                <p:cTn id="10" presetID="2" presetClass="entr" presetSubtype="1" fill="hold" nodeType="after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200" fill="hold"/>
                                        <p:tgtEl>
                                          <p:spTgt spid="55"/>
                                        </p:tgtEl>
                                        <p:attrNameLst>
                                          <p:attrName>ppt_x</p:attrName>
                                        </p:attrNameLst>
                                      </p:cBhvr>
                                      <p:tavLst>
                                        <p:tav tm="0">
                                          <p:val>
                                            <p:strVal val="#ppt_x"/>
                                          </p:val>
                                        </p:tav>
                                        <p:tav tm="100000">
                                          <p:val>
                                            <p:strVal val="#ppt_x"/>
                                          </p:val>
                                        </p:tav>
                                      </p:tavLst>
                                    </p:anim>
                                    <p:anim calcmode="lin" valueType="num">
                                      <p:cBhvr additive="base">
                                        <p:cTn id="13" dur="200" fill="hold"/>
                                        <p:tgtEl>
                                          <p:spTgt spid="55"/>
                                        </p:tgtEl>
                                        <p:attrNameLst>
                                          <p:attrName>ppt_y</p:attrName>
                                        </p:attrNameLst>
                                      </p:cBhvr>
                                      <p:tavLst>
                                        <p:tav tm="0">
                                          <p:val>
                                            <p:strVal val="0-#ppt_h/2"/>
                                          </p:val>
                                        </p:tav>
                                        <p:tav tm="100000">
                                          <p:val>
                                            <p:strVal val="#ppt_y"/>
                                          </p:val>
                                        </p:tav>
                                      </p:tavLst>
                                    </p:anim>
                                  </p:childTnLst>
                                </p:cTn>
                              </p:par>
                            </p:childTnLst>
                          </p:cTn>
                        </p:par>
                        <p:par>
                          <p:cTn id="14" fill="hold">
                            <p:stCondLst>
                              <p:cond delay="400"/>
                            </p:stCondLst>
                            <p:childTnLst>
                              <p:par>
                                <p:cTn id="15" presetID="2" presetClass="entr" presetSubtype="1" fill="hold" nodeType="after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additive="base">
                                        <p:cTn id="17" dur="200" fill="hold"/>
                                        <p:tgtEl>
                                          <p:spTgt spid="56"/>
                                        </p:tgtEl>
                                        <p:attrNameLst>
                                          <p:attrName>ppt_x</p:attrName>
                                        </p:attrNameLst>
                                      </p:cBhvr>
                                      <p:tavLst>
                                        <p:tav tm="0">
                                          <p:val>
                                            <p:strVal val="#ppt_x"/>
                                          </p:val>
                                        </p:tav>
                                        <p:tav tm="100000">
                                          <p:val>
                                            <p:strVal val="#ppt_x"/>
                                          </p:val>
                                        </p:tav>
                                      </p:tavLst>
                                    </p:anim>
                                    <p:anim calcmode="lin" valueType="num">
                                      <p:cBhvr additive="base">
                                        <p:cTn id="18" dur="200" fill="hold"/>
                                        <p:tgtEl>
                                          <p:spTgt spid="56"/>
                                        </p:tgtEl>
                                        <p:attrNameLst>
                                          <p:attrName>ppt_y</p:attrName>
                                        </p:attrNameLst>
                                      </p:cBhvr>
                                      <p:tavLst>
                                        <p:tav tm="0">
                                          <p:val>
                                            <p:strVal val="0-#ppt_h/2"/>
                                          </p:val>
                                        </p:tav>
                                        <p:tav tm="100000">
                                          <p:val>
                                            <p:strVal val="#ppt_y"/>
                                          </p:val>
                                        </p:tav>
                                      </p:tavLst>
                                    </p:anim>
                                  </p:childTnLst>
                                </p:cTn>
                              </p:par>
                            </p:childTnLst>
                          </p:cTn>
                        </p:par>
                        <p:par>
                          <p:cTn id="19" fill="hold">
                            <p:stCondLst>
                              <p:cond delay="600"/>
                            </p:stCondLst>
                            <p:childTnLst>
                              <p:par>
                                <p:cTn id="20" presetID="2" presetClass="entr" presetSubtype="1" fill="hold" nodeType="afterEffect">
                                  <p:stCondLst>
                                    <p:cond delay="0"/>
                                  </p:stCondLst>
                                  <p:childTnLst>
                                    <p:set>
                                      <p:cBhvr>
                                        <p:cTn id="21" dur="1" fill="hold">
                                          <p:stCondLst>
                                            <p:cond delay="0"/>
                                          </p:stCondLst>
                                        </p:cTn>
                                        <p:tgtEl>
                                          <p:spTgt spid="260102"/>
                                        </p:tgtEl>
                                        <p:attrNameLst>
                                          <p:attrName>style.visibility</p:attrName>
                                        </p:attrNameLst>
                                      </p:cBhvr>
                                      <p:to>
                                        <p:strVal val="visible"/>
                                      </p:to>
                                    </p:set>
                                    <p:anim calcmode="lin" valueType="num">
                                      <p:cBhvr additive="base">
                                        <p:cTn id="22" dur="200" fill="hold"/>
                                        <p:tgtEl>
                                          <p:spTgt spid="260102"/>
                                        </p:tgtEl>
                                        <p:attrNameLst>
                                          <p:attrName>ppt_x</p:attrName>
                                        </p:attrNameLst>
                                      </p:cBhvr>
                                      <p:tavLst>
                                        <p:tav tm="0">
                                          <p:val>
                                            <p:strVal val="#ppt_x"/>
                                          </p:val>
                                        </p:tav>
                                        <p:tav tm="100000">
                                          <p:val>
                                            <p:strVal val="#ppt_x"/>
                                          </p:val>
                                        </p:tav>
                                      </p:tavLst>
                                    </p:anim>
                                    <p:anim calcmode="lin" valueType="num">
                                      <p:cBhvr additive="base">
                                        <p:cTn id="23" dur="200" fill="hold"/>
                                        <p:tgtEl>
                                          <p:spTgt spid="260102"/>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barn(inVertical)">
                                      <p:cBhvr>
                                        <p:cTn id="2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smtClean="0">
                <a:ea typeface="黑体" panose="02010609060101010101" pitchFamily="49" charset="-122"/>
              </a:rPr>
              <a:t>计算机网络体系结构</a:t>
            </a:r>
            <a:r>
              <a:rPr lang="en-US" altLang="zh-CN" dirty="0" smtClean="0">
                <a:ea typeface="黑体" panose="02010609060101010101" pitchFamily="49" charset="-122"/>
              </a:rPr>
              <a:t>-</a:t>
            </a:r>
            <a:r>
              <a:rPr lang="zh-CN" altLang="en-US" dirty="0" smtClean="0">
                <a:ea typeface="黑体" panose="02010609060101010101" pitchFamily="49" charset="-122"/>
              </a:rPr>
              <a:t>小结</a:t>
            </a:r>
            <a:endParaRPr lang="zh-CN" altLang="en-US" dirty="0" smtClean="0">
              <a:solidFill>
                <a:srgbClr val="FF0000"/>
              </a:solidFill>
              <a:ea typeface="黑体" panose="02010609060101010101" pitchFamily="49" charset="-122"/>
            </a:endParaRP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274002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39243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448310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194568" name="Text Box 9"/>
          <p:cNvSpPr txBox="1">
            <a:spLocks noChangeArrowheads="1"/>
          </p:cNvSpPr>
          <p:nvPr/>
        </p:nvSpPr>
        <p:spPr bwMode="auto">
          <a:xfrm>
            <a:off x="632640" y="504983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2735245"/>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34484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39195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4478320"/>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49" name="Text Box 9"/>
          <p:cNvSpPr txBox="1">
            <a:spLocks noChangeArrowheads="1"/>
          </p:cNvSpPr>
          <p:nvPr/>
        </p:nvSpPr>
        <p:spPr bwMode="auto">
          <a:xfrm>
            <a:off x="8633216" y="5045058"/>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4940301"/>
            <a:ext cx="6971334" cy="576874"/>
          </a:xfrm>
          <a:prstGeom prst="leftRightArrowCallout">
            <a:avLst>
              <a:gd name="adj1" fmla="val 16667"/>
              <a:gd name="adj2" fmla="val 25000"/>
              <a:gd name="adj3" fmla="val 25000"/>
              <a:gd name="adj4" fmla="val 90952"/>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传输媒体上</a:t>
            </a:r>
            <a:r>
              <a:rPr lang="zh-CN" altLang="zh-CN" sz="2800" dirty="0" smtClean="0">
                <a:solidFill>
                  <a:srgbClr val="0000CC"/>
                </a:solidFill>
                <a:ea typeface="黑体" panose="02010609060101010101" pitchFamily="49" charset="-122"/>
              </a:rPr>
              <a:t>比特流</a:t>
            </a:r>
            <a:r>
              <a:rPr lang="zh-CN" altLang="en-US" sz="2800" dirty="0">
                <a:solidFill>
                  <a:srgbClr val="0000CC"/>
                </a:solidFill>
                <a:ea typeface="黑体" panose="02010609060101010101" pitchFamily="49" charset="-122"/>
              </a:rPr>
              <a:t>传输</a:t>
            </a:r>
            <a:endParaRPr lang="en-US" altLang="zh-CN" sz="2800" b="1" dirty="0">
              <a:solidFill>
                <a:srgbClr val="0000CC"/>
              </a:solidFill>
              <a:ea typeface="黑体" panose="02010609060101010101" pitchFamily="49" charset="-122"/>
            </a:endParaRPr>
          </a:p>
        </p:txBody>
      </p:sp>
      <p:sp>
        <p:nvSpPr>
          <p:cNvPr id="631" name="左右箭头标注 630"/>
          <p:cNvSpPr/>
          <p:nvPr/>
        </p:nvSpPr>
        <p:spPr bwMode="auto">
          <a:xfrm>
            <a:off x="1509960" y="4349808"/>
            <a:ext cx="6971334" cy="584648"/>
          </a:xfrm>
          <a:prstGeom prst="leftRightArrowCallout">
            <a:avLst>
              <a:gd name="adj1" fmla="val 16667"/>
              <a:gd name="adj2" fmla="val 25000"/>
              <a:gd name="adj3" fmla="val 25000"/>
              <a:gd name="adj4" fmla="val 81491"/>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传输媒体两端节点数据传输控制</a:t>
            </a:r>
            <a:endParaRPr lang="en-US" altLang="zh-CN" sz="2800" b="1" dirty="0">
              <a:solidFill>
                <a:srgbClr val="0000CC"/>
              </a:solidFill>
              <a:ea typeface="黑体" panose="02010609060101010101" pitchFamily="49" charset="-122"/>
            </a:endParaRPr>
          </a:p>
        </p:txBody>
      </p:sp>
      <p:sp>
        <p:nvSpPr>
          <p:cNvPr id="632" name="左右箭头标注 631"/>
          <p:cNvSpPr/>
          <p:nvPr/>
        </p:nvSpPr>
        <p:spPr bwMode="auto">
          <a:xfrm>
            <a:off x="1506538" y="3780430"/>
            <a:ext cx="6971334" cy="584648"/>
          </a:xfrm>
          <a:prstGeom prst="leftRightArrowCallout">
            <a:avLst>
              <a:gd name="adj1" fmla="val 16667"/>
              <a:gd name="adj2" fmla="val 25000"/>
              <a:gd name="adj3" fmla="val 25000"/>
              <a:gd name="adj4" fmla="val 72030"/>
            </a:avLst>
          </a:prstGeom>
          <a:solidFill>
            <a:srgbClr val="FFAC33"/>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网络任意节点数据传输</a:t>
            </a:r>
            <a:endParaRPr lang="en-US" altLang="zh-CN" sz="2800" b="1" dirty="0">
              <a:solidFill>
                <a:srgbClr val="0000CC"/>
              </a:solidFill>
              <a:ea typeface="黑体" panose="02010609060101010101" pitchFamily="49" charset="-122"/>
            </a:endParaRPr>
          </a:p>
        </p:txBody>
      </p:sp>
      <p:sp>
        <p:nvSpPr>
          <p:cNvPr id="103" name="左右箭头标注 102"/>
          <p:cNvSpPr/>
          <p:nvPr/>
        </p:nvSpPr>
        <p:spPr bwMode="auto">
          <a:xfrm>
            <a:off x="1497339" y="3195782"/>
            <a:ext cx="6971334" cy="584648"/>
          </a:xfrm>
          <a:prstGeom prst="leftRightArrowCallout">
            <a:avLst>
              <a:gd name="adj1" fmla="val 16667"/>
              <a:gd name="adj2" fmla="val 25000"/>
              <a:gd name="adj3" fmla="val 25000"/>
              <a:gd name="adj4" fmla="val 60950"/>
            </a:avLst>
          </a:prstGeom>
          <a:solidFill>
            <a:srgbClr val="FFA21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主机进程间数据传输</a:t>
            </a:r>
            <a:endParaRPr lang="en-US" altLang="zh-CN" sz="2800" dirty="0">
              <a:solidFill>
                <a:srgbClr val="0000CC"/>
              </a:solidFill>
              <a:ea typeface="黑体" panose="02010609060101010101" pitchFamily="49" charset="-122"/>
            </a:endParaRPr>
          </a:p>
        </p:txBody>
      </p:sp>
      <p:sp>
        <p:nvSpPr>
          <p:cNvPr id="52" name="左右箭头标注 51"/>
          <p:cNvSpPr/>
          <p:nvPr/>
        </p:nvSpPr>
        <p:spPr bwMode="auto">
          <a:xfrm>
            <a:off x="1496712" y="2636934"/>
            <a:ext cx="6971334" cy="584648"/>
          </a:xfrm>
          <a:prstGeom prst="leftRightArrowCallout">
            <a:avLst>
              <a:gd name="adj1" fmla="val 16667"/>
              <a:gd name="adj2" fmla="val 25000"/>
              <a:gd name="adj3" fmla="val 25000"/>
              <a:gd name="adj4" fmla="val 51500"/>
            </a:avLst>
          </a:prstGeom>
          <a:solidFill>
            <a:srgbClr val="FF9B0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面向应用通信规则</a:t>
            </a:r>
            <a:endParaRPr lang="en-US" altLang="zh-CN" sz="2800" dirty="0">
              <a:solidFill>
                <a:srgbClr val="0000CC"/>
              </a:solidFill>
              <a:ea typeface="黑体" panose="02010609060101010101" pitchFamily="49" charset="-122"/>
            </a:endParaRPr>
          </a:p>
        </p:txBody>
      </p:sp>
      <p:sp>
        <p:nvSpPr>
          <p:cNvPr id="39" name="矩形 38"/>
          <p:cNvSpPr/>
          <p:nvPr/>
        </p:nvSpPr>
        <p:spPr>
          <a:xfrm>
            <a:off x="3606523" y="1195388"/>
            <a:ext cx="2751712" cy="634020"/>
          </a:xfrm>
          <a:prstGeom prst="rect">
            <a:avLst/>
          </a:prstGeom>
          <a:solidFill>
            <a:schemeClr val="bg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lvl="0" algn="ctr">
              <a:lnSpc>
                <a:spcPct val="110000"/>
              </a:lnSpc>
              <a:spcBef>
                <a:spcPts val="600"/>
              </a:spcBef>
              <a:buClr>
                <a:srgbClr val="333399"/>
              </a:buClr>
              <a:buSzPct val="75000"/>
            </a:pPr>
            <a:r>
              <a:rPr lang="zh-CN" altLang="en-US" sz="3200" b="1" kern="0" dirty="0" smtClean="0">
                <a:solidFill>
                  <a:srgbClr val="FF0000"/>
                </a:solidFill>
                <a:latin typeface="Arial"/>
                <a:ea typeface="黑体" panose="02010609060101010101" pitchFamily="49" charset="-122"/>
              </a:rPr>
              <a:t>协议</a:t>
            </a:r>
            <a:r>
              <a:rPr lang="en-US" altLang="zh-CN" sz="3200" b="1" kern="0" dirty="0" smtClean="0">
                <a:solidFill>
                  <a:srgbClr val="FF0000"/>
                </a:solidFill>
                <a:latin typeface="Arial"/>
                <a:ea typeface="黑体" panose="02010609060101010101" pitchFamily="49" charset="-122"/>
              </a:rPr>
              <a:t>——</a:t>
            </a:r>
            <a:r>
              <a:rPr lang="zh-CN" altLang="en-US" sz="3200" b="1" kern="0" dirty="0" smtClean="0">
                <a:solidFill>
                  <a:srgbClr val="FF0000"/>
                </a:solidFill>
                <a:latin typeface="Arial"/>
                <a:ea typeface="黑体" panose="02010609060101010101" pitchFamily="49" charset="-122"/>
              </a:rPr>
              <a:t>规则</a:t>
            </a:r>
            <a:endParaRPr lang="zh-CN" altLang="en-US" sz="3200" b="1" kern="0" dirty="0">
              <a:solidFill>
                <a:srgbClr val="FF0000"/>
              </a:solidFill>
              <a:latin typeface="Arial"/>
              <a:ea typeface="黑体" panose="02010609060101010101" pitchFamily="49" charset="-122"/>
            </a:endParaRPr>
          </a:p>
        </p:txBody>
      </p:sp>
      <p:grpSp>
        <p:nvGrpSpPr>
          <p:cNvPr id="4" name="组合 3"/>
          <p:cNvGrpSpPr/>
          <p:nvPr/>
        </p:nvGrpSpPr>
        <p:grpSpPr>
          <a:xfrm>
            <a:off x="4016923" y="1844868"/>
            <a:ext cx="1888584" cy="785619"/>
            <a:chOff x="4016923" y="1844868"/>
            <a:chExt cx="1888584" cy="785619"/>
          </a:xfrm>
        </p:grpSpPr>
        <p:sp>
          <p:nvSpPr>
            <p:cNvPr id="2" name="虚尾箭头 1"/>
            <p:cNvSpPr/>
            <p:nvPr/>
          </p:nvSpPr>
          <p:spPr bwMode="auto">
            <a:xfrm rot="16200000">
              <a:off x="4568405" y="1293386"/>
              <a:ext cx="785619" cy="1888584"/>
            </a:xfrm>
            <a:prstGeom prst="stripedRightArrow">
              <a:avLst>
                <a:gd name="adj1" fmla="val 58420"/>
                <a:gd name="adj2" fmla="val 50000"/>
              </a:avLst>
            </a:prstGeom>
            <a:solidFill>
              <a:srgbClr val="33339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文本框 2"/>
            <p:cNvSpPr txBox="1"/>
            <p:nvPr/>
          </p:nvSpPr>
          <p:spPr>
            <a:xfrm>
              <a:off x="4524364" y="2080713"/>
              <a:ext cx="1008084" cy="461665"/>
            </a:xfrm>
            <a:prstGeom prst="rect">
              <a:avLst/>
            </a:prstGeom>
            <a:noFill/>
          </p:spPr>
          <p:txBody>
            <a:bodyPr wrap="square" rtlCol="0">
              <a:spAutoFit/>
            </a:bodyPr>
            <a:lstStyle/>
            <a:p>
              <a:r>
                <a:rPr lang="zh-CN" altLang="en-US" sz="2400" dirty="0" smtClean="0">
                  <a:solidFill>
                    <a:srgbClr val="FFFF00"/>
                  </a:solidFill>
                </a:rPr>
                <a:t>分层</a:t>
              </a:r>
              <a:endParaRPr lang="zh-CN" altLang="en-US" sz="2400" dirty="0">
                <a:solidFill>
                  <a:srgbClr val="FFFF00"/>
                </a:solidFill>
              </a:endParaRPr>
            </a:p>
          </p:txBody>
        </p:sp>
      </p:grpSp>
    </p:spTree>
    <p:custDataLst>
      <p:tags r:id="rId1"/>
    </p:custDataLst>
    <p:extLst>
      <p:ext uri="{BB962C8B-B14F-4D97-AF65-F5344CB8AC3E}">
        <p14:creationId xmlns:p14="http://schemas.microsoft.com/office/powerpoint/2010/main" val="2558508175"/>
      </p:ext>
    </p:extLst>
  </p:cSld>
  <p:clrMapOvr>
    <a:masterClrMapping/>
  </p:clrMapOvr>
  <mc:AlternateContent xmlns:mc="http://schemas.openxmlformats.org/markup-compatibility/2006" xmlns:p14="http://schemas.microsoft.com/office/powerpoint/2010/main">
    <mc:Choice Requires="p14">
      <p:transition spd="slow" p14:dur="2000" advTm="27043"/>
    </mc:Choice>
    <mc:Fallback xmlns="">
      <p:transition spd="slow" advTm="270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grpId="0" nodeType="afterEffect">
                                  <p:stCondLst>
                                    <p:cond delay="1000"/>
                                  </p:stCondLst>
                                  <p:childTnLst>
                                    <p:set>
                                      <p:cBhvr>
                                        <p:cTn id="12" dur="1" fill="hold">
                                          <p:stCondLst>
                                            <p:cond delay="0"/>
                                          </p:stCondLst>
                                        </p:cTn>
                                        <p:tgtEl>
                                          <p:spTgt spid="39"/>
                                        </p:tgtEl>
                                        <p:attrNameLst>
                                          <p:attrName>style.visibility</p:attrName>
                                        </p:attrNameLst>
                                      </p:cBhvr>
                                      <p:to>
                                        <p:strVal val="visible"/>
                                      </p:to>
                                    </p:set>
                                    <p:animEffect transition="in" filter="barn(inVertical)">
                                      <p:cBhvr>
                                        <p:cTn id="1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dirty="0">
                <a:ea typeface="黑体" panose="02010609060101010101" pitchFamily="49" charset="-122"/>
              </a:rPr>
              <a:t>计算机网络体系结构</a:t>
            </a:r>
            <a:r>
              <a:rPr lang="en-US" altLang="zh-CN" dirty="0">
                <a:ea typeface="黑体" panose="02010609060101010101" pitchFamily="49" charset="-122"/>
              </a:rPr>
              <a:t>-</a:t>
            </a:r>
            <a:r>
              <a:rPr lang="zh-CN" altLang="en-US" dirty="0">
                <a:ea typeface="黑体" panose="02010609060101010101" pitchFamily="49" charset="-122"/>
              </a:rPr>
              <a:t>小结</a:t>
            </a:r>
            <a:endParaRPr lang="zh-CN" altLang="en-US" dirty="0" smtClean="0">
              <a:solidFill>
                <a:srgbClr val="FF0000"/>
              </a:solidFill>
              <a:ea typeface="黑体" panose="02010609060101010101" pitchFamily="49" charset="-122"/>
            </a:endParaRPr>
          </a:p>
        </p:txBody>
      </p:sp>
      <p:sp>
        <p:nvSpPr>
          <p:cNvPr id="194562" name="AutoShape 3"/>
          <p:cNvSpPr>
            <a:spLocks noChangeArrowheads="1"/>
          </p:cNvSpPr>
          <p:nvPr/>
        </p:nvSpPr>
        <p:spPr bwMode="auto">
          <a:xfrm rot="16200000">
            <a:off x="4756944" y="1446052"/>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3135946"/>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632640" y="3315333"/>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194565" name="Text Box 6"/>
          <p:cNvSpPr txBox="1">
            <a:spLocks noChangeArrowheads="1"/>
          </p:cNvSpPr>
          <p:nvPr/>
        </p:nvSpPr>
        <p:spPr bwMode="auto">
          <a:xfrm>
            <a:off x="624730" y="392493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194566" name="Text Box 7"/>
          <p:cNvSpPr txBox="1">
            <a:spLocks noChangeArrowheads="1"/>
          </p:cNvSpPr>
          <p:nvPr/>
        </p:nvSpPr>
        <p:spPr bwMode="auto">
          <a:xfrm>
            <a:off x="632641" y="4499608"/>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194567" name="Text Box 8"/>
          <p:cNvSpPr txBox="1">
            <a:spLocks noChangeArrowheads="1"/>
          </p:cNvSpPr>
          <p:nvPr/>
        </p:nvSpPr>
        <p:spPr bwMode="auto">
          <a:xfrm>
            <a:off x="632641" y="5058408"/>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194568" name="Text Box 9"/>
          <p:cNvSpPr txBox="1">
            <a:spLocks noChangeArrowheads="1"/>
          </p:cNvSpPr>
          <p:nvPr/>
        </p:nvSpPr>
        <p:spPr bwMode="auto">
          <a:xfrm>
            <a:off x="632640" y="5625146"/>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194569" name="Freeform 10"/>
          <p:cNvSpPr>
            <a:spLocks noChangeArrowheads="1"/>
          </p:cNvSpPr>
          <p:nvPr/>
        </p:nvSpPr>
        <p:spPr bwMode="auto">
          <a:xfrm>
            <a:off x="577850" y="3737608"/>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4312283"/>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888546"/>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548068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3102608"/>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9" name="Freeform 20"/>
          <p:cNvSpPr>
            <a:spLocks noChangeArrowheads="1"/>
          </p:cNvSpPr>
          <p:nvPr/>
        </p:nvSpPr>
        <p:spPr bwMode="auto">
          <a:xfrm>
            <a:off x="8543925" y="3702683"/>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4277358"/>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853621"/>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544575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2204083"/>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605721"/>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710496"/>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648583"/>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76923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2" name="Text Box 30"/>
          <p:cNvSpPr txBox="1">
            <a:spLocks noChangeArrowheads="1"/>
          </p:cNvSpPr>
          <p:nvPr/>
        </p:nvSpPr>
        <p:spPr bwMode="auto">
          <a:xfrm>
            <a:off x="8418513" y="2204083"/>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45" name="Text Box 5"/>
          <p:cNvSpPr txBox="1">
            <a:spLocks noChangeArrowheads="1"/>
          </p:cNvSpPr>
          <p:nvPr/>
        </p:nvSpPr>
        <p:spPr bwMode="auto">
          <a:xfrm>
            <a:off x="8633216" y="3310553"/>
            <a:ext cx="7595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应用</a:t>
            </a:r>
            <a:endParaRPr lang="en-US" altLang="zh-CN" sz="2000" b="1" dirty="0">
              <a:solidFill>
                <a:srgbClr val="333399"/>
              </a:solidFill>
              <a:ea typeface="宋体" panose="02010600030101010101" pitchFamily="2" charset="-122"/>
            </a:endParaRPr>
          </a:p>
        </p:txBody>
      </p:sp>
      <p:sp>
        <p:nvSpPr>
          <p:cNvPr id="46" name="Text Box 6"/>
          <p:cNvSpPr txBox="1">
            <a:spLocks noChangeArrowheads="1"/>
          </p:cNvSpPr>
          <p:nvPr/>
        </p:nvSpPr>
        <p:spPr bwMode="auto">
          <a:xfrm>
            <a:off x="8625306" y="392015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dirty="0" smtClean="0">
                <a:solidFill>
                  <a:srgbClr val="333399"/>
                </a:solidFill>
                <a:ea typeface="宋体" panose="02010600030101010101" pitchFamily="2" charset="-122"/>
              </a:rPr>
              <a:t>传输</a:t>
            </a:r>
            <a:endParaRPr lang="en-US" altLang="zh-CN" sz="2000" b="1" dirty="0">
              <a:solidFill>
                <a:srgbClr val="333399"/>
              </a:solidFill>
              <a:ea typeface="宋体" panose="02010600030101010101" pitchFamily="2" charset="-122"/>
            </a:endParaRPr>
          </a:p>
        </p:txBody>
      </p:sp>
      <p:sp>
        <p:nvSpPr>
          <p:cNvPr id="47" name="Text Box 7"/>
          <p:cNvSpPr txBox="1">
            <a:spLocks noChangeArrowheads="1"/>
          </p:cNvSpPr>
          <p:nvPr/>
        </p:nvSpPr>
        <p:spPr bwMode="auto">
          <a:xfrm>
            <a:off x="8633217" y="4494828"/>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333399"/>
                </a:solidFill>
                <a:ea typeface="宋体" panose="02010600030101010101" pitchFamily="2" charset="-122"/>
              </a:rPr>
              <a:t>网络</a:t>
            </a:r>
            <a:endParaRPr lang="en-US" altLang="zh-CN" sz="2000" b="1" dirty="0">
              <a:solidFill>
                <a:srgbClr val="333399"/>
              </a:solidFill>
              <a:ea typeface="宋体" panose="02010600030101010101" pitchFamily="2" charset="-122"/>
            </a:endParaRPr>
          </a:p>
        </p:txBody>
      </p:sp>
      <p:sp>
        <p:nvSpPr>
          <p:cNvPr id="48" name="Text Box 8"/>
          <p:cNvSpPr txBox="1">
            <a:spLocks noChangeArrowheads="1"/>
          </p:cNvSpPr>
          <p:nvPr/>
        </p:nvSpPr>
        <p:spPr bwMode="auto">
          <a:xfrm>
            <a:off x="8633217" y="5053628"/>
            <a:ext cx="7595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链路</a:t>
            </a:r>
            <a:endParaRPr lang="en-US" altLang="zh-CN" sz="2000" b="1" dirty="0">
              <a:solidFill>
                <a:srgbClr val="0000CC"/>
              </a:solidFill>
              <a:ea typeface="宋体" panose="02010600030101010101" pitchFamily="2" charset="-122"/>
            </a:endParaRPr>
          </a:p>
        </p:txBody>
      </p:sp>
      <p:sp>
        <p:nvSpPr>
          <p:cNvPr id="49" name="Text Box 9"/>
          <p:cNvSpPr txBox="1">
            <a:spLocks noChangeArrowheads="1"/>
          </p:cNvSpPr>
          <p:nvPr/>
        </p:nvSpPr>
        <p:spPr bwMode="auto">
          <a:xfrm>
            <a:off x="8633216" y="5620366"/>
            <a:ext cx="73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000" b="1" dirty="0" smtClean="0">
                <a:solidFill>
                  <a:srgbClr val="0000CC"/>
                </a:solidFill>
                <a:ea typeface="宋体" panose="02010600030101010101" pitchFamily="2" charset="-122"/>
              </a:rPr>
              <a:t>物理</a:t>
            </a:r>
            <a:endParaRPr lang="en-US" altLang="zh-CN" sz="2000" b="1" dirty="0">
              <a:solidFill>
                <a:srgbClr val="0000CC"/>
              </a:solidFill>
              <a:ea typeface="宋体" panose="02010600030101010101" pitchFamily="2" charset="-122"/>
            </a:endParaRPr>
          </a:p>
        </p:txBody>
      </p:sp>
      <p:sp>
        <p:nvSpPr>
          <p:cNvPr id="6" name="左右箭头标注 5"/>
          <p:cNvSpPr/>
          <p:nvPr/>
        </p:nvSpPr>
        <p:spPr bwMode="auto">
          <a:xfrm>
            <a:off x="1506538" y="5515609"/>
            <a:ext cx="6971334" cy="576874"/>
          </a:xfrm>
          <a:prstGeom prst="leftRightArrowCallout">
            <a:avLst>
              <a:gd name="adj1" fmla="val 40676"/>
              <a:gd name="adj2" fmla="val 20338"/>
              <a:gd name="adj3" fmla="val 25000"/>
              <a:gd name="adj4" fmla="val 95863"/>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传输媒体</a:t>
            </a:r>
            <a:r>
              <a:rPr lang="zh-CN" altLang="zh-CN" sz="2800" dirty="0" smtClean="0">
                <a:solidFill>
                  <a:srgbClr val="0000CC"/>
                </a:solidFill>
                <a:ea typeface="黑体" panose="02010609060101010101" pitchFamily="49" charset="-122"/>
              </a:rPr>
              <a:t>比特流</a:t>
            </a:r>
            <a:r>
              <a:rPr lang="zh-CN" altLang="en-US" sz="2800" dirty="0" smtClean="0">
                <a:solidFill>
                  <a:srgbClr val="0000CC"/>
                </a:solidFill>
                <a:ea typeface="黑体" panose="02010609060101010101" pitchFamily="49" charset="-122"/>
              </a:rPr>
              <a:t>通信</a:t>
            </a:r>
            <a:endParaRPr lang="en-US" altLang="zh-CN" sz="2800" b="1" dirty="0">
              <a:solidFill>
                <a:srgbClr val="0000CC"/>
              </a:solidFill>
              <a:ea typeface="黑体" panose="02010609060101010101" pitchFamily="49" charset="-122"/>
            </a:endParaRPr>
          </a:p>
        </p:txBody>
      </p:sp>
      <p:sp>
        <p:nvSpPr>
          <p:cNvPr id="631" name="左右箭头标注 630"/>
          <p:cNvSpPr/>
          <p:nvPr/>
        </p:nvSpPr>
        <p:spPr bwMode="auto">
          <a:xfrm>
            <a:off x="1509960" y="4925116"/>
            <a:ext cx="6971334" cy="584648"/>
          </a:xfrm>
          <a:prstGeom prst="leftRightArrowCallout">
            <a:avLst>
              <a:gd name="adj1" fmla="val 50000"/>
              <a:gd name="adj2" fmla="val 25000"/>
              <a:gd name="adj3" fmla="val 25000"/>
              <a:gd name="adj4" fmla="val 95807"/>
            </a:avLst>
          </a:prstGeom>
          <a:solidFill>
            <a:schemeClr val="accent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媒体两端互连节点数据通信</a:t>
            </a:r>
            <a:endParaRPr lang="en-US" altLang="zh-CN" sz="2800" dirty="0">
              <a:solidFill>
                <a:srgbClr val="0000CC"/>
              </a:solidFill>
              <a:ea typeface="黑体" panose="02010609060101010101" pitchFamily="49" charset="-122"/>
            </a:endParaRPr>
          </a:p>
        </p:txBody>
      </p:sp>
      <p:sp>
        <p:nvSpPr>
          <p:cNvPr id="632" name="左右箭头标注 631"/>
          <p:cNvSpPr/>
          <p:nvPr/>
        </p:nvSpPr>
        <p:spPr bwMode="auto">
          <a:xfrm>
            <a:off x="1506538" y="4355738"/>
            <a:ext cx="6971334" cy="584648"/>
          </a:xfrm>
          <a:prstGeom prst="leftRightArrowCallout">
            <a:avLst>
              <a:gd name="adj1" fmla="val 50000"/>
              <a:gd name="adj2" fmla="val 25000"/>
              <a:gd name="adj3" fmla="val 25000"/>
              <a:gd name="adj4" fmla="val 95807"/>
            </a:avLst>
          </a:prstGeom>
          <a:solidFill>
            <a:srgbClr val="FFAC33"/>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网络任意节点间数据通信</a:t>
            </a:r>
            <a:endParaRPr lang="en-US" altLang="zh-CN" sz="2800" b="1" dirty="0">
              <a:solidFill>
                <a:srgbClr val="0000CC"/>
              </a:solidFill>
              <a:ea typeface="黑体" panose="02010609060101010101" pitchFamily="49" charset="-122"/>
            </a:endParaRPr>
          </a:p>
        </p:txBody>
      </p:sp>
      <p:sp>
        <p:nvSpPr>
          <p:cNvPr id="103" name="左右箭头标注 102"/>
          <p:cNvSpPr/>
          <p:nvPr/>
        </p:nvSpPr>
        <p:spPr bwMode="auto">
          <a:xfrm>
            <a:off x="1497339" y="3771090"/>
            <a:ext cx="6971334" cy="584648"/>
          </a:xfrm>
          <a:prstGeom prst="leftRightArrowCallout">
            <a:avLst>
              <a:gd name="adj1" fmla="val 50000"/>
              <a:gd name="adj2" fmla="val 25000"/>
              <a:gd name="adj3" fmla="val 25000"/>
              <a:gd name="adj4" fmla="val 95807"/>
            </a:avLst>
          </a:prstGeom>
          <a:solidFill>
            <a:srgbClr val="FFA21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主机进程间数据通信</a:t>
            </a:r>
            <a:endParaRPr lang="en-US" altLang="zh-CN" sz="2800" dirty="0">
              <a:solidFill>
                <a:srgbClr val="0000CC"/>
              </a:solidFill>
              <a:ea typeface="黑体" panose="02010609060101010101" pitchFamily="49" charset="-122"/>
            </a:endParaRPr>
          </a:p>
        </p:txBody>
      </p:sp>
      <p:sp>
        <p:nvSpPr>
          <p:cNvPr id="52" name="左右箭头标注 51"/>
          <p:cNvSpPr/>
          <p:nvPr/>
        </p:nvSpPr>
        <p:spPr bwMode="auto">
          <a:xfrm>
            <a:off x="1496712" y="3212242"/>
            <a:ext cx="6971334" cy="584648"/>
          </a:xfrm>
          <a:prstGeom prst="leftRightArrowCallout">
            <a:avLst>
              <a:gd name="adj1" fmla="val 50000"/>
              <a:gd name="adj2" fmla="val 25000"/>
              <a:gd name="adj3" fmla="val 25000"/>
              <a:gd name="adj4" fmla="val 95807"/>
            </a:avLst>
          </a:prstGeom>
          <a:solidFill>
            <a:srgbClr val="FF9B0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eaLnBrk="0" hangingPunct="0"/>
            <a:r>
              <a:rPr lang="zh-CN" altLang="en-US" sz="2800" dirty="0" smtClean="0">
                <a:solidFill>
                  <a:srgbClr val="0000CC"/>
                </a:solidFill>
                <a:ea typeface="黑体" panose="02010609060101010101" pitchFamily="49" charset="-122"/>
              </a:rPr>
              <a:t>应用进程数据通信</a:t>
            </a:r>
            <a:endParaRPr lang="en-US" altLang="zh-CN" sz="2800" dirty="0">
              <a:solidFill>
                <a:srgbClr val="0000CC"/>
              </a:solidFill>
              <a:ea typeface="黑体" panose="02010609060101010101" pitchFamily="49" charset="-122"/>
            </a:endParaRPr>
          </a:p>
        </p:txBody>
      </p:sp>
      <p:grpSp>
        <p:nvGrpSpPr>
          <p:cNvPr id="5" name="组合 4"/>
          <p:cNvGrpSpPr/>
          <p:nvPr/>
        </p:nvGrpSpPr>
        <p:grpSpPr>
          <a:xfrm>
            <a:off x="3944916" y="2034711"/>
            <a:ext cx="1989730" cy="117316"/>
            <a:chOff x="3970835" y="2217849"/>
            <a:chExt cx="1989730" cy="117316"/>
          </a:xfrm>
        </p:grpSpPr>
        <p:sp>
          <p:nvSpPr>
            <p:cNvPr id="40" name="AutoShape 3"/>
            <p:cNvSpPr>
              <a:spLocks noChangeArrowheads="1"/>
            </p:cNvSpPr>
            <p:nvPr/>
          </p:nvSpPr>
          <p:spPr bwMode="auto">
            <a:xfrm rot="16200000">
              <a:off x="4907042" y="1281642"/>
              <a:ext cx="117316" cy="198973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pic>
          <p:nvPicPr>
            <p:cNvPr id="41" name="图片 40"/>
            <p:cNvPicPr>
              <a:picLocks noChangeAspect="1"/>
            </p:cNvPicPr>
            <p:nvPr/>
          </p:nvPicPr>
          <p:blipFill>
            <a:blip r:embed="rId4"/>
            <a:stretch>
              <a:fillRect/>
            </a:stretch>
          </p:blipFill>
          <p:spPr>
            <a:xfrm>
              <a:off x="4010298" y="2235298"/>
              <a:ext cx="1944162" cy="99867"/>
            </a:xfrm>
            <a:prstGeom prst="rect">
              <a:avLst/>
            </a:prstGeom>
          </p:spPr>
        </p:pic>
      </p:grpSp>
      <p:grpSp>
        <p:nvGrpSpPr>
          <p:cNvPr id="102" name="组合 101"/>
          <p:cNvGrpSpPr/>
          <p:nvPr/>
        </p:nvGrpSpPr>
        <p:grpSpPr>
          <a:xfrm>
            <a:off x="3726928" y="2132152"/>
            <a:ext cx="2378168" cy="683551"/>
            <a:chOff x="3726928" y="2132152"/>
            <a:chExt cx="2378168" cy="683551"/>
          </a:xfrm>
        </p:grpSpPr>
        <p:pic>
          <p:nvPicPr>
            <p:cNvPr id="7" name="图片 6"/>
            <p:cNvPicPr>
              <a:picLocks noChangeAspect="1"/>
            </p:cNvPicPr>
            <p:nvPr/>
          </p:nvPicPr>
          <p:blipFill>
            <a:blip r:embed="rId5"/>
            <a:stretch>
              <a:fillRect/>
            </a:stretch>
          </p:blipFill>
          <p:spPr>
            <a:xfrm>
              <a:off x="3726928" y="2132152"/>
              <a:ext cx="506012" cy="682811"/>
            </a:xfrm>
            <a:prstGeom prst="rect">
              <a:avLst/>
            </a:prstGeom>
          </p:spPr>
        </p:pic>
        <p:pic>
          <p:nvPicPr>
            <p:cNvPr id="43" name="图片 42"/>
            <p:cNvPicPr>
              <a:picLocks noChangeAspect="1"/>
            </p:cNvPicPr>
            <p:nvPr/>
          </p:nvPicPr>
          <p:blipFill>
            <a:blip r:embed="rId5"/>
            <a:stretch>
              <a:fillRect/>
            </a:stretch>
          </p:blipFill>
          <p:spPr>
            <a:xfrm>
              <a:off x="5599084" y="2132892"/>
              <a:ext cx="506012" cy="682811"/>
            </a:xfrm>
            <a:prstGeom prst="rect">
              <a:avLst/>
            </a:prstGeom>
          </p:spPr>
        </p:pic>
      </p:grpSp>
      <p:grpSp>
        <p:nvGrpSpPr>
          <p:cNvPr id="114" name="组合 113"/>
          <p:cNvGrpSpPr/>
          <p:nvPr/>
        </p:nvGrpSpPr>
        <p:grpSpPr>
          <a:xfrm>
            <a:off x="1969241" y="1743040"/>
            <a:ext cx="6048167" cy="1298291"/>
            <a:chOff x="1969241" y="1743040"/>
            <a:chExt cx="6048167" cy="1298291"/>
          </a:xfrm>
        </p:grpSpPr>
        <p:grpSp>
          <p:nvGrpSpPr>
            <p:cNvPr id="107" name="组合 106"/>
            <p:cNvGrpSpPr/>
            <p:nvPr/>
          </p:nvGrpSpPr>
          <p:grpSpPr>
            <a:xfrm>
              <a:off x="1969241" y="1743040"/>
              <a:ext cx="6048167" cy="1298291"/>
              <a:chOff x="1969241" y="1743040"/>
              <a:chExt cx="6048167" cy="1298291"/>
            </a:xfrm>
          </p:grpSpPr>
          <p:grpSp>
            <p:nvGrpSpPr>
              <p:cNvPr id="44" name="Group 22"/>
              <p:cNvGrpSpPr>
                <a:grpSpLocks/>
              </p:cNvGrpSpPr>
              <p:nvPr/>
            </p:nvGrpSpPr>
            <p:grpSpPr bwMode="auto">
              <a:xfrm>
                <a:off x="2326377" y="1743040"/>
                <a:ext cx="1018385" cy="610868"/>
                <a:chOff x="385" y="2795"/>
                <a:chExt cx="1769" cy="816"/>
              </a:xfrm>
            </p:grpSpPr>
            <p:sp>
              <p:nvSpPr>
                <p:cNvPr id="50"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1" name="Oval 24"/>
                <p:cNvSpPr>
                  <a:spLocks noChangeArrowheads="1"/>
                </p:cNvSpPr>
                <p:nvPr/>
              </p:nvSpPr>
              <p:spPr bwMode="auto">
                <a:xfrm>
                  <a:off x="928"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3" name="Oval 2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4" name="Oval 2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5" name="Oval 2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6"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7" name="Oval 2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8" name="Oval 3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59" name="Oval 31"/>
                <p:cNvSpPr>
                  <a:spLocks noChangeArrowheads="1"/>
                </p:cNvSpPr>
                <p:nvPr/>
              </p:nvSpPr>
              <p:spPr bwMode="auto">
                <a:xfrm rot="1336630">
                  <a:off x="1474"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0" name="Oval 32"/>
                <p:cNvSpPr>
                  <a:spLocks noChangeArrowheads="1"/>
                </p:cNvSpPr>
                <p:nvPr/>
              </p:nvSpPr>
              <p:spPr bwMode="auto">
                <a:xfrm>
                  <a:off x="1004"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1" name="Oval 3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2" name="Oval 3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3" name="Oval 35"/>
                <p:cNvSpPr>
                  <a:spLocks noChangeArrowheads="1"/>
                </p:cNvSpPr>
                <p:nvPr/>
              </p:nvSpPr>
              <p:spPr bwMode="auto">
                <a:xfrm>
                  <a:off x="1515"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4" name="Oval 3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5"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6" name="Oval 3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67" name="Freeform 3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grpSp>
            <p:nvGrpSpPr>
              <p:cNvPr id="68" name="Group 22"/>
              <p:cNvGrpSpPr>
                <a:grpSpLocks/>
              </p:cNvGrpSpPr>
              <p:nvPr/>
            </p:nvGrpSpPr>
            <p:grpSpPr bwMode="auto">
              <a:xfrm>
                <a:off x="6685313" y="1805223"/>
                <a:ext cx="1018385" cy="610868"/>
                <a:chOff x="385" y="2795"/>
                <a:chExt cx="1769" cy="816"/>
              </a:xfrm>
            </p:grpSpPr>
            <p:sp>
              <p:nvSpPr>
                <p:cNvPr id="69"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0" name="Oval 24"/>
                <p:cNvSpPr>
                  <a:spLocks noChangeArrowheads="1"/>
                </p:cNvSpPr>
                <p:nvPr/>
              </p:nvSpPr>
              <p:spPr bwMode="auto">
                <a:xfrm>
                  <a:off x="928"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1" name="Oval 2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2" name="Oval 2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3" name="Oval 2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4"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5" name="Oval 2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6" name="Oval 3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7" name="Oval 31"/>
                <p:cNvSpPr>
                  <a:spLocks noChangeArrowheads="1"/>
                </p:cNvSpPr>
                <p:nvPr/>
              </p:nvSpPr>
              <p:spPr bwMode="auto">
                <a:xfrm rot="1336630">
                  <a:off x="1474"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8" name="Oval 32"/>
                <p:cNvSpPr>
                  <a:spLocks noChangeArrowheads="1"/>
                </p:cNvSpPr>
                <p:nvPr/>
              </p:nvSpPr>
              <p:spPr bwMode="auto">
                <a:xfrm>
                  <a:off x="1004"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79" name="Oval 3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0" name="Oval 3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1" name="Oval 35"/>
                <p:cNvSpPr>
                  <a:spLocks noChangeArrowheads="1"/>
                </p:cNvSpPr>
                <p:nvPr/>
              </p:nvSpPr>
              <p:spPr bwMode="auto">
                <a:xfrm>
                  <a:off x="1515"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2" name="Oval 3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3"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4" name="Oval 3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sp>
              <p:nvSpPr>
                <p:cNvPr id="85" name="Freeform 3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Arial"/>
                    <a:ea typeface="黑体" panose="02010609060101010101" pitchFamily="2" charset="-122"/>
                    <a:cs typeface="+mn-cs"/>
                  </a:endParaRPr>
                </a:p>
              </p:txBody>
            </p:sp>
          </p:grpSp>
          <p:pic>
            <p:nvPicPr>
              <p:cNvPr id="86" name="图片 85"/>
              <p:cNvPicPr>
                <a:picLocks noChangeAspect="1"/>
              </p:cNvPicPr>
              <p:nvPr/>
            </p:nvPicPr>
            <p:blipFill>
              <a:blip r:embed="rId5"/>
              <a:stretch>
                <a:fillRect/>
              </a:stretch>
            </p:blipFill>
            <p:spPr>
              <a:xfrm>
                <a:off x="7354341" y="2146590"/>
                <a:ext cx="663067" cy="894741"/>
              </a:xfrm>
              <a:prstGeom prst="rect">
                <a:avLst/>
              </a:prstGeom>
            </p:spPr>
          </p:pic>
          <p:pic>
            <p:nvPicPr>
              <p:cNvPr id="87" name="图片 86"/>
              <p:cNvPicPr>
                <a:picLocks noChangeAspect="1"/>
              </p:cNvPicPr>
              <p:nvPr/>
            </p:nvPicPr>
            <p:blipFill>
              <a:blip r:embed="rId5"/>
              <a:stretch>
                <a:fillRect/>
              </a:stretch>
            </p:blipFill>
            <p:spPr>
              <a:xfrm>
                <a:off x="1969241" y="2126003"/>
                <a:ext cx="642578" cy="867093"/>
              </a:xfrm>
              <a:prstGeom prst="rect">
                <a:avLst/>
              </a:prstGeom>
            </p:spPr>
          </p:pic>
          <p:pic>
            <p:nvPicPr>
              <p:cNvPr id="88" name="Picture 3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6795" y="2345367"/>
                <a:ext cx="352319" cy="2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3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75097" y="2345367"/>
                <a:ext cx="352319" cy="2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a:stCxn id="7" idx="1"/>
                <a:endCxn id="88" idx="3"/>
              </p:cNvCxnSpPr>
              <p:nvPr/>
            </p:nvCxnSpPr>
            <p:spPr bwMode="auto">
              <a:xfrm flipH="1">
                <a:off x="3619114" y="2473558"/>
                <a:ext cx="107814" cy="679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 name="直接连接符 12"/>
              <p:cNvCxnSpPr>
                <a:stCxn id="51" idx="5"/>
                <a:endCxn id="88" idx="1"/>
              </p:cNvCxnSpPr>
              <p:nvPr/>
            </p:nvCxnSpPr>
            <p:spPr bwMode="auto">
              <a:xfrm>
                <a:off x="3073841" y="2316852"/>
                <a:ext cx="192954" cy="163503"/>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5" name="直接连接符 14"/>
              <p:cNvCxnSpPr>
                <a:stCxn id="43" idx="3"/>
                <a:endCxn id="89" idx="1"/>
              </p:cNvCxnSpPr>
              <p:nvPr/>
            </p:nvCxnSpPr>
            <p:spPr bwMode="auto">
              <a:xfrm>
                <a:off x="6105096" y="2474298"/>
                <a:ext cx="170001" cy="6057"/>
              </a:xfrm>
              <a:prstGeom prst="line">
                <a:avLst/>
              </a:prstGeom>
              <a:solidFill>
                <a:schemeClr val="accent1"/>
              </a:solidFill>
              <a:ln w="9525" cap="flat" cmpd="sng" algn="ctr">
                <a:solidFill>
                  <a:schemeClr val="tx1"/>
                </a:solidFill>
                <a:prstDash val="solid"/>
                <a:round/>
                <a:headEnd type="none" w="med" len="med"/>
                <a:tailEnd type="none" w="med" len="med"/>
              </a:ln>
            </p:spPr>
          </p:cxnSp>
        </p:grpSp>
        <p:cxnSp>
          <p:nvCxnSpPr>
            <p:cNvPr id="17" name="直接连接符 16"/>
            <p:cNvCxnSpPr>
              <a:stCxn id="89" idx="3"/>
              <a:endCxn id="84" idx="2"/>
            </p:cNvCxnSpPr>
            <p:nvPr/>
          </p:nvCxnSpPr>
          <p:spPr bwMode="auto">
            <a:xfrm flipV="1">
              <a:off x="6627416" y="2228190"/>
              <a:ext cx="132160" cy="252165"/>
            </a:xfrm>
            <a:prstGeom prst="line">
              <a:avLst/>
            </a:prstGeom>
            <a:solidFill>
              <a:schemeClr val="accent1"/>
            </a:solidFill>
            <a:ln w="9525" cap="flat" cmpd="sng" algn="ctr">
              <a:solidFill>
                <a:schemeClr val="tx1"/>
              </a:solidFill>
              <a:prstDash val="solid"/>
              <a:round/>
              <a:headEnd type="none" w="med" len="med"/>
              <a:tailEnd type="none" w="med" len="med"/>
            </a:ln>
          </p:spPr>
        </p:cxnSp>
      </p:grpSp>
      <p:grpSp>
        <p:nvGrpSpPr>
          <p:cNvPr id="105" name="组合 104"/>
          <p:cNvGrpSpPr/>
          <p:nvPr/>
        </p:nvGrpSpPr>
        <p:grpSpPr>
          <a:xfrm>
            <a:off x="1703064" y="2204898"/>
            <a:ext cx="6624254" cy="821309"/>
            <a:chOff x="1703064" y="2179437"/>
            <a:chExt cx="6624254" cy="821309"/>
          </a:xfrm>
        </p:grpSpPr>
        <p:pic>
          <p:nvPicPr>
            <p:cNvPr id="18" name="图片 17"/>
            <p:cNvPicPr>
              <a:picLocks noChangeAspect="1"/>
            </p:cNvPicPr>
            <p:nvPr/>
          </p:nvPicPr>
          <p:blipFill>
            <a:blip r:embed="rId7"/>
            <a:stretch>
              <a:fillRect/>
            </a:stretch>
          </p:blipFill>
          <p:spPr>
            <a:xfrm>
              <a:off x="1703064" y="2210231"/>
              <a:ext cx="717968" cy="790515"/>
            </a:xfrm>
            <a:prstGeom prst="rect">
              <a:avLst/>
            </a:prstGeom>
          </p:spPr>
        </p:pic>
        <p:pic>
          <p:nvPicPr>
            <p:cNvPr id="96" name="图片 95"/>
            <p:cNvPicPr>
              <a:picLocks noChangeAspect="1"/>
            </p:cNvPicPr>
            <p:nvPr/>
          </p:nvPicPr>
          <p:blipFill>
            <a:blip r:embed="rId7"/>
            <a:stretch>
              <a:fillRect/>
            </a:stretch>
          </p:blipFill>
          <p:spPr>
            <a:xfrm>
              <a:off x="7609350" y="2179437"/>
              <a:ext cx="717968" cy="790515"/>
            </a:xfrm>
            <a:prstGeom prst="rect">
              <a:avLst/>
            </a:prstGeom>
          </p:spPr>
        </p:pic>
      </p:grpSp>
      <p:cxnSp>
        <p:nvCxnSpPr>
          <p:cNvPr id="20" name="直接箭头连接符 19"/>
          <p:cNvCxnSpPr/>
          <p:nvPr/>
        </p:nvCxnSpPr>
        <p:spPr bwMode="auto">
          <a:xfrm>
            <a:off x="4088928" y="1924509"/>
            <a:ext cx="1763162" cy="0"/>
          </a:xfrm>
          <a:prstGeom prst="straightConnector1">
            <a:avLst/>
          </a:prstGeom>
          <a:solidFill>
            <a:schemeClr val="accent1"/>
          </a:solidFill>
          <a:ln w="38100" cap="flat" cmpd="sng" algn="ctr">
            <a:solidFill>
              <a:srgbClr val="C00000"/>
            </a:solidFill>
            <a:prstDash val="solid"/>
            <a:round/>
            <a:headEnd type="triangle" w="med" len="med"/>
            <a:tailEnd type="triangle"/>
          </a:ln>
        </p:spPr>
      </p:cxnSp>
      <p:cxnSp>
        <p:nvCxnSpPr>
          <p:cNvPr id="100" name="直接箭头连接符 99"/>
          <p:cNvCxnSpPr/>
          <p:nvPr/>
        </p:nvCxnSpPr>
        <p:spPr bwMode="auto">
          <a:xfrm>
            <a:off x="3855365" y="1826563"/>
            <a:ext cx="2102438" cy="11729"/>
          </a:xfrm>
          <a:prstGeom prst="straightConnector1">
            <a:avLst/>
          </a:prstGeom>
          <a:solidFill>
            <a:schemeClr val="accent1"/>
          </a:solidFill>
          <a:ln w="38100" cap="flat" cmpd="sng" algn="ctr">
            <a:solidFill>
              <a:srgbClr val="C00000"/>
            </a:solidFill>
            <a:prstDash val="solid"/>
            <a:round/>
            <a:headEnd type="triangle" w="med" len="med"/>
            <a:tailEnd type="triangle"/>
          </a:ln>
        </p:spPr>
      </p:cxnSp>
      <p:cxnSp>
        <p:nvCxnSpPr>
          <p:cNvPr id="27" name="直接连接符 26"/>
          <p:cNvCxnSpPr/>
          <p:nvPr/>
        </p:nvCxnSpPr>
        <p:spPr bwMode="auto">
          <a:xfrm>
            <a:off x="3855365" y="1739477"/>
            <a:ext cx="0" cy="537427"/>
          </a:xfrm>
          <a:prstGeom prst="line">
            <a:avLst/>
          </a:prstGeom>
          <a:solidFill>
            <a:schemeClr val="accent1"/>
          </a:solidFill>
          <a:ln w="31750" cap="flat" cmpd="sng" algn="ctr">
            <a:solidFill>
              <a:srgbClr val="C00000"/>
            </a:solidFill>
            <a:prstDash val="solid"/>
            <a:round/>
            <a:headEnd type="none" w="med" len="med"/>
            <a:tailEnd type="none" w="med" len="med"/>
          </a:ln>
        </p:spPr>
      </p:cxnSp>
      <p:cxnSp>
        <p:nvCxnSpPr>
          <p:cNvPr id="110" name="直接连接符 109"/>
          <p:cNvCxnSpPr/>
          <p:nvPr/>
        </p:nvCxnSpPr>
        <p:spPr bwMode="auto">
          <a:xfrm>
            <a:off x="5951160" y="1739477"/>
            <a:ext cx="0" cy="537427"/>
          </a:xfrm>
          <a:prstGeom prst="line">
            <a:avLst/>
          </a:prstGeom>
          <a:solidFill>
            <a:schemeClr val="accent1"/>
          </a:solidFill>
          <a:ln w="31750" cap="flat" cmpd="sng" algn="ctr">
            <a:solidFill>
              <a:srgbClr val="C00000"/>
            </a:solidFill>
            <a:prstDash val="solid"/>
            <a:round/>
            <a:headEnd type="none" w="med" len="med"/>
            <a:tailEnd type="none" w="med" len="med"/>
          </a:ln>
        </p:spPr>
      </p:cxnSp>
      <p:cxnSp>
        <p:nvCxnSpPr>
          <p:cNvPr id="125" name="直接箭头连接符 124"/>
          <p:cNvCxnSpPr/>
          <p:nvPr/>
        </p:nvCxnSpPr>
        <p:spPr bwMode="auto">
          <a:xfrm>
            <a:off x="2144766" y="1643185"/>
            <a:ext cx="5688474" cy="13638"/>
          </a:xfrm>
          <a:prstGeom prst="straightConnector1">
            <a:avLst/>
          </a:prstGeom>
          <a:solidFill>
            <a:schemeClr val="accent1"/>
          </a:solidFill>
          <a:ln w="38100" cap="flat" cmpd="sng" algn="ctr">
            <a:solidFill>
              <a:srgbClr val="C00000"/>
            </a:solidFill>
            <a:prstDash val="solid"/>
            <a:round/>
            <a:headEnd type="triangle" w="med" len="med"/>
            <a:tailEnd type="triangle"/>
          </a:ln>
        </p:spPr>
      </p:cxnSp>
      <p:grpSp>
        <p:nvGrpSpPr>
          <p:cNvPr id="108" name="组合 107"/>
          <p:cNvGrpSpPr/>
          <p:nvPr/>
        </p:nvGrpSpPr>
        <p:grpSpPr>
          <a:xfrm>
            <a:off x="2144766" y="1502913"/>
            <a:ext cx="5688474" cy="826898"/>
            <a:chOff x="2144766" y="1502913"/>
            <a:chExt cx="5688474" cy="826898"/>
          </a:xfrm>
        </p:grpSpPr>
        <p:cxnSp>
          <p:nvCxnSpPr>
            <p:cNvPr id="123" name="直接连接符 122"/>
            <p:cNvCxnSpPr/>
            <p:nvPr/>
          </p:nvCxnSpPr>
          <p:spPr bwMode="auto">
            <a:xfrm>
              <a:off x="7833240" y="1536836"/>
              <a:ext cx="0" cy="792975"/>
            </a:xfrm>
            <a:prstGeom prst="line">
              <a:avLst/>
            </a:prstGeom>
            <a:solidFill>
              <a:schemeClr val="accent1"/>
            </a:solidFill>
            <a:ln w="31750" cap="flat" cmpd="sng" algn="ctr">
              <a:solidFill>
                <a:srgbClr val="C00000"/>
              </a:solidFill>
              <a:prstDash val="solid"/>
              <a:round/>
              <a:headEnd type="none" w="med" len="med"/>
              <a:tailEnd type="none" w="med" len="med"/>
            </a:ln>
          </p:spPr>
        </p:cxnSp>
        <p:cxnSp>
          <p:nvCxnSpPr>
            <p:cNvPr id="121" name="直接连接符 120"/>
            <p:cNvCxnSpPr/>
            <p:nvPr/>
          </p:nvCxnSpPr>
          <p:spPr bwMode="auto">
            <a:xfrm>
              <a:off x="2144766" y="1502913"/>
              <a:ext cx="0" cy="825452"/>
            </a:xfrm>
            <a:prstGeom prst="line">
              <a:avLst/>
            </a:prstGeom>
            <a:solidFill>
              <a:schemeClr val="accent1"/>
            </a:solidFill>
            <a:ln w="31750" cap="flat" cmpd="sng" algn="ctr">
              <a:solidFill>
                <a:srgbClr val="C00000"/>
              </a:solidFill>
              <a:prstDash val="solid"/>
              <a:round/>
              <a:headEnd type="none" w="med" len="med"/>
              <a:tailEnd type="none" w="med" len="med"/>
            </a:ln>
          </p:spPr>
        </p:cxnSp>
      </p:grpSp>
      <p:grpSp>
        <p:nvGrpSpPr>
          <p:cNvPr id="109" name="组合 108"/>
          <p:cNvGrpSpPr/>
          <p:nvPr/>
        </p:nvGrpSpPr>
        <p:grpSpPr>
          <a:xfrm>
            <a:off x="1986938" y="1340826"/>
            <a:ext cx="5981396" cy="1080090"/>
            <a:chOff x="1986938" y="1340826"/>
            <a:chExt cx="5981396" cy="1080090"/>
          </a:xfrm>
        </p:grpSpPr>
        <p:cxnSp>
          <p:nvCxnSpPr>
            <p:cNvPr id="128" name="直接连接符 127"/>
            <p:cNvCxnSpPr/>
            <p:nvPr/>
          </p:nvCxnSpPr>
          <p:spPr bwMode="auto">
            <a:xfrm>
              <a:off x="1986938" y="1340826"/>
              <a:ext cx="0" cy="1071714"/>
            </a:xfrm>
            <a:prstGeom prst="line">
              <a:avLst/>
            </a:prstGeom>
            <a:solidFill>
              <a:schemeClr val="accent1"/>
            </a:solidFill>
            <a:ln w="31750" cap="flat" cmpd="sng" algn="ctr">
              <a:solidFill>
                <a:srgbClr val="C00000"/>
              </a:solidFill>
              <a:prstDash val="solid"/>
              <a:round/>
              <a:headEnd type="none" w="med" len="med"/>
              <a:tailEnd type="none" w="med" len="med"/>
            </a:ln>
          </p:spPr>
        </p:cxnSp>
        <p:cxnSp>
          <p:nvCxnSpPr>
            <p:cNvPr id="130" name="直接连接符 129"/>
            <p:cNvCxnSpPr/>
            <p:nvPr/>
          </p:nvCxnSpPr>
          <p:spPr bwMode="auto">
            <a:xfrm>
              <a:off x="7968334" y="1349202"/>
              <a:ext cx="0" cy="1071714"/>
            </a:xfrm>
            <a:prstGeom prst="line">
              <a:avLst/>
            </a:prstGeom>
            <a:solidFill>
              <a:schemeClr val="accent1"/>
            </a:solidFill>
            <a:ln w="31750" cap="flat" cmpd="sng" algn="ctr">
              <a:solidFill>
                <a:srgbClr val="C00000"/>
              </a:solidFill>
              <a:prstDash val="solid"/>
              <a:round/>
              <a:headEnd type="none" w="med" len="med"/>
              <a:tailEnd type="none" w="med" len="med"/>
            </a:ln>
          </p:spPr>
        </p:cxnSp>
      </p:grpSp>
      <p:cxnSp>
        <p:nvCxnSpPr>
          <p:cNvPr id="131" name="直接箭头连接符 130"/>
          <p:cNvCxnSpPr/>
          <p:nvPr/>
        </p:nvCxnSpPr>
        <p:spPr bwMode="auto">
          <a:xfrm>
            <a:off x="2004636" y="1403990"/>
            <a:ext cx="5963698" cy="879"/>
          </a:xfrm>
          <a:prstGeom prst="straightConnector1">
            <a:avLst/>
          </a:prstGeom>
          <a:solidFill>
            <a:schemeClr val="accent1"/>
          </a:solidFill>
          <a:ln w="38100" cap="flat" cmpd="sng" algn="ctr">
            <a:solidFill>
              <a:srgbClr val="C00000"/>
            </a:solidFill>
            <a:prstDash val="solid"/>
            <a:round/>
            <a:headEnd type="triangle" w="med" len="med"/>
            <a:tailEnd type="triangle"/>
          </a:ln>
        </p:spPr>
      </p:cxnSp>
      <p:grpSp>
        <p:nvGrpSpPr>
          <p:cNvPr id="111" name="组合 110"/>
          <p:cNvGrpSpPr/>
          <p:nvPr/>
        </p:nvGrpSpPr>
        <p:grpSpPr>
          <a:xfrm>
            <a:off x="1453130" y="2052517"/>
            <a:ext cx="7072445" cy="448774"/>
            <a:chOff x="1453130" y="2052517"/>
            <a:chExt cx="7072445" cy="448774"/>
          </a:xfrm>
        </p:grpSpPr>
        <p:pic>
          <p:nvPicPr>
            <p:cNvPr id="133" name="图片 132" descr="https://gimg2.baidu.com/image_search/src=http%3A%2F%2Fwww.d3sy.com%2Fd%2Ffile%2Fapp%2F20220417%2Fktlopkjx3wv.png&amp;refer=http%3A%2F%2Fwww.d3sy.com&amp;app=2002&amp;size=f9999,10000&amp;q=a80&amp;n=0&amp;g=0n&amp;fmt=auto?sec=1670544897&amp;t=9e06a93f3dec884a4a349bf81fcb2e99"/>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53130" y="2060886"/>
              <a:ext cx="492745" cy="440405"/>
            </a:xfrm>
            <a:prstGeom prst="rect">
              <a:avLst/>
            </a:prstGeom>
            <a:noFill/>
            <a:ln>
              <a:noFill/>
            </a:ln>
          </p:spPr>
        </p:pic>
        <p:pic>
          <p:nvPicPr>
            <p:cNvPr id="134" name="图片 133" descr="https://gimg2.baidu.com/image_search/src=http%3A%2F%2Fwww.d3sy.com%2Fd%2Ffile%2Fapp%2F20220417%2Fktlopkjx3wv.png&amp;refer=http%3A%2F%2Fwww.d3sy.com&amp;app=2002&amp;size=f9999,10000&amp;q=a80&amp;n=0&amp;g=0n&amp;fmt=auto?sec=1670544897&amp;t=9e06a93f3dec884a4a349bf81fcb2e99"/>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32830" y="2052517"/>
              <a:ext cx="492745" cy="440405"/>
            </a:xfrm>
            <a:prstGeom prst="rect">
              <a:avLst/>
            </a:prstGeom>
            <a:noFill/>
            <a:ln>
              <a:noFill/>
            </a:ln>
          </p:spPr>
        </p:pic>
      </p:grpSp>
      <p:grpSp>
        <p:nvGrpSpPr>
          <p:cNvPr id="113" name="组合 112"/>
          <p:cNvGrpSpPr/>
          <p:nvPr/>
        </p:nvGrpSpPr>
        <p:grpSpPr>
          <a:xfrm>
            <a:off x="1699502" y="1045306"/>
            <a:ext cx="6579700" cy="1079210"/>
            <a:chOff x="1699502" y="1045306"/>
            <a:chExt cx="6579700" cy="1079210"/>
          </a:xfrm>
        </p:grpSpPr>
        <p:cxnSp>
          <p:nvCxnSpPr>
            <p:cNvPr id="135" name="直接连接符 134"/>
            <p:cNvCxnSpPr/>
            <p:nvPr/>
          </p:nvCxnSpPr>
          <p:spPr bwMode="auto">
            <a:xfrm>
              <a:off x="1699502" y="1052802"/>
              <a:ext cx="0" cy="1071714"/>
            </a:xfrm>
            <a:prstGeom prst="line">
              <a:avLst/>
            </a:prstGeom>
            <a:solidFill>
              <a:schemeClr val="accent1"/>
            </a:solidFill>
            <a:ln w="31750" cap="flat" cmpd="sng" algn="ctr">
              <a:solidFill>
                <a:srgbClr val="C00000"/>
              </a:solidFill>
              <a:prstDash val="solid"/>
              <a:round/>
              <a:headEnd type="none" w="med" len="med"/>
              <a:tailEnd type="none" w="med" len="med"/>
            </a:ln>
          </p:spPr>
        </p:cxnSp>
        <p:cxnSp>
          <p:nvCxnSpPr>
            <p:cNvPr id="136" name="直接连接符 135"/>
            <p:cNvCxnSpPr/>
            <p:nvPr/>
          </p:nvCxnSpPr>
          <p:spPr bwMode="auto">
            <a:xfrm>
              <a:off x="8279202" y="1045306"/>
              <a:ext cx="0" cy="1071714"/>
            </a:xfrm>
            <a:prstGeom prst="line">
              <a:avLst/>
            </a:prstGeom>
            <a:solidFill>
              <a:schemeClr val="accent1"/>
            </a:solidFill>
            <a:ln w="31750" cap="flat" cmpd="sng" algn="ctr">
              <a:solidFill>
                <a:srgbClr val="C00000"/>
              </a:solidFill>
              <a:prstDash val="solid"/>
              <a:round/>
              <a:headEnd type="none" w="med" len="med"/>
              <a:tailEnd type="none" w="med" len="med"/>
            </a:ln>
          </p:spPr>
        </p:cxnSp>
      </p:grpSp>
      <p:cxnSp>
        <p:nvCxnSpPr>
          <p:cNvPr id="137" name="直接箭头连接符 136"/>
          <p:cNvCxnSpPr/>
          <p:nvPr/>
        </p:nvCxnSpPr>
        <p:spPr bwMode="auto">
          <a:xfrm>
            <a:off x="1715840" y="1162887"/>
            <a:ext cx="6563362" cy="0"/>
          </a:xfrm>
          <a:prstGeom prst="straightConnector1">
            <a:avLst/>
          </a:prstGeom>
          <a:solidFill>
            <a:schemeClr val="accent1"/>
          </a:solidFill>
          <a:ln w="38100" cap="flat" cmpd="sng" algn="ctr">
            <a:solidFill>
              <a:srgbClr val="C00000"/>
            </a:solidFill>
            <a:prstDash val="solid"/>
            <a:round/>
            <a:headEnd type="triangle" w="med" len="med"/>
            <a:tailEnd type="triangle"/>
          </a:ln>
        </p:spPr>
      </p:cxnSp>
    </p:spTree>
    <p:custDataLst>
      <p:tags r:id="rId1"/>
    </p:custDataLst>
    <p:extLst>
      <p:ext uri="{BB962C8B-B14F-4D97-AF65-F5344CB8AC3E}">
        <p14:creationId xmlns:p14="http://schemas.microsoft.com/office/powerpoint/2010/main" val="977902714"/>
      </p:ext>
    </p:extLst>
  </p:cSld>
  <p:clrMapOvr>
    <a:masterClrMapping/>
  </p:clrMapOvr>
  <mc:AlternateContent xmlns:mc="http://schemas.openxmlformats.org/markup-compatibility/2006" xmlns:p14="http://schemas.microsoft.com/office/powerpoint/2010/main">
    <mc:Choice Requires="p14">
      <p:transition spd="slow" p14:dur="2000" advTm="3344"/>
    </mc:Choice>
    <mc:Fallback xmlns="">
      <p:transition spd="slow" advTm="33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par>
                          <p:cTn id="12" fill="hold">
                            <p:stCondLst>
                              <p:cond delay="1000"/>
                            </p:stCondLst>
                            <p:childTnLst>
                              <p:par>
                                <p:cTn id="13" presetID="1" presetClass="entr" presetSubtype="0" fill="hold" nodeType="afterEffect">
                                  <p:stCondLst>
                                    <p:cond delay="25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31"/>
                                        </p:tgtEl>
                                        <p:attrNameLst>
                                          <p:attrName>style.visibility</p:attrName>
                                        </p:attrNameLst>
                                      </p:cBhvr>
                                      <p:to>
                                        <p:strVal val="visible"/>
                                      </p:to>
                                    </p:set>
                                    <p:animEffect transition="in" filter="barn(inVertical)">
                                      <p:cBhvr>
                                        <p:cTn id="19" dur="500"/>
                                        <p:tgtEl>
                                          <p:spTgt spid="631"/>
                                        </p:tgtEl>
                                      </p:cBhvr>
                                    </p:animEffect>
                                  </p:childTnLst>
                                </p:cTn>
                              </p:par>
                            </p:childTnLst>
                          </p:cTn>
                        </p:par>
                        <p:par>
                          <p:cTn id="20" fill="hold">
                            <p:stCondLst>
                              <p:cond delay="500"/>
                            </p:stCondLst>
                            <p:childTnLst>
                              <p:par>
                                <p:cTn id="21" presetID="16" presetClass="entr" presetSubtype="21" fill="hold" nodeType="after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barn(inVertical)">
                                      <p:cBhvr>
                                        <p:cTn id="23" dur="500"/>
                                        <p:tgtEl>
                                          <p:spTgt spid="102"/>
                                        </p:tgtEl>
                                      </p:cBhvr>
                                    </p:animEffect>
                                  </p:childTnLst>
                                </p:cTn>
                              </p:par>
                            </p:childTnLst>
                          </p:cTn>
                        </p:par>
                        <p:par>
                          <p:cTn id="24" fill="hold">
                            <p:stCondLst>
                              <p:cond delay="1000"/>
                            </p:stCondLst>
                            <p:childTnLst>
                              <p:par>
                                <p:cTn id="25" presetID="2" presetClass="entr" presetSubtype="1"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110"/>
                                        </p:tgtEl>
                                        <p:attrNameLst>
                                          <p:attrName>style.visibility</p:attrName>
                                        </p:attrNameLst>
                                      </p:cBhvr>
                                      <p:to>
                                        <p:strVal val="visible"/>
                                      </p:to>
                                    </p:set>
                                    <p:anim calcmode="lin" valueType="num">
                                      <p:cBhvr additive="base">
                                        <p:cTn id="31" dur="500" fill="hold"/>
                                        <p:tgtEl>
                                          <p:spTgt spid="110"/>
                                        </p:tgtEl>
                                        <p:attrNameLst>
                                          <p:attrName>ppt_x</p:attrName>
                                        </p:attrNameLst>
                                      </p:cBhvr>
                                      <p:tavLst>
                                        <p:tav tm="0">
                                          <p:val>
                                            <p:strVal val="#ppt_x"/>
                                          </p:val>
                                        </p:tav>
                                        <p:tav tm="100000">
                                          <p:val>
                                            <p:strVal val="#ppt_x"/>
                                          </p:val>
                                        </p:tav>
                                      </p:tavLst>
                                    </p:anim>
                                    <p:anim calcmode="lin" valueType="num">
                                      <p:cBhvr additive="base">
                                        <p:cTn id="32" dur="500" fill="hold"/>
                                        <p:tgtEl>
                                          <p:spTgt spid="110"/>
                                        </p:tgtEl>
                                        <p:attrNameLst>
                                          <p:attrName>ppt_y</p:attrName>
                                        </p:attrNameLst>
                                      </p:cBhvr>
                                      <p:tavLst>
                                        <p:tav tm="0">
                                          <p:val>
                                            <p:strVal val="0-#ppt_h/2"/>
                                          </p:val>
                                        </p:tav>
                                        <p:tav tm="100000">
                                          <p:val>
                                            <p:strVal val="#ppt_y"/>
                                          </p:val>
                                        </p:tav>
                                      </p:tavLst>
                                    </p:anim>
                                  </p:childTnLst>
                                </p:cTn>
                              </p:par>
                            </p:childTnLst>
                          </p:cTn>
                        </p:par>
                        <p:par>
                          <p:cTn id="33" fill="hold">
                            <p:stCondLst>
                              <p:cond delay="1500"/>
                            </p:stCondLst>
                            <p:childTnLst>
                              <p:par>
                                <p:cTn id="34" presetID="1" presetClass="entr" presetSubtype="0" fill="hold" nodeType="afterEffect">
                                  <p:stCondLst>
                                    <p:cond delay="0"/>
                                  </p:stCondLst>
                                  <p:childTnLst>
                                    <p:set>
                                      <p:cBhvr>
                                        <p:cTn id="35" dur="1" fill="hold">
                                          <p:stCondLst>
                                            <p:cond delay="0"/>
                                          </p:stCondLst>
                                        </p:cTn>
                                        <p:tgtEl>
                                          <p:spTgt spid="10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632"/>
                                        </p:tgtEl>
                                        <p:attrNameLst>
                                          <p:attrName>style.visibility</p:attrName>
                                        </p:attrNameLst>
                                      </p:cBhvr>
                                      <p:to>
                                        <p:strVal val="visible"/>
                                      </p:to>
                                    </p:set>
                                    <p:animEffect transition="in" filter="barn(inVertical)">
                                      <p:cBhvr>
                                        <p:cTn id="40" dur="500"/>
                                        <p:tgtEl>
                                          <p:spTgt spid="632"/>
                                        </p:tgtEl>
                                      </p:cBhvr>
                                    </p:animEffect>
                                  </p:childTnLst>
                                </p:cTn>
                              </p:par>
                            </p:childTnLst>
                          </p:cTn>
                        </p:par>
                        <p:par>
                          <p:cTn id="41" fill="hold">
                            <p:stCondLst>
                              <p:cond delay="500"/>
                            </p:stCondLst>
                            <p:childTnLst>
                              <p:par>
                                <p:cTn id="42" presetID="16" presetClass="entr" presetSubtype="21" fill="hold" nodeType="afterEffect">
                                  <p:stCondLst>
                                    <p:cond delay="0"/>
                                  </p:stCondLst>
                                  <p:childTnLst>
                                    <p:set>
                                      <p:cBhvr>
                                        <p:cTn id="43" dur="1" fill="hold">
                                          <p:stCondLst>
                                            <p:cond delay="0"/>
                                          </p:stCondLst>
                                        </p:cTn>
                                        <p:tgtEl>
                                          <p:spTgt spid="114"/>
                                        </p:tgtEl>
                                        <p:attrNameLst>
                                          <p:attrName>style.visibility</p:attrName>
                                        </p:attrNameLst>
                                      </p:cBhvr>
                                      <p:to>
                                        <p:strVal val="visible"/>
                                      </p:to>
                                    </p:set>
                                    <p:animEffect transition="in" filter="barn(inVertical)">
                                      <p:cBhvr>
                                        <p:cTn id="44" dur="500"/>
                                        <p:tgtEl>
                                          <p:spTgt spid="114"/>
                                        </p:tgtEl>
                                      </p:cBhvr>
                                    </p:animEffect>
                                  </p:childTnLst>
                                </p:cTn>
                              </p:par>
                            </p:childTnLst>
                          </p:cTn>
                        </p:par>
                        <p:par>
                          <p:cTn id="45" fill="hold">
                            <p:stCondLst>
                              <p:cond delay="1000"/>
                            </p:stCondLst>
                            <p:childTnLst>
                              <p:par>
                                <p:cTn id="46" presetID="2" presetClass="entr" presetSubtype="1" fill="hold" nodeType="afterEffect">
                                  <p:stCondLst>
                                    <p:cond delay="0"/>
                                  </p:stCondLst>
                                  <p:childTnLst>
                                    <p:set>
                                      <p:cBhvr>
                                        <p:cTn id="47" dur="1" fill="hold">
                                          <p:stCondLst>
                                            <p:cond delay="0"/>
                                          </p:stCondLst>
                                        </p:cTn>
                                        <p:tgtEl>
                                          <p:spTgt spid="108"/>
                                        </p:tgtEl>
                                        <p:attrNameLst>
                                          <p:attrName>style.visibility</p:attrName>
                                        </p:attrNameLst>
                                      </p:cBhvr>
                                      <p:to>
                                        <p:strVal val="visible"/>
                                      </p:to>
                                    </p:set>
                                    <p:anim calcmode="lin" valueType="num">
                                      <p:cBhvr additive="base">
                                        <p:cTn id="48" dur="500" fill="hold"/>
                                        <p:tgtEl>
                                          <p:spTgt spid="108"/>
                                        </p:tgtEl>
                                        <p:attrNameLst>
                                          <p:attrName>ppt_x</p:attrName>
                                        </p:attrNameLst>
                                      </p:cBhvr>
                                      <p:tavLst>
                                        <p:tav tm="0">
                                          <p:val>
                                            <p:strVal val="#ppt_x"/>
                                          </p:val>
                                        </p:tav>
                                        <p:tav tm="100000">
                                          <p:val>
                                            <p:strVal val="#ppt_x"/>
                                          </p:val>
                                        </p:tav>
                                      </p:tavLst>
                                    </p:anim>
                                    <p:anim calcmode="lin" valueType="num">
                                      <p:cBhvr additive="base">
                                        <p:cTn id="49" dur="500" fill="hold"/>
                                        <p:tgtEl>
                                          <p:spTgt spid="108"/>
                                        </p:tgtEl>
                                        <p:attrNameLst>
                                          <p:attrName>ppt_y</p:attrName>
                                        </p:attrNameLst>
                                      </p:cBhvr>
                                      <p:tavLst>
                                        <p:tav tm="0">
                                          <p:val>
                                            <p:strVal val="0-#ppt_h/2"/>
                                          </p:val>
                                        </p:tav>
                                        <p:tav tm="100000">
                                          <p:val>
                                            <p:strVal val="#ppt_y"/>
                                          </p:val>
                                        </p:tav>
                                      </p:tavLst>
                                    </p:anim>
                                  </p:childTnLst>
                                </p:cTn>
                              </p:par>
                            </p:childTnLst>
                          </p:cTn>
                        </p:par>
                        <p:par>
                          <p:cTn id="50" fill="hold">
                            <p:stCondLst>
                              <p:cond delay="1500"/>
                            </p:stCondLst>
                            <p:childTnLst>
                              <p:par>
                                <p:cTn id="51" presetID="1" presetClass="entr" presetSubtype="0" fill="hold" nodeType="afterEffect">
                                  <p:stCondLst>
                                    <p:cond delay="0"/>
                                  </p:stCondLst>
                                  <p:childTnLst>
                                    <p:set>
                                      <p:cBhvr>
                                        <p:cTn id="52" dur="1" fill="hold">
                                          <p:stCondLst>
                                            <p:cond delay="0"/>
                                          </p:stCondLst>
                                        </p:cTn>
                                        <p:tgtEl>
                                          <p:spTgt spid="1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barn(inVertical)">
                                      <p:cBhvr>
                                        <p:cTn id="57" dur="500"/>
                                        <p:tgtEl>
                                          <p:spTgt spid="103"/>
                                        </p:tgtEl>
                                      </p:cBhvr>
                                    </p:animEffect>
                                  </p:childTnLst>
                                </p:cTn>
                              </p:par>
                            </p:childTnLst>
                          </p:cTn>
                        </p:par>
                        <p:par>
                          <p:cTn id="58" fill="hold">
                            <p:stCondLst>
                              <p:cond delay="500"/>
                            </p:stCondLst>
                            <p:childTnLst>
                              <p:par>
                                <p:cTn id="59" presetID="16" presetClass="entr" presetSubtype="21" fill="hold" nodeType="afterEffect">
                                  <p:stCondLst>
                                    <p:cond delay="0"/>
                                  </p:stCondLst>
                                  <p:childTnLst>
                                    <p:set>
                                      <p:cBhvr>
                                        <p:cTn id="60" dur="1" fill="hold">
                                          <p:stCondLst>
                                            <p:cond delay="0"/>
                                          </p:stCondLst>
                                        </p:cTn>
                                        <p:tgtEl>
                                          <p:spTgt spid="105"/>
                                        </p:tgtEl>
                                        <p:attrNameLst>
                                          <p:attrName>style.visibility</p:attrName>
                                        </p:attrNameLst>
                                      </p:cBhvr>
                                      <p:to>
                                        <p:strVal val="visible"/>
                                      </p:to>
                                    </p:set>
                                    <p:animEffect transition="in" filter="barn(inVertical)">
                                      <p:cBhvr>
                                        <p:cTn id="61" dur="500"/>
                                        <p:tgtEl>
                                          <p:spTgt spid="105"/>
                                        </p:tgtEl>
                                      </p:cBhvr>
                                    </p:animEffect>
                                  </p:childTnLst>
                                </p:cTn>
                              </p:par>
                            </p:childTnLst>
                          </p:cTn>
                        </p:par>
                        <p:par>
                          <p:cTn id="62" fill="hold">
                            <p:stCondLst>
                              <p:cond delay="1000"/>
                            </p:stCondLst>
                            <p:childTnLst>
                              <p:par>
                                <p:cTn id="63" presetID="2" presetClass="entr" presetSubtype="1" fill="hold" nodeType="afterEffect">
                                  <p:stCondLst>
                                    <p:cond delay="0"/>
                                  </p:stCondLst>
                                  <p:childTnLst>
                                    <p:set>
                                      <p:cBhvr>
                                        <p:cTn id="64" dur="1" fill="hold">
                                          <p:stCondLst>
                                            <p:cond delay="0"/>
                                          </p:stCondLst>
                                        </p:cTn>
                                        <p:tgtEl>
                                          <p:spTgt spid="109"/>
                                        </p:tgtEl>
                                        <p:attrNameLst>
                                          <p:attrName>style.visibility</p:attrName>
                                        </p:attrNameLst>
                                      </p:cBhvr>
                                      <p:to>
                                        <p:strVal val="visible"/>
                                      </p:to>
                                    </p:set>
                                    <p:anim calcmode="lin" valueType="num">
                                      <p:cBhvr additive="base">
                                        <p:cTn id="65" dur="500" fill="hold"/>
                                        <p:tgtEl>
                                          <p:spTgt spid="109"/>
                                        </p:tgtEl>
                                        <p:attrNameLst>
                                          <p:attrName>ppt_x</p:attrName>
                                        </p:attrNameLst>
                                      </p:cBhvr>
                                      <p:tavLst>
                                        <p:tav tm="0">
                                          <p:val>
                                            <p:strVal val="#ppt_x"/>
                                          </p:val>
                                        </p:tav>
                                        <p:tav tm="100000">
                                          <p:val>
                                            <p:strVal val="#ppt_x"/>
                                          </p:val>
                                        </p:tav>
                                      </p:tavLst>
                                    </p:anim>
                                    <p:anim calcmode="lin" valueType="num">
                                      <p:cBhvr additive="base">
                                        <p:cTn id="66" dur="500" fill="hold"/>
                                        <p:tgtEl>
                                          <p:spTgt spid="109"/>
                                        </p:tgtEl>
                                        <p:attrNameLst>
                                          <p:attrName>ppt_y</p:attrName>
                                        </p:attrNameLst>
                                      </p:cBhvr>
                                      <p:tavLst>
                                        <p:tav tm="0">
                                          <p:val>
                                            <p:strVal val="0-#ppt_h/2"/>
                                          </p:val>
                                        </p:tav>
                                        <p:tav tm="100000">
                                          <p:val>
                                            <p:strVal val="#ppt_y"/>
                                          </p:val>
                                        </p:tav>
                                      </p:tavLst>
                                    </p:anim>
                                  </p:childTnLst>
                                </p:cTn>
                              </p:par>
                            </p:childTnLst>
                          </p:cTn>
                        </p:par>
                        <p:par>
                          <p:cTn id="67" fill="hold">
                            <p:stCondLst>
                              <p:cond delay="1500"/>
                            </p:stCondLst>
                            <p:childTnLst>
                              <p:par>
                                <p:cTn id="68" presetID="16" presetClass="entr" presetSubtype="21" fill="hold" nodeType="afterEffect">
                                  <p:stCondLst>
                                    <p:cond delay="0"/>
                                  </p:stCondLst>
                                  <p:childTnLst>
                                    <p:set>
                                      <p:cBhvr>
                                        <p:cTn id="69" dur="1" fill="hold">
                                          <p:stCondLst>
                                            <p:cond delay="0"/>
                                          </p:stCondLst>
                                        </p:cTn>
                                        <p:tgtEl>
                                          <p:spTgt spid="131"/>
                                        </p:tgtEl>
                                        <p:attrNameLst>
                                          <p:attrName>style.visibility</p:attrName>
                                        </p:attrNameLst>
                                      </p:cBhvr>
                                      <p:to>
                                        <p:strVal val="visible"/>
                                      </p:to>
                                    </p:set>
                                    <p:animEffect transition="in" filter="barn(inVertical)">
                                      <p:cBhvr>
                                        <p:cTn id="70" dur="500"/>
                                        <p:tgtEl>
                                          <p:spTgt spid="131"/>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barn(inVertical)">
                                      <p:cBhvr>
                                        <p:cTn id="75" dur="500"/>
                                        <p:tgtEl>
                                          <p:spTgt spid="52"/>
                                        </p:tgtEl>
                                      </p:cBhvr>
                                    </p:animEffect>
                                  </p:childTnLst>
                                </p:cTn>
                              </p:par>
                            </p:childTnLst>
                          </p:cTn>
                        </p:par>
                        <p:par>
                          <p:cTn id="76" fill="hold">
                            <p:stCondLst>
                              <p:cond delay="500"/>
                            </p:stCondLst>
                            <p:childTnLst>
                              <p:par>
                                <p:cTn id="77" presetID="16" presetClass="entr" presetSubtype="21" fill="hold" nodeType="afterEffect">
                                  <p:stCondLst>
                                    <p:cond delay="0"/>
                                  </p:stCondLst>
                                  <p:childTnLst>
                                    <p:set>
                                      <p:cBhvr>
                                        <p:cTn id="78" dur="1" fill="hold">
                                          <p:stCondLst>
                                            <p:cond delay="0"/>
                                          </p:stCondLst>
                                        </p:cTn>
                                        <p:tgtEl>
                                          <p:spTgt spid="111"/>
                                        </p:tgtEl>
                                        <p:attrNameLst>
                                          <p:attrName>style.visibility</p:attrName>
                                        </p:attrNameLst>
                                      </p:cBhvr>
                                      <p:to>
                                        <p:strVal val="visible"/>
                                      </p:to>
                                    </p:set>
                                    <p:animEffect transition="in" filter="barn(inVertical)">
                                      <p:cBhvr>
                                        <p:cTn id="79" dur="500"/>
                                        <p:tgtEl>
                                          <p:spTgt spid="111"/>
                                        </p:tgtEl>
                                      </p:cBhvr>
                                    </p:animEffect>
                                  </p:childTnLst>
                                </p:cTn>
                              </p:par>
                            </p:childTnLst>
                          </p:cTn>
                        </p:par>
                        <p:par>
                          <p:cTn id="80" fill="hold">
                            <p:stCondLst>
                              <p:cond delay="1000"/>
                            </p:stCondLst>
                            <p:childTnLst>
                              <p:par>
                                <p:cTn id="81" presetID="2" presetClass="entr" presetSubtype="1" fill="hold" nodeType="afterEffect">
                                  <p:stCondLst>
                                    <p:cond delay="0"/>
                                  </p:stCondLst>
                                  <p:childTnLst>
                                    <p:set>
                                      <p:cBhvr>
                                        <p:cTn id="82" dur="1" fill="hold">
                                          <p:stCondLst>
                                            <p:cond delay="0"/>
                                          </p:stCondLst>
                                        </p:cTn>
                                        <p:tgtEl>
                                          <p:spTgt spid="113"/>
                                        </p:tgtEl>
                                        <p:attrNameLst>
                                          <p:attrName>style.visibility</p:attrName>
                                        </p:attrNameLst>
                                      </p:cBhvr>
                                      <p:to>
                                        <p:strVal val="visible"/>
                                      </p:to>
                                    </p:set>
                                    <p:anim calcmode="lin" valueType="num">
                                      <p:cBhvr additive="base">
                                        <p:cTn id="83" dur="500" fill="hold"/>
                                        <p:tgtEl>
                                          <p:spTgt spid="113"/>
                                        </p:tgtEl>
                                        <p:attrNameLst>
                                          <p:attrName>ppt_x</p:attrName>
                                        </p:attrNameLst>
                                      </p:cBhvr>
                                      <p:tavLst>
                                        <p:tav tm="0">
                                          <p:val>
                                            <p:strVal val="#ppt_x"/>
                                          </p:val>
                                        </p:tav>
                                        <p:tav tm="100000">
                                          <p:val>
                                            <p:strVal val="#ppt_x"/>
                                          </p:val>
                                        </p:tav>
                                      </p:tavLst>
                                    </p:anim>
                                    <p:anim calcmode="lin" valueType="num">
                                      <p:cBhvr additive="base">
                                        <p:cTn id="84" dur="500" fill="hold"/>
                                        <p:tgtEl>
                                          <p:spTgt spid="113"/>
                                        </p:tgtEl>
                                        <p:attrNameLst>
                                          <p:attrName>ppt_y</p:attrName>
                                        </p:attrNameLst>
                                      </p:cBhvr>
                                      <p:tavLst>
                                        <p:tav tm="0">
                                          <p:val>
                                            <p:strVal val="0-#ppt_h/2"/>
                                          </p:val>
                                        </p:tav>
                                        <p:tav tm="100000">
                                          <p:val>
                                            <p:strVal val="#ppt_y"/>
                                          </p:val>
                                        </p:tav>
                                      </p:tavLst>
                                    </p:anim>
                                  </p:childTnLst>
                                </p:cTn>
                              </p:par>
                            </p:childTnLst>
                          </p:cTn>
                        </p:par>
                        <p:par>
                          <p:cTn id="85" fill="hold">
                            <p:stCondLst>
                              <p:cond delay="1500"/>
                            </p:stCondLst>
                            <p:childTnLst>
                              <p:par>
                                <p:cTn id="86" presetID="16" presetClass="entr" presetSubtype="21" fill="hold" nodeType="afterEffect">
                                  <p:stCondLst>
                                    <p:cond delay="0"/>
                                  </p:stCondLst>
                                  <p:childTnLst>
                                    <p:set>
                                      <p:cBhvr>
                                        <p:cTn id="87" dur="1" fill="hold">
                                          <p:stCondLst>
                                            <p:cond delay="0"/>
                                          </p:stCondLst>
                                        </p:cTn>
                                        <p:tgtEl>
                                          <p:spTgt spid="137"/>
                                        </p:tgtEl>
                                        <p:attrNameLst>
                                          <p:attrName>style.visibility</p:attrName>
                                        </p:attrNameLst>
                                      </p:cBhvr>
                                      <p:to>
                                        <p:strVal val="visible"/>
                                      </p:to>
                                    </p:set>
                                    <p:animEffect transition="in" filter="barn(inVertical)">
                                      <p:cBhvr>
                                        <p:cTn id="88"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31" grpId="0" animBg="1"/>
      <p:bldP spid="632" grpId="0" animBg="1"/>
      <p:bldP spid="103" grpId="0" animBg="1"/>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ChangeArrowheads="1"/>
          </p:cNvSpPr>
          <p:nvPr>
            <p:ph type="title"/>
          </p:nvPr>
        </p:nvSpPr>
        <p:spPr/>
        <p:txBody>
          <a:bodyPr/>
          <a:lstStyle/>
          <a:p>
            <a:pPr algn="ctr"/>
            <a:r>
              <a:rPr lang="zh-CN" altLang="en-US" dirty="0">
                <a:ea typeface="黑体" panose="02010609060101010101" pitchFamily="49" charset="-122"/>
              </a:rPr>
              <a:t>计算机网络体系结构</a:t>
            </a:r>
            <a:r>
              <a:rPr lang="en-US" altLang="zh-CN" dirty="0">
                <a:ea typeface="黑体" panose="02010609060101010101" pitchFamily="49" charset="-122"/>
              </a:rPr>
              <a:t>-</a:t>
            </a:r>
            <a:r>
              <a:rPr lang="zh-CN" altLang="en-US" dirty="0">
                <a:ea typeface="黑体" panose="02010609060101010101" pitchFamily="49" charset="-122"/>
              </a:rPr>
              <a:t>小结</a:t>
            </a:r>
            <a:endParaRPr lang="zh-CN" altLang="en-US" dirty="0" smtClean="0">
              <a:ea typeface="黑体" panose="02010609060101010101" pitchFamily="49" charset="-122"/>
            </a:endParaRPr>
          </a:p>
        </p:txBody>
      </p:sp>
      <p:grpSp>
        <p:nvGrpSpPr>
          <p:cNvPr id="3" name="组合 2"/>
          <p:cNvGrpSpPr/>
          <p:nvPr/>
        </p:nvGrpSpPr>
        <p:grpSpPr>
          <a:xfrm>
            <a:off x="1352700" y="1628850"/>
            <a:ext cx="2422525" cy="3960330"/>
            <a:chOff x="1640724" y="2637116"/>
            <a:chExt cx="2422525" cy="3240088"/>
          </a:xfrm>
        </p:grpSpPr>
        <p:sp>
          <p:nvSpPr>
            <p:cNvPr id="192515" name="Text Box 4"/>
            <p:cNvSpPr txBox="1">
              <a:spLocks noChangeArrowheads="1"/>
            </p:cNvSpPr>
            <p:nvPr/>
          </p:nvSpPr>
          <p:spPr bwMode="auto">
            <a:xfrm>
              <a:off x="2255086" y="4750079"/>
              <a:ext cx="1211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数据链路层</a:t>
              </a:r>
            </a:p>
          </p:txBody>
        </p:sp>
        <p:sp>
          <p:nvSpPr>
            <p:cNvPr id="192517" name="AutoShape 6"/>
            <p:cNvSpPr>
              <a:spLocks noChangeArrowheads="1"/>
            </p:cNvSpPr>
            <p:nvPr/>
          </p:nvSpPr>
          <p:spPr bwMode="auto">
            <a:xfrm>
              <a:off x="1983624" y="2637116"/>
              <a:ext cx="2079625" cy="3240088"/>
            </a:xfrm>
            <a:prstGeom prst="cube">
              <a:avLst>
                <a:gd name="adj" fmla="val 9250"/>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8" name="Freeform 7"/>
            <p:cNvSpPr>
              <a:spLocks noChangeArrowheads="1"/>
            </p:cNvSpPr>
            <p:nvPr/>
          </p:nvSpPr>
          <p:spPr bwMode="auto">
            <a:xfrm>
              <a:off x="1983624" y="5067579"/>
              <a:ext cx="2079625" cy="21272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9" name="Freeform 8"/>
            <p:cNvSpPr>
              <a:spLocks noChangeArrowheads="1"/>
            </p:cNvSpPr>
            <p:nvPr/>
          </p:nvSpPr>
          <p:spPr bwMode="auto">
            <a:xfrm>
              <a:off x="1983624" y="4448454"/>
              <a:ext cx="2079625" cy="21272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0" name="Freeform 9"/>
            <p:cNvSpPr>
              <a:spLocks noChangeArrowheads="1"/>
            </p:cNvSpPr>
            <p:nvPr/>
          </p:nvSpPr>
          <p:spPr bwMode="auto">
            <a:xfrm>
              <a:off x="1983624" y="3840441"/>
              <a:ext cx="2079625" cy="214313"/>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1" name="Freeform 10"/>
            <p:cNvSpPr>
              <a:spLocks noChangeArrowheads="1"/>
            </p:cNvSpPr>
            <p:nvPr/>
          </p:nvSpPr>
          <p:spPr bwMode="auto">
            <a:xfrm>
              <a:off x="1983624" y="3234016"/>
              <a:ext cx="2079625" cy="21272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14699" name="Text Box 11"/>
            <p:cNvSpPr txBox="1">
              <a:spLocks noChangeArrowheads="1"/>
            </p:cNvSpPr>
            <p:nvPr/>
          </p:nvSpPr>
          <p:spPr bwMode="auto">
            <a:xfrm>
              <a:off x="1640724" y="2924454"/>
              <a:ext cx="19688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应用层协议</a:t>
              </a:r>
              <a:endParaRPr lang="zh-CN" altLang="en-US" sz="2000" b="1" dirty="0">
                <a:solidFill>
                  <a:srgbClr val="000099"/>
                </a:solidFill>
                <a:ea typeface="黑体" panose="02010609060101010101" pitchFamily="49" charset="-122"/>
              </a:endParaRPr>
            </a:p>
          </p:txBody>
        </p:sp>
        <p:sp>
          <p:nvSpPr>
            <p:cNvPr id="114700" name="Text Box 12"/>
            <p:cNvSpPr txBox="1">
              <a:spLocks noChangeArrowheads="1"/>
            </p:cNvSpPr>
            <p:nvPr/>
          </p:nvSpPr>
          <p:spPr bwMode="auto">
            <a:xfrm>
              <a:off x="1645114" y="3528652"/>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运输层协议</a:t>
              </a:r>
              <a:endParaRPr lang="zh-CN" altLang="en-US" sz="2000" b="1" dirty="0">
                <a:solidFill>
                  <a:srgbClr val="000099"/>
                </a:solidFill>
                <a:ea typeface="黑体" panose="02010609060101010101" pitchFamily="49" charset="-122"/>
              </a:endParaRPr>
            </a:p>
          </p:txBody>
        </p:sp>
        <p:sp>
          <p:nvSpPr>
            <p:cNvPr id="114701" name="Text Box 13"/>
            <p:cNvSpPr txBox="1">
              <a:spLocks noChangeArrowheads="1"/>
            </p:cNvSpPr>
            <p:nvPr/>
          </p:nvSpPr>
          <p:spPr bwMode="auto">
            <a:xfrm>
              <a:off x="1640724" y="4148416"/>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网络层协议</a:t>
              </a:r>
              <a:endParaRPr lang="zh-CN" altLang="en-US" sz="2000" b="1" dirty="0">
                <a:solidFill>
                  <a:srgbClr val="000099"/>
                </a:solidFill>
                <a:ea typeface="黑体" panose="02010609060101010101" pitchFamily="49" charset="-122"/>
              </a:endParaRPr>
            </a:p>
          </p:txBody>
        </p:sp>
        <p:sp>
          <p:nvSpPr>
            <p:cNvPr id="114702" name="Text Box 14"/>
            <p:cNvSpPr txBox="1">
              <a:spLocks noChangeArrowheads="1"/>
            </p:cNvSpPr>
            <p:nvPr/>
          </p:nvSpPr>
          <p:spPr bwMode="auto">
            <a:xfrm>
              <a:off x="1640724" y="4761191"/>
              <a:ext cx="23439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数据链路层协议</a:t>
              </a:r>
              <a:endParaRPr lang="zh-CN" altLang="en-US" sz="2000" b="1" dirty="0">
                <a:solidFill>
                  <a:srgbClr val="000099"/>
                </a:solidFill>
                <a:ea typeface="黑体" panose="02010609060101010101" pitchFamily="49" charset="-122"/>
              </a:endParaRPr>
            </a:p>
          </p:txBody>
        </p:sp>
        <p:sp>
          <p:nvSpPr>
            <p:cNvPr id="114703" name="Text Box 15"/>
            <p:cNvSpPr txBox="1">
              <a:spLocks noChangeArrowheads="1"/>
            </p:cNvSpPr>
            <p:nvPr/>
          </p:nvSpPr>
          <p:spPr bwMode="auto">
            <a:xfrm>
              <a:off x="1640724" y="5373966"/>
              <a:ext cx="20409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smtClean="0">
                  <a:solidFill>
                    <a:srgbClr val="000099"/>
                  </a:solidFill>
                  <a:ea typeface="黑体" panose="02010609060101010101" pitchFamily="49" charset="-122"/>
                </a:rPr>
                <a:t>       </a:t>
              </a:r>
              <a:r>
                <a:rPr lang="zh-CN" altLang="en-US" sz="2000" b="1" dirty="0" smtClean="0">
                  <a:solidFill>
                    <a:srgbClr val="000099"/>
                  </a:solidFill>
                  <a:ea typeface="黑体" panose="02010609060101010101" pitchFamily="49" charset="-122"/>
                </a:rPr>
                <a:t>物理层协议</a:t>
              </a:r>
              <a:endParaRPr lang="zh-CN" altLang="en-US" sz="2000" b="1" dirty="0">
                <a:solidFill>
                  <a:srgbClr val="000099"/>
                </a:solidFill>
                <a:ea typeface="黑体" panose="02010609060101010101" pitchFamily="49" charset="-122"/>
              </a:endParaRPr>
            </a:p>
          </p:txBody>
        </p:sp>
      </p:grpSp>
      <p:sp>
        <p:nvSpPr>
          <p:cNvPr id="4" name="上箭头 3"/>
          <p:cNvSpPr/>
          <p:nvPr/>
        </p:nvSpPr>
        <p:spPr bwMode="auto">
          <a:xfrm>
            <a:off x="2432790" y="4677087"/>
            <a:ext cx="432036" cy="259939"/>
          </a:xfrm>
          <a:prstGeom prst="up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19" name="上箭头 18"/>
          <p:cNvSpPr/>
          <p:nvPr/>
        </p:nvSpPr>
        <p:spPr bwMode="auto">
          <a:xfrm>
            <a:off x="2432790" y="3928121"/>
            <a:ext cx="432036" cy="259939"/>
          </a:xfrm>
          <a:prstGeom prst="up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0" name="上箭头 19"/>
          <p:cNvSpPr/>
          <p:nvPr/>
        </p:nvSpPr>
        <p:spPr bwMode="auto">
          <a:xfrm>
            <a:off x="2432790" y="3181001"/>
            <a:ext cx="432036" cy="259939"/>
          </a:xfrm>
          <a:prstGeom prst="up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1" name="上箭头 20"/>
          <p:cNvSpPr/>
          <p:nvPr/>
        </p:nvSpPr>
        <p:spPr bwMode="auto">
          <a:xfrm>
            <a:off x="2432790" y="2435182"/>
            <a:ext cx="432036" cy="259939"/>
          </a:xfrm>
          <a:prstGeom prst="up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2" name="矩形 21"/>
          <p:cNvSpPr/>
          <p:nvPr/>
        </p:nvSpPr>
        <p:spPr>
          <a:xfrm>
            <a:off x="4258418" y="2358434"/>
            <a:ext cx="1952711" cy="566523"/>
          </a:xfrm>
          <a:prstGeom prst="rect">
            <a:avLst/>
          </a:prstGeom>
          <a:solidFill>
            <a:srgbClr val="FFD393"/>
          </a:solidFill>
          <a:ln w="9525" cap="flat" cmpd="sng" algn="ctr">
            <a:solidFill>
              <a:schemeClr val="tx1"/>
            </a:solid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hangingPunct="0"/>
            <a:r>
              <a:rPr lang="zh-CN" altLang="en-US" sz="2400" dirty="0" smtClean="0">
                <a:solidFill>
                  <a:schemeClr val="tx1"/>
                </a:solidFill>
                <a:latin typeface="Arial" panose="020B0604020202020204" pitchFamily="34" charset="0"/>
              </a:rPr>
              <a:t>协议规则</a:t>
            </a:r>
            <a:endParaRPr lang="zh-CN" altLang="en-US" sz="2400" dirty="0">
              <a:solidFill>
                <a:schemeClr val="tx1"/>
              </a:solidFill>
              <a:latin typeface="Arial" panose="020B0604020202020204" pitchFamily="34" charset="0"/>
            </a:endParaRPr>
          </a:p>
        </p:txBody>
      </p:sp>
      <p:sp>
        <p:nvSpPr>
          <p:cNvPr id="23" name="矩形 22"/>
          <p:cNvSpPr/>
          <p:nvPr/>
        </p:nvSpPr>
        <p:spPr>
          <a:xfrm>
            <a:off x="4258418" y="3842832"/>
            <a:ext cx="1952711" cy="461665"/>
          </a:xfrm>
          <a:prstGeom prst="rect">
            <a:avLst/>
          </a:prstGeom>
          <a:solidFill>
            <a:srgbClr val="FFD393"/>
          </a:solidFill>
          <a:ln w="9525" cap="flat" cmpd="sng" algn="ctr">
            <a:solidFill>
              <a:schemeClr val="tx1"/>
            </a:solid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hangingPunct="0"/>
            <a:r>
              <a:rPr lang="zh-CN" altLang="en-US" sz="2400" dirty="0">
                <a:solidFill>
                  <a:schemeClr val="tx1"/>
                </a:solidFill>
                <a:latin typeface="Arial" panose="020B0604020202020204" pitchFamily="34" charset="0"/>
              </a:rPr>
              <a:t>层间合作</a:t>
            </a:r>
          </a:p>
        </p:txBody>
      </p:sp>
      <p:sp>
        <p:nvSpPr>
          <p:cNvPr id="5" name="右箭头 4"/>
          <p:cNvSpPr/>
          <p:nvPr/>
        </p:nvSpPr>
        <p:spPr bwMode="auto">
          <a:xfrm>
            <a:off x="6393120" y="2502527"/>
            <a:ext cx="432036" cy="287801"/>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25" name="右箭头 24"/>
          <p:cNvSpPr/>
          <p:nvPr/>
        </p:nvSpPr>
        <p:spPr bwMode="auto">
          <a:xfrm>
            <a:off x="6429296" y="3992761"/>
            <a:ext cx="432036" cy="287801"/>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6" name="文本框 5"/>
          <p:cNvSpPr txBox="1"/>
          <p:nvPr/>
        </p:nvSpPr>
        <p:spPr>
          <a:xfrm>
            <a:off x="7113180" y="2358434"/>
            <a:ext cx="1728144" cy="523220"/>
          </a:xfrm>
          <a:prstGeom prst="rect">
            <a:avLst/>
          </a:prstGeom>
          <a:noFill/>
        </p:spPr>
        <p:txBody>
          <a:bodyPr wrap="square" rtlCol="0">
            <a:spAutoFit/>
          </a:bodyPr>
          <a:lstStyle/>
          <a:p>
            <a:r>
              <a:rPr lang="zh-CN" altLang="en-US" sz="2800" b="1" dirty="0" smtClean="0">
                <a:solidFill>
                  <a:srgbClr val="C00000"/>
                </a:solidFill>
              </a:rPr>
              <a:t>责任担当</a:t>
            </a:r>
            <a:endParaRPr lang="zh-CN" altLang="en-US" sz="2800" b="1" dirty="0">
              <a:solidFill>
                <a:srgbClr val="C00000"/>
              </a:solidFill>
            </a:endParaRPr>
          </a:p>
        </p:txBody>
      </p:sp>
      <p:sp>
        <p:nvSpPr>
          <p:cNvPr id="27" name="文本框 26"/>
          <p:cNvSpPr txBox="1"/>
          <p:nvPr/>
        </p:nvSpPr>
        <p:spPr>
          <a:xfrm>
            <a:off x="7113180" y="3875051"/>
            <a:ext cx="1813224" cy="523220"/>
          </a:xfrm>
          <a:prstGeom prst="rect">
            <a:avLst/>
          </a:prstGeom>
          <a:noFill/>
        </p:spPr>
        <p:txBody>
          <a:bodyPr wrap="square" rtlCol="0">
            <a:spAutoFit/>
          </a:bodyPr>
          <a:lstStyle>
            <a:defPPr>
              <a:defRPr lang="en-US"/>
            </a:defPPr>
            <a:lvl1pPr>
              <a:defRPr sz="2800" b="1"/>
            </a:lvl1pPr>
          </a:lstStyle>
          <a:p>
            <a:r>
              <a:rPr lang="zh-CN" altLang="en-US" dirty="0">
                <a:solidFill>
                  <a:srgbClr val="C00000"/>
                </a:solidFill>
              </a:rPr>
              <a:t>协作精神</a:t>
            </a:r>
          </a:p>
        </p:txBody>
      </p:sp>
      <p:sp>
        <p:nvSpPr>
          <p:cNvPr id="26" name="文本框 25"/>
          <p:cNvSpPr txBox="1"/>
          <p:nvPr/>
        </p:nvSpPr>
        <p:spPr>
          <a:xfrm>
            <a:off x="5169018" y="5036284"/>
            <a:ext cx="3086324" cy="523220"/>
          </a:xfrm>
          <a:prstGeom prst="rect">
            <a:avLst/>
          </a:prstGeom>
          <a:noFill/>
        </p:spPr>
        <p:txBody>
          <a:bodyPr wrap="square" rtlCol="0">
            <a:spAutoFit/>
          </a:bodyPr>
          <a:lstStyle/>
          <a:p>
            <a:r>
              <a:rPr lang="zh-CN" altLang="en-US" sz="2800" b="1" dirty="0" smtClean="0">
                <a:solidFill>
                  <a:srgbClr val="0000FF"/>
                </a:solidFill>
              </a:rPr>
              <a:t>无规矩不成方圆</a:t>
            </a:r>
            <a:endParaRPr lang="zh-CN" altLang="en-US" sz="2800" b="1" dirty="0">
              <a:solidFill>
                <a:srgbClr val="0000FF"/>
              </a:solidFill>
            </a:endParaRPr>
          </a:p>
        </p:txBody>
      </p:sp>
    </p:spTree>
    <p:custDataLst>
      <p:tags r:id="rId1"/>
    </p:custDataLst>
    <p:extLst>
      <p:ext uri="{BB962C8B-B14F-4D97-AF65-F5344CB8AC3E}">
        <p14:creationId xmlns:p14="http://schemas.microsoft.com/office/powerpoint/2010/main" val="1066044095"/>
      </p:ext>
    </p:extLst>
  </p:cSld>
  <p:clrMapOvr>
    <a:masterClrMapping/>
  </p:clrMapOvr>
  <mc:AlternateContent xmlns:mc="http://schemas.openxmlformats.org/markup-compatibility/2006" xmlns:p14="http://schemas.microsoft.com/office/powerpoint/2010/main">
    <mc:Choice Requires="p14">
      <p:transition spd="slow" p14:dur="2000" advTm="2411"/>
    </mc:Choice>
    <mc:Fallback xmlns="">
      <p:transition spd="slow" advTm="241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par>
                          <p:cTn id="8" fill="hold">
                            <p:stCondLst>
                              <p:cond delay="500"/>
                            </p:stCondLst>
                            <p:childTnLst>
                              <p:par>
                                <p:cTn id="9" presetID="1" presetClass="entr" presetSubtype="0" fill="hold" grpId="0" nodeType="afterEffect">
                                  <p:stCondLst>
                                    <p:cond delay="20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700"/>
                            </p:stCondLst>
                            <p:childTnLst>
                              <p:par>
                                <p:cTn id="12" presetID="16" presetClass="entr" presetSubtype="21"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2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00"/>
                            </p:stCondLst>
                            <p:childTnLst>
                              <p:par>
                                <p:cTn id="23" presetID="1" presetClass="entr" presetSubtype="0" fill="hold" grpId="0" nodeType="afterEffect">
                                  <p:stCondLst>
                                    <p:cond delay="20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400"/>
                            </p:stCondLst>
                            <p:childTnLst>
                              <p:par>
                                <p:cTn id="26" presetID="1" presetClass="entr" presetSubtype="0" fill="hold" grpId="0" nodeType="afterEffect">
                                  <p:stCondLst>
                                    <p:cond delay="20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arn(inVertical)">
                                      <p:cBhvr>
                                        <p:cTn id="32" dur="500"/>
                                        <p:tgtEl>
                                          <p:spTgt spid="23"/>
                                        </p:tgtEl>
                                      </p:cBhvr>
                                    </p:animEffect>
                                  </p:childTnLst>
                                </p:cTn>
                              </p:par>
                            </p:childTnLst>
                          </p:cTn>
                        </p:par>
                        <p:par>
                          <p:cTn id="33" fill="hold">
                            <p:stCondLst>
                              <p:cond delay="500"/>
                            </p:stCondLst>
                            <p:childTnLst>
                              <p:par>
                                <p:cTn id="34" presetID="1" presetClass="entr" presetSubtype="0" fill="hold" grpId="0" nodeType="afterEffect">
                                  <p:stCondLst>
                                    <p:cond delay="200"/>
                                  </p:stCondLst>
                                  <p:childTnLst>
                                    <p:set>
                                      <p:cBhvr>
                                        <p:cTn id="35" dur="1" fill="hold">
                                          <p:stCondLst>
                                            <p:cond delay="0"/>
                                          </p:stCondLst>
                                        </p:cTn>
                                        <p:tgtEl>
                                          <p:spTgt spid="25"/>
                                        </p:tgtEl>
                                        <p:attrNameLst>
                                          <p:attrName>style.visibility</p:attrName>
                                        </p:attrNameLst>
                                      </p:cBhvr>
                                      <p:to>
                                        <p:strVal val="visible"/>
                                      </p:to>
                                    </p:set>
                                  </p:childTnLst>
                                </p:cTn>
                              </p:par>
                            </p:childTnLst>
                          </p:cTn>
                        </p:par>
                        <p:par>
                          <p:cTn id="36" fill="hold">
                            <p:stCondLst>
                              <p:cond delay="700"/>
                            </p:stCondLst>
                            <p:childTnLst>
                              <p:par>
                                <p:cTn id="37" presetID="16" presetClass="entr" presetSubtype="21" fill="hold" grpId="0"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barn(inVertical)">
                                      <p:cBhvr>
                                        <p:cTn id="39" dur="200"/>
                                        <p:tgtEl>
                                          <p:spTgt spid="27"/>
                                        </p:tgtEl>
                                      </p:cBhvr>
                                    </p:animEffect>
                                  </p:childTnLst>
                                </p:cTn>
                              </p:par>
                            </p:childTnLst>
                          </p:cTn>
                        </p:par>
                        <p:par>
                          <p:cTn id="40" fill="hold">
                            <p:stCondLst>
                              <p:cond delay="900"/>
                            </p:stCondLst>
                            <p:childTnLst>
                              <p:par>
                                <p:cTn id="41" presetID="16" presetClass="entr" presetSubtype="21"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barn(inVertical)">
                                      <p:cBhvr>
                                        <p:cTn id="43" dur="2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20" grpId="0" animBg="1"/>
      <p:bldP spid="21" grpId="0" animBg="1"/>
      <p:bldP spid="22" grpId="0" animBg="1"/>
      <p:bldP spid="23" grpId="0" animBg="1"/>
      <p:bldP spid="5" grpId="0" animBg="1"/>
      <p:bldP spid="25" grpId="0" animBg="1"/>
      <p:bldP spid="6" grpId="0"/>
      <p:bldP spid="27"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ChangeArrowheads="1"/>
          </p:cNvSpPr>
          <p:nvPr>
            <p:ph type="title"/>
          </p:nvPr>
        </p:nvSpPr>
        <p:spPr/>
        <p:txBody>
          <a:bodyPr/>
          <a:lstStyle/>
          <a:p>
            <a:pPr algn="ctr"/>
            <a:r>
              <a:rPr lang="zh-CN" altLang="en-US" smtClean="0">
                <a:ea typeface="黑体" panose="02010609060101010101" pitchFamily="49" charset="-122"/>
              </a:rPr>
              <a:t>网络强国 担当使命</a:t>
            </a:r>
            <a:endParaRPr lang="zh-CN" altLang="en-US" dirty="0" smtClean="0">
              <a:ea typeface="黑体" panose="02010609060101010101" pitchFamily="49" charset="-122"/>
            </a:endParaRPr>
          </a:p>
        </p:txBody>
      </p:sp>
      <p:grpSp>
        <p:nvGrpSpPr>
          <p:cNvPr id="11" name="组合 10"/>
          <p:cNvGrpSpPr/>
          <p:nvPr/>
        </p:nvGrpSpPr>
        <p:grpSpPr>
          <a:xfrm>
            <a:off x="3449223" y="1752061"/>
            <a:ext cx="3048708" cy="2396999"/>
            <a:chOff x="3800904" y="2636935"/>
            <a:chExt cx="3384282" cy="2520209"/>
          </a:xfrm>
        </p:grpSpPr>
        <p:pic>
          <p:nvPicPr>
            <p:cNvPr id="2" name="图片 1"/>
            <p:cNvPicPr>
              <a:picLocks noChangeAspect="1"/>
            </p:cNvPicPr>
            <p:nvPr/>
          </p:nvPicPr>
          <p:blipFill>
            <a:blip r:embed="rId4"/>
            <a:stretch>
              <a:fillRect/>
            </a:stretch>
          </p:blipFill>
          <p:spPr>
            <a:xfrm>
              <a:off x="3800904" y="2636935"/>
              <a:ext cx="3384282" cy="2037338"/>
            </a:xfrm>
            <a:prstGeom prst="rect">
              <a:avLst/>
            </a:prstGeom>
            <a:ln>
              <a:solidFill>
                <a:schemeClr val="tx1"/>
              </a:solidFill>
            </a:ln>
          </p:spPr>
        </p:pic>
        <p:sp>
          <p:nvSpPr>
            <p:cNvPr id="7" name="矩形 6"/>
            <p:cNvSpPr/>
            <p:nvPr/>
          </p:nvSpPr>
          <p:spPr bwMode="auto">
            <a:xfrm>
              <a:off x="3800904" y="4674273"/>
              <a:ext cx="3384282" cy="482871"/>
            </a:xfrm>
            <a:prstGeom prst="rect">
              <a:avLst/>
            </a:prstGeom>
            <a:solidFill>
              <a:srgbClr val="C0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bg2">
                      <a:lumMod val="40000"/>
                      <a:lumOff val="60000"/>
                    </a:schemeClr>
                  </a:solidFill>
                  <a:effectLst/>
                  <a:latin typeface="Arial" panose="020B0604020202020204" pitchFamily="34" charset="0"/>
                </a:rPr>
                <a:t>网络强国  数字中国</a:t>
              </a:r>
            </a:p>
          </p:txBody>
        </p:sp>
      </p:grpSp>
      <p:grpSp>
        <p:nvGrpSpPr>
          <p:cNvPr id="10" name="组合 9"/>
          <p:cNvGrpSpPr/>
          <p:nvPr/>
        </p:nvGrpSpPr>
        <p:grpSpPr>
          <a:xfrm>
            <a:off x="344616" y="1124809"/>
            <a:ext cx="3024252" cy="2376197"/>
            <a:chOff x="495300" y="1268820"/>
            <a:chExt cx="3384282" cy="2520208"/>
          </a:xfrm>
        </p:grpSpPr>
        <p:pic>
          <p:nvPicPr>
            <p:cNvPr id="8" name="图片 7"/>
            <p:cNvPicPr>
              <a:picLocks noChangeAspect="1"/>
            </p:cNvPicPr>
            <p:nvPr/>
          </p:nvPicPr>
          <p:blipFill>
            <a:blip r:embed="rId5"/>
            <a:stretch>
              <a:fillRect/>
            </a:stretch>
          </p:blipFill>
          <p:spPr>
            <a:xfrm>
              <a:off x="495300" y="1268820"/>
              <a:ext cx="3384282" cy="2037337"/>
            </a:xfrm>
            <a:prstGeom prst="rect">
              <a:avLst/>
            </a:prstGeom>
          </p:spPr>
        </p:pic>
        <p:sp>
          <p:nvSpPr>
            <p:cNvPr id="28" name="矩形 27"/>
            <p:cNvSpPr/>
            <p:nvPr/>
          </p:nvSpPr>
          <p:spPr bwMode="auto">
            <a:xfrm>
              <a:off x="495300" y="3306157"/>
              <a:ext cx="3384282" cy="482871"/>
            </a:xfrm>
            <a:prstGeom prst="rect">
              <a:avLst/>
            </a:prstGeom>
            <a:solidFill>
              <a:srgbClr val="333399"/>
            </a:solidFill>
            <a:ln w="9525" cap="flat" cmpd="sng" algn="ctr">
              <a:solidFill>
                <a:srgbClr val="0000CC"/>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lang="zh-CN" altLang="en-US" sz="2400" dirty="0" smtClean="0">
                  <a:solidFill>
                    <a:schemeClr val="bg2">
                      <a:lumMod val="40000"/>
                      <a:lumOff val="60000"/>
                    </a:schemeClr>
                  </a:solidFill>
                </a:rPr>
                <a:t>第五空间 战略焦点</a:t>
              </a:r>
              <a:endParaRPr kumimoji="0" lang="zh-CN" altLang="en-US" sz="2400" b="0" i="0" u="none" strike="noStrike" cap="none" normalizeH="0" baseline="0" dirty="0" smtClean="0">
                <a:ln>
                  <a:noFill/>
                </a:ln>
                <a:solidFill>
                  <a:schemeClr val="bg2">
                    <a:lumMod val="40000"/>
                    <a:lumOff val="60000"/>
                  </a:schemeClr>
                </a:solidFill>
                <a:effectLst/>
                <a:latin typeface="Arial" panose="020B0604020202020204" pitchFamily="34" charset="0"/>
              </a:endParaRPr>
            </a:p>
          </p:txBody>
        </p:sp>
      </p:grpSp>
      <p:sp>
        <p:nvSpPr>
          <p:cNvPr id="33" name="文本框 32"/>
          <p:cNvSpPr txBox="1"/>
          <p:nvPr/>
        </p:nvSpPr>
        <p:spPr>
          <a:xfrm>
            <a:off x="992670" y="3789030"/>
            <a:ext cx="1728144" cy="523220"/>
          </a:xfrm>
          <a:prstGeom prst="rect">
            <a:avLst/>
          </a:prstGeom>
          <a:noFill/>
        </p:spPr>
        <p:txBody>
          <a:bodyPr wrap="square" rtlCol="0">
            <a:spAutoFit/>
          </a:bodyPr>
          <a:lstStyle/>
          <a:p>
            <a:r>
              <a:rPr lang="zh-CN" altLang="en-US" sz="2800" b="1" dirty="0" smtClean="0">
                <a:solidFill>
                  <a:srgbClr val="C00000"/>
                </a:solidFill>
              </a:rPr>
              <a:t>战略地位</a:t>
            </a:r>
            <a:endParaRPr lang="zh-CN" altLang="en-US" sz="2800" b="1" dirty="0">
              <a:solidFill>
                <a:srgbClr val="C00000"/>
              </a:solidFill>
            </a:endParaRPr>
          </a:p>
        </p:txBody>
      </p:sp>
      <p:grpSp>
        <p:nvGrpSpPr>
          <p:cNvPr id="13" name="组合 12"/>
          <p:cNvGrpSpPr/>
          <p:nvPr/>
        </p:nvGrpSpPr>
        <p:grpSpPr>
          <a:xfrm>
            <a:off x="6578287" y="3028537"/>
            <a:ext cx="3127110" cy="2200613"/>
            <a:chOff x="5575242" y="2408459"/>
            <a:chExt cx="3744312" cy="2979456"/>
          </a:xfrm>
        </p:grpSpPr>
        <p:pic>
          <p:nvPicPr>
            <p:cNvPr id="12" name="图片 11"/>
            <p:cNvPicPr>
              <a:picLocks noChangeAspect="1"/>
            </p:cNvPicPr>
            <p:nvPr/>
          </p:nvPicPr>
          <p:blipFill>
            <a:blip r:embed="rId6"/>
            <a:stretch>
              <a:fillRect/>
            </a:stretch>
          </p:blipFill>
          <p:spPr>
            <a:xfrm>
              <a:off x="5575242" y="2408459"/>
              <a:ext cx="3744312" cy="2332744"/>
            </a:xfrm>
            <a:prstGeom prst="rect">
              <a:avLst/>
            </a:prstGeom>
          </p:spPr>
        </p:pic>
        <p:sp>
          <p:nvSpPr>
            <p:cNvPr id="35" name="矩形 34"/>
            <p:cNvSpPr/>
            <p:nvPr/>
          </p:nvSpPr>
          <p:spPr bwMode="auto">
            <a:xfrm>
              <a:off x="5575242" y="4727774"/>
              <a:ext cx="3744312" cy="660141"/>
            </a:xfrm>
            <a:prstGeom prst="rect">
              <a:avLst/>
            </a:prstGeom>
            <a:solidFill>
              <a:schemeClr val="accent1">
                <a:lumMod val="20000"/>
                <a:lumOff val="80000"/>
              </a:schemeClr>
            </a:solidFill>
            <a:ln w="9525" cap="flat" cmpd="sng" algn="ctr">
              <a:solidFill>
                <a:srgbClr val="0000CC"/>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lang="zh-CN" altLang="en-US" sz="2400" dirty="0" smtClean="0">
                  <a:solidFill>
                    <a:srgbClr val="333399"/>
                  </a:solidFill>
                </a:rPr>
                <a:t>构建网络命运共同体</a:t>
              </a:r>
              <a:endParaRPr kumimoji="0" lang="zh-CN" altLang="en-US" sz="2400" i="0" u="none" strike="noStrike" cap="none" normalizeH="0" baseline="0" dirty="0" smtClean="0">
                <a:ln>
                  <a:noFill/>
                </a:ln>
                <a:solidFill>
                  <a:srgbClr val="333399"/>
                </a:solidFill>
                <a:effectLst/>
              </a:endParaRPr>
            </a:p>
          </p:txBody>
        </p:sp>
      </p:grpSp>
      <p:sp>
        <p:nvSpPr>
          <p:cNvPr id="37" name="文本框 36"/>
          <p:cNvSpPr txBox="1"/>
          <p:nvPr/>
        </p:nvSpPr>
        <p:spPr>
          <a:xfrm>
            <a:off x="4121005" y="4312250"/>
            <a:ext cx="1705144" cy="523220"/>
          </a:xfrm>
          <a:prstGeom prst="rect">
            <a:avLst/>
          </a:prstGeom>
          <a:noFill/>
        </p:spPr>
        <p:txBody>
          <a:bodyPr wrap="square" rtlCol="0">
            <a:spAutoFit/>
          </a:bodyPr>
          <a:lstStyle/>
          <a:p>
            <a:r>
              <a:rPr lang="zh-CN" altLang="en-US" sz="2800" b="1" dirty="0">
                <a:solidFill>
                  <a:srgbClr val="C00000"/>
                </a:solidFill>
              </a:rPr>
              <a:t>历史</a:t>
            </a:r>
            <a:r>
              <a:rPr lang="zh-CN" altLang="en-US" sz="2800" b="1" dirty="0" smtClean="0">
                <a:solidFill>
                  <a:srgbClr val="C00000"/>
                </a:solidFill>
              </a:rPr>
              <a:t>使命</a:t>
            </a:r>
            <a:endParaRPr lang="zh-CN" altLang="en-US" sz="2800" b="1" dirty="0">
              <a:solidFill>
                <a:srgbClr val="C00000"/>
              </a:solidFill>
            </a:endParaRPr>
          </a:p>
        </p:txBody>
      </p:sp>
      <p:sp>
        <p:nvSpPr>
          <p:cNvPr id="38" name="文本框 37"/>
          <p:cNvSpPr txBox="1"/>
          <p:nvPr/>
        </p:nvSpPr>
        <p:spPr>
          <a:xfrm>
            <a:off x="6637415" y="5400366"/>
            <a:ext cx="3384282" cy="523220"/>
          </a:xfrm>
          <a:prstGeom prst="rect">
            <a:avLst/>
          </a:prstGeom>
          <a:noFill/>
        </p:spPr>
        <p:txBody>
          <a:bodyPr wrap="square" rtlCol="0">
            <a:spAutoFit/>
          </a:bodyPr>
          <a:lstStyle/>
          <a:p>
            <a:r>
              <a:rPr lang="zh-CN" altLang="en-US" sz="2800" b="1" dirty="0">
                <a:solidFill>
                  <a:srgbClr val="C00000"/>
                </a:solidFill>
              </a:rPr>
              <a:t>责任</a:t>
            </a:r>
            <a:r>
              <a:rPr lang="zh-CN" altLang="en-US" sz="2800" b="1" dirty="0" smtClean="0">
                <a:solidFill>
                  <a:srgbClr val="C00000"/>
                </a:solidFill>
              </a:rPr>
              <a:t>担当 合作发展</a:t>
            </a:r>
            <a:endParaRPr lang="zh-CN" altLang="en-US" sz="2800" b="1" dirty="0">
              <a:solidFill>
                <a:srgbClr val="C00000"/>
              </a:solidFill>
            </a:endParaRPr>
          </a:p>
        </p:txBody>
      </p:sp>
    </p:spTree>
    <p:custDataLst>
      <p:tags r:id="rId1"/>
    </p:custDataLst>
    <p:extLst>
      <p:ext uri="{BB962C8B-B14F-4D97-AF65-F5344CB8AC3E}">
        <p14:creationId xmlns:p14="http://schemas.microsoft.com/office/powerpoint/2010/main" val="3477117641"/>
      </p:ext>
    </p:extLst>
  </p:cSld>
  <p:clrMapOvr>
    <a:masterClrMapping/>
  </p:clrMapOvr>
  <mc:AlternateContent xmlns:mc="http://schemas.openxmlformats.org/markup-compatibility/2006" xmlns:p14="http://schemas.microsoft.com/office/powerpoint/2010/main">
    <mc:Choice Requires="p14">
      <p:transition spd="slow" p14:dur="2000" advTm="2675"/>
    </mc:Choice>
    <mc:Fallback xmlns="">
      <p:transition spd="slow" advTm="26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课程概况</a:t>
            </a:r>
            <a:endParaRPr lang="zh-CN" altLang="en-US" b="1" dirty="0">
              <a:solidFill>
                <a:srgbClr val="C00000"/>
              </a:solidFill>
            </a:endParaRPr>
          </a:p>
        </p:txBody>
      </p:sp>
      <p:sp>
        <p:nvSpPr>
          <p:cNvPr id="3" name="内容占位符 2"/>
          <p:cNvSpPr>
            <a:spLocks noGrp="1"/>
          </p:cNvSpPr>
          <p:nvPr>
            <p:ph idx="1"/>
          </p:nvPr>
        </p:nvSpPr>
        <p:spPr/>
        <p:txBody>
          <a:bodyPr>
            <a:normAutofit/>
          </a:bodyPr>
          <a:lstStyle/>
          <a:p>
            <a:pPr>
              <a:buFont typeface="Wingdings" panose="05000000000000000000" pitchFamily="2" charset="2"/>
              <a:buChar char="u"/>
            </a:pPr>
            <a:r>
              <a:rPr lang="zh-CN" altLang="en-US" sz="2600" dirty="0"/>
              <a:t>  必修课 考试课 考研课</a:t>
            </a:r>
            <a:endParaRPr lang="en-US" altLang="zh-CN" sz="2600" dirty="0"/>
          </a:p>
          <a:p>
            <a:pPr>
              <a:buFont typeface="Wingdings" panose="05000000000000000000" pitchFamily="2" charset="2"/>
              <a:buChar char="u"/>
            </a:pPr>
            <a:r>
              <a:rPr lang="en-US" altLang="zh-CN" sz="2600" dirty="0"/>
              <a:t> </a:t>
            </a:r>
            <a:r>
              <a:rPr lang="zh-CN" altLang="en-US" sz="2600" dirty="0"/>
              <a:t>总学时 </a:t>
            </a:r>
            <a:r>
              <a:rPr lang="en-US" altLang="zh-CN" sz="2600" dirty="0"/>
              <a:t>64 </a:t>
            </a:r>
          </a:p>
          <a:p>
            <a:pPr marL="0" indent="0">
              <a:buNone/>
            </a:pPr>
            <a:r>
              <a:rPr lang="en-US" altLang="zh-CN" sz="2600" dirty="0"/>
              <a:t>            </a:t>
            </a:r>
            <a:r>
              <a:rPr lang="zh-CN" altLang="en-US" sz="2600" dirty="0"/>
              <a:t>（</a:t>
            </a:r>
            <a:r>
              <a:rPr lang="en-US" altLang="zh-CN" sz="2600" dirty="0"/>
              <a:t>48</a:t>
            </a:r>
            <a:r>
              <a:rPr lang="zh-CN" altLang="en-US" sz="2600" dirty="0"/>
              <a:t>理论</a:t>
            </a:r>
            <a:r>
              <a:rPr lang="en-US" altLang="zh-CN" sz="2600" dirty="0"/>
              <a:t>+16</a:t>
            </a:r>
            <a:r>
              <a:rPr lang="zh-CN" altLang="en-US" sz="2600" dirty="0"/>
              <a:t>实验）</a:t>
            </a:r>
            <a:endParaRPr lang="en-US" altLang="zh-CN" sz="2600" dirty="0"/>
          </a:p>
          <a:p>
            <a:pPr>
              <a:buFont typeface="Wingdings" panose="05000000000000000000" pitchFamily="2" charset="2"/>
              <a:buChar char="u"/>
            </a:pPr>
            <a:r>
              <a:rPr lang="en-US" altLang="zh-CN" sz="2600" dirty="0"/>
              <a:t> </a:t>
            </a:r>
            <a:r>
              <a:rPr lang="zh-CN" altLang="en-US" sz="2600" dirty="0"/>
              <a:t> 理论学时课表：</a:t>
            </a:r>
            <a:endParaRPr lang="en-US" altLang="zh-CN" sz="2600" dirty="0"/>
          </a:p>
          <a:p>
            <a:pPr marL="0" indent="0">
              <a:buNone/>
            </a:pPr>
            <a:r>
              <a:rPr lang="en-US" altLang="zh-CN" sz="2600" dirty="0"/>
              <a:t>               </a:t>
            </a:r>
            <a:r>
              <a:rPr lang="en-US" altLang="zh-CN" sz="2600" dirty="0">
                <a:solidFill>
                  <a:srgbClr val="FF0000"/>
                </a:solidFill>
              </a:rPr>
              <a:t>1-12</a:t>
            </a:r>
            <a:r>
              <a:rPr lang="zh-CN" altLang="en-US" sz="2600" dirty="0">
                <a:solidFill>
                  <a:srgbClr val="FF0000"/>
                </a:solidFill>
              </a:rPr>
              <a:t>周，</a:t>
            </a:r>
            <a:r>
              <a:rPr lang="zh-CN" altLang="en-US" sz="2600" dirty="0" smtClean="0">
                <a:solidFill>
                  <a:srgbClr val="FF0000"/>
                </a:solidFill>
              </a:rPr>
              <a:t>周一</a:t>
            </a:r>
            <a:r>
              <a:rPr lang="en-US" altLang="zh-CN" sz="2600" dirty="0" smtClean="0">
                <a:solidFill>
                  <a:srgbClr val="FF0000"/>
                </a:solidFill>
              </a:rPr>
              <a:t>3</a:t>
            </a:r>
            <a:r>
              <a:rPr lang="zh-CN" altLang="en-US" sz="2600" dirty="0" smtClean="0">
                <a:solidFill>
                  <a:srgbClr val="FF0000"/>
                </a:solidFill>
              </a:rPr>
              <a:t>、</a:t>
            </a:r>
            <a:r>
              <a:rPr lang="en-US" altLang="zh-CN" sz="2600" dirty="0" smtClean="0">
                <a:solidFill>
                  <a:srgbClr val="FF0000"/>
                </a:solidFill>
              </a:rPr>
              <a:t>4</a:t>
            </a:r>
            <a:r>
              <a:rPr lang="zh-CN" altLang="en-US" sz="2600" dirty="0" smtClean="0">
                <a:solidFill>
                  <a:srgbClr val="FF0000"/>
                </a:solidFill>
              </a:rPr>
              <a:t>节 周四</a:t>
            </a:r>
            <a:r>
              <a:rPr lang="en-US" altLang="zh-CN" sz="2600" dirty="0" smtClean="0">
                <a:solidFill>
                  <a:srgbClr val="FF0000"/>
                </a:solidFill>
              </a:rPr>
              <a:t>3</a:t>
            </a:r>
            <a:r>
              <a:rPr lang="zh-CN" altLang="en-US" sz="2600" dirty="0" smtClean="0">
                <a:solidFill>
                  <a:srgbClr val="FF0000"/>
                </a:solidFill>
              </a:rPr>
              <a:t>、</a:t>
            </a:r>
            <a:r>
              <a:rPr lang="en-US" altLang="zh-CN" sz="2600" dirty="0" smtClean="0">
                <a:solidFill>
                  <a:srgbClr val="FF0000"/>
                </a:solidFill>
              </a:rPr>
              <a:t>4</a:t>
            </a:r>
            <a:r>
              <a:rPr lang="zh-CN" altLang="en-US" sz="2600" dirty="0" smtClean="0">
                <a:solidFill>
                  <a:srgbClr val="FF0000"/>
                </a:solidFill>
              </a:rPr>
              <a:t>节</a:t>
            </a:r>
            <a:r>
              <a:rPr lang="zh-CN" altLang="en-US" sz="2600" dirty="0" smtClean="0">
                <a:solidFill>
                  <a:srgbClr val="FF0000"/>
                </a:solidFill>
              </a:rPr>
              <a:t>（</a:t>
            </a:r>
            <a:r>
              <a:rPr lang="zh-CN" altLang="en-US" dirty="0" smtClean="0">
                <a:solidFill>
                  <a:srgbClr val="FF0000"/>
                </a:solidFill>
              </a:rPr>
              <a:t>乙</a:t>
            </a:r>
            <a:r>
              <a:rPr lang="en-US" altLang="zh-CN" dirty="0" smtClean="0">
                <a:solidFill>
                  <a:srgbClr val="FF0000"/>
                </a:solidFill>
              </a:rPr>
              <a:t>5203</a:t>
            </a:r>
            <a:r>
              <a:rPr lang="zh-CN" altLang="en-US" sz="2600" dirty="0" smtClean="0">
                <a:solidFill>
                  <a:srgbClr val="FF0000"/>
                </a:solidFill>
              </a:rPr>
              <a:t>）</a:t>
            </a:r>
            <a:endParaRPr lang="en-US" altLang="zh-CN" sz="2600" dirty="0">
              <a:solidFill>
                <a:srgbClr val="FF0000"/>
              </a:solidFill>
            </a:endParaRPr>
          </a:p>
          <a:p>
            <a:pPr>
              <a:buFont typeface="Wingdings" panose="05000000000000000000" pitchFamily="2" charset="2"/>
              <a:buChar char="u"/>
            </a:pPr>
            <a:r>
              <a:rPr lang="zh-CN" altLang="en-US" sz="2600" dirty="0" smtClean="0"/>
              <a:t>实验学时课表：</a:t>
            </a:r>
            <a:endParaRPr lang="en-US" altLang="zh-CN" sz="2600" dirty="0" smtClean="0"/>
          </a:p>
          <a:p>
            <a:pPr marL="0" indent="0">
              <a:buNone/>
            </a:pPr>
            <a:endParaRPr lang="en-US" altLang="zh-CN" sz="2600" dirty="0"/>
          </a:p>
          <a:p>
            <a:pPr>
              <a:buFont typeface="Wingdings" panose="05000000000000000000" pitchFamily="2" charset="2"/>
              <a:buChar char="u"/>
            </a:pPr>
            <a:endParaRPr lang="zh-CN" altLang="en-US" sz="2600" dirty="0"/>
          </a:p>
        </p:txBody>
      </p:sp>
      <p:graphicFrame>
        <p:nvGraphicFramePr>
          <p:cNvPr id="4" name="表格 3"/>
          <p:cNvGraphicFramePr>
            <a:graphicFrameLocks noGrp="1"/>
          </p:cNvGraphicFramePr>
          <p:nvPr>
            <p:extLst>
              <p:ext uri="{D42A27DB-BD31-4B8C-83A1-F6EECF244321}">
                <p14:modId xmlns:p14="http://schemas.microsoft.com/office/powerpoint/2010/main" val="1781314129"/>
              </p:ext>
            </p:extLst>
          </p:nvPr>
        </p:nvGraphicFramePr>
        <p:xfrm>
          <a:off x="632640" y="4725108"/>
          <a:ext cx="8712725" cy="1676400"/>
        </p:xfrm>
        <a:graphic>
          <a:graphicData uri="http://schemas.openxmlformats.org/drawingml/2006/table">
            <a:tbl>
              <a:tblPr>
                <a:tableStyleId>{5C22544A-7EE6-4342-B048-85BDC9FD1C3A}</a:tableStyleId>
              </a:tblPr>
              <a:tblGrid>
                <a:gridCol w="4947986">
                  <a:extLst>
                    <a:ext uri="{9D8B030D-6E8A-4147-A177-3AD203B41FA5}">
                      <a16:colId xmlns:a16="http://schemas.microsoft.com/office/drawing/2014/main" val="1591096637"/>
                    </a:ext>
                  </a:extLst>
                </a:gridCol>
                <a:gridCol w="2162171">
                  <a:extLst>
                    <a:ext uri="{9D8B030D-6E8A-4147-A177-3AD203B41FA5}">
                      <a16:colId xmlns:a16="http://schemas.microsoft.com/office/drawing/2014/main" val="3336755062"/>
                    </a:ext>
                  </a:extLst>
                </a:gridCol>
                <a:gridCol w="1602568">
                  <a:extLst>
                    <a:ext uri="{9D8B030D-6E8A-4147-A177-3AD203B41FA5}">
                      <a16:colId xmlns:a16="http://schemas.microsoft.com/office/drawing/2014/main" val="3980595581"/>
                    </a:ext>
                  </a:extLst>
                </a:gridCol>
              </a:tblGrid>
              <a:tr h="0">
                <a:tc>
                  <a:txBody>
                    <a:bodyPr/>
                    <a:lstStyle/>
                    <a:p>
                      <a:pPr algn="ctr">
                        <a:spcAft>
                          <a:spcPts val="0"/>
                        </a:spcAft>
                      </a:pPr>
                      <a:r>
                        <a:rPr lang="zh-CN" sz="2200" kern="100">
                          <a:effectLst/>
                        </a:rPr>
                        <a:t>实验项目名称</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200" kern="100">
                          <a:effectLst/>
                        </a:rPr>
                        <a:t>开设学时</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zh-CN" sz="2200" kern="100">
                          <a:effectLst/>
                        </a:rPr>
                        <a:t>开设周次</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631441935"/>
                  </a:ext>
                </a:extLst>
              </a:tr>
              <a:tr h="0">
                <a:tc>
                  <a:txBody>
                    <a:bodyPr/>
                    <a:lstStyle/>
                    <a:p>
                      <a:pPr algn="ctr">
                        <a:spcAft>
                          <a:spcPts val="0"/>
                        </a:spcAft>
                      </a:pPr>
                      <a:r>
                        <a:rPr lang="zh-CN" sz="2200" kern="100">
                          <a:effectLst/>
                        </a:rPr>
                        <a:t>交换机恢复出厂设置及其基本配置</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4 </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9</a:t>
                      </a:r>
                      <a:endParaRPr lang="zh-CN" sz="2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560614167"/>
                  </a:ext>
                </a:extLst>
              </a:tr>
              <a:tr h="0">
                <a:tc>
                  <a:txBody>
                    <a:bodyPr/>
                    <a:lstStyle/>
                    <a:p>
                      <a:pPr algn="ctr">
                        <a:spcAft>
                          <a:spcPts val="0"/>
                        </a:spcAft>
                      </a:pPr>
                      <a:r>
                        <a:rPr lang="zh-CN" sz="2200" kern="100">
                          <a:effectLst/>
                        </a:rPr>
                        <a:t>交换机</a:t>
                      </a:r>
                      <a:r>
                        <a:rPr lang="en-US" sz="2200" kern="100">
                          <a:effectLst/>
                        </a:rPr>
                        <a:t>VLAN</a:t>
                      </a:r>
                      <a:r>
                        <a:rPr lang="zh-CN" sz="2200" kern="100">
                          <a:effectLst/>
                        </a:rPr>
                        <a:t>划分</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4</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10</a:t>
                      </a:r>
                      <a:endParaRPr lang="zh-CN" sz="2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226230783"/>
                  </a:ext>
                </a:extLst>
              </a:tr>
              <a:tr h="0">
                <a:tc>
                  <a:txBody>
                    <a:bodyPr/>
                    <a:lstStyle/>
                    <a:p>
                      <a:pPr algn="ctr">
                        <a:spcAft>
                          <a:spcPts val="0"/>
                        </a:spcAft>
                      </a:pPr>
                      <a:r>
                        <a:rPr lang="zh-CN" sz="2200" kern="100">
                          <a:effectLst/>
                        </a:rPr>
                        <a:t>跨交换机相同</a:t>
                      </a:r>
                      <a:r>
                        <a:rPr lang="en-US" sz="2200" kern="100">
                          <a:effectLst/>
                        </a:rPr>
                        <a:t>VLAN</a:t>
                      </a:r>
                      <a:r>
                        <a:rPr lang="zh-CN" sz="2200" kern="100">
                          <a:effectLst/>
                        </a:rPr>
                        <a:t>间通讯</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4</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11</a:t>
                      </a:r>
                      <a:endParaRPr lang="zh-CN" sz="2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269436300"/>
                  </a:ext>
                </a:extLst>
              </a:tr>
              <a:tr h="0">
                <a:tc>
                  <a:txBody>
                    <a:bodyPr/>
                    <a:lstStyle/>
                    <a:p>
                      <a:pPr algn="ctr">
                        <a:spcAft>
                          <a:spcPts val="0"/>
                        </a:spcAft>
                      </a:pPr>
                      <a:r>
                        <a:rPr lang="zh-CN" sz="2200" kern="100">
                          <a:effectLst/>
                        </a:rPr>
                        <a:t>路由器静态路由的配置</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a:effectLst/>
                        </a:rPr>
                        <a:t>4</a:t>
                      </a:r>
                      <a:endParaRPr lang="zh-CN" sz="22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200" kern="100" dirty="0">
                          <a:effectLst/>
                        </a:rPr>
                        <a:t>12</a:t>
                      </a:r>
                      <a:endParaRPr lang="zh-CN" sz="2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37203480"/>
                  </a:ext>
                </a:extLst>
              </a:tr>
            </a:tbl>
          </a:graphicData>
        </a:graphic>
      </p:graphicFrame>
    </p:spTree>
    <p:extLst>
      <p:ext uri="{BB962C8B-B14F-4D97-AF65-F5344CB8AC3E}">
        <p14:creationId xmlns:p14="http://schemas.microsoft.com/office/powerpoint/2010/main" val="909742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教学目标</a:t>
            </a:r>
            <a:endParaRPr lang="zh-CN" altLang="en-US" b="1" dirty="0">
              <a:solidFill>
                <a:srgbClr val="C00000"/>
              </a:solidFill>
            </a:endParaRPr>
          </a:p>
        </p:txBody>
      </p:sp>
      <p:sp>
        <p:nvSpPr>
          <p:cNvPr id="3" name="内容占位符 2"/>
          <p:cNvSpPr>
            <a:spLocks noGrp="1"/>
          </p:cNvSpPr>
          <p:nvPr>
            <p:ph idx="1"/>
          </p:nvPr>
        </p:nvSpPr>
        <p:spPr/>
        <p:txBody>
          <a:bodyPr>
            <a:normAutofit/>
          </a:bodyPr>
          <a:lstStyle/>
          <a:p>
            <a:pPr marL="0" indent="0" algn="just">
              <a:buNone/>
            </a:pPr>
            <a:r>
              <a:rPr lang="zh-CN" altLang="en-US" sz="2600" dirty="0"/>
              <a:t>         计算机网络是计算机科学与技术专业的核心课之一。计算机网络是计算机与通信技术相结合，实现远程信息处理和资源共享，具有数据传输、处理及应用等基本要求。</a:t>
            </a:r>
            <a:endParaRPr lang="en-US" altLang="zh-CN" sz="2600" dirty="0"/>
          </a:p>
          <a:p>
            <a:pPr marL="0" indent="0" algn="just">
              <a:buNone/>
            </a:pPr>
            <a:r>
              <a:rPr lang="en-US" altLang="zh-CN" sz="2600" dirty="0"/>
              <a:t>         </a:t>
            </a:r>
            <a:r>
              <a:rPr lang="zh-CN" altLang="en-US" sz="2600" dirty="0"/>
              <a:t>对于计算机相关专业人员，计算机网络课程将支撑计算机软硬件设计与计算机网络系统的基本原理和分析方法，使学生具备分析网络信息系统复杂问题的能力，能够识别和判断网络及信息安全系统的复杂工程问题中的关键环节和影响因素，并能进行相关研究，以适应社会对计算机网络人材的需求。</a:t>
            </a:r>
          </a:p>
        </p:txBody>
      </p:sp>
    </p:spTree>
    <p:extLst>
      <p:ext uri="{BB962C8B-B14F-4D97-AF65-F5344CB8AC3E}">
        <p14:creationId xmlns:p14="http://schemas.microsoft.com/office/powerpoint/2010/main" val="29032074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教学</a:t>
            </a:r>
            <a:r>
              <a:rPr lang="zh-CN" altLang="en-US" b="1" dirty="0">
                <a:solidFill>
                  <a:srgbClr val="C00000"/>
                </a:solidFill>
              </a:rPr>
              <a:t>内容</a:t>
            </a:r>
          </a:p>
        </p:txBody>
      </p:sp>
      <p:sp>
        <p:nvSpPr>
          <p:cNvPr id="3" name="内容占位符 2"/>
          <p:cNvSpPr>
            <a:spLocks noGrp="1"/>
          </p:cNvSpPr>
          <p:nvPr>
            <p:ph idx="1"/>
          </p:nvPr>
        </p:nvSpPr>
        <p:spPr>
          <a:xfrm>
            <a:off x="1856742" y="1628850"/>
            <a:ext cx="5306927" cy="3690377"/>
          </a:xfrm>
        </p:spPr>
        <p:txBody>
          <a:bodyPr>
            <a:normAutofit fontScale="92500" lnSpcReduction="10000"/>
          </a:bodyPr>
          <a:lstStyle/>
          <a:p>
            <a:pPr>
              <a:buFont typeface="Wingdings" panose="05000000000000000000" pitchFamily="2" charset="2"/>
              <a:buChar char="u"/>
            </a:pPr>
            <a:r>
              <a:rPr lang="zh-CN" altLang="en-US" sz="2600" dirty="0"/>
              <a:t>  </a:t>
            </a:r>
            <a:r>
              <a:rPr lang="zh-CN" altLang="en-US" sz="2600" dirty="0" smtClean="0"/>
              <a:t>概述</a:t>
            </a:r>
            <a:endParaRPr lang="en-US" altLang="zh-CN" sz="2600" dirty="0" smtClean="0"/>
          </a:p>
          <a:p>
            <a:pPr>
              <a:buFont typeface="Wingdings" panose="05000000000000000000" pitchFamily="2" charset="2"/>
              <a:buChar char="u"/>
            </a:pPr>
            <a:r>
              <a:rPr lang="zh-CN" altLang="en-US" sz="2600" dirty="0" smtClean="0"/>
              <a:t>  </a:t>
            </a:r>
            <a:r>
              <a:rPr lang="zh-CN" altLang="en-US" sz="2600" dirty="0"/>
              <a:t>物理层</a:t>
            </a:r>
          </a:p>
          <a:p>
            <a:pPr>
              <a:buFont typeface="Wingdings" panose="05000000000000000000" pitchFamily="2" charset="2"/>
              <a:buChar char="u"/>
            </a:pPr>
            <a:r>
              <a:rPr lang="zh-CN" altLang="en-US" sz="2600" dirty="0"/>
              <a:t>  数据链路层</a:t>
            </a:r>
          </a:p>
          <a:p>
            <a:pPr>
              <a:buFont typeface="Wingdings" panose="05000000000000000000" pitchFamily="2" charset="2"/>
              <a:buChar char="u"/>
            </a:pPr>
            <a:r>
              <a:rPr lang="zh-CN" altLang="en-US" sz="2600" dirty="0" smtClean="0"/>
              <a:t>  网络层</a:t>
            </a:r>
            <a:endParaRPr lang="zh-CN" altLang="en-US" sz="2600" dirty="0"/>
          </a:p>
          <a:p>
            <a:pPr>
              <a:buFont typeface="Wingdings" panose="05000000000000000000" pitchFamily="2" charset="2"/>
              <a:buChar char="u"/>
            </a:pPr>
            <a:r>
              <a:rPr lang="zh-CN" altLang="en-US" sz="2600" dirty="0"/>
              <a:t>  </a:t>
            </a:r>
            <a:r>
              <a:rPr lang="zh-CN" altLang="en-US" sz="2600" dirty="0" smtClean="0"/>
              <a:t>运输层</a:t>
            </a:r>
            <a:endParaRPr lang="zh-CN" altLang="en-US" sz="2600" dirty="0"/>
          </a:p>
          <a:p>
            <a:pPr>
              <a:buFont typeface="Wingdings" panose="05000000000000000000" pitchFamily="2" charset="2"/>
              <a:buChar char="u"/>
            </a:pPr>
            <a:r>
              <a:rPr lang="zh-CN" altLang="en-US" sz="2600" dirty="0"/>
              <a:t>  应用层</a:t>
            </a:r>
          </a:p>
          <a:p>
            <a:pPr>
              <a:buFont typeface="Wingdings" panose="05000000000000000000" pitchFamily="2" charset="2"/>
              <a:buChar char="u"/>
            </a:pPr>
            <a:r>
              <a:rPr lang="zh-CN" altLang="en-US" sz="2600" dirty="0"/>
              <a:t>  网络安全</a:t>
            </a:r>
            <a:endParaRPr lang="en-US" altLang="zh-CN" sz="2600" dirty="0"/>
          </a:p>
          <a:p>
            <a:pPr>
              <a:buFont typeface="Wingdings" panose="05000000000000000000" pitchFamily="2" charset="2"/>
              <a:buChar char="u"/>
            </a:pPr>
            <a:r>
              <a:rPr lang="zh-CN" altLang="en-US" sz="2600" dirty="0"/>
              <a:t>  </a:t>
            </a:r>
            <a:r>
              <a:rPr lang="zh-CN" altLang="en-US" sz="2600" dirty="0" smtClean="0"/>
              <a:t>无线局域网</a:t>
            </a:r>
            <a:endParaRPr lang="zh-CN" altLang="en-US" sz="2600" dirty="0"/>
          </a:p>
        </p:txBody>
      </p:sp>
    </p:spTree>
    <p:extLst>
      <p:ext uri="{BB962C8B-B14F-4D97-AF65-F5344CB8AC3E}">
        <p14:creationId xmlns:p14="http://schemas.microsoft.com/office/powerpoint/2010/main" val="25747376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教材资料</a:t>
            </a:r>
            <a:endParaRPr lang="zh-CN" altLang="en-US" b="1" dirty="0">
              <a:solidFill>
                <a:srgbClr val="C00000"/>
              </a:solidFill>
            </a:endParaRPr>
          </a:p>
        </p:txBody>
      </p:sp>
      <p:sp>
        <p:nvSpPr>
          <p:cNvPr id="3" name="内容占位符 2"/>
          <p:cNvSpPr>
            <a:spLocks noGrp="1"/>
          </p:cNvSpPr>
          <p:nvPr>
            <p:ph idx="1"/>
          </p:nvPr>
        </p:nvSpPr>
        <p:spPr>
          <a:xfrm>
            <a:off x="891539" y="2142596"/>
            <a:ext cx="8851719" cy="3739091"/>
          </a:xfrm>
        </p:spPr>
        <p:txBody>
          <a:bodyPr>
            <a:normAutofit fontScale="92500" lnSpcReduction="10000"/>
          </a:bodyPr>
          <a:lstStyle/>
          <a:p>
            <a:pPr>
              <a:buFont typeface="Wingdings" panose="05000000000000000000" pitchFamily="2" charset="2"/>
              <a:buChar char="u"/>
            </a:pPr>
            <a:r>
              <a:rPr lang="zh-CN" altLang="en-US" sz="2600" dirty="0"/>
              <a:t> </a:t>
            </a:r>
            <a:r>
              <a:rPr lang="zh-CN" altLang="en-US" sz="2600" dirty="0">
                <a:solidFill>
                  <a:schemeClr val="accent2">
                    <a:lumMod val="75000"/>
                  </a:schemeClr>
                </a:solidFill>
              </a:rPr>
              <a:t>参考教材</a:t>
            </a:r>
            <a:endParaRPr lang="en-US" altLang="zh-CN" sz="2600" dirty="0">
              <a:solidFill>
                <a:schemeClr val="accent2">
                  <a:lumMod val="75000"/>
                </a:schemeClr>
              </a:solidFill>
            </a:endParaRPr>
          </a:p>
          <a:p>
            <a:pPr lvl="1">
              <a:buFont typeface="Wingdings" panose="05000000000000000000" pitchFamily="2" charset="2"/>
              <a:buChar char="l"/>
            </a:pPr>
            <a:r>
              <a:rPr lang="en-US" altLang="zh-CN" sz="2438" dirty="0"/>
              <a:t>《</a:t>
            </a:r>
            <a:r>
              <a:rPr lang="zh-CN" altLang="en-US" sz="2438" dirty="0"/>
              <a:t>计算机网络（</a:t>
            </a:r>
            <a:r>
              <a:rPr lang="zh-CN" altLang="en-US" sz="2438" dirty="0" smtClean="0"/>
              <a:t>第</a:t>
            </a:r>
            <a:r>
              <a:rPr lang="en-US" altLang="zh-CN" sz="2438" dirty="0" smtClean="0"/>
              <a:t>8</a:t>
            </a:r>
            <a:r>
              <a:rPr lang="zh-CN" altLang="en-US" sz="2438" dirty="0" smtClean="0"/>
              <a:t>版</a:t>
            </a:r>
            <a:r>
              <a:rPr lang="zh-CN" altLang="en-US" sz="2438" dirty="0"/>
              <a:t>）</a:t>
            </a:r>
            <a:r>
              <a:rPr lang="en-US" altLang="zh-CN" sz="2438" dirty="0"/>
              <a:t>》  </a:t>
            </a:r>
            <a:r>
              <a:rPr lang="zh-CN" altLang="en-US" sz="2438" dirty="0"/>
              <a:t>谢希仁编著     电子工业出版社 </a:t>
            </a:r>
            <a:r>
              <a:rPr lang="en-US" altLang="zh-CN" sz="2438" dirty="0"/>
              <a:t/>
            </a:r>
            <a:br>
              <a:rPr lang="en-US" altLang="zh-CN" sz="2438" dirty="0"/>
            </a:br>
            <a:r>
              <a:rPr lang="en-US" altLang="zh-CN" sz="2438" dirty="0"/>
              <a:t>  </a:t>
            </a:r>
            <a:r>
              <a:rPr lang="zh-CN" altLang="en-US" sz="2438" dirty="0"/>
              <a:t>“十二五”普通高等教育本科国家级规划教材</a:t>
            </a:r>
            <a:endParaRPr lang="en-US" altLang="zh-CN" sz="2438" dirty="0"/>
          </a:p>
          <a:p>
            <a:pPr lvl="1">
              <a:buFont typeface="Wingdings" panose="05000000000000000000" pitchFamily="2" charset="2"/>
              <a:buChar char="l"/>
            </a:pPr>
            <a:r>
              <a:rPr lang="en-US" altLang="zh-CN" sz="2438" dirty="0"/>
              <a:t>《</a:t>
            </a:r>
            <a:r>
              <a:rPr lang="zh-CN" altLang="en-US" sz="2438" dirty="0"/>
              <a:t>计算机网络（第四版）</a:t>
            </a:r>
            <a:r>
              <a:rPr lang="en-US" altLang="zh-CN" sz="2438" dirty="0"/>
              <a:t>》 </a:t>
            </a:r>
            <a:r>
              <a:rPr lang="zh-CN" altLang="en-US" sz="2438" dirty="0"/>
              <a:t>吴功宜 吴英编著 清华大学出版社</a:t>
            </a:r>
            <a:r>
              <a:rPr lang="en-US" altLang="zh-CN" sz="2438" dirty="0"/>
              <a:t/>
            </a:r>
            <a:br>
              <a:rPr lang="en-US" altLang="zh-CN" sz="2438" dirty="0"/>
            </a:br>
            <a:r>
              <a:rPr lang="en-US" altLang="zh-CN" sz="2438" dirty="0"/>
              <a:t> </a:t>
            </a:r>
            <a:r>
              <a:rPr lang="zh-CN" altLang="en-US" sz="2438" dirty="0"/>
              <a:t>“十二五”普通高等教育本科国家级规划教材</a:t>
            </a:r>
            <a:endParaRPr lang="en-US" altLang="zh-CN" sz="2438" dirty="0"/>
          </a:p>
          <a:p>
            <a:pPr>
              <a:buFont typeface="Wingdings" panose="05000000000000000000" pitchFamily="2" charset="2"/>
              <a:buChar char="u"/>
            </a:pPr>
            <a:r>
              <a:rPr lang="zh-CN" altLang="en-US" sz="2600" dirty="0"/>
              <a:t> </a:t>
            </a:r>
            <a:r>
              <a:rPr lang="zh-CN" altLang="en-US" sz="2600" dirty="0">
                <a:solidFill>
                  <a:schemeClr val="accent2">
                    <a:lumMod val="75000"/>
                  </a:schemeClr>
                </a:solidFill>
              </a:rPr>
              <a:t>网络资源</a:t>
            </a:r>
            <a:endParaRPr lang="en-US" altLang="zh-CN" sz="2600" dirty="0">
              <a:solidFill>
                <a:schemeClr val="accent2">
                  <a:lumMod val="75000"/>
                </a:schemeClr>
              </a:solidFill>
            </a:endParaRPr>
          </a:p>
          <a:p>
            <a:pPr lvl="1">
              <a:buFont typeface="Wingdings" panose="05000000000000000000" pitchFamily="2" charset="2"/>
              <a:buChar char="l"/>
            </a:pPr>
            <a:r>
              <a:rPr lang="en-US" altLang="zh-CN" sz="2438" dirty="0"/>
              <a:t> </a:t>
            </a:r>
            <a:r>
              <a:rPr lang="zh-CN" altLang="en-US" sz="2438" dirty="0"/>
              <a:t>中国大学</a:t>
            </a:r>
            <a:r>
              <a:rPr lang="en-US" altLang="zh-CN" sz="2438" dirty="0"/>
              <a:t>MOOC </a:t>
            </a:r>
            <a:r>
              <a:rPr lang="zh-CN" altLang="en-US" sz="2438" dirty="0"/>
              <a:t>东北大学 计算机网络</a:t>
            </a:r>
            <a:endParaRPr lang="en-US" altLang="zh-CN" sz="2438" dirty="0"/>
          </a:p>
          <a:p>
            <a:pPr lvl="1">
              <a:buFont typeface="Wingdings" panose="05000000000000000000" pitchFamily="2" charset="2"/>
              <a:buChar char="l"/>
            </a:pPr>
            <a:r>
              <a:rPr lang="en-US" altLang="zh-CN" sz="2438" dirty="0"/>
              <a:t> </a:t>
            </a:r>
            <a:r>
              <a:rPr lang="zh-CN" altLang="en-US" sz="2438" dirty="0"/>
              <a:t>学堂在线 河南科技大学 计算机网络</a:t>
            </a:r>
            <a:endParaRPr lang="en-US" altLang="zh-CN" sz="2438" dirty="0"/>
          </a:p>
          <a:p>
            <a:pPr marL="163449" lvl="1" indent="0">
              <a:buNone/>
            </a:pPr>
            <a:r>
              <a:rPr lang="zh-CN" altLang="en-US" sz="2438" dirty="0"/>
              <a:t>。。。。。。</a:t>
            </a:r>
            <a:endParaRPr lang="en-US" altLang="zh-CN" sz="2438" dirty="0"/>
          </a:p>
          <a:p>
            <a:pPr marL="0" indent="0">
              <a:buNone/>
            </a:pPr>
            <a:endParaRPr lang="zh-CN" altLang="en-US" sz="2600" dirty="0"/>
          </a:p>
        </p:txBody>
      </p:sp>
    </p:spTree>
    <p:extLst>
      <p:ext uri="{BB962C8B-B14F-4D97-AF65-F5344CB8AC3E}">
        <p14:creationId xmlns:p14="http://schemas.microsoft.com/office/powerpoint/2010/main" val="17761256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考核方法</a:t>
            </a:r>
            <a:endParaRPr lang="zh-CN" altLang="en-US" b="1" dirty="0">
              <a:solidFill>
                <a:srgbClr val="C00000"/>
              </a:solidFill>
            </a:endParaRPr>
          </a:p>
        </p:txBody>
      </p:sp>
      <p:sp>
        <p:nvSpPr>
          <p:cNvPr id="3" name="内容占位符 2"/>
          <p:cNvSpPr>
            <a:spLocks noGrp="1"/>
          </p:cNvSpPr>
          <p:nvPr>
            <p:ph idx="1"/>
          </p:nvPr>
        </p:nvSpPr>
        <p:spPr>
          <a:xfrm>
            <a:off x="891540" y="2142596"/>
            <a:ext cx="8172450" cy="3690377"/>
          </a:xfrm>
        </p:spPr>
        <p:txBody>
          <a:bodyPr>
            <a:normAutofit/>
          </a:bodyPr>
          <a:lstStyle/>
          <a:p>
            <a:pPr>
              <a:buFont typeface="Wingdings" panose="05000000000000000000" pitchFamily="2" charset="2"/>
              <a:buChar char="u"/>
            </a:pPr>
            <a:r>
              <a:rPr lang="zh-CN" altLang="en-US" sz="2600" dirty="0"/>
              <a:t>  </a:t>
            </a:r>
            <a:r>
              <a:rPr lang="en-US" altLang="zh-CN" sz="2600" dirty="0" smtClean="0"/>
              <a:t>20</a:t>
            </a:r>
            <a:r>
              <a:rPr lang="en-US" altLang="zh-CN" sz="2600" dirty="0"/>
              <a:t>%</a:t>
            </a:r>
            <a:r>
              <a:rPr lang="zh-CN" altLang="en-US" sz="2600" dirty="0"/>
              <a:t>实验</a:t>
            </a:r>
            <a:r>
              <a:rPr lang="en-US" altLang="zh-CN" sz="2600" dirty="0"/>
              <a:t>+10%</a:t>
            </a:r>
            <a:r>
              <a:rPr lang="zh-CN" altLang="en-US" sz="2600" dirty="0"/>
              <a:t>平时（</a:t>
            </a:r>
            <a:r>
              <a:rPr lang="zh-CN" altLang="en-US" sz="2600" dirty="0" smtClean="0"/>
              <a:t>课堂表现</a:t>
            </a:r>
            <a:r>
              <a:rPr lang="en-US" altLang="zh-CN" sz="2600" dirty="0" smtClean="0"/>
              <a:t>+</a:t>
            </a:r>
            <a:r>
              <a:rPr lang="zh-CN" altLang="en-US" sz="2600" dirty="0" smtClean="0"/>
              <a:t>测验</a:t>
            </a:r>
            <a:r>
              <a:rPr lang="en-US" altLang="zh-CN" sz="2600" dirty="0" smtClean="0"/>
              <a:t>+</a:t>
            </a:r>
            <a:r>
              <a:rPr lang="zh-CN" altLang="en-US" sz="2600" dirty="0"/>
              <a:t>作业）</a:t>
            </a:r>
            <a:r>
              <a:rPr lang="en-US" altLang="zh-CN" sz="2600" dirty="0"/>
              <a:t>+70%</a:t>
            </a:r>
            <a:r>
              <a:rPr lang="zh-CN" altLang="en-US" sz="2600" dirty="0"/>
              <a:t>期末考试</a:t>
            </a:r>
            <a:r>
              <a:rPr lang="en-US" altLang="zh-CN" sz="2600" dirty="0"/>
              <a:t/>
            </a:r>
            <a:br>
              <a:rPr lang="en-US" altLang="zh-CN" sz="2600" dirty="0"/>
            </a:br>
            <a:endParaRPr lang="en-US" altLang="zh-CN" sz="2600" dirty="0"/>
          </a:p>
          <a:p>
            <a:pPr>
              <a:buFont typeface="Wingdings" panose="05000000000000000000" pitchFamily="2" charset="2"/>
              <a:buChar char="u"/>
            </a:pPr>
            <a:r>
              <a:rPr lang="en-US" altLang="zh-CN" sz="2600" dirty="0"/>
              <a:t>  </a:t>
            </a:r>
            <a:r>
              <a:rPr lang="zh-CN" altLang="en-US" sz="2600" dirty="0" smtClean="0"/>
              <a:t>教</a:t>
            </a:r>
            <a:r>
              <a:rPr lang="zh-CN" altLang="en-US" sz="2600" dirty="0"/>
              <a:t>考分离</a:t>
            </a:r>
          </a:p>
        </p:txBody>
      </p:sp>
    </p:spTree>
    <p:extLst>
      <p:ext uri="{BB962C8B-B14F-4D97-AF65-F5344CB8AC3E}">
        <p14:creationId xmlns:p14="http://schemas.microsoft.com/office/powerpoint/2010/main" val="376178651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0.6|0.4|0.5|0.6"/>
</p:tagLst>
</file>

<file path=ppt/tags/tag2.xml><?xml version="1.0" encoding="utf-8"?>
<p:tagLst xmlns:a="http://schemas.openxmlformats.org/drawingml/2006/main" xmlns:r="http://schemas.openxmlformats.org/officeDocument/2006/relationships" xmlns:p="http://schemas.openxmlformats.org/presentationml/2006/main">
  <p:tag name="TIMING" val="|0.5|0.4|0.4|0.3|0.4|0.3|0.8"/>
</p:tagLst>
</file>

<file path=ppt/tags/tag3.xml><?xml version="1.0" encoding="utf-8"?>
<p:tagLst xmlns:a="http://schemas.openxmlformats.org/drawingml/2006/main" xmlns:r="http://schemas.openxmlformats.org/officeDocument/2006/relationships" xmlns:p="http://schemas.openxmlformats.org/presentationml/2006/main">
  <p:tag name="TIMING" val="|0.7|0.5|0.5|0.9|0.4|0.4"/>
</p:tagLst>
</file>

<file path=ppt/tags/tag4.xml><?xml version="1.0" encoding="utf-8"?>
<p:tagLst xmlns:a="http://schemas.openxmlformats.org/drawingml/2006/main" xmlns:r="http://schemas.openxmlformats.org/officeDocument/2006/relationships" xmlns:p="http://schemas.openxmlformats.org/presentationml/2006/main">
  <p:tag name="TIMING" val="|0.5|0.6"/>
</p:tagLst>
</file>

<file path=ppt/tags/tag5.xml><?xml version="1.0" encoding="utf-8"?>
<p:tagLst xmlns:a="http://schemas.openxmlformats.org/drawingml/2006/main" xmlns:r="http://schemas.openxmlformats.org/officeDocument/2006/relationships" xmlns:p="http://schemas.openxmlformats.org/presentationml/2006/main">
  <p:tag name="TIMING" val="|0.3"/>
</p:tagLst>
</file>

<file path=ppt/tags/tag6.xml><?xml version="1.0" encoding="utf-8"?>
<p:tagLst xmlns:a="http://schemas.openxmlformats.org/drawingml/2006/main" xmlns:r="http://schemas.openxmlformats.org/officeDocument/2006/relationships" xmlns:p="http://schemas.openxmlformats.org/presentationml/2006/main">
  <p:tag name="TIMING" val="|0.7|0.8"/>
</p:tagLst>
</file>

<file path=ppt/tags/tag7.xml><?xml version="1.0" encoding="utf-8"?>
<p:tagLst xmlns:a="http://schemas.openxmlformats.org/drawingml/2006/main" xmlns:r="http://schemas.openxmlformats.org/officeDocument/2006/relationships" xmlns:p="http://schemas.openxmlformats.org/presentationml/2006/main">
  <p:tag name="TIMING" val="|0.6"/>
</p:tagLst>
</file>

<file path=ppt/tags/tag8.xml><?xml version="1.0" encoding="utf-8"?>
<p:tagLst xmlns:a="http://schemas.openxmlformats.org/drawingml/2006/main" xmlns:r="http://schemas.openxmlformats.org/officeDocument/2006/relationships" xmlns:p="http://schemas.openxmlformats.org/presentationml/2006/main">
  <p:tag name="TIMING" val="|0.6|1"/>
</p:tagLst>
</file>

<file path=ppt/tags/tag9.xml><?xml version="1.0" encoding="utf-8"?>
<p:tagLst xmlns:a="http://schemas.openxmlformats.org/drawingml/2006/main" xmlns:r="http://schemas.openxmlformats.org/officeDocument/2006/relationships" xmlns:p="http://schemas.openxmlformats.org/presentationml/2006/main">
  <p:tag name="TIMING" val="|25.7"/>
</p:tagLst>
</file>

<file path=ppt/tags/tag10.xml><?xml version="1.0" encoding="utf-8"?>
<p:tagLst xmlns:a="http://schemas.openxmlformats.org/drawingml/2006/main" xmlns:r="http://schemas.openxmlformats.org/officeDocument/2006/relationships" xmlns:p="http://schemas.openxmlformats.org/presentationml/2006/main">
  <p:tag name="TIMING" val="|0.5|0.4|0.4|0.4|0.4"/>
</p:tagLst>
</file>

<file path=ppt/tags/tag11.xml><?xml version="1.0" encoding="utf-8"?>
<p:tagLst xmlns:a="http://schemas.openxmlformats.org/drawingml/2006/main" xmlns:r="http://schemas.openxmlformats.org/officeDocument/2006/relationships" xmlns:p="http://schemas.openxmlformats.org/presentationml/2006/main">
  <p:tag name="TIMING" val="|0.6|0.4|0.3"/>
</p:tagLst>
</file>

<file path=ppt/tags/tag12.xml><?xml version="1.0" encoding="utf-8"?>
<p:tagLst xmlns:a="http://schemas.openxmlformats.org/drawingml/2006/main" xmlns:r="http://schemas.openxmlformats.org/officeDocument/2006/relationships" xmlns:p="http://schemas.openxmlformats.org/presentationml/2006/main">
  <p:tag name="TIMING" val="|0.6|0.5|0.4"/>
</p:tagLst>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4130</TotalTime>
  <Words>819</Words>
  <Application>Microsoft Office PowerPoint</Application>
  <PresentationFormat>A4 纸张(210x297 毫米)</PresentationFormat>
  <Paragraphs>287</Paragraphs>
  <Slides>19</Slides>
  <Notes>10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0</vt:i4>
      </vt:variant>
      <vt:variant>
        <vt:lpstr>幻灯片标题</vt:lpstr>
      </vt:variant>
      <vt:variant>
        <vt:i4>19</vt:i4>
      </vt:variant>
    </vt:vector>
  </HeadingPairs>
  <TitlesOfParts>
    <vt:vector size="26" baseType="lpstr">
      <vt:lpstr>黑体</vt:lpstr>
      <vt:lpstr>华光隶书_CNKI</vt:lpstr>
      <vt:lpstr>宋体</vt:lpstr>
      <vt:lpstr>Arial</vt:lpstr>
      <vt:lpstr>Times New Roman</vt:lpstr>
      <vt:lpstr>Wingdings</vt:lpstr>
      <vt:lpstr>Presentation</vt:lpstr>
      <vt:lpstr>《计算机网络》 课前说明</vt:lpstr>
      <vt:lpstr>未来网络,让搭乘“网络高铁”成为可能</vt:lpstr>
      <vt:lpstr>互联网现状</vt:lpstr>
      <vt:lpstr>PowerPoint 演示文稿</vt:lpstr>
      <vt:lpstr>五层协议的体系结构 </vt:lpstr>
      <vt:lpstr>物理层</vt:lpstr>
      <vt:lpstr>数据链路层</vt:lpstr>
      <vt:lpstr>网络层（核心）</vt:lpstr>
      <vt:lpstr>传输层</vt:lpstr>
      <vt:lpstr>应用层</vt:lpstr>
      <vt:lpstr>计算机网络体系结构-小结</vt:lpstr>
      <vt:lpstr>计算机网络体系结构-小结</vt:lpstr>
      <vt:lpstr>计算机网络体系结构-小结</vt:lpstr>
      <vt:lpstr>网络强国 担当使命</vt:lpstr>
      <vt:lpstr>课程概况</vt:lpstr>
      <vt:lpstr>教学目标</vt:lpstr>
      <vt:lpstr>教学内容</vt:lpstr>
      <vt:lpstr>教材资料</vt:lpstr>
      <vt:lpstr>考核方法</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229</cp:revision>
  <cp:lastPrinted>2024-02-25T12:40:34Z</cp:lastPrinted>
  <dcterms:created xsi:type="dcterms:W3CDTF">2016-10-01T05:27:00Z</dcterms:created>
  <dcterms:modified xsi:type="dcterms:W3CDTF">2024-02-25T13:45:42Z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
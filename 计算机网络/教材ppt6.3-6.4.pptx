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handoutMasterIdLst>
    <p:handoutMasterId r:id="rId87"/>
  </p:handoutMasterIdLst>
  <p:sldIdLst>
    <p:sldId id="1261" r:id="rId2"/>
    <p:sldId id="1302" r:id="rId3"/>
    <p:sldId id="1303" r:id="rId4"/>
    <p:sldId id="1304" r:id="rId5"/>
    <p:sldId id="1305" r:id="rId6"/>
    <p:sldId id="1306" r:id="rId7"/>
    <p:sldId id="1307" r:id="rId8"/>
    <p:sldId id="1308" r:id="rId9"/>
    <p:sldId id="1309" r:id="rId10"/>
    <p:sldId id="1310" r:id="rId11"/>
    <p:sldId id="1311" r:id="rId12"/>
    <p:sldId id="1312" r:id="rId13"/>
    <p:sldId id="1313" r:id="rId14"/>
    <p:sldId id="1314" r:id="rId15"/>
    <p:sldId id="1315" r:id="rId16"/>
    <p:sldId id="1316" r:id="rId17"/>
    <p:sldId id="1317" r:id="rId18"/>
    <p:sldId id="1318" r:id="rId19"/>
    <p:sldId id="1319" r:id="rId20"/>
    <p:sldId id="1320" r:id="rId21"/>
    <p:sldId id="1321" r:id="rId22"/>
    <p:sldId id="1322" r:id="rId23"/>
    <p:sldId id="1323" r:id="rId24"/>
    <p:sldId id="1324" r:id="rId25"/>
    <p:sldId id="1325" r:id="rId26"/>
    <p:sldId id="1326" r:id="rId27"/>
    <p:sldId id="1327" r:id="rId28"/>
    <p:sldId id="1328" r:id="rId29"/>
    <p:sldId id="1329" r:id="rId30"/>
    <p:sldId id="1330" r:id="rId31"/>
    <p:sldId id="1331" r:id="rId32"/>
    <p:sldId id="1332" r:id="rId33"/>
    <p:sldId id="1333" r:id="rId34"/>
    <p:sldId id="1334" r:id="rId35"/>
    <p:sldId id="1335" r:id="rId36"/>
    <p:sldId id="1336" r:id="rId37"/>
    <p:sldId id="1337" r:id="rId38"/>
    <p:sldId id="1338" r:id="rId39"/>
    <p:sldId id="1339" r:id="rId40"/>
    <p:sldId id="1340" r:id="rId41"/>
    <p:sldId id="1341" r:id="rId42"/>
    <p:sldId id="1342" r:id="rId43"/>
    <p:sldId id="1343" r:id="rId44"/>
    <p:sldId id="1344" r:id="rId45"/>
    <p:sldId id="1345" r:id="rId46"/>
    <p:sldId id="1346" r:id="rId47"/>
    <p:sldId id="1347" r:id="rId48"/>
    <p:sldId id="1388" r:id="rId49"/>
    <p:sldId id="1348" r:id="rId50"/>
    <p:sldId id="1349" r:id="rId51"/>
    <p:sldId id="1350" r:id="rId52"/>
    <p:sldId id="1351" r:id="rId53"/>
    <p:sldId id="1352" r:id="rId54"/>
    <p:sldId id="1353" r:id="rId55"/>
    <p:sldId id="1354" r:id="rId56"/>
    <p:sldId id="1355" r:id="rId57"/>
    <p:sldId id="1356" r:id="rId58"/>
    <p:sldId id="1357" r:id="rId59"/>
    <p:sldId id="1358" r:id="rId60"/>
    <p:sldId id="1359" r:id="rId61"/>
    <p:sldId id="1360" r:id="rId62"/>
    <p:sldId id="1361" r:id="rId63"/>
    <p:sldId id="1362" r:id="rId64"/>
    <p:sldId id="1363" r:id="rId65"/>
    <p:sldId id="1364" r:id="rId66"/>
    <p:sldId id="1365" r:id="rId67"/>
    <p:sldId id="1366" r:id="rId68"/>
    <p:sldId id="1367" r:id="rId69"/>
    <p:sldId id="1368" r:id="rId70"/>
    <p:sldId id="1369" r:id="rId71"/>
    <p:sldId id="1370" r:id="rId72"/>
    <p:sldId id="1371" r:id="rId73"/>
    <p:sldId id="1372" r:id="rId74"/>
    <p:sldId id="1377" r:id="rId75"/>
    <p:sldId id="1378" r:id="rId76"/>
    <p:sldId id="1379" r:id="rId77"/>
    <p:sldId id="1380" r:id="rId78"/>
    <p:sldId id="1381" r:id="rId79"/>
    <p:sldId id="1382" r:id="rId80"/>
    <p:sldId id="1383" r:id="rId81"/>
    <p:sldId id="1384" r:id="rId82"/>
    <p:sldId id="1385" r:id="rId83"/>
    <p:sldId id="1386" r:id="rId84"/>
    <p:sldId id="1387" r:id="rId85"/>
  </p:sldIdLst>
  <p:sldSz cx="9906000" cy="6858000" type="A4"/>
  <p:notesSz cx="9296400" cy="7010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99"/>
    <a:srgbClr val="0000CC"/>
    <a:srgbClr val="FFFF66"/>
    <a:srgbClr val="66FF66"/>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98" autoAdjust="0"/>
    <p:restoredTop sz="93175" autoAdjust="0"/>
  </p:normalViewPr>
  <p:slideViewPr>
    <p:cSldViewPr>
      <p:cViewPr varScale="1">
        <p:scale>
          <a:sx n="73" d="100"/>
          <a:sy n="73" d="100"/>
        </p:scale>
        <p:origin x="1002" y="114"/>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C0E8ACEC-BE51-4C28-9719-6AEAC1A1CC5A}"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2749550" y="525463"/>
            <a:ext cx="37973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930482" y="3330419"/>
            <a:ext cx="7435436" cy="315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FF05FA4A-B8E9-4A1C-BCD1-7761336334F8}"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40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DD8B297-DB5D-4871-B062-AF4A557B5421}" type="slidenum">
              <a:rPr lang="en-US" altLang="zh-CN" smtClean="0"/>
              <a:pPr eaLnBrk="1" hangingPunct="1"/>
              <a:t>2</a:t>
            </a:fld>
            <a:endParaRPr lang="en-US" altLang="zh-CN" smtClean="0"/>
          </a:p>
        </p:txBody>
      </p:sp>
      <p:sp>
        <p:nvSpPr>
          <p:cNvPr id="1664002" name="Rectangle 2"/>
          <p:cNvSpPr>
            <a:spLocks noGrp="1" noRot="1" noChangeAspect="1" noChangeArrowheads="1" noTextEdit="1"/>
          </p:cNvSpPr>
          <p:nvPr>
            <p:ph type="sldImg" idx="4294967295"/>
          </p:nvPr>
        </p:nvSpPr>
        <p:spPr>
          <a:ln/>
        </p:spPr>
      </p:sp>
      <p:sp>
        <p:nvSpPr>
          <p:cNvPr id="166400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60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C4E8137-3E77-4763-8F2F-FEE123F468D3}" type="slidenum">
              <a:rPr lang="en-US" altLang="zh-CN" smtClean="0"/>
              <a:pPr eaLnBrk="1" hangingPunct="1"/>
              <a:t>3</a:t>
            </a:fld>
            <a:endParaRPr lang="en-US" altLang="zh-CN" smtClean="0"/>
          </a:p>
        </p:txBody>
      </p:sp>
      <p:sp>
        <p:nvSpPr>
          <p:cNvPr id="1666050" name="Rectangle 2"/>
          <p:cNvSpPr>
            <a:spLocks noGrp="1" noRot="1" noChangeAspect="1" noChangeArrowheads="1" noTextEdit="1"/>
          </p:cNvSpPr>
          <p:nvPr>
            <p:ph type="sldImg" idx="4294967295"/>
          </p:nvPr>
        </p:nvSpPr>
        <p:spPr>
          <a:ln/>
        </p:spPr>
      </p:sp>
      <p:sp>
        <p:nvSpPr>
          <p:cNvPr id="166605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80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831C07B-274E-4C05-85FF-14935842656E}" type="slidenum">
              <a:rPr lang="en-US" altLang="zh-CN" smtClean="0">
                <a:latin typeface="Arial" panose="020B0604020202020204" pitchFamily="34" charset="0"/>
              </a:rPr>
              <a:pPr/>
              <a:t>4</a:t>
            </a:fld>
            <a:endParaRPr lang="en-US" altLang="zh-CN" smtClean="0">
              <a:latin typeface="Arial" panose="020B0604020202020204" pitchFamily="34" charset="0"/>
            </a:endParaRPr>
          </a:p>
        </p:txBody>
      </p:sp>
      <p:sp>
        <p:nvSpPr>
          <p:cNvPr id="1668098" name="Rectangle 2"/>
          <p:cNvSpPr>
            <a:spLocks noGrp="1" noRot="1" noChangeAspect="1" noChangeArrowheads="1" noTextEdit="1"/>
          </p:cNvSpPr>
          <p:nvPr>
            <p:ph type="sldImg" idx="4294967295"/>
          </p:nvPr>
        </p:nvSpPr>
        <p:spPr>
          <a:ln/>
        </p:spPr>
      </p:sp>
      <p:sp>
        <p:nvSpPr>
          <p:cNvPr id="166809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01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08E5BAF-4440-409F-990D-1277EF6BA8A0}" type="slidenum">
              <a:rPr lang="en-US" altLang="zh-CN" smtClean="0"/>
              <a:pPr eaLnBrk="1" hangingPunct="1"/>
              <a:t>5</a:t>
            </a:fld>
            <a:endParaRPr lang="en-US" altLang="zh-CN" smtClean="0"/>
          </a:p>
        </p:txBody>
      </p:sp>
      <p:sp>
        <p:nvSpPr>
          <p:cNvPr id="1670146" name="Rectangle 2"/>
          <p:cNvSpPr>
            <a:spLocks noGrp="1" noRot="1" noChangeAspect="1" noChangeArrowheads="1" noTextEdit="1"/>
          </p:cNvSpPr>
          <p:nvPr>
            <p:ph type="sldImg" idx="4294967295"/>
          </p:nvPr>
        </p:nvSpPr>
        <p:spPr>
          <a:ln/>
        </p:spPr>
      </p:sp>
      <p:sp>
        <p:nvSpPr>
          <p:cNvPr id="167014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32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5161A44-21C5-42AE-B541-6C2BE4280358}" type="slidenum">
              <a:rPr lang="en-US" altLang="zh-CN" smtClean="0"/>
              <a:pPr eaLnBrk="1" hangingPunct="1"/>
              <a:t>7</a:t>
            </a:fld>
            <a:endParaRPr lang="en-US" altLang="zh-CN" smtClean="0"/>
          </a:p>
        </p:txBody>
      </p:sp>
      <p:sp>
        <p:nvSpPr>
          <p:cNvPr id="1673218" name="Rectangle 2"/>
          <p:cNvSpPr>
            <a:spLocks noGrp="1" noRot="1" noChangeAspect="1" noChangeArrowheads="1" noTextEdit="1"/>
          </p:cNvSpPr>
          <p:nvPr>
            <p:ph type="sldImg" idx="4294967295"/>
          </p:nvPr>
        </p:nvSpPr>
        <p:spPr>
          <a:ln/>
        </p:spPr>
      </p:sp>
      <p:sp>
        <p:nvSpPr>
          <p:cNvPr id="167321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52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F986DB9-5494-45FB-808B-15AE7CD72A13}" type="slidenum">
              <a:rPr lang="en-US" altLang="zh-CN" smtClean="0"/>
              <a:pPr eaLnBrk="1" hangingPunct="1"/>
              <a:t>8</a:t>
            </a:fld>
            <a:endParaRPr lang="en-US" altLang="zh-CN" smtClean="0"/>
          </a:p>
        </p:txBody>
      </p:sp>
      <p:sp>
        <p:nvSpPr>
          <p:cNvPr id="1675266" name="Rectangle 2"/>
          <p:cNvSpPr>
            <a:spLocks noGrp="1" noRot="1" noChangeAspect="1" noChangeArrowheads="1" noTextEdit="1"/>
          </p:cNvSpPr>
          <p:nvPr>
            <p:ph type="sldImg" idx="4294967295"/>
          </p:nvPr>
        </p:nvSpPr>
        <p:spPr>
          <a:ln/>
        </p:spPr>
      </p:sp>
      <p:sp>
        <p:nvSpPr>
          <p:cNvPr id="167526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7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3A9FDA7-4A5F-4DD1-B466-46EBE338AD5F}" type="slidenum">
              <a:rPr lang="en-US" altLang="zh-CN" smtClean="0"/>
              <a:pPr eaLnBrk="1" hangingPunct="1"/>
              <a:t>9</a:t>
            </a:fld>
            <a:endParaRPr lang="en-US" altLang="zh-CN" smtClean="0"/>
          </a:p>
        </p:txBody>
      </p:sp>
      <p:sp>
        <p:nvSpPr>
          <p:cNvPr id="1677314" name="Rectangle 2"/>
          <p:cNvSpPr>
            <a:spLocks noGrp="1" noRot="1" noChangeAspect="1" noChangeArrowheads="1" noTextEdit="1"/>
          </p:cNvSpPr>
          <p:nvPr>
            <p:ph type="sldImg" idx="4294967295"/>
          </p:nvPr>
        </p:nvSpPr>
        <p:spPr>
          <a:ln/>
        </p:spPr>
      </p:sp>
      <p:sp>
        <p:nvSpPr>
          <p:cNvPr id="167731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894F36B-AFFE-437E-85F9-AA5792BFD883}" type="slidenum">
              <a:rPr lang="en-US" altLang="zh-CN" smtClean="0"/>
              <a:pPr eaLnBrk="1" hangingPunct="1"/>
              <a:t>10</a:t>
            </a:fld>
            <a:endParaRPr lang="en-US" altLang="zh-CN" smtClean="0"/>
          </a:p>
        </p:txBody>
      </p:sp>
      <p:sp>
        <p:nvSpPr>
          <p:cNvPr id="1679362" name="Rectangle 2"/>
          <p:cNvSpPr>
            <a:spLocks noGrp="1" noRot="1" noChangeAspect="1" noChangeArrowheads="1" noTextEdit="1"/>
          </p:cNvSpPr>
          <p:nvPr>
            <p:ph type="sldImg" idx="4294967295"/>
          </p:nvPr>
        </p:nvSpPr>
        <p:spPr>
          <a:ln/>
        </p:spPr>
      </p:sp>
      <p:sp>
        <p:nvSpPr>
          <p:cNvPr id="167936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14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83BA9FA-2A0B-416C-8115-9D40A1C19468}" type="slidenum">
              <a:rPr lang="en-US" altLang="zh-CN" smtClean="0"/>
              <a:pPr eaLnBrk="1" hangingPunct="1"/>
              <a:t>11</a:t>
            </a:fld>
            <a:endParaRPr lang="en-US" altLang="zh-CN" smtClean="0"/>
          </a:p>
        </p:txBody>
      </p:sp>
      <p:sp>
        <p:nvSpPr>
          <p:cNvPr id="1681410" name="Rectangle 2"/>
          <p:cNvSpPr>
            <a:spLocks noGrp="1" noRot="1" noChangeAspect="1" noChangeArrowheads="1" noTextEdit="1"/>
          </p:cNvSpPr>
          <p:nvPr>
            <p:ph type="sldImg" idx="4294967295"/>
          </p:nvPr>
        </p:nvSpPr>
        <p:spPr>
          <a:ln/>
        </p:spPr>
      </p:sp>
      <p:sp>
        <p:nvSpPr>
          <p:cNvPr id="168141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34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26D88D-E371-4738-8EA0-4C703F2F046E}" type="slidenum">
              <a:rPr lang="en-US" altLang="zh-CN" smtClean="0"/>
              <a:pPr eaLnBrk="1" hangingPunct="1"/>
              <a:t>12</a:t>
            </a:fld>
            <a:endParaRPr lang="en-US" altLang="zh-CN" smtClean="0"/>
          </a:p>
        </p:txBody>
      </p:sp>
      <p:sp>
        <p:nvSpPr>
          <p:cNvPr id="1683458" name="Rectangle 2"/>
          <p:cNvSpPr>
            <a:spLocks noGrp="1" noRot="1" noChangeAspect="1" noChangeArrowheads="1" noTextEdit="1"/>
          </p:cNvSpPr>
          <p:nvPr>
            <p:ph type="sldImg" idx="4294967295"/>
          </p:nvPr>
        </p:nvSpPr>
        <p:spPr>
          <a:ln/>
        </p:spPr>
      </p:sp>
      <p:sp>
        <p:nvSpPr>
          <p:cNvPr id="168345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55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8B8D8C4-9E54-4179-9926-3B02885FFD7B}" type="slidenum">
              <a:rPr lang="en-US" altLang="zh-CN" smtClean="0"/>
              <a:pPr eaLnBrk="1" hangingPunct="1"/>
              <a:t>13</a:t>
            </a:fld>
            <a:endParaRPr lang="en-US" altLang="zh-CN" smtClean="0"/>
          </a:p>
        </p:txBody>
      </p:sp>
      <p:sp>
        <p:nvSpPr>
          <p:cNvPr id="1685506" name="Rectangle 2"/>
          <p:cNvSpPr>
            <a:spLocks noGrp="1" noRot="1" noChangeAspect="1" noChangeArrowheads="1" noTextEdit="1"/>
          </p:cNvSpPr>
          <p:nvPr>
            <p:ph type="sldImg" idx="4294967295"/>
          </p:nvPr>
        </p:nvSpPr>
        <p:spPr>
          <a:ln/>
        </p:spPr>
      </p:sp>
      <p:sp>
        <p:nvSpPr>
          <p:cNvPr id="168550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75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D9CAC6-9B4D-4340-9331-DF594947DD27}" type="slidenum">
              <a:rPr lang="en-US" altLang="zh-CN" smtClean="0"/>
              <a:pPr eaLnBrk="1" hangingPunct="1"/>
              <a:t>14</a:t>
            </a:fld>
            <a:endParaRPr lang="en-US" altLang="zh-CN" smtClean="0"/>
          </a:p>
        </p:txBody>
      </p:sp>
      <p:sp>
        <p:nvSpPr>
          <p:cNvPr id="1687554" name="Rectangle 2"/>
          <p:cNvSpPr>
            <a:spLocks noGrp="1" noRot="1" noChangeAspect="1" noChangeArrowheads="1" noTextEdit="1"/>
          </p:cNvSpPr>
          <p:nvPr>
            <p:ph type="sldImg" idx="4294967295"/>
          </p:nvPr>
        </p:nvSpPr>
        <p:spPr>
          <a:ln/>
        </p:spPr>
      </p:sp>
      <p:sp>
        <p:nvSpPr>
          <p:cNvPr id="168755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7525132-5B04-4B48-B818-8C03DEC54963}" type="slidenum">
              <a:rPr lang="en-US" altLang="zh-CN" smtClean="0"/>
              <a:pPr eaLnBrk="1" hangingPunct="1"/>
              <a:t>15</a:t>
            </a:fld>
            <a:endParaRPr lang="en-US" altLang="zh-CN" smtClean="0"/>
          </a:p>
        </p:txBody>
      </p:sp>
      <p:sp>
        <p:nvSpPr>
          <p:cNvPr id="1689602" name="Rectangle 2"/>
          <p:cNvSpPr>
            <a:spLocks noGrp="1" noRot="1" noChangeAspect="1" noChangeArrowheads="1" noTextEdit="1"/>
          </p:cNvSpPr>
          <p:nvPr>
            <p:ph type="sldImg" idx="4294967295"/>
          </p:nvPr>
        </p:nvSpPr>
        <p:spPr>
          <a:ln/>
        </p:spPr>
      </p:sp>
      <p:sp>
        <p:nvSpPr>
          <p:cNvPr id="168960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16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EC82EA-1F6E-456F-9936-DDAC58F9A55E}" type="slidenum">
              <a:rPr lang="en-US" altLang="zh-CN" smtClean="0"/>
              <a:pPr eaLnBrk="1" hangingPunct="1"/>
              <a:t>16</a:t>
            </a:fld>
            <a:endParaRPr lang="en-US" altLang="zh-CN" smtClean="0"/>
          </a:p>
        </p:txBody>
      </p:sp>
      <p:sp>
        <p:nvSpPr>
          <p:cNvPr id="1691650" name="Rectangle 2"/>
          <p:cNvSpPr>
            <a:spLocks noGrp="1" noRot="1" noChangeAspect="1" noChangeArrowheads="1" noTextEdit="1"/>
          </p:cNvSpPr>
          <p:nvPr>
            <p:ph type="sldImg" idx="4294967295"/>
          </p:nvPr>
        </p:nvSpPr>
        <p:spPr>
          <a:ln/>
        </p:spPr>
      </p:sp>
      <p:sp>
        <p:nvSpPr>
          <p:cNvPr id="169165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36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6B9817D-2EA0-42FF-AB3E-20F29E6F113E}" type="slidenum">
              <a:rPr lang="en-US" altLang="zh-CN" smtClean="0"/>
              <a:pPr eaLnBrk="1" hangingPunct="1"/>
              <a:t>17</a:t>
            </a:fld>
            <a:endParaRPr lang="en-US" altLang="zh-CN" smtClean="0"/>
          </a:p>
        </p:txBody>
      </p:sp>
      <p:sp>
        <p:nvSpPr>
          <p:cNvPr id="1693698" name="Rectangle 2"/>
          <p:cNvSpPr>
            <a:spLocks noGrp="1" noRot="1" noChangeAspect="1" noChangeArrowheads="1" noTextEdit="1"/>
          </p:cNvSpPr>
          <p:nvPr>
            <p:ph type="sldImg" idx="4294967295"/>
          </p:nvPr>
        </p:nvSpPr>
        <p:spPr>
          <a:ln/>
        </p:spPr>
      </p:sp>
      <p:sp>
        <p:nvSpPr>
          <p:cNvPr id="169369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57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1013B5B-7320-4C15-8837-0E326533F596}" type="slidenum">
              <a:rPr lang="en-US" altLang="zh-CN" smtClean="0"/>
              <a:pPr eaLnBrk="1" hangingPunct="1"/>
              <a:t>18</a:t>
            </a:fld>
            <a:endParaRPr lang="en-US" altLang="zh-CN" smtClean="0"/>
          </a:p>
        </p:txBody>
      </p:sp>
      <p:sp>
        <p:nvSpPr>
          <p:cNvPr id="1695746" name="Rectangle 2"/>
          <p:cNvSpPr>
            <a:spLocks noGrp="1" noRot="1" noChangeAspect="1" noChangeArrowheads="1" noTextEdit="1"/>
          </p:cNvSpPr>
          <p:nvPr>
            <p:ph type="sldImg" idx="4294967295"/>
          </p:nvPr>
        </p:nvSpPr>
        <p:spPr>
          <a:ln/>
        </p:spPr>
      </p:sp>
      <p:sp>
        <p:nvSpPr>
          <p:cNvPr id="169574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77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0CBF9EB-D4FA-4DF9-9B1E-294CE8CBDCB0}" type="slidenum">
              <a:rPr lang="en-US" altLang="zh-CN" smtClean="0"/>
              <a:pPr eaLnBrk="1" hangingPunct="1"/>
              <a:t>19</a:t>
            </a:fld>
            <a:endParaRPr lang="en-US" altLang="zh-CN" smtClean="0"/>
          </a:p>
        </p:txBody>
      </p:sp>
      <p:sp>
        <p:nvSpPr>
          <p:cNvPr id="1697794" name="Rectangle 2"/>
          <p:cNvSpPr>
            <a:spLocks noGrp="1" noRot="1" noChangeAspect="1" noChangeArrowheads="1" noTextEdit="1"/>
          </p:cNvSpPr>
          <p:nvPr>
            <p:ph type="sldImg" idx="4294967295"/>
          </p:nvPr>
        </p:nvSpPr>
        <p:spPr>
          <a:ln/>
        </p:spPr>
      </p:sp>
      <p:sp>
        <p:nvSpPr>
          <p:cNvPr id="169779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08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CA7181E-808A-4896-AA28-E419D5D327F9}" type="slidenum">
              <a:rPr lang="en-US" altLang="zh-CN" smtClean="0"/>
              <a:pPr eaLnBrk="1" hangingPunct="1"/>
              <a:t>21</a:t>
            </a:fld>
            <a:endParaRPr lang="en-US" altLang="zh-CN" smtClean="0"/>
          </a:p>
        </p:txBody>
      </p:sp>
      <p:sp>
        <p:nvSpPr>
          <p:cNvPr id="1700866" name="Rectangle 2"/>
          <p:cNvSpPr>
            <a:spLocks noGrp="1" noRot="1" noChangeAspect="1" noChangeArrowheads="1" noTextEdit="1"/>
          </p:cNvSpPr>
          <p:nvPr>
            <p:ph type="sldImg" idx="4294967295"/>
          </p:nvPr>
        </p:nvSpPr>
        <p:spPr>
          <a:ln/>
        </p:spPr>
      </p:sp>
      <p:sp>
        <p:nvSpPr>
          <p:cNvPr id="170086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2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630235-D9D1-4B73-AEA5-620B0686F567}" type="slidenum">
              <a:rPr lang="en-US" altLang="zh-CN" smtClean="0"/>
              <a:pPr eaLnBrk="1" hangingPunct="1"/>
              <a:t>22</a:t>
            </a:fld>
            <a:endParaRPr lang="en-US" altLang="zh-CN" smtClean="0"/>
          </a:p>
        </p:txBody>
      </p:sp>
      <p:sp>
        <p:nvSpPr>
          <p:cNvPr id="1702914" name="Rectangle 2"/>
          <p:cNvSpPr>
            <a:spLocks noGrp="1" noRot="1" noChangeAspect="1" noChangeArrowheads="1" noTextEdit="1"/>
          </p:cNvSpPr>
          <p:nvPr>
            <p:ph type="sldImg" idx="4294967295"/>
          </p:nvPr>
        </p:nvSpPr>
        <p:spPr>
          <a:ln/>
        </p:spPr>
      </p:sp>
      <p:sp>
        <p:nvSpPr>
          <p:cNvPr id="170291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4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F532A2-C739-468F-89AF-0C00BD696945}" type="slidenum">
              <a:rPr lang="en-US" altLang="zh-CN" smtClean="0"/>
              <a:pPr eaLnBrk="1" hangingPunct="1"/>
              <a:t>23</a:t>
            </a:fld>
            <a:endParaRPr lang="en-US" altLang="zh-CN" smtClean="0"/>
          </a:p>
        </p:txBody>
      </p:sp>
      <p:sp>
        <p:nvSpPr>
          <p:cNvPr id="1704962" name="Rectangle 2"/>
          <p:cNvSpPr>
            <a:spLocks noGrp="1" noRot="1" noChangeAspect="1" noChangeArrowheads="1" noTextEdit="1"/>
          </p:cNvSpPr>
          <p:nvPr>
            <p:ph type="sldImg" idx="4294967295"/>
          </p:nvPr>
        </p:nvSpPr>
        <p:spPr>
          <a:ln/>
        </p:spPr>
      </p:sp>
      <p:sp>
        <p:nvSpPr>
          <p:cNvPr id="170496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70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4825FB0-1C6F-4C32-81F9-CDF41DE68A29}" type="slidenum">
              <a:rPr lang="en-US" altLang="zh-CN" smtClean="0"/>
              <a:pPr eaLnBrk="1" hangingPunct="1"/>
              <a:t>24</a:t>
            </a:fld>
            <a:endParaRPr lang="en-US" altLang="zh-CN" smtClean="0"/>
          </a:p>
        </p:txBody>
      </p:sp>
      <p:sp>
        <p:nvSpPr>
          <p:cNvPr id="1707010" name="Rectangle 2"/>
          <p:cNvSpPr>
            <a:spLocks noGrp="1" noRot="1" noChangeAspect="1" noChangeArrowheads="1" noTextEdit="1"/>
          </p:cNvSpPr>
          <p:nvPr>
            <p:ph type="sldImg" idx="4294967295"/>
          </p:nvPr>
        </p:nvSpPr>
        <p:spPr>
          <a:ln/>
        </p:spPr>
      </p:sp>
      <p:sp>
        <p:nvSpPr>
          <p:cNvPr id="170701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9AA3F03-B3AE-4D6E-89B2-003B1523F50D}" type="slidenum">
              <a:rPr lang="en-US" altLang="zh-CN" smtClean="0"/>
              <a:pPr eaLnBrk="1" hangingPunct="1"/>
              <a:t>25</a:t>
            </a:fld>
            <a:endParaRPr lang="en-US" altLang="zh-CN" smtClean="0"/>
          </a:p>
        </p:txBody>
      </p:sp>
      <p:sp>
        <p:nvSpPr>
          <p:cNvPr id="1709058" name="Rectangle 2"/>
          <p:cNvSpPr>
            <a:spLocks noGrp="1" noRot="1" noChangeAspect="1" noChangeArrowheads="1" noTextEdit="1"/>
          </p:cNvSpPr>
          <p:nvPr>
            <p:ph type="sldImg" idx="4294967295"/>
          </p:nvPr>
        </p:nvSpPr>
        <p:spPr>
          <a:ln/>
        </p:spPr>
      </p:sp>
      <p:sp>
        <p:nvSpPr>
          <p:cNvPr id="170905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1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CE8E16B-83F9-4F02-95B6-488279D92052}" type="slidenum">
              <a:rPr lang="en-US" altLang="zh-CN" smtClean="0"/>
              <a:pPr eaLnBrk="1" hangingPunct="1"/>
              <a:t>26</a:t>
            </a:fld>
            <a:endParaRPr lang="en-US" altLang="zh-CN" smtClean="0"/>
          </a:p>
        </p:txBody>
      </p:sp>
      <p:sp>
        <p:nvSpPr>
          <p:cNvPr id="1711106" name="Rectangle 2"/>
          <p:cNvSpPr>
            <a:spLocks noGrp="1" noRot="1" noChangeAspect="1" noChangeArrowheads="1" noTextEdit="1"/>
          </p:cNvSpPr>
          <p:nvPr>
            <p:ph type="sldImg" idx="4294967295"/>
          </p:nvPr>
        </p:nvSpPr>
        <p:spPr>
          <a:ln/>
        </p:spPr>
      </p:sp>
      <p:sp>
        <p:nvSpPr>
          <p:cNvPr id="171110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3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0B829CD-80BC-4C3D-AD43-FA8CD8D2A536}" type="slidenum">
              <a:rPr lang="en-US" altLang="zh-CN" smtClean="0">
                <a:latin typeface="Arial" panose="020B0604020202020204" pitchFamily="34" charset="0"/>
              </a:rPr>
              <a:pPr/>
              <a:t>27</a:t>
            </a:fld>
            <a:endParaRPr lang="en-US" altLang="zh-CN" smtClean="0">
              <a:latin typeface="Arial" panose="020B0604020202020204" pitchFamily="34" charset="0"/>
            </a:endParaRPr>
          </a:p>
        </p:txBody>
      </p:sp>
      <p:sp>
        <p:nvSpPr>
          <p:cNvPr id="1713154" name="Rectangle 2"/>
          <p:cNvSpPr>
            <a:spLocks noGrp="1" noRot="1" noChangeAspect="1" noChangeArrowheads="1" noTextEdit="1"/>
          </p:cNvSpPr>
          <p:nvPr>
            <p:ph type="sldImg" idx="4294967295"/>
          </p:nvPr>
        </p:nvSpPr>
        <p:spPr>
          <a:ln/>
        </p:spPr>
      </p:sp>
      <p:sp>
        <p:nvSpPr>
          <p:cNvPr id="171315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5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C9365CD-C2E0-4CC5-B745-3B4100742328}" type="slidenum">
              <a:rPr lang="en-US" altLang="zh-CN" smtClean="0">
                <a:latin typeface="Arial" panose="020B0604020202020204" pitchFamily="34" charset="0"/>
              </a:rPr>
              <a:pPr/>
              <a:t>28</a:t>
            </a:fld>
            <a:endParaRPr lang="en-US" altLang="zh-CN" smtClean="0">
              <a:latin typeface="Arial" panose="020B0604020202020204" pitchFamily="34" charset="0"/>
            </a:endParaRPr>
          </a:p>
        </p:txBody>
      </p:sp>
      <p:sp>
        <p:nvSpPr>
          <p:cNvPr id="1715202" name="Rectangle 2"/>
          <p:cNvSpPr>
            <a:spLocks noGrp="1" noRot="1" noChangeAspect="1" noChangeArrowheads="1" noTextEdit="1"/>
          </p:cNvSpPr>
          <p:nvPr>
            <p:ph type="sldImg" idx="4294967295"/>
          </p:nvPr>
        </p:nvSpPr>
        <p:spPr>
          <a:ln/>
        </p:spPr>
      </p:sp>
      <p:sp>
        <p:nvSpPr>
          <p:cNvPr id="171520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7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90111B5-DB45-41C0-83A0-3C77D0435CF6}" type="slidenum">
              <a:rPr lang="en-US" altLang="zh-CN" smtClean="0"/>
              <a:pPr eaLnBrk="1" hangingPunct="1"/>
              <a:t>29</a:t>
            </a:fld>
            <a:endParaRPr lang="en-US" altLang="zh-CN" smtClean="0"/>
          </a:p>
        </p:txBody>
      </p:sp>
      <p:sp>
        <p:nvSpPr>
          <p:cNvPr id="1717250" name="Rectangle 2"/>
          <p:cNvSpPr>
            <a:spLocks noGrp="1" noRot="1" noChangeAspect="1" noChangeArrowheads="1" noTextEdit="1"/>
          </p:cNvSpPr>
          <p:nvPr>
            <p:ph type="sldImg" idx="4294967295"/>
          </p:nvPr>
        </p:nvSpPr>
        <p:spPr>
          <a:ln/>
        </p:spPr>
      </p:sp>
      <p:sp>
        <p:nvSpPr>
          <p:cNvPr id="171725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2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9A1E9B6-4F5F-4863-87FD-B04003A31150}" type="slidenum">
              <a:rPr lang="en-US" altLang="zh-CN" smtClean="0"/>
              <a:pPr eaLnBrk="1" hangingPunct="1"/>
              <a:t>33</a:t>
            </a:fld>
            <a:endParaRPr lang="en-US" altLang="zh-CN" smtClean="0"/>
          </a:p>
        </p:txBody>
      </p:sp>
      <p:sp>
        <p:nvSpPr>
          <p:cNvPr id="1722370" name="Rectangle 2"/>
          <p:cNvSpPr>
            <a:spLocks noGrp="1" noRot="1" noChangeAspect="1" noChangeArrowheads="1" noTextEdit="1"/>
          </p:cNvSpPr>
          <p:nvPr>
            <p:ph type="sldImg" idx="4294967295"/>
          </p:nvPr>
        </p:nvSpPr>
        <p:spPr>
          <a:ln/>
        </p:spPr>
      </p:sp>
      <p:sp>
        <p:nvSpPr>
          <p:cNvPr id="172237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44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6B80C94-DF3E-4F7E-B45A-396E2B4F52C0}" type="slidenum">
              <a:rPr lang="en-US" altLang="zh-CN" smtClean="0">
                <a:latin typeface="Arial" panose="020B0604020202020204" pitchFamily="34" charset="0"/>
              </a:rPr>
              <a:pPr/>
              <a:t>34</a:t>
            </a:fld>
            <a:endParaRPr lang="en-US" altLang="zh-CN" smtClean="0">
              <a:latin typeface="Arial" panose="020B0604020202020204" pitchFamily="34" charset="0"/>
            </a:endParaRPr>
          </a:p>
        </p:txBody>
      </p:sp>
      <p:sp>
        <p:nvSpPr>
          <p:cNvPr id="1724418" name="Rectangle 2"/>
          <p:cNvSpPr>
            <a:spLocks noGrp="1" noRot="1" noChangeAspect="1" noChangeArrowheads="1" noTextEdit="1"/>
          </p:cNvSpPr>
          <p:nvPr>
            <p:ph type="sldImg" idx="4294967295"/>
          </p:nvPr>
        </p:nvSpPr>
        <p:spPr>
          <a:ln/>
        </p:spPr>
      </p:sp>
      <p:sp>
        <p:nvSpPr>
          <p:cNvPr id="172441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64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BBCA01-3E0E-4124-BCA1-EFED5C52637A}" type="slidenum">
              <a:rPr lang="en-US" altLang="zh-CN" smtClean="0"/>
              <a:pPr eaLnBrk="1" hangingPunct="1"/>
              <a:t>35</a:t>
            </a:fld>
            <a:endParaRPr lang="en-US" altLang="zh-CN" smtClean="0"/>
          </a:p>
        </p:txBody>
      </p:sp>
      <p:sp>
        <p:nvSpPr>
          <p:cNvPr id="1726466" name="Rectangle 2"/>
          <p:cNvSpPr>
            <a:spLocks noGrp="1" noRot="1" noChangeAspect="1" noChangeArrowheads="1" noTextEdit="1"/>
          </p:cNvSpPr>
          <p:nvPr>
            <p:ph type="sldImg" idx="4294967295"/>
          </p:nvPr>
        </p:nvSpPr>
        <p:spPr>
          <a:ln/>
        </p:spPr>
      </p:sp>
      <p:sp>
        <p:nvSpPr>
          <p:cNvPr id="172646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85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8A8861F-25BF-48B5-A6FF-BFC8E99438FC}" type="slidenum">
              <a:rPr lang="en-US" altLang="zh-CN" smtClean="0"/>
              <a:pPr eaLnBrk="1" hangingPunct="1"/>
              <a:t>36</a:t>
            </a:fld>
            <a:endParaRPr lang="en-US" altLang="zh-CN" smtClean="0"/>
          </a:p>
        </p:txBody>
      </p:sp>
      <p:sp>
        <p:nvSpPr>
          <p:cNvPr id="1728514" name="Rectangle 2"/>
          <p:cNvSpPr>
            <a:spLocks noGrp="1" noRot="1" noChangeAspect="1" noChangeArrowheads="1" noTextEdit="1"/>
          </p:cNvSpPr>
          <p:nvPr>
            <p:ph type="sldImg" idx="4294967295"/>
          </p:nvPr>
        </p:nvSpPr>
        <p:spPr>
          <a:ln/>
        </p:spPr>
      </p:sp>
      <p:sp>
        <p:nvSpPr>
          <p:cNvPr id="172851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D714FB-2D7F-45A7-B860-942F11ECCFF2}" type="slidenum">
              <a:rPr lang="en-US" altLang="zh-CN" smtClean="0"/>
              <a:pPr eaLnBrk="1" hangingPunct="1"/>
              <a:t>37</a:t>
            </a:fld>
            <a:endParaRPr lang="en-US" altLang="zh-CN" smtClean="0"/>
          </a:p>
        </p:txBody>
      </p:sp>
      <p:sp>
        <p:nvSpPr>
          <p:cNvPr id="1730562" name="Rectangle 2"/>
          <p:cNvSpPr>
            <a:spLocks noGrp="1" noRot="1" noChangeAspect="1" noChangeArrowheads="1" noTextEdit="1"/>
          </p:cNvSpPr>
          <p:nvPr>
            <p:ph type="sldImg" idx="4294967295"/>
          </p:nvPr>
        </p:nvSpPr>
        <p:spPr>
          <a:ln/>
        </p:spPr>
      </p:sp>
      <p:sp>
        <p:nvSpPr>
          <p:cNvPr id="173056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26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37F27D-24FA-4AAF-8148-E3A863E45EBF}" type="slidenum">
              <a:rPr lang="en-US" altLang="zh-CN" smtClean="0"/>
              <a:pPr eaLnBrk="1" hangingPunct="1"/>
              <a:t>38</a:t>
            </a:fld>
            <a:endParaRPr lang="en-US" altLang="zh-CN" smtClean="0"/>
          </a:p>
        </p:txBody>
      </p:sp>
      <p:sp>
        <p:nvSpPr>
          <p:cNvPr id="1732610" name="Rectangle 2"/>
          <p:cNvSpPr>
            <a:spLocks noGrp="1" noRot="1" noChangeAspect="1" noChangeArrowheads="1" noTextEdit="1"/>
          </p:cNvSpPr>
          <p:nvPr>
            <p:ph type="sldImg" idx="4294967295"/>
          </p:nvPr>
        </p:nvSpPr>
        <p:spPr>
          <a:ln/>
        </p:spPr>
      </p:sp>
      <p:sp>
        <p:nvSpPr>
          <p:cNvPr id="173261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46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72A22D0-AEC5-4B59-85EA-4893BD28F925}" type="slidenum">
              <a:rPr lang="en-US" altLang="zh-CN" smtClean="0"/>
              <a:pPr eaLnBrk="1" hangingPunct="1"/>
              <a:t>39</a:t>
            </a:fld>
            <a:endParaRPr lang="en-US" altLang="zh-CN" smtClean="0"/>
          </a:p>
        </p:txBody>
      </p:sp>
      <p:sp>
        <p:nvSpPr>
          <p:cNvPr id="1734658" name="Rectangle 2"/>
          <p:cNvSpPr>
            <a:spLocks noGrp="1" noRot="1" noChangeAspect="1" noChangeArrowheads="1" noTextEdit="1"/>
          </p:cNvSpPr>
          <p:nvPr>
            <p:ph type="sldImg" idx="4294967295"/>
          </p:nvPr>
        </p:nvSpPr>
        <p:spPr>
          <a:ln/>
        </p:spPr>
      </p:sp>
      <p:sp>
        <p:nvSpPr>
          <p:cNvPr id="173465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67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A05B5F6-F857-433B-A538-E1E704FBE2E9}" type="slidenum">
              <a:rPr lang="en-US" altLang="zh-CN" smtClean="0"/>
              <a:pPr eaLnBrk="1" hangingPunct="1"/>
              <a:t>40</a:t>
            </a:fld>
            <a:endParaRPr lang="en-US" altLang="zh-CN" smtClean="0"/>
          </a:p>
        </p:txBody>
      </p:sp>
      <p:sp>
        <p:nvSpPr>
          <p:cNvPr id="1736706" name="Rectangle 2"/>
          <p:cNvSpPr>
            <a:spLocks noGrp="1" noRot="1" noChangeAspect="1" noChangeArrowheads="1" noTextEdit="1"/>
          </p:cNvSpPr>
          <p:nvPr>
            <p:ph type="sldImg" idx="4294967295"/>
          </p:nvPr>
        </p:nvSpPr>
        <p:spPr>
          <a:ln/>
        </p:spPr>
      </p:sp>
      <p:sp>
        <p:nvSpPr>
          <p:cNvPr id="173670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87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512D402-0267-4D64-9F97-BF4EB2882332}" type="slidenum">
              <a:rPr lang="en-US" altLang="zh-CN" smtClean="0"/>
              <a:pPr eaLnBrk="1" hangingPunct="1"/>
              <a:t>41</a:t>
            </a:fld>
            <a:endParaRPr lang="en-US" altLang="zh-CN" smtClean="0"/>
          </a:p>
        </p:txBody>
      </p:sp>
      <p:sp>
        <p:nvSpPr>
          <p:cNvPr id="1738754" name="Rectangle 2"/>
          <p:cNvSpPr>
            <a:spLocks noGrp="1" noRot="1" noChangeAspect="1" noChangeArrowheads="1" noTextEdit="1"/>
          </p:cNvSpPr>
          <p:nvPr>
            <p:ph type="sldImg" idx="4294967295"/>
          </p:nvPr>
        </p:nvSpPr>
        <p:spPr>
          <a:ln/>
        </p:spPr>
      </p:sp>
      <p:sp>
        <p:nvSpPr>
          <p:cNvPr id="173875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DC1AB27-9B3A-48F6-BDA6-EC7FC505DBEC}" type="slidenum">
              <a:rPr lang="en-US" altLang="zh-CN" smtClean="0"/>
              <a:pPr eaLnBrk="1" hangingPunct="1"/>
              <a:t>42</a:t>
            </a:fld>
            <a:endParaRPr lang="en-US" altLang="zh-CN" smtClean="0"/>
          </a:p>
        </p:txBody>
      </p:sp>
      <p:sp>
        <p:nvSpPr>
          <p:cNvPr id="1740802" name="Rectangle 2"/>
          <p:cNvSpPr>
            <a:spLocks noGrp="1" noRot="1" noChangeAspect="1" noChangeArrowheads="1" noTextEdit="1"/>
          </p:cNvSpPr>
          <p:nvPr>
            <p:ph type="sldImg" idx="4294967295"/>
          </p:nvPr>
        </p:nvSpPr>
        <p:spPr>
          <a:ln/>
        </p:spPr>
      </p:sp>
      <p:sp>
        <p:nvSpPr>
          <p:cNvPr id="174080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28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3114F6F-1A0B-404A-9F7F-62ACE8A5AE9F}" type="slidenum">
              <a:rPr lang="en-US" altLang="zh-CN" smtClean="0"/>
              <a:pPr eaLnBrk="1" hangingPunct="1"/>
              <a:t>43</a:t>
            </a:fld>
            <a:endParaRPr lang="en-US" altLang="zh-CN" smtClean="0"/>
          </a:p>
        </p:txBody>
      </p:sp>
      <p:sp>
        <p:nvSpPr>
          <p:cNvPr id="1742850" name="Rectangle 2"/>
          <p:cNvSpPr>
            <a:spLocks noGrp="1" noRot="1" noChangeAspect="1" noChangeArrowheads="1" noTextEdit="1"/>
          </p:cNvSpPr>
          <p:nvPr>
            <p:ph type="sldImg" idx="4294967295"/>
          </p:nvPr>
        </p:nvSpPr>
        <p:spPr>
          <a:ln/>
        </p:spPr>
      </p:sp>
      <p:sp>
        <p:nvSpPr>
          <p:cNvPr id="174285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48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B1A7908-6949-48F2-9CFB-148CDDEA1063}" type="slidenum">
              <a:rPr lang="en-US" altLang="zh-CN" smtClean="0"/>
              <a:pPr eaLnBrk="1" hangingPunct="1"/>
              <a:t>44</a:t>
            </a:fld>
            <a:endParaRPr lang="en-US" altLang="zh-CN" smtClean="0"/>
          </a:p>
        </p:txBody>
      </p:sp>
      <p:sp>
        <p:nvSpPr>
          <p:cNvPr id="1744898" name="Rectangle 2"/>
          <p:cNvSpPr>
            <a:spLocks noGrp="1" noRot="1" noChangeAspect="1" noChangeArrowheads="1" noTextEdit="1"/>
          </p:cNvSpPr>
          <p:nvPr>
            <p:ph type="sldImg" idx="4294967295"/>
          </p:nvPr>
        </p:nvSpPr>
        <p:spPr>
          <a:ln/>
        </p:spPr>
      </p:sp>
      <p:sp>
        <p:nvSpPr>
          <p:cNvPr id="174489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69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CFB493C-4898-4DF9-BFEB-7108A0A942FD}" type="slidenum">
              <a:rPr lang="en-US" altLang="zh-CN" smtClean="0"/>
              <a:pPr eaLnBrk="1" hangingPunct="1"/>
              <a:t>45</a:t>
            </a:fld>
            <a:endParaRPr lang="en-US" altLang="zh-CN" smtClean="0"/>
          </a:p>
        </p:txBody>
      </p:sp>
      <p:sp>
        <p:nvSpPr>
          <p:cNvPr id="1746946" name="Rectangle 2"/>
          <p:cNvSpPr>
            <a:spLocks noGrp="1" noRot="1" noChangeAspect="1" noChangeArrowheads="1" noTextEdit="1"/>
          </p:cNvSpPr>
          <p:nvPr>
            <p:ph type="sldImg" idx="4294967295"/>
          </p:nvPr>
        </p:nvSpPr>
        <p:spPr>
          <a:ln/>
        </p:spPr>
      </p:sp>
      <p:sp>
        <p:nvSpPr>
          <p:cNvPr id="174694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89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D91520A-8A49-4A7D-AE7A-586B9D0F0DBE}" type="slidenum">
              <a:rPr lang="en-US" altLang="zh-CN" smtClean="0"/>
              <a:pPr eaLnBrk="1" hangingPunct="1"/>
              <a:t>46</a:t>
            </a:fld>
            <a:endParaRPr lang="en-US" altLang="zh-CN" smtClean="0"/>
          </a:p>
        </p:txBody>
      </p:sp>
      <p:sp>
        <p:nvSpPr>
          <p:cNvPr id="1748994" name="Rectangle 2"/>
          <p:cNvSpPr>
            <a:spLocks noGrp="1" noRot="1" noChangeAspect="1" noChangeArrowheads="1" noTextEdit="1"/>
          </p:cNvSpPr>
          <p:nvPr>
            <p:ph type="sldImg" idx="4294967295"/>
          </p:nvPr>
        </p:nvSpPr>
        <p:spPr>
          <a:ln/>
        </p:spPr>
      </p:sp>
      <p:sp>
        <p:nvSpPr>
          <p:cNvPr id="174899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31FD5AA-5429-4D1B-BC47-78805F87F274}" type="slidenum">
              <a:rPr lang="en-US" altLang="zh-CN" smtClean="0"/>
              <a:pPr eaLnBrk="1" hangingPunct="1"/>
              <a:t>47</a:t>
            </a:fld>
            <a:endParaRPr lang="en-US" altLang="zh-CN" smtClean="0"/>
          </a:p>
        </p:txBody>
      </p:sp>
      <p:sp>
        <p:nvSpPr>
          <p:cNvPr id="1751042" name="Rectangle 2"/>
          <p:cNvSpPr>
            <a:spLocks noGrp="1" noRot="1" noChangeAspect="1" noChangeArrowheads="1" noTextEdit="1"/>
          </p:cNvSpPr>
          <p:nvPr>
            <p:ph type="sldImg" idx="4294967295"/>
          </p:nvPr>
        </p:nvSpPr>
        <p:spPr>
          <a:ln/>
        </p:spPr>
      </p:sp>
      <p:sp>
        <p:nvSpPr>
          <p:cNvPr id="175104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41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32E1E73-872A-4116-AD2A-30A5DA20E01E}" type="slidenum">
              <a:rPr lang="en-US" altLang="zh-CN" smtClean="0"/>
              <a:pPr eaLnBrk="1" hangingPunct="1"/>
              <a:t>50</a:t>
            </a:fld>
            <a:endParaRPr lang="en-US" altLang="zh-CN" smtClean="0"/>
          </a:p>
        </p:txBody>
      </p:sp>
      <p:sp>
        <p:nvSpPr>
          <p:cNvPr id="1754114" name="Rectangle 2"/>
          <p:cNvSpPr>
            <a:spLocks noGrp="1" noRot="1" noChangeAspect="1" noChangeArrowheads="1" noTextEdit="1"/>
          </p:cNvSpPr>
          <p:nvPr>
            <p:ph type="sldImg" idx="4294967295"/>
          </p:nvPr>
        </p:nvSpPr>
        <p:spPr>
          <a:ln/>
        </p:spPr>
      </p:sp>
      <p:sp>
        <p:nvSpPr>
          <p:cNvPr id="175411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61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8B811C7-B377-4386-BD55-81ADDE646FEE}" type="slidenum">
              <a:rPr lang="en-US" altLang="zh-CN" smtClean="0"/>
              <a:pPr eaLnBrk="1" hangingPunct="1"/>
              <a:t>51</a:t>
            </a:fld>
            <a:endParaRPr lang="en-US" altLang="zh-CN" smtClean="0"/>
          </a:p>
        </p:txBody>
      </p:sp>
      <p:sp>
        <p:nvSpPr>
          <p:cNvPr id="1756162" name="Rectangle 2"/>
          <p:cNvSpPr>
            <a:spLocks noGrp="1" noRot="1" noChangeAspect="1" noChangeArrowheads="1" noTextEdit="1"/>
          </p:cNvSpPr>
          <p:nvPr>
            <p:ph type="sldImg" idx="4294967295"/>
          </p:nvPr>
        </p:nvSpPr>
        <p:spPr>
          <a:ln/>
        </p:spPr>
      </p:sp>
      <p:sp>
        <p:nvSpPr>
          <p:cNvPr id="175616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82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C5274BC-5453-4585-9288-2327AF512589}" type="slidenum">
              <a:rPr lang="en-US" altLang="zh-CN" smtClean="0"/>
              <a:pPr eaLnBrk="1" hangingPunct="1"/>
              <a:t>52</a:t>
            </a:fld>
            <a:endParaRPr lang="en-US" altLang="zh-CN" smtClean="0"/>
          </a:p>
        </p:txBody>
      </p:sp>
      <p:sp>
        <p:nvSpPr>
          <p:cNvPr id="1758210" name="Rectangle 2"/>
          <p:cNvSpPr>
            <a:spLocks noGrp="1" noRot="1" noChangeAspect="1" noChangeArrowheads="1" noTextEdit="1"/>
          </p:cNvSpPr>
          <p:nvPr>
            <p:ph type="sldImg" idx="4294967295"/>
          </p:nvPr>
        </p:nvSpPr>
        <p:spPr>
          <a:ln/>
        </p:spPr>
      </p:sp>
      <p:sp>
        <p:nvSpPr>
          <p:cNvPr id="175821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02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4698502-F235-41D6-B57E-982C7EAC858F}" type="slidenum">
              <a:rPr lang="en-US" altLang="zh-CN" smtClean="0"/>
              <a:pPr eaLnBrk="1" hangingPunct="1"/>
              <a:t>53</a:t>
            </a:fld>
            <a:endParaRPr lang="en-US" altLang="zh-CN" smtClean="0"/>
          </a:p>
        </p:txBody>
      </p:sp>
      <p:sp>
        <p:nvSpPr>
          <p:cNvPr id="1760258" name="Rectangle 2"/>
          <p:cNvSpPr>
            <a:spLocks noGrp="1" noRot="1" noChangeAspect="1" noChangeArrowheads="1" noTextEdit="1"/>
          </p:cNvSpPr>
          <p:nvPr>
            <p:ph type="sldImg" idx="4294967295"/>
          </p:nvPr>
        </p:nvSpPr>
        <p:spPr>
          <a:ln/>
        </p:spPr>
      </p:sp>
      <p:sp>
        <p:nvSpPr>
          <p:cNvPr id="176025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23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3DC33B5-E90D-47E6-ACF4-3F1133AAE6A0}" type="slidenum">
              <a:rPr lang="en-US" altLang="zh-CN" smtClean="0"/>
              <a:pPr eaLnBrk="1" hangingPunct="1"/>
              <a:t>54</a:t>
            </a:fld>
            <a:endParaRPr lang="en-US" altLang="zh-CN" smtClean="0"/>
          </a:p>
        </p:txBody>
      </p:sp>
      <p:sp>
        <p:nvSpPr>
          <p:cNvPr id="1762306" name="Rectangle 2"/>
          <p:cNvSpPr>
            <a:spLocks noGrp="1" noRot="1" noChangeAspect="1" noChangeArrowheads="1" noTextEdit="1"/>
          </p:cNvSpPr>
          <p:nvPr>
            <p:ph type="sldImg" idx="4294967295"/>
          </p:nvPr>
        </p:nvSpPr>
        <p:spPr>
          <a:ln/>
        </p:spPr>
      </p:sp>
      <p:sp>
        <p:nvSpPr>
          <p:cNvPr id="176230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43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BF64B9-D238-489E-94EB-00AF0E5BDDA3}" type="slidenum">
              <a:rPr lang="en-US" altLang="zh-CN" smtClean="0"/>
              <a:pPr eaLnBrk="1" hangingPunct="1"/>
              <a:t>55</a:t>
            </a:fld>
            <a:endParaRPr lang="en-US" altLang="zh-CN" smtClean="0"/>
          </a:p>
        </p:txBody>
      </p:sp>
      <p:sp>
        <p:nvSpPr>
          <p:cNvPr id="1764354" name="Rectangle 2"/>
          <p:cNvSpPr>
            <a:spLocks noGrp="1" noRot="1" noChangeAspect="1" noChangeArrowheads="1" noTextEdit="1"/>
          </p:cNvSpPr>
          <p:nvPr>
            <p:ph type="sldImg" idx="4294967295"/>
          </p:nvPr>
        </p:nvSpPr>
        <p:spPr>
          <a:ln/>
        </p:spPr>
      </p:sp>
      <p:sp>
        <p:nvSpPr>
          <p:cNvPr id="176435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64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FEB4D01-9C69-40CC-BBCE-82F15F0C2C7D}" type="slidenum">
              <a:rPr lang="en-US" altLang="zh-CN" smtClean="0"/>
              <a:pPr eaLnBrk="1" hangingPunct="1"/>
              <a:t>56</a:t>
            </a:fld>
            <a:endParaRPr lang="en-US" altLang="zh-CN" smtClean="0"/>
          </a:p>
        </p:txBody>
      </p:sp>
      <p:sp>
        <p:nvSpPr>
          <p:cNvPr id="1766402" name="Rectangle 2"/>
          <p:cNvSpPr>
            <a:spLocks noGrp="1" noRot="1" noChangeAspect="1" noChangeArrowheads="1" noTextEdit="1"/>
          </p:cNvSpPr>
          <p:nvPr>
            <p:ph type="sldImg" idx="4294967295"/>
          </p:nvPr>
        </p:nvSpPr>
        <p:spPr>
          <a:ln/>
        </p:spPr>
      </p:sp>
      <p:sp>
        <p:nvSpPr>
          <p:cNvPr id="176640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84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FA1EF14-ABB4-426A-9BC8-022EE29BCEB3}" type="slidenum">
              <a:rPr lang="en-US" altLang="zh-CN" smtClean="0"/>
              <a:pPr eaLnBrk="1" hangingPunct="1"/>
              <a:t>57</a:t>
            </a:fld>
            <a:endParaRPr lang="en-US" altLang="zh-CN" smtClean="0"/>
          </a:p>
        </p:txBody>
      </p:sp>
      <p:sp>
        <p:nvSpPr>
          <p:cNvPr id="1768450" name="Rectangle 2"/>
          <p:cNvSpPr>
            <a:spLocks noGrp="1" noRot="1" noChangeAspect="1" noChangeArrowheads="1" noTextEdit="1"/>
          </p:cNvSpPr>
          <p:nvPr>
            <p:ph type="sldImg" idx="4294967295"/>
          </p:nvPr>
        </p:nvSpPr>
        <p:spPr>
          <a:ln/>
        </p:spPr>
      </p:sp>
      <p:sp>
        <p:nvSpPr>
          <p:cNvPr id="176845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04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1D5DC21-38E4-4ACE-B622-73A3F55F5AEC}" type="slidenum">
              <a:rPr lang="en-US" altLang="zh-CN" smtClean="0"/>
              <a:pPr eaLnBrk="1" hangingPunct="1"/>
              <a:t>58</a:t>
            </a:fld>
            <a:endParaRPr lang="en-US" altLang="zh-CN" smtClean="0"/>
          </a:p>
        </p:txBody>
      </p:sp>
      <p:sp>
        <p:nvSpPr>
          <p:cNvPr id="1770498" name="Rectangle 2"/>
          <p:cNvSpPr>
            <a:spLocks noGrp="1" noRot="1" noChangeAspect="1" noChangeArrowheads="1" noTextEdit="1"/>
          </p:cNvSpPr>
          <p:nvPr>
            <p:ph type="sldImg" idx="4294967295"/>
          </p:nvPr>
        </p:nvSpPr>
        <p:spPr>
          <a:ln/>
        </p:spPr>
      </p:sp>
      <p:sp>
        <p:nvSpPr>
          <p:cNvPr id="177049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25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A06B83-E7B9-43D3-9D40-F2AF4DBA88A2}" type="slidenum">
              <a:rPr lang="en-US" altLang="zh-CN" smtClean="0"/>
              <a:pPr eaLnBrk="1" hangingPunct="1"/>
              <a:t>59</a:t>
            </a:fld>
            <a:endParaRPr lang="en-US" altLang="zh-CN" smtClean="0"/>
          </a:p>
        </p:txBody>
      </p:sp>
      <p:sp>
        <p:nvSpPr>
          <p:cNvPr id="1772546" name="Rectangle 2"/>
          <p:cNvSpPr>
            <a:spLocks noGrp="1" noRot="1" noChangeAspect="1" noChangeArrowheads="1" noTextEdit="1"/>
          </p:cNvSpPr>
          <p:nvPr>
            <p:ph type="sldImg" idx="4294967295"/>
          </p:nvPr>
        </p:nvSpPr>
        <p:spPr>
          <a:ln/>
        </p:spPr>
      </p:sp>
      <p:sp>
        <p:nvSpPr>
          <p:cNvPr id="177254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45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0657E49-11B7-4C86-973B-C48A816FB0CD}" type="slidenum">
              <a:rPr lang="en-US" altLang="zh-CN" smtClean="0"/>
              <a:pPr eaLnBrk="1" hangingPunct="1"/>
              <a:t>60</a:t>
            </a:fld>
            <a:endParaRPr lang="en-US" altLang="zh-CN" smtClean="0"/>
          </a:p>
        </p:txBody>
      </p:sp>
      <p:sp>
        <p:nvSpPr>
          <p:cNvPr id="1774594" name="Rectangle 2"/>
          <p:cNvSpPr>
            <a:spLocks noGrp="1" noRot="1" noChangeAspect="1" noChangeArrowheads="1" noTextEdit="1"/>
          </p:cNvSpPr>
          <p:nvPr>
            <p:ph type="sldImg" idx="4294967295"/>
          </p:nvPr>
        </p:nvSpPr>
        <p:spPr>
          <a:ln/>
        </p:spPr>
      </p:sp>
      <p:sp>
        <p:nvSpPr>
          <p:cNvPr id="177459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66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8C07546-CFC3-41FA-A202-ADE0ED8CDC6B}" type="slidenum">
              <a:rPr lang="en-US" altLang="zh-CN" smtClean="0"/>
              <a:pPr eaLnBrk="1" hangingPunct="1"/>
              <a:t>61</a:t>
            </a:fld>
            <a:endParaRPr lang="en-US" altLang="zh-CN" smtClean="0"/>
          </a:p>
        </p:txBody>
      </p:sp>
      <p:sp>
        <p:nvSpPr>
          <p:cNvPr id="1776642" name="Rectangle 2"/>
          <p:cNvSpPr>
            <a:spLocks noGrp="1" noRot="1" noChangeAspect="1" noChangeArrowheads="1" noTextEdit="1"/>
          </p:cNvSpPr>
          <p:nvPr>
            <p:ph type="sldImg" idx="4294967295"/>
          </p:nvPr>
        </p:nvSpPr>
        <p:spPr>
          <a:ln/>
        </p:spPr>
      </p:sp>
      <p:sp>
        <p:nvSpPr>
          <p:cNvPr id="177664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86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53FC9FA-E75A-44BF-B2CC-382E101955E8}" type="slidenum">
              <a:rPr lang="en-US" altLang="zh-CN" smtClean="0"/>
              <a:pPr eaLnBrk="1" hangingPunct="1"/>
              <a:t>62</a:t>
            </a:fld>
            <a:endParaRPr lang="en-US" altLang="zh-CN" smtClean="0"/>
          </a:p>
        </p:txBody>
      </p:sp>
      <p:sp>
        <p:nvSpPr>
          <p:cNvPr id="1778690" name="Rectangle 2"/>
          <p:cNvSpPr>
            <a:spLocks noGrp="1" noRot="1" noChangeAspect="1" noChangeArrowheads="1" noTextEdit="1"/>
          </p:cNvSpPr>
          <p:nvPr>
            <p:ph type="sldImg" idx="4294967295"/>
          </p:nvPr>
        </p:nvSpPr>
        <p:spPr>
          <a:ln/>
        </p:spPr>
      </p:sp>
      <p:sp>
        <p:nvSpPr>
          <p:cNvPr id="177869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38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DEF555F-0DC7-4FB3-8C27-4628819C90B7}" type="slidenum">
              <a:rPr lang="en-US" altLang="zh-CN" smtClean="0"/>
              <a:pPr eaLnBrk="1" hangingPunct="1"/>
              <a:t>66</a:t>
            </a:fld>
            <a:endParaRPr lang="en-US" altLang="zh-CN" smtClean="0"/>
          </a:p>
        </p:txBody>
      </p:sp>
      <p:sp>
        <p:nvSpPr>
          <p:cNvPr id="1783810" name="Rectangle 2"/>
          <p:cNvSpPr>
            <a:spLocks noGrp="1" noRot="1" noChangeAspect="1" noChangeArrowheads="1" noTextEdit="1"/>
          </p:cNvSpPr>
          <p:nvPr>
            <p:ph type="sldImg" idx="4294967295"/>
          </p:nvPr>
        </p:nvSpPr>
        <p:spPr>
          <a:ln/>
        </p:spPr>
      </p:sp>
      <p:sp>
        <p:nvSpPr>
          <p:cNvPr id="178381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58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FF5FA8-3932-49F2-AE6A-24DDFDABC168}" type="slidenum">
              <a:rPr lang="en-US" altLang="zh-CN" smtClean="0"/>
              <a:pPr eaLnBrk="1" hangingPunct="1"/>
              <a:t>67</a:t>
            </a:fld>
            <a:endParaRPr lang="en-US" altLang="zh-CN" smtClean="0"/>
          </a:p>
        </p:txBody>
      </p:sp>
      <p:sp>
        <p:nvSpPr>
          <p:cNvPr id="1785858" name="Rectangle 2"/>
          <p:cNvSpPr>
            <a:spLocks noGrp="1" noRot="1" noChangeAspect="1" noChangeArrowheads="1" noTextEdit="1"/>
          </p:cNvSpPr>
          <p:nvPr>
            <p:ph type="sldImg" idx="4294967295"/>
          </p:nvPr>
        </p:nvSpPr>
        <p:spPr>
          <a:ln/>
        </p:spPr>
      </p:sp>
      <p:sp>
        <p:nvSpPr>
          <p:cNvPr id="178585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79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56E27EA-9456-45D6-88C3-5FB46734C9F4}" type="slidenum">
              <a:rPr lang="en-US" altLang="zh-CN" smtClean="0"/>
              <a:pPr eaLnBrk="1" hangingPunct="1"/>
              <a:t>68</a:t>
            </a:fld>
            <a:endParaRPr lang="en-US" altLang="zh-CN" smtClean="0"/>
          </a:p>
        </p:txBody>
      </p:sp>
      <p:sp>
        <p:nvSpPr>
          <p:cNvPr id="1787906" name="Rectangle 2"/>
          <p:cNvSpPr>
            <a:spLocks noGrp="1" noRot="1" noChangeAspect="1" noChangeArrowheads="1" noTextEdit="1"/>
          </p:cNvSpPr>
          <p:nvPr>
            <p:ph type="sldImg" idx="4294967295"/>
          </p:nvPr>
        </p:nvSpPr>
        <p:spPr>
          <a:ln/>
        </p:spPr>
      </p:sp>
      <p:sp>
        <p:nvSpPr>
          <p:cNvPr id="178790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99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B429073-892B-4721-BC0C-7029ED21F221}" type="slidenum">
              <a:rPr lang="en-US" altLang="zh-CN" smtClean="0"/>
              <a:pPr eaLnBrk="1" hangingPunct="1"/>
              <a:t>69</a:t>
            </a:fld>
            <a:endParaRPr lang="en-US" altLang="zh-CN" smtClean="0"/>
          </a:p>
        </p:txBody>
      </p:sp>
      <p:sp>
        <p:nvSpPr>
          <p:cNvPr id="1789954" name="Rectangle 2"/>
          <p:cNvSpPr>
            <a:spLocks noGrp="1" noRot="1" noChangeAspect="1" noChangeArrowheads="1" noTextEdit="1"/>
          </p:cNvSpPr>
          <p:nvPr>
            <p:ph type="sldImg" idx="4294967295"/>
          </p:nvPr>
        </p:nvSpPr>
        <p:spPr>
          <a:ln/>
        </p:spPr>
      </p:sp>
      <p:sp>
        <p:nvSpPr>
          <p:cNvPr id="178995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629517C-ACD5-4F3C-88A0-07845CB93C4C}" type="slidenum">
              <a:rPr lang="en-US" altLang="zh-CN" smtClean="0"/>
              <a:pPr eaLnBrk="1" hangingPunct="1"/>
              <a:t>70</a:t>
            </a:fld>
            <a:endParaRPr lang="en-US" altLang="zh-CN" smtClean="0"/>
          </a:p>
        </p:txBody>
      </p:sp>
      <p:sp>
        <p:nvSpPr>
          <p:cNvPr id="1792002" name="Rectangle 2"/>
          <p:cNvSpPr>
            <a:spLocks noGrp="1" noRot="1" noChangeAspect="1" noChangeArrowheads="1" noTextEdit="1"/>
          </p:cNvSpPr>
          <p:nvPr>
            <p:ph type="sldImg" idx="4294967295"/>
          </p:nvPr>
        </p:nvSpPr>
        <p:spPr>
          <a:ln/>
        </p:spPr>
      </p:sp>
      <p:sp>
        <p:nvSpPr>
          <p:cNvPr id="179200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40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906993-7D4F-4C25-89BB-F57E50FBF592}" type="slidenum">
              <a:rPr lang="en-US" altLang="zh-CN" smtClean="0"/>
              <a:pPr eaLnBrk="1" hangingPunct="1"/>
              <a:t>71</a:t>
            </a:fld>
            <a:endParaRPr lang="en-US" altLang="zh-CN" smtClean="0"/>
          </a:p>
        </p:txBody>
      </p:sp>
      <p:sp>
        <p:nvSpPr>
          <p:cNvPr id="1794050" name="Rectangle 2"/>
          <p:cNvSpPr>
            <a:spLocks noGrp="1" noRot="1" noChangeAspect="1" noChangeArrowheads="1" noTextEdit="1"/>
          </p:cNvSpPr>
          <p:nvPr>
            <p:ph type="sldImg" idx="4294967295"/>
          </p:nvPr>
        </p:nvSpPr>
        <p:spPr>
          <a:ln/>
        </p:spPr>
      </p:sp>
      <p:sp>
        <p:nvSpPr>
          <p:cNvPr id="179405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60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BA83C1-B348-495B-88EA-E671345D2604}" type="slidenum">
              <a:rPr lang="en-US" altLang="zh-CN" smtClean="0"/>
              <a:pPr eaLnBrk="1" hangingPunct="1"/>
              <a:t>72</a:t>
            </a:fld>
            <a:endParaRPr lang="en-US" altLang="zh-CN" smtClean="0"/>
          </a:p>
        </p:txBody>
      </p:sp>
      <p:sp>
        <p:nvSpPr>
          <p:cNvPr id="1796098" name="Rectangle 2"/>
          <p:cNvSpPr>
            <a:spLocks noGrp="1" noRot="1" noChangeAspect="1" noChangeArrowheads="1" noTextEdit="1"/>
          </p:cNvSpPr>
          <p:nvPr>
            <p:ph type="sldImg" idx="4294967295"/>
          </p:nvPr>
        </p:nvSpPr>
        <p:spPr>
          <a:ln/>
        </p:spPr>
      </p:sp>
      <p:sp>
        <p:nvSpPr>
          <p:cNvPr id="179609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81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7913750-5CF4-406A-AF05-62866261E3B9}" type="slidenum">
              <a:rPr lang="en-US" altLang="zh-CN" smtClean="0"/>
              <a:pPr eaLnBrk="1" hangingPunct="1"/>
              <a:t>73</a:t>
            </a:fld>
            <a:endParaRPr lang="en-US" altLang="zh-CN" smtClean="0"/>
          </a:p>
        </p:txBody>
      </p:sp>
      <p:sp>
        <p:nvSpPr>
          <p:cNvPr id="1798146" name="Rectangle 2"/>
          <p:cNvSpPr>
            <a:spLocks noGrp="1" noRot="1" noChangeAspect="1" noChangeArrowheads="1" noTextEdit="1"/>
          </p:cNvSpPr>
          <p:nvPr>
            <p:ph type="sldImg" idx="4294967295"/>
          </p:nvPr>
        </p:nvSpPr>
        <p:spPr>
          <a:ln/>
        </p:spPr>
      </p:sp>
      <p:sp>
        <p:nvSpPr>
          <p:cNvPr id="179814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8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AD0F805-264F-4810-A79C-601D9FE2D5BD}" type="slidenum">
              <a:rPr lang="en-US" altLang="zh-CN" smtClean="0"/>
              <a:pPr eaLnBrk="1" hangingPunct="1"/>
              <a:t>74</a:t>
            </a:fld>
            <a:endParaRPr lang="en-US" altLang="zh-CN" smtClean="0"/>
          </a:p>
        </p:txBody>
      </p:sp>
      <p:sp>
        <p:nvSpPr>
          <p:cNvPr id="1808386" name="Rectangle 2"/>
          <p:cNvSpPr>
            <a:spLocks noGrp="1" noRot="1" noChangeAspect="1" noChangeArrowheads="1" noTextEdit="1"/>
          </p:cNvSpPr>
          <p:nvPr>
            <p:ph type="sldImg" idx="4294967295"/>
          </p:nvPr>
        </p:nvSpPr>
        <p:spPr>
          <a:ln/>
        </p:spPr>
      </p:sp>
      <p:sp>
        <p:nvSpPr>
          <p:cNvPr id="180838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14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31EA6AB-2CD4-4BC5-B3AA-0FB7C3764A8D}" type="slidenum">
              <a:rPr lang="en-US" altLang="zh-CN" smtClean="0"/>
              <a:pPr eaLnBrk="1" hangingPunct="1"/>
              <a:t>76</a:t>
            </a:fld>
            <a:endParaRPr lang="en-US" altLang="zh-CN" smtClean="0"/>
          </a:p>
        </p:txBody>
      </p:sp>
      <p:sp>
        <p:nvSpPr>
          <p:cNvPr id="1811458" name="Rectangle 2"/>
          <p:cNvSpPr>
            <a:spLocks noGrp="1" noRot="1" noChangeAspect="1" noChangeArrowheads="1" noTextEdit="1"/>
          </p:cNvSpPr>
          <p:nvPr>
            <p:ph type="sldImg" idx="4294967295"/>
          </p:nvPr>
        </p:nvSpPr>
        <p:spPr>
          <a:ln/>
        </p:spPr>
      </p:sp>
      <p:sp>
        <p:nvSpPr>
          <p:cNvPr id="181145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6C57955F-A69E-4467-A82C-EE60FDDCFF32}" type="slidenum">
              <a:rPr lang="zh-CN" altLang="en-US"/>
              <a:pPr/>
              <a:t>‹#›</a:t>
            </a:fld>
            <a:endParaRPr lang="en-US" altLang="zh-CN"/>
          </a:p>
        </p:txBody>
      </p:sp>
    </p:spTree>
    <p:extLst>
      <p:ext uri="{BB962C8B-B14F-4D97-AF65-F5344CB8AC3E}">
        <p14:creationId xmlns:p14="http://schemas.microsoft.com/office/powerpoint/2010/main" val="3337999172"/>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EB7CA65C-4566-4F22-82C0-F7928AFB6C2C}" type="slidenum">
              <a:rPr lang="zh-CN" altLang="en-US"/>
              <a:pPr/>
              <a:t>‹#›</a:t>
            </a:fld>
            <a:endParaRPr lang="en-US" altLang="zh-CN"/>
          </a:p>
        </p:txBody>
      </p:sp>
    </p:spTree>
    <p:extLst>
      <p:ext uri="{BB962C8B-B14F-4D97-AF65-F5344CB8AC3E}">
        <p14:creationId xmlns:p14="http://schemas.microsoft.com/office/powerpoint/2010/main" val="1693508641"/>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3B45BCF-6D22-4878-8FB5-A81CDEA85949}" type="slidenum">
              <a:rPr lang="zh-CN" altLang="en-US"/>
              <a:pPr/>
              <a:t>‹#›</a:t>
            </a:fld>
            <a:endParaRPr lang="en-US" altLang="zh-CN"/>
          </a:p>
        </p:txBody>
      </p:sp>
    </p:spTree>
    <p:extLst>
      <p:ext uri="{BB962C8B-B14F-4D97-AF65-F5344CB8AC3E}">
        <p14:creationId xmlns:p14="http://schemas.microsoft.com/office/powerpoint/2010/main" val="2367071423"/>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C14A8425-2754-4992-85DA-093F73B1EF8D}" type="slidenum">
              <a:rPr lang="zh-CN" altLang="en-US"/>
              <a:pPr/>
              <a:t>‹#›</a:t>
            </a:fld>
            <a:endParaRPr lang="en-US" altLang="zh-CN"/>
          </a:p>
        </p:txBody>
      </p:sp>
    </p:spTree>
    <p:extLst>
      <p:ext uri="{BB962C8B-B14F-4D97-AF65-F5344CB8AC3E}">
        <p14:creationId xmlns:p14="http://schemas.microsoft.com/office/powerpoint/2010/main" val="97332707"/>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75364BCD-9FF8-4EEA-802F-02E81612248A}" type="slidenum">
              <a:rPr lang="zh-CN" altLang="en-US"/>
              <a:pPr/>
              <a:t>‹#›</a:t>
            </a:fld>
            <a:endParaRPr lang="en-US" altLang="zh-CN"/>
          </a:p>
        </p:txBody>
      </p:sp>
    </p:spTree>
    <p:extLst>
      <p:ext uri="{BB962C8B-B14F-4D97-AF65-F5344CB8AC3E}">
        <p14:creationId xmlns:p14="http://schemas.microsoft.com/office/powerpoint/2010/main" val="220865732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E924188-8841-4DE9-B734-E97410F80EA7}" type="slidenum">
              <a:rPr lang="zh-CN" altLang="en-US"/>
              <a:pPr/>
              <a:t>‹#›</a:t>
            </a:fld>
            <a:endParaRPr lang="en-US" altLang="zh-CN"/>
          </a:p>
        </p:txBody>
      </p:sp>
    </p:spTree>
    <p:extLst>
      <p:ext uri="{BB962C8B-B14F-4D97-AF65-F5344CB8AC3E}">
        <p14:creationId xmlns:p14="http://schemas.microsoft.com/office/powerpoint/2010/main" val="16060111"/>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EE0D0CB9-BE1A-4B7E-9987-D843BFDBDFA6}" type="slidenum">
              <a:rPr lang="zh-CN" altLang="en-US"/>
              <a:pPr/>
              <a:t>‹#›</a:t>
            </a:fld>
            <a:endParaRPr lang="en-US" altLang="zh-CN"/>
          </a:p>
        </p:txBody>
      </p:sp>
    </p:spTree>
    <p:extLst>
      <p:ext uri="{BB962C8B-B14F-4D97-AF65-F5344CB8AC3E}">
        <p14:creationId xmlns:p14="http://schemas.microsoft.com/office/powerpoint/2010/main" val="2695861276"/>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A0047895-56BC-40E7-B54D-786187ABECC8}" type="slidenum">
              <a:rPr lang="zh-CN" altLang="en-US"/>
              <a:pPr/>
              <a:t>‹#›</a:t>
            </a:fld>
            <a:endParaRPr lang="en-US" altLang="zh-CN"/>
          </a:p>
        </p:txBody>
      </p:sp>
    </p:spTree>
    <p:extLst>
      <p:ext uri="{BB962C8B-B14F-4D97-AF65-F5344CB8AC3E}">
        <p14:creationId xmlns:p14="http://schemas.microsoft.com/office/powerpoint/2010/main" val="2724851595"/>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3A5DC6C-E8EB-4CB9-82BE-2566C17B8596}" type="slidenum">
              <a:rPr lang="zh-CN" altLang="en-US"/>
              <a:pPr/>
              <a:t>‹#›</a:t>
            </a:fld>
            <a:endParaRPr lang="en-US" altLang="zh-CN"/>
          </a:p>
        </p:txBody>
      </p:sp>
    </p:spTree>
    <p:extLst>
      <p:ext uri="{BB962C8B-B14F-4D97-AF65-F5344CB8AC3E}">
        <p14:creationId xmlns:p14="http://schemas.microsoft.com/office/powerpoint/2010/main" val="1115482523"/>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20DFB998-1A56-45AA-8238-C823889BAE5F}" type="slidenum">
              <a:rPr lang="zh-CN" altLang="en-US"/>
              <a:pPr/>
              <a:t>‹#›</a:t>
            </a:fld>
            <a:endParaRPr lang="en-US" altLang="zh-CN"/>
          </a:p>
        </p:txBody>
      </p:sp>
    </p:spTree>
    <p:extLst>
      <p:ext uri="{BB962C8B-B14F-4D97-AF65-F5344CB8AC3E}">
        <p14:creationId xmlns:p14="http://schemas.microsoft.com/office/powerpoint/2010/main" val="48196966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D9DF3D8-F2BE-4C56-8077-B7A99E011FDE}" type="slidenum">
              <a:rPr lang="zh-CN" altLang="en-US"/>
              <a:pPr/>
              <a:t>‹#›</a:t>
            </a:fld>
            <a:endParaRPr lang="en-US" altLang="zh-CN"/>
          </a:p>
        </p:txBody>
      </p:sp>
    </p:spTree>
    <p:extLst>
      <p:ext uri="{BB962C8B-B14F-4D97-AF65-F5344CB8AC3E}">
        <p14:creationId xmlns:p14="http://schemas.microsoft.com/office/powerpoint/2010/main" val="787725478"/>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639285C9-D267-4602-BC5B-004CB60C2F6A}" type="slidenum">
              <a:rPr lang="zh-CN" altLang="en-US"/>
              <a:pPr/>
              <a:t>‹#›</a:t>
            </a:fld>
            <a:endParaRPr lang="en-US" altLang="zh-CN"/>
          </a:p>
        </p:txBody>
      </p:sp>
    </p:spTree>
    <p:extLst>
      <p:ext uri="{BB962C8B-B14F-4D97-AF65-F5344CB8AC3E}">
        <p14:creationId xmlns:p14="http://schemas.microsoft.com/office/powerpoint/2010/main" val="4102541545"/>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FD7FADE1-BAB0-4FD4-85EF-FEBC2CE45AFF}" type="slidenum">
              <a:rPr lang="zh-CN" altLang="en-US"/>
              <a:pPr/>
              <a:t>‹#›</a:t>
            </a:fld>
            <a:endParaRPr lang="en-US" altLang="zh-CN"/>
          </a:p>
        </p:txBody>
      </p:sp>
    </p:spTree>
    <p:extLst>
      <p:ext uri="{BB962C8B-B14F-4D97-AF65-F5344CB8AC3E}">
        <p14:creationId xmlns:p14="http://schemas.microsoft.com/office/powerpoint/2010/main" val="3762945494"/>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4D74A896-9AB5-4D15-8402-862059E5A9BA}" type="slidenum">
              <a:rPr lang="zh-CN" altLang="en-US"/>
              <a:pPr/>
              <a:t>‹#›</a:t>
            </a:fld>
            <a:endParaRPr lang="en-US" altLang="zh-CN"/>
          </a:p>
        </p:txBody>
      </p:sp>
    </p:spTree>
    <p:extLst>
      <p:ext uri="{BB962C8B-B14F-4D97-AF65-F5344CB8AC3E}">
        <p14:creationId xmlns:p14="http://schemas.microsoft.com/office/powerpoint/2010/main" val="1306447998"/>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0EDAF7A-0A16-47FB-BF04-01BDDD727E33}"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4.wmf"/><Relationship Id="rId2" Type="http://schemas.openxmlformats.org/officeDocument/2006/relationships/slideLayout" Target="../slideLayouts/slideLayout8.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image" Target="../media/image2.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5.wmf"/><Relationship Id="rId2" Type="http://schemas.openxmlformats.org/officeDocument/2006/relationships/slideLayout" Target="../slideLayouts/slideLayout8.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image" Target="../media/image2.wmf"/><Relationship Id="rId4" Type="http://schemas.openxmlformats.org/officeDocument/2006/relationships/oleObject" Target="../embeddings/oleObject2.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6.w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8.xml"/><Relationship Id="rId1" Type="http://schemas.openxmlformats.org/officeDocument/2006/relationships/vmlDrawing" Target="../drawings/vmlDrawing3.vml"/><Relationship Id="rId5" Type="http://schemas.openxmlformats.org/officeDocument/2006/relationships/image" Target="../media/image2.wmf"/><Relationship Id="rId4" Type="http://schemas.openxmlformats.org/officeDocument/2006/relationships/oleObject" Target="../embeddings/oleObject3.bin"/></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2.wmf"/><Relationship Id="rId4" Type="http://schemas.openxmlformats.org/officeDocument/2006/relationships/oleObject" Target="../embeddings/oleObject4.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2.wmf"/><Relationship Id="rId4" Type="http://schemas.openxmlformats.org/officeDocument/2006/relationships/oleObject" Target="../embeddings/oleObject5.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2.wmf"/><Relationship Id="rId4" Type="http://schemas.openxmlformats.org/officeDocument/2006/relationships/oleObject" Target="../embeddings/oleObject6.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2.wmf"/><Relationship Id="rId4" Type="http://schemas.openxmlformats.org/officeDocument/2006/relationships/oleObject" Target="../embeddings/oleObject7.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2.wmf"/><Relationship Id="rId4" Type="http://schemas.openxmlformats.org/officeDocument/2006/relationships/oleObject" Target="../embeddings/oleObject8.bin"/></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5.wmf"/></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61.xml"/><Relationship Id="rId1" Type="http://schemas.openxmlformats.org/officeDocument/2006/relationships/slideLayout" Target="../slideLayouts/slideLayout7.xml"/><Relationship Id="rId4" Type="http://schemas.openxmlformats.org/officeDocument/2006/relationships/image" Target="../media/image5.wmf"/></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8465" name="标题 1"/>
          <p:cNvSpPr>
            <a:spLocks noGrp="1" noChangeArrowheads="1"/>
          </p:cNvSpPr>
          <p:nvPr>
            <p:ph type="title"/>
          </p:nvPr>
        </p:nvSpPr>
        <p:spPr>
          <a:xfrm>
            <a:off x="495300" y="188913"/>
            <a:ext cx="9066213" cy="792162"/>
          </a:xfrm>
        </p:spPr>
        <p:txBody>
          <a:bodyPr/>
          <a:lstStyle/>
          <a:p>
            <a:r>
              <a:rPr lang="zh-CN" altLang="en-US" smtClean="0">
                <a:ea typeface="黑体" panose="02010609060101010101" pitchFamily="49" charset="-122"/>
              </a:rPr>
              <a:t>第 </a:t>
            </a:r>
            <a:r>
              <a:rPr lang="en-US" altLang="zh-CN" smtClean="0">
                <a:ea typeface="黑体" panose="02010609060101010101" pitchFamily="49" charset="-122"/>
              </a:rPr>
              <a:t>6 </a:t>
            </a:r>
            <a:r>
              <a:rPr lang="zh-CN" altLang="en-US" smtClean="0">
                <a:ea typeface="黑体" panose="02010609060101010101" pitchFamily="49" charset="-122"/>
              </a:rPr>
              <a:t>章 应用层</a:t>
            </a:r>
          </a:p>
        </p:txBody>
      </p:sp>
      <p:sp>
        <p:nvSpPr>
          <p:cNvPr id="1598466" name="内容占位符 2"/>
          <p:cNvSpPr>
            <a:spLocks noGrp="1" noChangeArrowheads="1"/>
          </p:cNvSpPr>
          <p:nvPr>
            <p:ph idx="1"/>
          </p:nvPr>
        </p:nvSpPr>
        <p:spPr>
          <a:xfrm>
            <a:off x="495300" y="1196975"/>
            <a:ext cx="9066213" cy="4933950"/>
          </a:xfrm>
        </p:spPr>
        <p:txBody>
          <a:bodyPr/>
          <a:lstStyle/>
          <a:p>
            <a:pPr>
              <a:lnSpc>
                <a:spcPct val="100000"/>
              </a:lnSpc>
            </a:pPr>
            <a:r>
              <a:rPr lang="en-US" altLang="zh-CN" dirty="0" smtClean="0">
                <a:ea typeface="黑体" panose="02010609060101010101" pitchFamily="49" charset="-122"/>
              </a:rPr>
              <a:t>6.3  </a:t>
            </a:r>
            <a:r>
              <a:rPr lang="zh-CN" altLang="en-US" dirty="0" smtClean="0">
                <a:ea typeface="黑体" panose="02010609060101010101" pitchFamily="49" charset="-122"/>
              </a:rPr>
              <a:t>远程终端协议 </a:t>
            </a:r>
            <a:r>
              <a:rPr lang="en-US" altLang="zh-CN" dirty="0" smtClean="0">
                <a:ea typeface="黑体" panose="02010609060101010101" pitchFamily="49" charset="-122"/>
              </a:rPr>
              <a:t>TELNET</a:t>
            </a:r>
          </a:p>
          <a:p>
            <a:pPr>
              <a:lnSpc>
                <a:spcPct val="100000"/>
              </a:lnSpc>
            </a:pPr>
            <a:r>
              <a:rPr lang="en-US" altLang="zh-CN" dirty="0" smtClean="0">
                <a:ea typeface="黑体" panose="02010609060101010101" pitchFamily="49" charset="-122"/>
              </a:rPr>
              <a:t>6.4  </a:t>
            </a:r>
            <a:r>
              <a:rPr lang="zh-CN" altLang="en-US" dirty="0" smtClean="0">
                <a:ea typeface="黑体" panose="02010609060101010101" pitchFamily="49" charset="-122"/>
              </a:rPr>
              <a:t>万维网 </a:t>
            </a:r>
            <a:r>
              <a:rPr lang="en-US" altLang="zh-CN" smtClean="0">
                <a:ea typeface="黑体" panose="02010609060101010101" pitchFamily="49" charset="-122"/>
              </a:rPr>
              <a:t>WWW</a:t>
            </a:r>
            <a:endParaRPr lang="en-US" altLang="zh-CN" dirty="0" smtClean="0">
              <a:ea typeface="黑体" panose="02010609060101010101" pitchFamily="49" charset="-122"/>
            </a:endParaRPr>
          </a:p>
        </p:txBody>
      </p:sp>
      <p:sp>
        <p:nvSpPr>
          <p:cNvPr id="15984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4F34E6-6FF2-4929-AAB5-81F5EC4F5FE3}" type="slidenum">
              <a:rPr lang="zh-CN" altLang="en-US" smtClean="0"/>
              <a:pPr eaLnBrk="1" hangingPunct="1"/>
              <a:t>1</a:t>
            </a:fld>
            <a:endParaRPr lang="en-US" altLang="zh-CN" smtClean="0"/>
          </a:p>
        </p:txBody>
      </p:sp>
      <p:sp>
        <p:nvSpPr>
          <p:cNvPr id="15984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297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6.3  </a:t>
            </a:r>
            <a:r>
              <a:rPr lang="zh-CN" altLang="en-US" smtClean="0">
                <a:ea typeface="黑体" panose="02010609060101010101" pitchFamily="49" charset="-122"/>
              </a:rPr>
              <a:t>远程终端协议 </a:t>
            </a:r>
            <a:r>
              <a:rPr lang="en-US" altLang="zh-CN" smtClean="0">
                <a:ea typeface="黑体" panose="02010609060101010101" pitchFamily="49" charset="-122"/>
              </a:rPr>
              <a:t>TELNET</a:t>
            </a:r>
          </a:p>
        </p:txBody>
      </p:sp>
      <p:sp>
        <p:nvSpPr>
          <p:cNvPr id="609283"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TELNET </a:t>
            </a:r>
            <a:r>
              <a:rPr lang="zh-CN" altLang="en-US" dirty="0" smtClean="0">
                <a:ea typeface="黑体" panose="02010609060101010101" pitchFamily="49" charset="-122"/>
              </a:rPr>
              <a:t>是一个简单的</a:t>
            </a:r>
            <a:r>
              <a:rPr lang="zh-CN" altLang="en-US" dirty="0" smtClean="0">
                <a:solidFill>
                  <a:srgbClr val="FF0000"/>
                </a:solidFill>
                <a:ea typeface="黑体" panose="02010609060101010101" pitchFamily="49" charset="-122"/>
              </a:rPr>
              <a:t>远程终端协议，</a:t>
            </a:r>
            <a:r>
              <a:rPr lang="zh-CN" altLang="en-US" dirty="0" smtClean="0">
                <a:ea typeface="黑体" panose="02010609060101010101" pitchFamily="49" charset="-122"/>
              </a:rPr>
              <a:t>也是互联网的正式标准。</a:t>
            </a:r>
          </a:p>
          <a:p>
            <a:r>
              <a:rPr lang="zh-CN" altLang="en-US" dirty="0" smtClean="0">
                <a:ea typeface="黑体" panose="02010609060101010101" pitchFamily="49" charset="-122"/>
              </a:rPr>
              <a:t>用户用 </a:t>
            </a:r>
            <a:r>
              <a:rPr lang="en-US" altLang="zh-CN" dirty="0" smtClean="0">
                <a:ea typeface="黑体" panose="02010609060101010101" pitchFamily="49" charset="-122"/>
              </a:rPr>
              <a:t>TELNET </a:t>
            </a:r>
            <a:r>
              <a:rPr lang="zh-CN" altLang="en-US" dirty="0" smtClean="0">
                <a:ea typeface="黑体" panose="02010609060101010101" pitchFamily="49" charset="-122"/>
              </a:rPr>
              <a:t>就可在其所在地通过 </a:t>
            </a:r>
            <a:r>
              <a:rPr lang="en-US" altLang="zh-CN" dirty="0" smtClean="0">
                <a:solidFill>
                  <a:srgbClr val="0000FF"/>
                </a:solidFill>
                <a:ea typeface="黑体" panose="02010609060101010101" pitchFamily="49" charset="-122"/>
              </a:rPr>
              <a:t>TCP</a:t>
            </a:r>
            <a:r>
              <a:rPr lang="en-US" altLang="zh-CN" dirty="0" smtClean="0">
                <a:ea typeface="黑体" panose="02010609060101010101" pitchFamily="49" charset="-122"/>
              </a:rPr>
              <a:t> </a:t>
            </a:r>
            <a:r>
              <a:rPr lang="zh-CN" altLang="en-US" dirty="0" smtClean="0">
                <a:ea typeface="黑体" panose="02010609060101010101" pitchFamily="49" charset="-122"/>
              </a:rPr>
              <a:t>连接注册（即</a:t>
            </a:r>
            <a:r>
              <a:rPr lang="zh-CN" altLang="en-US" dirty="0" smtClean="0">
                <a:solidFill>
                  <a:srgbClr val="0000FF"/>
                </a:solidFill>
                <a:ea typeface="黑体" panose="02010609060101010101" pitchFamily="49" charset="-122"/>
              </a:rPr>
              <a:t>登录</a:t>
            </a:r>
            <a:r>
              <a:rPr lang="zh-CN" altLang="en-US" dirty="0" smtClean="0">
                <a:ea typeface="黑体" panose="02010609060101010101" pitchFamily="49" charset="-122"/>
              </a:rPr>
              <a:t>）到</a:t>
            </a:r>
            <a:r>
              <a:rPr lang="zh-CN" altLang="en-US" dirty="0" smtClean="0">
                <a:solidFill>
                  <a:srgbClr val="0000FF"/>
                </a:solidFill>
                <a:ea typeface="黑体" panose="02010609060101010101" pitchFamily="49" charset="-122"/>
              </a:rPr>
              <a:t>远地</a:t>
            </a:r>
            <a:r>
              <a:rPr lang="zh-CN" altLang="en-US" dirty="0" smtClean="0">
                <a:ea typeface="黑体" panose="02010609060101010101" pitchFamily="49" charset="-122"/>
              </a:rPr>
              <a:t>的另一个</a:t>
            </a:r>
            <a:r>
              <a:rPr lang="zh-CN" altLang="en-US" dirty="0" smtClean="0">
                <a:solidFill>
                  <a:srgbClr val="0000FF"/>
                </a:solidFill>
                <a:ea typeface="黑体" panose="02010609060101010101" pitchFamily="49" charset="-122"/>
              </a:rPr>
              <a:t>主机</a:t>
            </a:r>
            <a:r>
              <a:rPr lang="zh-CN" altLang="en-US" dirty="0" smtClean="0">
                <a:ea typeface="黑体" panose="02010609060101010101" pitchFamily="49" charset="-122"/>
              </a:rPr>
              <a:t>上（使用主机名或 </a:t>
            </a:r>
            <a:r>
              <a:rPr lang="en-US" altLang="zh-CN" dirty="0" smtClean="0">
                <a:ea typeface="黑体" panose="02010609060101010101" pitchFamily="49" charset="-122"/>
              </a:rPr>
              <a:t>IP </a:t>
            </a:r>
            <a:r>
              <a:rPr lang="zh-CN" altLang="en-US" dirty="0" smtClean="0">
                <a:ea typeface="黑体" panose="02010609060101010101" pitchFamily="49" charset="-122"/>
              </a:rPr>
              <a:t>地址）。</a:t>
            </a:r>
          </a:p>
          <a:p>
            <a:pPr algn="just"/>
            <a:r>
              <a:rPr lang="en-US" altLang="zh-CN" dirty="0" smtClean="0">
                <a:ea typeface="黑体" panose="02010609060101010101" pitchFamily="49" charset="-122"/>
              </a:rPr>
              <a:t>TELNET </a:t>
            </a:r>
            <a:r>
              <a:rPr lang="zh-CN" altLang="en-US" dirty="0" smtClean="0">
                <a:ea typeface="黑体" panose="02010609060101010101" pitchFamily="49" charset="-122"/>
              </a:rPr>
              <a:t>能将用户的击键传到远地主机，同时也能将远地主机的输出通过 </a:t>
            </a:r>
            <a:r>
              <a:rPr lang="en-US" altLang="zh-CN" dirty="0" smtClean="0">
                <a:ea typeface="黑体" panose="02010609060101010101" pitchFamily="49" charset="-122"/>
              </a:rPr>
              <a:t>TCP </a:t>
            </a:r>
            <a:r>
              <a:rPr lang="zh-CN" altLang="en-US" dirty="0" smtClean="0">
                <a:ea typeface="黑体" panose="02010609060101010101" pitchFamily="49" charset="-122"/>
              </a:rPr>
              <a:t>连接返回到用户屏幕。这种服务是透明的，因为用户感觉到好像键盘和显示器是直接连在远地主机上。 </a:t>
            </a:r>
          </a:p>
        </p:txBody>
      </p:sp>
      <p:sp>
        <p:nvSpPr>
          <p:cNvPr id="16629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4A7588B-ADD4-4DE9-9E8A-D5CC029EE553}" type="slidenum">
              <a:rPr lang="zh-CN" altLang="en-US" smtClean="0"/>
              <a:pPr eaLnBrk="1" hangingPunct="1"/>
              <a:t>2</a:t>
            </a:fld>
            <a:endParaRPr lang="en-US" altLang="zh-CN" smtClean="0"/>
          </a:p>
        </p:txBody>
      </p:sp>
      <p:sp>
        <p:nvSpPr>
          <p:cNvPr id="16629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92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92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5025" name="Rectangle 2"/>
          <p:cNvSpPr>
            <a:spLocks noGrp="1" noChangeArrowheads="1"/>
          </p:cNvSpPr>
          <p:nvPr>
            <p:ph type="title"/>
          </p:nvPr>
        </p:nvSpPr>
        <p:spPr>
          <a:xfrm>
            <a:off x="495300" y="188913"/>
            <a:ext cx="9066213" cy="792162"/>
          </a:xfrm>
        </p:spPr>
        <p:txBody>
          <a:bodyPr/>
          <a:lstStyle/>
          <a:p>
            <a:pPr algn="ctr"/>
            <a:r>
              <a:rPr lang="zh-CN" altLang="en-US" sz="4800" smtClean="0">
                <a:ea typeface="黑体" panose="02010609060101010101" pitchFamily="49" charset="-122"/>
              </a:rPr>
              <a:t>客户</a:t>
            </a:r>
            <a:r>
              <a:rPr lang="zh-CN" altLang="en-US" sz="4800" smtClean="0">
                <a:ea typeface="黑体" panose="02010609060101010101" pitchFamily="49" charset="-122"/>
                <a:sym typeface="Symbol" panose="05050102010706020507" pitchFamily="18" charset="2"/>
              </a:rPr>
              <a:t></a:t>
            </a:r>
            <a:r>
              <a:rPr lang="zh-CN" altLang="en-US" sz="4800" smtClean="0">
                <a:ea typeface="黑体" panose="02010609060101010101" pitchFamily="49" charset="-122"/>
              </a:rPr>
              <a:t>服务器方式</a:t>
            </a:r>
          </a:p>
        </p:txBody>
      </p:sp>
      <p:sp>
        <p:nvSpPr>
          <p:cNvPr id="611331" name="Rectangle 3"/>
          <p:cNvSpPr>
            <a:spLocks noGrp="1" noChangeArrowheads="1"/>
          </p:cNvSpPr>
          <p:nvPr>
            <p:ph idx="1"/>
          </p:nvPr>
        </p:nvSpPr>
        <p:spPr>
          <a:xfrm>
            <a:off x="495300" y="1196975"/>
            <a:ext cx="9066213" cy="4933950"/>
          </a:xfrm>
        </p:spPr>
        <p:txBody>
          <a:bodyPr/>
          <a:lstStyle/>
          <a:p>
            <a:pPr marL="315913" indent="-315913"/>
            <a:r>
              <a:rPr lang="zh-CN" altLang="en-US" dirty="0" smtClean="0">
                <a:ea typeface="黑体" panose="02010609060101010101" pitchFamily="49" charset="-122"/>
              </a:rPr>
              <a:t>现在由于 </a:t>
            </a:r>
            <a:r>
              <a:rPr lang="en-US" altLang="zh-CN" dirty="0" smtClean="0">
                <a:ea typeface="黑体" panose="02010609060101010101" pitchFamily="49" charset="-122"/>
              </a:rPr>
              <a:t>PC </a:t>
            </a:r>
            <a:r>
              <a:rPr lang="zh-CN" altLang="en-US" dirty="0" smtClean="0">
                <a:ea typeface="黑体" panose="02010609060101010101" pitchFamily="49" charset="-122"/>
              </a:rPr>
              <a:t>的功能越来越强，用户已较少使用 </a:t>
            </a:r>
            <a:r>
              <a:rPr lang="en-US" altLang="zh-CN" dirty="0" smtClean="0">
                <a:ea typeface="黑体" panose="02010609060101010101" pitchFamily="49" charset="-122"/>
              </a:rPr>
              <a:t>TELNET </a:t>
            </a:r>
            <a:r>
              <a:rPr lang="zh-CN" altLang="en-US" dirty="0" smtClean="0">
                <a:ea typeface="黑体" panose="02010609060101010101" pitchFamily="49" charset="-122"/>
              </a:rPr>
              <a:t>了。</a:t>
            </a:r>
          </a:p>
          <a:p>
            <a:pPr marL="315913" indent="-315913"/>
            <a:r>
              <a:rPr lang="en-US" altLang="zh-CN" dirty="0" smtClean="0">
                <a:ea typeface="黑体" panose="02010609060101010101" pitchFamily="49" charset="-122"/>
              </a:rPr>
              <a:t>TELNET </a:t>
            </a:r>
            <a:r>
              <a:rPr lang="zh-CN" altLang="en-US" dirty="0" smtClean="0">
                <a:ea typeface="黑体" panose="02010609060101010101" pitchFamily="49" charset="-122"/>
              </a:rPr>
              <a:t>也使用</a:t>
            </a:r>
            <a:r>
              <a:rPr lang="zh-CN" altLang="en-US" dirty="0" smtClean="0">
                <a:solidFill>
                  <a:srgbClr val="0000FF"/>
                </a:solidFill>
                <a:ea typeface="黑体" panose="02010609060101010101" pitchFamily="49" charset="-122"/>
              </a:rPr>
              <a:t>客户</a:t>
            </a:r>
            <a:r>
              <a:rPr lang="zh-CN" altLang="en-US" dirty="0" smtClean="0">
                <a:solidFill>
                  <a:srgbClr val="0000FF"/>
                </a:solidFill>
                <a:ea typeface="黑体" panose="02010609060101010101" pitchFamily="49" charset="-122"/>
                <a:sym typeface="Symbol" panose="05050102010706020507" pitchFamily="18" charset="2"/>
              </a:rPr>
              <a:t></a:t>
            </a:r>
            <a:r>
              <a:rPr lang="zh-CN" altLang="en-US" dirty="0" smtClean="0">
                <a:solidFill>
                  <a:srgbClr val="0000FF"/>
                </a:solidFill>
                <a:ea typeface="黑体" panose="02010609060101010101" pitchFamily="49" charset="-122"/>
              </a:rPr>
              <a:t>服务器</a:t>
            </a:r>
            <a:r>
              <a:rPr lang="zh-CN" altLang="en-US" dirty="0" smtClean="0">
                <a:ea typeface="黑体" panose="02010609060101010101" pitchFamily="49" charset="-122"/>
              </a:rPr>
              <a:t>方式。在</a:t>
            </a:r>
            <a:r>
              <a:rPr lang="zh-CN" altLang="en-US" dirty="0" smtClean="0">
                <a:solidFill>
                  <a:srgbClr val="0000FF"/>
                </a:solidFill>
                <a:ea typeface="黑体" panose="02010609060101010101" pitchFamily="49" charset="-122"/>
              </a:rPr>
              <a:t>本地</a:t>
            </a:r>
            <a:r>
              <a:rPr lang="zh-CN" altLang="en-US" dirty="0" smtClean="0">
                <a:ea typeface="黑体" panose="02010609060101010101" pitchFamily="49" charset="-122"/>
              </a:rPr>
              <a:t>系统运行 </a:t>
            </a:r>
            <a:r>
              <a:rPr lang="en-US" altLang="zh-CN" dirty="0" smtClean="0">
                <a:ea typeface="黑体" panose="02010609060101010101" pitchFamily="49" charset="-122"/>
              </a:rPr>
              <a:t>TELNET </a:t>
            </a:r>
            <a:r>
              <a:rPr lang="zh-CN" altLang="en-US" dirty="0" smtClean="0">
                <a:solidFill>
                  <a:srgbClr val="0000FF"/>
                </a:solidFill>
                <a:ea typeface="黑体" panose="02010609060101010101" pitchFamily="49" charset="-122"/>
              </a:rPr>
              <a:t>客户</a:t>
            </a:r>
            <a:r>
              <a:rPr lang="zh-CN" altLang="en-US" dirty="0" smtClean="0">
                <a:ea typeface="黑体" panose="02010609060101010101" pitchFamily="49" charset="-122"/>
              </a:rPr>
              <a:t>进程，而在</a:t>
            </a:r>
            <a:r>
              <a:rPr lang="zh-CN" altLang="en-US" dirty="0" smtClean="0">
                <a:solidFill>
                  <a:srgbClr val="0000FF"/>
                </a:solidFill>
                <a:ea typeface="黑体" panose="02010609060101010101" pitchFamily="49" charset="-122"/>
              </a:rPr>
              <a:t>远地</a:t>
            </a:r>
            <a:r>
              <a:rPr lang="zh-CN" altLang="en-US" dirty="0" smtClean="0">
                <a:ea typeface="黑体" panose="02010609060101010101" pitchFamily="49" charset="-122"/>
              </a:rPr>
              <a:t>主机则运行 </a:t>
            </a:r>
            <a:r>
              <a:rPr lang="en-US" altLang="zh-CN" dirty="0" smtClean="0">
                <a:ea typeface="黑体" panose="02010609060101010101" pitchFamily="49" charset="-122"/>
              </a:rPr>
              <a:t>TELNET </a:t>
            </a:r>
            <a:r>
              <a:rPr lang="zh-CN" altLang="en-US" dirty="0" smtClean="0">
                <a:solidFill>
                  <a:srgbClr val="0000FF"/>
                </a:solidFill>
                <a:ea typeface="黑体" panose="02010609060101010101" pitchFamily="49" charset="-122"/>
              </a:rPr>
              <a:t>服务器</a:t>
            </a:r>
            <a:r>
              <a:rPr lang="zh-CN" altLang="en-US" dirty="0" smtClean="0">
                <a:ea typeface="黑体" panose="02010609060101010101" pitchFamily="49" charset="-122"/>
              </a:rPr>
              <a:t>进程。</a:t>
            </a:r>
          </a:p>
          <a:p>
            <a:pPr marL="315913" indent="-315913"/>
            <a:r>
              <a:rPr lang="zh-CN" altLang="en-US" dirty="0" smtClean="0">
                <a:ea typeface="黑体" panose="02010609060101010101" pitchFamily="49" charset="-122"/>
              </a:rPr>
              <a:t>和 </a:t>
            </a:r>
            <a:r>
              <a:rPr lang="en-US" altLang="zh-CN" dirty="0" smtClean="0">
                <a:ea typeface="黑体" panose="02010609060101010101" pitchFamily="49" charset="-122"/>
              </a:rPr>
              <a:t>FTP </a:t>
            </a:r>
            <a:r>
              <a:rPr lang="zh-CN" altLang="en-US" dirty="0" smtClean="0">
                <a:ea typeface="黑体" panose="02010609060101010101" pitchFamily="49" charset="-122"/>
              </a:rPr>
              <a:t>的情况相似，服务器中的</a:t>
            </a:r>
            <a:r>
              <a:rPr lang="zh-CN" altLang="en-US" dirty="0" smtClean="0">
                <a:solidFill>
                  <a:srgbClr val="FF0000"/>
                </a:solidFill>
                <a:ea typeface="黑体" panose="02010609060101010101" pitchFamily="49" charset="-122"/>
              </a:rPr>
              <a:t>主进程</a:t>
            </a:r>
            <a:r>
              <a:rPr lang="zh-CN" altLang="en-US" dirty="0" smtClean="0">
                <a:ea typeface="黑体" panose="02010609060101010101" pitchFamily="49" charset="-122"/>
              </a:rPr>
              <a:t>等待新的请求，并产生</a:t>
            </a:r>
            <a:r>
              <a:rPr lang="zh-CN" altLang="en-US" dirty="0" smtClean="0">
                <a:solidFill>
                  <a:srgbClr val="FF0000"/>
                </a:solidFill>
                <a:ea typeface="黑体" panose="02010609060101010101" pitchFamily="49" charset="-122"/>
              </a:rPr>
              <a:t>从属进程</a:t>
            </a:r>
            <a:r>
              <a:rPr lang="zh-CN" altLang="en-US" dirty="0" smtClean="0">
                <a:ea typeface="黑体" panose="02010609060101010101" pitchFamily="49" charset="-122"/>
              </a:rPr>
              <a:t>来处理每一个连接。 </a:t>
            </a:r>
          </a:p>
        </p:txBody>
      </p:sp>
      <p:sp>
        <p:nvSpPr>
          <p:cNvPr id="16650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15EB7F-96D4-41AE-945E-130613086DC1}" type="slidenum">
              <a:rPr lang="zh-CN" altLang="en-US" smtClean="0"/>
              <a:pPr eaLnBrk="1" hangingPunct="1"/>
              <a:t>3</a:t>
            </a:fld>
            <a:endParaRPr lang="en-US" altLang="zh-CN" smtClean="0"/>
          </a:p>
        </p:txBody>
      </p:sp>
      <p:sp>
        <p:nvSpPr>
          <p:cNvPr id="16650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13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13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3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idx="4294967295"/>
          </p:nvPr>
        </p:nvSpPr>
        <p:spPr>
          <a:xfrm>
            <a:off x="488950" y="585788"/>
            <a:ext cx="9066213" cy="971550"/>
          </a:xfrm>
        </p:spPr>
        <p:txBody>
          <a:bodyPr/>
          <a:lstStyle/>
          <a:p>
            <a:pPr algn="ctr">
              <a:defRPr/>
            </a:pPr>
            <a:r>
              <a:rPr lang="en-US" altLang="zh-CN" sz="4060" noProof="1"/>
              <a:t>TELNET </a:t>
            </a:r>
            <a:r>
              <a:rPr lang="zh-CN" altLang="en-US" sz="4060" noProof="1" smtClean="0"/>
              <a:t>使用</a:t>
            </a:r>
            <a:r>
              <a:rPr lang="zh-CN" altLang="en-US" sz="4060" u="sng" noProof="1" smtClean="0"/>
              <a:t>网络</a:t>
            </a:r>
            <a:r>
              <a:rPr lang="zh-CN" altLang="en-US" sz="4060" u="sng" noProof="1"/>
              <a:t>虚拟终端 </a:t>
            </a:r>
            <a:r>
              <a:rPr lang="en-US" altLang="zh-CN" sz="4060" u="sng" noProof="1" smtClean="0">
                <a:solidFill>
                  <a:srgbClr val="FF0000"/>
                </a:solidFill>
              </a:rPr>
              <a:t>NVT</a:t>
            </a:r>
            <a:r>
              <a:rPr lang="zh-CN" altLang="en-US" sz="4060" u="sng" noProof="1" smtClean="0"/>
              <a:t>（</a:t>
            </a:r>
            <a:r>
              <a:rPr lang="en-US" altLang="zh-CN" sz="4060" u="sng" noProof="1" smtClean="0"/>
              <a:t>Network Virtual Terminal</a:t>
            </a:r>
            <a:r>
              <a:rPr lang="zh-CN" altLang="en-US" sz="4060" u="sng" noProof="1" smtClean="0"/>
              <a:t>）</a:t>
            </a:r>
            <a:r>
              <a:rPr lang="en-US" altLang="zh-CN" sz="4060" u="sng" noProof="1" smtClean="0"/>
              <a:t> </a:t>
            </a:r>
            <a:r>
              <a:rPr lang="zh-CN" altLang="en-US" sz="4060" noProof="1"/>
              <a:t>格式 </a:t>
            </a:r>
          </a:p>
        </p:txBody>
      </p:sp>
      <p:graphicFrame>
        <p:nvGraphicFramePr>
          <p:cNvPr id="1667074" name="Object 5"/>
          <p:cNvGraphicFramePr>
            <a:graphicFrameLocks noChangeAspect="1"/>
          </p:cNvGraphicFramePr>
          <p:nvPr/>
        </p:nvGraphicFramePr>
        <p:xfrm>
          <a:off x="3308350" y="2517775"/>
          <a:ext cx="3625850" cy="2297113"/>
        </p:xfrm>
        <a:graphic>
          <a:graphicData uri="http://schemas.openxmlformats.org/presentationml/2006/ole">
            <mc:AlternateContent xmlns:mc="http://schemas.openxmlformats.org/markup-compatibility/2006">
              <mc:Choice xmlns:v="urn:schemas-microsoft-com:vml" Requires="v">
                <p:oleObj spid="_x0000_s1667120" r:id="rId4" imgW="1687068" imgH="964692" progId="Visio.Drawing.6">
                  <p:embed/>
                </p:oleObj>
              </mc:Choice>
              <mc:Fallback>
                <p:oleObj r:id="rId4" imgW="1687068" imgH="964692" progId="Visio.Drawing.6">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8350" y="2517775"/>
                        <a:ext cx="3625850"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67075" name="Text Box 6"/>
          <p:cNvSpPr txBox="1">
            <a:spLocks noChangeArrowheads="1"/>
          </p:cNvSpPr>
          <p:nvPr/>
        </p:nvSpPr>
        <p:spPr bwMode="auto">
          <a:xfrm>
            <a:off x="4468813" y="2060575"/>
            <a:ext cx="1262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00099"/>
                </a:solidFill>
                <a:ea typeface="黑体" panose="02010609060101010101" pitchFamily="49" charset="-122"/>
              </a:rPr>
              <a:t>互联网</a:t>
            </a:r>
          </a:p>
        </p:txBody>
      </p:sp>
      <p:pic>
        <p:nvPicPr>
          <p:cNvPr id="1667076" name="Picture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77125" y="2622550"/>
            <a:ext cx="2139950" cy="219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67077" name="Picture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8863" y="2717800"/>
            <a:ext cx="2014537"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67078" name="Text Box 9"/>
          <p:cNvSpPr txBox="1">
            <a:spLocks noChangeArrowheads="1"/>
          </p:cNvSpPr>
          <p:nvPr/>
        </p:nvSpPr>
        <p:spPr bwMode="auto">
          <a:xfrm>
            <a:off x="4419600" y="2946400"/>
            <a:ext cx="1495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TCP </a:t>
            </a:r>
            <a:r>
              <a:rPr lang="zh-CN" altLang="en-US" sz="2400" b="1">
                <a:solidFill>
                  <a:srgbClr val="000099"/>
                </a:solidFill>
                <a:ea typeface="黑体" panose="02010609060101010101" pitchFamily="49" charset="-122"/>
              </a:rPr>
              <a:t>连接</a:t>
            </a:r>
          </a:p>
        </p:txBody>
      </p:sp>
      <p:sp>
        <p:nvSpPr>
          <p:cNvPr id="1667079" name="Text Box 10"/>
          <p:cNvSpPr txBox="1">
            <a:spLocks noChangeArrowheads="1"/>
          </p:cNvSpPr>
          <p:nvPr/>
        </p:nvSpPr>
        <p:spPr bwMode="auto">
          <a:xfrm>
            <a:off x="1427163" y="2224088"/>
            <a:ext cx="11922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客户端</a:t>
            </a:r>
          </a:p>
        </p:txBody>
      </p:sp>
      <p:sp>
        <p:nvSpPr>
          <p:cNvPr id="1667080" name="Text Box 11"/>
          <p:cNvSpPr txBox="1">
            <a:spLocks noChangeArrowheads="1"/>
          </p:cNvSpPr>
          <p:nvPr/>
        </p:nvSpPr>
        <p:spPr bwMode="auto">
          <a:xfrm>
            <a:off x="7759700" y="2165350"/>
            <a:ext cx="1500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服务器端</a:t>
            </a:r>
          </a:p>
        </p:txBody>
      </p:sp>
      <p:sp>
        <p:nvSpPr>
          <p:cNvPr id="1667081" name="Text Box 12"/>
          <p:cNvSpPr txBox="1">
            <a:spLocks noChangeArrowheads="1"/>
          </p:cNvSpPr>
          <p:nvPr/>
        </p:nvSpPr>
        <p:spPr bwMode="auto">
          <a:xfrm>
            <a:off x="288925" y="4887913"/>
            <a:ext cx="27320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使用客户端的格式</a:t>
            </a:r>
          </a:p>
        </p:txBody>
      </p:sp>
      <p:sp>
        <p:nvSpPr>
          <p:cNvPr id="1667082" name="Text Box 13"/>
          <p:cNvSpPr txBox="1">
            <a:spLocks noChangeArrowheads="1"/>
          </p:cNvSpPr>
          <p:nvPr/>
        </p:nvSpPr>
        <p:spPr bwMode="auto">
          <a:xfrm>
            <a:off x="6810375" y="48879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使用服务器端的格式</a:t>
            </a:r>
          </a:p>
        </p:txBody>
      </p:sp>
      <p:sp>
        <p:nvSpPr>
          <p:cNvPr id="1667083" name="Text Box 14"/>
          <p:cNvSpPr txBox="1">
            <a:spLocks noChangeArrowheads="1"/>
          </p:cNvSpPr>
          <p:nvPr/>
        </p:nvSpPr>
        <p:spPr bwMode="auto">
          <a:xfrm>
            <a:off x="3827463" y="4887913"/>
            <a:ext cx="2281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使用 </a:t>
            </a:r>
            <a:r>
              <a:rPr lang="en-US" altLang="zh-CN" sz="2400" b="1">
                <a:solidFill>
                  <a:srgbClr val="000099"/>
                </a:solidFill>
                <a:ea typeface="黑体" panose="02010609060101010101" pitchFamily="49" charset="-122"/>
              </a:rPr>
              <a:t>NVT </a:t>
            </a:r>
            <a:r>
              <a:rPr lang="zh-CN" altLang="en-US" sz="2400" b="1">
                <a:solidFill>
                  <a:srgbClr val="000099"/>
                </a:solidFill>
                <a:ea typeface="黑体" panose="02010609060101010101" pitchFamily="49" charset="-122"/>
              </a:rPr>
              <a:t>格式</a:t>
            </a:r>
          </a:p>
        </p:txBody>
      </p:sp>
      <p:sp>
        <p:nvSpPr>
          <p:cNvPr id="1667084" name="Line 15"/>
          <p:cNvSpPr>
            <a:spLocks noChangeShapeType="1"/>
          </p:cNvSpPr>
          <p:nvPr/>
        </p:nvSpPr>
        <p:spPr bwMode="auto">
          <a:xfrm flipV="1">
            <a:off x="1643063" y="3867150"/>
            <a:ext cx="358775" cy="1081088"/>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667085" name="Line 16"/>
          <p:cNvSpPr>
            <a:spLocks noChangeShapeType="1"/>
          </p:cNvSpPr>
          <p:nvPr/>
        </p:nvSpPr>
        <p:spPr bwMode="auto">
          <a:xfrm flipH="1" flipV="1">
            <a:off x="5086350" y="3622675"/>
            <a:ext cx="7938" cy="1277938"/>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667086" name="Line 17"/>
          <p:cNvSpPr>
            <a:spLocks noChangeShapeType="1"/>
          </p:cNvSpPr>
          <p:nvPr/>
        </p:nvSpPr>
        <p:spPr bwMode="auto">
          <a:xfrm flipV="1">
            <a:off x="8289925" y="3813175"/>
            <a:ext cx="112713" cy="1303338"/>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667087" name="Oval 18"/>
          <p:cNvSpPr>
            <a:spLocks noChangeArrowheads="1"/>
          </p:cNvSpPr>
          <p:nvPr/>
        </p:nvSpPr>
        <p:spPr bwMode="auto">
          <a:xfrm>
            <a:off x="1527175" y="3051175"/>
            <a:ext cx="1004888" cy="833438"/>
          </a:xfrm>
          <a:prstGeom prst="ellipse">
            <a:avLst/>
          </a:prstGeom>
          <a:solidFill>
            <a:srgbClr val="FFFF99"/>
          </a:solidFill>
          <a:ln w="19050">
            <a:solidFill>
              <a:schemeClr val="tx1"/>
            </a:solidFill>
            <a:round/>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客户</a:t>
            </a:r>
          </a:p>
        </p:txBody>
      </p:sp>
      <p:sp>
        <p:nvSpPr>
          <p:cNvPr id="1667088" name="Oval 19"/>
          <p:cNvSpPr>
            <a:spLocks noChangeArrowheads="1"/>
          </p:cNvSpPr>
          <p:nvPr/>
        </p:nvSpPr>
        <p:spPr bwMode="auto">
          <a:xfrm>
            <a:off x="7854950" y="3051175"/>
            <a:ext cx="1131888" cy="833438"/>
          </a:xfrm>
          <a:prstGeom prst="ellipse">
            <a:avLst/>
          </a:prstGeom>
          <a:solidFill>
            <a:srgbClr val="FFCCCC"/>
          </a:solidFill>
          <a:ln w="19050">
            <a:solidFill>
              <a:schemeClr val="tx1"/>
            </a:solidFill>
            <a:round/>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服务器</a:t>
            </a:r>
          </a:p>
        </p:txBody>
      </p:sp>
      <p:sp>
        <p:nvSpPr>
          <p:cNvPr id="1667089" name="AutoShape 20"/>
          <p:cNvSpPr>
            <a:spLocks noChangeArrowheads="1"/>
          </p:cNvSpPr>
          <p:nvPr/>
        </p:nvSpPr>
        <p:spPr bwMode="auto">
          <a:xfrm>
            <a:off x="2597150" y="3328988"/>
            <a:ext cx="5278438" cy="388937"/>
          </a:xfrm>
          <a:prstGeom prst="leftRightArrow">
            <a:avLst>
              <a:gd name="adj1" fmla="val 61111"/>
              <a:gd name="adj2" fmla="val 202064"/>
            </a:avLst>
          </a:prstGeom>
          <a:solidFill>
            <a:srgbClr val="333399"/>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66709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083C1DD-A4DF-42CF-BCEA-E39E260240EE}" type="slidenum">
              <a:rPr lang="zh-CN" altLang="en-US" smtClean="0"/>
              <a:pPr/>
              <a:t>4</a:t>
            </a:fld>
            <a:endParaRPr lang="en-US" altLang="zh-CN" smtClean="0"/>
          </a:p>
        </p:txBody>
      </p:sp>
      <p:sp>
        <p:nvSpPr>
          <p:cNvPr id="166709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
        <p:nvSpPr>
          <p:cNvPr id="2" name="文本框 1"/>
          <p:cNvSpPr txBox="1"/>
          <p:nvPr/>
        </p:nvSpPr>
        <p:spPr>
          <a:xfrm>
            <a:off x="920664" y="5805198"/>
            <a:ext cx="8634500" cy="584775"/>
          </a:xfrm>
          <a:prstGeom prst="rect">
            <a:avLst/>
          </a:prstGeom>
          <a:noFill/>
        </p:spPr>
        <p:txBody>
          <a:bodyPr wrap="square" rtlCol="0">
            <a:spAutoFit/>
          </a:bodyPr>
          <a:lstStyle/>
          <a:p>
            <a:pPr algn="ctr"/>
            <a:r>
              <a:rPr lang="zh-CN" altLang="en-US" sz="3200" b="1" dirty="0" smtClean="0"/>
              <a:t>用于解决不同机器及操作系统的差异问题</a:t>
            </a:r>
            <a:endParaRPr lang="zh-CN" altLang="en-US" sz="32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2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网络虚拟终端 </a:t>
            </a:r>
            <a:r>
              <a:rPr lang="en-US" altLang="zh-CN" smtClean="0">
                <a:ea typeface="黑体" panose="02010609060101010101" pitchFamily="49" charset="-122"/>
              </a:rPr>
              <a:t>NVT </a:t>
            </a:r>
            <a:r>
              <a:rPr lang="zh-CN" altLang="en-US" smtClean="0">
                <a:ea typeface="黑体" panose="02010609060101010101" pitchFamily="49" charset="-122"/>
              </a:rPr>
              <a:t>格式 </a:t>
            </a:r>
          </a:p>
        </p:txBody>
      </p:sp>
      <p:sp>
        <p:nvSpPr>
          <p:cNvPr id="141315" name="Rectangle 3"/>
          <p:cNvSpPr>
            <a:spLocks noGrp="1" noChangeArrowheads="1"/>
          </p:cNvSpPr>
          <p:nvPr>
            <p:ph idx="1"/>
          </p:nvPr>
        </p:nvSpPr>
        <p:spPr>
          <a:xfrm>
            <a:off x="495300" y="1196975"/>
            <a:ext cx="9066213" cy="4933950"/>
          </a:xfrm>
        </p:spPr>
        <p:txBody>
          <a:bodyPr/>
          <a:lstStyle/>
          <a:p>
            <a:pPr marL="315913" indent="-315913" algn="just">
              <a:spcBef>
                <a:spcPts val="550"/>
              </a:spcBef>
            </a:pPr>
            <a:r>
              <a:rPr lang="zh-CN" altLang="en-US" smtClean="0">
                <a:ea typeface="黑体" panose="02010609060101010101" pitchFamily="49" charset="-122"/>
              </a:rPr>
              <a:t>客户软件把用户的击键和命令转换成 </a:t>
            </a:r>
            <a:r>
              <a:rPr lang="en-US" altLang="zh-CN" smtClean="0">
                <a:ea typeface="黑体" panose="02010609060101010101" pitchFamily="49" charset="-122"/>
              </a:rPr>
              <a:t>NVT </a:t>
            </a:r>
            <a:r>
              <a:rPr lang="zh-CN" altLang="en-US" smtClean="0">
                <a:ea typeface="黑体" panose="02010609060101010101" pitchFamily="49" charset="-122"/>
              </a:rPr>
              <a:t>格式，并送交服务器。</a:t>
            </a:r>
          </a:p>
          <a:p>
            <a:pPr marL="315913" indent="-315913" algn="just">
              <a:spcBef>
                <a:spcPts val="550"/>
              </a:spcBef>
            </a:pPr>
            <a:r>
              <a:rPr lang="zh-CN" altLang="en-US" smtClean="0">
                <a:ea typeface="黑体" panose="02010609060101010101" pitchFamily="49" charset="-122"/>
              </a:rPr>
              <a:t>服务器软件把收到的数据和命令，从 </a:t>
            </a:r>
            <a:r>
              <a:rPr lang="en-US" altLang="zh-CN" smtClean="0">
                <a:ea typeface="黑体" panose="02010609060101010101" pitchFamily="49" charset="-122"/>
              </a:rPr>
              <a:t>NVT </a:t>
            </a:r>
            <a:r>
              <a:rPr lang="zh-CN" altLang="en-US" smtClean="0">
                <a:ea typeface="黑体" panose="02010609060101010101" pitchFamily="49" charset="-122"/>
              </a:rPr>
              <a:t>格式转换成远地系统所需的格式。</a:t>
            </a:r>
          </a:p>
          <a:p>
            <a:pPr marL="315913" indent="-315913" algn="just">
              <a:spcBef>
                <a:spcPts val="550"/>
              </a:spcBef>
            </a:pPr>
            <a:r>
              <a:rPr lang="zh-CN" altLang="en-US" smtClean="0">
                <a:ea typeface="黑体" panose="02010609060101010101" pitchFamily="49" charset="-122"/>
              </a:rPr>
              <a:t>向用户返回数据时，服务器把远地系统的格式转换为 </a:t>
            </a:r>
            <a:r>
              <a:rPr lang="en-US" altLang="zh-CN" smtClean="0">
                <a:ea typeface="黑体" panose="02010609060101010101" pitchFamily="49" charset="-122"/>
              </a:rPr>
              <a:t>NVT </a:t>
            </a:r>
            <a:r>
              <a:rPr lang="zh-CN" altLang="en-US" smtClean="0">
                <a:ea typeface="黑体" panose="02010609060101010101" pitchFamily="49" charset="-122"/>
              </a:rPr>
              <a:t>格式，本地客户再从 </a:t>
            </a:r>
            <a:r>
              <a:rPr lang="en-US" altLang="zh-CN" smtClean="0">
                <a:ea typeface="黑体" panose="02010609060101010101" pitchFamily="49" charset="-122"/>
              </a:rPr>
              <a:t>NVT </a:t>
            </a:r>
            <a:r>
              <a:rPr lang="zh-CN" altLang="en-US" smtClean="0">
                <a:ea typeface="黑体" panose="02010609060101010101" pitchFamily="49" charset="-122"/>
              </a:rPr>
              <a:t>格式转换到本地系统所需的格式。 </a:t>
            </a:r>
          </a:p>
        </p:txBody>
      </p:sp>
      <p:sp>
        <p:nvSpPr>
          <p:cNvPr id="16691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980463-E8E2-4BFD-BCCE-77CD53F346F6}" type="slidenum">
              <a:rPr lang="zh-CN" altLang="en-US" smtClean="0"/>
              <a:pPr eaLnBrk="1" hangingPunct="1"/>
              <a:t>5</a:t>
            </a:fld>
            <a:endParaRPr lang="en-US" altLang="zh-CN" smtClean="0"/>
          </a:p>
        </p:txBody>
      </p:sp>
      <p:sp>
        <p:nvSpPr>
          <p:cNvPr id="16691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13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1169"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6.4  </a:t>
            </a:r>
            <a:r>
              <a:rPr lang="zh-CN" altLang="en-US" smtClean="0">
                <a:ea typeface="黑体" panose="02010609060101010101" pitchFamily="49" charset="-122"/>
              </a:rPr>
              <a:t>万维网 </a:t>
            </a:r>
            <a:r>
              <a:rPr lang="en-US" altLang="zh-CN" smtClean="0">
                <a:ea typeface="黑体" panose="02010609060101010101" pitchFamily="49" charset="-122"/>
              </a:rPr>
              <a:t>WWW</a:t>
            </a:r>
            <a:endParaRPr lang="zh-CN" altLang="en-US" smtClean="0">
              <a:ea typeface="黑体" panose="02010609060101010101" pitchFamily="49" charset="-122"/>
            </a:endParaRPr>
          </a:p>
        </p:txBody>
      </p:sp>
      <p:sp>
        <p:nvSpPr>
          <p:cNvPr id="1671170"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6.4.1  </a:t>
            </a:r>
            <a:r>
              <a:rPr lang="zh-CN" altLang="en-US" smtClean="0">
                <a:ea typeface="黑体" panose="02010609060101010101" pitchFamily="49" charset="-122"/>
              </a:rPr>
              <a:t>万维网概述</a:t>
            </a:r>
            <a:endParaRPr lang="en-US" altLang="zh-CN" smtClean="0">
              <a:ea typeface="黑体" panose="02010609060101010101" pitchFamily="49" charset="-122"/>
            </a:endParaRPr>
          </a:p>
          <a:p>
            <a:r>
              <a:rPr lang="en-US" altLang="zh-CN" smtClean="0">
                <a:ea typeface="黑体" panose="02010609060101010101" pitchFamily="49" charset="-122"/>
              </a:rPr>
              <a:t>6.4.2  </a:t>
            </a:r>
            <a:r>
              <a:rPr lang="zh-CN" altLang="en-US" smtClean="0">
                <a:ea typeface="黑体" panose="02010609060101010101" pitchFamily="49" charset="-122"/>
              </a:rPr>
              <a:t>统一资源定位符 </a:t>
            </a:r>
            <a:r>
              <a:rPr lang="en-US" altLang="zh-CN" smtClean="0">
                <a:ea typeface="黑体" panose="02010609060101010101" pitchFamily="49" charset="-122"/>
              </a:rPr>
              <a:t>URL</a:t>
            </a:r>
          </a:p>
          <a:p>
            <a:r>
              <a:rPr lang="en-US" altLang="zh-CN" smtClean="0">
                <a:ea typeface="黑体" panose="02010609060101010101" pitchFamily="49" charset="-122"/>
              </a:rPr>
              <a:t>6.4.3  </a:t>
            </a:r>
            <a:r>
              <a:rPr lang="zh-CN" altLang="en-US" smtClean="0">
                <a:ea typeface="黑体" panose="02010609060101010101" pitchFamily="49" charset="-122"/>
              </a:rPr>
              <a:t>超文本传送协议 </a:t>
            </a:r>
            <a:r>
              <a:rPr lang="en-US" altLang="zh-CN" smtClean="0">
                <a:ea typeface="黑体" panose="02010609060101010101" pitchFamily="49" charset="-122"/>
              </a:rPr>
              <a:t>HTTP</a:t>
            </a:r>
          </a:p>
          <a:p>
            <a:r>
              <a:rPr lang="en-US" altLang="zh-CN" smtClean="0">
                <a:ea typeface="黑体" panose="02010609060101010101" pitchFamily="49" charset="-122"/>
              </a:rPr>
              <a:t>6.4.4  </a:t>
            </a:r>
            <a:r>
              <a:rPr lang="zh-CN" altLang="en-US" smtClean="0">
                <a:ea typeface="黑体" panose="02010609060101010101" pitchFamily="49" charset="-122"/>
              </a:rPr>
              <a:t>万维网的文档</a:t>
            </a:r>
            <a:endParaRPr lang="en-US" altLang="zh-CN" smtClean="0">
              <a:ea typeface="黑体" panose="02010609060101010101" pitchFamily="49" charset="-122"/>
            </a:endParaRPr>
          </a:p>
          <a:p>
            <a:r>
              <a:rPr lang="en-US" altLang="zh-CN" smtClean="0">
                <a:ea typeface="黑体" panose="02010609060101010101" pitchFamily="49" charset="-122"/>
              </a:rPr>
              <a:t>6.4.5  </a:t>
            </a:r>
            <a:r>
              <a:rPr lang="zh-CN" altLang="en-US" smtClean="0">
                <a:ea typeface="黑体" panose="02010609060101010101" pitchFamily="49" charset="-122"/>
              </a:rPr>
              <a:t>万维网的信息检索系统</a:t>
            </a:r>
            <a:endParaRPr lang="en-US" altLang="zh-CN" smtClean="0">
              <a:ea typeface="黑体" panose="02010609060101010101" pitchFamily="49" charset="-122"/>
            </a:endParaRPr>
          </a:p>
          <a:p>
            <a:r>
              <a:rPr lang="en-US" altLang="zh-CN" smtClean="0">
                <a:ea typeface="黑体" panose="02010609060101010101" pitchFamily="49" charset="-122"/>
              </a:rPr>
              <a:t>6.4.6  </a:t>
            </a:r>
            <a:r>
              <a:rPr lang="zh-CN" altLang="en-US" smtClean="0">
                <a:ea typeface="黑体" panose="02010609060101010101" pitchFamily="49" charset="-122"/>
              </a:rPr>
              <a:t>博客和微博</a:t>
            </a:r>
            <a:endParaRPr lang="en-US" altLang="zh-CN" smtClean="0">
              <a:ea typeface="黑体" panose="02010609060101010101" pitchFamily="49" charset="-122"/>
            </a:endParaRPr>
          </a:p>
          <a:p>
            <a:r>
              <a:rPr lang="en-US" altLang="zh-CN" smtClean="0">
                <a:ea typeface="黑体" panose="02010609060101010101" pitchFamily="49" charset="-122"/>
              </a:rPr>
              <a:t>6.4.7  </a:t>
            </a:r>
            <a:r>
              <a:rPr lang="zh-CN" altLang="en-US" smtClean="0">
                <a:ea typeface="黑体" panose="02010609060101010101" pitchFamily="49" charset="-122"/>
              </a:rPr>
              <a:t>社交网络</a:t>
            </a:r>
          </a:p>
        </p:txBody>
      </p:sp>
      <p:sp>
        <p:nvSpPr>
          <p:cNvPr id="167117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9EB505-6830-4228-9C5E-5FE079ED5A86}" type="slidenum">
              <a:rPr lang="zh-CN" altLang="en-US" smtClean="0"/>
              <a:pPr eaLnBrk="1" hangingPunct="1"/>
              <a:t>6</a:t>
            </a:fld>
            <a:endParaRPr lang="en-US" altLang="zh-CN" smtClean="0"/>
          </a:p>
        </p:txBody>
      </p:sp>
      <p:sp>
        <p:nvSpPr>
          <p:cNvPr id="167117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219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
            </a:r>
            <a:br>
              <a:rPr lang="en-US" altLang="zh-CN" smtClean="0">
                <a:ea typeface="黑体" panose="02010609060101010101" pitchFamily="49" charset="-122"/>
              </a:rPr>
            </a:br>
            <a:r>
              <a:rPr lang="en-US" altLang="zh-CN" sz="4800" smtClean="0">
                <a:ea typeface="黑体" panose="02010609060101010101" pitchFamily="49" charset="-122"/>
              </a:rPr>
              <a:t>6.4.1  </a:t>
            </a:r>
            <a:r>
              <a:rPr lang="zh-CN" altLang="en-US" sz="4800" smtClean="0">
                <a:ea typeface="黑体" panose="02010609060101010101" pitchFamily="49" charset="-122"/>
              </a:rPr>
              <a:t>万维网概述</a:t>
            </a:r>
          </a:p>
        </p:txBody>
      </p:sp>
      <p:sp>
        <p:nvSpPr>
          <p:cNvPr id="543747" name="Rectangle 3"/>
          <p:cNvSpPr>
            <a:spLocks noGrp="1" noChangeArrowheads="1"/>
          </p:cNvSpPr>
          <p:nvPr>
            <p:ph idx="1"/>
          </p:nvPr>
        </p:nvSpPr>
        <p:spPr>
          <a:xfrm>
            <a:off x="495300" y="1196975"/>
            <a:ext cx="9066213" cy="4933950"/>
          </a:xfrm>
        </p:spPr>
        <p:txBody>
          <a:bodyPr/>
          <a:lstStyle/>
          <a:p>
            <a:pPr algn="just"/>
            <a:r>
              <a:rPr lang="zh-CN" altLang="en-US" u="sng" dirty="0" smtClean="0">
                <a:solidFill>
                  <a:srgbClr val="FF0000"/>
                </a:solidFill>
                <a:ea typeface="黑体" panose="02010609060101010101" pitchFamily="49" charset="-122"/>
              </a:rPr>
              <a:t>万维网</a:t>
            </a:r>
            <a:r>
              <a:rPr lang="zh-CN" altLang="en-US" u="sng" dirty="0" smtClean="0">
                <a:ea typeface="黑体" panose="02010609060101010101" pitchFamily="49" charset="-122"/>
              </a:rPr>
              <a:t> </a:t>
            </a:r>
            <a:r>
              <a:rPr lang="en-US" altLang="zh-CN" u="sng" dirty="0" smtClean="0">
                <a:ea typeface="黑体" panose="02010609060101010101" pitchFamily="49" charset="-122"/>
              </a:rPr>
              <a:t>WWW (World Wide Web) </a:t>
            </a:r>
            <a:r>
              <a:rPr lang="zh-CN" altLang="en-US" dirty="0" smtClean="0">
                <a:ea typeface="黑体" panose="02010609060101010101" pitchFamily="49" charset="-122"/>
              </a:rPr>
              <a:t>并非某种特殊的计算机网络。</a:t>
            </a:r>
          </a:p>
          <a:p>
            <a:pPr algn="just"/>
            <a:r>
              <a:rPr lang="zh-CN" altLang="en-US" dirty="0" smtClean="0">
                <a:ea typeface="黑体" panose="02010609060101010101" pitchFamily="49" charset="-122"/>
              </a:rPr>
              <a:t>万维网是一个大规模的、联机式的</a:t>
            </a:r>
            <a:r>
              <a:rPr lang="zh-CN" altLang="en-US" dirty="0" smtClean="0">
                <a:solidFill>
                  <a:srgbClr val="FF0000"/>
                </a:solidFill>
                <a:ea typeface="黑体" panose="02010609060101010101" pitchFamily="49" charset="-122"/>
              </a:rPr>
              <a:t>信息储藏所。</a:t>
            </a:r>
          </a:p>
          <a:p>
            <a:pPr algn="just"/>
            <a:r>
              <a:rPr lang="zh-CN" altLang="en-US" dirty="0" smtClean="0">
                <a:ea typeface="黑体" panose="02010609060101010101" pitchFamily="49" charset="-122"/>
              </a:rPr>
              <a:t>万维网用链接的方法能非常方便地从互联网上的一个站点访问另一个站点，从而主动地按需获取丰富的信息。</a:t>
            </a:r>
          </a:p>
          <a:p>
            <a:pPr algn="just"/>
            <a:r>
              <a:rPr lang="zh-CN" altLang="en-US" dirty="0" smtClean="0">
                <a:ea typeface="黑体" panose="02010609060101010101" pitchFamily="49" charset="-122"/>
              </a:rPr>
              <a:t>这种访问方式称为“</a:t>
            </a:r>
            <a:r>
              <a:rPr lang="zh-CN" altLang="en-US" dirty="0" smtClean="0">
                <a:solidFill>
                  <a:srgbClr val="FF0000"/>
                </a:solidFill>
                <a:ea typeface="黑体" panose="02010609060101010101" pitchFamily="49" charset="-122"/>
              </a:rPr>
              <a:t>链接</a:t>
            </a:r>
            <a:r>
              <a:rPr lang="zh-CN" altLang="en-US" dirty="0" smtClean="0">
                <a:ea typeface="黑体" panose="02010609060101010101" pitchFamily="49" charset="-122"/>
              </a:rPr>
              <a:t>”。</a:t>
            </a:r>
          </a:p>
        </p:txBody>
      </p:sp>
      <p:sp>
        <p:nvSpPr>
          <p:cNvPr id="16721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62F953D-C535-4014-A0AE-696928AEBD55}" type="slidenum">
              <a:rPr lang="zh-CN" altLang="en-US" smtClean="0"/>
              <a:pPr eaLnBrk="1" hangingPunct="1"/>
              <a:t>7</a:t>
            </a:fld>
            <a:endParaRPr lang="en-US" altLang="zh-CN" smtClean="0"/>
          </a:p>
        </p:txBody>
      </p:sp>
      <p:sp>
        <p:nvSpPr>
          <p:cNvPr id="16721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37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374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37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4241" name="Rectangle 2"/>
          <p:cNvSpPr>
            <a:spLocks noGrp="1" noChangeArrowheads="1"/>
          </p:cNvSpPr>
          <p:nvPr>
            <p:ph type="title"/>
          </p:nvPr>
        </p:nvSpPr>
        <p:spPr/>
        <p:txBody>
          <a:bodyPr/>
          <a:lstStyle/>
          <a:p>
            <a:pPr algn="ctr"/>
            <a:r>
              <a:rPr lang="zh-CN" altLang="zh-CN" smtClean="0">
                <a:ea typeface="黑体" panose="02010609060101010101" pitchFamily="49" charset="-122"/>
              </a:rPr>
              <a:t>万维网提供分布式服务 </a:t>
            </a:r>
          </a:p>
        </p:txBody>
      </p:sp>
      <p:sp>
        <p:nvSpPr>
          <p:cNvPr id="1674242" name="Text Box 5"/>
          <p:cNvSpPr txBox="1">
            <a:spLocks noChangeArrowheads="1"/>
          </p:cNvSpPr>
          <p:nvPr/>
        </p:nvSpPr>
        <p:spPr bwMode="auto">
          <a:xfrm>
            <a:off x="2994025" y="3630613"/>
            <a:ext cx="1135063"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0600" b="1">
                <a:solidFill>
                  <a:srgbClr val="000099"/>
                </a:solidFill>
                <a:ea typeface="黑体" panose="02010609060101010101" pitchFamily="49" charset="-122"/>
                <a:sym typeface="Wingdings" panose="05000000000000000000" pitchFamily="2" charset="2"/>
              </a:rPr>
              <a:t></a:t>
            </a:r>
            <a:endParaRPr lang="en-US" altLang="zh-CN" sz="10600" b="1">
              <a:solidFill>
                <a:srgbClr val="000099"/>
              </a:solidFill>
              <a:ea typeface="黑体" panose="02010609060101010101" pitchFamily="49" charset="-122"/>
            </a:endParaRPr>
          </a:p>
        </p:txBody>
      </p:sp>
      <p:sp>
        <p:nvSpPr>
          <p:cNvPr id="1674243" name="Text Box 6"/>
          <p:cNvSpPr txBox="1">
            <a:spLocks noChangeArrowheads="1"/>
          </p:cNvSpPr>
          <p:nvPr/>
        </p:nvSpPr>
        <p:spPr bwMode="auto">
          <a:xfrm>
            <a:off x="876300" y="1603375"/>
            <a:ext cx="1046163"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600" b="1">
                <a:solidFill>
                  <a:srgbClr val="000099"/>
                </a:solidFill>
                <a:ea typeface="黑体" panose="02010609060101010101" pitchFamily="49" charset="-122"/>
                <a:sym typeface="Wingdings" panose="05000000000000000000" pitchFamily="2" charset="2"/>
              </a:rPr>
              <a:t></a:t>
            </a:r>
            <a:endParaRPr lang="en-US" altLang="zh-CN" sz="9600" b="1">
              <a:solidFill>
                <a:srgbClr val="000099"/>
              </a:solidFill>
              <a:ea typeface="黑体" panose="02010609060101010101" pitchFamily="49" charset="-122"/>
            </a:endParaRPr>
          </a:p>
        </p:txBody>
      </p:sp>
      <p:sp>
        <p:nvSpPr>
          <p:cNvPr id="1674244" name="Text Box 7"/>
          <p:cNvSpPr txBox="1">
            <a:spLocks noChangeArrowheads="1"/>
          </p:cNvSpPr>
          <p:nvPr/>
        </p:nvSpPr>
        <p:spPr bwMode="auto">
          <a:xfrm>
            <a:off x="4356100" y="1484313"/>
            <a:ext cx="1135063"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0600" b="1">
                <a:solidFill>
                  <a:srgbClr val="000099"/>
                </a:solidFill>
                <a:ea typeface="黑体" panose="02010609060101010101" pitchFamily="49" charset="-122"/>
                <a:sym typeface="Wingdings" panose="05000000000000000000" pitchFamily="2" charset="2"/>
              </a:rPr>
              <a:t></a:t>
            </a:r>
            <a:endParaRPr lang="en-US" altLang="zh-CN" sz="10600" b="1">
              <a:solidFill>
                <a:srgbClr val="000099"/>
              </a:solidFill>
              <a:ea typeface="黑体" panose="02010609060101010101" pitchFamily="49" charset="-122"/>
            </a:endParaRPr>
          </a:p>
        </p:txBody>
      </p:sp>
      <p:sp>
        <p:nvSpPr>
          <p:cNvPr id="1674245" name="Text Box 8"/>
          <p:cNvSpPr txBox="1">
            <a:spLocks noChangeArrowheads="1"/>
          </p:cNvSpPr>
          <p:nvPr/>
        </p:nvSpPr>
        <p:spPr bwMode="auto">
          <a:xfrm>
            <a:off x="6321425" y="3557588"/>
            <a:ext cx="1135063"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0600" b="1">
                <a:solidFill>
                  <a:srgbClr val="000099"/>
                </a:solidFill>
                <a:ea typeface="黑体" panose="02010609060101010101" pitchFamily="49" charset="-122"/>
                <a:sym typeface="Wingdings" panose="05000000000000000000" pitchFamily="2" charset="2"/>
              </a:rPr>
              <a:t></a:t>
            </a:r>
            <a:endParaRPr lang="en-US" altLang="zh-CN" sz="10600" b="1">
              <a:solidFill>
                <a:srgbClr val="000099"/>
              </a:solidFill>
              <a:ea typeface="黑体" panose="02010609060101010101" pitchFamily="49" charset="-122"/>
            </a:endParaRPr>
          </a:p>
        </p:txBody>
      </p:sp>
      <p:sp>
        <p:nvSpPr>
          <p:cNvPr id="1674246" name="Text Box 9"/>
          <p:cNvSpPr txBox="1">
            <a:spLocks noChangeArrowheads="1"/>
          </p:cNvSpPr>
          <p:nvPr/>
        </p:nvSpPr>
        <p:spPr bwMode="auto">
          <a:xfrm>
            <a:off x="8083550" y="1646238"/>
            <a:ext cx="1046163"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600" b="1">
                <a:solidFill>
                  <a:srgbClr val="000099"/>
                </a:solidFill>
                <a:ea typeface="黑体" panose="02010609060101010101" pitchFamily="49" charset="-122"/>
                <a:sym typeface="Wingdings" panose="05000000000000000000" pitchFamily="2" charset="2"/>
              </a:rPr>
              <a:t></a:t>
            </a:r>
            <a:endParaRPr lang="en-US" altLang="zh-CN" sz="9600" b="1">
              <a:solidFill>
                <a:srgbClr val="000099"/>
              </a:solidFill>
              <a:ea typeface="黑体" panose="02010609060101010101" pitchFamily="49" charset="-122"/>
            </a:endParaRPr>
          </a:p>
        </p:txBody>
      </p:sp>
      <p:pic>
        <p:nvPicPr>
          <p:cNvPr id="1674247" name="Picture 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6013" y="2879725"/>
            <a:ext cx="7112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4248" name="Text Box 11"/>
          <p:cNvSpPr txBox="1">
            <a:spLocks noChangeArrowheads="1"/>
          </p:cNvSpPr>
          <p:nvPr/>
        </p:nvSpPr>
        <p:spPr bwMode="auto">
          <a:xfrm>
            <a:off x="995363" y="3438525"/>
            <a:ext cx="9540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万维网</a:t>
            </a:r>
          </a:p>
          <a:p>
            <a:r>
              <a:rPr lang="zh-CN" altLang="en-US" sz="2000" b="1">
                <a:solidFill>
                  <a:srgbClr val="000099"/>
                </a:solidFill>
                <a:ea typeface="黑体" panose="02010609060101010101" pitchFamily="49" charset="-122"/>
              </a:rPr>
              <a:t>站点 </a:t>
            </a:r>
            <a:r>
              <a:rPr lang="en-US" altLang="zh-CN" sz="2000" b="1">
                <a:solidFill>
                  <a:srgbClr val="000099"/>
                </a:solidFill>
                <a:ea typeface="黑体" panose="02010609060101010101" pitchFamily="49" charset="-122"/>
              </a:rPr>
              <a:t>A</a:t>
            </a:r>
          </a:p>
        </p:txBody>
      </p:sp>
      <p:pic>
        <p:nvPicPr>
          <p:cNvPr id="1674249"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3588" y="2892425"/>
            <a:ext cx="714375"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74250"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66113" y="2879725"/>
            <a:ext cx="714375"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74251"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5900" y="4935538"/>
            <a:ext cx="711200"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74252"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60725" y="4935538"/>
            <a:ext cx="712788"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4253" name="Text Box 16"/>
          <p:cNvSpPr txBox="1">
            <a:spLocks noChangeArrowheads="1"/>
          </p:cNvSpPr>
          <p:nvPr/>
        </p:nvSpPr>
        <p:spPr bwMode="auto">
          <a:xfrm>
            <a:off x="8094663" y="3468688"/>
            <a:ext cx="9540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万维网</a:t>
            </a:r>
          </a:p>
          <a:p>
            <a:r>
              <a:rPr lang="zh-CN" altLang="en-US" sz="2000" b="1">
                <a:solidFill>
                  <a:srgbClr val="000099"/>
                </a:solidFill>
                <a:ea typeface="黑体" panose="02010609060101010101" pitchFamily="49" charset="-122"/>
              </a:rPr>
              <a:t>站点 </a:t>
            </a:r>
            <a:r>
              <a:rPr lang="en-US" altLang="zh-CN" sz="2000" b="1">
                <a:solidFill>
                  <a:srgbClr val="000099"/>
                </a:solidFill>
                <a:ea typeface="黑体" panose="02010609060101010101" pitchFamily="49" charset="-122"/>
              </a:rPr>
              <a:t>C</a:t>
            </a:r>
          </a:p>
        </p:txBody>
      </p:sp>
      <p:sp>
        <p:nvSpPr>
          <p:cNvPr id="1674254" name="Text Box 17"/>
          <p:cNvSpPr txBox="1">
            <a:spLocks noChangeArrowheads="1"/>
          </p:cNvSpPr>
          <p:nvPr/>
        </p:nvSpPr>
        <p:spPr bwMode="auto">
          <a:xfrm>
            <a:off x="5997575" y="5537200"/>
            <a:ext cx="17097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万维网站点 </a:t>
            </a:r>
            <a:r>
              <a:rPr lang="en-US" altLang="zh-CN" sz="2000" b="1">
                <a:solidFill>
                  <a:srgbClr val="000099"/>
                </a:solidFill>
                <a:ea typeface="黑体" panose="02010609060101010101" pitchFamily="49" charset="-122"/>
              </a:rPr>
              <a:t>E</a:t>
            </a:r>
          </a:p>
        </p:txBody>
      </p:sp>
      <p:sp>
        <p:nvSpPr>
          <p:cNvPr id="1674255" name="Text Box 18"/>
          <p:cNvSpPr txBox="1">
            <a:spLocks noChangeArrowheads="1"/>
          </p:cNvSpPr>
          <p:nvPr/>
        </p:nvSpPr>
        <p:spPr bwMode="auto">
          <a:xfrm>
            <a:off x="2720975" y="554037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万维网站点 </a:t>
            </a:r>
            <a:r>
              <a:rPr lang="en-US" altLang="zh-CN" sz="2000" b="1">
                <a:solidFill>
                  <a:srgbClr val="000099"/>
                </a:solidFill>
                <a:ea typeface="黑体" panose="02010609060101010101" pitchFamily="49" charset="-122"/>
              </a:rPr>
              <a:t>D</a:t>
            </a:r>
          </a:p>
        </p:txBody>
      </p:sp>
      <p:sp>
        <p:nvSpPr>
          <p:cNvPr id="1674256" name="Text Box 19"/>
          <p:cNvSpPr txBox="1">
            <a:spLocks noChangeArrowheads="1"/>
          </p:cNvSpPr>
          <p:nvPr/>
        </p:nvSpPr>
        <p:spPr bwMode="auto">
          <a:xfrm>
            <a:off x="4048125" y="3486150"/>
            <a:ext cx="1730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万维网站点 </a:t>
            </a:r>
            <a:r>
              <a:rPr lang="en-US" altLang="zh-CN" sz="2000" b="1">
                <a:solidFill>
                  <a:srgbClr val="000099"/>
                </a:solidFill>
                <a:ea typeface="黑体" panose="02010609060101010101" pitchFamily="49" charset="-122"/>
              </a:rPr>
              <a:t>B</a:t>
            </a:r>
          </a:p>
        </p:txBody>
      </p:sp>
      <p:grpSp>
        <p:nvGrpSpPr>
          <p:cNvPr id="544821" name="Group 53"/>
          <p:cNvGrpSpPr>
            <a:grpSpLocks/>
          </p:cNvGrpSpPr>
          <p:nvPr/>
        </p:nvGrpSpPr>
        <p:grpSpPr bwMode="auto">
          <a:xfrm>
            <a:off x="1541463" y="1900238"/>
            <a:ext cx="3273425" cy="582612"/>
            <a:chOff x="833" y="1365"/>
            <a:chExt cx="1903" cy="367"/>
          </a:xfrm>
        </p:grpSpPr>
        <p:sp>
          <p:nvSpPr>
            <p:cNvPr id="1674258" name="Line 25"/>
            <p:cNvSpPr>
              <a:spLocks noChangeShapeType="1"/>
            </p:cNvSpPr>
            <p:nvPr/>
          </p:nvSpPr>
          <p:spPr bwMode="auto">
            <a:xfrm flipV="1">
              <a:off x="833" y="1564"/>
              <a:ext cx="1903" cy="168"/>
            </a:xfrm>
            <a:prstGeom prst="line">
              <a:avLst/>
            </a:prstGeom>
            <a:noFill/>
            <a:ln w="76200">
              <a:solidFill>
                <a:schemeClr val="hlink"/>
              </a:solidFill>
              <a:prstDash val="sysDot"/>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74259" name="Text Box 26"/>
            <p:cNvSpPr txBox="1">
              <a:spLocks noChangeArrowheads="1"/>
            </p:cNvSpPr>
            <p:nvPr/>
          </p:nvSpPr>
          <p:spPr bwMode="auto">
            <a:xfrm rot="-222578">
              <a:off x="1520" y="1365"/>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链接到</a:t>
              </a:r>
            </a:p>
          </p:txBody>
        </p:sp>
      </p:grpSp>
      <p:grpSp>
        <p:nvGrpSpPr>
          <p:cNvPr id="544823" name="Group 55"/>
          <p:cNvGrpSpPr>
            <a:grpSpLocks/>
          </p:cNvGrpSpPr>
          <p:nvPr/>
        </p:nvGrpSpPr>
        <p:grpSpPr bwMode="auto">
          <a:xfrm>
            <a:off x="3508375" y="2508250"/>
            <a:ext cx="1179513" cy="1862138"/>
            <a:chOff x="1976" y="1748"/>
            <a:chExt cx="686" cy="1173"/>
          </a:xfrm>
        </p:grpSpPr>
        <p:sp>
          <p:nvSpPr>
            <p:cNvPr id="1674261" name="Line 22"/>
            <p:cNvSpPr>
              <a:spLocks noChangeShapeType="1"/>
            </p:cNvSpPr>
            <p:nvPr/>
          </p:nvSpPr>
          <p:spPr bwMode="auto">
            <a:xfrm flipH="1">
              <a:off x="1976" y="1778"/>
              <a:ext cx="686" cy="1143"/>
            </a:xfrm>
            <a:prstGeom prst="line">
              <a:avLst/>
            </a:prstGeom>
            <a:noFill/>
            <a:ln w="76200">
              <a:solidFill>
                <a:schemeClr val="hlink"/>
              </a:solidFill>
              <a:prstDash val="sysDot"/>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74262" name="Text Box 27"/>
            <p:cNvSpPr txBox="1">
              <a:spLocks noChangeArrowheads="1"/>
            </p:cNvSpPr>
            <p:nvPr/>
          </p:nvSpPr>
          <p:spPr bwMode="auto">
            <a:xfrm rot="-3456035">
              <a:off x="2023" y="1931"/>
              <a:ext cx="6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链接到</a:t>
              </a:r>
            </a:p>
          </p:txBody>
        </p:sp>
      </p:grpSp>
      <p:grpSp>
        <p:nvGrpSpPr>
          <p:cNvPr id="544822" name="Group 54"/>
          <p:cNvGrpSpPr>
            <a:grpSpLocks/>
          </p:cNvGrpSpPr>
          <p:nvPr/>
        </p:nvGrpSpPr>
        <p:grpSpPr bwMode="auto">
          <a:xfrm>
            <a:off x="1601788" y="2727325"/>
            <a:ext cx="5218112" cy="2035175"/>
            <a:chOff x="868" y="1886"/>
            <a:chExt cx="3034" cy="1282"/>
          </a:xfrm>
        </p:grpSpPr>
        <p:sp>
          <p:nvSpPr>
            <p:cNvPr id="1674264" name="Line 20"/>
            <p:cNvSpPr>
              <a:spLocks noChangeShapeType="1"/>
            </p:cNvSpPr>
            <p:nvPr/>
          </p:nvSpPr>
          <p:spPr bwMode="auto">
            <a:xfrm>
              <a:off x="868" y="1886"/>
              <a:ext cx="3034" cy="1282"/>
            </a:xfrm>
            <a:prstGeom prst="line">
              <a:avLst/>
            </a:prstGeom>
            <a:noFill/>
            <a:ln w="76200">
              <a:solidFill>
                <a:schemeClr val="hlink"/>
              </a:solidFill>
              <a:prstDash val="sysDot"/>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74265" name="Text Box 28"/>
            <p:cNvSpPr txBox="1">
              <a:spLocks noChangeArrowheads="1"/>
            </p:cNvSpPr>
            <p:nvPr/>
          </p:nvSpPr>
          <p:spPr bwMode="auto">
            <a:xfrm rot="1357240">
              <a:off x="1479" y="1972"/>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链接到</a:t>
              </a:r>
            </a:p>
          </p:txBody>
        </p:sp>
      </p:grpSp>
      <p:grpSp>
        <p:nvGrpSpPr>
          <p:cNvPr id="544826" name="Group 58"/>
          <p:cNvGrpSpPr>
            <a:grpSpLocks/>
          </p:cNvGrpSpPr>
          <p:nvPr/>
        </p:nvGrpSpPr>
        <p:grpSpPr bwMode="auto">
          <a:xfrm>
            <a:off x="3781425" y="2727325"/>
            <a:ext cx="4716463" cy="2074863"/>
            <a:chOff x="2135" y="1886"/>
            <a:chExt cx="2743" cy="1307"/>
          </a:xfrm>
        </p:grpSpPr>
        <p:sp>
          <p:nvSpPr>
            <p:cNvPr id="1674267" name="Line 21"/>
            <p:cNvSpPr>
              <a:spLocks noChangeShapeType="1"/>
            </p:cNvSpPr>
            <p:nvPr/>
          </p:nvSpPr>
          <p:spPr bwMode="auto">
            <a:xfrm flipV="1">
              <a:off x="2135" y="1886"/>
              <a:ext cx="2743" cy="1307"/>
            </a:xfrm>
            <a:prstGeom prst="line">
              <a:avLst/>
            </a:prstGeom>
            <a:noFill/>
            <a:ln w="76200">
              <a:solidFill>
                <a:schemeClr val="hlink"/>
              </a:solidFill>
              <a:prstDash val="sysDot"/>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74268" name="Text Box 29"/>
            <p:cNvSpPr txBox="1">
              <a:spLocks noChangeArrowheads="1"/>
            </p:cNvSpPr>
            <p:nvPr/>
          </p:nvSpPr>
          <p:spPr bwMode="auto">
            <a:xfrm rot="-1481172">
              <a:off x="3724" y="2008"/>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链接到</a:t>
              </a:r>
            </a:p>
          </p:txBody>
        </p:sp>
      </p:grpSp>
      <p:grpSp>
        <p:nvGrpSpPr>
          <p:cNvPr id="544825" name="Group 57"/>
          <p:cNvGrpSpPr>
            <a:grpSpLocks/>
          </p:cNvGrpSpPr>
          <p:nvPr/>
        </p:nvGrpSpPr>
        <p:grpSpPr bwMode="auto">
          <a:xfrm>
            <a:off x="1330325" y="2814638"/>
            <a:ext cx="2087563" cy="1814512"/>
            <a:chOff x="710" y="1941"/>
            <a:chExt cx="1214" cy="1143"/>
          </a:xfrm>
        </p:grpSpPr>
        <p:sp>
          <p:nvSpPr>
            <p:cNvPr id="1674270" name="Line 24"/>
            <p:cNvSpPr>
              <a:spLocks noChangeShapeType="1"/>
            </p:cNvSpPr>
            <p:nvPr/>
          </p:nvSpPr>
          <p:spPr bwMode="auto">
            <a:xfrm flipH="1" flipV="1">
              <a:off x="710" y="1941"/>
              <a:ext cx="1214" cy="1143"/>
            </a:xfrm>
            <a:prstGeom prst="line">
              <a:avLst/>
            </a:prstGeom>
            <a:noFill/>
            <a:ln w="76200">
              <a:solidFill>
                <a:schemeClr val="hlink"/>
              </a:solidFill>
              <a:prstDash val="sysDot"/>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74271" name="Text Box 30"/>
            <p:cNvSpPr txBox="1">
              <a:spLocks noChangeArrowheads="1"/>
            </p:cNvSpPr>
            <p:nvPr/>
          </p:nvSpPr>
          <p:spPr bwMode="auto">
            <a:xfrm rot="2570439">
              <a:off x="1222" y="2355"/>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链接到</a:t>
              </a:r>
            </a:p>
          </p:txBody>
        </p:sp>
      </p:grpSp>
      <p:grpSp>
        <p:nvGrpSpPr>
          <p:cNvPr id="544824" name="Group 56"/>
          <p:cNvGrpSpPr>
            <a:grpSpLocks/>
          </p:cNvGrpSpPr>
          <p:nvPr/>
        </p:nvGrpSpPr>
        <p:grpSpPr bwMode="auto">
          <a:xfrm>
            <a:off x="5049838" y="2814638"/>
            <a:ext cx="1633537" cy="1555750"/>
            <a:chOff x="2873" y="1941"/>
            <a:chExt cx="950" cy="980"/>
          </a:xfrm>
        </p:grpSpPr>
        <p:sp>
          <p:nvSpPr>
            <p:cNvPr id="1674273" name="Line 23"/>
            <p:cNvSpPr>
              <a:spLocks noChangeShapeType="1"/>
            </p:cNvSpPr>
            <p:nvPr/>
          </p:nvSpPr>
          <p:spPr bwMode="auto">
            <a:xfrm>
              <a:off x="2873" y="1941"/>
              <a:ext cx="950" cy="980"/>
            </a:xfrm>
            <a:prstGeom prst="line">
              <a:avLst/>
            </a:prstGeom>
            <a:noFill/>
            <a:ln w="76200">
              <a:solidFill>
                <a:schemeClr val="hlink"/>
              </a:solidFill>
              <a:prstDash val="sysDot"/>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74274" name="Text Box 31"/>
            <p:cNvSpPr txBox="1">
              <a:spLocks noChangeArrowheads="1"/>
            </p:cNvSpPr>
            <p:nvPr/>
          </p:nvSpPr>
          <p:spPr bwMode="auto">
            <a:xfrm rot="2686426">
              <a:off x="3109" y="2112"/>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链接到</a:t>
              </a:r>
            </a:p>
          </p:txBody>
        </p:sp>
      </p:grpSp>
      <p:grpSp>
        <p:nvGrpSpPr>
          <p:cNvPr id="1674275" name="Group 34"/>
          <p:cNvGrpSpPr>
            <a:grpSpLocks/>
          </p:cNvGrpSpPr>
          <p:nvPr/>
        </p:nvGrpSpPr>
        <p:grpSpPr bwMode="auto">
          <a:xfrm>
            <a:off x="4532313" y="2143125"/>
            <a:ext cx="506412" cy="523875"/>
            <a:chOff x="806" y="3124"/>
            <a:chExt cx="266" cy="289"/>
          </a:xfrm>
        </p:grpSpPr>
        <p:sp>
          <p:nvSpPr>
            <p:cNvPr id="1674276" name="Oval 35"/>
            <p:cNvSpPr>
              <a:spLocks noChangeArrowheads="1"/>
            </p:cNvSpPr>
            <p:nvPr/>
          </p:nvSpPr>
          <p:spPr bwMode="auto">
            <a:xfrm>
              <a:off x="864" y="3248"/>
              <a:ext cx="112" cy="12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674277" name="Text Box 36"/>
            <p:cNvSpPr txBox="1">
              <a:spLocks noChangeArrowheads="1"/>
            </p:cNvSpPr>
            <p:nvPr/>
          </p:nvSpPr>
          <p:spPr bwMode="auto">
            <a:xfrm>
              <a:off x="806" y="3124"/>
              <a:ext cx="266"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grpSp>
      <p:grpSp>
        <p:nvGrpSpPr>
          <p:cNvPr id="1674278" name="Group 37"/>
          <p:cNvGrpSpPr>
            <a:grpSpLocks/>
          </p:cNvGrpSpPr>
          <p:nvPr/>
        </p:nvGrpSpPr>
        <p:grpSpPr bwMode="auto">
          <a:xfrm>
            <a:off x="3492500" y="4533900"/>
            <a:ext cx="504825" cy="523875"/>
            <a:chOff x="805" y="3123"/>
            <a:chExt cx="268" cy="289"/>
          </a:xfrm>
        </p:grpSpPr>
        <p:sp>
          <p:nvSpPr>
            <p:cNvPr id="1674279" name="Oval 38"/>
            <p:cNvSpPr>
              <a:spLocks noChangeArrowheads="1"/>
            </p:cNvSpPr>
            <p:nvPr/>
          </p:nvSpPr>
          <p:spPr bwMode="auto">
            <a:xfrm>
              <a:off x="864" y="3248"/>
              <a:ext cx="112" cy="12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674280" name="Text Box 39"/>
            <p:cNvSpPr txBox="1">
              <a:spLocks noChangeArrowheads="1"/>
            </p:cNvSpPr>
            <p:nvPr/>
          </p:nvSpPr>
          <p:spPr bwMode="auto">
            <a:xfrm>
              <a:off x="805" y="3123"/>
              <a:ext cx="26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grpSp>
      <p:grpSp>
        <p:nvGrpSpPr>
          <p:cNvPr id="1674281" name="Group 40"/>
          <p:cNvGrpSpPr>
            <a:grpSpLocks/>
          </p:cNvGrpSpPr>
          <p:nvPr/>
        </p:nvGrpSpPr>
        <p:grpSpPr bwMode="auto">
          <a:xfrm>
            <a:off x="1285875" y="2159000"/>
            <a:ext cx="506413" cy="523875"/>
            <a:chOff x="806" y="3124"/>
            <a:chExt cx="268" cy="289"/>
          </a:xfrm>
        </p:grpSpPr>
        <p:sp>
          <p:nvSpPr>
            <p:cNvPr id="1674282" name="Oval 41"/>
            <p:cNvSpPr>
              <a:spLocks noChangeArrowheads="1"/>
            </p:cNvSpPr>
            <p:nvPr/>
          </p:nvSpPr>
          <p:spPr bwMode="auto">
            <a:xfrm>
              <a:off x="864" y="3248"/>
              <a:ext cx="112" cy="12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674283" name="Text Box 42"/>
            <p:cNvSpPr txBox="1">
              <a:spLocks noChangeArrowheads="1"/>
            </p:cNvSpPr>
            <p:nvPr/>
          </p:nvSpPr>
          <p:spPr bwMode="auto">
            <a:xfrm>
              <a:off x="806" y="3124"/>
              <a:ext cx="26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grpSp>
      <p:grpSp>
        <p:nvGrpSpPr>
          <p:cNvPr id="1674284" name="Group 43"/>
          <p:cNvGrpSpPr>
            <a:grpSpLocks/>
          </p:cNvGrpSpPr>
          <p:nvPr/>
        </p:nvGrpSpPr>
        <p:grpSpPr bwMode="auto">
          <a:xfrm>
            <a:off x="1330325" y="2405063"/>
            <a:ext cx="504825" cy="523875"/>
            <a:chOff x="806" y="3124"/>
            <a:chExt cx="266" cy="290"/>
          </a:xfrm>
        </p:grpSpPr>
        <p:sp>
          <p:nvSpPr>
            <p:cNvPr id="1674285" name="Oval 44"/>
            <p:cNvSpPr>
              <a:spLocks noChangeArrowheads="1"/>
            </p:cNvSpPr>
            <p:nvPr/>
          </p:nvSpPr>
          <p:spPr bwMode="auto">
            <a:xfrm>
              <a:off x="864" y="3248"/>
              <a:ext cx="112" cy="12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674286" name="Text Box 45"/>
            <p:cNvSpPr txBox="1">
              <a:spLocks noChangeArrowheads="1"/>
            </p:cNvSpPr>
            <p:nvPr/>
          </p:nvSpPr>
          <p:spPr bwMode="auto">
            <a:xfrm>
              <a:off x="806" y="3124"/>
              <a:ext cx="266"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grpSp>
      <p:grpSp>
        <p:nvGrpSpPr>
          <p:cNvPr id="1674287" name="Group 46"/>
          <p:cNvGrpSpPr>
            <a:grpSpLocks/>
          </p:cNvGrpSpPr>
          <p:nvPr/>
        </p:nvGrpSpPr>
        <p:grpSpPr bwMode="auto">
          <a:xfrm>
            <a:off x="4732338" y="2405063"/>
            <a:ext cx="506412" cy="523875"/>
            <a:chOff x="805" y="3124"/>
            <a:chExt cx="268" cy="290"/>
          </a:xfrm>
        </p:grpSpPr>
        <p:sp>
          <p:nvSpPr>
            <p:cNvPr id="1674288" name="Oval 47"/>
            <p:cNvSpPr>
              <a:spLocks noChangeArrowheads="1"/>
            </p:cNvSpPr>
            <p:nvPr/>
          </p:nvSpPr>
          <p:spPr bwMode="auto">
            <a:xfrm>
              <a:off x="864" y="3248"/>
              <a:ext cx="112" cy="12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674289" name="Text Box 48"/>
            <p:cNvSpPr txBox="1">
              <a:spLocks noChangeArrowheads="1"/>
            </p:cNvSpPr>
            <p:nvPr/>
          </p:nvSpPr>
          <p:spPr bwMode="auto">
            <a:xfrm>
              <a:off x="805" y="3124"/>
              <a:ext cx="268"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grpSp>
      <p:grpSp>
        <p:nvGrpSpPr>
          <p:cNvPr id="1674290" name="Group 49"/>
          <p:cNvGrpSpPr>
            <a:grpSpLocks/>
          </p:cNvGrpSpPr>
          <p:nvPr/>
        </p:nvGrpSpPr>
        <p:grpSpPr bwMode="auto">
          <a:xfrm>
            <a:off x="3251200" y="4362450"/>
            <a:ext cx="506413" cy="523875"/>
            <a:chOff x="806" y="3124"/>
            <a:chExt cx="266" cy="289"/>
          </a:xfrm>
        </p:grpSpPr>
        <p:sp>
          <p:nvSpPr>
            <p:cNvPr id="1674291" name="Oval 50"/>
            <p:cNvSpPr>
              <a:spLocks noChangeArrowheads="1"/>
            </p:cNvSpPr>
            <p:nvPr/>
          </p:nvSpPr>
          <p:spPr bwMode="auto">
            <a:xfrm>
              <a:off x="864" y="3248"/>
              <a:ext cx="112" cy="12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674292" name="Text Box 51"/>
            <p:cNvSpPr txBox="1">
              <a:spLocks noChangeArrowheads="1"/>
            </p:cNvSpPr>
            <p:nvPr/>
          </p:nvSpPr>
          <p:spPr bwMode="auto">
            <a:xfrm>
              <a:off x="806" y="3124"/>
              <a:ext cx="266"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p>
          </p:txBody>
        </p:sp>
      </p:grpSp>
      <p:sp>
        <p:nvSpPr>
          <p:cNvPr id="167429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35985A-D09F-4A4D-A9CB-7F96392854E1}" type="slidenum">
              <a:rPr lang="zh-CN" altLang="en-US" smtClean="0"/>
              <a:pPr eaLnBrk="1" hangingPunct="1"/>
              <a:t>8</a:t>
            </a:fld>
            <a:endParaRPr lang="en-US" altLang="zh-CN" smtClean="0"/>
          </a:p>
        </p:txBody>
      </p:sp>
      <p:sp>
        <p:nvSpPr>
          <p:cNvPr id="167429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44821"/>
                                        </p:tgtEl>
                                        <p:attrNameLst>
                                          <p:attrName>style.visibility</p:attrName>
                                        </p:attrNameLst>
                                      </p:cBhvr>
                                      <p:to>
                                        <p:strVal val="visible"/>
                                      </p:to>
                                    </p:set>
                                    <p:animEffect transition="in" filter="wipe(left)">
                                      <p:cBhvr>
                                        <p:cTn id="7" dur="1000"/>
                                        <p:tgtEl>
                                          <p:spTgt spid="544821"/>
                                        </p:tgtEl>
                                      </p:cBhvr>
                                    </p:animEffect>
                                  </p:childTnLst>
                                </p:cTn>
                              </p:par>
                            </p:childTnLst>
                          </p:cTn>
                        </p:par>
                        <p:par>
                          <p:cTn id="8" fill="hold" nodeType="afterGroup">
                            <p:stCondLst>
                              <p:cond delay="1500"/>
                            </p:stCondLst>
                            <p:childTnLst>
                              <p:par>
                                <p:cTn id="9" presetID="22" presetClass="entr" presetSubtype="8" fill="hold" nodeType="afterEffect">
                                  <p:stCondLst>
                                    <p:cond delay="500"/>
                                  </p:stCondLst>
                                  <p:childTnLst>
                                    <p:set>
                                      <p:cBhvr>
                                        <p:cTn id="10" dur="1" fill="hold">
                                          <p:stCondLst>
                                            <p:cond delay="0"/>
                                          </p:stCondLst>
                                        </p:cTn>
                                        <p:tgtEl>
                                          <p:spTgt spid="544822"/>
                                        </p:tgtEl>
                                        <p:attrNameLst>
                                          <p:attrName>style.visibility</p:attrName>
                                        </p:attrNameLst>
                                      </p:cBhvr>
                                      <p:to>
                                        <p:strVal val="visible"/>
                                      </p:to>
                                    </p:set>
                                    <p:animEffect transition="in" filter="wipe(left)">
                                      <p:cBhvr>
                                        <p:cTn id="11" dur="1000"/>
                                        <p:tgtEl>
                                          <p:spTgt spid="544822"/>
                                        </p:tgtEl>
                                      </p:cBhvr>
                                    </p:animEffect>
                                  </p:childTnLst>
                                </p:cTn>
                              </p:par>
                            </p:childTnLst>
                          </p:cTn>
                        </p:par>
                        <p:par>
                          <p:cTn id="12" fill="hold" nodeType="afterGroup">
                            <p:stCondLst>
                              <p:cond delay="3000"/>
                            </p:stCondLst>
                            <p:childTnLst>
                              <p:par>
                                <p:cTn id="13" presetID="22" presetClass="entr" presetSubtype="1" fill="hold" nodeType="afterEffect">
                                  <p:stCondLst>
                                    <p:cond delay="500"/>
                                  </p:stCondLst>
                                  <p:childTnLst>
                                    <p:set>
                                      <p:cBhvr>
                                        <p:cTn id="14" dur="1" fill="hold">
                                          <p:stCondLst>
                                            <p:cond delay="0"/>
                                          </p:stCondLst>
                                        </p:cTn>
                                        <p:tgtEl>
                                          <p:spTgt spid="544823"/>
                                        </p:tgtEl>
                                        <p:attrNameLst>
                                          <p:attrName>style.visibility</p:attrName>
                                        </p:attrNameLst>
                                      </p:cBhvr>
                                      <p:to>
                                        <p:strVal val="visible"/>
                                      </p:to>
                                    </p:set>
                                    <p:animEffect transition="in" filter="wipe(up)">
                                      <p:cBhvr>
                                        <p:cTn id="15" dur="1000"/>
                                        <p:tgtEl>
                                          <p:spTgt spid="544823"/>
                                        </p:tgtEl>
                                      </p:cBhvr>
                                    </p:animEffect>
                                  </p:childTnLst>
                                </p:cTn>
                              </p:par>
                            </p:childTnLst>
                          </p:cTn>
                        </p:par>
                        <p:par>
                          <p:cTn id="16" fill="hold" nodeType="afterGroup">
                            <p:stCondLst>
                              <p:cond delay="4500"/>
                            </p:stCondLst>
                            <p:childTnLst>
                              <p:par>
                                <p:cTn id="17" presetID="22" presetClass="entr" presetSubtype="1" fill="hold" nodeType="afterEffect">
                                  <p:stCondLst>
                                    <p:cond delay="500"/>
                                  </p:stCondLst>
                                  <p:childTnLst>
                                    <p:set>
                                      <p:cBhvr>
                                        <p:cTn id="18" dur="1" fill="hold">
                                          <p:stCondLst>
                                            <p:cond delay="0"/>
                                          </p:stCondLst>
                                        </p:cTn>
                                        <p:tgtEl>
                                          <p:spTgt spid="544824"/>
                                        </p:tgtEl>
                                        <p:attrNameLst>
                                          <p:attrName>style.visibility</p:attrName>
                                        </p:attrNameLst>
                                      </p:cBhvr>
                                      <p:to>
                                        <p:strVal val="visible"/>
                                      </p:to>
                                    </p:set>
                                    <p:animEffect transition="in" filter="wipe(up)">
                                      <p:cBhvr>
                                        <p:cTn id="19" dur="1000"/>
                                        <p:tgtEl>
                                          <p:spTgt spid="544824"/>
                                        </p:tgtEl>
                                      </p:cBhvr>
                                    </p:animEffect>
                                  </p:childTnLst>
                                </p:cTn>
                              </p:par>
                            </p:childTnLst>
                          </p:cTn>
                        </p:par>
                        <p:par>
                          <p:cTn id="20" fill="hold" nodeType="afterGroup">
                            <p:stCondLst>
                              <p:cond delay="6000"/>
                            </p:stCondLst>
                            <p:childTnLst>
                              <p:par>
                                <p:cTn id="21" presetID="22" presetClass="entr" presetSubtype="4" fill="hold" nodeType="afterEffect">
                                  <p:stCondLst>
                                    <p:cond delay="500"/>
                                  </p:stCondLst>
                                  <p:childTnLst>
                                    <p:set>
                                      <p:cBhvr>
                                        <p:cTn id="22" dur="1" fill="hold">
                                          <p:stCondLst>
                                            <p:cond delay="0"/>
                                          </p:stCondLst>
                                        </p:cTn>
                                        <p:tgtEl>
                                          <p:spTgt spid="544825"/>
                                        </p:tgtEl>
                                        <p:attrNameLst>
                                          <p:attrName>style.visibility</p:attrName>
                                        </p:attrNameLst>
                                      </p:cBhvr>
                                      <p:to>
                                        <p:strVal val="visible"/>
                                      </p:to>
                                    </p:set>
                                    <p:animEffect transition="in" filter="wipe(down)">
                                      <p:cBhvr>
                                        <p:cTn id="23" dur="1000"/>
                                        <p:tgtEl>
                                          <p:spTgt spid="544825"/>
                                        </p:tgtEl>
                                      </p:cBhvr>
                                    </p:animEffect>
                                  </p:childTnLst>
                                </p:cTn>
                              </p:par>
                            </p:childTnLst>
                          </p:cTn>
                        </p:par>
                        <p:par>
                          <p:cTn id="24" fill="hold" nodeType="afterGroup">
                            <p:stCondLst>
                              <p:cond delay="7500"/>
                            </p:stCondLst>
                            <p:childTnLst>
                              <p:par>
                                <p:cTn id="25" presetID="22" presetClass="entr" presetSubtype="8" fill="hold" nodeType="afterEffect">
                                  <p:stCondLst>
                                    <p:cond delay="500"/>
                                  </p:stCondLst>
                                  <p:childTnLst>
                                    <p:set>
                                      <p:cBhvr>
                                        <p:cTn id="26" dur="1" fill="hold">
                                          <p:stCondLst>
                                            <p:cond delay="0"/>
                                          </p:stCondLst>
                                        </p:cTn>
                                        <p:tgtEl>
                                          <p:spTgt spid="544826"/>
                                        </p:tgtEl>
                                        <p:attrNameLst>
                                          <p:attrName>style.visibility</p:attrName>
                                        </p:attrNameLst>
                                      </p:cBhvr>
                                      <p:to>
                                        <p:strVal val="visible"/>
                                      </p:to>
                                    </p:set>
                                    <p:animEffect transition="in" filter="wipe(left)">
                                      <p:cBhvr>
                                        <p:cTn id="27" dur="1000"/>
                                        <p:tgtEl>
                                          <p:spTgt spid="544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628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超媒体与超文本</a:t>
            </a:r>
          </a:p>
        </p:txBody>
      </p:sp>
      <p:sp>
        <p:nvSpPr>
          <p:cNvPr id="545795"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万维网是</a:t>
            </a:r>
            <a:r>
              <a:rPr lang="zh-CN" altLang="en-US" sz="2800" dirty="0" smtClean="0">
                <a:solidFill>
                  <a:srgbClr val="FF0000"/>
                </a:solidFill>
                <a:ea typeface="黑体" panose="02010609060101010101" pitchFamily="49" charset="-122"/>
              </a:rPr>
              <a:t>分布式超媒体 </a:t>
            </a:r>
            <a:r>
              <a:rPr lang="en-US" altLang="zh-CN" sz="2800" dirty="0" smtClean="0">
                <a:ea typeface="黑体" panose="02010609060101010101" pitchFamily="49" charset="-122"/>
              </a:rPr>
              <a:t>(hypermedia) </a:t>
            </a:r>
            <a:r>
              <a:rPr lang="zh-CN" altLang="en-US" sz="2800" dirty="0" smtClean="0">
                <a:ea typeface="黑体" panose="02010609060101010101" pitchFamily="49" charset="-122"/>
              </a:rPr>
              <a:t>系统，它是</a:t>
            </a:r>
            <a:r>
              <a:rPr lang="zh-CN" altLang="en-US" sz="2800" dirty="0" smtClean="0">
                <a:solidFill>
                  <a:srgbClr val="FF0000"/>
                </a:solidFill>
                <a:ea typeface="黑体" panose="02010609060101010101" pitchFamily="49" charset="-122"/>
              </a:rPr>
              <a:t>超文本 </a:t>
            </a:r>
            <a:r>
              <a:rPr lang="en-US" altLang="zh-CN" sz="2800" dirty="0" smtClean="0">
                <a:ea typeface="黑体" panose="02010609060101010101" pitchFamily="49" charset="-122"/>
              </a:rPr>
              <a:t>(hypertext) </a:t>
            </a:r>
            <a:r>
              <a:rPr lang="zh-CN" altLang="en-US" sz="2800" dirty="0" smtClean="0">
                <a:ea typeface="黑体" panose="02010609060101010101" pitchFamily="49" charset="-122"/>
              </a:rPr>
              <a:t>系统的扩充。</a:t>
            </a:r>
          </a:p>
          <a:p>
            <a:r>
              <a:rPr lang="zh-CN" altLang="en-US" sz="2800" dirty="0" smtClean="0">
                <a:solidFill>
                  <a:srgbClr val="FF0000"/>
                </a:solidFill>
                <a:ea typeface="黑体" panose="02010609060101010101" pitchFamily="49" charset="-122"/>
              </a:rPr>
              <a:t>一个超文本由多个信息源链接成。</a:t>
            </a:r>
            <a:r>
              <a:rPr lang="zh-CN" altLang="en-US" sz="2800" dirty="0" smtClean="0">
                <a:ea typeface="黑体" panose="02010609060101010101" pitchFamily="49" charset="-122"/>
              </a:rPr>
              <a:t>利用一个链接可使用户找到另一个文档。这些文档可以位于世界上任何一个接在互联网上的超文本系统中。超文本是万维网的基础。</a:t>
            </a:r>
          </a:p>
          <a:p>
            <a:r>
              <a:rPr lang="zh-CN" altLang="en-US" sz="2800" dirty="0" smtClean="0">
                <a:solidFill>
                  <a:srgbClr val="FF0000"/>
                </a:solidFill>
                <a:ea typeface="黑体" panose="02010609060101010101" pitchFamily="49" charset="-122"/>
              </a:rPr>
              <a:t>超媒体与超文本的区别是文档内容不同。</a:t>
            </a:r>
            <a:r>
              <a:rPr lang="zh-CN" altLang="en-US" sz="2800" dirty="0" smtClean="0">
                <a:ea typeface="黑体" panose="02010609060101010101" pitchFamily="49" charset="-122"/>
              </a:rPr>
              <a:t>超文本文档仅包含文本信息，而超媒体文档还包含其他表示方式的信息，如图形、图像、声音、动画，甚至活动视频图像。</a:t>
            </a:r>
          </a:p>
        </p:txBody>
      </p:sp>
      <p:sp>
        <p:nvSpPr>
          <p:cNvPr id="16762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C8DB26F-66B1-421F-B0C2-9020381152A6}" type="slidenum">
              <a:rPr lang="zh-CN" altLang="en-US" smtClean="0"/>
              <a:pPr eaLnBrk="1" hangingPunct="1"/>
              <a:t>9</a:t>
            </a:fld>
            <a:endParaRPr lang="en-US" altLang="zh-CN" smtClean="0"/>
          </a:p>
        </p:txBody>
      </p:sp>
      <p:sp>
        <p:nvSpPr>
          <p:cNvPr id="16762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57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5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8337" name="Rectangle 2"/>
          <p:cNvSpPr>
            <a:spLocks noGrp="1" noChangeArrowheads="1"/>
          </p:cNvSpPr>
          <p:nvPr>
            <p:ph type="title"/>
          </p:nvPr>
        </p:nvSpPr>
        <p:spPr>
          <a:xfrm>
            <a:off x="495300" y="188913"/>
            <a:ext cx="9066213" cy="792162"/>
          </a:xfrm>
        </p:spPr>
        <p:txBody>
          <a:bodyPr/>
          <a:lstStyle/>
          <a:p>
            <a:pPr algn="ctr"/>
            <a:r>
              <a:rPr lang="en-US" altLang="zh-CN" sz="4000" smtClean="0">
                <a:ea typeface="黑体" panose="02010609060101010101" pitchFamily="49" charset="-122"/>
              </a:rPr>
              <a:t/>
            </a:r>
            <a:br>
              <a:rPr lang="en-US" altLang="zh-CN" sz="4000" smtClean="0">
                <a:ea typeface="黑体" panose="02010609060101010101" pitchFamily="49" charset="-122"/>
              </a:rPr>
            </a:br>
            <a:r>
              <a:rPr lang="en-US" altLang="zh-CN" sz="4000" smtClean="0">
                <a:ea typeface="黑体" panose="02010609060101010101" pitchFamily="49" charset="-122"/>
              </a:rPr>
              <a:t>   </a:t>
            </a:r>
            <a:r>
              <a:rPr lang="en-US" altLang="zh-CN" sz="4800" smtClean="0">
                <a:ea typeface="黑体" panose="02010609060101010101" pitchFamily="49" charset="-122"/>
              </a:rPr>
              <a:t> </a:t>
            </a:r>
            <a:r>
              <a:rPr lang="zh-CN" altLang="en-US" sz="4800" smtClean="0">
                <a:ea typeface="黑体" panose="02010609060101010101" pitchFamily="49" charset="-122"/>
              </a:rPr>
              <a:t>万维网的工作方式</a:t>
            </a:r>
            <a:r>
              <a:rPr lang="zh-CN" altLang="en-US" sz="4000" smtClean="0">
                <a:ea typeface="黑体" panose="02010609060101010101" pitchFamily="49" charset="-122"/>
              </a:rPr>
              <a:t> </a:t>
            </a:r>
          </a:p>
        </p:txBody>
      </p:sp>
      <p:sp>
        <p:nvSpPr>
          <p:cNvPr id="546819"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万维网以</a:t>
            </a:r>
            <a:r>
              <a:rPr lang="zh-CN" altLang="en-US" smtClean="0">
                <a:solidFill>
                  <a:srgbClr val="FF0000"/>
                </a:solidFill>
                <a:ea typeface="黑体" panose="02010609060101010101" pitchFamily="49" charset="-122"/>
              </a:rPr>
              <a:t>客户</a:t>
            </a:r>
            <a:r>
              <a:rPr lang="zh-CN" altLang="en-US" smtClean="0">
                <a:solidFill>
                  <a:srgbClr val="FF0000"/>
                </a:solidFill>
                <a:ea typeface="黑体" panose="02010609060101010101" pitchFamily="49" charset="-122"/>
                <a:sym typeface="Symbol" panose="05050102010706020507" pitchFamily="18" charset="2"/>
              </a:rPr>
              <a:t></a:t>
            </a:r>
            <a:r>
              <a:rPr lang="zh-CN" altLang="en-US" smtClean="0">
                <a:solidFill>
                  <a:srgbClr val="FF0000"/>
                </a:solidFill>
                <a:ea typeface="黑体" panose="02010609060101010101" pitchFamily="49" charset="-122"/>
              </a:rPr>
              <a:t>服务器</a:t>
            </a:r>
            <a:r>
              <a:rPr lang="zh-CN" altLang="en-US" smtClean="0">
                <a:ea typeface="黑体" panose="02010609060101010101" pitchFamily="49" charset="-122"/>
              </a:rPr>
              <a:t>方式工作。</a:t>
            </a:r>
          </a:p>
          <a:p>
            <a:r>
              <a:rPr lang="zh-CN" altLang="en-US" smtClean="0">
                <a:solidFill>
                  <a:srgbClr val="FF0000"/>
                </a:solidFill>
                <a:ea typeface="黑体" panose="02010609060101010101" pitchFamily="49" charset="-122"/>
              </a:rPr>
              <a:t>浏览器</a:t>
            </a:r>
            <a:r>
              <a:rPr lang="zh-CN" altLang="en-US" smtClean="0">
                <a:ea typeface="黑体" panose="02010609060101010101" pitchFamily="49" charset="-122"/>
              </a:rPr>
              <a:t>就是在用户计算机上的万维网</a:t>
            </a:r>
            <a:r>
              <a:rPr lang="zh-CN" altLang="en-US" smtClean="0">
                <a:solidFill>
                  <a:srgbClr val="FF0000"/>
                </a:solidFill>
                <a:ea typeface="黑体" panose="02010609060101010101" pitchFamily="49" charset="-122"/>
              </a:rPr>
              <a:t>客户程序</a:t>
            </a:r>
            <a:r>
              <a:rPr lang="zh-CN" altLang="en-US" smtClean="0">
                <a:ea typeface="黑体" panose="02010609060101010101" pitchFamily="49" charset="-122"/>
              </a:rPr>
              <a:t>。万维网文档所驻留的计算机则运行</a:t>
            </a:r>
            <a:r>
              <a:rPr lang="zh-CN" altLang="en-US" smtClean="0">
                <a:solidFill>
                  <a:srgbClr val="FF0000"/>
                </a:solidFill>
                <a:ea typeface="黑体" panose="02010609060101010101" pitchFamily="49" charset="-122"/>
              </a:rPr>
              <a:t>服务器程序</a:t>
            </a:r>
            <a:r>
              <a:rPr lang="zh-CN" altLang="en-US" smtClean="0">
                <a:ea typeface="黑体" panose="02010609060101010101" pitchFamily="49" charset="-122"/>
              </a:rPr>
              <a:t>，因此这个计算机也称为</a:t>
            </a:r>
            <a:r>
              <a:rPr lang="zh-CN" altLang="en-US" smtClean="0">
                <a:solidFill>
                  <a:srgbClr val="FF0000"/>
                </a:solidFill>
                <a:ea typeface="黑体" panose="02010609060101010101" pitchFamily="49" charset="-122"/>
              </a:rPr>
              <a:t>万维网服务器</a:t>
            </a:r>
            <a:r>
              <a:rPr lang="zh-CN" altLang="en-US" smtClean="0">
                <a:ea typeface="黑体" panose="02010609060101010101" pitchFamily="49" charset="-122"/>
              </a:rPr>
              <a:t>。</a:t>
            </a:r>
          </a:p>
          <a:p>
            <a:r>
              <a:rPr lang="zh-CN" altLang="en-US" smtClean="0">
                <a:ea typeface="黑体" panose="02010609060101010101" pitchFamily="49" charset="-122"/>
              </a:rPr>
              <a:t>客户程序向服务器程序发出请求，服务器程序向客户程序送回客户所要的</a:t>
            </a:r>
            <a:r>
              <a:rPr lang="zh-CN" altLang="en-US" smtClean="0">
                <a:solidFill>
                  <a:srgbClr val="FF0000"/>
                </a:solidFill>
                <a:ea typeface="黑体" panose="02010609060101010101" pitchFamily="49" charset="-122"/>
              </a:rPr>
              <a:t>万维网文档。</a:t>
            </a:r>
          </a:p>
          <a:p>
            <a:r>
              <a:rPr lang="zh-CN" altLang="en-US" smtClean="0">
                <a:ea typeface="黑体" panose="02010609060101010101" pitchFamily="49" charset="-122"/>
              </a:rPr>
              <a:t>在一个客户程序主窗口上显示出的万维网文档称为</a:t>
            </a:r>
            <a:r>
              <a:rPr lang="zh-CN" altLang="en-US" smtClean="0">
                <a:solidFill>
                  <a:srgbClr val="FF0000"/>
                </a:solidFill>
                <a:ea typeface="黑体" panose="02010609060101010101" pitchFamily="49" charset="-122"/>
              </a:rPr>
              <a:t>页面 </a:t>
            </a:r>
            <a:r>
              <a:rPr lang="en-US" altLang="zh-CN" smtClean="0">
                <a:ea typeface="黑体" panose="02010609060101010101" pitchFamily="49" charset="-122"/>
              </a:rPr>
              <a:t>(page)</a:t>
            </a:r>
            <a:r>
              <a:rPr lang="zh-CN" altLang="en-US" smtClean="0">
                <a:ea typeface="黑体" panose="02010609060101010101" pitchFamily="49" charset="-122"/>
              </a:rPr>
              <a:t>。</a:t>
            </a:r>
          </a:p>
        </p:txBody>
      </p:sp>
      <p:sp>
        <p:nvSpPr>
          <p:cNvPr id="16783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3EA3AF2-82D9-4645-8346-51852534E927}" type="slidenum">
              <a:rPr lang="zh-CN" altLang="en-US" smtClean="0"/>
              <a:pPr eaLnBrk="1" hangingPunct="1"/>
              <a:t>10</a:t>
            </a:fld>
            <a:endParaRPr lang="en-US" altLang="zh-CN" smtClean="0"/>
          </a:p>
        </p:txBody>
      </p:sp>
      <p:sp>
        <p:nvSpPr>
          <p:cNvPr id="16783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68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681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6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038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万维网必须解决的问题 </a:t>
            </a:r>
          </a:p>
        </p:txBody>
      </p:sp>
      <p:sp>
        <p:nvSpPr>
          <p:cNvPr id="1680386" name="Rectangle 3"/>
          <p:cNvSpPr>
            <a:spLocks noGrp="1" noChangeArrowheads="1"/>
          </p:cNvSpPr>
          <p:nvPr>
            <p:ph idx="1"/>
          </p:nvPr>
        </p:nvSpPr>
        <p:spPr>
          <a:xfrm>
            <a:off x="495300" y="1196975"/>
            <a:ext cx="9066213" cy="4933950"/>
          </a:xfrm>
        </p:spPr>
        <p:txBody>
          <a:bodyPr/>
          <a:lstStyle/>
          <a:p>
            <a:pPr marL="315913" indent="-315913">
              <a:spcBef>
                <a:spcPts val="550"/>
              </a:spcBef>
              <a:buFont typeface="Wingdings" panose="05000000000000000000" pitchFamily="2" charset="2"/>
              <a:buNone/>
            </a:pPr>
            <a:r>
              <a:rPr lang="en-US" altLang="zh-CN" dirty="0" smtClean="0">
                <a:ea typeface="黑体" panose="02010609060101010101" pitchFamily="49" charset="-122"/>
              </a:rPr>
              <a:t>(1) </a:t>
            </a:r>
            <a:r>
              <a:rPr lang="zh-CN" altLang="en-US" dirty="0" smtClean="0">
                <a:ea typeface="黑体" panose="02010609060101010101" pitchFamily="49" charset="-122"/>
              </a:rPr>
              <a:t>怎样标志分布在整个互联网上的万维网文档？</a:t>
            </a:r>
            <a:r>
              <a:rPr lang="zh-CN" altLang="en-US" sz="3600" dirty="0" smtClean="0">
                <a:ea typeface="黑体" panose="02010609060101010101" pitchFamily="49" charset="-122"/>
              </a:rPr>
              <a:t> </a:t>
            </a:r>
            <a:endParaRPr lang="zh-CN" altLang="en-US" dirty="0" smtClean="0">
              <a:ea typeface="黑体" panose="02010609060101010101" pitchFamily="49" charset="-122"/>
            </a:endParaRPr>
          </a:p>
          <a:p>
            <a:pPr marL="315913" indent="-315913">
              <a:spcBef>
                <a:spcPts val="550"/>
              </a:spcBef>
            </a:pPr>
            <a:r>
              <a:rPr lang="zh-CN" altLang="en-US" dirty="0" smtClean="0">
                <a:ea typeface="黑体" panose="02010609060101010101" pitchFamily="49" charset="-122"/>
              </a:rPr>
              <a:t>使用</a:t>
            </a:r>
            <a:r>
              <a:rPr lang="zh-CN" altLang="en-US" u="sng" dirty="0" smtClean="0">
                <a:solidFill>
                  <a:srgbClr val="FF0000"/>
                </a:solidFill>
                <a:ea typeface="黑体" panose="02010609060101010101" pitchFamily="49" charset="-122"/>
              </a:rPr>
              <a:t>统一资源定位符</a:t>
            </a:r>
            <a:r>
              <a:rPr lang="zh-CN" altLang="en-US" u="sng" dirty="0" smtClean="0">
                <a:ea typeface="黑体" panose="02010609060101010101" pitchFamily="49" charset="-122"/>
              </a:rPr>
              <a:t> </a:t>
            </a:r>
            <a:r>
              <a:rPr lang="en-US" altLang="zh-CN" u="sng" dirty="0" smtClean="0">
                <a:ea typeface="黑体" panose="02010609060101010101" pitchFamily="49" charset="-122"/>
              </a:rPr>
              <a:t>URL (Uniform Resource Locator) </a:t>
            </a:r>
            <a:r>
              <a:rPr lang="zh-CN" altLang="en-US" dirty="0" smtClean="0">
                <a:ea typeface="黑体" panose="02010609060101010101" pitchFamily="49" charset="-122"/>
              </a:rPr>
              <a:t>来标志万维网上的各种文档。</a:t>
            </a:r>
          </a:p>
          <a:p>
            <a:pPr marL="315913" indent="-315913">
              <a:spcBef>
                <a:spcPts val="550"/>
              </a:spcBef>
            </a:pPr>
            <a:r>
              <a:rPr lang="zh-CN" altLang="en-US" dirty="0" smtClean="0">
                <a:ea typeface="黑体" panose="02010609060101010101" pitchFamily="49" charset="-122"/>
              </a:rPr>
              <a:t>使每一个文档在整个互联网的范围内具有唯一的标识符 </a:t>
            </a:r>
            <a:r>
              <a:rPr lang="en-US" altLang="zh-CN" dirty="0" smtClean="0">
                <a:ea typeface="黑体" panose="02010609060101010101" pitchFamily="49" charset="-122"/>
              </a:rPr>
              <a:t>URL</a:t>
            </a:r>
            <a:r>
              <a:rPr lang="zh-CN" altLang="en-US" dirty="0" smtClean="0">
                <a:ea typeface="黑体" panose="02010609060101010101" pitchFamily="49" charset="-122"/>
              </a:rPr>
              <a:t>。</a:t>
            </a:r>
            <a:r>
              <a:rPr lang="zh-CN" altLang="en-US" sz="3600" dirty="0" smtClean="0">
                <a:ea typeface="黑体" panose="02010609060101010101" pitchFamily="49" charset="-122"/>
              </a:rPr>
              <a:t> </a:t>
            </a:r>
          </a:p>
        </p:txBody>
      </p:sp>
      <p:sp>
        <p:nvSpPr>
          <p:cNvPr id="16803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229F775-469B-4B87-9740-E079169E6D75}" type="slidenum">
              <a:rPr lang="zh-CN" altLang="en-US" smtClean="0"/>
              <a:pPr eaLnBrk="1" hangingPunct="1"/>
              <a:t>11</a:t>
            </a:fld>
            <a:endParaRPr lang="en-US" altLang="zh-CN" smtClean="0"/>
          </a:p>
        </p:txBody>
      </p:sp>
      <p:sp>
        <p:nvSpPr>
          <p:cNvPr id="16803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243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万维网必须解决的问题 </a:t>
            </a:r>
          </a:p>
        </p:txBody>
      </p:sp>
      <p:sp>
        <p:nvSpPr>
          <p:cNvPr id="1682434" name="Rectangle 3"/>
          <p:cNvSpPr>
            <a:spLocks noGrp="1" noChangeArrowheads="1"/>
          </p:cNvSpPr>
          <p:nvPr>
            <p:ph idx="1"/>
          </p:nvPr>
        </p:nvSpPr>
        <p:spPr>
          <a:xfrm>
            <a:off x="495300" y="1196975"/>
            <a:ext cx="9066213" cy="4933950"/>
          </a:xfrm>
        </p:spPr>
        <p:txBody>
          <a:bodyPr/>
          <a:lstStyle/>
          <a:p>
            <a:pPr marL="315913" indent="-315913" algn="just">
              <a:spcBef>
                <a:spcPts val="550"/>
              </a:spcBef>
              <a:buFont typeface="Wingdings" panose="05000000000000000000" pitchFamily="2" charset="2"/>
              <a:buNone/>
            </a:pPr>
            <a:r>
              <a:rPr lang="en-US" altLang="zh-CN" dirty="0" smtClean="0">
                <a:ea typeface="黑体" panose="02010609060101010101" pitchFamily="49" charset="-122"/>
              </a:rPr>
              <a:t>(2) </a:t>
            </a:r>
            <a:r>
              <a:rPr lang="zh-CN" altLang="en-US" dirty="0" smtClean="0">
                <a:ea typeface="黑体" panose="02010609060101010101" pitchFamily="49" charset="-122"/>
              </a:rPr>
              <a:t>用何协议实现万维网上各种超链的链接？</a:t>
            </a:r>
            <a:r>
              <a:rPr lang="zh-CN" altLang="en-US" sz="3600" dirty="0" smtClean="0">
                <a:ea typeface="黑体" panose="02010609060101010101" pitchFamily="49" charset="-122"/>
              </a:rPr>
              <a:t> </a:t>
            </a:r>
            <a:endParaRPr lang="zh-CN" altLang="en-US" dirty="0" smtClean="0">
              <a:ea typeface="黑体" panose="02010609060101010101" pitchFamily="49" charset="-122"/>
            </a:endParaRPr>
          </a:p>
          <a:p>
            <a:pPr marL="315913" indent="-315913" algn="just">
              <a:spcBef>
                <a:spcPts val="550"/>
              </a:spcBef>
            </a:pPr>
            <a:r>
              <a:rPr lang="zh-CN" altLang="en-US" dirty="0" smtClean="0">
                <a:ea typeface="黑体" panose="02010609060101010101" pitchFamily="49" charset="-122"/>
              </a:rPr>
              <a:t>在万维网客户程序与万维网服务器程序之间进行交互所使用的协议，是</a:t>
            </a:r>
            <a:r>
              <a:rPr lang="zh-CN" altLang="en-US" u="sng" dirty="0" smtClean="0">
                <a:solidFill>
                  <a:srgbClr val="FF0000"/>
                </a:solidFill>
                <a:ea typeface="黑体" panose="02010609060101010101" pitchFamily="49" charset="-122"/>
              </a:rPr>
              <a:t>超文本传送协议</a:t>
            </a:r>
            <a:r>
              <a:rPr lang="zh-CN" altLang="en-US" u="sng" dirty="0" smtClean="0">
                <a:ea typeface="黑体" panose="02010609060101010101" pitchFamily="49" charset="-122"/>
              </a:rPr>
              <a:t> </a:t>
            </a:r>
            <a:r>
              <a:rPr lang="en-US" altLang="zh-CN" u="sng" dirty="0" smtClean="0">
                <a:ea typeface="黑体" panose="02010609060101010101" pitchFamily="49" charset="-122"/>
              </a:rPr>
              <a:t>HTTP (</a:t>
            </a:r>
            <a:r>
              <a:rPr lang="en-US" altLang="zh-CN" u="sng" dirty="0" err="1" smtClean="0">
                <a:ea typeface="黑体" panose="02010609060101010101" pitchFamily="49" charset="-122"/>
              </a:rPr>
              <a:t>HyperText</a:t>
            </a:r>
            <a:r>
              <a:rPr lang="en-US" altLang="zh-CN" u="sng" dirty="0" smtClean="0">
                <a:ea typeface="黑体" panose="02010609060101010101" pitchFamily="49" charset="-122"/>
              </a:rPr>
              <a:t> Transfer Protocol)</a:t>
            </a:r>
            <a:r>
              <a:rPr lang="zh-CN" altLang="en-US" dirty="0" smtClean="0">
                <a:ea typeface="黑体" panose="02010609060101010101" pitchFamily="49" charset="-122"/>
              </a:rPr>
              <a:t>。</a:t>
            </a:r>
          </a:p>
          <a:p>
            <a:pPr marL="315913" indent="-315913" algn="just">
              <a:spcBef>
                <a:spcPts val="550"/>
              </a:spcBef>
            </a:pPr>
            <a:r>
              <a:rPr lang="en-US" altLang="zh-CN" dirty="0" smtClean="0">
                <a:ea typeface="黑体" panose="02010609060101010101" pitchFamily="49" charset="-122"/>
              </a:rPr>
              <a:t>HTTP </a:t>
            </a:r>
            <a:r>
              <a:rPr lang="zh-CN" altLang="en-US" dirty="0" smtClean="0">
                <a:ea typeface="黑体" panose="02010609060101010101" pitchFamily="49" charset="-122"/>
              </a:rPr>
              <a:t>是一个应用层协议，它使用 </a:t>
            </a:r>
            <a:r>
              <a:rPr lang="en-US" altLang="zh-CN" dirty="0" smtClean="0">
                <a:ea typeface="黑体" panose="02010609060101010101" pitchFamily="49" charset="-122"/>
              </a:rPr>
              <a:t>TCP </a:t>
            </a:r>
            <a:r>
              <a:rPr lang="zh-CN" altLang="en-US" dirty="0" smtClean="0">
                <a:ea typeface="黑体" panose="02010609060101010101" pitchFamily="49" charset="-122"/>
              </a:rPr>
              <a:t>连接进行可靠的传送。</a:t>
            </a:r>
            <a:r>
              <a:rPr lang="zh-CN" altLang="en-US" sz="3600" dirty="0" smtClean="0">
                <a:ea typeface="黑体" panose="02010609060101010101" pitchFamily="49" charset="-122"/>
              </a:rPr>
              <a:t> </a:t>
            </a:r>
            <a:endParaRPr lang="zh-CN" altLang="en-US" dirty="0" smtClean="0">
              <a:ea typeface="黑体" panose="02010609060101010101" pitchFamily="49" charset="-122"/>
            </a:endParaRPr>
          </a:p>
        </p:txBody>
      </p:sp>
      <p:sp>
        <p:nvSpPr>
          <p:cNvPr id="16824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1601658-9136-4B39-A481-1C9531ED80C8}" type="slidenum">
              <a:rPr lang="zh-CN" altLang="en-US" smtClean="0"/>
              <a:pPr eaLnBrk="1" hangingPunct="1"/>
              <a:t>12</a:t>
            </a:fld>
            <a:endParaRPr lang="en-US" altLang="zh-CN" smtClean="0"/>
          </a:p>
        </p:txBody>
      </p:sp>
      <p:sp>
        <p:nvSpPr>
          <p:cNvPr id="16824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44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万维网必须解决的问题 </a:t>
            </a:r>
          </a:p>
        </p:txBody>
      </p:sp>
      <p:sp>
        <p:nvSpPr>
          <p:cNvPr id="1684482" name="Rectangle 3"/>
          <p:cNvSpPr>
            <a:spLocks noGrp="1" noChangeArrowheads="1"/>
          </p:cNvSpPr>
          <p:nvPr>
            <p:ph idx="1"/>
          </p:nvPr>
        </p:nvSpPr>
        <p:spPr>
          <a:xfrm>
            <a:off x="495300" y="1196975"/>
            <a:ext cx="9066213" cy="4933950"/>
          </a:xfrm>
        </p:spPr>
        <p:txBody>
          <a:bodyPr/>
          <a:lstStyle/>
          <a:p>
            <a:pPr marL="315913" indent="-315913" algn="just">
              <a:spcBef>
                <a:spcPts val="550"/>
              </a:spcBef>
              <a:buFont typeface="Wingdings" panose="05000000000000000000" pitchFamily="2" charset="2"/>
              <a:buNone/>
            </a:pPr>
            <a:r>
              <a:rPr lang="en-US" altLang="zh-CN" dirty="0" smtClean="0">
                <a:ea typeface="黑体" panose="02010609060101010101" pitchFamily="49" charset="-122"/>
              </a:rPr>
              <a:t>(3) </a:t>
            </a:r>
            <a:r>
              <a:rPr lang="zh-CN" altLang="en-US" dirty="0" smtClean="0">
                <a:ea typeface="黑体" panose="02010609060101010101" pitchFamily="49" charset="-122"/>
              </a:rPr>
              <a:t>怎样使各种万维网文档都能在互联网上的各种计算机上显示出来，同时使用户清楚地知道在什么地方存在着超链？ </a:t>
            </a:r>
          </a:p>
          <a:p>
            <a:pPr marL="315913" indent="-315913" algn="just">
              <a:spcBef>
                <a:spcPts val="550"/>
              </a:spcBef>
            </a:pPr>
            <a:r>
              <a:rPr lang="zh-CN" altLang="en-US" u="sng" dirty="0" smtClean="0">
                <a:solidFill>
                  <a:srgbClr val="FF0000"/>
                </a:solidFill>
                <a:ea typeface="黑体" panose="02010609060101010101" pitchFamily="49" charset="-122"/>
              </a:rPr>
              <a:t>超文本标记语言</a:t>
            </a:r>
            <a:r>
              <a:rPr lang="zh-CN" altLang="en-US" u="sng" dirty="0" smtClean="0">
                <a:ea typeface="黑体" panose="02010609060101010101" pitchFamily="49" charset="-122"/>
              </a:rPr>
              <a:t> </a:t>
            </a:r>
            <a:r>
              <a:rPr lang="en-US" altLang="zh-CN" u="sng" dirty="0" smtClean="0">
                <a:ea typeface="黑体" panose="02010609060101010101" pitchFamily="49" charset="-122"/>
              </a:rPr>
              <a:t>HTML (</a:t>
            </a:r>
            <a:r>
              <a:rPr lang="en-US" altLang="zh-CN" u="sng" dirty="0" err="1" smtClean="0">
                <a:ea typeface="黑体" panose="02010609060101010101" pitchFamily="49" charset="-122"/>
              </a:rPr>
              <a:t>HyperText</a:t>
            </a:r>
            <a:r>
              <a:rPr lang="en-US" altLang="zh-CN" u="sng" dirty="0" smtClean="0">
                <a:ea typeface="黑体" panose="02010609060101010101" pitchFamily="49" charset="-122"/>
              </a:rPr>
              <a:t> Markup Language) </a:t>
            </a:r>
            <a:r>
              <a:rPr lang="zh-CN" altLang="en-US" dirty="0" smtClean="0">
                <a:ea typeface="黑体" panose="02010609060101010101" pitchFamily="49" charset="-122"/>
              </a:rPr>
              <a:t>使得万维网页面的设计者可以很方便地用一个超链从本页面的某处链接到互联网上的任何一个万维网页面，并且能够在自己的计算机屏幕上将这些页面显示出来。 </a:t>
            </a:r>
          </a:p>
        </p:txBody>
      </p:sp>
      <p:sp>
        <p:nvSpPr>
          <p:cNvPr id="16844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E2FB3E-F7E6-47EF-8430-1E001D947318}" type="slidenum">
              <a:rPr lang="zh-CN" altLang="en-US" smtClean="0"/>
              <a:pPr eaLnBrk="1" hangingPunct="1"/>
              <a:t>13</a:t>
            </a:fld>
            <a:endParaRPr lang="en-US" altLang="zh-CN" smtClean="0"/>
          </a:p>
        </p:txBody>
      </p:sp>
      <p:sp>
        <p:nvSpPr>
          <p:cNvPr id="16844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652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万维网必须解决的问题 </a:t>
            </a:r>
          </a:p>
        </p:txBody>
      </p:sp>
      <p:sp>
        <p:nvSpPr>
          <p:cNvPr id="1686530" name="Rectangle 3"/>
          <p:cNvSpPr>
            <a:spLocks noGrp="1" noChangeArrowheads="1"/>
          </p:cNvSpPr>
          <p:nvPr>
            <p:ph idx="1"/>
          </p:nvPr>
        </p:nvSpPr>
        <p:spPr>
          <a:xfrm>
            <a:off x="495300" y="1196975"/>
            <a:ext cx="9066213" cy="4933950"/>
          </a:xfrm>
        </p:spPr>
        <p:txBody>
          <a:bodyPr/>
          <a:lstStyle/>
          <a:p>
            <a:pPr marL="315913" indent="-315913" algn="just">
              <a:spcBef>
                <a:spcPts val="550"/>
              </a:spcBef>
              <a:buFont typeface="Wingdings" panose="05000000000000000000" pitchFamily="2" charset="2"/>
              <a:buNone/>
            </a:pPr>
            <a:r>
              <a:rPr lang="en-US" altLang="zh-CN" smtClean="0">
                <a:ea typeface="黑体" panose="02010609060101010101" pitchFamily="49" charset="-122"/>
              </a:rPr>
              <a:t>(4) </a:t>
            </a:r>
            <a:r>
              <a:rPr lang="zh-CN" altLang="en-US" smtClean="0">
                <a:ea typeface="黑体" panose="02010609060101010101" pitchFamily="49" charset="-122"/>
              </a:rPr>
              <a:t>怎样使用户能够很方便地找到所需的信息？ </a:t>
            </a:r>
          </a:p>
          <a:p>
            <a:pPr marL="315913" indent="-315913" algn="just">
              <a:spcBef>
                <a:spcPts val="550"/>
              </a:spcBef>
            </a:pPr>
            <a:r>
              <a:rPr lang="zh-CN" altLang="en-US" smtClean="0">
                <a:ea typeface="黑体" panose="02010609060101010101" pitchFamily="49" charset="-122"/>
              </a:rPr>
              <a:t>为了在万维网上方便地查找信息，用户可使用各种的</a:t>
            </a:r>
            <a:r>
              <a:rPr lang="zh-CN" altLang="en-US" smtClean="0">
                <a:solidFill>
                  <a:srgbClr val="FF0000"/>
                </a:solidFill>
                <a:ea typeface="黑体" panose="02010609060101010101" pitchFamily="49" charset="-122"/>
              </a:rPr>
              <a:t>搜索工具</a:t>
            </a:r>
            <a:r>
              <a:rPr lang="zh-CN" altLang="en-US" smtClean="0">
                <a:ea typeface="黑体" panose="02010609060101010101" pitchFamily="49" charset="-122"/>
              </a:rPr>
              <a:t>（即</a:t>
            </a:r>
            <a:r>
              <a:rPr lang="zh-CN" altLang="en-US" smtClean="0">
                <a:solidFill>
                  <a:srgbClr val="FF0000"/>
                </a:solidFill>
                <a:ea typeface="黑体" panose="02010609060101010101" pitchFamily="49" charset="-122"/>
              </a:rPr>
              <a:t>搜索引擎</a:t>
            </a:r>
            <a:r>
              <a:rPr lang="zh-CN" altLang="en-US" smtClean="0">
                <a:ea typeface="黑体" panose="02010609060101010101" pitchFamily="49" charset="-122"/>
              </a:rPr>
              <a:t>）。 </a:t>
            </a:r>
          </a:p>
        </p:txBody>
      </p:sp>
      <p:sp>
        <p:nvSpPr>
          <p:cNvPr id="16865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AEA3AB4-C56B-4508-8E35-09DAC543B372}" type="slidenum">
              <a:rPr lang="zh-CN" altLang="en-US" smtClean="0"/>
              <a:pPr eaLnBrk="1" hangingPunct="1"/>
              <a:t>14</a:t>
            </a:fld>
            <a:endParaRPr lang="en-US" altLang="zh-CN" smtClean="0"/>
          </a:p>
        </p:txBody>
      </p:sp>
      <p:sp>
        <p:nvSpPr>
          <p:cNvPr id="16865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857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6.4.2  </a:t>
            </a:r>
            <a:r>
              <a:rPr lang="zh-CN" altLang="en-US" smtClean="0">
                <a:ea typeface="黑体" panose="02010609060101010101" pitchFamily="49" charset="-122"/>
              </a:rPr>
              <a:t>统一资源定位符 </a:t>
            </a:r>
            <a:r>
              <a:rPr lang="en-US" altLang="zh-CN" smtClean="0">
                <a:ea typeface="黑体" panose="02010609060101010101" pitchFamily="49" charset="-122"/>
              </a:rPr>
              <a:t>URL</a:t>
            </a:r>
            <a:endParaRPr lang="zh-CN" altLang="en-US" sz="4800" smtClean="0">
              <a:ea typeface="黑体" panose="02010609060101010101" pitchFamily="49" charset="-122"/>
            </a:endParaRPr>
          </a:p>
        </p:txBody>
      </p:sp>
      <p:sp>
        <p:nvSpPr>
          <p:cNvPr id="548867" name="Rectangle 3"/>
          <p:cNvSpPr>
            <a:spLocks noGrp="1" noChangeArrowheads="1"/>
          </p:cNvSpPr>
          <p:nvPr>
            <p:ph idx="1"/>
          </p:nvPr>
        </p:nvSpPr>
        <p:spPr>
          <a:xfrm>
            <a:off x="495300" y="1196975"/>
            <a:ext cx="9066213" cy="4933950"/>
          </a:xfrm>
        </p:spPr>
        <p:txBody>
          <a:bodyPr/>
          <a:lstStyle/>
          <a:p>
            <a:pPr marL="0" indent="0">
              <a:spcBef>
                <a:spcPts val="555"/>
              </a:spcBef>
              <a:buFont typeface="Wingdings" panose="05000000000000000000" pitchFamily="2" charset="2"/>
              <a:buNone/>
              <a:defRPr/>
            </a:pPr>
            <a:r>
              <a:rPr lang="en-US" altLang="zh-CN" sz="4000" noProof="1">
                <a:solidFill>
                  <a:srgbClr val="333399"/>
                </a:solidFill>
                <a:latin typeface="+mj-lt"/>
                <a:ea typeface="+mj-ea"/>
                <a:cs typeface="+mj-cs"/>
              </a:rPr>
              <a:t>1. URL</a:t>
            </a:r>
            <a:r>
              <a:rPr lang="zh-CN" altLang="en-US" sz="4000" noProof="1">
                <a:solidFill>
                  <a:srgbClr val="333399"/>
                </a:solidFill>
                <a:latin typeface="+mj-lt"/>
                <a:ea typeface="+mj-ea"/>
                <a:cs typeface="+mj-cs"/>
              </a:rPr>
              <a:t>的格式</a:t>
            </a:r>
            <a:endParaRPr lang="en-US" altLang="zh-CN" sz="4000" noProof="1">
              <a:solidFill>
                <a:srgbClr val="333399"/>
              </a:solidFill>
              <a:latin typeface="+mj-lt"/>
              <a:ea typeface="+mj-ea"/>
              <a:cs typeface="+mj-cs"/>
            </a:endParaRPr>
          </a:p>
          <a:p>
            <a:pPr marL="316230" indent="-316230">
              <a:spcBef>
                <a:spcPts val="555"/>
              </a:spcBef>
              <a:defRPr/>
            </a:pPr>
            <a:r>
              <a:rPr lang="zh-CN" altLang="en-US" sz="2700" noProof="1"/>
              <a:t>资源定位符 </a:t>
            </a:r>
            <a:r>
              <a:rPr lang="en-US" altLang="zh-CN" sz="2700" noProof="1"/>
              <a:t>URL </a:t>
            </a:r>
            <a:r>
              <a:rPr lang="zh-CN" altLang="en-US" sz="2700" noProof="1"/>
              <a:t>是对可以从</a:t>
            </a:r>
            <a:r>
              <a:rPr lang="zh-CN" altLang="en-US" sz="2700" noProof="1">
                <a:solidFill>
                  <a:srgbClr val="0000FF"/>
                </a:solidFill>
              </a:rPr>
              <a:t>互联网</a:t>
            </a:r>
            <a:r>
              <a:rPr lang="zh-CN" altLang="en-US" sz="2700" noProof="1"/>
              <a:t>上得到的</a:t>
            </a:r>
            <a:r>
              <a:rPr lang="zh-CN" altLang="en-US" sz="2700" noProof="1">
                <a:solidFill>
                  <a:srgbClr val="0000FF"/>
                </a:solidFill>
              </a:rPr>
              <a:t>资源</a:t>
            </a:r>
            <a:r>
              <a:rPr lang="zh-CN" altLang="en-US" sz="2700" noProof="1"/>
              <a:t>的位置和访问方法的一种简洁</a:t>
            </a:r>
            <a:r>
              <a:rPr lang="zh-CN" altLang="en-US" sz="2700" noProof="1">
                <a:solidFill>
                  <a:srgbClr val="0000FF"/>
                </a:solidFill>
              </a:rPr>
              <a:t>表示</a:t>
            </a:r>
            <a:r>
              <a:rPr lang="zh-CN" altLang="en-US" sz="2700" noProof="1"/>
              <a:t>。</a:t>
            </a:r>
          </a:p>
          <a:p>
            <a:pPr marL="316230" indent="-316230">
              <a:spcBef>
                <a:spcPts val="555"/>
              </a:spcBef>
              <a:defRPr/>
            </a:pPr>
            <a:r>
              <a:rPr lang="en-US" altLang="zh-CN" sz="2700" noProof="1"/>
              <a:t>URL </a:t>
            </a:r>
            <a:r>
              <a:rPr lang="zh-CN" altLang="en-US" sz="2700" noProof="1"/>
              <a:t>给资源的位置提供一种抽象的识别方法，并用这种方法给</a:t>
            </a:r>
            <a:r>
              <a:rPr lang="zh-CN" altLang="en-US" sz="2700" noProof="1">
                <a:solidFill>
                  <a:srgbClr val="0000FF"/>
                </a:solidFill>
              </a:rPr>
              <a:t>资源定位</a:t>
            </a:r>
            <a:r>
              <a:rPr lang="zh-CN" altLang="en-US" sz="2700" noProof="1"/>
              <a:t>。</a:t>
            </a:r>
          </a:p>
          <a:p>
            <a:pPr marL="316230" indent="-316230">
              <a:spcBef>
                <a:spcPts val="555"/>
              </a:spcBef>
              <a:defRPr/>
            </a:pPr>
            <a:r>
              <a:rPr lang="zh-CN" altLang="en-US" sz="2700" noProof="1"/>
              <a:t>只要能够对资源定位，系统就可以对资源进行各种操作，如存取、更新、替换和查找其属性。</a:t>
            </a:r>
          </a:p>
          <a:p>
            <a:pPr marL="316230" indent="-316230">
              <a:spcBef>
                <a:spcPts val="555"/>
              </a:spcBef>
              <a:defRPr/>
            </a:pPr>
            <a:r>
              <a:rPr lang="en-US" altLang="zh-CN" sz="2700" noProof="1"/>
              <a:t>URL </a:t>
            </a:r>
            <a:r>
              <a:rPr lang="zh-CN" altLang="en-US" sz="2700" noProof="1"/>
              <a:t>相当于一个文件名在网络范围的扩展。因此 </a:t>
            </a:r>
            <a:r>
              <a:rPr lang="en-US" altLang="zh-CN" sz="2700" noProof="1"/>
              <a:t>URL </a:t>
            </a:r>
            <a:r>
              <a:rPr lang="zh-CN" altLang="en-US" sz="2700" noProof="1"/>
              <a:t>是与互联网相连的机器上的任何可访问对象的一个指针。 </a:t>
            </a:r>
            <a:r>
              <a:rPr lang="zh-CN" altLang="en-US" sz="2800" noProof="1"/>
              <a:t> </a:t>
            </a:r>
          </a:p>
        </p:txBody>
      </p:sp>
      <p:sp>
        <p:nvSpPr>
          <p:cNvPr id="16885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3CE5A2-ECFC-48FD-9673-D600101058F4}" type="slidenum">
              <a:rPr lang="zh-CN" altLang="en-US" smtClean="0"/>
              <a:pPr eaLnBrk="1" hangingPunct="1"/>
              <a:t>15</a:t>
            </a:fld>
            <a:endParaRPr lang="en-US" altLang="zh-CN" smtClean="0"/>
          </a:p>
        </p:txBody>
      </p:sp>
      <p:sp>
        <p:nvSpPr>
          <p:cNvPr id="16885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8867">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8867">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88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062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URL </a:t>
            </a:r>
            <a:r>
              <a:rPr lang="zh-CN" altLang="zh-CN" smtClean="0">
                <a:ea typeface="黑体" panose="02010609060101010101" pitchFamily="49" charset="-122"/>
              </a:rPr>
              <a:t>的一般形式 </a:t>
            </a:r>
          </a:p>
        </p:txBody>
      </p:sp>
      <p:sp>
        <p:nvSpPr>
          <p:cNvPr id="1690626"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由以冒号隔开的两大部分组成，并且在 </a:t>
            </a:r>
            <a:r>
              <a:rPr lang="en-US" altLang="zh-CN" smtClean="0">
                <a:ea typeface="黑体" panose="02010609060101010101" pitchFamily="49" charset="-122"/>
              </a:rPr>
              <a:t>URL </a:t>
            </a:r>
            <a:r>
              <a:rPr lang="zh-CN" altLang="en-US" smtClean="0">
                <a:ea typeface="黑体" panose="02010609060101010101" pitchFamily="49" charset="-122"/>
              </a:rPr>
              <a:t>中的字符对大写或小写没有要求。</a:t>
            </a:r>
          </a:p>
          <a:p>
            <a:r>
              <a:rPr lang="en-US" altLang="zh-CN" smtClean="0">
                <a:ea typeface="黑体" panose="02010609060101010101" pitchFamily="49" charset="-122"/>
              </a:rPr>
              <a:t>URL </a:t>
            </a:r>
            <a:r>
              <a:rPr lang="zh-CN" altLang="en-US" smtClean="0">
                <a:ea typeface="黑体" panose="02010609060101010101" pitchFamily="49" charset="-122"/>
              </a:rPr>
              <a:t>的一般形式是：</a:t>
            </a:r>
          </a:p>
        </p:txBody>
      </p:sp>
      <p:sp>
        <p:nvSpPr>
          <p:cNvPr id="1690627" name="Text Box 25"/>
          <p:cNvSpPr txBox="1">
            <a:spLocks noChangeArrowheads="1"/>
          </p:cNvSpPr>
          <p:nvPr/>
        </p:nvSpPr>
        <p:spPr bwMode="auto">
          <a:xfrm>
            <a:off x="2298700" y="3548063"/>
            <a:ext cx="5695950" cy="528637"/>
          </a:xfrm>
          <a:prstGeom prst="rect">
            <a:avLst/>
          </a:prstGeom>
          <a:solidFill>
            <a:srgbClr val="CCECFF"/>
          </a:solidFill>
          <a:ln w="9525">
            <a:solidFill>
              <a:srgbClr val="333399"/>
            </a:solidFill>
            <a:miter lim="800000"/>
            <a:headEnd/>
            <a:tailEnd/>
          </a:ln>
        </p:spPr>
        <p:txBody>
          <a:bodyPr>
            <a:spAutoFit/>
          </a:bodyPr>
          <a:lstStyle/>
          <a:p>
            <a:pPr algn="ctr"/>
            <a:r>
              <a:rPr lang="en-US" altLang="zh-CN" sz="2800" b="1">
                <a:solidFill>
                  <a:srgbClr val="000099"/>
                </a:solidFill>
                <a:ea typeface="黑体" panose="02010609060101010101" pitchFamily="49" charset="-122"/>
              </a:rPr>
              <a:t>&lt;</a:t>
            </a:r>
            <a:r>
              <a:rPr lang="zh-CN" altLang="en-US" sz="2800" b="1">
                <a:solidFill>
                  <a:srgbClr val="000099"/>
                </a:solidFill>
                <a:ea typeface="黑体" panose="02010609060101010101" pitchFamily="49" charset="-122"/>
              </a:rPr>
              <a:t>协议</a:t>
            </a:r>
            <a:r>
              <a:rPr lang="en-US" altLang="zh-CN" sz="2800" b="1">
                <a:solidFill>
                  <a:srgbClr val="000099"/>
                </a:solidFill>
                <a:ea typeface="黑体" panose="02010609060101010101" pitchFamily="49" charset="-122"/>
              </a:rPr>
              <a:t>&gt;://&lt;</a:t>
            </a:r>
            <a:r>
              <a:rPr lang="zh-CN" altLang="en-US" sz="2800" b="1">
                <a:solidFill>
                  <a:srgbClr val="000099"/>
                </a:solidFill>
                <a:ea typeface="黑体" panose="02010609060101010101" pitchFamily="49" charset="-122"/>
              </a:rPr>
              <a:t>主机</a:t>
            </a:r>
            <a:r>
              <a:rPr lang="en-US" altLang="zh-CN" sz="2800" b="1">
                <a:solidFill>
                  <a:srgbClr val="000099"/>
                </a:solidFill>
                <a:ea typeface="黑体" panose="02010609060101010101" pitchFamily="49" charset="-122"/>
              </a:rPr>
              <a:t>&gt;:&lt;</a:t>
            </a:r>
            <a:r>
              <a:rPr lang="zh-CN" altLang="en-US" sz="2800" b="1">
                <a:solidFill>
                  <a:srgbClr val="000099"/>
                </a:solidFill>
                <a:ea typeface="黑体" panose="02010609060101010101" pitchFamily="49" charset="-122"/>
              </a:rPr>
              <a:t>端口</a:t>
            </a:r>
            <a:r>
              <a:rPr lang="en-US" altLang="zh-CN" sz="2800" b="1">
                <a:solidFill>
                  <a:srgbClr val="000099"/>
                </a:solidFill>
                <a:ea typeface="黑体" panose="02010609060101010101" pitchFamily="49" charset="-122"/>
              </a:rPr>
              <a:t>&gt;/&lt;</a:t>
            </a:r>
            <a:r>
              <a:rPr lang="zh-CN" altLang="en-US" sz="2800" b="1">
                <a:solidFill>
                  <a:srgbClr val="000099"/>
                </a:solidFill>
                <a:ea typeface="黑体" panose="02010609060101010101" pitchFamily="49" charset="-122"/>
              </a:rPr>
              <a:t>路径</a:t>
            </a:r>
            <a:r>
              <a:rPr lang="en-US" altLang="zh-CN" sz="2800" b="1">
                <a:solidFill>
                  <a:srgbClr val="000099"/>
                </a:solidFill>
                <a:ea typeface="黑体" panose="02010609060101010101" pitchFamily="49" charset="-122"/>
              </a:rPr>
              <a:t>&gt; </a:t>
            </a:r>
          </a:p>
        </p:txBody>
      </p:sp>
      <p:grpSp>
        <p:nvGrpSpPr>
          <p:cNvPr id="549919" name="Group 31"/>
          <p:cNvGrpSpPr>
            <a:grpSpLocks/>
          </p:cNvGrpSpPr>
          <p:nvPr/>
        </p:nvGrpSpPr>
        <p:grpSpPr bwMode="auto">
          <a:xfrm>
            <a:off x="2613025" y="4076700"/>
            <a:ext cx="6734175" cy="2038350"/>
            <a:chOff x="1519" y="2568"/>
            <a:chExt cx="3916" cy="1284"/>
          </a:xfrm>
        </p:grpSpPr>
        <p:sp>
          <p:nvSpPr>
            <p:cNvPr id="1690629" name="Line 26"/>
            <p:cNvSpPr>
              <a:spLocks noChangeShapeType="1"/>
            </p:cNvSpPr>
            <p:nvPr/>
          </p:nvSpPr>
          <p:spPr bwMode="auto">
            <a:xfrm>
              <a:off x="1519" y="2568"/>
              <a:ext cx="657"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90630" name="Freeform 27"/>
            <p:cNvSpPr>
              <a:spLocks noChangeArrowheads="1"/>
            </p:cNvSpPr>
            <p:nvPr/>
          </p:nvSpPr>
          <p:spPr bwMode="auto">
            <a:xfrm>
              <a:off x="1791" y="2568"/>
              <a:ext cx="385" cy="726"/>
            </a:xfrm>
            <a:custGeom>
              <a:avLst/>
              <a:gdLst>
                <a:gd name="T0" fmla="*/ 0 w 771"/>
                <a:gd name="T1" fmla="*/ 0 h 726"/>
                <a:gd name="T2" fmla="*/ 0 w 771"/>
                <a:gd name="T3" fmla="*/ 726 h 726"/>
                <a:gd name="T4" fmla="*/ 771 w 771"/>
                <a:gd name="T5" fmla="*/ 726 h 726"/>
              </a:gdLst>
              <a:ahLst/>
              <a:cxnLst>
                <a:cxn ang="0">
                  <a:pos x="T0" y="T1"/>
                </a:cxn>
                <a:cxn ang="0">
                  <a:pos x="T2" y="T3"/>
                </a:cxn>
                <a:cxn ang="0">
                  <a:pos x="T4" y="T5"/>
                </a:cxn>
              </a:cxnLst>
              <a:rect l="0" t="0" r="r" b="b"/>
              <a:pathLst>
                <a:path w="771" h="726">
                  <a:moveTo>
                    <a:pt x="0" y="0"/>
                  </a:moveTo>
                  <a:lnTo>
                    <a:pt x="0" y="726"/>
                  </a:lnTo>
                  <a:lnTo>
                    <a:pt x="771" y="726"/>
                  </a:ln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90631" name="AutoShape 28"/>
            <p:cNvSpPr>
              <a:spLocks/>
            </p:cNvSpPr>
            <p:nvPr/>
          </p:nvSpPr>
          <p:spPr bwMode="auto">
            <a:xfrm>
              <a:off x="2176" y="2841"/>
              <a:ext cx="82" cy="907"/>
            </a:xfrm>
            <a:prstGeom prst="leftBrace">
              <a:avLst>
                <a:gd name="adj1" fmla="val 92175"/>
                <a:gd name="adj2" fmla="val 50000"/>
              </a:avLst>
            </a:pr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rgbClr val="000099"/>
                </a:solidFill>
                <a:ea typeface="宋体" panose="02010600030101010101" pitchFamily="2" charset="-122"/>
              </a:endParaRPr>
            </a:p>
          </p:txBody>
        </p:sp>
        <p:sp>
          <p:nvSpPr>
            <p:cNvPr id="1690632" name="Text Box 29"/>
            <p:cNvSpPr txBox="1">
              <a:spLocks noChangeArrowheads="1"/>
            </p:cNvSpPr>
            <p:nvPr/>
          </p:nvSpPr>
          <p:spPr bwMode="auto">
            <a:xfrm>
              <a:off x="2328" y="2625"/>
              <a:ext cx="3107" cy="1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50000"/>
                </a:lnSpc>
              </a:pPr>
              <a:r>
                <a:rPr lang="en-US" altLang="zh-CN" sz="2800" b="1">
                  <a:solidFill>
                    <a:srgbClr val="000099"/>
                  </a:solidFill>
                  <a:ea typeface="黑体" panose="02010609060101010101" pitchFamily="49" charset="-122"/>
                </a:rPr>
                <a:t>ftp —— </a:t>
              </a:r>
              <a:r>
                <a:rPr lang="zh-CN" altLang="en-US" sz="2800" b="1">
                  <a:solidFill>
                    <a:srgbClr val="000099"/>
                  </a:solidFill>
                  <a:ea typeface="黑体" panose="02010609060101010101" pitchFamily="49" charset="-122"/>
                </a:rPr>
                <a:t>文件传送协议 </a:t>
              </a:r>
              <a:r>
                <a:rPr lang="en-US" altLang="zh-CN" sz="2800" b="1">
                  <a:solidFill>
                    <a:srgbClr val="000099"/>
                  </a:solidFill>
                  <a:ea typeface="黑体" panose="02010609060101010101" pitchFamily="49" charset="-122"/>
                </a:rPr>
                <a:t>FTP</a:t>
              </a:r>
            </a:p>
            <a:p>
              <a:pPr>
                <a:lnSpc>
                  <a:spcPct val="150000"/>
                </a:lnSpc>
              </a:pPr>
              <a:r>
                <a:rPr lang="en-US" altLang="zh-CN" sz="2800" b="1">
                  <a:solidFill>
                    <a:srgbClr val="000099"/>
                  </a:solidFill>
                  <a:ea typeface="黑体" panose="02010609060101010101" pitchFamily="49" charset="-122"/>
                </a:rPr>
                <a:t>http —— </a:t>
              </a:r>
              <a:r>
                <a:rPr lang="zh-CN" altLang="en-US" sz="2800" b="1">
                  <a:solidFill>
                    <a:srgbClr val="000099"/>
                  </a:solidFill>
                  <a:ea typeface="黑体" panose="02010609060101010101" pitchFamily="49" charset="-122"/>
                </a:rPr>
                <a:t>超文本传送协议 </a:t>
              </a:r>
              <a:r>
                <a:rPr lang="en-US" altLang="zh-CN" sz="2800" b="1">
                  <a:solidFill>
                    <a:srgbClr val="000099"/>
                  </a:solidFill>
                  <a:ea typeface="黑体" panose="02010609060101010101" pitchFamily="49" charset="-122"/>
                </a:rPr>
                <a:t>HTTP</a:t>
              </a:r>
            </a:p>
            <a:p>
              <a:pPr>
                <a:lnSpc>
                  <a:spcPct val="150000"/>
                </a:lnSpc>
              </a:pPr>
              <a:r>
                <a:rPr lang="en-US" altLang="zh-CN" sz="2800" b="1">
                  <a:solidFill>
                    <a:srgbClr val="000099"/>
                  </a:solidFill>
                  <a:ea typeface="黑体" panose="02010609060101010101" pitchFamily="49" charset="-122"/>
                </a:rPr>
                <a:t>News —— USENET </a:t>
              </a:r>
              <a:r>
                <a:rPr lang="zh-CN" altLang="en-US" sz="2800" b="1">
                  <a:solidFill>
                    <a:srgbClr val="000099"/>
                  </a:solidFill>
                  <a:ea typeface="黑体" panose="02010609060101010101" pitchFamily="49" charset="-122"/>
                </a:rPr>
                <a:t>新闻</a:t>
              </a:r>
            </a:p>
          </p:txBody>
        </p:sp>
      </p:grpSp>
      <p:sp>
        <p:nvSpPr>
          <p:cNvPr id="169063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057430E-B863-4361-A755-C995DEA2AEC2}" type="slidenum">
              <a:rPr lang="zh-CN" altLang="en-US" smtClean="0"/>
              <a:pPr eaLnBrk="1" hangingPunct="1"/>
              <a:t>16</a:t>
            </a:fld>
            <a:endParaRPr lang="en-US" altLang="zh-CN" smtClean="0"/>
          </a:p>
        </p:txBody>
      </p:sp>
      <p:sp>
        <p:nvSpPr>
          <p:cNvPr id="169063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500"/>
                                  </p:stCondLst>
                                  <p:childTnLst>
                                    <p:set>
                                      <p:cBhvr>
                                        <p:cTn id="6" dur="1" fill="hold">
                                          <p:stCondLst>
                                            <p:cond delay="0"/>
                                          </p:stCondLst>
                                        </p:cTn>
                                        <p:tgtEl>
                                          <p:spTgt spid="549919"/>
                                        </p:tgtEl>
                                        <p:attrNameLst>
                                          <p:attrName>style.visibility</p:attrName>
                                        </p:attrNameLst>
                                      </p:cBhvr>
                                      <p:to>
                                        <p:strVal val="visible"/>
                                      </p:to>
                                    </p:set>
                                    <p:animEffect transition="in" filter="wipe(up)">
                                      <p:cBhvr>
                                        <p:cTn id="7" dur="1000"/>
                                        <p:tgtEl>
                                          <p:spTgt spid="549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267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URL </a:t>
            </a:r>
            <a:r>
              <a:rPr lang="zh-CN" altLang="zh-CN" smtClean="0">
                <a:ea typeface="黑体" panose="02010609060101010101" pitchFamily="49" charset="-122"/>
              </a:rPr>
              <a:t>的一般形式 </a:t>
            </a:r>
          </a:p>
        </p:txBody>
      </p:sp>
      <p:sp>
        <p:nvSpPr>
          <p:cNvPr id="1692674"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由以冒号隔开的两大部分组成，并且在 </a:t>
            </a:r>
            <a:r>
              <a:rPr lang="en-US" altLang="zh-CN" smtClean="0">
                <a:ea typeface="黑体" panose="02010609060101010101" pitchFamily="49" charset="-122"/>
              </a:rPr>
              <a:t>URL </a:t>
            </a:r>
            <a:r>
              <a:rPr lang="zh-CN" altLang="en-US" smtClean="0">
                <a:ea typeface="黑体" panose="02010609060101010101" pitchFamily="49" charset="-122"/>
              </a:rPr>
              <a:t>中的字符对大写或小写没有要求。</a:t>
            </a:r>
          </a:p>
          <a:p>
            <a:r>
              <a:rPr lang="en-US" altLang="zh-CN" smtClean="0">
                <a:ea typeface="黑体" panose="02010609060101010101" pitchFamily="49" charset="-122"/>
              </a:rPr>
              <a:t>URL </a:t>
            </a:r>
            <a:r>
              <a:rPr lang="zh-CN" altLang="en-US" smtClean="0">
                <a:ea typeface="黑体" panose="02010609060101010101" pitchFamily="49" charset="-122"/>
              </a:rPr>
              <a:t>的一般形式是：</a:t>
            </a:r>
          </a:p>
        </p:txBody>
      </p:sp>
      <p:sp>
        <p:nvSpPr>
          <p:cNvPr id="1692675" name="Text Box 25"/>
          <p:cNvSpPr txBox="1">
            <a:spLocks noChangeArrowheads="1"/>
          </p:cNvSpPr>
          <p:nvPr/>
        </p:nvSpPr>
        <p:spPr bwMode="auto">
          <a:xfrm>
            <a:off x="2298700" y="3548063"/>
            <a:ext cx="5695950" cy="528637"/>
          </a:xfrm>
          <a:prstGeom prst="rect">
            <a:avLst/>
          </a:prstGeom>
          <a:solidFill>
            <a:srgbClr val="CCECFF"/>
          </a:solidFill>
          <a:ln w="9525">
            <a:solidFill>
              <a:srgbClr val="333399"/>
            </a:solidFill>
            <a:miter lim="800000"/>
            <a:headEnd/>
            <a:tailEnd/>
          </a:ln>
        </p:spPr>
        <p:txBody>
          <a:bodyPr>
            <a:spAutoFit/>
          </a:bodyPr>
          <a:lstStyle/>
          <a:p>
            <a:pPr algn="ctr"/>
            <a:r>
              <a:rPr lang="en-US" altLang="zh-CN" sz="2800" b="1">
                <a:solidFill>
                  <a:srgbClr val="000099"/>
                </a:solidFill>
                <a:ea typeface="黑体" panose="02010609060101010101" pitchFamily="49" charset="-122"/>
              </a:rPr>
              <a:t>&lt;</a:t>
            </a:r>
            <a:r>
              <a:rPr lang="zh-CN" altLang="en-US" sz="2800" b="1">
                <a:solidFill>
                  <a:srgbClr val="000099"/>
                </a:solidFill>
                <a:ea typeface="黑体" panose="02010609060101010101" pitchFamily="49" charset="-122"/>
              </a:rPr>
              <a:t>协议</a:t>
            </a:r>
            <a:r>
              <a:rPr lang="en-US" altLang="zh-CN" sz="2800" b="1">
                <a:solidFill>
                  <a:srgbClr val="000099"/>
                </a:solidFill>
                <a:ea typeface="黑体" panose="02010609060101010101" pitchFamily="49" charset="-122"/>
              </a:rPr>
              <a:t>&gt;://&lt;</a:t>
            </a:r>
            <a:r>
              <a:rPr lang="zh-CN" altLang="en-US" sz="2800" b="1">
                <a:solidFill>
                  <a:srgbClr val="000099"/>
                </a:solidFill>
                <a:ea typeface="黑体" panose="02010609060101010101" pitchFamily="49" charset="-122"/>
              </a:rPr>
              <a:t>主机</a:t>
            </a:r>
            <a:r>
              <a:rPr lang="en-US" altLang="zh-CN" sz="2800" b="1">
                <a:solidFill>
                  <a:srgbClr val="000099"/>
                </a:solidFill>
                <a:ea typeface="黑体" panose="02010609060101010101" pitchFamily="49" charset="-122"/>
              </a:rPr>
              <a:t>&gt;:&lt;</a:t>
            </a:r>
            <a:r>
              <a:rPr lang="zh-CN" altLang="en-US" sz="2800" b="1">
                <a:solidFill>
                  <a:srgbClr val="000099"/>
                </a:solidFill>
                <a:ea typeface="黑体" panose="02010609060101010101" pitchFamily="49" charset="-122"/>
              </a:rPr>
              <a:t>端口</a:t>
            </a:r>
            <a:r>
              <a:rPr lang="en-US" altLang="zh-CN" sz="2800" b="1">
                <a:solidFill>
                  <a:srgbClr val="000099"/>
                </a:solidFill>
                <a:ea typeface="黑体" panose="02010609060101010101" pitchFamily="49" charset="-122"/>
              </a:rPr>
              <a:t>&gt;/&lt;</a:t>
            </a:r>
            <a:r>
              <a:rPr lang="zh-CN" altLang="en-US" sz="2800" b="1">
                <a:solidFill>
                  <a:srgbClr val="000099"/>
                </a:solidFill>
                <a:ea typeface="黑体" panose="02010609060101010101" pitchFamily="49" charset="-122"/>
              </a:rPr>
              <a:t>路径</a:t>
            </a:r>
            <a:r>
              <a:rPr lang="en-US" altLang="zh-CN" sz="2800" b="1">
                <a:solidFill>
                  <a:srgbClr val="000099"/>
                </a:solidFill>
                <a:ea typeface="黑体" panose="02010609060101010101" pitchFamily="49" charset="-122"/>
              </a:rPr>
              <a:t>&gt; </a:t>
            </a:r>
          </a:p>
        </p:txBody>
      </p:sp>
      <p:sp>
        <p:nvSpPr>
          <p:cNvPr id="1692676" name="Line 26"/>
          <p:cNvSpPr>
            <a:spLocks noChangeShapeType="1"/>
          </p:cNvSpPr>
          <p:nvPr/>
        </p:nvSpPr>
        <p:spPr bwMode="auto">
          <a:xfrm>
            <a:off x="3729038" y="4076700"/>
            <a:ext cx="428625"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92677" name="Freeform 27"/>
          <p:cNvSpPr>
            <a:spLocks noChangeArrowheads="1"/>
          </p:cNvSpPr>
          <p:nvPr/>
        </p:nvSpPr>
        <p:spPr bwMode="auto">
          <a:xfrm>
            <a:off x="3944938" y="4076700"/>
            <a:ext cx="515937" cy="576263"/>
          </a:xfrm>
          <a:custGeom>
            <a:avLst/>
            <a:gdLst>
              <a:gd name="T0" fmla="*/ 0 w 771"/>
              <a:gd name="T1" fmla="*/ 0 h 726"/>
              <a:gd name="T2" fmla="*/ 0 w 771"/>
              <a:gd name="T3" fmla="*/ 726 h 726"/>
              <a:gd name="T4" fmla="*/ 771 w 771"/>
              <a:gd name="T5" fmla="*/ 726 h 726"/>
            </a:gdLst>
            <a:ahLst/>
            <a:cxnLst>
              <a:cxn ang="0">
                <a:pos x="T0" y="T1"/>
              </a:cxn>
              <a:cxn ang="0">
                <a:pos x="T2" y="T3"/>
              </a:cxn>
              <a:cxn ang="0">
                <a:pos x="T4" y="T5"/>
              </a:cxn>
            </a:cxnLst>
            <a:rect l="0" t="0" r="r" b="b"/>
            <a:pathLst>
              <a:path w="771" h="726">
                <a:moveTo>
                  <a:pt x="0" y="0"/>
                </a:moveTo>
                <a:lnTo>
                  <a:pt x="0" y="726"/>
                </a:lnTo>
                <a:lnTo>
                  <a:pt x="771" y="726"/>
                </a:ln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92678" name="Text Box 29"/>
          <p:cNvSpPr txBox="1">
            <a:spLocks noChangeArrowheads="1"/>
          </p:cNvSpPr>
          <p:nvPr/>
        </p:nvSpPr>
        <p:spPr bwMode="auto">
          <a:xfrm>
            <a:off x="4460875" y="4167188"/>
            <a:ext cx="481330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zh-CN" sz="2800" b="1">
                <a:solidFill>
                  <a:srgbClr val="000099"/>
                </a:solidFill>
                <a:ea typeface="黑体" panose="02010609060101010101" pitchFamily="49" charset="-122"/>
              </a:rPr>
              <a:t>规定的格式</a:t>
            </a:r>
            <a:endParaRPr lang="en-US" altLang="zh-CN" sz="2800" b="1">
              <a:solidFill>
                <a:srgbClr val="000099"/>
              </a:solidFill>
              <a:ea typeface="黑体" panose="02010609060101010101" pitchFamily="49" charset="-122"/>
            </a:endParaRPr>
          </a:p>
        </p:txBody>
      </p:sp>
      <p:sp>
        <p:nvSpPr>
          <p:cNvPr id="16926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86A0663-1B9C-46A7-BDB5-C5C854475F21}" type="slidenum">
              <a:rPr lang="zh-CN" altLang="en-US" smtClean="0"/>
              <a:pPr eaLnBrk="1" hangingPunct="1"/>
              <a:t>17</a:t>
            </a:fld>
            <a:endParaRPr lang="en-US" altLang="zh-CN" smtClean="0"/>
          </a:p>
        </p:txBody>
      </p:sp>
      <p:sp>
        <p:nvSpPr>
          <p:cNvPr id="16926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4721" name="Rectangle 2"/>
          <p:cNvSpPr>
            <a:spLocks noGrp="1" noChangeArrowheads="1"/>
          </p:cNvSpPr>
          <p:nvPr>
            <p:ph type="title"/>
          </p:nvPr>
        </p:nvSpPr>
        <p:spPr>
          <a:xfrm>
            <a:off x="496888" y="188913"/>
            <a:ext cx="9064625" cy="792162"/>
          </a:xfrm>
        </p:spPr>
        <p:txBody>
          <a:bodyPr/>
          <a:lstStyle/>
          <a:p>
            <a:pPr algn="ctr"/>
            <a:r>
              <a:rPr lang="en-US" altLang="zh-CN" smtClean="0">
                <a:ea typeface="黑体" panose="02010609060101010101" pitchFamily="49" charset="-122"/>
              </a:rPr>
              <a:t>URL </a:t>
            </a:r>
            <a:r>
              <a:rPr lang="zh-CN" altLang="zh-CN" smtClean="0">
                <a:ea typeface="黑体" panose="02010609060101010101" pitchFamily="49" charset="-122"/>
              </a:rPr>
              <a:t>的一般形式（续） </a:t>
            </a:r>
          </a:p>
        </p:txBody>
      </p:sp>
      <p:sp>
        <p:nvSpPr>
          <p:cNvPr id="1694722" name="Rectangle 3"/>
          <p:cNvSpPr>
            <a:spLocks noGrp="1" noChangeArrowheads="1"/>
          </p:cNvSpPr>
          <p:nvPr>
            <p:ph idx="1"/>
          </p:nvPr>
        </p:nvSpPr>
        <p:spPr>
          <a:xfrm>
            <a:off x="496888" y="1195388"/>
            <a:ext cx="9064625" cy="4935537"/>
          </a:xfrm>
        </p:spPr>
        <p:txBody>
          <a:bodyPr/>
          <a:lstStyle/>
          <a:p>
            <a:r>
              <a:rPr lang="zh-CN" altLang="en-US" smtClean="0">
                <a:ea typeface="黑体" panose="02010609060101010101" pitchFamily="49" charset="-122"/>
              </a:rPr>
              <a:t>由以冒号隔开的两大部分组成，并且在 </a:t>
            </a:r>
            <a:r>
              <a:rPr lang="en-US" altLang="zh-CN" smtClean="0">
                <a:ea typeface="黑体" panose="02010609060101010101" pitchFamily="49" charset="-122"/>
              </a:rPr>
              <a:t>URL </a:t>
            </a:r>
            <a:r>
              <a:rPr lang="zh-CN" altLang="en-US" smtClean="0">
                <a:ea typeface="黑体" panose="02010609060101010101" pitchFamily="49" charset="-122"/>
              </a:rPr>
              <a:t>中的字符对大写或小写没有要求。</a:t>
            </a:r>
          </a:p>
          <a:p>
            <a:r>
              <a:rPr lang="en-US" altLang="zh-CN" smtClean="0">
                <a:ea typeface="黑体" panose="02010609060101010101" pitchFamily="49" charset="-122"/>
              </a:rPr>
              <a:t>URL </a:t>
            </a:r>
            <a:r>
              <a:rPr lang="zh-CN" altLang="en-US" smtClean="0">
                <a:ea typeface="黑体" panose="02010609060101010101" pitchFamily="49" charset="-122"/>
              </a:rPr>
              <a:t>的一般形式是：</a:t>
            </a:r>
          </a:p>
        </p:txBody>
      </p:sp>
      <p:sp>
        <p:nvSpPr>
          <p:cNvPr id="1694723" name="Text Box 25"/>
          <p:cNvSpPr txBox="1">
            <a:spLocks noChangeArrowheads="1"/>
          </p:cNvSpPr>
          <p:nvPr/>
        </p:nvSpPr>
        <p:spPr bwMode="auto">
          <a:xfrm>
            <a:off x="2298700" y="3548063"/>
            <a:ext cx="5695950" cy="528637"/>
          </a:xfrm>
          <a:prstGeom prst="rect">
            <a:avLst/>
          </a:prstGeom>
          <a:solidFill>
            <a:srgbClr val="CCECFF"/>
          </a:solidFill>
          <a:ln w="9525">
            <a:solidFill>
              <a:srgbClr val="333399"/>
            </a:solidFill>
            <a:miter lim="800000"/>
            <a:headEnd/>
            <a:tailEnd/>
          </a:ln>
        </p:spPr>
        <p:txBody>
          <a:bodyPr>
            <a:spAutoFit/>
          </a:bodyPr>
          <a:lstStyle/>
          <a:p>
            <a:pPr algn="ctr"/>
            <a:r>
              <a:rPr lang="en-US" altLang="zh-CN" sz="2800" b="1">
                <a:solidFill>
                  <a:srgbClr val="000099"/>
                </a:solidFill>
                <a:ea typeface="黑体" panose="02010609060101010101" pitchFamily="49" charset="-122"/>
              </a:rPr>
              <a:t>&lt;</a:t>
            </a:r>
            <a:r>
              <a:rPr lang="zh-CN" altLang="en-US" sz="2800" b="1">
                <a:solidFill>
                  <a:srgbClr val="000099"/>
                </a:solidFill>
                <a:ea typeface="黑体" panose="02010609060101010101" pitchFamily="49" charset="-122"/>
              </a:rPr>
              <a:t>协议</a:t>
            </a:r>
            <a:r>
              <a:rPr lang="en-US" altLang="zh-CN" sz="2800" b="1">
                <a:solidFill>
                  <a:srgbClr val="000099"/>
                </a:solidFill>
                <a:ea typeface="黑体" panose="02010609060101010101" pitchFamily="49" charset="-122"/>
              </a:rPr>
              <a:t>&gt;://&lt;</a:t>
            </a:r>
            <a:r>
              <a:rPr lang="zh-CN" altLang="en-US" sz="2800" b="1">
                <a:solidFill>
                  <a:srgbClr val="000099"/>
                </a:solidFill>
                <a:ea typeface="黑体" panose="02010609060101010101" pitchFamily="49" charset="-122"/>
              </a:rPr>
              <a:t>主机</a:t>
            </a:r>
            <a:r>
              <a:rPr lang="en-US" altLang="zh-CN" sz="2800" b="1">
                <a:solidFill>
                  <a:srgbClr val="000099"/>
                </a:solidFill>
                <a:ea typeface="黑体" panose="02010609060101010101" pitchFamily="49" charset="-122"/>
              </a:rPr>
              <a:t>&gt;:&lt;</a:t>
            </a:r>
            <a:r>
              <a:rPr lang="zh-CN" altLang="en-US" sz="2800" b="1">
                <a:solidFill>
                  <a:srgbClr val="000099"/>
                </a:solidFill>
                <a:ea typeface="黑体" panose="02010609060101010101" pitchFamily="49" charset="-122"/>
              </a:rPr>
              <a:t>端口</a:t>
            </a:r>
            <a:r>
              <a:rPr lang="en-US" altLang="zh-CN" sz="2800" b="1">
                <a:solidFill>
                  <a:srgbClr val="000099"/>
                </a:solidFill>
                <a:ea typeface="黑体" panose="02010609060101010101" pitchFamily="49" charset="-122"/>
              </a:rPr>
              <a:t>&gt;/&lt;</a:t>
            </a:r>
            <a:r>
              <a:rPr lang="zh-CN" altLang="en-US" sz="2800" b="1">
                <a:solidFill>
                  <a:srgbClr val="000099"/>
                </a:solidFill>
                <a:ea typeface="黑体" panose="02010609060101010101" pitchFamily="49" charset="-122"/>
              </a:rPr>
              <a:t>路径</a:t>
            </a:r>
            <a:r>
              <a:rPr lang="en-US" altLang="zh-CN" sz="2800" b="1">
                <a:solidFill>
                  <a:srgbClr val="000099"/>
                </a:solidFill>
                <a:ea typeface="黑体" panose="02010609060101010101" pitchFamily="49" charset="-122"/>
              </a:rPr>
              <a:t>&gt; </a:t>
            </a:r>
          </a:p>
        </p:txBody>
      </p:sp>
      <p:grpSp>
        <p:nvGrpSpPr>
          <p:cNvPr id="1694724" name="Group 9"/>
          <p:cNvGrpSpPr>
            <a:grpSpLocks/>
          </p:cNvGrpSpPr>
          <p:nvPr/>
        </p:nvGrpSpPr>
        <p:grpSpPr bwMode="auto">
          <a:xfrm>
            <a:off x="4103688" y="4076700"/>
            <a:ext cx="5386387" cy="1376363"/>
            <a:chOff x="2381" y="2568"/>
            <a:chExt cx="3132" cy="867"/>
          </a:xfrm>
        </p:grpSpPr>
        <p:sp>
          <p:nvSpPr>
            <p:cNvPr id="1694725" name="Line 5"/>
            <p:cNvSpPr>
              <a:spLocks noChangeShapeType="1"/>
            </p:cNvSpPr>
            <p:nvPr/>
          </p:nvSpPr>
          <p:spPr bwMode="auto">
            <a:xfrm>
              <a:off x="2381" y="2568"/>
              <a:ext cx="635"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94726" name="Freeform 6"/>
            <p:cNvSpPr>
              <a:spLocks noChangeArrowheads="1"/>
            </p:cNvSpPr>
            <p:nvPr/>
          </p:nvSpPr>
          <p:spPr bwMode="auto">
            <a:xfrm>
              <a:off x="2653" y="2568"/>
              <a:ext cx="408" cy="408"/>
            </a:xfrm>
            <a:custGeom>
              <a:avLst/>
              <a:gdLst>
                <a:gd name="T0" fmla="*/ 0 w 771"/>
                <a:gd name="T1" fmla="*/ 0 h 726"/>
                <a:gd name="T2" fmla="*/ 0 w 771"/>
                <a:gd name="T3" fmla="*/ 726 h 726"/>
                <a:gd name="T4" fmla="*/ 771 w 771"/>
                <a:gd name="T5" fmla="*/ 726 h 726"/>
              </a:gdLst>
              <a:ahLst/>
              <a:cxnLst>
                <a:cxn ang="0">
                  <a:pos x="T0" y="T1"/>
                </a:cxn>
                <a:cxn ang="0">
                  <a:pos x="T2" y="T3"/>
                </a:cxn>
                <a:cxn ang="0">
                  <a:pos x="T4" y="T5"/>
                </a:cxn>
              </a:cxnLst>
              <a:rect l="0" t="0" r="r" b="b"/>
              <a:pathLst>
                <a:path w="771" h="726">
                  <a:moveTo>
                    <a:pt x="0" y="0"/>
                  </a:moveTo>
                  <a:lnTo>
                    <a:pt x="0" y="726"/>
                  </a:lnTo>
                  <a:lnTo>
                    <a:pt x="771" y="726"/>
                  </a:ln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94727" name="Text Box 8"/>
            <p:cNvSpPr txBox="1">
              <a:spLocks noChangeArrowheads="1"/>
            </p:cNvSpPr>
            <p:nvPr/>
          </p:nvSpPr>
          <p:spPr bwMode="auto">
            <a:xfrm>
              <a:off x="3016" y="2834"/>
              <a:ext cx="2497"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rPr>
                <a:t>&lt;</a:t>
              </a:r>
              <a:r>
                <a:rPr lang="zh-CN" altLang="en-US" sz="2800" b="1">
                  <a:solidFill>
                    <a:srgbClr val="000099"/>
                  </a:solidFill>
                  <a:ea typeface="黑体" panose="02010609060101010101" pitchFamily="49" charset="-122"/>
                </a:rPr>
                <a:t>主机</a:t>
              </a:r>
              <a:r>
                <a:rPr lang="en-US" altLang="zh-CN" sz="2800" b="1">
                  <a:solidFill>
                    <a:srgbClr val="000099"/>
                  </a:solidFill>
                  <a:ea typeface="黑体" panose="02010609060101010101" pitchFamily="49" charset="-122"/>
                </a:rPr>
                <a:t>&gt; </a:t>
              </a:r>
              <a:r>
                <a:rPr lang="zh-CN" altLang="en-US" sz="2800" b="1">
                  <a:solidFill>
                    <a:srgbClr val="000099"/>
                  </a:solidFill>
                  <a:ea typeface="黑体" panose="02010609060101010101" pitchFamily="49" charset="-122"/>
                </a:rPr>
                <a:t>是存放资源的主机</a:t>
              </a:r>
            </a:p>
            <a:p>
              <a:r>
                <a:rPr lang="zh-CN" altLang="en-US" sz="2800" b="1">
                  <a:solidFill>
                    <a:srgbClr val="000099"/>
                  </a:solidFill>
                  <a:ea typeface="黑体" panose="02010609060101010101" pitchFamily="49" charset="-122"/>
                </a:rPr>
                <a:t>在互联网中的域名</a:t>
              </a:r>
            </a:p>
          </p:txBody>
        </p:sp>
      </p:grpSp>
      <p:sp>
        <p:nvSpPr>
          <p:cNvPr id="169472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ECECD8A-0535-4970-A2FA-7A8836574AC3}" type="slidenum">
              <a:rPr lang="zh-CN" altLang="en-US" smtClean="0"/>
              <a:pPr eaLnBrk="1" hangingPunct="1"/>
              <a:t>18</a:t>
            </a:fld>
            <a:endParaRPr lang="en-US" altLang="zh-CN" smtClean="0"/>
          </a:p>
        </p:txBody>
      </p:sp>
      <p:sp>
        <p:nvSpPr>
          <p:cNvPr id="169472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676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URL </a:t>
            </a:r>
            <a:r>
              <a:rPr lang="zh-CN" altLang="zh-CN" smtClean="0">
                <a:ea typeface="黑体" panose="02010609060101010101" pitchFamily="49" charset="-122"/>
              </a:rPr>
              <a:t>的一般形式（续） </a:t>
            </a:r>
          </a:p>
        </p:txBody>
      </p:sp>
      <p:sp>
        <p:nvSpPr>
          <p:cNvPr id="1696770"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由以冒号隔开的两大部分组成，并且在 </a:t>
            </a:r>
            <a:r>
              <a:rPr lang="en-US" altLang="zh-CN" smtClean="0">
                <a:ea typeface="黑体" panose="02010609060101010101" pitchFamily="49" charset="-122"/>
              </a:rPr>
              <a:t>URL </a:t>
            </a:r>
            <a:r>
              <a:rPr lang="zh-CN" altLang="en-US" smtClean="0">
                <a:ea typeface="黑体" panose="02010609060101010101" pitchFamily="49" charset="-122"/>
              </a:rPr>
              <a:t>中的字符对大写或小写没有要求。</a:t>
            </a:r>
          </a:p>
          <a:p>
            <a:r>
              <a:rPr lang="en-US" altLang="zh-CN" smtClean="0">
                <a:ea typeface="黑体" panose="02010609060101010101" pitchFamily="49" charset="-122"/>
              </a:rPr>
              <a:t>URL </a:t>
            </a:r>
            <a:r>
              <a:rPr lang="zh-CN" altLang="en-US" smtClean="0">
                <a:ea typeface="黑体" panose="02010609060101010101" pitchFamily="49" charset="-122"/>
              </a:rPr>
              <a:t>的一般形式是：</a:t>
            </a:r>
          </a:p>
        </p:txBody>
      </p:sp>
      <p:sp>
        <p:nvSpPr>
          <p:cNvPr id="1696771" name="Text Box 4"/>
          <p:cNvSpPr txBox="1">
            <a:spLocks noChangeArrowheads="1"/>
          </p:cNvSpPr>
          <p:nvPr/>
        </p:nvSpPr>
        <p:spPr bwMode="auto">
          <a:xfrm>
            <a:off x="2300288" y="3548063"/>
            <a:ext cx="5695950" cy="528637"/>
          </a:xfrm>
          <a:prstGeom prst="rect">
            <a:avLst/>
          </a:prstGeom>
          <a:solidFill>
            <a:srgbClr val="CCECFF"/>
          </a:solidFill>
          <a:ln w="9525">
            <a:solidFill>
              <a:srgbClr val="333399"/>
            </a:solidFill>
            <a:miter lim="800000"/>
            <a:headEnd/>
            <a:tailEnd/>
          </a:ln>
        </p:spPr>
        <p:txBody>
          <a:bodyPr>
            <a:spAutoFit/>
          </a:bodyPr>
          <a:lstStyle/>
          <a:p>
            <a:pPr algn="ctr"/>
            <a:r>
              <a:rPr lang="en-US" altLang="zh-CN" sz="2800" b="1">
                <a:solidFill>
                  <a:srgbClr val="000099"/>
                </a:solidFill>
                <a:ea typeface="黑体" panose="02010609060101010101" pitchFamily="49" charset="-122"/>
              </a:rPr>
              <a:t>&lt;</a:t>
            </a:r>
            <a:r>
              <a:rPr lang="zh-CN" altLang="en-US" sz="2800" b="1">
                <a:solidFill>
                  <a:srgbClr val="000099"/>
                </a:solidFill>
                <a:ea typeface="黑体" panose="02010609060101010101" pitchFamily="49" charset="-122"/>
              </a:rPr>
              <a:t>协议</a:t>
            </a:r>
            <a:r>
              <a:rPr lang="en-US" altLang="zh-CN" sz="2800" b="1">
                <a:solidFill>
                  <a:srgbClr val="000099"/>
                </a:solidFill>
                <a:ea typeface="黑体" panose="02010609060101010101" pitchFamily="49" charset="-122"/>
              </a:rPr>
              <a:t>&gt;://&lt;</a:t>
            </a:r>
            <a:r>
              <a:rPr lang="zh-CN" altLang="en-US" sz="2800" b="1">
                <a:solidFill>
                  <a:srgbClr val="000099"/>
                </a:solidFill>
                <a:ea typeface="黑体" panose="02010609060101010101" pitchFamily="49" charset="-122"/>
              </a:rPr>
              <a:t>主机</a:t>
            </a:r>
            <a:r>
              <a:rPr lang="en-US" altLang="zh-CN" sz="2800" b="1">
                <a:solidFill>
                  <a:srgbClr val="000099"/>
                </a:solidFill>
                <a:ea typeface="黑体" panose="02010609060101010101" pitchFamily="49" charset="-122"/>
              </a:rPr>
              <a:t>&gt;:&lt;</a:t>
            </a:r>
            <a:r>
              <a:rPr lang="zh-CN" altLang="en-US" sz="2800" b="1">
                <a:solidFill>
                  <a:srgbClr val="000099"/>
                </a:solidFill>
                <a:ea typeface="黑体" panose="02010609060101010101" pitchFamily="49" charset="-122"/>
              </a:rPr>
              <a:t>端口</a:t>
            </a:r>
            <a:r>
              <a:rPr lang="en-US" altLang="zh-CN" sz="2800" b="1">
                <a:solidFill>
                  <a:srgbClr val="000099"/>
                </a:solidFill>
                <a:ea typeface="黑体" panose="02010609060101010101" pitchFamily="49" charset="-122"/>
              </a:rPr>
              <a:t>&gt;/&lt;</a:t>
            </a:r>
            <a:r>
              <a:rPr lang="zh-CN" altLang="en-US" sz="2800" b="1">
                <a:solidFill>
                  <a:srgbClr val="000099"/>
                </a:solidFill>
                <a:ea typeface="黑体" panose="02010609060101010101" pitchFamily="49" charset="-122"/>
              </a:rPr>
              <a:t>路径</a:t>
            </a:r>
            <a:r>
              <a:rPr lang="en-US" altLang="zh-CN" sz="2800" b="1">
                <a:solidFill>
                  <a:srgbClr val="000099"/>
                </a:solidFill>
                <a:ea typeface="黑体" panose="02010609060101010101" pitchFamily="49" charset="-122"/>
              </a:rPr>
              <a:t>&gt;</a:t>
            </a:r>
          </a:p>
        </p:txBody>
      </p:sp>
      <p:grpSp>
        <p:nvGrpSpPr>
          <p:cNvPr id="1696772" name="Group 8"/>
          <p:cNvGrpSpPr>
            <a:grpSpLocks/>
          </p:cNvGrpSpPr>
          <p:nvPr/>
        </p:nvGrpSpPr>
        <p:grpSpPr bwMode="auto">
          <a:xfrm>
            <a:off x="5343525" y="4076700"/>
            <a:ext cx="3987800" cy="925513"/>
            <a:chOff x="3107" y="2568"/>
            <a:chExt cx="2319" cy="583"/>
          </a:xfrm>
        </p:grpSpPr>
        <p:sp>
          <p:nvSpPr>
            <p:cNvPr id="1696773" name="Line 5"/>
            <p:cNvSpPr>
              <a:spLocks noChangeShapeType="1"/>
            </p:cNvSpPr>
            <p:nvPr/>
          </p:nvSpPr>
          <p:spPr bwMode="auto">
            <a:xfrm>
              <a:off x="3107" y="2568"/>
              <a:ext cx="1406"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96774" name="Freeform 6"/>
            <p:cNvSpPr>
              <a:spLocks noChangeArrowheads="1"/>
            </p:cNvSpPr>
            <p:nvPr/>
          </p:nvSpPr>
          <p:spPr bwMode="auto">
            <a:xfrm>
              <a:off x="3833" y="2568"/>
              <a:ext cx="408" cy="408"/>
            </a:xfrm>
            <a:custGeom>
              <a:avLst/>
              <a:gdLst>
                <a:gd name="T0" fmla="*/ 0 w 771"/>
                <a:gd name="T1" fmla="*/ 0 h 726"/>
                <a:gd name="T2" fmla="*/ 0 w 771"/>
                <a:gd name="T3" fmla="*/ 726 h 726"/>
                <a:gd name="T4" fmla="*/ 771 w 771"/>
                <a:gd name="T5" fmla="*/ 726 h 726"/>
              </a:gdLst>
              <a:ahLst/>
              <a:cxnLst>
                <a:cxn ang="0">
                  <a:pos x="T0" y="T1"/>
                </a:cxn>
                <a:cxn ang="0">
                  <a:pos x="T2" y="T3"/>
                </a:cxn>
                <a:cxn ang="0">
                  <a:pos x="T4" y="T5"/>
                </a:cxn>
              </a:cxnLst>
              <a:rect l="0" t="0" r="r" b="b"/>
              <a:pathLst>
                <a:path w="771" h="726">
                  <a:moveTo>
                    <a:pt x="0" y="0"/>
                  </a:moveTo>
                  <a:lnTo>
                    <a:pt x="0" y="726"/>
                  </a:lnTo>
                  <a:lnTo>
                    <a:pt x="771" y="726"/>
                  </a:lnTo>
                </a:path>
              </a:pathLst>
            </a:custGeom>
            <a:noFill/>
            <a:ln w="3810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696775" name="Text Box 7"/>
            <p:cNvSpPr txBox="1">
              <a:spLocks noChangeArrowheads="1"/>
            </p:cNvSpPr>
            <p:nvPr/>
          </p:nvSpPr>
          <p:spPr bwMode="auto">
            <a:xfrm>
              <a:off x="4275" y="2821"/>
              <a:ext cx="115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00099"/>
                  </a:solidFill>
                  <a:ea typeface="黑体" panose="02010609060101010101" pitchFamily="49" charset="-122"/>
                </a:rPr>
                <a:t>有时可省略</a:t>
              </a:r>
            </a:p>
          </p:txBody>
        </p:sp>
      </p:grpSp>
      <p:sp>
        <p:nvSpPr>
          <p:cNvPr id="169677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C9AAD2F-3C22-4CE6-9450-3FE590628394}" type="slidenum">
              <a:rPr lang="zh-CN" altLang="en-US" smtClean="0"/>
              <a:pPr eaLnBrk="1" hangingPunct="1"/>
              <a:t>19</a:t>
            </a:fld>
            <a:endParaRPr lang="en-US" altLang="zh-CN" smtClean="0"/>
          </a:p>
        </p:txBody>
      </p:sp>
      <p:sp>
        <p:nvSpPr>
          <p:cNvPr id="169677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8817"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URL </a:t>
            </a:r>
            <a:r>
              <a:rPr lang="zh-CN" altLang="en-US" smtClean="0">
                <a:ea typeface="黑体" panose="02010609060101010101" pitchFamily="49" charset="-122"/>
              </a:rPr>
              <a:t>的一般形式（续） </a:t>
            </a:r>
          </a:p>
        </p:txBody>
      </p:sp>
      <p:sp>
        <p:nvSpPr>
          <p:cNvPr id="1698818"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现在有些浏览器为了方便用户，在输入</a:t>
            </a:r>
            <a:r>
              <a:rPr lang="en-US" altLang="zh-CN" smtClean="0">
                <a:ea typeface="黑体" panose="02010609060101010101" pitchFamily="49" charset="-122"/>
              </a:rPr>
              <a:t>URL</a:t>
            </a:r>
            <a:r>
              <a:rPr lang="zh-CN" altLang="zh-CN" smtClean="0">
                <a:ea typeface="黑体" panose="02010609060101010101" pitchFamily="49" charset="-122"/>
              </a:rPr>
              <a:t>时，可以把最前面的“</a:t>
            </a:r>
            <a:r>
              <a:rPr lang="en-US" altLang="zh-CN" smtClean="0">
                <a:ea typeface="黑体" panose="02010609060101010101" pitchFamily="49" charset="-122"/>
              </a:rPr>
              <a:t>http://</a:t>
            </a:r>
            <a:r>
              <a:rPr lang="zh-CN" altLang="zh-CN" smtClean="0">
                <a:ea typeface="黑体" panose="02010609060101010101" pitchFamily="49" charset="-122"/>
              </a:rPr>
              <a:t>”甚至把主机名最前面的“</a:t>
            </a:r>
            <a:r>
              <a:rPr lang="en-US" altLang="zh-CN" smtClean="0">
                <a:ea typeface="黑体" panose="02010609060101010101" pitchFamily="49" charset="-122"/>
              </a:rPr>
              <a:t>www</a:t>
            </a:r>
            <a:r>
              <a:rPr lang="zh-CN" altLang="zh-CN" smtClean="0">
                <a:ea typeface="黑体" panose="02010609060101010101" pitchFamily="49" charset="-122"/>
              </a:rPr>
              <a:t>”省略，然后浏览器替用户把省略的字符添上。</a:t>
            </a:r>
            <a:endParaRPr lang="en-US" altLang="zh-CN" smtClean="0">
              <a:ea typeface="黑体" panose="02010609060101010101" pitchFamily="49" charset="-122"/>
            </a:endParaRPr>
          </a:p>
          <a:p>
            <a:r>
              <a:rPr lang="zh-CN" altLang="zh-CN" smtClean="0">
                <a:ea typeface="黑体" panose="02010609060101010101" pitchFamily="49" charset="-122"/>
              </a:rPr>
              <a:t>例如，用户只要键入</a:t>
            </a:r>
            <a:r>
              <a:rPr lang="en-US" altLang="zh-CN" smtClean="0">
                <a:ea typeface="黑体" panose="02010609060101010101" pitchFamily="49" charset="-122"/>
              </a:rPr>
              <a:t>ctrip.com</a:t>
            </a:r>
            <a:r>
              <a:rPr lang="zh-CN" altLang="zh-CN" smtClean="0">
                <a:ea typeface="黑体" panose="02010609060101010101" pitchFamily="49" charset="-122"/>
              </a:rPr>
              <a:t>，浏览器就自动把未键入的字符补齐，变成</a:t>
            </a:r>
            <a:r>
              <a:rPr lang="en-US" altLang="zh-CN" smtClean="0">
                <a:ea typeface="黑体" panose="02010609060101010101" pitchFamily="49" charset="-122"/>
              </a:rPr>
              <a:t>http://www.ctrip.com</a:t>
            </a:r>
            <a:r>
              <a:rPr lang="zh-CN" altLang="zh-CN" smtClean="0">
                <a:ea typeface="黑体" panose="02010609060101010101" pitchFamily="49" charset="-122"/>
              </a:rPr>
              <a:t>。</a:t>
            </a:r>
          </a:p>
        </p:txBody>
      </p:sp>
      <p:sp>
        <p:nvSpPr>
          <p:cNvPr id="169881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45290D-4909-46D5-9F5E-8209ED3604C2}" type="slidenum">
              <a:rPr lang="zh-CN" altLang="en-US" smtClean="0"/>
              <a:pPr eaLnBrk="1" hangingPunct="1"/>
              <a:t>20</a:t>
            </a:fld>
            <a:endParaRPr lang="en-US" altLang="zh-CN" smtClean="0"/>
          </a:p>
        </p:txBody>
      </p:sp>
      <p:sp>
        <p:nvSpPr>
          <p:cNvPr id="169882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41" name="Rectangle 2"/>
          <p:cNvSpPr>
            <a:spLocks noChangeArrowheads="1"/>
          </p:cNvSpPr>
          <p:nvPr/>
        </p:nvSpPr>
        <p:spPr bwMode="auto">
          <a:xfrm>
            <a:off x="1052513" y="1844675"/>
            <a:ext cx="6318250" cy="792163"/>
          </a:xfrm>
          <a:prstGeom prst="rect">
            <a:avLst/>
          </a:prstGeom>
          <a:solidFill>
            <a:srgbClr val="CCECFF"/>
          </a:solidFill>
          <a:ln w="9525">
            <a:solidFill>
              <a:srgbClr val="333399"/>
            </a:solidFill>
            <a:miter lim="800000"/>
            <a:headEnd/>
            <a:tailEnd/>
          </a:ln>
        </p:spPr>
        <p:txBody>
          <a:bodyPr wrap="none" anchor="ctr"/>
          <a:lstStyle/>
          <a:p>
            <a:endParaRPr lang="zh-CN" altLang="en-US">
              <a:ea typeface="宋体" panose="02010600030101010101" pitchFamily="2" charset="-122"/>
            </a:endParaRPr>
          </a:p>
        </p:txBody>
      </p:sp>
      <p:sp>
        <p:nvSpPr>
          <p:cNvPr id="1699842" name="Rectangle 3"/>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使用 </a:t>
            </a:r>
            <a:r>
              <a:rPr lang="en-US" altLang="zh-CN" smtClean="0">
                <a:ea typeface="黑体" panose="02010609060101010101" pitchFamily="49" charset="-122"/>
              </a:rPr>
              <a:t>HTTP </a:t>
            </a:r>
            <a:r>
              <a:rPr lang="zh-CN" altLang="zh-CN" smtClean="0">
                <a:ea typeface="黑体" panose="02010609060101010101" pitchFamily="49" charset="-122"/>
              </a:rPr>
              <a:t>的 </a:t>
            </a:r>
            <a:r>
              <a:rPr lang="en-US" altLang="zh-CN" smtClean="0">
                <a:ea typeface="黑体" panose="02010609060101010101" pitchFamily="49" charset="-122"/>
              </a:rPr>
              <a:t>URL</a:t>
            </a:r>
          </a:p>
        </p:txBody>
      </p:sp>
      <p:sp>
        <p:nvSpPr>
          <p:cNvPr id="1699843" name="Rectangle 4"/>
          <p:cNvSpPr>
            <a:spLocks noGrp="1" noChangeArrowheads="1"/>
          </p:cNvSpPr>
          <p:nvPr>
            <p:ph idx="1"/>
          </p:nvPr>
        </p:nvSpPr>
        <p:spPr>
          <a:xfrm>
            <a:off x="495300" y="1196975"/>
            <a:ext cx="9066213" cy="4933950"/>
          </a:xfrm>
        </p:spPr>
        <p:txBody>
          <a:bodyPr/>
          <a:lstStyle/>
          <a:p>
            <a:pPr marL="315913" indent="-315913">
              <a:spcBef>
                <a:spcPts val="550"/>
              </a:spcBef>
            </a:pPr>
            <a:r>
              <a:rPr lang="zh-CN" altLang="en-US" smtClean="0">
                <a:ea typeface="黑体" panose="02010609060101010101" pitchFamily="49" charset="-122"/>
              </a:rPr>
              <a:t>使用 </a:t>
            </a:r>
            <a:r>
              <a:rPr lang="en-US" altLang="zh-CN" smtClean="0">
                <a:ea typeface="黑体" panose="02010609060101010101" pitchFamily="49" charset="-122"/>
              </a:rPr>
              <a:t>HTTP </a:t>
            </a:r>
            <a:r>
              <a:rPr lang="zh-CN" altLang="en-US" smtClean="0">
                <a:ea typeface="黑体" panose="02010609060101010101" pitchFamily="49" charset="-122"/>
              </a:rPr>
              <a:t>的 </a:t>
            </a:r>
            <a:r>
              <a:rPr lang="en-US" altLang="zh-CN" smtClean="0">
                <a:ea typeface="黑体" panose="02010609060101010101" pitchFamily="49" charset="-122"/>
              </a:rPr>
              <a:t>URL </a:t>
            </a:r>
            <a:r>
              <a:rPr lang="zh-CN" altLang="en-US" smtClean="0">
                <a:ea typeface="黑体" panose="02010609060101010101" pitchFamily="49" charset="-122"/>
              </a:rPr>
              <a:t>的一般形式</a:t>
            </a:r>
          </a:p>
          <a:p>
            <a:pPr marL="315913" indent="-315913">
              <a:spcBef>
                <a:spcPct val="50000"/>
              </a:spcBef>
              <a:buFont typeface="Wingdings" panose="05000000000000000000" pitchFamily="2" charset="2"/>
              <a:buNone/>
            </a:pPr>
            <a:r>
              <a:rPr lang="zh-CN" altLang="en-US" smtClean="0">
                <a:ea typeface="黑体" panose="02010609060101010101" pitchFamily="49" charset="-122"/>
              </a:rPr>
              <a:t>       </a:t>
            </a:r>
            <a:r>
              <a:rPr lang="en-US" altLang="zh-CN" smtClean="0">
                <a:ea typeface="黑体" panose="02010609060101010101" pitchFamily="49" charset="-122"/>
              </a:rPr>
              <a:t>http://&lt;</a:t>
            </a:r>
            <a:r>
              <a:rPr lang="zh-CN" altLang="en-US" smtClean="0">
                <a:ea typeface="黑体" panose="02010609060101010101" pitchFamily="49" charset="-122"/>
              </a:rPr>
              <a:t>主机</a:t>
            </a:r>
            <a:r>
              <a:rPr lang="en-US" altLang="zh-CN" smtClean="0">
                <a:ea typeface="黑体" panose="02010609060101010101" pitchFamily="49" charset="-122"/>
              </a:rPr>
              <a:t>&gt;:&lt;</a:t>
            </a:r>
            <a:r>
              <a:rPr lang="zh-CN" altLang="en-US" smtClean="0">
                <a:ea typeface="黑体" panose="02010609060101010101" pitchFamily="49" charset="-122"/>
              </a:rPr>
              <a:t>端口</a:t>
            </a:r>
            <a:r>
              <a:rPr lang="en-US" altLang="zh-CN" smtClean="0">
                <a:ea typeface="黑体" panose="02010609060101010101" pitchFamily="49" charset="-122"/>
              </a:rPr>
              <a:t>&gt;/&lt;</a:t>
            </a:r>
            <a:r>
              <a:rPr lang="zh-CN" altLang="en-US" smtClean="0">
                <a:ea typeface="黑体" panose="02010609060101010101" pitchFamily="49" charset="-122"/>
              </a:rPr>
              <a:t>路径</a:t>
            </a:r>
            <a:r>
              <a:rPr lang="en-US" altLang="zh-CN" smtClean="0">
                <a:ea typeface="黑体" panose="02010609060101010101" pitchFamily="49" charset="-122"/>
              </a:rPr>
              <a:t>&gt; </a:t>
            </a:r>
          </a:p>
        </p:txBody>
      </p:sp>
      <p:grpSp>
        <p:nvGrpSpPr>
          <p:cNvPr id="641033" name="Group 9"/>
          <p:cNvGrpSpPr>
            <a:grpSpLocks/>
          </p:cNvGrpSpPr>
          <p:nvPr/>
        </p:nvGrpSpPr>
        <p:grpSpPr bwMode="auto">
          <a:xfrm>
            <a:off x="908050" y="1987550"/>
            <a:ext cx="3827463" cy="1527175"/>
            <a:chOff x="891" y="1664"/>
            <a:chExt cx="2226" cy="962"/>
          </a:xfrm>
        </p:grpSpPr>
        <p:grpSp>
          <p:nvGrpSpPr>
            <p:cNvPr id="1699845" name="Group 5"/>
            <p:cNvGrpSpPr>
              <a:grpSpLocks/>
            </p:cNvGrpSpPr>
            <p:nvPr/>
          </p:nvGrpSpPr>
          <p:grpSpPr bwMode="auto">
            <a:xfrm>
              <a:off x="1156" y="1664"/>
              <a:ext cx="457" cy="681"/>
              <a:chOff x="1156" y="1570"/>
              <a:chExt cx="335" cy="681"/>
            </a:xfrm>
          </p:grpSpPr>
          <p:sp>
            <p:nvSpPr>
              <p:cNvPr id="1699846" name="Rectangle 6"/>
              <p:cNvSpPr>
                <a:spLocks noChangeArrowheads="1"/>
              </p:cNvSpPr>
              <p:nvPr/>
            </p:nvSpPr>
            <p:spPr bwMode="auto">
              <a:xfrm>
                <a:off x="1156" y="1570"/>
                <a:ext cx="335" cy="361"/>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1699847" name="Line 7"/>
              <p:cNvSpPr>
                <a:spLocks noChangeShapeType="1"/>
              </p:cNvSpPr>
              <p:nvPr/>
            </p:nvSpPr>
            <p:spPr bwMode="auto">
              <a:xfrm flipV="1">
                <a:off x="1338" y="1933"/>
                <a:ext cx="0" cy="318"/>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1699848" name="Text Box 8"/>
            <p:cNvSpPr txBox="1">
              <a:spLocks noChangeArrowheads="1"/>
            </p:cNvSpPr>
            <p:nvPr/>
          </p:nvSpPr>
          <p:spPr bwMode="auto">
            <a:xfrm>
              <a:off x="891" y="2296"/>
              <a:ext cx="222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00099"/>
                  </a:solidFill>
                  <a:ea typeface="黑体" panose="02010609060101010101" pitchFamily="49" charset="-122"/>
                </a:rPr>
                <a:t>这表示使用 </a:t>
              </a:r>
              <a:r>
                <a:rPr lang="en-US" altLang="zh-CN" sz="2800" b="1">
                  <a:solidFill>
                    <a:srgbClr val="000099"/>
                  </a:solidFill>
                  <a:ea typeface="黑体" panose="02010609060101010101" pitchFamily="49" charset="-122"/>
                </a:rPr>
                <a:t>HTTP </a:t>
              </a:r>
              <a:r>
                <a:rPr lang="zh-CN" altLang="en-US" sz="2800" b="1">
                  <a:solidFill>
                    <a:srgbClr val="000099"/>
                  </a:solidFill>
                  <a:ea typeface="黑体" panose="02010609060101010101" pitchFamily="49" charset="-122"/>
                </a:rPr>
                <a:t>协议</a:t>
              </a:r>
            </a:p>
          </p:txBody>
        </p:sp>
      </p:grpSp>
      <p:sp>
        <p:nvSpPr>
          <p:cNvPr id="169984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55DFDCE-A55D-4559-8BC0-D6F11D969ED2}" type="slidenum">
              <a:rPr lang="zh-CN" altLang="en-US" smtClean="0"/>
              <a:pPr eaLnBrk="1" hangingPunct="1"/>
              <a:t>21</a:t>
            </a:fld>
            <a:endParaRPr lang="en-US" altLang="zh-CN" smtClean="0"/>
          </a:p>
        </p:txBody>
      </p:sp>
      <p:sp>
        <p:nvSpPr>
          <p:cNvPr id="169985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410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1889" name="Rectangle 2"/>
          <p:cNvSpPr>
            <a:spLocks noChangeArrowheads="1"/>
          </p:cNvSpPr>
          <p:nvPr/>
        </p:nvSpPr>
        <p:spPr bwMode="auto">
          <a:xfrm>
            <a:off x="1130300" y="1844675"/>
            <a:ext cx="6318250" cy="792163"/>
          </a:xfrm>
          <a:prstGeom prst="rect">
            <a:avLst/>
          </a:prstGeom>
          <a:solidFill>
            <a:srgbClr val="CCECFF"/>
          </a:solidFill>
          <a:ln w="9525">
            <a:solidFill>
              <a:srgbClr val="333399"/>
            </a:solidFill>
            <a:miter lim="800000"/>
            <a:headEnd/>
            <a:tailEnd/>
          </a:ln>
        </p:spPr>
        <p:txBody>
          <a:bodyPr wrap="none" anchor="ctr"/>
          <a:lstStyle/>
          <a:p>
            <a:endParaRPr lang="zh-CN" altLang="en-US">
              <a:ea typeface="宋体" panose="02010600030101010101" pitchFamily="2" charset="-122"/>
            </a:endParaRPr>
          </a:p>
        </p:txBody>
      </p:sp>
      <p:sp>
        <p:nvSpPr>
          <p:cNvPr id="1701890" name="Rectangle 3"/>
          <p:cNvSpPr>
            <a:spLocks noGrp="1" noChangeArrowheads="1"/>
          </p:cNvSpPr>
          <p:nvPr>
            <p:ph type="title"/>
          </p:nvPr>
        </p:nvSpPr>
        <p:spPr>
          <a:xfrm>
            <a:off x="496888" y="188913"/>
            <a:ext cx="9064625"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使用 </a:t>
            </a:r>
            <a:r>
              <a:rPr lang="en-US" altLang="zh-CN" smtClean="0">
                <a:ea typeface="黑体" panose="02010609060101010101" pitchFamily="49" charset="-122"/>
              </a:rPr>
              <a:t>HTTP </a:t>
            </a:r>
            <a:r>
              <a:rPr lang="zh-CN" altLang="zh-CN" smtClean="0">
                <a:ea typeface="黑体" panose="02010609060101010101" pitchFamily="49" charset="-122"/>
              </a:rPr>
              <a:t>的 </a:t>
            </a:r>
            <a:r>
              <a:rPr lang="en-US" altLang="zh-CN" smtClean="0">
                <a:ea typeface="黑体" panose="02010609060101010101" pitchFamily="49" charset="-122"/>
              </a:rPr>
              <a:t>URL</a:t>
            </a:r>
          </a:p>
        </p:txBody>
      </p:sp>
      <p:sp>
        <p:nvSpPr>
          <p:cNvPr id="1701891" name="Rectangle 4"/>
          <p:cNvSpPr>
            <a:spLocks noGrp="1" noChangeArrowheads="1"/>
          </p:cNvSpPr>
          <p:nvPr>
            <p:ph idx="1"/>
          </p:nvPr>
        </p:nvSpPr>
        <p:spPr>
          <a:xfrm>
            <a:off x="496888" y="1195388"/>
            <a:ext cx="9064625" cy="4935537"/>
          </a:xfrm>
        </p:spPr>
        <p:txBody>
          <a:bodyPr/>
          <a:lstStyle/>
          <a:p>
            <a:pPr marL="315913" indent="-315913">
              <a:spcBef>
                <a:spcPts val="550"/>
              </a:spcBef>
            </a:pPr>
            <a:r>
              <a:rPr lang="zh-CN" altLang="en-US" smtClean="0">
                <a:ea typeface="黑体" panose="02010609060101010101" pitchFamily="49" charset="-122"/>
              </a:rPr>
              <a:t>使用 </a:t>
            </a:r>
            <a:r>
              <a:rPr lang="en-US" altLang="zh-CN" smtClean="0">
                <a:ea typeface="黑体" panose="02010609060101010101" pitchFamily="49" charset="-122"/>
              </a:rPr>
              <a:t>HTTP </a:t>
            </a:r>
            <a:r>
              <a:rPr lang="zh-CN" altLang="en-US" smtClean="0">
                <a:ea typeface="黑体" panose="02010609060101010101" pitchFamily="49" charset="-122"/>
              </a:rPr>
              <a:t>的 </a:t>
            </a:r>
            <a:r>
              <a:rPr lang="en-US" altLang="zh-CN" smtClean="0">
                <a:ea typeface="黑体" panose="02010609060101010101" pitchFamily="49" charset="-122"/>
              </a:rPr>
              <a:t>URL </a:t>
            </a:r>
            <a:r>
              <a:rPr lang="zh-CN" altLang="en-US" smtClean="0">
                <a:ea typeface="黑体" panose="02010609060101010101" pitchFamily="49" charset="-122"/>
              </a:rPr>
              <a:t>的一般形式</a:t>
            </a:r>
          </a:p>
          <a:p>
            <a:pPr marL="315913" indent="-315913">
              <a:spcBef>
                <a:spcPct val="50000"/>
              </a:spcBef>
              <a:buFont typeface="Wingdings" panose="05000000000000000000" pitchFamily="2" charset="2"/>
              <a:buNone/>
            </a:pPr>
            <a:r>
              <a:rPr lang="zh-CN" altLang="en-US" smtClean="0">
                <a:ea typeface="黑体" panose="02010609060101010101" pitchFamily="49" charset="-122"/>
              </a:rPr>
              <a:t>       </a:t>
            </a:r>
            <a:r>
              <a:rPr lang="en-US" altLang="zh-CN" smtClean="0">
                <a:ea typeface="黑体" panose="02010609060101010101" pitchFamily="49" charset="-122"/>
              </a:rPr>
              <a:t>http://&lt;</a:t>
            </a:r>
            <a:r>
              <a:rPr lang="zh-CN" altLang="en-US" smtClean="0">
                <a:ea typeface="黑体" panose="02010609060101010101" pitchFamily="49" charset="-122"/>
              </a:rPr>
              <a:t>主机</a:t>
            </a:r>
            <a:r>
              <a:rPr lang="en-US" altLang="zh-CN" smtClean="0">
                <a:ea typeface="黑体" panose="02010609060101010101" pitchFamily="49" charset="-122"/>
              </a:rPr>
              <a:t>&gt;:&lt;</a:t>
            </a:r>
            <a:r>
              <a:rPr lang="zh-CN" altLang="en-US" smtClean="0">
                <a:ea typeface="黑体" panose="02010609060101010101" pitchFamily="49" charset="-122"/>
              </a:rPr>
              <a:t>端口</a:t>
            </a:r>
            <a:r>
              <a:rPr lang="en-US" altLang="zh-CN" smtClean="0">
                <a:ea typeface="黑体" panose="02010609060101010101" pitchFamily="49" charset="-122"/>
              </a:rPr>
              <a:t>&gt;/&lt;</a:t>
            </a:r>
            <a:r>
              <a:rPr lang="zh-CN" altLang="en-US" smtClean="0">
                <a:ea typeface="黑体" panose="02010609060101010101" pitchFamily="49" charset="-122"/>
              </a:rPr>
              <a:t>路径</a:t>
            </a:r>
            <a:r>
              <a:rPr lang="en-US" altLang="zh-CN" smtClean="0">
                <a:ea typeface="黑体" panose="02010609060101010101" pitchFamily="49" charset="-122"/>
              </a:rPr>
              <a:t>&gt; </a:t>
            </a:r>
          </a:p>
        </p:txBody>
      </p:sp>
      <p:grpSp>
        <p:nvGrpSpPr>
          <p:cNvPr id="1701892" name="Group 6"/>
          <p:cNvGrpSpPr>
            <a:grpSpLocks/>
          </p:cNvGrpSpPr>
          <p:nvPr/>
        </p:nvGrpSpPr>
        <p:grpSpPr bwMode="auto">
          <a:xfrm>
            <a:off x="2139950" y="1998663"/>
            <a:ext cx="403225" cy="1081087"/>
            <a:chOff x="1156" y="1570"/>
            <a:chExt cx="335" cy="681"/>
          </a:xfrm>
        </p:grpSpPr>
        <p:sp>
          <p:nvSpPr>
            <p:cNvPr id="1701893" name="Rectangle 7"/>
            <p:cNvSpPr>
              <a:spLocks noChangeArrowheads="1"/>
            </p:cNvSpPr>
            <p:nvPr/>
          </p:nvSpPr>
          <p:spPr bwMode="auto">
            <a:xfrm>
              <a:off x="1156" y="1570"/>
              <a:ext cx="335" cy="361"/>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1701894" name="Line 8"/>
            <p:cNvSpPr>
              <a:spLocks noChangeShapeType="1"/>
            </p:cNvSpPr>
            <p:nvPr/>
          </p:nvSpPr>
          <p:spPr bwMode="auto">
            <a:xfrm flipV="1">
              <a:off x="1338" y="1933"/>
              <a:ext cx="0" cy="318"/>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1701895" name="Text Box 9"/>
          <p:cNvSpPr txBox="1">
            <a:spLocks noChangeArrowheads="1"/>
          </p:cNvSpPr>
          <p:nvPr/>
        </p:nvSpPr>
        <p:spPr bwMode="auto">
          <a:xfrm>
            <a:off x="1108075" y="2981325"/>
            <a:ext cx="4852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00099"/>
                </a:solidFill>
                <a:latin typeface="Tahoma" panose="020B0604030504040204" pitchFamily="34" charset="0"/>
                <a:ea typeface="黑体" panose="02010609060101010101" pitchFamily="49" charset="-122"/>
              </a:rPr>
              <a:t>冒号和两个斜线是规定的格式</a:t>
            </a:r>
          </a:p>
        </p:txBody>
      </p:sp>
      <p:sp>
        <p:nvSpPr>
          <p:cNvPr id="170189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D47A84-5265-49E0-B11F-0601EB5D6644}" type="slidenum">
              <a:rPr lang="zh-CN" altLang="en-US" smtClean="0"/>
              <a:pPr eaLnBrk="1" hangingPunct="1"/>
              <a:t>22</a:t>
            </a:fld>
            <a:endParaRPr lang="en-US" altLang="zh-CN" smtClean="0"/>
          </a:p>
        </p:txBody>
      </p:sp>
      <p:sp>
        <p:nvSpPr>
          <p:cNvPr id="170189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3937" name="Rectangle 2"/>
          <p:cNvSpPr>
            <a:spLocks noChangeArrowheads="1"/>
          </p:cNvSpPr>
          <p:nvPr/>
        </p:nvSpPr>
        <p:spPr bwMode="auto">
          <a:xfrm>
            <a:off x="1052513" y="1844675"/>
            <a:ext cx="6318250" cy="792163"/>
          </a:xfrm>
          <a:prstGeom prst="rect">
            <a:avLst/>
          </a:prstGeom>
          <a:solidFill>
            <a:srgbClr val="CCECFF"/>
          </a:solidFill>
          <a:ln w="9525">
            <a:solidFill>
              <a:srgbClr val="333399"/>
            </a:solidFill>
            <a:miter lim="800000"/>
            <a:headEnd/>
            <a:tailEnd/>
          </a:ln>
        </p:spPr>
        <p:txBody>
          <a:bodyPr wrap="none" anchor="ctr"/>
          <a:lstStyle/>
          <a:p>
            <a:endParaRPr lang="zh-CN" altLang="en-US">
              <a:ea typeface="宋体" panose="02010600030101010101" pitchFamily="2" charset="-122"/>
            </a:endParaRPr>
          </a:p>
        </p:txBody>
      </p:sp>
      <p:sp>
        <p:nvSpPr>
          <p:cNvPr id="1703938" name="Rectangle 3"/>
          <p:cNvSpPr>
            <a:spLocks noGrp="1" noChangeArrowheads="1"/>
          </p:cNvSpPr>
          <p:nvPr>
            <p:ph type="title"/>
          </p:nvPr>
        </p:nvSpPr>
        <p:spPr>
          <a:xfrm>
            <a:off x="496888" y="188913"/>
            <a:ext cx="9064625"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使用 </a:t>
            </a:r>
            <a:r>
              <a:rPr lang="en-US" altLang="zh-CN" smtClean="0">
                <a:ea typeface="黑体" panose="02010609060101010101" pitchFamily="49" charset="-122"/>
              </a:rPr>
              <a:t>HTTP </a:t>
            </a:r>
            <a:r>
              <a:rPr lang="zh-CN" altLang="zh-CN" smtClean="0">
                <a:ea typeface="黑体" panose="02010609060101010101" pitchFamily="49" charset="-122"/>
              </a:rPr>
              <a:t>的 </a:t>
            </a:r>
            <a:r>
              <a:rPr lang="en-US" altLang="zh-CN" smtClean="0">
                <a:ea typeface="黑体" panose="02010609060101010101" pitchFamily="49" charset="-122"/>
              </a:rPr>
              <a:t>URL</a:t>
            </a:r>
          </a:p>
        </p:txBody>
      </p:sp>
      <p:sp>
        <p:nvSpPr>
          <p:cNvPr id="1703939" name="Rectangle 4"/>
          <p:cNvSpPr>
            <a:spLocks noGrp="1" noChangeArrowheads="1"/>
          </p:cNvSpPr>
          <p:nvPr>
            <p:ph idx="1"/>
          </p:nvPr>
        </p:nvSpPr>
        <p:spPr>
          <a:xfrm>
            <a:off x="496888" y="1195388"/>
            <a:ext cx="9064625" cy="4935537"/>
          </a:xfrm>
        </p:spPr>
        <p:txBody>
          <a:bodyPr/>
          <a:lstStyle/>
          <a:p>
            <a:pPr marL="315913" indent="-315913">
              <a:spcBef>
                <a:spcPts val="550"/>
              </a:spcBef>
            </a:pPr>
            <a:r>
              <a:rPr lang="zh-CN" altLang="en-US" smtClean="0">
                <a:ea typeface="黑体" panose="02010609060101010101" pitchFamily="49" charset="-122"/>
              </a:rPr>
              <a:t>使用 </a:t>
            </a:r>
            <a:r>
              <a:rPr lang="en-US" altLang="zh-CN" smtClean="0">
                <a:ea typeface="黑体" panose="02010609060101010101" pitchFamily="49" charset="-122"/>
              </a:rPr>
              <a:t>HTTP </a:t>
            </a:r>
            <a:r>
              <a:rPr lang="zh-CN" altLang="en-US" smtClean="0">
                <a:ea typeface="黑体" panose="02010609060101010101" pitchFamily="49" charset="-122"/>
              </a:rPr>
              <a:t>的 </a:t>
            </a:r>
            <a:r>
              <a:rPr lang="en-US" altLang="zh-CN" smtClean="0">
                <a:ea typeface="黑体" panose="02010609060101010101" pitchFamily="49" charset="-122"/>
              </a:rPr>
              <a:t>URL </a:t>
            </a:r>
            <a:r>
              <a:rPr lang="zh-CN" altLang="en-US" smtClean="0">
                <a:ea typeface="黑体" panose="02010609060101010101" pitchFamily="49" charset="-122"/>
              </a:rPr>
              <a:t>的一般形式</a:t>
            </a:r>
          </a:p>
          <a:p>
            <a:pPr marL="315913" indent="-315913">
              <a:spcBef>
                <a:spcPct val="50000"/>
              </a:spcBef>
              <a:buFont typeface="Wingdings" panose="05000000000000000000" pitchFamily="2" charset="2"/>
              <a:buNone/>
            </a:pPr>
            <a:r>
              <a:rPr lang="zh-CN" altLang="en-US" smtClean="0">
                <a:ea typeface="黑体" panose="02010609060101010101" pitchFamily="49" charset="-122"/>
              </a:rPr>
              <a:t>       </a:t>
            </a:r>
            <a:r>
              <a:rPr lang="en-US" altLang="zh-CN" smtClean="0">
                <a:ea typeface="黑体" panose="02010609060101010101" pitchFamily="49" charset="-122"/>
              </a:rPr>
              <a:t>http://&lt;</a:t>
            </a:r>
            <a:r>
              <a:rPr lang="zh-CN" altLang="en-US" smtClean="0">
                <a:ea typeface="黑体" panose="02010609060101010101" pitchFamily="49" charset="-122"/>
              </a:rPr>
              <a:t>主机</a:t>
            </a:r>
            <a:r>
              <a:rPr lang="en-US" altLang="zh-CN" smtClean="0">
                <a:ea typeface="黑体" panose="02010609060101010101" pitchFamily="49" charset="-122"/>
              </a:rPr>
              <a:t>&gt;:&lt;</a:t>
            </a:r>
            <a:r>
              <a:rPr lang="zh-CN" altLang="en-US" smtClean="0">
                <a:ea typeface="黑体" panose="02010609060101010101" pitchFamily="49" charset="-122"/>
              </a:rPr>
              <a:t>端口</a:t>
            </a:r>
            <a:r>
              <a:rPr lang="en-US" altLang="zh-CN" smtClean="0">
                <a:ea typeface="黑体" panose="02010609060101010101" pitchFamily="49" charset="-122"/>
              </a:rPr>
              <a:t>&gt;/&lt;</a:t>
            </a:r>
            <a:r>
              <a:rPr lang="zh-CN" altLang="en-US" smtClean="0">
                <a:ea typeface="黑体" panose="02010609060101010101" pitchFamily="49" charset="-122"/>
              </a:rPr>
              <a:t>路径</a:t>
            </a:r>
            <a:r>
              <a:rPr lang="en-US" altLang="zh-CN" smtClean="0">
                <a:ea typeface="黑体" panose="02010609060101010101" pitchFamily="49" charset="-122"/>
              </a:rPr>
              <a:t>&gt; </a:t>
            </a:r>
          </a:p>
        </p:txBody>
      </p:sp>
      <p:grpSp>
        <p:nvGrpSpPr>
          <p:cNvPr id="1703940" name="Group 5"/>
          <p:cNvGrpSpPr>
            <a:grpSpLocks/>
          </p:cNvGrpSpPr>
          <p:nvPr/>
        </p:nvGrpSpPr>
        <p:grpSpPr bwMode="auto">
          <a:xfrm>
            <a:off x="2447925" y="1998663"/>
            <a:ext cx="1262063" cy="1081087"/>
            <a:chOff x="1156" y="1570"/>
            <a:chExt cx="335" cy="681"/>
          </a:xfrm>
        </p:grpSpPr>
        <p:sp>
          <p:nvSpPr>
            <p:cNvPr id="1703941" name="Rectangle 6"/>
            <p:cNvSpPr>
              <a:spLocks noChangeArrowheads="1"/>
            </p:cNvSpPr>
            <p:nvPr/>
          </p:nvSpPr>
          <p:spPr bwMode="auto">
            <a:xfrm>
              <a:off x="1156" y="1570"/>
              <a:ext cx="335" cy="361"/>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1703942" name="Line 7"/>
            <p:cNvSpPr>
              <a:spLocks noChangeShapeType="1"/>
            </p:cNvSpPr>
            <p:nvPr/>
          </p:nvSpPr>
          <p:spPr bwMode="auto">
            <a:xfrm flipV="1">
              <a:off x="1338" y="1933"/>
              <a:ext cx="0" cy="318"/>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1703943" name="Text Box 8"/>
          <p:cNvSpPr txBox="1">
            <a:spLocks noChangeArrowheads="1"/>
          </p:cNvSpPr>
          <p:nvPr/>
        </p:nvSpPr>
        <p:spPr bwMode="auto">
          <a:xfrm>
            <a:off x="1520825" y="3049588"/>
            <a:ext cx="30559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00099"/>
                </a:solidFill>
                <a:latin typeface="Tahoma" panose="020B0604030504040204" pitchFamily="34" charset="0"/>
                <a:ea typeface="黑体" panose="02010609060101010101" pitchFamily="49" charset="-122"/>
              </a:rPr>
              <a:t>这里写主机的域名</a:t>
            </a:r>
          </a:p>
        </p:txBody>
      </p:sp>
      <p:sp>
        <p:nvSpPr>
          <p:cNvPr id="170394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BD4B71F-46D5-461F-B3B5-8011E698AF2A}" type="slidenum">
              <a:rPr lang="zh-CN" altLang="en-US" smtClean="0"/>
              <a:pPr eaLnBrk="1" hangingPunct="1"/>
              <a:t>23</a:t>
            </a:fld>
            <a:endParaRPr lang="en-US" altLang="zh-CN" smtClean="0"/>
          </a:p>
        </p:txBody>
      </p:sp>
      <p:sp>
        <p:nvSpPr>
          <p:cNvPr id="170394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5985" name="Rectangle 2"/>
          <p:cNvSpPr>
            <a:spLocks noChangeArrowheads="1"/>
          </p:cNvSpPr>
          <p:nvPr/>
        </p:nvSpPr>
        <p:spPr bwMode="auto">
          <a:xfrm>
            <a:off x="1154113" y="1916113"/>
            <a:ext cx="6319837" cy="792162"/>
          </a:xfrm>
          <a:prstGeom prst="rect">
            <a:avLst/>
          </a:prstGeom>
          <a:solidFill>
            <a:srgbClr val="CCECFF"/>
          </a:solidFill>
          <a:ln w="9525">
            <a:solidFill>
              <a:srgbClr val="333399"/>
            </a:solidFill>
            <a:miter lim="800000"/>
            <a:headEnd/>
            <a:tailEnd/>
          </a:ln>
        </p:spPr>
        <p:txBody>
          <a:bodyPr wrap="none" anchor="ctr"/>
          <a:lstStyle/>
          <a:p>
            <a:endParaRPr lang="zh-CN" altLang="en-US">
              <a:ea typeface="宋体" panose="02010600030101010101" pitchFamily="2" charset="-122"/>
            </a:endParaRPr>
          </a:p>
        </p:txBody>
      </p:sp>
      <p:sp>
        <p:nvSpPr>
          <p:cNvPr id="1705986" name="Rectangle 3"/>
          <p:cNvSpPr>
            <a:spLocks noGrp="1" noChangeArrowheads="1"/>
          </p:cNvSpPr>
          <p:nvPr>
            <p:ph type="title"/>
          </p:nvPr>
        </p:nvSpPr>
        <p:spPr>
          <a:xfrm>
            <a:off x="496888" y="188913"/>
            <a:ext cx="9064625"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使用 </a:t>
            </a:r>
            <a:r>
              <a:rPr lang="en-US" altLang="zh-CN" smtClean="0">
                <a:ea typeface="黑体" panose="02010609060101010101" pitchFamily="49" charset="-122"/>
              </a:rPr>
              <a:t>HTTP </a:t>
            </a:r>
            <a:r>
              <a:rPr lang="zh-CN" altLang="zh-CN" smtClean="0">
                <a:ea typeface="黑体" panose="02010609060101010101" pitchFamily="49" charset="-122"/>
              </a:rPr>
              <a:t>的 </a:t>
            </a:r>
            <a:r>
              <a:rPr lang="en-US" altLang="zh-CN" smtClean="0">
                <a:ea typeface="黑体" panose="02010609060101010101" pitchFamily="49" charset="-122"/>
              </a:rPr>
              <a:t>URL</a:t>
            </a:r>
          </a:p>
        </p:txBody>
      </p:sp>
      <p:sp>
        <p:nvSpPr>
          <p:cNvPr id="1705987" name="Rectangle 4"/>
          <p:cNvSpPr>
            <a:spLocks noGrp="1" noChangeArrowheads="1"/>
          </p:cNvSpPr>
          <p:nvPr>
            <p:ph idx="1"/>
          </p:nvPr>
        </p:nvSpPr>
        <p:spPr>
          <a:xfrm>
            <a:off x="496888" y="1195388"/>
            <a:ext cx="9064625" cy="4935537"/>
          </a:xfrm>
        </p:spPr>
        <p:txBody>
          <a:bodyPr/>
          <a:lstStyle/>
          <a:p>
            <a:pPr marL="315913" indent="-315913">
              <a:spcBef>
                <a:spcPts val="550"/>
              </a:spcBef>
            </a:pPr>
            <a:r>
              <a:rPr lang="zh-CN" altLang="en-US" smtClean="0">
                <a:ea typeface="黑体" panose="02010609060101010101" pitchFamily="49" charset="-122"/>
              </a:rPr>
              <a:t>使用 </a:t>
            </a:r>
            <a:r>
              <a:rPr lang="en-US" altLang="zh-CN" smtClean="0">
                <a:ea typeface="黑体" panose="02010609060101010101" pitchFamily="49" charset="-122"/>
              </a:rPr>
              <a:t>HTTP </a:t>
            </a:r>
            <a:r>
              <a:rPr lang="zh-CN" altLang="en-US" smtClean="0">
                <a:ea typeface="黑体" panose="02010609060101010101" pitchFamily="49" charset="-122"/>
              </a:rPr>
              <a:t>的 </a:t>
            </a:r>
            <a:r>
              <a:rPr lang="en-US" altLang="zh-CN" smtClean="0">
                <a:ea typeface="黑体" panose="02010609060101010101" pitchFamily="49" charset="-122"/>
              </a:rPr>
              <a:t>URL </a:t>
            </a:r>
            <a:r>
              <a:rPr lang="zh-CN" altLang="en-US" smtClean="0">
                <a:ea typeface="黑体" panose="02010609060101010101" pitchFamily="49" charset="-122"/>
              </a:rPr>
              <a:t>的一般形式</a:t>
            </a:r>
          </a:p>
          <a:p>
            <a:pPr marL="315913" indent="-315913">
              <a:spcBef>
                <a:spcPct val="50000"/>
              </a:spcBef>
              <a:buFont typeface="Wingdings" panose="05000000000000000000" pitchFamily="2" charset="2"/>
              <a:buNone/>
            </a:pPr>
            <a:r>
              <a:rPr lang="zh-CN" altLang="en-US" smtClean="0">
                <a:ea typeface="黑体" panose="02010609060101010101" pitchFamily="49" charset="-122"/>
              </a:rPr>
              <a:t>       </a:t>
            </a:r>
            <a:r>
              <a:rPr lang="en-US" altLang="zh-CN" smtClean="0">
                <a:ea typeface="黑体" panose="02010609060101010101" pitchFamily="49" charset="-122"/>
              </a:rPr>
              <a:t>http://&lt;</a:t>
            </a:r>
            <a:r>
              <a:rPr lang="zh-CN" altLang="en-US" smtClean="0">
                <a:ea typeface="黑体" panose="02010609060101010101" pitchFamily="49" charset="-122"/>
              </a:rPr>
              <a:t>主机</a:t>
            </a:r>
            <a:r>
              <a:rPr lang="en-US" altLang="zh-CN" smtClean="0">
                <a:ea typeface="黑体" panose="02010609060101010101" pitchFamily="49" charset="-122"/>
              </a:rPr>
              <a:t>&gt;:&lt;</a:t>
            </a:r>
            <a:r>
              <a:rPr lang="zh-CN" altLang="en-US" smtClean="0">
                <a:ea typeface="黑体" panose="02010609060101010101" pitchFamily="49" charset="-122"/>
              </a:rPr>
              <a:t>端口</a:t>
            </a:r>
            <a:r>
              <a:rPr lang="en-US" altLang="zh-CN" smtClean="0">
                <a:ea typeface="黑体" panose="02010609060101010101" pitchFamily="49" charset="-122"/>
              </a:rPr>
              <a:t>&gt;/&lt;</a:t>
            </a:r>
            <a:r>
              <a:rPr lang="zh-CN" altLang="en-US" smtClean="0">
                <a:ea typeface="黑体" panose="02010609060101010101" pitchFamily="49" charset="-122"/>
              </a:rPr>
              <a:t>路径</a:t>
            </a:r>
            <a:r>
              <a:rPr lang="en-US" altLang="zh-CN" smtClean="0">
                <a:ea typeface="黑体" panose="02010609060101010101" pitchFamily="49" charset="-122"/>
              </a:rPr>
              <a:t>&gt; </a:t>
            </a:r>
          </a:p>
        </p:txBody>
      </p:sp>
      <p:grpSp>
        <p:nvGrpSpPr>
          <p:cNvPr id="1705988" name="Group 5"/>
          <p:cNvGrpSpPr>
            <a:grpSpLocks/>
          </p:cNvGrpSpPr>
          <p:nvPr/>
        </p:nvGrpSpPr>
        <p:grpSpPr bwMode="auto">
          <a:xfrm>
            <a:off x="3792538" y="1987550"/>
            <a:ext cx="1395412" cy="1081088"/>
            <a:chOff x="1156" y="1570"/>
            <a:chExt cx="335" cy="681"/>
          </a:xfrm>
        </p:grpSpPr>
        <p:sp>
          <p:nvSpPr>
            <p:cNvPr id="1705989" name="Rectangle 6"/>
            <p:cNvSpPr>
              <a:spLocks noChangeArrowheads="1"/>
            </p:cNvSpPr>
            <p:nvPr/>
          </p:nvSpPr>
          <p:spPr bwMode="auto">
            <a:xfrm>
              <a:off x="1156" y="1570"/>
              <a:ext cx="335" cy="361"/>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1705990" name="Line 7"/>
            <p:cNvSpPr>
              <a:spLocks noChangeShapeType="1"/>
            </p:cNvSpPr>
            <p:nvPr/>
          </p:nvSpPr>
          <p:spPr bwMode="auto">
            <a:xfrm flipV="1">
              <a:off x="1338" y="1933"/>
              <a:ext cx="0" cy="318"/>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1705991" name="Text Box 8"/>
          <p:cNvSpPr txBox="1">
            <a:spLocks noChangeArrowheads="1"/>
          </p:cNvSpPr>
          <p:nvPr/>
        </p:nvSpPr>
        <p:spPr bwMode="auto">
          <a:xfrm>
            <a:off x="1363663" y="2978150"/>
            <a:ext cx="64928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latin typeface="Tahoma" panose="020B0604030504040204" pitchFamily="34" charset="0"/>
                <a:ea typeface="黑体" panose="02010609060101010101" pitchFamily="49" charset="-122"/>
              </a:rPr>
              <a:t>HTTP </a:t>
            </a:r>
            <a:r>
              <a:rPr lang="zh-CN" altLang="en-US" sz="2800" b="1">
                <a:solidFill>
                  <a:srgbClr val="000099"/>
                </a:solidFill>
                <a:latin typeface="Tahoma" panose="020B0604030504040204" pitchFamily="34" charset="0"/>
                <a:ea typeface="黑体" panose="02010609060101010101" pitchFamily="49" charset="-122"/>
              </a:rPr>
              <a:t>的默认端口号是 </a:t>
            </a:r>
            <a:r>
              <a:rPr lang="en-US" altLang="zh-CN" sz="2800" b="1">
                <a:solidFill>
                  <a:srgbClr val="000099"/>
                </a:solidFill>
                <a:latin typeface="Tahoma" panose="020B0604030504040204" pitchFamily="34" charset="0"/>
                <a:ea typeface="黑体" panose="02010609060101010101" pitchFamily="49" charset="-122"/>
              </a:rPr>
              <a:t>80</a:t>
            </a:r>
            <a:r>
              <a:rPr lang="zh-CN" altLang="en-US" sz="2800" b="1">
                <a:solidFill>
                  <a:srgbClr val="000099"/>
                </a:solidFill>
                <a:latin typeface="Tahoma" panose="020B0604030504040204" pitchFamily="34" charset="0"/>
                <a:ea typeface="黑体" panose="02010609060101010101" pitchFamily="49" charset="-122"/>
              </a:rPr>
              <a:t>，通常可省略</a:t>
            </a:r>
          </a:p>
        </p:txBody>
      </p:sp>
      <p:sp>
        <p:nvSpPr>
          <p:cNvPr id="170599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6009FA-7FE4-4695-AEFB-186F5D415904}" type="slidenum">
              <a:rPr lang="zh-CN" altLang="en-US" smtClean="0"/>
              <a:pPr eaLnBrk="1" hangingPunct="1"/>
              <a:t>24</a:t>
            </a:fld>
            <a:endParaRPr lang="en-US" altLang="zh-CN" smtClean="0"/>
          </a:p>
        </p:txBody>
      </p:sp>
      <p:sp>
        <p:nvSpPr>
          <p:cNvPr id="170599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8033" name="Rectangle 2"/>
          <p:cNvSpPr>
            <a:spLocks noChangeArrowheads="1"/>
          </p:cNvSpPr>
          <p:nvPr/>
        </p:nvSpPr>
        <p:spPr bwMode="auto">
          <a:xfrm>
            <a:off x="1136650" y="1841500"/>
            <a:ext cx="6318250" cy="792163"/>
          </a:xfrm>
          <a:prstGeom prst="rect">
            <a:avLst/>
          </a:prstGeom>
          <a:solidFill>
            <a:srgbClr val="CCECFF"/>
          </a:solidFill>
          <a:ln w="9525">
            <a:solidFill>
              <a:srgbClr val="333399"/>
            </a:solidFill>
            <a:miter lim="800000"/>
            <a:headEnd/>
            <a:tailEnd/>
          </a:ln>
        </p:spPr>
        <p:txBody>
          <a:bodyPr wrap="none" anchor="ctr"/>
          <a:lstStyle/>
          <a:p>
            <a:endParaRPr lang="zh-CN" altLang="en-US">
              <a:ea typeface="宋体" panose="02010600030101010101" pitchFamily="2" charset="-122"/>
            </a:endParaRPr>
          </a:p>
        </p:txBody>
      </p:sp>
      <p:sp>
        <p:nvSpPr>
          <p:cNvPr id="1708034" name="Rectangle 3"/>
          <p:cNvSpPr>
            <a:spLocks noGrp="1" noChangeArrowheads="1"/>
          </p:cNvSpPr>
          <p:nvPr>
            <p:ph type="title"/>
          </p:nvPr>
        </p:nvSpPr>
        <p:spPr>
          <a:xfrm>
            <a:off x="496888" y="188913"/>
            <a:ext cx="9064625"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使用 </a:t>
            </a:r>
            <a:r>
              <a:rPr lang="en-US" altLang="zh-CN" smtClean="0">
                <a:ea typeface="黑体" panose="02010609060101010101" pitchFamily="49" charset="-122"/>
              </a:rPr>
              <a:t>HTTP </a:t>
            </a:r>
            <a:r>
              <a:rPr lang="zh-CN" altLang="zh-CN" smtClean="0">
                <a:ea typeface="黑体" panose="02010609060101010101" pitchFamily="49" charset="-122"/>
              </a:rPr>
              <a:t>的 </a:t>
            </a:r>
            <a:r>
              <a:rPr lang="en-US" altLang="zh-CN" smtClean="0">
                <a:ea typeface="黑体" panose="02010609060101010101" pitchFamily="49" charset="-122"/>
              </a:rPr>
              <a:t>URL</a:t>
            </a:r>
          </a:p>
        </p:txBody>
      </p:sp>
      <p:sp>
        <p:nvSpPr>
          <p:cNvPr id="1708035" name="Rectangle 4"/>
          <p:cNvSpPr>
            <a:spLocks noGrp="1" noChangeArrowheads="1"/>
          </p:cNvSpPr>
          <p:nvPr>
            <p:ph idx="1"/>
          </p:nvPr>
        </p:nvSpPr>
        <p:spPr>
          <a:xfrm>
            <a:off x="496888" y="1195388"/>
            <a:ext cx="9064625" cy="4935537"/>
          </a:xfrm>
        </p:spPr>
        <p:txBody>
          <a:bodyPr/>
          <a:lstStyle/>
          <a:p>
            <a:pPr marL="315913" indent="-315913">
              <a:spcBef>
                <a:spcPts val="550"/>
              </a:spcBef>
            </a:pPr>
            <a:r>
              <a:rPr lang="zh-CN" altLang="en-US" smtClean="0">
                <a:ea typeface="黑体" panose="02010609060101010101" pitchFamily="49" charset="-122"/>
              </a:rPr>
              <a:t>使用 </a:t>
            </a:r>
            <a:r>
              <a:rPr lang="en-US" altLang="zh-CN" smtClean="0">
                <a:ea typeface="黑体" panose="02010609060101010101" pitchFamily="49" charset="-122"/>
              </a:rPr>
              <a:t>HTTP </a:t>
            </a:r>
            <a:r>
              <a:rPr lang="zh-CN" altLang="en-US" smtClean="0">
                <a:ea typeface="黑体" panose="02010609060101010101" pitchFamily="49" charset="-122"/>
              </a:rPr>
              <a:t>的 </a:t>
            </a:r>
            <a:r>
              <a:rPr lang="en-US" altLang="zh-CN" smtClean="0">
                <a:ea typeface="黑体" panose="02010609060101010101" pitchFamily="49" charset="-122"/>
              </a:rPr>
              <a:t>URL </a:t>
            </a:r>
            <a:r>
              <a:rPr lang="zh-CN" altLang="en-US" smtClean="0">
                <a:ea typeface="黑体" panose="02010609060101010101" pitchFamily="49" charset="-122"/>
              </a:rPr>
              <a:t>的一般形式</a:t>
            </a:r>
          </a:p>
          <a:p>
            <a:pPr marL="315913" indent="-315913">
              <a:spcBef>
                <a:spcPct val="50000"/>
              </a:spcBef>
              <a:buFont typeface="Wingdings" panose="05000000000000000000" pitchFamily="2" charset="2"/>
              <a:buNone/>
            </a:pPr>
            <a:r>
              <a:rPr lang="zh-CN" altLang="en-US" smtClean="0">
                <a:ea typeface="黑体" panose="02010609060101010101" pitchFamily="49" charset="-122"/>
              </a:rPr>
              <a:t>       </a:t>
            </a:r>
            <a:r>
              <a:rPr lang="en-US" altLang="zh-CN" smtClean="0">
                <a:ea typeface="黑体" panose="02010609060101010101" pitchFamily="49" charset="-122"/>
              </a:rPr>
              <a:t>http://&lt;</a:t>
            </a:r>
            <a:r>
              <a:rPr lang="zh-CN" altLang="en-US" smtClean="0">
                <a:ea typeface="黑体" panose="02010609060101010101" pitchFamily="49" charset="-122"/>
              </a:rPr>
              <a:t>主机</a:t>
            </a:r>
            <a:r>
              <a:rPr lang="en-US" altLang="zh-CN" smtClean="0">
                <a:ea typeface="黑体" panose="02010609060101010101" pitchFamily="49" charset="-122"/>
              </a:rPr>
              <a:t>&gt;:&lt;</a:t>
            </a:r>
            <a:r>
              <a:rPr lang="zh-CN" altLang="en-US" smtClean="0">
                <a:ea typeface="黑体" panose="02010609060101010101" pitchFamily="49" charset="-122"/>
              </a:rPr>
              <a:t>端口</a:t>
            </a:r>
            <a:r>
              <a:rPr lang="en-US" altLang="zh-CN" smtClean="0">
                <a:ea typeface="黑体" panose="02010609060101010101" pitchFamily="49" charset="-122"/>
              </a:rPr>
              <a:t>&gt;/&lt;</a:t>
            </a:r>
            <a:r>
              <a:rPr lang="zh-CN" altLang="en-US" smtClean="0">
                <a:ea typeface="黑体" panose="02010609060101010101" pitchFamily="49" charset="-122"/>
              </a:rPr>
              <a:t>路径</a:t>
            </a:r>
            <a:r>
              <a:rPr lang="en-US" altLang="zh-CN" smtClean="0">
                <a:ea typeface="黑体" panose="02010609060101010101" pitchFamily="49" charset="-122"/>
              </a:rPr>
              <a:t>&gt; </a:t>
            </a:r>
          </a:p>
        </p:txBody>
      </p:sp>
      <p:grpSp>
        <p:nvGrpSpPr>
          <p:cNvPr id="1708036" name="Group 5"/>
          <p:cNvGrpSpPr>
            <a:grpSpLocks/>
          </p:cNvGrpSpPr>
          <p:nvPr/>
        </p:nvGrpSpPr>
        <p:grpSpPr bwMode="auto">
          <a:xfrm>
            <a:off x="5202238" y="1987550"/>
            <a:ext cx="1471612" cy="1081088"/>
            <a:chOff x="1156" y="1570"/>
            <a:chExt cx="335" cy="681"/>
          </a:xfrm>
        </p:grpSpPr>
        <p:sp>
          <p:nvSpPr>
            <p:cNvPr id="1708037" name="Rectangle 6"/>
            <p:cNvSpPr>
              <a:spLocks noChangeArrowheads="1"/>
            </p:cNvSpPr>
            <p:nvPr/>
          </p:nvSpPr>
          <p:spPr bwMode="auto">
            <a:xfrm>
              <a:off x="1156" y="1570"/>
              <a:ext cx="335" cy="361"/>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ea typeface="宋体" panose="02010600030101010101" pitchFamily="2" charset="-122"/>
              </a:endParaRPr>
            </a:p>
          </p:txBody>
        </p:sp>
        <p:sp>
          <p:nvSpPr>
            <p:cNvPr id="1708038" name="Line 7"/>
            <p:cNvSpPr>
              <a:spLocks noChangeShapeType="1"/>
            </p:cNvSpPr>
            <p:nvPr/>
          </p:nvSpPr>
          <p:spPr bwMode="auto">
            <a:xfrm flipV="1">
              <a:off x="1338" y="1933"/>
              <a:ext cx="0" cy="318"/>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1708039" name="Text Box 8"/>
          <p:cNvSpPr txBox="1">
            <a:spLocks noChangeArrowheads="1"/>
          </p:cNvSpPr>
          <p:nvPr/>
        </p:nvSpPr>
        <p:spPr bwMode="auto">
          <a:xfrm>
            <a:off x="1285875" y="2914650"/>
            <a:ext cx="74104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000099"/>
                </a:solidFill>
                <a:ea typeface="黑体" panose="02010609060101010101" pitchFamily="49" charset="-122"/>
              </a:rPr>
              <a:t>若再省略文件的</a:t>
            </a:r>
            <a:r>
              <a:rPr lang="en-US" altLang="zh-CN" sz="2800" b="1">
                <a:solidFill>
                  <a:srgbClr val="000099"/>
                </a:solidFill>
                <a:ea typeface="黑体" panose="02010609060101010101" pitchFamily="49" charset="-122"/>
              </a:rPr>
              <a:t>&lt;</a:t>
            </a:r>
            <a:r>
              <a:rPr lang="zh-CN" altLang="en-US" sz="2800" b="1">
                <a:solidFill>
                  <a:srgbClr val="000099"/>
                </a:solidFill>
                <a:ea typeface="黑体" panose="02010609060101010101" pitchFamily="49" charset="-122"/>
              </a:rPr>
              <a:t>路径</a:t>
            </a:r>
            <a:r>
              <a:rPr lang="en-US" altLang="zh-CN" sz="2800" b="1">
                <a:solidFill>
                  <a:srgbClr val="000099"/>
                </a:solidFill>
                <a:ea typeface="黑体" panose="02010609060101010101" pitchFamily="49" charset="-122"/>
              </a:rPr>
              <a:t>&gt;</a:t>
            </a:r>
            <a:r>
              <a:rPr lang="zh-CN" altLang="en-US" sz="2800" b="1">
                <a:solidFill>
                  <a:srgbClr val="000099"/>
                </a:solidFill>
                <a:ea typeface="黑体" panose="02010609060101010101" pitchFamily="49" charset="-122"/>
              </a:rPr>
              <a:t>项，则 </a:t>
            </a:r>
            <a:r>
              <a:rPr lang="en-US" altLang="zh-CN" sz="2800" b="1">
                <a:solidFill>
                  <a:srgbClr val="000099"/>
                </a:solidFill>
                <a:ea typeface="黑体" panose="02010609060101010101" pitchFamily="49" charset="-122"/>
              </a:rPr>
              <a:t>URL </a:t>
            </a:r>
            <a:r>
              <a:rPr lang="zh-CN" altLang="en-US" sz="2800" b="1">
                <a:solidFill>
                  <a:srgbClr val="000099"/>
                </a:solidFill>
                <a:ea typeface="黑体" panose="02010609060101010101" pitchFamily="49" charset="-122"/>
              </a:rPr>
              <a:t>就指到互联网上的某个主页 </a:t>
            </a:r>
            <a:r>
              <a:rPr lang="en-US" altLang="zh-CN" sz="2800" b="1">
                <a:solidFill>
                  <a:srgbClr val="000099"/>
                </a:solidFill>
                <a:ea typeface="黑体" panose="02010609060101010101" pitchFamily="49" charset="-122"/>
              </a:rPr>
              <a:t>(home page)</a:t>
            </a:r>
            <a:r>
              <a:rPr lang="zh-CN" altLang="en-US" sz="2800" b="1">
                <a:solidFill>
                  <a:srgbClr val="000099"/>
                </a:solidFill>
                <a:ea typeface="黑体" panose="02010609060101010101" pitchFamily="49" charset="-122"/>
              </a:rPr>
              <a:t>。 </a:t>
            </a:r>
          </a:p>
        </p:txBody>
      </p:sp>
      <p:sp>
        <p:nvSpPr>
          <p:cNvPr id="170804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8178EAD-9315-4804-951F-477F368AD6EF}" type="slidenum">
              <a:rPr lang="zh-CN" altLang="en-US" smtClean="0"/>
              <a:pPr eaLnBrk="1" hangingPunct="1"/>
              <a:t>25</a:t>
            </a:fld>
            <a:endParaRPr lang="en-US" altLang="zh-CN" smtClean="0"/>
          </a:p>
        </p:txBody>
      </p:sp>
      <p:sp>
        <p:nvSpPr>
          <p:cNvPr id="170804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8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6.4.3  </a:t>
            </a:r>
            <a:r>
              <a:rPr lang="zh-CN" altLang="en-US" smtClean="0">
                <a:ea typeface="黑体" panose="02010609060101010101" pitchFamily="49" charset="-122"/>
              </a:rPr>
              <a:t>超文本传送协议 </a:t>
            </a:r>
            <a:r>
              <a:rPr lang="en-US" altLang="zh-CN" smtClean="0">
                <a:ea typeface="黑体" panose="02010609060101010101" pitchFamily="49" charset="-122"/>
              </a:rPr>
              <a:t>HTTP</a:t>
            </a:r>
            <a:r>
              <a:rPr lang="zh-CN" altLang="en-US" smtClean="0">
                <a:ea typeface="黑体" panose="02010609060101010101" pitchFamily="49" charset="-122"/>
              </a:rPr>
              <a:t> </a:t>
            </a:r>
          </a:p>
        </p:txBody>
      </p:sp>
      <p:sp>
        <p:nvSpPr>
          <p:cNvPr id="551939" name="Rectangle 3"/>
          <p:cNvSpPr>
            <a:spLocks noGrp="1" noChangeArrowheads="1"/>
          </p:cNvSpPr>
          <p:nvPr>
            <p:ph idx="1"/>
          </p:nvPr>
        </p:nvSpPr>
        <p:spPr>
          <a:xfrm>
            <a:off x="495300" y="1196975"/>
            <a:ext cx="9066213" cy="4933950"/>
          </a:xfrm>
        </p:spPr>
        <p:txBody>
          <a:bodyPr/>
          <a:lstStyle/>
          <a:p>
            <a:pPr marL="0" indent="0" algn="just">
              <a:buFont typeface="Wingdings" panose="05000000000000000000" pitchFamily="2" charset="2"/>
              <a:buNone/>
            </a:pPr>
            <a:r>
              <a:rPr lang="en-US" altLang="zh-CN" sz="4000" dirty="0" smtClean="0">
                <a:solidFill>
                  <a:srgbClr val="333399"/>
                </a:solidFill>
                <a:latin typeface="Times New Roman" panose="02020603050405020304" pitchFamily="18" charset="0"/>
                <a:ea typeface="黑体" panose="02010609060101010101" pitchFamily="49" charset="-122"/>
              </a:rPr>
              <a:t>1.  HTTP </a:t>
            </a:r>
            <a:r>
              <a:rPr lang="zh-CN" altLang="en-US" sz="4000" dirty="0" smtClean="0">
                <a:solidFill>
                  <a:srgbClr val="333399"/>
                </a:solidFill>
                <a:latin typeface="Times New Roman" panose="02020603050405020304" pitchFamily="18" charset="0"/>
                <a:ea typeface="黑体" panose="02010609060101010101" pitchFamily="49" charset="-122"/>
              </a:rPr>
              <a:t>的操作过程</a:t>
            </a:r>
            <a:endParaRPr lang="en-US" altLang="zh-CN" sz="4000" dirty="0" smtClean="0">
              <a:solidFill>
                <a:srgbClr val="333399"/>
              </a:solidFill>
              <a:latin typeface="Times New Roman" panose="02020603050405020304" pitchFamily="18" charset="0"/>
              <a:ea typeface="黑体" panose="02010609060101010101" pitchFamily="49" charset="-122"/>
            </a:endParaRPr>
          </a:p>
          <a:p>
            <a:pPr marL="0" indent="0" algn="just"/>
            <a:r>
              <a:rPr lang="zh-CN" altLang="en-US" dirty="0" smtClean="0">
                <a:ea typeface="黑体" panose="02010609060101010101" pitchFamily="49" charset="-122"/>
              </a:rPr>
              <a:t>为了使超文本的链接能够高效率地完成，需要用 </a:t>
            </a:r>
            <a:r>
              <a:rPr lang="en-US" altLang="zh-CN" dirty="0" smtClean="0">
                <a:ea typeface="黑体" panose="02010609060101010101" pitchFamily="49" charset="-122"/>
              </a:rPr>
              <a:t>HTTP </a:t>
            </a:r>
            <a:r>
              <a:rPr lang="zh-CN" altLang="en-US" dirty="0" smtClean="0">
                <a:ea typeface="黑体" panose="02010609060101010101" pitchFamily="49" charset="-122"/>
              </a:rPr>
              <a:t>协议来传送一切必须的信息。</a:t>
            </a:r>
          </a:p>
          <a:p>
            <a:pPr marL="0" indent="0" algn="just"/>
            <a:r>
              <a:rPr lang="zh-CN" altLang="en-US" dirty="0" smtClean="0">
                <a:ea typeface="黑体" panose="02010609060101010101" pitchFamily="49" charset="-122"/>
              </a:rPr>
              <a:t>从层次的角度看，</a:t>
            </a:r>
            <a:r>
              <a:rPr lang="en-US" altLang="zh-CN" dirty="0" smtClean="0">
                <a:ea typeface="黑体" panose="02010609060101010101" pitchFamily="49" charset="-122"/>
              </a:rPr>
              <a:t>HTTP </a:t>
            </a:r>
            <a:r>
              <a:rPr lang="zh-CN" altLang="en-US" dirty="0" smtClean="0">
                <a:ea typeface="黑体" panose="02010609060101010101" pitchFamily="49" charset="-122"/>
              </a:rPr>
              <a:t>是</a:t>
            </a:r>
            <a:r>
              <a:rPr lang="zh-CN" altLang="en-US" dirty="0" smtClean="0">
                <a:solidFill>
                  <a:srgbClr val="FF0000"/>
                </a:solidFill>
                <a:ea typeface="黑体" panose="02010609060101010101" pitchFamily="49" charset="-122"/>
              </a:rPr>
              <a:t>面向事务的</a:t>
            </a:r>
            <a:r>
              <a:rPr lang="en-US" altLang="zh-CN" dirty="0" smtClean="0">
                <a:solidFill>
                  <a:srgbClr val="0000FF"/>
                </a:solidFill>
                <a:ea typeface="黑体" panose="02010609060101010101" pitchFamily="49" charset="-122"/>
              </a:rPr>
              <a:t>(transaction-oriented)</a:t>
            </a:r>
            <a:r>
              <a:rPr lang="zh-CN" altLang="en-US" dirty="0" smtClean="0">
                <a:solidFill>
                  <a:srgbClr val="0000FF"/>
                </a:solidFill>
                <a:ea typeface="黑体" panose="02010609060101010101" pitchFamily="49" charset="-122"/>
              </a:rPr>
              <a:t>应用层协议</a:t>
            </a:r>
            <a:r>
              <a:rPr lang="zh-CN" altLang="en-US" dirty="0" smtClean="0">
                <a:ea typeface="黑体" panose="02010609060101010101" pitchFamily="49" charset="-122"/>
              </a:rPr>
              <a:t>，它是万维网上能够可靠地交换文件（包括文本、声音、图像等各种多媒体文件）的重要基础。 </a:t>
            </a:r>
          </a:p>
        </p:txBody>
      </p:sp>
      <p:sp>
        <p:nvSpPr>
          <p:cNvPr id="17100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146F652-8F6A-40B8-AF18-336887DACDA0}" type="slidenum">
              <a:rPr lang="zh-CN" altLang="en-US" smtClean="0"/>
              <a:pPr eaLnBrk="1" hangingPunct="1"/>
              <a:t>26</a:t>
            </a:fld>
            <a:endParaRPr lang="en-US" altLang="zh-CN" smtClean="0"/>
          </a:p>
        </p:txBody>
      </p:sp>
      <p:sp>
        <p:nvSpPr>
          <p:cNvPr id="17100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19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2129" name="Rectangle 2"/>
          <p:cNvSpPr>
            <a:spLocks noGrp="1" noChangeArrowheads="1"/>
          </p:cNvSpPr>
          <p:nvPr>
            <p:ph type="title" idx="4294967295"/>
          </p:nvPr>
        </p:nvSpPr>
        <p:spPr>
          <a:xfrm>
            <a:off x="488950" y="44450"/>
            <a:ext cx="8442325" cy="695325"/>
          </a:xfrm>
        </p:spPr>
        <p:txBody>
          <a:bodyPr/>
          <a:lstStyle/>
          <a:p>
            <a:pPr algn="ctr">
              <a:lnSpc>
                <a:spcPct val="80000"/>
              </a:lnSpc>
            </a:pPr>
            <a:r>
              <a:rPr lang="zh-CN" altLang="en-US" smtClean="0">
                <a:ea typeface="黑体" panose="02010609060101010101" pitchFamily="49" charset="-122"/>
              </a:rPr>
              <a:t>万维网的工作过程 </a:t>
            </a:r>
          </a:p>
        </p:txBody>
      </p:sp>
      <p:graphicFrame>
        <p:nvGraphicFramePr>
          <p:cNvPr id="1712130" name="Object 66"/>
          <p:cNvGraphicFramePr>
            <a:graphicFrameLocks noChangeAspect="1"/>
          </p:cNvGraphicFramePr>
          <p:nvPr/>
        </p:nvGraphicFramePr>
        <p:xfrm>
          <a:off x="2735263" y="2608263"/>
          <a:ext cx="4164012" cy="1692275"/>
        </p:xfrm>
        <a:graphic>
          <a:graphicData uri="http://schemas.openxmlformats.org/presentationml/2006/ole">
            <mc:AlternateContent xmlns:mc="http://schemas.openxmlformats.org/markup-compatibility/2006">
              <mc:Choice xmlns:v="urn:schemas-microsoft-com:vml" Requires="v">
                <p:oleObj spid="_x0000_s1712212" r:id="rId4" imgW="1687068" imgH="964692" progId="Visio.Drawing.6">
                  <p:embed/>
                </p:oleObj>
              </mc:Choice>
              <mc:Fallback>
                <p:oleObj r:id="rId4" imgW="1687068" imgH="964692" progId="Visio.Drawing.6">
                  <p:embed/>
                  <p:pic>
                    <p:nvPicPr>
                      <p:cNvPr id="0" name="Object 6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5263" y="2608263"/>
                        <a:ext cx="4164012"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712131" name="Picture 6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0675" y="1122363"/>
            <a:ext cx="1804988" cy="241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2132" name="Freeform 68"/>
          <p:cNvSpPr>
            <a:spLocks noChangeArrowheads="1"/>
          </p:cNvSpPr>
          <p:nvPr/>
        </p:nvSpPr>
        <p:spPr bwMode="auto">
          <a:xfrm>
            <a:off x="3916363" y="2935288"/>
            <a:ext cx="485775" cy="266700"/>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12133" name="Freeform 69"/>
          <p:cNvSpPr>
            <a:spLocks noChangeArrowheads="1"/>
          </p:cNvSpPr>
          <p:nvPr/>
        </p:nvSpPr>
        <p:spPr bwMode="auto">
          <a:xfrm>
            <a:off x="5060950" y="2865438"/>
            <a:ext cx="342900" cy="196850"/>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12134" name="Freeform 70"/>
          <p:cNvSpPr>
            <a:spLocks noChangeArrowheads="1"/>
          </p:cNvSpPr>
          <p:nvPr/>
        </p:nvSpPr>
        <p:spPr bwMode="auto">
          <a:xfrm>
            <a:off x="6410325" y="2965450"/>
            <a:ext cx="1100138" cy="744538"/>
          </a:xfrm>
          <a:custGeom>
            <a:avLst/>
            <a:gdLst>
              <a:gd name="T0" fmla="*/ 567 w 567"/>
              <a:gd name="T1" fmla="*/ 0 h 371"/>
              <a:gd name="T2" fmla="*/ 530 w 567"/>
              <a:gd name="T3" fmla="*/ 168 h 371"/>
              <a:gd name="T4" fmla="*/ 428 w 567"/>
              <a:gd name="T5" fmla="*/ 280 h 371"/>
              <a:gd name="T6" fmla="*/ 314 w 567"/>
              <a:gd name="T7" fmla="*/ 328 h 371"/>
              <a:gd name="T8" fmla="*/ 0 w 567"/>
              <a:gd name="T9" fmla="*/ 371 h 371"/>
            </a:gdLst>
            <a:ahLst/>
            <a:cxnLst>
              <a:cxn ang="0">
                <a:pos x="T0" y="T1"/>
              </a:cxn>
              <a:cxn ang="0">
                <a:pos x="T2" y="T3"/>
              </a:cxn>
              <a:cxn ang="0">
                <a:pos x="T4" y="T5"/>
              </a:cxn>
              <a:cxn ang="0">
                <a:pos x="T6" y="T7"/>
              </a:cxn>
              <a:cxn ang="0">
                <a:pos x="T8" y="T9"/>
              </a:cxn>
            </a:cxnLst>
            <a:rect l="0" t="0" r="r" b="b"/>
            <a:pathLst>
              <a:path w="567" h="371">
                <a:moveTo>
                  <a:pt x="567" y="0"/>
                </a:moveTo>
                <a:cubicBezTo>
                  <a:pt x="561" y="28"/>
                  <a:pt x="553" y="122"/>
                  <a:pt x="530" y="168"/>
                </a:cubicBezTo>
                <a:cubicBezTo>
                  <a:pt x="516" y="193"/>
                  <a:pt x="460" y="266"/>
                  <a:pt x="428" y="280"/>
                </a:cubicBezTo>
                <a:cubicBezTo>
                  <a:pt x="395" y="294"/>
                  <a:pt x="356" y="316"/>
                  <a:pt x="314" y="328"/>
                </a:cubicBezTo>
                <a:cubicBezTo>
                  <a:pt x="241" y="341"/>
                  <a:pt x="52" y="364"/>
                  <a:pt x="0" y="371"/>
                </a:cubicBez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712135" name="Freeform 71"/>
          <p:cNvSpPr>
            <a:spLocks noChangeArrowheads="1"/>
          </p:cNvSpPr>
          <p:nvPr/>
        </p:nvSpPr>
        <p:spPr bwMode="auto">
          <a:xfrm>
            <a:off x="2066925" y="2614613"/>
            <a:ext cx="1135063" cy="1081087"/>
          </a:xfrm>
          <a:custGeom>
            <a:avLst/>
            <a:gdLst>
              <a:gd name="T0" fmla="*/ 7 w 759"/>
              <a:gd name="T1" fmla="*/ 0 h 664"/>
              <a:gd name="T2" fmla="*/ 15 w 759"/>
              <a:gd name="T3" fmla="*/ 424 h 664"/>
              <a:gd name="T4" fmla="*/ 100 w 759"/>
              <a:gd name="T5" fmla="*/ 545 h 664"/>
              <a:gd name="T6" fmla="*/ 154 w 759"/>
              <a:gd name="T7" fmla="*/ 571 h 664"/>
              <a:gd name="T8" fmla="*/ 190 w 759"/>
              <a:gd name="T9" fmla="*/ 591 h 664"/>
              <a:gd name="T10" fmla="*/ 351 w 759"/>
              <a:gd name="T11" fmla="*/ 633 h 664"/>
              <a:gd name="T12" fmla="*/ 583 w 759"/>
              <a:gd name="T13" fmla="*/ 664 h 664"/>
              <a:gd name="T14" fmla="*/ 759 w 759"/>
              <a:gd name="T15" fmla="*/ 664 h 6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9" h="664">
                <a:moveTo>
                  <a:pt x="7" y="0"/>
                </a:moveTo>
                <a:cubicBezTo>
                  <a:pt x="8" y="71"/>
                  <a:pt x="0" y="333"/>
                  <a:pt x="15" y="424"/>
                </a:cubicBezTo>
                <a:cubicBezTo>
                  <a:pt x="30" y="515"/>
                  <a:pt x="77" y="520"/>
                  <a:pt x="100" y="545"/>
                </a:cubicBezTo>
                <a:lnTo>
                  <a:pt x="154" y="571"/>
                </a:lnTo>
                <a:lnTo>
                  <a:pt x="190" y="591"/>
                </a:lnTo>
                <a:lnTo>
                  <a:pt x="351" y="633"/>
                </a:lnTo>
                <a:lnTo>
                  <a:pt x="583" y="664"/>
                </a:lnTo>
                <a:lnTo>
                  <a:pt x="759" y="664"/>
                </a:lnTo>
              </a:path>
            </a:pathLst>
          </a:custGeom>
          <a:noFill/>
          <a:ln w="38100"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12136" name="Rectangle 72"/>
          <p:cNvSpPr>
            <a:spLocks noChangeArrowheads="1"/>
          </p:cNvSpPr>
          <p:nvPr/>
        </p:nvSpPr>
        <p:spPr bwMode="auto">
          <a:xfrm>
            <a:off x="4332288" y="3548063"/>
            <a:ext cx="952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r>
              <a:rPr lang="zh-CN" altLang="en-US" sz="2000" b="1">
                <a:solidFill>
                  <a:srgbClr val="000099"/>
                </a:solidFill>
                <a:ea typeface="黑体" panose="02010609060101010101" pitchFamily="49" charset="-122"/>
              </a:rPr>
              <a:t>互联网</a:t>
            </a:r>
          </a:p>
        </p:txBody>
      </p:sp>
      <p:sp>
        <p:nvSpPr>
          <p:cNvPr id="1712137" name="Rectangle 73"/>
          <p:cNvSpPr>
            <a:spLocks noChangeArrowheads="1"/>
          </p:cNvSpPr>
          <p:nvPr/>
        </p:nvSpPr>
        <p:spPr bwMode="auto">
          <a:xfrm>
            <a:off x="6221413" y="620713"/>
            <a:ext cx="3328987"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algn="ctr" eaLnBrk="0" hangingPunct="0">
              <a:lnSpc>
                <a:spcPct val="80000"/>
              </a:lnSpc>
            </a:pPr>
            <a:r>
              <a:rPr lang="zh-CN" altLang="en-US" sz="2400" b="1">
                <a:solidFill>
                  <a:srgbClr val="000099"/>
                </a:solidFill>
                <a:ea typeface="黑体" panose="02010609060101010101" pitchFamily="49" charset="-122"/>
              </a:rPr>
              <a:t>服务器</a:t>
            </a:r>
          </a:p>
          <a:p>
            <a:pPr algn="ctr" eaLnBrk="0" hangingPunct="0">
              <a:lnSpc>
                <a:spcPct val="80000"/>
              </a:lnSpc>
            </a:pPr>
            <a:r>
              <a:rPr lang="en-US" altLang="zh-CN" sz="2400" b="1">
                <a:solidFill>
                  <a:srgbClr val="000099"/>
                </a:solidFill>
                <a:ea typeface="黑体" panose="02010609060101010101" pitchFamily="49" charset="-122"/>
              </a:rPr>
              <a:t>www.tsinghua.edu.cn</a:t>
            </a:r>
          </a:p>
        </p:txBody>
      </p:sp>
      <p:sp>
        <p:nvSpPr>
          <p:cNvPr id="1712138" name="Rectangle 74"/>
          <p:cNvSpPr>
            <a:spLocks noChangeArrowheads="1"/>
          </p:cNvSpPr>
          <p:nvPr/>
        </p:nvSpPr>
        <p:spPr bwMode="auto">
          <a:xfrm>
            <a:off x="3392488" y="836613"/>
            <a:ext cx="264795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r>
              <a:rPr lang="zh-CN" altLang="zh-CN" sz="2400" b="1">
                <a:solidFill>
                  <a:srgbClr val="000099"/>
                </a:solidFill>
                <a:ea typeface="黑体" panose="02010609060101010101" pitchFamily="49" charset="-122"/>
              </a:rPr>
              <a:t>链接到</a:t>
            </a:r>
            <a:r>
              <a:rPr lang="en-US" altLang="zh-CN" sz="2400" b="1">
                <a:solidFill>
                  <a:srgbClr val="000099"/>
                </a:solidFill>
                <a:ea typeface="黑体" panose="02010609060101010101" pitchFamily="49" charset="-122"/>
              </a:rPr>
              <a:t>URL</a:t>
            </a:r>
            <a:r>
              <a:rPr lang="zh-CN" altLang="en-US" sz="2400" b="1">
                <a:solidFill>
                  <a:srgbClr val="000099"/>
                </a:solidFill>
                <a:ea typeface="黑体" panose="02010609060101010101" pitchFamily="49" charset="-122"/>
              </a:rPr>
              <a:t>的超链</a:t>
            </a:r>
          </a:p>
        </p:txBody>
      </p:sp>
      <p:sp>
        <p:nvSpPr>
          <p:cNvPr id="1712139" name="Rectangle 75"/>
          <p:cNvSpPr>
            <a:spLocks noChangeArrowheads="1"/>
          </p:cNvSpPr>
          <p:nvPr/>
        </p:nvSpPr>
        <p:spPr bwMode="auto">
          <a:xfrm>
            <a:off x="3328988" y="3021013"/>
            <a:ext cx="2849562"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r>
              <a:rPr lang="en-US" altLang="zh-CN" sz="2000" b="1">
                <a:solidFill>
                  <a:srgbClr val="000099"/>
                </a:solidFill>
                <a:ea typeface="黑体" panose="02010609060101010101" pitchFamily="49" charset="-122"/>
              </a:rPr>
              <a:t>HTTP </a:t>
            </a:r>
            <a:r>
              <a:rPr lang="zh-CN" altLang="en-US" sz="2000" b="1">
                <a:solidFill>
                  <a:srgbClr val="000099"/>
                </a:solidFill>
                <a:ea typeface="黑体" panose="02010609060101010101" pitchFamily="49" charset="-122"/>
              </a:rPr>
              <a:t>使用此 </a:t>
            </a:r>
            <a:r>
              <a:rPr lang="en-US" altLang="zh-CN" sz="2000" b="1">
                <a:solidFill>
                  <a:srgbClr val="000099"/>
                </a:solidFill>
                <a:ea typeface="黑体" panose="02010609060101010101" pitchFamily="49" charset="-122"/>
              </a:rPr>
              <a:t>TCP </a:t>
            </a:r>
            <a:r>
              <a:rPr lang="zh-CN" altLang="en-US" sz="2000" b="1">
                <a:solidFill>
                  <a:srgbClr val="000099"/>
                </a:solidFill>
                <a:ea typeface="黑体" panose="02010609060101010101" pitchFamily="49" charset="-122"/>
              </a:rPr>
              <a:t>连接</a:t>
            </a:r>
          </a:p>
        </p:txBody>
      </p:sp>
      <p:sp>
        <p:nvSpPr>
          <p:cNvPr id="1712140" name="Rectangle 76"/>
          <p:cNvSpPr>
            <a:spLocks noChangeArrowheads="1"/>
          </p:cNvSpPr>
          <p:nvPr/>
        </p:nvSpPr>
        <p:spPr bwMode="auto">
          <a:xfrm>
            <a:off x="2895600" y="1757363"/>
            <a:ext cx="9525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lnSpc>
                <a:spcPct val="90000"/>
              </a:lnSpc>
            </a:pPr>
            <a:r>
              <a:rPr lang="zh-CN" altLang="en-US" sz="2000" b="1">
                <a:solidFill>
                  <a:srgbClr val="000099"/>
                </a:solidFill>
                <a:ea typeface="黑体" panose="02010609060101010101" pitchFamily="49" charset="-122"/>
              </a:rPr>
              <a:t>浏览器</a:t>
            </a:r>
          </a:p>
          <a:p>
            <a:pPr eaLnBrk="0" hangingPunct="0">
              <a:lnSpc>
                <a:spcPct val="90000"/>
              </a:lnSpc>
            </a:pPr>
            <a:r>
              <a:rPr lang="zh-CN" altLang="en-US" sz="2000" b="1">
                <a:solidFill>
                  <a:srgbClr val="000099"/>
                </a:solidFill>
                <a:ea typeface="黑体" panose="02010609060101010101" pitchFamily="49" charset="-122"/>
              </a:rPr>
              <a:t> 程序</a:t>
            </a:r>
          </a:p>
        </p:txBody>
      </p:sp>
      <p:sp>
        <p:nvSpPr>
          <p:cNvPr id="1712141" name="Rectangle 77"/>
          <p:cNvSpPr>
            <a:spLocks noChangeArrowheads="1"/>
          </p:cNvSpPr>
          <p:nvPr/>
        </p:nvSpPr>
        <p:spPr bwMode="auto">
          <a:xfrm>
            <a:off x="5472113" y="1757363"/>
            <a:ext cx="9525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lnSpc>
                <a:spcPct val="90000"/>
              </a:lnSpc>
            </a:pPr>
            <a:r>
              <a:rPr lang="zh-CN" altLang="en-US" sz="2000" b="1">
                <a:solidFill>
                  <a:srgbClr val="000099"/>
                </a:solidFill>
                <a:ea typeface="黑体" panose="02010609060101010101" pitchFamily="49" charset="-122"/>
              </a:rPr>
              <a:t>服务器</a:t>
            </a:r>
          </a:p>
          <a:p>
            <a:pPr eaLnBrk="0" hangingPunct="0">
              <a:lnSpc>
                <a:spcPct val="90000"/>
              </a:lnSpc>
            </a:pPr>
            <a:r>
              <a:rPr lang="zh-CN" altLang="en-US" sz="2000" b="1">
                <a:solidFill>
                  <a:srgbClr val="000099"/>
                </a:solidFill>
                <a:ea typeface="黑体" panose="02010609060101010101" pitchFamily="49" charset="-122"/>
              </a:rPr>
              <a:t> 程序</a:t>
            </a:r>
          </a:p>
        </p:txBody>
      </p:sp>
      <p:sp>
        <p:nvSpPr>
          <p:cNvPr id="1712142" name="Rectangle 78"/>
          <p:cNvSpPr>
            <a:spLocks noChangeArrowheads="1"/>
          </p:cNvSpPr>
          <p:nvPr/>
        </p:nvSpPr>
        <p:spPr bwMode="auto">
          <a:xfrm>
            <a:off x="4275138" y="2130425"/>
            <a:ext cx="854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r>
              <a:rPr lang="en-US" altLang="zh-CN" sz="2000" b="1">
                <a:solidFill>
                  <a:srgbClr val="000099"/>
                </a:solidFill>
                <a:ea typeface="黑体" panose="02010609060101010101" pitchFamily="49" charset="-122"/>
              </a:rPr>
              <a:t>HTTP</a:t>
            </a:r>
          </a:p>
        </p:txBody>
      </p:sp>
      <p:sp>
        <p:nvSpPr>
          <p:cNvPr id="1712143" name="Rectangle 79"/>
          <p:cNvSpPr>
            <a:spLocks noChangeArrowheads="1"/>
          </p:cNvSpPr>
          <p:nvPr/>
        </p:nvSpPr>
        <p:spPr bwMode="auto">
          <a:xfrm>
            <a:off x="1520825" y="1052513"/>
            <a:ext cx="79851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r>
              <a:rPr lang="zh-CN" altLang="en-US" sz="2400" b="1">
                <a:solidFill>
                  <a:srgbClr val="000099"/>
                </a:solidFill>
                <a:ea typeface="黑体" panose="02010609060101010101" pitchFamily="49" charset="-122"/>
              </a:rPr>
              <a:t>客户</a:t>
            </a:r>
          </a:p>
        </p:txBody>
      </p:sp>
      <p:pic>
        <p:nvPicPr>
          <p:cNvPr id="1712144" name="Picture 8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39838" y="1503363"/>
            <a:ext cx="1550987" cy="14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2145" name="Freeform 81"/>
          <p:cNvSpPr>
            <a:spLocks noChangeArrowheads="1"/>
          </p:cNvSpPr>
          <p:nvPr/>
        </p:nvSpPr>
        <p:spPr bwMode="auto">
          <a:xfrm>
            <a:off x="1608138" y="1735138"/>
            <a:ext cx="803275" cy="555625"/>
          </a:xfrm>
          <a:custGeom>
            <a:avLst/>
            <a:gdLst>
              <a:gd name="T0" fmla="*/ 17 w 463"/>
              <a:gd name="T1" fmla="*/ 0 h 322"/>
              <a:gd name="T2" fmla="*/ 462 w 463"/>
              <a:gd name="T3" fmla="*/ 0 h 322"/>
              <a:gd name="T4" fmla="*/ 443 w 463"/>
              <a:gd name="T5" fmla="*/ 321 h 322"/>
              <a:gd name="T6" fmla="*/ 0 w 463"/>
              <a:gd name="T7" fmla="*/ 304 h 322"/>
              <a:gd name="T8" fmla="*/ 17 w 463"/>
              <a:gd name="T9" fmla="*/ 0 h 322"/>
            </a:gdLst>
            <a:ahLst/>
            <a:cxnLst>
              <a:cxn ang="0">
                <a:pos x="T0" y="T1"/>
              </a:cxn>
              <a:cxn ang="0">
                <a:pos x="T2" y="T3"/>
              </a:cxn>
              <a:cxn ang="0">
                <a:pos x="T4" y="T5"/>
              </a:cxn>
              <a:cxn ang="0">
                <a:pos x="T6" y="T7"/>
              </a:cxn>
              <a:cxn ang="0">
                <a:pos x="T8" y="T9"/>
              </a:cxn>
            </a:cxnLst>
            <a:rect l="0" t="0" r="r" b="b"/>
            <a:pathLst>
              <a:path w="463" h="322">
                <a:moveTo>
                  <a:pt x="17" y="0"/>
                </a:moveTo>
                <a:lnTo>
                  <a:pt x="462" y="0"/>
                </a:lnTo>
                <a:lnTo>
                  <a:pt x="443" y="321"/>
                </a:lnTo>
                <a:lnTo>
                  <a:pt x="0" y="304"/>
                </a:lnTo>
                <a:lnTo>
                  <a:pt x="1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12146" name="Rectangle 82"/>
          <p:cNvSpPr>
            <a:spLocks noChangeArrowheads="1"/>
          </p:cNvSpPr>
          <p:nvPr/>
        </p:nvSpPr>
        <p:spPr bwMode="auto">
          <a:xfrm>
            <a:off x="1530350" y="1628775"/>
            <a:ext cx="9017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r>
              <a:rPr lang="zh-CN" altLang="en-US" sz="1400" b="1">
                <a:solidFill>
                  <a:srgbClr val="000099"/>
                </a:solidFill>
                <a:ea typeface="黑体" panose="02010609060101010101" pitchFamily="49" charset="-122"/>
              </a:rPr>
              <a:t>清华大学</a:t>
            </a:r>
          </a:p>
          <a:p>
            <a:pPr eaLnBrk="0" hangingPunct="0"/>
            <a:r>
              <a:rPr lang="zh-CN" altLang="en-US" sz="1400" b="1">
                <a:solidFill>
                  <a:srgbClr val="000099"/>
                </a:solidFill>
                <a:ea typeface="黑体" panose="02010609060101010101" pitchFamily="49" charset="-122"/>
              </a:rPr>
              <a:t>院系设置</a:t>
            </a:r>
          </a:p>
        </p:txBody>
      </p:sp>
      <p:sp>
        <p:nvSpPr>
          <p:cNvPr id="1712147" name="Line 83"/>
          <p:cNvSpPr>
            <a:spLocks noChangeShapeType="1"/>
          </p:cNvSpPr>
          <p:nvPr/>
        </p:nvSpPr>
        <p:spPr bwMode="auto">
          <a:xfrm>
            <a:off x="1677988" y="2093913"/>
            <a:ext cx="635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712148" name="Oval 84"/>
          <p:cNvSpPr>
            <a:spLocks noChangeArrowheads="1"/>
          </p:cNvSpPr>
          <p:nvPr/>
        </p:nvSpPr>
        <p:spPr bwMode="auto">
          <a:xfrm>
            <a:off x="1976438" y="2432050"/>
            <a:ext cx="642937" cy="252413"/>
          </a:xfrm>
          <a:prstGeom prst="ellipse">
            <a:avLst/>
          </a:prstGeom>
          <a:solidFill>
            <a:srgbClr val="FFFF99"/>
          </a:solidFill>
          <a:ln w="9525">
            <a:solidFill>
              <a:schemeClr val="tx1"/>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712149" name="Line 85"/>
          <p:cNvSpPr>
            <a:spLocks noChangeShapeType="1"/>
          </p:cNvSpPr>
          <p:nvPr/>
        </p:nvSpPr>
        <p:spPr bwMode="auto">
          <a:xfrm>
            <a:off x="6299200" y="2262188"/>
            <a:ext cx="552450" cy="25400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712150" name="Line 86"/>
          <p:cNvSpPr>
            <a:spLocks noChangeShapeType="1"/>
          </p:cNvSpPr>
          <p:nvPr/>
        </p:nvSpPr>
        <p:spPr bwMode="auto">
          <a:xfrm flipH="1">
            <a:off x="2528888" y="2178050"/>
            <a:ext cx="550862" cy="338138"/>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712151" name="Oval 87"/>
          <p:cNvSpPr>
            <a:spLocks noChangeArrowheads="1"/>
          </p:cNvSpPr>
          <p:nvPr/>
        </p:nvSpPr>
        <p:spPr bwMode="auto">
          <a:xfrm>
            <a:off x="6759575" y="2432050"/>
            <a:ext cx="644525" cy="252413"/>
          </a:xfrm>
          <a:prstGeom prst="ellipse">
            <a:avLst/>
          </a:prstGeom>
          <a:solidFill>
            <a:srgbClr val="FFFF99"/>
          </a:solidFill>
          <a:ln w="9525">
            <a:solidFill>
              <a:schemeClr val="tx1"/>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712152" name="Freeform 88"/>
          <p:cNvSpPr>
            <a:spLocks noChangeArrowheads="1"/>
          </p:cNvSpPr>
          <p:nvPr/>
        </p:nvSpPr>
        <p:spPr bwMode="auto">
          <a:xfrm>
            <a:off x="2344738" y="2622550"/>
            <a:ext cx="4691062" cy="820738"/>
          </a:xfrm>
          <a:custGeom>
            <a:avLst/>
            <a:gdLst>
              <a:gd name="T0" fmla="*/ 0 w 2448"/>
              <a:gd name="T1" fmla="*/ 0 h 852"/>
              <a:gd name="T2" fmla="*/ 0 w 2448"/>
              <a:gd name="T3" fmla="*/ 608 h 852"/>
              <a:gd name="T4" fmla="*/ 6 w 2448"/>
              <a:gd name="T5" fmla="*/ 651 h 852"/>
              <a:gd name="T6" fmla="*/ 24 w 2448"/>
              <a:gd name="T7" fmla="*/ 699 h 852"/>
              <a:gd name="T8" fmla="*/ 66 w 2448"/>
              <a:gd name="T9" fmla="*/ 750 h 852"/>
              <a:gd name="T10" fmla="*/ 144 w 2448"/>
              <a:gd name="T11" fmla="*/ 793 h 852"/>
              <a:gd name="T12" fmla="*/ 282 w 2448"/>
              <a:gd name="T13" fmla="*/ 830 h 852"/>
              <a:gd name="T14" fmla="*/ 432 w 2448"/>
              <a:gd name="T15" fmla="*/ 852 h 852"/>
              <a:gd name="T16" fmla="*/ 816 w 2448"/>
              <a:gd name="T17" fmla="*/ 852 h 852"/>
              <a:gd name="T18" fmla="*/ 2135 w 2448"/>
              <a:gd name="T19" fmla="*/ 852 h 852"/>
              <a:gd name="T20" fmla="*/ 2250 w 2448"/>
              <a:gd name="T21" fmla="*/ 837 h 852"/>
              <a:gd name="T22" fmla="*/ 2315 w 2448"/>
              <a:gd name="T23" fmla="*/ 815 h 852"/>
              <a:gd name="T24" fmla="*/ 2394 w 2448"/>
              <a:gd name="T25" fmla="*/ 757 h 852"/>
              <a:gd name="T26" fmla="*/ 2436 w 2448"/>
              <a:gd name="T27" fmla="*/ 680 h 852"/>
              <a:gd name="T28" fmla="*/ 2448 w 2448"/>
              <a:gd name="T29" fmla="*/ 615 h 852"/>
              <a:gd name="T30" fmla="*/ 2448 w 2448"/>
              <a:gd name="T31" fmla="*/ 18 h 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8" h="852">
                <a:moveTo>
                  <a:pt x="0" y="0"/>
                </a:moveTo>
                <a:lnTo>
                  <a:pt x="0" y="608"/>
                </a:lnTo>
                <a:lnTo>
                  <a:pt x="6" y="651"/>
                </a:lnTo>
                <a:lnTo>
                  <a:pt x="24" y="699"/>
                </a:lnTo>
                <a:lnTo>
                  <a:pt x="66" y="750"/>
                </a:lnTo>
                <a:lnTo>
                  <a:pt x="144" y="793"/>
                </a:lnTo>
                <a:lnTo>
                  <a:pt x="282" y="830"/>
                </a:lnTo>
                <a:lnTo>
                  <a:pt x="432" y="852"/>
                </a:lnTo>
                <a:lnTo>
                  <a:pt x="816" y="852"/>
                </a:lnTo>
                <a:lnTo>
                  <a:pt x="2135" y="852"/>
                </a:lnTo>
                <a:lnTo>
                  <a:pt x="2250" y="837"/>
                </a:lnTo>
                <a:lnTo>
                  <a:pt x="2315" y="815"/>
                </a:lnTo>
                <a:lnTo>
                  <a:pt x="2394" y="757"/>
                </a:lnTo>
                <a:lnTo>
                  <a:pt x="2436" y="680"/>
                </a:lnTo>
                <a:lnTo>
                  <a:pt x="2448" y="615"/>
                </a:lnTo>
                <a:lnTo>
                  <a:pt x="2448" y="18"/>
                </a:lnTo>
              </a:path>
            </a:pathLst>
          </a:custGeom>
          <a:noFill/>
          <a:ln w="38100">
            <a:solidFill>
              <a:srgbClr val="333399"/>
            </a:solidFill>
            <a:prstDash val="sysDot"/>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712153" name="Line 89"/>
          <p:cNvSpPr>
            <a:spLocks noChangeShapeType="1"/>
          </p:cNvSpPr>
          <p:nvPr/>
        </p:nvSpPr>
        <p:spPr bwMode="auto">
          <a:xfrm flipV="1">
            <a:off x="2619375" y="2571750"/>
            <a:ext cx="4232275" cy="0"/>
          </a:xfrm>
          <a:prstGeom prst="line">
            <a:avLst/>
          </a:prstGeom>
          <a:noFill/>
          <a:ln w="76200">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712154" name="Line 90"/>
          <p:cNvSpPr>
            <a:spLocks noChangeShapeType="1"/>
          </p:cNvSpPr>
          <p:nvPr/>
        </p:nvSpPr>
        <p:spPr bwMode="auto">
          <a:xfrm rot="16200000" flipH="1">
            <a:off x="7299325" y="2616201"/>
            <a:ext cx="288925" cy="209550"/>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712155" name="Freeform 91"/>
          <p:cNvSpPr>
            <a:spLocks noChangeArrowheads="1"/>
          </p:cNvSpPr>
          <p:nvPr/>
        </p:nvSpPr>
        <p:spPr bwMode="auto">
          <a:xfrm>
            <a:off x="2027238" y="1250950"/>
            <a:ext cx="5376862" cy="666750"/>
          </a:xfrm>
          <a:custGeom>
            <a:avLst/>
            <a:gdLst>
              <a:gd name="T0" fmla="*/ 0 w 2454"/>
              <a:gd name="T1" fmla="*/ 332 h 332"/>
              <a:gd name="T2" fmla="*/ 336 w 2454"/>
              <a:gd name="T3" fmla="*/ 140 h 332"/>
              <a:gd name="T4" fmla="*/ 753 w 2454"/>
              <a:gd name="T5" fmla="*/ 38 h 332"/>
              <a:gd name="T6" fmla="*/ 1287 w 2454"/>
              <a:gd name="T7" fmla="*/ 2 h 332"/>
              <a:gd name="T8" fmla="*/ 1756 w 2454"/>
              <a:gd name="T9" fmla="*/ 50 h 332"/>
              <a:gd name="T10" fmla="*/ 2191 w 2454"/>
              <a:gd name="T11" fmla="*/ 129 h 332"/>
              <a:gd name="T12" fmla="*/ 2454 w 2454"/>
              <a:gd name="T13" fmla="*/ 212 h 332"/>
            </a:gdLst>
            <a:ahLst/>
            <a:cxnLst>
              <a:cxn ang="0">
                <a:pos x="T0" y="T1"/>
              </a:cxn>
              <a:cxn ang="0">
                <a:pos x="T2" y="T3"/>
              </a:cxn>
              <a:cxn ang="0">
                <a:pos x="T4" y="T5"/>
              </a:cxn>
              <a:cxn ang="0">
                <a:pos x="T6" y="T7"/>
              </a:cxn>
              <a:cxn ang="0">
                <a:pos x="T8" y="T9"/>
              </a:cxn>
              <a:cxn ang="0">
                <a:pos x="T10" y="T11"/>
              </a:cxn>
              <a:cxn ang="0">
                <a:pos x="T12" y="T13"/>
              </a:cxn>
            </a:cxnLst>
            <a:rect l="0" t="0" r="r" b="b"/>
            <a:pathLst>
              <a:path w="2454" h="332">
                <a:moveTo>
                  <a:pt x="0" y="332"/>
                </a:moveTo>
                <a:cubicBezTo>
                  <a:pt x="56" y="300"/>
                  <a:pt x="211" y="189"/>
                  <a:pt x="336" y="140"/>
                </a:cubicBezTo>
                <a:cubicBezTo>
                  <a:pt x="461" y="91"/>
                  <a:pt x="595" y="61"/>
                  <a:pt x="753" y="38"/>
                </a:cubicBezTo>
                <a:cubicBezTo>
                  <a:pt x="911" y="15"/>
                  <a:pt x="1120" y="0"/>
                  <a:pt x="1287" y="2"/>
                </a:cubicBezTo>
                <a:cubicBezTo>
                  <a:pt x="1454" y="4"/>
                  <a:pt x="1606" y="28"/>
                  <a:pt x="1756" y="50"/>
                </a:cubicBezTo>
                <a:cubicBezTo>
                  <a:pt x="1907" y="71"/>
                  <a:pt x="2075" y="102"/>
                  <a:pt x="2191" y="129"/>
                </a:cubicBezTo>
                <a:cubicBezTo>
                  <a:pt x="2307" y="156"/>
                  <a:pt x="2400" y="194"/>
                  <a:pt x="2454" y="212"/>
                </a:cubicBezTo>
              </a:path>
            </a:pathLst>
          </a:custGeom>
          <a:noFill/>
          <a:ln w="76200">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553052" name="Line 92"/>
          <p:cNvSpPr>
            <a:spLocks noChangeShapeType="1"/>
          </p:cNvSpPr>
          <p:nvPr/>
        </p:nvSpPr>
        <p:spPr bwMode="auto">
          <a:xfrm>
            <a:off x="1976438" y="3829050"/>
            <a:ext cx="0" cy="29860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553053" name="Line 93"/>
          <p:cNvSpPr>
            <a:spLocks noChangeShapeType="1"/>
          </p:cNvSpPr>
          <p:nvPr/>
        </p:nvSpPr>
        <p:spPr bwMode="auto">
          <a:xfrm>
            <a:off x="7548563" y="3829050"/>
            <a:ext cx="0" cy="29860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553076" name="Group 116"/>
          <p:cNvGrpSpPr>
            <a:grpSpLocks/>
          </p:cNvGrpSpPr>
          <p:nvPr/>
        </p:nvGrpSpPr>
        <p:grpSpPr bwMode="auto">
          <a:xfrm>
            <a:off x="1976438" y="4292600"/>
            <a:ext cx="5572125" cy="400050"/>
            <a:chOff x="1149" y="2704"/>
            <a:chExt cx="3240" cy="252"/>
          </a:xfrm>
        </p:grpSpPr>
        <p:sp>
          <p:nvSpPr>
            <p:cNvPr id="1712159" name="Line 103"/>
            <p:cNvSpPr>
              <a:spLocks noChangeShapeType="1"/>
            </p:cNvSpPr>
            <p:nvPr/>
          </p:nvSpPr>
          <p:spPr bwMode="auto">
            <a:xfrm>
              <a:off x="1149" y="2836"/>
              <a:ext cx="3240" cy="0"/>
            </a:xfrm>
            <a:prstGeom prst="line">
              <a:avLst/>
            </a:prstGeom>
            <a:noFill/>
            <a:ln w="38100">
              <a:solidFill>
                <a:srgbClr val="333399"/>
              </a:solidFill>
              <a:prstDash val="sysDot"/>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12160" name="Text Box 104"/>
            <p:cNvSpPr txBox="1">
              <a:spLocks noChangeArrowheads="1"/>
            </p:cNvSpPr>
            <p:nvPr/>
          </p:nvSpPr>
          <p:spPr bwMode="auto">
            <a:xfrm>
              <a:off x="2176" y="2704"/>
              <a:ext cx="1080"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建立 </a:t>
              </a:r>
              <a:r>
                <a:rPr lang="en-US" altLang="zh-CN" sz="2000" b="1">
                  <a:solidFill>
                    <a:srgbClr val="000099"/>
                  </a:solidFill>
                  <a:ea typeface="黑体" panose="02010609060101010101" pitchFamily="49" charset="-122"/>
                </a:rPr>
                <a:t>TCP </a:t>
              </a:r>
              <a:r>
                <a:rPr lang="zh-CN" altLang="en-US" sz="2000" b="1">
                  <a:solidFill>
                    <a:srgbClr val="000099"/>
                  </a:solidFill>
                  <a:ea typeface="黑体" panose="02010609060101010101" pitchFamily="49" charset="-122"/>
                </a:rPr>
                <a:t>连接</a:t>
              </a:r>
            </a:p>
          </p:txBody>
        </p:sp>
      </p:grpSp>
      <p:sp>
        <p:nvSpPr>
          <p:cNvPr id="1712161" name="Line 108"/>
          <p:cNvSpPr>
            <a:spLocks noChangeShapeType="1"/>
          </p:cNvSpPr>
          <p:nvPr/>
        </p:nvSpPr>
        <p:spPr bwMode="auto">
          <a:xfrm>
            <a:off x="7812088" y="2995613"/>
            <a:ext cx="560387" cy="160337"/>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12162" name="Text Box 110"/>
          <p:cNvSpPr txBox="1">
            <a:spLocks noChangeArrowheads="1"/>
          </p:cNvSpPr>
          <p:nvPr/>
        </p:nvSpPr>
        <p:spPr bwMode="auto">
          <a:xfrm>
            <a:off x="8120063" y="2225675"/>
            <a:ext cx="113665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0600" b="1">
                <a:solidFill>
                  <a:srgbClr val="000099"/>
                </a:solidFill>
                <a:ea typeface="黑体" panose="02010609060101010101" pitchFamily="49" charset="-122"/>
                <a:sym typeface="Wingdings" panose="05000000000000000000" pitchFamily="2" charset="2"/>
              </a:rPr>
              <a:t></a:t>
            </a:r>
            <a:endParaRPr lang="en-US" altLang="zh-CN" sz="10600" b="1">
              <a:solidFill>
                <a:srgbClr val="000099"/>
              </a:solidFill>
              <a:ea typeface="黑体" panose="02010609060101010101" pitchFamily="49" charset="-122"/>
            </a:endParaRPr>
          </a:p>
        </p:txBody>
      </p:sp>
      <p:sp>
        <p:nvSpPr>
          <p:cNvPr id="1712163" name="AutoShape 111"/>
          <p:cNvSpPr>
            <a:spLocks noChangeArrowheads="1"/>
          </p:cNvSpPr>
          <p:nvPr/>
        </p:nvSpPr>
        <p:spPr bwMode="auto">
          <a:xfrm>
            <a:off x="7231063" y="2805113"/>
            <a:ext cx="646112" cy="252412"/>
          </a:xfrm>
          <a:prstGeom prst="can">
            <a:avLst>
              <a:gd name="adj" fmla="val 39583"/>
            </a:avLst>
          </a:prstGeom>
          <a:solidFill>
            <a:srgbClr val="99FF99"/>
          </a:solidFill>
          <a:ln w="9525">
            <a:solidFill>
              <a:schemeClr val="tx1"/>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712164" name="Rectangle 112"/>
          <p:cNvSpPr>
            <a:spLocks noChangeArrowheads="1"/>
          </p:cNvSpPr>
          <p:nvPr/>
        </p:nvSpPr>
        <p:spPr bwMode="auto">
          <a:xfrm>
            <a:off x="6180138" y="5851525"/>
            <a:ext cx="841375" cy="176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grpSp>
        <p:nvGrpSpPr>
          <p:cNvPr id="553077" name="Group 117"/>
          <p:cNvGrpSpPr>
            <a:grpSpLocks/>
          </p:cNvGrpSpPr>
          <p:nvPr/>
        </p:nvGrpSpPr>
        <p:grpSpPr bwMode="auto">
          <a:xfrm>
            <a:off x="639763" y="4776788"/>
            <a:ext cx="6908800" cy="708025"/>
            <a:chOff x="372" y="3009"/>
            <a:chExt cx="4017" cy="446"/>
          </a:xfrm>
        </p:grpSpPr>
        <p:sp>
          <p:nvSpPr>
            <p:cNvPr id="1712166" name="Line 94"/>
            <p:cNvSpPr>
              <a:spLocks noChangeShapeType="1"/>
            </p:cNvSpPr>
            <p:nvPr/>
          </p:nvSpPr>
          <p:spPr bwMode="auto">
            <a:xfrm>
              <a:off x="1149" y="3218"/>
              <a:ext cx="3240" cy="0"/>
            </a:xfrm>
            <a:prstGeom prst="line">
              <a:avLst/>
            </a:prstGeom>
            <a:noFill/>
            <a:ln w="38100">
              <a:solidFill>
                <a:srgbClr val="333399"/>
              </a:solidFill>
              <a:prstDash val="dash"/>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12167" name="Group 95"/>
            <p:cNvGrpSpPr>
              <a:grpSpLocks/>
            </p:cNvGrpSpPr>
            <p:nvPr/>
          </p:nvGrpSpPr>
          <p:grpSpPr bwMode="auto">
            <a:xfrm>
              <a:off x="1373" y="3067"/>
              <a:ext cx="1651" cy="303"/>
              <a:chOff x="513" y="1824"/>
              <a:chExt cx="1296" cy="240"/>
            </a:xfrm>
          </p:grpSpPr>
          <p:sp>
            <p:nvSpPr>
              <p:cNvPr id="1712168" name="AutoShape 96"/>
              <p:cNvSpPr>
                <a:spLocks noChangeArrowheads="1"/>
              </p:cNvSpPr>
              <p:nvPr/>
            </p:nvSpPr>
            <p:spPr bwMode="auto">
              <a:xfrm>
                <a:off x="1521" y="1872"/>
                <a:ext cx="288" cy="144"/>
              </a:xfrm>
              <a:prstGeom prst="rightArrow">
                <a:avLst>
                  <a:gd name="adj1" fmla="val 50000"/>
                  <a:gd name="adj2" fmla="val 50000"/>
                </a:avLst>
              </a:prstGeom>
              <a:solidFill>
                <a:srgbClr val="FFFF99"/>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712169" name="Rectangle 97"/>
              <p:cNvSpPr>
                <a:spLocks noChangeArrowheads="1"/>
              </p:cNvSpPr>
              <p:nvPr/>
            </p:nvSpPr>
            <p:spPr bwMode="auto">
              <a:xfrm>
                <a:off x="513" y="1824"/>
                <a:ext cx="1008" cy="240"/>
              </a:xfrm>
              <a:prstGeom prst="rect">
                <a:avLst/>
              </a:prstGeom>
              <a:solidFill>
                <a:srgbClr val="FFFF99"/>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HTTP </a:t>
                </a:r>
                <a:r>
                  <a:rPr lang="zh-CN" altLang="en-US" sz="2000" b="1">
                    <a:solidFill>
                      <a:srgbClr val="000099"/>
                    </a:solidFill>
                    <a:ea typeface="黑体" panose="02010609060101010101" pitchFamily="49" charset="-122"/>
                  </a:rPr>
                  <a:t>请求报文</a:t>
                </a:r>
              </a:p>
            </p:txBody>
          </p:sp>
        </p:grpSp>
        <p:sp>
          <p:nvSpPr>
            <p:cNvPr id="1712170" name="Text Box 114"/>
            <p:cNvSpPr txBox="1">
              <a:spLocks noChangeArrowheads="1"/>
            </p:cNvSpPr>
            <p:nvPr/>
          </p:nvSpPr>
          <p:spPr bwMode="auto">
            <a:xfrm>
              <a:off x="372" y="3009"/>
              <a:ext cx="708"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黑体" panose="02010609060101010101" pitchFamily="49" charset="-122"/>
                  <a:sym typeface="Wingdings" panose="05000000000000000000" pitchFamily="2" charset="2"/>
                </a:rPr>
                <a:t>浏览器</a:t>
              </a:r>
              <a:endParaRPr lang="en-US" altLang="zh-CN" sz="2000" b="1">
                <a:solidFill>
                  <a:srgbClr val="000099"/>
                </a:solidFill>
                <a:ea typeface="黑体" panose="02010609060101010101" pitchFamily="49" charset="-122"/>
                <a:sym typeface="Wingdings" panose="05000000000000000000" pitchFamily="2" charset="2"/>
              </a:endParaRPr>
            </a:p>
            <a:p>
              <a:pPr algn="ctr"/>
              <a:r>
                <a:rPr lang="zh-CN" altLang="en-US" sz="2000" b="1">
                  <a:solidFill>
                    <a:srgbClr val="000099"/>
                  </a:solidFill>
                  <a:ea typeface="黑体" panose="02010609060101010101" pitchFamily="49" charset="-122"/>
                  <a:sym typeface="Wingdings" panose="05000000000000000000" pitchFamily="2" charset="2"/>
                </a:rPr>
                <a:t>发出</a:t>
              </a:r>
              <a:r>
                <a:rPr lang="zh-CN" altLang="en-US" sz="2000" b="1">
                  <a:solidFill>
                    <a:srgbClr val="000099"/>
                  </a:solidFill>
                  <a:ea typeface="黑体" panose="02010609060101010101" pitchFamily="49" charset="-122"/>
                </a:rPr>
                <a:t>请求</a:t>
              </a:r>
            </a:p>
          </p:txBody>
        </p:sp>
      </p:grpSp>
      <p:grpSp>
        <p:nvGrpSpPr>
          <p:cNvPr id="553080" name="Group 120"/>
          <p:cNvGrpSpPr>
            <a:grpSpLocks/>
          </p:cNvGrpSpPr>
          <p:nvPr/>
        </p:nvGrpSpPr>
        <p:grpSpPr bwMode="auto">
          <a:xfrm>
            <a:off x="1976438" y="6165850"/>
            <a:ext cx="5572125" cy="400050"/>
            <a:chOff x="1149" y="3884"/>
            <a:chExt cx="3240" cy="252"/>
          </a:xfrm>
        </p:grpSpPr>
        <p:sp>
          <p:nvSpPr>
            <p:cNvPr id="1712172" name="Line 106"/>
            <p:cNvSpPr>
              <a:spLocks noChangeShapeType="1"/>
            </p:cNvSpPr>
            <p:nvPr/>
          </p:nvSpPr>
          <p:spPr bwMode="auto">
            <a:xfrm>
              <a:off x="1149" y="4012"/>
              <a:ext cx="3240" cy="0"/>
            </a:xfrm>
            <a:prstGeom prst="line">
              <a:avLst/>
            </a:prstGeom>
            <a:noFill/>
            <a:ln w="38100">
              <a:solidFill>
                <a:srgbClr val="333399"/>
              </a:solidFill>
              <a:prstDash val="sysDot"/>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12173" name="Text Box 107"/>
            <p:cNvSpPr txBox="1">
              <a:spLocks noChangeArrowheads="1"/>
            </p:cNvSpPr>
            <p:nvPr/>
          </p:nvSpPr>
          <p:spPr bwMode="auto">
            <a:xfrm>
              <a:off x="2176" y="3884"/>
              <a:ext cx="1080"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释放 </a:t>
              </a:r>
              <a:r>
                <a:rPr lang="en-US" altLang="zh-CN" sz="2000" b="1">
                  <a:solidFill>
                    <a:srgbClr val="000099"/>
                  </a:solidFill>
                  <a:ea typeface="黑体" panose="02010609060101010101" pitchFamily="49" charset="-122"/>
                </a:rPr>
                <a:t>TCP </a:t>
              </a:r>
              <a:r>
                <a:rPr lang="zh-CN" altLang="en-US" sz="2000" b="1">
                  <a:solidFill>
                    <a:srgbClr val="000099"/>
                  </a:solidFill>
                  <a:ea typeface="黑体" panose="02010609060101010101" pitchFamily="49" charset="-122"/>
                </a:rPr>
                <a:t>连接</a:t>
              </a:r>
            </a:p>
          </p:txBody>
        </p:sp>
      </p:grpSp>
      <p:grpSp>
        <p:nvGrpSpPr>
          <p:cNvPr id="5" name="组合 4"/>
          <p:cNvGrpSpPr>
            <a:grpSpLocks/>
          </p:cNvGrpSpPr>
          <p:nvPr/>
        </p:nvGrpSpPr>
        <p:grpSpPr bwMode="auto">
          <a:xfrm>
            <a:off x="2000250" y="5157788"/>
            <a:ext cx="6816725" cy="1200150"/>
            <a:chOff x="2000672" y="5157192"/>
            <a:chExt cx="6816700" cy="1200329"/>
          </a:xfrm>
        </p:grpSpPr>
        <p:sp>
          <p:nvSpPr>
            <p:cNvPr id="1712175" name="Text Box 109"/>
            <p:cNvSpPr txBox="1">
              <a:spLocks noChangeArrowheads="1"/>
            </p:cNvSpPr>
            <p:nvPr/>
          </p:nvSpPr>
          <p:spPr bwMode="auto">
            <a:xfrm>
              <a:off x="7599760" y="5497514"/>
              <a:ext cx="12176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黑体" panose="02010609060101010101" pitchFamily="49" charset="-122"/>
                  <a:sym typeface="Wingdings" panose="05000000000000000000" pitchFamily="2" charset="2"/>
                </a:rPr>
                <a:t>服务器</a:t>
              </a:r>
              <a:endParaRPr lang="en-US" altLang="zh-CN" sz="2000" b="1">
                <a:solidFill>
                  <a:srgbClr val="000099"/>
                </a:solidFill>
                <a:ea typeface="黑体" panose="02010609060101010101" pitchFamily="49" charset="-122"/>
                <a:sym typeface="Wingdings" panose="05000000000000000000" pitchFamily="2" charset="2"/>
              </a:endParaRPr>
            </a:p>
            <a:p>
              <a:pPr algn="ctr"/>
              <a:r>
                <a:rPr lang="zh-CN" altLang="en-US" sz="2000" b="1">
                  <a:solidFill>
                    <a:srgbClr val="000099"/>
                  </a:solidFill>
                  <a:ea typeface="黑体" panose="02010609060101010101" pitchFamily="49" charset="-122"/>
                  <a:sym typeface="Wingdings" panose="05000000000000000000" pitchFamily="2" charset="2"/>
                </a:rPr>
                <a:t>返回</a:t>
              </a:r>
              <a:r>
                <a:rPr lang="zh-CN" altLang="en-US" sz="2000" b="1">
                  <a:solidFill>
                    <a:srgbClr val="000099"/>
                  </a:solidFill>
                  <a:ea typeface="黑体" panose="02010609060101010101" pitchFamily="49" charset="-122"/>
                </a:rPr>
                <a:t>响应</a:t>
              </a:r>
            </a:p>
          </p:txBody>
        </p:sp>
        <p:grpSp>
          <p:nvGrpSpPr>
            <p:cNvPr id="1712176" name="组合 3"/>
            <p:cNvGrpSpPr>
              <a:grpSpLocks/>
            </p:cNvGrpSpPr>
            <p:nvPr/>
          </p:nvGrpSpPr>
          <p:grpSpPr bwMode="auto">
            <a:xfrm>
              <a:off x="2000672" y="5157192"/>
              <a:ext cx="5572124" cy="1200329"/>
              <a:chOff x="2005278" y="5157192"/>
              <a:chExt cx="5572124" cy="1200329"/>
            </a:xfrm>
          </p:grpSpPr>
          <p:sp>
            <p:nvSpPr>
              <p:cNvPr id="1712177" name="Line 98"/>
              <p:cNvSpPr>
                <a:spLocks noChangeShapeType="1"/>
              </p:cNvSpPr>
              <p:nvPr/>
            </p:nvSpPr>
            <p:spPr bwMode="auto">
              <a:xfrm flipH="1">
                <a:off x="2005278" y="5756277"/>
                <a:ext cx="5572124" cy="0"/>
              </a:xfrm>
              <a:prstGeom prst="line">
                <a:avLst/>
              </a:prstGeom>
              <a:noFill/>
              <a:ln w="38100">
                <a:solidFill>
                  <a:schemeClr val="hlink"/>
                </a:solidFill>
                <a:prstDash val="dash"/>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12178" name="TextBox 2"/>
              <p:cNvSpPr txBox="1">
                <a:spLocks noChangeArrowheads="1"/>
              </p:cNvSpPr>
              <p:nvPr/>
            </p:nvSpPr>
            <p:spPr bwMode="auto">
              <a:xfrm>
                <a:off x="6644009" y="5157192"/>
                <a:ext cx="761869" cy="120032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0" hangingPunct="0"/>
                <a:r>
                  <a:rPr lang="en-US" altLang="zh-CN" sz="7200" b="1">
                    <a:solidFill>
                      <a:srgbClr val="000099"/>
                    </a:solidFill>
                    <a:ea typeface="黑体" panose="02010609060101010101" pitchFamily="49" charset="-122"/>
                    <a:sym typeface="Wingdings" panose="05000000000000000000" pitchFamily="2" charset="2"/>
                  </a:rPr>
                  <a:t></a:t>
                </a:r>
                <a:endParaRPr lang="zh-CN" altLang="en-US" sz="1600">
                  <a:ea typeface="宋体" panose="02010600030101010101" pitchFamily="2" charset="-122"/>
                </a:endParaRPr>
              </a:p>
            </p:txBody>
          </p:sp>
          <p:grpSp>
            <p:nvGrpSpPr>
              <p:cNvPr id="1712179" name="Group 99"/>
              <p:cNvGrpSpPr>
                <a:grpSpLocks/>
              </p:cNvGrpSpPr>
              <p:nvPr/>
            </p:nvGrpSpPr>
            <p:grpSpPr bwMode="auto">
              <a:xfrm flipH="1">
                <a:off x="3893940" y="5516564"/>
                <a:ext cx="2863885" cy="481013"/>
                <a:chOff x="903" y="1824"/>
                <a:chExt cx="1308" cy="240"/>
              </a:xfrm>
            </p:grpSpPr>
            <p:sp>
              <p:nvSpPr>
                <p:cNvPr id="1712180" name="AutoShape 100"/>
                <p:cNvSpPr>
                  <a:spLocks noChangeArrowheads="1"/>
                </p:cNvSpPr>
                <p:nvPr/>
              </p:nvSpPr>
              <p:spPr bwMode="auto">
                <a:xfrm>
                  <a:off x="1923" y="1872"/>
                  <a:ext cx="288" cy="144"/>
                </a:xfrm>
                <a:prstGeom prst="rightArrow">
                  <a:avLst>
                    <a:gd name="adj1" fmla="val 50000"/>
                    <a:gd name="adj2" fmla="val 50000"/>
                  </a:avLst>
                </a:prstGeom>
                <a:solidFill>
                  <a:srgbClr val="FFCCFF"/>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712181" name="Rectangle 101"/>
                <p:cNvSpPr>
                  <a:spLocks noChangeArrowheads="1"/>
                </p:cNvSpPr>
                <p:nvPr/>
              </p:nvSpPr>
              <p:spPr bwMode="auto">
                <a:xfrm>
                  <a:off x="903" y="1824"/>
                  <a:ext cx="1008" cy="240"/>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HTTP </a:t>
                  </a:r>
                  <a:r>
                    <a:rPr lang="zh-CN" altLang="en-US" sz="2000" b="1">
                      <a:solidFill>
                        <a:srgbClr val="000099"/>
                      </a:solidFill>
                      <a:ea typeface="黑体" panose="02010609060101010101" pitchFamily="49" charset="-122"/>
                    </a:rPr>
                    <a:t>响应报文</a:t>
                  </a:r>
                </a:p>
              </p:txBody>
            </p:sp>
          </p:grpSp>
        </p:grpSp>
      </p:grpSp>
      <p:sp>
        <p:nvSpPr>
          <p:cNvPr id="1712182"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C045123-1900-48D7-9C42-03117A1BEA0A}" type="slidenum">
              <a:rPr lang="zh-CN" altLang="en-US" smtClean="0"/>
              <a:pPr/>
              <a:t>27</a:t>
            </a:fld>
            <a:endParaRPr lang="en-US" altLang="zh-CN" smtClean="0"/>
          </a:p>
        </p:txBody>
      </p:sp>
      <p:sp>
        <p:nvSpPr>
          <p:cNvPr id="1712183"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530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305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3076"/>
                                        </p:tgtEl>
                                        <p:attrNameLst>
                                          <p:attrName>style.visibility</p:attrName>
                                        </p:attrNameLst>
                                      </p:cBhvr>
                                      <p:to>
                                        <p:strVal val="visible"/>
                                      </p:to>
                                    </p:set>
                                  </p:childTnLst>
                                </p:cTn>
                              </p:par>
                            </p:childTnLst>
                          </p:cTn>
                        </p:par>
                        <p:par>
                          <p:cTn id="11" fill="hold" nodeType="afterGroup">
                            <p:stCondLst>
                              <p:cond delay="1"/>
                            </p:stCondLst>
                            <p:childTnLst>
                              <p:par>
                                <p:cTn id="12" presetID="35" presetClass="emph" presetSubtype="0" repeatCount="3000" fill="hold" nodeType="afterEffect">
                                  <p:stCondLst>
                                    <p:cond delay="500"/>
                                  </p:stCondLst>
                                  <p:childTnLst>
                                    <p:anim calcmode="discrete" valueType="str">
                                      <p:cBhvr>
                                        <p:cTn id="13" dur="1000" fill="hold"/>
                                        <p:tgtEl>
                                          <p:spTgt spid="553076"/>
                                        </p:tgtEl>
                                        <p:attrNameLst>
                                          <p:attrName>style.visibility</p:attrName>
                                        </p:attrNameLst>
                                      </p:cBhvr>
                                      <p:tavLst>
                                        <p:tav tm="0">
                                          <p:val>
                                            <p:strVal val="hidden"/>
                                          </p:val>
                                        </p:tav>
                                        <p:tav tm="50000">
                                          <p:val>
                                            <p:strVal val="visible"/>
                                          </p:val>
                                        </p:tav>
                                      </p:tavLst>
                                    </p:anim>
                                  </p:childTnLst>
                                </p:cTn>
                              </p:par>
                            </p:childTnLst>
                          </p:cTn>
                        </p:par>
                        <p:par>
                          <p:cTn id="14" fill="hold" nodeType="afterGroup">
                            <p:stCondLst>
                              <p:cond delay="3501"/>
                            </p:stCondLst>
                            <p:childTnLst>
                              <p:par>
                                <p:cTn id="15" presetID="22" presetClass="entr" presetSubtype="8" fill="hold" nodeType="afterEffect">
                                  <p:stCondLst>
                                    <p:cond delay="500"/>
                                  </p:stCondLst>
                                  <p:childTnLst>
                                    <p:set>
                                      <p:cBhvr>
                                        <p:cTn id="16" dur="1" fill="hold">
                                          <p:stCondLst>
                                            <p:cond delay="0"/>
                                          </p:stCondLst>
                                        </p:cTn>
                                        <p:tgtEl>
                                          <p:spTgt spid="553077"/>
                                        </p:tgtEl>
                                        <p:attrNameLst>
                                          <p:attrName>style.visibility</p:attrName>
                                        </p:attrNameLst>
                                      </p:cBhvr>
                                      <p:to>
                                        <p:strVal val="visible"/>
                                      </p:to>
                                    </p:set>
                                    <p:animEffect transition="in" filter="wipe(left)">
                                      <p:cBhvr>
                                        <p:cTn id="17" dur="1000"/>
                                        <p:tgtEl>
                                          <p:spTgt spid="553077"/>
                                        </p:tgtEl>
                                      </p:cBhvr>
                                    </p:animEffect>
                                  </p:childTnLst>
                                </p:cTn>
                              </p:par>
                            </p:childTnLst>
                          </p:cTn>
                        </p:par>
                        <p:par>
                          <p:cTn id="18" fill="hold" nodeType="afterGroup">
                            <p:stCondLst>
                              <p:cond delay="5001"/>
                            </p:stCondLst>
                            <p:childTnLst>
                              <p:par>
                                <p:cTn id="19" presetID="22" presetClass="entr" presetSubtype="2" fill="hold" nodeType="afterEffect">
                                  <p:stCondLst>
                                    <p:cond delay="500"/>
                                  </p:stCondLst>
                                  <p:childTnLst>
                                    <p:set>
                                      <p:cBhvr>
                                        <p:cTn id="20" dur="1" fill="hold">
                                          <p:stCondLst>
                                            <p:cond delay="0"/>
                                          </p:stCondLst>
                                        </p:cTn>
                                        <p:tgtEl>
                                          <p:spTgt spid="5"/>
                                        </p:tgtEl>
                                        <p:attrNameLst>
                                          <p:attrName>style.visibility</p:attrName>
                                        </p:attrNameLst>
                                      </p:cBhvr>
                                      <p:to>
                                        <p:strVal val="visible"/>
                                      </p:to>
                                    </p:set>
                                    <p:animEffect transition="in" filter="wipe(right)">
                                      <p:cBhvr>
                                        <p:cTn id="21" dur="1000"/>
                                        <p:tgtEl>
                                          <p:spTgt spid="5"/>
                                        </p:tgtEl>
                                      </p:cBhvr>
                                    </p:animEffect>
                                  </p:childTnLst>
                                </p:cTn>
                              </p:par>
                            </p:childTnLst>
                          </p:cTn>
                        </p:par>
                        <p:par>
                          <p:cTn id="22" fill="hold" nodeType="afterGroup">
                            <p:stCondLst>
                              <p:cond delay="6501"/>
                            </p:stCondLst>
                            <p:childTnLst>
                              <p:par>
                                <p:cTn id="23" presetID="1" presetClass="entr" presetSubtype="0" fill="hold" nodeType="afterEffect">
                                  <p:stCondLst>
                                    <p:cond delay="500"/>
                                  </p:stCondLst>
                                  <p:childTnLst>
                                    <p:set>
                                      <p:cBhvr>
                                        <p:cTn id="24" dur="1" fill="hold">
                                          <p:stCondLst>
                                            <p:cond delay="0"/>
                                          </p:stCondLst>
                                        </p:cTn>
                                        <p:tgtEl>
                                          <p:spTgt spid="553080"/>
                                        </p:tgtEl>
                                        <p:attrNameLst>
                                          <p:attrName>style.visibility</p:attrName>
                                        </p:attrNameLst>
                                      </p:cBhvr>
                                      <p:to>
                                        <p:strVal val="visible"/>
                                      </p:to>
                                    </p:set>
                                  </p:childTnLst>
                                </p:cTn>
                              </p:par>
                            </p:childTnLst>
                          </p:cTn>
                        </p:par>
                        <p:par>
                          <p:cTn id="25" fill="hold" nodeType="afterGroup">
                            <p:stCondLst>
                              <p:cond delay="7002"/>
                            </p:stCondLst>
                            <p:childTnLst>
                              <p:par>
                                <p:cTn id="26" presetID="35" presetClass="emph" presetSubtype="0" repeatCount="3000" fill="hold" nodeType="afterEffect">
                                  <p:stCondLst>
                                    <p:cond delay="500"/>
                                  </p:stCondLst>
                                  <p:childTnLst>
                                    <p:anim calcmode="discrete" valueType="str">
                                      <p:cBhvr>
                                        <p:cTn id="27" dur="1000" fill="hold"/>
                                        <p:tgtEl>
                                          <p:spTgt spid="55308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52" grpId="0" animBg="1"/>
      <p:bldP spid="55305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4177" name="Rectangle 2"/>
          <p:cNvSpPr>
            <a:spLocks noGrp="1" noChangeArrowheads="1"/>
          </p:cNvSpPr>
          <p:nvPr>
            <p:ph type="title" idx="4294967295"/>
          </p:nvPr>
        </p:nvSpPr>
        <p:spPr>
          <a:xfrm>
            <a:off x="290513" y="411163"/>
            <a:ext cx="8839200" cy="1001712"/>
          </a:xfrm>
        </p:spPr>
        <p:txBody>
          <a:bodyPr/>
          <a:lstStyle/>
          <a:p>
            <a:pPr algn="ctr"/>
            <a:r>
              <a:rPr lang="zh-CN" altLang="en-US" sz="3200" smtClean="0">
                <a:ea typeface="黑体" panose="02010609060101010101" pitchFamily="49" charset="-122"/>
              </a:rPr>
              <a:t>用户点击 </a:t>
            </a:r>
            <a:r>
              <a:rPr lang="en-US" altLang="zh-CN" sz="3200" smtClean="0">
                <a:ea typeface="黑体" panose="02010609060101010101" pitchFamily="49" charset="-122"/>
              </a:rPr>
              <a:t>URL </a:t>
            </a:r>
            <a:br>
              <a:rPr lang="en-US" altLang="zh-CN" sz="3200" smtClean="0">
                <a:ea typeface="黑体" panose="02010609060101010101" pitchFamily="49" charset="-122"/>
              </a:rPr>
            </a:br>
            <a:r>
              <a:rPr lang="en-US" altLang="zh-CN" sz="2800" smtClean="0">
                <a:ea typeface="黑体" panose="02010609060101010101" pitchFamily="49" charset="-122"/>
              </a:rPr>
              <a:t>http://www.tsinghua.edu.cn/chn/yxsz/index.htm</a:t>
            </a:r>
            <a:br>
              <a:rPr lang="en-US" altLang="zh-CN" sz="2800" smtClean="0">
                <a:ea typeface="黑体" panose="02010609060101010101" pitchFamily="49" charset="-122"/>
              </a:rPr>
            </a:br>
            <a:r>
              <a:rPr lang="zh-CN" altLang="en-US" sz="3200" smtClean="0">
                <a:ea typeface="黑体" panose="02010609060101010101" pitchFamily="49" charset="-122"/>
              </a:rPr>
              <a:t>后所发生的事件 </a:t>
            </a:r>
          </a:p>
        </p:txBody>
      </p:sp>
      <p:sp>
        <p:nvSpPr>
          <p:cNvPr id="1714178" name="Rectangle 20"/>
          <p:cNvSpPr>
            <a:spLocks noGrp="1" noChangeArrowheads="1"/>
          </p:cNvSpPr>
          <p:nvPr>
            <p:ph type="body" idx="4294967295"/>
          </p:nvPr>
        </p:nvSpPr>
        <p:spPr>
          <a:xfrm>
            <a:off x="377825" y="1484313"/>
            <a:ext cx="9399588" cy="4897437"/>
          </a:xfrm>
          <a:ln>
            <a:solidFill>
              <a:schemeClr val="tx1"/>
            </a:solidFill>
            <a:miter lim="800000"/>
            <a:headEnd/>
            <a:tailEnd/>
          </a:ln>
        </p:spPr>
        <p:txBody>
          <a:bodyPr/>
          <a:lstStyle/>
          <a:p>
            <a:pPr>
              <a:buFont typeface="Wingdings" panose="05000000000000000000" pitchFamily="2" charset="2"/>
              <a:buNone/>
            </a:pPr>
            <a:r>
              <a:rPr lang="en-US" altLang="zh-CN" sz="2800" smtClean="0">
                <a:ea typeface="黑体" panose="02010609060101010101" pitchFamily="49" charset="-122"/>
              </a:rPr>
              <a:t>(1) </a:t>
            </a:r>
            <a:r>
              <a:rPr lang="zh-CN" altLang="en-US" sz="2800" smtClean="0">
                <a:ea typeface="黑体" panose="02010609060101010101" pitchFamily="49" charset="-122"/>
              </a:rPr>
              <a:t>浏览器分析超链指向页面的 </a:t>
            </a:r>
            <a:r>
              <a:rPr lang="en-US" altLang="zh-CN" sz="2800" smtClean="0">
                <a:ea typeface="黑体" panose="02010609060101010101" pitchFamily="49" charset="-122"/>
              </a:rPr>
              <a:t>URL</a:t>
            </a:r>
            <a:r>
              <a:rPr lang="zh-CN" altLang="en-US" sz="2800" smtClean="0">
                <a:ea typeface="黑体" panose="02010609060101010101" pitchFamily="49" charset="-122"/>
              </a:rPr>
              <a:t>。</a:t>
            </a:r>
          </a:p>
          <a:p>
            <a:pPr>
              <a:buFont typeface="Wingdings" panose="05000000000000000000" pitchFamily="2" charset="2"/>
              <a:buNone/>
            </a:pPr>
            <a:r>
              <a:rPr lang="en-US" altLang="zh-CN" sz="2800" smtClean="0">
                <a:ea typeface="黑体" panose="02010609060101010101" pitchFamily="49" charset="-122"/>
              </a:rPr>
              <a:t>(2) </a:t>
            </a:r>
            <a:r>
              <a:rPr lang="zh-CN" altLang="en-US" sz="2800" smtClean="0">
                <a:ea typeface="黑体" panose="02010609060101010101" pitchFamily="49" charset="-122"/>
              </a:rPr>
              <a:t>浏览器向 </a:t>
            </a:r>
            <a:r>
              <a:rPr lang="en-US" altLang="zh-CN" sz="2800" smtClean="0">
                <a:ea typeface="黑体" panose="02010609060101010101" pitchFamily="49" charset="-122"/>
              </a:rPr>
              <a:t>DNS </a:t>
            </a:r>
            <a:r>
              <a:rPr lang="zh-CN" altLang="en-US" sz="2800" smtClean="0">
                <a:ea typeface="黑体" panose="02010609060101010101" pitchFamily="49" charset="-122"/>
              </a:rPr>
              <a:t>请求解析 </a:t>
            </a:r>
            <a:r>
              <a:rPr lang="en-US" altLang="zh-CN" sz="2800" smtClean="0">
                <a:ea typeface="黑体" panose="02010609060101010101" pitchFamily="49" charset="-122"/>
              </a:rPr>
              <a:t>www.tsinghua.edu.cn </a:t>
            </a:r>
            <a:r>
              <a:rPr lang="zh-CN" altLang="en-US" sz="2800" smtClean="0">
                <a:ea typeface="黑体" panose="02010609060101010101" pitchFamily="49" charset="-122"/>
              </a:rPr>
              <a:t>的 </a:t>
            </a:r>
            <a:r>
              <a:rPr lang="en-US" altLang="zh-CN" sz="2800" smtClean="0">
                <a:ea typeface="黑体" panose="02010609060101010101" pitchFamily="49" charset="-122"/>
              </a:rPr>
              <a:t>IP </a:t>
            </a:r>
            <a:r>
              <a:rPr lang="zh-CN" altLang="en-US" sz="2800" smtClean="0">
                <a:ea typeface="黑体" panose="02010609060101010101" pitchFamily="49" charset="-122"/>
              </a:rPr>
              <a:t>地址。</a:t>
            </a:r>
          </a:p>
          <a:p>
            <a:pPr>
              <a:buFont typeface="Wingdings" panose="05000000000000000000" pitchFamily="2" charset="2"/>
              <a:buNone/>
            </a:pPr>
            <a:r>
              <a:rPr lang="en-US" altLang="zh-CN" sz="2800" smtClean="0">
                <a:ea typeface="黑体" panose="02010609060101010101" pitchFamily="49" charset="-122"/>
              </a:rPr>
              <a:t>(3) </a:t>
            </a:r>
            <a:r>
              <a:rPr lang="zh-CN" altLang="en-US" sz="2800" smtClean="0">
                <a:ea typeface="黑体" panose="02010609060101010101" pitchFamily="49" charset="-122"/>
              </a:rPr>
              <a:t>域名系统 </a:t>
            </a:r>
            <a:r>
              <a:rPr lang="en-US" altLang="zh-CN" sz="2800" smtClean="0">
                <a:ea typeface="黑体" panose="02010609060101010101" pitchFamily="49" charset="-122"/>
              </a:rPr>
              <a:t>DNS </a:t>
            </a:r>
            <a:r>
              <a:rPr lang="zh-CN" altLang="en-US" sz="2800" smtClean="0">
                <a:ea typeface="黑体" panose="02010609060101010101" pitchFamily="49" charset="-122"/>
              </a:rPr>
              <a:t>解析出清华大学服务器的 </a:t>
            </a:r>
            <a:r>
              <a:rPr lang="en-US" altLang="zh-CN" sz="2800" smtClean="0">
                <a:ea typeface="黑体" panose="02010609060101010101" pitchFamily="49" charset="-122"/>
              </a:rPr>
              <a:t>IP </a:t>
            </a:r>
            <a:r>
              <a:rPr lang="zh-CN" altLang="en-US" sz="2800" smtClean="0">
                <a:ea typeface="黑体" panose="02010609060101010101" pitchFamily="49" charset="-122"/>
              </a:rPr>
              <a:t>地址。</a:t>
            </a:r>
          </a:p>
          <a:p>
            <a:pPr>
              <a:buFont typeface="Wingdings" panose="05000000000000000000" pitchFamily="2" charset="2"/>
              <a:buNone/>
            </a:pPr>
            <a:r>
              <a:rPr lang="en-US" altLang="zh-CN" sz="2800" smtClean="0">
                <a:ea typeface="黑体" panose="02010609060101010101" pitchFamily="49" charset="-122"/>
              </a:rPr>
              <a:t>(4) </a:t>
            </a:r>
            <a:r>
              <a:rPr lang="zh-CN" altLang="en-US" sz="2800" smtClean="0">
                <a:ea typeface="黑体" panose="02010609060101010101" pitchFamily="49" charset="-122"/>
              </a:rPr>
              <a:t>浏览器与服务器建立 </a:t>
            </a:r>
            <a:r>
              <a:rPr lang="en-US" altLang="zh-CN" sz="2800" smtClean="0">
                <a:ea typeface="黑体" panose="02010609060101010101" pitchFamily="49" charset="-122"/>
              </a:rPr>
              <a:t>TCP </a:t>
            </a:r>
            <a:r>
              <a:rPr lang="zh-CN" altLang="en-US" sz="2800" smtClean="0">
                <a:ea typeface="黑体" panose="02010609060101010101" pitchFamily="49" charset="-122"/>
              </a:rPr>
              <a:t>连接。</a:t>
            </a:r>
          </a:p>
          <a:p>
            <a:pPr>
              <a:buFont typeface="Wingdings" panose="05000000000000000000" pitchFamily="2" charset="2"/>
              <a:buNone/>
            </a:pPr>
            <a:r>
              <a:rPr lang="en-US" altLang="zh-CN" sz="2800" smtClean="0">
                <a:ea typeface="黑体" panose="02010609060101010101" pitchFamily="49" charset="-122"/>
              </a:rPr>
              <a:t>(5) </a:t>
            </a:r>
            <a:r>
              <a:rPr lang="zh-CN" altLang="en-US" sz="2800" smtClean="0">
                <a:ea typeface="黑体" panose="02010609060101010101" pitchFamily="49" charset="-122"/>
              </a:rPr>
              <a:t>浏览器发出取文件命令：</a:t>
            </a:r>
            <a:r>
              <a:rPr lang="en-US" altLang="zh-CN" sz="2800" smtClean="0">
                <a:ea typeface="黑体" panose="02010609060101010101" pitchFamily="49" charset="-122"/>
              </a:rPr>
              <a:t>GET /chn/yxsz/index.htm</a:t>
            </a:r>
            <a:r>
              <a:rPr lang="zh-CN" altLang="en-US" sz="2800" smtClean="0">
                <a:ea typeface="黑体" panose="02010609060101010101" pitchFamily="49" charset="-122"/>
              </a:rPr>
              <a:t>。</a:t>
            </a:r>
          </a:p>
          <a:p>
            <a:pPr>
              <a:buFont typeface="Wingdings" panose="05000000000000000000" pitchFamily="2" charset="2"/>
              <a:buNone/>
            </a:pPr>
            <a:r>
              <a:rPr lang="en-US" altLang="zh-CN" sz="2800" smtClean="0">
                <a:ea typeface="黑体" panose="02010609060101010101" pitchFamily="49" charset="-122"/>
              </a:rPr>
              <a:t>(6) </a:t>
            </a:r>
            <a:r>
              <a:rPr lang="zh-CN" altLang="en-US" sz="2800" smtClean="0">
                <a:ea typeface="黑体" panose="02010609060101010101" pitchFamily="49" charset="-122"/>
              </a:rPr>
              <a:t>服务器给出响应，把文件 </a:t>
            </a:r>
            <a:r>
              <a:rPr lang="en-US" altLang="zh-CN" sz="2800" smtClean="0">
                <a:ea typeface="黑体" panose="02010609060101010101" pitchFamily="49" charset="-122"/>
              </a:rPr>
              <a:t>index.htm </a:t>
            </a:r>
            <a:r>
              <a:rPr lang="zh-CN" altLang="en-US" sz="2800" smtClean="0">
                <a:ea typeface="黑体" panose="02010609060101010101" pitchFamily="49" charset="-122"/>
              </a:rPr>
              <a:t>发给浏览器。</a:t>
            </a:r>
          </a:p>
          <a:p>
            <a:pPr>
              <a:buFont typeface="Wingdings" panose="05000000000000000000" pitchFamily="2" charset="2"/>
              <a:buNone/>
            </a:pPr>
            <a:r>
              <a:rPr lang="en-US" altLang="zh-CN" sz="2800" smtClean="0">
                <a:ea typeface="黑体" panose="02010609060101010101" pitchFamily="49" charset="-122"/>
              </a:rPr>
              <a:t>(7) TCP </a:t>
            </a:r>
            <a:r>
              <a:rPr lang="zh-CN" altLang="en-US" sz="2800" smtClean="0">
                <a:ea typeface="黑体" panose="02010609060101010101" pitchFamily="49" charset="-122"/>
              </a:rPr>
              <a:t>连接释放。</a:t>
            </a:r>
          </a:p>
          <a:p>
            <a:pPr>
              <a:buFont typeface="Wingdings" panose="05000000000000000000" pitchFamily="2" charset="2"/>
              <a:buNone/>
            </a:pPr>
            <a:r>
              <a:rPr lang="en-US" altLang="zh-CN" sz="2800" smtClean="0">
                <a:ea typeface="黑体" panose="02010609060101010101" pitchFamily="49" charset="-122"/>
              </a:rPr>
              <a:t>(8) </a:t>
            </a:r>
            <a:r>
              <a:rPr lang="zh-CN" altLang="en-US" sz="2800" smtClean="0">
                <a:ea typeface="黑体" panose="02010609060101010101" pitchFamily="49" charset="-122"/>
              </a:rPr>
              <a:t>浏览器显示“清华大学院系设置”文件 </a:t>
            </a:r>
            <a:r>
              <a:rPr lang="en-US" altLang="zh-CN" sz="2800" smtClean="0">
                <a:ea typeface="黑体" panose="02010609060101010101" pitchFamily="49" charset="-122"/>
              </a:rPr>
              <a:t>index.htm </a:t>
            </a:r>
            <a:r>
              <a:rPr lang="zh-CN" altLang="en-US" sz="2800" smtClean="0">
                <a:ea typeface="黑体" panose="02010609060101010101" pitchFamily="49" charset="-122"/>
              </a:rPr>
              <a:t>中的所有文本。</a:t>
            </a:r>
          </a:p>
        </p:txBody>
      </p:sp>
      <p:sp>
        <p:nvSpPr>
          <p:cNvPr id="17141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5AE93A2-FA51-4CDB-9C25-3EB3561BCD68}" type="slidenum">
              <a:rPr lang="zh-CN" altLang="en-US" smtClean="0"/>
              <a:pPr/>
              <a:t>28</a:t>
            </a:fld>
            <a:endParaRPr lang="en-US" altLang="zh-CN" smtClean="0"/>
          </a:p>
        </p:txBody>
      </p:sp>
      <p:sp>
        <p:nvSpPr>
          <p:cNvPr id="17141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622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HTTP </a:t>
            </a:r>
            <a:r>
              <a:rPr lang="zh-CN" altLang="en-US" smtClean="0">
                <a:ea typeface="黑体" panose="02010609060101010101" pitchFamily="49" charset="-122"/>
              </a:rPr>
              <a:t>的主要特点 </a:t>
            </a:r>
          </a:p>
        </p:txBody>
      </p:sp>
      <p:sp>
        <p:nvSpPr>
          <p:cNvPr id="1716226"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HTTP </a:t>
            </a:r>
            <a:r>
              <a:rPr lang="zh-CN" altLang="en-US" smtClean="0">
                <a:ea typeface="黑体" panose="02010609060101010101" pitchFamily="49" charset="-122"/>
              </a:rPr>
              <a:t>是面向事务的客户服务器协议。</a:t>
            </a:r>
          </a:p>
          <a:p>
            <a:r>
              <a:rPr lang="en-US" altLang="zh-CN" smtClean="0">
                <a:ea typeface="黑体" panose="02010609060101010101" pitchFamily="49" charset="-122"/>
              </a:rPr>
              <a:t>HTTP 1.0 </a:t>
            </a:r>
            <a:r>
              <a:rPr lang="zh-CN" altLang="en-US" smtClean="0">
                <a:ea typeface="黑体" panose="02010609060101010101" pitchFamily="49" charset="-122"/>
              </a:rPr>
              <a:t>协议是</a:t>
            </a:r>
            <a:r>
              <a:rPr lang="zh-CN" altLang="en-US" smtClean="0">
                <a:solidFill>
                  <a:srgbClr val="FF0000"/>
                </a:solidFill>
                <a:ea typeface="黑体" panose="02010609060101010101" pitchFamily="49" charset="-122"/>
              </a:rPr>
              <a:t>无状态的 </a:t>
            </a:r>
            <a:r>
              <a:rPr lang="en-US" altLang="zh-CN" smtClean="0">
                <a:ea typeface="黑体" panose="02010609060101010101" pitchFamily="49" charset="-122"/>
              </a:rPr>
              <a:t>(stateless)</a:t>
            </a:r>
            <a:r>
              <a:rPr lang="zh-CN" altLang="en-US" smtClean="0">
                <a:ea typeface="黑体" panose="02010609060101010101" pitchFamily="49" charset="-122"/>
              </a:rPr>
              <a:t>。</a:t>
            </a:r>
          </a:p>
          <a:p>
            <a:r>
              <a:rPr lang="en-US" altLang="zh-CN" smtClean="0">
                <a:ea typeface="黑体" panose="02010609060101010101" pitchFamily="49" charset="-122"/>
              </a:rPr>
              <a:t>HTTP </a:t>
            </a:r>
            <a:r>
              <a:rPr lang="zh-CN" altLang="en-US" smtClean="0">
                <a:ea typeface="黑体" panose="02010609060101010101" pitchFamily="49" charset="-122"/>
              </a:rPr>
              <a:t>协议本身也是无连接的，虽然它使用了面向连接的 </a:t>
            </a:r>
            <a:r>
              <a:rPr lang="en-US" altLang="zh-CN" smtClean="0">
                <a:ea typeface="黑体" panose="02010609060101010101" pitchFamily="49" charset="-122"/>
              </a:rPr>
              <a:t>TCP </a:t>
            </a:r>
            <a:r>
              <a:rPr lang="zh-CN" altLang="en-US" smtClean="0">
                <a:ea typeface="黑体" panose="02010609060101010101" pitchFamily="49" charset="-122"/>
              </a:rPr>
              <a:t>向上提供的服务。</a:t>
            </a:r>
          </a:p>
        </p:txBody>
      </p:sp>
      <p:sp>
        <p:nvSpPr>
          <p:cNvPr id="1716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7225D34-A35D-4711-A52D-4E539E6505D9}" type="slidenum">
              <a:rPr lang="zh-CN" altLang="en-US" smtClean="0"/>
              <a:pPr eaLnBrk="1" hangingPunct="1"/>
              <a:t>29</a:t>
            </a:fld>
            <a:endParaRPr lang="en-US" altLang="zh-CN" smtClean="0"/>
          </a:p>
        </p:txBody>
      </p:sp>
      <p:sp>
        <p:nvSpPr>
          <p:cNvPr id="1716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8273" name="Line 20"/>
          <p:cNvSpPr>
            <a:spLocks noChangeShapeType="1"/>
          </p:cNvSpPr>
          <p:nvPr/>
        </p:nvSpPr>
        <p:spPr bwMode="auto">
          <a:xfrm flipH="1">
            <a:off x="3149600" y="3932238"/>
            <a:ext cx="4763" cy="971550"/>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718274" name="Rectangle 25"/>
          <p:cNvSpPr>
            <a:spLocks noChangeArrowheads="1"/>
          </p:cNvSpPr>
          <p:nvPr/>
        </p:nvSpPr>
        <p:spPr bwMode="auto">
          <a:xfrm>
            <a:off x="2860675" y="4284663"/>
            <a:ext cx="560388" cy="273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2000" b="1">
              <a:solidFill>
                <a:srgbClr val="000099"/>
              </a:solidFill>
              <a:ea typeface="宋体" panose="02010600030101010101" pitchFamily="2" charset="-122"/>
            </a:endParaRPr>
          </a:p>
        </p:txBody>
      </p:sp>
      <p:sp>
        <p:nvSpPr>
          <p:cNvPr id="1718275" name="Text Box 26"/>
          <p:cNvSpPr txBox="1">
            <a:spLocks noChangeArrowheads="1"/>
          </p:cNvSpPr>
          <p:nvPr/>
        </p:nvSpPr>
        <p:spPr bwMode="auto">
          <a:xfrm>
            <a:off x="2767013" y="4270375"/>
            <a:ext cx="685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RTT</a:t>
            </a:r>
          </a:p>
        </p:txBody>
      </p:sp>
      <p:sp>
        <p:nvSpPr>
          <p:cNvPr id="1718276" name="Line 19"/>
          <p:cNvSpPr>
            <a:spLocks noChangeShapeType="1"/>
          </p:cNvSpPr>
          <p:nvPr/>
        </p:nvSpPr>
        <p:spPr bwMode="auto">
          <a:xfrm flipH="1">
            <a:off x="3154363" y="2955925"/>
            <a:ext cx="6350" cy="969963"/>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718277" name="Rectangle 22"/>
          <p:cNvSpPr>
            <a:spLocks noChangeArrowheads="1"/>
          </p:cNvSpPr>
          <p:nvPr/>
        </p:nvSpPr>
        <p:spPr bwMode="auto">
          <a:xfrm>
            <a:off x="2860675" y="3333750"/>
            <a:ext cx="560388"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2000" b="1">
              <a:solidFill>
                <a:srgbClr val="000099"/>
              </a:solidFill>
              <a:ea typeface="宋体" panose="02010600030101010101" pitchFamily="2" charset="-122"/>
            </a:endParaRPr>
          </a:p>
        </p:txBody>
      </p:sp>
      <p:sp>
        <p:nvSpPr>
          <p:cNvPr id="1718278" name="Text Box 23"/>
          <p:cNvSpPr txBox="1">
            <a:spLocks noChangeArrowheads="1"/>
          </p:cNvSpPr>
          <p:nvPr/>
        </p:nvSpPr>
        <p:spPr bwMode="auto">
          <a:xfrm>
            <a:off x="2792413" y="3297238"/>
            <a:ext cx="685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RTT</a:t>
            </a:r>
          </a:p>
        </p:txBody>
      </p:sp>
      <p:sp>
        <p:nvSpPr>
          <p:cNvPr id="1718279" name="Rectangle 2"/>
          <p:cNvSpPr>
            <a:spLocks noGrp="1" noChangeArrowheads="1"/>
          </p:cNvSpPr>
          <p:nvPr>
            <p:ph type="title"/>
          </p:nvPr>
        </p:nvSpPr>
        <p:spPr>
          <a:xfrm>
            <a:off x="506413" y="188913"/>
            <a:ext cx="8526462" cy="812800"/>
          </a:xfrm>
        </p:spPr>
        <p:txBody>
          <a:bodyPr/>
          <a:lstStyle/>
          <a:p>
            <a:pPr algn="ctr"/>
            <a:r>
              <a:rPr lang="zh-CN" altLang="zh-CN" smtClean="0">
                <a:ea typeface="黑体" panose="02010609060101010101" pitchFamily="49" charset="-122"/>
              </a:rPr>
              <a:t>请求一个万维网文档所需的时间 </a:t>
            </a:r>
          </a:p>
        </p:txBody>
      </p:sp>
      <p:sp>
        <p:nvSpPr>
          <p:cNvPr id="1718280" name="Freeform 4"/>
          <p:cNvSpPr>
            <a:spLocks noChangeArrowheads="1"/>
          </p:cNvSpPr>
          <p:nvPr/>
        </p:nvSpPr>
        <p:spPr bwMode="auto">
          <a:xfrm>
            <a:off x="3440113" y="4432300"/>
            <a:ext cx="3465512" cy="819150"/>
          </a:xfrm>
          <a:custGeom>
            <a:avLst/>
            <a:gdLst>
              <a:gd name="T0" fmla="*/ 0 w 1679"/>
              <a:gd name="T1" fmla="*/ 408 h 408"/>
              <a:gd name="T2" fmla="*/ 0 w 1679"/>
              <a:gd name="T3" fmla="*/ 227 h 408"/>
              <a:gd name="T4" fmla="*/ 1679 w 1679"/>
              <a:gd name="T5" fmla="*/ 0 h 408"/>
              <a:gd name="T6" fmla="*/ 1679 w 1679"/>
              <a:gd name="T7" fmla="*/ 181 h 408"/>
              <a:gd name="T8" fmla="*/ 0 w 1679"/>
              <a:gd name="T9" fmla="*/ 408 h 408"/>
            </a:gdLst>
            <a:ahLst/>
            <a:cxnLst>
              <a:cxn ang="0">
                <a:pos x="T0" y="T1"/>
              </a:cxn>
              <a:cxn ang="0">
                <a:pos x="T2" y="T3"/>
              </a:cxn>
              <a:cxn ang="0">
                <a:pos x="T4" y="T5"/>
              </a:cxn>
              <a:cxn ang="0">
                <a:pos x="T6" y="T7"/>
              </a:cxn>
              <a:cxn ang="0">
                <a:pos x="T8" y="T9"/>
              </a:cxn>
            </a:cxnLst>
            <a:rect l="0" t="0" r="r" b="b"/>
            <a:pathLst>
              <a:path w="1679" h="408">
                <a:moveTo>
                  <a:pt x="0" y="408"/>
                </a:moveTo>
                <a:lnTo>
                  <a:pt x="0" y="227"/>
                </a:lnTo>
                <a:lnTo>
                  <a:pt x="1679" y="0"/>
                </a:lnTo>
                <a:lnTo>
                  <a:pt x="1679" y="181"/>
                </a:lnTo>
                <a:lnTo>
                  <a:pt x="0" y="408"/>
                </a:lnTo>
                <a:close/>
              </a:path>
            </a:pathLst>
          </a:custGeom>
          <a:solidFill>
            <a:srgbClr val="99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sz="2000" b="1">
              <a:solidFill>
                <a:srgbClr val="000099"/>
              </a:solidFill>
              <a:ea typeface="宋体" panose="02010600030101010101" pitchFamily="2" charset="-122"/>
            </a:endParaRPr>
          </a:p>
        </p:txBody>
      </p:sp>
      <p:pic>
        <p:nvPicPr>
          <p:cNvPr id="1718281" name="Picture 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9225" y="1689100"/>
            <a:ext cx="969963" cy="135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8282" name="Rectangle 6"/>
          <p:cNvSpPr>
            <a:spLocks noChangeArrowheads="1"/>
          </p:cNvSpPr>
          <p:nvPr/>
        </p:nvSpPr>
        <p:spPr bwMode="auto">
          <a:xfrm>
            <a:off x="6200775" y="1412875"/>
            <a:ext cx="17319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algn="ctr" eaLnBrk="0" hangingPunct="0">
              <a:lnSpc>
                <a:spcPct val="80000"/>
              </a:lnSpc>
            </a:pPr>
            <a:r>
              <a:rPr lang="zh-CN" altLang="en-US" sz="2000" b="1">
                <a:solidFill>
                  <a:srgbClr val="000099"/>
                </a:solidFill>
                <a:ea typeface="黑体" panose="02010609060101010101" pitchFamily="49" charset="-122"/>
              </a:rPr>
              <a:t>万维网服务器</a:t>
            </a:r>
          </a:p>
        </p:txBody>
      </p:sp>
      <p:sp>
        <p:nvSpPr>
          <p:cNvPr id="1718283" name="Rectangle 7"/>
          <p:cNvSpPr>
            <a:spLocks noChangeArrowheads="1"/>
          </p:cNvSpPr>
          <p:nvPr/>
        </p:nvSpPr>
        <p:spPr bwMode="auto">
          <a:xfrm>
            <a:off x="2728913" y="1489075"/>
            <a:ext cx="1473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r>
              <a:rPr lang="zh-CN" altLang="en-US" sz="2000" b="1">
                <a:solidFill>
                  <a:srgbClr val="000099"/>
                </a:solidFill>
                <a:ea typeface="黑体" panose="02010609060101010101" pitchFamily="49" charset="-122"/>
              </a:rPr>
              <a:t>万维网客户</a:t>
            </a:r>
          </a:p>
        </p:txBody>
      </p:sp>
      <p:pic>
        <p:nvPicPr>
          <p:cNvPr id="1718284" name="Picture 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60713" y="1981200"/>
            <a:ext cx="6572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8285" name="Line 9"/>
          <p:cNvSpPr>
            <a:spLocks noChangeShapeType="1"/>
          </p:cNvSpPr>
          <p:nvPr/>
        </p:nvSpPr>
        <p:spPr bwMode="auto">
          <a:xfrm>
            <a:off x="3441700" y="2878138"/>
            <a:ext cx="0" cy="2987675"/>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718286" name="Text Box 10"/>
          <p:cNvSpPr txBox="1">
            <a:spLocks noChangeArrowheads="1"/>
          </p:cNvSpPr>
          <p:nvPr/>
        </p:nvSpPr>
        <p:spPr bwMode="auto">
          <a:xfrm>
            <a:off x="1079500" y="2752725"/>
            <a:ext cx="1868488"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发起 </a:t>
            </a:r>
            <a:r>
              <a:rPr lang="en-US" altLang="zh-CN" sz="2000" b="1">
                <a:solidFill>
                  <a:srgbClr val="000099"/>
                </a:solidFill>
                <a:ea typeface="黑体" panose="02010609060101010101" pitchFamily="49" charset="-122"/>
              </a:rPr>
              <a:t>TCP </a:t>
            </a:r>
            <a:r>
              <a:rPr lang="zh-CN" altLang="en-US" sz="2000" b="1">
                <a:solidFill>
                  <a:srgbClr val="000099"/>
                </a:solidFill>
                <a:ea typeface="黑体" panose="02010609060101010101" pitchFamily="49" charset="-122"/>
              </a:rPr>
              <a:t>连接</a:t>
            </a:r>
          </a:p>
        </p:txBody>
      </p:sp>
      <p:sp>
        <p:nvSpPr>
          <p:cNvPr id="1718287" name="Text Box 11"/>
          <p:cNvSpPr txBox="1">
            <a:spLocks noChangeArrowheads="1"/>
          </p:cNvSpPr>
          <p:nvPr/>
        </p:nvSpPr>
        <p:spPr bwMode="auto">
          <a:xfrm>
            <a:off x="992188" y="3694113"/>
            <a:ext cx="1955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HTTP </a:t>
            </a:r>
            <a:r>
              <a:rPr lang="zh-CN" altLang="en-US" sz="2000" b="1">
                <a:solidFill>
                  <a:srgbClr val="000099"/>
                </a:solidFill>
                <a:ea typeface="黑体" panose="02010609060101010101" pitchFamily="49" charset="-122"/>
              </a:rPr>
              <a:t>请求报文</a:t>
            </a:r>
          </a:p>
        </p:txBody>
      </p:sp>
      <p:sp>
        <p:nvSpPr>
          <p:cNvPr id="1718288" name="Line 12"/>
          <p:cNvSpPr>
            <a:spLocks noChangeShapeType="1"/>
          </p:cNvSpPr>
          <p:nvPr/>
        </p:nvSpPr>
        <p:spPr bwMode="auto">
          <a:xfrm>
            <a:off x="3441700" y="2955925"/>
            <a:ext cx="3465513" cy="454025"/>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718289" name="Line 13"/>
          <p:cNvSpPr>
            <a:spLocks noChangeShapeType="1"/>
          </p:cNvSpPr>
          <p:nvPr/>
        </p:nvSpPr>
        <p:spPr bwMode="auto">
          <a:xfrm flipH="1">
            <a:off x="3429000" y="3452813"/>
            <a:ext cx="3465513" cy="455612"/>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718290" name="Line 14"/>
          <p:cNvSpPr>
            <a:spLocks noChangeShapeType="1"/>
          </p:cNvSpPr>
          <p:nvPr/>
        </p:nvSpPr>
        <p:spPr bwMode="auto">
          <a:xfrm>
            <a:off x="3441700" y="3951288"/>
            <a:ext cx="3465513" cy="454025"/>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718291" name="Line 15"/>
          <p:cNvSpPr>
            <a:spLocks noChangeShapeType="1"/>
          </p:cNvSpPr>
          <p:nvPr/>
        </p:nvSpPr>
        <p:spPr bwMode="auto">
          <a:xfrm>
            <a:off x="2974975" y="2955925"/>
            <a:ext cx="466725" cy="0"/>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718292" name="Line 16"/>
          <p:cNvSpPr>
            <a:spLocks noChangeShapeType="1"/>
          </p:cNvSpPr>
          <p:nvPr/>
        </p:nvSpPr>
        <p:spPr bwMode="auto">
          <a:xfrm>
            <a:off x="2982913" y="3925888"/>
            <a:ext cx="465137" cy="0"/>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718293" name="Line 17"/>
          <p:cNvSpPr>
            <a:spLocks noChangeShapeType="1"/>
          </p:cNvSpPr>
          <p:nvPr/>
        </p:nvSpPr>
        <p:spPr bwMode="auto">
          <a:xfrm>
            <a:off x="2963863" y="5254625"/>
            <a:ext cx="465137" cy="0"/>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718294" name="Line 18"/>
          <p:cNvSpPr>
            <a:spLocks noChangeShapeType="1"/>
          </p:cNvSpPr>
          <p:nvPr/>
        </p:nvSpPr>
        <p:spPr bwMode="auto">
          <a:xfrm>
            <a:off x="2963863" y="4891088"/>
            <a:ext cx="465137" cy="0"/>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718295" name="Text Box 27"/>
          <p:cNvSpPr txBox="1">
            <a:spLocks noChangeArrowheads="1"/>
          </p:cNvSpPr>
          <p:nvPr/>
        </p:nvSpPr>
        <p:spPr bwMode="auto">
          <a:xfrm>
            <a:off x="7040563" y="4318000"/>
            <a:ext cx="1992312"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传输文档的时间</a:t>
            </a:r>
          </a:p>
        </p:txBody>
      </p:sp>
      <p:sp>
        <p:nvSpPr>
          <p:cNvPr id="1718296" name="Text Box 28"/>
          <p:cNvSpPr txBox="1">
            <a:spLocks noChangeArrowheads="1"/>
          </p:cNvSpPr>
          <p:nvPr/>
        </p:nvSpPr>
        <p:spPr bwMode="auto">
          <a:xfrm>
            <a:off x="1214438" y="5056188"/>
            <a:ext cx="173355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整个文档收到</a:t>
            </a:r>
          </a:p>
        </p:txBody>
      </p:sp>
      <p:sp>
        <p:nvSpPr>
          <p:cNvPr id="1718297" name="AutoShape 29"/>
          <p:cNvSpPr>
            <a:spLocks noChangeArrowheads="1"/>
          </p:cNvSpPr>
          <p:nvPr/>
        </p:nvSpPr>
        <p:spPr bwMode="auto">
          <a:xfrm rot="-445727">
            <a:off x="4725988" y="4700588"/>
            <a:ext cx="1030287" cy="273050"/>
          </a:xfrm>
          <a:prstGeom prst="leftArrow">
            <a:avLst>
              <a:gd name="adj1" fmla="val 50000"/>
              <a:gd name="adj2" fmla="val 87064"/>
            </a:avLst>
          </a:prstGeom>
          <a:solidFill>
            <a:schemeClr val="folHlink"/>
          </a:solidFill>
          <a:ln w="9525">
            <a:solidFill>
              <a:schemeClr val="folHlink"/>
            </a:solidFill>
            <a:miter lim="800000"/>
            <a:headEnd/>
            <a:tailEnd/>
          </a:ln>
        </p:spPr>
        <p:txBody>
          <a:bodyPr wrap="none" anchor="ctr"/>
          <a:lstStyle/>
          <a:p>
            <a:endParaRPr lang="zh-CN" altLang="en-US" sz="2000" b="1">
              <a:solidFill>
                <a:srgbClr val="000099"/>
              </a:solidFill>
              <a:ea typeface="宋体" panose="02010600030101010101" pitchFamily="2" charset="-122"/>
            </a:endParaRPr>
          </a:p>
        </p:txBody>
      </p:sp>
      <p:sp>
        <p:nvSpPr>
          <p:cNvPr id="1718298" name="Line 30"/>
          <p:cNvSpPr>
            <a:spLocks noChangeShapeType="1"/>
          </p:cNvSpPr>
          <p:nvPr/>
        </p:nvSpPr>
        <p:spPr bwMode="auto">
          <a:xfrm>
            <a:off x="6896100" y="2873375"/>
            <a:ext cx="0" cy="2986088"/>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718299" name="Text Box 31"/>
          <p:cNvSpPr txBox="1">
            <a:spLocks noChangeArrowheads="1"/>
          </p:cNvSpPr>
          <p:nvPr/>
        </p:nvSpPr>
        <p:spPr bwMode="auto">
          <a:xfrm>
            <a:off x="3108325" y="5745163"/>
            <a:ext cx="700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时间</a:t>
            </a:r>
          </a:p>
        </p:txBody>
      </p:sp>
      <p:sp>
        <p:nvSpPr>
          <p:cNvPr id="1718300" name="Text Box 32"/>
          <p:cNvSpPr txBox="1">
            <a:spLocks noChangeArrowheads="1"/>
          </p:cNvSpPr>
          <p:nvPr/>
        </p:nvSpPr>
        <p:spPr bwMode="auto">
          <a:xfrm>
            <a:off x="6554788" y="5745163"/>
            <a:ext cx="700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时间</a:t>
            </a:r>
          </a:p>
        </p:txBody>
      </p:sp>
      <p:sp>
        <p:nvSpPr>
          <p:cNvPr id="1718301" name="Text Box 33"/>
          <p:cNvSpPr txBox="1">
            <a:spLocks noChangeArrowheads="1"/>
          </p:cNvSpPr>
          <p:nvPr/>
        </p:nvSpPr>
        <p:spPr bwMode="auto">
          <a:xfrm rot="-440849">
            <a:off x="3954463" y="4268788"/>
            <a:ext cx="19542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HTTP </a:t>
            </a:r>
            <a:r>
              <a:rPr lang="zh-CN" altLang="en-US" sz="2000" b="1">
                <a:solidFill>
                  <a:srgbClr val="000099"/>
                </a:solidFill>
                <a:ea typeface="黑体" panose="02010609060101010101" pitchFamily="49" charset="-122"/>
              </a:rPr>
              <a:t>响应报文</a:t>
            </a:r>
          </a:p>
        </p:txBody>
      </p:sp>
      <p:sp>
        <p:nvSpPr>
          <p:cNvPr id="1718302" name="AutoShape 34"/>
          <p:cNvSpPr>
            <a:spLocks/>
          </p:cNvSpPr>
          <p:nvPr/>
        </p:nvSpPr>
        <p:spPr bwMode="auto">
          <a:xfrm>
            <a:off x="6946900" y="4411663"/>
            <a:ext cx="93663" cy="365125"/>
          </a:xfrm>
          <a:prstGeom prst="rightBracket">
            <a:avLst>
              <a:gd name="adj" fmla="val 35193"/>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ea typeface="宋体" panose="02010600030101010101" pitchFamily="2" charset="-122"/>
            </a:endParaRPr>
          </a:p>
        </p:txBody>
      </p:sp>
      <p:sp>
        <p:nvSpPr>
          <p:cNvPr id="1718303" name="Line 35"/>
          <p:cNvSpPr>
            <a:spLocks noChangeShapeType="1"/>
          </p:cNvSpPr>
          <p:nvPr/>
        </p:nvSpPr>
        <p:spPr bwMode="auto">
          <a:xfrm>
            <a:off x="7040563" y="4594225"/>
            <a:ext cx="936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71830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6528379-0E2C-4EC9-B200-42D4E1A960E2}" type="slidenum">
              <a:rPr lang="zh-CN" altLang="en-US" smtClean="0"/>
              <a:pPr eaLnBrk="1" hangingPunct="1"/>
              <a:t>30</a:t>
            </a:fld>
            <a:endParaRPr lang="en-US" altLang="zh-CN" smtClean="0"/>
          </a:p>
        </p:txBody>
      </p:sp>
      <p:sp>
        <p:nvSpPr>
          <p:cNvPr id="171830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929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持续连接</a:t>
            </a:r>
            <a:endParaRPr lang="en-US" altLang="zh-CN" smtClean="0">
              <a:ea typeface="黑体" panose="02010609060101010101" pitchFamily="49" charset="-122"/>
            </a:endParaRPr>
          </a:p>
        </p:txBody>
      </p:sp>
      <p:sp>
        <p:nvSpPr>
          <p:cNvPr id="1719298" name="Rectangle 3"/>
          <p:cNvSpPr>
            <a:spLocks noGrp="1" noChangeArrowheads="1"/>
          </p:cNvSpPr>
          <p:nvPr>
            <p:ph idx="1"/>
          </p:nvPr>
        </p:nvSpPr>
        <p:spPr>
          <a:xfrm>
            <a:off x="495300" y="1196975"/>
            <a:ext cx="9066213" cy="4933950"/>
          </a:xfrm>
        </p:spPr>
        <p:txBody>
          <a:bodyPr/>
          <a:lstStyle/>
          <a:p>
            <a:r>
              <a:rPr lang="en-US" altLang="zh-CN" sz="3000" dirty="0" smtClean="0">
                <a:solidFill>
                  <a:srgbClr val="FF0000"/>
                </a:solidFill>
                <a:ea typeface="黑体" panose="02010609060101010101" pitchFamily="49" charset="-122"/>
              </a:rPr>
              <a:t>HTTP/1.1 </a:t>
            </a:r>
            <a:r>
              <a:rPr lang="zh-CN" altLang="en-US" sz="3000" dirty="0" smtClean="0">
                <a:solidFill>
                  <a:srgbClr val="FF0000"/>
                </a:solidFill>
                <a:ea typeface="黑体" panose="02010609060101010101" pitchFamily="49" charset="-122"/>
              </a:rPr>
              <a:t>协议使用持续连接 </a:t>
            </a:r>
            <a:r>
              <a:rPr lang="en-US" altLang="zh-CN" sz="3000" dirty="0" smtClean="0">
                <a:solidFill>
                  <a:srgbClr val="FF0000"/>
                </a:solidFill>
                <a:ea typeface="黑体" panose="02010609060101010101" pitchFamily="49" charset="-122"/>
              </a:rPr>
              <a:t>(persistent connection)</a:t>
            </a:r>
            <a:r>
              <a:rPr lang="zh-CN" altLang="en-US" sz="3000" dirty="0" smtClean="0">
                <a:solidFill>
                  <a:srgbClr val="FF0000"/>
                </a:solidFill>
                <a:ea typeface="黑体" panose="02010609060101010101" pitchFamily="49" charset="-122"/>
              </a:rPr>
              <a:t>。</a:t>
            </a:r>
          </a:p>
          <a:p>
            <a:r>
              <a:rPr lang="zh-CN" altLang="en-US" sz="3000" dirty="0" smtClean="0">
                <a:ea typeface="黑体" panose="02010609060101010101" pitchFamily="49" charset="-122"/>
              </a:rPr>
              <a:t>万维网服务器在发送响应后仍然在</a:t>
            </a:r>
            <a:r>
              <a:rPr lang="zh-CN" altLang="en-US" sz="3000" dirty="0" smtClean="0">
                <a:solidFill>
                  <a:srgbClr val="0000FF"/>
                </a:solidFill>
                <a:ea typeface="黑体" panose="02010609060101010101" pitchFamily="49" charset="-122"/>
              </a:rPr>
              <a:t>一段时间内保持这条连接</a:t>
            </a:r>
            <a:r>
              <a:rPr lang="zh-CN" altLang="en-US" sz="3000" dirty="0" smtClean="0">
                <a:ea typeface="黑体" panose="02010609060101010101" pitchFamily="49" charset="-122"/>
              </a:rPr>
              <a:t>，使同一个客户（浏览器）和该服务器可以继续在这条连接上传送后续的 </a:t>
            </a:r>
            <a:r>
              <a:rPr lang="en-US" altLang="zh-CN" sz="3000" dirty="0" smtClean="0">
                <a:ea typeface="黑体" panose="02010609060101010101" pitchFamily="49" charset="-122"/>
              </a:rPr>
              <a:t>HTTP </a:t>
            </a:r>
            <a:r>
              <a:rPr lang="zh-CN" altLang="en-US" sz="3000" dirty="0" smtClean="0">
                <a:ea typeface="黑体" panose="02010609060101010101" pitchFamily="49" charset="-122"/>
              </a:rPr>
              <a:t>请求报文和响应报文。</a:t>
            </a:r>
          </a:p>
          <a:p>
            <a:r>
              <a:rPr lang="zh-CN" altLang="en-US" sz="3000" dirty="0" smtClean="0">
                <a:ea typeface="黑体" panose="02010609060101010101" pitchFamily="49" charset="-122"/>
              </a:rPr>
              <a:t>这并不局限于传送同一个页面上链接的文档，而是只要这些文档都在</a:t>
            </a:r>
            <a:r>
              <a:rPr lang="zh-CN" altLang="en-US" sz="3000" dirty="0" smtClean="0">
                <a:solidFill>
                  <a:srgbClr val="0000FF"/>
                </a:solidFill>
                <a:ea typeface="黑体" panose="02010609060101010101" pitchFamily="49" charset="-122"/>
              </a:rPr>
              <a:t>同一个服务器上</a:t>
            </a:r>
            <a:r>
              <a:rPr lang="zh-CN" altLang="en-US" sz="3000" dirty="0" smtClean="0">
                <a:ea typeface="黑体" panose="02010609060101010101" pitchFamily="49" charset="-122"/>
              </a:rPr>
              <a:t>就行。</a:t>
            </a:r>
          </a:p>
          <a:p>
            <a:r>
              <a:rPr lang="zh-CN" altLang="en-US" sz="3000" dirty="0" smtClean="0">
                <a:ea typeface="黑体" panose="02010609060101010101" pitchFamily="49" charset="-122"/>
              </a:rPr>
              <a:t>目前一些流行的浏览器（例如，</a:t>
            </a:r>
            <a:r>
              <a:rPr lang="en-US" altLang="zh-CN" sz="3000" dirty="0" smtClean="0">
                <a:ea typeface="黑体" panose="02010609060101010101" pitchFamily="49" charset="-122"/>
              </a:rPr>
              <a:t>IE 6.0</a:t>
            </a:r>
            <a:r>
              <a:rPr lang="zh-CN" altLang="en-US" sz="3000" dirty="0" smtClean="0">
                <a:ea typeface="黑体" panose="02010609060101010101" pitchFamily="49" charset="-122"/>
              </a:rPr>
              <a:t>）的默认设置就是使用 </a:t>
            </a:r>
            <a:r>
              <a:rPr lang="en-US" altLang="zh-CN" sz="3000" dirty="0" smtClean="0">
                <a:ea typeface="黑体" panose="02010609060101010101" pitchFamily="49" charset="-122"/>
              </a:rPr>
              <a:t>HTTP/1.1</a:t>
            </a:r>
            <a:r>
              <a:rPr lang="zh-CN" altLang="en-US" sz="3000" dirty="0" smtClean="0">
                <a:ea typeface="黑体" panose="02010609060101010101" pitchFamily="49" charset="-122"/>
              </a:rPr>
              <a:t>。</a:t>
            </a:r>
          </a:p>
        </p:txBody>
      </p:sp>
      <p:sp>
        <p:nvSpPr>
          <p:cNvPr id="17192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94A68AB-B453-454E-BE75-3D835B73EB84}" type="slidenum">
              <a:rPr lang="zh-CN" altLang="en-US" smtClean="0"/>
              <a:pPr eaLnBrk="1" hangingPunct="1"/>
              <a:t>31</a:t>
            </a:fld>
            <a:endParaRPr lang="en-US" altLang="zh-CN" smtClean="0"/>
          </a:p>
        </p:txBody>
      </p:sp>
      <p:sp>
        <p:nvSpPr>
          <p:cNvPr id="17193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21"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持续</a:t>
            </a:r>
            <a:r>
              <a:rPr lang="zh-CN" altLang="en-US" dirty="0" smtClean="0">
                <a:ea typeface="黑体" panose="02010609060101010101" pitchFamily="49" charset="-122"/>
              </a:rPr>
              <a:t>连接有两种</a:t>
            </a:r>
            <a:r>
              <a:rPr lang="zh-CN" altLang="en-US" dirty="0" smtClean="0">
                <a:ea typeface="黑体" panose="02010609060101010101" pitchFamily="49" charset="-122"/>
              </a:rPr>
              <a:t>工作方式</a:t>
            </a:r>
          </a:p>
        </p:txBody>
      </p:sp>
      <p:sp>
        <p:nvSpPr>
          <p:cNvPr id="1720322" name="Rectangle 3"/>
          <p:cNvSpPr>
            <a:spLocks noGrp="1" noChangeArrowheads="1"/>
          </p:cNvSpPr>
          <p:nvPr>
            <p:ph idx="1"/>
          </p:nvPr>
        </p:nvSpPr>
        <p:spPr>
          <a:xfrm>
            <a:off x="495300" y="1196975"/>
            <a:ext cx="9066213" cy="4933950"/>
          </a:xfrm>
        </p:spPr>
        <p:txBody>
          <a:bodyPr/>
          <a:lstStyle/>
          <a:p>
            <a:r>
              <a:rPr lang="zh-CN" altLang="en-US" sz="2800" dirty="0" smtClean="0">
                <a:solidFill>
                  <a:srgbClr val="FF0000"/>
                </a:solidFill>
                <a:ea typeface="黑体" panose="02010609060101010101" pitchFamily="49" charset="-122"/>
              </a:rPr>
              <a:t>非流水线方式：</a:t>
            </a:r>
            <a:r>
              <a:rPr lang="zh-CN" altLang="en-US" sz="2800" dirty="0" smtClean="0">
                <a:solidFill>
                  <a:srgbClr val="0000FF"/>
                </a:solidFill>
                <a:ea typeface="黑体" panose="02010609060101010101" pitchFamily="49" charset="-122"/>
              </a:rPr>
              <a:t>客户在收到前一个响应后才能发出下一个请求。</a:t>
            </a:r>
            <a:r>
              <a:rPr lang="zh-CN" altLang="en-US" sz="2800" dirty="0" smtClean="0">
                <a:ea typeface="黑体" panose="02010609060101010101" pitchFamily="49" charset="-122"/>
              </a:rPr>
              <a:t>这比非持续连接的两倍 </a:t>
            </a:r>
            <a:r>
              <a:rPr lang="en-US" altLang="zh-CN" sz="2800" dirty="0" smtClean="0">
                <a:ea typeface="黑体" panose="02010609060101010101" pitchFamily="49" charset="-122"/>
              </a:rPr>
              <a:t>RTT </a:t>
            </a:r>
            <a:r>
              <a:rPr lang="zh-CN" altLang="en-US" sz="2800" dirty="0" smtClean="0">
                <a:ea typeface="黑体" panose="02010609060101010101" pitchFamily="49" charset="-122"/>
              </a:rPr>
              <a:t>的开销节省了建立 </a:t>
            </a:r>
            <a:r>
              <a:rPr lang="en-US" altLang="zh-CN" sz="2800" dirty="0" smtClean="0">
                <a:ea typeface="黑体" panose="02010609060101010101" pitchFamily="49" charset="-122"/>
              </a:rPr>
              <a:t>TCP </a:t>
            </a:r>
            <a:r>
              <a:rPr lang="zh-CN" altLang="en-US" sz="2800" dirty="0" smtClean="0">
                <a:ea typeface="黑体" panose="02010609060101010101" pitchFamily="49" charset="-122"/>
              </a:rPr>
              <a:t>连接所需的一个 </a:t>
            </a:r>
            <a:r>
              <a:rPr lang="en-US" altLang="zh-CN" sz="2800" dirty="0" smtClean="0">
                <a:ea typeface="黑体" panose="02010609060101010101" pitchFamily="49" charset="-122"/>
              </a:rPr>
              <a:t>RTT </a:t>
            </a:r>
            <a:r>
              <a:rPr lang="zh-CN" altLang="en-US" sz="2800" dirty="0" smtClean="0">
                <a:ea typeface="黑体" panose="02010609060101010101" pitchFamily="49" charset="-122"/>
              </a:rPr>
              <a:t>时间。但服务器在发送完一个对象后，其 </a:t>
            </a:r>
            <a:r>
              <a:rPr lang="en-US" altLang="zh-CN" sz="2800" dirty="0" smtClean="0">
                <a:ea typeface="黑体" panose="02010609060101010101" pitchFamily="49" charset="-122"/>
              </a:rPr>
              <a:t>TCP </a:t>
            </a:r>
            <a:r>
              <a:rPr lang="zh-CN" altLang="en-US" sz="2800" dirty="0" smtClean="0">
                <a:ea typeface="黑体" panose="02010609060101010101" pitchFamily="49" charset="-122"/>
              </a:rPr>
              <a:t>连接就处于空闲状态，浪费了服务器资源。</a:t>
            </a:r>
          </a:p>
          <a:p>
            <a:r>
              <a:rPr lang="zh-CN" altLang="en-US" sz="2800" dirty="0" smtClean="0">
                <a:solidFill>
                  <a:srgbClr val="FF0000"/>
                </a:solidFill>
                <a:ea typeface="黑体" panose="02010609060101010101" pitchFamily="49" charset="-122"/>
              </a:rPr>
              <a:t>流水线方式：</a:t>
            </a:r>
            <a:r>
              <a:rPr lang="zh-CN" altLang="en-US" sz="2800" dirty="0" smtClean="0">
                <a:solidFill>
                  <a:srgbClr val="0000FF"/>
                </a:solidFill>
                <a:ea typeface="黑体" panose="02010609060101010101" pitchFamily="49" charset="-122"/>
              </a:rPr>
              <a:t>客户在收到 </a:t>
            </a:r>
            <a:r>
              <a:rPr lang="en-US" altLang="zh-CN" sz="2800" dirty="0" smtClean="0">
                <a:solidFill>
                  <a:srgbClr val="0000FF"/>
                </a:solidFill>
                <a:ea typeface="黑体" panose="02010609060101010101" pitchFamily="49" charset="-122"/>
              </a:rPr>
              <a:t>HTTP </a:t>
            </a:r>
            <a:r>
              <a:rPr lang="zh-CN" altLang="en-US" sz="2800" dirty="0" smtClean="0">
                <a:solidFill>
                  <a:srgbClr val="0000FF"/>
                </a:solidFill>
                <a:ea typeface="黑体" panose="02010609060101010101" pitchFamily="49" charset="-122"/>
              </a:rPr>
              <a:t>的响应报文之前就能够接着发送新的请求报文。</a:t>
            </a:r>
            <a:r>
              <a:rPr lang="zh-CN" altLang="en-US" sz="2800" dirty="0" smtClean="0">
                <a:ea typeface="黑体" panose="02010609060101010101" pitchFamily="49" charset="-122"/>
              </a:rPr>
              <a:t>一个接一个的请求报文到达服务器后，服务器就可连续发回响应报文。使用流水线方式时，客户访问所有的对象只需花费一个 </a:t>
            </a:r>
            <a:r>
              <a:rPr lang="en-US" altLang="zh-CN" sz="2800" dirty="0" smtClean="0">
                <a:ea typeface="黑体" panose="02010609060101010101" pitchFamily="49" charset="-122"/>
              </a:rPr>
              <a:t>RTT</a:t>
            </a:r>
            <a:r>
              <a:rPr lang="zh-CN" altLang="en-US" sz="2800" dirty="0" smtClean="0">
                <a:ea typeface="黑体" panose="02010609060101010101" pitchFamily="49" charset="-122"/>
              </a:rPr>
              <a:t>时间，使 </a:t>
            </a:r>
            <a:r>
              <a:rPr lang="en-US" altLang="zh-CN" sz="2800" dirty="0" smtClean="0">
                <a:ea typeface="黑体" panose="02010609060101010101" pitchFamily="49" charset="-122"/>
              </a:rPr>
              <a:t>TCP </a:t>
            </a:r>
            <a:r>
              <a:rPr lang="zh-CN" altLang="en-US" sz="2800" dirty="0" smtClean="0">
                <a:ea typeface="黑体" panose="02010609060101010101" pitchFamily="49" charset="-122"/>
              </a:rPr>
              <a:t>连接中的空闲时间减少，提高了下载文档效率。 </a:t>
            </a:r>
          </a:p>
        </p:txBody>
      </p:sp>
      <p:sp>
        <p:nvSpPr>
          <p:cNvPr id="17203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69C8ED-09E3-40B6-B051-E160FFF7ACC9}" type="slidenum">
              <a:rPr lang="zh-CN" altLang="en-US" smtClean="0"/>
              <a:pPr eaLnBrk="1" hangingPunct="1"/>
              <a:t>32</a:t>
            </a:fld>
            <a:endParaRPr lang="en-US" altLang="zh-CN" smtClean="0"/>
          </a:p>
        </p:txBody>
      </p:sp>
      <p:sp>
        <p:nvSpPr>
          <p:cNvPr id="17203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134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代理服务器</a:t>
            </a:r>
            <a:endParaRPr lang="en-US" altLang="zh-CN" smtClean="0">
              <a:ea typeface="黑体" panose="02010609060101010101" pitchFamily="49" charset="-122"/>
            </a:endParaRPr>
          </a:p>
        </p:txBody>
      </p:sp>
      <p:sp>
        <p:nvSpPr>
          <p:cNvPr id="1721346" name="Rectangle 3"/>
          <p:cNvSpPr>
            <a:spLocks noGrp="1" noChangeArrowheads="1"/>
          </p:cNvSpPr>
          <p:nvPr>
            <p:ph idx="1"/>
          </p:nvPr>
        </p:nvSpPr>
        <p:spPr>
          <a:xfrm>
            <a:off x="495300" y="1196975"/>
            <a:ext cx="9066213" cy="4933950"/>
          </a:xfrm>
        </p:spPr>
        <p:txBody>
          <a:bodyPr/>
          <a:lstStyle/>
          <a:p>
            <a:pPr>
              <a:spcAft>
                <a:spcPct val="20000"/>
              </a:spcAft>
            </a:pPr>
            <a:r>
              <a:rPr lang="zh-CN" altLang="en-US" dirty="0" smtClean="0">
                <a:solidFill>
                  <a:srgbClr val="FF0000"/>
                </a:solidFill>
                <a:ea typeface="黑体" panose="02010609060101010101" pitchFamily="49" charset="-122"/>
              </a:rPr>
              <a:t>代理服务器 </a:t>
            </a:r>
            <a:r>
              <a:rPr lang="en-US" altLang="zh-CN" dirty="0" smtClean="0">
                <a:ea typeface="黑体" panose="02010609060101010101" pitchFamily="49" charset="-122"/>
              </a:rPr>
              <a:t>(proxy server) </a:t>
            </a:r>
            <a:r>
              <a:rPr lang="zh-CN" altLang="en-US" dirty="0" smtClean="0">
                <a:ea typeface="黑体" panose="02010609060101010101" pitchFamily="49" charset="-122"/>
              </a:rPr>
              <a:t>又称为</a:t>
            </a:r>
            <a:r>
              <a:rPr lang="zh-CN" altLang="en-US" dirty="0" smtClean="0">
                <a:solidFill>
                  <a:srgbClr val="FF0000"/>
                </a:solidFill>
                <a:ea typeface="黑体" panose="02010609060101010101" pitchFamily="49" charset="-122"/>
              </a:rPr>
              <a:t>万维网高速缓存 </a:t>
            </a:r>
            <a:r>
              <a:rPr lang="en-US" altLang="zh-CN" dirty="0" smtClean="0">
                <a:ea typeface="黑体" panose="02010609060101010101" pitchFamily="49" charset="-122"/>
              </a:rPr>
              <a:t>(Web cache)</a:t>
            </a:r>
            <a:r>
              <a:rPr lang="zh-CN" altLang="en-US" dirty="0" smtClean="0">
                <a:ea typeface="黑体" panose="02010609060101010101" pitchFamily="49" charset="-122"/>
              </a:rPr>
              <a:t>，它代表浏览器发出 </a:t>
            </a:r>
            <a:r>
              <a:rPr lang="en-US" altLang="zh-CN" dirty="0" smtClean="0">
                <a:ea typeface="黑体" panose="02010609060101010101" pitchFamily="49" charset="-122"/>
              </a:rPr>
              <a:t>HTTP </a:t>
            </a:r>
            <a:r>
              <a:rPr lang="zh-CN" altLang="en-US" dirty="0" smtClean="0">
                <a:ea typeface="黑体" panose="02010609060101010101" pitchFamily="49" charset="-122"/>
              </a:rPr>
              <a:t>请求。</a:t>
            </a:r>
          </a:p>
          <a:p>
            <a:pPr>
              <a:spcAft>
                <a:spcPct val="20000"/>
              </a:spcAft>
            </a:pPr>
            <a:r>
              <a:rPr lang="zh-CN" altLang="en-US" dirty="0" smtClean="0">
                <a:ea typeface="黑体" panose="02010609060101010101" pitchFamily="49" charset="-122"/>
              </a:rPr>
              <a:t>万维网高速缓存把</a:t>
            </a:r>
            <a:r>
              <a:rPr lang="zh-CN" altLang="en-US" dirty="0" smtClean="0">
                <a:solidFill>
                  <a:srgbClr val="0000FF"/>
                </a:solidFill>
                <a:ea typeface="黑体" panose="02010609060101010101" pitchFamily="49" charset="-122"/>
              </a:rPr>
              <a:t>最近的一些请求和响应暂存在本地磁盘中</a:t>
            </a:r>
            <a:r>
              <a:rPr lang="zh-CN" altLang="en-US" dirty="0" smtClean="0">
                <a:ea typeface="黑体" panose="02010609060101010101" pitchFamily="49" charset="-122"/>
              </a:rPr>
              <a:t>。</a:t>
            </a:r>
          </a:p>
          <a:p>
            <a:pPr>
              <a:spcAft>
                <a:spcPct val="20000"/>
              </a:spcAft>
            </a:pPr>
            <a:r>
              <a:rPr lang="zh-CN" altLang="en-US" dirty="0" smtClean="0">
                <a:ea typeface="黑体" panose="02010609060101010101" pitchFamily="49" charset="-122"/>
              </a:rPr>
              <a:t>当与暂时存放的请求相同的新请求到达时，万维网高速缓存就把暂存的响应发送出去，而不需要按 </a:t>
            </a:r>
            <a:r>
              <a:rPr lang="en-US" altLang="zh-CN" dirty="0" smtClean="0">
                <a:ea typeface="黑体" panose="02010609060101010101" pitchFamily="49" charset="-122"/>
              </a:rPr>
              <a:t>URL </a:t>
            </a:r>
            <a:r>
              <a:rPr lang="zh-CN" altLang="en-US" dirty="0" smtClean="0">
                <a:ea typeface="黑体" panose="02010609060101010101" pitchFamily="49" charset="-122"/>
              </a:rPr>
              <a:t>的地址再去互联网访问该资源。 </a:t>
            </a:r>
            <a:r>
              <a:rPr lang="zh-CN" altLang="en-US" sz="2800" dirty="0" smtClean="0">
                <a:ea typeface="黑体" panose="02010609060101010101" pitchFamily="49" charset="-122"/>
              </a:rPr>
              <a:t> </a:t>
            </a:r>
          </a:p>
        </p:txBody>
      </p:sp>
      <p:sp>
        <p:nvSpPr>
          <p:cNvPr id="17213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37AFFC6-CF6E-4B8C-A9F0-F3B3EBB5C13D}" type="slidenum">
              <a:rPr lang="zh-CN" altLang="en-US" smtClean="0"/>
              <a:pPr eaLnBrk="1" hangingPunct="1"/>
              <a:t>33</a:t>
            </a:fld>
            <a:endParaRPr lang="en-US" altLang="zh-CN" smtClean="0"/>
          </a:p>
        </p:txBody>
      </p:sp>
      <p:sp>
        <p:nvSpPr>
          <p:cNvPr id="17213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4"/>
          <p:cNvSpPr>
            <a:spLocks noGrp="1" noChangeArrowheads="1"/>
          </p:cNvSpPr>
          <p:nvPr>
            <p:ph type="title" idx="4294967295"/>
          </p:nvPr>
        </p:nvSpPr>
        <p:spPr>
          <a:xfrm>
            <a:off x="415925" y="600075"/>
            <a:ext cx="9047163" cy="812800"/>
          </a:xfrm>
        </p:spPr>
        <p:txBody>
          <a:bodyPr/>
          <a:lstStyle/>
          <a:p>
            <a:pPr algn="ctr">
              <a:defRPr/>
            </a:pPr>
            <a:r>
              <a:rPr sz="4060" noProof="1"/>
              <a:t>使用高速缓存可</a:t>
            </a:r>
            <a:r>
              <a:rPr sz="4060" noProof="1">
                <a:solidFill>
                  <a:srgbClr val="FF0000"/>
                </a:solidFill>
              </a:rPr>
              <a:t>减少</a:t>
            </a:r>
            <a:r>
              <a:rPr sz="4060" dirty="0"/>
              <a:t/>
            </a:r>
            <a:br>
              <a:rPr sz="4060" dirty="0"/>
            </a:br>
            <a:r>
              <a:rPr sz="4060" noProof="1"/>
              <a:t>访问互联网服务器的时延 </a:t>
            </a:r>
          </a:p>
        </p:txBody>
      </p:sp>
      <p:grpSp>
        <p:nvGrpSpPr>
          <p:cNvPr id="1723394" name="Group 24"/>
          <p:cNvGrpSpPr>
            <a:grpSpLocks/>
          </p:cNvGrpSpPr>
          <p:nvPr/>
        </p:nvGrpSpPr>
        <p:grpSpPr bwMode="auto">
          <a:xfrm>
            <a:off x="215900" y="2908300"/>
            <a:ext cx="3895725" cy="2803525"/>
            <a:chOff x="912" y="768"/>
            <a:chExt cx="2400" cy="1584"/>
          </a:xfrm>
        </p:grpSpPr>
        <p:sp>
          <p:nvSpPr>
            <p:cNvPr id="1723395" name="Oval 25"/>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396" name="Oval 26"/>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397" name="Oval 27"/>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398" name="Oval 28"/>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399" name="Oval 29"/>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00" name="Oval 30"/>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01" name="Oval 31"/>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02" name="Oval 32"/>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03" name="Oval 33"/>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grpSp>
          <p:nvGrpSpPr>
            <p:cNvPr id="1723404" name="Group 34"/>
            <p:cNvGrpSpPr>
              <a:grpSpLocks/>
            </p:cNvGrpSpPr>
            <p:nvPr/>
          </p:nvGrpSpPr>
          <p:grpSpPr bwMode="auto">
            <a:xfrm>
              <a:off x="912" y="768"/>
              <a:ext cx="2386" cy="1553"/>
              <a:chOff x="912" y="768"/>
              <a:chExt cx="2386" cy="1553"/>
            </a:xfrm>
          </p:grpSpPr>
          <p:sp>
            <p:nvSpPr>
              <p:cNvPr id="1723405" name="Oval 35"/>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06" name="Oval 36"/>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07" name="Oval 37"/>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08" name="Oval 38"/>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09" name="Oval 39"/>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10" name="Oval 40"/>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11" name="Oval 41"/>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12" name="Oval 42"/>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13" name="Oval 43"/>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grpSp>
      </p:grpSp>
      <p:graphicFrame>
        <p:nvGraphicFramePr>
          <p:cNvPr id="1723414" name="Object 44"/>
          <p:cNvGraphicFramePr>
            <a:graphicFrameLocks noChangeAspect="1"/>
          </p:cNvGraphicFramePr>
          <p:nvPr/>
        </p:nvGraphicFramePr>
        <p:xfrm>
          <a:off x="7310438" y="3713163"/>
          <a:ext cx="1995487" cy="1257300"/>
        </p:xfrm>
        <a:graphic>
          <a:graphicData uri="http://schemas.openxmlformats.org/presentationml/2006/ole">
            <mc:AlternateContent xmlns:mc="http://schemas.openxmlformats.org/markup-compatibility/2006">
              <mc:Choice xmlns:v="urn:schemas-microsoft-com:vml" Requires="v">
                <p:oleObj spid="_x0000_s1723725" r:id="rId4" imgW="1687068" imgH="964692" progId="Visio.Drawing.6">
                  <p:embed/>
                </p:oleObj>
              </mc:Choice>
              <mc:Fallback>
                <p:oleObj r:id="rId4" imgW="1687068" imgH="964692" progId="Visio.Drawing.6">
                  <p:embed/>
                  <p:pic>
                    <p:nvPicPr>
                      <p:cNvPr id="0"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0438" y="3713163"/>
                        <a:ext cx="1995487"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23415" name="Line 45"/>
          <p:cNvSpPr>
            <a:spLocks noChangeShapeType="1"/>
          </p:cNvSpPr>
          <p:nvPr/>
        </p:nvSpPr>
        <p:spPr bwMode="auto">
          <a:xfrm>
            <a:off x="4144963" y="4327525"/>
            <a:ext cx="2847975"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16" name="Line 46"/>
          <p:cNvSpPr>
            <a:spLocks noChangeShapeType="1"/>
          </p:cNvSpPr>
          <p:nvPr/>
        </p:nvSpPr>
        <p:spPr bwMode="auto">
          <a:xfrm>
            <a:off x="8545513" y="4884738"/>
            <a:ext cx="733425" cy="5937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17" name="Line 47"/>
          <p:cNvSpPr>
            <a:spLocks noChangeShapeType="1"/>
          </p:cNvSpPr>
          <p:nvPr/>
        </p:nvSpPr>
        <p:spPr bwMode="auto">
          <a:xfrm>
            <a:off x="8969375" y="4579938"/>
            <a:ext cx="587375" cy="1254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18" name="Line 48"/>
          <p:cNvSpPr>
            <a:spLocks noChangeShapeType="1"/>
          </p:cNvSpPr>
          <p:nvPr/>
        </p:nvSpPr>
        <p:spPr bwMode="auto">
          <a:xfrm flipV="1">
            <a:off x="9001125" y="3835400"/>
            <a:ext cx="555625" cy="1682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19" name="Line 49"/>
          <p:cNvSpPr>
            <a:spLocks noChangeShapeType="1"/>
          </p:cNvSpPr>
          <p:nvPr/>
        </p:nvSpPr>
        <p:spPr bwMode="auto">
          <a:xfrm flipV="1">
            <a:off x="8512175" y="3159125"/>
            <a:ext cx="766763" cy="6508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3420" name="Group 51"/>
          <p:cNvGrpSpPr>
            <a:grpSpLocks/>
          </p:cNvGrpSpPr>
          <p:nvPr/>
        </p:nvGrpSpPr>
        <p:grpSpPr bwMode="auto">
          <a:xfrm>
            <a:off x="9405938" y="3460750"/>
            <a:ext cx="442912" cy="722313"/>
            <a:chOff x="4486" y="2730"/>
            <a:chExt cx="217" cy="339"/>
          </a:xfrm>
        </p:grpSpPr>
        <p:grpSp>
          <p:nvGrpSpPr>
            <p:cNvPr id="1723421" name="Group 52"/>
            <p:cNvGrpSpPr>
              <a:grpSpLocks/>
            </p:cNvGrpSpPr>
            <p:nvPr/>
          </p:nvGrpSpPr>
          <p:grpSpPr bwMode="auto">
            <a:xfrm>
              <a:off x="4491" y="2736"/>
              <a:ext cx="212" cy="333"/>
              <a:chOff x="4491" y="2736"/>
              <a:chExt cx="212" cy="333"/>
            </a:xfrm>
          </p:grpSpPr>
          <p:sp>
            <p:nvSpPr>
              <p:cNvPr id="1723422" name="Freeform 53"/>
              <p:cNvSpPr>
                <a:spLocks noChangeArrowheads="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23" name="Freeform 54"/>
              <p:cNvSpPr>
                <a:spLocks noChangeArrowheads="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24" name="Freeform 55"/>
              <p:cNvSpPr>
                <a:spLocks noChangeArrowheads="1"/>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25" name="Freeform 56"/>
              <p:cNvSpPr>
                <a:spLocks noChangeArrowheads="1"/>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26" name="Rectangle 57"/>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27" name="Rectangle 58"/>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28" name="Line 59"/>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29" name="Line 60"/>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30" name="Line 61"/>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3431" name="Group 62"/>
            <p:cNvGrpSpPr>
              <a:grpSpLocks/>
            </p:cNvGrpSpPr>
            <p:nvPr/>
          </p:nvGrpSpPr>
          <p:grpSpPr bwMode="auto">
            <a:xfrm>
              <a:off x="4486" y="2730"/>
              <a:ext cx="212" cy="333"/>
              <a:chOff x="4486" y="2730"/>
              <a:chExt cx="212" cy="333"/>
            </a:xfrm>
          </p:grpSpPr>
          <p:sp>
            <p:nvSpPr>
              <p:cNvPr id="1723432" name="Freeform 63"/>
              <p:cNvSpPr>
                <a:spLocks noChangeArrowheads="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33" name="Freeform 64"/>
              <p:cNvSpPr>
                <a:spLocks noChangeArrowheads="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34" name="Freeform 65"/>
              <p:cNvSpPr>
                <a:spLocks noChangeArrowheads="1"/>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35" name="Freeform 66"/>
              <p:cNvSpPr>
                <a:spLocks noChangeArrowheads="1"/>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36" name="Rectangle 67"/>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37" name="Rectangle 68"/>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38" name="Line 69"/>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39" name="Line 70"/>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40" name="Line 71"/>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723441" name="Group 72"/>
          <p:cNvGrpSpPr>
            <a:grpSpLocks/>
          </p:cNvGrpSpPr>
          <p:nvPr/>
        </p:nvGrpSpPr>
        <p:grpSpPr bwMode="auto">
          <a:xfrm>
            <a:off x="9405938" y="4398963"/>
            <a:ext cx="442912" cy="722312"/>
            <a:chOff x="4486" y="3170"/>
            <a:chExt cx="217" cy="339"/>
          </a:xfrm>
        </p:grpSpPr>
        <p:grpSp>
          <p:nvGrpSpPr>
            <p:cNvPr id="1723442" name="Group 73"/>
            <p:cNvGrpSpPr>
              <a:grpSpLocks/>
            </p:cNvGrpSpPr>
            <p:nvPr/>
          </p:nvGrpSpPr>
          <p:grpSpPr bwMode="auto">
            <a:xfrm>
              <a:off x="4491" y="3176"/>
              <a:ext cx="212" cy="333"/>
              <a:chOff x="4491" y="3176"/>
              <a:chExt cx="212" cy="333"/>
            </a:xfrm>
          </p:grpSpPr>
          <p:sp>
            <p:nvSpPr>
              <p:cNvPr id="1723443" name="Freeform 74"/>
              <p:cNvSpPr>
                <a:spLocks noChangeArrowheads="1"/>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44" name="Freeform 75"/>
              <p:cNvSpPr>
                <a:spLocks noChangeArrowheads="1"/>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45" name="Freeform 76"/>
              <p:cNvSpPr>
                <a:spLocks noChangeArrowheads="1"/>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46" name="Freeform 77"/>
              <p:cNvSpPr>
                <a:spLocks noChangeArrowheads="1"/>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47" name="Rectangle 78"/>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48" name="Rectangle 79"/>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49" name="Line 80"/>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50" name="Line 81"/>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51" name="Line 82"/>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3452" name="Group 83"/>
            <p:cNvGrpSpPr>
              <a:grpSpLocks/>
            </p:cNvGrpSpPr>
            <p:nvPr/>
          </p:nvGrpSpPr>
          <p:grpSpPr bwMode="auto">
            <a:xfrm>
              <a:off x="4486" y="3170"/>
              <a:ext cx="212" cy="332"/>
              <a:chOff x="4486" y="3170"/>
              <a:chExt cx="212" cy="332"/>
            </a:xfrm>
          </p:grpSpPr>
          <p:sp>
            <p:nvSpPr>
              <p:cNvPr id="1723453" name="Freeform 84"/>
              <p:cNvSpPr>
                <a:spLocks noChangeArrowheads="1"/>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54" name="Freeform 85"/>
              <p:cNvSpPr>
                <a:spLocks noChangeArrowheads="1"/>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55" name="Freeform 86"/>
              <p:cNvSpPr>
                <a:spLocks noChangeArrowheads="1"/>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Lst>
                <a:ahLst/>
                <a:cxnLst>
                  <a:cxn ang="0">
                    <a:pos x="T0" y="T1"/>
                  </a:cxn>
                  <a:cxn ang="0">
                    <a:pos x="T2" y="T3"/>
                  </a:cxn>
                  <a:cxn ang="0">
                    <a:pos x="T4" y="T5"/>
                  </a:cxn>
                  <a:cxn ang="0">
                    <a:pos x="T6" y="T7"/>
                  </a:cxn>
                  <a:cxn ang="0">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56" name="Freeform 87"/>
              <p:cNvSpPr>
                <a:spLocks noChangeArrowheads="1"/>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Lst>
                <a:ahLst/>
                <a:cxnLst>
                  <a:cxn ang="0">
                    <a:pos x="T0" y="T1"/>
                  </a:cxn>
                  <a:cxn ang="0">
                    <a:pos x="T2" y="T3"/>
                  </a:cxn>
                  <a:cxn ang="0">
                    <a:pos x="T4" y="T5"/>
                  </a:cxn>
                  <a:cxn ang="0">
                    <a:pos x="T6" y="T7"/>
                  </a:cxn>
                  <a:cxn ang="0">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57" name="Rectangle 88"/>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58" name="Rectangle 89"/>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59" name="Line 90"/>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60" name="Line 91"/>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61" name="Line 92"/>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723462" name="Group 93"/>
          <p:cNvGrpSpPr>
            <a:grpSpLocks/>
          </p:cNvGrpSpPr>
          <p:nvPr/>
        </p:nvGrpSpPr>
        <p:grpSpPr bwMode="auto">
          <a:xfrm>
            <a:off x="8940800" y="5133975"/>
            <a:ext cx="444500" cy="723900"/>
            <a:chOff x="4260" y="3515"/>
            <a:chExt cx="216" cy="339"/>
          </a:xfrm>
        </p:grpSpPr>
        <p:grpSp>
          <p:nvGrpSpPr>
            <p:cNvPr id="1723463" name="Group 94"/>
            <p:cNvGrpSpPr>
              <a:grpSpLocks/>
            </p:cNvGrpSpPr>
            <p:nvPr/>
          </p:nvGrpSpPr>
          <p:grpSpPr bwMode="auto">
            <a:xfrm>
              <a:off x="4265" y="3521"/>
              <a:ext cx="211" cy="333"/>
              <a:chOff x="4265" y="3521"/>
              <a:chExt cx="211" cy="333"/>
            </a:xfrm>
          </p:grpSpPr>
          <p:sp>
            <p:nvSpPr>
              <p:cNvPr id="1723464" name="Freeform 95"/>
              <p:cNvSpPr>
                <a:spLocks noChangeArrowheads="1"/>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65" name="Freeform 96"/>
              <p:cNvSpPr>
                <a:spLocks noChangeArrowheads="1"/>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66" name="Freeform 97"/>
              <p:cNvSpPr>
                <a:spLocks noChangeArrowheads="1"/>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67" name="Freeform 98"/>
              <p:cNvSpPr>
                <a:spLocks noChangeArrowheads="1"/>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68" name="Rectangle 99"/>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69" name="Rectangle 100"/>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70" name="Line 101"/>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71" name="Line 102"/>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72" name="Line 103"/>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3473" name="Group 104"/>
            <p:cNvGrpSpPr>
              <a:grpSpLocks/>
            </p:cNvGrpSpPr>
            <p:nvPr/>
          </p:nvGrpSpPr>
          <p:grpSpPr bwMode="auto">
            <a:xfrm>
              <a:off x="4260" y="3515"/>
              <a:ext cx="211" cy="332"/>
              <a:chOff x="4260" y="3515"/>
              <a:chExt cx="211" cy="332"/>
            </a:xfrm>
          </p:grpSpPr>
          <p:sp>
            <p:nvSpPr>
              <p:cNvPr id="1723474" name="Freeform 105"/>
              <p:cNvSpPr>
                <a:spLocks noChangeArrowheads="1"/>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75" name="Freeform 106"/>
              <p:cNvSpPr>
                <a:spLocks noChangeArrowheads="1"/>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76" name="Freeform 107"/>
              <p:cNvSpPr>
                <a:spLocks noChangeArrowheads="1"/>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77" name="Freeform 108"/>
              <p:cNvSpPr>
                <a:spLocks noChangeArrowheads="1"/>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78" name="Rectangle 109"/>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79" name="Rectangle 110"/>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80" name="Line 111"/>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81" name="Line 112"/>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82" name="Line 113"/>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3483" name="Rectangle 114"/>
          <p:cNvSpPr>
            <a:spLocks noChangeArrowheads="1"/>
          </p:cNvSpPr>
          <p:nvPr/>
        </p:nvSpPr>
        <p:spPr bwMode="auto">
          <a:xfrm>
            <a:off x="2311400" y="2871788"/>
            <a:ext cx="36513" cy="2836862"/>
          </a:xfrm>
          <a:prstGeom prst="rect">
            <a:avLst/>
          </a:prstGeom>
          <a:solidFill>
            <a:srgbClr val="000000"/>
          </a:solidFill>
          <a:ln w="38100">
            <a:solidFill>
              <a:srgbClr val="333399"/>
            </a:solidFill>
            <a:miter lim="800000"/>
            <a:headEnd/>
            <a:tailEnd/>
          </a:ln>
        </p:spPr>
        <p:txBody>
          <a:bodyPr/>
          <a:lstStyle/>
          <a:p>
            <a:endParaRPr lang="zh-CN" altLang="en-US" b="1">
              <a:solidFill>
                <a:srgbClr val="000099"/>
              </a:solidFill>
              <a:ea typeface="宋体" panose="02010600030101010101" pitchFamily="2" charset="-122"/>
            </a:endParaRPr>
          </a:p>
        </p:txBody>
      </p:sp>
      <p:sp>
        <p:nvSpPr>
          <p:cNvPr id="1723484" name="Line 115"/>
          <p:cNvSpPr>
            <a:spLocks noChangeShapeType="1"/>
          </p:cNvSpPr>
          <p:nvPr/>
        </p:nvSpPr>
        <p:spPr bwMode="auto">
          <a:xfrm>
            <a:off x="1420813" y="3295650"/>
            <a:ext cx="927100"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85" name="Line 116"/>
          <p:cNvSpPr>
            <a:spLocks noChangeShapeType="1"/>
          </p:cNvSpPr>
          <p:nvPr/>
        </p:nvSpPr>
        <p:spPr bwMode="auto">
          <a:xfrm>
            <a:off x="1697038" y="4070350"/>
            <a:ext cx="650875" cy="1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86" name="Line 117"/>
          <p:cNvSpPr>
            <a:spLocks noChangeShapeType="1"/>
          </p:cNvSpPr>
          <p:nvPr/>
        </p:nvSpPr>
        <p:spPr bwMode="auto">
          <a:xfrm>
            <a:off x="936625" y="4608513"/>
            <a:ext cx="1392238" cy="47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87" name="Line 118"/>
          <p:cNvSpPr>
            <a:spLocks noChangeShapeType="1"/>
          </p:cNvSpPr>
          <p:nvPr/>
        </p:nvSpPr>
        <p:spPr bwMode="auto">
          <a:xfrm>
            <a:off x="1514475" y="5326063"/>
            <a:ext cx="83502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488" name="Line 119"/>
          <p:cNvSpPr>
            <a:spLocks noChangeShapeType="1"/>
          </p:cNvSpPr>
          <p:nvPr/>
        </p:nvSpPr>
        <p:spPr bwMode="auto">
          <a:xfrm>
            <a:off x="2328863" y="4319588"/>
            <a:ext cx="1576387"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3489" name="Group 120"/>
          <p:cNvGrpSpPr>
            <a:grpSpLocks/>
          </p:cNvGrpSpPr>
          <p:nvPr/>
        </p:nvGrpSpPr>
        <p:grpSpPr bwMode="auto">
          <a:xfrm>
            <a:off x="3738563" y="4106863"/>
            <a:ext cx="631825" cy="409575"/>
            <a:chOff x="2154" y="3033"/>
            <a:chExt cx="309" cy="192"/>
          </a:xfrm>
        </p:grpSpPr>
        <p:sp>
          <p:nvSpPr>
            <p:cNvPr id="1723490" name="Oval 121"/>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sp>
          <p:nvSpPr>
            <p:cNvPr id="1723491" name="Rectangle 12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92" name="Rectangle 12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493" name="Oval 124"/>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grpSp>
          <p:nvGrpSpPr>
            <p:cNvPr id="1723494" name="Group 125"/>
            <p:cNvGrpSpPr>
              <a:grpSpLocks/>
            </p:cNvGrpSpPr>
            <p:nvPr/>
          </p:nvGrpSpPr>
          <p:grpSpPr bwMode="auto">
            <a:xfrm>
              <a:off x="2201" y="3046"/>
              <a:ext cx="214" cy="86"/>
              <a:chOff x="2201" y="3046"/>
              <a:chExt cx="214" cy="86"/>
            </a:xfrm>
          </p:grpSpPr>
          <p:grpSp>
            <p:nvGrpSpPr>
              <p:cNvPr id="1723495" name="Group 126"/>
              <p:cNvGrpSpPr>
                <a:grpSpLocks/>
              </p:cNvGrpSpPr>
              <p:nvPr/>
            </p:nvGrpSpPr>
            <p:grpSpPr bwMode="auto">
              <a:xfrm>
                <a:off x="2201" y="3046"/>
                <a:ext cx="212" cy="84"/>
                <a:chOff x="2201" y="3046"/>
                <a:chExt cx="212" cy="84"/>
              </a:xfrm>
            </p:grpSpPr>
            <p:sp>
              <p:nvSpPr>
                <p:cNvPr id="1723496" name="Freeform 127"/>
                <p:cNvSpPr>
                  <a:spLocks noChangeArrowheads="1"/>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97" name="Freeform 128"/>
                <p:cNvSpPr>
                  <a:spLocks noChangeArrowheads="1"/>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98" name="Freeform 129"/>
                <p:cNvSpPr>
                  <a:spLocks noChangeArrowheads="1"/>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499" name="Freeform 130"/>
                <p:cNvSpPr>
                  <a:spLocks noChangeArrowheads="1"/>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00" name="Freeform 131"/>
                <p:cNvSpPr>
                  <a:spLocks noChangeArrowheads="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01" name="Freeform 132"/>
                <p:cNvSpPr>
                  <a:spLocks noChangeArrowheads="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02" name="Freeform 133"/>
                <p:cNvSpPr>
                  <a:spLocks noChangeArrowheads="1"/>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03" name="Freeform 134"/>
                <p:cNvSpPr>
                  <a:spLocks noChangeArrowheads="1"/>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3504" name="Group 135"/>
              <p:cNvGrpSpPr>
                <a:grpSpLocks/>
              </p:cNvGrpSpPr>
              <p:nvPr/>
            </p:nvGrpSpPr>
            <p:grpSpPr bwMode="auto">
              <a:xfrm>
                <a:off x="2203" y="3048"/>
                <a:ext cx="212" cy="84"/>
                <a:chOff x="2203" y="3048"/>
                <a:chExt cx="212" cy="84"/>
              </a:xfrm>
            </p:grpSpPr>
            <p:sp>
              <p:nvSpPr>
                <p:cNvPr id="1723505" name="Freeform 136"/>
                <p:cNvSpPr>
                  <a:spLocks noChangeArrowheads="1"/>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06" name="Freeform 137"/>
                <p:cNvSpPr>
                  <a:spLocks noChangeArrowheads="1"/>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07" name="Freeform 138"/>
                <p:cNvSpPr>
                  <a:spLocks noChangeArrowheads="1"/>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08" name="Freeform 139"/>
                <p:cNvSpPr>
                  <a:spLocks noChangeArrowheads="1"/>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09" name="Freeform 140"/>
                <p:cNvSpPr>
                  <a:spLocks noChangeArrowheads="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10" name="Freeform 141"/>
                <p:cNvSpPr>
                  <a:spLocks noChangeArrowheads="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11" name="Freeform 142"/>
                <p:cNvSpPr>
                  <a:spLocks noChangeArrowheads="1"/>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12" name="Freeform 143"/>
                <p:cNvSpPr>
                  <a:spLocks noChangeArrowheads="1"/>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3513" name="Line 144"/>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514" name="Line 145"/>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3515" name="Group 146"/>
          <p:cNvGrpSpPr>
            <a:grpSpLocks/>
          </p:cNvGrpSpPr>
          <p:nvPr/>
        </p:nvGrpSpPr>
        <p:grpSpPr bwMode="auto">
          <a:xfrm>
            <a:off x="1217613" y="2782888"/>
            <a:ext cx="581025" cy="563562"/>
            <a:chOff x="921" y="2412"/>
            <a:chExt cx="284" cy="265"/>
          </a:xfrm>
        </p:grpSpPr>
        <p:grpSp>
          <p:nvGrpSpPr>
            <p:cNvPr id="1723516" name="Group 147"/>
            <p:cNvGrpSpPr>
              <a:grpSpLocks/>
            </p:cNvGrpSpPr>
            <p:nvPr/>
          </p:nvGrpSpPr>
          <p:grpSpPr bwMode="auto">
            <a:xfrm>
              <a:off x="928" y="2417"/>
              <a:ext cx="277" cy="260"/>
              <a:chOff x="928" y="2417"/>
              <a:chExt cx="277" cy="260"/>
            </a:xfrm>
          </p:grpSpPr>
          <p:sp>
            <p:nvSpPr>
              <p:cNvPr id="1723517" name="Freeform 148"/>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18" name="Freeform 149"/>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19" name="Freeform 150"/>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20" name="Freeform 151"/>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21" name="Rectangle 15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22" name="Rectangle 15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23" name="Rectangle 15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24" name="Line 155"/>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3525" name="Group 156"/>
              <p:cNvGrpSpPr>
                <a:grpSpLocks/>
              </p:cNvGrpSpPr>
              <p:nvPr/>
            </p:nvGrpSpPr>
            <p:grpSpPr bwMode="auto">
              <a:xfrm>
                <a:off x="928" y="2639"/>
                <a:ext cx="277" cy="38"/>
                <a:chOff x="928" y="2639"/>
                <a:chExt cx="277" cy="38"/>
              </a:xfrm>
            </p:grpSpPr>
            <p:sp>
              <p:nvSpPr>
                <p:cNvPr id="1723526" name="Freeform 157"/>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27" name="Freeform 158"/>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28" name="Rectangle 15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23529" name="Group 160"/>
            <p:cNvGrpSpPr>
              <a:grpSpLocks/>
            </p:cNvGrpSpPr>
            <p:nvPr/>
          </p:nvGrpSpPr>
          <p:grpSpPr bwMode="auto">
            <a:xfrm>
              <a:off x="921" y="2412"/>
              <a:ext cx="277" cy="261"/>
              <a:chOff x="921" y="2412"/>
              <a:chExt cx="277" cy="261"/>
            </a:xfrm>
          </p:grpSpPr>
          <p:sp>
            <p:nvSpPr>
              <p:cNvPr id="1723530" name="Freeform 161"/>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31" name="Freeform 162"/>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32" name="Freeform 163"/>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33" name="Freeform 164"/>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34" name="Rectangle 16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35" name="Rectangle 16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36" name="Rectangle 16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37" name="Line 168"/>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3538" name="Group 169"/>
              <p:cNvGrpSpPr>
                <a:grpSpLocks/>
              </p:cNvGrpSpPr>
              <p:nvPr/>
            </p:nvGrpSpPr>
            <p:grpSpPr bwMode="auto">
              <a:xfrm>
                <a:off x="921" y="2635"/>
                <a:ext cx="277" cy="38"/>
                <a:chOff x="921" y="2635"/>
                <a:chExt cx="277" cy="38"/>
              </a:xfrm>
            </p:grpSpPr>
            <p:sp>
              <p:nvSpPr>
                <p:cNvPr id="1723539" name="Freeform 170"/>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40" name="Freeform 171"/>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41" name="Rectangle 17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23542" name="Group 173"/>
          <p:cNvGrpSpPr>
            <a:grpSpLocks/>
          </p:cNvGrpSpPr>
          <p:nvPr/>
        </p:nvGrpSpPr>
        <p:grpSpPr bwMode="auto">
          <a:xfrm>
            <a:off x="1328738" y="3584575"/>
            <a:ext cx="574675" cy="566738"/>
            <a:chOff x="997" y="2775"/>
            <a:chExt cx="282" cy="265"/>
          </a:xfrm>
        </p:grpSpPr>
        <p:grpSp>
          <p:nvGrpSpPr>
            <p:cNvPr id="1723543" name="Group 174"/>
            <p:cNvGrpSpPr>
              <a:grpSpLocks/>
            </p:cNvGrpSpPr>
            <p:nvPr/>
          </p:nvGrpSpPr>
          <p:grpSpPr bwMode="auto">
            <a:xfrm>
              <a:off x="1004" y="2779"/>
              <a:ext cx="275" cy="261"/>
              <a:chOff x="1004" y="2779"/>
              <a:chExt cx="275" cy="261"/>
            </a:xfrm>
          </p:grpSpPr>
          <p:sp>
            <p:nvSpPr>
              <p:cNvPr id="1723544" name="Freeform 175"/>
              <p:cNvSpPr>
                <a:spLocks noChangeArrowheads="1"/>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45" name="Freeform 176"/>
              <p:cNvSpPr>
                <a:spLocks noChangeArrowheads="1"/>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46" name="Freeform 177"/>
              <p:cNvSpPr>
                <a:spLocks noChangeArrowheads="1"/>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Lst>
                <a:ahLst/>
                <a:cxnLst>
                  <a:cxn ang="0">
                    <a:pos x="T0" y="T1"/>
                  </a:cxn>
                  <a:cxn ang="0">
                    <a:pos x="T2" y="T3"/>
                  </a:cxn>
                  <a:cxn ang="0">
                    <a:pos x="T4" y="T5"/>
                  </a:cxn>
                  <a:cxn ang="0">
                    <a:pos x="T6" y="T7"/>
                  </a:cxn>
                  <a:cxn ang="0">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47" name="Freeform 178"/>
              <p:cNvSpPr>
                <a:spLocks noChangeArrowheads="1"/>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Lst>
                <a:ahLst/>
                <a:cxnLst>
                  <a:cxn ang="0">
                    <a:pos x="T0" y="T1"/>
                  </a:cxn>
                  <a:cxn ang="0">
                    <a:pos x="T2" y="T3"/>
                  </a:cxn>
                  <a:cxn ang="0">
                    <a:pos x="T4" y="T5"/>
                  </a:cxn>
                  <a:cxn ang="0">
                    <a:pos x="T6" y="T7"/>
                  </a:cxn>
                  <a:cxn ang="0">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48" name="Rectangle 17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49" name="Rectangle 18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50" name="Rectangle 18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51" name="Line 182"/>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3552" name="Group 183"/>
              <p:cNvGrpSpPr>
                <a:grpSpLocks/>
              </p:cNvGrpSpPr>
              <p:nvPr/>
            </p:nvGrpSpPr>
            <p:grpSpPr bwMode="auto">
              <a:xfrm>
                <a:off x="1004" y="3002"/>
                <a:ext cx="275" cy="38"/>
                <a:chOff x="1004" y="3002"/>
                <a:chExt cx="275" cy="38"/>
              </a:xfrm>
            </p:grpSpPr>
            <p:sp>
              <p:nvSpPr>
                <p:cNvPr id="1723553" name="Freeform 184"/>
                <p:cNvSpPr>
                  <a:spLocks noChangeArrowheads="1"/>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54" name="Freeform 185"/>
                <p:cNvSpPr>
                  <a:spLocks noChangeArrowheads="1"/>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55" name="Rectangle 18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23556" name="Group 187"/>
            <p:cNvGrpSpPr>
              <a:grpSpLocks/>
            </p:cNvGrpSpPr>
            <p:nvPr/>
          </p:nvGrpSpPr>
          <p:grpSpPr bwMode="auto">
            <a:xfrm>
              <a:off x="997" y="2775"/>
              <a:ext cx="275" cy="260"/>
              <a:chOff x="997" y="2775"/>
              <a:chExt cx="275" cy="260"/>
            </a:xfrm>
          </p:grpSpPr>
          <p:sp>
            <p:nvSpPr>
              <p:cNvPr id="1723557" name="Freeform 188"/>
              <p:cNvSpPr>
                <a:spLocks noChangeArrowheads="1"/>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58" name="Freeform 189"/>
              <p:cNvSpPr>
                <a:spLocks noChangeArrowheads="1"/>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59" name="Freeform 190"/>
              <p:cNvSpPr>
                <a:spLocks noChangeArrowheads="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60" name="Freeform 191"/>
              <p:cNvSpPr>
                <a:spLocks noChangeArrowheads="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61" name="Rectangle 19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62" name="Rectangle 19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63" name="Rectangle 19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64" name="Line 195"/>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3565" name="Group 196"/>
              <p:cNvGrpSpPr>
                <a:grpSpLocks/>
              </p:cNvGrpSpPr>
              <p:nvPr/>
            </p:nvGrpSpPr>
            <p:grpSpPr bwMode="auto">
              <a:xfrm>
                <a:off x="997" y="2997"/>
                <a:ext cx="275" cy="38"/>
                <a:chOff x="997" y="2997"/>
                <a:chExt cx="275" cy="38"/>
              </a:xfrm>
            </p:grpSpPr>
            <p:sp>
              <p:nvSpPr>
                <p:cNvPr id="1723566" name="Freeform 197"/>
                <p:cNvSpPr>
                  <a:spLocks noChangeArrowheads="1"/>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67" name="Freeform 198"/>
                <p:cNvSpPr>
                  <a:spLocks noChangeArrowheads="1"/>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68" name="Rectangle 19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23569" name="Group 200"/>
          <p:cNvGrpSpPr>
            <a:grpSpLocks/>
          </p:cNvGrpSpPr>
          <p:nvPr/>
        </p:nvGrpSpPr>
        <p:grpSpPr bwMode="auto">
          <a:xfrm>
            <a:off x="539750" y="4135438"/>
            <a:ext cx="576263" cy="566737"/>
            <a:chOff x="590" y="3047"/>
            <a:chExt cx="282" cy="265"/>
          </a:xfrm>
        </p:grpSpPr>
        <p:grpSp>
          <p:nvGrpSpPr>
            <p:cNvPr id="1723570" name="Group 201"/>
            <p:cNvGrpSpPr>
              <a:grpSpLocks/>
            </p:cNvGrpSpPr>
            <p:nvPr/>
          </p:nvGrpSpPr>
          <p:grpSpPr bwMode="auto">
            <a:xfrm>
              <a:off x="596" y="3051"/>
              <a:ext cx="276" cy="261"/>
              <a:chOff x="596" y="3051"/>
              <a:chExt cx="276" cy="261"/>
            </a:xfrm>
          </p:grpSpPr>
          <p:sp>
            <p:nvSpPr>
              <p:cNvPr id="1723571" name="Freeform 202"/>
              <p:cNvSpPr>
                <a:spLocks noChangeArrowheads="1"/>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72" name="Freeform 203"/>
              <p:cNvSpPr>
                <a:spLocks noChangeArrowheads="1"/>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73" name="Freeform 204"/>
              <p:cNvSpPr>
                <a:spLocks noChangeArrowheads="1"/>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74" name="Freeform 205"/>
              <p:cNvSpPr>
                <a:spLocks noChangeArrowheads="1"/>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75" name="Rectangle 20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76" name="Rectangle 20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77" name="Rectangle 20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78" name="Line 209"/>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3579" name="Group 210"/>
              <p:cNvGrpSpPr>
                <a:grpSpLocks/>
              </p:cNvGrpSpPr>
              <p:nvPr/>
            </p:nvGrpSpPr>
            <p:grpSpPr bwMode="auto">
              <a:xfrm>
                <a:off x="596" y="3274"/>
                <a:ext cx="276" cy="38"/>
                <a:chOff x="596" y="3274"/>
                <a:chExt cx="276" cy="38"/>
              </a:xfrm>
            </p:grpSpPr>
            <p:sp>
              <p:nvSpPr>
                <p:cNvPr id="1723580" name="Freeform 211"/>
                <p:cNvSpPr>
                  <a:spLocks noChangeArrowheads="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Lst>
                  <a:ahLst/>
                  <a:cxnLst>
                    <a:cxn ang="0">
                      <a:pos x="T0" y="T1"/>
                    </a:cxn>
                    <a:cxn ang="0">
                      <a:pos x="T2" y="T3"/>
                    </a:cxn>
                    <a:cxn ang="0">
                      <a:pos x="T4" y="T5"/>
                    </a:cxn>
                    <a:cxn ang="0">
                      <a:pos x="T6" y="T7"/>
                    </a:cxn>
                    <a:cxn ang="0">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81" name="Freeform 212"/>
                <p:cNvSpPr>
                  <a:spLocks noChangeArrowheads="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Lst>
                  <a:ahLst/>
                  <a:cxnLst>
                    <a:cxn ang="0">
                      <a:pos x="T0" y="T1"/>
                    </a:cxn>
                    <a:cxn ang="0">
                      <a:pos x="T2" y="T3"/>
                    </a:cxn>
                    <a:cxn ang="0">
                      <a:pos x="T4" y="T5"/>
                    </a:cxn>
                    <a:cxn ang="0">
                      <a:pos x="T6" y="T7"/>
                    </a:cxn>
                    <a:cxn ang="0">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82" name="Rectangle 21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23583" name="Group 214"/>
            <p:cNvGrpSpPr>
              <a:grpSpLocks/>
            </p:cNvGrpSpPr>
            <p:nvPr/>
          </p:nvGrpSpPr>
          <p:grpSpPr bwMode="auto">
            <a:xfrm>
              <a:off x="590" y="3047"/>
              <a:ext cx="275" cy="260"/>
              <a:chOff x="590" y="3047"/>
              <a:chExt cx="275" cy="260"/>
            </a:xfrm>
          </p:grpSpPr>
          <p:sp>
            <p:nvSpPr>
              <p:cNvPr id="1723584" name="Freeform 215"/>
              <p:cNvSpPr>
                <a:spLocks noChangeArrowheads="1"/>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85" name="Freeform 216"/>
              <p:cNvSpPr>
                <a:spLocks noChangeArrowheads="1"/>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86" name="Freeform 217"/>
              <p:cNvSpPr>
                <a:spLocks noChangeArrowheads="1"/>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Lst>
                <a:ahLst/>
                <a:cxnLst>
                  <a:cxn ang="0">
                    <a:pos x="T0" y="T1"/>
                  </a:cxn>
                  <a:cxn ang="0">
                    <a:pos x="T2" y="T3"/>
                  </a:cxn>
                  <a:cxn ang="0">
                    <a:pos x="T4" y="T5"/>
                  </a:cxn>
                  <a:cxn ang="0">
                    <a:pos x="T6" y="T7"/>
                  </a:cxn>
                  <a:cxn ang="0">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87" name="Freeform 218"/>
              <p:cNvSpPr>
                <a:spLocks noChangeArrowheads="1"/>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Lst>
                <a:ahLst/>
                <a:cxnLst>
                  <a:cxn ang="0">
                    <a:pos x="T0" y="T1"/>
                  </a:cxn>
                  <a:cxn ang="0">
                    <a:pos x="T2" y="T3"/>
                  </a:cxn>
                  <a:cxn ang="0">
                    <a:pos x="T4" y="T5"/>
                  </a:cxn>
                  <a:cxn ang="0">
                    <a:pos x="T6" y="T7"/>
                  </a:cxn>
                  <a:cxn ang="0">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88" name="Rectangle 21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89" name="Rectangle 22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90" name="Rectangle 22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591" name="Line 222"/>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3592" name="Group 223"/>
              <p:cNvGrpSpPr>
                <a:grpSpLocks/>
              </p:cNvGrpSpPr>
              <p:nvPr/>
            </p:nvGrpSpPr>
            <p:grpSpPr bwMode="auto">
              <a:xfrm>
                <a:off x="590" y="3269"/>
                <a:ext cx="275" cy="38"/>
                <a:chOff x="590" y="3269"/>
                <a:chExt cx="275" cy="38"/>
              </a:xfrm>
            </p:grpSpPr>
            <p:sp>
              <p:nvSpPr>
                <p:cNvPr id="1723593" name="Freeform 224"/>
                <p:cNvSpPr>
                  <a:spLocks noChangeArrowheads="1"/>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94" name="Freeform 225"/>
                <p:cNvSpPr>
                  <a:spLocks noChangeArrowheads="1"/>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95" name="Rectangle 22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23596" name="Group 227"/>
          <p:cNvGrpSpPr>
            <a:grpSpLocks/>
          </p:cNvGrpSpPr>
          <p:nvPr/>
        </p:nvGrpSpPr>
        <p:grpSpPr bwMode="auto">
          <a:xfrm>
            <a:off x="1187450" y="4814888"/>
            <a:ext cx="576263" cy="566737"/>
            <a:chOff x="906" y="3365"/>
            <a:chExt cx="281" cy="265"/>
          </a:xfrm>
        </p:grpSpPr>
        <p:grpSp>
          <p:nvGrpSpPr>
            <p:cNvPr id="1723597" name="Group 228"/>
            <p:cNvGrpSpPr>
              <a:grpSpLocks/>
            </p:cNvGrpSpPr>
            <p:nvPr/>
          </p:nvGrpSpPr>
          <p:grpSpPr bwMode="auto">
            <a:xfrm>
              <a:off x="912" y="3369"/>
              <a:ext cx="275" cy="261"/>
              <a:chOff x="912" y="3369"/>
              <a:chExt cx="275" cy="261"/>
            </a:xfrm>
          </p:grpSpPr>
          <p:sp>
            <p:nvSpPr>
              <p:cNvPr id="1723598" name="Freeform 229"/>
              <p:cNvSpPr>
                <a:spLocks noChangeArrowheads="1"/>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599" name="Freeform 230"/>
              <p:cNvSpPr>
                <a:spLocks noChangeArrowheads="1"/>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00" name="Freeform 231"/>
              <p:cNvSpPr>
                <a:spLocks noChangeArrowheads="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01" name="Freeform 232"/>
              <p:cNvSpPr>
                <a:spLocks noChangeArrowheads="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02" name="Rectangle 23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03" name="Rectangle 23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04" name="Rectangle 23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05" name="Line 236"/>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3606" name="Group 237"/>
              <p:cNvGrpSpPr>
                <a:grpSpLocks/>
              </p:cNvGrpSpPr>
              <p:nvPr/>
            </p:nvGrpSpPr>
            <p:grpSpPr bwMode="auto">
              <a:xfrm>
                <a:off x="912" y="3592"/>
                <a:ext cx="275" cy="38"/>
                <a:chOff x="912" y="3592"/>
                <a:chExt cx="275" cy="38"/>
              </a:xfrm>
            </p:grpSpPr>
            <p:sp>
              <p:nvSpPr>
                <p:cNvPr id="1723607" name="Freeform 238"/>
                <p:cNvSpPr>
                  <a:spLocks noChangeArrowheads="1"/>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08" name="Freeform 239"/>
                <p:cNvSpPr>
                  <a:spLocks noChangeArrowheads="1"/>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09" name="Rectangle 24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23610" name="Group 241"/>
            <p:cNvGrpSpPr>
              <a:grpSpLocks/>
            </p:cNvGrpSpPr>
            <p:nvPr/>
          </p:nvGrpSpPr>
          <p:grpSpPr bwMode="auto">
            <a:xfrm>
              <a:off x="906" y="3365"/>
              <a:ext cx="275" cy="261"/>
              <a:chOff x="906" y="3365"/>
              <a:chExt cx="275" cy="261"/>
            </a:xfrm>
          </p:grpSpPr>
          <p:sp>
            <p:nvSpPr>
              <p:cNvPr id="1723611" name="Freeform 242"/>
              <p:cNvSpPr>
                <a:spLocks noChangeArrowheads="1"/>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12" name="Freeform 243"/>
              <p:cNvSpPr>
                <a:spLocks noChangeArrowheads="1"/>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13" name="Freeform 244"/>
              <p:cNvSpPr>
                <a:spLocks noChangeArrowheads="1"/>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14" name="Freeform 245"/>
              <p:cNvSpPr>
                <a:spLocks noChangeArrowheads="1"/>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15" name="Rectangle 24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16" name="Rectangle 24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17" name="Rectangle 24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18" name="Line 249"/>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3619" name="Group 250"/>
              <p:cNvGrpSpPr>
                <a:grpSpLocks/>
              </p:cNvGrpSpPr>
              <p:nvPr/>
            </p:nvGrpSpPr>
            <p:grpSpPr bwMode="auto">
              <a:xfrm>
                <a:off x="906" y="3587"/>
                <a:ext cx="275" cy="39"/>
                <a:chOff x="906" y="3587"/>
                <a:chExt cx="275" cy="39"/>
              </a:xfrm>
            </p:grpSpPr>
            <p:sp>
              <p:nvSpPr>
                <p:cNvPr id="1723620" name="Freeform 251"/>
                <p:cNvSpPr>
                  <a:spLocks noChangeArrowheads="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21" name="Freeform 252"/>
                <p:cNvSpPr>
                  <a:spLocks noChangeArrowheads="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22" name="Rectangle 25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sp>
        <p:nvSpPr>
          <p:cNvPr id="1723623" name="Rectangle 254"/>
          <p:cNvSpPr>
            <a:spLocks noChangeArrowheads="1"/>
          </p:cNvSpPr>
          <p:nvPr/>
        </p:nvSpPr>
        <p:spPr bwMode="auto">
          <a:xfrm>
            <a:off x="2608263" y="3257550"/>
            <a:ext cx="963612"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24" name="Rectangle 255"/>
          <p:cNvSpPr>
            <a:spLocks noChangeArrowheads="1"/>
          </p:cNvSpPr>
          <p:nvPr/>
        </p:nvSpPr>
        <p:spPr bwMode="auto">
          <a:xfrm>
            <a:off x="2770188" y="3354388"/>
            <a:ext cx="7699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校园网</a:t>
            </a:r>
          </a:p>
        </p:txBody>
      </p:sp>
      <p:grpSp>
        <p:nvGrpSpPr>
          <p:cNvPr id="1723625" name="Group 257"/>
          <p:cNvGrpSpPr>
            <a:grpSpLocks/>
          </p:cNvGrpSpPr>
          <p:nvPr/>
        </p:nvGrpSpPr>
        <p:grpSpPr bwMode="auto">
          <a:xfrm>
            <a:off x="9034463" y="2617788"/>
            <a:ext cx="442912" cy="723900"/>
            <a:chOff x="4305" y="2335"/>
            <a:chExt cx="216" cy="339"/>
          </a:xfrm>
        </p:grpSpPr>
        <p:grpSp>
          <p:nvGrpSpPr>
            <p:cNvPr id="1723626" name="Group 258"/>
            <p:cNvGrpSpPr>
              <a:grpSpLocks/>
            </p:cNvGrpSpPr>
            <p:nvPr/>
          </p:nvGrpSpPr>
          <p:grpSpPr bwMode="auto">
            <a:xfrm>
              <a:off x="4310" y="2341"/>
              <a:ext cx="211" cy="333"/>
              <a:chOff x="4310" y="2341"/>
              <a:chExt cx="211" cy="333"/>
            </a:xfrm>
          </p:grpSpPr>
          <p:sp>
            <p:nvSpPr>
              <p:cNvPr id="1723627" name="Freeform 259"/>
              <p:cNvSpPr>
                <a:spLocks noChangeArrowheads="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Lst>
                <a:ahLst/>
                <a:cxnLst>
                  <a:cxn ang="0">
                    <a:pos x="T0" y="T1"/>
                  </a:cxn>
                  <a:cxn ang="0">
                    <a:pos x="T2" y="T3"/>
                  </a:cxn>
                  <a:cxn ang="0">
                    <a:pos x="T4" y="T5"/>
                  </a:cxn>
                  <a:cxn ang="0">
                    <a:pos x="T6" y="T7"/>
                  </a:cxn>
                  <a:cxn ang="0">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28" name="Freeform 260"/>
              <p:cNvSpPr>
                <a:spLocks noChangeArrowheads="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Lst>
                <a:ahLst/>
                <a:cxnLst>
                  <a:cxn ang="0">
                    <a:pos x="T0" y="T1"/>
                  </a:cxn>
                  <a:cxn ang="0">
                    <a:pos x="T2" y="T3"/>
                  </a:cxn>
                  <a:cxn ang="0">
                    <a:pos x="T4" y="T5"/>
                  </a:cxn>
                  <a:cxn ang="0">
                    <a:pos x="T6" y="T7"/>
                  </a:cxn>
                  <a:cxn ang="0">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29" name="Freeform 261"/>
              <p:cNvSpPr>
                <a:spLocks noChangeArrowheads="1"/>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30" name="Freeform 262"/>
              <p:cNvSpPr>
                <a:spLocks noChangeArrowheads="1"/>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31" name="Rectangle 263"/>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32" name="Rectangle 264"/>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33" name="Line 265"/>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634" name="Line 266"/>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635" name="Line 267"/>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3636" name="Group 268"/>
            <p:cNvGrpSpPr>
              <a:grpSpLocks/>
            </p:cNvGrpSpPr>
            <p:nvPr/>
          </p:nvGrpSpPr>
          <p:grpSpPr bwMode="auto">
            <a:xfrm>
              <a:off x="4305" y="2335"/>
              <a:ext cx="211" cy="332"/>
              <a:chOff x="4305" y="2335"/>
              <a:chExt cx="211" cy="332"/>
            </a:xfrm>
          </p:grpSpPr>
          <p:sp>
            <p:nvSpPr>
              <p:cNvPr id="1723637" name="Freeform 269"/>
              <p:cNvSpPr>
                <a:spLocks noChangeArrowheads="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Lst>
                <a:ahLst/>
                <a:cxnLst>
                  <a:cxn ang="0">
                    <a:pos x="T0" y="T1"/>
                  </a:cxn>
                  <a:cxn ang="0">
                    <a:pos x="T2" y="T3"/>
                  </a:cxn>
                  <a:cxn ang="0">
                    <a:pos x="T4" y="T5"/>
                  </a:cxn>
                  <a:cxn ang="0">
                    <a:pos x="T6" y="T7"/>
                  </a:cxn>
                  <a:cxn ang="0">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38" name="Freeform 270"/>
              <p:cNvSpPr>
                <a:spLocks noChangeArrowheads="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Lst>
                <a:ahLst/>
                <a:cxnLst>
                  <a:cxn ang="0">
                    <a:pos x="T0" y="T1"/>
                  </a:cxn>
                  <a:cxn ang="0">
                    <a:pos x="T2" y="T3"/>
                  </a:cxn>
                  <a:cxn ang="0">
                    <a:pos x="T4" y="T5"/>
                  </a:cxn>
                  <a:cxn ang="0">
                    <a:pos x="T6" y="T7"/>
                  </a:cxn>
                  <a:cxn ang="0">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39" name="Freeform 271"/>
              <p:cNvSpPr>
                <a:spLocks noChangeArrowheads="1"/>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40" name="Freeform 272"/>
              <p:cNvSpPr>
                <a:spLocks noChangeArrowheads="1"/>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41" name="Rectangle 273"/>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42" name="Rectangle 274"/>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43" name="Line 275"/>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644" name="Line 276"/>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645" name="Line 277"/>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3646" name="Rectangle 279"/>
          <p:cNvSpPr>
            <a:spLocks noChangeArrowheads="1"/>
          </p:cNvSpPr>
          <p:nvPr/>
        </p:nvSpPr>
        <p:spPr bwMode="auto">
          <a:xfrm>
            <a:off x="7581900" y="2792413"/>
            <a:ext cx="12811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源点服务器</a:t>
            </a:r>
          </a:p>
        </p:txBody>
      </p:sp>
      <p:sp>
        <p:nvSpPr>
          <p:cNvPr id="1723647" name="Rectangle 280"/>
          <p:cNvSpPr>
            <a:spLocks noChangeArrowheads="1"/>
          </p:cNvSpPr>
          <p:nvPr/>
        </p:nvSpPr>
        <p:spPr bwMode="auto">
          <a:xfrm>
            <a:off x="4645025" y="3894138"/>
            <a:ext cx="92233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48" name="Rectangle 281"/>
          <p:cNvSpPr>
            <a:spLocks noChangeArrowheads="1"/>
          </p:cNvSpPr>
          <p:nvPr/>
        </p:nvSpPr>
        <p:spPr bwMode="auto">
          <a:xfrm>
            <a:off x="5384800" y="3965575"/>
            <a:ext cx="952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2 Mbit/s</a:t>
            </a:r>
          </a:p>
        </p:txBody>
      </p:sp>
      <p:grpSp>
        <p:nvGrpSpPr>
          <p:cNvPr id="1723649" name="Group 282"/>
          <p:cNvGrpSpPr>
            <a:grpSpLocks/>
          </p:cNvGrpSpPr>
          <p:nvPr/>
        </p:nvGrpSpPr>
        <p:grpSpPr bwMode="auto">
          <a:xfrm>
            <a:off x="6780213" y="4106863"/>
            <a:ext cx="630237" cy="409575"/>
            <a:chOff x="3202" y="3033"/>
            <a:chExt cx="309" cy="192"/>
          </a:xfrm>
        </p:grpSpPr>
        <p:sp>
          <p:nvSpPr>
            <p:cNvPr id="1723650" name="Oval 283"/>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sp>
          <p:nvSpPr>
            <p:cNvPr id="1723651" name="Rectangle 284"/>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52" name="Rectangle 285"/>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53" name="Oval 286"/>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grpSp>
          <p:nvGrpSpPr>
            <p:cNvPr id="1723654" name="Group 287"/>
            <p:cNvGrpSpPr>
              <a:grpSpLocks/>
            </p:cNvGrpSpPr>
            <p:nvPr/>
          </p:nvGrpSpPr>
          <p:grpSpPr bwMode="auto">
            <a:xfrm>
              <a:off x="3249" y="3046"/>
              <a:ext cx="214" cy="86"/>
              <a:chOff x="3249" y="3046"/>
              <a:chExt cx="214" cy="86"/>
            </a:xfrm>
          </p:grpSpPr>
          <p:grpSp>
            <p:nvGrpSpPr>
              <p:cNvPr id="1723655" name="Group 288"/>
              <p:cNvGrpSpPr>
                <a:grpSpLocks/>
              </p:cNvGrpSpPr>
              <p:nvPr/>
            </p:nvGrpSpPr>
            <p:grpSpPr bwMode="auto">
              <a:xfrm>
                <a:off x="3249" y="3046"/>
                <a:ext cx="212" cy="84"/>
                <a:chOff x="3249" y="3046"/>
                <a:chExt cx="212" cy="84"/>
              </a:xfrm>
            </p:grpSpPr>
            <p:sp>
              <p:nvSpPr>
                <p:cNvPr id="1723656" name="Freeform 289"/>
                <p:cNvSpPr>
                  <a:spLocks noChangeArrowheads="1"/>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57" name="Freeform 290"/>
                <p:cNvSpPr>
                  <a:spLocks noChangeArrowheads="1"/>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58" name="Freeform 291"/>
                <p:cNvSpPr>
                  <a:spLocks noChangeArrowheads="1"/>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59" name="Freeform 292"/>
                <p:cNvSpPr>
                  <a:spLocks noChangeArrowheads="1"/>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60" name="Freeform 293"/>
                <p:cNvSpPr>
                  <a:spLocks noChangeArrowheads="1"/>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61" name="Freeform 294"/>
                <p:cNvSpPr>
                  <a:spLocks noChangeArrowheads="1"/>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62" name="Freeform 295"/>
                <p:cNvSpPr>
                  <a:spLocks noChangeArrowheads="1"/>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63" name="Freeform 296"/>
                <p:cNvSpPr>
                  <a:spLocks noChangeArrowheads="1"/>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3664" name="Group 297"/>
              <p:cNvGrpSpPr>
                <a:grpSpLocks/>
              </p:cNvGrpSpPr>
              <p:nvPr/>
            </p:nvGrpSpPr>
            <p:grpSpPr bwMode="auto">
              <a:xfrm>
                <a:off x="3251" y="3048"/>
                <a:ext cx="212" cy="84"/>
                <a:chOff x="3251" y="3048"/>
                <a:chExt cx="212" cy="84"/>
              </a:xfrm>
            </p:grpSpPr>
            <p:sp>
              <p:nvSpPr>
                <p:cNvPr id="1723665" name="Freeform 298"/>
                <p:cNvSpPr>
                  <a:spLocks noChangeArrowheads="1"/>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66" name="Freeform 299"/>
                <p:cNvSpPr>
                  <a:spLocks noChangeArrowheads="1"/>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67" name="Freeform 300"/>
                <p:cNvSpPr>
                  <a:spLocks noChangeArrowheads="1"/>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68" name="Freeform 301"/>
                <p:cNvSpPr>
                  <a:spLocks noChangeArrowheads="1"/>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69" name="Freeform 302"/>
                <p:cNvSpPr>
                  <a:spLocks noChangeArrowheads="1"/>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70" name="Freeform 303"/>
                <p:cNvSpPr>
                  <a:spLocks noChangeArrowheads="1"/>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71" name="Freeform 304"/>
                <p:cNvSpPr>
                  <a:spLocks noChangeArrowheads="1"/>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3672" name="Freeform 305"/>
                <p:cNvSpPr>
                  <a:spLocks noChangeArrowheads="1"/>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3673" name="Line 306"/>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674" name="Line 307"/>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723675" name="Rectangle 308"/>
          <p:cNvSpPr>
            <a:spLocks noChangeArrowheads="1"/>
          </p:cNvSpPr>
          <p:nvPr/>
        </p:nvSpPr>
        <p:spPr bwMode="auto">
          <a:xfrm>
            <a:off x="7423150" y="3643313"/>
            <a:ext cx="9652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76" name="Rectangle 309"/>
          <p:cNvSpPr>
            <a:spLocks noChangeArrowheads="1"/>
          </p:cNvSpPr>
          <p:nvPr/>
        </p:nvSpPr>
        <p:spPr bwMode="auto">
          <a:xfrm>
            <a:off x="7859713" y="4183063"/>
            <a:ext cx="7699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互联网</a:t>
            </a:r>
          </a:p>
        </p:txBody>
      </p:sp>
      <p:sp>
        <p:nvSpPr>
          <p:cNvPr id="1723677" name="Rectangle 310"/>
          <p:cNvSpPr>
            <a:spLocks noChangeArrowheads="1"/>
          </p:cNvSpPr>
          <p:nvPr/>
        </p:nvSpPr>
        <p:spPr bwMode="auto">
          <a:xfrm>
            <a:off x="4089400" y="3740150"/>
            <a:ext cx="43338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78" name="Rectangle 311"/>
          <p:cNvSpPr>
            <a:spLocks noChangeArrowheads="1"/>
          </p:cNvSpPr>
          <p:nvPr/>
        </p:nvSpPr>
        <p:spPr bwMode="auto">
          <a:xfrm>
            <a:off x="3162300" y="4511675"/>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79" name="Rectangle 312"/>
          <p:cNvSpPr>
            <a:spLocks noChangeArrowheads="1"/>
          </p:cNvSpPr>
          <p:nvPr/>
        </p:nvSpPr>
        <p:spPr bwMode="auto">
          <a:xfrm>
            <a:off x="1858963" y="4125913"/>
            <a:ext cx="47307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3680" name="Rectangle 313"/>
          <p:cNvSpPr>
            <a:spLocks noChangeArrowheads="1"/>
          </p:cNvSpPr>
          <p:nvPr/>
        </p:nvSpPr>
        <p:spPr bwMode="auto">
          <a:xfrm>
            <a:off x="414338" y="3754438"/>
            <a:ext cx="7699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浏览器</a:t>
            </a:r>
          </a:p>
        </p:txBody>
      </p:sp>
      <p:sp>
        <p:nvSpPr>
          <p:cNvPr id="1723681" name="Rectangle 314"/>
          <p:cNvSpPr>
            <a:spLocks noChangeArrowheads="1"/>
          </p:cNvSpPr>
          <p:nvPr/>
        </p:nvSpPr>
        <p:spPr bwMode="auto">
          <a:xfrm>
            <a:off x="4084638" y="3767138"/>
            <a:ext cx="2809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1</a:t>
            </a:r>
          </a:p>
        </p:txBody>
      </p:sp>
      <p:sp>
        <p:nvSpPr>
          <p:cNvPr id="1723682" name="Rectangle 315"/>
          <p:cNvSpPr>
            <a:spLocks noChangeArrowheads="1"/>
          </p:cNvSpPr>
          <p:nvPr/>
        </p:nvSpPr>
        <p:spPr bwMode="auto">
          <a:xfrm>
            <a:off x="6924675" y="3768725"/>
            <a:ext cx="279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2</a:t>
            </a:r>
          </a:p>
        </p:txBody>
      </p:sp>
      <p:sp>
        <p:nvSpPr>
          <p:cNvPr id="1723683" name="Freeform 316"/>
          <p:cNvSpPr>
            <a:spLocks noChangeArrowheads="1"/>
          </p:cNvSpPr>
          <p:nvPr/>
        </p:nvSpPr>
        <p:spPr bwMode="auto">
          <a:xfrm>
            <a:off x="4202113" y="3260725"/>
            <a:ext cx="5024437" cy="1162050"/>
          </a:xfrm>
          <a:custGeom>
            <a:avLst/>
            <a:gdLst>
              <a:gd name="T0" fmla="*/ 0 w 2922"/>
              <a:gd name="T1" fmla="*/ 718 h 732"/>
              <a:gd name="T2" fmla="*/ 765 w 2922"/>
              <a:gd name="T3" fmla="*/ 712 h 732"/>
              <a:gd name="T4" fmla="*/ 1702 w 2922"/>
              <a:gd name="T5" fmla="*/ 700 h 732"/>
              <a:gd name="T6" fmla="*/ 2324 w 2922"/>
              <a:gd name="T7" fmla="*/ 520 h 732"/>
              <a:gd name="T8" fmla="*/ 2922 w 2922"/>
              <a:gd name="T9" fmla="*/ 0 h 732"/>
            </a:gdLst>
            <a:ahLst/>
            <a:cxnLst>
              <a:cxn ang="0">
                <a:pos x="T0" y="T1"/>
              </a:cxn>
              <a:cxn ang="0">
                <a:pos x="T2" y="T3"/>
              </a:cxn>
              <a:cxn ang="0">
                <a:pos x="T4" y="T5"/>
              </a:cxn>
              <a:cxn ang="0">
                <a:pos x="T6" y="T7"/>
              </a:cxn>
              <a:cxn ang="0">
                <a:pos x="T8" y="T9"/>
              </a:cxn>
            </a:cxnLst>
            <a:rect l="0" t="0" r="r" b="b"/>
            <a:pathLst>
              <a:path w="2922" h="732">
                <a:moveTo>
                  <a:pt x="0" y="718"/>
                </a:moveTo>
                <a:cubicBezTo>
                  <a:pt x="127" y="717"/>
                  <a:pt x="481" y="715"/>
                  <a:pt x="765" y="712"/>
                </a:cubicBezTo>
                <a:cubicBezTo>
                  <a:pt x="1049" y="709"/>
                  <a:pt x="1442" y="732"/>
                  <a:pt x="1702" y="700"/>
                </a:cubicBezTo>
                <a:cubicBezTo>
                  <a:pt x="1962" y="668"/>
                  <a:pt x="2121" y="637"/>
                  <a:pt x="2324" y="520"/>
                </a:cubicBezTo>
                <a:cubicBezTo>
                  <a:pt x="2527" y="403"/>
                  <a:pt x="2798" y="108"/>
                  <a:pt x="2922" y="0"/>
                </a:cubicBezTo>
              </a:path>
            </a:pathLst>
          </a:custGeom>
          <a:noFill/>
          <a:ln w="76200">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558407" name="Group 327"/>
          <p:cNvGrpSpPr>
            <a:grpSpLocks/>
          </p:cNvGrpSpPr>
          <p:nvPr/>
        </p:nvGrpSpPr>
        <p:grpSpPr bwMode="auto">
          <a:xfrm>
            <a:off x="5224463" y="2905125"/>
            <a:ext cx="1484312" cy="717550"/>
            <a:chOff x="2981" y="1888"/>
            <a:chExt cx="863" cy="452"/>
          </a:xfrm>
        </p:grpSpPr>
        <p:sp>
          <p:nvSpPr>
            <p:cNvPr id="1723685" name="AutoShape 318"/>
            <p:cNvSpPr>
              <a:spLocks noChangeArrowheads="1"/>
            </p:cNvSpPr>
            <p:nvPr/>
          </p:nvSpPr>
          <p:spPr bwMode="auto">
            <a:xfrm>
              <a:off x="2981" y="1888"/>
              <a:ext cx="863" cy="452"/>
            </a:xfrm>
            <a:prstGeom prst="wedgeRoundRectCallout">
              <a:avLst>
                <a:gd name="adj1" fmla="val -89051"/>
                <a:gd name="adj2" fmla="val 144468"/>
                <a:gd name="adj3" fmla="val 16667"/>
              </a:avLst>
            </a:prstGeom>
            <a:solidFill>
              <a:srgbClr val="FFFF99"/>
            </a:solidFill>
            <a:ln w="9525">
              <a:solidFill>
                <a:schemeClr val="tx1"/>
              </a:solidFill>
              <a:miter lim="800000"/>
              <a:headEnd/>
              <a:tailEnd/>
            </a:ln>
            <a:effectLst>
              <a:outerShdw dist="35921" dir="2700000" algn="ctr" rotWithShape="0">
                <a:schemeClr val="bg2"/>
              </a:outerShdw>
            </a:effectLst>
          </p:spPr>
          <p:txBody>
            <a:bodyPr/>
            <a:lstStyle/>
            <a:p>
              <a:pPr algn="ctr"/>
              <a:endParaRPr lang="zh-CN" altLang="zh-CN" sz="3200" b="1">
                <a:solidFill>
                  <a:srgbClr val="000099"/>
                </a:solidFill>
                <a:ea typeface="黑体" panose="02010609060101010101" pitchFamily="49" charset="-122"/>
              </a:endParaRPr>
            </a:p>
          </p:txBody>
        </p:sp>
        <p:sp>
          <p:nvSpPr>
            <p:cNvPr id="1723686" name="Rectangle 319"/>
            <p:cNvSpPr>
              <a:spLocks noChangeArrowheads="1"/>
            </p:cNvSpPr>
            <p:nvPr/>
          </p:nvSpPr>
          <p:spPr bwMode="auto">
            <a:xfrm>
              <a:off x="3016" y="1906"/>
              <a:ext cx="74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这条链路上</a:t>
              </a:r>
            </a:p>
            <a:p>
              <a:r>
                <a:rPr lang="zh-CN" altLang="en-US" sz="2000" b="1">
                  <a:solidFill>
                    <a:srgbClr val="000099"/>
                  </a:solidFill>
                  <a:ea typeface="黑体" panose="02010609060101010101" pitchFamily="49" charset="-122"/>
                </a:rPr>
                <a:t>的时延很大</a:t>
              </a:r>
            </a:p>
          </p:txBody>
        </p:sp>
      </p:grpSp>
      <p:sp>
        <p:nvSpPr>
          <p:cNvPr id="1723687" name="Freeform 320"/>
          <p:cNvSpPr>
            <a:spLocks noChangeArrowheads="1"/>
          </p:cNvSpPr>
          <p:nvPr/>
        </p:nvSpPr>
        <p:spPr bwMode="auto">
          <a:xfrm>
            <a:off x="1697038" y="3101975"/>
            <a:ext cx="2136775" cy="1160463"/>
          </a:xfrm>
          <a:custGeom>
            <a:avLst/>
            <a:gdLst>
              <a:gd name="T0" fmla="*/ 0 w 620"/>
              <a:gd name="T1" fmla="*/ 0 h 909"/>
              <a:gd name="T2" fmla="*/ 620 w 620"/>
              <a:gd name="T3" fmla="*/ 909 h 909"/>
            </a:gdLst>
            <a:ahLst/>
            <a:cxnLst>
              <a:cxn ang="0">
                <a:pos x="T0" y="T1"/>
              </a:cxn>
              <a:cxn ang="0">
                <a:pos x="T2" y="T3"/>
              </a:cxn>
            </a:cxnLst>
            <a:rect l="0" t="0" r="r" b="b"/>
            <a:pathLst>
              <a:path w="620" h="909">
                <a:moveTo>
                  <a:pt x="0" y="0"/>
                </a:moveTo>
                <a:cubicBezTo>
                  <a:pt x="103" y="151"/>
                  <a:pt x="491" y="720"/>
                  <a:pt x="620" y="909"/>
                </a:cubicBezTo>
              </a:path>
            </a:pathLst>
          </a:custGeom>
          <a:noFill/>
          <a:ln w="38100">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688" name="Freeform 321"/>
          <p:cNvSpPr>
            <a:spLocks noChangeArrowheads="1"/>
          </p:cNvSpPr>
          <p:nvPr/>
        </p:nvSpPr>
        <p:spPr bwMode="auto">
          <a:xfrm>
            <a:off x="1882775" y="3876675"/>
            <a:ext cx="1855788" cy="484188"/>
          </a:xfrm>
          <a:custGeom>
            <a:avLst/>
            <a:gdLst>
              <a:gd name="T0" fmla="*/ 0 w 620"/>
              <a:gd name="T1" fmla="*/ 0 h 909"/>
              <a:gd name="T2" fmla="*/ 620 w 620"/>
              <a:gd name="T3" fmla="*/ 909 h 909"/>
            </a:gdLst>
            <a:ahLst/>
            <a:cxnLst>
              <a:cxn ang="0">
                <a:pos x="T0" y="T1"/>
              </a:cxn>
              <a:cxn ang="0">
                <a:pos x="T2" y="T3"/>
              </a:cxn>
            </a:cxnLst>
            <a:rect l="0" t="0" r="r" b="b"/>
            <a:pathLst>
              <a:path w="620" h="909">
                <a:moveTo>
                  <a:pt x="0" y="0"/>
                </a:moveTo>
                <a:cubicBezTo>
                  <a:pt x="103" y="151"/>
                  <a:pt x="491" y="720"/>
                  <a:pt x="620" y="909"/>
                </a:cubicBezTo>
              </a:path>
            </a:pathLst>
          </a:custGeom>
          <a:noFill/>
          <a:ln w="38100">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689" name="Freeform 322"/>
          <p:cNvSpPr>
            <a:spLocks noChangeArrowheads="1"/>
          </p:cNvSpPr>
          <p:nvPr/>
        </p:nvSpPr>
        <p:spPr bwMode="auto">
          <a:xfrm>
            <a:off x="1035050" y="4416425"/>
            <a:ext cx="2749550" cy="38100"/>
          </a:xfrm>
          <a:custGeom>
            <a:avLst/>
            <a:gdLst>
              <a:gd name="T0" fmla="*/ 0 w 1344"/>
              <a:gd name="T1" fmla="*/ 17 h 17"/>
              <a:gd name="T2" fmla="*/ 1344 w 1344"/>
              <a:gd name="T3" fmla="*/ 0 h 17"/>
            </a:gdLst>
            <a:ahLst/>
            <a:cxnLst>
              <a:cxn ang="0">
                <a:pos x="T0" y="T1"/>
              </a:cxn>
              <a:cxn ang="0">
                <a:pos x="T2" y="T3"/>
              </a:cxn>
            </a:cxnLst>
            <a:rect l="0" t="0" r="r" b="b"/>
            <a:pathLst>
              <a:path w="1344" h="17">
                <a:moveTo>
                  <a:pt x="0" y="17"/>
                </a:moveTo>
                <a:cubicBezTo>
                  <a:pt x="224" y="14"/>
                  <a:pt x="1064" y="4"/>
                  <a:pt x="1344" y="0"/>
                </a:cubicBezTo>
              </a:path>
            </a:pathLst>
          </a:custGeom>
          <a:noFill/>
          <a:ln w="38100">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690" name="Freeform 323"/>
          <p:cNvSpPr>
            <a:spLocks noChangeArrowheads="1"/>
          </p:cNvSpPr>
          <p:nvPr/>
        </p:nvSpPr>
        <p:spPr bwMode="auto">
          <a:xfrm>
            <a:off x="1697038" y="4486275"/>
            <a:ext cx="2154237" cy="647700"/>
          </a:xfrm>
          <a:custGeom>
            <a:avLst/>
            <a:gdLst>
              <a:gd name="T0" fmla="*/ 0 w 1052"/>
              <a:gd name="T1" fmla="*/ 304 h 304"/>
              <a:gd name="T2" fmla="*/ 1052 w 1052"/>
              <a:gd name="T3" fmla="*/ 0 h 304"/>
            </a:gdLst>
            <a:ahLst/>
            <a:cxnLst>
              <a:cxn ang="0">
                <a:pos x="T0" y="T1"/>
              </a:cxn>
              <a:cxn ang="0">
                <a:pos x="T2" y="T3"/>
              </a:cxn>
            </a:cxnLst>
            <a:rect l="0" t="0" r="r" b="b"/>
            <a:pathLst>
              <a:path w="1052" h="304">
                <a:moveTo>
                  <a:pt x="0" y="304"/>
                </a:moveTo>
                <a:cubicBezTo>
                  <a:pt x="175" y="253"/>
                  <a:pt x="833" y="63"/>
                  <a:pt x="1052" y="0"/>
                </a:cubicBezTo>
              </a:path>
            </a:pathLst>
          </a:custGeom>
          <a:noFill/>
          <a:ln w="38100">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3691" name="Text Box 326"/>
          <p:cNvSpPr txBox="1">
            <a:spLocks noChangeArrowheads="1"/>
          </p:cNvSpPr>
          <p:nvPr/>
        </p:nvSpPr>
        <p:spPr bwMode="auto">
          <a:xfrm>
            <a:off x="2720975" y="1844675"/>
            <a:ext cx="4699000" cy="584200"/>
          </a:xfrm>
          <a:prstGeom prst="rect">
            <a:avLst/>
          </a:prstGeom>
          <a:solidFill>
            <a:srgbClr val="CCECFF"/>
          </a:solidFill>
          <a:ln w="9525">
            <a:solidFill>
              <a:srgbClr val="333399"/>
            </a:solidFill>
            <a:miter lim="800000"/>
            <a:headEnd/>
            <a:tailEnd/>
          </a:ln>
        </p:spPr>
        <p:txBody>
          <a:bodyPr wrap="none">
            <a:spAutoFit/>
          </a:bodyPr>
          <a:lstStyle/>
          <a:p>
            <a:r>
              <a:rPr lang="zh-CN" altLang="en-US" sz="3200" b="1">
                <a:solidFill>
                  <a:srgbClr val="000099"/>
                </a:solidFill>
                <a:latin typeface="Tahoma" panose="020B0604030504040204" pitchFamily="34" charset="0"/>
                <a:ea typeface="黑体" panose="02010609060101010101" pitchFamily="49" charset="-122"/>
              </a:rPr>
              <a:t>没有使用高速缓存的情况</a:t>
            </a:r>
          </a:p>
        </p:txBody>
      </p:sp>
      <p:grpSp>
        <p:nvGrpSpPr>
          <p:cNvPr id="558410" name="Group 330"/>
          <p:cNvGrpSpPr>
            <a:grpSpLocks/>
          </p:cNvGrpSpPr>
          <p:nvPr/>
        </p:nvGrpSpPr>
        <p:grpSpPr bwMode="auto">
          <a:xfrm>
            <a:off x="4305300" y="4273550"/>
            <a:ext cx="3057525" cy="1746250"/>
            <a:chOff x="2446" y="2750"/>
            <a:chExt cx="1778" cy="1100"/>
          </a:xfrm>
        </p:grpSpPr>
        <p:sp>
          <p:nvSpPr>
            <p:cNvPr id="1723693" name="Text Box 328"/>
            <p:cNvSpPr txBox="1">
              <a:spLocks noChangeArrowheads="1"/>
            </p:cNvSpPr>
            <p:nvPr/>
          </p:nvSpPr>
          <p:spPr bwMode="auto">
            <a:xfrm>
              <a:off x="2446" y="3249"/>
              <a:ext cx="177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800" b="1">
                  <a:solidFill>
                    <a:srgbClr val="000099"/>
                  </a:solidFill>
                  <a:latin typeface="Tahoma" panose="020B0604030504040204" pitchFamily="34" charset="0"/>
                  <a:ea typeface="黑体" panose="02010609060101010101" pitchFamily="49" charset="-122"/>
                </a:rPr>
                <a:t>所有万维网通信量</a:t>
              </a:r>
            </a:p>
            <a:p>
              <a:pPr algn="ctr"/>
              <a:r>
                <a:rPr lang="zh-CN" altLang="en-US" sz="2800" b="1">
                  <a:solidFill>
                    <a:srgbClr val="000099"/>
                  </a:solidFill>
                  <a:latin typeface="Tahoma" panose="020B0604030504040204" pitchFamily="34" charset="0"/>
                  <a:ea typeface="黑体" panose="02010609060101010101" pitchFamily="49" charset="-122"/>
                </a:rPr>
                <a:t>都经过这条链路</a:t>
              </a:r>
            </a:p>
          </p:txBody>
        </p:sp>
        <p:sp>
          <p:nvSpPr>
            <p:cNvPr id="1723694" name="Line 329"/>
            <p:cNvSpPr>
              <a:spLocks noChangeShapeType="1"/>
            </p:cNvSpPr>
            <p:nvPr/>
          </p:nvSpPr>
          <p:spPr bwMode="auto">
            <a:xfrm flipV="1">
              <a:off x="3334" y="2750"/>
              <a:ext cx="0" cy="589"/>
            </a:xfrm>
            <a:prstGeom prst="line">
              <a:avLst/>
            </a:prstGeom>
            <a:noFill/>
            <a:ln w="7620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7236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0CDE907-4275-4400-A29B-4979567C5A9A}" type="slidenum">
              <a:rPr lang="zh-CN" altLang="en-US" smtClean="0"/>
              <a:pPr/>
              <a:t>34</a:t>
            </a:fld>
            <a:endParaRPr lang="en-US" altLang="zh-CN" smtClean="0"/>
          </a:p>
        </p:txBody>
      </p:sp>
      <p:sp>
        <p:nvSpPr>
          <p:cNvPr id="17236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8410"/>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nodeType="afterEffect">
                                  <p:stCondLst>
                                    <p:cond delay="1000"/>
                                  </p:stCondLst>
                                  <p:childTnLst>
                                    <p:set>
                                      <p:cBhvr>
                                        <p:cTn id="9" dur="1" fill="hold">
                                          <p:stCondLst>
                                            <p:cond delay="0"/>
                                          </p:stCondLst>
                                        </p:cTn>
                                        <p:tgtEl>
                                          <p:spTgt spid="558407"/>
                                        </p:tgtEl>
                                        <p:attrNameLst>
                                          <p:attrName>style.visibility</p:attrName>
                                        </p:attrNameLst>
                                      </p:cBhvr>
                                      <p:to>
                                        <p:strVal val="visible"/>
                                      </p:to>
                                    </p:set>
                                  </p:childTnLst>
                                </p:cTn>
                              </p:par>
                            </p:childTnLst>
                          </p:cTn>
                        </p:par>
                        <p:par>
                          <p:cTn id="10" fill="hold" nodeType="afterGroup">
                            <p:stCondLst>
                              <p:cond delay="1002"/>
                            </p:stCondLst>
                            <p:childTnLst>
                              <p:par>
                                <p:cTn id="11" presetID="35" presetClass="emph" presetSubtype="0" repeatCount="3000" fill="hold" nodeType="afterEffect">
                                  <p:stCondLst>
                                    <p:cond delay="500"/>
                                  </p:stCondLst>
                                  <p:childTnLst>
                                    <p:anim calcmode="discrete" valueType="str">
                                      <p:cBhvr>
                                        <p:cTn id="12" dur="1000" fill="hold"/>
                                        <p:tgtEl>
                                          <p:spTgt spid="55840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5441" name="Rectangle 2"/>
          <p:cNvSpPr>
            <a:spLocks noGrp="1" noChangeArrowheads="1"/>
          </p:cNvSpPr>
          <p:nvPr>
            <p:ph type="title"/>
          </p:nvPr>
        </p:nvSpPr>
        <p:spPr/>
        <p:txBody>
          <a:bodyPr/>
          <a:lstStyle/>
          <a:p>
            <a:pPr algn="ctr"/>
            <a:r>
              <a:rPr lang="zh-CN" altLang="zh-CN" smtClean="0">
                <a:ea typeface="黑体" panose="02010609060101010101" pitchFamily="49" charset="-122"/>
              </a:rPr>
              <a:t>使用高速缓存的情况</a:t>
            </a:r>
          </a:p>
        </p:txBody>
      </p:sp>
      <p:grpSp>
        <p:nvGrpSpPr>
          <p:cNvPr id="1725442" name="Group 6"/>
          <p:cNvGrpSpPr>
            <a:grpSpLocks/>
          </p:cNvGrpSpPr>
          <p:nvPr/>
        </p:nvGrpSpPr>
        <p:grpSpPr bwMode="auto">
          <a:xfrm>
            <a:off x="271463" y="3205163"/>
            <a:ext cx="3743325" cy="2570162"/>
            <a:chOff x="912" y="768"/>
            <a:chExt cx="2400" cy="1584"/>
          </a:xfrm>
        </p:grpSpPr>
        <p:sp>
          <p:nvSpPr>
            <p:cNvPr id="1725443" name="Oval 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44" name="Oval 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45" name="Oval 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46" name="Oval 1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47" name="Oval 1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48" name="Oval 1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49" name="Oval 1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50" name="Oval 1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51" name="Oval 1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grpSp>
          <p:nvGrpSpPr>
            <p:cNvPr id="1725452" name="Group 16"/>
            <p:cNvGrpSpPr>
              <a:grpSpLocks/>
            </p:cNvGrpSpPr>
            <p:nvPr/>
          </p:nvGrpSpPr>
          <p:grpSpPr bwMode="auto">
            <a:xfrm>
              <a:off x="912" y="768"/>
              <a:ext cx="2386" cy="1553"/>
              <a:chOff x="912" y="768"/>
              <a:chExt cx="2386" cy="1553"/>
            </a:xfrm>
          </p:grpSpPr>
          <p:sp>
            <p:nvSpPr>
              <p:cNvPr id="1725453" name="Oval 1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54" name="Oval 1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55" name="Oval 1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56" name="Oval 2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57" name="Oval 2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58" name="Oval 2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59" name="Oval 2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60" name="Oval 2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61" name="Oval 2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grpSp>
      </p:grpSp>
      <p:graphicFrame>
        <p:nvGraphicFramePr>
          <p:cNvPr id="1725462" name="Object 26"/>
          <p:cNvGraphicFramePr>
            <a:graphicFrameLocks noChangeAspect="1"/>
          </p:cNvGraphicFramePr>
          <p:nvPr/>
        </p:nvGraphicFramePr>
        <p:xfrm>
          <a:off x="7086600" y="3929063"/>
          <a:ext cx="1917700" cy="1149350"/>
        </p:xfrm>
        <a:graphic>
          <a:graphicData uri="http://schemas.openxmlformats.org/presentationml/2006/ole">
            <mc:AlternateContent xmlns:mc="http://schemas.openxmlformats.org/markup-compatibility/2006">
              <mc:Choice xmlns:v="urn:schemas-microsoft-com:vml" Requires="v">
                <p:oleObj spid="_x0000_s1725794" r:id="rId4" imgW="1687068" imgH="964692" progId="Visio.Drawing.6">
                  <p:embed/>
                </p:oleObj>
              </mc:Choice>
              <mc:Fallback>
                <p:oleObj r:id="rId4" imgW="1687068" imgH="964692" progId="Visio.Drawing.6">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3929063"/>
                        <a:ext cx="19177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25463" name="Line 27"/>
          <p:cNvSpPr>
            <a:spLocks noChangeShapeType="1"/>
          </p:cNvSpPr>
          <p:nvPr/>
        </p:nvSpPr>
        <p:spPr bwMode="auto">
          <a:xfrm>
            <a:off x="4046538" y="4491038"/>
            <a:ext cx="2735262"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464" name="Line 28"/>
          <p:cNvSpPr>
            <a:spLocks noChangeShapeType="1"/>
          </p:cNvSpPr>
          <p:nvPr/>
        </p:nvSpPr>
        <p:spPr bwMode="auto">
          <a:xfrm>
            <a:off x="8274050" y="5000625"/>
            <a:ext cx="703263" cy="542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465" name="Line 29"/>
          <p:cNvSpPr>
            <a:spLocks noChangeShapeType="1"/>
          </p:cNvSpPr>
          <p:nvPr/>
        </p:nvSpPr>
        <p:spPr bwMode="auto">
          <a:xfrm>
            <a:off x="8680450" y="4721225"/>
            <a:ext cx="563563" cy="115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466" name="Line 30"/>
          <p:cNvSpPr>
            <a:spLocks noChangeShapeType="1"/>
          </p:cNvSpPr>
          <p:nvPr/>
        </p:nvSpPr>
        <p:spPr bwMode="auto">
          <a:xfrm flipV="1">
            <a:off x="8710613" y="4040188"/>
            <a:ext cx="533400" cy="153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467" name="Line 31"/>
          <p:cNvSpPr>
            <a:spLocks noChangeShapeType="1"/>
          </p:cNvSpPr>
          <p:nvPr/>
        </p:nvSpPr>
        <p:spPr bwMode="auto">
          <a:xfrm flipV="1">
            <a:off x="8240713" y="3421063"/>
            <a:ext cx="736600" cy="5953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5468" name="Group 33"/>
          <p:cNvGrpSpPr>
            <a:grpSpLocks/>
          </p:cNvGrpSpPr>
          <p:nvPr/>
        </p:nvGrpSpPr>
        <p:grpSpPr bwMode="auto">
          <a:xfrm>
            <a:off x="9099550" y="3695700"/>
            <a:ext cx="427038" cy="661988"/>
            <a:chOff x="4486" y="2730"/>
            <a:chExt cx="217" cy="339"/>
          </a:xfrm>
        </p:grpSpPr>
        <p:grpSp>
          <p:nvGrpSpPr>
            <p:cNvPr id="1725469" name="Group 34"/>
            <p:cNvGrpSpPr>
              <a:grpSpLocks/>
            </p:cNvGrpSpPr>
            <p:nvPr/>
          </p:nvGrpSpPr>
          <p:grpSpPr bwMode="auto">
            <a:xfrm>
              <a:off x="4491" y="2736"/>
              <a:ext cx="212" cy="333"/>
              <a:chOff x="4491" y="2736"/>
              <a:chExt cx="212" cy="333"/>
            </a:xfrm>
          </p:grpSpPr>
          <p:sp>
            <p:nvSpPr>
              <p:cNvPr id="1725470" name="Freeform 35"/>
              <p:cNvSpPr>
                <a:spLocks noChangeArrowheads="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471" name="Freeform 36"/>
              <p:cNvSpPr>
                <a:spLocks noChangeArrowheads="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472" name="Freeform 37"/>
              <p:cNvSpPr>
                <a:spLocks noChangeArrowheads="1"/>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473" name="Freeform 38"/>
              <p:cNvSpPr>
                <a:spLocks noChangeArrowheads="1"/>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474" name="Rectangle 39"/>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75" name="Rectangle 40"/>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76" name="Line 41"/>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477" name="Line 42"/>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478" name="Line 43"/>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5479" name="Group 44"/>
            <p:cNvGrpSpPr>
              <a:grpSpLocks/>
            </p:cNvGrpSpPr>
            <p:nvPr/>
          </p:nvGrpSpPr>
          <p:grpSpPr bwMode="auto">
            <a:xfrm>
              <a:off x="4486" y="2730"/>
              <a:ext cx="212" cy="333"/>
              <a:chOff x="4486" y="2730"/>
              <a:chExt cx="212" cy="333"/>
            </a:xfrm>
          </p:grpSpPr>
          <p:sp>
            <p:nvSpPr>
              <p:cNvPr id="1725480" name="Freeform 45"/>
              <p:cNvSpPr>
                <a:spLocks noChangeArrowheads="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481" name="Freeform 46"/>
              <p:cNvSpPr>
                <a:spLocks noChangeArrowheads="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482" name="Freeform 47"/>
              <p:cNvSpPr>
                <a:spLocks noChangeArrowheads="1"/>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483" name="Freeform 48"/>
              <p:cNvSpPr>
                <a:spLocks noChangeArrowheads="1"/>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484" name="Rectangle 49"/>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85" name="Rectangle 50"/>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86" name="Line 51"/>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487" name="Line 52"/>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488" name="Line 53"/>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725489" name="Group 54"/>
          <p:cNvGrpSpPr>
            <a:grpSpLocks/>
          </p:cNvGrpSpPr>
          <p:nvPr/>
        </p:nvGrpSpPr>
        <p:grpSpPr bwMode="auto">
          <a:xfrm>
            <a:off x="9099550" y="4556125"/>
            <a:ext cx="427038" cy="661988"/>
            <a:chOff x="4486" y="3170"/>
            <a:chExt cx="217" cy="339"/>
          </a:xfrm>
        </p:grpSpPr>
        <p:grpSp>
          <p:nvGrpSpPr>
            <p:cNvPr id="1725490" name="Group 55"/>
            <p:cNvGrpSpPr>
              <a:grpSpLocks/>
            </p:cNvGrpSpPr>
            <p:nvPr/>
          </p:nvGrpSpPr>
          <p:grpSpPr bwMode="auto">
            <a:xfrm>
              <a:off x="4491" y="3176"/>
              <a:ext cx="212" cy="333"/>
              <a:chOff x="4491" y="3176"/>
              <a:chExt cx="212" cy="333"/>
            </a:xfrm>
          </p:grpSpPr>
          <p:sp>
            <p:nvSpPr>
              <p:cNvPr id="1725491" name="Freeform 56"/>
              <p:cNvSpPr>
                <a:spLocks noChangeArrowheads="1"/>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492" name="Freeform 57"/>
              <p:cNvSpPr>
                <a:spLocks noChangeArrowheads="1"/>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493" name="Freeform 58"/>
              <p:cNvSpPr>
                <a:spLocks noChangeArrowheads="1"/>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494" name="Freeform 59"/>
              <p:cNvSpPr>
                <a:spLocks noChangeArrowheads="1"/>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495" name="Rectangle 60"/>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96" name="Rectangle 61"/>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497" name="Line 62"/>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498" name="Line 63"/>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499" name="Line 64"/>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5500" name="Group 65"/>
            <p:cNvGrpSpPr>
              <a:grpSpLocks/>
            </p:cNvGrpSpPr>
            <p:nvPr/>
          </p:nvGrpSpPr>
          <p:grpSpPr bwMode="auto">
            <a:xfrm>
              <a:off x="4486" y="3170"/>
              <a:ext cx="212" cy="332"/>
              <a:chOff x="4486" y="3170"/>
              <a:chExt cx="212" cy="332"/>
            </a:xfrm>
          </p:grpSpPr>
          <p:sp>
            <p:nvSpPr>
              <p:cNvPr id="1725501" name="Freeform 66"/>
              <p:cNvSpPr>
                <a:spLocks noChangeArrowheads="1"/>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02" name="Freeform 67"/>
              <p:cNvSpPr>
                <a:spLocks noChangeArrowheads="1"/>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03" name="Freeform 68"/>
              <p:cNvSpPr>
                <a:spLocks noChangeArrowheads="1"/>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Lst>
                <a:ahLst/>
                <a:cxnLst>
                  <a:cxn ang="0">
                    <a:pos x="T0" y="T1"/>
                  </a:cxn>
                  <a:cxn ang="0">
                    <a:pos x="T2" y="T3"/>
                  </a:cxn>
                  <a:cxn ang="0">
                    <a:pos x="T4" y="T5"/>
                  </a:cxn>
                  <a:cxn ang="0">
                    <a:pos x="T6" y="T7"/>
                  </a:cxn>
                  <a:cxn ang="0">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04" name="Freeform 69"/>
              <p:cNvSpPr>
                <a:spLocks noChangeArrowheads="1"/>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Lst>
                <a:ahLst/>
                <a:cxnLst>
                  <a:cxn ang="0">
                    <a:pos x="T0" y="T1"/>
                  </a:cxn>
                  <a:cxn ang="0">
                    <a:pos x="T2" y="T3"/>
                  </a:cxn>
                  <a:cxn ang="0">
                    <a:pos x="T4" y="T5"/>
                  </a:cxn>
                  <a:cxn ang="0">
                    <a:pos x="T6" y="T7"/>
                  </a:cxn>
                  <a:cxn ang="0">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05" name="Rectangle 70"/>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506" name="Rectangle 71"/>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507" name="Line 72"/>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508" name="Line 73"/>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509" name="Line 74"/>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725510" name="Group 75"/>
          <p:cNvGrpSpPr>
            <a:grpSpLocks/>
          </p:cNvGrpSpPr>
          <p:nvPr/>
        </p:nvGrpSpPr>
        <p:grpSpPr bwMode="auto">
          <a:xfrm>
            <a:off x="8655050" y="5229225"/>
            <a:ext cx="423863" cy="661988"/>
            <a:chOff x="4260" y="3515"/>
            <a:chExt cx="216" cy="339"/>
          </a:xfrm>
        </p:grpSpPr>
        <p:grpSp>
          <p:nvGrpSpPr>
            <p:cNvPr id="1725511" name="Group 76"/>
            <p:cNvGrpSpPr>
              <a:grpSpLocks/>
            </p:cNvGrpSpPr>
            <p:nvPr/>
          </p:nvGrpSpPr>
          <p:grpSpPr bwMode="auto">
            <a:xfrm>
              <a:off x="4265" y="3521"/>
              <a:ext cx="211" cy="333"/>
              <a:chOff x="4265" y="3521"/>
              <a:chExt cx="211" cy="333"/>
            </a:xfrm>
          </p:grpSpPr>
          <p:sp>
            <p:nvSpPr>
              <p:cNvPr id="1725512" name="Freeform 77"/>
              <p:cNvSpPr>
                <a:spLocks noChangeArrowheads="1"/>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13" name="Freeform 78"/>
              <p:cNvSpPr>
                <a:spLocks noChangeArrowheads="1"/>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14" name="Freeform 79"/>
              <p:cNvSpPr>
                <a:spLocks noChangeArrowheads="1"/>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15" name="Freeform 80"/>
              <p:cNvSpPr>
                <a:spLocks noChangeArrowheads="1"/>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16" name="Rectangle 81"/>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517" name="Rectangle 82"/>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518" name="Line 83"/>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519" name="Line 84"/>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520" name="Line 85"/>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5521" name="Group 86"/>
            <p:cNvGrpSpPr>
              <a:grpSpLocks/>
            </p:cNvGrpSpPr>
            <p:nvPr/>
          </p:nvGrpSpPr>
          <p:grpSpPr bwMode="auto">
            <a:xfrm>
              <a:off x="4260" y="3515"/>
              <a:ext cx="211" cy="332"/>
              <a:chOff x="4260" y="3515"/>
              <a:chExt cx="211" cy="332"/>
            </a:xfrm>
          </p:grpSpPr>
          <p:sp>
            <p:nvSpPr>
              <p:cNvPr id="1725522" name="Freeform 87"/>
              <p:cNvSpPr>
                <a:spLocks noChangeArrowheads="1"/>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23" name="Freeform 88"/>
              <p:cNvSpPr>
                <a:spLocks noChangeArrowheads="1"/>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24" name="Freeform 89"/>
              <p:cNvSpPr>
                <a:spLocks noChangeArrowheads="1"/>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25" name="Freeform 90"/>
              <p:cNvSpPr>
                <a:spLocks noChangeArrowheads="1"/>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26" name="Rectangle 91"/>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527" name="Rectangle 92"/>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528" name="Line 93"/>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529" name="Line 94"/>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530" name="Line 95"/>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5531" name="Rectangle 96"/>
          <p:cNvSpPr>
            <a:spLocks noChangeArrowheads="1"/>
          </p:cNvSpPr>
          <p:nvPr/>
        </p:nvSpPr>
        <p:spPr bwMode="auto">
          <a:xfrm>
            <a:off x="2286000" y="3155950"/>
            <a:ext cx="31750" cy="2598738"/>
          </a:xfrm>
          <a:prstGeom prst="rect">
            <a:avLst/>
          </a:prstGeom>
          <a:solidFill>
            <a:srgbClr val="000000"/>
          </a:solidFill>
          <a:ln w="28575">
            <a:solidFill>
              <a:srgbClr val="333399"/>
            </a:solidFill>
            <a:miter lim="800000"/>
            <a:headEnd/>
            <a:tailEnd/>
          </a:ln>
        </p:spPr>
        <p:txBody>
          <a:bodyPr/>
          <a:lstStyle/>
          <a:p>
            <a:endParaRPr lang="zh-CN" altLang="en-US" b="1">
              <a:solidFill>
                <a:srgbClr val="000099"/>
              </a:solidFill>
              <a:ea typeface="宋体" panose="02010600030101010101" pitchFamily="2" charset="-122"/>
            </a:endParaRPr>
          </a:p>
        </p:txBody>
      </p:sp>
      <p:sp>
        <p:nvSpPr>
          <p:cNvPr id="1725532" name="Line 97"/>
          <p:cNvSpPr>
            <a:spLocks noChangeShapeType="1"/>
          </p:cNvSpPr>
          <p:nvPr/>
        </p:nvSpPr>
        <p:spPr bwMode="auto">
          <a:xfrm>
            <a:off x="1411288" y="3536950"/>
            <a:ext cx="89058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533" name="Line 98"/>
          <p:cNvSpPr>
            <a:spLocks noChangeShapeType="1"/>
          </p:cNvSpPr>
          <p:nvPr/>
        </p:nvSpPr>
        <p:spPr bwMode="auto">
          <a:xfrm>
            <a:off x="1677988" y="4246563"/>
            <a:ext cx="623887"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534" name="Line 99"/>
          <p:cNvSpPr>
            <a:spLocks noChangeShapeType="1"/>
          </p:cNvSpPr>
          <p:nvPr/>
        </p:nvSpPr>
        <p:spPr bwMode="auto">
          <a:xfrm>
            <a:off x="965200" y="4748213"/>
            <a:ext cx="133667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535" name="Line 100"/>
          <p:cNvSpPr>
            <a:spLocks noChangeShapeType="1"/>
          </p:cNvSpPr>
          <p:nvPr/>
        </p:nvSpPr>
        <p:spPr bwMode="auto">
          <a:xfrm>
            <a:off x="1500188" y="5365750"/>
            <a:ext cx="80168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536" name="Line 101"/>
          <p:cNvSpPr>
            <a:spLocks noChangeShapeType="1"/>
          </p:cNvSpPr>
          <p:nvPr/>
        </p:nvSpPr>
        <p:spPr bwMode="auto">
          <a:xfrm>
            <a:off x="2301875" y="5543550"/>
            <a:ext cx="444500"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537" name="Line 339"/>
          <p:cNvSpPr>
            <a:spLocks noChangeShapeType="1"/>
          </p:cNvSpPr>
          <p:nvPr/>
        </p:nvSpPr>
        <p:spPr bwMode="auto">
          <a:xfrm flipV="1">
            <a:off x="3159125" y="4579938"/>
            <a:ext cx="779463" cy="6477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538" name="Line 102"/>
          <p:cNvSpPr>
            <a:spLocks noChangeShapeType="1"/>
          </p:cNvSpPr>
          <p:nvPr/>
        </p:nvSpPr>
        <p:spPr bwMode="auto">
          <a:xfrm>
            <a:off x="2300288" y="4483100"/>
            <a:ext cx="1516062" cy="1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5539" name="Group 103"/>
          <p:cNvGrpSpPr>
            <a:grpSpLocks/>
          </p:cNvGrpSpPr>
          <p:nvPr/>
        </p:nvGrpSpPr>
        <p:grpSpPr bwMode="auto">
          <a:xfrm>
            <a:off x="3656013" y="4287838"/>
            <a:ext cx="608012" cy="374650"/>
            <a:chOff x="2154" y="3033"/>
            <a:chExt cx="309" cy="192"/>
          </a:xfrm>
        </p:grpSpPr>
        <p:sp>
          <p:nvSpPr>
            <p:cNvPr id="1725540" name="Oval 104"/>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sp>
          <p:nvSpPr>
            <p:cNvPr id="1725541" name="Rectangle 105"/>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542" name="Rectangle 106"/>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543" name="Oval 107"/>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grpSp>
          <p:nvGrpSpPr>
            <p:cNvPr id="1725544" name="Group 108"/>
            <p:cNvGrpSpPr>
              <a:grpSpLocks/>
            </p:cNvGrpSpPr>
            <p:nvPr/>
          </p:nvGrpSpPr>
          <p:grpSpPr bwMode="auto">
            <a:xfrm>
              <a:off x="2201" y="3046"/>
              <a:ext cx="214" cy="86"/>
              <a:chOff x="2201" y="3046"/>
              <a:chExt cx="214" cy="86"/>
            </a:xfrm>
          </p:grpSpPr>
          <p:grpSp>
            <p:nvGrpSpPr>
              <p:cNvPr id="1725545" name="Group 109"/>
              <p:cNvGrpSpPr>
                <a:grpSpLocks/>
              </p:cNvGrpSpPr>
              <p:nvPr/>
            </p:nvGrpSpPr>
            <p:grpSpPr bwMode="auto">
              <a:xfrm>
                <a:off x="2201" y="3046"/>
                <a:ext cx="212" cy="84"/>
                <a:chOff x="2201" y="3046"/>
                <a:chExt cx="212" cy="84"/>
              </a:xfrm>
            </p:grpSpPr>
            <p:sp>
              <p:nvSpPr>
                <p:cNvPr id="1725546" name="Freeform 110"/>
                <p:cNvSpPr>
                  <a:spLocks noChangeArrowheads="1"/>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47" name="Freeform 111"/>
                <p:cNvSpPr>
                  <a:spLocks noChangeArrowheads="1"/>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48" name="Freeform 112"/>
                <p:cNvSpPr>
                  <a:spLocks noChangeArrowheads="1"/>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49" name="Freeform 113"/>
                <p:cNvSpPr>
                  <a:spLocks noChangeArrowheads="1"/>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50" name="Freeform 114"/>
                <p:cNvSpPr>
                  <a:spLocks noChangeArrowheads="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51" name="Freeform 115"/>
                <p:cNvSpPr>
                  <a:spLocks noChangeArrowheads="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52" name="Freeform 116"/>
                <p:cNvSpPr>
                  <a:spLocks noChangeArrowheads="1"/>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53" name="Freeform 117"/>
                <p:cNvSpPr>
                  <a:spLocks noChangeArrowheads="1"/>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5554" name="Group 118"/>
              <p:cNvGrpSpPr>
                <a:grpSpLocks/>
              </p:cNvGrpSpPr>
              <p:nvPr/>
            </p:nvGrpSpPr>
            <p:grpSpPr bwMode="auto">
              <a:xfrm>
                <a:off x="2203" y="3048"/>
                <a:ext cx="212" cy="84"/>
                <a:chOff x="2203" y="3048"/>
                <a:chExt cx="212" cy="84"/>
              </a:xfrm>
            </p:grpSpPr>
            <p:sp>
              <p:nvSpPr>
                <p:cNvPr id="1725555" name="Freeform 119"/>
                <p:cNvSpPr>
                  <a:spLocks noChangeArrowheads="1"/>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56" name="Freeform 120"/>
                <p:cNvSpPr>
                  <a:spLocks noChangeArrowheads="1"/>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57" name="Freeform 121"/>
                <p:cNvSpPr>
                  <a:spLocks noChangeArrowheads="1"/>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58" name="Freeform 122"/>
                <p:cNvSpPr>
                  <a:spLocks noChangeArrowheads="1"/>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59" name="Freeform 123"/>
                <p:cNvSpPr>
                  <a:spLocks noChangeArrowheads="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60" name="Freeform 124"/>
                <p:cNvSpPr>
                  <a:spLocks noChangeArrowheads="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61" name="Freeform 125"/>
                <p:cNvSpPr>
                  <a:spLocks noChangeArrowheads="1"/>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62" name="Freeform 126"/>
                <p:cNvSpPr>
                  <a:spLocks noChangeArrowheads="1"/>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5563" name="Line 127"/>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564" name="Line 128"/>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5565" name="Group 129"/>
          <p:cNvGrpSpPr>
            <a:grpSpLocks/>
          </p:cNvGrpSpPr>
          <p:nvPr/>
        </p:nvGrpSpPr>
        <p:grpSpPr bwMode="auto">
          <a:xfrm>
            <a:off x="1235075" y="3074988"/>
            <a:ext cx="557213" cy="517525"/>
            <a:chOff x="921" y="2412"/>
            <a:chExt cx="284" cy="265"/>
          </a:xfrm>
        </p:grpSpPr>
        <p:grpSp>
          <p:nvGrpSpPr>
            <p:cNvPr id="1725566" name="Group 130"/>
            <p:cNvGrpSpPr>
              <a:grpSpLocks/>
            </p:cNvGrpSpPr>
            <p:nvPr/>
          </p:nvGrpSpPr>
          <p:grpSpPr bwMode="auto">
            <a:xfrm>
              <a:off x="928" y="2417"/>
              <a:ext cx="277" cy="260"/>
              <a:chOff x="928" y="2417"/>
              <a:chExt cx="277" cy="260"/>
            </a:xfrm>
          </p:grpSpPr>
          <p:sp>
            <p:nvSpPr>
              <p:cNvPr id="1725567" name="Freeform 131"/>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68" name="Freeform 132"/>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69" name="Freeform 133"/>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70" name="Freeform 134"/>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71" name="Rectangle 135"/>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572" name="Rectangle 136"/>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573" name="Rectangle 137"/>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574" name="Line 138"/>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5575" name="Group 139"/>
              <p:cNvGrpSpPr>
                <a:grpSpLocks/>
              </p:cNvGrpSpPr>
              <p:nvPr/>
            </p:nvGrpSpPr>
            <p:grpSpPr bwMode="auto">
              <a:xfrm>
                <a:off x="928" y="2639"/>
                <a:ext cx="277" cy="38"/>
                <a:chOff x="928" y="2639"/>
                <a:chExt cx="277" cy="38"/>
              </a:xfrm>
            </p:grpSpPr>
            <p:sp>
              <p:nvSpPr>
                <p:cNvPr id="1725576" name="Freeform 140"/>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77" name="Freeform 141"/>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78" name="Rectangle 142"/>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25579" name="Group 143"/>
            <p:cNvGrpSpPr>
              <a:grpSpLocks/>
            </p:cNvGrpSpPr>
            <p:nvPr/>
          </p:nvGrpSpPr>
          <p:grpSpPr bwMode="auto">
            <a:xfrm>
              <a:off x="921" y="2412"/>
              <a:ext cx="277" cy="261"/>
              <a:chOff x="921" y="2412"/>
              <a:chExt cx="277" cy="261"/>
            </a:xfrm>
          </p:grpSpPr>
          <p:sp>
            <p:nvSpPr>
              <p:cNvPr id="1725580" name="Freeform 144"/>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81" name="Freeform 145"/>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82" name="Freeform 146"/>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83" name="Freeform 147"/>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84" name="Rectangle 148"/>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585" name="Rectangle 149"/>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586" name="Rectangle 150"/>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587" name="Line 151"/>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5588" name="Group 152"/>
              <p:cNvGrpSpPr>
                <a:grpSpLocks/>
              </p:cNvGrpSpPr>
              <p:nvPr/>
            </p:nvGrpSpPr>
            <p:grpSpPr bwMode="auto">
              <a:xfrm>
                <a:off x="921" y="2635"/>
                <a:ext cx="277" cy="38"/>
                <a:chOff x="921" y="2635"/>
                <a:chExt cx="277" cy="38"/>
              </a:xfrm>
            </p:grpSpPr>
            <p:sp>
              <p:nvSpPr>
                <p:cNvPr id="1725589" name="Freeform 153"/>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90" name="Freeform 154"/>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91" name="Rectangle 155"/>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25592" name="Group 156"/>
          <p:cNvGrpSpPr>
            <a:grpSpLocks/>
          </p:cNvGrpSpPr>
          <p:nvPr/>
        </p:nvGrpSpPr>
        <p:grpSpPr bwMode="auto">
          <a:xfrm>
            <a:off x="1384300" y="3784600"/>
            <a:ext cx="554038" cy="517525"/>
            <a:chOff x="997" y="2775"/>
            <a:chExt cx="282" cy="265"/>
          </a:xfrm>
        </p:grpSpPr>
        <p:grpSp>
          <p:nvGrpSpPr>
            <p:cNvPr id="1725593" name="Group 157"/>
            <p:cNvGrpSpPr>
              <a:grpSpLocks/>
            </p:cNvGrpSpPr>
            <p:nvPr/>
          </p:nvGrpSpPr>
          <p:grpSpPr bwMode="auto">
            <a:xfrm>
              <a:off x="1004" y="2779"/>
              <a:ext cx="275" cy="261"/>
              <a:chOff x="1004" y="2779"/>
              <a:chExt cx="275" cy="261"/>
            </a:xfrm>
          </p:grpSpPr>
          <p:sp>
            <p:nvSpPr>
              <p:cNvPr id="1725594" name="Freeform 158"/>
              <p:cNvSpPr>
                <a:spLocks noChangeArrowheads="1"/>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95" name="Freeform 159"/>
              <p:cNvSpPr>
                <a:spLocks noChangeArrowheads="1"/>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96" name="Freeform 160"/>
              <p:cNvSpPr>
                <a:spLocks noChangeArrowheads="1"/>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Lst>
                <a:ahLst/>
                <a:cxnLst>
                  <a:cxn ang="0">
                    <a:pos x="T0" y="T1"/>
                  </a:cxn>
                  <a:cxn ang="0">
                    <a:pos x="T2" y="T3"/>
                  </a:cxn>
                  <a:cxn ang="0">
                    <a:pos x="T4" y="T5"/>
                  </a:cxn>
                  <a:cxn ang="0">
                    <a:pos x="T6" y="T7"/>
                  </a:cxn>
                  <a:cxn ang="0">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97" name="Freeform 161"/>
              <p:cNvSpPr>
                <a:spLocks noChangeArrowheads="1"/>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Lst>
                <a:ahLst/>
                <a:cxnLst>
                  <a:cxn ang="0">
                    <a:pos x="T0" y="T1"/>
                  </a:cxn>
                  <a:cxn ang="0">
                    <a:pos x="T2" y="T3"/>
                  </a:cxn>
                  <a:cxn ang="0">
                    <a:pos x="T4" y="T5"/>
                  </a:cxn>
                  <a:cxn ang="0">
                    <a:pos x="T6" y="T7"/>
                  </a:cxn>
                  <a:cxn ang="0">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598" name="Rectangle 162"/>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599" name="Rectangle 163"/>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00" name="Rectangle 164"/>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01" name="Line 165"/>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5602" name="Group 166"/>
              <p:cNvGrpSpPr>
                <a:grpSpLocks/>
              </p:cNvGrpSpPr>
              <p:nvPr/>
            </p:nvGrpSpPr>
            <p:grpSpPr bwMode="auto">
              <a:xfrm>
                <a:off x="1004" y="3002"/>
                <a:ext cx="275" cy="38"/>
                <a:chOff x="1004" y="3002"/>
                <a:chExt cx="275" cy="38"/>
              </a:xfrm>
            </p:grpSpPr>
            <p:sp>
              <p:nvSpPr>
                <p:cNvPr id="1725603" name="Freeform 167"/>
                <p:cNvSpPr>
                  <a:spLocks noChangeArrowheads="1"/>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04" name="Freeform 168"/>
                <p:cNvSpPr>
                  <a:spLocks noChangeArrowheads="1"/>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05" name="Rectangle 169"/>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25606" name="Group 170"/>
            <p:cNvGrpSpPr>
              <a:grpSpLocks/>
            </p:cNvGrpSpPr>
            <p:nvPr/>
          </p:nvGrpSpPr>
          <p:grpSpPr bwMode="auto">
            <a:xfrm>
              <a:off x="997" y="2775"/>
              <a:ext cx="275" cy="260"/>
              <a:chOff x="997" y="2775"/>
              <a:chExt cx="275" cy="260"/>
            </a:xfrm>
          </p:grpSpPr>
          <p:sp>
            <p:nvSpPr>
              <p:cNvPr id="1725607" name="Freeform 171"/>
              <p:cNvSpPr>
                <a:spLocks noChangeArrowheads="1"/>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08" name="Freeform 172"/>
              <p:cNvSpPr>
                <a:spLocks noChangeArrowheads="1"/>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09" name="Freeform 173"/>
              <p:cNvSpPr>
                <a:spLocks noChangeArrowheads="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10" name="Freeform 174"/>
              <p:cNvSpPr>
                <a:spLocks noChangeArrowheads="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11" name="Rectangle 175"/>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12" name="Rectangle 176"/>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13" name="Rectangle 177"/>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14" name="Line 178"/>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5615" name="Group 179"/>
              <p:cNvGrpSpPr>
                <a:grpSpLocks/>
              </p:cNvGrpSpPr>
              <p:nvPr/>
            </p:nvGrpSpPr>
            <p:grpSpPr bwMode="auto">
              <a:xfrm>
                <a:off x="997" y="2997"/>
                <a:ext cx="275" cy="38"/>
                <a:chOff x="997" y="2997"/>
                <a:chExt cx="275" cy="38"/>
              </a:xfrm>
            </p:grpSpPr>
            <p:sp>
              <p:nvSpPr>
                <p:cNvPr id="1725616" name="Freeform 180"/>
                <p:cNvSpPr>
                  <a:spLocks noChangeArrowheads="1"/>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17" name="Freeform 181"/>
                <p:cNvSpPr>
                  <a:spLocks noChangeArrowheads="1"/>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18" name="Rectangle 182"/>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25619" name="Group 183"/>
          <p:cNvGrpSpPr>
            <a:grpSpLocks/>
          </p:cNvGrpSpPr>
          <p:nvPr/>
        </p:nvGrpSpPr>
        <p:grpSpPr bwMode="auto">
          <a:xfrm>
            <a:off x="584200" y="4314825"/>
            <a:ext cx="554038" cy="517525"/>
            <a:chOff x="590" y="3047"/>
            <a:chExt cx="282" cy="265"/>
          </a:xfrm>
        </p:grpSpPr>
        <p:grpSp>
          <p:nvGrpSpPr>
            <p:cNvPr id="1725620" name="Group 184"/>
            <p:cNvGrpSpPr>
              <a:grpSpLocks/>
            </p:cNvGrpSpPr>
            <p:nvPr/>
          </p:nvGrpSpPr>
          <p:grpSpPr bwMode="auto">
            <a:xfrm>
              <a:off x="596" y="3051"/>
              <a:ext cx="276" cy="261"/>
              <a:chOff x="596" y="3051"/>
              <a:chExt cx="276" cy="261"/>
            </a:xfrm>
          </p:grpSpPr>
          <p:sp>
            <p:nvSpPr>
              <p:cNvPr id="1725621" name="Freeform 185"/>
              <p:cNvSpPr>
                <a:spLocks noChangeArrowheads="1"/>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22" name="Freeform 186"/>
              <p:cNvSpPr>
                <a:spLocks noChangeArrowheads="1"/>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23" name="Freeform 187"/>
              <p:cNvSpPr>
                <a:spLocks noChangeArrowheads="1"/>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24" name="Freeform 188"/>
              <p:cNvSpPr>
                <a:spLocks noChangeArrowheads="1"/>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25" name="Rectangle 189"/>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26" name="Rectangle 190"/>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27" name="Rectangle 191"/>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28" name="Line 192"/>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5629" name="Group 193"/>
              <p:cNvGrpSpPr>
                <a:grpSpLocks/>
              </p:cNvGrpSpPr>
              <p:nvPr/>
            </p:nvGrpSpPr>
            <p:grpSpPr bwMode="auto">
              <a:xfrm>
                <a:off x="596" y="3274"/>
                <a:ext cx="276" cy="38"/>
                <a:chOff x="596" y="3274"/>
                <a:chExt cx="276" cy="38"/>
              </a:xfrm>
            </p:grpSpPr>
            <p:sp>
              <p:nvSpPr>
                <p:cNvPr id="1725630" name="Freeform 194"/>
                <p:cNvSpPr>
                  <a:spLocks noChangeArrowheads="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Lst>
                  <a:ahLst/>
                  <a:cxnLst>
                    <a:cxn ang="0">
                      <a:pos x="T0" y="T1"/>
                    </a:cxn>
                    <a:cxn ang="0">
                      <a:pos x="T2" y="T3"/>
                    </a:cxn>
                    <a:cxn ang="0">
                      <a:pos x="T4" y="T5"/>
                    </a:cxn>
                    <a:cxn ang="0">
                      <a:pos x="T6" y="T7"/>
                    </a:cxn>
                    <a:cxn ang="0">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31" name="Freeform 195"/>
                <p:cNvSpPr>
                  <a:spLocks noChangeArrowheads="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Lst>
                  <a:ahLst/>
                  <a:cxnLst>
                    <a:cxn ang="0">
                      <a:pos x="T0" y="T1"/>
                    </a:cxn>
                    <a:cxn ang="0">
                      <a:pos x="T2" y="T3"/>
                    </a:cxn>
                    <a:cxn ang="0">
                      <a:pos x="T4" y="T5"/>
                    </a:cxn>
                    <a:cxn ang="0">
                      <a:pos x="T6" y="T7"/>
                    </a:cxn>
                    <a:cxn ang="0">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32" name="Rectangle 196"/>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25633" name="Group 197"/>
            <p:cNvGrpSpPr>
              <a:grpSpLocks/>
            </p:cNvGrpSpPr>
            <p:nvPr/>
          </p:nvGrpSpPr>
          <p:grpSpPr bwMode="auto">
            <a:xfrm>
              <a:off x="590" y="3047"/>
              <a:ext cx="275" cy="260"/>
              <a:chOff x="590" y="3047"/>
              <a:chExt cx="275" cy="260"/>
            </a:xfrm>
          </p:grpSpPr>
          <p:sp>
            <p:nvSpPr>
              <p:cNvPr id="1725634" name="Freeform 198"/>
              <p:cNvSpPr>
                <a:spLocks noChangeArrowheads="1"/>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35" name="Freeform 199"/>
              <p:cNvSpPr>
                <a:spLocks noChangeArrowheads="1"/>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36" name="Freeform 200"/>
              <p:cNvSpPr>
                <a:spLocks noChangeArrowheads="1"/>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Lst>
                <a:ahLst/>
                <a:cxnLst>
                  <a:cxn ang="0">
                    <a:pos x="T0" y="T1"/>
                  </a:cxn>
                  <a:cxn ang="0">
                    <a:pos x="T2" y="T3"/>
                  </a:cxn>
                  <a:cxn ang="0">
                    <a:pos x="T4" y="T5"/>
                  </a:cxn>
                  <a:cxn ang="0">
                    <a:pos x="T6" y="T7"/>
                  </a:cxn>
                  <a:cxn ang="0">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37" name="Freeform 201"/>
              <p:cNvSpPr>
                <a:spLocks noChangeArrowheads="1"/>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Lst>
                <a:ahLst/>
                <a:cxnLst>
                  <a:cxn ang="0">
                    <a:pos x="T0" y="T1"/>
                  </a:cxn>
                  <a:cxn ang="0">
                    <a:pos x="T2" y="T3"/>
                  </a:cxn>
                  <a:cxn ang="0">
                    <a:pos x="T4" y="T5"/>
                  </a:cxn>
                  <a:cxn ang="0">
                    <a:pos x="T6" y="T7"/>
                  </a:cxn>
                  <a:cxn ang="0">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38" name="Rectangle 202"/>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39" name="Rectangle 203"/>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40" name="Rectangle 204"/>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41" name="Line 205"/>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5642" name="Group 206"/>
              <p:cNvGrpSpPr>
                <a:grpSpLocks/>
              </p:cNvGrpSpPr>
              <p:nvPr/>
            </p:nvGrpSpPr>
            <p:grpSpPr bwMode="auto">
              <a:xfrm>
                <a:off x="590" y="3269"/>
                <a:ext cx="275" cy="38"/>
                <a:chOff x="590" y="3269"/>
                <a:chExt cx="275" cy="38"/>
              </a:xfrm>
            </p:grpSpPr>
            <p:sp>
              <p:nvSpPr>
                <p:cNvPr id="1725643" name="Freeform 207"/>
                <p:cNvSpPr>
                  <a:spLocks noChangeArrowheads="1"/>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44" name="Freeform 208"/>
                <p:cNvSpPr>
                  <a:spLocks noChangeArrowheads="1"/>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45" name="Rectangle 209"/>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25646" name="Group 210"/>
          <p:cNvGrpSpPr>
            <a:grpSpLocks/>
          </p:cNvGrpSpPr>
          <p:nvPr/>
        </p:nvGrpSpPr>
        <p:grpSpPr bwMode="auto">
          <a:xfrm>
            <a:off x="1204913" y="4937125"/>
            <a:ext cx="552450" cy="517525"/>
            <a:chOff x="906" y="3365"/>
            <a:chExt cx="281" cy="265"/>
          </a:xfrm>
        </p:grpSpPr>
        <p:grpSp>
          <p:nvGrpSpPr>
            <p:cNvPr id="1725647" name="Group 211"/>
            <p:cNvGrpSpPr>
              <a:grpSpLocks/>
            </p:cNvGrpSpPr>
            <p:nvPr/>
          </p:nvGrpSpPr>
          <p:grpSpPr bwMode="auto">
            <a:xfrm>
              <a:off x="912" y="3369"/>
              <a:ext cx="275" cy="261"/>
              <a:chOff x="912" y="3369"/>
              <a:chExt cx="275" cy="261"/>
            </a:xfrm>
          </p:grpSpPr>
          <p:sp>
            <p:nvSpPr>
              <p:cNvPr id="1725648" name="Freeform 212"/>
              <p:cNvSpPr>
                <a:spLocks noChangeArrowheads="1"/>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49" name="Freeform 213"/>
              <p:cNvSpPr>
                <a:spLocks noChangeArrowheads="1"/>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50" name="Freeform 214"/>
              <p:cNvSpPr>
                <a:spLocks noChangeArrowheads="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51" name="Freeform 215"/>
              <p:cNvSpPr>
                <a:spLocks noChangeArrowheads="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52" name="Rectangle 216"/>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53" name="Rectangle 217"/>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54" name="Rectangle 218"/>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55" name="Line 219"/>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5656" name="Group 220"/>
              <p:cNvGrpSpPr>
                <a:grpSpLocks/>
              </p:cNvGrpSpPr>
              <p:nvPr/>
            </p:nvGrpSpPr>
            <p:grpSpPr bwMode="auto">
              <a:xfrm>
                <a:off x="912" y="3592"/>
                <a:ext cx="275" cy="38"/>
                <a:chOff x="912" y="3592"/>
                <a:chExt cx="275" cy="38"/>
              </a:xfrm>
            </p:grpSpPr>
            <p:sp>
              <p:nvSpPr>
                <p:cNvPr id="1725657" name="Freeform 221"/>
                <p:cNvSpPr>
                  <a:spLocks noChangeArrowheads="1"/>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58" name="Freeform 222"/>
                <p:cNvSpPr>
                  <a:spLocks noChangeArrowheads="1"/>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59" name="Rectangle 223"/>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25660" name="Group 224"/>
            <p:cNvGrpSpPr>
              <a:grpSpLocks/>
            </p:cNvGrpSpPr>
            <p:nvPr/>
          </p:nvGrpSpPr>
          <p:grpSpPr bwMode="auto">
            <a:xfrm>
              <a:off x="906" y="3365"/>
              <a:ext cx="275" cy="261"/>
              <a:chOff x="906" y="3365"/>
              <a:chExt cx="275" cy="261"/>
            </a:xfrm>
          </p:grpSpPr>
          <p:sp>
            <p:nvSpPr>
              <p:cNvPr id="1725661" name="Freeform 225"/>
              <p:cNvSpPr>
                <a:spLocks noChangeArrowheads="1"/>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62" name="Freeform 226"/>
              <p:cNvSpPr>
                <a:spLocks noChangeArrowheads="1"/>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63" name="Freeform 227"/>
              <p:cNvSpPr>
                <a:spLocks noChangeArrowheads="1"/>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64" name="Freeform 228"/>
              <p:cNvSpPr>
                <a:spLocks noChangeArrowheads="1"/>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65" name="Rectangle 229"/>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66" name="Rectangle 230"/>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67" name="Rectangle 231"/>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68" name="Line 232"/>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5669" name="Group 233"/>
              <p:cNvGrpSpPr>
                <a:grpSpLocks/>
              </p:cNvGrpSpPr>
              <p:nvPr/>
            </p:nvGrpSpPr>
            <p:grpSpPr bwMode="auto">
              <a:xfrm>
                <a:off x="906" y="3587"/>
                <a:ext cx="275" cy="39"/>
                <a:chOff x="906" y="3587"/>
                <a:chExt cx="275" cy="39"/>
              </a:xfrm>
            </p:grpSpPr>
            <p:sp>
              <p:nvSpPr>
                <p:cNvPr id="1725670" name="Freeform 234"/>
                <p:cNvSpPr>
                  <a:spLocks noChangeArrowheads="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71" name="Freeform 235"/>
                <p:cNvSpPr>
                  <a:spLocks noChangeArrowheads="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72" name="Rectangle 236"/>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25673" name="Group 237"/>
          <p:cNvGrpSpPr>
            <a:grpSpLocks/>
          </p:cNvGrpSpPr>
          <p:nvPr/>
        </p:nvGrpSpPr>
        <p:grpSpPr bwMode="auto">
          <a:xfrm>
            <a:off x="2820988" y="5057775"/>
            <a:ext cx="481012" cy="839788"/>
            <a:chOff x="1660" y="3427"/>
            <a:chExt cx="217" cy="339"/>
          </a:xfrm>
        </p:grpSpPr>
        <p:grpSp>
          <p:nvGrpSpPr>
            <p:cNvPr id="1725674" name="Group 238"/>
            <p:cNvGrpSpPr>
              <a:grpSpLocks/>
            </p:cNvGrpSpPr>
            <p:nvPr/>
          </p:nvGrpSpPr>
          <p:grpSpPr bwMode="auto">
            <a:xfrm>
              <a:off x="1665" y="3433"/>
              <a:ext cx="212" cy="333"/>
              <a:chOff x="1665" y="3433"/>
              <a:chExt cx="212" cy="333"/>
            </a:xfrm>
          </p:grpSpPr>
          <p:sp>
            <p:nvSpPr>
              <p:cNvPr id="1725675" name="Freeform 239"/>
              <p:cNvSpPr>
                <a:spLocks noChangeArrowheads="1"/>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76" name="Freeform 240"/>
              <p:cNvSpPr>
                <a:spLocks noChangeArrowheads="1"/>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77" name="Freeform 241"/>
              <p:cNvSpPr>
                <a:spLocks noChangeArrowheads="1"/>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78" name="Freeform 242"/>
              <p:cNvSpPr>
                <a:spLocks noChangeArrowheads="1"/>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79" name="Rectangle 243"/>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80" name="Rectangle 244"/>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81" name="Line 245"/>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682" name="Line 246"/>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683" name="Line 247"/>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5684" name="Group 248"/>
            <p:cNvGrpSpPr>
              <a:grpSpLocks/>
            </p:cNvGrpSpPr>
            <p:nvPr/>
          </p:nvGrpSpPr>
          <p:grpSpPr bwMode="auto">
            <a:xfrm>
              <a:off x="1660" y="3427"/>
              <a:ext cx="212" cy="333"/>
              <a:chOff x="1660" y="3427"/>
              <a:chExt cx="212" cy="333"/>
            </a:xfrm>
          </p:grpSpPr>
          <p:sp>
            <p:nvSpPr>
              <p:cNvPr id="1725685" name="Freeform 249"/>
              <p:cNvSpPr>
                <a:spLocks noChangeArrowheads="1"/>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86" name="Freeform 250"/>
              <p:cNvSpPr>
                <a:spLocks noChangeArrowheads="1"/>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87" name="Freeform 251"/>
              <p:cNvSpPr>
                <a:spLocks noChangeArrowheads="1"/>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88" name="Freeform 252"/>
              <p:cNvSpPr>
                <a:spLocks noChangeArrowheads="1"/>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689" name="Rectangle 253"/>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90" name="Rectangle 254"/>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91" name="Line 255"/>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692" name="Line 256"/>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693" name="Line 257"/>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5694" name="Rectangle 258"/>
          <p:cNvSpPr>
            <a:spLocks noChangeArrowheads="1"/>
          </p:cNvSpPr>
          <p:nvPr/>
        </p:nvSpPr>
        <p:spPr bwMode="auto">
          <a:xfrm>
            <a:off x="2566988" y="3509963"/>
            <a:ext cx="928687"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95" name="Rectangle 259"/>
          <p:cNvSpPr>
            <a:spLocks noChangeArrowheads="1"/>
          </p:cNvSpPr>
          <p:nvPr/>
        </p:nvSpPr>
        <p:spPr bwMode="auto">
          <a:xfrm>
            <a:off x="2676525" y="3649663"/>
            <a:ext cx="7683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校园网</a:t>
            </a:r>
          </a:p>
        </p:txBody>
      </p:sp>
      <p:sp>
        <p:nvSpPr>
          <p:cNvPr id="1725696" name="Rectangle 260"/>
          <p:cNvSpPr>
            <a:spLocks noChangeArrowheads="1"/>
          </p:cNvSpPr>
          <p:nvPr/>
        </p:nvSpPr>
        <p:spPr bwMode="auto">
          <a:xfrm>
            <a:off x="3459163" y="5543550"/>
            <a:ext cx="1163637"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697" name="Rectangle 261"/>
          <p:cNvSpPr>
            <a:spLocks noChangeArrowheads="1"/>
          </p:cNvSpPr>
          <p:nvPr/>
        </p:nvSpPr>
        <p:spPr bwMode="auto">
          <a:xfrm>
            <a:off x="3895725" y="5661025"/>
            <a:ext cx="2052638"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2000" b="1">
                <a:solidFill>
                  <a:srgbClr val="000099"/>
                </a:solidFill>
                <a:ea typeface="黑体" panose="02010609060101010101" pitchFamily="49" charset="-122"/>
              </a:rPr>
              <a:t>校园网的高速缓存</a:t>
            </a:r>
          </a:p>
          <a:p>
            <a:pPr algn="ctr"/>
            <a:r>
              <a:rPr lang="zh-CN" altLang="en-US" sz="2000" b="1">
                <a:solidFill>
                  <a:srgbClr val="000099"/>
                </a:solidFill>
                <a:ea typeface="黑体" panose="02010609060101010101" pitchFamily="49" charset="-122"/>
              </a:rPr>
              <a:t>（代理服务器）</a:t>
            </a:r>
          </a:p>
        </p:txBody>
      </p:sp>
      <p:grpSp>
        <p:nvGrpSpPr>
          <p:cNvPr id="1725698" name="Group 262"/>
          <p:cNvGrpSpPr>
            <a:grpSpLocks/>
          </p:cNvGrpSpPr>
          <p:nvPr/>
        </p:nvGrpSpPr>
        <p:grpSpPr bwMode="auto">
          <a:xfrm>
            <a:off x="8743950" y="2924175"/>
            <a:ext cx="423863" cy="661988"/>
            <a:chOff x="4305" y="2335"/>
            <a:chExt cx="216" cy="339"/>
          </a:xfrm>
        </p:grpSpPr>
        <p:grpSp>
          <p:nvGrpSpPr>
            <p:cNvPr id="1725699" name="Group 263"/>
            <p:cNvGrpSpPr>
              <a:grpSpLocks/>
            </p:cNvGrpSpPr>
            <p:nvPr/>
          </p:nvGrpSpPr>
          <p:grpSpPr bwMode="auto">
            <a:xfrm>
              <a:off x="4310" y="2341"/>
              <a:ext cx="211" cy="333"/>
              <a:chOff x="4310" y="2341"/>
              <a:chExt cx="211" cy="333"/>
            </a:xfrm>
          </p:grpSpPr>
          <p:sp>
            <p:nvSpPr>
              <p:cNvPr id="1725700" name="Freeform 264"/>
              <p:cNvSpPr>
                <a:spLocks noChangeArrowheads="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Lst>
                <a:ahLst/>
                <a:cxnLst>
                  <a:cxn ang="0">
                    <a:pos x="T0" y="T1"/>
                  </a:cxn>
                  <a:cxn ang="0">
                    <a:pos x="T2" y="T3"/>
                  </a:cxn>
                  <a:cxn ang="0">
                    <a:pos x="T4" y="T5"/>
                  </a:cxn>
                  <a:cxn ang="0">
                    <a:pos x="T6" y="T7"/>
                  </a:cxn>
                  <a:cxn ang="0">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01" name="Freeform 265"/>
              <p:cNvSpPr>
                <a:spLocks noChangeArrowheads="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Lst>
                <a:ahLst/>
                <a:cxnLst>
                  <a:cxn ang="0">
                    <a:pos x="T0" y="T1"/>
                  </a:cxn>
                  <a:cxn ang="0">
                    <a:pos x="T2" y="T3"/>
                  </a:cxn>
                  <a:cxn ang="0">
                    <a:pos x="T4" y="T5"/>
                  </a:cxn>
                  <a:cxn ang="0">
                    <a:pos x="T6" y="T7"/>
                  </a:cxn>
                  <a:cxn ang="0">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02" name="Freeform 266"/>
              <p:cNvSpPr>
                <a:spLocks noChangeArrowheads="1"/>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03" name="Freeform 267"/>
              <p:cNvSpPr>
                <a:spLocks noChangeArrowheads="1"/>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04" name="Rectangle 268"/>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705" name="Rectangle 269"/>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706" name="Line 270"/>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707" name="Line 271"/>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708" name="Line 272"/>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5709" name="Group 273"/>
            <p:cNvGrpSpPr>
              <a:grpSpLocks/>
            </p:cNvGrpSpPr>
            <p:nvPr/>
          </p:nvGrpSpPr>
          <p:grpSpPr bwMode="auto">
            <a:xfrm>
              <a:off x="4305" y="2335"/>
              <a:ext cx="211" cy="332"/>
              <a:chOff x="4305" y="2335"/>
              <a:chExt cx="211" cy="332"/>
            </a:xfrm>
          </p:grpSpPr>
          <p:sp>
            <p:nvSpPr>
              <p:cNvPr id="1725710" name="Freeform 274"/>
              <p:cNvSpPr>
                <a:spLocks noChangeArrowheads="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Lst>
                <a:ahLst/>
                <a:cxnLst>
                  <a:cxn ang="0">
                    <a:pos x="T0" y="T1"/>
                  </a:cxn>
                  <a:cxn ang="0">
                    <a:pos x="T2" y="T3"/>
                  </a:cxn>
                  <a:cxn ang="0">
                    <a:pos x="T4" y="T5"/>
                  </a:cxn>
                  <a:cxn ang="0">
                    <a:pos x="T6" y="T7"/>
                  </a:cxn>
                  <a:cxn ang="0">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11" name="Freeform 275"/>
              <p:cNvSpPr>
                <a:spLocks noChangeArrowheads="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Lst>
                <a:ahLst/>
                <a:cxnLst>
                  <a:cxn ang="0">
                    <a:pos x="T0" y="T1"/>
                  </a:cxn>
                  <a:cxn ang="0">
                    <a:pos x="T2" y="T3"/>
                  </a:cxn>
                  <a:cxn ang="0">
                    <a:pos x="T4" y="T5"/>
                  </a:cxn>
                  <a:cxn ang="0">
                    <a:pos x="T6" y="T7"/>
                  </a:cxn>
                  <a:cxn ang="0">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12" name="Freeform 276"/>
              <p:cNvSpPr>
                <a:spLocks noChangeArrowheads="1"/>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13" name="Freeform 277"/>
              <p:cNvSpPr>
                <a:spLocks noChangeArrowheads="1"/>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14" name="Rectangle 278"/>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715" name="Rectangle 279"/>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716" name="Line 280"/>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717" name="Line 281"/>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718" name="Line 282"/>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5719" name="Rectangle 284"/>
          <p:cNvSpPr>
            <a:spLocks noChangeArrowheads="1"/>
          </p:cNvSpPr>
          <p:nvPr/>
        </p:nvSpPr>
        <p:spPr bwMode="auto">
          <a:xfrm>
            <a:off x="7346950" y="3084513"/>
            <a:ext cx="1282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源点服务器</a:t>
            </a:r>
          </a:p>
        </p:txBody>
      </p:sp>
      <p:sp>
        <p:nvSpPr>
          <p:cNvPr id="1725720" name="Rectangle 285"/>
          <p:cNvSpPr>
            <a:spLocks noChangeArrowheads="1"/>
          </p:cNvSpPr>
          <p:nvPr/>
        </p:nvSpPr>
        <p:spPr bwMode="auto">
          <a:xfrm>
            <a:off x="4525963" y="4092575"/>
            <a:ext cx="8858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721" name="Rectangle 286"/>
          <p:cNvSpPr>
            <a:spLocks noChangeArrowheads="1"/>
          </p:cNvSpPr>
          <p:nvPr/>
        </p:nvSpPr>
        <p:spPr bwMode="auto">
          <a:xfrm>
            <a:off x="5024438" y="4159250"/>
            <a:ext cx="952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2 Mbit/s</a:t>
            </a:r>
          </a:p>
        </p:txBody>
      </p:sp>
      <p:grpSp>
        <p:nvGrpSpPr>
          <p:cNvPr id="1725722" name="Group 287"/>
          <p:cNvGrpSpPr>
            <a:grpSpLocks/>
          </p:cNvGrpSpPr>
          <p:nvPr/>
        </p:nvGrpSpPr>
        <p:grpSpPr bwMode="auto">
          <a:xfrm>
            <a:off x="3101975" y="5543550"/>
            <a:ext cx="566738" cy="260350"/>
            <a:chOff x="1872" y="3676"/>
            <a:chExt cx="227" cy="136"/>
          </a:xfrm>
        </p:grpSpPr>
        <p:sp>
          <p:nvSpPr>
            <p:cNvPr id="1725723" name="Line 288"/>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724" name="Freeform 289"/>
            <p:cNvSpPr>
              <a:spLocks noChangeArrowheads="1"/>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Lst>
              <a:ahLst/>
              <a:cxnLst>
                <a:cxn ang="0">
                  <a:pos x="T0" y="T1"/>
                </a:cxn>
                <a:cxn ang="0">
                  <a:pos x="T2" y="T3"/>
                </a:cxn>
                <a:cxn ang="0">
                  <a:pos x="T4" y="T5"/>
                </a:cxn>
                <a:cxn ang="0">
                  <a:pos x="T6" y="T7"/>
                </a:cxn>
              </a:cxnLst>
              <a:rect l="0" t="0" r="r" b="b"/>
              <a:pathLst>
                <a:path w="62" h="47">
                  <a:moveTo>
                    <a:pt x="62" y="15"/>
                  </a:moveTo>
                  <a:lnTo>
                    <a:pt x="0" y="0"/>
                  </a:lnTo>
                  <a:lnTo>
                    <a:pt x="42" y="47"/>
                  </a:lnTo>
                  <a:lnTo>
                    <a:pt x="62" y="15"/>
                  </a:lnTo>
                  <a:close/>
                </a:path>
              </a:pathLst>
            </a:custGeom>
            <a:solidFill>
              <a:srgbClr val="000000"/>
            </a:solidFill>
            <a:ln w="28575">
              <a:solidFill>
                <a:srgbClr val="333399"/>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1725725" name="Group 290"/>
          <p:cNvGrpSpPr>
            <a:grpSpLocks/>
          </p:cNvGrpSpPr>
          <p:nvPr/>
        </p:nvGrpSpPr>
        <p:grpSpPr bwMode="auto">
          <a:xfrm>
            <a:off x="6577013" y="4287838"/>
            <a:ext cx="606425" cy="374650"/>
            <a:chOff x="3202" y="3033"/>
            <a:chExt cx="309" cy="192"/>
          </a:xfrm>
        </p:grpSpPr>
        <p:sp>
          <p:nvSpPr>
            <p:cNvPr id="1725726" name="Oval 291"/>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sp>
          <p:nvSpPr>
            <p:cNvPr id="1725727" name="Rectangle 292"/>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728" name="Rectangle 293"/>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729" name="Oval 294"/>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grpSp>
          <p:nvGrpSpPr>
            <p:cNvPr id="1725730" name="Group 295"/>
            <p:cNvGrpSpPr>
              <a:grpSpLocks/>
            </p:cNvGrpSpPr>
            <p:nvPr/>
          </p:nvGrpSpPr>
          <p:grpSpPr bwMode="auto">
            <a:xfrm>
              <a:off x="3249" y="3046"/>
              <a:ext cx="214" cy="86"/>
              <a:chOff x="3249" y="3046"/>
              <a:chExt cx="214" cy="86"/>
            </a:xfrm>
          </p:grpSpPr>
          <p:grpSp>
            <p:nvGrpSpPr>
              <p:cNvPr id="1725731" name="Group 296"/>
              <p:cNvGrpSpPr>
                <a:grpSpLocks/>
              </p:cNvGrpSpPr>
              <p:nvPr/>
            </p:nvGrpSpPr>
            <p:grpSpPr bwMode="auto">
              <a:xfrm>
                <a:off x="3249" y="3046"/>
                <a:ext cx="212" cy="84"/>
                <a:chOff x="3249" y="3046"/>
                <a:chExt cx="212" cy="84"/>
              </a:xfrm>
            </p:grpSpPr>
            <p:sp>
              <p:nvSpPr>
                <p:cNvPr id="1725732" name="Freeform 297"/>
                <p:cNvSpPr>
                  <a:spLocks noChangeArrowheads="1"/>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33" name="Freeform 298"/>
                <p:cNvSpPr>
                  <a:spLocks noChangeArrowheads="1"/>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34" name="Freeform 299"/>
                <p:cNvSpPr>
                  <a:spLocks noChangeArrowheads="1"/>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35" name="Freeform 300"/>
                <p:cNvSpPr>
                  <a:spLocks noChangeArrowheads="1"/>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36" name="Freeform 301"/>
                <p:cNvSpPr>
                  <a:spLocks noChangeArrowheads="1"/>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37" name="Freeform 302"/>
                <p:cNvSpPr>
                  <a:spLocks noChangeArrowheads="1"/>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38" name="Freeform 303"/>
                <p:cNvSpPr>
                  <a:spLocks noChangeArrowheads="1"/>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39" name="Freeform 304"/>
                <p:cNvSpPr>
                  <a:spLocks noChangeArrowheads="1"/>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5740" name="Group 305"/>
              <p:cNvGrpSpPr>
                <a:grpSpLocks/>
              </p:cNvGrpSpPr>
              <p:nvPr/>
            </p:nvGrpSpPr>
            <p:grpSpPr bwMode="auto">
              <a:xfrm>
                <a:off x="3251" y="3048"/>
                <a:ext cx="212" cy="84"/>
                <a:chOff x="3251" y="3048"/>
                <a:chExt cx="212" cy="84"/>
              </a:xfrm>
            </p:grpSpPr>
            <p:sp>
              <p:nvSpPr>
                <p:cNvPr id="1725741" name="Freeform 306"/>
                <p:cNvSpPr>
                  <a:spLocks noChangeArrowheads="1"/>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42" name="Freeform 307"/>
                <p:cNvSpPr>
                  <a:spLocks noChangeArrowheads="1"/>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43" name="Freeform 308"/>
                <p:cNvSpPr>
                  <a:spLocks noChangeArrowheads="1"/>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44" name="Freeform 309"/>
                <p:cNvSpPr>
                  <a:spLocks noChangeArrowheads="1"/>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45" name="Freeform 310"/>
                <p:cNvSpPr>
                  <a:spLocks noChangeArrowheads="1"/>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46" name="Freeform 311"/>
                <p:cNvSpPr>
                  <a:spLocks noChangeArrowheads="1"/>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47" name="Freeform 312"/>
                <p:cNvSpPr>
                  <a:spLocks noChangeArrowheads="1"/>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5748" name="Freeform 313"/>
                <p:cNvSpPr>
                  <a:spLocks noChangeArrowheads="1"/>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5749" name="Line 314"/>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750" name="Line 315"/>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725751" name="Rectangle 316"/>
          <p:cNvSpPr>
            <a:spLocks noChangeArrowheads="1"/>
          </p:cNvSpPr>
          <p:nvPr/>
        </p:nvSpPr>
        <p:spPr bwMode="auto">
          <a:xfrm>
            <a:off x="7196138" y="3863975"/>
            <a:ext cx="9271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752" name="Rectangle 317"/>
          <p:cNvSpPr>
            <a:spLocks noChangeArrowheads="1"/>
          </p:cNvSpPr>
          <p:nvPr/>
        </p:nvSpPr>
        <p:spPr bwMode="auto">
          <a:xfrm>
            <a:off x="7527925" y="4292600"/>
            <a:ext cx="7683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互联网</a:t>
            </a:r>
          </a:p>
        </p:txBody>
      </p:sp>
      <p:sp>
        <p:nvSpPr>
          <p:cNvPr id="1725753" name="Rectangle 318"/>
          <p:cNvSpPr>
            <a:spLocks noChangeArrowheads="1"/>
          </p:cNvSpPr>
          <p:nvPr/>
        </p:nvSpPr>
        <p:spPr bwMode="auto">
          <a:xfrm>
            <a:off x="3994150" y="3951288"/>
            <a:ext cx="415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754" name="Rectangle 319"/>
          <p:cNvSpPr>
            <a:spLocks noChangeArrowheads="1"/>
          </p:cNvSpPr>
          <p:nvPr/>
        </p:nvSpPr>
        <p:spPr bwMode="auto">
          <a:xfrm>
            <a:off x="3101975" y="4659313"/>
            <a:ext cx="4524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755" name="Rectangle 321"/>
          <p:cNvSpPr>
            <a:spLocks noChangeArrowheads="1"/>
          </p:cNvSpPr>
          <p:nvPr/>
        </p:nvSpPr>
        <p:spPr bwMode="auto">
          <a:xfrm>
            <a:off x="1851025" y="4305300"/>
            <a:ext cx="454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5756" name="Rectangle 323"/>
          <p:cNvSpPr>
            <a:spLocks noChangeArrowheads="1"/>
          </p:cNvSpPr>
          <p:nvPr/>
        </p:nvSpPr>
        <p:spPr bwMode="auto">
          <a:xfrm>
            <a:off x="461963" y="3965575"/>
            <a:ext cx="7699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浏览器</a:t>
            </a:r>
          </a:p>
        </p:txBody>
      </p:sp>
      <p:sp>
        <p:nvSpPr>
          <p:cNvPr id="1725757" name="Rectangle 324"/>
          <p:cNvSpPr>
            <a:spLocks noChangeArrowheads="1"/>
          </p:cNvSpPr>
          <p:nvPr/>
        </p:nvSpPr>
        <p:spPr bwMode="auto">
          <a:xfrm>
            <a:off x="4043363" y="3979863"/>
            <a:ext cx="2809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1</a:t>
            </a:r>
          </a:p>
        </p:txBody>
      </p:sp>
      <p:sp>
        <p:nvSpPr>
          <p:cNvPr id="1725758" name="Rectangle 325"/>
          <p:cNvSpPr>
            <a:spLocks noChangeArrowheads="1"/>
          </p:cNvSpPr>
          <p:nvPr/>
        </p:nvSpPr>
        <p:spPr bwMode="auto">
          <a:xfrm>
            <a:off x="6388100" y="4005263"/>
            <a:ext cx="279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2</a:t>
            </a:r>
          </a:p>
        </p:txBody>
      </p:sp>
      <p:sp>
        <p:nvSpPr>
          <p:cNvPr id="562502" name="Freeform 326"/>
          <p:cNvSpPr>
            <a:spLocks noChangeArrowheads="1"/>
          </p:cNvSpPr>
          <p:nvPr/>
        </p:nvSpPr>
        <p:spPr bwMode="auto">
          <a:xfrm>
            <a:off x="1836738" y="4268788"/>
            <a:ext cx="990600" cy="1023937"/>
          </a:xfrm>
          <a:custGeom>
            <a:avLst/>
            <a:gdLst>
              <a:gd name="T0" fmla="*/ 0 w 504"/>
              <a:gd name="T1" fmla="*/ 0 h 524"/>
              <a:gd name="T2" fmla="*/ 504 w 504"/>
              <a:gd name="T3" fmla="*/ 524 h 524"/>
            </a:gdLst>
            <a:ahLst/>
            <a:cxnLst>
              <a:cxn ang="0">
                <a:pos x="T0" y="T1"/>
              </a:cxn>
              <a:cxn ang="0">
                <a:pos x="T2" y="T3"/>
              </a:cxn>
            </a:cxnLst>
            <a:rect l="0" t="0" r="r" b="b"/>
            <a:pathLst>
              <a:path w="504" h="524">
                <a:moveTo>
                  <a:pt x="0" y="0"/>
                </a:moveTo>
                <a:cubicBezTo>
                  <a:pt x="84" y="87"/>
                  <a:pt x="399" y="415"/>
                  <a:pt x="504" y="524"/>
                </a:cubicBezTo>
              </a:path>
            </a:pathLst>
          </a:custGeom>
          <a:noFill/>
          <a:ln w="38100">
            <a:solidFill>
              <a:schemeClr val="hlink"/>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562506" name="Freeform 330"/>
          <p:cNvSpPr>
            <a:spLocks noChangeArrowheads="1"/>
          </p:cNvSpPr>
          <p:nvPr/>
        </p:nvSpPr>
        <p:spPr bwMode="auto">
          <a:xfrm>
            <a:off x="1073150" y="4624388"/>
            <a:ext cx="1801813" cy="871537"/>
          </a:xfrm>
          <a:custGeom>
            <a:avLst/>
            <a:gdLst>
              <a:gd name="T0" fmla="*/ 0 w 917"/>
              <a:gd name="T1" fmla="*/ 0 h 446"/>
              <a:gd name="T2" fmla="*/ 917 w 917"/>
              <a:gd name="T3" fmla="*/ 446 h 446"/>
            </a:gdLst>
            <a:ahLst/>
            <a:cxnLst>
              <a:cxn ang="0">
                <a:pos x="T0" y="T1"/>
              </a:cxn>
              <a:cxn ang="0">
                <a:pos x="T2" y="T3"/>
              </a:cxn>
            </a:cxnLst>
            <a:rect l="0" t="0" r="r" b="b"/>
            <a:pathLst>
              <a:path w="917" h="446">
                <a:moveTo>
                  <a:pt x="0" y="0"/>
                </a:moveTo>
                <a:cubicBezTo>
                  <a:pt x="153" y="74"/>
                  <a:pt x="726" y="353"/>
                  <a:pt x="917" y="446"/>
                </a:cubicBezTo>
              </a:path>
            </a:pathLst>
          </a:custGeom>
          <a:noFill/>
          <a:ln w="38100">
            <a:solidFill>
              <a:schemeClr val="hlink"/>
            </a:solidFill>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562507" name="Freeform 331"/>
          <p:cNvSpPr>
            <a:spLocks noChangeArrowheads="1"/>
          </p:cNvSpPr>
          <p:nvPr/>
        </p:nvSpPr>
        <p:spPr bwMode="auto">
          <a:xfrm>
            <a:off x="1684338" y="5276850"/>
            <a:ext cx="1155700" cy="366713"/>
          </a:xfrm>
          <a:custGeom>
            <a:avLst/>
            <a:gdLst>
              <a:gd name="T0" fmla="*/ 0 w 588"/>
              <a:gd name="T1" fmla="*/ 0 h 188"/>
              <a:gd name="T2" fmla="*/ 588 w 588"/>
              <a:gd name="T3" fmla="*/ 188 h 188"/>
            </a:gdLst>
            <a:ahLst/>
            <a:cxnLst>
              <a:cxn ang="0">
                <a:pos x="T0" y="T1"/>
              </a:cxn>
              <a:cxn ang="0">
                <a:pos x="T2" y="T3"/>
              </a:cxn>
            </a:cxnLst>
            <a:rect l="0" t="0" r="r" b="b"/>
            <a:pathLst>
              <a:path w="588" h="188">
                <a:moveTo>
                  <a:pt x="0" y="0"/>
                </a:moveTo>
                <a:cubicBezTo>
                  <a:pt x="98" y="31"/>
                  <a:pt x="466" y="149"/>
                  <a:pt x="588" y="188"/>
                </a:cubicBezTo>
              </a:path>
            </a:pathLst>
          </a:custGeom>
          <a:noFill/>
          <a:ln w="38100">
            <a:solidFill>
              <a:schemeClr val="hlink"/>
            </a:solidFill>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562508" name="Freeform 332"/>
          <p:cNvSpPr>
            <a:spLocks noChangeArrowheads="1"/>
          </p:cNvSpPr>
          <p:nvPr/>
        </p:nvSpPr>
        <p:spPr bwMode="auto">
          <a:xfrm>
            <a:off x="1695450" y="3382963"/>
            <a:ext cx="1219200" cy="1776412"/>
          </a:xfrm>
          <a:custGeom>
            <a:avLst/>
            <a:gdLst>
              <a:gd name="T0" fmla="*/ 0 w 620"/>
              <a:gd name="T1" fmla="*/ 0 h 909"/>
              <a:gd name="T2" fmla="*/ 620 w 620"/>
              <a:gd name="T3" fmla="*/ 909 h 909"/>
            </a:gdLst>
            <a:ahLst/>
            <a:cxnLst>
              <a:cxn ang="0">
                <a:pos x="T0" y="T1"/>
              </a:cxn>
              <a:cxn ang="0">
                <a:pos x="T2" y="T3"/>
              </a:cxn>
            </a:cxnLst>
            <a:rect l="0" t="0" r="r" b="b"/>
            <a:pathLst>
              <a:path w="620" h="909">
                <a:moveTo>
                  <a:pt x="0" y="0"/>
                </a:moveTo>
                <a:cubicBezTo>
                  <a:pt x="103" y="151"/>
                  <a:pt x="491" y="720"/>
                  <a:pt x="620" y="909"/>
                </a:cubicBezTo>
              </a:path>
            </a:pathLst>
          </a:custGeom>
          <a:noFill/>
          <a:ln w="38100">
            <a:solidFill>
              <a:schemeClr val="hlink"/>
            </a:solidFill>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5763" name="Text Box 340"/>
          <p:cNvSpPr txBox="1">
            <a:spLocks noChangeArrowheads="1"/>
          </p:cNvSpPr>
          <p:nvPr/>
        </p:nvSpPr>
        <p:spPr bwMode="auto">
          <a:xfrm>
            <a:off x="576263" y="1263650"/>
            <a:ext cx="8913812" cy="1373188"/>
          </a:xfrm>
          <a:prstGeom prst="rect">
            <a:avLst/>
          </a:prstGeom>
          <a:solidFill>
            <a:srgbClr val="FFFF66"/>
          </a:solidFill>
          <a:ln w="9525">
            <a:solidFill>
              <a:srgbClr val="000066"/>
            </a:solidFill>
            <a:round/>
            <a:headEnd/>
            <a:tailEnd/>
          </a:ln>
        </p:spPr>
        <p:txBody>
          <a:bodyPr>
            <a:spAutoFit/>
          </a:bodyPr>
          <a:lstStyle/>
          <a:p>
            <a:r>
              <a:rPr lang="en-US" altLang="zh-CN" sz="2800" b="1">
                <a:solidFill>
                  <a:srgbClr val="000066"/>
                </a:solidFill>
                <a:ea typeface="黑体" panose="02010609060101010101" pitchFamily="49" charset="-122"/>
              </a:rPr>
              <a:t>(1) </a:t>
            </a:r>
            <a:r>
              <a:rPr lang="zh-CN" altLang="en-US" sz="2800" b="1">
                <a:solidFill>
                  <a:srgbClr val="000066"/>
                </a:solidFill>
                <a:ea typeface="黑体" panose="02010609060101010101" pitchFamily="49" charset="-122"/>
              </a:rPr>
              <a:t>浏览器访问互联网的服务器时，要先与校园网的高速缓存建立 </a:t>
            </a:r>
            <a:r>
              <a:rPr lang="en-US" altLang="zh-CN" sz="2800" b="1">
                <a:solidFill>
                  <a:srgbClr val="000066"/>
                </a:solidFill>
                <a:ea typeface="黑体" panose="02010609060101010101" pitchFamily="49" charset="-122"/>
              </a:rPr>
              <a:t>TCP </a:t>
            </a:r>
            <a:r>
              <a:rPr lang="zh-CN" altLang="en-US" sz="2800" b="1">
                <a:solidFill>
                  <a:srgbClr val="000066"/>
                </a:solidFill>
                <a:ea typeface="黑体" panose="02010609060101010101" pitchFamily="49" charset="-122"/>
              </a:rPr>
              <a:t>连接，并向高速缓存发出 </a:t>
            </a:r>
            <a:r>
              <a:rPr lang="en-US" altLang="zh-CN" sz="2800" b="1">
                <a:solidFill>
                  <a:srgbClr val="000066"/>
                </a:solidFill>
                <a:ea typeface="黑体" panose="02010609060101010101" pitchFamily="49" charset="-122"/>
              </a:rPr>
              <a:t>HTTP </a:t>
            </a:r>
            <a:r>
              <a:rPr lang="zh-CN" altLang="en-US" sz="2800" b="1">
                <a:solidFill>
                  <a:srgbClr val="000066"/>
                </a:solidFill>
                <a:ea typeface="黑体" panose="02010609060101010101" pitchFamily="49" charset="-122"/>
              </a:rPr>
              <a:t>请求报文。</a:t>
            </a:r>
          </a:p>
        </p:txBody>
      </p:sp>
      <p:sp>
        <p:nvSpPr>
          <p:cNvPr id="172576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E96BAE8-5F4F-4DEC-AFEA-61BB49F66EC7}" type="slidenum">
              <a:rPr lang="zh-CN" altLang="en-US" smtClean="0"/>
              <a:pPr eaLnBrk="1" hangingPunct="1"/>
              <a:t>35</a:t>
            </a:fld>
            <a:endParaRPr lang="en-US" altLang="zh-CN" smtClean="0"/>
          </a:p>
        </p:txBody>
      </p:sp>
      <p:sp>
        <p:nvSpPr>
          <p:cNvPr id="172576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62508"/>
                                        </p:tgtEl>
                                        <p:attrNameLst>
                                          <p:attrName>style.visibility</p:attrName>
                                        </p:attrNameLst>
                                      </p:cBhvr>
                                      <p:to>
                                        <p:strVal val="visible"/>
                                      </p:to>
                                    </p:set>
                                    <p:animEffect transition="in" filter="wipe(up)">
                                      <p:cBhvr>
                                        <p:cTn id="7" dur="500"/>
                                        <p:tgtEl>
                                          <p:spTgt spid="562508"/>
                                        </p:tgtEl>
                                      </p:cBhvr>
                                    </p:animEffect>
                                  </p:childTnLst>
                                </p:cTn>
                              </p:par>
                            </p:childTnLst>
                          </p:cTn>
                        </p:par>
                        <p:par>
                          <p:cTn id="8" fill="hold" nodeType="afterGroup">
                            <p:stCondLst>
                              <p:cond delay="500"/>
                            </p:stCondLst>
                            <p:childTnLst>
                              <p:par>
                                <p:cTn id="9" presetID="22" presetClass="entr" presetSubtype="1" fill="hold" grpId="0" nodeType="afterEffect">
                                  <p:stCondLst>
                                    <p:cond delay="500"/>
                                  </p:stCondLst>
                                  <p:childTnLst>
                                    <p:set>
                                      <p:cBhvr>
                                        <p:cTn id="10" dur="1" fill="hold">
                                          <p:stCondLst>
                                            <p:cond delay="0"/>
                                          </p:stCondLst>
                                        </p:cTn>
                                        <p:tgtEl>
                                          <p:spTgt spid="562502"/>
                                        </p:tgtEl>
                                        <p:attrNameLst>
                                          <p:attrName>style.visibility</p:attrName>
                                        </p:attrNameLst>
                                      </p:cBhvr>
                                      <p:to>
                                        <p:strVal val="visible"/>
                                      </p:to>
                                    </p:set>
                                    <p:animEffect transition="in" filter="wipe(up)">
                                      <p:cBhvr>
                                        <p:cTn id="11" dur="500"/>
                                        <p:tgtEl>
                                          <p:spTgt spid="562502"/>
                                        </p:tgtEl>
                                      </p:cBhvr>
                                    </p:animEffect>
                                  </p:childTnLst>
                                </p:cTn>
                              </p:par>
                            </p:childTnLst>
                          </p:cTn>
                        </p:par>
                        <p:par>
                          <p:cTn id="12" fill="hold" nodeType="afterGroup">
                            <p:stCondLst>
                              <p:cond delay="1500"/>
                            </p:stCondLst>
                            <p:childTnLst>
                              <p:par>
                                <p:cTn id="13" presetID="22" presetClass="entr" presetSubtype="8" fill="hold" grpId="0" nodeType="afterEffect">
                                  <p:stCondLst>
                                    <p:cond delay="500"/>
                                  </p:stCondLst>
                                  <p:childTnLst>
                                    <p:set>
                                      <p:cBhvr>
                                        <p:cTn id="14" dur="1" fill="hold">
                                          <p:stCondLst>
                                            <p:cond delay="0"/>
                                          </p:stCondLst>
                                        </p:cTn>
                                        <p:tgtEl>
                                          <p:spTgt spid="562506"/>
                                        </p:tgtEl>
                                        <p:attrNameLst>
                                          <p:attrName>style.visibility</p:attrName>
                                        </p:attrNameLst>
                                      </p:cBhvr>
                                      <p:to>
                                        <p:strVal val="visible"/>
                                      </p:to>
                                    </p:set>
                                    <p:animEffect transition="in" filter="wipe(left)">
                                      <p:cBhvr>
                                        <p:cTn id="15" dur="500"/>
                                        <p:tgtEl>
                                          <p:spTgt spid="562506"/>
                                        </p:tgtEl>
                                      </p:cBhvr>
                                    </p:animEffect>
                                  </p:childTnLst>
                                </p:cTn>
                              </p:par>
                            </p:childTnLst>
                          </p:cTn>
                        </p:par>
                        <p:par>
                          <p:cTn id="16" fill="hold" nodeType="afterGroup">
                            <p:stCondLst>
                              <p:cond delay="2500"/>
                            </p:stCondLst>
                            <p:childTnLst>
                              <p:par>
                                <p:cTn id="17" presetID="22" presetClass="entr" presetSubtype="8" fill="hold" grpId="0" nodeType="afterEffect">
                                  <p:stCondLst>
                                    <p:cond delay="500"/>
                                  </p:stCondLst>
                                  <p:childTnLst>
                                    <p:set>
                                      <p:cBhvr>
                                        <p:cTn id="18" dur="1" fill="hold">
                                          <p:stCondLst>
                                            <p:cond delay="0"/>
                                          </p:stCondLst>
                                        </p:cTn>
                                        <p:tgtEl>
                                          <p:spTgt spid="562507"/>
                                        </p:tgtEl>
                                        <p:attrNameLst>
                                          <p:attrName>style.visibility</p:attrName>
                                        </p:attrNameLst>
                                      </p:cBhvr>
                                      <p:to>
                                        <p:strVal val="visible"/>
                                      </p:to>
                                    </p:set>
                                    <p:animEffect transition="in" filter="wipe(left)">
                                      <p:cBhvr>
                                        <p:cTn id="19" dur="500"/>
                                        <p:tgtEl>
                                          <p:spTgt spid="562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502" grpId="0" animBg="1"/>
      <p:bldP spid="562506" grpId="0" animBg="1"/>
      <p:bldP spid="562507" grpId="0" animBg="1"/>
      <p:bldP spid="56250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7489" name="Rectangle 2"/>
          <p:cNvSpPr>
            <a:spLocks noGrp="1" noChangeArrowheads="1"/>
          </p:cNvSpPr>
          <p:nvPr>
            <p:ph type="title"/>
          </p:nvPr>
        </p:nvSpPr>
        <p:spPr/>
        <p:txBody>
          <a:bodyPr/>
          <a:lstStyle/>
          <a:p>
            <a:pPr algn="ctr"/>
            <a:r>
              <a:rPr lang="zh-CN" altLang="zh-CN" smtClean="0">
                <a:ea typeface="黑体" panose="02010609060101010101" pitchFamily="49" charset="-122"/>
              </a:rPr>
              <a:t>使用高速缓存的情况</a:t>
            </a:r>
          </a:p>
        </p:txBody>
      </p:sp>
      <p:grpSp>
        <p:nvGrpSpPr>
          <p:cNvPr id="1727490" name="Group 3"/>
          <p:cNvGrpSpPr>
            <a:grpSpLocks/>
          </p:cNvGrpSpPr>
          <p:nvPr/>
        </p:nvGrpSpPr>
        <p:grpSpPr bwMode="auto">
          <a:xfrm>
            <a:off x="271463" y="3205163"/>
            <a:ext cx="3743325" cy="2570162"/>
            <a:chOff x="912" y="768"/>
            <a:chExt cx="2400" cy="1584"/>
          </a:xfrm>
        </p:grpSpPr>
        <p:sp>
          <p:nvSpPr>
            <p:cNvPr id="1727491"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492"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493"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494"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495"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496"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497"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498"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499"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grpSp>
          <p:nvGrpSpPr>
            <p:cNvPr id="1727500" name="Group 13"/>
            <p:cNvGrpSpPr>
              <a:grpSpLocks/>
            </p:cNvGrpSpPr>
            <p:nvPr/>
          </p:nvGrpSpPr>
          <p:grpSpPr bwMode="auto">
            <a:xfrm>
              <a:off x="912" y="768"/>
              <a:ext cx="2386" cy="1553"/>
              <a:chOff x="912" y="768"/>
              <a:chExt cx="2386" cy="1553"/>
            </a:xfrm>
          </p:grpSpPr>
          <p:sp>
            <p:nvSpPr>
              <p:cNvPr id="1727501"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02"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03"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04"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05"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06"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07"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08"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09"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grpSp>
      </p:grpSp>
      <p:graphicFrame>
        <p:nvGraphicFramePr>
          <p:cNvPr id="1727510" name="Object 23"/>
          <p:cNvGraphicFramePr>
            <a:graphicFrameLocks noChangeAspect="1"/>
          </p:cNvGraphicFramePr>
          <p:nvPr/>
        </p:nvGraphicFramePr>
        <p:xfrm>
          <a:off x="7086600" y="3929063"/>
          <a:ext cx="1917700" cy="1149350"/>
        </p:xfrm>
        <a:graphic>
          <a:graphicData uri="http://schemas.openxmlformats.org/presentationml/2006/ole">
            <mc:AlternateContent xmlns:mc="http://schemas.openxmlformats.org/markup-compatibility/2006">
              <mc:Choice xmlns:v="urn:schemas-microsoft-com:vml" Requires="v">
                <p:oleObj spid="_x0000_s1727842" r:id="rId4" imgW="1687068" imgH="964692" progId="Visio.Drawing.6">
                  <p:embed/>
                </p:oleObj>
              </mc:Choice>
              <mc:Fallback>
                <p:oleObj r:id="rId4" imgW="1687068" imgH="964692" progId="Visio.Drawing.6">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3929063"/>
                        <a:ext cx="19177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27511" name="Line 24"/>
          <p:cNvSpPr>
            <a:spLocks noChangeShapeType="1"/>
          </p:cNvSpPr>
          <p:nvPr/>
        </p:nvSpPr>
        <p:spPr bwMode="auto">
          <a:xfrm>
            <a:off x="4046538" y="4491038"/>
            <a:ext cx="2735262"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12" name="Line 25"/>
          <p:cNvSpPr>
            <a:spLocks noChangeShapeType="1"/>
          </p:cNvSpPr>
          <p:nvPr/>
        </p:nvSpPr>
        <p:spPr bwMode="auto">
          <a:xfrm>
            <a:off x="8274050" y="5000625"/>
            <a:ext cx="703263" cy="542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13" name="Line 26"/>
          <p:cNvSpPr>
            <a:spLocks noChangeShapeType="1"/>
          </p:cNvSpPr>
          <p:nvPr/>
        </p:nvSpPr>
        <p:spPr bwMode="auto">
          <a:xfrm>
            <a:off x="8680450" y="4721225"/>
            <a:ext cx="563563" cy="115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14" name="Line 27"/>
          <p:cNvSpPr>
            <a:spLocks noChangeShapeType="1"/>
          </p:cNvSpPr>
          <p:nvPr/>
        </p:nvSpPr>
        <p:spPr bwMode="auto">
          <a:xfrm flipV="1">
            <a:off x="8710613" y="4040188"/>
            <a:ext cx="533400" cy="153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15" name="Line 28"/>
          <p:cNvSpPr>
            <a:spLocks noChangeShapeType="1"/>
          </p:cNvSpPr>
          <p:nvPr/>
        </p:nvSpPr>
        <p:spPr bwMode="auto">
          <a:xfrm flipV="1">
            <a:off x="8240713" y="3421063"/>
            <a:ext cx="736600" cy="5953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7516" name="Group 29"/>
          <p:cNvGrpSpPr>
            <a:grpSpLocks/>
          </p:cNvGrpSpPr>
          <p:nvPr/>
        </p:nvGrpSpPr>
        <p:grpSpPr bwMode="auto">
          <a:xfrm>
            <a:off x="9099550" y="3695700"/>
            <a:ext cx="427038" cy="661988"/>
            <a:chOff x="4486" y="2730"/>
            <a:chExt cx="217" cy="339"/>
          </a:xfrm>
        </p:grpSpPr>
        <p:grpSp>
          <p:nvGrpSpPr>
            <p:cNvPr id="1727517" name="Group 30"/>
            <p:cNvGrpSpPr>
              <a:grpSpLocks/>
            </p:cNvGrpSpPr>
            <p:nvPr/>
          </p:nvGrpSpPr>
          <p:grpSpPr bwMode="auto">
            <a:xfrm>
              <a:off x="4491" y="2736"/>
              <a:ext cx="212" cy="333"/>
              <a:chOff x="4491" y="2736"/>
              <a:chExt cx="212" cy="333"/>
            </a:xfrm>
          </p:grpSpPr>
          <p:sp>
            <p:nvSpPr>
              <p:cNvPr id="1727518" name="Freeform 31"/>
              <p:cNvSpPr>
                <a:spLocks noChangeArrowheads="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19" name="Freeform 32"/>
              <p:cNvSpPr>
                <a:spLocks noChangeArrowheads="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20" name="Freeform 33"/>
              <p:cNvSpPr>
                <a:spLocks noChangeArrowheads="1"/>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21" name="Freeform 34"/>
              <p:cNvSpPr>
                <a:spLocks noChangeArrowheads="1"/>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22" name="Rectangle 35"/>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23" name="Rectangle 36"/>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24" name="Line 37"/>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25" name="Line 38"/>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26" name="Line 39"/>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7527" name="Group 40"/>
            <p:cNvGrpSpPr>
              <a:grpSpLocks/>
            </p:cNvGrpSpPr>
            <p:nvPr/>
          </p:nvGrpSpPr>
          <p:grpSpPr bwMode="auto">
            <a:xfrm>
              <a:off x="4486" y="2730"/>
              <a:ext cx="212" cy="333"/>
              <a:chOff x="4486" y="2730"/>
              <a:chExt cx="212" cy="333"/>
            </a:xfrm>
          </p:grpSpPr>
          <p:sp>
            <p:nvSpPr>
              <p:cNvPr id="1727528" name="Freeform 41"/>
              <p:cNvSpPr>
                <a:spLocks noChangeArrowheads="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29" name="Freeform 42"/>
              <p:cNvSpPr>
                <a:spLocks noChangeArrowheads="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30" name="Freeform 43"/>
              <p:cNvSpPr>
                <a:spLocks noChangeArrowheads="1"/>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31" name="Freeform 44"/>
              <p:cNvSpPr>
                <a:spLocks noChangeArrowheads="1"/>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32" name="Rectangle 45"/>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33" name="Rectangle 46"/>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34" name="Line 47"/>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35" name="Line 48"/>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36" name="Line 49"/>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727537" name="Group 50"/>
          <p:cNvGrpSpPr>
            <a:grpSpLocks/>
          </p:cNvGrpSpPr>
          <p:nvPr/>
        </p:nvGrpSpPr>
        <p:grpSpPr bwMode="auto">
          <a:xfrm>
            <a:off x="9099550" y="4556125"/>
            <a:ext cx="427038" cy="661988"/>
            <a:chOff x="4486" y="3170"/>
            <a:chExt cx="217" cy="339"/>
          </a:xfrm>
        </p:grpSpPr>
        <p:grpSp>
          <p:nvGrpSpPr>
            <p:cNvPr id="1727538" name="Group 51"/>
            <p:cNvGrpSpPr>
              <a:grpSpLocks/>
            </p:cNvGrpSpPr>
            <p:nvPr/>
          </p:nvGrpSpPr>
          <p:grpSpPr bwMode="auto">
            <a:xfrm>
              <a:off x="4491" y="3176"/>
              <a:ext cx="212" cy="333"/>
              <a:chOff x="4491" y="3176"/>
              <a:chExt cx="212" cy="333"/>
            </a:xfrm>
          </p:grpSpPr>
          <p:sp>
            <p:nvSpPr>
              <p:cNvPr id="1727539" name="Freeform 52"/>
              <p:cNvSpPr>
                <a:spLocks noChangeArrowheads="1"/>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40" name="Freeform 53"/>
              <p:cNvSpPr>
                <a:spLocks noChangeArrowheads="1"/>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41" name="Freeform 54"/>
              <p:cNvSpPr>
                <a:spLocks noChangeArrowheads="1"/>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42" name="Freeform 55"/>
              <p:cNvSpPr>
                <a:spLocks noChangeArrowheads="1"/>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43" name="Rectangle 56"/>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44" name="Rectangle 57"/>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45" name="Line 58"/>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46" name="Line 59"/>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47" name="Line 60"/>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7548" name="Group 61"/>
            <p:cNvGrpSpPr>
              <a:grpSpLocks/>
            </p:cNvGrpSpPr>
            <p:nvPr/>
          </p:nvGrpSpPr>
          <p:grpSpPr bwMode="auto">
            <a:xfrm>
              <a:off x="4486" y="3170"/>
              <a:ext cx="212" cy="332"/>
              <a:chOff x="4486" y="3170"/>
              <a:chExt cx="212" cy="332"/>
            </a:xfrm>
          </p:grpSpPr>
          <p:sp>
            <p:nvSpPr>
              <p:cNvPr id="1727549" name="Freeform 62"/>
              <p:cNvSpPr>
                <a:spLocks noChangeArrowheads="1"/>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50" name="Freeform 63"/>
              <p:cNvSpPr>
                <a:spLocks noChangeArrowheads="1"/>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51" name="Freeform 64"/>
              <p:cNvSpPr>
                <a:spLocks noChangeArrowheads="1"/>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Lst>
                <a:ahLst/>
                <a:cxnLst>
                  <a:cxn ang="0">
                    <a:pos x="T0" y="T1"/>
                  </a:cxn>
                  <a:cxn ang="0">
                    <a:pos x="T2" y="T3"/>
                  </a:cxn>
                  <a:cxn ang="0">
                    <a:pos x="T4" y="T5"/>
                  </a:cxn>
                  <a:cxn ang="0">
                    <a:pos x="T6" y="T7"/>
                  </a:cxn>
                  <a:cxn ang="0">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52" name="Freeform 65"/>
              <p:cNvSpPr>
                <a:spLocks noChangeArrowheads="1"/>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Lst>
                <a:ahLst/>
                <a:cxnLst>
                  <a:cxn ang="0">
                    <a:pos x="T0" y="T1"/>
                  </a:cxn>
                  <a:cxn ang="0">
                    <a:pos x="T2" y="T3"/>
                  </a:cxn>
                  <a:cxn ang="0">
                    <a:pos x="T4" y="T5"/>
                  </a:cxn>
                  <a:cxn ang="0">
                    <a:pos x="T6" y="T7"/>
                  </a:cxn>
                  <a:cxn ang="0">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53" name="Rectangle 66"/>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54" name="Rectangle 67"/>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55" name="Line 68"/>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56" name="Line 69"/>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57" name="Line 70"/>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727558" name="Group 71"/>
          <p:cNvGrpSpPr>
            <a:grpSpLocks/>
          </p:cNvGrpSpPr>
          <p:nvPr/>
        </p:nvGrpSpPr>
        <p:grpSpPr bwMode="auto">
          <a:xfrm>
            <a:off x="8655050" y="5229225"/>
            <a:ext cx="423863" cy="661988"/>
            <a:chOff x="4260" y="3515"/>
            <a:chExt cx="216" cy="339"/>
          </a:xfrm>
        </p:grpSpPr>
        <p:grpSp>
          <p:nvGrpSpPr>
            <p:cNvPr id="1727559" name="Group 72"/>
            <p:cNvGrpSpPr>
              <a:grpSpLocks/>
            </p:cNvGrpSpPr>
            <p:nvPr/>
          </p:nvGrpSpPr>
          <p:grpSpPr bwMode="auto">
            <a:xfrm>
              <a:off x="4265" y="3521"/>
              <a:ext cx="211" cy="333"/>
              <a:chOff x="4265" y="3521"/>
              <a:chExt cx="211" cy="333"/>
            </a:xfrm>
          </p:grpSpPr>
          <p:sp>
            <p:nvSpPr>
              <p:cNvPr id="1727560" name="Freeform 73"/>
              <p:cNvSpPr>
                <a:spLocks noChangeArrowheads="1"/>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61" name="Freeform 74"/>
              <p:cNvSpPr>
                <a:spLocks noChangeArrowheads="1"/>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62" name="Freeform 75"/>
              <p:cNvSpPr>
                <a:spLocks noChangeArrowheads="1"/>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63" name="Freeform 76"/>
              <p:cNvSpPr>
                <a:spLocks noChangeArrowheads="1"/>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64" name="Rectangle 77"/>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65" name="Rectangle 78"/>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66" name="Line 79"/>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67" name="Line 80"/>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68" name="Line 81"/>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7569" name="Group 82"/>
            <p:cNvGrpSpPr>
              <a:grpSpLocks/>
            </p:cNvGrpSpPr>
            <p:nvPr/>
          </p:nvGrpSpPr>
          <p:grpSpPr bwMode="auto">
            <a:xfrm>
              <a:off x="4260" y="3515"/>
              <a:ext cx="211" cy="332"/>
              <a:chOff x="4260" y="3515"/>
              <a:chExt cx="211" cy="332"/>
            </a:xfrm>
          </p:grpSpPr>
          <p:sp>
            <p:nvSpPr>
              <p:cNvPr id="1727570" name="Freeform 83"/>
              <p:cNvSpPr>
                <a:spLocks noChangeArrowheads="1"/>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71" name="Freeform 84"/>
              <p:cNvSpPr>
                <a:spLocks noChangeArrowheads="1"/>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72" name="Freeform 85"/>
              <p:cNvSpPr>
                <a:spLocks noChangeArrowheads="1"/>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73" name="Freeform 86"/>
              <p:cNvSpPr>
                <a:spLocks noChangeArrowheads="1"/>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74" name="Rectangle 87"/>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75" name="Rectangle 88"/>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76" name="Line 89"/>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77" name="Line 90"/>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78" name="Line 91"/>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7579" name="Rectangle 92"/>
          <p:cNvSpPr>
            <a:spLocks noChangeArrowheads="1"/>
          </p:cNvSpPr>
          <p:nvPr/>
        </p:nvSpPr>
        <p:spPr bwMode="auto">
          <a:xfrm>
            <a:off x="2286000" y="3155950"/>
            <a:ext cx="31750" cy="2598738"/>
          </a:xfrm>
          <a:prstGeom prst="rect">
            <a:avLst/>
          </a:prstGeom>
          <a:solidFill>
            <a:srgbClr val="000000"/>
          </a:solidFill>
          <a:ln w="28575">
            <a:solidFill>
              <a:srgbClr val="333399"/>
            </a:solidFill>
            <a:miter lim="800000"/>
            <a:headEnd/>
            <a:tailEnd/>
          </a:ln>
        </p:spPr>
        <p:txBody>
          <a:bodyPr/>
          <a:lstStyle/>
          <a:p>
            <a:endParaRPr lang="zh-CN" altLang="en-US" b="1">
              <a:solidFill>
                <a:srgbClr val="000099"/>
              </a:solidFill>
              <a:ea typeface="宋体" panose="02010600030101010101" pitchFamily="2" charset="-122"/>
            </a:endParaRPr>
          </a:p>
        </p:txBody>
      </p:sp>
      <p:sp>
        <p:nvSpPr>
          <p:cNvPr id="1727580" name="Line 93"/>
          <p:cNvSpPr>
            <a:spLocks noChangeShapeType="1"/>
          </p:cNvSpPr>
          <p:nvPr/>
        </p:nvSpPr>
        <p:spPr bwMode="auto">
          <a:xfrm>
            <a:off x="1411288" y="3536950"/>
            <a:ext cx="89058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81" name="Line 94"/>
          <p:cNvSpPr>
            <a:spLocks noChangeShapeType="1"/>
          </p:cNvSpPr>
          <p:nvPr/>
        </p:nvSpPr>
        <p:spPr bwMode="auto">
          <a:xfrm>
            <a:off x="1677988" y="4246563"/>
            <a:ext cx="623887"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82" name="Line 95"/>
          <p:cNvSpPr>
            <a:spLocks noChangeShapeType="1"/>
          </p:cNvSpPr>
          <p:nvPr/>
        </p:nvSpPr>
        <p:spPr bwMode="auto">
          <a:xfrm>
            <a:off x="965200" y="4748213"/>
            <a:ext cx="133667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83" name="Line 96"/>
          <p:cNvSpPr>
            <a:spLocks noChangeShapeType="1"/>
          </p:cNvSpPr>
          <p:nvPr/>
        </p:nvSpPr>
        <p:spPr bwMode="auto">
          <a:xfrm>
            <a:off x="1500188" y="5365750"/>
            <a:ext cx="80168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84" name="Line 97"/>
          <p:cNvSpPr>
            <a:spLocks noChangeShapeType="1"/>
          </p:cNvSpPr>
          <p:nvPr/>
        </p:nvSpPr>
        <p:spPr bwMode="auto">
          <a:xfrm>
            <a:off x="2301875" y="5543550"/>
            <a:ext cx="444500"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85" name="Line 98"/>
          <p:cNvSpPr>
            <a:spLocks noChangeShapeType="1"/>
          </p:cNvSpPr>
          <p:nvPr/>
        </p:nvSpPr>
        <p:spPr bwMode="auto">
          <a:xfrm flipV="1">
            <a:off x="3159125" y="4579938"/>
            <a:ext cx="779463" cy="6477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586" name="Line 99"/>
          <p:cNvSpPr>
            <a:spLocks noChangeShapeType="1"/>
          </p:cNvSpPr>
          <p:nvPr/>
        </p:nvSpPr>
        <p:spPr bwMode="auto">
          <a:xfrm>
            <a:off x="2300288" y="4483100"/>
            <a:ext cx="1516062"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7587" name="Group 100"/>
          <p:cNvGrpSpPr>
            <a:grpSpLocks/>
          </p:cNvGrpSpPr>
          <p:nvPr/>
        </p:nvGrpSpPr>
        <p:grpSpPr bwMode="auto">
          <a:xfrm>
            <a:off x="3656013" y="4287838"/>
            <a:ext cx="608012" cy="374650"/>
            <a:chOff x="2154" y="3033"/>
            <a:chExt cx="309" cy="192"/>
          </a:xfrm>
        </p:grpSpPr>
        <p:sp>
          <p:nvSpPr>
            <p:cNvPr id="1727588" name="Oval 101"/>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sp>
          <p:nvSpPr>
            <p:cNvPr id="1727589" name="Rectangle 10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90" name="Rectangle 10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591" name="Oval 104"/>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grpSp>
          <p:nvGrpSpPr>
            <p:cNvPr id="1727592" name="Group 105"/>
            <p:cNvGrpSpPr>
              <a:grpSpLocks/>
            </p:cNvGrpSpPr>
            <p:nvPr/>
          </p:nvGrpSpPr>
          <p:grpSpPr bwMode="auto">
            <a:xfrm>
              <a:off x="2201" y="3046"/>
              <a:ext cx="214" cy="86"/>
              <a:chOff x="2201" y="3046"/>
              <a:chExt cx="214" cy="86"/>
            </a:xfrm>
          </p:grpSpPr>
          <p:grpSp>
            <p:nvGrpSpPr>
              <p:cNvPr id="1727593" name="Group 106"/>
              <p:cNvGrpSpPr>
                <a:grpSpLocks/>
              </p:cNvGrpSpPr>
              <p:nvPr/>
            </p:nvGrpSpPr>
            <p:grpSpPr bwMode="auto">
              <a:xfrm>
                <a:off x="2201" y="3046"/>
                <a:ext cx="212" cy="84"/>
                <a:chOff x="2201" y="3046"/>
                <a:chExt cx="212" cy="84"/>
              </a:xfrm>
            </p:grpSpPr>
            <p:sp>
              <p:nvSpPr>
                <p:cNvPr id="1727594" name="Freeform 107"/>
                <p:cNvSpPr>
                  <a:spLocks noChangeArrowheads="1"/>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95" name="Freeform 108"/>
                <p:cNvSpPr>
                  <a:spLocks noChangeArrowheads="1"/>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96" name="Freeform 109"/>
                <p:cNvSpPr>
                  <a:spLocks noChangeArrowheads="1"/>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97" name="Freeform 110"/>
                <p:cNvSpPr>
                  <a:spLocks noChangeArrowheads="1"/>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98" name="Freeform 111"/>
                <p:cNvSpPr>
                  <a:spLocks noChangeArrowheads="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599" name="Freeform 112"/>
                <p:cNvSpPr>
                  <a:spLocks noChangeArrowheads="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00" name="Freeform 113"/>
                <p:cNvSpPr>
                  <a:spLocks noChangeArrowheads="1"/>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01" name="Freeform 114"/>
                <p:cNvSpPr>
                  <a:spLocks noChangeArrowheads="1"/>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7602" name="Group 115"/>
              <p:cNvGrpSpPr>
                <a:grpSpLocks/>
              </p:cNvGrpSpPr>
              <p:nvPr/>
            </p:nvGrpSpPr>
            <p:grpSpPr bwMode="auto">
              <a:xfrm>
                <a:off x="2203" y="3048"/>
                <a:ext cx="212" cy="84"/>
                <a:chOff x="2203" y="3048"/>
                <a:chExt cx="212" cy="84"/>
              </a:xfrm>
            </p:grpSpPr>
            <p:sp>
              <p:nvSpPr>
                <p:cNvPr id="1727603" name="Freeform 116"/>
                <p:cNvSpPr>
                  <a:spLocks noChangeArrowheads="1"/>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04" name="Freeform 117"/>
                <p:cNvSpPr>
                  <a:spLocks noChangeArrowheads="1"/>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05" name="Freeform 118"/>
                <p:cNvSpPr>
                  <a:spLocks noChangeArrowheads="1"/>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06" name="Freeform 119"/>
                <p:cNvSpPr>
                  <a:spLocks noChangeArrowheads="1"/>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07" name="Freeform 120"/>
                <p:cNvSpPr>
                  <a:spLocks noChangeArrowheads="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08" name="Freeform 121"/>
                <p:cNvSpPr>
                  <a:spLocks noChangeArrowheads="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09" name="Freeform 122"/>
                <p:cNvSpPr>
                  <a:spLocks noChangeArrowheads="1"/>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10" name="Freeform 123"/>
                <p:cNvSpPr>
                  <a:spLocks noChangeArrowheads="1"/>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7611" name="Line 124"/>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612" name="Line 125"/>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7613" name="Group 126"/>
          <p:cNvGrpSpPr>
            <a:grpSpLocks/>
          </p:cNvGrpSpPr>
          <p:nvPr/>
        </p:nvGrpSpPr>
        <p:grpSpPr bwMode="auto">
          <a:xfrm>
            <a:off x="1235075" y="3074988"/>
            <a:ext cx="557213" cy="517525"/>
            <a:chOff x="921" y="2412"/>
            <a:chExt cx="284" cy="265"/>
          </a:xfrm>
        </p:grpSpPr>
        <p:grpSp>
          <p:nvGrpSpPr>
            <p:cNvPr id="1727614" name="Group 127"/>
            <p:cNvGrpSpPr>
              <a:grpSpLocks/>
            </p:cNvGrpSpPr>
            <p:nvPr/>
          </p:nvGrpSpPr>
          <p:grpSpPr bwMode="auto">
            <a:xfrm>
              <a:off x="928" y="2417"/>
              <a:ext cx="277" cy="260"/>
              <a:chOff x="928" y="2417"/>
              <a:chExt cx="277" cy="260"/>
            </a:xfrm>
          </p:grpSpPr>
          <p:sp>
            <p:nvSpPr>
              <p:cNvPr id="1727615" name="Freeform 128"/>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16" name="Freeform 129"/>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17" name="Freeform 130"/>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18" name="Freeform 131"/>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19" name="Rectangle 13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20" name="Rectangle 13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21" name="Rectangle 13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22" name="Line 135"/>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7623" name="Group 136"/>
              <p:cNvGrpSpPr>
                <a:grpSpLocks/>
              </p:cNvGrpSpPr>
              <p:nvPr/>
            </p:nvGrpSpPr>
            <p:grpSpPr bwMode="auto">
              <a:xfrm>
                <a:off x="928" y="2639"/>
                <a:ext cx="277" cy="38"/>
                <a:chOff x="928" y="2639"/>
                <a:chExt cx="277" cy="38"/>
              </a:xfrm>
            </p:grpSpPr>
            <p:sp>
              <p:nvSpPr>
                <p:cNvPr id="1727624" name="Freeform 137"/>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25" name="Freeform 138"/>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26" name="Rectangle 13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27627" name="Group 140"/>
            <p:cNvGrpSpPr>
              <a:grpSpLocks/>
            </p:cNvGrpSpPr>
            <p:nvPr/>
          </p:nvGrpSpPr>
          <p:grpSpPr bwMode="auto">
            <a:xfrm>
              <a:off x="921" y="2412"/>
              <a:ext cx="277" cy="261"/>
              <a:chOff x="921" y="2412"/>
              <a:chExt cx="277" cy="261"/>
            </a:xfrm>
          </p:grpSpPr>
          <p:sp>
            <p:nvSpPr>
              <p:cNvPr id="1727628" name="Freeform 141"/>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29" name="Freeform 142"/>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30" name="Freeform 143"/>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31" name="Freeform 144"/>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32" name="Rectangle 14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33" name="Rectangle 14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34" name="Rectangle 14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35" name="Line 148"/>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7636" name="Group 149"/>
              <p:cNvGrpSpPr>
                <a:grpSpLocks/>
              </p:cNvGrpSpPr>
              <p:nvPr/>
            </p:nvGrpSpPr>
            <p:grpSpPr bwMode="auto">
              <a:xfrm>
                <a:off x="921" y="2635"/>
                <a:ext cx="277" cy="38"/>
                <a:chOff x="921" y="2635"/>
                <a:chExt cx="277" cy="38"/>
              </a:xfrm>
            </p:grpSpPr>
            <p:sp>
              <p:nvSpPr>
                <p:cNvPr id="1727637" name="Freeform 150"/>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38" name="Freeform 151"/>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39" name="Rectangle 15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27640" name="Group 153"/>
          <p:cNvGrpSpPr>
            <a:grpSpLocks/>
          </p:cNvGrpSpPr>
          <p:nvPr/>
        </p:nvGrpSpPr>
        <p:grpSpPr bwMode="auto">
          <a:xfrm>
            <a:off x="1384300" y="3784600"/>
            <a:ext cx="554038" cy="517525"/>
            <a:chOff x="997" y="2775"/>
            <a:chExt cx="282" cy="265"/>
          </a:xfrm>
        </p:grpSpPr>
        <p:grpSp>
          <p:nvGrpSpPr>
            <p:cNvPr id="1727641" name="Group 154"/>
            <p:cNvGrpSpPr>
              <a:grpSpLocks/>
            </p:cNvGrpSpPr>
            <p:nvPr/>
          </p:nvGrpSpPr>
          <p:grpSpPr bwMode="auto">
            <a:xfrm>
              <a:off x="1004" y="2779"/>
              <a:ext cx="275" cy="261"/>
              <a:chOff x="1004" y="2779"/>
              <a:chExt cx="275" cy="261"/>
            </a:xfrm>
          </p:grpSpPr>
          <p:sp>
            <p:nvSpPr>
              <p:cNvPr id="1727642" name="Freeform 155"/>
              <p:cNvSpPr>
                <a:spLocks noChangeArrowheads="1"/>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43" name="Freeform 156"/>
              <p:cNvSpPr>
                <a:spLocks noChangeArrowheads="1"/>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44" name="Freeform 157"/>
              <p:cNvSpPr>
                <a:spLocks noChangeArrowheads="1"/>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Lst>
                <a:ahLst/>
                <a:cxnLst>
                  <a:cxn ang="0">
                    <a:pos x="T0" y="T1"/>
                  </a:cxn>
                  <a:cxn ang="0">
                    <a:pos x="T2" y="T3"/>
                  </a:cxn>
                  <a:cxn ang="0">
                    <a:pos x="T4" y="T5"/>
                  </a:cxn>
                  <a:cxn ang="0">
                    <a:pos x="T6" y="T7"/>
                  </a:cxn>
                  <a:cxn ang="0">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45" name="Freeform 158"/>
              <p:cNvSpPr>
                <a:spLocks noChangeArrowheads="1"/>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Lst>
                <a:ahLst/>
                <a:cxnLst>
                  <a:cxn ang="0">
                    <a:pos x="T0" y="T1"/>
                  </a:cxn>
                  <a:cxn ang="0">
                    <a:pos x="T2" y="T3"/>
                  </a:cxn>
                  <a:cxn ang="0">
                    <a:pos x="T4" y="T5"/>
                  </a:cxn>
                  <a:cxn ang="0">
                    <a:pos x="T6" y="T7"/>
                  </a:cxn>
                  <a:cxn ang="0">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46" name="Rectangle 15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47" name="Rectangle 16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48" name="Rectangle 16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49" name="Line 162"/>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7650" name="Group 163"/>
              <p:cNvGrpSpPr>
                <a:grpSpLocks/>
              </p:cNvGrpSpPr>
              <p:nvPr/>
            </p:nvGrpSpPr>
            <p:grpSpPr bwMode="auto">
              <a:xfrm>
                <a:off x="1004" y="3002"/>
                <a:ext cx="275" cy="38"/>
                <a:chOff x="1004" y="3002"/>
                <a:chExt cx="275" cy="38"/>
              </a:xfrm>
            </p:grpSpPr>
            <p:sp>
              <p:nvSpPr>
                <p:cNvPr id="1727651" name="Freeform 164"/>
                <p:cNvSpPr>
                  <a:spLocks noChangeArrowheads="1"/>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52" name="Freeform 165"/>
                <p:cNvSpPr>
                  <a:spLocks noChangeArrowheads="1"/>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53" name="Rectangle 16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27654" name="Group 167"/>
            <p:cNvGrpSpPr>
              <a:grpSpLocks/>
            </p:cNvGrpSpPr>
            <p:nvPr/>
          </p:nvGrpSpPr>
          <p:grpSpPr bwMode="auto">
            <a:xfrm>
              <a:off x="997" y="2775"/>
              <a:ext cx="275" cy="260"/>
              <a:chOff x="997" y="2775"/>
              <a:chExt cx="275" cy="260"/>
            </a:xfrm>
          </p:grpSpPr>
          <p:sp>
            <p:nvSpPr>
              <p:cNvPr id="1727655" name="Freeform 168"/>
              <p:cNvSpPr>
                <a:spLocks noChangeArrowheads="1"/>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56" name="Freeform 169"/>
              <p:cNvSpPr>
                <a:spLocks noChangeArrowheads="1"/>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57" name="Freeform 170"/>
              <p:cNvSpPr>
                <a:spLocks noChangeArrowheads="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58" name="Freeform 171"/>
              <p:cNvSpPr>
                <a:spLocks noChangeArrowheads="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59" name="Rectangle 17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60" name="Rectangle 17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61" name="Rectangle 17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62" name="Line 175"/>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7663" name="Group 176"/>
              <p:cNvGrpSpPr>
                <a:grpSpLocks/>
              </p:cNvGrpSpPr>
              <p:nvPr/>
            </p:nvGrpSpPr>
            <p:grpSpPr bwMode="auto">
              <a:xfrm>
                <a:off x="997" y="2997"/>
                <a:ext cx="275" cy="38"/>
                <a:chOff x="997" y="2997"/>
                <a:chExt cx="275" cy="38"/>
              </a:xfrm>
            </p:grpSpPr>
            <p:sp>
              <p:nvSpPr>
                <p:cNvPr id="1727664" name="Freeform 177"/>
                <p:cNvSpPr>
                  <a:spLocks noChangeArrowheads="1"/>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65" name="Freeform 178"/>
                <p:cNvSpPr>
                  <a:spLocks noChangeArrowheads="1"/>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66" name="Rectangle 17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27667" name="Group 180"/>
          <p:cNvGrpSpPr>
            <a:grpSpLocks/>
          </p:cNvGrpSpPr>
          <p:nvPr/>
        </p:nvGrpSpPr>
        <p:grpSpPr bwMode="auto">
          <a:xfrm>
            <a:off x="584200" y="4314825"/>
            <a:ext cx="554038" cy="517525"/>
            <a:chOff x="590" y="3047"/>
            <a:chExt cx="282" cy="265"/>
          </a:xfrm>
        </p:grpSpPr>
        <p:grpSp>
          <p:nvGrpSpPr>
            <p:cNvPr id="1727668" name="Group 181"/>
            <p:cNvGrpSpPr>
              <a:grpSpLocks/>
            </p:cNvGrpSpPr>
            <p:nvPr/>
          </p:nvGrpSpPr>
          <p:grpSpPr bwMode="auto">
            <a:xfrm>
              <a:off x="596" y="3051"/>
              <a:ext cx="276" cy="261"/>
              <a:chOff x="596" y="3051"/>
              <a:chExt cx="276" cy="261"/>
            </a:xfrm>
          </p:grpSpPr>
          <p:sp>
            <p:nvSpPr>
              <p:cNvPr id="1727669" name="Freeform 182"/>
              <p:cNvSpPr>
                <a:spLocks noChangeArrowheads="1"/>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70" name="Freeform 183"/>
              <p:cNvSpPr>
                <a:spLocks noChangeArrowheads="1"/>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71" name="Freeform 184"/>
              <p:cNvSpPr>
                <a:spLocks noChangeArrowheads="1"/>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72" name="Freeform 185"/>
              <p:cNvSpPr>
                <a:spLocks noChangeArrowheads="1"/>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73" name="Rectangle 18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74" name="Rectangle 18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75" name="Rectangle 18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76" name="Line 189"/>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7677" name="Group 190"/>
              <p:cNvGrpSpPr>
                <a:grpSpLocks/>
              </p:cNvGrpSpPr>
              <p:nvPr/>
            </p:nvGrpSpPr>
            <p:grpSpPr bwMode="auto">
              <a:xfrm>
                <a:off x="596" y="3274"/>
                <a:ext cx="276" cy="38"/>
                <a:chOff x="596" y="3274"/>
                <a:chExt cx="276" cy="38"/>
              </a:xfrm>
            </p:grpSpPr>
            <p:sp>
              <p:nvSpPr>
                <p:cNvPr id="1727678" name="Freeform 191"/>
                <p:cNvSpPr>
                  <a:spLocks noChangeArrowheads="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Lst>
                  <a:ahLst/>
                  <a:cxnLst>
                    <a:cxn ang="0">
                      <a:pos x="T0" y="T1"/>
                    </a:cxn>
                    <a:cxn ang="0">
                      <a:pos x="T2" y="T3"/>
                    </a:cxn>
                    <a:cxn ang="0">
                      <a:pos x="T4" y="T5"/>
                    </a:cxn>
                    <a:cxn ang="0">
                      <a:pos x="T6" y="T7"/>
                    </a:cxn>
                    <a:cxn ang="0">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79" name="Freeform 192"/>
                <p:cNvSpPr>
                  <a:spLocks noChangeArrowheads="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Lst>
                  <a:ahLst/>
                  <a:cxnLst>
                    <a:cxn ang="0">
                      <a:pos x="T0" y="T1"/>
                    </a:cxn>
                    <a:cxn ang="0">
                      <a:pos x="T2" y="T3"/>
                    </a:cxn>
                    <a:cxn ang="0">
                      <a:pos x="T4" y="T5"/>
                    </a:cxn>
                    <a:cxn ang="0">
                      <a:pos x="T6" y="T7"/>
                    </a:cxn>
                    <a:cxn ang="0">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80" name="Rectangle 19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27681" name="Group 194"/>
            <p:cNvGrpSpPr>
              <a:grpSpLocks/>
            </p:cNvGrpSpPr>
            <p:nvPr/>
          </p:nvGrpSpPr>
          <p:grpSpPr bwMode="auto">
            <a:xfrm>
              <a:off x="590" y="3047"/>
              <a:ext cx="275" cy="260"/>
              <a:chOff x="590" y="3047"/>
              <a:chExt cx="275" cy="260"/>
            </a:xfrm>
          </p:grpSpPr>
          <p:sp>
            <p:nvSpPr>
              <p:cNvPr id="1727682" name="Freeform 195"/>
              <p:cNvSpPr>
                <a:spLocks noChangeArrowheads="1"/>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83" name="Freeform 196"/>
              <p:cNvSpPr>
                <a:spLocks noChangeArrowheads="1"/>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84" name="Freeform 197"/>
              <p:cNvSpPr>
                <a:spLocks noChangeArrowheads="1"/>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Lst>
                <a:ahLst/>
                <a:cxnLst>
                  <a:cxn ang="0">
                    <a:pos x="T0" y="T1"/>
                  </a:cxn>
                  <a:cxn ang="0">
                    <a:pos x="T2" y="T3"/>
                  </a:cxn>
                  <a:cxn ang="0">
                    <a:pos x="T4" y="T5"/>
                  </a:cxn>
                  <a:cxn ang="0">
                    <a:pos x="T6" y="T7"/>
                  </a:cxn>
                  <a:cxn ang="0">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85" name="Freeform 198"/>
              <p:cNvSpPr>
                <a:spLocks noChangeArrowheads="1"/>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Lst>
                <a:ahLst/>
                <a:cxnLst>
                  <a:cxn ang="0">
                    <a:pos x="T0" y="T1"/>
                  </a:cxn>
                  <a:cxn ang="0">
                    <a:pos x="T2" y="T3"/>
                  </a:cxn>
                  <a:cxn ang="0">
                    <a:pos x="T4" y="T5"/>
                  </a:cxn>
                  <a:cxn ang="0">
                    <a:pos x="T6" y="T7"/>
                  </a:cxn>
                  <a:cxn ang="0">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86" name="Rectangle 19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87" name="Rectangle 20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88" name="Rectangle 20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689" name="Line 202"/>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7690" name="Group 203"/>
              <p:cNvGrpSpPr>
                <a:grpSpLocks/>
              </p:cNvGrpSpPr>
              <p:nvPr/>
            </p:nvGrpSpPr>
            <p:grpSpPr bwMode="auto">
              <a:xfrm>
                <a:off x="590" y="3269"/>
                <a:ext cx="275" cy="38"/>
                <a:chOff x="590" y="3269"/>
                <a:chExt cx="275" cy="38"/>
              </a:xfrm>
            </p:grpSpPr>
            <p:sp>
              <p:nvSpPr>
                <p:cNvPr id="1727691" name="Freeform 204"/>
                <p:cNvSpPr>
                  <a:spLocks noChangeArrowheads="1"/>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92" name="Freeform 205"/>
                <p:cNvSpPr>
                  <a:spLocks noChangeArrowheads="1"/>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93" name="Rectangle 20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27694" name="Group 207"/>
          <p:cNvGrpSpPr>
            <a:grpSpLocks/>
          </p:cNvGrpSpPr>
          <p:nvPr/>
        </p:nvGrpSpPr>
        <p:grpSpPr bwMode="auto">
          <a:xfrm>
            <a:off x="1204913" y="4937125"/>
            <a:ext cx="552450" cy="517525"/>
            <a:chOff x="906" y="3365"/>
            <a:chExt cx="281" cy="265"/>
          </a:xfrm>
        </p:grpSpPr>
        <p:grpSp>
          <p:nvGrpSpPr>
            <p:cNvPr id="1727695" name="Group 208"/>
            <p:cNvGrpSpPr>
              <a:grpSpLocks/>
            </p:cNvGrpSpPr>
            <p:nvPr/>
          </p:nvGrpSpPr>
          <p:grpSpPr bwMode="auto">
            <a:xfrm>
              <a:off x="912" y="3369"/>
              <a:ext cx="275" cy="261"/>
              <a:chOff x="912" y="3369"/>
              <a:chExt cx="275" cy="261"/>
            </a:xfrm>
          </p:grpSpPr>
          <p:sp>
            <p:nvSpPr>
              <p:cNvPr id="1727696" name="Freeform 209"/>
              <p:cNvSpPr>
                <a:spLocks noChangeArrowheads="1"/>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97" name="Freeform 210"/>
              <p:cNvSpPr>
                <a:spLocks noChangeArrowheads="1"/>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98" name="Freeform 211"/>
              <p:cNvSpPr>
                <a:spLocks noChangeArrowheads="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699" name="Freeform 212"/>
              <p:cNvSpPr>
                <a:spLocks noChangeArrowheads="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00" name="Rectangle 21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01" name="Rectangle 21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02" name="Rectangle 21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03" name="Line 216"/>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7704" name="Group 217"/>
              <p:cNvGrpSpPr>
                <a:grpSpLocks/>
              </p:cNvGrpSpPr>
              <p:nvPr/>
            </p:nvGrpSpPr>
            <p:grpSpPr bwMode="auto">
              <a:xfrm>
                <a:off x="912" y="3592"/>
                <a:ext cx="275" cy="38"/>
                <a:chOff x="912" y="3592"/>
                <a:chExt cx="275" cy="38"/>
              </a:xfrm>
            </p:grpSpPr>
            <p:sp>
              <p:nvSpPr>
                <p:cNvPr id="1727705" name="Freeform 218"/>
                <p:cNvSpPr>
                  <a:spLocks noChangeArrowheads="1"/>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06" name="Freeform 219"/>
                <p:cNvSpPr>
                  <a:spLocks noChangeArrowheads="1"/>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07" name="Rectangle 22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27708" name="Group 221"/>
            <p:cNvGrpSpPr>
              <a:grpSpLocks/>
            </p:cNvGrpSpPr>
            <p:nvPr/>
          </p:nvGrpSpPr>
          <p:grpSpPr bwMode="auto">
            <a:xfrm>
              <a:off x="906" y="3365"/>
              <a:ext cx="275" cy="261"/>
              <a:chOff x="906" y="3365"/>
              <a:chExt cx="275" cy="261"/>
            </a:xfrm>
          </p:grpSpPr>
          <p:sp>
            <p:nvSpPr>
              <p:cNvPr id="1727709" name="Freeform 222"/>
              <p:cNvSpPr>
                <a:spLocks noChangeArrowheads="1"/>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10" name="Freeform 223"/>
              <p:cNvSpPr>
                <a:spLocks noChangeArrowheads="1"/>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11" name="Freeform 224"/>
              <p:cNvSpPr>
                <a:spLocks noChangeArrowheads="1"/>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12" name="Freeform 225"/>
              <p:cNvSpPr>
                <a:spLocks noChangeArrowheads="1"/>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13" name="Rectangle 22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14" name="Rectangle 22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15" name="Rectangle 22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16" name="Line 229"/>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7717" name="Group 230"/>
              <p:cNvGrpSpPr>
                <a:grpSpLocks/>
              </p:cNvGrpSpPr>
              <p:nvPr/>
            </p:nvGrpSpPr>
            <p:grpSpPr bwMode="auto">
              <a:xfrm>
                <a:off x="906" y="3587"/>
                <a:ext cx="275" cy="39"/>
                <a:chOff x="906" y="3587"/>
                <a:chExt cx="275" cy="39"/>
              </a:xfrm>
            </p:grpSpPr>
            <p:sp>
              <p:nvSpPr>
                <p:cNvPr id="1727718" name="Freeform 231"/>
                <p:cNvSpPr>
                  <a:spLocks noChangeArrowheads="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19" name="Freeform 232"/>
                <p:cNvSpPr>
                  <a:spLocks noChangeArrowheads="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20" name="Rectangle 23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27721" name="Group 234"/>
          <p:cNvGrpSpPr>
            <a:grpSpLocks/>
          </p:cNvGrpSpPr>
          <p:nvPr/>
        </p:nvGrpSpPr>
        <p:grpSpPr bwMode="auto">
          <a:xfrm>
            <a:off x="2820988" y="5057775"/>
            <a:ext cx="481012" cy="839788"/>
            <a:chOff x="1660" y="3427"/>
            <a:chExt cx="217" cy="339"/>
          </a:xfrm>
        </p:grpSpPr>
        <p:grpSp>
          <p:nvGrpSpPr>
            <p:cNvPr id="1727722" name="Group 235"/>
            <p:cNvGrpSpPr>
              <a:grpSpLocks/>
            </p:cNvGrpSpPr>
            <p:nvPr/>
          </p:nvGrpSpPr>
          <p:grpSpPr bwMode="auto">
            <a:xfrm>
              <a:off x="1665" y="3433"/>
              <a:ext cx="212" cy="333"/>
              <a:chOff x="1665" y="3433"/>
              <a:chExt cx="212" cy="333"/>
            </a:xfrm>
          </p:grpSpPr>
          <p:sp>
            <p:nvSpPr>
              <p:cNvPr id="1727723" name="Freeform 236"/>
              <p:cNvSpPr>
                <a:spLocks noChangeArrowheads="1"/>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24" name="Freeform 237"/>
              <p:cNvSpPr>
                <a:spLocks noChangeArrowheads="1"/>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25" name="Freeform 238"/>
              <p:cNvSpPr>
                <a:spLocks noChangeArrowheads="1"/>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26" name="Freeform 239"/>
              <p:cNvSpPr>
                <a:spLocks noChangeArrowheads="1"/>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27" name="Rectangle 240"/>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28" name="Rectangle 241"/>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29" name="Line 242"/>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730" name="Line 243"/>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731" name="Line 244"/>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7732" name="Group 245"/>
            <p:cNvGrpSpPr>
              <a:grpSpLocks/>
            </p:cNvGrpSpPr>
            <p:nvPr/>
          </p:nvGrpSpPr>
          <p:grpSpPr bwMode="auto">
            <a:xfrm>
              <a:off x="1660" y="3427"/>
              <a:ext cx="212" cy="333"/>
              <a:chOff x="1660" y="3427"/>
              <a:chExt cx="212" cy="333"/>
            </a:xfrm>
          </p:grpSpPr>
          <p:sp>
            <p:nvSpPr>
              <p:cNvPr id="1727733" name="Freeform 246"/>
              <p:cNvSpPr>
                <a:spLocks noChangeArrowheads="1"/>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34" name="Freeform 247"/>
              <p:cNvSpPr>
                <a:spLocks noChangeArrowheads="1"/>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35" name="Freeform 248"/>
              <p:cNvSpPr>
                <a:spLocks noChangeArrowheads="1"/>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36" name="Freeform 249"/>
              <p:cNvSpPr>
                <a:spLocks noChangeArrowheads="1"/>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37" name="Rectangle 250"/>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38" name="Rectangle 251"/>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39" name="Line 252"/>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740" name="Line 253"/>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741" name="Line 254"/>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7742" name="Rectangle 255"/>
          <p:cNvSpPr>
            <a:spLocks noChangeArrowheads="1"/>
          </p:cNvSpPr>
          <p:nvPr/>
        </p:nvSpPr>
        <p:spPr bwMode="auto">
          <a:xfrm>
            <a:off x="2566988" y="3509963"/>
            <a:ext cx="928687"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43" name="Rectangle 256"/>
          <p:cNvSpPr>
            <a:spLocks noChangeArrowheads="1"/>
          </p:cNvSpPr>
          <p:nvPr/>
        </p:nvSpPr>
        <p:spPr bwMode="auto">
          <a:xfrm>
            <a:off x="2676525" y="3649663"/>
            <a:ext cx="7683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校园网</a:t>
            </a:r>
          </a:p>
        </p:txBody>
      </p:sp>
      <p:sp>
        <p:nvSpPr>
          <p:cNvPr id="1727744" name="Rectangle 257"/>
          <p:cNvSpPr>
            <a:spLocks noChangeArrowheads="1"/>
          </p:cNvSpPr>
          <p:nvPr/>
        </p:nvSpPr>
        <p:spPr bwMode="auto">
          <a:xfrm>
            <a:off x="3459163" y="5543550"/>
            <a:ext cx="1163637"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45" name="Rectangle 258"/>
          <p:cNvSpPr>
            <a:spLocks noChangeArrowheads="1"/>
          </p:cNvSpPr>
          <p:nvPr/>
        </p:nvSpPr>
        <p:spPr bwMode="auto">
          <a:xfrm>
            <a:off x="3895725" y="5661025"/>
            <a:ext cx="2052638"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2000" b="1">
                <a:solidFill>
                  <a:srgbClr val="000099"/>
                </a:solidFill>
                <a:ea typeface="黑体" panose="02010609060101010101" pitchFamily="49" charset="-122"/>
              </a:rPr>
              <a:t>校园网的高速缓存</a:t>
            </a:r>
          </a:p>
          <a:p>
            <a:pPr algn="ctr"/>
            <a:r>
              <a:rPr lang="zh-CN" altLang="en-US" sz="2000" b="1">
                <a:solidFill>
                  <a:srgbClr val="000099"/>
                </a:solidFill>
                <a:ea typeface="黑体" panose="02010609060101010101" pitchFamily="49" charset="-122"/>
              </a:rPr>
              <a:t>（代理服务器）</a:t>
            </a:r>
          </a:p>
        </p:txBody>
      </p:sp>
      <p:grpSp>
        <p:nvGrpSpPr>
          <p:cNvPr id="1727746" name="Group 259"/>
          <p:cNvGrpSpPr>
            <a:grpSpLocks/>
          </p:cNvGrpSpPr>
          <p:nvPr/>
        </p:nvGrpSpPr>
        <p:grpSpPr bwMode="auto">
          <a:xfrm>
            <a:off x="8743950" y="2924175"/>
            <a:ext cx="423863" cy="661988"/>
            <a:chOff x="4305" y="2335"/>
            <a:chExt cx="216" cy="339"/>
          </a:xfrm>
        </p:grpSpPr>
        <p:grpSp>
          <p:nvGrpSpPr>
            <p:cNvPr id="1727747" name="Group 260"/>
            <p:cNvGrpSpPr>
              <a:grpSpLocks/>
            </p:cNvGrpSpPr>
            <p:nvPr/>
          </p:nvGrpSpPr>
          <p:grpSpPr bwMode="auto">
            <a:xfrm>
              <a:off x="4310" y="2341"/>
              <a:ext cx="211" cy="333"/>
              <a:chOff x="4310" y="2341"/>
              <a:chExt cx="211" cy="333"/>
            </a:xfrm>
          </p:grpSpPr>
          <p:sp>
            <p:nvSpPr>
              <p:cNvPr id="1727748" name="Freeform 261"/>
              <p:cNvSpPr>
                <a:spLocks noChangeArrowheads="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Lst>
                <a:ahLst/>
                <a:cxnLst>
                  <a:cxn ang="0">
                    <a:pos x="T0" y="T1"/>
                  </a:cxn>
                  <a:cxn ang="0">
                    <a:pos x="T2" y="T3"/>
                  </a:cxn>
                  <a:cxn ang="0">
                    <a:pos x="T4" y="T5"/>
                  </a:cxn>
                  <a:cxn ang="0">
                    <a:pos x="T6" y="T7"/>
                  </a:cxn>
                  <a:cxn ang="0">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49" name="Freeform 262"/>
              <p:cNvSpPr>
                <a:spLocks noChangeArrowheads="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Lst>
                <a:ahLst/>
                <a:cxnLst>
                  <a:cxn ang="0">
                    <a:pos x="T0" y="T1"/>
                  </a:cxn>
                  <a:cxn ang="0">
                    <a:pos x="T2" y="T3"/>
                  </a:cxn>
                  <a:cxn ang="0">
                    <a:pos x="T4" y="T5"/>
                  </a:cxn>
                  <a:cxn ang="0">
                    <a:pos x="T6" y="T7"/>
                  </a:cxn>
                  <a:cxn ang="0">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50" name="Freeform 263"/>
              <p:cNvSpPr>
                <a:spLocks noChangeArrowheads="1"/>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51" name="Freeform 264"/>
              <p:cNvSpPr>
                <a:spLocks noChangeArrowheads="1"/>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52" name="Rectangle 265"/>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53" name="Rectangle 266"/>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54" name="Line 267"/>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755" name="Line 268"/>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756" name="Line 269"/>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7757" name="Group 270"/>
            <p:cNvGrpSpPr>
              <a:grpSpLocks/>
            </p:cNvGrpSpPr>
            <p:nvPr/>
          </p:nvGrpSpPr>
          <p:grpSpPr bwMode="auto">
            <a:xfrm>
              <a:off x="4305" y="2335"/>
              <a:ext cx="211" cy="332"/>
              <a:chOff x="4305" y="2335"/>
              <a:chExt cx="211" cy="332"/>
            </a:xfrm>
          </p:grpSpPr>
          <p:sp>
            <p:nvSpPr>
              <p:cNvPr id="1727758" name="Freeform 271"/>
              <p:cNvSpPr>
                <a:spLocks noChangeArrowheads="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Lst>
                <a:ahLst/>
                <a:cxnLst>
                  <a:cxn ang="0">
                    <a:pos x="T0" y="T1"/>
                  </a:cxn>
                  <a:cxn ang="0">
                    <a:pos x="T2" y="T3"/>
                  </a:cxn>
                  <a:cxn ang="0">
                    <a:pos x="T4" y="T5"/>
                  </a:cxn>
                  <a:cxn ang="0">
                    <a:pos x="T6" y="T7"/>
                  </a:cxn>
                  <a:cxn ang="0">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59" name="Freeform 272"/>
              <p:cNvSpPr>
                <a:spLocks noChangeArrowheads="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Lst>
                <a:ahLst/>
                <a:cxnLst>
                  <a:cxn ang="0">
                    <a:pos x="T0" y="T1"/>
                  </a:cxn>
                  <a:cxn ang="0">
                    <a:pos x="T2" y="T3"/>
                  </a:cxn>
                  <a:cxn ang="0">
                    <a:pos x="T4" y="T5"/>
                  </a:cxn>
                  <a:cxn ang="0">
                    <a:pos x="T6" y="T7"/>
                  </a:cxn>
                  <a:cxn ang="0">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60" name="Freeform 273"/>
              <p:cNvSpPr>
                <a:spLocks noChangeArrowheads="1"/>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61" name="Freeform 274"/>
              <p:cNvSpPr>
                <a:spLocks noChangeArrowheads="1"/>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62" name="Rectangle 275"/>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63" name="Rectangle 276"/>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64" name="Line 277"/>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765" name="Line 278"/>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766" name="Line 279"/>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7767" name="Rectangle 280"/>
          <p:cNvSpPr>
            <a:spLocks noChangeArrowheads="1"/>
          </p:cNvSpPr>
          <p:nvPr/>
        </p:nvSpPr>
        <p:spPr bwMode="auto">
          <a:xfrm>
            <a:off x="7346950" y="3084513"/>
            <a:ext cx="1282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源点服务器</a:t>
            </a:r>
          </a:p>
        </p:txBody>
      </p:sp>
      <p:sp>
        <p:nvSpPr>
          <p:cNvPr id="1727768" name="Rectangle 281"/>
          <p:cNvSpPr>
            <a:spLocks noChangeArrowheads="1"/>
          </p:cNvSpPr>
          <p:nvPr/>
        </p:nvSpPr>
        <p:spPr bwMode="auto">
          <a:xfrm>
            <a:off x="4525963" y="4092575"/>
            <a:ext cx="8858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69" name="Rectangle 282"/>
          <p:cNvSpPr>
            <a:spLocks noChangeArrowheads="1"/>
          </p:cNvSpPr>
          <p:nvPr/>
        </p:nvSpPr>
        <p:spPr bwMode="auto">
          <a:xfrm>
            <a:off x="5024438" y="4159250"/>
            <a:ext cx="952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2 Mbit/s</a:t>
            </a:r>
          </a:p>
        </p:txBody>
      </p:sp>
      <p:grpSp>
        <p:nvGrpSpPr>
          <p:cNvPr id="1727770" name="Group 283"/>
          <p:cNvGrpSpPr>
            <a:grpSpLocks/>
          </p:cNvGrpSpPr>
          <p:nvPr/>
        </p:nvGrpSpPr>
        <p:grpSpPr bwMode="auto">
          <a:xfrm>
            <a:off x="3101975" y="5543550"/>
            <a:ext cx="566738" cy="260350"/>
            <a:chOff x="1872" y="3676"/>
            <a:chExt cx="227" cy="136"/>
          </a:xfrm>
        </p:grpSpPr>
        <p:sp>
          <p:nvSpPr>
            <p:cNvPr id="1727771" name="Line 284"/>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772" name="Freeform 285"/>
            <p:cNvSpPr>
              <a:spLocks noChangeArrowheads="1"/>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Lst>
              <a:ahLst/>
              <a:cxnLst>
                <a:cxn ang="0">
                  <a:pos x="T0" y="T1"/>
                </a:cxn>
                <a:cxn ang="0">
                  <a:pos x="T2" y="T3"/>
                </a:cxn>
                <a:cxn ang="0">
                  <a:pos x="T4" y="T5"/>
                </a:cxn>
                <a:cxn ang="0">
                  <a:pos x="T6" y="T7"/>
                </a:cxn>
              </a:cxnLst>
              <a:rect l="0" t="0" r="r" b="b"/>
              <a:pathLst>
                <a:path w="62" h="47">
                  <a:moveTo>
                    <a:pt x="62" y="15"/>
                  </a:moveTo>
                  <a:lnTo>
                    <a:pt x="0" y="0"/>
                  </a:lnTo>
                  <a:lnTo>
                    <a:pt x="42" y="47"/>
                  </a:lnTo>
                  <a:lnTo>
                    <a:pt x="62" y="15"/>
                  </a:lnTo>
                  <a:close/>
                </a:path>
              </a:pathLst>
            </a:custGeom>
            <a:solidFill>
              <a:srgbClr val="000000"/>
            </a:solidFill>
            <a:ln w="28575">
              <a:solidFill>
                <a:srgbClr val="333399"/>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1727773" name="Group 286"/>
          <p:cNvGrpSpPr>
            <a:grpSpLocks/>
          </p:cNvGrpSpPr>
          <p:nvPr/>
        </p:nvGrpSpPr>
        <p:grpSpPr bwMode="auto">
          <a:xfrm>
            <a:off x="6577013" y="4287838"/>
            <a:ext cx="606425" cy="374650"/>
            <a:chOff x="3202" y="3033"/>
            <a:chExt cx="309" cy="192"/>
          </a:xfrm>
        </p:grpSpPr>
        <p:sp>
          <p:nvSpPr>
            <p:cNvPr id="1727774" name="Oval 287"/>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sp>
          <p:nvSpPr>
            <p:cNvPr id="1727775" name="Rectangle 288"/>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76" name="Rectangle 289"/>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777" name="Oval 290"/>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grpSp>
          <p:nvGrpSpPr>
            <p:cNvPr id="1727778" name="Group 291"/>
            <p:cNvGrpSpPr>
              <a:grpSpLocks/>
            </p:cNvGrpSpPr>
            <p:nvPr/>
          </p:nvGrpSpPr>
          <p:grpSpPr bwMode="auto">
            <a:xfrm>
              <a:off x="3249" y="3046"/>
              <a:ext cx="214" cy="86"/>
              <a:chOff x="3249" y="3046"/>
              <a:chExt cx="214" cy="86"/>
            </a:xfrm>
          </p:grpSpPr>
          <p:grpSp>
            <p:nvGrpSpPr>
              <p:cNvPr id="1727779" name="Group 292"/>
              <p:cNvGrpSpPr>
                <a:grpSpLocks/>
              </p:cNvGrpSpPr>
              <p:nvPr/>
            </p:nvGrpSpPr>
            <p:grpSpPr bwMode="auto">
              <a:xfrm>
                <a:off x="3249" y="3046"/>
                <a:ext cx="212" cy="84"/>
                <a:chOff x="3249" y="3046"/>
                <a:chExt cx="212" cy="84"/>
              </a:xfrm>
            </p:grpSpPr>
            <p:sp>
              <p:nvSpPr>
                <p:cNvPr id="1727780" name="Freeform 293"/>
                <p:cNvSpPr>
                  <a:spLocks noChangeArrowheads="1"/>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81" name="Freeform 294"/>
                <p:cNvSpPr>
                  <a:spLocks noChangeArrowheads="1"/>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82" name="Freeform 295"/>
                <p:cNvSpPr>
                  <a:spLocks noChangeArrowheads="1"/>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83" name="Freeform 296"/>
                <p:cNvSpPr>
                  <a:spLocks noChangeArrowheads="1"/>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84" name="Freeform 297"/>
                <p:cNvSpPr>
                  <a:spLocks noChangeArrowheads="1"/>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85" name="Freeform 298"/>
                <p:cNvSpPr>
                  <a:spLocks noChangeArrowheads="1"/>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86" name="Freeform 299"/>
                <p:cNvSpPr>
                  <a:spLocks noChangeArrowheads="1"/>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87" name="Freeform 300"/>
                <p:cNvSpPr>
                  <a:spLocks noChangeArrowheads="1"/>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7788" name="Group 301"/>
              <p:cNvGrpSpPr>
                <a:grpSpLocks/>
              </p:cNvGrpSpPr>
              <p:nvPr/>
            </p:nvGrpSpPr>
            <p:grpSpPr bwMode="auto">
              <a:xfrm>
                <a:off x="3251" y="3048"/>
                <a:ext cx="212" cy="84"/>
                <a:chOff x="3251" y="3048"/>
                <a:chExt cx="212" cy="84"/>
              </a:xfrm>
            </p:grpSpPr>
            <p:sp>
              <p:nvSpPr>
                <p:cNvPr id="1727789" name="Freeform 302"/>
                <p:cNvSpPr>
                  <a:spLocks noChangeArrowheads="1"/>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90" name="Freeform 303"/>
                <p:cNvSpPr>
                  <a:spLocks noChangeArrowheads="1"/>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91" name="Freeform 304"/>
                <p:cNvSpPr>
                  <a:spLocks noChangeArrowheads="1"/>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92" name="Freeform 305"/>
                <p:cNvSpPr>
                  <a:spLocks noChangeArrowheads="1"/>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93" name="Freeform 306"/>
                <p:cNvSpPr>
                  <a:spLocks noChangeArrowheads="1"/>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94" name="Freeform 307"/>
                <p:cNvSpPr>
                  <a:spLocks noChangeArrowheads="1"/>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95" name="Freeform 308"/>
                <p:cNvSpPr>
                  <a:spLocks noChangeArrowheads="1"/>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7796" name="Freeform 309"/>
                <p:cNvSpPr>
                  <a:spLocks noChangeArrowheads="1"/>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7797" name="Line 310"/>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798" name="Line 311"/>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727799" name="Rectangle 312"/>
          <p:cNvSpPr>
            <a:spLocks noChangeArrowheads="1"/>
          </p:cNvSpPr>
          <p:nvPr/>
        </p:nvSpPr>
        <p:spPr bwMode="auto">
          <a:xfrm>
            <a:off x="7196138" y="3863975"/>
            <a:ext cx="9271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800" name="Rectangle 313"/>
          <p:cNvSpPr>
            <a:spLocks noChangeArrowheads="1"/>
          </p:cNvSpPr>
          <p:nvPr/>
        </p:nvSpPr>
        <p:spPr bwMode="auto">
          <a:xfrm>
            <a:off x="7527925" y="4292600"/>
            <a:ext cx="7683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互联网</a:t>
            </a:r>
          </a:p>
        </p:txBody>
      </p:sp>
      <p:sp>
        <p:nvSpPr>
          <p:cNvPr id="1727801" name="Rectangle 314"/>
          <p:cNvSpPr>
            <a:spLocks noChangeArrowheads="1"/>
          </p:cNvSpPr>
          <p:nvPr/>
        </p:nvSpPr>
        <p:spPr bwMode="auto">
          <a:xfrm>
            <a:off x="3994150" y="3951288"/>
            <a:ext cx="415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802" name="Rectangle 315"/>
          <p:cNvSpPr>
            <a:spLocks noChangeArrowheads="1"/>
          </p:cNvSpPr>
          <p:nvPr/>
        </p:nvSpPr>
        <p:spPr bwMode="auto">
          <a:xfrm>
            <a:off x="3101975" y="4659313"/>
            <a:ext cx="4524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803" name="Rectangle 316"/>
          <p:cNvSpPr>
            <a:spLocks noChangeArrowheads="1"/>
          </p:cNvSpPr>
          <p:nvPr/>
        </p:nvSpPr>
        <p:spPr bwMode="auto">
          <a:xfrm>
            <a:off x="1851025" y="4305300"/>
            <a:ext cx="454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7804" name="Rectangle 317"/>
          <p:cNvSpPr>
            <a:spLocks noChangeArrowheads="1"/>
          </p:cNvSpPr>
          <p:nvPr/>
        </p:nvSpPr>
        <p:spPr bwMode="auto">
          <a:xfrm>
            <a:off x="461963" y="3965575"/>
            <a:ext cx="7699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浏览器</a:t>
            </a:r>
          </a:p>
        </p:txBody>
      </p:sp>
      <p:sp>
        <p:nvSpPr>
          <p:cNvPr id="1727805" name="Rectangle 318"/>
          <p:cNvSpPr>
            <a:spLocks noChangeArrowheads="1"/>
          </p:cNvSpPr>
          <p:nvPr/>
        </p:nvSpPr>
        <p:spPr bwMode="auto">
          <a:xfrm>
            <a:off x="4043363" y="3979863"/>
            <a:ext cx="2809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1</a:t>
            </a:r>
          </a:p>
        </p:txBody>
      </p:sp>
      <p:sp>
        <p:nvSpPr>
          <p:cNvPr id="1727806" name="Rectangle 319"/>
          <p:cNvSpPr>
            <a:spLocks noChangeArrowheads="1"/>
          </p:cNvSpPr>
          <p:nvPr/>
        </p:nvSpPr>
        <p:spPr bwMode="auto">
          <a:xfrm>
            <a:off x="6388100" y="4005263"/>
            <a:ext cx="279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2</a:t>
            </a:r>
          </a:p>
        </p:txBody>
      </p:sp>
      <p:sp>
        <p:nvSpPr>
          <p:cNvPr id="649536" name="Freeform 320"/>
          <p:cNvSpPr>
            <a:spLocks noChangeArrowheads="1"/>
          </p:cNvSpPr>
          <p:nvPr/>
        </p:nvSpPr>
        <p:spPr bwMode="auto">
          <a:xfrm>
            <a:off x="1836738" y="4268788"/>
            <a:ext cx="990600" cy="1023937"/>
          </a:xfrm>
          <a:custGeom>
            <a:avLst/>
            <a:gdLst>
              <a:gd name="T0" fmla="*/ 0 w 504"/>
              <a:gd name="T1" fmla="*/ 0 h 524"/>
              <a:gd name="T2" fmla="*/ 504 w 504"/>
              <a:gd name="T3" fmla="*/ 524 h 524"/>
            </a:gdLst>
            <a:ahLst/>
            <a:cxnLst>
              <a:cxn ang="0">
                <a:pos x="T0" y="T1"/>
              </a:cxn>
              <a:cxn ang="0">
                <a:pos x="T2" y="T3"/>
              </a:cxn>
            </a:cxnLst>
            <a:rect l="0" t="0" r="r" b="b"/>
            <a:pathLst>
              <a:path w="504" h="524">
                <a:moveTo>
                  <a:pt x="0" y="0"/>
                </a:moveTo>
                <a:cubicBezTo>
                  <a:pt x="84" y="87"/>
                  <a:pt x="399" y="415"/>
                  <a:pt x="504" y="524"/>
                </a:cubicBezTo>
              </a:path>
            </a:pathLst>
          </a:custGeom>
          <a:noFill/>
          <a:ln w="38100">
            <a:solidFill>
              <a:schemeClr val="hlink"/>
            </a:solidFill>
            <a:round/>
            <a:headEnd type="triangle" w="med" len="med"/>
            <a:tailEnd type="non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649537" name="Freeform 321"/>
          <p:cNvSpPr>
            <a:spLocks noChangeArrowheads="1"/>
          </p:cNvSpPr>
          <p:nvPr/>
        </p:nvSpPr>
        <p:spPr bwMode="auto">
          <a:xfrm>
            <a:off x="1073150" y="4624388"/>
            <a:ext cx="1801813" cy="871537"/>
          </a:xfrm>
          <a:custGeom>
            <a:avLst/>
            <a:gdLst>
              <a:gd name="T0" fmla="*/ 0 w 917"/>
              <a:gd name="T1" fmla="*/ 0 h 446"/>
              <a:gd name="T2" fmla="*/ 917 w 917"/>
              <a:gd name="T3" fmla="*/ 446 h 446"/>
            </a:gdLst>
            <a:ahLst/>
            <a:cxnLst>
              <a:cxn ang="0">
                <a:pos x="T0" y="T1"/>
              </a:cxn>
              <a:cxn ang="0">
                <a:pos x="T2" y="T3"/>
              </a:cxn>
            </a:cxnLst>
            <a:rect l="0" t="0" r="r" b="b"/>
            <a:pathLst>
              <a:path w="917" h="446">
                <a:moveTo>
                  <a:pt x="0" y="0"/>
                </a:moveTo>
                <a:cubicBezTo>
                  <a:pt x="153" y="74"/>
                  <a:pt x="726" y="353"/>
                  <a:pt x="917" y="446"/>
                </a:cubicBezTo>
              </a:path>
            </a:pathLst>
          </a:custGeom>
          <a:noFill/>
          <a:ln w="38100">
            <a:solidFill>
              <a:schemeClr val="hlink"/>
            </a:solidFill>
            <a:round/>
            <a:headEnd type="triangle" w="med" len="med"/>
            <a:tailEnd type="non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649538" name="Freeform 322"/>
          <p:cNvSpPr>
            <a:spLocks noChangeArrowheads="1"/>
          </p:cNvSpPr>
          <p:nvPr/>
        </p:nvSpPr>
        <p:spPr bwMode="auto">
          <a:xfrm>
            <a:off x="1684338" y="5276850"/>
            <a:ext cx="1155700" cy="366713"/>
          </a:xfrm>
          <a:custGeom>
            <a:avLst/>
            <a:gdLst>
              <a:gd name="T0" fmla="*/ 0 w 588"/>
              <a:gd name="T1" fmla="*/ 0 h 188"/>
              <a:gd name="T2" fmla="*/ 588 w 588"/>
              <a:gd name="T3" fmla="*/ 188 h 188"/>
            </a:gdLst>
            <a:ahLst/>
            <a:cxnLst>
              <a:cxn ang="0">
                <a:pos x="T0" y="T1"/>
              </a:cxn>
              <a:cxn ang="0">
                <a:pos x="T2" y="T3"/>
              </a:cxn>
            </a:cxnLst>
            <a:rect l="0" t="0" r="r" b="b"/>
            <a:pathLst>
              <a:path w="588" h="188">
                <a:moveTo>
                  <a:pt x="0" y="0"/>
                </a:moveTo>
                <a:cubicBezTo>
                  <a:pt x="98" y="31"/>
                  <a:pt x="466" y="149"/>
                  <a:pt x="588" y="188"/>
                </a:cubicBezTo>
              </a:path>
            </a:pathLst>
          </a:custGeom>
          <a:noFill/>
          <a:ln w="38100">
            <a:solidFill>
              <a:schemeClr val="hlink"/>
            </a:solidFill>
            <a:round/>
            <a:headEnd type="triangle" w="med" len="med"/>
            <a:tailEnd type="non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649539" name="Freeform 323"/>
          <p:cNvSpPr>
            <a:spLocks noChangeArrowheads="1"/>
          </p:cNvSpPr>
          <p:nvPr/>
        </p:nvSpPr>
        <p:spPr bwMode="auto">
          <a:xfrm>
            <a:off x="1695450" y="3382963"/>
            <a:ext cx="1219200" cy="1776412"/>
          </a:xfrm>
          <a:custGeom>
            <a:avLst/>
            <a:gdLst>
              <a:gd name="T0" fmla="*/ 0 w 620"/>
              <a:gd name="T1" fmla="*/ 0 h 909"/>
              <a:gd name="T2" fmla="*/ 620 w 620"/>
              <a:gd name="T3" fmla="*/ 909 h 909"/>
            </a:gdLst>
            <a:ahLst/>
            <a:cxnLst>
              <a:cxn ang="0">
                <a:pos x="T0" y="T1"/>
              </a:cxn>
              <a:cxn ang="0">
                <a:pos x="T2" y="T3"/>
              </a:cxn>
            </a:cxnLst>
            <a:rect l="0" t="0" r="r" b="b"/>
            <a:pathLst>
              <a:path w="620" h="909">
                <a:moveTo>
                  <a:pt x="0" y="0"/>
                </a:moveTo>
                <a:cubicBezTo>
                  <a:pt x="103" y="151"/>
                  <a:pt x="491" y="720"/>
                  <a:pt x="620" y="909"/>
                </a:cubicBezTo>
              </a:path>
            </a:pathLst>
          </a:custGeom>
          <a:noFill/>
          <a:ln w="38100">
            <a:solidFill>
              <a:schemeClr val="hlink"/>
            </a:solidFill>
            <a:round/>
            <a:headEnd type="triangle" w="med" len="med"/>
            <a:tailEnd type="non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7811" name="Text Box 324"/>
          <p:cNvSpPr txBox="1">
            <a:spLocks noChangeArrowheads="1"/>
          </p:cNvSpPr>
          <p:nvPr/>
        </p:nvSpPr>
        <p:spPr bwMode="auto">
          <a:xfrm>
            <a:off x="508000" y="1268413"/>
            <a:ext cx="8913813" cy="946150"/>
          </a:xfrm>
          <a:prstGeom prst="rect">
            <a:avLst/>
          </a:prstGeom>
          <a:solidFill>
            <a:srgbClr val="FFFF66"/>
          </a:solidFill>
          <a:ln w="9525">
            <a:solidFill>
              <a:srgbClr val="000066"/>
            </a:solidFill>
            <a:round/>
            <a:headEnd/>
            <a:tailEnd/>
          </a:ln>
        </p:spPr>
        <p:txBody>
          <a:bodyPr>
            <a:spAutoFit/>
          </a:bodyPr>
          <a:lstStyle/>
          <a:p>
            <a:r>
              <a:rPr lang="en-US" altLang="zh-CN" sz="2800" b="1">
                <a:solidFill>
                  <a:srgbClr val="000066"/>
                </a:solidFill>
                <a:ea typeface="黑体" panose="02010609060101010101" pitchFamily="49" charset="-122"/>
              </a:rPr>
              <a:t>(2) </a:t>
            </a:r>
            <a:r>
              <a:rPr lang="zh-CN" altLang="en-US" sz="2800" b="1">
                <a:solidFill>
                  <a:srgbClr val="000066"/>
                </a:solidFill>
                <a:ea typeface="黑体" panose="02010609060101010101" pitchFamily="49" charset="-122"/>
              </a:rPr>
              <a:t>若高速缓存已经存放了所请求的对象，则将此对象放入 </a:t>
            </a:r>
            <a:r>
              <a:rPr lang="en-US" altLang="zh-CN" sz="2800" b="1">
                <a:solidFill>
                  <a:srgbClr val="000066"/>
                </a:solidFill>
                <a:ea typeface="黑体" panose="02010609060101010101" pitchFamily="49" charset="-122"/>
              </a:rPr>
              <a:t>HTTP </a:t>
            </a:r>
            <a:r>
              <a:rPr lang="zh-CN" altLang="en-US" sz="2800" b="1">
                <a:solidFill>
                  <a:srgbClr val="000066"/>
                </a:solidFill>
                <a:ea typeface="黑体" panose="02010609060101010101" pitchFamily="49" charset="-122"/>
              </a:rPr>
              <a:t>响应报文中返回给浏览器。</a:t>
            </a:r>
          </a:p>
        </p:txBody>
      </p:sp>
      <p:sp>
        <p:nvSpPr>
          <p:cNvPr id="172781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60353B1-65C2-4438-881A-6B8B5657C266}" type="slidenum">
              <a:rPr lang="zh-CN" altLang="en-US" smtClean="0"/>
              <a:pPr eaLnBrk="1" hangingPunct="1"/>
              <a:t>36</a:t>
            </a:fld>
            <a:endParaRPr lang="en-US" altLang="zh-CN" smtClean="0"/>
          </a:p>
        </p:txBody>
      </p:sp>
      <p:sp>
        <p:nvSpPr>
          <p:cNvPr id="172781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49539"/>
                                        </p:tgtEl>
                                        <p:attrNameLst>
                                          <p:attrName>style.visibility</p:attrName>
                                        </p:attrNameLst>
                                      </p:cBhvr>
                                      <p:to>
                                        <p:strVal val="visible"/>
                                      </p:to>
                                    </p:set>
                                    <p:animEffect transition="in" filter="wipe(down)">
                                      <p:cBhvr>
                                        <p:cTn id="7" dur="500"/>
                                        <p:tgtEl>
                                          <p:spTgt spid="649539"/>
                                        </p:tgtEl>
                                      </p:cBhvr>
                                    </p:animEffect>
                                  </p:childTnLst>
                                </p:cTn>
                              </p:par>
                            </p:childTnLst>
                          </p:cTn>
                        </p:par>
                        <p:par>
                          <p:cTn id="8" fill="hold" nodeType="afterGroup">
                            <p:stCondLst>
                              <p:cond delay="500"/>
                            </p:stCondLst>
                            <p:childTnLst>
                              <p:par>
                                <p:cTn id="9" presetID="22" presetClass="entr" presetSubtype="4" fill="hold" grpId="0" nodeType="afterEffect">
                                  <p:stCondLst>
                                    <p:cond delay="500"/>
                                  </p:stCondLst>
                                  <p:childTnLst>
                                    <p:set>
                                      <p:cBhvr>
                                        <p:cTn id="10" dur="1" fill="hold">
                                          <p:stCondLst>
                                            <p:cond delay="0"/>
                                          </p:stCondLst>
                                        </p:cTn>
                                        <p:tgtEl>
                                          <p:spTgt spid="649536"/>
                                        </p:tgtEl>
                                        <p:attrNameLst>
                                          <p:attrName>style.visibility</p:attrName>
                                        </p:attrNameLst>
                                      </p:cBhvr>
                                      <p:to>
                                        <p:strVal val="visible"/>
                                      </p:to>
                                    </p:set>
                                    <p:animEffect transition="in" filter="wipe(down)">
                                      <p:cBhvr>
                                        <p:cTn id="11" dur="500"/>
                                        <p:tgtEl>
                                          <p:spTgt spid="649536"/>
                                        </p:tgtEl>
                                      </p:cBhvr>
                                    </p:animEffect>
                                  </p:childTnLst>
                                </p:cTn>
                              </p:par>
                            </p:childTnLst>
                          </p:cTn>
                        </p:par>
                        <p:par>
                          <p:cTn id="12" fill="hold" nodeType="afterGroup">
                            <p:stCondLst>
                              <p:cond delay="1500"/>
                            </p:stCondLst>
                            <p:childTnLst>
                              <p:par>
                                <p:cTn id="13" presetID="22" presetClass="entr" presetSubtype="2" fill="hold" grpId="0" nodeType="afterEffect">
                                  <p:stCondLst>
                                    <p:cond delay="500"/>
                                  </p:stCondLst>
                                  <p:childTnLst>
                                    <p:set>
                                      <p:cBhvr>
                                        <p:cTn id="14" dur="1" fill="hold">
                                          <p:stCondLst>
                                            <p:cond delay="0"/>
                                          </p:stCondLst>
                                        </p:cTn>
                                        <p:tgtEl>
                                          <p:spTgt spid="649537"/>
                                        </p:tgtEl>
                                        <p:attrNameLst>
                                          <p:attrName>style.visibility</p:attrName>
                                        </p:attrNameLst>
                                      </p:cBhvr>
                                      <p:to>
                                        <p:strVal val="visible"/>
                                      </p:to>
                                    </p:set>
                                    <p:animEffect transition="in" filter="wipe(right)">
                                      <p:cBhvr>
                                        <p:cTn id="15" dur="500"/>
                                        <p:tgtEl>
                                          <p:spTgt spid="649537"/>
                                        </p:tgtEl>
                                      </p:cBhvr>
                                    </p:animEffect>
                                  </p:childTnLst>
                                </p:cTn>
                              </p:par>
                            </p:childTnLst>
                          </p:cTn>
                        </p:par>
                        <p:par>
                          <p:cTn id="16" fill="hold" nodeType="afterGroup">
                            <p:stCondLst>
                              <p:cond delay="2500"/>
                            </p:stCondLst>
                            <p:childTnLst>
                              <p:par>
                                <p:cTn id="17" presetID="22" presetClass="entr" presetSubtype="2" fill="hold" grpId="0" nodeType="afterEffect">
                                  <p:stCondLst>
                                    <p:cond delay="500"/>
                                  </p:stCondLst>
                                  <p:childTnLst>
                                    <p:set>
                                      <p:cBhvr>
                                        <p:cTn id="18" dur="1" fill="hold">
                                          <p:stCondLst>
                                            <p:cond delay="0"/>
                                          </p:stCondLst>
                                        </p:cTn>
                                        <p:tgtEl>
                                          <p:spTgt spid="649538"/>
                                        </p:tgtEl>
                                        <p:attrNameLst>
                                          <p:attrName>style.visibility</p:attrName>
                                        </p:attrNameLst>
                                      </p:cBhvr>
                                      <p:to>
                                        <p:strVal val="visible"/>
                                      </p:to>
                                    </p:set>
                                    <p:animEffect transition="in" filter="wipe(right)">
                                      <p:cBhvr>
                                        <p:cTn id="19" dur="500"/>
                                        <p:tgtEl>
                                          <p:spTgt spid="649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9536" grpId="0" animBg="1"/>
      <p:bldP spid="649537" grpId="0" animBg="1"/>
      <p:bldP spid="649538" grpId="0" animBg="1"/>
      <p:bldP spid="64953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9537" name="Rectangle 2"/>
          <p:cNvSpPr>
            <a:spLocks noGrp="1" noChangeArrowheads="1"/>
          </p:cNvSpPr>
          <p:nvPr>
            <p:ph type="title"/>
          </p:nvPr>
        </p:nvSpPr>
        <p:spPr/>
        <p:txBody>
          <a:bodyPr/>
          <a:lstStyle/>
          <a:p>
            <a:pPr algn="ctr"/>
            <a:r>
              <a:rPr lang="zh-CN" altLang="zh-CN" smtClean="0">
                <a:ea typeface="黑体" panose="02010609060101010101" pitchFamily="49" charset="-122"/>
              </a:rPr>
              <a:t>使用高速缓存的情况</a:t>
            </a:r>
          </a:p>
        </p:txBody>
      </p:sp>
      <p:grpSp>
        <p:nvGrpSpPr>
          <p:cNvPr id="1729538" name="Group 3"/>
          <p:cNvGrpSpPr>
            <a:grpSpLocks/>
          </p:cNvGrpSpPr>
          <p:nvPr/>
        </p:nvGrpSpPr>
        <p:grpSpPr bwMode="auto">
          <a:xfrm>
            <a:off x="271463" y="3205163"/>
            <a:ext cx="3743325" cy="2570162"/>
            <a:chOff x="912" y="768"/>
            <a:chExt cx="2400" cy="1584"/>
          </a:xfrm>
        </p:grpSpPr>
        <p:sp>
          <p:nvSpPr>
            <p:cNvPr id="1729539"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40"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41"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42"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43"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44"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45"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46"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47"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grpSp>
          <p:nvGrpSpPr>
            <p:cNvPr id="1729548" name="Group 13"/>
            <p:cNvGrpSpPr>
              <a:grpSpLocks/>
            </p:cNvGrpSpPr>
            <p:nvPr/>
          </p:nvGrpSpPr>
          <p:grpSpPr bwMode="auto">
            <a:xfrm>
              <a:off x="912" y="768"/>
              <a:ext cx="2386" cy="1553"/>
              <a:chOff x="912" y="768"/>
              <a:chExt cx="2386" cy="1553"/>
            </a:xfrm>
          </p:grpSpPr>
          <p:sp>
            <p:nvSpPr>
              <p:cNvPr id="1729549"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50"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51"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52"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53"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54"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55"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56"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57"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grpSp>
      </p:grpSp>
      <p:graphicFrame>
        <p:nvGraphicFramePr>
          <p:cNvPr id="1729558" name="Object 23"/>
          <p:cNvGraphicFramePr>
            <a:graphicFrameLocks noChangeAspect="1"/>
          </p:cNvGraphicFramePr>
          <p:nvPr/>
        </p:nvGraphicFramePr>
        <p:xfrm>
          <a:off x="7086600" y="3929063"/>
          <a:ext cx="1917700" cy="1149350"/>
        </p:xfrm>
        <a:graphic>
          <a:graphicData uri="http://schemas.openxmlformats.org/presentationml/2006/ole">
            <mc:AlternateContent xmlns:mc="http://schemas.openxmlformats.org/markup-compatibility/2006">
              <mc:Choice xmlns:v="urn:schemas-microsoft-com:vml" Requires="v">
                <p:oleObj spid="_x0000_s1729887" r:id="rId4" imgW="1687068" imgH="964692" progId="Visio.Drawing.6">
                  <p:embed/>
                </p:oleObj>
              </mc:Choice>
              <mc:Fallback>
                <p:oleObj r:id="rId4" imgW="1687068" imgH="964692" progId="Visio.Drawing.6">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3929063"/>
                        <a:ext cx="19177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29559" name="Line 24"/>
          <p:cNvSpPr>
            <a:spLocks noChangeShapeType="1"/>
          </p:cNvSpPr>
          <p:nvPr/>
        </p:nvSpPr>
        <p:spPr bwMode="auto">
          <a:xfrm>
            <a:off x="4046538" y="4491038"/>
            <a:ext cx="2735262"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560" name="Line 25"/>
          <p:cNvSpPr>
            <a:spLocks noChangeShapeType="1"/>
          </p:cNvSpPr>
          <p:nvPr/>
        </p:nvSpPr>
        <p:spPr bwMode="auto">
          <a:xfrm>
            <a:off x="8274050" y="5000625"/>
            <a:ext cx="703263" cy="542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561" name="Line 26"/>
          <p:cNvSpPr>
            <a:spLocks noChangeShapeType="1"/>
          </p:cNvSpPr>
          <p:nvPr/>
        </p:nvSpPr>
        <p:spPr bwMode="auto">
          <a:xfrm>
            <a:off x="8680450" y="4721225"/>
            <a:ext cx="563563" cy="115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562" name="Line 27"/>
          <p:cNvSpPr>
            <a:spLocks noChangeShapeType="1"/>
          </p:cNvSpPr>
          <p:nvPr/>
        </p:nvSpPr>
        <p:spPr bwMode="auto">
          <a:xfrm flipV="1">
            <a:off x="8710613" y="4040188"/>
            <a:ext cx="533400" cy="153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563" name="Line 28"/>
          <p:cNvSpPr>
            <a:spLocks noChangeShapeType="1"/>
          </p:cNvSpPr>
          <p:nvPr/>
        </p:nvSpPr>
        <p:spPr bwMode="auto">
          <a:xfrm flipV="1">
            <a:off x="8240713" y="3421063"/>
            <a:ext cx="736600" cy="5953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9564" name="Group 29"/>
          <p:cNvGrpSpPr>
            <a:grpSpLocks/>
          </p:cNvGrpSpPr>
          <p:nvPr/>
        </p:nvGrpSpPr>
        <p:grpSpPr bwMode="auto">
          <a:xfrm>
            <a:off x="9099550" y="3695700"/>
            <a:ext cx="427038" cy="661988"/>
            <a:chOff x="4486" y="2730"/>
            <a:chExt cx="217" cy="339"/>
          </a:xfrm>
        </p:grpSpPr>
        <p:grpSp>
          <p:nvGrpSpPr>
            <p:cNvPr id="1729565" name="Group 30"/>
            <p:cNvGrpSpPr>
              <a:grpSpLocks/>
            </p:cNvGrpSpPr>
            <p:nvPr/>
          </p:nvGrpSpPr>
          <p:grpSpPr bwMode="auto">
            <a:xfrm>
              <a:off x="4491" y="2736"/>
              <a:ext cx="212" cy="333"/>
              <a:chOff x="4491" y="2736"/>
              <a:chExt cx="212" cy="333"/>
            </a:xfrm>
          </p:grpSpPr>
          <p:sp>
            <p:nvSpPr>
              <p:cNvPr id="1729566" name="Freeform 31"/>
              <p:cNvSpPr>
                <a:spLocks noChangeArrowheads="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567" name="Freeform 32"/>
              <p:cNvSpPr>
                <a:spLocks noChangeArrowheads="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568" name="Freeform 33"/>
              <p:cNvSpPr>
                <a:spLocks noChangeArrowheads="1"/>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569" name="Freeform 34"/>
              <p:cNvSpPr>
                <a:spLocks noChangeArrowheads="1"/>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570" name="Rectangle 35"/>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71" name="Rectangle 36"/>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72" name="Line 37"/>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573" name="Line 38"/>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574" name="Line 39"/>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9575" name="Group 40"/>
            <p:cNvGrpSpPr>
              <a:grpSpLocks/>
            </p:cNvGrpSpPr>
            <p:nvPr/>
          </p:nvGrpSpPr>
          <p:grpSpPr bwMode="auto">
            <a:xfrm>
              <a:off x="4486" y="2730"/>
              <a:ext cx="212" cy="333"/>
              <a:chOff x="4486" y="2730"/>
              <a:chExt cx="212" cy="333"/>
            </a:xfrm>
          </p:grpSpPr>
          <p:sp>
            <p:nvSpPr>
              <p:cNvPr id="1729576" name="Freeform 41"/>
              <p:cNvSpPr>
                <a:spLocks noChangeArrowheads="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577" name="Freeform 42"/>
              <p:cNvSpPr>
                <a:spLocks noChangeArrowheads="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578" name="Freeform 43"/>
              <p:cNvSpPr>
                <a:spLocks noChangeArrowheads="1"/>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579" name="Freeform 44"/>
              <p:cNvSpPr>
                <a:spLocks noChangeArrowheads="1"/>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580" name="Rectangle 45"/>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81" name="Rectangle 46"/>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82" name="Line 47"/>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583" name="Line 48"/>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584" name="Line 49"/>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729585" name="Group 50"/>
          <p:cNvGrpSpPr>
            <a:grpSpLocks/>
          </p:cNvGrpSpPr>
          <p:nvPr/>
        </p:nvGrpSpPr>
        <p:grpSpPr bwMode="auto">
          <a:xfrm>
            <a:off x="9099550" y="4556125"/>
            <a:ext cx="427038" cy="661988"/>
            <a:chOff x="4486" y="3170"/>
            <a:chExt cx="217" cy="339"/>
          </a:xfrm>
        </p:grpSpPr>
        <p:grpSp>
          <p:nvGrpSpPr>
            <p:cNvPr id="1729586" name="Group 51"/>
            <p:cNvGrpSpPr>
              <a:grpSpLocks/>
            </p:cNvGrpSpPr>
            <p:nvPr/>
          </p:nvGrpSpPr>
          <p:grpSpPr bwMode="auto">
            <a:xfrm>
              <a:off x="4491" y="3176"/>
              <a:ext cx="212" cy="333"/>
              <a:chOff x="4491" y="3176"/>
              <a:chExt cx="212" cy="333"/>
            </a:xfrm>
          </p:grpSpPr>
          <p:sp>
            <p:nvSpPr>
              <p:cNvPr id="1729587" name="Freeform 52"/>
              <p:cNvSpPr>
                <a:spLocks noChangeArrowheads="1"/>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588" name="Freeform 53"/>
              <p:cNvSpPr>
                <a:spLocks noChangeArrowheads="1"/>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589" name="Freeform 54"/>
              <p:cNvSpPr>
                <a:spLocks noChangeArrowheads="1"/>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590" name="Freeform 55"/>
              <p:cNvSpPr>
                <a:spLocks noChangeArrowheads="1"/>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591" name="Rectangle 56"/>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92" name="Rectangle 57"/>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593" name="Line 58"/>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594" name="Line 59"/>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595" name="Line 60"/>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9596" name="Group 61"/>
            <p:cNvGrpSpPr>
              <a:grpSpLocks/>
            </p:cNvGrpSpPr>
            <p:nvPr/>
          </p:nvGrpSpPr>
          <p:grpSpPr bwMode="auto">
            <a:xfrm>
              <a:off x="4486" y="3170"/>
              <a:ext cx="212" cy="332"/>
              <a:chOff x="4486" y="3170"/>
              <a:chExt cx="212" cy="332"/>
            </a:xfrm>
          </p:grpSpPr>
          <p:sp>
            <p:nvSpPr>
              <p:cNvPr id="1729597" name="Freeform 62"/>
              <p:cNvSpPr>
                <a:spLocks noChangeArrowheads="1"/>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598" name="Freeform 63"/>
              <p:cNvSpPr>
                <a:spLocks noChangeArrowheads="1"/>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599" name="Freeform 64"/>
              <p:cNvSpPr>
                <a:spLocks noChangeArrowheads="1"/>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Lst>
                <a:ahLst/>
                <a:cxnLst>
                  <a:cxn ang="0">
                    <a:pos x="T0" y="T1"/>
                  </a:cxn>
                  <a:cxn ang="0">
                    <a:pos x="T2" y="T3"/>
                  </a:cxn>
                  <a:cxn ang="0">
                    <a:pos x="T4" y="T5"/>
                  </a:cxn>
                  <a:cxn ang="0">
                    <a:pos x="T6" y="T7"/>
                  </a:cxn>
                  <a:cxn ang="0">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00" name="Freeform 65"/>
              <p:cNvSpPr>
                <a:spLocks noChangeArrowheads="1"/>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Lst>
                <a:ahLst/>
                <a:cxnLst>
                  <a:cxn ang="0">
                    <a:pos x="T0" y="T1"/>
                  </a:cxn>
                  <a:cxn ang="0">
                    <a:pos x="T2" y="T3"/>
                  </a:cxn>
                  <a:cxn ang="0">
                    <a:pos x="T4" y="T5"/>
                  </a:cxn>
                  <a:cxn ang="0">
                    <a:pos x="T6" y="T7"/>
                  </a:cxn>
                  <a:cxn ang="0">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01" name="Rectangle 66"/>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02" name="Rectangle 67"/>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03" name="Line 68"/>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604" name="Line 69"/>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605" name="Line 70"/>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729606" name="Group 71"/>
          <p:cNvGrpSpPr>
            <a:grpSpLocks/>
          </p:cNvGrpSpPr>
          <p:nvPr/>
        </p:nvGrpSpPr>
        <p:grpSpPr bwMode="auto">
          <a:xfrm>
            <a:off x="8655050" y="5229225"/>
            <a:ext cx="423863" cy="661988"/>
            <a:chOff x="4260" y="3515"/>
            <a:chExt cx="216" cy="339"/>
          </a:xfrm>
        </p:grpSpPr>
        <p:grpSp>
          <p:nvGrpSpPr>
            <p:cNvPr id="1729607" name="Group 72"/>
            <p:cNvGrpSpPr>
              <a:grpSpLocks/>
            </p:cNvGrpSpPr>
            <p:nvPr/>
          </p:nvGrpSpPr>
          <p:grpSpPr bwMode="auto">
            <a:xfrm>
              <a:off x="4265" y="3521"/>
              <a:ext cx="211" cy="333"/>
              <a:chOff x="4265" y="3521"/>
              <a:chExt cx="211" cy="333"/>
            </a:xfrm>
          </p:grpSpPr>
          <p:sp>
            <p:nvSpPr>
              <p:cNvPr id="1729608" name="Freeform 73"/>
              <p:cNvSpPr>
                <a:spLocks noChangeArrowheads="1"/>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09" name="Freeform 74"/>
              <p:cNvSpPr>
                <a:spLocks noChangeArrowheads="1"/>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10" name="Freeform 75"/>
              <p:cNvSpPr>
                <a:spLocks noChangeArrowheads="1"/>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11" name="Freeform 76"/>
              <p:cNvSpPr>
                <a:spLocks noChangeArrowheads="1"/>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12" name="Rectangle 77"/>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13" name="Rectangle 78"/>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14" name="Line 79"/>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615" name="Line 80"/>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616" name="Line 81"/>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9617" name="Group 82"/>
            <p:cNvGrpSpPr>
              <a:grpSpLocks/>
            </p:cNvGrpSpPr>
            <p:nvPr/>
          </p:nvGrpSpPr>
          <p:grpSpPr bwMode="auto">
            <a:xfrm>
              <a:off x="4260" y="3515"/>
              <a:ext cx="211" cy="332"/>
              <a:chOff x="4260" y="3515"/>
              <a:chExt cx="211" cy="332"/>
            </a:xfrm>
          </p:grpSpPr>
          <p:sp>
            <p:nvSpPr>
              <p:cNvPr id="1729618" name="Freeform 83"/>
              <p:cNvSpPr>
                <a:spLocks noChangeArrowheads="1"/>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19" name="Freeform 84"/>
              <p:cNvSpPr>
                <a:spLocks noChangeArrowheads="1"/>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20" name="Freeform 85"/>
              <p:cNvSpPr>
                <a:spLocks noChangeArrowheads="1"/>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21" name="Freeform 86"/>
              <p:cNvSpPr>
                <a:spLocks noChangeArrowheads="1"/>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22" name="Rectangle 87"/>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23" name="Rectangle 88"/>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24" name="Line 89"/>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625" name="Line 90"/>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626" name="Line 91"/>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9627" name="Rectangle 92"/>
          <p:cNvSpPr>
            <a:spLocks noChangeArrowheads="1"/>
          </p:cNvSpPr>
          <p:nvPr/>
        </p:nvSpPr>
        <p:spPr bwMode="auto">
          <a:xfrm>
            <a:off x="2286000" y="3155950"/>
            <a:ext cx="31750" cy="2598738"/>
          </a:xfrm>
          <a:prstGeom prst="rect">
            <a:avLst/>
          </a:prstGeom>
          <a:solidFill>
            <a:srgbClr val="000000"/>
          </a:solidFill>
          <a:ln w="28575">
            <a:solidFill>
              <a:srgbClr val="333399"/>
            </a:solidFill>
            <a:miter lim="800000"/>
            <a:headEnd/>
            <a:tailEnd/>
          </a:ln>
        </p:spPr>
        <p:txBody>
          <a:bodyPr/>
          <a:lstStyle/>
          <a:p>
            <a:endParaRPr lang="zh-CN" altLang="en-US" b="1">
              <a:solidFill>
                <a:srgbClr val="000099"/>
              </a:solidFill>
              <a:ea typeface="宋体" panose="02010600030101010101" pitchFamily="2" charset="-122"/>
            </a:endParaRPr>
          </a:p>
        </p:txBody>
      </p:sp>
      <p:sp>
        <p:nvSpPr>
          <p:cNvPr id="1729628" name="Line 93"/>
          <p:cNvSpPr>
            <a:spLocks noChangeShapeType="1"/>
          </p:cNvSpPr>
          <p:nvPr/>
        </p:nvSpPr>
        <p:spPr bwMode="auto">
          <a:xfrm>
            <a:off x="1411288" y="3536950"/>
            <a:ext cx="89058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629" name="Line 94"/>
          <p:cNvSpPr>
            <a:spLocks noChangeShapeType="1"/>
          </p:cNvSpPr>
          <p:nvPr/>
        </p:nvSpPr>
        <p:spPr bwMode="auto">
          <a:xfrm>
            <a:off x="1677988" y="4246563"/>
            <a:ext cx="623887"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630" name="Line 95"/>
          <p:cNvSpPr>
            <a:spLocks noChangeShapeType="1"/>
          </p:cNvSpPr>
          <p:nvPr/>
        </p:nvSpPr>
        <p:spPr bwMode="auto">
          <a:xfrm>
            <a:off x="965200" y="4748213"/>
            <a:ext cx="133667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631" name="Line 96"/>
          <p:cNvSpPr>
            <a:spLocks noChangeShapeType="1"/>
          </p:cNvSpPr>
          <p:nvPr/>
        </p:nvSpPr>
        <p:spPr bwMode="auto">
          <a:xfrm>
            <a:off x="1500188" y="5365750"/>
            <a:ext cx="80168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632" name="Line 97"/>
          <p:cNvSpPr>
            <a:spLocks noChangeShapeType="1"/>
          </p:cNvSpPr>
          <p:nvPr/>
        </p:nvSpPr>
        <p:spPr bwMode="auto">
          <a:xfrm>
            <a:off x="2301875" y="5543550"/>
            <a:ext cx="444500"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633" name="Line 98"/>
          <p:cNvSpPr>
            <a:spLocks noChangeShapeType="1"/>
          </p:cNvSpPr>
          <p:nvPr/>
        </p:nvSpPr>
        <p:spPr bwMode="auto">
          <a:xfrm flipV="1">
            <a:off x="3159125" y="4579938"/>
            <a:ext cx="779463" cy="6477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634" name="Line 99"/>
          <p:cNvSpPr>
            <a:spLocks noChangeShapeType="1"/>
          </p:cNvSpPr>
          <p:nvPr/>
        </p:nvSpPr>
        <p:spPr bwMode="auto">
          <a:xfrm>
            <a:off x="2300288" y="4483100"/>
            <a:ext cx="1516062" cy="1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9635" name="Group 100"/>
          <p:cNvGrpSpPr>
            <a:grpSpLocks/>
          </p:cNvGrpSpPr>
          <p:nvPr/>
        </p:nvGrpSpPr>
        <p:grpSpPr bwMode="auto">
          <a:xfrm>
            <a:off x="3656013" y="4287838"/>
            <a:ext cx="608012" cy="374650"/>
            <a:chOff x="2154" y="3033"/>
            <a:chExt cx="309" cy="192"/>
          </a:xfrm>
        </p:grpSpPr>
        <p:sp>
          <p:nvSpPr>
            <p:cNvPr id="1729636" name="Oval 101"/>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sp>
          <p:nvSpPr>
            <p:cNvPr id="1729637" name="Rectangle 10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38" name="Rectangle 10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39" name="Oval 104"/>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grpSp>
          <p:nvGrpSpPr>
            <p:cNvPr id="1729640" name="Group 105"/>
            <p:cNvGrpSpPr>
              <a:grpSpLocks/>
            </p:cNvGrpSpPr>
            <p:nvPr/>
          </p:nvGrpSpPr>
          <p:grpSpPr bwMode="auto">
            <a:xfrm>
              <a:off x="2201" y="3046"/>
              <a:ext cx="214" cy="86"/>
              <a:chOff x="2201" y="3046"/>
              <a:chExt cx="214" cy="86"/>
            </a:xfrm>
          </p:grpSpPr>
          <p:grpSp>
            <p:nvGrpSpPr>
              <p:cNvPr id="1729641" name="Group 106"/>
              <p:cNvGrpSpPr>
                <a:grpSpLocks/>
              </p:cNvGrpSpPr>
              <p:nvPr/>
            </p:nvGrpSpPr>
            <p:grpSpPr bwMode="auto">
              <a:xfrm>
                <a:off x="2201" y="3046"/>
                <a:ext cx="212" cy="84"/>
                <a:chOff x="2201" y="3046"/>
                <a:chExt cx="212" cy="84"/>
              </a:xfrm>
            </p:grpSpPr>
            <p:sp>
              <p:nvSpPr>
                <p:cNvPr id="1729642" name="Freeform 107"/>
                <p:cNvSpPr>
                  <a:spLocks noChangeArrowheads="1"/>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43" name="Freeform 108"/>
                <p:cNvSpPr>
                  <a:spLocks noChangeArrowheads="1"/>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44" name="Freeform 109"/>
                <p:cNvSpPr>
                  <a:spLocks noChangeArrowheads="1"/>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45" name="Freeform 110"/>
                <p:cNvSpPr>
                  <a:spLocks noChangeArrowheads="1"/>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46" name="Freeform 111"/>
                <p:cNvSpPr>
                  <a:spLocks noChangeArrowheads="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47" name="Freeform 112"/>
                <p:cNvSpPr>
                  <a:spLocks noChangeArrowheads="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48" name="Freeform 113"/>
                <p:cNvSpPr>
                  <a:spLocks noChangeArrowheads="1"/>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49" name="Freeform 114"/>
                <p:cNvSpPr>
                  <a:spLocks noChangeArrowheads="1"/>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9650" name="Group 115"/>
              <p:cNvGrpSpPr>
                <a:grpSpLocks/>
              </p:cNvGrpSpPr>
              <p:nvPr/>
            </p:nvGrpSpPr>
            <p:grpSpPr bwMode="auto">
              <a:xfrm>
                <a:off x="2203" y="3048"/>
                <a:ext cx="212" cy="84"/>
                <a:chOff x="2203" y="3048"/>
                <a:chExt cx="212" cy="84"/>
              </a:xfrm>
            </p:grpSpPr>
            <p:sp>
              <p:nvSpPr>
                <p:cNvPr id="1729651" name="Freeform 116"/>
                <p:cNvSpPr>
                  <a:spLocks noChangeArrowheads="1"/>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52" name="Freeform 117"/>
                <p:cNvSpPr>
                  <a:spLocks noChangeArrowheads="1"/>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53" name="Freeform 118"/>
                <p:cNvSpPr>
                  <a:spLocks noChangeArrowheads="1"/>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54" name="Freeform 119"/>
                <p:cNvSpPr>
                  <a:spLocks noChangeArrowheads="1"/>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55" name="Freeform 120"/>
                <p:cNvSpPr>
                  <a:spLocks noChangeArrowheads="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56" name="Freeform 121"/>
                <p:cNvSpPr>
                  <a:spLocks noChangeArrowheads="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57" name="Freeform 122"/>
                <p:cNvSpPr>
                  <a:spLocks noChangeArrowheads="1"/>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58" name="Freeform 123"/>
                <p:cNvSpPr>
                  <a:spLocks noChangeArrowheads="1"/>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9659" name="Line 124"/>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660" name="Line 125"/>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9661" name="Group 126"/>
          <p:cNvGrpSpPr>
            <a:grpSpLocks/>
          </p:cNvGrpSpPr>
          <p:nvPr/>
        </p:nvGrpSpPr>
        <p:grpSpPr bwMode="auto">
          <a:xfrm>
            <a:off x="1235075" y="3074988"/>
            <a:ext cx="557213" cy="517525"/>
            <a:chOff x="921" y="2412"/>
            <a:chExt cx="284" cy="265"/>
          </a:xfrm>
        </p:grpSpPr>
        <p:grpSp>
          <p:nvGrpSpPr>
            <p:cNvPr id="1729662" name="Group 127"/>
            <p:cNvGrpSpPr>
              <a:grpSpLocks/>
            </p:cNvGrpSpPr>
            <p:nvPr/>
          </p:nvGrpSpPr>
          <p:grpSpPr bwMode="auto">
            <a:xfrm>
              <a:off x="928" y="2417"/>
              <a:ext cx="277" cy="260"/>
              <a:chOff x="928" y="2417"/>
              <a:chExt cx="277" cy="260"/>
            </a:xfrm>
          </p:grpSpPr>
          <p:sp>
            <p:nvSpPr>
              <p:cNvPr id="1729663" name="Freeform 128"/>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64" name="Freeform 129"/>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65" name="Freeform 130"/>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66" name="Freeform 131"/>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67" name="Rectangle 13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68" name="Rectangle 13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69" name="Rectangle 13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70" name="Line 135"/>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9671" name="Group 136"/>
              <p:cNvGrpSpPr>
                <a:grpSpLocks/>
              </p:cNvGrpSpPr>
              <p:nvPr/>
            </p:nvGrpSpPr>
            <p:grpSpPr bwMode="auto">
              <a:xfrm>
                <a:off x="928" y="2639"/>
                <a:ext cx="277" cy="38"/>
                <a:chOff x="928" y="2639"/>
                <a:chExt cx="277" cy="38"/>
              </a:xfrm>
            </p:grpSpPr>
            <p:sp>
              <p:nvSpPr>
                <p:cNvPr id="1729672" name="Freeform 137"/>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73" name="Freeform 138"/>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74" name="Rectangle 13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29675" name="Group 140"/>
            <p:cNvGrpSpPr>
              <a:grpSpLocks/>
            </p:cNvGrpSpPr>
            <p:nvPr/>
          </p:nvGrpSpPr>
          <p:grpSpPr bwMode="auto">
            <a:xfrm>
              <a:off x="921" y="2412"/>
              <a:ext cx="277" cy="261"/>
              <a:chOff x="921" y="2412"/>
              <a:chExt cx="277" cy="261"/>
            </a:xfrm>
          </p:grpSpPr>
          <p:sp>
            <p:nvSpPr>
              <p:cNvPr id="1729676" name="Freeform 141"/>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77" name="Freeform 142"/>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78" name="Freeform 143"/>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79" name="Freeform 144"/>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80" name="Rectangle 14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81" name="Rectangle 14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82" name="Rectangle 14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83" name="Line 148"/>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9684" name="Group 149"/>
              <p:cNvGrpSpPr>
                <a:grpSpLocks/>
              </p:cNvGrpSpPr>
              <p:nvPr/>
            </p:nvGrpSpPr>
            <p:grpSpPr bwMode="auto">
              <a:xfrm>
                <a:off x="921" y="2635"/>
                <a:ext cx="277" cy="38"/>
                <a:chOff x="921" y="2635"/>
                <a:chExt cx="277" cy="38"/>
              </a:xfrm>
            </p:grpSpPr>
            <p:sp>
              <p:nvSpPr>
                <p:cNvPr id="1729685" name="Freeform 150"/>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86" name="Freeform 151"/>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87" name="Rectangle 15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29688" name="Group 153"/>
          <p:cNvGrpSpPr>
            <a:grpSpLocks/>
          </p:cNvGrpSpPr>
          <p:nvPr/>
        </p:nvGrpSpPr>
        <p:grpSpPr bwMode="auto">
          <a:xfrm>
            <a:off x="1384300" y="3784600"/>
            <a:ext cx="554038" cy="517525"/>
            <a:chOff x="997" y="2775"/>
            <a:chExt cx="282" cy="265"/>
          </a:xfrm>
        </p:grpSpPr>
        <p:grpSp>
          <p:nvGrpSpPr>
            <p:cNvPr id="1729689" name="Group 154"/>
            <p:cNvGrpSpPr>
              <a:grpSpLocks/>
            </p:cNvGrpSpPr>
            <p:nvPr/>
          </p:nvGrpSpPr>
          <p:grpSpPr bwMode="auto">
            <a:xfrm>
              <a:off x="1004" y="2779"/>
              <a:ext cx="275" cy="261"/>
              <a:chOff x="1004" y="2779"/>
              <a:chExt cx="275" cy="261"/>
            </a:xfrm>
          </p:grpSpPr>
          <p:sp>
            <p:nvSpPr>
              <p:cNvPr id="1729690" name="Freeform 155"/>
              <p:cNvSpPr>
                <a:spLocks noChangeArrowheads="1"/>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91" name="Freeform 156"/>
              <p:cNvSpPr>
                <a:spLocks noChangeArrowheads="1"/>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92" name="Freeform 157"/>
              <p:cNvSpPr>
                <a:spLocks noChangeArrowheads="1"/>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Lst>
                <a:ahLst/>
                <a:cxnLst>
                  <a:cxn ang="0">
                    <a:pos x="T0" y="T1"/>
                  </a:cxn>
                  <a:cxn ang="0">
                    <a:pos x="T2" y="T3"/>
                  </a:cxn>
                  <a:cxn ang="0">
                    <a:pos x="T4" y="T5"/>
                  </a:cxn>
                  <a:cxn ang="0">
                    <a:pos x="T6" y="T7"/>
                  </a:cxn>
                  <a:cxn ang="0">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93" name="Freeform 158"/>
              <p:cNvSpPr>
                <a:spLocks noChangeArrowheads="1"/>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Lst>
                <a:ahLst/>
                <a:cxnLst>
                  <a:cxn ang="0">
                    <a:pos x="T0" y="T1"/>
                  </a:cxn>
                  <a:cxn ang="0">
                    <a:pos x="T2" y="T3"/>
                  </a:cxn>
                  <a:cxn ang="0">
                    <a:pos x="T4" y="T5"/>
                  </a:cxn>
                  <a:cxn ang="0">
                    <a:pos x="T6" y="T7"/>
                  </a:cxn>
                  <a:cxn ang="0">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694" name="Rectangle 15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95" name="Rectangle 16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96" name="Rectangle 16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697" name="Line 162"/>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9698" name="Group 163"/>
              <p:cNvGrpSpPr>
                <a:grpSpLocks/>
              </p:cNvGrpSpPr>
              <p:nvPr/>
            </p:nvGrpSpPr>
            <p:grpSpPr bwMode="auto">
              <a:xfrm>
                <a:off x="1004" y="3002"/>
                <a:ext cx="275" cy="38"/>
                <a:chOff x="1004" y="3002"/>
                <a:chExt cx="275" cy="38"/>
              </a:xfrm>
            </p:grpSpPr>
            <p:sp>
              <p:nvSpPr>
                <p:cNvPr id="1729699" name="Freeform 164"/>
                <p:cNvSpPr>
                  <a:spLocks noChangeArrowheads="1"/>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00" name="Freeform 165"/>
                <p:cNvSpPr>
                  <a:spLocks noChangeArrowheads="1"/>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01" name="Rectangle 16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29702" name="Group 167"/>
            <p:cNvGrpSpPr>
              <a:grpSpLocks/>
            </p:cNvGrpSpPr>
            <p:nvPr/>
          </p:nvGrpSpPr>
          <p:grpSpPr bwMode="auto">
            <a:xfrm>
              <a:off x="997" y="2775"/>
              <a:ext cx="275" cy="260"/>
              <a:chOff x="997" y="2775"/>
              <a:chExt cx="275" cy="260"/>
            </a:xfrm>
          </p:grpSpPr>
          <p:sp>
            <p:nvSpPr>
              <p:cNvPr id="1729703" name="Freeform 168"/>
              <p:cNvSpPr>
                <a:spLocks noChangeArrowheads="1"/>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04" name="Freeform 169"/>
              <p:cNvSpPr>
                <a:spLocks noChangeArrowheads="1"/>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05" name="Freeform 170"/>
              <p:cNvSpPr>
                <a:spLocks noChangeArrowheads="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06" name="Freeform 171"/>
              <p:cNvSpPr>
                <a:spLocks noChangeArrowheads="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07" name="Rectangle 17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08" name="Rectangle 17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09" name="Rectangle 17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10" name="Line 175"/>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9711" name="Group 176"/>
              <p:cNvGrpSpPr>
                <a:grpSpLocks/>
              </p:cNvGrpSpPr>
              <p:nvPr/>
            </p:nvGrpSpPr>
            <p:grpSpPr bwMode="auto">
              <a:xfrm>
                <a:off x="997" y="2997"/>
                <a:ext cx="275" cy="38"/>
                <a:chOff x="997" y="2997"/>
                <a:chExt cx="275" cy="38"/>
              </a:xfrm>
            </p:grpSpPr>
            <p:sp>
              <p:nvSpPr>
                <p:cNvPr id="1729712" name="Freeform 177"/>
                <p:cNvSpPr>
                  <a:spLocks noChangeArrowheads="1"/>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13" name="Freeform 178"/>
                <p:cNvSpPr>
                  <a:spLocks noChangeArrowheads="1"/>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14" name="Rectangle 17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29715" name="Group 180"/>
          <p:cNvGrpSpPr>
            <a:grpSpLocks/>
          </p:cNvGrpSpPr>
          <p:nvPr/>
        </p:nvGrpSpPr>
        <p:grpSpPr bwMode="auto">
          <a:xfrm>
            <a:off x="584200" y="4314825"/>
            <a:ext cx="554038" cy="517525"/>
            <a:chOff x="590" y="3047"/>
            <a:chExt cx="282" cy="265"/>
          </a:xfrm>
        </p:grpSpPr>
        <p:grpSp>
          <p:nvGrpSpPr>
            <p:cNvPr id="1729716" name="Group 181"/>
            <p:cNvGrpSpPr>
              <a:grpSpLocks/>
            </p:cNvGrpSpPr>
            <p:nvPr/>
          </p:nvGrpSpPr>
          <p:grpSpPr bwMode="auto">
            <a:xfrm>
              <a:off x="596" y="3051"/>
              <a:ext cx="276" cy="261"/>
              <a:chOff x="596" y="3051"/>
              <a:chExt cx="276" cy="261"/>
            </a:xfrm>
          </p:grpSpPr>
          <p:sp>
            <p:nvSpPr>
              <p:cNvPr id="1729717" name="Freeform 182"/>
              <p:cNvSpPr>
                <a:spLocks noChangeArrowheads="1"/>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18" name="Freeform 183"/>
              <p:cNvSpPr>
                <a:spLocks noChangeArrowheads="1"/>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19" name="Freeform 184"/>
              <p:cNvSpPr>
                <a:spLocks noChangeArrowheads="1"/>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20" name="Freeform 185"/>
              <p:cNvSpPr>
                <a:spLocks noChangeArrowheads="1"/>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21" name="Rectangle 18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22" name="Rectangle 18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23" name="Rectangle 18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24" name="Line 189"/>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9725" name="Group 190"/>
              <p:cNvGrpSpPr>
                <a:grpSpLocks/>
              </p:cNvGrpSpPr>
              <p:nvPr/>
            </p:nvGrpSpPr>
            <p:grpSpPr bwMode="auto">
              <a:xfrm>
                <a:off x="596" y="3274"/>
                <a:ext cx="276" cy="38"/>
                <a:chOff x="596" y="3274"/>
                <a:chExt cx="276" cy="38"/>
              </a:xfrm>
            </p:grpSpPr>
            <p:sp>
              <p:nvSpPr>
                <p:cNvPr id="1729726" name="Freeform 191"/>
                <p:cNvSpPr>
                  <a:spLocks noChangeArrowheads="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Lst>
                  <a:ahLst/>
                  <a:cxnLst>
                    <a:cxn ang="0">
                      <a:pos x="T0" y="T1"/>
                    </a:cxn>
                    <a:cxn ang="0">
                      <a:pos x="T2" y="T3"/>
                    </a:cxn>
                    <a:cxn ang="0">
                      <a:pos x="T4" y="T5"/>
                    </a:cxn>
                    <a:cxn ang="0">
                      <a:pos x="T6" y="T7"/>
                    </a:cxn>
                    <a:cxn ang="0">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27" name="Freeform 192"/>
                <p:cNvSpPr>
                  <a:spLocks noChangeArrowheads="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Lst>
                  <a:ahLst/>
                  <a:cxnLst>
                    <a:cxn ang="0">
                      <a:pos x="T0" y="T1"/>
                    </a:cxn>
                    <a:cxn ang="0">
                      <a:pos x="T2" y="T3"/>
                    </a:cxn>
                    <a:cxn ang="0">
                      <a:pos x="T4" y="T5"/>
                    </a:cxn>
                    <a:cxn ang="0">
                      <a:pos x="T6" y="T7"/>
                    </a:cxn>
                    <a:cxn ang="0">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28" name="Rectangle 19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29729" name="Group 194"/>
            <p:cNvGrpSpPr>
              <a:grpSpLocks/>
            </p:cNvGrpSpPr>
            <p:nvPr/>
          </p:nvGrpSpPr>
          <p:grpSpPr bwMode="auto">
            <a:xfrm>
              <a:off x="590" y="3047"/>
              <a:ext cx="275" cy="260"/>
              <a:chOff x="590" y="3047"/>
              <a:chExt cx="275" cy="260"/>
            </a:xfrm>
          </p:grpSpPr>
          <p:sp>
            <p:nvSpPr>
              <p:cNvPr id="1729730" name="Freeform 195"/>
              <p:cNvSpPr>
                <a:spLocks noChangeArrowheads="1"/>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31" name="Freeform 196"/>
              <p:cNvSpPr>
                <a:spLocks noChangeArrowheads="1"/>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32" name="Freeform 197"/>
              <p:cNvSpPr>
                <a:spLocks noChangeArrowheads="1"/>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Lst>
                <a:ahLst/>
                <a:cxnLst>
                  <a:cxn ang="0">
                    <a:pos x="T0" y="T1"/>
                  </a:cxn>
                  <a:cxn ang="0">
                    <a:pos x="T2" y="T3"/>
                  </a:cxn>
                  <a:cxn ang="0">
                    <a:pos x="T4" y="T5"/>
                  </a:cxn>
                  <a:cxn ang="0">
                    <a:pos x="T6" y="T7"/>
                  </a:cxn>
                  <a:cxn ang="0">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33" name="Freeform 198"/>
              <p:cNvSpPr>
                <a:spLocks noChangeArrowheads="1"/>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Lst>
                <a:ahLst/>
                <a:cxnLst>
                  <a:cxn ang="0">
                    <a:pos x="T0" y="T1"/>
                  </a:cxn>
                  <a:cxn ang="0">
                    <a:pos x="T2" y="T3"/>
                  </a:cxn>
                  <a:cxn ang="0">
                    <a:pos x="T4" y="T5"/>
                  </a:cxn>
                  <a:cxn ang="0">
                    <a:pos x="T6" y="T7"/>
                  </a:cxn>
                  <a:cxn ang="0">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34" name="Rectangle 19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35" name="Rectangle 20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36" name="Rectangle 20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37" name="Line 202"/>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9738" name="Group 203"/>
              <p:cNvGrpSpPr>
                <a:grpSpLocks/>
              </p:cNvGrpSpPr>
              <p:nvPr/>
            </p:nvGrpSpPr>
            <p:grpSpPr bwMode="auto">
              <a:xfrm>
                <a:off x="590" y="3269"/>
                <a:ext cx="275" cy="38"/>
                <a:chOff x="590" y="3269"/>
                <a:chExt cx="275" cy="38"/>
              </a:xfrm>
            </p:grpSpPr>
            <p:sp>
              <p:nvSpPr>
                <p:cNvPr id="1729739" name="Freeform 204"/>
                <p:cNvSpPr>
                  <a:spLocks noChangeArrowheads="1"/>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40" name="Freeform 205"/>
                <p:cNvSpPr>
                  <a:spLocks noChangeArrowheads="1"/>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41" name="Rectangle 20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29742" name="Group 207"/>
          <p:cNvGrpSpPr>
            <a:grpSpLocks/>
          </p:cNvGrpSpPr>
          <p:nvPr/>
        </p:nvGrpSpPr>
        <p:grpSpPr bwMode="auto">
          <a:xfrm>
            <a:off x="1204913" y="4937125"/>
            <a:ext cx="552450" cy="517525"/>
            <a:chOff x="906" y="3365"/>
            <a:chExt cx="281" cy="265"/>
          </a:xfrm>
        </p:grpSpPr>
        <p:grpSp>
          <p:nvGrpSpPr>
            <p:cNvPr id="1729743" name="Group 208"/>
            <p:cNvGrpSpPr>
              <a:grpSpLocks/>
            </p:cNvGrpSpPr>
            <p:nvPr/>
          </p:nvGrpSpPr>
          <p:grpSpPr bwMode="auto">
            <a:xfrm>
              <a:off x="912" y="3369"/>
              <a:ext cx="275" cy="261"/>
              <a:chOff x="912" y="3369"/>
              <a:chExt cx="275" cy="261"/>
            </a:xfrm>
          </p:grpSpPr>
          <p:sp>
            <p:nvSpPr>
              <p:cNvPr id="1729744" name="Freeform 209"/>
              <p:cNvSpPr>
                <a:spLocks noChangeArrowheads="1"/>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45" name="Freeform 210"/>
              <p:cNvSpPr>
                <a:spLocks noChangeArrowheads="1"/>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46" name="Freeform 211"/>
              <p:cNvSpPr>
                <a:spLocks noChangeArrowheads="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47" name="Freeform 212"/>
              <p:cNvSpPr>
                <a:spLocks noChangeArrowheads="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48" name="Rectangle 21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49" name="Rectangle 21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50" name="Rectangle 21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51" name="Line 216"/>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9752" name="Group 217"/>
              <p:cNvGrpSpPr>
                <a:grpSpLocks/>
              </p:cNvGrpSpPr>
              <p:nvPr/>
            </p:nvGrpSpPr>
            <p:grpSpPr bwMode="auto">
              <a:xfrm>
                <a:off x="912" y="3592"/>
                <a:ext cx="275" cy="38"/>
                <a:chOff x="912" y="3592"/>
                <a:chExt cx="275" cy="38"/>
              </a:xfrm>
            </p:grpSpPr>
            <p:sp>
              <p:nvSpPr>
                <p:cNvPr id="1729753" name="Freeform 218"/>
                <p:cNvSpPr>
                  <a:spLocks noChangeArrowheads="1"/>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54" name="Freeform 219"/>
                <p:cNvSpPr>
                  <a:spLocks noChangeArrowheads="1"/>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55" name="Rectangle 22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29756" name="Group 221"/>
            <p:cNvGrpSpPr>
              <a:grpSpLocks/>
            </p:cNvGrpSpPr>
            <p:nvPr/>
          </p:nvGrpSpPr>
          <p:grpSpPr bwMode="auto">
            <a:xfrm>
              <a:off x="906" y="3365"/>
              <a:ext cx="275" cy="261"/>
              <a:chOff x="906" y="3365"/>
              <a:chExt cx="275" cy="261"/>
            </a:xfrm>
          </p:grpSpPr>
          <p:sp>
            <p:nvSpPr>
              <p:cNvPr id="1729757" name="Freeform 222"/>
              <p:cNvSpPr>
                <a:spLocks noChangeArrowheads="1"/>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58" name="Freeform 223"/>
              <p:cNvSpPr>
                <a:spLocks noChangeArrowheads="1"/>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59" name="Freeform 224"/>
              <p:cNvSpPr>
                <a:spLocks noChangeArrowheads="1"/>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60" name="Freeform 225"/>
              <p:cNvSpPr>
                <a:spLocks noChangeArrowheads="1"/>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61" name="Rectangle 22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62" name="Rectangle 22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63" name="Rectangle 22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64" name="Line 229"/>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29765" name="Group 230"/>
              <p:cNvGrpSpPr>
                <a:grpSpLocks/>
              </p:cNvGrpSpPr>
              <p:nvPr/>
            </p:nvGrpSpPr>
            <p:grpSpPr bwMode="auto">
              <a:xfrm>
                <a:off x="906" y="3587"/>
                <a:ext cx="275" cy="39"/>
                <a:chOff x="906" y="3587"/>
                <a:chExt cx="275" cy="39"/>
              </a:xfrm>
            </p:grpSpPr>
            <p:sp>
              <p:nvSpPr>
                <p:cNvPr id="1729766" name="Freeform 231"/>
                <p:cNvSpPr>
                  <a:spLocks noChangeArrowheads="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67" name="Freeform 232"/>
                <p:cNvSpPr>
                  <a:spLocks noChangeArrowheads="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68" name="Rectangle 23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29769" name="Group 234"/>
          <p:cNvGrpSpPr>
            <a:grpSpLocks/>
          </p:cNvGrpSpPr>
          <p:nvPr/>
        </p:nvGrpSpPr>
        <p:grpSpPr bwMode="auto">
          <a:xfrm>
            <a:off x="2820988" y="5057775"/>
            <a:ext cx="481012" cy="839788"/>
            <a:chOff x="1660" y="3427"/>
            <a:chExt cx="217" cy="339"/>
          </a:xfrm>
        </p:grpSpPr>
        <p:grpSp>
          <p:nvGrpSpPr>
            <p:cNvPr id="1729770" name="Group 235"/>
            <p:cNvGrpSpPr>
              <a:grpSpLocks/>
            </p:cNvGrpSpPr>
            <p:nvPr/>
          </p:nvGrpSpPr>
          <p:grpSpPr bwMode="auto">
            <a:xfrm>
              <a:off x="1665" y="3433"/>
              <a:ext cx="212" cy="333"/>
              <a:chOff x="1665" y="3433"/>
              <a:chExt cx="212" cy="333"/>
            </a:xfrm>
          </p:grpSpPr>
          <p:sp>
            <p:nvSpPr>
              <p:cNvPr id="1729771" name="Freeform 236"/>
              <p:cNvSpPr>
                <a:spLocks noChangeArrowheads="1"/>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72" name="Freeform 237"/>
              <p:cNvSpPr>
                <a:spLocks noChangeArrowheads="1"/>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73" name="Freeform 238"/>
              <p:cNvSpPr>
                <a:spLocks noChangeArrowheads="1"/>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74" name="Freeform 239"/>
              <p:cNvSpPr>
                <a:spLocks noChangeArrowheads="1"/>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75" name="Rectangle 240"/>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76" name="Rectangle 241"/>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77" name="Line 242"/>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778" name="Line 243"/>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779" name="Line 244"/>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9780" name="Group 245"/>
            <p:cNvGrpSpPr>
              <a:grpSpLocks/>
            </p:cNvGrpSpPr>
            <p:nvPr/>
          </p:nvGrpSpPr>
          <p:grpSpPr bwMode="auto">
            <a:xfrm>
              <a:off x="1660" y="3427"/>
              <a:ext cx="212" cy="333"/>
              <a:chOff x="1660" y="3427"/>
              <a:chExt cx="212" cy="333"/>
            </a:xfrm>
          </p:grpSpPr>
          <p:sp>
            <p:nvSpPr>
              <p:cNvPr id="1729781" name="Freeform 246"/>
              <p:cNvSpPr>
                <a:spLocks noChangeArrowheads="1"/>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82" name="Freeform 247"/>
              <p:cNvSpPr>
                <a:spLocks noChangeArrowheads="1"/>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83" name="Freeform 248"/>
              <p:cNvSpPr>
                <a:spLocks noChangeArrowheads="1"/>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84" name="Freeform 249"/>
              <p:cNvSpPr>
                <a:spLocks noChangeArrowheads="1"/>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85" name="Rectangle 250"/>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86" name="Rectangle 251"/>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87" name="Line 252"/>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788" name="Line 253"/>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789" name="Line 254"/>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9790" name="Rectangle 255"/>
          <p:cNvSpPr>
            <a:spLocks noChangeArrowheads="1"/>
          </p:cNvSpPr>
          <p:nvPr/>
        </p:nvSpPr>
        <p:spPr bwMode="auto">
          <a:xfrm>
            <a:off x="2566988" y="3509963"/>
            <a:ext cx="928687"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91" name="Rectangle 256"/>
          <p:cNvSpPr>
            <a:spLocks noChangeArrowheads="1"/>
          </p:cNvSpPr>
          <p:nvPr/>
        </p:nvSpPr>
        <p:spPr bwMode="auto">
          <a:xfrm>
            <a:off x="2676525" y="3649663"/>
            <a:ext cx="7683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校园网</a:t>
            </a:r>
          </a:p>
        </p:txBody>
      </p:sp>
      <p:sp>
        <p:nvSpPr>
          <p:cNvPr id="1729792" name="Rectangle 257"/>
          <p:cNvSpPr>
            <a:spLocks noChangeArrowheads="1"/>
          </p:cNvSpPr>
          <p:nvPr/>
        </p:nvSpPr>
        <p:spPr bwMode="auto">
          <a:xfrm>
            <a:off x="3459163" y="5543550"/>
            <a:ext cx="1163637"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793" name="Rectangle 258"/>
          <p:cNvSpPr>
            <a:spLocks noChangeArrowheads="1"/>
          </p:cNvSpPr>
          <p:nvPr/>
        </p:nvSpPr>
        <p:spPr bwMode="auto">
          <a:xfrm>
            <a:off x="3895725" y="5661025"/>
            <a:ext cx="2052638"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2000" b="1">
                <a:solidFill>
                  <a:srgbClr val="000099"/>
                </a:solidFill>
                <a:ea typeface="黑体" panose="02010609060101010101" pitchFamily="49" charset="-122"/>
              </a:rPr>
              <a:t>校园网的高速缓存</a:t>
            </a:r>
          </a:p>
          <a:p>
            <a:pPr algn="ctr"/>
            <a:r>
              <a:rPr lang="zh-CN" altLang="en-US" sz="2000" b="1">
                <a:solidFill>
                  <a:srgbClr val="000099"/>
                </a:solidFill>
                <a:ea typeface="黑体" panose="02010609060101010101" pitchFamily="49" charset="-122"/>
              </a:rPr>
              <a:t>（代理服务器）</a:t>
            </a:r>
          </a:p>
        </p:txBody>
      </p:sp>
      <p:grpSp>
        <p:nvGrpSpPr>
          <p:cNvPr id="1729794" name="Group 259"/>
          <p:cNvGrpSpPr>
            <a:grpSpLocks/>
          </p:cNvGrpSpPr>
          <p:nvPr/>
        </p:nvGrpSpPr>
        <p:grpSpPr bwMode="auto">
          <a:xfrm>
            <a:off x="8743950" y="2924175"/>
            <a:ext cx="423863" cy="661988"/>
            <a:chOff x="4305" y="2335"/>
            <a:chExt cx="216" cy="339"/>
          </a:xfrm>
        </p:grpSpPr>
        <p:grpSp>
          <p:nvGrpSpPr>
            <p:cNvPr id="1729795" name="Group 260"/>
            <p:cNvGrpSpPr>
              <a:grpSpLocks/>
            </p:cNvGrpSpPr>
            <p:nvPr/>
          </p:nvGrpSpPr>
          <p:grpSpPr bwMode="auto">
            <a:xfrm>
              <a:off x="4310" y="2341"/>
              <a:ext cx="211" cy="333"/>
              <a:chOff x="4310" y="2341"/>
              <a:chExt cx="211" cy="333"/>
            </a:xfrm>
          </p:grpSpPr>
          <p:sp>
            <p:nvSpPr>
              <p:cNvPr id="1729796" name="Freeform 261"/>
              <p:cNvSpPr>
                <a:spLocks noChangeArrowheads="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Lst>
                <a:ahLst/>
                <a:cxnLst>
                  <a:cxn ang="0">
                    <a:pos x="T0" y="T1"/>
                  </a:cxn>
                  <a:cxn ang="0">
                    <a:pos x="T2" y="T3"/>
                  </a:cxn>
                  <a:cxn ang="0">
                    <a:pos x="T4" y="T5"/>
                  </a:cxn>
                  <a:cxn ang="0">
                    <a:pos x="T6" y="T7"/>
                  </a:cxn>
                  <a:cxn ang="0">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97" name="Freeform 262"/>
              <p:cNvSpPr>
                <a:spLocks noChangeArrowheads="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Lst>
                <a:ahLst/>
                <a:cxnLst>
                  <a:cxn ang="0">
                    <a:pos x="T0" y="T1"/>
                  </a:cxn>
                  <a:cxn ang="0">
                    <a:pos x="T2" y="T3"/>
                  </a:cxn>
                  <a:cxn ang="0">
                    <a:pos x="T4" y="T5"/>
                  </a:cxn>
                  <a:cxn ang="0">
                    <a:pos x="T6" y="T7"/>
                  </a:cxn>
                  <a:cxn ang="0">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98" name="Freeform 263"/>
              <p:cNvSpPr>
                <a:spLocks noChangeArrowheads="1"/>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799" name="Freeform 264"/>
              <p:cNvSpPr>
                <a:spLocks noChangeArrowheads="1"/>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00" name="Rectangle 265"/>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801" name="Rectangle 266"/>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802" name="Line 267"/>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803" name="Line 268"/>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804" name="Line 269"/>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9805" name="Group 270"/>
            <p:cNvGrpSpPr>
              <a:grpSpLocks/>
            </p:cNvGrpSpPr>
            <p:nvPr/>
          </p:nvGrpSpPr>
          <p:grpSpPr bwMode="auto">
            <a:xfrm>
              <a:off x="4305" y="2335"/>
              <a:ext cx="211" cy="332"/>
              <a:chOff x="4305" y="2335"/>
              <a:chExt cx="211" cy="332"/>
            </a:xfrm>
          </p:grpSpPr>
          <p:sp>
            <p:nvSpPr>
              <p:cNvPr id="1729806" name="Freeform 271"/>
              <p:cNvSpPr>
                <a:spLocks noChangeArrowheads="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Lst>
                <a:ahLst/>
                <a:cxnLst>
                  <a:cxn ang="0">
                    <a:pos x="T0" y="T1"/>
                  </a:cxn>
                  <a:cxn ang="0">
                    <a:pos x="T2" y="T3"/>
                  </a:cxn>
                  <a:cxn ang="0">
                    <a:pos x="T4" y="T5"/>
                  </a:cxn>
                  <a:cxn ang="0">
                    <a:pos x="T6" y="T7"/>
                  </a:cxn>
                  <a:cxn ang="0">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07" name="Freeform 272"/>
              <p:cNvSpPr>
                <a:spLocks noChangeArrowheads="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Lst>
                <a:ahLst/>
                <a:cxnLst>
                  <a:cxn ang="0">
                    <a:pos x="T0" y="T1"/>
                  </a:cxn>
                  <a:cxn ang="0">
                    <a:pos x="T2" y="T3"/>
                  </a:cxn>
                  <a:cxn ang="0">
                    <a:pos x="T4" y="T5"/>
                  </a:cxn>
                  <a:cxn ang="0">
                    <a:pos x="T6" y="T7"/>
                  </a:cxn>
                  <a:cxn ang="0">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08" name="Freeform 273"/>
              <p:cNvSpPr>
                <a:spLocks noChangeArrowheads="1"/>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09" name="Freeform 274"/>
              <p:cNvSpPr>
                <a:spLocks noChangeArrowheads="1"/>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10" name="Rectangle 275"/>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811" name="Rectangle 276"/>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812" name="Line 277"/>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813" name="Line 278"/>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814" name="Line 279"/>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9815" name="Rectangle 280"/>
          <p:cNvSpPr>
            <a:spLocks noChangeArrowheads="1"/>
          </p:cNvSpPr>
          <p:nvPr/>
        </p:nvSpPr>
        <p:spPr bwMode="auto">
          <a:xfrm>
            <a:off x="7346950" y="3084513"/>
            <a:ext cx="1282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源点服务器</a:t>
            </a:r>
          </a:p>
        </p:txBody>
      </p:sp>
      <p:sp>
        <p:nvSpPr>
          <p:cNvPr id="1729816" name="Rectangle 281"/>
          <p:cNvSpPr>
            <a:spLocks noChangeArrowheads="1"/>
          </p:cNvSpPr>
          <p:nvPr/>
        </p:nvSpPr>
        <p:spPr bwMode="auto">
          <a:xfrm>
            <a:off x="4525963" y="4092575"/>
            <a:ext cx="8858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817" name="Rectangle 282"/>
          <p:cNvSpPr>
            <a:spLocks noChangeArrowheads="1"/>
          </p:cNvSpPr>
          <p:nvPr/>
        </p:nvSpPr>
        <p:spPr bwMode="auto">
          <a:xfrm>
            <a:off x="5024438" y="4159250"/>
            <a:ext cx="952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2 Mbit/s</a:t>
            </a:r>
          </a:p>
        </p:txBody>
      </p:sp>
      <p:grpSp>
        <p:nvGrpSpPr>
          <p:cNvPr id="1729818" name="Group 283"/>
          <p:cNvGrpSpPr>
            <a:grpSpLocks/>
          </p:cNvGrpSpPr>
          <p:nvPr/>
        </p:nvGrpSpPr>
        <p:grpSpPr bwMode="auto">
          <a:xfrm>
            <a:off x="3101975" y="5543550"/>
            <a:ext cx="566738" cy="260350"/>
            <a:chOff x="1872" y="3676"/>
            <a:chExt cx="227" cy="136"/>
          </a:xfrm>
        </p:grpSpPr>
        <p:sp>
          <p:nvSpPr>
            <p:cNvPr id="1729819" name="Line 284"/>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820" name="Freeform 285"/>
            <p:cNvSpPr>
              <a:spLocks noChangeArrowheads="1"/>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Lst>
              <a:ahLst/>
              <a:cxnLst>
                <a:cxn ang="0">
                  <a:pos x="T0" y="T1"/>
                </a:cxn>
                <a:cxn ang="0">
                  <a:pos x="T2" y="T3"/>
                </a:cxn>
                <a:cxn ang="0">
                  <a:pos x="T4" y="T5"/>
                </a:cxn>
                <a:cxn ang="0">
                  <a:pos x="T6" y="T7"/>
                </a:cxn>
              </a:cxnLst>
              <a:rect l="0" t="0" r="r" b="b"/>
              <a:pathLst>
                <a:path w="62" h="47">
                  <a:moveTo>
                    <a:pt x="62" y="15"/>
                  </a:moveTo>
                  <a:lnTo>
                    <a:pt x="0" y="0"/>
                  </a:lnTo>
                  <a:lnTo>
                    <a:pt x="42" y="47"/>
                  </a:lnTo>
                  <a:lnTo>
                    <a:pt x="62" y="15"/>
                  </a:lnTo>
                  <a:close/>
                </a:path>
              </a:pathLst>
            </a:custGeom>
            <a:solidFill>
              <a:srgbClr val="000000"/>
            </a:solidFill>
            <a:ln w="28575">
              <a:solidFill>
                <a:srgbClr val="333399"/>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1729821" name="Group 286"/>
          <p:cNvGrpSpPr>
            <a:grpSpLocks/>
          </p:cNvGrpSpPr>
          <p:nvPr/>
        </p:nvGrpSpPr>
        <p:grpSpPr bwMode="auto">
          <a:xfrm>
            <a:off x="6577013" y="4287838"/>
            <a:ext cx="606425" cy="374650"/>
            <a:chOff x="3202" y="3033"/>
            <a:chExt cx="309" cy="192"/>
          </a:xfrm>
        </p:grpSpPr>
        <p:sp>
          <p:nvSpPr>
            <p:cNvPr id="1729822" name="Oval 287"/>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sp>
          <p:nvSpPr>
            <p:cNvPr id="1729823" name="Rectangle 288"/>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824" name="Rectangle 289"/>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825" name="Oval 290"/>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grpSp>
          <p:nvGrpSpPr>
            <p:cNvPr id="1729826" name="Group 291"/>
            <p:cNvGrpSpPr>
              <a:grpSpLocks/>
            </p:cNvGrpSpPr>
            <p:nvPr/>
          </p:nvGrpSpPr>
          <p:grpSpPr bwMode="auto">
            <a:xfrm>
              <a:off x="3249" y="3046"/>
              <a:ext cx="214" cy="86"/>
              <a:chOff x="3249" y="3046"/>
              <a:chExt cx="214" cy="86"/>
            </a:xfrm>
          </p:grpSpPr>
          <p:grpSp>
            <p:nvGrpSpPr>
              <p:cNvPr id="1729827" name="Group 292"/>
              <p:cNvGrpSpPr>
                <a:grpSpLocks/>
              </p:cNvGrpSpPr>
              <p:nvPr/>
            </p:nvGrpSpPr>
            <p:grpSpPr bwMode="auto">
              <a:xfrm>
                <a:off x="3249" y="3046"/>
                <a:ext cx="212" cy="84"/>
                <a:chOff x="3249" y="3046"/>
                <a:chExt cx="212" cy="84"/>
              </a:xfrm>
            </p:grpSpPr>
            <p:sp>
              <p:nvSpPr>
                <p:cNvPr id="1729828" name="Freeform 293"/>
                <p:cNvSpPr>
                  <a:spLocks noChangeArrowheads="1"/>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29" name="Freeform 294"/>
                <p:cNvSpPr>
                  <a:spLocks noChangeArrowheads="1"/>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30" name="Freeform 295"/>
                <p:cNvSpPr>
                  <a:spLocks noChangeArrowheads="1"/>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31" name="Freeform 296"/>
                <p:cNvSpPr>
                  <a:spLocks noChangeArrowheads="1"/>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32" name="Freeform 297"/>
                <p:cNvSpPr>
                  <a:spLocks noChangeArrowheads="1"/>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33" name="Freeform 298"/>
                <p:cNvSpPr>
                  <a:spLocks noChangeArrowheads="1"/>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34" name="Freeform 299"/>
                <p:cNvSpPr>
                  <a:spLocks noChangeArrowheads="1"/>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35" name="Freeform 300"/>
                <p:cNvSpPr>
                  <a:spLocks noChangeArrowheads="1"/>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29836" name="Group 301"/>
              <p:cNvGrpSpPr>
                <a:grpSpLocks/>
              </p:cNvGrpSpPr>
              <p:nvPr/>
            </p:nvGrpSpPr>
            <p:grpSpPr bwMode="auto">
              <a:xfrm>
                <a:off x="3251" y="3048"/>
                <a:ext cx="212" cy="84"/>
                <a:chOff x="3251" y="3048"/>
                <a:chExt cx="212" cy="84"/>
              </a:xfrm>
            </p:grpSpPr>
            <p:sp>
              <p:nvSpPr>
                <p:cNvPr id="1729837" name="Freeform 302"/>
                <p:cNvSpPr>
                  <a:spLocks noChangeArrowheads="1"/>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38" name="Freeform 303"/>
                <p:cNvSpPr>
                  <a:spLocks noChangeArrowheads="1"/>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39" name="Freeform 304"/>
                <p:cNvSpPr>
                  <a:spLocks noChangeArrowheads="1"/>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40" name="Freeform 305"/>
                <p:cNvSpPr>
                  <a:spLocks noChangeArrowheads="1"/>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41" name="Freeform 306"/>
                <p:cNvSpPr>
                  <a:spLocks noChangeArrowheads="1"/>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42" name="Freeform 307"/>
                <p:cNvSpPr>
                  <a:spLocks noChangeArrowheads="1"/>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43" name="Freeform 308"/>
                <p:cNvSpPr>
                  <a:spLocks noChangeArrowheads="1"/>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29844" name="Freeform 309"/>
                <p:cNvSpPr>
                  <a:spLocks noChangeArrowheads="1"/>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29845" name="Line 310"/>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846" name="Line 311"/>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729847" name="Rectangle 312"/>
          <p:cNvSpPr>
            <a:spLocks noChangeArrowheads="1"/>
          </p:cNvSpPr>
          <p:nvPr/>
        </p:nvSpPr>
        <p:spPr bwMode="auto">
          <a:xfrm>
            <a:off x="7196138" y="3863975"/>
            <a:ext cx="9271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848" name="Rectangle 313"/>
          <p:cNvSpPr>
            <a:spLocks noChangeArrowheads="1"/>
          </p:cNvSpPr>
          <p:nvPr/>
        </p:nvSpPr>
        <p:spPr bwMode="auto">
          <a:xfrm>
            <a:off x="7527925" y="4292600"/>
            <a:ext cx="7683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互联网</a:t>
            </a:r>
          </a:p>
        </p:txBody>
      </p:sp>
      <p:sp>
        <p:nvSpPr>
          <p:cNvPr id="1729849" name="Rectangle 314"/>
          <p:cNvSpPr>
            <a:spLocks noChangeArrowheads="1"/>
          </p:cNvSpPr>
          <p:nvPr/>
        </p:nvSpPr>
        <p:spPr bwMode="auto">
          <a:xfrm>
            <a:off x="3994150" y="3951288"/>
            <a:ext cx="415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850" name="Rectangle 315"/>
          <p:cNvSpPr>
            <a:spLocks noChangeArrowheads="1"/>
          </p:cNvSpPr>
          <p:nvPr/>
        </p:nvSpPr>
        <p:spPr bwMode="auto">
          <a:xfrm>
            <a:off x="3101975" y="4659313"/>
            <a:ext cx="4524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851" name="Rectangle 316"/>
          <p:cNvSpPr>
            <a:spLocks noChangeArrowheads="1"/>
          </p:cNvSpPr>
          <p:nvPr/>
        </p:nvSpPr>
        <p:spPr bwMode="auto">
          <a:xfrm>
            <a:off x="1851025" y="4305300"/>
            <a:ext cx="454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29852" name="Rectangle 317"/>
          <p:cNvSpPr>
            <a:spLocks noChangeArrowheads="1"/>
          </p:cNvSpPr>
          <p:nvPr/>
        </p:nvSpPr>
        <p:spPr bwMode="auto">
          <a:xfrm>
            <a:off x="461963" y="3965575"/>
            <a:ext cx="7699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浏览器</a:t>
            </a:r>
          </a:p>
        </p:txBody>
      </p:sp>
      <p:sp>
        <p:nvSpPr>
          <p:cNvPr id="1729853" name="Rectangle 318"/>
          <p:cNvSpPr>
            <a:spLocks noChangeArrowheads="1"/>
          </p:cNvSpPr>
          <p:nvPr/>
        </p:nvSpPr>
        <p:spPr bwMode="auto">
          <a:xfrm>
            <a:off x="4043363" y="3979863"/>
            <a:ext cx="2809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1</a:t>
            </a:r>
          </a:p>
        </p:txBody>
      </p:sp>
      <p:sp>
        <p:nvSpPr>
          <p:cNvPr id="1729854" name="Rectangle 319"/>
          <p:cNvSpPr>
            <a:spLocks noChangeArrowheads="1"/>
          </p:cNvSpPr>
          <p:nvPr/>
        </p:nvSpPr>
        <p:spPr bwMode="auto">
          <a:xfrm>
            <a:off x="6388100" y="4005263"/>
            <a:ext cx="279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2</a:t>
            </a:r>
          </a:p>
        </p:txBody>
      </p:sp>
      <p:sp>
        <p:nvSpPr>
          <p:cNvPr id="1729855" name="Text Box 324"/>
          <p:cNvSpPr txBox="1">
            <a:spLocks noChangeArrowheads="1"/>
          </p:cNvSpPr>
          <p:nvPr/>
        </p:nvSpPr>
        <p:spPr bwMode="auto">
          <a:xfrm>
            <a:off x="508000" y="1196975"/>
            <a:ext cx="8913813" cy="1373188"/>
          </a:xfrm>
          <a:prstGeom prst="rect">
            <a:avLst/>
          </a:prstGeom>
          <a:solidFill>
            <a:srgbClr val="FFFF66"/>
          </a:solidFill>
          <a:ln w="9525">
            <a:solidFill>
              <a:srgbClr val="000066"/>
            </a:solidFill>
            <a:round/>
            <a:headEnd/>
            <a:tailEnd/>
          </a:ln>
        </p:spPr>
        <p:txBody>
          <a:bodyPr>
            <a:spAutoFit/>
          </a:bodyPr>
          <a:lstStyle/>
          <a:p>
            <a:r>
              <a:rPr lang="en-US" altLang="zh-CN" sz="2800" b="1">
                <a:solidFill>
                  <a:srgbClr val="000066"/>
                </a:solidFill>
                <a:ea typeface="黑体" panose="02010609060101010101" pitchFamily="49" charset="-122"/>
              </a:rPr>
              <a:t>(3) </a:t>
            </a:r>
            <a:r>
              <a:rPr lang="zh-CN" altLang="en-US" sz="2800" b="1">
                <a:solidFill>
                  <a:srgbClr val="000066"/>
                </a:solidFill>
                <a:ea typeface="黑体" panose="02010609060101010101" pitchFamily="49" charset="-122"/>
              </a:rPr>
              <a:t>否则，高速缓存就代表发出请求的用户浏览器，与互联网上的源点服务器建立 </a:t>
            </a:r>
            <a:r>
              <a:rPr lang="en-US" altLang="zh-CN" sz="2800" b="1">
                <a:solidFill>
                  <a:srgbClr val="000066"/>
                </a:solidFill>
                <a:ea typeface="黑体" panose="02010609060101010101" pitchFamily="49" charset="-122"/>
              </a:rPr>
              <a:t>TCP </a:t>
            </a:r>
            <a:r>
              <a:rPr lang="zh-CN" altLang="en-US" sz="2800" b="1">
                <a:solidFill>
                  <a:srgbClr val="000066"/>
                </a:solidFill>
                <a:ea typeface="黑体" panose="02010609060101010101" pitchFamily="49" charset="-122"/>
              </a:rPr>
              <a:t>连接，并发送 </a:t>
            </a:r>
            <a:r>
              <a:rPr lang="en-US" altLang="zh-CN" sz="2800" b="1">
                <a:solidFill>
                  <a:srgbClr val="000066"/>
                </a:solidFill>
                <a:ea typeface="黑体" panose="02010609060101010101" pitchFamily="49" charset="-122"/>
              </a:rPr>
              <a:t>HTTP </a:t>
            </a:r>
            <a:r>
              <a:rPr lang="zh-CN" altLang="en-US" sz="2800" b="1">
                <a:solidFill>
                  <a:srgbClr val="000066"/>
                </a:solidFill>
                <a:ea typeface="黑体" panose="02010609060101010101" pitchFamily="49" charset="-122"/>
              </a:rPr>
              <a:t>请求报文。</a:t>
            </a:r>
          </a:p>
        </p:txBody>
      </p:sp>
      <p:sp>
        <p:nvSpPr>
          <p:cNvPr id="648517" name="Freeform 325"/>
          <p:cNvSpPr>
            <a:spLocks noChangeArrowheads="1"/>
          </p:cNvSpPr>
          <p:nvPr/>
        </p:nvSpPr>
        <p:spPr bwMode="auto">
          <a:xfrm>
            <a:off x="3159125" y="3355975"/>
            <a:ext cx="5772150" cy="1871663"/>
          </a:xfrm>
          <a:custGeom>
            <a:avLst/>
            <a:gdLst>
              <a:gd name="T0" fmla="*/ 0 w 3356"/>
              <a:gd name="T1" fmla="*/ 1179 h 1179"/>
              <a:gd name="T2" fmla="*/ 385 w 3356"/>
              <a:gd name="T3" fmla="*/ 867 h 1179"/>
              <a:gd name="T4" fmla="*/ 732 w 3356"/>
              <a:gd name="T5" fmla="*/ 758 h 1179"/>
              <a:gd name="T6" fmla="*/ 1464 w 3356"/>
              <a:gd name="T7" fmla="*/ 749 h 1179"/>
              <a:gd name="T8" fmla="*/ 1893 w 3356"/>
              <a:gd name="T9" fmla="*/ 739 h 1179"/>
              <a:gd name="T10" fmla="*/ 2222 w 3356"/>
              <a:gd name="T11" fmla="*/ 680 h 1179"/>
              <a:gd name="T12" fmla="*/ 2631 w 3356"/>
              <a:gd name="T13" fmla="*/ 499 h 1179"/>
              <a:gd name="T14" fmla="*/ 2993 w 3356"/>
              <a:gd name="T15" fmla="*/ 272 h 1179"/>
              <a:gd name="T16" fmla="*/ 3356 w 3356"/>
              <a:gd name="T17"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6" h="1179">
                <a:moveTo>
                  <a:pt x="0" y="1179"/>
                </a:moveTo>
                <a:cubicBezTo>
                  <a:pt x="64" y="1127"/>
                  <a:pt x="263" y="937"/>
                  <a:pt x="385" y="867"/>
                </a:cubicBezTo>
                <a:cubicBezTo>
                  <a:pt x="507" y="797"/>
                  <a:pt x="552" y="778"/>
                  <a:pt x="732" y="758"/>
                </a:cubicBezTo>
                <a:cubicBezTo>
                  <a:pt x="912" y="738"/>
                  <a:pt x="1271" y="752"/>
                  <a:pt x="1464" y="749"/>
                </a:cubicBezTo>
                <a:cubicBezTo>
                  <a:pt x="1657" y="746"/>
                  <a:pt x="1767" y="750"/>
                  <a:pt x="1893" y="739"/>
                </a:cubicBezTo>
                <a:cubicBezTo>
                  <a:pt x="2019" y="728"/>
                  <a:pt x="2099" y="720"/>
                  <a:pt x="2222" y="680"/>
                </a:cubicBezTo>
                <a:cubicBezTo>
                  <a:pt x="2345" y="640"/>
                  <a:pt x="2503" y="567"/>
                  <a:pt x="2631" y="499"/>
                </a:cubicBezTo>
                <a:cubicBezTo>
                  <a:pt x="2759" y="431"/>
                  <a:pt x="2872" y="355"/>
                  <a:pt x="2993" y="272"/>
                </a:cubicBezTo>
                <a:cubicBezTo>
                  <a:pt x="3114" y="189"/>
                  <a:pt x="3295" y="53"/>
                  <a:pt x="3356" y="0"/>
                </a:cubicBezTo>
              </a:path>
            </a:pathLst>
          </a:custGeom>
          <a:noFill/>
          <a:ln w="76200">
            <a:solidFill>
              <a:schemeClr val="hlink"/>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2985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893BAA8-EC95-4CED-8D11-E3B1FDDCBA0E}" type="slidenum">
              <a:rPr lang="zh-CN" altLang="en-US" smtClean="0"/>
              <a:pPr eaLnBrk="1" hangingPunct="1"/>
              <a:t>37</a:t>
            </a:fld>
            <a:endParaRPr lang="en-US" altLang="zh-CN" smtClean="0"/>
          </a:p>
        </p:txBody>
      </p:sp>
      <p:sp>
        <p:nvSpPr>
          <p:cNvPr id="172985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8517"/>
                                        </p:tgtEl>
                                        <p:attrNameLst>
                                          <p:attrName>style.visibility</p:attrName>
                                        </p:attrNameLst>
                                      </p:cBhvr>
                                      <p:to>
                                        <p:strVal val="visible"/>
                                      </p:to>
                                    </p:set>
                                    <p:animEffect transition="in" filter="wipe(left)">
                                      <p:cBhvr>
                                        <p:cTn id="7" dur="500"/>
                                        <p:tgtEl>
                                          <p:spTgt spid="648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51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1585" name="Rectangle 2"/>
          <p:cNvSpPr>
            <a:spLocks noGrp="1" noChangeArrowheads="1"/>
          </p:cNvSpPr>
          <p:nvPr>
            <p:ph type="title"/>
          </p:nvPr>
        </p:nvSpPr>
        <p:spPr/>
        <p:txBody>
          <a:bodyPr/>
          <a:lstStyle/>
          <a:p>
            <a:pPr algn="ctr"/>
            <a:r>
              <a:rPr lang="zh-CN" altLang="zh-CN" smtClean="0">
                <a:ea typeface="黑体" panose="02010609060101010101" pitchFamily="49" charset="-122"/>
              </a:rPr>
              <a:t>使用高速缓存的情况</a:t>
            </a:r>
          </a:p>
        </p:txBody>
      </p:sp>
      <p:grpSp>
        <p:nvGrpSpPr>
          <p:cNvPr id="1731586" name="Group 3"/>
          <p:cNvGrpSpPr>
            <a:grpSpLocks/>
          </p:cNvGrpSpPr>
          <p:nvPr/>
        </p:nvGrpSpPr>
        <p:grpSpPr bwMode="auto">
          <a:xfrm>
            <a:off x="271463" y="3205163"/>
            <a:ext cx="3743325" cy="2570162"/>
            <a:chOff x="912" y="768"/>
            <a:chExt cx="2400" cy="1584"/>
          </a:xfrm>
        </p:grpSpPr>
        <p:sp>
          <p:nvSpPr>
            <p:cNvPr id="1731587"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588"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589"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590"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591"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592"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593"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594"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595"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grpSp>
          <p:nvGrpSpPr>
            <p:cNvPr id="1731596" name="Group 13"/>
            <p:cNvGrpSpPr>
              <a:grpSpLocks/>
            </p:cNvGrpSpPr>
            <p:nvPr/>
          </p:nvGrpSpPr>
          <p:grpSpPr bwMode="auto">
            <a:xfrm>
              <a:off x="912" y="768"/>
              <a:ext cx="2386" cy="1553"/>
              <a:chOff x="912" y="768"/>
              <a:chExt cx="2386" cy="1553"/>
            </a:xfrm>
          </p:grpSpPr>
          <p:sp>
            <p:nvSpPr>
              <p:cNvPr id="1731597"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598"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599"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00"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01"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02"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03"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04"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05"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grpSp>
      </p:grpSp>
      <p:graphicFrame>
        <p:nvGraphicFramePr>
          <p:cNvPr id="1731606" name="Object 23"/>
          <p:cNvGraphicFramePr>
            <a:graphicFrameLocks noChangeAspect="1"/>
          </p:cNvGraphicFramePr>
          <p:nvPr/>
        </p:nvGraphicFramePr>
        <p:xfrm>
          <a:off x="7086600" y="3929063"/>
          <a:ext cx="1917700" cy="1149350"/>
        </p:xfrm>
        <a:graphic>
          <a:graphicData uri="http://schemas.openxmlformats.org/presentationml/2006/ole">
            <mc:AlternateContent xmlns:mc="http://schemas.openxmlformats.org/markup-compatibility/2006">
              <mc:Choice xmlns:v="urn:schemas-microsoft-com:vml" Requires="v">
                <p:oleObj spid="_x0000_s1731935" r:id="rId4" imgW="1687068" imgH="964692" progId="Visio.Drawing.6">
                  <p:embed/>
                </p:oleObj>
              </mc:Choice>
              <mc:Fallback>
                <p:oleObj r:id="rId4" imgW="1687068" imgH="964692" progId="Visio.Drawing.6">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3929063"/>
                        <a:ext cx="19177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31607" name="Line 24"/>
          <p:cNvSpPr>
            <a:spLocks noChangeShapeType="1"/>
          </p:cNvSpPr>
          <p:nvPr/>
        </p:nvSpPr>
        <p:spPr bwMode="auto">
          <a:xfrm>
            <a:off x="4046538" y="4491038"/>
            <a:ext cx="2735262"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08" name="Line 25"/>
          <p:cNvSpPr>
            <a:spLocks noChangeShapeType="1"/>
          </p:cNvSpPr>
          <p:nvPr/>
        </p:nvSpPr>
        <p:spPr bwMode="auto">
          <a:xfrm>
            <a:off x="8274050" y="5000625"/>
            <a:ext cx="703263" cy="542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09" name="Line 26"/>
          <p:cNvSpPr>
            <a:spLocks noChangeShapeType="1"/>
          </p:cNvSpPr>
          <p:nvPr/>
        </p:nvSpPr>
        <p:spPr bwMode="auto">
          <a:xfrm>
            <a:off x="8680450" y="4721225"/>
            <a:ext cx="563563" cy="115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10" name="Line 27"/>
          <p:cNvSpPr>
            <a:spLocks noChangeShapeType="1"/>
          </p:cNvSpPr>
          <p:nvPr/>
        </p:nvSpPr>
        <p:spPr bwMode="auto">
          <a:xfrm flipV="1">
            <a:off x="8710613" y="4040188"/>
            <a:ext cx="533400" cy="153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11" name="Line 28"/>
          <p:cNvSpPr>
            <a:spLocks noChangeShapeType="1"/>
          </p:cNvSpPr>
          <p:nvPr/>
        </p:nvSpPr>
        <p:spPr bwMode="auto">
          <a:xfrm flipV="1">
            <a:off x="8240713" y="3421063"/>
            <a:ext cx="736600" cy="5953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1612" name="Group 29"/>
          <p:cNvGrpSpPr>
            <a:grpSpLocks/>
          </p:cNvGrpSpPr>
          <p:nvPr/>
        </p:nvGrpSpPr>
        <p:grpSpPr bwMode="auto">
          <a:xfrm>
            <a:off x="9099550" y="3695700"/>
            <a:ext cx="427038" cy="661988"/>
            <a:chOff x="4486" y="2730"/>
            <a:chExt cx="217" cy="339"/>
          </a:xfrm>
        </p:grpSpPr>
        <p:grpSp>
          <p:nvGrpSpPr>
            <p:cNvPr id="1731613" name="Group 30"/>
            <p:cNvGrpSpPr>
              <a:grpSpLocks/>
            </p:cNvGrpSpPr>
            <p:nvPr/>
          </p:nvGrpSpPr>
          <p:grpSpPr bwMode="auto">
            <a:xfrm>
              <a:off x="4491" y="2736"/>
              <a:ext cx="212" cy="333"/>
              <a:chOff x="4491" y="2736"/>
              <a:chExt cx="212" cy="333"/>
            </a:xfrm>
          </p:grpSpPr>
          <p:sp>
            <p:nvSpPr>
              <p:cNvPr id="1731614" name="Freeform 31"/>
              <p:cNvSpPr>
                <a:spLocks noChangeArrowheads="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15" name="Freeform 32"/>
              <p:cNvSpPr>
                <a:spLocks noChangeArrowheads="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16" name="Freeform 33"/>
              <p:cNvSpPr>
                <a:spLocks noChangeArrowheads="1"/>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17" name="Freeform 34"/>
              <p:cNvSpPr>
                <a:spLocks noChangeArrowheads="1"/>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18" name="Rectangle 35"/>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19" name="Rectangle 36"/>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20" name="Line 37"/>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21" name="Line 38"/>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22" name="Line 39"/>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31623" name="Group 40"/>
            <p:cNvGrpSpPr>
              <a:grpSpLocks/>
            </p:cNvGrpSpPr>
            <p:nvPr/>
          </p:nvGrpSpPr>
          <p:grpSpPr bwMode="auto">
            <a:xfrm>
              <a:off x="4486" y="2730"/>
              <a:ext cx="212" cy="333"/>
              <a:chOff x="4486" y="2730"/>
              <a:chExt cx="212" cy="333"/>
            </a:xfrm>
          </p:grpSpPr>
          <p:sp>
            <p:nvSpPr>
              <p:cNvPr id="1731624" name="Freeform 41"/>
              <p:cNvSpPr>
                <a:spLocks noChangeArrowheads="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25" name="Freeform 42"/>
              <p:cNvSpPr>
                <a:spLocks noChangeArrowheads="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26" name="Freeform 43"/>
              <p:cNvSpPr>
                <a:spLocks noChangeArrowheads="1"/>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27" name="Freeform 44"/>
              <p:cNvSpPr>
                <a:spLocks noChangeArrowheads="1"/>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28" name="Rectangle 45"/>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29" name="Rectangle 46"/>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30" name="Line 47"/>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31" name="Line 48"/>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32" name="Line 49"/>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731633" name="Group 50"/>
          <p:cNvGrpSpPr>
            <a:grpSpLocks/>
          </p:cNvGrpSpPr>
          <p:nvPr/>
        </p:nvGrpSpPr>
        <p:grpSpPr bwMode="auto">
          <a:xfrm>
            <a:off x="9099550" y="4556125"/>
            <a:ext cx="427038" cy="661988"/>
            <a:chOff x="4486" y="3170"/>
            <a:chExt cx="217" cy="339"/>
          </a:xfrm>
        </p:grpSpPr>
        <p:grpSp>
          <p:nvGrpSpPr>
            <p:cNvPr id="1731634" name="Group 51"/>
            <p:cNvGrpSpPr>
              <a:grpSpLocks/>
            </p:cNvGrpSpPr>
            <p:nvPr/>
          </p:nvGrpSpPr>
          <p:grpSpPr bwMode="auto">
            <a:xfrm>
              <a:off x="4491" y="3176"/>
              <a:ext cx="212" cy="333"/>
              <a:chOff x="4491" y="3176"/>
              <a:chExt cx="212" cy="333"/>
            </a:xfrm>
          </p:grpSpPr>
          <p:sp>
            <p:nvSpPr>
              <p:cNvPr id="1731635" name="Freeform 52"/>
              <p:cNvSpPr>
                <a:spLocks noChangeArrowheads="1"/>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36" name="Freeform 53"/>
              <p:cNvSpPr>
                <a:spLocks noChangeArrowheads="1"/>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37" name="Freeform 54"/>
              <p:cNvSpPr>
                <a:spLocks noChangeArrowheads="1"/>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38" name="Freeform 55"/>
              <p:cNvSpPr>
                <a:spLocks noChangeArrowheads="1"/>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39" name="Rectangle 56"/>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40" name="Rectangle 57"/>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41" name="Line 58"/>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42" name="Line 59"/>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43" name="Line 60"/>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31644" name="Group 61"/>
            <p:cNvGrpSpPr>
              <a:grpSpLocks/>
            </p:cNvGrpSpPr>
            <p:nvPr/>
          </p:nvGrpSpPr>
          <p:grpSpPr bwMode="auto">
            <a:xfrm>
              <a:off x="4486" y="3170"/>
              <a:ext cx="212" cy="332"/>
              <a:chOff x="4486" y="3170"/>
              <a:chExt cx="212" cy="332"/>
            </a:xfrm>
          </p:grpSpPr>
          <p:sp>
            <p:nvSpPr>
              <p:cNvPr id="1731645" name="Freeform 62"/>
              <p:cNvSpPr>
                <a:spLocks noChangeArrowheads="1"/>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46" name="Freeform 63"/>
              <p:cNvSpPr>
                <a:spLocks noChangeArrowheads="1"/>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47" name="Freeform 64"/>
              <p:cNvSpPr>
                <a:spLocks noChangeArrowheads="1"/>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Lst>
                <a:ahLst/>
                <a:cxnLst>
                  <a:cxn ang="0">
                    <a:pos x="T0" y="T1"/>
                  </a:cxn>
                  <a:cxn ang="0">
                    <a:pos x="T2" y="T3"/>
                  </a:cxn>
                  <a:cxn ang="0">
                    <a:pos x="T4" y="T5"/>
                  </a:cxn>
                  <a:cxn ang="0">
                    <a:pos x="T6" y="T7"/>
                  </a:cxn>
                  <a:cxn ang="0">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48" name="Freeform 65"/>
              <p:cNvSpPr>
                <a:spLocks noChangeArrowheads="1"/>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Lst>
                <a:ahLst/>
                <a:cxnLst>
                  <a:cxn ang="0">
                    <a:pos x="T0" y="T1"/>
                  </a:cxn>
                  <a:cxn ang="0">
                    <a:pos x="T2" y="T3"/>
                  </a:cxn>
                  <a:cxn ang="0">
                    <a:pos x="T4" y="T5"/>
                  </a:cxn>
                  <a:cxn ang="0">
                    <a:pos x="T6" y="T7"/>
                  </a:cxn>
                  <a:cxn ang="0">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49" name="Rectangle 66"/>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50" name="Rectangle 67"/>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51" name="Line 68"/>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52" name="Line 69"/>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53" name="Line 70"/>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731654" name="Group 71"/>
          <p:cNvGrpSpPr>
            <a:grpSpLocks/>
          </p:cNvGrpSpPr>
          <p:nvPr/>
        </p:nvGrpSpPr>
        <p:grpSpPr bwMode="auto">
          <a:xfrm>
            <a:off x="8655050" y="5229225"/>
            <a:ext cx="423863" cy="661988"/>
            <a:chOff x="4260" y="3515"/>
            <a:chExt cx="216" cy="339"/>
          </a:xfrm>
        </p:grpSpPr>
        <p:grpSp>
          <p:nvGrpSpPr>
            <p:cNvPr id="1731655" name="Group 72"/>
            <p:cNvGrpSpPr>
              <a:grpSpLocks/>
            </p:cNvGrpSpPr>
            <p:nvPr/>
          </p:nvGrpSpPr>
          <p:grpSpPr bwMode="auto">
            <a:xfrm>
              <a:off x="4265" y="3521"/>
              <a:ext cx="211" cy="333"/>
              <a:chOff x="4265" y="3521"/>
              <a:chExt cx="211" cy="333"/>
            </a:xfrm>
          </p:grpSpPr>
          <p:sp>
            <p:nvSpPr>
              <p:cNvPr id="1731656" name="Freeform 73"/>
              <p:cNvSpPr>
                <a:spLocks noChangeArrowheads="1"/>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57" name="Freeform 74"/>
              <p:cNvSpPr>
                <a:spLocks noChangeArrowheads="1"/>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58" name="Freeform 75"/>
              <p:cNvSpPr>
                <a:spLocks noChangeArrowheads="1"/>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59" name="Freeform 76"/>
              <p:cNvSpPr>
                <a:spLocks noChangeArrowheads="1"/>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60" name="Rectangle 77"/>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61" name="Rectangle 78"/>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62" name="Line 79"/>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63" name="Line 80"/>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64" name="Line 81"/>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31665" name="Group 82"/>
            <p:cNvGrpSpPr>
              <a:grpSpLocks/>
            </p:cNvGrpSpPr>
            <p:nvPr/>
          </p:nvGrpSpPr>
          <p:grpSpPr bwMode="auto">
            <a:xfrm>
              <a:off x="4260" y="3515"/>
              <a:ext cx="211" cy="332"/>
              <a:chOff x="4260" y="3515"/>
              <a:chExt cx="211" cy="332"/>
            </a:xfrm>
          </p:grpSpPr>
          <p:sp>
            <p:nvSpPr>
              <p:cNvPr id="1731666" name="Freeform 83"/>
              <p:cNvSpPr>
                <a:spLocks noChangeArrowheads="1"/>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67" name="Freeform 84"/>
              <p:cNvSpPr>
                <a:spLocks noChangeArrowheads="1"/>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68" name="Freeform 85"/>
              <p:cNvSpPr>
                <a:spLocks noChangeArrowheads="1"/>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69" name="Freeform 86"/>
              <p:cNvSpPr>
                <a:spLocks noChangeArrowheads="1"/>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70" name="Rectangle 87"/>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71" name="Rectangle 88"/>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72" name="Line 89"/>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73" name="Line 90"/>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74" name="Line 91"/>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31675" name="Rectangle 92"/>
          <p:cNvSpPr>
            <a:spLocks noChangeArrowheads="1"/>
          </p:cNvSpPr>
          <p:nvPr/>
        </p:nvSpPr>
        <p:spPr bwMode="auto">
          <a:xfrm>
            <a:off x="2286000" y="3155950"/>
            <a:ext cx="31750" cy="2598738"/>
          </a:xfrm>
          <a:prstGeom prst="rect">
            <a:avLst/>
          </a:prstGeom>
          <a:solidFill>
            <a:srgbClr val="000000"/>
          </a:solidFill>
          <a:ln w="28575">
            <a:solidFill>
              <a:srgbClr val="333399"/>
            </a:solidFill>
            <a:miter lim="800000"/>
            <a:headEnd/>
            <a:tailEnd/>
          </a:ln>
        </p:spPr>
        <p:txBody>
          <a:bodyPr/>
          <a:lstStyle/>
          <a:p>
            <a:endParaRPr lang="zh-CN" altLang="en-US" b="1">
              <a:solidFill>
                <a:srgbClr val="000099"/>
              </a:solidFill>
              <a:ea typeface="宋体" panose="02010600030101010101" pitchFamily="2" charset="-122"/>
            </a:endParaRPr>
          </a:p>
        </p:txBody>
      </p:sp>
      <p:sp>
        <p:nvSpPr>
          <p:cNvPr id="1731676" name="Line 93"/>
          <p:cNvSpPr>
            <a:spLocks noChangeShapeType="1"/>
          </p:cNvSpPr>
          <p:nvPr/>
        </p:nvSpPr>
        <p:spPr bwMode="auto">
          <a:xfrm>
            <a:off x="1411288" y="3536950"/>
            <a:ext cx="89058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77" name="Line 94"/>
          <p:cNvSpPr>
            <a:spLocks noChangeShapeType="1"/>
          </p:cNvSpPr>
          <p:nvPr/>
        </p:nvSpPr>
        <p:spPr bwMode="auto">
          <a:xfrm>
            <a:off x="1677988" y="4246563"/>
            <a:ext cx="623887"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78" name="Line 95"/>
          <p:cNvSpPr>
            <a:spLocks noChangeShapeType="1"/>
          </p:cNvSpPr>
          <p:nvPr/>
        </p:nvSpPr>
        <p:spPr bwMode="auto">
          <a:xfrm>
            <a:off x="965200" y="4748213"/>
            <a:ext cx="133667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79" name="Line 96"/>
          <p:cNvSpPr>
            <a:spLocks noChangeShapeType="1"/>
          </p:cNvSpPr>
          <p:nvPr/>
        </p:nvSpPr>
        <p:spPr bwMode="auto">
          <a:xfrm>
            <a:off x="1500188" y="5365750"/>
            <a:ext cx="80168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80" name="Line 97"/>
          <p:cNvSpPr>
            <a:spLocks noChangeShapeType="1"/>
          </p:cNvSpPr>
          <p:nvPr/>
        </p:nvSpPr>
        <p:spPr bwMode="auto">
          <a:xfrm>
            <a:off x="2301875" y="5543550"/>
            <a:ext cx="444500"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81" name="Line 98"/>
          <p:cNvSpPr>
            <a:spLocks noChangeShapeType="1"/>
          </p:cNvSpPr>
          <p:nvPr/>
        </p:nvSpPr>
        <p:spPr bwMode="auto">
          <a:xfrm flipV="1">
            <a:off x="3159125" y="4579938"/>
            <a:ext cx="779463" cy="6477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682" name="Line 99"/>
          <p:cNvSpPr>
            <a:spLocks noChangeShapeType="1"/>
          </p:cNvSpPr>
          <p:nvPr/>
        </p:nvSpPr>
        <p:spPr bwMode="auto">
          <a:xfrm>
            <a:off x="2300288" y="4483100"/>
            <a:ext cx="1516062" cy="1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1683" name="Group 100"/>
          <p:cNvGrpSpPr>
            <a:grpSpLocks/>
          </p:cNvGrpSpPr>
          <p:nvPr/>
        </p:nvGrpSpPr>
        <p:grpSpPr bwMode="auto">
          <a:xfrm>
            <a:off x="3656013" y="4287838"/>
            <a:ext cx="608012" cy="374650"/>
            <a:chOff x="2154" y="3033"/>
            <a:chExt cx="309" cy="192"/>
          </a:xfrm>
        </p:grpSpPr>
        <p:sp>
          <p:nvSpPr>
            <p:cNvPr id="1731684" name="Oval 101"/>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sp>
          <p:nvSpPr>
            <p:cNvPr id="1731685" name="Rectangle 10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86" name="Rectangle 10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687" name="Oval 104"/>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grpSp>
          <p:nvGrpSpPr>
            <p:cNvPr id="1731688" name="Group 105"/>
            <p:cNvGrpSpPr>
              <a:grpSpLocks/>
            </p:cNvGrpSpPr>
            <p:nvPr/>
          </p:nvGrpSpPr>
          <p:grpSpPr bwMode="auto">
            <a:xfrm>
              <a:off x="2201" y="3046"/>
              <a:ext cx="214" cy="86"/>
              <a:chOff x="2201" y="3046"/>
              <a:chExt cx="214" cy="86"/>
            </a:xfrm>
          </p:grpSpPr>
          <p:grpSp>
            <p:nvGrpSpPr>
              <p:cNvPr id="1731689" name="Group 106"/>
              <p:cNvGrpSpPr>
                <a:grpSpLocks/>
              </p:cNvGrpSpPr>
              <p:nvPr/>
            </p:nvGrpSpPr>
            <p:grpSpPr bwMode="auto">
              <a:xfrm>
                <a:off x="2201" y="3046"/>
                <a:ext cx="212" cy="84"/>
                <a:chOff x="2201" y="3046"/>
                <a:chExt cx="212" cy="84"/>
              </a:xfrm>
            </p:grpSpPr>
            <p:sp>
              <p:nvSpPr>
                <p:cNvPr id="1731690" name="Freeform 107"/>
                <p:cNvSpPr>
                  <a:spLocks noChangeArrowheads="1"/>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91" name="Freeform 108"/>
                <p:cNvSpPr>
                  <a:spLocks noChangeArrowheads="1"/>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92" name="Freeform 109"/>
                <p:cNvSpPr>
                  <a:spLocks noChangeArrowheads="1"/>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93" name="Freeform 110"/>
                <p:cNvSpPr>
                  <a:spLocks noChangeArrowheads="1"/>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94" name="Freeform 111"/>
                <p:cNvSpPr>
                  <a:spLocks noChangeArrowheads="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95" name="Freeform 112"/>
                <p:cNvSpPr>
                  <a:spLocks noChangeArrowheads="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96" name="Freeform 113"/>
                <p:cNvSpPr>
                  <a:spLocks noChangeArrowheads="1"/>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697" name="Freeform 114"/>
                <p:cNvSpPr>
                  <a:spLocks noChangeArrowheads="1"/>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31698" name="Group 115"/>
              <p:cNvGrpSpPr>
                <a:grpSpLocks/>
              </p:cNvGrpSpPr>
              <p:nvPr/>
            </p:nvGrpSpPr>
            <p:grpSpPr bwMode="auto">
              <a:xfrm>
                <a:off x="2203" y="3048"/>
                <a:ext cx="212" cy="84"/>
                <a:chOff x="2203" y="3048"/>
                <a:chExt cx="212" cy="84"/>
              </a:xfrm>
            </p:grpSpPr>
            <p:sp>
              <p:nvSpPr>
                <p:cNvPr id="1731699" name="Freeform 116"/>
                <p:cNvSpPr>
                  <a:spLocks noChangeArrowheads="1"/>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00" name="Freeform 117"/>
                <p:cNvSpPr>
                  <a:spLocks noChangeArrowheads="1"/>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01" name="Freeform 118"/>
                <p:cNvSpPr>
                  <a:spLocks noChangeArrowheads="1"/>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02" name="Freeform 119"/>
                <p:cNvSpPr>
                  <a:spLocks noChangeArrowheads="1"/>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03" name="Freeform 120"/>
                <p:cNvSpPr>
                  <a:spLocks noChangeArrowheads="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04" name="Freeform 121"/>
                <p:cNvSpPr>
                  <a:spLocks noChangeArrowheads="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05" name="Freeform 122"/>
                <p:cNvSpPr>
                  <a:spLocks noChangeArrowheads="1"/>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06" name="Freeform 123"/>
                <p:cNvSpPr>
                  <a:spLocks noChangeArrowheads="1"/>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31707" name="Line 124"/>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708" name="Line 125"/>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31709" name="Group 126"/>
          <p:cNvGrpSpPr>
            <a:grpSpLocks/>
          </p:cNvGrpSpPr>
          <p:nvPr/>
        </p:nvGrpSpPr>
        <p:grpSpPr bwMode="auto">
          <a:xfrm>
            <a:off x="1235075" y="3074988"/>
            <a:ext cx="557213" cy="517525"/>
            <a:chOff x="921" y="2412"/>
            <a:chExt cx="284" cy="265"/>
          </a:xfrm>
        </p:grpSpPr>
        <p:grpSp>
          <p:nvGrpSpPr>
            <p:cNvPr id="1731710" name="Group 127"/>
            <p:cNvGrpSpPr>
              <a:grpSpLocks/>
            </p:cNvGrpSpPr>
            <p:nvPr/>
          </p:nvGrpSpPr>
          <p:grpSpPr bwMode="auto">
            <a:xfrm>
              <a:off x="928" y="2417"/>
              <a:ext cx="277" cy="260"/>
              <a:chOff x="928" y="2417"/>
              <a:chExt cx="277" cy="260"/>
            </a:xfrm>
          </p:grpSpPr>
          <p:sp>
            <p:nvSpPr>
              <p:cNvPr id="1731711" name="Freeform 128"/>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12" name="Freeform 129"/>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13" name="Freeform 130"/>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14" name="Freeform 131"/>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15" name="Rectangle 13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16" name="Rectangle 13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17" name="Rectangle 13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18" name="Line 135"/>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1719" name="Group 136"/>
              <p:cNvGrpSpPr>
                <a:grpSpLocks/>
              </p:cNvGrpSpPr>
              <p:nvPr/>
            </p:nvGrpSpPr>
            <p:grpSpPr bwMode="auto">
              <a:xfrm>
                <a:off x="928" y="2639"/>
                <a:ext cx="277" cy="38"/>
                <a:chOff x="928" y="2639"/>
                <a:chExt cx="277" cy="38"/>
              </a:xfrm>
            </p:grpSpPr>
            <p:sp>
              <p:nvSpPr>
                <p:cNvPr id="1731720" name="Freeform 137"/>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21" name="Freeform 138"/>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22" name="Rectangle 13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31723" name="Group 140"/>
            <p:cNvGrpSpPr>
              <a:grpSpLocks/>
            </p:cNvGrpSpPr>
            <p:nvPr/>
          </p:nvGrpSpPr>
          <p:grpSpPr bwMode="auto">
            <a:xfrm>
              <a:off x="921" y="2412"/>
              <a:ext cx="277" cy="261"/>
              <a:chOff x="921" y="2412"/>
              <a:chExt cx="277" cy="261"/>
            </a:xfrm>
          </p:grpSpPr>
          <p:sp>
            <p:nvSpPr>
              <p:cNvPr id="1731724" name="Freeform 141"/>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25" name="Freeform 142"/>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26" name="Freeform 143"/>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27" name="Freeform 144"/>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28" name="Rectangle 14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29" name="Rectangle 14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30" name="Rectangle 14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31" name="Line 148"/>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1732" name="Group 149"/>
              <p:cNvGrpSpPr>
                <a:grpSpLocks/>
              </p:cNvGrpSpPr>
              <p:nvPr/>
            </p:nvGrpSpPr>
            <p:grpSpPr bwMode="auto">
              <a:xfrm>
                <a:off x="921" y="2635"/>
                <a:ext cx="277" cy="38"/>
                <a:chOff x="921" y="2635"/>
                <a:chExt cx="277" cy="38"/>
              </a:xfrm>
            </p:grpSpPr>
            <p:sp>
              <p:nvSpPr>
                <p:cNvPr id="1731733" name="Freeform 150"/>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34" name="Freeform 151"/>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35" name="Rectangle 15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31736" name="Group 153"/>
          <p:cNvGrpSpPr>
            <a:grpSpLocks/>
          </p:cNvGrpSpPr>
          <p:nvPr/>
        </p:nvGrpSpPr>
        <p:grpSpPr bwMode="auto">
          <a:xfrm>
            <a:off x="1384300" y="3784600"/>
            <a:ext cx="554038" cy="517525"/>
            <a:chOff x="997" y="2775"/>
            <a:chExt cx="282" cy="265"/>
          </a:xfrm>
        </p:grpSpPr>
        <p:grpSp>
          <p:nvGrpSpPr>
            <p:cNvPr id="1731737" name="Group 154"/>
            <p:cNvGrpSpPr>
              <a:grpSpLocks/>
            </p:cNvGrpSpPr>
            <p:nvPr/>
          </p:nvGrpSpPr>
          <p:grpSpPr bwMode="auto">
            <a:xfrm>
              <a:off x="1004" y="2779"/>
              <a:ext cx="275" cy="261"/>
              <a:chOff x="1004" y="2779"/>
              <a:chExt cx="275" cy="261"/>
            </a:xfrm>
          </p:grpSpPr>
          <p:sp>
            <p:nvSpPr>
              <p:cNvPr id="1731738" name="Freeform 155"/>
              <p:cNvSpPr>
                <a:spLocks noChangeArrowheads="1"/>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39" name="Freeform 156"/>
              <p:cNvSpPr>
                <a:spLocks noChangeArrowheads="1"/>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40" name="Freeform 157"/>
              <p:cNvSpPr>
                <a:spLocks noChangeArrowheads="1"/>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Lst>
                <a:ahLst/>
                <a:cxnLst>
                  <a:cxn ang="0">
                    <a:pos x="T0" y="T1"/>
                  </a:cxn>
                  <a:cxn ang="0">
                    <a:pos x="T2" y="T3"/>
                  </a:cxn>
                  <a:cxn ang="0">
                    <a:pos x="T4" y="T5"/>
                  </a:cxn>
                  <a:cxn ang="0">
                    <a:pos x="T6" y="T7"/>
                  </a:cxn>
                  <a:cxn ang="0">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41" name="Freeform 158"/>
              <p:cNvSpPr>
                <a:spLocks noChangeArrowheads="1"/>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Lst>
                <a:ahLst/>
                <a:cxnLst>
                  <a:cxn ang="0">
                    <a:pos x="T0" y="T1"/>
                  </a:cxn>
                  <a:cxn ang="0">
                    <a:pos x="T2" y="T3"/>
                  </a:cxn>
                  <a:cxn ang="0">
                    <a:pos x="T4" y="T5"/>
                  </a:cxn>
                  <a:cxn ang="0">
                    <a:pos x="T6" y="T7"/>
                  </a:cxn>
                  <a:cxn ang="0">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42" name="Rectangle 15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43" name="Rectangle 16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44" name="Rectangle 16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45" name="Line 162"/>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1746" name="Group 163"/>
              <p:cNvGrpSpPr>
                <a:grpSpLocks/>
              </p:cNvGrpSpPr>
              <p:nvPr/>
            </p:nvGrpSpPr>
            <p:grpSpPr bwMode="auto">
              <a:xfrm>
                <a:off x="1004" y="3002"/>
                <a:ext cx="275" cy="38"/>
                <a:chOff x="1004" y="3002"/>
                <a:chExt cx="275" cy="38"/>
              </a:xfrm>
            </p:grpSpPr>
            <p:sp>
              <p:nvSpPr>
                <p:cNvPr id="1731747" name="Freeform 164"/>
                <p:cNvSpPr>
                  <a:spLocks noChangeArrowheads="1"/>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48" name="Freeform 165"/>
                <p:cNvSpPr>
                  <a:spLocks noChangeArrowheads="1"/>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49" name="Rectangle 16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31750" name="Group 167"/>
            <p:cNvGrpSpPr>
              <a:grpSpLocks/>
            </p:cNvGrpSpPr>
            <p:nvPr/>
          </p:nvGrpSpPr>
          <p:grpSpPr bwMode="auto">
            <a:xfrm>
              <a:off x="997" y="2775"/>
              <a:ext cx="275" cy="260"/>
              <a:chOff x="997" y="2775"/>
              <a:chExt cx="275" cy="260"/>
            </a:xfrm>
          </p:grpSpPr>
          <p:sp>
            <p:nvSpPr>
              <p:cNvPr id="1731751" name="Freeform 168"/>
              <p:cNvSpPr>
                <a:spLocks noChangeArrowheads="1"/>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52" name="Freeform 169"/>
              <p:cNvSpPr>
                <a:spLocks noChangeArrowheads="1"/>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53" name="Freeform 170"/>
              <p:cNvSpPr>
                <a:spLocks noChangeArrowheads="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54" name="Freeform 171"/>
              <p:cNvSpPr>
                <a:spLocks noChangeArrowheads="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55" name="Rectangle 17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56" name="Rectangle 17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57" name="Rectangle 17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58" name="Line 175"/>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1759" name="Group 176"/>
              <p:cNvGrpSpPr>
                <a:grpSpLocks/>
              </p:cNvGrpSpPr>
              <p:nvPr/>
            </p:nvGrpSpPr>
            <p:grpSpPr bwMode="auto">
              <a:xfrm>
                <a:off x="997" y="2997"/>
                <a:ext cx="275" cy="38"/>
                <a:chOff x="997" y="2997"/>
                <a:chExt cx="275" cy="38"/>
              </a:xfrm>
            </p:grpSpPr>
            <p:sp>
              <p:nvSpPr>
                <p:cNvPr id="1731760" name="Freeform 177"/>
                <p:cNvSpPr>
                  <a:spLocks noChangeArrowheads="1"/>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61" name="Freeform 178"/>
                <p:cNvSpPr>
                  <a:spLocks noChangeArrowheads="1"/>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62" name="Rectangle 17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31763" name="Group 180"/>
          <p:cNvGrpSpPr>
            <a:grpSpLocks/>
          </p:cNvGrpSpPr>
          <p:nvPr/>
        </p:nvGrpSpPr>
        <p:grpSpPr bwMode="auto">
          <a:xfrm>
            <a:off x="584200" y="4314825"/>
            <a:ext cx="554038" cy="517525"/>
            <a:chOff x="590" y="3047"/>
            <a:chExt cx="282" cy="265"/>
          </a:xfrm>
        </p:grpSpPr>
        <p:grpSp>
          <p:nvGrpSpPr>
            <p:cNvPr id="1731764" name="Group 181"/>
            <p:cNvGrpSpPr>
              <a:grpSpLocks/>
            </p:cNvGrpSpPr>
            <p:nvPr/>
          </p:nvGrpSpPr>
          <p:grpSpPr bwMode="auto">
            <a:xfrm>
              <a:off x="596" y="3051"/>
              <a:ext cx="276" cy="261"/>
              <a:chOff x="596" y="3051"/>
              <a:chExt cx="276" cy="261"/>
            </a:xfrm>
          </p:grpSpPr>
          <p:sp>
            <p:nvSpPr>
              <p:cNvPr id="1731765" name="Freeform 182"/>
              <p:cNvSpPr>
                <a:spLocks noChangeArrowheads="1"/>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66" name="Freeform 183"/>
              <p:cNvSpPr>
                <a:spLocks noChangeArrowheads="1"/>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67" name="Freeform 184"/>
              <p:cNvSpPr>
                <a:spLocks noChangeArrowheads="1"/>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68" name="Freeform 185"/>
              <p:cNvSpPr>
                <a:spLocks noChangeArrowheads="1"/>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69" name="Rectangle 18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70" name="Rectangle 18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71" name="Rectangle 18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72" name="Line 189"/>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1773" name="Group 190"/>
              <p:cNvGrpSpPr>
                <a:grpSpLocks/>
              </p:cNvGrpSpPr>
              <p:nvPr/>
            </p:nvGrpSpPr>
            <p:grpSpPr bwMode="auto">
              <a:xfrm>
                <a:off x="596" y="3274"/>
                <a:ext cx="276" cy="38"/>
                <a:chOff x="596" y="3274"/>
                <a:chExt cx="276" cy="38"/>
              </a:xfrm>
            </p:grpSpPr>
            <p:sp>
              <p:nvSpPr>
                <p:cNvPr id="1731774" name="Freeform 191"/>
                <p:cNvSpPr>
                  <a:spLocks noChangeArrowheads="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Lst>
                  <a:ahLst/>
                  <a:cxnLst>
                    <a:cxn ang="0">
                      <a:pos x="T0" y="T1"/>
                    </a:cxn>
                    <a:cxn ang="0">
                      <a:pos x="T2" y="T3"/>
                    </a:cxn>
                    <a:cxn ang="0">
                      <a:pos x="T4" y="T5"/>
                    </a:cxn>
                    <a:cxn ang="0">
                      <a:pos x="T6" y="T7"/>
                    </a:cxn>
                    <a:cxn ang="0">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75" name="Freeform 192"/>
                <p:cNvSpPr>
                  <a:spLocks noChangeArrowheads="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Lst>
                  <a:ahLst/>
                  <a:cxnLst>
                    <a:cxn ang="0">
                      <a:pos x="T0" y="T1"/>
                    </a:cxn>
                    <a:cxn ang="0">
                      <a:pos x="T2" y="T3"/>
                    </a:cxn>
                    <a:cxn ang="0">
                      <a:pos x="T4" y="T5"/>
                    </a:cxn>
                    <a:cxn ang="0">
                      <a:pos x="T6" y="T7"/>
                    </a:cxn>
                    <a:cxn ang="0">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76" name="Rectangle 19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31777" name="Group 194"/>
            <p:cNvGrpSpPr>
              <a:grpSpLocks/>
            </p:cNvGrpSpPr>
            <p:nvPr/>
          </p:nvGrpSpPr>
          <p:grpSpPr bwMode="auto">
            <a:xfrm>
              <a:off x="590" y="3047"/>
              <a:ext cx="275" cy="260"/>
              <a:chOff x="590" y="3047"/>
              <a:chExt cx="275" cy="260"/>
            </a:xfrm>
          </p:grpSpPr>
          <p:sp>
            <p:nvSpPr>
              <p:cNvPr id="1731778" name="Freeform 195"/>
              <p:cNvSpPr>
                <a:spLocks noChangeArrowheads="1"/>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79" name="Freeform 196"/>
              <p:cNvSpPr>
                <a:spLocks noChangeArrowheads="1"/>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80" name="Freeform 197"/>
              <p:cNvSpPr>
                <a:spLocks noChangeArrowheads="1"/>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Lst>
                <a:ahLst/>
                <a:cxnLst>
                  <a:cxn ang="0">
                    <a:pos x="T0" y="T1"/>
                  </a:cxn>
                  <a:cxn ang="0">
                    <a:pos x="T2" y="T3"/>
                  </a:cxn>
                  <a:cxn ang="0">
                    <a:pos x="T4" y="T5"/>
                  </a:cxn>
                  <a:cxn ang="0">
                    <a:pos x="T6" y="T7"/>
                  </a:cxn>
                  <a:cxn ang="0">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81" name="Freeform 198"/>
              <p:cNvSpPr>
                <a:spLocks noChangeArrowheads="1"/>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Lst>
                <a:ahLst/>
                <a:cxnLst>
                  <a:cxn ang="0">
                    <a:pos x="T0" y="T1"/>
                  </a:cxn>
                  <a:cxn ang="0">
                    <a:pos x="T2" y="T3"/>
                  </a:cxn>
                  <a:cxn ang="0">
                    <a:pos x="T4" y="T5"/>
                  </a:cxn>
                  <a:cxn ang="0">
                    <a:pos x="T6" y="T7"/>
                  </a:cxn>
                  <a:cxn ang="0">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82" name="Rectangle 19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83" name="Rectangle 20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84" name="Rectangle 20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85" name="Line 202"/>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1786" name="Group 203"/>
              <p:cNvGrpSpPr>
                <a:grpSpLocks/>
              </p:cNvGrpSpPr>
              <p:nvPr/>
            </p:nvGrpSpPr>
            <p:grpSpPr bwMode="auto">
              <a:xfrm>
                <a:off x="590" y="3269"/>
                <a:ext cx="275" cy="38"/>
                <a:chOff x="590" y="3269"/>
                <a:chExt cx="275" cy="38"/>
              </a:xfrm>
            </p:grpSpPr>
            <p:sp>
              <p:nvSpPr>
                <p:cNvPr id="1731787" name="Freeform 204"/>
                <p:cNvSpPr>
                  <a:spLocks noChangeArrowheads="1"/>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88" name="Freeform 205"/>
                <p:cNvSpPr>
                  <a:spLocks noChangeArrowheads="1"/>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89" name="Rectangle 20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31790" name="Group 207"/>
          <p:cNvGrpSpPr>
            <a:grpSpLocks/>
          </p:cNvGrpSpPr>
          <p:nvPr/>
        </p:nvGrpSpPr>
        <p:grpSpPr bwMode="auto">
          <a:xfrm>
            <a:off x="1204913" y="4937125"/>
            <a:ext cx="552450" cy="517525"/>
            <a:chOff x="906" y="3365"/>
            <a:chExt cx="281" cy="265"/>
          </a:xfrm>
        </p:grpSpPr>
        <p:grpSp>
          <p:nvGrpSpPr>
            <p:cNvPr id="1731791" name="Group 208"/>
            <p:cNvGrpSpPr>
              <a:grpSpLocks/>
            </p:cNvGrpSpPr>
            <p:nvPr/>
          </p:nvGrpSpPr>
          <p:grpSpPr bwMode="auto">
            <a:xfrm>
              <a:off x="912" y="3369"/>
              <a:ext cx="275" cy="261"/>
              <a:chOff x="912" y="3369"/>
              <a:chExt cx="275" cy="261"/>
            </a:xfrm>
          </p:grpSpPr>
          <p:sp>
            <p:nvSpPr>
              <p:cNvPr id="1731792" name="Freeform 209"/>
              <p:cNvSpPr>
                <a:spLocks noChangeArrowheads="1"/>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93" name="Freeform 210"/>
              <p:cNvSpPr>
                <a:spLocks noChangeArrowheads="1"/>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94" name="Freeform 211"/>
              <p:cNvSpPr>
                <a:spLocks noChangeArrowheads="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95" name="Freeform 212"/>
              <p:cNvSpPr>
                <a:spLocks noChangeArrowheads="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796" name="Rectangle 21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97" name="Rectangle 21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98" name="Rectangle 21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799" name="Line 216"/>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1800" name="Group 217"/>
              <p:cNvGrpSpPr>
                <a:grpSpLocks/>
              </p:cNvGrpSpPr>
              <p:nvPr/>
            </p:nvGrpSpPr>
            <p:grpSpPr bwMode="auto">
              <a:xfrm>
                <a:off x="912" y="3592"/>
                <a:ext cx="275" cy="38"/>
                <a:chOff x="912" y="3592"/>
                <a:chExt cx="275" cy="38"/>
              </a:xfrm>
            </p:grpSpPr>
            <p:sp>
              <p:nvSpPr>
                <p:cNvPr id="1731801" name="Freeform 218"/>
                <p:cNvSpPr>
                  <a:spLocks noChangeArrowheads="1"/>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02" name="Freeform 219"/>
                <p:cNvSpPr>
                  <a:spLocks noChangeArrowheads="1"/>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03" name="Rectangle 22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31804" name="Group 221"/>
            <p:cNvGrpSpPr>
              <a:grpSpLocks/>
            </p:cNvGrpSpPr>
            <p:nvPr/>
          </p:nvGrpSpPr>
          <p:grpSpPr bwMode="auto">
            <a:xfrm>
              <a:off x="906" y="3365"/>
              <a:ext cx="275" cy="261"/>
              <a:chOff x="906" y="3365"/>
              <a:chExt cx="275" cy="261"/>
            </a:xfrm>
          </p:grpSpPr>
          <p:sp>
            <p:nvSpPr>
              <p:cNvPr id="1731805" name="Freeform 222"/>
              <p:cNvSpPr>
                <a:spLocks noChangeArrowheads="1"/>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06" name="Freeform 223"/>
              <p:cNvSpPr>
                <a:spLocks noChangeArrowheads="1"/>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07" name="Freeform 224"/>
              <p:cNvSpPr>
                <a:spLocks noChangeArrowheads="1"/>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08" name="Freeform 225"/>
              <p:cNvSpPr>
                <a:spLocks noChangeArrowheads="1"/>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09" name="Rectangle 22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10" name="Rectangle 22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11" name="Rectangle 22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12" name="Line 229"/>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1813" name="Group 230"/>
              <p:cNvGrpSpPr>
                <a:grpSpLocks/>
              </p:cNvGrpSpPr>
              <p:nvPr/>
            </p:nvGrpSpPr>
            <p:grpSpPr bwMode="auto">
              <a:xfrm>
                <a:off x="906" y="3587"/>
                <a:ext cx="275" cy="39"/>
                <a:chOff x="906" y="3587"/>
                <a:chExt cx="275" cy="39"/>
              </a:xfrm>
            </p:grpSpPr>
            <p:sp>
              <p:nvSpPr>
                <p:cNvPr id="1731814" name="Freeform 231"/>
                <p:cNvSpPr>
                  <a:spLocks noChangeArrowheads="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15" name="Freeform 232"/>
                <p:cNvSpPr>
                  <a:spLocks noChangeArrowheads="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16" name="Rectangle 23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31817" name="Group 234"/>
          <p:cNvGrpSpPr>
            <a:grpSpLocks/>
          </p:cNvGrpSpPr>
          <p:nvPr/>
        </p:nvGrpSpPr>
        <p:grpSpPr bwMode="auto">
          <a:xfrm>
            <a:off x="2820988" y="5057775"/>
            <a:ext cx="481012" cy="839788"/>
            <a:chOff x="1660" y="3427"/>
            <a:chExt cx="217" cy="339"/>
          </a:xfrm>
        </p:grpSpPr>
        <p:grpSp>
          <p:nvGrpSpPr>
            <p:cNvPr id="1731818" name="Group 235"/>
            <p:cNvGrpSpPr>
              <a:grpSpLocks/>
            </p:cNvGrpSpPr>
            <p:nvPr/>
          </p:nvGrpSpPr>
          <p:grpSpPr bwMode="auto">
            <a:xfrm>
              <a:off x="1665" y="3433"/>
              <a:ext cx="212" cy="333"/>
              <a:chOff x="1665" y="3433"/>
              <a:chExt cx="212" cy="333"/>
            </a:xfrm>
          </p:grpSpPr>
          <p:sp>
            <p:nvSpPr>
              <p:cNvPr id="1731819" name="Freeform 236"/>
              <p:cNvSpPr>
                <a:spLocks noChangeArrowheads="1"/>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20" name="Freeform 237"/>
              <p:cNvSpPr>
                <a:spLocks noChangeArrowheads="1"/>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21" name="Freeform 238"/>
              <p:cNvSpPr>
                <a:spLocks noChangeArrowheads="1"/>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22" name="Freeform 239"/>
              <p:cNvSpPr>
                <a:spLocks noChangeArrowheads="1"/>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23" name="Rectangle 240"/>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24" name="Rectangle 241"/>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25" name="Line 242"/>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826" name="Line 243"/>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827" name="Line 244"/>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31828" name="Group 245"/>
            <p:cNvGrpSpPr>
              <a:grpSpLocks/>
            </p:cNvGrpSpPr>
            <p:nvPr/>
          </p:nvGrpSpPr>
          <p:grpSpPr bwMode="auto">
            <a:xfrm>
              <a:off x="1660" y="3427"/>
              <a:ext cx="212" cy="333"/>
              <a:chOff x="1660" y="3427"/>
              <a:chExt cx="212" cy="333"/>
            </a:xfrm>
          </p:grpSpPr>
          <p:sp>
            <p:nvSpPr>
              <p:cNvPr id="1731829" name="Freeform 246"/>
              <p:cNvSpPr>
                <a:spLocks noChangeArrowheads="1"/>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30" name="Freeform 247"/>
              <p:cNvSpPr>
                <a:spLocks noChangeArrowheads="1"/>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31" name="Freeform 248"/>
              <p:cNvSpPr>
                <a:spLocks noChangeArrowheads="1"/>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32" name="Freeform 249"/>
              <p:cNvSpPr>
                <a:spLocks noChangeArrowheads="1"/>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33" name="Rectangle 250"/>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34" name="Rectangle 251"/>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35" name="Line 252"/>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836" name="Line 253"/>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837" name="Line 254"/>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31838" name="Rectangle 255"/>
          <p:cNvSpPr>
            <a:spLocks noChangeArrowheads="1"/>
          </p:cNvSpPr>
          <p:nvPr/>
        </p:nvSpPr>
        <p:spPr bwMode="auto">
          <a:xfrm>
            <a:off x="2566988" y="3509963"/>
            <a:ext cx="928687"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39" name="Rectangle 256"/>
          <p:cNvSpPr>
            <a:spLocks noChangeArrowheads="1"/>
          </p:cNvSpPr>
          <p:nvPr/>
        </p:nvSpPr>
        <p:spPr bwMode="auto">
          <a:xfrm>
            <a:off x="2676525" y="3649663"/>
            <a:ext cx="7683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校园网</a:t>
            </a:r>
          </a:p>
        </p:txBody>
      </p:sp>
      <p:sp>
        <p:nvSpPr>
          <p:cNvPr id="1731840" name="Rectangle 257"/>
          <p:cNvSpPr>
            <a:spLocks noChangeArrowheads="1"/>
          </p:cNvSpPr>
          <p:nvPr/>
        </p:nvSpPr>
        <p:spPr bwMode="auto">
          <a:xfrm>
            <a:off x="3459163" y="5543550"/>
            <a:ext cx="1163637"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41" name="Rectangle 258"/>
          <p:cNvSpPr>
            <a:spLocks noChangeArrowheads="1"/>
          </p:cNvSpPr>
          <p:nvPr/>
        </p:nvSpPr>
        <p:spPr bwMode="auto">
          <a:xfrm>
            <a:off x="3895725" y="5661025"/>
            <a:ext cx="2052638"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2000" b="1">
                <a:solidFill>
                  <a:srgbClr val="000099"/>
                </a:solidFill>
                <a:ea typeface="黑体" panose="02010609060101010101" pitchFamily="49" charset="-122"/>
              </a:rPr>
              <a:t>校园网的高速缓存</a:t>
            </a:r>
          </a:p>
          <a:p>
            <a:pPr algn="ctr"/>
            <a:r>
              <a:rPr lang="zh-CN" altLang="en-US" sz="2000" b="1">
                <a:solidFill>
                  <a:srgbClr val="000099"/>
                </a:solidFill>
                <a:ea typeface="黑体" panose="02010609060101010101" pitchFamily="49" charset="-122"/>
              </a:rPr>
              <a:t>（代理服务器）</a:t>
            </a:r>
          </a:p>
        </p:txBody>
      </p:sp>
      <p:grpSp>
        <p:nvGrpSpPr>
          <p:cNvPr id="1731842" name="Group 259"/>
          <p:cNvGrpSpPr>
            <a:grpSpLocks/>
          </p:cNvGrpSpPr>
          <p:nvPr/>
        </p:nvGrpSpPr>
        <p:grpSpPr bwMode="auto">
          <a:xfrm>
            <a:off x="8743950" y="2924175"/>
            <a:ext cx="423863" cy="661988"/>
            <a:chOff x="4305" y="2335"/>
            <a:chExt cx="216" cy="339"/>
          </a:xfrm>
        </p:grpSpPr>
        <p:grpSp>
          <p:nvGrpSpPr>
            <p:cNvPr id="1731843" name="Group 260"/>
            <p:cNvGrpSpPr>
              <a:grpSpLocks/>
            </p:cNvGrpSpPr>
            <p:nvPr/>
          </p:nvGrpSpPr>
          <p:grpSpPr bwMode="auto">
            <a:xfrm>
              <a:off x="4310" y="2341"/>
              <a:ext cx="211" cy="333"/>
              <a:chOff x="4310" y="2341"/>
              <a:chExt cx="211" cy="333"/>
            </a:xfrm>
          </p:grpSpPr>
          <p:sp>
            <p:nvSpPr>
              <p:cNvPr id="1731844" name="Freeform 261"/>
              <p:cNvSpPr>
                <a:spLocks noChangeArrowheads="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Lst>
                <a:ahLst/>
                <a:cxnLst>
                  <a:cxn ang="0">
                    <a:pos x="T0" y="T1"/>
                  </a:cxn>
                  <a:cxn ang="0">
                    <a:pos x="T2" y="T3"/>
                  </a:cxn>
                  <a:cxn ang="0">
                    <a:pos x="T4" y="T5"/>
                  </a:cxn>
                  <a:cxn ang="0">
                    <a:pos x="T6" y="T7"/>
                  </a:cxn>
                  <a:cxn ang="0">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45" name="Freeform 262"/>
              <p:cNvSpPr>
                <a:spLocks noChangeArrowheads="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Lst>
                <a:ahLst/>
                <a:cxnLst>
                  <a:cxn ang="0">
                    <a:pos x="T0" y="T1"/>
                  </a:cxn>
                  <a:cxn ang="0">
                    <a:pos x="T2" y="T3"/>
                  </a:cxn>
                  <a:cxn ang="0">
                    <a:pos x="T4" y="T5"/>
                  </a:cxn>
                  <a:cxn ang="0">
                    <a:pos x="T6" y="T7"/>
                  </a:cxn>
                  <a:cxn ang="0">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46" name="Freeform 263"/>
              <p:cNvSpPr>
                <a:spLocks noChangeArrowheads="1"/>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47" name="Freeform 264"/>
              <p:cNvSpPr>
                <a:spLocks noChangeArrowheads="1"/>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48" name="Rectangle 265"/>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49" name="Rectangle 266"/>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50" name="Line 267"/>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851" name="Line 268"/>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852" name="Line 269"/>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31853" name="Group 270"/>
            <p:cNvGrpSpPr>
              <a:grpSpLocks/>
            </p:cNvGrpSpPr>
            <p:nvPr/>
          </p:nvGrpSpPr>
          <p:grpSpPr bwMode="auto">
            <a:xfrm>
              <a:off x="4305" y="2335"/>
              <a:ext cx="211" cy="332"/>
              <a:chOff x="4305" y="2335"/>
              <a:chExt cx="211" cy="332"/>
            </a:xfrm>
          </p:grpSpPr>
          <p:sp>
            <p:nvSpPr>
              <p:cNvPr id="1731854" name="Freeform 271"/>
              <p:cNvSpPr>
                <a:spLocks noChangeArrowheads="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Lst>
                <a:ahLst/>
                <a:cxnLst>
                  <a:cxn ang="0">
                    <a:pos x="T0" y="T1"/>
                  </a:cxn>
                  <a:cxn ang="0">
                    <a:pos x="T2" y="T3"/>
                  </a:cxn>
                  <a:cxn ang="0">
                    <a:pos x="T4" y="T5"/>
                  </a:cxn>
                  <a:cxn ang="0">
                    <a:pos x="T6" y="T7"/>
                  </a:cxn>
                  <a:cxn ang="0">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55" name="Freeform 272"/>
              <p:cNvSpPr>
                <a:spLocks noChangeArrowheads="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Lst>
                <a:ahLst/>
                <a:cxnLst>
                  <a:cxn ang="0">
                    <a:pos x="T0" y="T1"/>
                  </a:cxn>
                  <a:cxn ang="0">
                    <a:pos x="T2" y="T3"/>
                  </a:cxn>
                  <a:cxn ang="0">
                    <a:pos x="T4" y="T5"/>
                  </a:cxn>
                  <a:cxn ang="0">
                    <a:pos x="T6" y="T7"/>
                  </a:cxn>
                  <a:cxn ang="0">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56" name="Freeform 273"/>
              <p:cNvSpPr>
                <a:spLocks noChangeArrowheads="1"/>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57" name="Freeform 274"/>
              <p:cNvSpPr>
                <a:spLocks noChangeArrowheads="1"/>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58" name="Rectangle 275"/>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59" name="Rectangle 276"/>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60" name="Line 277"/>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861" name="Line 278"/>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862" name="Line 279"/>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31863" name="Rectangle 280"/>
          <p:cNvSpPr>
            <a:spLocks noChangeArrowheads="1"/>
          </p:cNvSpPr>
          <p:nvPr/>
        </p:nvSpPr>
        <p:spPr bwMode="auto">
          <a:xfrm>
            <a:off x="7346950" y="3084513"/>
            <a:ext cx="1282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源点服务器</a:t>
            </a:r>
          </a:p>
        </p:txBody>
      </p:sp>
      <p:sp>
        <p:nvSpPr>
          <p:cNvPr id="1731864" name="Rectangle 281"/>
          <p:cNvSpPr>
            <a:spLocks noChangeArrowheads="1"/>
          </p:cNvSpPr>
          <p:nvPr/>
        </p:nvSpPr>
        <p:spPr bwMode="auto">
          <a:xfrm>
            <a:off x="4525963" y="4092575"/>
            <a:ext cx="8858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65" name="Rectangle 282"/>
          <p:cNvSpPr>
            <a:spLocks noChangeArrowheads="1"/>
          </p:cNvSpPr>
          <p:nvPr/>
        </p:nvSpPr>
        <p:spPr bwMode="auto">
          <a:xfrm>
            <a:off x="5024438" y="4159250"/>
            <a:ext cx="952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2 Mbit/s</a:t>
            </a:r>
          </a:p>
        </p:txBody>
      </p:sp>
      <p:grpSp>
        <p:nvGrpSpPr>
          <p:cNvPr id="1731866" name="Group 283"/>
          <p:cNvGrpSpPr>
            <a:grpSpLocks/>
          </p:cNvGrpSpPr>
          <p:nvPr/>
        </p:nvGrpSpPr>
        <p:grpSpPr bwMode="auto">
          <a:xfrm>
            <a:off x="3101975" y="5543550"/>
            <a:ext cx="566738" cy="260350"/>
            <a:chOff x="1872" y="3676"/>
            <a:chExt cx="227" cy="136"/>
          </a:xfrm>
        </p:grpSpPr>
        <p:sp>
          <p:nvSpPr>
            <p:cNvPr id="1731867" name="Line 284"/>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868" name="Freeform 285"/>
            <p:cNvSpPr>
              <a:spLocks noChangeArrowheads="1"/>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Lst>
              <a:ahLst/>
              <a:cxnLst>
                <a:cxn ang="0">
                  <a:pos x="T0" y="T1"/>
                </a:cxn>
                <a:cxn ang="0">
                  <a:pos x="T2" y="T3"/>
                </a:cxn>
                <a:cxn ang="0">
                  <a:pos x="T4" y="T5"/>
                </a:cxn>
                <a:cxn ang="0">
                  <a:pos x="T6" y="T7"/>
                </a:cxn>
              </a:cxnLst>
              <a:rect l="0" t="0" r="r" b="b"/>
              <a:pathLst>
                <a:path w="62" h="47">
                  <a:moveTo>
                    <a:pt x="62" y="15"/>
                  </a:moveTo>
                  <a:lnTo>
                    <a:pt x="0" y="0"/>
                  </a:lnTo>
                  <a:lnTo>
                    <a:pt x="42" y="47"/>
                  </a:lnTo>
                  <a:lnTo>
                    <a:pt x="62" y="15"/>
                  </a:lnTo>
                  <a:close/>
                </a:path>
              </a:pathLst>
            </a:custGeom>
            <a:solidFill>
              <a:srgbClr val="000000"/>
            </a:solidFill>
            <a:ln w="28575">
              <a:solidFill>
                <a:srgbClr val="333399"/>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1731869" name="Group 286"/>
          <p:cNvGrpSpPr>
            <a:grpSpLocks/>
          </p:cNvGrpSpPr>
          <p:nvPr/>
        </p:nvGrpSpPr>
        <p:grpSpPr bwMode="auto">
          <a:xfrm>
            <a:off x="6577013" y="4287838"/>
            <a:ext cx="606425" cy="374650"/>
            <a:chOff x="3202" y="3033"/>
            <a:chExt cx="309" cy="192"/>
          </a:xfrm>
        </p:grpSpPr>
        <p:sp>
          <p:nvSpPr>
            <p:cNvPr id="1731870" name="Oval 287"/>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sp>
          <p:nvSpPr>
            <p:cNvPr id="1731871" name="Rectangle 288"/>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72" name="Rectangle 289"/>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73" name="Oval 290"/>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grpSp>
          <p:nvGrpSpPr>
            <p:cNvPr id="1731874" name="Group 291"/>
            <p:cNvGrpSpPr>
              <a:grpSpLocks/>
            </p:cNvGrpSpPr>
            <p:nvPr/>
          </p:nvGrpSpPr>
          <p:grpSpPr bwMode="auto">
            <a:xfrm>
              <a:off x="3249" y="3046"/>
              <a:ext cx="214" cy="86"/>
              <a:chOff x="3249" y="3046"/>
              <a:chExt cx="214" cy="86"/>
            </a:xfrm>
          </p:grpSpPr>
          <p:grpSp>
            <p:nvGrpSpPr>
              <p:cNvPr id="1731875" name="Group 292"/>
              <p:cNvGrpSpPr>
                <a:grpSpLocks/>
              </p:cNvGrpSpPr>
              <p:nvPr/>
            </p:nvGrpSpPr>
            <p:grpSpPr bwMode="auto">
              <a:xfrm>
                <a:off x="3249" y="3046"/>
                <a:ext cx="212" cy="84"/>
                <a:chOff x="3249" y="3046"/>
                <a:chExt cx="212" cy="84"/>
              </a:xfrm>
            </p:grpSpPr>
            <p:sp>
              <p:nvSpPr>
                <p:cNvPr id="1731876" name="Freeform 293"/>
                <p:cNvSpPr>
                  <a:spLocks noChangeArrowheads="1"/>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77" name="Freeform 294"/>
                <p:cNvSpPr>
                  <a:spLocks noChangeArrowheads="1"/>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78" name="Freeform 295"/>
                <p:cNvSpPr>
                  <a:spLocks noChangeArrowheads="1"/>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79" name="Freeform 296"/>
                <p:cNvSpPr>
                  <a:spLocks noChangeArrowheads="1"/>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80" name="Freeform 297"/>
                <p:cNvSpPr>
                  <a:spLocks noChangeArrowheads="1"/>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81" name="Freeform 298"/>
                <p:cNvSpPr>
                  <a:spLocks noChangeArrowheads="1"/>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82" name="Freeform 299"/>
                <p:cNvSpPr>
                  <a:spLocks noChangeArrowheads="1"/>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83" name="Freeform 300"/>
                <p:cNvSpPr>
                  <a:spLocks noChangeArrowheads="1"/>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31884" name="Group 301"/>
              <p:cNvGrpSpPr>
                <a:grpSpLocks/>
              </p:cNvGrpSpPr>
              <p:nvPr/>
            </p:nvGrpSpPr>
            <p:grpSpPr bwMode="auto">
              <a:xfrm>
                <a:off x="3251" y="3048"/>
                <a:ext cx="212" cy="84"/>
                <a:chOff x="3251" y="3048"/>
                <a:chExt cx="212" cy="84"/>
              </a:xfrm>
            </p:grpSpPr>
            <p:sp>
              <p:nvSpPr>
                <p:cNvPr id="1731885" name="Freeform 302"/>
                <p:cNvSpPr>
                  <a:spLocks noChangeArrowheads="1"/>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86" name="Freeform 303"/>
                <p:cNvSpPr>
                  <a:spLocks noChangeArrowheads="1"/>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87" name="Freeform 304"/>
                <p:cNvSpPr>
                  <a:spLocks noChangeArrowheads="1"/>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88" name="Freeform 305"/>
                <p:cNvSpPr>
                  <a:spLocks noChangeArrowheads="1"/>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89" name="Freeform 306"/>
                <p:cNvSpPr>
                  <a:spLocks noChangeArrowheads="1"/>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90" name="Freeform 307"/>
                <p:cNvSpPr>
                  <a:spLocks noChangeArrowheads="1"/>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91" name="Freeform 308"/>
                <p:cNvSpPr>
                  <a:spLocks noChangeArrowheads="1"/>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1892" name="Freeform 309"/>
                <p:cNvSpPr>
                  <a:spLocks noChangeArrowheads="1"/>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31893" name="Line 310"/>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894" name="Line 311"/>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731895" name="Rectangle 312"/>
          <p:cNvSpPr>
            <a:spLocks noChangeArrowheads="1"/>
          </p:cNvSpPr>
          <p:nvPr/>
        </p:nvSpPr>
        <p:spPr bwMode="auto">
          <a:xfrm>
            <a:off x="7196138" y="3863975"/>
            <a:ext cx="9271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96" name="Rectangle 313"/>
          <p:cNvSpPr>
            <a:spLocks noChangeArrowheads="1"/>
          </p:cNvSpPr>
          <p:nvPr/>
        </p:nvSpPr>
        <p:spPr bwMode="auto">
          <a:xfrm>
            <a:off x="7527925" y="4292600"/>
            <a:ext cx="7683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互联网</a:t>
            </a:r>
          </a:p>
        </p:txBody>
      </p:sp>
      <p:sp>
        <p:nvSpPr>
          <p:cNvPr id="1731897" name="Rectangle 314"/>
          <p:cNvSpPr>
            <a:spLocks noChangeArrowheads="1"/>
          </p:cNvSpPr>
          <p:nvPr/>
        </p:nvSpPr>
        <p:spPr bwMode="auto">
          <a:xfrm>
            <a:off x="3994150" y="3951288"/>
            <a:ext cx="415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98" name="Rectangle 315"/>
          <p:cNvSpPr>
            <a:spLocks noChangeArrowheads="1"/>
          </p:cNvSpPr>
          <p:nvPr/>
        </p:nvSpPr>
        <p:spPr bwMode="auto">
          <a:xfrm>
            <a:off x="3101975" y="4659313"/>
            <a:ext cx="4524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899" name="Rectangle 316"/>
          <p:cNvSpPr>
            <a:spLocks noChangeArrowheads="1"/>
          </p:cNvSpPr>
          <p:nvPr/>
        </p:nvSpPr>
        <p:spPr bwMode="auto">
          <a:xfrm>
            <a:off x="1851025" y="4305300"/>
            <a:ext cx="454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1900" name="Rectangle 317"/>
          <p:cNvSpPr>
            <a:spLocks noChangeArrowheads="1"/>
          </p:cNvSpPr>
          <p:nvPr/>
        </p:nvSpPr>
        <p:spPr bwMode="auto">
          <a:xfrm>
            <a:off x="461963" y="3965575"/>
            <a:ext cx="7699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浏览器</a:t>
            </a:r>
          </a:p>
        </p:txBody>
      </p:sp>
      <p:sp>
        <p:nvSpPr>
          <p:cNvPr id="1731901" name="Rectangle 318"/>
          <p:cNvSpPr>
            <a:spLocks noChangeArrowheads="1"/>
          </p:cNvSpPr>
          <p:nvPr/>
        </p:nvSpPr>
        <p:spPr bwMode="auto">
          <a:xfrm>
            <a:off x="4043363" y="3979863"/>
            <a:ext cx="2809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1</a:t>
            </a:r>
          </a:p>
        </p:txBody>
      </p:sp>
      <p:sp>
        <p:nvSpPr>
          <p:cNvPr id="1731902" name="Rectangle 319"/>
          <p:cNvSpPr>
            <a:spLocks noChangeArrowheads="1"/>
          </p:cNvSpPr>
          <p:nvPr/>
        </p:nvSpPr>
        <p:spPr bwMode="auto">
          <a:xfrm>
            <a:off x="6388100" y="4005263"/>
            <a:ext cx="279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2</a:t>
            </a:r>
          </a:p>
        </p:txBody>
      </p:sp>
      <p:sp>
        <p:nvSpPr>
          <p:cNvPr id="1731903" name="Text Box 320"/>
          <p:cNvSpPr txBox="1">
            <a:spLocks noChangeArrowheads="1"/>
          </p:cNvSpPr>
          <p:nvPr/>
        </p:nvSpPr>
        <p:spPr bwMode="auto">
          <a:xfrm>
            <a:off x="508000" y="1196975"/>
            <a:ext cx="8913813" cy="946150"/>
          </a:xfrm>
          <a:prstGeom prst="rect">
            <a:avLst/>
          </a:prstGeom>
          <a:solidFill>
            <a:srgbClr val="FFFF66"/>
          </a:solidFill>
          <a:ln w="9525">
            <a:solidFill>
              <a:srgbClr val="000066"/>
            </a:solidFill>
            <a:round/>
            <a:headEnd/>
            <a:tailEnd/>
          </a:ln>
        </p:spPr>
        <p:txBody>
          <a:bodyPr>
            <a:spAutoFit/>
          </a:bodyPr>
          <a:lstStyle/>
          <a:p>
            <a:r>
              <a:rPr lang="en-US" altLang="zh-CN" sz="2800" b="1">
                <a:solidFill>
                  <a:srgbClr val="000066"/>
                </a:solidFill>
                <a:ea typeface="黑体" panose="02010609060101010101" pitchFamily="49" charset="-122"/>
              </a:rPr>
              <a:t>(4) </a:t>
            </a:r>
            <a:r>
              <a:rPr lang="zh-CN" altLang="en-US" sz="2800" b="1">
                <a:solidFill>
                  <a:srgbClr val="000066"/>
                </a:solidFill>
                <a:ea typeface="黑体" panose="02010609060101010101" pitchFamily="49" charset="-122"/>
              </a:rPr>
              <a:t>源点服务器将所请求的对象放在 </a:t>
            </a:r>
            <a:r>
              <a:rPr lang="en-US" altLang="zh-CN" sz="2800" b="1">
                <a:solidFill>
                  <a:srgbClr val="000066"/>
                </a:solidFill>
                <a:ea typeface="黑体" panose="02010609060101010101" pitchFamily="49" charset="-122"/>
              </a:rPr>
              <a:t>HTTP </a:t>
            </a:r>
            <a:r>
              <a:rPr lang="zh-CN" altLang="en-US" sz="2800" b="1">
                <a:solidFill>
                  <a:srgbClr val="000066"/>
                </a:solidFill>
                <a:ea typeface="黑体" panose="02010609060101010101" pitchFamily="49" charset="-122"/>
              </a:rPr>
              <a:t>响应报文中返回给校园网的高速缓存。</a:t>
            </a:r>
          </a:p>
        </p:txBody>
      </p:sp>
      <p:sp>
        <p:nvSpPr>
          <p:cNvPr id="650561" name="Freeform 321"/>
          <p:cNvSpPr>
            <a:spLocks noChangeArrowheads="1"/>
          </p:cNvSpPr>
          <p:nvPr/>
        </p:nvSpPr>
        <p:spPr bwMode="auto">
          <a:xfrm>
            <a:off x="3159125" y="3355975"/>
            <a:ext cx="5772150" cy="1871663"/>
          </a:xfrm>
          <a:custGeom>
            <a:avLst/>
            <a:gdLst>
              <a:gd name="T0" fmla="*/ 0 w 3356"/>
              <a:gd name="T1" fmla="*/ 1179 h 1179"/>
              <a:gd name="T2" fmla="*/ 385 w 3356"/>
              <a:gd name="T3" fmla="*/ 867 h 1179"/>
              <a:gd name="T4" fmla="*/ 732 w 3356"/>
              <a:gd name="T5" fmla="*/ 758 h 1179"/>
              <a:gd name="T6" fmla="*/ 1464 w 3356"/>
              <a:gd name="T7" fmla="*/ 749 h 1179"/>
              <a:gd name="T8" fmla="*/ 1893 w 3356"/>
              <a:gd name="T9" fmla="*/ 739 h 1179"/>
              <a:gd name="T10" fmla="*/ 2222 w 3356"/>
              <a:gd name="T11" fmla="*/ 680 h 1179"/>
              <a:gd name="T12" fmla="*/ 2631 w 3356"/>
              <a:gd name="T13" fmla="*/ 499 h 1179"/>
              <a:gd name="T14" fmla="*/ 2993 w 3356"/>
              <a:gd name="T15" fmla="*/ 272 h 1179"/>
              <a:gd name="T16" fmla="*/ 3356 w 3356"/>
              <a:gd name="T17"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6" h="1179">
                <a:moveTo>
                  <a:pt x="0" y="1179"/>
                </a:moveTo>
                <a:cubicBezTo>
                  <a:pt x="64" y="1127"/>
                  <a:pt x="263" y="937"/>
                  <a:pt x="385" y="867"/>
                </a:cubicBezTo>
                <a:cubicBezTo>
                  <a:pt x="507" y="797"/>
                  <a:pt x="552" y="778"/>
                  <a:pt x="732" y="758"/>
                </a:cubicBezTo>
                <a:cubicBezTo>
                  <a:pt x="912" y="738"/>
                  <a:pt x="1271" y="752"/>
                  <a:pt x="1464" y="749"/>
                </a:cubicBezTo>
                <a:cubicBezTo>
                  <a:pt x="1657" y="746"/>
                  <a:pt x="1767" y="750"/>
                  <a:pt x="1893" y="739"/>
                </a:cubicBezTo>
                <a:cubicBezTo>
                  <a:pt x="2019" y="728"/>
                  <a:pt x="2099" y="720"/>
                  <a:pt x="2222" y="680"/>
                </a:cubicBezTo>
                <a:cubicBezTo>
                  <a:pt x="2345" y="640"/>
                  <a:pt x="2503" y="567"/>
                  <a:pt x="2631" y="499"/>
                </a:cubicBezTo>
                <a:cubicBezTo>
                  <a:pt x="2759" y="431"/>
                  <a:pt x="2872" y="355"/>
                  <a:pt x="2993" y="272"/>
                </a:cubicBezTo>
                <a:cubicBezTo>
                  <a:pt x="3114" y="189"/>
                  <a:pt x="3295" y="53"/>
                  <a:pt x="3356" y="0"/>
                </a:cubicBezTo>
              </a:path>
            </a:pathLst>
          </a:custGeom>
          <a:noFill/>
          <a:ln w="76200">
            <a:solidFill>
              <a:schemeClr val="hlink"/>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190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09D45C-06E3-4383-A50D-A74495B6EFC5}" type="slidenum">
              <a:rPr lang="zh-CN" altLang="en-US" smtClean="0"/>
              <a:pPr eaLnBrk="1" hangingPunct="1"/>
              <a:t>38</a:t>
            </a:fld>
            <a:endParaRPr lang="en-US" altLang="zh-CN" smtClean="0"/>
          </a:p>
        </p:txBody>
      </p:sp>
      <p:sp>
        <p:nvSpPr>
          <p:cNvPr id="173190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650561"/>
                                        </p:tgtEl>
                                        <p:attrNameLst>
                                          <p:attrName>style.visibility</p:attrName>
                                        </p:attrNameLst>
                                      </p:cBhvr>
                                      <p:to>
                                        <p:strVal val="visible"/>
                                      </p:to>
                                    </p:set>
                                    <p:animEffect transition="in" filter="wipe(right)">
                                      <p:cBhvr>
                                        <p:cTn id="7" dur="500"/>
                                        <p:tgtEl>
                                          <p:spTgt spid="650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056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3633" name="Rectangle 2"/>
          <p:cNvSpPr>
            <a:spLocks noGrp="1" noChangeArrowheads="1"/>
          </p:cNvSpPr>
          <p:nvPr>
            <p:ph type="title"/>
          </p:nvPr>
        </p:nvSpPr>
        <p:spPr/>
        <p:txBody>
          <a:bodyPr/>
          <a:lstStyle/>
          <a:p>
            <a:pPr algn="ctr"/>
            <a:r>
              <a:rPr lang="zh-CN" altLang="zh-CN" smtClean="0">
                <a:ea typeface="黑体" panose="02010609060101010101" pitchFamily="49" charset="-122"/>
              </a:rPr>
              <a:t>使用高速缓存的情况</a:t>
            </a:r>
          </a:p>
        </p:txBody>
      </p:sp>
      <p:grpSp>
        <p:nvGrpSpPr>
          <p:cNvPr id="1733634" name="Group 3"/>
          <p:cNvGrpSpPr>
            <a:grpSpLocks/>
          </p:cNvGrpSpPr>
          <p:nvPr/>
        </p:nvGrpSpPr>
        <p:grpSpPr bwMode="auto">
          <a:xfrm>
            <a:off x="271463" y="3205163"/>
            <a:ext cx="3743325" cy="2570162"/>
            <a:chOff x="912" y="768"/>
            <a:chExt cx="2400" cy="1584"/>
          </a:xfrm>
        </p:grpSpPr>
        <p:sp>
          <p:nvSpPr>
            <p:cNvPr id="1733635"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36"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37"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38"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39"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40"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41"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42"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43"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grpSp>
          <p:nvGrpSpPr>
            <p:cNvPr id="1733644" name="Group 13"/>
            <p:cNvGrpSpPr>
              <a:grpSpLocks/>
            </p:cNvGrpSpPr>
            <p:nvPr/>
          </p:nvGrpSpPr>
          <p:grpSpPr bwMode="auto">
            <a:xfrm>
              <a:off x="912" y="768"/>
              <a:ext cx="2386" cy="1553"/>
              <a:chOff x="912" y="768"/>
              <a:chExt cx="2386" cy="1553"/>
            </a:xfrm>
          </p:grpSpPr>
          <p:sp>
            <p:nvSpPr>
              <p:cNvPr id="1733645"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46"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47"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48"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49"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50"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51"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52"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53"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ea typeface="宋体" panose="02010600030101010101" pitchFamily="2" charset="-122"/>
                </a:endParaRPr>
              </a:p>
            </p:txBody>
          </p:sp>
        </p:grpSp>
      </p:grpSp>
      <p:graphicFrame>
        <p:nvGraphicFramePr>
          <p:cNvPr id="1733654" name="Object 23"/>
          <p:cNvGraphicFramePr>
            <a:graphicFrameLocks noChangeAspect="1"/>
          </p:cNvGraphicFramePr>
          <p:nvPr/>
        </p:nvGraphicFramePr>
        <p:xfrm>
          <a:off x="7086600" y="3929063"/>
          <a:ext cx="1917700" cy="1149350"/>
        </p:xfrm>
        <a:graphic>
          <a:graphicData uri="http://schemas.openxmlformats.org/presentationml/2006/ole">
            <mc:AlternateContent xmlns:mc="http://schemas.openxmlformats.org/markup-compatibility/2006">
              <mc:Choice xmlns:v="urn:schemas-microsoft-com:vml" Requires="v">
                <p:oleObj spid="_x0000_s1733986" r:id="rId4" imgW="1687068" imgH="964692" progId="Visio.Drawing.6">
                  <p:embed/>
                </p:oleObj>
              </mc:Choice>
              <mc:Fallback>
                <p:oleObj r:id="rId4" imgW="1687068" imgH="964692" progId="Visio.Drawing.6">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3929063"/>
                        <a:ext cx="19177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33655" name="Line 24"/>
          <p:cNvSpPr>
            <a:spLocks noChangeShapeType="1"/>
          </p:cNvSpPr>
          <p:nvPr/>
        </p:nvSpPr>
        <p:spPr bwMode="auto">
          <a:xfrm>
            <a:off x="4046538" y="4491038"/>
            <a:ext cx="2735262"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656" name="Line 25"/>
          <p:cNvSpPr>
            <a:spLocks noChangeShapeType="1"/>
          </p:cNvSpPr>
          <p:nvPr/>
        </p:nvSpPr>
        <p:spPr bwMode="auto">
          <a:xfrm>
            <a:off x="8274050" y="5000625"/>
            <a:ext cx="703263" cy="542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657" name="Line 26"/>
          <p:cNvSpPr>
            <a:spLocks noChangeShapeType="1"/>
          </p:cNvSpPr>
          <p:nvPr/>
        </p:nvSpPr>
        <p:spPr bwMode="auto">
          <a:xfrm>
            <a:off x="8680450" y="4721225"/>
            <a:ext cx="563563" cy="115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658" name="Line 27"/>
          <p:cNvSpPr>
            <a:spLocks noChangeShapeType="1"/>
          </p:cNvSpPr>
          <p:nvPr/>
        </p:nvSpPr>
        <p:spPr bwMode="auto">
          <a:xfrm flipV="1">
            <a:off x="8710613" y="4040188"/>
            <a:ext cx="533400" cy="153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659" name="Line 28"/>
          <p:cNvSpPr>
            <a:spLocks noChangeShapeType="1"/>
          </p:cNvSpPr>
          <p:nvPr/>
        </p:nvSpPr>
        <p:spPr bwMode="auto">
          <a:xfrm flipV="1">
            <a:off x="8240713" y="3421063"/>
            <a:ext cx="736600" cy="5953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3660" name="Group 29"/>
          <p:cNvGrpSpPr>
            <a:grpSpLocks/>
          </p:cNvGrpSpPr>
          <p:nvPr/>
        </p:nvGrpSpPr>
        <p:grpSpPr bwMode="auto">
          <a:xfrm>
            <a:off x="9099550" y="3695700"/>
            <a:ext cx="427038" cy="661988"/>
            <a:chOff x="4486" y="2730"/>
            <a:chExt cx="217" cy="339"/>
          </a:xfrm>
        </p:grpSpPr>
        <p:grpSp>
          <p:nvGrpSpPr>
            <p:cNvPr id="1733661" name="Group 30"/>
            <p:cNvGrpSpPr>
              <a:grpSpLocks/>
            </p:cNvGrpSpPr>
            <p:nvPr/>
          </p:nvGrpSpPr>
          <p:grpSpPr bwMode="auto">
            <a:xfrm>
              <a:off x="4491" y="2736"/>
              <a:ext cx="212" cy="333"/>
              <a:chOff x="4491" y="2736"/>
              <a:chExt cx="212" cy="333"/>
            </a:xfrm>
          </p:grpSpPr>
          <p:sp>
            <p:nvSpPr>
              <p:cNvPr id="1733662" name="Freeform 31"/>
              <p:cNvSpPr>
                <a:spLocks noChangeArrowheads="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663" name="Freeform 32"/>
              <p:cNvSpPr>
                <a:spLocks noChangeArrowheads="1"/>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664" name="Freeform 33"/>
              <p:cNvSpPr>
                <a:spLocks noChangeArrowheads="1"/>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665" name="Freeform 34"/>
              <p:cNvSpPr>
                <a:spLocks noChangeArrowheads="1"/>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666" name="Rectangle 35"/>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67" name="Rectangle 36"/>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68" name="Line 37"/>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669" name="Line 38"/>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670" name="Line 39"/>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33671" name="Group 40"/>
            <p:cNvGrpSpPr>
              <a:grpSpLocks/>
            </p:cNvGrpSpPr>
            <p:nvPr/>
          </p:nvGrpSpPr>
          <p:grpSpPr bwMode="auto">
            <a:xfrm>
              <a:off x="4486" y="2730"/>
              <a:ext cx="212" cy="333"/>
              <a:chOff x="4486" y="2730"/>
              <a:chExt cx="212" cy="333"/>
            </a:xfrm>
          </p:grpSpPr>
          <p:sp>
            <p:nvSpPr>
              <p:cNvPr id="1733672" name="Freeform 41"/>
              <p:cNvSpPr>
                <a:spLocks noChangeArrowheads="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673" name="Freeform 42"/>
              <p:cNvSpPr>
                <a:spLocks noChangeArrowheads="1"/>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674" name="Freeform 43"/>
              <p:cNvSpPr>
                <a:spLocks noChangeArrowheads="1"/>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675" name="Freeform 44"/>
              <p:cNvSpPr>
                <a:spLocks noChangeArrowheads="1"/>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676" name="Rectangle 45"/>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77" name="Rectangle 46"/>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78" name="Line 47"/>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679" name="Line 48"/>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680" name="Line 49"/>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733681" name="Group 50"/>
          <p:cNvGrpSpPr>
            <a:grpSpLocks/>
          </p:cNvGrpSpPr>
          <p:nvPr/>
        </p:nvGrpSpPr>
        <p:grpSpPr bwMode="auto">
          <a:xfrm>
            <a:off x="9099550" y="4556125"/>
            <a:ext cx="427038" cy="661988"/>
            <a:chOff x="4486" y="3170"/>
            <a:chExt cx="217" cy="339"/>
          </a:xfrm>
        </p:grpSpPr>
        <p:grpSp>
          <p:nvGrpSpPr>
            <p:cNvPr id="1733682" name="Group 51"/>
            <p:cNvGrpSpPr>
              <a:grpSpLocks/>
            </p:cNvGrpSpPr>
            <p:nvPr/>
          </p:nvGrpSpPr>
          <p:grpSpPr bwMode="auto">
            <a:xfrm>
              <a:off x="4491" y="3176"/>
              <a:ext cx="212" cy="333"/>
              <a:chOff x="4491" y="3176"/>
              <a:chExt cx="212" cy="333"/>
            </a:xfrm>
          </p:grpSpPr>
          <p:sp>
            <p:nvSpPr>
              <p:cNvPr id="1733683" name="Freeform 52"/>
              <p:cNvSpPr>
                <a:spLocks noChangeArrowheads="1"/>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684" name="Freeform 53"/>
              <p:cNvSpPr>
                <a:spLocks noChangeArrowheads="1"/>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685" name="Freeform 54"/>
              <p:cNvSpPr>
                <a:spLocks noChangeArrowheads="1"/>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686" name="Freeform 55"/>
              <p:cNvSpPr>
                <a:spLocks noChangeArrowheads="1"/>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687" name="Rectangle 56"/>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88" name="Rectangle 57"/>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89" name="Line 58"/>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690" name="Line 59"/>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691" name="Line 60"/>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33692" name="Group 61"/>
            <p:cNvGrpSpPr>
              <a:grpSpLocks/>
            </p:cNvGrpSpPr>
            <p:nvPr/>
          </p:nvGrpSpPr>
          <p:grpSpPr bwMode="auto">
            <a:xfrm>
              <a:off x="4486" y="3170"/>
              <a:ext cx="212" cy="332"/>
              <a:chOff x="4486" y="3170"/>
              <a:chExt cx="212" cy="332"/>
            </a:xfrm>
          </p:grpSpPr>
          <p:sp>
            <p:nvSpPr>
              <p:cNvPr id="1733693" name="Freeform 62"/>
              <p:cNvSpPr>
                <a:spLocks noChangeArrowheads="1"/>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694" name="Freeform 63"/>
              <p:cNvSpPr>
                <a:spLocks noChangeArrowheads="1"/>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695" name="Freeform 64"/>
              <p:cNvSpPr>
                <a:spLocks noChangeArrowheads="1"/>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Lst>
                <a:ahLst/>
                <a:cxnLst>
                  <a:cxn ang="0">
                    <a:pos x="T0" y="T1"/>
                  </a:cxn>
                  <a:cxn ang="0">
                    <a:pos x="T2" y="T3"/>
                  </a:cxn>
                  <a:cxn ang="0">
                    <a:pos x="T4" y="T5"/>
                  </a:cxn>
                  <a:cxn ang="0">
                    <a:pos x="T6" y="T7"/>
                  </a:cxn>
                  <a:cxn ang="0">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696" name="Freeform 65"/>
              <p:cNvSpPr>
                <a:spLocks noChangeArrowheads="1"/>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Lst>
                <a:ahLst/>
                <a:cxnLst>
                  <a:cxn ang="0">
                    <a:pos x="T0" y="T1"/>
                  </a:cxn>
                  <a:cxn ang="0">
                    <a:pos x="T2" y="T3"/>
                  </a:cxn>
                  <a:cxn ang="0">
                    <a:pos x="T4" y="T5"/>
                  </a:cxn>
                  <a:cxn ang="0">
                    <a:pos x="T6" y="T7"/>
                  </a:cxn>
                  <a:cxn ang="0">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697" name="Rectangle 66"/>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98" name="Rectangle 67"/>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699" name="Line 68"/>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700" name="Line 69"/>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701" name="Line 70"/>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733702" name="Group 71"/>
          <p:cNvGrpSpPr>
            <a:grpSpLocks/>
          </p:cNvGrpSpPr>
          <p:nvPr/>
        </p:nvGrpSpPr>
        <p:grpSpPr bwMode="auto">
          <a:xfrm>
            <a:off x="8655050" y="5229225"/>
            <a:ext cx="423863" cy="661988"/>
            <a:chOff x="4260" y="3515"/>
            <a:chExt cx="216" cy="339"/>
          </a:xfrm>
        </p:grpSpPr>
        <p:grpSp>
          <p:nvGrpSpPr>
            <p:cNvPr id="1733703" name="Group 72"/>
            <p:cNvGrpSpPr>
              <a:grpSpLocks/>
            </p:cNvGrpSpPr>
            <p:nvPr/>
          </p:nvGrpSpPr>
          <p:grpSpPr bwMode="auto">
            <a:xfrm>
              <a:off x="4265" y="3521"/>
              <a:ext cx="211" cy="333"/>
              <a:chOff x="4265" y="3521"/>
              <a:chExt cx="211" cy="333"/>
            </a:xfrm>
          </p:grpSpPr>
          <p:sp>
            <p:nvSpPr>
              <p:cNvPr id="1733704" name="Freeform 73"/>
              <p:cNvSpPr>
                <a:spLocks noChangeArrowheads="1"/>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05" name="Freeform 74"/>
              <p:cNvSpPr>
                <a:spLocks noChangeArrowheads="1"/>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06" name="Freeform 75"/>
              <p:cNvSpPr>
                <a:spLocks noChangeArrowheads="1"/>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07" name="Freeform 76"/>
              <p:cNvSpPr>
                <a:spLocks noChangeArrowheads="1"/>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08" name="Rectangle 77"/>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709" name="Rectangle 78"/>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710" name="Line 79"/>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711" name="Line 80"/>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712" name="Line 81"/>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33713" name="Group 82"/>
            <p:cNvGrpSpPr>
              <a:grpSpLocks/>
            </p:cNvGrpSpPr>
            <p:nvPr/>
          </p:nvGrpSpPr>
          <p:grpSpPr bwMode="auto">
            <a:xfrm>
              <a:off x="4260" y="3515"/>
              <a:ext cx="211" cy="332"/>
              <a:chOff x="4260" y="3515"/>
              <a:chExt cx="211" cy="332"/>
            </a:xfrm>
          </p:grpSpPr>
          <p:sp>
            <p:nvSpPr>
              <p:cNvPr id="1733714" name="Freeform 83"/>
              <p:cNvSpPr>
                <a:spLocks noChangeArrowheads="1"/>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15" name="Freeform 84"/>
              <p:cNvSpPr>
                <a:spLocks noChangeArrowheads="1"/>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Lst>
                <a:ahLst/>
                <a:cxnLst>
                  <a:cxn ang="0">
                    <a:pos x="T0" y="T1"/>
                  </a:cxn>
                  <a:cxn ang="0">
                    <a:pos x="T2" y="T3"/>
                  </a:cxn>
                  <a:cxn ang="0">
                    <a:pos x="T4" y="T5"/>
                  </a:cxn>
                  <a:cxn ang="0">
                    <a:pos x="T6" y="T7"/>
                  </a:cxn>
                  <a:cxn ang="0">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16" name="Freeform 85"/>
              <p:cNvSpPr>
                <a:spLocks noChangeArrowheads="1"/>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17" name="Freeform 86"/>
              <p:cNvSpPr>
                <a:spLocks noChangeArrowheads="1"/>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18" name="Rectangle 87"/>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719" name="Rectangle 88"/>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720" name="Line 89"/>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721" name="Line 90"/>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722" name="Line 91"/>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33723" name="Rectangle 92"/>
          <p:cNvSpPr>
            <a:spLocks noChangeArrowheads="1"/>
          </p:cNvSpPr>
          <p:nvPr/>
        </p:nvSpPr>
        <p:spPr bwMode="auto">
          <a:xfrm>
            <a:off x="2286000" y="3155950"/>
            <a:ext cx="31750" cy="2598738"/>
          </a:xfrm>
          <a:prstGeom prst="rect">
            <a:avLst/>
          </a:prstGeom>
          <a:solidFill>
            <a:srgbClr val="000000"/>
          </a:solidFill>
          <a:ln w="28575">
            <a:solidFill>
              <a:srgbClr val="333399"/>
            </a:solidFill>
            <a:miter lim="800000"/>
            <a:headEnd/>
            <a:tailEnd/>
          </a:ln>
        </p:spPr>
        <p:txBody>
          <a:bodyPr/>
          <a:lstStyle/>
          <a:p>
            <a:endParaRPr lang="zh-CN" altLang="en-US" b="1">
              <a:solidFill>
                <a:srgbClr val="000099"/>
              </a:solidFill>
              <a:ea typeface="宋体" panose="02010600030101010101" pitchFamily="2" charset="-122"/>
            </a:endParaRPr>
          </a:p>
        </p:txBody>
      </p:sp>
      <p:sp>
        <p:nvSpPr>
          <p:cNvPr id="1733724" name="Line 93"/>
          <p:cNvSpPr>
            <a:spLocks noChangeShapeType="1"/>
          </p:cNvSpPr>
          <p:nvPr/>
        </p:nvSpPr>
        <p:spPr bwMode="auto">
          <a:xfrm>
            <a:off x="1411288" y="3536950"/>
            <a:ext cx="89058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725" name="Line 94"/>
          <p:cNvSpPr>
            <a:spLocks noChangeShapeType="1"/>
          </p:cNvSpPr>
          <p:nvPr/>
        </p:nvSpPr>
        <p:spPr bwMode="auto">
          <a:xfrm>
            <a:off x="1677988" y="4246563"/>
            <a:ext cx="623887"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726" name="Line 95"/>
          <p:cNvSpPr>
            <a:spLocks noChangeShapeType="1"/>
          </p:cNvSpPr>
          <p:nvPr/>
        </p:nvSpPr>
        <p:spPr bwMode="auto">
          <a:xfrm>
            <a:off x="965200" y="4748213"/>
            <a:ext cx="1336675"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727" name="Line 96"/>
          <p:cNvSpPr>
            <a:spLocks noChangeShapeType="1"/>
          </p:cNvSpPr>
          <p:nvPr/>
        </p:nvSpPr>
        <p:spPr bwMode="auto">
          <a:xfrm>
            <a:off x="1500188" y="5365750"/>
            <a:ext cx="801687"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728" name="Line 97"/>
          <p:cNvSpPr>
            <a:spLocks noChangeShapeType="1"/>
          </p:cNvSpPr>
          <p:nvPr/>
        </p:nvSpPr>
        <p:spPr bwMode="auto">
          <a:xfrm>
            <a:off x="2301875" y="5543550"/>
            <a:ext cx="444500"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729" name="Line 98"/>
          <p:cNvSpPr>
            <a:spLocks noChangeShapeType="1"/>
          </p:cNvSpPr>
          <p:nvPr/>
        </p:nvSpPr>
        <p:spPr bwMode="auto">
          <a:xfrm flipV="1">
            <a:off x="3159125" y="4579938"/>
            <a:ext cx="779463" cy="6477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730" name="Line 99"/>
          <p:cNvSpPr>
            <a:spLocks noChangeShapeType="1"/>
          </p:cNvSpPr>
          <p:nvPr/>
        </p:nvSpPr>
        <p:spPr bwMode="auto">
          <a:xfrm>
            <a:off x="2300288" y="4483100"/>
            <a:ext cx="1516062" cy="1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3731" name="Group 100"/>
          <p:cNvGrpSpPr>
            <a:grpSpLocks/>
          </p:cNvGrpSpPr>
          <p:nvPr/>
        </p:nvGrpSpPr>
        <p:grpSpPr bwMode="auto">
          <a:xfrm>
            <a:off x="3656013" y="4287838"/>
            <a:ext cx="608012" cy="374650"/>
            <a:chOff x="2154" y="3033"/>
            <a:chExt cx="309" cy="192"/>
          </a:xfrm>
        </p:grpSpPr>
        <p:sp>
          <p:nvSpPr>
            <p:cNvPr id="1733732" name="Oval 101"/>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sp>
          <p:nvSpPr>
            <p:cNvPr id="1733733" name="Rectangle 102"/>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734" name="Rectangle 103"/>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735" name="Oval 104"/>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grpSp>
          <p:nvGrpSpPr>
            <p:cNvPr id="1733736" name="Group 105"/>
            <p:cNvGrpSpPr>
              <a:grpSpLocks/>
            </p:cNvGrpSpPr>
            <p:nvPr/>
          </p:nvGrpSpPr>
          <p:grpSpPr bwMode="auto">
            <a:xfrm>
              <a:off x="2201" y="3046"/>
              <a:ext cx="214" cy="86"/>
              <a:chOff x="2201" y="3046"/>
              <a:chExt cx="214" cy="86"/>
            </a:xfrm>
          </p:grpSpPr>
          <p:grpSp>
            <p:nvGrpSpPr>
              <p:cNvPr id="1733737" name="Group 106"/>
              <p:cNvGrpSpPr>
                <a:grpSpLocks/>
              </p:cNvGrpSpPr>
              <p:nvPr/>
            </p:nvGrpSpPr>
            <p:grpSpPr bwMode="auto">
              <a:xfrm>
                <a:off x="2201" y="3046"/>
                <a:ext cx="212" cy="84"/>
                <a:chOff x="2201" y="3046"/>
                <a:chExt cx="212" cy="84"/>
              </a:xfrm>
            </p:grpSpPr>
            <p:sp>
              <p:nvSpPr>
                <p:cNvPr id="1733738" name="Freeform 107"/>
                <p:cNvSpPr>
                  <a:spLocks noChangeArrowheads="1"/>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39" name="Freeform 108"/>
                <p:cNvSpPr>
                  <a:spLocks noChangeArrowheads="1"/>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40" name="Freeform 109"/>
                <p:cNvSpPr>
                  <a:spLocks noChangeArrowheads="1"/>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41" name="Freeform 110"/>
                <p:cNvSpPr>
                  <a:spLocks noChangeArrowheads="1"/>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42" name="Freeform 111"/>
                <p:cNvSpPr>
                  <a:spLocks noChangeArrowheads="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43" name="Freeform 112"/>
                <p:cNvSpPr>
                  <a:spLocks noChangeArrowheads="1"/>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44" name="Freeform 113"/>
                <p:cNvSpPr>
                  <a:spLocks noChangeArrowheads="1"/>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45" name="Freeform 114"/>
                <p:cNvSpPr>
                  <a:spLocks noChangeArrowheads="1"/>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33746" name="Group 115"/>
              <p:cNvGrpSpPr>
                <a:grpSpLocks/>
              </p:cNvGrpSpPr>
              <p:nvPr/>
            </p:nvGrpSpPr>
            <p:grpSpPr bwMode="auto">
              <a:xfrm>
                <a:off x="2203" y="3048"/>
                <a:ext cx="212" cy="84"/>
                <a:chOff x="2203" y="3048"/>
                <a:chExt cx="212" cy="84"/>
              </a:xfrm>
            </p:grpSpPr>
            <p:sp>
              <p:nvSpPr>
                <p:cNvPr id="1733747" name="Freeform 116"/>
                <p:cNvSpPr>
                  <a:spLocks noChangeArrowheads="1"/>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48" name="Freeform 117"/>
                <p:cNvSpPr>
                  <a:spLocks noChangeArrowheads="1"/>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49" name="Freeform 118"/>
                <p:cNvSpPr>
                  <a:spLocks noChangeArrowheads="1"/>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50" name="Freeform 119"/>
                <p:cNvSpPr>
                  <a:spLocks noChangeArrowheads="1"/>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51" name="Freeform 120"/>
                <p:cNvSpPr>
                  <a:spLocks noChangeArrowheads="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52" name="Freeform 121"/>
                <p:cNvSpPr>
                  <a:spLocks noChangeArrowheads="1"/>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53" name="Freeform 122"/>
                <p:cNvSpPr>
                  <a:spLocks noChangeArrowheads="1"/>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54" name="Freeform 123"/>
                <p:cNvSpPr>
                  <a:spLocks noChangeArrowheads="1"/>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33755" name="Line 124"/>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756" name="Line 125"/>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33757" name="Group 126"/>
          <p:cNvGrpSpPr>
            <a:grpSpLocks/>
          </p:cNvGrpSpPr>
          <p:nvPr/>
        </p:nvGrpSpPr>
        <p:grpSpPr bwMode="auto">
          <a:xfrm>
            <a:off x="1235075" y="3074988"/>
            <a:ext cx="557213" cy="517525"/>
            <a:chOff x="921" y="2412"/>
            <a:chExt cx="284" cy="265"/>
          </a:xfrm>
        </p:grpSpPr>
        <p:grpSp>
          <p:nvGrpSpPr>
            <p:cNvPr id="1733758" name="Group 127"/>
            <p:cNvGrpSpPr>
              <a:grpSpLocks/>
            </p:cNvGrpSpPr>
            <p:nvPr/>
          </p:nvGrpSpPr>
          <p:grpSpPr bwMode="auto">
            <a:xfrm>
              <a:off x="928" y="2417"/>
              <a:ext cx="277" cy="260"/>
              <a:chOff x="928" y="2417"/>
              <a:chExt cx="277" cy="260"/>
            </a:xfrm>
          </p:grpSpPr>
          <p:sp>
            <p:nvSpPr>
              <p:cNvPr id="1733759" name="Freeform 128"/>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60" name="Freeform 129"/>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61" name="Freeform 130"/>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62" name="Freeform 131"/>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63" name="Rectangle 13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764" name="Rectangle 13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765" name="Rectangle 13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766" name="Line 135"/>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3767" name="Group 136"/>
              <p:cNvGrpSpPr>
                <a:grpSpLocks/>
              </p:cNvGrpSpPr>
              <p:nvPr/>
            </p:nvGrpSpPr>
            <p:grpSpPr bwMode="auto">
              <a:xfrm>
                <a:off x="928" y="2639"/>
                <a:ext cx="277" cy="38"/>
                <a:chOff x="928" y="2639"/>
                <a:chExt cx="277" cy="38"/>
              </a:xfrm>
            </p:grpSpPr>
            <p:sp>
              <p:nvSpPr>
                <p:cNvPr id="1733768" name="Freeform 137"/>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69" name="Freeform 138"/>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70" name="Rectangle 13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33771" name="Group 140"/>
            <p:cNvGrpSpPr>
              <a:grpSpLocks/>
            </p:cNvGrpSpPr>
            <p:nvPr/>
          </p:nvGrpSpPr>
          <p:grpSpPr bwMode="auto">
            <a:xfrm>
              <a:off x="921" y="2412"/>
              <a:ext cx="277" cy="261"/>
              <a:chOff x="921" y="2412"/>
              <a:chExt cx="277" cy="261"/>
            </a:xfrm>
          </p:grpSpPr>
          <p:sp>
            <p:nvSpPr>
              <p:cNvPr id="1733772" name="Freeform 141"/>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73" name="Freeform 142"/>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74" name="Freeform 143"/>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75" name="Freeform 144"/>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76" name="Rectangle 14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777" name="Rectangle 14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778" name="Rectangle 14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779" name="Line 148"/>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3780" name="Group 149"/>
              <p:cNvGrpSpPr>
                <a:grpSpLocks/>
              </p:cNvGrpSpPr>
              <p:nvPr/>
            </p:nvGrpSpPr>
            <p:grpSpPr bwMode="auto">
              <a:xfrm>
                <a:off x="921" y="2635"/>
                <a:ext cx="277" cy="38"/>
                <a:chOff x="921" y="2635"/>
                <a:chExt cx="277" cy="38"/>
              </a:xfrm>
            </p:grpSpPr>
            <p:sp>
              <p:nvSpPr>
                <p:cNvPr id="1733781" name="Freeform 150"/>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82" name="Freeform 151"/>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83" name="Rectangle 15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33784" name="Group 153"/>
          <p:cNvGrpSpPr>
            <a:grpSpLocks/>
          </p:cNvGrpSpPr>
          <p:nvPr/>
        </p:nvGrpSpPr>
        <p:grpSpPr bwMode="auto">
          <a:xfrm>
            <a:off x="1384300" y="3784600"/>
            <a:ext cx="554038" cy="517525"/>
            <a:chOff x="997" y="2775"/>
            <a:chExt cx="282" cy="265"/>
          </a:xfrm>
        </p:grpSpPr>
        <p:grpSp>
          <p:nvGrpSpPr>
            <p:cNvPr id="1733785" name="Group 154"/>
            <p:cNvGrpSpPr>
              <a:grpSpLocks/>
            </p:cNvGrpSpPr>
            <p:nvPr/>
          </p:nvGrpSpPr>
          <p:grpSpPr bwMode="auto">
            <a:xfrm>
              <a:off x="1004" y="2779"/>
              <a:ext cx="275" cy="261"/>
              <a:chOff x="1004" y="2779"/>
              <a:chExt cx="275" cy="261"/>
            </a:xfrm>
          </p:grpSpPr>
          <p:sp>
            <p:nvSpPr>
              <p:cNvPr id="1733786" name="Freeform 155"/>
              <p:cNvSpPr>
                <a:spLocks noChangeArrowheads="1"/>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87" name="Freeform 156"/>
              <p:cNvSpPr>
                <a:spLocks noChangeArrowheads="1"/>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88" name="Freeform 157"/>
              <p:cNvSpPr>
                <a:spLocks noChangeArrowheads="1"/>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Lst>
                <a:ahLst/>
                <a:cxnLst>
                  <a:cxn ang="0">
                    <a:pos x="T0" y="T1"/>
                  </a:cxn>
                  <a:cxn ang="0">
                    <a:pos x="T2" y="T3"/>
                  </a:cxn>
                  <a:cxn ang="0">
                    <a:pos x="T4" y="T5"/>
                  </a:cxn>
                  <a:cxn ang="0">
                    <a:pos x="T6" y="T7"/>
                  </a:cxn>
                  <a:cxn ang="0">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89" name="Freeform 158"/>
              <p:cNvSpPr>
                <a:spLocks noChangeArrowheads="1"/>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Lst>
                <a:ahLst/>
                <a:cxnLst>
                  <a:cxn ang="0">
                    <a:pos x="T0" y="T1"/>
                  </a:cxn>
                  <a:cxn ang="0">
                    <a:pos x="T2" y="T3"/>
                  </a:cxn>
                  <a:cxn ang="0">
                    <a:pos x="T4" y="T5"/>
                  </a:cxn>
                  <a:cxn ang="0">
                    <a:pos x="T6" y="T7"/>
                  </a:cxn>
                  <a:cxn ang="0">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90" name="Rectangle 159"/>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791" name="Rectangle 160"/>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792" name="Rectangle 161"/>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793" name="Line 162"/>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3794" name="Group 163"/>
              <p:cNvGrpSpPr>
                <a:grpSpLocks/>
              </p:cNvGrpSpPr>
              <p:nvPr/>
            </p:nvGrpSpPr>
            <p:grpSpPr bwMode="auto">
              <a:xfrm>
                <a:off x="1004" y="3002"/>
                <a:ext cx="275" cy="38"/>
                <a:chOff x="1004" y="3002"/>
                <a:chExt cx="275" cy="38"/>
              </a:xfrm>
            </p:grpSpPr>
            <p:sp>
              <p:nvSpPr>
                <p:cNvPr id="1733795" name="Freeform 164"/>
                <p:cNvSpPr>
                  <a:spLocks noChangeArrowheads="1"/>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96" name="Freeform 165"/>
                <p:cNvSpPr>
                  <a:spLocks noChangeArrowheads="1"/>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797" name="Rectangle 166"/>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33798" name="Group 167"/>
            <p:cNvGrpSpPr>
              <a:grpSpLocks/>
            </p:cNvGrpSpPr>
            <p:nvPr/>
          </p:nvGrpSpPr>
          <p:grpSpPr bwMode="auto">
            <a:xfrm>
              <a:off x="997" y="2775"/>
              <a:ext cx="275" cy="260"/>
              <a:chOff x="997" y="2775"/>
              <a:chExt cx="275" cy="260"/>
            </a:xfrm>
          </p:grpSpPr>
          <p:sp>
            <p:nvSpPr>
              <p:cNvPr id="1733799" name="Freeform 168"/>
              <p:cNvSpPr>
                <a:spLocks noChangeArrowheads="1"/>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00" name="Freeform 169"/>
              <p:cNvSpPr>
                <a:spLocks noChangeArrowheads="1"/>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01" name="Freeform 170"/>
              <p:cNvSpPr>
                <a:spLocks noChangeArrowheads="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02" name="Freeform 171"/>
              <p:cNvSpPr>
                <a:spLocks noChangeArrowheads="1"/>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03" name="Rectangle 172"/>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04" name="Rectangle 173"/>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05" name="Rectangle 174"/>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06" name="Line 175"/>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3807" name="Group 176"/>
              <p:cNvGrpSpPr>
                <a:grpSpLocks/>
              </p:cNvGrpSpPr>
              <p:nvPr/>
            </p:nvGrpSpPr>
            <p:grpSpPr bwMode="auto">
              <a:xfrm>
                <a:off x="997" y="2997"/>
                <a:ext cx="275" cy="38"/>
                <a:chOff x="997" y="2997"/>
                <a:chExt cx="275" cy="38"/>
              </a:xfrm>
            </p:grpSpPr>
            <p:sp>
              <p:nvSpPr>
                <p:cNvPr id="1733808" name="Freeform 177"/>
                <p:cNvSpPr>
                  <a:spLocks noChangeArrowheads="1"/>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09" name="Freeform 178"/>
                <p:cNvSpPr>
                  <a:spLocks noChangeArrowheads="1"/>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10" name="Rectangle 179"/>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33811" name="Group 180"/>
          <p:cNvGrpSpPr>
            <a:grpSpLocks/>
          </p:cNvGrpSpPr>
          <p:nvPr/>
        </p:nvGrpSpPr>
        <p:grpSpPr bwMode="auto">
          <a:xfrm>
            <a:off x="584200" y="4314825"/>
            <a:ext cx="554038" cy="517525"/>
            <a:chOff x="590" y="3047"/>
            <a:chExt cx="282" cy="265"/>
          </a:xfrm>
        </p:grpSpPr>
        <p:grpSp>
          <p:nvGrpSpPr>
            <p:cNvPr id="1733812" name="Group 181"/>
            <p:cNvGrpSpPr>
              <a:grpSpLocks/>
            </p:cNvGrpSpPr>
            <p:nvPr/>
          </p:nvGrpSpPr>
          <p:grpSpPr bwMode="auto">
            <a:xfrm>
              <a:off x="596" y="3051"/>
              <a:ext cx="276" cy="261"/>
              <a:chOff x="596" y="3051"/>
              <a:chExt cx="276" cy="261"/>
            </a:xfrm>
          </p:grpSpPr>
          <p:sp>
            <p:nvSpPr>
              <p:cNvPr id="1733813" name="Freeform 182"/>
              <p:cNvSpPr>
                <a:spLocks noChangeArrowheads="1"/>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14" name="Freeform 183"/>
              <p:cNvSpPr>
                <a:spLocks noChangeArrowheads="1"/>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Lst>
                <a:ahLst/>
                <a:cxnLst>
                  <a:cxn ang="0">
                    <a:pos x="T0" y="T1"/>
                  </a:cxn>
                  <a:cxn ang="0">
                    <a:pos x="T2" y="T3"/>
                  </a:cxn>
                  <a:cxn ang="0">
                    <a:pos x="T4" y="T5"/>
                  </a:cxn>
                  <a:cxn ang="0">
                    <a:pos x="T6" y="T7"/>
                  </a:cxn>
                  <a:cxn ang="0">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15" name="Freeform 184"/>
              <p:cNvSpPr>
                <a:spLocks noChangeArrowheads="1"/>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16" name="Freeform 185"/>
              <p:cNvSpPr>
                <a:spLocks noChangeArrowheads="1"/>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17" name="Rectangle 186"/>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18" name="Rectangle 187"/>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19" name="Rectangle 188"/>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20" name="Line 189"/>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3821" name="Group 190"/>
              <p:cNvGrpSpPr>
                <a:grpSpLocks/>
              </p:cNvGrpSpPr>
              <p:nvPr/>
            </p:nvGrpSpPr>
            <p:grpSpPr bwMode="auto">
              <a:xfrm>
                <a:off x="596" y="3274"/>
                <a:ext cx="276" cy="38"/>
                <a:chOff x="596" y="3274"/>
                <a:chExt cx="276" cy="38"/>
              </a:xfrm>
            </p:grpSpPr>
            <p:sp>
              <p:nvSpPr>
                <p:cNvPr id="1733822" name="Freeform 191"/>
                <p:cNvSpPr>
                  <a:spLocks noChangeArrowheads="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Lst>
                  <a:ahLst/>
                  <a:cxnLst>
                    <a:cxn ang="0">
                      <a:pos x="T0" y="T1"/>
                    </a:cxn>
                    <a:cxn ang="0">
                      <a:pos x="T2" y="T3"/>
                    </a:cxn>
                    <a:cxn ang="0">
                      <a:pos x="T4" y="T5"/>
                    </a:cxn>
                    <a:cxn ang="0">
                      <a:pos x="T6" y="T7"/>
                    </a:cxn>
                    <a:cxn ang="0">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23" name="Freeform 192"/>
                <p:cNvSpPr>
                  <a:spLocks noChangeArrowheads="1"/>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Lst>
                  <a:ahLst/>
                  <a:cxnLst>
                    <a:cxn ang="0">
                      <a:pos x="T0" y="T1"/>
                    </a:cxn>
                    <a:cxn ang="0">
                      <a:pos x="T2" y="T3"/>
                    </a:cxn>
                    <a:cxn ang="0">
                      <a:pos x="T4" y="T5"/>
                    </a:cxn>
                    <a:cxn ang="0">
                      <a:pos x="T6" y="T7"/>
                    </a:cxn>
                    <a:cxn ang="0">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24" name="Rectangle 193"/>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33825" name="Group 194"/>
            <p:cNvGrpSpPr>
              <a:grpSpLocks/>
            </p:cNvGrpSpPr>
            <p:nvPr/>
          </p:nvGrpSpPr>
          <p:grpSpPr bwMode="auto">
            <a:xfrm>
              <a:off x="590" y="3047"/>
              <a:ext cx="275" cy="260"/>
              <a:chOff x="590" y="3047"/>
              <a:chExt cx="275" cy="260"/>
            </a:xfrm>
          </p:grpSpPr>
          <p:sp>
            <p:nvSpPr>
              <p:cNvPr id="1733826" name="Freeform 195"/>
              <p:cNvSpPr>
                <a:spLocks noChangeArrowheads="1"/>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27" name="Freeform 196"/>
              <p:cNvSpPr>
                <a:spLocks noChangeArrowheads="1"/>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28" name="Freeform 197"/>
              <p:cNvSpPr>
                <a:spLocks noChangeArrowheads="1"/>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Lst>
                <a:ahLst/>
                <a:cxnLst>
                  <a:cxn ang="0">
                    <a:pos x="T0" y="T1"/>
                  </a:cxn>
                  <a:cxn ang="0">
                    <a:pos x="T2" y="T3"/>
                  </a:cxn>
                  <a:cxn ang="0">
                    <a:pos x="T4" y="T5"/>
                  </a:cxn>
                  <a:cxn ang="0">
                    <a:pos x="T6" y="T7"/>
                  </a:cxn>
                  <a:cxn ang="0">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29" name="Freeform 198"/>
              <p:cNvSpPr>
                <a:spLocks noChangeArrowheads="1"/>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Lst>
                <a:ahLst/>
                <a:cxnLst>
                  <a:cxn ang="0">
                    <a:pos x="T0" y="T1"/>
                  </a:cxn>
                  <a:cxn ang="0">
                    <a:pos x="T2" y="T3"/>
                  </a:cxn>
                  <a:cxn ang="0">
                    <a:pos x="T4" y="T5"/>
                  </a:cxn>
                  <a:cxn ang="0">
                    <a:pos x="T6" y="T7"/>
                  </a:cxn>
                  <a:cxn ang="0">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30" name="Rectangle 199"/>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31" name="Rectangle 200"/>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32" name="Rectangle 201"/>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33" name="Line 202"/>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3834" name="Group 203"/>
              <p:cNvGrpSpPr>
                <a:grpSpLocks/>
              </p:cNvGrpSpPr>
              <p:nvPr/>
            </p:nvGrpSpPr>
            <p:grpSpPr bwMode="auto">
              <a:xfrm>
                <a:off x="590" y="3269"/>
                <a:ext cx="275" cy="38"/>
                <a:chOff x="590" y="3269"/>
                <a:chExt cx="275" cy="38"/>
              </a:xfrm>
            </p:grpSpPr>
            <p:sp>
              <p:nvSpPr>
                <p:cNvPr id="1733835" name="Freeform 204"/>
                <p:cNvSpPr>
                  <a:spLocks noChangeArrowheads="1"/>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36" name="Freeform 205"/>
                <p:cNvSpPr>
                  <a:spLocks noChangeArrowheads="1"/>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37" name="Rectangle 206"/>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33838" name="Group 207"/>
          <p:cNvGrpSpPr>
            <a:grpSpLocks/>
          </p:cNvGrpSpPr>
          <p:nvPr/>
        </p:nvGrpSpPr>
        <p:grpSpPr bwMode="auto">
          <a:xfrm>
            <a:off x="1204913" y="4937125"/>
            <a:ext cx="552450" cy="517525"/>
            <a:chOff x="906" y="3365"/>
            <a:chExt cx="281" cy="265"/>
          </a:xfrm>
        </p:grpSpPr>
        <p:grpSp>
          <p:nvGrpSpPr>
            <p:cNvPr id="1733839" name="Group 208"/>
            <p:cNvGrpSpPr>
              <a:grpSpLocks/>
            </p:cNvGrpSpPr>
            <p:nvPr/>
          </p:nvGrpSpPr>
          <p:grpSpPr bwMode="auto">
            <a:xfrm>
              <a:off x="912" y="3369"/>
              <a:ext cx="275" cy="261"/>
              <a:chOff x="912" y="3369"/>
              <a:chExt cx="275" cy="261"/>
            </a:xfrm>
          </p:grpSpPr>
          <p:sp>
            <p:nvSpPr>
              <p:cNvPr id="1733840" name="Freeform 209"/>
              <p:cNvSpPr>
                <a:spLocks noChangeArrowheads="1"/>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41" name="Freeform 210"/>
              <p:cNvSpPr>
                <a:spLocks noChangeArrowheads="1"/>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42" name="Freeform 211"/>
              <p:cNvSpPr>
                <a:spLocks noChangeArrowheads="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43" name="Freeform 212"/>
              <p:cNvSpPr>
                <a:spLocks noChangeArrowheads="1"/>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Lst>
                <a:ahLst/>
                <a:cxnLst>
                  <a:cxn ang="0">
                    <a:pos x="T0" y="T1"/>
                  </a:cxn>
                  <a:cxn ang="0">
                    <a:pos x="T2" y="T3"/>
                  </a:cxn>
                  <a:cxn ang="0">
                    <a:pos x="T4" y="T5"/>
                  </a:cxn>
                  <a:cxn ang="0">
                    <a:pos x="T6" y="T7"/>
                  </a:cxn>
                  <a:cxn ang="0">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44" name="Rectangle 213"/>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45" name="Rectangle 214"/>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46" name="Rectangle 215"/>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47" name="Line 216"/>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3848" name="Group 217"/>
              <p:cNvGrpSpPr>
                <a:grpSpLocks/>
              </p:cNvGrpSpPr>
              <p:nvPr/>
            </p:nvGrpSpPr>
            <p:grpSpPr bwMode="auto">
              <a:xfrm>
                <a:off x="912" y="3592"/>
                <a:ext cx="275" cy="38"/>
                <a:chOff x="912" y="3592"/>
                <a:chExt cx="275" cy="38"/>
              </a:xfrm>
            </p:grpSpPr>
            <p:sp>
              <p:nvSpPr>
                <p:cNvPr id="1733849" name="Freeform 218"/>
                <p:cNvSpPr>
                  <a:spLocks noChangeArrowheads="1"/>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50" name="Freeform 219"/>
                <p:cNvSpPr>
                  <a:spLocks noChangeArrowheads="1"/>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51" name="Rectangle 220"/>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733852" name="Group 221"/>
            <p:cNvGrpSpPr>
              <a:grpSpLocks/>
            </p:cNvGrpSpPr>
            <p:nvPr/>
          </p:nvGrpSpPr>
          <p:grpSpPr bwMode="auto">
            <a:xfrm>
              <a:off x="906" y="3365"/>
              <a:ext cx="275" cy="261"/>
              <a:chOff x="906" y="3365"/>
              <a:chExt cx="275" cy="261"/>
            </a:xfrm>
          </p:grpSpPr>
          <p:sp>
            <p:nvSpPr>
              <p:cNvPr id="1733853" name="Freeform 222"/>
              <p:cNvSpPr>
                <a:spLocks noChangeArrowheads="1"/>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54" name="Freeform 223"/>
              <p:cNvSpPr>
                <a:spLocks noChangeArrowheads="1"/>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Lst>
                <a:ahLst/>
                <a:cxnLst>
                  <a:cxn ang="0">
                    <a:pos x="T0" y="T1"/>
                  </a:cxn>
                  <a:cxn ang="0">
                    <a:pos x="T2" y="T3"/>
                  </a:cxn>
                  <a:cxn ang="0">
                    <a:pos x="T4" y="T5"/>
                  </a:cxn>
                  <a:cxn ang="0">
                    <a:pos x="T6" y="T7"/>
                  </a:cxn>
                  <a:cxn ang="0">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55" name="Freeform 224"/>
              <p:cNvSpPr>
                <a:spLocks noChangeArrowheads="1"/>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56" name="Freeform 225"/>
              <p:cNvSpPr>
                <a:spLocks noChangeArrowheads="1"/>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57" name="Rectangle 226"/>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58" name="Rectangle 227"/>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59" name="Rectangle 228"/>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60" name="Line 229"/>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33861" name="Group 230"/>
              <p:cNvGrpSpPr>
                <a:grpSpLocks/>
              </p:cNvGrpSpPr>
              <p:nvPr/>
            </p:nvGrpSpPr>
            <p:grpSpPr bwMode="auto">
              <a:xfrm>
                <a:off x="906" y="3587"/>
                <a:ext cx="275" cy="39"/>
                <a:chOff x="906" y="3587"/>
                <a:chExt cx="275" cy="39"/>
              </a:xfrm>
            </p:grpSpPr>
            <p:sp>
              <p:nvSpPr>
                <p:cNvPr id="1733862" name="Freeform 231"/>
                <p:cNvSpPr>
                  <a:spLocks noChangeArrowheads="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63" name="Freeform 232"/>
                <p:cNvSpPr>
                  <a:spLocks noChangeArrowheads="1"/>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Lst>
                  <a:ahLst/>
                  <a:cxnLst>
                    <a:cxn ang="0">
                      <a:pos x="T0" y="T1"/>
                    </a:cxn>
                    <a:cxn ang="0">
                      <a:pos x="T2" y="T3"/>
                    </a:cxn>
                    <a:cxn ang="0">
                      <a:pos x="T4" y="T5"/>
                    </a:cxn>
                    <a:cxn ang="0">
                      <a:pos x="T6" y="T7"/>
                    </a:cxn>
                    <a:cxn ang="0">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64" name="Rectangle 233"/>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grpSp>
        <p:nvGrpSpPr>
          <p:cNvPr id="1733865" name="Group 234"/>
          <p:cNvGrpSpPr>
            <a:grpSpLocks/>
          </p:cNvGrpSpPr>
          <p:nvPr/>
        </p:nvGrpSpPr>
        <p:grpSpPr bwMode="auto">
          <a:xfrm>
            <a:off x="2820988" y="5057775"/>
            <a:ext cx="481012" cy="839788"/>
            <a:chOff x="1660" y="3427"/>
            <a:chExt cx="217" cy="339"/>
          </a:xfrm>
        </p:grpSpPr>
        <p:grpSp>
          <p:nvGrpSpPr>
            <p:cNvPr id="1733866" name="Group 235"/>
            <p:cNvGrpSpPr>
              <a:grpSpLocks/>
            </p:cNvGrpSpPr>
            <p:nvPr/>
          </p:nvGrpSpPr>
          <p:grpSpPr bwMode="auto">
            <a:xfrm>
              <a:off x="1665" y="3433"/>
              <a:ext cx="212" cy="333"/>
              <a:chOff x="1665" y="3433"/>
              <a:chExt cx="212" cy="333"/>
            </a:xfrm>
          </p:grpSpPr>
          <p:sp>
            <p:nvSpPr>
              <p:cNvPr id="1733867" name="Freeform 236"/>
              <p:cNvSpPr>
                <a:spLocks noChangeArrowheads="1"/>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68" name="Freeform 237"/>
              <p:cNvSpPr>
                <a:spLocks noChangeArrowheads="1"/>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69" name="Freeform 238"/>
              <p:cNvSpPr>
                <a:spLocks noChangeArrowheads="1"/>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70" name="Freeform 239"/>
              <p:cNvSpPr>
                <a:spLocks noChangeArrowheads="1"/>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71" name="Rectangle 240"/>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72" name="Rectangle 241"/>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73" name="Line 242"/>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874" name="Line 243"/>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875" name="Line 244"/>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33876" name="Group 245"/>
            <p:cNvGrpSpPr>
              <a:grpSpLocks/>
            </p:cNvGrpSpPr>
            <p:nvPr/>
          </p:nvGrpSpPr>
          <p:grpSpPr bwMode="auto">
            <a:xfrm>
              <a:off x="1660" y="3427"/>
              <a:ext cx="212" cy="333"/>
              <a:chOff x="1660" y="3427"/>
              <a:chExt cx="212" cy="333"/>
            </a:xfrm>
          </p:grpSpPr>
          <p:sp>
            <p:nvSpPr>
              <p:cNvPr id="1733877" name="Freeform 246"/>
              <p:cNvSpPr>
                <a:spLocks noChangeArrowheads="1"/>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78" name="Freeform 247"/>
              <p:cNvSpPr>
                <a:spLocks noChangeArrowheads="1"/>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Lst>
                <a:ahLst/>
                <a:cxnLst>
                  <a:cxn ang="0">
                    <a:pos x="T0" y="T1"/>
                  </a:cxn>
                  <a:cxn ang="0">
                    <a:pos x="T2" y="T3"/>
                  </a:cxn>
                  <a:cxn ang="0">
                    <a:pos x="T4" y="T5"/>
                  </a:cxn>
                  <a:cxn ang="0">
                    <a:pos x="T6" y="T7"/>
                  </a:cxn>
                  <a:cxn ang="0">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79" name="Freeform 248"/>
              <p:cNvSpPr>
                <a:spLocks noChangeArrowheads="1"/>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80" name="Freeform 249"/>
              <p:cNvSpPr>
                <a:spLocks noChangeArrowheads="1"/>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Lst>
                <a:ahLst/>
                <a:cxnLst>
                  <a:cxn ang="0">
                    <a:pos x="T0" y="T1"/>
                  </a:cxn>
                  <a:cxn ang="0">
                    <a:pos x="T2" y="T3"/>
                  </a:cxn>
                  <a:cxn ang="0">
                    <a:pos x="T4" y="T5"/>
                  </a:cxn>
                  <a:cxn ang="0">
                    <a:pos x="T6" y="T7"/>
                  </a:cxn>
                  <a:cxn ang="0">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81" name="Rectangle 250"/>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82" name="Rectangle 251"/>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83" name="Line 252"/>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884" name="Line 253"/>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885" name="Line 254"/>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33886" name="Rectangle 255"/>
          <p:cNvSpPr>
            <a:spLocks noChangeArrowheads="1"/>
          </p:cNvSpPr>
          <p:nvPr/>
        </p:nvSpPr>
        <p:spPr bwMode="auto">
          <a:xfrm>
            <a:off x="2566988" y="3509963"/>
            <a:ext cx="928687"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87" name="Rectangle 256"/>
          <p:cNvSpPr>
            <a:spLocks noChangeArrowheads="1"/>
          </p:cNvSpPr>
          <p:nvPr/>
        </p:nvSpPr>
        <p:spPr bwMode="auto">
          <a:xfrm>
            <a:off x="2676525" y="3649663"/>
            <a:ext cx="7683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校园网</a:t>
            </a:r>
          </a:p>
        </p:txBody>
      </p:sp>
      <p:sp>
        <p:nvSpPr>
          <p:cNvPr id="1733888" name="Rectangle 257"/>
          <p:cNvSpPr>
            <a:spLocks noChangeArrowheads="1"/>
          </p:cNvSpPr>
          <p:nvPr/>
        </p:nvSpPr>
        <p:spPr bwMode="auto">
          <a:xfrm>
            <a:off x="3459163" y="5543550"/>
            <a:ext cx="1163637"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89" name="Rectangle 258"/>
          <p:cNvSpPr>
            <a:spLocks noChangeArrowheads="1"/>
          </p:cNvSpPr>
          <p:nvPr/>
        </p:nvSpPr>
        <p:spPr bwMode="auto">
          <a:xfrm>
            <a:off x="3895725" y="5661025"/>
            <a:ext cx="2052638"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2000" b="1">
                <a:solidFill>
                  <a:srgbClr val="000099"/>
                </a:solidFill>
                <a:ea typeface="黑体" panose="02010609060101010101" pitchFamily="49" charset="-122"/>
              </a:rPr>
              <a:t>校园网的高速缓存</a:t>
            </a:r>
          </a:p>
          <a:p>
            <a:pPr algn="ctr"/>
            <a:r>
              <a:rPr lang="zh-CN" altLang="en-US" sz="2000" b="1">
                <a:solidFill>
                  <a:srgbClr val="000099"/>
                </a:solidFill>
                <a:ea typeface="黑体" panose="02010609060101010101" pitchFamily="49" charset="-122"/>
              </a:rPr>
              <a:t>（代理服务器）</a:t>
            </a:r>
          </a:p>
        </p:txBody>
      </p:sp>
      <p:grpSp>
        <p:nvGrpSpPr>
          <p:cNvPr id="1733890" name="Group 259"/>
          <p:cNvGrpSpPr>
            <a:grpSpLocks/>
          </p:cNvGrpSpPr>
          <p:nvPr/>
        </p:nvGrpSpPr>
        <p:grpSpPr bwMode="auto">
          <a:xfrm>
            <a:off x="8743950" y="2924175"/>
            <a:ext cx="423863" cy="661988"/>
            <a:chOff x="4305" y="2335"/>
            <a:chExt cx="216" cy="339"/>
          </a:xfrm>
        </p:grpSpPr>
        <p:grpSp>
          <p:nvGrpSpPr>
            <p:cNvPr id="1733891" name="Group 260"/>
            <p:cNvGrpSpPr>
              <a:grpSpLocks/>
            </p:cNvGrpSpPr>
            <p:nvPr/>
          </p:nvGrpSpPr>
          <p:grpSpPr bwMode="auto">
            <a:xfrm>
              <a:off x="4310" y="2341"/>
              <a:ext cx="211" cy="333"/>
              <a:chOff x="4310" y="2341"/>
              <a:chExt cx="211" cy="333"/>
            </a:xfrm>
          </p:grpSpPr>
          <p:sp>
            <p:nvSpPr>
              <p:cNvPr id="1733892" name="Freeform 261"/>
              <p:cNvSpPr>
                <a:spLocks noChangeArrowheads="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Lst>
                <a:ahLst/>
                <a:cxnLst>
                  <a:cxn ang="0">
                    <a:pos x="T0" y="T1"/>
                  </a:cxn>
                  <a:cxn ang="0">
                    <a:pos x="T2" y="T3"/>
                  </a:cxn>
                  <a:cxn ang="0">
                    <a:pos x="T4" y="T5"/>
                  </a:cxn>
                  <a:cxn ang="0">
                    <a:pos x="T6" y="T7"/>
                  </a:cxn>
                  <a:cxn ang="0">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93" name="Freeform 262"/>
              <p:cNvSpPr>
                <a:spLocks noChangeArrowheads="1"/>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Lst>
                <a:ahLst/>
                <a:cxnLst>
                  <a:cxn ang="0">
                    <a:pos x="T0" y="T1"/>
                  </a:cxn>
                  <a:cxn ang="0">
                    <a:pos x="T2" y="T3"/>
                  </a:cxn>
                  <a:cxn ang="0">
                    <a:pos x="T4" y="T5"/>
                  </a:cxn>
                  <a:cxn ang="0">
                    <a:pos x="T6" y="T7"/>
                  </a:cxn>
                  <a:cxn ang="0">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94" name="Freeform 263"/>
              <p:cNvSpPr>
                <a:spLocks noChangeArrowheads="1"/>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95" name="Freeform 264"/>
              <p:cNvSpPr>
                <a:spLocks noChangeArrowheads="1"/>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896" name="Rectangle 265"/>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97" name="Rectangle 266"/>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898" name="Line 267"/>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899" name="Line 268"/>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900" name="Line 269"/>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33901" name="Group 270"/>
            <p:cNvGrpSpPr>
              <a:grpSpLocks/>
            </p:cNvGrpSpPr>
            <p:nvPr/>
          </p:nvGrpSpPr>
          <p:grpSpPr bwMode="auto">
            <a:xfrm>
              <a:off x="4305" y="2335"/>
              <a:ext cx="211" cy="332"/>
              <a:chOff x="4305" y="2335"/>
              <a:chExt cx="211" cy="332"/>
            </a:xfrm>
          </p:grpSpPr>
          <p:sp>
            <p:nvSpPr>
              <p:cNvPr id="1733902" name="Freeform 271"/>
              <p:cNvSpPr>
                <a:spLocks noChangeArrowheads="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Lst>
                <a:ahLst/>
                <a:cxnLst>
                  <a:cxn ang="0">
                    <a:pos x="T0" y="T1"/>
                  </a:cxn>
                  <a:cxn ang="0">
                    <a:pos x="T2" y="T3"/>
                  </a:cxn>
                  <a:cxn ang="0">
                    <a:pos x="T4" y="T5"/>
                  </a:cxn>
                  <a:cxn ang="0">
                    <a:pos x="T6" y="T7"/>
                  </a:cxn>
                  <a:cxn ang="0">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03" name="Freeform 272"/>
              <p:cNvSpPr>
                <a:spLocks noChangeArrowheads="1"/>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Lst>
                <a:ahLst/>
                <a:cxnLst>
                  <a:cxn ang="0">
                    <a:pos x="T0" y="T1"/>
                  </a:cxn>
                  <a:cxn ang="0">
                    <a:pos x="T2" y="T3"/>
                  </a:cxn>
                  <a:cxn ang="0">
                    <a:pos x="T4" y="T5"/>
                  </a:cxn>
                  <a:cxn ang="0">
                    <a:pos x="T6" y="T7"/>
                  </a:cxn>
                  <a:cxn ang="0">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04" name="Freeform 273"/>
              <p:cNvSpPr>
                <a:spLocks noChangeArrowheads="1"/>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05" name="Freeform 274"/>
              <p:cNvSpPr>
                <a:spLocks noChangeArrowheads="1"/>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Lst>
                <a:ahLst/>
                <a:cxnLst>
                  <a:cxn ang="0">
                    <a:pos x="T0" y="T1"/>
                  </a:cxn>
                  <a:cxn ang="0">
                    <a:pos x="T2" y="T3"/>
                  </a:cxn>
                  <a:cxn ang="0">
                    <a:pos x="T4" y="T5"/>
                  </a:cxn>
                  <a:cxn ang="0">
                    <a:pos x="T6" y="T7"/>
                  </a:cxn>
                  <a:cxn ang="0">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06" name="Rectangle 275"/>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907" name="Rectangle 276"/>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908" name="Line 277"/>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909" name="Line 278"/>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910" name="Line 279"/>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33911" name="Rectangle 280"/>
          <p:cNvSpPr>
            <a:spLocks noChangeArrowheads="1"/>
          </p:cNvSpPr>
          <p:nvPr/>
        </p:nvSpPr>
        <p:spPr bwMode="auto">
          <a:xfrm>
            <a:off x="7346950" y="3084513"/>
            <a:ext cx="1282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源点服务器</a:t>
            </a:r>
          </a:p>
        </p:txBody>
      </p:sp>
      <p:sp>
        <p:nvSpPr>
          <p:cNvPr id="1733912" name="Rectangle 281"/>
          <p:cNvSpPr>
            <a:spLocks noChangeArrowheads="1"/>
          </p:cNvSpPr>
          <p:nvPr/>
        </p:nvSpPr>
        <p:spPr bwMode="auto">
          <a:xfrm>
            <a:off x="4525963" y="4092575"/>
            <a:ext cx="8858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913" name="Rectangle 282"/>
          <p:cNvSpPr>
            <a:spLocks noChangeArrowheads="1"/>
          </p:cNvSpPr>
          <p:nvPr/>
        </p:nvSpPr>
        <p:spPr bwMode="auto">
          <a:xfrm>
            <a:off x="5030788" y="4159250"/>
            <a:ext cx="952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2 Mbit/s</a:t>
            </a:r>
          </a:p>
        </p:txBody>
      </p:sp>
      <p:grpSp>
        <p:nvGrpSpPr>
          <p:cNvPr id="1733914" name="Group 283"/>
          <p:cNvGrpSpPr>
            <a:grpSpLocks/>
          </p:cNvGrpSpPr>
          <p:nvPr/>
        </p:nvGrpSpPr>
        <p:grpSpPr bwMode="auto">
          <a:xfrm>
            <a:off x="3101975" y="5543550"/>
            <a:ext cx="566738" cy="260350"/>
            <a:chOff x="1872" y="3676"/>
            <a:chExt cx="227" cy="136"/>
          </a:xfrm>
        </p:grpSpPr>
        <p:sp>
          <p:nvSpPr>
            <p:cNvPr id="1733915" name="Line 284"/>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916" name="Freeform 285"/>
            <p:cNvSpPr>
              <a:spLocks noChangeArrowheads="1"/>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Lst>
              <a:ahLst/>
              <a:cxnLst>
                <a:cxn ang="0">
                  <a:pos x="T0" y="T1"/>
                </a:cxn>
                <a:cxn ang="0">
                  <a:pos x="T2" y="T3"/>
                </a:cxn>
                <a:cxn ang="0">
                  <a:pos x="T4" y="T5"/>
                </a:cxn>
                <a:cxn ang="0">
                  <a:pos x="T6" y="T7"/>
                </a:cxn>
              </a:cxnLst>
              <a:rect l="0" t="0" r="r" b="b"/>
              <a:pathLst>
                <a:path w="62" h="47">
                  <a:moveTo>
                    <a:pt x="62" y="15"/>
                  </a:moveTo>
                  <a:lnTo>
                    <a:pt x="0" y="0"/>
                  </a:lnTo>
                  <a:lnTo>
                    <a:pt x="42" y="47"/>
                  </a:lnTo>
                  <a:lnTo>
                    <a:pt x="62" y="15"/>
                  </a:lnTo>
                  <a:close/>
                </a:path>
              </a:pathLst>
            </a:custGeom>
            <a:solidFill>
              <a:srgbClr val="000000"/>
            </a:solidFill>
            <a:ln w="28575">
              <a:solidFill>
                <a:srgbClr val="333399"/>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1733917" name="Group 286"/>
          <p:cNvGrpSpPr>
            <a:grpSpLocks/>
          </p:cNvGrpSpPr>
          <p:nvPr/>
        </p:nvGrpSpPr>
        <p:grpSpPr bwMode="auto">
          <a:xfrm>
            <a:off x="6577013" y="4287838"/>
            <a:ext cx="606425" cy="374650"/>
            <a:chOff x="3202" y="3033"/>
            <a:chExt cx="309" cy="192"/>
          </a:xfrm>
        </p:grpSpPr>
        <p:sp>
          <p:nvSpPr>
            <p:cNvPr id="1733918" name="Oval 287"/>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sp>
          <p:nvSpPr>
            <p:cNvPr id="1733919" name="Rectangle 288"/>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920" name="Rectangle 289"/>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921" name="Oval 290"/>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p>
              <a:endParaRPr lang="zh-CN" altLang="en-US" b="1">
                <a:solidFill>
                  <a:srgbClr val="000099"/>
                </a:solidFill>
                <a:ea typeface="宋体" panose="02010600030101010101" pitchFamily="2" charset="-122"/>
              </a:endParaRPr>
            </a:p>
          </p:txBody>
        </p:sp>
        <p:grpSp>
          <p:nvGrpSpPr>
            <p:cNvPr id="1733922" name="Group 291"/>
            <p:cNvGrpSpPr>
              <a:grpSpLocks/>
            </p:cNvGrpSpPr>
            <p:nvPr/>
          </p:nvGrpSpPr>
          <p:grpSpPr bwMode="auto">
            <a:xfrm>
              <a:off x="3249" y="3046"/>
              <a:ext cx="214" cy="86"/>
              <a:chOff x="3249" y="3046"/>
              <a:chExt cx="214" cy="86"/>
            </a:xfrm>
          </p:grpSpPr>
          <p:grpSp>
            <p:nvGrpSpPr>
              <p:cNvPr id="1733923" name="Group 292"/>
              <p:cNvGrpSpPr>
                <a:grpSpLocks/>
              </p:cNvGrpSpPr>
              <p:nvPr/>
            </p:nvGrpSpPr>
            <p:grpSpPr bwMode="auto">
              <a:xfrm>
                <a:off x="3249" y="3046"/>
                <a:ext cx="212" cy="84"/>
                <a:chOff x="3249" y="3046"/>
                <a:chExt cx="212" cy="84"/>
              </a:xfrm>
            </p:grpSpPr>
            <p:sp>
              <p:nvSpPr>
                <p:cNvPr id="1733924" name="Freeform 293"/>
                <p:cNvSpPr>
                  <a:spLocks noChangeArrowheads="1"/>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25" name="Freeform 294"/>
                <p:cNvSpPr>
                  <a:spLocks noChangeArrowheads="1"/>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26" name="Freeform 295"/>
                <p:cNvSpPr>
                  <a:spLocks noChangeArrowheads="1"/>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27" name="Freeform 296"/>
                <p:cNvSpPr>
                  <a:spLocks noChangeArrowheads="1"/>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28" name="Freeform 297"/>
                <p:cNvSpPr>
                  <a:spLocks noChangeArrowheads="1"/>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29" name="Freeform 298"/>
                <p:cNvSpPr>
                  <a:spLocks noChangeArrowheads="1"/>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30" name="Freeform 299"/>
                <p:cNvSpPr>
                  <a:spLocks noChangeArrowheads="1"/>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31" name="Freeform 300"/>
                <p:cNvSpPr>
                  <a:spLocks noChangeArrowheads="1"/>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733932" name="Group 301"/>
              <p:cNvGrpSpPr>
                <a:grpSpLocks/>
              </p:cNvGrpSpPr>
              <p:nvPr/>
            </p:nvGrpSpPr>
            <p:grpSpPr bwMode="auto">
              <a:xfrm>
                <a:off x="3251" y="3048"/>
                <a:ext cx="212" cy="84"/>
                <a:chOff x="3251" y="3048"/>
                <a:chExt cx="212" cy="84"/>
              </a:xfrm>
            </p:grpSpPr>
            <p:sp>
              <p:nvSpPr>
                <p:cNvPr id="1733933" name="Freeform 302"/>
                <p:cNvSpPr>
                  <a:spLocks noChangeArrowheads="1"/>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34" name="Freeform 303"/>
                <p:cNvSpPr>
                  <a:spLocks noChangeArrowheads="1"/>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35" name="Freeform 304"/>
                <p:cNvSpPr>
                  <a:spLocks noChangeArrowheads="1"/>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36" name="Freeform 305"/>
                <p:cNvSpPr>
                  <a:spLocks noChangeArrowheads="1"/>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37" name="Freeform 306"/>
                <p:cNvSpPr>
                  <a:spLocks noChangeArrowheads="1"/>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38" name="Freeform 307"/>
                <p:cNvSpPr>
                  <a:spLocks noChangeArrowheads="1"/>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39" name="Freeform 308"/>
                <p:cNvSpPr>
                  <a:spLocks noChangeArrowheads="1"/>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733940" name="Freeform 309"/>
                <p:cNvSpPr>
                  <a:spLocks noChangeArrowheads="1"/>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1733941" name="Line 310"/>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942" name="Line 311"/>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733943" name="Rectangle 312"/>
          <p:cNvSpPr>
            <a:spLocks noChangeArrowheads="1"/>
          </p:cNvSpPr>
          <p:nvPr/>
        </p:nvSpPr>
        <p:spPr bwMode="auto">
          <a:xfrm>
            <a:off x="7196138" y="3863975"/>
            <a:ext cx="9271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944" name="Rectangle 313"/>
          <p:cNvSpPr>
            <a:spLocks noChangeArrowheads="1"/>
          </p:cNvSpPr>
          <p:nvPr/>
        </p:nvSpPr>
        <p:spPr bwMode="auto">
          <a:xfrm>
            <a:off x="7559675" y="4348163"/>
            <a:ext cx="7699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互联网</a:t>
            </a:r>
          </a:p>
        </p:txBody>
      </p:sp>
      <p:sp>
        <p:nvSpPr>
          <p:cNvPr id="1733945" name="Rectangle 314"/>
          <p:cNvSpPr>
            <a:spLocks noChangeArrowheads="1"/>
          </p:cNvSpPr>
          <p:nvPr/>
        </p:nvSpPr>
        <p:spPr bwMode="auto">
          <a:xfrm>
            <a:off x="3994150" y="3951288"/>
            <a:ext cx="415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946" name="Rectangle 315"/>
          <p:cNvSpPr>
            <a:spLocks noChangeArrowheads="1"/>
          </p:cNvSpPr>
          <p:nvPr/>
        </p:nvSpPr>
        <p:spPr bwMode="auto">
          <a:xfrm>
            <a:off x="3101975" y="4659313"/>
            <a:ext cx="4524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947" name="Rectangle 317"/>
          <p:cNvSpPr>
            <a:spLocks noChangeArrowheads="1"/>
          </p:cNvSpPr>
          <p:nvPr/>
        </p:nvSpPr>
        <p:spPr bwMode="auto">
          <a:xfrm>
            <a:off x="1851025" y="4305300"/>
            <a:ext cx="454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733948" name="Rectangle 319"/>
          <p:cNvSpPr>
            <a:spLocks noChangeArrowheads="1"/>
          </p:cNvSpPr>
          <p:nvPr/>
        </p:nvSpPr>
        <p:spPr bwMode="auto">
          <a:xfrm>
            <a:off x="461963" y="3965575"/>
            <a:ext cx="7699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000" b="1">
                <a:solidFill>
                  <a:srgbClr val="000099"/>
                </a:solidFill>
                <a:ea typeface="黑体" panose="02010609060101010101" pitchFamily="49" charset="-122"/>
              </a:rPr>
              <a:t>浏览器</a:t>
            </a:r>
          </a:p>
        </p:txBody>
      </p:sp>
      <p:sp>
        <p:nvSpPr>
          <p:cNvPr id="1733949" name="Rectangle 320"/>
          <p:cNvSpPr>
            <a:spLocks noChangeArrowheads="1"/>
          </p:cNvSpPr>
          <p:nvPr/>
        </p:nvSpPr>
        <p:spPr bwMode="auto">
          <a:xfrm>
            <a:off x="4043363" y="3979863"/>
            <a:ext cx="2809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1</a:t>
            </a:r>
          </a:p>
        </p:txBody>
      </p:sp>
      <p:sp>
        <p:nvSpPr>
          <p:cNvPr id="1733950" name="Rectangle 321"/>
          <p:cNvSpPr>
            <a:spLocks noChangeArrowheads="1"/>
          </p:cNvSpPr>
          <p:nvPr/>
        </p:nvSpPr>
        <p:spPr bwMode="auto">
          <a:xfrm>
            <a:off x="6388100" y="4005263"/>
            <a:ext cx="279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2</a:t>
            </a:r>
          </a:p>
        </p:txBody>
      </p:sp>
      <p:sp>
        <p:nvSpPr>
          <p:cNvPr id="647490" name="Freeform 322"/>
          <p:cNvSpPr>
            <a:spLocks noChangeArrowheads="1"/>
          </p:cNvSpPr>
          <p:nvPr/>
        </p:nvSpPr>
        <p:spPr bwMode="auto">
          <a:xfrm>
            <a:off x="1836738" y="4268788"/>
            <a:ext cx="990600" cy="1023937"/>
          </a:xfrm>
          <a:custGeom>
            <a:avLst/>
            <a:gdLst>
              <a:gd name="T0" fmla="*/ 0 w 504"/>
              <a:gd name="T1" fmla="*/ 0 h 524"/>
              <a:gd name="T2" fmla="*/ 504 w 504"/>
              <a:gd name="T3" fmla="*/ 524 h 524"/>
            </a:gdLst>
            <a:ahLst/>
            <a:cxnLst>
              <a:cxn ang="0">
                <a:pos x="T0" y="T1"/>
              </a:cxn>
              <a:cxn ang="0">
                <a:pos x="T2" y="T3"/>
              </a:cxn>
            </a:cxnLst>
            <a:rect l="0" t="0" r="r" b="b"/>
            <a:pathLst>
              <a:path w="504" h="524">
                <a:moveTo>
                  <a:pt x="0" y="0"/>
                </a:moveTo>
                <a:cubicBezTo>
                  <a:pt x="84" y="87"/>
                  <a:pt x="399" y="415"/>
                  <a:pt x="504" y="524"/>
                </a:cubicBezTo>
              </a:path>
            </a:pathLst>
          </a:custGeom>
          <a:noFill/>
          <a:ln w="38100">
            <a:solidFill>
              <a:schemeClr val="hlink"/>
            </a:solidFill>
            <a:round/>
            <a:headEnd type="triangle" w="med" len="med"/>
            <a:tailEnd type="non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647494" name="Freeform 326"/>
          <p:cNvSpPr>
            <a:spLocks noChangeArrowheads="1"/>
          </p:cNvSpPr>
          <p:nvPr/>
        </p:nvSpPr>
        <p:spPr bwMode="auto">
          <a:xfrm>
            <a:off x="1073150" y="4624388"/>
            <a:ext cx="1801813" cy="871537"/>
          </a:xfrm>
          <a:custGeom>
            <a:avLst/>
            <a:gdLst>
              <a:gd name="T0" fmla="*/ 0 w 917"/>
              <a:gd name="T1" fmla="*/ 0 h 446"/>
              <a:gd name="T2" fmla="*/ 917 w 917"/>
              <a:gd name="T3" fmla="*/ 446 h 446"/>
            </a:gdLst>
            <a:ahLst/>
            <a:cxnLst>
              <a:cxn ang="0">
                <a:pos x="T0" y="T1"/>
              </a:cxn>
              <a:cxn ang="0">
                <a:pos x="T2" y="T3"/>
              </a:cxn>
            </a:cxnLst>
            <a:rect l="0" t="0" r="r" b="b"/>
            <a:pathLst>
              <a:path w="917" h="446">
                <a:moveTo>
                  <a:pt x="0" y="0"/>
                </a:moveTo>
                <a:cubicBezTo>
                  <a:pt x="153" y="74"/>
                  <a:pt x="726" y="353"/>
                  <a:pt x="917" y="446"/>
                </a:cubicBezTo>
              </a:path>
            </a:pathLst>
          </a:custGeom>
          <a:noFill/>
          <a:ln w="38100">
            <a:solidFill>
              <a:schemeClr val="hlink"/>
            </a:solidFill>
            <a:round/>
            <a:headEnd type="triangle" w="med" len="med"/>
            <a:tailEnd type="non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647495" name="Freeform 327"/>
          <p:cNvSpPr>
            <a:spLocks noChangeArrowheads="1"/>
          </p:cNvSpPr>
          <p:nvPr/>
        </p:nvSpPr>
        <p:spPr bwMode="auto">
          <a:xfrm>
            <a:off x="1684338" y="5276850"/>
            <a:ext cx="1155700" cy="366713"/>
          </a:xfrm>
          <a:custGeom>
            <a:avLst/>
            <a:gdLst>
              <a:gd name="T0" fmla="*/ 0 w 588"/>
              <a:gd name="T1" fmla="*/ 0 h 188"/>
              <a:gd name="T2" fmla="*/ 588 w 588"/>
              <a:gd name="T3" fmla="*/ 188 h 188"/>
            </a:gdLst>
            <a:ahLst/>
            <a:cxnLst>
              <a:cxn ang="0">
                <a:pos x="T0" y="T1"/>
              </a:cxn>
              <a:cxn ang="0">
                <a:pos x="T2" y="T3"/>
              </a:cxn>
            </a:cxnLst>
            <a:rect l="0" t="0" r="r" b="b"/>
            <a:pathLst>
              <a:path w="588" h="188">
                <a:moveTo>
                  <a:pt x="0" y="0"/>
                </a:moveTo>
                <a:cubicBezTo>
                  <a:pt x="98" y="31"/>
                  <a:pt x="466" y="149"/>
                  <a:pt x="588" y="188"/>
                </a:cubicBezTo>
              </a:path>
            </a:pathLst>
          </a:custGeom>
          <a:noFill/>
          <a:ln w="38100">
            <a:solidFill>
              <a:schemeClr val="hlink"/>
            </a:solidFill>
            <a:round/>
            <a:headEnd type="triangle" w="med" len="med"/>
            <a:tailEnd type="non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647496" name="Freeform 328"/>
          <p:cNvSpPr>
            <a:spLocks noChangeArrowheads="1"/>
          </p:cNvSpPr>
          <p:nvPr/>
        </p:nvSpPr>
        <p:spPr bwMode="auto">
          <a:xfrm>
            <a:off x="1695450" y="3382963"/>
            <a:ext cx="1219200" cy="1776412"/>
          </a:xfrm>
          <a:custGeom>
            <a:avLst/>
            <a:gdLst>
              <a:gd name="T0" fmla="*/ 0 w 620"/>
              <a:gd name="T1" fmla="*/ 0 h 909"/>
              <a:gd name="T2" fmla="*/ 620 w 620"/>
              <a:gd name="T3" fmla="*/ 909 h 909"/>
            </a:gdLst>
            <a:ahLst/>
            <a:cxnLst>
              <a:cxn ang="0">
                <a:pos x="T0" y="T1"/>
              </a:cxn>
              <a:cxn ang="0">
                <a:pos x="T2" y="T3"/>
              </a:cxn>
            </a:cxnLst>
            <a:rect l="0" t="0" r="r" b="b"/>
            <a:pathLst>
              <a:path w="620" h="909">
                <a:moveTo>
                  <a:pt x="0" y="0"/>
                </a:moveTo>
                <a:cubicBezTo>
                  <a:pt x="103" y="151"/>
                  <a:pt x="491" y="720"/>
                  <a:pt x="620" y="909"/>
                </a:cubicBezTo>
              </a:path>
            </a:pathLst>
          </a:custGeom>
          <a:noFill/>
          <a:ln w="38100">
            <a:solidFill>
              <a:schemeClr val="hlink"/>
            </a:solidFill>
            <a:round/>
            <a:headEnd type="triangle" w="med" len="med"/>
            <a:tailEnd type="non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33955" name="Text Box 334"/>
          <p:cNvSpPr txBox="1">
            <a:spLocks noChangeArrowheads="1"/>
          </p:cNvSpPr>
          <p:nvPr/>
        </p:nvSpPr>
        <p:spPr bwMode="auto">
          <a:xfrm>
            <a:off x="508000" y="1196975"/>
            <a:ext cx="8913813" cy="1800225"/>
          </a:xfrm>
          <a:prstGeom prst="rect">
            <a:avLst/>
          </a:prstGeom>
          <a:solidFill>
            <a:srgbClr val="FFFF66"/>
          </a:solidFill>
          <a:ln w="9525">
            <a:solidFill>
              <a:srgbClr val="000066"/>
            </a:solidFill>
            <a:round/>
            <a:headEnd/>
            <a:tailEnd/>
          </a:ln>
        </p:spPr>
        <p:txBody>
          <a:bodyPr>
            <a:spAutoFit/>
          </a:bodyPr>
          <a:lstStyle/>
          <a:p>
            <a:r>
              <a:rPr lang="en-US" altLang="zh-CN" sz="2800" b="1">
                <a:solidFill>
                  <a:srgbClr val="000066"/>
                </a:solidFill>
                <a:ea typeface="黑体" panose="02010609060101010101" pitchFamily="49" charset="-122"/>
              </a:rPr>
              <a:t>(5) </a:t>
            </a:r>
            <a:r>
              <a:rPr lang="zh-CN" altLang="en-US" sz="2800" b="1">
                <a:solidFill>
                  <a:srgbClr val="000066"/>
                </a:solidFill>
                <a:ea typeface="黑体" panose="02010609060101010101" pitchFamily="49" charset="-122"/>
              </a:rPr>
              <a:t>高速缓存收到此对象后，先复制在其本地存储器中（为今后使用），然后再将该对象放在 </a:t>
            </a:r>
            <a:r>
              <a:rPr lang="en-US" altLang="zh-CN" sz="2800" b="1">
                <a:solidFill>
                  <a:srgbClr val="000066"/>
                </a:solidFill>
                <a:ea typeface="黑体" panose="02010609060101010101" pitchFamily="49" charset="-122"/>
              </a:rPr>
              <a:t>HTTP </a:t>
            </a:r>
            <a:r>
              <a:rPr lang="zh-CN" altLang="en-US" sz="2800" b="1">
                <a:solidFill>
                  <a:srgbClr val="000066"/>
                </a:solidFill>
                <a:ea typeface="黑体" panose="02010609060101010101" pitchFamily="49" charset="-122"/>
              </a:rPr>
              <a:t>响应报文中，通过已建立的 </a:t>
            </a:r>
            <a:r>
              <a:rPr lang="en-US" altLang="zh-CN" sz="2800" b="1">
                <a:solidFill>
                  <a:srgbClr val="000066"/>
                </a:solidFill>
                <a:ea typeface="黑体" panose="02010609060101010101" pitchFamily="49" charset="-122"/>
              </a:rPr>
              <a:t>TCP </a:t>
            </a:r>
            <a:r>
              <a:rPr lang="zh-CN" altLang="en-US" sz="2800" b="1">
                <a:solidFill>
                  <a:srgbClr val="000066"/>
                </a:solidFill>
                <a:ea typeface="黑体" panose="02010609060101010101" pitchFamily="49" charset="-122"/>
              </a:rPr>
              <a:t>连接，返回给请求该对象的浏览器。</a:t>
            </a:r>
          </a:p>
        </p:txBody>
      </p:sp>
      <p:sp>
        <p:nvSpPr>
          <p:cNvPr id="173395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A4E6DA0-8F72-4A22-9F7E-E3B0125BC385}" type="slidenum">
              <a:rPr lang="zh-CN" altLang="en-US" smtClean="0"/>
              <a:pPr eaLnBrk="1" hangingPunct="1"/>
              <a:t>39</a:t>
            </a:fld>
            <a:endParaRPr lang="en-US" altLang="zh-CN" smtClean="0"/>
          </a:p>
        </p:txBody>
      </p:sp>
      <p:sp>
        <p:nvSpPr>
          <p:cNvPr id="173395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47496"/>
                                        </p:tgtEl>
                                        <p:attrNameLst>
                                          <p:attrName>style.visibility</p:attrName>
                                        </p:attrNameLst>
                                      </p:cBhvr>
                                      <p:to>
                                        <p:strVal val="visible"/>
                                      </p:to>
                                    </p:set>
                                    <p:animEffect transition="in" filter="wipe(down)">
                                      <p:cBhvr>
                                        <p:cTn id="7" dur="500"/>
                                        <p:tgtEl>
                                          <p:spTgt spid="647496"/>
                                        </p:tgtEl>
                                      </p:cBhvr>
                                    </p:animEffect>
                                  </p:childTnLst>
                                </p:cTn>
                              </p:par>
                            </p:childTnLst>
                          </p:cTn>
                        </p:par>
                        <p:par>
                          <p:cTn id="8" fill="hold" nodeType="afterGroup">
                            <p:stCondLst>
                              <p:cond delay="500"/>
                            </p:stCondLst>
                            <p:childTnLst>
                              <p:par>
                                <p:cTn id="9" presetID="22" presetClass="entr" presetSubtype="4" fill="hold" grpId="0" nodeType="afterEffect">
                                  <p:stCondLst>
                                    <p:cond delay="500"/>
                                  </p:stCondLst>
                                  <p:childTnLst>
                                    <p:set>
                                      <p:cBhvr>
                                        <p:cTn id="10" dur="1" fill="hold">
                                          <p:stCondLst>
                                            <p:cond delay="0"/>
                                          </p:stCondLst>
                                        </p:cTn>
                                        <p:tgtEl>
                                          <p:spTgt spid="647490"/>
                                        </p:tgtEl>
                                        <p:attrNameLst>
                                          <p:attrName>style.visibility</p:attrName>
                                        </p:attrNameLst>
                                      </p:cBhvr>
                                      <p:to>
                                        <p:strVal val="visible"/>
                                      </p:to>
                                    </p:set>
                                    <p:animEffect transition="in" filter="wipe(down)">
                                      <p:cBhvr>
                                        <p:cTn id="11" dur="500"/>
                                        <p:tgtEl>
                                          <p:spTgt spid="647490"/>
                                        </p:tgtEl>
                                      </p:cBhvr>
                                    </p:animEffect>
                                  </p:childTnLst>
                                </p:cTn>
                              </p:par>
                            </p:childTnLst>
                          </p:cTn>
                        </p:par>
                        <p:par>
                          <p:cTn id="12" fill="hold" nodeType="afterGroup">
                            <p:stCondLst>
                              <p:cond delay="1500"/>
                            </p:stCondLst>
                            <p:childTnLst>
                              <p:par>
                                <p:cTn id="13" presetID="22" presetClass="entr" presetSubtype="2" fill="hold" grpId="0" nodeType="afterEffect">
                                  <p:stCondLst>
                                    <p:cond delay="500"/>
                                  </p:stCondLst>
                                  <p:childTnLst>
                                    <p:set>
                                      <p:cBhvr>
                                        <p:cTn id="14" dur="1" fill="hold">
                                          <p:stCondLst>
                                            <p:cond delay="0"/>
                                          </p:stCondLst>
                                        </p:cTn>
                                        <p:tgtEl>
                                          <p:spTgt spid="647494"/>
                                        </p:tgtEl>
                                        <p:attrNameLst>
                                          <p:attrName>style.visibility</p:attrName>
                                        </p:attrNameLst>
                                      </p:cBhvr>
                                      <p:to>
                                        <p:strVal val="visible"/>
                                      </p:to>
                                    </p:set>
                                    <p:animEffect transition="in" filter="wipe(right)">
                                      <p:cBhvr>
                                        <p:cTn id="15" dur="500"/>
                                        <p:tgtEl>
                                          <p:spTgt spid="647494"/>
                                        </p:tgtEl>
                                      </p:cBhvr>
                                    </p:animEffect>
                                  </p:childTnLst>
                                </p:cTn>
                              </p:par>
                            </p:childTnLst>
                          </p:cTn>
                        </p:par>
                        <p:par>
                          <p:cTn id="16" fill="hold" nodeType="afterGroup">
                            <p:stCondLst>
                              <p:cond delay="2500"/>
                            </p:stCondLst>
                            <p:childTnLst>
                              <p:par>
                                <p:cTn id="17" presetID="22" presetClass="entr" presetSubtype="2" fill="hold" grpId="0" nodeType="afterEffect">
                                  <p:stCondLst>
                                    <p:cond delay="500"/>
                                  </p:stCondLst>
                                  <p:childTnLst>
                                    <p:set>
                                      <p:cBhvr>
                                        <p:cTn id="18" dur="1" fill="hold">
                                          <p:stCondLst>
                                            <p:cond delay="0"/>
                                          </p:stCondLst>
                                        </p:cTn>
                                        <p:tgtEl>
                                          <p:spTgt spid="647495"/>
                                        </p:tgtEl>
                                        <p:attrNameLst>
                                          <p:attrName>style.visibility</p:attrName>
                                        </p:attrNameLst>
                                      </p:cBhvr>
                                      <p:to>
                                        <p:strVal val="visible"/>
                                      </p:to>
                                    </p:set>
                                    <p:animEffect transition="in" filter="wipe(right)">
                                      <p:cBhvr>
                                        <p:cTn id="19" dur="500"/>
                                        <p:tgtEl>
                                          <p:spTgt spid="647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490" grpId="0" animBg="1"/>
      <p:bldP spid="647494" grpId="0" animBg="1"/>
      <p:bldP spid="647495" grpId="0" animBg="1"/>
      <p:bldP spid="64749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5681" name="Rectangle 36"/>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 HTTP </a:t>
            </a:r>
            <a:r>
              <a:rPr lang="zh-CN" altLang="en-US" smtClean="0">
                <a:ea typeface="黑体" panose="02010609060101010101" pitchFamily="49" charset="-122"/>
              </a:rPr>
              <a:t>的报文结构 </a:t>
            </a:r>
          </a:p>
        </p:txBody>
      </p:sp>
      <p:sp>
        <p:nvSpPr>
          <p:cNvPr id="1735682" name="Rectangle 37"/>
          <p:cNvSpPr>
            <a:spLocks noGrp="1" noChangeArrowheads="1"/>
          </p:cNvSpPr>
          <p:nvPr>
            <p:ph idx="1"/>
          </p:nvPr>
        </p:nvSpPr>
        <p:spPr>
          <a:xfrm>
            <a:off x="495300" y="1196975"/>
            <a:ext cx="9066213" cy="4933950"/>
          </a:xfrm>
        </p:spPr>
        <p:txBody>
          <a:bodyPr/>
          <a:lstStyle/>
          <a:p>
            <a:pPr>
              <a:buFont typeface="Wingdings" panose="05000000000000000000" pitchFamily="2" charset="2"/>
              <a:buNone/>
            </a:pPr>
            <a:r>
              <a:rPr lang="en-US" altLang="zh-CN" dirty="0" smtClean="0">
                <a:ea typeface="黑体" panose="02010609060101010101" pitchFamily="49" charset="-122"/>
              </a:rPr>
              <a:t>HTTP </a:t>
            </a:r>
            <a:r>
              <a:rPr lang="zh-CN" altLang="en-US" dirty="0" smtClean="0">
                <a:ea typeface="黑体" panose="02010609060101010101" pitchFamily="49" charset="-122"/>
              </a:rPr>
              <a:t>有两类报文：</a:t>
            </a:r>
          </a:p>
          <a:p>
            <a:r>
              <a:rPr lang="zh-CN" altLang="en-US" dirty="0" smtClean="0">
                <a:solidFill>
                  <a:srgbClr val="FF0000"/>
                </a:solidFill>
                <a:ea typeface="黑体" panose="02010609060101010101" pitchFamily="49" charset="-122"/>
              </a:rPr>
              <a:t>请求报文</a:t>
            </a:r>
            <a:r>
              <a:rPr lang="en-US" altLang="zh-CN" dirty="0" smtClean="0">
                <a:ea typeface="黑体" panose="02010609060101010101" pitchFamily="49" charset="-122"/>
              </a:rPr>
              <a:t>——</a:t>
            </a:r>
            <a:r>
              <a:rPr lang="zh-CN" altLang="en-US" dirty="0" smtClean="0">
                <a:ea typeface="黑体" panose="02010609060101010101" pitchFamily="49" charset="-122"/>
              </a:rPr>
              <a:t>从客户向服务器发送请求报文。</a:t>
            </a:r>
          </a:p>
          <a:p>
            <a:r>
              <a:rPr lang="zh-CN" altLang="en-US" dirty="0" smtClean="0">
                <a:solidFill>
                  <a:srgbClr val="FF0000"/>
                </a:solidFill>
                <a:ea typeface="黑体" panose="02010609060101010101" pitchFamily="49" charset="-122"/>
              </a:rPr>
              <a:t>响应报文</a:t>
            </a:r>
            <a:r>
              <a:rPr lang="en-US" altLang="zh-CN" dirty="0" smtClean="0">
                <a:ea typeface="黑体" panose="02010609060101010101" pitchFamily="49" charset="-122"/>
              </a:rPr>
              <a:t>——</a:t>
            </a:r>
            <a:r>
              <a:rPr lang="zh-CN" altLang="en-US" dirty="0" smtClean="0">
                <a:ea typeface="黑体" panose="02010609060101010101" pitchFamily="49" charset="-122"/>
              </a:rPr>
              <a:t>从服务器到客户的回答。</a:t>
            </a:r>
          </a:p>
          <a:p>
            <a:r>
              <a:rPr lang="zh-CN" altLang="en-US" dirty="0" smtClean="0">
                <a:ea typeface="黑体" panose="02010609060101010101" pitchFamily="49" charset="-122"/>
              </a:rPr>
              <a:t>由于 </a:t>
            </a:r>
            <a:r>
              <a:rPr lang="en-US" altLang="zh-CN" dirty="0" smtClean="0">
                <a:ea typeface="黑体" panose="02010609060101010101" pitchFamily="49" charset="-122"/>
              </a:rPr>
              <a:t>HTTP </a:t>
            </a:r>
            <a:r>
              <a:rPr lang="zh-CN" altLang="en-US" dirty="0" smtClean="0">
                <a:ea typeface="黑体" panose="02010609060101010101" pitchFamily="49" charset="-122"/>
              </a:rPr>
              <a:t>是</a:t>
            </a:r>
            <a:r>
              <a:rPr lang="zh-CN" altLang="en-US" dirty="0" smtClean="0">
                <a:solidFill>
                  <a:srgbClr val="0000FF"/>
                </a:solidFill>
                <a:ea typeface="黑体" panose="02010609060101010101" pitchFamily="49" charset="-122"/>
              </a:rPr>
              <a:t>面向正文</a:t>
            </a:r>
            <a:r>
              <a:rPr lang="zh-CN" altLang="en-US" dirty="0" smtClean="0">
                <a:ea typeface="黑体" panose="02010609060101010101" pitchFamily="49" charset="-122"/>
              </a:rPr>
              <a:t>的 </a:t>
            </a:r>
            <a:r>
              <a:rPr lang="en-US" altLang="zh-CN" dirty="0" smtClean="0">
                <a:ea typeface="黑体" panose="02010609060101010101" pitchFamily="49" charset="-122"/>
              </a:rPr>
              <a:t>(text-oriented)</a:t>
            </a:r>
            <a:r>
              <a:rPr lang="zh-CN" altLang="en-US" dirty="0" smtClean="0">
                <a:ea typeface="黑体" panose="02010609060101010101" pitchFamily="49" charset="-122"/>
              </a:rPr>
              <a:t>，因此在报文中的每一个字段都是一些 </a:t>
            </a:r>
            <a:r>
              <a:rPr lang="en-US" altLang="zh-CN" dirty="0" smtClean="0">
                <a:solidFill>
                  <a:srgbClr val="FF0000"/>
                </a:solidFill>
                <a:ea typeface="黑体" panose="02010609060101010101" pitchFamily="49" charset="-122"/>
              </a:rPr>
              <a:t>ASCII </a:t>
            </a:r>
            <a:r>
              <a:rPr lang="zh-CN" altLang="en-US" dirty="0" smtClean="0">
                <a:solidFill>
                  <a:srgbClr val="FF0000"/>
                </a:solidFill>
                <a:ea typeface="黑体" panose="02010609060101010101" pitchFamily="49" charset="-122"/>
              </a:rPr>
              <a:t>码串，</a:t>
            </a:r>
            <a:r>
              <a:rPr lang="zh-CN" altLang="en-US" dirty="0" smtClean="0">
                <a:ea typeface="黑体" panose="02010609060101010101" pitchFamily="49" charset="-122"/>
              </a:rPr>
              <a:t>因而每个字段的长度都是不确定的。</a:t>
            </a:r>
          </a:p>
        </p:txBody>
      </p:sp>
      <p:sp>
        <p:nvSpPr>
          <p:cNvPr id="17356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8C63D91-7AA5-4C3E-9D5F-3498547684FD}" type="slidenum">
              <a:rPr lang="zh-CN" altLang="en-US" smtClean="0"/>
              <a:pPr eaLnBrk="1" hangingPunct="1"/>
              <a:t>40</a:t>
            </a:fld>
            <a:endParaRPr lang="en-US" altLang="zh-CN" smtClean="0"/>
          </a:p>
        </p:txBody>
      </p:sp>
      <p:sp>
        <p:nvSpPr>
          <p:cNvPr id="17356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7729" name="Rectangle 51"/>
          <p:cNvSpPr>
            <a:spLocks noChangeArrowheads="1"/>
          </p:cNvSpPr>
          <p:nvPr/>
        </p:nvSpPr>
        <p:spPr bwMode="auto">
          <a:xfrm>
            <a:off x="2168525" y="3043238"/>
            <a:ext cx="3398838" cy="407987"/>
          </a:xfrm>
          <a:prstGeom prst="rect">
            <a:avLst/>
          </a:prstGeom>
          <a:solidFill>
            <a:srgbClr val="FFFF99"/>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37730" name="Rectangle 43"/>
          <p:cNvSpPr>
            <a:spLocks noChangeArrowheads="1"/>
          </p:cNvSpPr>
          <p:nvPr/>
        </p:nvSpPr>
        <p:spPr bwMode="auto">
          <a:xfrm>
            <a:off x="2168525" y="2227263"/>
            <a:ext cx="3398838" cy="407987"/>
          </a:xfrm>
          <a:prstGeom prst="rect">
            <a:avLst/>
          </a:prstGeom>
          <a:solidFill>
            <a:srgbClr val="FFFF99"/>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37731" name="Rectangle 34"/>
          <p:cNvSpPr>
            <a:spLocks noChangeArrowheads="1"/>
          </p:cNvSpPr>
          <p:nvPr/>
        </p:nvSpPr>
        <p:spPr bwMode="auto">
          <a:xfrm>
            <a:off x="2168525" y="1820863"/>
            <a:ext cx="5202238" cy="406400"/>
          </a:xfrm>
          <a:prstGeom prst="rect">
            <a:avLst/>
          </a:prstGeom>
          <a:solidFill>
            <a:srgbClr val="FFFF99"/>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37732" name="Rectangle 2"/>
          <p:cNvSpPr>
            <a:spLocks noGrp="1" noChangeArrowheads="1"/>
          </p:cNvSpPr>
          <p:nvPr>
            <p:ph type="title"/>
          </p:nvPr>
        </p:nvSpPr>
        <p:spPr/>
        <p:txBody>
          <a:bodyPr/>
          <a:lstStyle/>
          <a:p>
            <a:pPr algn="ctr"/>
            <a:r>
              <a:rPr lang="en-US" altLang="zh-CN" smtClean="0">
                <a:ea typeface="黑体" panose="02010609060101010101" pitchFamily="49" charset="-122"/>
              </a:rPr>
              <a:t>HTTP </a:t>
            </a:r>
            <a:r>
              <a:rPr lang="zh-CN" altLang="zh-CN" smtClean="0">
                <a:ea typeface="黑体" panose="02010609060101010101" pitchFamily="49" charset="-122"/>
              </a:rPr>
              <a:t>的报文结构（请求报文） </a:t>
            </a:r>
          </a:p>
        </p:txBody>
      </p:sp>
      <p:sp>
        <p:nvSpPr>
          <p:cNvPr id="1737733" name="Rectangle 23"/>
          <p:cNvSpPr>
            <a:spLocks noChangeArrowheads="1"/>
          </p:cNvSpPr>
          <p:nvPr/>
        </p:nvSpPr>
        <p:spPr bwMode="auto">
          <a:xfrm>
            <a:off x="4605338" y="3052763"/>
            <a:ext cx="962025" cy="388937"/>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37734" name="Rectangle 24"/>
          <p:cNvSpPr>
            <a:spLocks noChangeArrowheads="1"/>
          </p:cNvSpPr>
          <p:nvPr/>
        </p:nvSpPr>
        <p:spPr bwMode="auto">
          <a:xfrm>
            <a:off x="2174875" y="3470275"/>
            <a:ext cx="985838" cy="3873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37735" name="Rectangle 25"/>
          <p:cNvSpPr>
            <a:spLocks noChangeArrowheads="1"/>
          </p:cNvSpPr>
          <p:nvPr/>
        </p:nvSpPr>
        <p:spPr bwMode="auto">
          <a:xfrm>
            <a:off x="4605338" y="2236788"/>
            <a:ext cx="962025" cy="39846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37736" name="Rectangle 26"/>
          <p:cNvSpPr>
            <a:spLocks noChangeArrowheads="1"/>
          </p:cNvSpPr>
          <p:nvPr/>
        </p:nvSpPr>
        <p:spPr bwMode="auto">
          <a:xfrm>
            <a:off x="4003675" y="3052763"/>
            <a:ext cx="130175" cy="39846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37737" name="Rectangle 27"/>
          <p:cNvSpPr>
            <a:spLocks noChangeArrowheads="1"/>
          </p:cNvSpPr>
          <p:nvPr/>
        </p:nvSpPr>
        <p:spPr bwMode="auto">
          <a:xfrm>
            <a:off x="4003675" y="2236788"/>
            <a:ext cx="120650" cy="39846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37738" name="Line 28"/>
          <p:cNvSpPr>
            <a:spLocks noChangeShapeType="1"/>
          </p:cNvSpPr>
          <p:nvPr/>
        </p:nvSpPr>
        <p:spPr bwMode="auto">
          <a:xfrm>
            <a:off x="3854450" y="3043238"/>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39" name="Line 29"/>
          <p:cNvSpPr>
            <a:spLocks noChangeShapeType="1"/>
          </p:cNvSpPr>
          <p:nvPr/>
        </p:nvSpPr>
        <p:spPr bwMode="auto">
          <a:xfrm>
            <a:off x="4605338" y="3043238"/>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40" name="Line 30"/>
          <p:cNvSpPr>
            <a:spLocks noChangeShapeType="1"/>
          </p:cNvSpPr>
          <p:nvPr/>
        </p:nvSpPr>
        <p:spPr bwMode="auto">
          <a:xfrm>
            <a:off x="4003675" y="3043238"/>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41" name="Rectangle 31"/>
          <p:cNvSpPr>
            <a:spLocks noChangeArrowheads="1"/>
          </p:cNvSpPr>
          <p:nvPr/>
        </p:nvSpPr>
        <p:spPr bwMode="auto">
          <a:xfrm>
            <a:off x="6378575" y="1830388"/>
            <a:ext cx="992188"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37742" name="Rectangle 32"/>
          <p:cNvSpPr>
            <a:spLocks noChangeArrowheads="1"/>
          </p:cNvSpPr>
          <p:nvPr/>
        </p:nvSpPr>
        <p:spPr bwMode="auto">
          <a:xfrm>
            <a:off x="4935538" y="1830388"/>
            <a:ext cx="120650"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37743" name="Rectangle 33"/>
          <p:cNvSpPr>
            <a:spLocks noChangeArrowheads="1"/>
          </p:cNvSpPr>
          <p:nvPr/>
        </p:nvSpPr>
        <p:spPr bwMode="auto">
          <a:xfrm>
            <a:off x="3492500" y="1830388"/>
            <a:ext cx="120650"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37744" name="Text Box 35"/>
          <p:cNvSpPr txBox="1">
            <a:spLocks noChangeArrowheads="1"/>
          </p:cNvSpPr>
          <p:nvPr/>
        </p:nvSpPr>
        <p:spPr bwMode="auto">
          <a:xfrm>
            <a:off x="2354263" y="1809750"/>
            <a:ext cx="909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方   法</a:t>
            </a:r>
          </a:p>
        </p:txBody>
      </p:sp>
      <p:sp>
        <p:nvSpPr>
          <p:cNvPr id="1737745" name="Line 36"/>
          <p:cNvSpPr>
            <a:spLocks noChangeShapeType="1"/>
          </p:cNvSpPr>
          <p:nvPr/>
        </p:nvSpPr>
        <p:spPr bwMode="auto">
          <a:xfrm>
            <a:off x="3492500" y="1820863"/>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46" name="Line 37"/>
          <p:cNvSpPr>
            <a:spLocks noChangeShapeType="1"/>
          </p:cNvSpPr>
          <p:nvPr/>
        </p:nvSpPr>
        <p:spPr bwMode="auto">
          <a:xfrm>
            <a:off x="3613150" y="1820863"/>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47" name="Line 38"/>
          <p:cNvSpPr>
            <a:spLocks noChangeShapeType="1"/>
          </p:cNvSpPr>
          <p:nvPr/>
        </p:nvSpPr>
        <p:spPr bwMode="auto">
          <a:xfrm>
            <a:off x="4935538" y="1820863"/>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48" name="Line 39"/>
          <p:cNvSpPr>
            <a:spLocks noChangeShapeType="1"/>
          </p:cNvSpPr>
          <p:nvPr/>
        </p:nvSpPr>
        <p:spPr bwMode="auto">
          <a:xfrm>
            <a:off x="5056188" y="1820863"/>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49" name="Line 40"/>
          <p:cNvSpPr>
            <a:spLocks noChangeShapeType="1"/>
          </p:cNvSpPr>
          <p:nvPr/>
        </p:nvSpPr>
        <p:spPr bwMode="auto">
          <a:xfrm>
            <a:off x="6378575" y="1820863"/>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50" name="Text Box 41"/>
          <p:cNvSpPr txBox="1">
            <a:spLocks noChangeArrowheads="1"/>
          </p:cNvSpPr>
          <p:nvPr/>
        </p:nvSpPr>
        <p:spPr bwMode="auto">
          <a:xfrm>
            <a:off x="3843338" y="1809750"/>
            <a:ext cx="714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URL</a:t>
            </a:r>
          </a:p>
        </p:txBody>
      </p:sp>
      <p:sp>
        <p:nvSpPr>
          <p:cNvPr id="1737751" name="Text Box 42"/>
          <p:cNvSpPr txBox="1">
            <a:spLocks noChangeArrowheads="1"/>
          </p:cNvSpPr>
          <p:nvPr/>
        </p:nvSpPr>
        <p:spPr bwMode="auto">
          <a:xfrm>
            <a:off x="5194300" y="1809750"/>
            <a:ext cx="908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版   本</a:t>
            </a:r>
          </a:p>
        </p:txBody>
      </p:sp>
      <p:sp>
        <p:nvSpPr>
          <p:cNvPr id="1737752" name="Text Box 44"/>
          <p:cNvSpPr txBox="1">
            <a:spLocks noChangeArrowheads="1"/>
          </p:cNvSpPr>
          <p:nvPr/>
        </p:nvSpPr>
        <p:spPr bwMode="auto">
          <a:xfrm>
            <a:off x="2178050" y="2222500"/>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首部字段名</a:t>
            </a:r>
          </a:p>
        </p:txBody>
      </p:sp>
      <p:sp>
        <p:nvSpPr>
          <p:cNvPr id="1737753" name="Line 45"/>
          <p:cNvSpPr>
            <a:spLocks noChangeShapeType="1"/>
          </p:cNvSpPr>
          <p:nvPr/>
        </p:nvSpPr>
        <p:spPr bwMode="auto">
          <a:xfrm>
            <a:off x="3854450" y="2227263"/>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54" name="Line 46"/>
          <p:cNvSpPr>
            <a:spLocks noChangeShapeType="1"/>
          </p:cNvSpPr>
          <p:nvPr/>
        </p:nvSpPr>
        <p:spPr bwMode="auto">
          <a:xfrm>
            <a:off x="4605338" y="2227263"/>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55" name="Text Box 47"/>
          <p:cNvSpPr txBox="1">
            <a:spLocks noChangeArrowheads="1"/>
          </p:cNvSpPr>
          <p:nvPr/>
        </p:nvSpPr>
        <p:spPr bwMode="auto">
          <a:xfrm>
            <a:off x="5816600" y="2638425"/>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首部行</a:t>
            </a:r>
          </a:p>
        </p:txBody>
      </p:sp>
      <p:sp>
        <p:nvSpPr>
          <p:cNvPr id="1737756" name="Line 48"/>
          <p:cNvSpPr>
            <a:spLocks noChangeShapeType="1"/>
          </p:cNvSpPr>
          <p:nvPr/>
        </p:nvSpPr>
        <p:spPr bwMode="auto">
          <a:xfrm>
            <a:off x="4003675" y="2227263"/>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57" name="Text Box 49"/>
          <p:cNvSpPr txBox="1">
            <a:spLocks noChangeArrowheads="1"/>
          </p:cNvSpPr>
          <p:nvPr/>
        </p:nvSpPr>
        <p:spPr bwMode="auto">
          <a:xfrm>
            <a:off x="3775075" y="2224088"/>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37758" name="Text Box 50"/>
          <p:cNvSpPr txBox="1">
            <a:spLocks noChangeArrowheads="1"/>
          </p:cNvSpPr>
          <p:nvPr/>
        </p:nvSpPr>
        <p:spPr bwMode="auto">
          <a:xfrm>
            <a:off x="4135438" y="2230438"/>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值</a:t>
            </a:r>
          </a:p>
        </p:txBody>
      </p:sp>
      <p:sp>
        <p:nvSpPr>
          <p:cNvPr id="1737759" name="Text Box 52"/>
          <p:cNvSpPr txBox="1">
            <a:spLocks noChangeArrowheads="1"/>
          </p:cNvSpPr>
          <p:nvPr/>
        </p:nvSpPr>
        <p:spPr bwMode="auto">
          <a:xfrm>
            <a:off x="2171700" y="303053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首部字段名</a:t>
            </a:r>
          </a:p>
        </p:txBody>
      </p:sp>
      <p:sp>
        <p:nvSpPr>
          <p:cNvPr id="1737760" name="Text Box 53"/>
          <p:cNvSpPr txBox="1">
            <a:spLocks noChangeArrowheads="1"/>
          </p:cNvSpPr>
          <p:nvPr/>
        </p:nvSpPr>
        <p:spPr bwMode="auto">
          <a:xfrm>
            <a:off x="4162425" y="3043238"/>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值</a:t>
            </a:r>
          </a:p>
        </p:txBody>
      </p:sp>
      <p:sp>
        <p:nvSpPr>
          <p:cNvPr id="1737761" name="Text Box 54"/>
          <p:cNvSpPr txBox="1">
            <a:spLocks noChangeArrowheads="1"/>
          </p:cNvSpPr>
          <p:nvPr/>
        </p:nvSpPr>
        <p:spPr bwMode="auto">
          <a:xfrm>
            <a:off x="3733800" y="3662363"/>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37762" name="Text Box 55"/>
          <p:cNvSpPr txBox="1">
            <a:spLocks noChangeArrowheads="1"/>
          </p:cNvSpPr>
          <p:nvPr/>
        </p:nvSpPr>
        <p:spPr bwMode="auto">
          <a:xfrm rot="-5400000">
            <a:off x="2998787" y="2665413"/>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37763" name="AutoShape 56"/>
          <p:cNvSpPr>
            <a:spLocks/>
          </p:cNvSpPr>
          <p:nvPr/>
        </p:nvSpPr>
        <p:spPr bwMode="auto">
          <a:xfrm>
            <a:off x="5641975" y="2279650"/>
            <a:ext cx="241300" cy="1171575"/>
          </a:xfrm>
          <a:prstGeom prst="rightBrace">
            <a:avLst>
              <a:gd name="adj1" fmla="val 43832"/>
              <a:gd name="adj2" fmla="val 50000"/>
            </a:avLst>
          </a:prstGeom>
          <a:noFill/>
          <a:ln w="1905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737764" name="Rectangle 57"/>
          <p:cNvSpPr>
            <a:spLocks noChangeArrowheads="1"/>
          </p:cNvSpPr>
          <p:nvPr/>
        </p:nvSpPr>
        <p:spPr bwMode="auto">
          <a:xfrm>
            <a:off x="2168525" y="3857625"/>
            <a:ext cx="5413375" cy="917575"/>
          </a:xfrm>
          <a:prstGeom prst="rect">
            <a:avLst/>
          </a:prstGeom>
          <a:solidFill>
            <a:srgbClr val="FFCCFF"/>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37765" name="Text Box 58"/>
          <p:cNvSpPr txBox="1">
            <a:spLocks noChangeArrowheads="1"/>
          </p:cNvSpPr>
          <p:nvPr/>
        </p:nvSpPr>
        <p:spPr bwMode="auto">
          <a:xfrm>
            <a:off x="3959225" y="3951288"/>
            <a:ext cx="1722438"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333399"/>
                </a:solidFill>
                <a:ea typeface="黑体" panose="02010609060101010101" pitchFamily="49" charset="-122"/>
              </a:rPr>
              <a:t>实体主体</a:t>
            </a:r>
          </a:p>
          <a:p>
            <a:pPr algn="ctr"/>
            <a:r>
              <a:rPr lang="zh-CN" altLang="en-US" sz="2000" b="1">
                <a:solidFill>
                  <a:srgbClr val="333399"/>
                </a:solidFill>
                <a:ea typeface="黑体" panose="02010609060101010101" pitchFamily="49" charset="-122"/>
              </a:rPr>
              <a:t>（通常不用）</a:t>
            </a:r>
          </a:p>
        </p:txBody>
      </p:sp>
      <p:sp>
        <p:nvSpPr>
          <p:cNvPr id="1737766" name="Text Box 59"/>
          <p:cNvSpPr txBox="1">
            <a:spLocks noChangeArrowheads="1"/>
          </p:cNvSpPr>
          <p:nvPr/>
        </p:nvSpPr>
        <p:spPr bwMode="auto">
          <a:xfrm>
            <a:off x="7331075" y="180975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请求行</a:t>
            </a:r>
          </a:p>
        </p:txBody>
      </p:sp>
      <p:sp>
        <p:nvSpPr>
          <p:cNvPr id="1737767" name="Line 60"/>
          <p:cNvSpPr>
            <a:spLocks noChangeShapeType="1"/>
          </p:cNvSpPr>
          <p:nvPr/>
        </p:nvSpPr>
        <p:spPr bwMode="auto">
          <a:xfrm>
            <a:off x="2168525" y="2635250"/>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68" name="Line 61"/>
          <p:cNvSpPr>
            <a:spLocks noChangeShapeType="1"/>
          </p:cNvSpPr>
          <p:nvPr/>
        </p:nvSpPr>
        <p:spPr bwMode="auto">
          <a:xfrm>
            <a:off x="2168525" y="3451225"/>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69" name="Line 62"/>
          <p:cNvSpPr>
            <a:spLocks noChangeShapeType="1"/>
          </p:cNvSpPr>
          <p:nvPr/>
        </p:nvSpPr>
        <p:spPr bwMode="auto">
          <a:xfrm>
            <a:off x="3160713" y="3451225"/>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70" name="Line 63"/>
          <p:cNvSpPr>
            <a:spLocks noChangeShapeType="1"/>
          </p:cNvSpPr>
          <p:nvPr/>
        </p:nvSpPr>
        <p:spPr bwMode="auto">
          <a:xfrm>
            <a:off x="5567363" y="2635250"/>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71" name="Text Box 64"/>
          <p:cNvSpPr txBox="1">
            <a:spLocks noChangeArrowheads="1"/>
          </p:cNvSpPr>
          <p:nvPr/>
        </p:nvSpPr>
        <p:spPr bwMode="auto">
          <a:xfrm>
            <a:off x="3863975" y="1160463"/>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空格</a:t>
            </a:r>
          </a:p>
        </p:txBody>
      </p:sp>
      <p:sp>
        <p:nvSpPr>
          <p:cNvPr id="1737772" name="Text Box 65"/>
          <p:cNvSpPr txBox="1">
            <a:spLocks noChangeArrowheads="1"/>
          </p:cNvSpPr>
          <p:nvPr/>
        </p:nvSpPr>
        <p:spPr bwMode="auto">
          <a:xfrm>
            <a:off x="5962650" y="1160463"/>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回车换行</a:t>
            </a:r>
          </a:p>
        </p:txBody>
      </p:sp>
      <p:sp>
        <p:nvSpPr>
          <p:cNvPr id="1737773" name="Line 66"/>
          <p:cNvSpPr>
            <a:spLocks noChangeShapeType="1"/>
          </p:cNvSpPr>
          <p:nvPr/>
        </p:nvSpPr>
        <p:spPr bwMode="auto">
          <a:xfrm>
            <a:off x="4524375" y="1514475"/>
            <a:ext cx="442913" cy="306388"/>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74" name="Line 67"/>
          <p:cNvSpPr>
            <a:spLocks noChangeShapeType="1"/>
          </p:cNvSpPr>
          <p:nvPr/>
        </p:nvSpPr>
        <p:spPr bwMode="auto">
          <a:xfrm flipH="1">
            <a:off x="3522663" y="1514475"/>
            <a:ext cx="481012" cy="306388"/>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75" name="Line 68"/>
          <p:cNvSpPr>
            <a:spLocks noChangeShapeType="1"/>
          </p:cNvSpPr>
          <p:nvPr/>
        </p:nvSpPr>
        <p:spPr bwMode="auto">
          <a:xfrm>
            <a:off x="6608763" y="1514475"/>
            <a:ext cx="241300" cy="306388"/>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76" name="Line 69"/>
          <p:cNvSpPr>
            <a:spLocks noChangeShapeType="1"/>
          </p:cNvSpPr>
          <p:nvPr/>
        </p:nvSpPr>
        <p:spPr bwMode="auto">
          <a:xfrm>
            <a:off x="4124325" y="3043238"/>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77" name="Line 70"/>
          <p:cNvSpPr>
            <a:spLocks noChangeShapeType="1"/>
          </p:cNvSpPr>
          <p:nvPr/>
        </p:nvSpPr>
        <p:spPr bwMode="auto">
          <a:xfrm>
            <a:off x="4124325" y="2227263"/>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7778" name="Text Box 71"/>
          <p:cNvSpPr txBox="1">
            <a:spLocks noChangeArrowheads="1"/>
          </p:cNvSpPr>
          <p:nvPr/>
        </p:nvSpPr>
        <p:spPr bwMode="auto">
          <a:xfrm>
            <a:off x="3775075" y="3044825"/>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37779" name="Text Box 72"/>
          <p:cNvSpPr txBox="1">
            <a:spLocks noChangeArrowheads="1"/>
          </p:cNvSpPr>
          <p:nvPr/>
        </p:nvSpPr>
        <p:spPr bwMode="auto">
          <a:xfrm>
            <a:off x="6334125" y="1809750"/>
            <a:ext cx="869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CRLF</a:t>
            </a:r>
          </a:p>
        </p:txBody>
      </p:sp>
      <p:sp>
        <p:nvSpPr>
          <p:cNvPr id="1737780" name="Text Box 73"/>
          <p:cNvSpPr txBox="1">
            <a:spLocks noChangeArrowheads="1"/>
          </p:cNvSpPr>
          <p:nvPr/>
        </p:nvSpPr>
        <p:spPr bwMode="auto">
          <a:xfrm>
            <a:off x="4621213" y="3051175"/>
            <a:ext cx="920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333399"/>
                </a:solidFill>
                <a:ea typeface="黑体" panose="02010609060101010101" pitchFamily="49" charset="-122"/>
              </a:rPr>
              <a:t>CRLF</a:t>
            </a:r>
          </a:p>
        </p:txBody>
      </p:sp>
      <p:sp>
        <p:nvSpPr>
          <p:cNvPr id="1737781" name="Text Box 74"/>
          <p:cNvSpPr txBox="1">
            <a:spLocks noChangeArrowheads="1"/>
          </p:cNvSpPr>
          <p:nvPr/>
        </p:nvSpPr>
        <p:spPr bwMode="auto">
          <a:xfrm>
            <a:off x="4627563" y="2241550"/>
            <a:ext cx="8715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CRLF</a:t>
            </a:r>
          </a:p>
        </p:txBody>
      </p:sp>
      <p:sp>
        <p:nvSpPr>
          <p:cNvPr id="1737782" name="Text Box 75"/>
          <p:cNvSpPr txBox="1">
            <a:spLocks noChangeArrowheads="1"/>
          </p:cNvSpPr>
          <p:nvPr/>
        </p:nvSpPr>
        <p:spPr bwMode="auto">
          <a:xfrm>
            <a:off x="2171700" y="3443288"/>
            <a:ext cx="871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CRLF</a:t>
            </a:r>
          </a:p>
        </p:txBody>
      </p:sp>
      <p:sp>
        <p:nvSpPr>
          <p:cNvPr id="1737783" name="Text Box 131"/>
          <p:cNvSpPr txBox="1">
            <a:spLocks noChangeArrowheads="1"/>
          </p:cNvSpPr>
          <p:nvPr/>
        </p:nvSpPr>
        <p:spPr bwMode="auto">
          <a:xfrm>
            <a:off x="398463" y="4995863"/>
            <a:ext cx="9012237"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solidFill>
                  <a:srgbClr val="0000FF"/>
                </a:solidFill>
                <a:latin typeface="Tahoma" panose="020B0604030504040204" pitchFamily="34" charset="0"/>
                <a:ea typeface="黑体" panose="02010609060101010101" pitchFamily="49" charset="-122"/>
              </a:rPr>
              <a:t>报文由三个部分组成，即</a:t>
            </a:r>
            <a:r>
              <a:rPr lang="zh-CN" altLang="en-US" sz="2800" b="1" dirty="0">
                <a:solidFill>
                  <a:srgbClr val="FF0000"/>
                </a:solidFill>
                <a:latin typeface="Tahoma" panose="020B0604030504040204" pitchFamily="34" charset="0"/>
                <a:ea typeface="黑体" panose="02010609060101010101" pitchFamily="49" charset="-122"/>
              </a:rPr>
              <a:t>开始行、首部行</a:t>
            </a:r>
            <a:r>
              <a:rPr lang="zh-CN" altLang="en-US" sz="2800" b="1" dirty="0">
                <a:solidFill>
                  <a:srgbClr val="0000FF"/>
                </a:solidFill>
                <a:latin typeface="Tahoma" panose="020B0604030504040204" pitchFamily="34" charset="0"/>
                <a:ea typeface="黑体" panose="02010609060101010101" pitchFamily="49" charset="-122"/>
              </a:rPr>
              <a:t>和</a:t>
            </a:r>
            <a:r>
              <a:rPr lang="zh-CN" altLang="en-US" sz="2800" b="1" dirty="0">
                <a:solidFill>
                  <a:srgbClr val="FF0000"/>
                </a:solidFill>
                <a:latin typeface="Tahoma" panose="020B0604030504040204" pitchFamily="34" charset="0"/>
                <a:ea typeface="黑体" panose="02010609060101010101" pitchFamily="49" charset="-122"/>
              </a:rPr>
              <a:t>实体主体。</a:t>
            </a:r>
          </a:p>
          <a:p>
            <a:r>
              <a:rPr lang="zh-CN" altLang="en-US" sz="2800" b="1" dirty="0">
                <a:solidFill>
                  <a:srgbClr val="0000FF"/>
                </a:solidFill>
                <a:latin typeface="Tahoma" panose="020B0604030504040204" pitchFamily="34" charset="0"/>
                <a:ea typeface="黑体" panose="02010609060101010101" pitchFamily="49" charset="-122"/>
              </a:rPr>
              <a:t>在请求报文中，开始行就是请求行</a:t>
            </a:r>
            <a:r>
              <a:rPr lang="zh-CN" altLang="en-US" sz="2800" b="1" dirty="0" smtClean="0">
                <a:solidFill>
                  <a:srgbClr val="0000FF"/>
                </a:solidFill>
                <a:latin typeface="Tahoma" panose="020B0604030504040204" pitchFamily="34" charset="0"/>
                <a:ea typeface="黑体" panose="02010609060101010101" pitchFamily="49" charset="-122"/>
              </a:rPr>
              <a:t>。</a:t>
            </a:r>
            <a:endParaRPr lang="en-US" altLang="zh-CN" sz="2800" b="1" dirty="0" smtClean="0">
              <a:solidFill>
                <a:srgbClr val="0000FF"/>
              </a:solidFill>
              <a:latin typeface="Tahoma" panose="020B0604030504040204" pitchFamily="34" charset="0"/>
              <a:ea typeface="黑体" panose="02010609060101010101" pitchFamily="49" charset="-122"/>
            </a:endParaRPr>
          </a:p>
          <a:p>
            <a:r>
              <a:rPr lang="zh-CN" altLang="en-US" sz="2800" b="1" dirty="0">
                <a:solidFill>
                  <a:srgbClr val="FF0000"/>
                </a:solidFill>
                <a:latin typeface="Tahoma" panose="020B0604030504040204" pitchFamily="34" charset="0"/>
                <a:ea typeface="黑体" panose="02010609060101010101" pitchFamily="49" charset="-122"/>
              </a:rPr>
              <a:t>首部</a:t>
            </a:r>
            <a:r>
              <a:rPr lang="zh-CN" altLang="en-US" sz="2800" b="1" dirty="0" smtClean="0">
                <a:solidFill>
                  <a:srgbClr val="FF0000"/>
                </a:solidFill>
                <a:latin typeface="Tahoma" panose="020B0604030504040204" pitchFamily="34" charset="0"/>
                <a:ea typeface="黑体" panose="02010609060101010101" pitchFamily="49" charset="-122"/>
              </a:rPr>
              <a:t>行</a:t>
            </a:r>
            <a:r>
              <a:rPr lang="zh-CN" altLang="en-US" sz="2800" b="1" dirty="0" smtClean="0">
                <a:solidFill>
                  <a:srgbClr val="0000FF"/>
                </a:solidFill>
                <a:latin typeface="Tahoma" panose="020B0604030504040204" pitchFamily="34" charset="0"/>
                <a:ea typeface="黑体" panose="02010609060101010101" pitchFamily="49" charset="-122"/>
              </a:rPr>
              <a:t>：说明浏览器、服务器或是报文主题的一些信息，可多行，每行结束都回车换行。</a:t>
            </a:r>
            <a:endParaRPr lang="zh-CN" altLang="en-US" sz="2800" b="1" dirty="0">
              <a:solidFill>
                <a:srgbClr val="0000FF"/>
              </a:solidFill>
              <a:latin typeface="Tahoma" panose="020B0604030504040204" pitchFamily="34" charset="0"/>
              <a:ea typeface="黑体" panose="02010609060101010101" pitchFamily="49" charset="-122"/>
            </a:endParaRPr>
          </a:p>
        </p:txBody>
      </p:sp>
      <p:grpSp>
        <p:nvGrpSpPr>
          <p:cNvPr id="564358" name="Group 134"/>
          <p:cNvGrpSpPr>
            <a:grpSpLocks/>
          </p:cNvGrpSpPr>
          <p:nvPr/>
        </p:nvGrpSpPr>
        <p:grpSpPr bwMode="auto">
          <a:xfrm>
            <a:off x="533400" y="1736725"/>
            <a:ext cx="8524875" cy="576263"/>
            <a:chOff x="236" y="1026"/>
            <a:chExt cx="4957" cy="363"/>
          </a:xfrm>
        </p:grpSpPr>
        <p:sp>
          <p:nvSpPr>
            <p:cNvPr id="1737785" name="Rectangle 132"/>
            <p:cNvSpPr>
              <a:spLocks noChangeArrowheads="1"/>
            </p:cNvSpPr>
            <p:nvPr/>
          </p:nvSpPr>
          <p:spPr bwMode="auto">
            <a:xfrm>
              <a:off x="1111" y="1026"/>
              <a:ext cx="4082" cy="363"/>
            </a:xfrm>
            <a:prstGeom prst="rect">
              <a:avLst/>
            </a:prstGeom>
            <a:noFill/>
            <a:ln w="571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737786" name="Text Box 133"/>
            <p:cNvSpPr txBox="1">
              <a:spLocks noChangeArrowheads="1"/>
            </p:cNvSpPr>
            <p:nvPr/>
          </p:nvSpPr>
          <p:spPr bwMode="auto">
            <a:xfrm>
              <a:off x="236" y="1027"/>
              <a:ext cx="73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333399"/>
                  </a:solidFill>
                  <a:latin typeface="Tahoma" panose="020B0604030504040204" pitchFamily="34" charset="0"/>
                  <a:ea typeface="黑体" panose="02010609060101010101" pitchFamily="49" charset="-122"/>
                </a:rPr>
                <a:t>开始行</a:t>
              </a:r>
            </a:p>
          </p:txBody>
        </p:sp>
      </p:grpSp>
      <p:sp>
        <p:nvSpPr>
          <p:cNvPr id="17377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CC353BF-D3DD-4F52-BA14-66FBD6FA0CB7}" type="slidenum">
              <a:rPr lang="zh-CN" altLang="en-US" smtClean="0"/>
              <a:pPr eaLnBrk="1" hangingPunct="1"/>
              <a:t>41</a:t>
            </a:fld>
            <a:endParaRPr lang="en-US" altLang="zh-CN" smtClean="0"/>
          </a:p>
        </p:txBody>
      </p:sp>
      <p:sp>
        <p:nvSpPr>
          <p:cNvPr id="17377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repeatCount="3000" fill="hold" nodeType="afterEffect">
                                  <p:stCondLst>
                                    <p:cond delay="0"/>
                                  </p:stCondLst>
                                  <p:childTnLst>
                                    <p:set>
                                      <p:cBhvr>
                                        <p:cTn id="6" dur="1" fill="hold">
                                          <p:stCondLst>
                                            <p:cond delay="0"/>
                                          </p:stCondLst>
                                        </p:cTn>
                                        <p:tgtEl>
                                          <p:spTgt spid="564358"/>
                                        </p:tgtEl>
                                        <p:attrNameLst>
                                          <p:attrName>style.visibility</p:attrName>
                                        </p:attrNameLst>
                                      </p:cBhvr>
                                      <p:to>
                                        <p:strVal val="visible"/>
                                      </p:to>
                                    </p:set>
                                  </p:childTnLst>
                                </p:cTn>
                              </p:par>
                            </p:childTnLst>
                          </p:cTn>
                        </p:par>
                        <p:par>
                          <p:cTn id="7" fill="hold" nodeType="afterGroup">
                            <p:stCondLst>
                              <p:cond delay="3"/>
                            </p:stCondLst>
                            <p:childTnLst>
                              <p:par>
                                <p:cTn id="8" presetID="35" presetClass="emph" presetSubtype="0" repeatCount="3000" fill="hold" nodeType="afterEffect">
                                  <p:stCondLst>
                                    <p:cond delay="500"/>
                                  </p:stCondLst>
                                  <p:childTnLst>
                                    <p:anim calcmode="discrete" valueType="str">
                                      <p:cBhvr>
                                        <p:cTn id="9" dur="1000" fill="hold"/>
                                        <p:tgtEl>
                                          <p:spTgt spid="56435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9777" name="Rectangle 2"/>
          <p:cNvSpPr>
            <a:spLocks noChangeArrowheads="1"/>
          </p:cNvSpPr>
          <p:nvPr/>
        </p:nvSpPr>
        <p:spPr bwMode="auto">
          <a:xfrm>
            <a:off x="2041525" y="3065463"/>
            <a:ext cx="3398838" cy="407987"/>
          </a:xfrm>
          <a:prstGeom prst="rect">
            <a:avLst/>
          </a:prstGeom>
          <a:solidFill>
            <a:srgbClr val="FFFF99"/>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39778" name="Rectangle 3"/>
          <p:cNvSpPr>
            <a:spLocks noChangeArrowheads="1"/>
          </p:cNvSpPr>
          <p:nvPr/>
        </p:nvSpPr>
        <p:spPr bwMode="auto">
          <a:xfrm>
            <a:off x="2041525" y="2249488"/>
            <a:ext cx="3398838" cy="407987"/>
          </a:xfrm>
          <a:prstGeom prst="rect">
            <a:avLst/>
          </a:prstGeom>
          <a:solidFill>
            <a:srgbClr val="FFFF99"/>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39779" name="Rectangle 4"/>
          <p:cNvSpPr>
            <a:spLocks noChangeArrowheads="1"/>
          </p:cNvSpPr>
          <p:nvPr/>
        </p:nvSpPr>
        <p:spPr bwMode="auto">
          <a:xfrm>
            <a:off x="2041525" y="1843088"/>
            <a:ext cx="5202238" cy="406400"/>
          </a:xfrm>
          <a:prstGeom prst="rect">
            <a:avLst/>
          </a:prstGeom>
          <a:solidFill>
            <a:srgbClr val="FFFF99"/>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39780" name="Rectangle 5"/>
          <p:cNvSpPr>
            <a:spLocks noGrp="1" noChangeArrowheads="1"/>
          </p:cNvSpPr>
          <p:nvPr>
            <p:ph type="title"/>
          </p:nvPr>
        </p:nvSpPr>
        <p:spPr/>
        <p:txBody>
          <a:bodyPr/>
          <a:lstStyle/>
          <a:p>
            <a:pPr algn="ctr"/>
            <a:r>
              <a:rPr lang="en-US" altLang="zh-CN" smtClean="0">
                <a:ea typeface="黑体" panose="02010609060101010101" pitchFamily="49" charset="-122"/>
              </a:rPr>
              <a:t>HTTP </a:t>
            </a:r>
            <a:r>
              <a:rPr lang="zh-CN" altLang="zh-CN" smtClean="0">
                <a:ea typeface="黑体" panose="02010609060101010101" pitchFamily="49" charset="-122"/>
              </a:rPr>
              <a:t>的报文结构（请求报文） </a:t>
            </a:r>
          </a:p>
        </p:txBody>
      </p:sp>
      <p:sp>
        <p:nvSpPr>
          <p:cNvPr id="1739781" name="Rectangle 6"/>
          <p:cNvSpPr>
            <a:spLocks noChangeArrowheads="1"/>
          </p:cNvSpPr>
          <p:nvPr/>
        </p:nvSpPr>
        <p:spPr bwMode="auto">
          <a:xfrm>
            <a:off x="4478338" y="3074988"/>
            <a:ext cx="962025" cy="388937"/>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39782" name="Rectangle 7"/>
          <p:cNvSpPr>
            <a:spLocks noChangeArrowheads="1"/>
          </p:cNvSpPr>
          <p:nvPr/>
        </p:nvSpPr>
        <p:spPr bwMode="auto">
          <a:xfrm>
            <a:off x="2047875" y="3492500"/>
            <a:ext cx="985838" cy="3873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39783" name="Rectangle 8"/>
          <p:cNvSpPr>
            <a:spLocks noChangeArrowheads="1"/>
          </p:cNvSpPr>
          <p:nvPr/>
        </p:nvSpPr>
        <p:spPr bwMode="auto">
          <a:xfrm>
            <a:off x="4478338" y="2259013"/>
            <a:ext cx="962025" cy="39846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39784" name="Rectangle 9"/>
          <p:cNvSpPr>
            <a:spLocks noChangeArrowheads="1"/>
          </p:cNvSpPr>
          <p:nvPr/>
        </p:nvSpPr>
        <p:spPr bwMode="auto">
          <a:xfrm>
            <a:off x="3876675" y="3074988"/>
            <a:ext cx="130175" cy="39846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39785" name="Rectangle 10"/>
          <p:cNvSpPr>
            <a:spLocks noChangeArrowheads="1"/>
          </p:cNvSpPr>
          <p:nvPr/>
        </p:nvSpPr>
        <p:spPr bwMode="auto">
          <a:xfrm>
            <a:off x="3876675" y="2259013"/>
            <a:ext cx="120650" cy="39846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39786" name="Line 11"/>
          <p:cNvSpPr>
            <a:spLocks noChangeShapeType="1"/>
          </p:cNvSpPr>
          <p:nvPr/>
        </p:nvSpPr>
        <p:spPr bwMode="auto">
          <a:xfrm>
            <a:off x="3727450" y="3065463"/>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787" name="Line 12"/>
          <p:cNvSpPr>
            <a:spLocks noChangeShapeType="1"/>
          </p:cNvSpPr>
          <p:nvPr/>
        </p:nvSpPr>
        <p:spPr bwMode="auto">
          <a:xfrm>
            <a:off x="4478338" y="3065463"/>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788" name="Line 13"/>
          <p:cNvSpPr>
            <a:spLocks noChangeShapeType="1"/>
          </p:cNvSpPr>
          <p:nvPr/>
        </p:nvSpPr>
        <p:spPr bwMode="auto">
          <a:xfrm>
            <a:off x="3876675" y="3065463"/>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789" name="Rectangle 14"/>
          <p:cNvSpPr>
            <a:spLocks noChangeArrowheads="1"/>
          </p:cNvSpPr>
          <p:nvPr/>
        </p:nvSpPr>
        <p:spPr bwMode="auto">
          <a:xfrm>
            <a:off x="6251575" y="1852613"/>
            <a:ext cx="992188"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39790" name="Rectangle 15"/>
          <p:cNvSpPr>
            <a:spLocks noChangeArrowheads="1"/>
          </p:cNvSpPr>
          <p:nvPr/>
        </p:nvSpPr>
        <p:spPr bwMode="auto">
          <a:xfrm>
            <a:off x="4808538" y="1852613"/>
            <a:ext cx="120650"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39791" name="Rectangle 16"/>
          <p:cNvSpPr>
            <a:spLocks noChangeArrowheads="1"/>
          </p:cNvSpPr>
          <p:nvPr/>
        </p:nvSpPr>
        <p:spPr bwMode="auto">
          <a:xfrm>
            <a:off x="3365500" y="1852613"/>
            <a:ext cx="120650"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39792" name="Text Box 17"/>
          <p:cNvSpPr txBox="1">
            <a:spLocks noChangeArrowheads="1"/>
          </p:cNvSpPr>
          <p:nvPr/>
        </p:nvSpPr>
        <p:spPr bwMode="auto">
          <a:xfrm>
            <a:off x="2227263" y="1831975"/>
            <a:ext cx="909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方   法</a:t>
            </a:r>
          </a:p>
        </p:txBody>
      </p:sp>
      <p:sp>
        <p:nvSpPr>
          <p:cNvPr id="1739793" name="Line 18"/>
          <p:cNvSpPr>
            <a:spLocks noChangeShapeType="1"/>
          </p:cNvSpPr>
          <p:nvPr/>
        </p:nvSpPr>
        <p:spPr bwMode="auto">
          <a:xfrm>
            <a:off x="3365500" y="1843088"/>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794" name="Line 19"/>
          <p:cNvSpPr>
            <a:spLocks noChangeShapeType="1"/>
          </p:cNvSpPr>
          <p:nvPr/>
        </p:nvSpPr>
        <p:spPr bwMode="auto">
          <a:xfrm>
            <a:off x="3486150" y="1843088"/>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795" name="Line 20"/>
          <p:cNvSpPr>
            <a:spLocks noChangeShapeType="1"/>
          </p:cNvSpPr>
          <p:nvPr/>
        </p:nvSpPr>
        <p:spPr bwMode="auto">
          <a:xfrm>
            <a:off x="4808538" y="1843088"/>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796" name="Line 21"/>
          <p:cNvSpPr>
            <a:spLocks noChangeShapeType="1"/>
          </p:cNvSpPr>
          <p:nvPr/>
        </p:nvSpPr>
        <p:spPr bwMode="auto">
          <a:xfrm>
            <a:off x="4929188" y="1843088"/>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797" name="Line 22"/>
          <p:cNvSpPr>
            <a:spLocks noChangeShapeType="1"/>
          </p:cNvSpPr>
          <p:nvPr/>
        </p:nvSpPr>
        <p:spPr bwMode="auto">
          <a:xfrm>
            <a:off x="6251575" y="1843088"/>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798" name="Text Box 23"/>
          <p:cNvSpPr txBox="1">
            <a:spLocks noChangeArrowheads="1"/>
          </p:cNvSpPr>
          <p:nvPr/>
        </p:nvSpPr>
        <p:spPr bwMode="auto">
          <a:xfrm>
            <a:off x="3716338" y="1831975"/>
            <a:ext cx="714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URL</a:t>
            </a:r>
          </a:p>
        </p:txBody>
      </p:sp>
      <p:sp>
        <p:nvSpPr>
          <p:cNvPr id="1739799" name="Text Box 24"/>
          <p:cNvSpPr txBox="1">
            <a:spLocks noChangeArrowheads="1"/>
          </p:cNvSpPr>
          <p:nvPr/>
        </p:nvSpPr>
        <p:spPr bwMode="auto">
          <a:xfrm>
            <a:off x="5065713" y="1831975"/>
            <a:ext cx="909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版   本</a:t>
            </a:r>
          </a:p>
        </p:txBody>
      </p:sp>
      <p:sp>
        <p:nvSpPr>
          <p:cNvPr id="1739800" name="Text Box 25"/>
          <p:cNvSpPr txBox="1">
            <a:spLocks noChangeArrowheads="1"/>
          </p:cNvSpPr>
          <p:nvPr/>
        </p:nvSpPr>
        <p:spPr bwMode="auto">
          <a:xfrm>
            <a:off x="2049463" y="2244725"/>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首部字段名</a:t>
            </a:r>
          </a:p>
        </p:txBody>
      </p:sp>
      <p:sp>
        <p:nvSpPr>
          <p:cNvPr id="1739801" name="Line 26"/>
          <p:cNvSpPr>
            <a:spLocks noChangeShapeType="1"/>
          </p:cNvSpPr>
          <p:nvPr/>
        </p:nvSpPr>
        <p:spPr bwMode="auto">
          <a:xfrm>
            <a:off x="3727450" y="2249488"/>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802" name="Line 27"/>
          <p:cNvSpPr>
            <a:spLocks noChangeShapeType="1"/>
          </p:cNvSpPr>
          <p:nvPr/>
        </p:nvSpPr>
        <p:spPr bwMode="auto">
          <a:xfrm>
            <a:off x="4478338" y="2249488"/>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803" name="Text Box 28"/>
          <p:cNvSpPr txBox="1">
            <a:spLocks noChangeArrowheads="1"/>
          </p:cNvSpPr>
          <p:nvPr/>
        </p:nvSpPr>
        <p:spPr bwMode="auto">
          <a:xfrm>
            <a:off x="5689600" y="266065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首部行</a:t>
            </a:r>
          </a:p>
        </p:txBody>
      </p:sp>
      <p:sp>
        <p:nvSpPr>
          <p:cNvPr id="1739804" name="Line 29"/>
          <p:cNvSpPr>
            <a:spLocks noChangeShapeType="1"/>
          </p:cNvSpPr>
          <p:nvPr/>
        </p:nvSpPr>
        <p:spPr bwMode="auto">
          <a:xfrm>
            <a:off x="3876675" y="2249488"/>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805" name="Text Box 30"/>
          <p:cNvSpPr txBox="1">
            <a:spLocks noChangeArrowheads="1"/>
          </p:cNvSpPr>
          <p:nvPr/>
        </p:nvSpPr>
        <p:spPr bwMode="auto">
          <a:xfrm>
            <a:off x="3648075" y="2246313"/>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39806" name="Text Box 31"/>
          <p:cNvSpPr txBox="1">
            <a:spLocks noChangeArrowheads="1"/>
          </p:cNvSpPr>
          <p:nvPr/>
        </p:nvSpPr>
        <p:spPr bwMode="auto">
          <a:xfrm>
            <a:off x="4008438" y="2252663"/>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值</a:t>
            </a:r>
          </a:p>
        </p:txBody>
      </p:sp>
      <p:sp>
        <p:nvSpPr>
          <p:cNvPr id="1739807" name="Text Box 32"/>
          <p:cNvSpPr txBox="1">
            <a:spLocks noChangeArrowheads="1"/>
          </p:cNvSpPr>
          <p:nvPr/>
        </p:nvSpPr>
        <p:spPr bwMode="auto">
          <a:xfrm>
            <a:off x="2044700" y="3052763"/>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首部字段名</a:t>
            </a:r>
          </a:p>
        </p:txBody>
      </p:sp>
      <p:sp>
        <p:nvSpPr>
          <p:cNvPr id="1739808" name="Text Box 33"/>
          <p:cNvSpPr txBox="1">
            <a:spLocks noChangeArrowheads="1"/>
          </p:cNvSpPr>
          <p:nvPr/>
        </p:nvSpPr>
        <p:spPr bwMode="auto">
          <a:xfrm>
            <a:off x="4033838" y="3065463"/>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值</a:t>
            </a:r>
          </a:p>
        </p:txBody>
      </p:sp>
      <p:sp>
        <p:nvSpPr>
          <p:cNvPr id="1739809" name="Text Box 34"/>
          <p:cNvSpPr txBox="1">
            <a:spLocks noChangeArrowheads="1"/>
          </p:cNvSpPr>
          <p:nvPr/>
        </p:nvSpPr>
        <p:spPr bwMode="auto">
          <a:xfrm>
            <a:off x="3606800" y="3684588"/>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39810" name="Text Box 35"/>
          <p:cNvSpPr txBox="1">
            <a:spLocks noChangeArrowheads="1"/>
          </p:cNvSpPr>
          <p:nvPr/>
        </p:nvSpPr>
        <p:spPr bwMode="auto">
          <a:xfrm rot="-5400000">
            <a:off x="2871787" y="2687638"/>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39811" name="AutoShape 36"/>
          <p:cNvSpPr>
            <a:spLocks/>
          </p:cNvSpPr>
          <p:nvPr/>
        </p:nvSpPr>
        <p:spPr bwMode="auto">
          <a:xfrm>
            <a:off x="5514975" y="2301875"/>
            <a:ext cx="241300" cy="1171575"/>
          </a:xfrm>
          <a:prstGeom prst="rightBrace">
            <a:avLst>
              <a:gd name="adj1" fmla="val 43832"/>
              <a:gd name="adj2" fmla="val 50000"/>
            </a:avLst>
          </a:prstGeom>
          <a:noFill/>
          <a:ln w="1905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739812" name="Rectangle 37"/>
          <p:cNvSpPr>
            <a:spLocks noChangeArrowheads="1"/>
          </p:cNvSpPr>
          <p:nvPr/>
        </p:nvSpPr>
        <p:spPr bwMode="auto">
          <a:xfrm>
            <a:off x="2041525" y="3879850"/>
            <a:ext cx="5413375" cy="917575"/>
          </a:xfrm>
          <a:prstGeom prst="rect">
            <a:avLst/>
          </a:prstGeom>
          <a:solidFill>
            <a:srgbClr val="FFCCFF"/>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39813" name="Text Box 38"/>
          <p:cNvSpPr txBox="1">
            <a:spLocks noChangeArrowheads="1"/>
          </p:cNvSpPr>
          <p:nvPr/>
        </p:nvSpPr>
        <p:spPr bwMode="auto">
          <a:xfrm>
            <a:off x="3832225" y="3973513"/>
            <a:ext cx="17224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333399"/>
                </a:solidFill>
                <a:ea typeface="黑体" panose="02010609060101010101" pitchFamily="49" charset="-122"/>
              </a:rPr>
              <a:t>实体主体</a:t>
            </a:r>
          </a:p>
          <a:p>
            <a:pPr algn="ctr"/>
            <a:r>
              <a:rPr lang="zh-CN" altLang="en-US" sz="2000" b="1">
                <a:solidFill>
                  <a:srgbClr val="333399"/>
                </a:solidFill>
                <a:ea typeface="黑体" panose="02010609060101010101" pitchFamily="49" charset="-122"/>
              </a:rPr>
              <a:t>（通常不用）</a:t>
            </a:r>
          </a:p>
        </p:txBody>
      </p:sp>
      <p:sp>
        <p:nvSpPr>
          <p:cNvPr id="1739814" name="Text Box 39"/>
          <p:cNvSpPr txBox="1">
            <a:spLocks noChangeArrowheads="1"/>
          </p:cNvSpPr>
          <p:nvPr/>
        </p:nvSpPr>
        <p:spPr bwMode="auto">
          <a:xfrm>
            <a:off x="7204075" y="1831975"/>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请求行</a:t>
            </a:r>
          </a:p>
        </p:txBody>
      </p:sp>
      <p:sp>
        <p:nvSpPr>
          <p:cNvPr id="1739815" name="Line 40"/>
          <p:cNvSpPr>
            <a:spLocks noChangeShapeType="1"/>
          </p:cNvSpPr>
          <p:nvPr/>
        </p:nvSpPr>
        <p:spPr bwMode="auto">
          <a:xfrm>
            <a:off x="2041525" y="2657475"/>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816" name="Line 41"/>
          <p:cNvSpPr>
            <a:spLocks noChangeShapeType="1"/>
          </p:cNvSpPr>
          <p:nvPr/>
        </p:nvSpPr>
        <p:spPr bwMode="auto">
          <a:xfrm>
            <a:off x="2041525" y="3473450"/>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817" name="Line 42"/>
          <p:cNvSpPr>
            <a:spLocks noChangeShapeType="1"/>
          </p:cNvSpPr>
          <p:nvPr/>
        </p:nvSpPr>
        <p:spPr bwMode="auto">
          <a:xfrm>
            <a:off x="3033713" y="3473450"/>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818" name="Line 43"/>
          <p:cNvSpPr>
            <a:spLocks noChangeShapeType="1"/>
          </p:cNvSpPr>
          <p:nvPr/>
        </p:nvSpPr>
        <p:spPr bwMode="auto">
          <a:xfrm>
            <a:off x="5440363" y="2657475"/>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819" name="Text Box 44"/>
          <p:cNvSpPr txBox="1">
            <a:spLocks noChangeArrowheads="1"/>
          </p:cNvSpPr>
          <p:nvPr/>
        </p:nvSpPr>
        <p:spPr bwMode="auto">
          <a:xfrm>
            <a:off x="3736975" y="1182688"/>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空格</a:t>
            </a:r>
          </a:p>
        </p:txBody>
      </p:sp>
      <p:sp>
        <p:nvSpPr>
          <p:cNvPr id="1739820" name="Text Box 45"/>
          <p:cNvSpPr txBox="1">
            <a:spLocks noChangeArrowheads="1"/>
          </p:cNvSpPr>
          <p:nvPr/>
        </p:nvSpPr>
        <p:spPr bwMode="auto">
          <a:xfrm>
            <a:off x="5835650" y="1182688"/>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回车换行</a:t>
            </a:r>
          </a:p>
        </p:txBody>
      </p:sp>
      <p:sp>
        <p:nvSpPr>
          <p:cNvPr id="1739821" name="Line 46"/>
          <p:cNvSpPr>
            <a:spLocks noChangeShapeType="1"/>
          </p:cNvSpPr>
          <p:nvPr/>
        </p:nvSpPr>
        <p:spPr bwMode="auto">
          <a:xfrm>
            <a:off x="4397375" y="1536700"/>
            <a:ext cx="442913" cy="306388"/>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822" name="Line 47"/>
          <p:cNvSpPr>
            <a:spLocks noChangeShapeType="1"/>
          </p:cNvSpPr>
          <p:nvPr/>
        </p:nvSpPr>
        <p:spPr bwMode="auto">
          <a:xfrm flipH="1">
            <a:off x="3395663" y="1536700"/>
            <a:ext cx="481012" cy="306388"/>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823" name="Line 48"/>
          <p:cNvSpPr>
            <a:spLocks noChangeShapeType="1"/>
          </p:cNvSpPr>
          <p:nvPr/>
        </p:nvSpPr>
        <p:spPr bwMode="auto">
          <a:xfrm>
            <a:off x="6481763" y="1536700"/>
            <a:ext cx="241300" cy="306388"/>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824" name="Line 49"/>
          <p:cNvSpPr>
            <a:spLocks noChangeShapeType="1"/>
          </p:cNvSpPr>
          <p:nvPr/>
        </p:nvSpPr>
        <p:spPr bwMode="auto">
          <a:xfrm>
            <a:off x="3997325" y="3065463"/>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825" name="Line 50"/>
          <p:cNvSpPr>
            <a:spLocks noChangeShapeType="1"/>
          </p:cNvSpPr>
          <p:nvPr/>
        </p:nvSpPr>
        <p:spPr bwMode="auto">
          <a:xfrm>
            <a:off x="3997325" y="2249488"/>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39826" name="Text Box 51"/>
          <p:cNvSpPr txBox="1">
            <a:spLocks noChangeArrowheads="1"/>
          </p:cNvSpPr>
          <p:nvPr/>
        </p:nvSpPr>
        <p:spPr bwMode="auto">
          <a:xfrm>
            <a:off x="3648075" y="3067050"/>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39827" name="Text Box 52"/>
          <p:cNvSpPr txBox="1">
            <a:spLocks noChangeArrowheads="1"/>
          </p:cNvSpPr>
          <p:nvPr/>
        </p:nvSpPr>
        <p:spPr bwMode="auto">
          <a:xfrm>
            <a:off x="6207125" y="1831975"/>
            <a:ext cx="869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CRLF</a:t>
            </a:r>
          </a:p>
        </p:txBody>
      </p:sp>
      <p:sp>
        <p:nvSpPr>
          <p:cNvPr id="1739828" name="Text Box 53"/>
          <p:cNvSpPr txBox="1">
            <a:spLocks noChangeArrowheads="1"/>
          </p:cNvSpPr>
          <p:nvPr/>
        </p:nvSpPr>
        <p:spPr bwMode="auto">
          <a:xfrm>
            <a:off x="4494213" y="3073400"/>
            <a:ext cx="919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333399"/>
                </a:solidFill>
                <a:ea typeface="黑体" panose="02010609060101010101" pitchFamily="49" charset="-122"/>
              </a:rPr>
              <a:t>CRLF</a:t>
            </a:r>
          </a:p>
        </p:txBody>
      </p:sp>
      <p:sp>
        <p:nvSpPr>
          <p:cNvPr id="1739829" name="Text Box 54"/>
          <p:cNvSpPr txBox="1">
            <a:spLocks noChangeArrowheads="1"/>
          </p:cNvSpPr>
          <p:nvPr/>
        </p:nvSpPr>
        <p:spPr bwMode="auto">
          <a:xfrm>
            <a:off x="4500563" y="2263775"/>
            <a:ext cx="8715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CRLF</a:t>
            </a:r>
          </a:p>
        </p:txBody>
      </p:sp>
      <p:sp>
        <p:nvSpPr>
          <p:cNvPr id="1739830" name="Text Box 55"/>
          <p:cNvSpPr txBox="1">
            <a:spLocks noChangeArrowheads="1"/>
          </p:cNvSpPr>
          <p:nvPr/>
        </p:nvSpPr>
        <p:spPr bwMode="auto">
          <a:xfrm>
            <a:off x="2044700" y="3465513"/>
            <a:ext cx="871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CRLF</a:t>
            </a:r>
          </a:p>
        </p:txBody>
      </p:sp>
      <p:sp>
        <p:nvSpPr>
          <p:cNvPr id="1739831" name="Text Box 56"/>
          <p:cNvSpPr txBox="1">
            <a:spLocks noChangeArrowheads="1"/>
          </p:cNvSpPr>
          <p:nvPr/>
        </p:nvSpPr>
        <p:spPr bwMode="auto">
          <a:xfrm>
            <a:off x="271463" y="4797425"/>
            <a:ext cx="93630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a:solidFill>
                  <a:srgbClr val="FF0000"/>
                </a:solidFill>
                <a:ea typeface="黑体" panose="02010609060101010101" pitchFamily="49" charset="-122"/>
              </a:rPr>
              <a:t>“</a:t>
            </a:r>
            <a:r>
              <a:rPr lang="zh-CN" altLang="en-US" sz="2800" b="1">
                <a:solidFill>
                  <a:srgbClr val="FF0000"/>
                </a:solidFill>
                <a:latin typeface="黑体" panose="02010609060101010101" pitchFamily="49" charset="-122"/>
                <a:ea typeface="黑体" panose="02010609060101010101" pitchFamily="49" charset="-122"/>
              </a:rPr>
              <a:t>方法</a:t>
            </a:r>
            <a:r>
              <a:rPr lang="zh-CN" altLang="en-US" sz="2800" b="1">
                <a:solidFill>
                  <a:srgbClr val="FF0000"/>
                </a:solidFill>
                <a:ea typeface="黑体" panose="02010609060101010101" pitchFamily="49" charset="-122"/>
              </a:rPr>
              <a:t>”</a:t>
            </a:r>
            <a:r>
              <a:rPr lang="zh-CN" altLang="en-US" sz="2800" b="1">
                <a:solidFill>
                  <a:srgbClr val="0000FF"/>
                </a:solidFill>
                <a:latin typeface="黑体" panose="02010609060101010101" pitchFamily="49" charset="-122"/>
                <a:ea typeface="黑体" panose="02010609060101010101" pitchFamily="49" charset="-122"/>
              </a:rPr>
              <a:t>是面向对象技术中使用的专门名词。所谓</a:t>
            </a:r>
            <a:r>
              <a:rPr lang="zh-CN" altLang="en-US" sz="2800" b="1">
                <a:solidFill>
                  <a:srgbClr val="0000FF"/>
                </a:solidFill>
                <a:ea typeface="黑体" panose="02010609060101010101" pitchFamily="49" charset="-122"/>
              </a:rPr>
              <a:t>“</a:t>
            </a:r>
            <a:r>
              <a:rPr lang="zh-CN" altLang="en-US" sz="2800" b="1">
                <a:solidFill>
                  <a:srgbClr val="0000FF"/>
                </a:solidFill>
                <a:latin typeface="黑体" panose="02010609060101010101" pitchFamily="49" charset="-122"/>
                <a:ea typeface="黑体" panose="02010609060101010101" pitchFamily="49" charset="-122"/>
              </a:rPr>
              <a:t>方法</a:t>
            </a:r>
            <a:r>
              <a:rPr lang="zh-CN" altLang="en-US" sz="2800" b="1">
                <a:solidFill>
                  <a:srgbClr val="0000FF"/>
                </a:solidFill>
                <a:ea typeface="黑体" panose="02010609060101010101" pitchFamily="49" charset="-122"/>
              </a:rPr>
              <a:t>”</a:t>
            </a:r>
            <a:r>
              <a:rPr lang="zh-CN" altLang="en-US" sz="2800" b="1">
                <a:solidFill>
                  <a:srgbClr val="0000FF"/>
                </a:solidFill>
                <a:latin typeface="黑体" panose="02010609060101010101" pitchFamily="49" charset="-122"/>
                <a:ea typeface="黑体" panose="02010609060101010101" pitchFamily="49" charset="-122"/>
              </a:rPr>
              <a:t>就是</a:t>
            </a:r>
            <a:r>
              <a:rPr lang="zh-CN" altLang="en-US" sz="2800" b="1">
                <a:solidFill>
                  <a:srgbClr val="FF0000"/>
                </a:solidFill>
                <a:latin typeface="黑体" panose="02010609060101010101" pitchFamily="49" charset="-122"/>
                <a:ea typeface="黑体" panose="02010609060101010101" pitchFamily="49" charset="-122"/>
              </a:rPr>
              <a:t>对所请求的对象进行的操作，</a:t>
            </a:r>
            <a:r>
              <a:rPr lang="zh-CN" altLang="en-US" sz="2800" b="1">
                <a:solidFill>
                  <a:srgbClr val="0000FF"/>
                </a:solidFill>
                <a:latin typeface="黑体" panose="02010609060101010101" pitchFamily="49" charset="-122"/>
                <a:ea typeface="黑体" panose="02010609060101010101" pitchFamily="49" charset="-122"/>
              </a:rPr>
              <a:t>因此这些方法实际上也就是一些</a:t>
            </a:r>
            <a:r>
              <a:rPr lang="zh-CN" altLang="en-US" sz="2800" b="1">
                <a:solidFill>
                  <a:srgbClr val="FF0000"/>
                </a:solidFill>
                <a:latin typeface="黑体" panose="02010609060101010101" pitchFamily="49" charset="-122"/>
                <a:ea typeface="黑体" panose="02010609060101010101" pitchFamily="49" charset="-122"/>
              </a:rPr>
              <a:t>命令。</a:t>
            </a:r>
            <a:r>
              <a:rPr lang="zh-CN" altLang="en-US" sz="2800" b="1">
                <a:solidFill>
                  <a:srgbClr val="0000FF"/>
                </a:solidFill>
                <a:latin typeface="黑体" panose="02010609060101010101" pitchFamily="49" charset="-122"/>
                <a:ea typeface="黑体" panose="02010609060101010101" pitchFamily="49" charset="-122"/>
              </a:rPr>
              <a:t>因此，请求报文的类型是由它所采用的方法决定的。 </a:t>
            </a:r>
          </a:p>
        </p:txBody>
      </p:sp>
      <p:sp>
        <p:nvSpPr>
          <p:cNvPr id="653370" name="Rectangle 58"/>
          <p:cNvSpPr>
            <a:spLocks noChangeArrowheads="1"/>
          </p:cNvSpPr>
          <p:nvPr/>
        </p:nvSpPr>
        <p:spPr bwMode="auto">
          <a:xfrm>
            <a:off x="1911350" y="1758950"/>
            <a:ext cx="1558925" cy="576263"/>
          </a:xfrm>
          <a:prstGeom prst="rect">
            <a:avLst/>
          </a:prstGeom>
          <a:noFill/>
          <a:ln w="571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73983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0F27D71-09C0-4FD9-8D41-7AC19E06D93F}" type="slidenum">
              <a:rPr lang="zh-CN" altLang="en-US" smtClean="0"/>
              <a:pPr eaLnBrk="1" hangingPunct="1"/>
              <a:t>42</a:t>
            </a:fld>
            <a:endParaRPr lang="en-US" altLang="zh-CN" smtClean="0"/>
          </a:p>
        </p:txBody>
      </p:sp>
      <p:sp>
        <p:nvSpPr>
          <p:cNvPr id="173983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53370"/>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65337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3370" grpId="0" animBg="1"/>
      <p:bldP spid="653370"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82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HTTP </a:t>
            </a:r>
            <a:r>
              <a:rPr lang="zh-CN" altLang="en-US" smtClean="0">
                <a:ea typeface="黑体" panose="02010609060101010101" pitchFamily="49" charset="-122"/>
              </a:rPr>
              <a:t>请求报文的一些方法 </a:t>
            </a:r>
          </a:p>
        </p:txBody>
      </p:sp>
      <p:sp>
        <p:nvSpPr>
          <p:cNvPr id="1741826" name="Rectangle 3"/>
          <p:cNvSpPr>
            <a:spLocks noGrp="1" noChangeArrowheads="1"/>
          </p:cNvSpPr>
          <p:nvPr>
            <p:ph idx="1"/>
          </p:nvPr>
        </p:nvSpPr>
        <p:spPr>
          <a:xfrm>
            <a:off x="495300" y="1196975"/>
            <a:ext cx="9066213" cy="4933950"/>
          </a:xfrm>
        </p:spPr>
        <p:txBody>
          <a:bodyPr/>
          <a:lstStyle/>
          <a:p>
            <a:pPr>
              <a:lnSpc>
                <a:spcPct val="90000"/>
              </a:lnSpc>
              <a:spcAft>
                <a:spcPct val="30000"/>
              </a:spcAft>
              <a:buFont typeface="Wingdings" panose="05000000000000000000" pitchFamily="2" charset="2"/>
              <a:buNone/>
              <a:tabLst>
                <a:tab pos="2147888" algn="l"/>
              </a:tabLst>
            </a:pPr>
            <a:r>
              <a:rPr lang="zh-CN" altLang="en-US" sz="2800" smtClean="0">
                <a:ea typeface="黑体" panose="02010609060101010101" pitchFamily="49" charset="-122"/>
              </a:rPr>
              <a:t>方法（操作）                   意义</a:t>
            </a:r>
          </a:p>
          <a:p>
            <a:pPr>
              <a:lnSpc>
                <a:spcPct val="90000"/>
              </a:lnSpc>
              <a:buFont typeface="Wingdings" panose="05000000000000000000" pitchFamily="2" charset="2"/>
              <a:buNone/>
              <a:tabLst>
                <a:tab pos="2147888" algn="l"/>
              </a:tabLst>
            </a:pPr>
            <a:r>
              <a:rPr lang="en-US" altLang="zh-CN" sz="2800" smtClean="0">
                <a:ea typeface="黑体" panose="02010609060101010101" pitchFamily="49" charset="-122"/>
              </a:rPr>
              <a:t>OPTION   	    	</a:t>
            </a:r>
            <a:r>
              <a:rPr lang="zh-CN" altLang="en-US" sz="2800" smtClean="0">
                <a:ea typeface="黑体" panose="02010609060101010101" pitchFamily="49" charset="-122"/>
              </a:rPr>
              <a:t>请求一些选项的信息</a:t>
            </a:r>
          </a:p>
          <a:p>
            <a:pPr>
              <a:lnSpc>
                <a:spcPct val="90000"/>
              </a:lnSpc>
              <a:buFont typeface="Wingdings" panose="05000000000000000000" pitchFamily="2" charset="2"/>
              <a:buNone/>
              <a:tabLst>
                <a:tab pos="2147888" algn="l"/>
              </a:tabLst>
            </a:pPr>
            <a:r>
              <a:rPr lang="en-US" altLang="zh-CN" sz="2800" smtClean="0">
                <a:ea typeface="黑体" panose="02010609060101010101" pitchFamily="49" charset="-122"/>
              </a:rPr>
              <a:t>GET              		</a:t>
            </a:r>
            <a:r>
              <a:rPr lang="zh-CN" altLang="en-US" sz="2800" smtClean="0">
                <a:ea typeface="黑体" panose="02010609060101010101" pitchFamily="49" charset="-122"/>
              </a:rPr>
              <a:t>请求读取由 </a:t>
            </a:r>
            <a:r>
              <a:rPr lang="en-US" altLang="zh-CN" sz="2800" smtClean="0">
                <a:ea typeface="黑体" panose="02010609060101010101" pitchFamily="49" charset="-122"/>
              </a:rPr>
              <a:t>URL</a:t>
            </a:r>
            <a:r>
              <a:rPr lang="zh-CN" altLang="en-US" sz="2800" smtClean="0">
                <a:ea typeface="黑体" panose="02010609060101010101" pitchFamily="49" charset="-122"/>
              </a:rPr>
              <a:t>所标志的信息</a:t>
            </a:r>
          </a:p>
          <a:p>
            <a:pPr>
              <a:lnSpc>
                <a:spcPct val="90000"/>
              </a:lnSpc>
              <a:buFont typeface="Wingdings" panose="05000000000000000000" pitchFamily="2" charset="2"/>
              <a:buNone/>
              <a:tabLst>
                <a:tab pos="2147888" algn="l"/>
              </a:tabLst>
            </a:pPr>
            <a:r>
              <a:rPr lang="en-US" altLang="zh-CN" sz="2800" smtClean="0">
                <a:ea typeface="黑体" panose="02010609060101010101" pitchFamily="49" charset="-122"/>
              </a:rPr>
              <a:t>HEAD          		</a:t>
            </a:r>
            <a:r>
              <a:rPr lang="zh-CN" altLang="en-US" sz="2800" smtClean="0">
                <a:ea typeface="黑体" panose="02010609060101010101" pitchFamily="49" charset="-122"/>
              </a:rPr>
              <a:t>请求读取由 </a:t>
            </a:r>
            <a:r>
              <a:rPr lang="en-US" altLang="zh-CN" sz="2800" smtClean="0">
                <a:ea typeface="黑体" panose="02010609060101010101" pitchFamily="49" charset="-122"/>
              </a:rPr>
              <a:t>URL</a:t>
            </a:r>
            <a:r>
              <a:rPr lang="zh-CN" altLang="en-US" sz="2800" smtClean="0">
                <a:ea typeface="黑体" panose="02010609060101010101" pitchFamily="49" charset="-122"/>
              </a:rPr>
              <a:t>所标志的信息的首部</a:t>
            </a:r>
          </a:p>
          <a:p>
            <a:pPr>
              <a:lnSpc>
                <a:spcPct val="90000"/>
              </a:lnSpc>
              <a:buFont typeface="Wingdings" panose="05000000000000000000" pitchFamily="2" charset="2"/>
              <a:buNone/>
              <a:tabLst>
                <a:tab pos="2147888" algn="l"/>
              </a:tabLst>
            </a:pPr>
            <a:r>
              <a:rPr lang="en-US" altLang="zh-CN" sz="2800" smtClean="0">
                <a:ea typeface="黑体" panose="02010609060101010101" pitchFamily="49" charset="-122"/>
              </a:rPr>
              <a:t>POST     		</a:t>
            </a:r>
            <a:r>
              <a:rPr lang="zh-CN" altLang="en-US" sz="2800" smtClean="0">
                <a:ea typeface="黑体" panose="02010609060101010101" pitchFamily="49" charset="-122"/>
              </a:rPr>
              <a:t>给服务器添加信息（例如，注释）</a:t>
            </a:r>
          </a:p>
          <a:p>
            <a:pPr>
              <a:lnSpc>
                <a:spcPct val="90000"/>
              </a:lnSpc>
              <a:buFont typeface="Wingdings" panose="05000000000000000000" pitchFamily="2" charset="2"/>
              <a:buNone/>
              <a:tabLst>
                <a:tab pos="2147888" algn="l"/>
              </a:tabLst>
            </a:pPr>
            <a:r>
              <a:rPr lang="en-US" altLang="zh-CN" sz="2800" smtClean="0">
                <a:ea typeface="黑体" panose="02010609060101010101" pitchFamily="49" charset="-122"/>
              </a:rPr>
              <a:t>PUT        		</a:t>
            </a:r>
            <a:r>
              <a:rPr lang="zh-CN" altLang="en-US" sz="2800" smtClean="0">
                <a:ea typeface="黑体" panose="02010609060101010101" pitchFamily="49" charset="-122"/>
              </a:rPr>
              <a:t>在指明的 </a:t>
            </a:r>
            <a:r>
              <a:rPr lang="en-US" altLang="zh-CN" sz="2800" smtClean="0">
                <a:ea typeface="黑体" panose="02010609060101010101" pitchFamily="49" charset="-122"/>
              </a:rPr>
              <a:t>URL</a:t>
            </a:r>
            <a:r>
              <a:rPr lang="zh-CN" altLang="en-US" sz="2800" smtClean="0">
                <a:ea typeface="黑体" panose="02010609060101010101" pitchFamily="49" charset="-122"/>
              </a:rPr>
              <a:t>下存储一个文档</a:t>
            </a:r>
          </a:p>
          <a:p>
            <a:pPr>
              <a:lnSpc>
                <a:spcPct val="90000"/>
              </a:lnSpc>
              <a:buFont typeface="Wingdings" panose="05000000000000000000" pitchFamily="2" charset="2"/>
              <a:buNone/>
              <a:tabLst>
                <a:tab pos="2147888" algn="l"/>
              </a:tabLst>
            </a:pPr>
            <a:r>
              <a:rPr lang="en-US" altLang="zh-CN" sz="2800" smtClean="0">
                <a:ea typeface="黑体" panose="02010609060101010101" pitchFamily="49" charset="-122"/>
              </a:rPr>
              <a:t>DELETE  		</a:t>
            </a:r>
            <a:r>
              <a:rPr lang="zh-CN" altLang="en-US" sz="2800" smtClean="0">
                <a:ea typeface="黑体" panose="02010609060101010101" pitchFamily="49" charset="-122"/>
              </a:rPr>
              <a:t>删除指明的 </a:t>
            </a:r>
            <a:r>
              <a:rPr lang="en-US" altLang="zh-CN" sz="2800" smtClean="0">
                <a:ea typeface="黑体" panose="02010609060101010101" pitchFamily="49" charset="-122"/>
              </a:rPr>
              <a:t>URL</a:t>
            </a:r>
            <a:r>
              <a:rPr lang="zh-CN" altLang="en-US" sz="2800" smtClean="0">
                <a:ea typeface="黑体" panose="02010609060101010101" pitchFamily="49" charset="-122"/>
              </a:rPr>
              <a:t>所标志的资源</a:t>
            </a:r>
          </a:p>
          <a:p>
            <a:pPr>
              <a:lnSpc>
                <a:spcPct val="90000"/>
              </a:lnSpc>
              <a:buFont typeface="Wingdings" panose="05000000000000000000" pitchFamily="2" charset="2"/>
              <a:buNone/>
              <a:tabLst>
                <a:tab pos="2147888" algn="l"/>
              </a:tabLst>
            </a:pPr>
            <a:r>
              <a:rPr lang="en-US" altLang="zh-CN" sz="2800" smtClean="0">
                <a:ea typeface="黑体" panose="02010609060101010101" pitchFamily="49" charset="-122"/>
              </a:rPr>
              <a:t>TRACE       		</a:t>
            </a:r>
            <a:r>
              <a:rPr lang="zh-CN" altLang="en-US" sz="2800" smtClean="0">
                <a:ea typeface="黑体" panose="02010609060101010101" pitchFamily="49" charset="-122"/>
              </a:rPr>
              <a:t>用来进行环回测试的请求报文</a:t>
            </a:r>
          </a:p>
          <a:p>
            <a:pPr>
              <a:lnSpc>
                <a:spcPct val="90000"/>
              </a:lnSpc>
              <a:buFont typeface="Wingdings" panose="05000000000000000000" pitchFamily="2" charset="2"/>
              <a:buNone/>
              <a:tabLst>
                <a:tab pos="2147888" algn="l"/>
              </a:tabLst>
            </a:pPr>
            <a:r>
              <a:rPr lang="en-US" altLang="zh-CN" sz="2800" smtClean="0">
                <a:ea typeface="黑体" panose="02010609060101010101" pitchFamily="49" charset="-122"/>
              </a:rPr>
              <a:t>CONNECT		</a:t>
            </a:r>
            <a:r>
              <a:rPr lang="zh-CN" altLang="en-US" sz="2800" smtClean="0">
                <a:ea typeface="黑体" panose="02010609060101010101" pitchFamily="49" charset="-122"/>
              </a:rPr>
              <a:t>用于代理服务器</a:t>
            </a:r>
          </a:p>
        </p:txBody>
      </p:sp>
      <p:sp>
        <p:nvSpPr>
          <p:cNvPr id="1741827" name="Line 4"/>
          <p:cNvSpPr>
            <a:spLocks noChangeShapeType="1"/>
          </p:cNvSpPr>
          <p:nvPr/>
        </p:nvSpPr>
        <p:spPr bwMode="auto">
          <a:xfrm>
            <a:off x="560388" y="1773238"/>
            <a:ext cx="892968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741828" name="Line 5"/>
          <p:cNvSpPr>
            <a:spLocks noChangeShapeType="1"/>
          </p:cNvSpPr>
          <p:nvPr/>
        </p:nvSpPr>
        <p:spPr bwMode="auto">
          <a:xfrm rot="5400000">
            <a:off x="775494" y="3285332"/>
            <a:ext cx="446563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74182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A39B412-D629-4AEB-A107-5038C9634FEF}" type="slidenum">
              <a:rPr lang="zh-CN" altLang="en-US" smtClean="0"/>
              <a:pPr eaLnBrk="1" hangingPunct="1"/>
              <a:t>43</a:t>
            </a:fld>
            <a:endParaRPr lang="en-US" altLang="zh-CN" smtClean="0"/>
          </a:p>
        </p:txBody>
      </p:sp>
      <p:sp>
        <p:nvSpPr>
          <p:cNvPr id="174183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3873" name="Rectangle 2"/>
          <p:cNvSpPr>
            <a:spLocks noChangeArrowheads="1"/>
          </p:cNvSpPr>
          <p:nvPr/>
        </p:nvSpPr>
        <p:spPr bwMode="auto">
          <a:xfrm>
            <a:off x="2041525" y="3063875"/>
            <a:ext cx="3398838" cy="407988"/>
          </a:xfrm>
          <a:prstGeom prst="rect">
            <a:avLst/>
          </a:prstGeom>
          <a:solidFill>
            <a:srgbClr val="FFFF99"/>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43874" name="Rectangle 3"/>
          <p:cNvSpPr>
            <a:spLocks noChangeArrowheads="1"/>
          </p:cNvSpPr>
          <p:nvPr/>
        </p:nvSpPr>
        <p:spPr bwMode="auto">
          <a:xfrm>
            <a:off x="2041525" y="2247900"/>
            <a:ext cx="3398838" cy="407988"/>
          </a:xfrm>
          <a:prstGeom prst="rect">
            <a:avLst/>
          </a:prstGeom>
          <a:solidFill>
            <a:srgbClr val="FFFF99"/>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43875" name="Rectangle 4"/>
          <p:cNvSpPr>
            <a:spLocks noChangeArrowheads="1"/>
          </p:cNvSpPr>
          <p:nvPr/>
        </p:nvSpPr>
        <p:spPr bwMode="auto">
          <a:xfrm>
            <a:off x="2041525" y="1841500"/>
            <a:ext cx="5202238" cy="406400"/>
          </a:xfrm>
          <a:prstGeom prst="rect">
            <a:avLst/>
          </a:prstGeom>
          <a:solidFill>
            <a:srgbClr val="FFFF99"/>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43876" name="Rectangle 5"/>
          <p:cNvSpPr>
            <a:spLocks noGrp="1" noChangeArrowheads="1"/>
          </p:cNvSpPr>
          <p:nvPr>
            <p:ph type="title"/>
          </p:nvPr>
        </p:nvSpPr>
        <p:spPr/>
        <p:txBody>
          <a:bodyPr/>
          <a:lstStyle/>
          <a:p>
            <a:pPr algn="ctr"/>
            <a:r>
              <a:rPr lang="en-US" altLang="zh-CN" smtClean="0">
                <a:ea typeface="黑体" panose="02010609060101010101" pitchFamily="49" charset="-122"/>
              </a:rPr>
              <a:t>HTTP </a:t>
            </a:r>
            <a:r>
              <a:rPr lang="zh-CN" altLang="zh-CN" smtClean="0">
                <a:ea typeface="黑体" panose="02010609060101010101" pitchFamily="49" charset="-122"/>
              </a:rPr>
              <a:t>的报文结构（请求报文） </a:t>
            </a:r>
          </a:p>
        </p:txBody>
      </p:sp>
      <p:sp>
        <p:nvSpPr>
          <p:cNvPr id="1743877" name="Rectangle 6"/>
          <p:cNvSpPr>
            <a:spLocks noChangeArrowheads="1"/>
          </p:cNvSpPr>
          <p:nvPr/>
        </p:nvSpPr>
        <p:spPr bwMode="auto">
          <a:xfrm>
            <a:off x="4478338" y="3073400"/>
            <a:ext cx="962025" cy="38893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3878" name="Rectangle 7"/>
          <p:cNvSpPr>
            <a:spLocks noChangeArrowheads="1"/>
          </p:cNvSpPr>
          <p:nvPr/>
        </p:nvSpPr>
        <p:spPr bwMode="auto">
          <a:xfrm>
            <a:off x="2047875" y="3490913"/>
            <a:ext cx="985838" cy="3873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3879" name="Rectangle 8"/>
          <p:cNvSpPr>
            <a:spLocks noChangeArrowheads="1"/>
          </p:cNvSpPr>
          <p:nvPr/>
        </p:nvSpPr>
        <p:spPr bwMode="auto">
          <a:xfrm>
            <a:off x="4478338" y="2257425"/>
            <a:ext cx="962025" cy="3984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3880" name="Rectangle 9"/>
          <p:cNvSpPr>
            <a:spLocks noChangeArrowheads="1"/>
          </p:cNvSpPr>
          <p:nvPr/>
        </p:nvSpPr>
        <p:spPr bwMode="auto">
          <a:xfrm>
            <a:off x="3876675" y="3073400"/>
            <a:ext cx="130175" cy="3984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3881" name="Rectangle 10"/>
          <p:cNvSpPr>
            <a:spLocks noChangeArrowheads="1"/>
          </p:cNvSpPr>
          <p:nvPr/>
        </p:nvSpPr>
        <p:spPr bwMode="auto">
          <a:xfrm>
            <a:off x="3876675" y="2257425"/>
            <a:ext cx="120650" cy="3984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3882" name="Line 11"/>
          <p:cNvSpPr>
            <a:spLocks noChangeShapeType="1"/>
          </p:cNvSpPr>
          <p:nvPr/>
        </p:nvSpPr>
        <p:spPr bwMode="auto">
          <a:xfrm>
            <a:off x="3727450" y="3063875"/>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883" name="Line 12"/>
          <p:cNvSpPr>
            <a:spLocks noChangeShapeType="1"/>
          </p:cNvSpPr>
          <p:nvPr/>
        </p:nvSpPr>
        <p:spPr bwMode="auto">
          <a:xfrm>
            <a:off x="4478338" y="3063875"/>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884" name="Line 13"/>
          <p:cNvSpPr>
            <a:spLocks noChangeShapeType="1"/>
          </p:cNvSpPr>
          <p:nvPr/>
        </p:nvSpPr>
        <p:spPr bwMode="auto">
          <a:xfrm>
            <a:off x="3876675" y="3063875"/>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885" name="Rectangle 14"/>
          <p:cNvSpPr>
            <a:spLocks noChangeArrowheads="1"/>
          </p:cNvSpPr>
          <p:nvPr/>
        </p:nvSpPr>
        <p:spPr bwMode="auto">
          <a:xfrm>
            <a:off x="6251575" y="1851025"/>
            <a:ext cx="992188"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3886" name="Rectangle 15"/>
          <p:cNvSpPr>
            <a:spLocks noChangeArrowheads="1"/>
          </p:cNvSpPr>
          <p:nvPr/>
        </p:nvSpPr>
        <p:spPr bwMode="auto">
          <a:xfrm>
            <a:off x="4808538" y="1851025"/>
            <a:ext cx="120650"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3887" name="Rectangle 16"/>
          <p:cNvSpPr>
            <a:spLocks noChangeArrowheads="1"/>
          </p:cNvSpPr>
          <p:nvPr/>
        </p:nvSpPr>
        <p:spPr bwMode="auto">
          <a:xfrm>
            <a:off x="3365500" y="1851025"/>
            <a:ext cx="120650"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3888" name="Text Box 17"/>
          <p:cNvSpPr txBox="1">
            <a:spLocks noChangeArrowheads="1"/>
          </p:cNvSpPr>
          <p:nvPr/>
        </p:nvSpPr>
        <p:spPr bwMode="auto">
          <a:xfrm>
            <a:off x="2227263" y="1830388"/>
            <a:ext cx="909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方   法</a:t>
            </a:r>
          </a:p>
        </p:txBody>
      </p:sp>
      <p:sp>
        <p:nvSpPr>
          <p:cNvPr id="1743889" name="Line 18"/>
          <p:cNvSpPr>
            <a:spLocks noChangeShapeType="1"/>
          </p:cNvSpPr>
          <p:nvPr/>
        </p:nvSpPr>
        <p:spPr bwMode="auto">
          <a:xfrm>
            <a:off x="3365500" y="1841500"/>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890" name="Line 19"/>
          <p:cNvSpPr>
            <a:spLocks noChangeShapeType="1"/>
          </p:cNvSpPr>
          <p:nvPr/>
        </p:nvSpPr>
        <p:spPr bwMode="auto">
          <a:xfrm>
            <a:off x="3486150" y="1841500"/>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891" name="Line 20"/>
          <p:cNvSpPr>
            <a:spLocks noChangeShapeType="1"/>
          </p:cNvSpPr>
          <p:nvPr/>
        </p:nvSpPr>
        <p:spPr bwMode="auto">
          <a:xfrm>
            <a:off x="4808538" y="1841500"/>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892" name="Line 21"/>
          <p:cNvSpPr>
            <a:spLocks noChangeShapeType="1"/>
          </p:cNvSpPr>
          <p:nvPr/>
        </p:nvSpPr>
        <p:spPr bwMode="auto">
          <a:xfrm>
            <a:off x="4929188" y="1841500"/>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893" name="Line 22"/>
          <p:cNvSpPr>
            <a:spLocks noChangeShapeType="1"/>
          </p:cNvSpPr>
          <p:nvPr/>
        </p:nvSpPr>
        <p:spPr bwMode="auto">
          <a:xfrm>
            <a:off x="6251575" y="1841500"/>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894" name="Text Box 23"/>
          <p:cNvSpPr txBox="1">
            <a:spLocks noChangeArrowheads="1"/>
          </p:cNvSpPr>
          <p:nvPr/>
        </p:nvSpPr>
        <p:spPr bwMode="auto">
          <a:xfrm>
            <a:off x="3716338" y="1830388"/>
            <a:ext cx="714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URL</a:t>
            </a:r>
          </a:p>
        </p:txBody>
      </p:sp>
      <p:sp>
        <p:nvSpPr>
          <p:cNvPr id="1743895" name="Text Box 24"/>
          <p:cNvSpPr txBox="1">
            <a:spLocks noChangeArrowheads="1"/>
          </p:cNvSpPr>
          <p:nvPr/>
        </p:nvSpPr>
        <p:spPr bwMode="auto">
          <a:xfrm>
            <a:off x="5065713" y="1830388"/>
            <a:ext cx="909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版   本</a:t>
            </a:r>
          </a:p>
        </p:txBody>
      </p:sp>
      <p:sp>
        <p:nvSpPr>
          <p:cNvPr id="1743896" name="Text Box 25"/>
          <p:cNvSpPr txBox="1">
            <a:spLocks noChangeArrowheads="1"/>
          </p:cNvSpPr>
          <p:nvPr/>
        </p:nvSpPr>
        <p:spPr bwMode="auto">
          <a:xfrm>
            <a:off x="2049463" y="224313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首部字段名</a:t>
            </a:r>
          </a:p>
        </p:txBody>
      </p:sp>
      <p:sp>
        <p:nvSpPr>
          <p:cNvPr id="1743897" name="Line 26"/>
          <p:cNvSpPr>
            <a:spLocks noChangeShapeType="1"/>
          </p:cNvSpPr>
          <p:nvPr/>
        </p:nvSpPr>
        <p:spPr bwMode="auto">
          <a:xfrm>
            <a:off x="3727450" y="2247900"/>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898" name="Line 27"/>
          <p:cNvSpPr>
            <a:spLocks noChangeShapeType="1"/>
          </p:cNvSpPr>
          <p:nvPr/>
        </p:nvSpPr>
        <p:spPr bwMode="auto">
          <a:xfrm>
            <a:off x="4478338" y="2247900"/>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899" name="Text Box 28"/>
          <p:cNvSpPr txBox="1">
            <a:spLocks noChangeArrowheads="1"/>
          </p:cNvSpPr>
          <p:nvPr/>
        </p:nvSpPr>
        <p:spPr bwMode="auto">
          <a:xfrm>
            <a:off x="5689600" y="2659063"/>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首部行</a:t>
            </a:r>
          </a:p>
        </p:txBody>
      </p:sp>
      <p:sp>
        <p:nvSpPr>
          <p:cNvPr id="1743900" name="Line 29"/>
          <p:cNvSpPr>
            <a:spLocks noChangeShapeType="1"/>
          </p:cNvSpPr>
          <p:nvPr/>
        </p:nvSpPr>
        <p:spPr bwMode="auto">
          <a:xfrm>
            <a:off x="3876675" y="2247900"/>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901" name="Text Box 30"/>
          <p:cNvSpPr txBox="1">
            <a:spLocks noChangeArrowheads="1"/>
          </p:cNvSpPr>
          <p:nvPr/>
        </p:nvSpPr>
        <p:spPr bwMode="auto">
          <a:xfrm>
            <a:off x="3648075" y="2244725"/>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43902" name="Text Box 31"/>
          <p:cNvSpPr txBox="1">
            <a:spLocks noChangeArrowheads="1"/>
          </p:cNvSpPr>
          <p:nvPr/>
        </p:nvSpPr>
        <p:spPr bwMode="auto">
          <a:xfrm>
            <a:off x="4008438" y="2251075"/>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值</a:t>
            </a:r>
          </a:p>
        </p:txBody>
      </p:sp>
      <p:sp>
        <p:nvSpPr>
          <p:cNvPr id="1743903" name="Text Box 32"/>
          <p:cNvSpPr txBox="1">
            <a:spLocks noChangeArrowheads="1"/>
          </p:cNvSpPr>
          <p:nvPr/>
        </p:nvSpPr>
        <p:spPr bwMode="auto">
          <a:xfrm>
            <a:off x="2044700" y="3051175"/>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首部字段名</a:t>
            </a:r>
          </a:p>
        </p:txBody>
      </p:sp>
      <p:sp>
        <p:nvSpPr>
          <p:cNvPr id="1743904" name="Text Box 33"/>
          <p:cNvSpPr txBox="1">
            <a:spLocks noChangeArrowheads="1"/>
          </p:cNvSpPr>
          <p:nvPr/>
        </p:nvSpPr>
        <p:spPr bwMode="auto">
          <a:xfrm>
            <a:off x="4033838" y="3063875"/>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值</a:t>
            </a:r>
          </a:p>
        </p:txBody>
      </p:sp>
      <p:sp>
        <p:nvSpPr>
          <p:cNvPr id="1743905" name="Text Box 34"/>
          <p:cNvSpPr txBox="1">
            <a:spLocks noChangeArrowheads="1"/>
          </p:cNvSpPr>
          <p:nvPr/>
        </p:nvSpPr>
        <p:spPr bwMode="auto">
          <a:xfrm>
            <a:off x="3606800" y="3683000"/>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43906" name="Text Box 35"/>
          <p:cNvSpPr txBox="1">
            <a:spLocks noChangeArrowheads="1"/>
          </p:cNvSpPr>
          <p:nvPr/>
        </p:nvSpPr>
        <p:spPr bwMode="auto">
          <a:xfrm rot="-5400000">
            <a:off x="2871787" y="2687638"/>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43907" name="AutoShape 36"/>
          <p:cNvSpPr>
            <a:spLocks/>
          </p:cNvSpPr>
          <p:nvPr/>
        </p:nvSpPr>
        <p:spPr bwMode="auto">
          <a:xfrm>
            <a:off x="5514975" y="2300288"/>
            <a:ext cx="241300" cy="1171575"/>
          </a:xfrm>
          <a:prstGeom prst="rightBrace">
            <a:avLst>
              <a:gd name="adj1" fmla="val 43832"/>
              <a:gd name="adj2" fmla="val 50000"/>
            </a:avLst>
          </a:prstGeom>
          <a:noFill/>
          <a:ln w="1905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743908" name="Rectangle 37"/>
          <p:cNvSpPr>
            <a:spLocks noChangeArrowheads="1"/>
          </p:cNvSpPr>
          <p:nvPr/>
        </p:nvSpPr>
        <p:spPr bwMode="auto">
          <a:xfrm>
            <a:off x="2041525" y="3878263"/>
            <a:ext cx="5413375" cy="917575"/>
          </a:xfrm>
          <a:prstGeom prst="rect">
            <a:avLst/>
          </a:prstGeom>
          <a:solidFill>
            <a:srgbClr val="FFCCFF"/>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43909" name="Text Box 38"/>
          <p:cNvSpPr txBox="1">
            <a:spLocks noChangeArrowheads="1"/>
          </p:cNvSpPr>
          <p:nvPr/>
        </p:nvSpPr>
        <p:spPr bwMode="auto">
          <a:xfrm>
            <a:off x="3832225" y="3971925"/>
            <a:ext cx="17224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333399"/>
                </a:solidFill>
                <a:ea typeface="黑体" panose="02010609060101010101" pitchFamily="49" charset="-122"/>
              </a:rPr>
              <a:t>实体主体</a:t>
            </a:r>
          </a:p>
          <a:p>
            <a:pPr algn="ctr"/>
            <a:r>
              <a:rPr lang="zh-CN" altLang="en-US" sz="2000" b="1">
                <a:solidFill>
                  <a:srgbClr val="333399"/>
                </a:solidFill>
                <a:ea typeface="黑体" panose="02010609060101010101" pitchFamily="49" charset="-122"/>
              </a:rPr>
              <a:t>（通常不用）</a:t>
            </a:r>
          </a:p>
        </p:txBody>
      </p:sp>
      <p:sp>
        <p:nvSpPr>
          <p:cNvPr id="1743910" name="Text Box 39"/>
          <p:cNvSpPr txBox="1">
            <a:spLocks noChangeArrowheads="1"/>
          </p:cNvSpPr>
          <p:nvPr/>
        </p:nvSpPr>
        <p:spPr bwMode="auto">
          <a:xfrm>
            <a:off x="7204075" y="183038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请求行</a:t>
            </a:r>
          </a:p>
        </p:txBody>
      </p:sp>
      <p:sp>
        <p:nvSpPr>
          <p:cNvPr id="1743911" name="Line 40"/>
          <p:cNvSpPr>
            <a:spLocks noChangeShapeType="1"/>
          </p:cNvSpPr>
          <p:nvPr/>
        </p:nvSpPr>
        <p:spPr bwMode="auto">
          <a:xfrm>
            <a:off x="2041525" y="2655888"/>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912" name="Line 41"/>
          <p:cNvSpPr>
            <a:spLocks noChangeShapeType="1"/>
          </p:cNvSpPr>
          <p:nvPr/>
        </p:nvSpPr>
        <p:spPr bwMode="auto">
          <a:xfrm>
            <a:off x="2041525" y="3471863"/>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913" name="Line 42"/>
          <p:cNvSpPr>
            <a:spLocks noChangeShapeType="1"/>
          </p:cNvSpPr>
          <p:nvPr/>
        </p:nvSpPr>
        <p:spPr bwMode="auto">
          <a:xfrm>
            <a:off x="3033713" y="3471863"/>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914" name="Line 43"/>
          <p:cNvSpPr>
            <a:spLocks noChangeShapeType="1"/>
          </p:cNvSpPr>
          <p:nvPr/>
        </p:nvSpPr>
        <p:spPr bwMode="auto">
          <a:xfrm>
            <a:off x="5440363" y="2655888"/>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915" name="Text Box 44"/>
          <p:cNvSpPr txBox="1">
            <a:spLocks noChangeArrowheads="1"/>
          </p:cNvSpPr>
          <p:nvPr/>
        </p:nvSpPr>
        <p:spPr bwMode="auto">
          <a:xfrm>
            <a:off x="3736975" y="1181100"/>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空格</a:t>
            </a:r>
          </a:p>
        </p:txBody>
      </p:sp>
      <p:sp>
        <p:nvSpPr>
          <p:cNvPr id="1743916" name="Text Box 45"/>
          <p:cNvSpPr txBox="1">
            <a:spLocks noChangeArrowheads="1"/>
          </p:cNvSpPr>
          <p:nvPr/>
        </p:nvSpPr>
        <p:spPr bwMode="auto">
          <a:xfrm>
            <a:off x="5835650" y="1181100"/>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回车换行</a:t>
            </a:r>
          </a:p>
        </p:txBody>
      </p:sp>
      <p:sp>
        <p:nvSpPr>
          <p:cNvPr id="1743917" name="Line 46"/>
          <p:cNvSpPr>
            <a:spLocks noChangeShapeType="1"/>
          </p:cNvSpPr>
          <p:nvPr/>
        </p:nvSpPr>
        <p:spPr bwMode="auto">
          <a:xfrm>
            <a:off x="4397375" y="1535113"/>
            <a:ext cx="442913" cy="306387"/>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918" name="Line 47"/>
          <p:cNvSpPr>
            <a:spLocks noChangeShapeType="1"/>
          </p:cNvSpPr>
          <p:nvPr/>
        </p:nvSpPr>
        <p:spPr bwMode="auto">
          <a:xfrm flipH="1">
            <a:off x="3395663" y="1535113"/>
            <a:ext cx="481012" cy="306387"/>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919" name="Line 48"/>
          <p:cNvSpPr>
            <a:spLocks noChangeShapeType="1"/>
          </p:cNvSpPr>
          <p:nvPr/>
        </p:nvSpPr>
        <p:spPr bwMode="auto">
          <a:xfrm>
            <a:off x="6481763" y="1535113"/>
            <a:ext cx="241300" cy="306387"/>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920" name="Line 49"/>
          <p:cNvSpPr>
            <a:spLocks noChangeShapeType="1"/>
          </p:cNvSpPr>
          <p:nvPr/>
        </p:nvSpPr>
        <p:spPr bwMode="auto">
          <a:xfrm>
            <a:off x="3997325" y="3063875"/>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921" name="Line 50"/>
          <p:cNvSpPr>
            <a:spLocks noChangeShapeType="1"/>
          </p:cNvSpPr>
          <p:nvPr/>
        </p:nvSpPr>
        <p:spPr bwMode="auto">
          <a:xfrm>
            <a:off x="3997325" y="2247900"/>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3922" name="Text Box 51"/>
          <p:cNvSpPr txBox="1">
            <a:spLocks noChangeArrowheads="1"/>
          </p:cNvSpPr>
          <p:nvPr/>
        </p:nvSpPr>
        <p:spPr bwMode="auto">
          <a:xfrm>
            <a:off x="3648075" y="3065463"/>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43923" name="Text Box 52"/>
          <p:cNvSpPr txBox="1">
            <a:spLocks noChangeArrowheads="1"/>
          </p:cNvSpPr>
          <p:nvPr/>
        </p:nvSpPr>
        <p:spPr bwMode="auto">
          <a:xfrm>
            <a:off x="6207125" y="1830388"/>
            <a:ext cx="869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CRLF</a:t>
            </a:r>
          </a:p>
        </p:txBody>
      </p:sp>
      <p:sp>
        <p:nvSpPr>
          <p:cNvPr id="1743924" name="Text Box 53"/>
          <p:cNvSpPr txBox="1">
            <a:spLocks noChangeArrowheads="1"/>
          </p:cNvSpPr>
          <p:nvPr/>
        </p:nvSpPr>
        <p:spPr bwMode="auto">
          <a:xfrm>
            <a:off x="4494213" y="3071813"/>
            <a:ext cx="919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333399"/>
                </a:solidFill>
                <a:ea typeface="黑体" panose="02010609060101010101" pitchFamily="49" charset="-122"/>
              </a:rPr>
              <a:t>CRLF</a:t>
            </a:r>
          </a:p>
        </p:txBody>
      </p:sp>
      <p:sp>
        <p:nvSpPr>
          <p:cNvPr id="1743925" name="Text Box 54"/>
          <p:cNvSpPr txBox="1">
            <a:spLocks noChangeArrowheads="1"/>
          </p:cNvSpPr>
          <p:nvPr/>
        </p:nvSpPr>
        <p:spPr bwMode="auto">
          <a:xfrm>
            <a:off x="4500563" y="2262188"/>
            <a:ext cx="8715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CRLF</a:t>
            </a:r>
          </a:p>
        </p:txBody>
      </p:sp>
      <p:sp>
        <p:nvSpPr>
          <p:cNvPr id="1743926" name="Text Box 55"/>
          <p:cNvSpPr txBox="1">
            <a:spLocks noChangeArrowheads="1"/>
          </p:cNvSpPr>
          <p:nvPr/>
        </p:nvSpPr>
        <p:spPr bwMode="auto">
          <a:xfrm>
            <a:off x="2044700" y="3463925"/>
            <a:ext cx="871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CRLF</a:t>
            </a:r>
          </a:p>
        </p:txBody>
      </p:sp>
      <p:sp>
        <p:nvSpPr>
          <p:cNvPr id="1743927" name="Text Box 56"/>
          <p:cNvSpPr txBox="1">
            <a:spLocks noChangeArrowheads="1"/>
          </p:cNvSpPr>
          <p:nvPr/>
        </p:nvSpPr>
        <p:spPr bwMode="auto">
          <a:xfrm>
            <a:off x="1754188" y="4926013"/>
            <a:ext cx="5851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a:solidFill>
                  <a:srgbClr val="0000FF"/>
                </a:solidFill>
                <a:ea typeface="黑体" panose="02010609060101010101" pitchFamily="49" charset="-122"/>
              </a:rPr>
              <a:t>“URL”</a:t>
            </a:r>
            <a:r>
              <a:rPr lang="zh-CN" altLang="en-US" sz="2800" b="1">
                <a:solidFill>
                  <a:srgbClr val="0000FF"/>
                </a:solidFill>
                <a:latin typeface="黑体" panose="02010609060101010101" pitchFamily="49" charset="-122"/>
                <a:ea typeface="黑体" panose="02010609060101010101" pitchFamily="49" charset="-122"/>
              </a:rPr>
              <a:t>是所请求的资源的</a:t>
            </a:r>
            <a:r>
              <a:rPr lang="zh-CN" altLang="en-US" sz="2800" b="1">
                <a:solidFill>
                  <a:srgbClr val="0000FF"/>
                </a:solidFill>
                <a:ea typeface="黑体" panose="02010609060101010101" pitchFamily="49" charset="-122"/>
              </a:rPr>
              <a:t> </a:t>
            </a:r>
            <a:r>
              <a:rPr lang="en-US" altLang="zh-CN" sz="2800" b="1">
                <a:solidFill>
                  <a:srgbClr val="0000FF"/>
                </a:solidFill>
                <a:ea typeface="黑体" panose="02010609060101010101" pitchFamily="49" charset="-122"/>
              </a:rPr>
              <a:t>URL</a:t>
            </a:r>
            <a:r>
              <a:rPr lang="zh-CN" altLang="en-US" sz="2800" b="1">
                <a:solidFill>
                  <a:srgbClr val="0000FF"/>
                </a:solidFill>
                <a:ea typeface="黑体" panose="02010609060101010101" pitchFamily="49" charset="-122"/>
              </a:rPr>
              <a:t>。</a:t>
            </a:r>
          </a:p>
        </p:txBody>
      </p:sp>
      <p:sp>
        <p:nvSpPr>
          <p:cNvPr id="655417" name="Rectangle 57"/>
          <p:cNvSpPr>
            <a:spLocks noChangeArrowheads="1"/>
          </p:cNvSpPr>
          <p:nvPr/>
        </p:nvSpPr>
        <p:spPr bwMode="auto">
          <a:xfrm>
            <a:off x="3392488" y="1757363"/>
            <a:ext cx="1560512" cy="576262"/>
          </a:xfrm>
          <a:prstGeom prst="rect">
            <a:avLst/>
          </a:prstGeom>
          <a:noFill/>
          <a:ln w="571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74392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BF403A2-8419-4139-B85E-4A31F5AE855F}" type="slidenum">
              <a:rPr lang="zh-CN" altLang="en-US" smtClean="0"/>
              <a:pPr eaLnBrk="1" hangingPunct="1"/>
              <a:t>44</a:t>
            </a:fld>
            <a:endParaRPr lang="en-US" altLang="zh-CN" smtClean="0"/>
          </a:p>
        </p:txBody>
      </p:sp>
      <p:sp>
        <p:nvSpPr>
          <p:cNvPr id="174393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55417"/>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65541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17" grpId="0" animBg="1"/>
      <p:bldP spid="655417"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5921" name="Rectangle 2"/>
          <p:cNvSpPr>
            <a:spLocks noChangeArrowheads="1"/>
          </p:cNvSpPr>
          <p:nvPr/>
        </p:nvSpPr>
        <p:spPr bwMode="auto">
          <a:xfrm>
            <a:off x="2041525" y="3063875"/>
            <a:ext cx="3398838" cy="407988"/>
          </a:xfrm>
          <a:prstGeom prst="rect">
            <a:avLst/>
          </a:prstGeom>
          <a:solidFill>
            <a:srgbClr val="FFFF99"/>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45922" name="Rectangle 3"/>
          <p:cNvSpPr>
            <a:spLocks noChangeArrowheads="1"/>
          </p:cNvSpPr>
          <p:nvPr/>
        </p:nvSpPr>
        <p:spPr bwMode="auto">
          <a:xfrm>
            <a:off x="2041525" y="2247900"/>
            <a:ext cx="3398838" cy="407988"/>
          </a:xfrm>
          <a:prstGeom prst="rect">
            <a:avLst/>
          </a:prstGeom>
          <a:solidFill>
            <a:srgbClr val="FFFF99"/>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45923" name="Rectangle 4"/>
          <p:cNvSpPr>
            <a:spLocks noChangeArrowheads="1"/>
          </p:cNvSpPr>
          <p:nvPr/>
        </p:nvSpPr>
        <p:spPr bwMode="auto">
          <a:xfrm>
            <a:off x="2041525" y="1841500"/>
            <a:ext cx="5202238" cy="406400"/>
          </a:xfrm>
          <a:prstGeom prst="rect">
            <a:avLst/>
          </a:prstGeom>
          <a:solidFill>
            <a:srgbClr val="FFFF99"/>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45924" name="Rectangle 5"/>
          <p:cNvSpPr>
            <a:spLocks noGrp="1" noChangeArrowheads="1"/>
          </p:cNvSpPr>
          <p:nvPr>
            <p:ph type="title"/>
          </p:nvPr>
        </p:nvSpPr>
        <p:spPr/>
        <p:txBody>
          <a:bodyPr/>
          <a:lstStyle/>
          <a:p>
            <a:pPr algn="ctr"/>
            <a:r>
              <a:rPr lang="en-US" altLang="zh-CN" smtClean="0">
                <a:ea typeface="黑体" panose="02010609060101010101" pitchFamily="49" charset="-122"/>
              </a:rPr>
              <a:t>HTTP </a:t>
            </a:r>
            <a:r>
              <a:rPr lang="zh-CN" altLang="zh-CN" smtClean="0">
                <a:ea typeface="黑体" panose="02010609060101010101" pitchFamily="49" charset="-122"/>
              </a:rPr>
              <a:t>的报文结构（请求报文） </a:t>
            </a:r>
          </a:p>
        </p:txBody>
      </p:sp>
      <p:sp>
        <p:nvSpPr>
          <p:cNvPr id="1745925" name="Rectangle 6"/>
          <p:cNvSpPr>
            <a:spLocks noChangeArrowheads="1"/>
          </p:cNvSpPr>
          <p:nvPr/>
        </p:nvSpPr>
        <p:spPr bwMode="auto">
          <a:xfrm>
            <a:off x="4478338" y="3073400"/>
            <a:ext cx="962025" cy="38893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5926" name="Rectangle 7"/>
          <p:cNvSpPr>
            <a:spLocks noChangeArrowheads="1"/>
          </p:cNvSpPr>
          <p:nvPr/>
        </p:nvSpPr>
        <p:spPr bwMode="auto">
          <a:xfrm>
            <a:off x="2047875" y="3490913"/>
            <a:ext cx="985838" cy="3873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5927" name="Rectangle 8"/>
          <p:cNvSpPr>
            <a:spLocks noChangeArrowheads="1"/>
          </p:cNvSpPr>
          <p:nvPr/>
        </p:nvSpPr>
        <p:spPr bwMode="auto">
          <a:xfrm>
            <a:off x="4478338" y="2257425"/>
            <a:ext cx="962025" cy="3984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5928" name="Rectangle 9"/>
          <p:cNvSpPr>
            <a:spLocks noChangeArrowheads="1"/>
          </p:cNvSpPr>
          <p:nvPr/>
        </p:nvSpPr>
        <p:spPr bwMode="auto">
          <a:xfrm>
            <a:off x="3876675" y="3073400"/>
            <a:ext cx="130175" cy="3984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5929" name="Rectangle 10"/>
          <p:cNvSpPr>
            <a:spLocks noChangeArrowheads="1"/>
          </p:cNvSpPr>
          <p:nvPr/>
        </p:nvSpPr>
        <p:spPr bwMode="auto">
          <a:xfrm>
            <a:off x="3876675" y="2257425"/>
            <a:ext cx="120650" cy="3984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5930" name="Line 11"/>
          <p:cNvSpPr>
            <a:spLocks noChangeShapeType="1"/>
          </p:cNvSpPr>
          <p:nvPr/>
        </p:nvSpPr>
        <p:spPr bwMode="auto">
          <a:xfrm>
            <a:off x="3727450" y="3063875"/>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31" name="Line 12"/>
          <p:cNvSpPr>
            <a:spLocks noChangeShapeType="1"/>
          </p:cNvSpPr>
          <p:nvPr/>
        </p:nvSpPr>
        <p:spPr bwMode="auto">
          <a:xfrm>
            <a:off x="4478338" y="3063875"/>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32" name="Line 13"/>
          <p:cNvSpPr>
            <a:spLocks noChangeShapeType="1"/>
          </p:cNvSpPr>
          <p:nvPr/>
        </p:nvSpPr>
        <p:spPr bwMode="auto">
          <a:xfrm>
            <a:off x="3876675" y="3063875"/>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33" name="Rectangle 14"/>
          <p:cNvSpPr>
            <a:spLocks noChangeArrowheads="1"/>
          </p:cNvSpPr>
          <p:nvPr/>
        </p:nvSpPr>
        <p:spPr bwMode="auto">
          <a:xfrm>
            <a:off x="6251575" y="1851025"/>
            <a:ext cx="992188"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5934" name="Rectangle 15"/>
          <p:cNvSpPr>
            <a:spLocks noChangeArrowheads="1"/>
          </p:cNvSpPr>
          <p:nvPr/>
        </p:nvSpPr>
        <p:spPr bwMode="auto">
          <a:xfrm>
            <a:off x="4808538" y="1851025"/>
            <a:ext cx="120650"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5935" name="Rectangle 16"/>
          <p:cNvSpPr>
            <a:spLocks noChangeArrowheads="1"/>
          </p:cNvSpPr>
          <p:nvPr/>
        </p:nvSpPr>
        <p:spPr bwMode="auto">
          <a:xfrm>
            <a:off x="3365500" y="1851025"/>
            <a:ext cx="120650"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5936" name="Text Box 17"/>
          <p:cNvSpPr txBox="1">
            <a:spLocks noChangeArrowheads="1"/>
          </p:cNvSpPr>
          <p:nvPr/>
        </p:nvSpPr>
        <p:spPr bwMode="auto">
          <a:xfrm>
            <a:off x="2227263" y="1830388"/>
            <a:ext cx="909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方   法</a:t>
            </a:r>
          </a:p>
        </p:txBody>
      </p:sp>
      <p:sp>
        <p:nvSpPr>
          <p:cNvPr id="1745937" name="Line 18"/>
          <p:cNvSpPr>
            <a:spLocks noChangeShapeType="1"/>
          </p:cNvSpPr>
          <p:nvPr/>
        </p:nvSpPr>
        <p:spPr bwMode="auto">
          <a:xfrm>
            <a:off x="3365500" y="1841500"/>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38" name="Line 19"/>
          <p:cNvSpPr>
            <a:spLocks noChangeShapeType="1"/>
          </p:cNvSpPr>
          <p:nvPr/>
        </p:nvSpPr>
        <p:spPr bwMode="auto">
          <a:xfrm>
            <a:off x="3486150" y="1841500"/>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39" name="Line 20"/>
          <p:cNvSpPr>
            <a:spLocks noChangeShapeType="1"/>
          </p:cNvSpPr>
          <p:nvPr/>
        </p:nvSpPr>
        <p:spPr bwMode="auto">
          <a:xfrm>
            <a:off x="4808538" y="1841500"/>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40" name="Line 21"/>
          <p:cNvSpPr>
            <a:spLocks noChangeShapeType="1"/>
          </p:cNvSpPr>
          <p:nvPr/>
        </p:nvSpPr>
        <p:spPr bwMode="auto">
          <a:xfrm>
            <a:off x="4929188" y="1841500"/>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41" name="Line 22"/>
          <p:cNvSpPr>
            <a:spLocks noChangeShapeType="1"/>
          </p:cNvSpPr>
          <p:nvPr/>
        </p:nvSpPr>
        <p:spPr bwMode="auto">
          <a:xfrm>
            <a:off x="6251575" y="1841500"/>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42" name="Text Box 23"/>
          <p:cNvSpPr txBox="1">
            <a:spLocks noChangeArrowheads="1"/>
          </p:cNvSpPr>
          <p:nvPr/>
        </p:nvSpPr>
        <p:spPr bwMode="auto">
          <a:xfrm>
            <a:off x="3716338" y="1830388"/>
            <a:ext cx="714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URL</a:t>
            </a:r>
          </a:p>
        </p:txBody>
      </p:sp>
      <p:sp>
        <p:nvSpPr>
          <p:cNvPr id="1745943" name="Text Box 24"/>
          <p:cNvSpPr txBox="1">
            <a:spLocks noChangeArrowheads="1"/>
          </p:cNvSpPr>
          <p:nvPr/>
        </p:nvSpPr>
        <p:spPr bwMode="auto">
          <a:xfrm>
            <a:off x="5065713" y="1830388"/>
            <a:ext cx="909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版   本</a:t>
            </a:r>
          </a:p>
        </p:txBody>
      </p:sp>
      <p:sp>
        <p:nvSpPr>
          <p:cNvPr id="1745944" name="Text Box 25"/>
          <p:cNvSpPr txBox="1">
            <a:spLocks noChangeArrowheads="1"/>
          </p:cNvSpPr>
          <p:nvPr/>
        </p:nvSpPr>
        <p:spPr bwMode="auto">
          <a:xfrm>
            <a:off x="2049463" y="224313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首部字段名</a:t>
            </a:r>
          </a:p>
        </p:txBody>
      </p:sp>
      <p:sp>
        <p:nvSpPr>
          <p:cNvPr id="1745945" name="Line 26"/>
          <p:cNvSpPr>
            <a:spLocks noChangeShapeType="1"/>
          </p:cNvSpPr>
          <p:nvPr/>
        </p:nvSpPr>
        <p:spPr bwMode="auto">
          <a:xfrm>
            <a:off x="3727450" y="2247900"/>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46" name="Line 27"/>
          <p:cNvSpPr>
            <a:spLocks noChangeShapeType="1"/>
          </p:cNvSpPr>
          <p:nvPr/>
        </p:nvSpPr>
        <p:spPr bwMode="auto">
          <a:xfrm>
            <a:off x="4478338" y="2247900"/>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47" name="Text Box 28"/>
          <p:cNvSpPr txBox="1">
            <a:spLocks noChangeArrowheads="1"/>
          </p:cNvSpPr>
          <p:nvPr/>
        </p:nvSpPr>
        <p:spPr bwMode="auto">
          <a:xfrm>
            <a:off x="5689600" y="2659063"/>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首部行</a:t>
            </a:r>
          </a:p>
        </p:txBody>
      </p:sp>
      <p:sp>
        <p:nvSpPr>
          <p:cNvPr id="1745948" name="Line 29"/>
          <p:cNvSpPr>
            <a:spLocks noChangeShapeType="1"/>
          </p:cNvSpPr>
          <p:nvPr/>
        </p:nvSpPr>
        <p:spPr bwMode="auto">
          <a:xfrm>
            <a:off x="3876675" y="2247900"/>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49" name="Text Box 30"/>
          <p:cNvSpPr txBox="1">
            <a:spLocks noChangeArrowheads="1"/>
          </p:cNvSpPr>
          <p:nvPr/>
        </p:nvSpPr>
        <p:spPr bwMode="auto">
          <a:xfrm>
            <a:off x="3648075" y="2244725"/>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45950" name="Text Box 31"/>
          <p:cNvSpPr txBox="1">
            <a:spLocks noChangeArrowheads="1"/>
          </p:cNvSpPr>
          <p:nvPr/>
        </p:nvSpPr>
        <p:spPr bwMode="auto">
          <a:xfrm>
            <a:off x="4008438" y="2251075"/>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值</a:t>
            </a:r>
          </a:p>
        </p:txBody>
      </p:sp>
      <p:sp>
        <p:nvSpPr>
          <p:cNvPr id="1745951" name="Text Box 32"/>
          <p:cNvSpPr txBox="1">
            <a:spLocks noChangeArrowheads="1"/>
          </p:cNvSpPr>
          <p:nvPr/>
        </p:nvSpPr>
        <p:spPr bwMode="auto">
          <a:xfrm>
            <a:off x="2044700" y="3051175"/>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首部字段名</a:t>
            </a:r>
          </a:p>
        </p:txBody>
      </p:sp>
      <p:sp>
        <p:nvSpPr>
          <p:cNvPr id="1745952" name="Text Box 33"/>
          <p:cNvSpPr txBox="1">
            <a:spLocks noChangeArrowheads="1"/>
          </p:cNvSpPr>
          <p:nvPr/>
        </p:nvSpPr>
        <p:spPr bwMode="auto">
          <a:xfrm>
            <a:off x="4033838" y="3063875"/>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值</a:t>
            </a:r>
          </a:p>
        </p:txBody>
      </p:sp>
      <p:sp>
        <p:nvSpPr>
          <p:cNvPr id="1745953" name="Text Box 34"/>
          <p:cNvSpPr txBox="1">
            <a:spLocks noChangeArrowheads="1"/>
          </p:cNvSpPr>
          <p:nvPr/>
        </p:nvSpPr>
        <p:spPr bwMode="auto">
          <a:xfrm>
            <a:off x="3606800" y="3683000"/>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45954" name="Text Box 35"/>
          <p:cNvSpPr txBox="1">
            <a:spLocks noChangeArrowheads="1"/>
          </p:cNvSpPr>
          <p:nvPr/>
        </p:nvSpPr>
        <p:spPr bwMode="auto">
          <a:xfrm rot="-5400000">
            <a:off x="2871787" y="2687638"/>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45955" name="AutoShape 36"/>
          <p:cNvSpPr>
            <a:spLocks/>
          </p:cNvSpPr>
          <p:nvPr/>
        </p:nvSpPr>
        <p:spPr bwMode="auto">
          <a:xfrm>
            <a:off x="5514975" y="2300288"/>
            <a:ext cx="241300" cy="1171575"/>
          </a:xfrm>
          <a:prstGeom prst="rightBrace">
            <a:avLst>
              <a:gd name="adj1" fmla="val 43832"/>
              <a:gd name="adj2" fmla="val 50000"/>
            </a:avLst>
          </a:prstGeom>
          <a:noFill/>
          <a:ln w="1905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745956" name="Rectangle 37"/>
          <p:cNvSpPr>
            <a:spLocks noChangeArrowheads="1"/>
          </p:cNvSpPr>
          <p:nvPr/>
        </p:nvSpPr>
        <p:spPr bwMode="auto">
          <a:xfrm>
            <a:off x="2041525" y="3878263"/>
            <a:ext cx="5413375" cy="917575"/>
          </a:xfrm>
          <a:prstGeom prst="rect">
            <a:avLst/>
          </a:prstGeom>
          <a:solidFill>
            <a:srgbClr val="FFCCFF"/>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45957" name="Text Box 38"/>
          <p:cNvSpPr txBox="1">
            <a:spLocks noChangeArrowheads="1"/>
          </p:cNvSpPr>
          <p:nvPr/>
        </p:nvSpPr>
        <p:spPr bwMode="auto">
          <a:xfrm>
            <a:off x="3832225" y="3971925"/>
            <a:ext cx="17224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333399"/>
                </a:solidFill>
                <a:ea typeface="黑体" panose="02010609060101010101" pitchFamily="49" charset="-122"/>
              </a:rPr>
              <a:t>实体主体</a:t>
            </a:r>
          </a:p>
          <a:p>
            <a:pPr algn="ctr"/>
            <a:r>
              <a:rPr lang="zh-CN" altLang="en-US" sz="2000" b="1">
                <a:solidFill>
                  <a:srgbClr val="333399"/>
                </a:solidFill>
                <a:ea typeface="黑体" panose="02010609060101010101" pitchFamily="49" charset="-122"/>
              </a:rPr>
              <a:t>（通常不用）</a:t>
            </a:r>
          </a:p>
        </p:txBody>
      </p:sp>
      <p:sp>
        <p:nvSpPr>
          <p:cNvPr id="1745958" name="Text Box 39"/>
          <p:cNvSpPr txBox="1">
            <a:spLocks noChangeArrowheads="1"/>
          </p:cNvSpPr>
          <p:nvPr/>
        </p:nvSpPr>
        <p:spPr bwMode="auto">
          <a:xfrm>
            <a:off x="7204075" y="183038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请求行</a:t>
            </a:r>
          </a:p>
        </p:txBody>
      </p:sp>
      <p:sp>
        <p:nvSpPr>
          <p:cNvPr id="1745959" name="Line 40"/>
          <p:cNvSpPr>
            <a:spLocks noChangeShapeType="1"/>
          </p:cNvSpPr>
          <p:nvPr/>
        </p:nvSpPr>
        <p:spPr bwMode="auto">
          <a:xfrm>
            <a:off x="2041525" y="2655888"/>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60" name="Line 41"/>
          <p:cNvSpPr>
            <a:spLocks noChangeShapeType="1"/>
          </p:cNvSpPr>
          <p:nvPr/>
        </p:nvSpPr>
        <p:spPr bwMode="auto">
          <a:xfrm>
            <a:off x="2041525" y="3471863"/>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61" name="Line 42"/>
          <p:cNvSpPr>
            <a:spLocks noChangeShapeType="1"/>
          </p:cNvSpPr>
          <p:nvPr/>
        </p:nvSpPr>
        <p:spPr bwMode="auto">
          <a:xfrm>
            <a:off x="3033713" y="3471863"/>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62" name="Line 43"/>
          <p:cNvSpPr>
            <a:spLocks noChangeShapeType="1"/>
          </p:cNvSpPr>
          <p:nvPr/>
        </p:nvSpPr>
        <p:spPr bwMode="auto">
          <a:xfrm>
            <a:off x="5440363" y="2655888"/>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63" name="Text Box 44"/>
          <p:cNvSpPr txBox="1">
            <a:spLocks noChangeArrowheads="1"/>
          </p:cNvSpPr>
          <p:nvPr/>
        </p:nvSpPr>
        <p:spPr bwMode="auto">
          <a:xfrm>
            <a:off x="3736975" y="1181100"/>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空格</a:t>
            </a:r>
          </a:p>
        </p:txBody>
      </p:sp>
      <p:sp>
        <p:nvSpPr>
          <p:cNvPr id="1745964" name="Text Box 45"/>
          <p:cNvSpPr txBox="1">
            <a:spLocks noChangeArrowheads="1"/>
          </p:cNvSpPr>
          <p:nvPr/>
        </p:nvSpPr>
        <p:spPr bwMode="auto">
          <a:xfrm>
            <a:off x="5835650" y="1181100"/>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回车换行</a:t>
            </a:r>
          </a:p>
        </p:txBody>
      </p:sp>
      <p:sp>
        <p:nvSpPr>
          <p:cNvPr id="1745965" name="Line 46"/>
          <p:cNvSpPr>
            <a:spLocks noChangeShapeType="1"/>
          </p:cNvSpPr>
          <p:nvPr/>
        </p:nvSpPr>
        <p:spPr bwMode="auto">
          <a:xfrm>
            <a:off x="4397375" y="1535113"/>
            <a:ext cx="442913" cy="306387"/>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66" name="Line 47"/>
          <p:cNvSpPr>
            <a:spLocks noChangeShapeType="1"/>
          </p:cNvSpPr>
          <p:nvPr/>
        </p:nvSpPr>
        <p:spPr bwMode="auto">
          <a:xfrm flipH="1">
            <a:off x="3395663" y="1535113"/>
            <a:ext cx="481012" cy="306387"/>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67" name="Line 48"/>
          <p:cNvSpPr>
            <a:spLocks noChangeShapeType="1"/>
          </p:cNvSpPr>
          <p:nvPr/>
        </p:nvSpPr>
        <p:spPr bwMode="auto">
          <a:xfrm>
            <a:off x="6481763" y="1535113"/>
            <a:ext cx="241300" cy="306387"/>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68" name="Line 49"/>
          <p:cNvSpPr>
            <a:spLocks noChangeShapeType="1"/>
          </p:cNvSpPr>
          <p:nvPr/>
        </p:nvSpPr>
        <p:spPr bwMode="auto">
          <a:xfrm>
            <a:off x="3997325" y="3063875"/>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69" name="Line 50"/>
          <p:cNvSpPr>
            <a:spLocks noChangeShapeType="1"/>
          </p:cNvSpPr>
          <p:nvPr/>
        </p:nvSpPr>
        <p:spPr bwMode="auto">
          <a:xfrm>
            <a:off x="3997325" y="2247900"/>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5970" name="Text Box 51"/>
          <p:cNvSpPr txBox="1">
            <a:spLocks noChangeArrowheads="1"/>
          </p:cNvSpPr>
          <p:nvPr/>
        </p:nvSpPr>
        <p:spPr bwMode="auto">
          <a:xfrm>
            <a:off x="3648075" y="3065463"/>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45971" name="Text Box 52"/>
          <p:cNvSpPr txBox="1">
            <a:spLocks noChangeArrowheads="1"/>
          </p:cNvSpPr>
          <p:nvPr/>
        </p:nvSpPr>
        <p:spPr bwMode="auto">
          <a:xfrm>
            <a:off x="6207125" y="1830388"/>
            <a:ext cx="869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CRLF</a:t>
            </a:r>
          </a:p>
        </p:txBody>
      </p:sp>
      <p:sp>
        <p:nvSpPr>
          <p:cNvPr id="1745972" name="Text Box 53"/>
          <p:cNvSpPr txBox="1">
            <a:spLocks noChangeArrowheads="1"/>
          </p:cNvSpPr>
          <p:nvPr/>
        </p:nvSpPr>
        <p:spPr bwMode="auto">
          <a:xfrm>
            <a:off x="4494213" y="3071813"/>
            <a:ext cx="919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333399"/>
                </a:solidFill>
                <a:ea typeface="黑体" panose="02010609060101010101" pitchFamily="49" charset="-122"/>
              </a:rPr>
              <a:t>CRLF</a:t>
            </a:r>
          </a:p>
        </p:txBody>
      </p:sp>
      <p:sp>
        <p:nvSpPr>
          <p:cNvPr id="1745973" name="Text Box 54"/>
          <p:cNvSpPr txBox="1">
            <a:spLocks noChangeArrowheads="1"/>
          </p:cNvSpPr>
          <p:nvPr/>
        </p:nvSpPr>
        <p:spPr bwMode="auto">
          <a:xfrm>
            <a:off x="4500563" y="2262188"/>
            <a:ext cx="8715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CRLF</a:t>
            </a:r>
          </a:p>
        </p:txBody>
      </p:sp>
      <p:sp>
        <p:nvSpPr>
          <p:cNvPr id="1745974" name="Text Box 55"/>
          <p:cNvSpPr txBox="1">
            <a:spLocks noChangeArrowheads="1"/>
          </p:cNvSpPr>
          <p:nvPr/>
        </p:nvSpPr>
        <p:spPr bwMode="auto">
          <a:xfrm>
            <a:off x="2044700" y="3463925"/>
            <a:ext cx="871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CRLF</a:t>
            </a:r>
          </a:p>
        </p:txBody>
      </p:sp>
      <p:sp>
        <p:nvSpPr>
          <p:cNvPr id="1745975" name="Text Box 56"/>
          <p:cNvSpPr txBox="1">
            <a:spLocks noChangeArrowheads="1"/>
          </p:cNvSpPr>
          <p:nvPr/>
        </p:nvSpPr>
        <p:spPr bwMode="auto">
          <a:xfrm>
            <a:off x="2457450" y="4926013"/>
            <a:ext cx="4602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a:solidFill>
                  <a:srgbClr val="0000FF"/>
                </a:solidFill>
                <a:ea typeface="黑体" panose="02010609060101010101" pitchFamily="49" charset="-122"/>
              </a:rPr>
              <a:t>“</a:t>
            </a:r>
            <a:r>
              <a:rPr lang="zh-CN" altLang="en-US" sz="2800" b="1">
                <a:solidFill>
                  <a:srgbClr val="0000FF"/>
                </a:solidFill>
                <a:ea typeface="黑体" panose="02010609060101010101" pitchFamily="49" charset="-122"/>
              </a:rPr>
              <a:t>版本”</a:t>
            </a:r>
            <a:r>
              <a:rPr lang="zh-CN" altLang="en-US" sz="2800" b="1">
                <a:solidFill>
                  <a:srgbClr val="0000FF"/>
                </a:solidFill>
                <a:latin typeface="黑体" panose="02010609060101010101" pitchFamily="49" charset="-122"/>
                <a:ea typeface="黑体" panose="02010609060101010101" pitchFamily="49" charset="-122"/>
              </a:rPr>
              <a:t>是</a:t>
            </a:r>
            <a:r>
              <a:rPr lang="zh-CN" altLang="en-US" sz="2800" b="1">
                <a:solidFill>
                  <a:srgbClr val="0000FF"/>
                </a:solidFill>
                <a:ea typeface="黑体" panose="02010609060101010101" pitchFamily="49" charset="-122"/>
              </a:rPr>
              <a:t> </a:t>
            </a:r>
            <a:r>
              <a:rPr lang="en-US" altLang="zh-CN" sz="2800" b="1">
                <a:solidFill>
                  <a:srgbClr val="0000FF"/>
                </a:solidFill>
                <a:ea typeface="黑体" panose="02010609060101010101" pitchFamily="49" charset="-122"/>
              </a:rPr>
              <a:t>HTTP </a:t>
            </a:r>
            <a:r>
              <a:rPr lang="zh-CN" altLang="en-US" sz="2800" b="1">
                <a:solidFill>
                  <a:srgbClr val="0000FF"/>
                </a:solidFill>
                <a:latin typeface="黑体" panose="02010609060101010101" pitchFamily="49" charset="-122"/>
                <a:ea typeface="黑体" panose="02010609060101010101" pitchFamily="49" charset="-122"/>
              </a:rPr>
              <a:t>的版本</a:t>
            </a:r>
            <a:r>
              <a:rPr lang="zh-CN" altLang="en-US" sz="2800" b="1">
                <a:solidFill>
                  <a:srgbClr val="0000FF"/>
                </a:solidFill>
                <a:ea typeface="黑体" panose="02010609060101010101" pitchFamily="49" charset="-122"/>
              </a:rPr>
              <a:t>。</a:t>
            </a:r>
          </a:p>
        </p:txBody>
      </p:sp>
      <p:sp>
        <p:nvSpPr>
          <p:cNvPr id="656441" name="Rectangle 57"/>
          <p:cNvSpPr>
            <a:spLocks noChangeArrowheads="1"/>
          </p:cNvSpPr>
          <p:nvPr/>
        </p:nvSpPr>
        <p:spPr bwMode="auto">
          <a:xfrm>
            <a:off x="4795838" y="1757363"/>
            <a:ext cx="1560512" cy="576262"/>
          </a:xfrm>
          <a:prstGeom prst="rect">
            <a:avLst/>
          </a:prstGeom>
          <a:noFill/>
          <a:ln w="571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74597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DC8DA63-CDD4-4475-AF05-7B9E31112215}" type="slidenum">
              <a:rPr lang="zh-CN" altLang="en-US" smtClean="0"/>
              <a:pPr eaLnBrk="1" hangingPunct="1"/>
              <a:t>45</a:t>
            </a:fld>
            <a:endParaRPr lang="en-US" altLang="zh-CN" smtClean="0"/>
          </a:p>
        </p:txBody>
      </p:sp>
      <p:sp>
        <p:nvSpPr>
          <p:cNvPr id="174597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56441"/>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65644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441" grpId="0" animBg="1"/>
      <p:bldP spid="656441"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7969" name="Rectangle 2"/>
          <p:cNvSpPr>
            <a:spLocks noChangeArrowheads="1"/>
          </p:cNvSpPr>
          <p:nvPr/>
        </p:nvSpPr>
        <p:spPr bwMode="auto">
          <a:xfrm>
            <a:off x="2041525" y="3065463"/>
            <a:ext cx="3398838" cy="407987"/>
          </a:xfrm>
          <a:prstGeom prst="rect">
            <a:avLst/>
          </a:prstGeom>
          <a:solidFill>
            <a:srgbClr val="FFFF99"/>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47970" name="Rectangle 3"/>
          <p:cNvSpPr>
            <a:spLocks noChangeArrowheads="1"/>
          </p:cNvSpPr>
          <p:nvPr/>
        </p:nvSpPr>
        <p:spPr bwMode="auto">
          <a:xfrm>
            <a:off x="2041525" y="2249488"/>
            <a:ext cx="3398838" cy="407987"/>
          </a:xfrm>
          <a:prstGeom prst="rect">
            <a:avLst/>
          </a:prstGeom>
          <a:solidFill>
            <a:srgbClr val="FFFF99"/>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47971" name="Rectangle 4"/>
          <p:cNvSpPr>
            <a:spLocks noChangeArrowheads="1"/>
          </p:cNvSpPr>
          <p:nvPr/>
        </p:nvSpPr>
        <p:spPr bwMode="auto">
          <a:xfrm>
            <a:off x="2041525" y="1843088"/>
            <a:ext cx="5202238" cy="406400"/>
          </a:xfrm>
          <a:prstGeom prst="rect">
            <a:avLst/>
          </a:prstGeom>
          <a:solidFill>
            <a:srgbClr val="FFFF99"/>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47972" name="Rectangle 5"/>
          <p:cNvSpPr>
            <a:spLocks noGrp="1" noChangeArrowheads="1"/>
          </p:cNvSpPr>
          <p:nvPr>
            <p:ph type="title"/>
          </p:nvPr>
        </p:nvSpPr>
        <p:spPr/>
        <p:txBody>
          <a:bodyPr/>
          <a:lstStyle/>
          <a:p>
            <a:pPr algn="ctr"/>
            <a:r>
              <a:rPr lang="en-US" altLang="zh-CN" smtClean="0">
                <a:ea typeface="黑体" panose="02010609060101010101" pitchFamily="49" charset="-122"/>
              </a:rPr>
              <a:t>HTTP </a:t>
            </a:r>
            <a:r>
              <a:rPr lang="zh-CN" altLang="zh-CN" smtClean="0">
                <a:ea typeface="黑体" panose="02010609060101010101" pitchFamily="49" charset="-122"/>
              </a:rPr>
              <a:t>的报文结构（响应报文） </a:t>
            </a:r>
          </a:p>
        </p:txBody>
      </p:sp>
      <p:sp>
        <p:nvSpPr>
          <p:cNvPr id="1747973" name="Rectangle 6"/>
          <p:cNvSpPr>
            <a:spLocks noChangeArrowheads="1"/>
          </p:cNvSpPr>
          <p:nvPr/>
        </p:nvSpPr>
        <p:spPr bwMode="auto">
          <a:xfrm>
            <a:off x="4478338" y="3074988"/>
            <a:ext cx="962025" cy="388937"/>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7974" name="Rectangle 7"/>
          <p:cNvSpPr>
            <a:spLocks noChangeArrowheads="1"/>
          </p:cNvSpPr>
          <p:nvPr/>
        </p:nvSpPr>
        <p:spPr bwMode="auto">
          <a:xfrm>
            <a:off x="2047875" y="3492500"/>
            <a:ext cx="985838" cy="3873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7975" name="Rectangle 8"/>
          <p:cNvSpPr>
            <a:spLocks noChangeArrowheads="1"/>
          </p:cNvSpPr>
          <p:nvPr/>
        </p:nvSpPr>
        <p:spPr bwMode="auto">
          <a:xfrm>
            <a:off x="4478338" y="2259013"/>
            <a:ext cx="962025" cy="39846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7976" name="Rectangle 9"/>
          <p:cNvSpPr>
            <a:spLocks noChangeArrowheads="1"/>
          </p:cNvSpPr>
          <p:nvPr/>
        </p:nvSpPr>
        <p:spPr bwMode="auto">
          <a:xfrm>
            <a:off x="3876675" y="3074988"/>
            <a:ext cx="130175" cy="39846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7977" name="Rectangle 10"/>
          <p:cNvSpPr>
            <a:spLocks noChangeArrowheads="1"/>
          </p:cNvSpPr>
          <p:nvPr/>
        </p:nvSpPr>
        <p:spPr bwMode="auto">
          <a:xfrm>
            <a:off x="3876675" y="2259013"/>
            <a:ext cx="120650" cy="39846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7978" name="Line 11"/>
          <p:cNvSpPr>
            <a:spLocks noChangeShapeType="1"/>
          </p:cNvSpPr>
          <p:nvPr/>
        </p:nvSpPr>
        <p:spPr bwMode="auto">
          <a:xfrm>
            <a:off x="3727450" y="3065463"/>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7979" name="Line 12"/>
          <p:cNvSpPr>
            <a:spLocks noChangeShapeType="1"/>
          </p:cNvSpPr>
          <p:nvPr/>
        </p:nvSpPr>
        <p:spPr bwMode="auto">
          <a:xfrm>
            <a:off x="4478338" y="3065463"/>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7980" name="Line 13"/>
          <p:cNvSpPr>
            <a:spLocks noChangeShapeType="1"/>
          </p:cNvSpPr>
          <p:nvPr/>
        </p:nvSpPr>
        <p:spPr bwMode="auto">
          <a:xfrm>
            <a:off x="3876675" y="3065463"/>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7981" name="Rectangle 14"/>
          <p:cNvSpPr>
            <a:spLocks noChangeArrowheads="1"/>
          </p:cNvSpPr>
          <p:nvPr/>
        </p:nvSpPr>
        <p:spPr bwMode="auto">
          <a:xfrm>
            <a:off x="6251575" y="1852613"/>
            <a:ext cx="992188"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7982" name="Rectangle 15"/>
          <p:cNvSpPr>
            <a:spLocks noChangeArrowheads="1"/>
          </p:cNvSpPr>
          <p:nvPr/>
        </p:nvSpPr>
        <p:spPr bwMode="auto">
          <a:xfrm>
            <a:off x="4808538" y="1852613"/>
            <a:ext cx="120650"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7983" name="Rectangle 16"/>
          <p:cNvSpPr>
            <a:spLocks noChangeArrowheads="1"/>
          </p:cNvSpPr>
          <p:nvPr/>
        </p:nvSpPr>
        <p:spPr bwMode="auto">
          <a:xfrm>
            <a:off x="3365500" y="1852613"/>
            <a:ext cx="120650"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ea typeface="宋体" panose="02010600030101010101" pitchFamily="2" charset="-122"/>
            </a:endParaRPr>
          </a:p>
        </p:txBody>
      </p:sp>
      <p:sp>
        <p:nvSpPr>
          <p:cNvPr id="1747984" name="Text Box 17"/>
          <p:cNvSpPr txBox="1">
            <a:spLocks noChangeArrowheads="1"/>
          </p:cNvSpPr>
          <p:nvPr/>
        </p:nvSpPr>
        <p:spPr bwMode="auto">
          <a:xfrm>
            <a:off x="2227263" y="1831975"/>
            <a:ext cx="909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版   本</a:t>
            </a:r>
          </a:p>
        </p:txBody>
      </p:sp>
      <p:sp>
        <p:nvSpPr>
          <p:cNvPr id="1747985" name="Line 18"/>
          <p:cNvSpPr>
            <a:spLocks noChangeShapeType="1"/>
          </p:cNvSpPr>
          <p:nvPr/>
        </p:nvSpPr>
        <p:spPr bwMode="auto">
          <a:xfrm>
            <a:off x="3365500" y="1843088"/>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7986" name="Line 19"/>
          <p:cNvSpPr>
            <a:spLocks noChangeShapeType="1"/>
          </p:cNvSpPr>
          <p:nvPr/>
        </p:nvSpPr>
        <p:spPr bwMode="auto">
          <a:xfrm>
            <a:off x="3486150" y="1843088"/>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7987" name="Line 20"/>
          <p:cNvSpPr>
            <a:spLocks noChangeShapeType="1"/>
          </p:cNvSpPr>
          <p:nvPr/>
        </p:nvSpPr>
        <p:spPr bwMode="auto">
          <a:xfrm>
            <a:off x="4808538" y="1843088"/>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7988" name="Line 21"/>
          <p:cNvSpPr>
            <a:spLocks noChangeShapeType="1"/>
          </p:cNvSpPr>
          <p:nvPr/>
        </p:nvSpPr>
        <p:spPr bwMode="auto">
          <a:xfrm>
            <a:off x="4929188" y="1843088"/>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7989" name="Line 22"/>
          <p:cNvSpPr>
            <a:spLocks noChangeShapeType="1"/>
          </p:cNvSpPr>
          <p:nvPr/>
        </p:nvSpPr>
        <p:spPr bwMode="auto">
          <a:xfrm>
            <a:off x="6251575" y="1843088"/>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7990" name="Text Box 23"/>
          <p:cNvSpPr txBox="1">
            <a:spLocks noChangeArrowheads="1"/>
          </p:cNvSpPr>
          <p:nvPr/>
        </p:nvSpPr>
        <p:spPr bwMode="auto">
          <a:xfrm>
            <a:off x="3627438" y="1817688"/>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状态码</a:t>
            </a:r>
          </a:p>
        </p:txBody>
      </p:sp>
      <p:sp>
        <p:nvSpPr>
          <p:cNvPr id="1747991" name="Text Box 24"/>
          <p:cNvSpPr txBox="1">
            <a:spLocks noChangeArrowheads="1"/>
          </p:cNvSpPr>
          <p:nvPr/>
        </p:nvSpPr>
        <p:spPr bwMode="auto">
          <a:xfrm>
            <a:off x="5065713" y="1831975"/>
            <a:ext cx="909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短   语</a:t>
            </a:r>
          </a:p>
        </p:txBody>
      </p:sp>
      <p:sp>
        <p:nvSpPr>
          <p:cNvPr id="1747992" name="Text Box 25"/>
          <p:cNvSpPr txBox="1">
            <a:spLocks noChangeArrowheads="1"/>
          </p:cNvSpPr>
          <p:nvPr/>
        </p:nvSpPr>
        <p:spPr bwMode="auto">
          <a:xfrm>
            <a:off x="2049463" y="2244725"/>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首部字段名</a:t>
            </a:r>
          </a:p>
        </p:txBody>
      </p:sp>
      <p:sp>
        <p:nvSpPr>
          <p:cNvPr id="1747993" name="Line 26"/>
          <p:cNvSpPr>
            <a:spLocks noChangeShapeType="1"/>
          </p:cNvSpPr>
          <p:nvPr/>
        </p:nvSpPr>
        <p:spPr bwMode="auto">
          <a:xfrm>
            <a:off x="3727450" y="2249488"/>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7994" name="Line 27"/>
          <p:cNvSpPr>
            <a:spLocks noChangeShapeType="1"/>
          </p:cNvSpPr>
          <p:nvPr/>
        </p:nvSpPr>
        <p:spPr bwMode="auto">
          <a:xfrm>
            <a:off x="4478338" y="2249488"/>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7995" name="Text Box 28"/>
          <p:cNvSpPr txBox="1">
            <a:spLocks noChangeArrowheads="1"/>
          </p:cNvSpPr>
          <p:nvPr/>
        </p:nvSpPr>
        <p:spPr bwMode="auto">
          <a:xfrm>
            <a:off x="5689600" y="266065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首部行</a:t>
            </a:r>
          </a:p>
        </p:txBody>
      </p:sp>
      <p:sp>
        <p:nvSpPr>
          <p:cNvPr id="1747996" name="Line 29"/>
          <p:cNvSpPr>
            <a:spLocks noChangeShapeType="1"/>
          </p:cNvSpPr>
          <p:nvPr/>
        </p:nvSpPr>
        <p:spPr bwMode="auto">
          <a:xfrm>
            <a:off x="3876675" y="2249488"/>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7997" name="Text Box 30"/>
          <p:cNvSpPr txBox="1">
            <a:spLocks noChangeArrowheads="1"/>
          </p:cNvSpPr>
          <p:nvPr/>
        </p:nvSpPr>
        <p:spPr bwMode="auto">
          <a:xfrm>
            <a:off x="3648075" y="2246313"/>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47998" name="Text Box 31"/>
          <p:cNvSpPr txBox="1">
            <a:spLocks noChangeArrowheads="1"/>
          </p:cNvSpPr>
          <p:nvPr/>
        </p:nvSpPr>
        <p:spPr bwMode="auto">
          <a:xfrm>
            <a:off x="4008438" y="2252663"/>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值</a:t>
            </a:r>
          </a:p>
        </p:txBody>
      </p:sp>
      <p:sp>
        <p:nvSpPr>
          <p:cNvPr id="1747999" name="Text Box 32"/>
          <p:cNvSpPr txBox="1">
            <a:spLocks noChangeArrowheads="1"/>
          </p:cNvSpPr>
          <p:nvPr/>
        </p:nvSpPr>
        <p:spPr bwMode="auto">
          <a:xfrm>
            <a:off x="2044700" y="3052763"/>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首部字段名</a:t>
            </a:r>
          </a:p>
        </p:txBody>
      </p:sp>
      <p:sp>
        <p:nvSpPr>
          <p:cNvPr id="1748000" name="Text Box 33"/>
          <p:cNvSpPr txBox="1">
            <a:spLocks noChangeArrowheads="1"/>
          </p:cNvSpPr>
          <p:nvPr/>
        </p:nvSpPr>
        <p:spPr bwMode="auto">
          <a:xfrm>
            <a:off x="4033838" y="3065463"/>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值</a:t>
            </a:r>
          </a:p>
        </p:txBody>
      </p:sp>
      <p:sp>
        <p:nvSpPr>
          <p:cNvPr id="1748001" name="Text Box 34"/>
          <p:cNvSpPr txBox="1">
            <a:spLocks noChangeArrowheads="1"/>
          </p:cNvSpPr>
          <p:nvPr/>
        </p:nvSpPr>
        <p:spPr bwMode="auto">
          <a:xfrm>
            <a:off x="3606800" y="3684588"/>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48002" name="Text Box 35"/>
          <p:cNvSpPr txBox="1">
            <a:spLocks noChangeArrowheads="1"/>
          </p:cNvSpPr>
          <p:nvPr/>
        </p:nvSpPr>
        <p:spPr bwMode="auto">
          <a:xfrm rot="-5400000">
            <a:off x="2871787" y="2687638"/>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48003" name="AutoShape 36"/>
          <p:cNvSpPr>
            <a:spLocks/>
          </p:cNvSpPr>
          <p:nvPr/>
        </p:nvSpPr>
        <p:spPr bwMode="auto">
          <a:xfrm>
            <a:off x="5514975" y="2301875"/>
            <a:ext cx="241300" cy="1171575"/>
          </a:xfrm>
          <a:prstGeom prst="rightBrace">
            <a:avLst>
              <a:gd name="adj1" fmla="val 43832"/>
              <a:gd name="adj2" fmla="val 50000"/>
            </a:avLst>
          </a:prstGeom>
          <a:noFill/>
          <a:ln w="1905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748004" name="Rectangle 37"/>
          <p:cNvSpPr>
            <a:spLocks noChangeArrowheads="1"/>
          </p:cNvSpPr>
          <p:nvPr/>
        </p:nvSpPr>
        <p:spPr bwMode="auto">
          <a:xfrm>
            <a:off x="2041525" y="3879850"/>
            <a:ext cx="5413375" cy="917575"/>
          </a:xfrm>
          <a:prstGeom prst="rect">
            <a:avLst/>
          </a:prstGeom>
          <a:solidFill>
            <a:srgbClr val="FFCCFF"/>
          </a:solidFill>
          <a:ln w="9525">
            <a:solidFill>
              <a:schemeClr val="tx1"/>
            </a:solidFill>
            <a:miter lim="800000"/>
            <a:headEnd/>
            <a:tailEnd/>
          </a:ln>
        </p:spPr>
        <p:txBody>
          <a:bodyPr wrap="none" anchor="ctr"/>
          <a:lstStyle/>
          <a:p>
            <a:endParaRPr lang="zh-CN" altLang="en-US" b="1">
              <a:ea typeface="宋体" panose="02010600030101010101" pitchFamily="2" charset="-122"/>
            </a:endParaRPr>
          </a:p>
        </p:txBody>
      </p:sp>
      <p:sp>
        <p:nvSpPr>
          <p:cNvPr id="1748005" name="Text Box 38"/>
          <p:cNvSpPr txBox="1">
            <a:spLocks noChangeArrowheads="1"/>
          </p:cNvSpPr>
          <p:nvPr/>
        </p:nvSpPr>
        <p:spPr bwMode="auto">
          <a:xfrm>
            <a:off x="3317875" y="3973513"/>
            <a:ext cx="27495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333399"/>
                </a:solidFill>
                <a:ea typeface="黑体" panose="02010609060101010101" pitchFamily="49" charset="-122"/>
              </a:rPr>
              <a:t>实体主体</a:t>
            </a:r>
          </a:p>
          <a:p>
            <a:pPr algn="ctr"/>
            <a:r>
              <a:rPr lang="zh-CN" altLang="en-US" sz="2000" b="1">
                <a:solidFill>
                  <a:srgbClr val="333399"/>
                </a:solidFill>
                <a:ea typeface="黑体" panose="02010609060101010101" pitchFamily="49" charset="-122"/>
              </a:rPr>
              <a:t>（有些响应报文不用）</a:t>
            </a:r>
          </a:p>
        </p:txBody>
      </p:sp>
      <p:sp>
        <p:nvSpPr>
          <p:cNvPr id="1748006" name="Text Box 39"/>
          <p:cNvSpPr txBox="1">
            <a:spLocks noChangeArrowheads="1"/>
          </p:cNvSpPr>
          <p:nvPr/>
        </p:nvSpPr>
        <p:spPr bwMode="auto">
          <a:xfrm>
            <a:off x="7204075" y="1831975"/>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状态行</a:t>
            </a:r>
          </a:p>
        </p:txBody>
      </p:sp>
      <p:sp>
        <p:nvSpPr>
          <p:cNvPr id="1748007" name="Line 40"/>
          <p:cNvSpPr>
            <a:spLocks noChangeShapeType="1"/>
          </p:cNvSpPr>
          <p:nvPr/>
        </p:nvSpPr>
        <p:spPr bwMode="auto">
          <a:xfrm>
            <a:off x="2041525" y="2657475"/>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8008" name="Line 41"/>
          <p:cNvSpPr>
            <a:spLocks noChangeShapeType="1"/>
          </p:cNvSpPr>
          <p:nvPr/>
        </p:nvSpPr>
        <p:spPr bwMode="auto">
          <a:xfrm>
            <a:off x="2041525" y="3473450"/>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8009" name="Line 42"/>
          <p:cNvSpPr>
            <a:spLocks noChangeShapeType="1"/>
          </p:cNvSpPr>
          <p:nvPr/>
        </p:nvSpPr>
        <p:spPr bwMode="auto">
          <a:xfrm>
            <a:off x="3033713" y="3473450"/>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8010" name="Line 43"/>
          <p:cNvSpPr>
            <a:spLocks noChangeShapeType="1"/>
          </p:cNvSpPr>
          <p:nvPr/>
        </p:nvSpPr>
        <p:spPr bwMode="auto">
          <a:xfrm>
            <a:off x="5440363" y="2657475"/>
            <a:ext cx="0" cy="407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8011" name="Text Box 44"/>
          <p:cNvSpPr txBox="1">
            <a:spLocks noChangeArrowheads="1"/>
          </p:cNvSpPr>
          <p:nvPr/>
        </p:nvSpPr>
        <p:spPr bwMode="auto">
          <a:xfrm>
            <a:off x="3736975" y="1182688"/>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空格</a:t>
            </a:r>
          </a:p>
        </p:txBody>
      </p:sp>
      <p:sp>
        <p:nvSpPr>
          <p:cNvPr id="1748012" name="Text Box 45"/>
          <p:cNvSpPr txBox="1">
            <a:spLocks noChangeArrowheads="1"/>
          </p:cNvSpPr>
          <p:nvPr/>
        </p:nvSpPr>
        <p:spPr bwMode="auto">
          <a:xfrm>
            <a:off x="5835650" y="1182688"/>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333399"/>
                </a:solidFill>
                <a:ea typeface="黑体" panose="02010609060101010101" pitchFamily="49" charset="-122"/>
              </a:rPr>
              <a:t>回车换行</a:t>
            </a:r>
          </a:p>
        </p:txBody>
      </p:sp>
      <p:sp>
        <p:nvSpPr>
          <p:cNvPr id="1748013" name="Line 46"/>
          <p:cNvSpPr>
            <a:spLocks noChangeShapeType="1"/>
          </p:cNvSpPr>
          <p:nvPr/>
        </p:nvSpPr>
        <p:spPr bwMode="auto">
          <a:xfrm>
            <a:off x="4397375" y="1536700"/>
            <a:ext cx="442913" cy="306388"/>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8014" name="Line 47"/>
          <p:cNvSpPr>
            <a:spLocks noChangeShapeType="1"/>
          </p:cNvSpPr>
          <p:nvPr/>
        </p:nvSpPr>
        <p:spPr bwMode="auto">
          <a:xfrm flipH="1">
            <a:off x="3395663" y="1536700"/>
            <a:ext cx="481012" cy="306388"/>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8015" name="Line 48"/>
          <p:cNvSpPr>
            <a:spLocks noChangeShapeType="1"/>
          </p:cNvSpPr>
          <p:nvPr/>
        </p:nvSpPr>
        <p:spPr bwMode="auto">
          <a:xfrm>
            <a:off x="6481763" y="1536700"/>
            <a:ext cx="241300" cy="306388"/>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8016" name="Line 49"/>
          <p:cNvSpPr>
            <a:spLocks noChangeShapeType="1"/>
          </p:cNvSpPr>
          <p:nvPr/>
        </p:nvSpPr>
        <p:spPr bwMode="auto">
          <a:xfrm>
            <a:off x="3997325" y="3065463"/>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8017" name="Line 50"/>
          <p:cNvSpPr>
            <a:spLocks noChangeShapeType="1"/>
          </p:cNvSpPr>
          <p:nvPr/>
        </p:nvSpPr>
        <p:spPr bwMode="auto">
          <a:xfrm>
            <a:off x="3997325" y="2249488"/>
            <a:ext cx="0" cy="407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748018" name="Text Box 51"/>
          <p:cNvSpPr txBox="1">
            <a:spLocks noChangeArrowheads="1"/>
          </p:cNvSpPr>
          <p:nvPr/>
        </p:nvSpPr>
        <p:spPr bwMode="auto">
          <a:xfrm>
            <a:off x="3648075" y="3067050"/>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a:t>
            </a:r>
          </a:p>
        </p:txBody>
      </p:sp>
      <p:sp>
        <p:nvSpPr>
          <p:cNvPr id="1748019" name="Text Box 52"/>
          <p:cNvSpPr txBox="1">
            <a:spLocks noChangeArrowheads="1"/>
          </p:cNvSpPr>
          <p:nvPr/>
        </p:nvSpPr>
        <p:spPr bwMode="auto">
          <a:xfrm>
            <a:off x="6207125" y="1831975"/>
            <a:ext cx="869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CRLF</a:t>
            </a:r>
          </a:p>
        </p:txBody>
      </p:sp>
      <p:sp>
        <p:nvSpPr>
          <p:cNvPr id="1748020" name="Text Box 53"/>
          <p:cNvSpPr txBox="1">
            <a:spLocks noChangeArrowheads="1"/>
          </p:cNvSpPr>
          <p:nvPr/>
        </p:nvSpPr>
        <p:spPr bwMode="auto">
          <a:xfrm>
            <a:off x="4494213" y="3073400"/>
            <a:ext cx="919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a:solidFill>
                  <a:srgbClr val="333399"/>
                </a:solidFill>
                <a:ea typeface="黑体" panose="02010609060101010101" pitchFamily="49" charset="-122"/>
              </a:rPr>
              <a:t>CRLF</a:t>
            </a:r>
          </a:p>
        </p:txBody>
      </p:sp>
      <p:sp>
        <p:nvSpPr>
          <p:cNvPr id="1748021" name="Text Box 54"/>
          <p:cNvSpPr txBox="1">
            <a:spLocks noChangeArrowheads="1"/>
          </p:cNvSpPr>
          <p:nvPr/>
        </p:nvSpPr>
        <p:spPr bwMode="auto">
          <a:xfrm>
            <a:off x="4500563" y="2263775"/>
            <a:ext cx="8715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CRLF</a:t>
            </a:r>
          </a:p>
        </p:txBody>
      </p:sp>
      <p:sp>
        <p:nvSpPr>
          <p:cNvPr id="1748022" name="Text Box 55"/>
          <p:cNvSpPr txBox="1">
            <a:spLocks noChangeArrowheads="1"/>
          </p:cNvSpPr>
          <p:nvPr/>
        </p:nvSpPr>
        <p:spPr bwMode="auto">
          <a:xfrm>
            <a:off x="2044700" y="3465513"/>
            <a:ext cx="871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333399"/>
                </a:solidFill>
                <a:ea typeface="黑体" panose="02010609060101010101" pitchFamily="49" charset="-122"/>
              </a:rPr>
              <a:t>CRLF</a:t>
            </a:r>
          </a:p>
        </p:txBody>
      </p:sp>
      <p:sp>
        <p:nvSpPr>
          <p:cNvPr id="1748023" name="Text Box 56"/>
          <p:cNvSpPr txBox="1">
            <a:spLocks noChangeArrowheads="1"/>
          </p:cNvSpPr>
          <p:nvPr/>
        </p:nvSpPr>
        <p:spPr bwMode="auto">
          <a:xfrm>
            <a:off x="584200" y="4864100"/>
            <a:ext cx="889317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0000FF"/>
                </a:solidFill>
                <a:latin typeface="黑体" panose="02010609060101010101" pitchFamily="49" charset="-122"/>
                <a:ea typeface="黑体" panose="02010609060101010101" pitchFamily="49" charset="-122"/>
              </a:rPr>
              <a:t>响应报文的开始行是</a:t>
            </a:r>
            <a:r>
              <a:rPr lang="zh-CN" altLang="en-US" sz="2800" b="1">
                <a:solidFill>
                  <a:srgbClr val="FF0000"/>
                </a:solidFill>
                <a:latin typeface="黑体" panose="02010609060101010101" pitchFamily="49" charset="-122"/>
                <a:ea typeface="黑体" panose="02010609060101010101" pitchFamily="49" charset="-122"/>
              </a:rPr>
              <a:t>状态行</a:t>
            </a:r>
            <a:r>
              <a:rPr lang="zh-CN" altLang="en-US" sz="2800" b="1">
                <a:solidFill>
                  <a:srgbClr val="FF0000"/>
                </a:solidFill>
                <a:ea typeface="黑体" panose="02010609060101010101" pitchFamily="49" charset="-122"/>
              </a:rPr>
              <a:t>。</a:t>
            </a:r>
          </a:p>
          <a:p>
            <a:r>
              <a:rPr lang="zh-CN" altLang="en-US" sz="2800" b="1">
                <a:solidFill>
                  <a:srgbClr val="0000FF"/>
                </a:solidFill>
                <a:ea typeface="黑体" panose="02010609060101010101" pitchFamily="49" charset="-122"/>
              </a:rPr>
              <a:t>状态行包括三项内容，即 </a:t>
            </a:r>
            <a:r>
              <a:rPr lang="en-US" altLang="zh-CN" sz="2800" b="1">
                <a:solidFill>
                  <a:srgbClr val="FF0000"/>
                </a:solidFill>
                <a:ea typeface="黑体" panose="02010609060101010101" pitchFamily="49" charset="-122"/>
              </a:rPr>
              <a:t>HTTP </a:t>
            </a:r>
            <a:r>
              <a:rPr lang="zh-CN" altLang="en-US" sz="2800" b="1">
                <a:solidFill>
                  <a:srgbClr val="FF0000"/>
                </a:solidFill>
                <a:ea typeface="黑体" panose="02010609060101010101" pitchFamily="49" charset="-122"/>
              </a:rPr>
              <a:t>的版本，状态码，</a:t>
            </a:r>
            <a:r>
              <a:rPr lang="zh-CN" altLang="en-US" sz="2800" b="1">
                <a:solidFill>
                  <a:srgbClr val="0000FF"/>
                </a:solidFill>
                <a:ea typeface="黑体" panose="02010609060101010101" pitchFamily="49" charset="-122"/>
              </a:rPr>
              <a:t>以及解释状态码的</a:t>
            </a:r>
            <a:r>
              <a:rPr lang="zh-CN" altLang="en-US" sz="2800" b="1">
                <a:solidFill>
                  <a:srgbClr val="FF0000"/>
                </a:solidFill>
                <a:ea typeface="黑体" panose="02010609060101010101" pitchFamily="49" charset="-122"/>
              </a:rPr>
              <a:t>简单短语。</a:t>
            </a:r>
            <a:r>
              <a:rPr lang="zh-CN" altLang="en-US" sz="2800" b="1">
                <a:solidFill>
                  <a:srgbClr val="FF0000"/>
                </a:solidFill>
                <a:latin typeface="Tahoma" panose="020B0604030504040204" pitchFamily="34" charset="0"/>
                <a:ea typeface="宋体" panose="02010600030101010101" pitchFamily="2" charset="-122"/>
              </a:rPr>
              <a:t> </a:t>
            </a:r>
          </a:p>
        </p:txBody>
      </p:sp>
      <p:grpSp>
        <p:nvGrpSpPr>
          <p:cNvPr id="652346" name="Group 58"/>
          <p:cNvGrpSpPr>
            <a:grpSpLocks/>
          </p:cNvGrpSpPr>
          <p:nvPr/>
        </p:nvGrpSpPr>
        <p:grpSpPr bwMode="auto">
          <a:xfrm>
            <a:off x="406400" y="1758950"/>
            <a:ext cx="8524875" cy="576263"/>
            <a:chOff x="236" y="1026"/>
            <a:chExt cx="4957" cy="363"/>
          </a:xfrm>
        </p:grpSpPr>
        <p:sp>
          <p:nvSpPr>
            <p:cNvPr id="1748025" name="Rectangle 59"/>
            <p:cNvSpPr>
              <a:spLocks noChangeArrowheads="1"/>
            </p:cNvSpPr>
            <p:nvPr/>
          </p:nvSpPr>
          <p:spPr bwMode="auto">
            <a:xfrm>
              <a:off x="1111" y="1026"/>
              <a:ext cx="4082" cy="363"/>
            </a:xfrm>
            <a:prstGeom prst="rect">
              <a:avLst/>
            </a:prstGeom>
            <a:noFill/>
            <a:ln w="571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748026" name="Text Box 60"/>
            <p:cNvSpPr txBox="1">
              <a:spLocks noChangeArrowheads="1"/>
            </p:cNvSpPr>
            <p:nvPr/>
          </p:nvSpPr>
          <p:spPr bwMode="auto">
            <a:xfrm>
              <a:off x="236" y="1027"/>
              <a:ext cx="73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333399"/>
                  </a:solidFill>
                  <a:latin typeface="Tahoma" panose="020B0604030504040204" pitchFamily="34" charset="0"/>
                  <a:ea typeface="黑体" panose="02010609060101010101" pitchFamily="49" charset="-122"/>
                </a:rPr>
                <a:t>开始行</a:t>
              </a:r>
            </a:p>
          </p:txBody>
        </p:sp>
      </p:grpSp>
      <p:sp>
        <p:nvSpPr>
          <p:cNvPr id="17480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C30019-D4A6-41C2-BE2B-707765DA2536}" type="slidenum">
              <a:rPr lang="zh-CN" altLang="en-US" smtClean="0"/>
              <a:pPr eaLnBrk="1" hangingPunct="1"/>
              <a:t>46</a:t>
            </a:fld>
            <a:endParaRPr lang="en-US" altLang="zh-CN" smtClean="0"/>
          </a:p>
        </p:txBody>
      </p:sp>
      <p:sp>
        <p:nvSpPr>
          <p:cNvPr id="17480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repeatCount="3000" fill="hold" nodeType="clickEffect">
                                  <p:stCondLst>
                                    <p:cond delay="0"/>
                                  </p:stCondLst>
                                  <p:childTnLst>
                                    <p:set>
                                      <p:cBhvr>
                                        <p:cTn id="6" dur="1" fill="hold">
                                          <p:stCondLst>
                                            <p:cond delay="0"/>
                                          </p:stCondLst>
                                        </p:cTn>
                                        <p:tgtEl>
                                          <p:spTgt spid="652346"/>
                                        </p:tgtEl>
                                        <p:attrNameLst>
                                          <p:attrName>style.visibility</p:attrName>
                                        </p:attrNameLst>
                                      </p:cBhvr>
                                      <p:to>
                                        <p:strVal val="visible"/>
                                      </p:to>
                                    </p:set>
                                  </p:childTnLst>
                                </p:cTn>
                              </p:par>
                            </p:childTnLst>
                          </p:cTn>
                        </p:par>
                        <p:par>
                          <p:cTn id="7" fill="hold" nodeType="afterGroup">
                            <p:stCondLst>
                              <p:cond delay="3"/>
                            </p:stCondLst>
                            <p:childTnLst>
                              <p:par>
                                <p:cTn id="8" presetID="35" presetClass="emph" presetSubtype="0" repeatCount="3000" fill="hold" nodeType="afterEffect">
                                  <p:stCondLst>
                                    <p:cond delay="500"/>
                                  </p:stCondLst>
                                  <p:childTnLst>
                                    <p:anim calcmode="discrete" valueType="str">
                                      <p:cBhvr>
                                        <p:cTn id="9" dur="1000" fill="hold"/>
                                        <p:tgtEl>
                                          <p:spTgt spid="65234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00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状态码都是三位数字 </a:t>
            </a:r>
          </a:p>
        </p:txBody>
      </p:sp>
      <p:sp>
        <p:nvSpPr>
          <p:cNvPr id="1750018" name="Rectangle 111"/>
          <p:cNvSpPr>
            <a:spLocks noGrp="1" noChangeArrowheads="1"/>
          </p:cNvSpPr>
          <p:nvPr>
            <p:ph idx="1"/>
          </p:nvPr>
        </p:nvSpPr>
        <p:spPr>
          <a:xfrm>
            <a:off x="495300" y="1196975"/>
            <a:ext cx="9066213" cy="4933950"/>
          </a:xfrm>
        </p:spPr>
        <p:txBody>
          <a:bodyPr/>
          <a:lstStyle/>
          <a:p>
            <a:pPr>
              <a:lnSpc>
                <a:spcPct val="100000"/>
              </a:lnSpc>
            </a:pPr>
            <a:r>
              <a:rPr lang="en-US" altLang="zh-CN" smtClean="0">
                <a:solidFill>
                  <a:srgbClr val="FF0000"/>
                </a:solidFill>
                <a:ea typeface="黑体" panose="02010609060101010101" pitchFamily="49" charset="-122"/>
              </a:rPr>
              <a:t>1xx </a:t>
            </a:r>
            <a:r>
              <a:rPr lang="zh-CN" altLang="en-US" smtClean="0">
                <a:solidFill>
                  <a:srgbClr val="FF0000"/>
                </a:solidFill>
                <a:ea typeface="黑体" panose="02010609060101010101" pitchFamily="49" charset="-122"/>
              </a:rPr>
              <a:t>表示通知信息的，</a:t>
            </a:r>
            <a:r>
              <a:rPr lang="zh-CN" altLang="en-US" smtClean="0">
                <a:ea typeface="黑体" panose="02010609060101010101" pitchFamily="49" charset="-122"/>
              </a:rPr>
              <a:t>如请求收到了或正在进行处理。</a:t>
            </a:r>
          </a:p>
          <a:p>
            <a:pPr>
              <a:lnSpc>
                <a:spcPct val="100000"/>
              </a:lnSpc>
            </a:pPr>
            <a:r>
              <a:rPr lang="en-US" altLang="zh-CN" smtClean="0">
                <a:solidFill>
                  <a:srgbClr val="FF0000"/>
                </a:solidFill>
                <a:ea typeface="黑体" panose="02010609060101010101" pitchFamily="49" charset="-122"/>
              </a:rPr>
              <a:t>2xx </a:t>
            </a:r>
            <a:r>
              <a:rPr lang="zh-CN" altLang="en-US" smtClean="0">
                <a:solidFill>
                  <a:srgbClr val="FF0000"/>
                </a:solidFill>
                <a:ea typeface="黑体" panose="02010609060101010101" pitchFamily="49" charset="-122"/>
              </a:rPr>
              <a:t>表示成功，</a:t>
            </a:r>
            <a:r>
              <a:rPr lang="zh-CN" altLang="en-US" smtClean="0">
                <a:ea typeface="黑体" panose="02010609060101010101" pitchFamily="49" charset="-122"/>
              </a:rPr>
              <a:t>如接受或知道了。</a:t>
            </a:r>
          </a:p>
          <a:p>
            <a:pPr>
              <a:lnSpc>
                <a:spcPct val="100000"/>
              </a:lnSpc>
            </a:pPr>
            <a:r>
              <a:rPr lang="en-US" altLang="zh-CN" smtClean="0">
                <a:solidFill>
                  <a:srgbClr val="FF0000"/>
                </a:solidFill>
                <a:ea typeface="黑体" panose="02010609060101010101" pitchFamily="49" charset="-122"/>
              </a:rPr>
              <a:t>3xx </a:t>
            </a:r>
            <a:r>
              <a:rPr lang="zh-CN" altLang="en-US" smtClean="0">
                <a:solidFill>
                  <a:srgbClr val="FF0000"/>
                </a:solidFill>
                <a:ea typeface="黑体" panose="02010609060101010101" pitchFamily="49" charset="-122"/>
              </a:rPr>
              <a:t>表示重定向，</a:t>
            </a:r>
            <a:r>
              <a:rPr lang="zh-CN" altLang="en-US" smtClean="0">
                <a:ea typeface="黑体" panose="02010609060101010101" pitchFamily="49" charset="-122"/>
              </a:rPr>
              <a:t>表示要完成请求还必须采取进一步的行动。</a:t>
            </a:r>
          </a:p>
          <a:p>
            <a:pPr>
              <a:lnSpc>
                <a:spcPct val="100000"/>
              </a:lnSpc>
            </a:pPr>
            <a:r>
              <a:rPr lang="en-US" altLang="zh-CN" smtClean="0">
                <a:solidFill>
                  <a:srgbClr val="FF0000"/>
                </a:solidFill>
                <a:ea typeface="黑体" panose="02010609060101010101" pitchFamily="49" charset="-122"/>
              </a:rPr>
              <a:t>4xx </a:t>
            </a:r>
            <a:r>
              <a:rPr lang="zh-CN" altLang="en-US" smtClean="0">
                <a:solidFill>
                  <a:srgbClr val="FF0000"/>
                </a:solidFill>
                <a:ea typeface="黑体" panose="02010609060101010101" pitchFamily="49" charset="-122"/>
              </a:rPr>
              <a:t>表示客户的差错，</a:t>
            </a:r>
            <a:r>
              <a:rPr lang="zh-CN" altLang="en-US" smtClean="0">
                <a:ea typeface="黑体" panose="02010609060101010101" pitchFamily="49" charset="-122"/>
              </a:rPr>
              <a:t>如请求中有错误的语法或不能完成。</a:t>
            </a:r>
          </a:p>
          <a:p>
            <a:pPr>
              <a:lnSpc>
                <a:spcPct val="100000"/>
              </a:lnSpc>
            </a:pPr>
            <a:r>
              <a:rPr lang="en-US" altLang="zh-CN" smtClean="0">
                <a:solidFill>
                  <a:srgbClr val="FF0000"/>
                </a:solidFill>
                <a:ea typeface="黑体" panose="02010609060101010101" pitchFamily="49" charset="-122"/>
              </a:rPr>
              <a:t>5xx </a:t>
            </a:r>
            <a:r>
              <a:rPr lang="zh-CN" altLang="en-US" smtClean="0">
                <a:solidFill>
                  <a:srgbClr val="FF0000"/>
                </a:solidFill>
                <a:ea typeface="黑体" panose="02010609060101010101" pitchFamily="49" charset="-122"/>
              </a:rPr>
              <a:t>表示服务器的差错</a:t>
            </a:r>
            <a:r>
              <a:rPr lang="zh-CN" altLang="en-US" smtClean="0">
                <a:ea typeface="黑体" panose="02010609060101010101" pitchFamily="49" charset="-122"/>
              </a:rPr>
              <a:t>，如服务器失效无法完成请求。</a:t>
            </a:r>
          </a:p>
        </p:txBody>
      </p:sp>
      <p:sp>
        <p:nvSpPr>
          <p:cNvPr id="17500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6981A3-02D0-4D29-A244-74AA8EF8B33A}" type="slidenum">
              <a:rPr lang="zh-CN" altLang="en-US" smtClean="0"/>
              <a:pPr eaLnBrk="1" hangingPunct="1"/>
              <a:t>47</a:t>
            </a:fld>
            <a:endParaRPr lang="en-US" altLang="zh-CN" smtClean="0"/>
          </a:p>
        </p:txBody>
      </p:sp>
      <p:sp>
        <p:nvSpPr>
          <p:cNvPr id="17500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响应报文例</a:t>
            </a:r>
            <a:endParaRPr lang="zh-CN" altLang="en-US" dirty="0"/>
          </a:p>
        </p:txBody>
      </p:sp>
      <p:sp>
        <p:nvSpPr>
          <p:cNvPr id="3" name="内容占位符 2"/>
          <p:cNvSpPr>
            <a:spLocks noGrp="1"/>
          </p:cNvSpPr>
          <p:nvPr>
            <p:ph idx="1"/>
          </p:nvPr>
        </p:nvSpPr>
        <p:spPr/>
        <p:txBody>
          <a:bodyPr/>
          <a:lstStyle/>
          <a:p>
            <a:pPr marL="0" indent="0">
              <a:buNone/>
            </a:pPr>
            <a:r>
              <a:rPr lang="en-US" altLang="zh-CN" dirty="0"/>
              <a:t>HTTP/1.1 200 OK </a:t>
            </a:r>
            <a:endParaRPr lang="en-US" altLang="zh-CN" dirty="0" smtClean="0"/>
          </a:p>
          <a:p>
            <a:pPr marL="0" indent="0">
              <a:buNone/>
            </a:pPr>
            <a:r>
              <a:rPr lang="en-US" altLang="zh-CN" dirty="0" smtClean="0"/>
              <a:t>Date</a:t>
            </a:r>
            <a:r>
              <a:rPr lang="en-US" altLang="zh-CN" dirty="0"/>
              <a:t>: Sat, 31 Dec 2005 23:59:59 GMT </a:t>
            </a:r>
            <a:endParaRPr lang="en-US" altLang="zh-CN" dirty="0" smtClean="0"/>
          </a:p>
          <a:p>
            <a:pPr marL="0" indent="0">
              <a:buNone/>
            </a:pPr>
            <a:r>
              <a:rPr lang="en-US" altLang="zh-CN" dirty="0" smtClean="0"/>
              <a:t>Content-Type</a:t>
            </a:r>
            <a:r>
              <a:rPr lang="en-US" altLang="zh-CN" dirty="0"/>
              <a:t>: text/html</a:t>
            </a:r>
            <a:r>
              <a:rPr lang="en-US" altLang="zh-CN" dirty="0" smtClean="0"/>
              <a:t>;</a:t>
            </a:r>
          </a:p>
          <a:p>
            <a:pPr marL="0" indent="0">
              <a:buNone/>
            </a:pPr>
            <a:r>
              <a:rPr lang="en-US" altLang="zh-CN" dirty="0" smtClean="0"/>
              <a:t>charset=ISO-8859-1 </a:t>
            </a:r>
          </a:p>
          <a:p>
            <a:pPr marL="0" indent="0">
              <a:buNone/>
            </a:pPr>
            <a:r>
              <a:rPr lang="en-US" altLang="zh-CN" dirty="0" smtClean="0"/>
              <a:t>Content-Length</a:t>
            </a:r>
            <a:r>
              <a:rPr lang="en-US" altLang="zh-CN" dirty="0"/>
              <a:t>: 122 </a:t>
            </a:r>
            <a:endParaRPr lang="en-US" altLang="zh-CN" dirty="0" smtClean="0"/>
          </a:p>
          <a:p>
            <a:pPr marL="0" indent="0">
              <a:buNone/>
            </a:pPr>
            <a:r>
              <a:rPr lang="zh-CN" altLang="en-US" dirty="0" smtClean="0"/>
              <a:t>＜</a:t>
            </a:r>
            <a:r>
              <a:rPr lang="en-US" altLang="zh-CN" dirty="0"/>
              <a:t>html</a:t>
            </a:r>
            <a:r>
              <a:rPr lang="zh-CN" altLang="en-US" dirty="0"/>
              <a:t>＞ ＜</a:t>
            </a:r>
            <a:r>
              <a:rPr lang="en-US" altLang="zh-CN" dirty="0"/>
              <a:t>head</a:t>
            </a:r>
            <a:r>
              <a:rPr lang="zh-CN" altLang="en-US" dirty="0"/>
              <a:t>＞ ＜</a:t>
            </a:r>
            <a:r>
              <a:rPr lang="en-US" altLang="zh-CN" dirty="0"/>
              <a:t>title</a:t>
            </a:r>
            <a:r>
              <a:rPr lang="zh-CN" altLang="en-US" dirty="0"/>
              <a:t>＞</a:t>
            </a:r>
            <a:r>
              <a:rPr lang="en-US" altLang="zh-CN" dirty="0" err="1"/>
              <a:t>Wrox</a:t>
            </a:r>
            <a:r>
              <a:rPr lang="en-US" altLang="zh-CN" dirty="0"/>
              <a:t> Homepage</a:t>
            </a:r>
            <a:r>
              <a:rPr lang="zh-CN" altLang="en-US" dirty="0"/>
              <a:t>＜</a:t>
            </a:r>
            <a:r>
              <a:rPr lang="en-US" altLang="zh-CN" dirty="0"/>
              <a:t>/title</a:t>
            </a:r>
            <a:r>
              <a:rPr lang="zh-CN" altLang="en-US" dirty="0"/>
              <a:t>＞ ＜</a:t>
            </a:r>
            <a:r>
              <a:rPr lang="en-US" altLang="zh-CN" dirty="0"/>
              <a:t>/head</a:t>
            </a:r>
            <a:r>
              <a:rPr lang="zh-CN" altLang="en-US" dirty="0"/>
              <a:t>＞ ＜</a:t>
            </a:r>
            <a:r>
              <a:rPr lang="en-US" altLang="zh-CN" dirty="0"/>
              <a:t>body</a:t>
            </a:r>
            <a:r>
              <a:rPr lang="zh-CN" altLang="en-US" dirty="0"/>
              <a:t>＞ ＜</a:t>
            </a:r>
            <a:r>
              <a:rPr lang="en-US" altLang="zh-CN" dirty="0"/>
              <a:t>!-- body goes here --</a:t>
            </a:r>
            <a:r>
              <a:rPr lang="zh-CN" altLang="en-US" dirty="0"/>
              <a:t>＞ ＜</a:t>
            </a:r>
            <a:r>
              <a:rPr lang="en-US" altLang="zh-CN" dirty="0"/>
              <a:t>/body</a:t>
            </a:r>
            <a:r>
              <a:rPr lang="zh-CN" altLang="en-US" dirty="0"/>
              <a:t>＞ ＜</a:t>
            </a:r>
            <a:r>
              <a:rPr lang="en-US" altLang="zh-CN" dirty="0"/>
              <a:t>/html</a:t>
            </a:r>
            <a:r>
              <a:rPr lang="zh-CN" altLang="en-US" dirty="0"/>
              <a:t>＞</a:t>
            </a:r>
          </a:p>
        </p:txBody>
      </p:sp>
    </p:spTree>
    <p:extLst>
      <p:ext uri="{BB962C8B-B14F-4D97-AF65-F5344CB8AC3E}">
        <p14:creationId xmlns:p14="http://schemas.microsoft.com/office/powerpoint/2010/main" val="30788190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206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 </a:t>
            </a:r>
            <a:r>
              <a:rPr lang="zh-CN" altLang="en-US" smtClean="0">
                <a:ea typeface="黑体" panose="02010609060101010101" pitchFamily="49" charset="-122"/>
              </a:rPr>
              <a:t>在服务器上存放用户的信息</a:t>
            </a:r>
          </a:p>
        </p:txBody>
      </p:sp>
      <p:sp>
        <p:nvSpPr>
          <p:cNvPr id="1752066"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万维网站点使用 </a:t>
            </a:r>
            <a:r>
              <a:rPr lang="en-US" altLang="zh-CN" dirty="0" smtClean="0">
                <a:ea typeface="黑体" panose="02010609060101010101" pitchFamily="49" charset="-122"/>
              </a:rPr>
              <a:t>Cookie </a:t>
            </a:r>
            <a:r>
              <a:rPr lang="zh-CN" altLang="en-US" dirty="0" smtClean="0">
                <a:ea typeface="黑体" panose="02010609060101010101" pitchFamily="49" charset="-122"/>
              </a:rPr>
              <a:t>来跟踪用户。</a:t>
            </a:r>
          </a:p>
          <a:p>
            <a:r>
              <a:rPr lang="en-US" altLang="zh-CN" dirty="0" smtClean="0">
                <a:solidFill>
                  <a:srgbClr val="FF0000"/>
                </a:solidFill>
                <a:ea typeface="黑体" panose="02010609060101010101" pitchFamily="49" charset="-122"/>
              </a:rPr>
              <a:t>Cookie</a:t>
            </a:r>
            <a:r>
              <a:rPr lang="en-US" altLang="zh-CN" dirty="0" smtClean="0">
                <a:ea typeface="黑体" panose="02010609060101010101" pitchFamily="49" charset="-122"/>
              </a:rPr>
              <a:t> </a:t>
            </a:r>
            <a:r>
              <a:rPr lang="zh-CN" altLang="en-US" dirty="0" smtClean="0">
                <a:ea typeface="黑体" panose="02010609060101010101" pitchFamily="49" charset="-122"/>
              </a:rPr>
              <a:t>表示在 </a:t>
            </a:r>
            <a:r>
              <a:rPr lang="en-US" altLang="zh-CN" dirty="0" smtClean="0">
                <a:ea typeface="黑体" panose="02010609060101010101" pitchFamily="49" charset="-122"/>
              </a:rPr>
              <a:t>HTTP </a:t>
            </a:r>
            <a:r>
              <a:rPr lang="zh-CN" altLang="en-US" dirty="0" smtClean="0">
                <a:solidFill>
                  <a:srgbClr val="0000FF"/>
                </a:solidFill>
                <a:ea typeface="黑体" panose="02010609060101010101" pitchFamily="49" charset="-122"/>
              </a:rPr>
              <a:t>服务器和客户之间传递的状态信息</a:t>
            </a:r>
            <a:r>
              <a:rPr lang="zh-CN" altLang="en-US" dirty="0" smtClean="0">
                <a:ea typeface="黑体" panose="02010609060101010101" pitchFamily="49" charset="-122"/>
              </a:rPr>
              <a:t>。</a:t>
            </a:r>
          </a:p>
          <a:p>
            <a:r>
              <a:rPr lang="zh-CN" altLang="en-US" dirty="0" smtClean="0">
                <a:ea typeface="黑体" panose="02010609060101010101" pitchFamily="49" charset="-122"/>
              </a:rPr>
              <a:t>使用 </a:t>
            </a:r>
            <a:r>
              <a:rPr lang="en-US" altLang="zh-CN" dirty="0" smtClean="0">
                <a:ea typeface="黑体" panose="02010609060101010101" pitchFamily="49" charset="-122"/>
              </a:rPr>
              <a:t>Cookie </a:t>
            </a:r>
            <a:r>
              <a:rPr lang="zh-CN" altLang="en-US" dirty="0" smtClean="0">
                <a:ea typeface="黑体" panose="02010609060101010101" pitchFamily="49" charset="-122"/>
              </a:rPr>
              <a:t>的网站服务器为用户产生一个</a:t>
            </a:r>
            <a:r>
              <a:rPr lang="zh-CN" altLang="en-US" dirty="0" smtClean="0">
                <a:solidFill>
                  <a:srgbClr val="FF0000"/>
                </a:solidFill>
                <a:ea typeface="黑体" panose="02010609060101010101" pitchFamily="49" charset="-122"/>
              </a:rPr>
              <a:t>唯一的识别码。</a:t>
            </a:r>
            <a:r>
              <a:rPr lang="zh-CN" altLang="en-US" dirty="0" smtClean="0">
                <a:ea typeface="黑体" panose="02010609060101010101" pitchFamily="49" charset="-122"/>
              </a:rPr>
              <a:t>利用此识别码，网站就能够跟踪该用户在该网站的活动。  </a:t>
            </a:r>
          </a:p>
        </p:txBody>
      </p:sp>
      <p:sp>
        <p:nvSpPr>
          <p:cNvPr id="17520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0492A31-926B-44AA-99E6-A701CE80A29C}" type="slidenum">
              <a:rPr lang="zh-CN" altLang="en-US" smtClean="0"/>
              <a:pPr eaLnBrk="1" hangingPunct="1"/>
              <a:t>49</a:t>
            </a:fld>
            <a:endParaRPr lang="en-US" altLang="zh-CN" smtClean="0"/>
          </a:p>
        </p:txBody>
      </p:sp>
      <p:sp>
        <p:nvSpPr>
          <p:cNvPr id="17520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308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6.4.4  </a:t>
            </a:r>
            <a:r>
              <a:rPr lang="zh-CN" altLang="en-US" smtClean="0">
                <a:ea typeface="黑体" panose="02010609060101010101" pitchFamily="49" charset="-122"/>
              </a:rPr>
              <a:t>万维网的文档</a:t>
            </a:r>
            <a:endParaRPr lang="en-US" altLang="zh-CN" smtClean="0">
              <a:ea typeface="黑体" panose="02010609060101010101" pitchFamily="49" charset="-122"/>
            </a:endParaRPr>
          </a:p>
        </p:txBody>
      </p:sp>
      <p:sp>
        <p:nvSpPr>
          <p:cNvPr id="657411" name="Rectangle 3"/>
          <p:cNvSpPr>
            <a:spLocks noGrp="1" noChangeArrowheads="1"/>
          </p:cNvSpPr>
          <p:nvPr>
            <p:ph idx="1"/>
          </p:nvPr>
        </p:nvSpPr>
        <p:spPr>
          <a:xfrm>
            <a:off x="495300" y="1196975"/>
            <a:ext cx="9066213" cy="4933950"/>
          </a:xfrm>
        </p:spPr>
        <p:txBody>
          <a:bodyPr/>
          <a:lstStyle/>
          <a:p>
            <a:pPr marL="0" indent="0">
              <a:buFont typeface="Wingdings" panose="05000000000000000000" pitchFamily="2" charset="2"/>
              <a:buNone/>
              <a:defRPr/>
            </a:pPr>
            <a:r>
              <a:rPr lang="en-US" altLang="zh-CN" sz="4000" noProof="1">
                <a:solidFill>
                  <a:srgbClr val="333399"/>
                </a:solidFill>
                <a:latin typeface="+mj-lt"/>
                <a:cs typeface="+mj-cs"/>
              </a:rPr>
              <a:t>1. </a:t>
            </a:r>
            <a:r>
              <a:rPr lang="zh-CN" altLang="en-US" sz="4000" noProof="1">
                <a:solidFill>
                  <a:srgbClr val="333399"/>
                </a:solidFill>
                <a:latin typeface="+mj-lt"/>
                <a:cs typeface="+mj-cs"/>
              </a:rPr>
              <a:t>超文本标记语言 </a:t>
            </a:r>
            <a:r>
              <a:rPr lang="en-US" altLang="zh-CN" sz="4000" noProof="1">
                <a:solidFill>
                  <a:srgbClr val="333399"/>
                </a:solidFill>
                <a:latin typeface="+mj-lt"/>
                <a:cs typeface="+mj-cs"/>
              </a:rPr>
              <a:t>HTML</a:t>
            </a:r>
            <a:endParaRPr lang="en-US" altLang="zh-CN" sz="4400" noProof="1">
              <a:solidFill>
                <a:srgbClr val="333399"/>
              </a:solidFill>
              <a:latin typeface="+mj-lt"/>
              <a:cs typeface="+mj-cs"/>
            </a:endParaRPr>
          </a:p>
          <a:p>
            <a:pPr>
              <a:defRPr/>
            </a:pPr>
            <a:r>
              <a:rPr lang="zh-CN" altLang="en-US" noProof="1"/>
              <a:t>超文本标记语言 </a:t>
            </a:r>
            <a:r>
              <a:rPr lang="en-US" altLang="zh-CN" noProof="1"/>
              <a:t>HTML </a:t>
            </a:r>
            <a:r>
              <a:rPr lang="zh-CN" altLang="en-US" noProof="1"/>
              <a:t>中的 </a:t>
            </a:r>
            <a:r>
              <a:rPr lang="en-US" altLang="zh-CN" noProof="1"/>
              <a:t>Markup </a:t>
            </a:r>
            <a:r>
              <a:rPr lang="zh-CN" altLang="en-US" noProof="1"/>
              <a:t>的意思就是“设置标记”。</a:t>
            </a:r>
          </a:p>
          <a:p>
            <a:pPr>
              <a:defRPr/>
            </a:pPr>
            <a:r>
              <a:rPr lang="en-US" altLang="zh-CN" noProof="1"/>
              <a:t>HTML </a:t>
            </a:r>
            <a:r>
              <a:rPr lang="zh-CN" altLang="en-US" noProof="1"/>
              <a:t>定义了许多用于</a:t>
            </a:r>
            <a:r>
              <a:rPr lang="zh-CN" altLang="en-US" noProof="1">
                <a:solidFill>
                  <a:srgbClr val="FF0000"/>
                </a:solidFill>
              </a:rPr>
              <a:t>排版的命令</a:t>
            </a:r>
            <a:r>
              <a:rPr lang="zh-CN" altLang="en-US" noProof="1"/>
              <a:t>（即标签）。</a:t>
            </a:r>
          </a:p>
          <a:p>
            <a:pPr>
              <a:defRPr/>
            </a:pPr>
            <a:r>
              <a:rPr lang="en-US" altLang="zh-CN" noProof="1"/>
              <a:t>HTML </a:t>
            </a:r>
            <a:r>
              <a:rPr lang="zh-CN" altLang="en-US" noProof="1"/>
              <a:t>把各种标签嵌入到万维网的页面中。这样就构成了所谓的 </a:t>
            </a:r>
            <a:r>
              <a:rPr lang="en-US" altLang="zh-CN" noProof="1"/>
              <a:t>HTML </a:t>
            </a:r>
            <a:r>
              <a:rPr lang="zh-CN" altLang="en-US" noProof="1"/>
              <a:t>文档。</a:t>
            </a:r>
            <a:r>
              <a:rPr lang="en-US" altLang="zh-CN" noProof="1"/>
              <a:t>HTML </a:t>
            </a:r>
            <a:r>
              <a:rPr lang="zh-CN" altLang="en-US" noProof="1"/>
              <a:t>文档是一种可以用任何文本编辑器创建的 </a:t>
            </a:r>
            <a:r>
              <a:rPr lang="en-US" altLang="zh-CN" noProof="1"/>
              <a:t>ASCII </a:t>
            </a:r>
            <a:r>
              <a:rPr lang="zh-CN" altLang="en-US" noProof="1"/>
              <a:t>码文件。   </a:t>
            </a:r>
          </a:p>
        </p:txBody>
      </p:sp>
      <p:sp>
        <p:nvSpPr>
          <p:cNvPr id="17530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FFC596F-C62C-46F7-A345-AB556FCD27D0}" type="slidenum">
              <a:rPr lang="zh-CN" altLang="en-US" smtClean="0"/>
              <a:pPr eaLnBrk="1" hangingPunct="1"/>
              <a:t>50</a:t>
            </a:fld>
            <a:endParaRPr lang="en-US" altLang="zh-CN" smtClean="0"/>
          </a:p>
        </p:txBody>
      </p:sp>
      <p:sp>
        <p:nvSpPr>
          <p:cNvPr id="17530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7411">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74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513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HTML </a:t>
            </a:r>
            <a:r>
              <a:rPr lang="zh-CN" altLang="en-US" smtClean="0">
                <a:ea typeface="黑体" panose="02010609060101010101" pitchFamily="49" charset="-122"/>
              </a:rPr>
              <a:t>文档 </a:t>
            </a:r>
          </a:p>
        </p:txBody>
      </p:sp>
      <p:sp>
        <p:nvSpPr>
          <p:cNvPr id="658435" name="Rectangle 3"/>
          <p:cNvSpPr>
            <a:spLocks noGrp="1" noChangeArrowheads="1"/>
          </p:cNvSpPr>
          <p:nvPr>
            <p:ph idx="1"/>
          </p:nvPr>
        </p:nvSpPr>
        <p:spPr>
          <a:xfrm>
            <a:off x="495300" y="1196975"/>
            <a:ext cx="9066213" cy="4933950"/>
          </a:xfrm>
        </p:spPr>
        <p:txBody>
          <a:bodyPr/>
          <a:lstStyle/>
          <a:p>
            <a:pPr algn="just">
              <a:spcAft>
                <a:spcPct val="10000"/>
              </a:spcAft>
            </a:pPr>
            <a:r>
              <a:rPr lang="zh-CN" altLang="en-US" sz="2800" smtClean="0">
                <a:ea typeface="黑体" panose="02010609060101010101" pitchFamily="49" charset="-122"/>
              </a:rPr>
              <a:t>仅当 </a:t>
            </a:r>
            <a:r>
              <a:rPr lang="en-US" altLang="zh-CN" sz="2800" smtClean="0">
                <a:ea typeface="黑体" panose="02010609060101010101" pitchFamily="49" charset="-122"/>
              </a:rPr>
              <a:t>HTML </a:t>
            </a:r>
            <a:r>
              <a:rPr lang="zh-CN" altLang="en-US" sz="2800" smtClean="0">
                <a:ea typeface="黑体" panose="02010609060101010101" pitchFamily="49" charset="-122"/>
              </a:rPr>
              <a:t>文档是以 </a:t>
            </a:r>
            <a:r>
              <a:rPr lang="en-US" altLang="zh-CN" sz="2800" smtClean="0">
                <a:ea typeface="黑体" panose="02010609060101010101" pitchFamily="49" charset="-122"/>
              </a:rPr>
              <a:t>.html </a:t>
            </a:r>
            <a:r>
              <a:rPr lang="zh-CN" altLang="en-US" sz="2800" smtClean="0">
                <a:ea typeface="黑体" panose="02010609060101010101" pitchFamily="49" charset="-122"/>
              </a:rPr>
              <a:t>或 </a:t>
            </a:r>
            <a:r>
              <a:rPr lang="en-US" altLang="zh-CN" sz="2800" smtClean="0">
                <a:ea typeface="黑体" panose="02010609060101010101" pitchFamily="49" charset="-122"/>
              </a:rPr>
              <a:t>.htm </a:t>
            </a:r>
            <a:r>
              <a:rPr lang="zh-CN" altLang="en-US" sz="2800" smtClean="0">
                <a:ea typeface="黑体" panose="02010609060101010101" pitchFamily="49" charset="-122"/>
              </a:rPr>
              <a:t>为后缀时，浏览器才对此文档的各种标签进行解释。</a:t>
            </a:r>
          </a:p>
          <a:p>
            <a:pPr algn="just">
              <a:spcAft>
                <a:spcPct val="10000"/>
              </a:spcAft>
            </a:pPr>
            <a:r>
              <a:rPr lang="zh-CN" altLang="en-US" sz="2800" smtClean="0">
                <a:ea typeface="黑体" panose="02010609060101010101" pitchFamily="49" charset="-122"/>
              </a:rPr>
              <a:t>如 </a:t>
            </a:r>
            <a:r>
              <a:rPr lang="en-US" altLang="zh-CN" sz="2800" smtClean="0">
                <a:ea typeface="黑体" panose="02010609060101010101" pitchFamily="49" charset="-122"/>
              </a:rPr>
              <a:t>HTML </a:t>
            </a:r>
            <a:r>
              <a:rPr lang="zh-CN" altLang="en-US" sz="2800" smtClean="0">
                <a:ea typeface="黑体" panose="02010609060101010101" pitchFamily="49" charset="-122"/>
              </a:rPr>
              <a:t>文档改换以 </a:t>
            </a:r>
            <a:r>
              <a:rPr lang="en-US" altLang="zh-CN" sz="2800" smtClean="0">
                <a:ea typeface="黑体" panose="02010609060101010101" pitchFamily="49" charset="-122"/>
              </a:rPr>
              <a:t>.txt </a:t>
            </a:r>
            <a:r>
              <a:rPr lang="zh-CN" altLang="en-US" sz="2800" smtClean="0">
                <a:ea typeface="黑体" panose="02010609060101010101" pitchFamily="49" charset="-122"/>
              </a:rPr>
              <a:t>为其后缀，则 </a:t>
            </a:r>
            <a:r>
              <a:rPr lang="en-US" altLang="zh-CN" sz="2800" smtClean="0">
                <a:ea typeface="黑体" panose="02010609060101010101" pitchFamily="49" charset="-122"/>
              </a:rPr>
              <a:t>HTML </a:t>
            </a:r>
            <a:r>
              <a:rPr lang="zh-CN" altLang="en-US" sz="2800" smtClean="0">
                <a:ea typeface="黑体" panose="02010609060101010101" pitchFamily="49" charset="-122"/>
              </a:rPr>
              <a:t>解释程序就不对标签进行解释，而浏览器只能看见原来的文本文件。</a:t>
            </a:r>
          </a:p>
          <a:p>
            <a:pPr algn="just">
              <a:spcAft>
                <a:spcPct val="10000"/>
              </a:spcAft>
            </a:pPr>
            <a:r>
              <a:rPr lang="zh-CN" altLang="en-US" sz="2800" smtClean="0">
                <a:ea typeface="黑体" panose="02010609060101010101" pitchFamily="49" charset="-122"/>
              </a:rPr>
              <a:t>当浏览器从服务器读取 </a:t>
            </a:r>
            <a:r>
              <a:rPr lang="en-US" altLang="zh-CN" sz="2800" smtClean="0">
                <a:ea typeface="黑体" panose="02010609060101010101" pitchFamily="49" charset="-122"/>
              </a:rPr>
              <a:t>HTML </a:t>
            </a:r>
            <a:r>
              <a:rPr lang="zh-CN" altLang="en-US" sz="2800" smtClean="0">
                <a:ea typeface="黑体" panose="02010609060101010101" pitchFamily="49" charset="-122"/>
              </a:rPr>
              <a:t>文档后，就按照 </a:t>
            </a:r>
            <a:r>
              <a:rPr lang="en-US" altLang="zh-CN" sz="2800" smtClean="0">
                <a:ea typeface="黑体" panose="02010609060101010101" pitchFamily="49" charset="-122"/>
              </a:rPr>
              <a:t>HTML </a:t>
            </a:r>
            <a:r>
              <a:rPr lang="zh-CN" altLang="en-US" sz="2800" smtClean="0">
                <a:ea typeface="黑体" panose="02010609060101010101" pitchFamily="49" charset="-122"/>
              </a:rPr>
              <a:t>文档中的各种标签，根据浏览器所使用的显示器的尺寸和分辨率大小，重新进行排版并恢复出所读取的页面。</a:t>
            </a:r>
            <a:endParaRPr lang="zh-CN" altLang="en-US" sz="2400" smtClean="0">
              <a:ea typeface="黑体" panose="02010609060101010101" pitchFamily="49" charset="-122"/>
            </a:endParaRPr>
          </a:p>
        </p:txBody>
      </p:sp>
      <p:sp>
        <p:nvSpPr>
          <p:cNvPr id="17551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72DF13-56D0-43E9-8EAC-DF51781FC8BE}" type="slidenum">
              <a:rPr lang="zh-CN" altLang="en-US" smtClean="0"/>
              <a:pPr eaLnBrk="1" hangingPunct="1"/>
              <a:t>51</a:t>
            </a:fld>
            <a:endParaRPr lang="en-US" altLang="zh-CN" smtClean="0"/>
          </a:p>
        </p:txBody>
      </p:sp>
      <p:sp>
        <p:nvSpPr>
          <p:cNvPr id="17551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84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8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7185" name="Rectangle 2"/>
          <p:cNvSpPr>
            <a:spLocks noGrp="1" noChangeArrowheads="1"/>
          </p:cNvSpPr>
          <p:nvPr>
            <p:ph type="title"/>
          </p:nvPr>
        </p:nvSpPr>
        <p:spPr/>
        <p:txBody>
          <a:bodyPr/>
          <a:lstStyle/>
          <a:p>
            <a:pPr algn="ctr"/>
            <a:r>
              <a:rPr lang="en-US" altLang="zh-CN" smtClean="0">
                <a:ea typeface="黑体" panose="02010609060101010101" pitchFamily="49" charset="-122"/>
              </a:rPr>
              <a:t>HTML </a:t>
            </a:r>
            <a:r>
              <a:rPr lang="zh-CN" altLang="zh-CN" smtClean="0">
                <a:ea typeface="黑体" panose="02010609060101010101" pitchFamily="49" charset="-122"/>
              </a:rPr>
              <a:t>文档中标签的用法 </a:t>
            </a:r>
          </a:p>
        </p:txBody>
      </p:sp>
      <p:sp>
        <p:nvSpPr>
          <p:cNvPr id="1757186" name="Text Box 4"/>
          <p:cNvSpPr txBox="1">
            <a:spLocks noChangeArrowheads="1"/>
          </p:cNvSpPr>
          <p:nvPr/>
        </p:nvSpPr>
        <p:spPr bwMode="auto">
          <a:xfrm>
            <a:off x="328613" y="1020763"/>
            <a:ext cx="9148762" cy="526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en-US" altLang="zh-CN" sz="2800" b="1">
                <a:solidFill>
                  <a:srgbClr val="333399"/>
                </a:solidFill>
                <a:ea typeface="黑体" panose="02010609060101010101" pitchFamily="49" charset="-122"/>
              </a:rPr>
              <a:t>&lt;HTML&gt;                                          </a:t>
            </a:r>
          </a:p>
          <a:p>
            <a:pPr>
              <a:lnSpc>
                <a:spcPct val="110000"/>
              </a:lnSpc>
            </a:pPr>
            <a:r>
              <a:rPr lang="en-US" altLang="zh-CN" sz="2800" b="1">
                <a:solidFill>
                  <a:srgbClr val="333399"/>
                </a:solidFill>
                <a:ea typeface="黑体" panose="02010609060101010101" pitchFamily="49" charset="-122"/>
              </a:rPr>
              <a:t>&lt;HEAD&gt;                                         </a:t>
            </a:r>
            <a:br>
              <a:rPr lang="en-US" altLang="zh-CN" sz="2800" b="1">
                <a:solidFill>
                  <a:srgbClr val="333399"/>
                </a:solidFill>
                <a:ea typeface="黑体" panose="02010609060101010101" pitchFamily="49" charset="-122"/>
              </a:rPr>
            </a:br>
            <a:r>
              <a:rPr lang="en-US" altLang="zh-CN" sz="2800" b="1">
                <a:solidFill>
                  <a:srgbClr val="333399"/>
                </a:solidFill>
                <a:ea typeface="黑体" panose="02010609060101010101" pitchFamily="49" charset="-122"/>
              </a:rPr>
              <a:t>      &lt;TITLE&gt;</a:t>
            </a:r>
            <a:r>
              <a:rPr lang="zh-CN" altLang="en-US" sz="2800" b="1">
                <a:solidFill>
                  <a:srgbClr val="333399"/>
                </a:solidFill>
                <a:ea typeface="黑体" panose="02010609060101010101" pitchFamily="49" charset="-122"/>
              </a:rPr>
              <a:t>一个 </a:t>
            </a:r>
            <a:r>
              <a:rPr lang="en-US" altLang="zh-CN" sz="2800" b="1">
                <a:solidFill>
                  <a:srgbClr val="333399"/>
                </a:solidFill>
                <a:ea typeface="黑体" panose="02010609060101010101" pitchFamily="49" charset="-122"/>
              </a:rPr>
              <a:t>HTML </a:t>
            </a:r>
            <a:r>
              <a:rPr lang="zh-CN" altLang="en-US" sz="2800" b="1">
                <a:solidFill>
                  <a:srgbClr val="333399"/>
                </a:solidFill>
                <a:ea typeface="黑体" panose="02010609060101010101" pitchFamily="49" charset="-122"/>
              </a:rPr>
              <a:t>的例子</a:t>
            </a:r>
            <a:r>
              <a:rPr lang="en-US" altLang="zh-CN" sz="2800" b="1">
                <a:solidFill>
                  <a:srgbClr val="333399"/>
                </a:solidFill>
                <a:ea typeface="黑体" panose="02010609060101010101" pitchFamily="49" charset="-122"/>
              </a:rPr>
              <a:t>&lt;/TITLE&gt;</a:t>
            </a:r>
          </a:p>
          <a:p>
            <a:pPr>
              <a:lnSpc>
                <a:spcPct val="110000"/>
              </a:lnSpc>
            </a:pPr>
            <a:r>
              <a:rPr lang="en-US" altLang="zh-CN" sz="2800" b="1">
                <a:solidFill>
                  <a:srgbClr val="333399"/>
                </a:solidFill>
                <a:ea typeface="黑体" panose="02010609060101010101" pitchFamily="49" charset="-122"/>
              </a:rPr>
              <a:t>&lt;/HEAD&gt;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      &lt;H1&gt;HTML </a:t>
            </a:r>
            <a:r>
              <a:rPr lang="zh-CN" altLang="en-US" sz="2800" b="1">
                <a:solidFill>
                  <a:srgbClr val="333399"/>
                </a:solidFill>
                <a:ea typeface="黑体" panose="02010609060101010101" pitchFamily="49" charset="-122"/>
              </a:rPr>
              <a:t>很容易掌握</a:t>
            </a:r>
            <a:r>
              <a:rPr lang="en-US" altLang="zh-CN" sz="2800" b="1">
                <a:solidFill>
                  <a:srgbClr val="333399"/>
                </a:solidFill>
                <a:ea typeface="黑体" panose="02010609060101010101" pitchFamily="49" charset="-122"/>
              </a:rPr>
              <a:t>&lt;/H1&gt;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这是第一个段落。虽然很</a:t>
            </a:r>
          </a:p>
          <a:p>
            <a:pPr>
              <a:lnSpc>
                <a:spcPct val="110000"/>
              </a:lnSpc>
            </a:pPr>
            <a:r>
              <a:rPr lang="zh-CN" altLang="en-US" sz="2800" b="1">
                <a:solidFill>
                  <a:srgbClr val="333399"/>
                </a:solidFill>
                <a:ea typeface="黑体" panose="02010609060101010101" pitchFamily="49" charset="-122"/>
              </a:rPr>
              <a:t>       短，但它仍是一个段落。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这是第二个段落。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&lt;/HTML&gt;</a:t>
            </a:r>
          </a:p>
        </p:txBody>
      </p:sp>
      <p:grpSp>
        <p:nvGrpSpPr>
          <p:cNvPr id="661513" name="Group 9"/>
          <p:cNvGrpSpPr>
            <a:grpSpLocks/>
          </p:cNvGrpSpPr>
          <p:nvPr/>
        </p:nvGrpSpPr>
        <p:grpSpPr bwMode="auto">
          <a:xfrm>
            <a:off x="1987550" y="1049338"/>
            <a:ext cx="7161213" cy="523875"/>
            <a:chOff x="1156" y="661"/>
            <a:chExt cx="4164" cy="330"/>
          </a:xfrm>
        </p:grpSpPr>
        <p:sp>
          <p:nvSpPr>
            <p:cNvPr id="1757188" name="Text Box 5"/>
            <p:cNvSpPr txBox="1">
              <a:spLocks noChangeArrowheads="1"/>
            </p:cNvSpPr>
            <p:nvPr/>
          </p:nvSpPr>
          <p:spPr bwMode="auto">
            <a:xfrm>
              <a:off x="3739" y="661"/>
              <a:ext cx="1581" cy="330"/>
            </a:xfrm>
            <a:prstGeom prst="rect">
              <a:avLst/>
            </a:prstGeom>
            <a:solidFill>
              <a:srgbClr val="FFFF99"/>
            </a:solidFill>
            <a:ln w="28575">
              <a:solidFill>
                <a:schemeClr val="hlink"/>
              </a:solidFill>
              <a:miter lim="800000"/>
              <a:headEnd/>
              <a:tailEnd/>
            </a:ln>
          </p:spPr>
          <p:txBody>
            <a:bodyPr wrap="none">
              <a:spAutoFit/>
            </a:bodyPr>
            <a:lstStyle/>
            <a:p>
              <a:r>
                <a:rPr lang="en-US" altLang="zh-CN" sz="2800" b="1">
                  <a:solidFill>
                    <a:srgbClr val="333399"/>
                  </a:solidFill>
                  <a:ea typeface="黑体" panose="02010609060101010101" pitchFamily="49" charset="-122"/>
                </a:rPr>
                <a:t>HTML </a:t>
              </a:r>
              <a:r>
                <a:rPr lang="zh-CN" altLang="en-US" sz="2800" b="1">
                  <a:solidFill>
                    <a:srgbClr val="333399"/>
                  </a:solidFill>
                  <a:ea typeface="黑体" panose="02010609060101010101" pitchFamily="49" charset="-122"/>
                </a:rPr>
                <a:t>文档开始</a:t>
              </a:r>
            </a:p>
          </p:txBody>
        </p:sp>
        <p:sp>
          <p:nvSpPr>
            <p:cNvPr id="1757189" name="Line 6"/>
            <p:cNvSpPr>
              <a:spLocks noChangeShapeType="1"/>
            </p:cNvSpPr>
            <p:nvPr/>
          </p:nvSpPr>
          <p:spPr bwMode="auto">
            <a:xfrm flipH="1">
              <a:off x="1156" y="832"/>
              <a:ext cx="2594" cy="13"/>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grpSp>
      <p:sp>
        <p:nvSpPr>
          <p:cNvPr id="175719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7EC886A-DFE6-4F5D-A947-8E1D39CDB245}" type="slidenum">
              <a:rPr lang="zh-CN" altLang="en-US" smtClean="0"/>
              <a:pPr eaLnBrk="1" hangingPunct="1"/>
              <a:t>52</a:t>
            </a:fld>
            <a:endParaRPr lang="en-US" altLang="zh-CN" smtClean="0"/>
          </a:p>
        </p:txBody>
      </p:sp>
      <p:sp>
        <p:nvSpPr>
          <p:cNvPr id="175719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615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9233" name="Rectangle 2"/>
          <p:cNvSpPr>
            <a:spLocks noGrp="1" noChangeArrowheads="1"/>
          </p:cNvSpPr>
          <p:nvPr>
            <p:ph type="title"/>
          </p:nvPr>
        </p:nvSpPr>
        <p:spPr/>
        <p:txBody>
          <a:bodyPr/>
          <a:lstStyle/>
          <a:p>
            <a:pPr algn="ctr"/>
            <a:r>
              <a:rPr lang="en-US" altLang="zh-CN" smtClean="0">
                <a:ea typeface="黑体" panose="02010609060101010101" pitchFamily="49" charset="-122"/>
              </a:rPr>
              <a:t>HTML </a:t>
            </a:r>
            <a:r>
              <a:rPr lang="zh-CN" altLang="zh-CN" smtClean="0">
                <a:ea typeface="黑体" panose="02010609060101010101" pitchFamily="49" charset="-122"/>
              </a:rPr>
              <a:t>文档中标签的用法 </a:t>
            </a:r>
          </a:p>
        </p:txBody>
      </p:sp>
      <p:sp>
        <p:nvSpPr>
          <p:cNvPr id="1759234" name="Text Box 3"/>
          <p:cNvSpPr txBox="1">
            <a:spLocks noChangeArrowheads="1"/>
          </p:cNvSpPr>
          <p:nvPr/>
        </p:nvSpPr>
        <p:spPr bwMode="auto">
          <a:xfrm>
            <a:off x="328613" y="1020763"/>
            <a:ext cx="9148762" cy="526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en-US" altLang="zh-CN" sz="2800" b="1">
                <a:solidFill>
                  <a:srgbClr val="333399"/>
                </a:solidFill>
                <a:ea typeface="黑体" panose="02010609060101010101" pitchFamily="49" charset="-122"/>
              </a:rPr>
              <a:t>&lt;HTML&gt;                                          </a:t>
            </a:r>
          </a:p>
          <a:p>
            <a:pPr>
              <a:lnSpc>
                <a:spcPct val="110000"/>
              </a:lnSpc>
            </a:pPr>
            <a:r>
              <a:rPr lang="en-US" altLang="zh-CN" sz="2800" b="1">
                <a:solidFill>
                  <a:srgbClr val="333399"/>
                </a:solidFill>
                <a:ea typeface="黑体" panose="02010609060101010101" pitchFamily="49" charset="-122"/>
              </a:rPr>
              <a:t>&lt;HEAD&gt;                                         </a:t>
            </a:r>
            <a:br>
              <a:rPr lang="en-US" altLang="zh-CN" sz="2800" b="1">
                <a:solidFill>
                  <a:srgbClr val="333399"/>
                </a:solidFill>
                <a:ea typeface="黑体" panose="02010609060101010101" pitchFamily="49" charset="-122"/>
              </a:rPr>
            </a:br>
            <a:r>
              <a:rPr lang="en-US" altLang="zh-CN" sz="2800" b="1">
                <a:solidFill>
                  <a:srgbClr val="333399"/>
                </a:solidFill>
                <a:ea typeface="黑体" panose="02010609060101010101" pitchFamily="49" charset="-122"/>
              </a:rPr>
              <a:t>      &lt;TITLE&gt;</a:t>
            </a:r>
            <a:r>
              <a:rPr lang="zh-CN" altLang="en-US" sz="2800" b="1">
                <a:solidFill>
                  <a:srgbClr val="333399"/>
                </a:solidFill>
                <a:ea typeface="黑体" panose="02010609060101010101" pitchFamily="49" charset="-122"/>
              </a:rPr>
              <a:t>一个 </a:t>
            </a:r>
            <a:r>
              <a:rPr lang="en-US" altLang="zh-CN" sz="2800" b="1">
                <a:solidFill>
                  <a:srgbClr val="333399"/>
                </a:solidFill>
                <a:ea typeface="黑体" panose="02010609060101010101" pitchFamily="49" charset="-122"/>
              </a:rPr>
              <a:t>HTML </a:t>
            </a:r>
            <a:r>
              <a:rPr lang="zh-CN" altLang="en-US" sz="2800" b="1">
                <a:solidFill>
                  <a:srgbClr val="333399"/>
                </a:solidFill>
                <a:ea typeface="黑体" panose="02010609060101010101" pitchFamily="49" charset="-122"/>
              </a:rPr>
              <a:t>的例子</a:t>
            </a:r>
            <a:r>
              <a:rPr lang="en-US" altLang="zh-CN" sz="2800" b="1">
                <a:solidFill>
                  <a:srgbClr val="333399"/>
                </a:solidFill>
                <a:ea typeface="黑体" panose="02010609060101010101" pitchFamily="49" charset="-122"/>
              </a:rPr>
              <a:t>&lt;/TITLE&gt;</a:t>
            </a:r>
          </a:p>
          <a:p>
            <a:pPr>
              <a:lnSpc>
                <a:spcPct val="110000"/>
              </a:lnSpc>
            </a:pPr>
            <a:r>
              <a:rPr lang="en-US" altLang="zh-CN" sz="2800" b="1">
                <a:solidFill>
                  <a:srgbClr val="333399"/>
                </a:solidFill>
                <a:ea typeface="黑体" panose="02010609060101010101" pitchFamily="49" charset="-122"/>
              </a:rPr>
              <a:t>&lt;/HEAD&gt;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      &lt;H1&gt;HTML </a:t>
            </a:r>
            <a:r>
              <a:rPr lang="zh-CN" altLang="en-US" sz="2800" b="1">
                <a:solidFill>
                  <a:srgbClr val="333399"/>
                </a:solidFill>
                <a:ea typeface="黑体" panose="02010609060101010101" pitchFamily="49" charset="-122"/>
              </a:rPr>
              <a:t>很容易掌握</a:t>
            </a:r>
            <a:r>
              <a:rPr lang="en-US" altLang="zh-CN" sz="2800" b="1">
                <a:solidFill>
                  <a:srgbClr val="333399"/>
                </a:solidFill>
                <a:ea typeface="黑体" panose="02010609060101010101" pitchFamily="49" charset="-122"/>
              </a:rPr>
              <a:t>&lt;/H1&gt;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这是第一个段落。虽然很</a:t>
            </a:r>
          </a:p>
          <a:p>
            <a:pPr>
              <a:lnSpc>
                <a:spcPct val="110000"/>
              </a:lnSpc>
            </a:pPr>
            <a:r>
              <a:rPr lang="zh-CN" altLang="en-US" sz="2800" b="1">
                <a:solidFill>
                  <a:srgbClr val="333399"/>
                </a:solidFill>
                <a:ea typeface="黑体" panose="02010609060101010101" pitchFamily="49" charset="-122"/>
              </a:rPr>
              <a:t>       短，但它仍是一个段落。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这是第二个段落。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&lt;/HTML&gt;</a:t>
            </a:r>
          </a:p>
        </p:txBody>
      </p:sp>
      <p:sp>
        <p:nvSpPr>
          <p:cNvPr id="1759235" name="Text Box 5"/>
          <p:cNvSpPr txBox="1">
            <a:spLocks noChangeArrowheads="1"/>
          </p:cNvSpPr>
          <p:nvPr/>
        </p:nvSpPr>
        <p:spPr bwMode="auto">
          <a:xfrm>
            <a:off x="6945313" y="1463675"/>
            <a:ext cx="1620837" cy="523875"/>
          </a:xfrm>
          <a:prstGeom prst="rect">
            <a:avLst/>
          </a:prstGeom>
          <a:solidFill>
            <a:srgbClr val="FFFF99"/>
          </a:solidFill>
          <a:ln w="28575">
            <a:solidFill>
              <a:schemeClr val="hlink"/>
            </a:solidFill>
            <a:miter lim="800000"/>
            <a:headEnd/>
            <a:tailEnd/>
          </a:ln>
        </p:spPr>
        <p:txBody>
          <a:bodyPr wrap="none">
            <a:spAutoFit/>
          </a:bodyPr>
          <a:lstStyle/>
          <a:p>
            <a:r>
              <a:rPr lang="zh-CN" altLang="en-US" sz="2800" b="1">
                <a:solidFill>
                  <a:srgbClr val="333399"/>
                </a:solidFill>
                <a:latin typeface="Tahoma" panose="020B0604030504040204" pitchFamily="34" charset="0"/>
                <a:ea typeface="黑体" panose="02010609060101010101" pitchFamily="49" charset="-122"/>
              </a:rPr>
              <a:t>首部开始</a:t>
            </a:r>
            <a:endParaRPr lang="zh-CN" altLang="en-US" sz="2800" b="1">
              <a:solidFill>
                <a:srgbClr val="333399"/>
              </a:solidFill>
              <a:latin typeface="Tahoma" panose="020B0604030504040204" pitchFamily="34" charset="0"/>
              <a:ea typeface="宋体" panose="02010600030101010101" pitchFamily="2" charset="-122"/>
            </a:endParaRPr>
          </a:p>
        </p:txBody>
      </p:sp>
      <p:sp>
        <p:nvSpPr>
          <p:cNvPr id="1759236" name="Line 6"/>
          <p:cNvSpPr>
            <a:spLocks noChangeShapeType="1"/>
          </p:cNvSpPr>
          <p:nvPr/>
        </p:nvSpPr>
        <p:spPr bwMode="auto">
          <a:xfrm flipH="1">
            <a:off x="2066925" y="1773238"/>
            <a:ext cx="4883150" cy="31750"/>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75923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C722438-1B91-481D-B92A-74C8C739BAEB}" type="slidenum">
              <a:rPr lang="zh-CN" altLang="en-US" smtClean="0"/>
              <a:pPr eaLnBrk="1" hangingPunct="1"/>
              <a:t>53</a:t>
            </a:fld>
            <a:endParaRPr lang="en-US" altLang="zh-CN" smtClean="0"/>
          </a:p>
        </p:txBody>
      </p:sp>
      <p:sp>
        <p:nvSpPr>
          <p:cNvPr id="175923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81" name="Rectangle 8"/>
          <p:cNvSpPr>
            <a:spLocks noChangeArrowheads="1"/>
          </p:cNvSpPr>
          <p:nvPr/>
        </p:nvSpPr>
        <p:spPr bwMode="auto">
          <a:xfrm>
            <a:off x="2473325" y="1989138"/>
            <a:ext cx="3360738" cy="522287"/>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761282" name="Rectangle 2"/>
          <p:cNvSpPr>
            <a:spLocks noGrp="1" noChangeArrowheads="1"/>
          </p:cNvSpPr>
          <p:nvPr>
            <p:ph type="title"/>
          </p:nvPr>
        </p:nvSpPr>
        <p:spPr/>
        <p:txBody>
          <a:bodyPr/>
          <a:lstStyle/>
          <a:p>
            <a:pPr algn="ctr"/>
            <a:r>
              <a:rPr lang="en-US" altLang="zh-CN" smtClean="0">
                <a:ea typeface="黑体" panose="02010609060101010101" pitchFamily="49" charset="-122"/>
              </a:rPr>
              <a:t>HTML </a:t>
            </a:r>
            <a:r>
              <a:rPr lang="zh-CN" altLang="zh-CN" smtClean="0">
                <a:ea typeface="黑体" panose="02010609060101010101" pitchFamily="49" charset="-122"/>
              </a:rPr>
              <a:t>文档中标签的用法 </a:t>
            </a:r>
          </a:p>
        </p:txBody>
      </p:sp>
      <p:sp>
        <p:nvSpPr>
          <p:cNvPr id="1761283" name="Text Box 3"/>
          <p:cNvSpPr txBox="1">
            <a:spLocks noChangeArrowheads="1"/>
          </p:cNvSpPr>
          <p:nvPr/>
        </p:nvSpPr>
        <p:spPr bwMode="auto">
          <a:xfrm>
            <a:off x="328613" y="1020763"/>
            <a:ext cx="9148762" cy="526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en-US" altLang="zh-CN" sz="2800" b="1">
                <a:solidFill>
                  <a:srgbClr val="333399"/>
                </a:solidFill>
                <a:ea typeface="黑体" panose="02010609060101010101" pitchFamily="49" charset="-122"/>
              </a:rPr>
              <a:t>&lt;HTML&gt;                                          </a:t>
            </a:r>
          </a:p>
          <a:p>
            <a:pPr>
              <a:lnSpc>
                <a:spcPct val="110000"/>
              </a:lnSpc>
            </a:pPr>
            <a:r>
              <a:rPr lang="en-US" altLang="zh-CN" sz="2800" b="1">
                <a:solidFill>
                  <a:srgbClr val="333399"/>
                </a:solidFill>
                <a:ea typeface="黑体" panose="02010609060101010101" pitchFamily="49" charset="-122"/>
              </a:rPr>
              <a:t>&lt;HEAD&gt;                                         </a:t>
            </a:r>
            <a:br>
              <a:rPr lang="en-US" altLang="zh-CN" sz="2800" b="1">
                <a:solidFill>
                  <a:srgbClr val="333399"/>
                </a:solidFill>
                <a:ea typeface="黑体" panose="02010609060101010101" pitchFamily="49" charset="-122"/>
              </a:rPr>
            </a:br>
            <a:r>
              <a:rPr lang="en-US" altLang="zh-CN" sz="2800" b="1">
                <a:solidFill>
                  <a:srgbClr val="333399"/>
                </a:solidFill>
                <a:ea typeface="黑体" panose="02010609060101010101" pitchFamily="49" charset="-122"/>
              </a:rPr>
              <a:t>      &lt;TITLE&gt;</a:t>
            </a:r>
            <a:r>
              <a:rPr lang="zh-CN" altLang="en-US" sz="2800" b="1">
                <a:solidFill>
                  <a:srgbClr val="333399"/>
                </a:solidFill>
                <a:ea typeface="黑体" panose="02010609060101010101" pitchFamily="49" charset="-122"/>
              </a:rPr>
              <a:t>一个 </a:t>
            </a:r>
            <a:r>
              <a:rPr lang="en-US" altLang="zh-CN" sz="2800" b="1">
                <a:solidFill>
                  <a:srgbClr val="333399"/>
                </a:solidFill>
                <a:ea typeface="黑体" panose="02010609060101010101" pitchFamily="49" charset="-122"/>
              </a:rPr>
              <a:t>HTML </a:t>
            </a:r>
            <a:r>
              <a:rPr lang="zh-CN" altLang="en-US" sz="2800" b="1">
                <a:solidFill>
                  <a:srgbClr val="333399"/>
                </a:solidFill>
                <a:ea typeface="黑体" panose="02010609060101010101" pitchFamily="49" charset="-122"/>
              </a:rPr>
              <a:t>的例子</a:t>
            </a:r>
            <a:r>
              <a:rPr lang="en-US" altLang="zh-CN" sz="2800" b="1">
                <a:solidFill>
                  <a:srgbClr val="333399"/>
                </a:solidFill>
                <a:ea typeface="黑体" panose="02010609060101010101" pitchFamily="49" charset="-122"/>
              </a:rPr>
              <a:t>&lt;/TITLE&gt;</a:t>
            </a:r>
          </a:p>
          <a:p>
            <a:pPr>
              <a:lnSpc>
                <a:spcPct val="110000"/>
              </a:lnSpc>
            </a:pPr>
            <a:r>
              <a:rPr lang="en-US" altLang="zh-CN" sz="2800" b="1">
                <a:solidFill>
                  <a:srgbClr val="333399"/>
                </a:solidFill>
                <a:ea typeface="黑体" panose="02010609060101010101" pitchFamily="49" charset="-122"/>
              </a:rPr>
              <a:t>&lt;/HEAD&gt;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      &lt;H1&gt;HTML </a:t>
            </a:r>
            <a:r>
              <a:rPr lang="zh-CN" altLang="en-US" sz="2800" b="1">
                <a:solidFill>
                  <a:srgbClr val="333399"/>
                </a:solidFill>
                <a:ea typeface="黑体" panose="02010609060101010101" pitchFamily="49" charset="-122"/>
              </a:rPr>
              <a:t>很容易掌握</a:t>
            </a:r>
            <a:r>
              <a:rPr lang="en-US" altLang="zh-CN" sz="2800" b="1">
                <a:solidFill>
                  <a:srgbClr val="333399"/>
                </a:solidFill>
                <a:ea typeface="黑体" panose="02010609060101010101" pitchFamily="49" charset="-122"/>
              </a:rPr>
              <a:t>&lt;/H1&gt;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这是第一个段落。虽然很</a:t>
            </a:r>
          </a:p>
          <a:p>
            <a:pPr>
              <a:lnSpc>
                <a:spcPct val="110000"/>
              </a:lnSpc>
            </a:pPr>
            <a:r>
              <a:rPr lang="zh-CN" altLang="en-US" sz="2800" b="1">
                <a:solidFill>
                  <a:srgbClr val="333399"/>
                </a:solidFill>
                <a:ea typeface="黑体" panose="02010609060101010101" pitchFamily="49" charset="-122"/>
              </a:rPr>
              <a:t>       短，但它仍是一个段落。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这是第二个段落。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&lt;/HTML&gt;</a:t>
            </a:r>
          </a:p>
        </p:txBody>
      </p:sp>
      <p:sp>
        <p:nvSpPr>
          <p:cNvPr id="1761284" name="Text Box 5"/>
          <p:cNvSpPr txBox="1">
            <a:spLocks noChangeArrowheads="1"/>
          </p:cNvSpPr>
          <p:nvPr/>
        </p:nvSpPr>
        <p:spPr bwMode="auto">
          <a:xfrm>
            <a:off x="6980238" y="1112838"/>
            <a:ext cx="903287" cy="523875"/>
          </a:xfrm>
          <a:prstGeom prst="rect">
            <a:avLst/>
          </a:prstGeom>
          <a:solidFill>
            <a:srgbClr val="FFFF99"/>
          </a:solidFill>
          <a:ln w="28575">
            <a:solidFill>
              <a:schemeClr val="hlink"/>
            </a:solidFill>
            <a:miter lim="800000"/>
            <a:headEnd/>
            <a:tailEnd/>
          </a:ln>
        </p:spPr>
        <p:txBody>
          <a:bodyPr wrap="none">
            <a:spAutoFit/>
          </a:bodyPr>
          <a:lstStyle/>
          <a:p>
            <a:r>
              <a:rPr lang="zh-CN" altLang="en-US" sz="2800" b="1">
                <a:solidFill>
                  <a:srgbClr val="333399"/>
                </a:solidFill>
                <a:latin typeface="Tahoma" panose="020B0604030504040204" pitchFamily="34" charset="0"/>
                <a:ea typeface="黑体" panose="02010609060101010101" pitchFamily="49" charset="-122"/>
              </a:rPr>
              <a:t>标题</a:t>
            </a:r>
            <a:endParaRPr lang="zh-CN" altLang="en-US" sz="2800" b="1">
              <a:solidFill>
                <a:srgbClr val="333399"/>
              </a:solidFill>
              <a:latin typeface="Tahoma" panose="020B0604030504040204" pitchFamily="34" charset="0"/>
              <a:ea typeface="宋体" panose="02010600030101010101" pitchFamily="2" charset="-122"/>
            </a:endParaRPr>
          </a:p>
        </p:txBody>
      </p:sp>
      <p:sp>
        <p:nvSpPr>
          <p:cNvPr id="1761285" name="Freeform 6"/>
          <p:cNvSpPr>
            <a:spLocks noChangeArrowheads="1"/>
          </p:cNvSpPr>
          <p:nvPr/>
        </p:nvSpPr>
        <p:spPr bwMode="auto">
          <a:xfrm>
            <a:off x="5362575" y="1422400"/>
            <a:ext cx="1587500" cy="581025"/>
          </a:xfrm>
          <a:custGeom>
            <a:avLst/>
            <a:gdLst>
              <a:gd name="T0" fmla="*/ 923 w 923"/>
              <a:gd name="T1" fmla="*/ 0 h 366"/>
              <a:gd name="T2" fmla="*/ 0 w 923"/>
              <a:gd name="T3" fmla="*/ 366 h 366"/>
            </a:gdLst>
            <a:ahLst/>
            <a:cxnLst>
              <a:cxn ang="0">
                <a:pos x="T0" y="T1"/>
              </a:cxn>
              <a:cxn ang="0">
                <a:pos x="T2" y="T3"/>
              </a:cxn>
            </a:cxnLst>
            <a:rect l="0" t="0" r="r" b="b"/>
            <a:pathLst>
              <a:path w="923" h="366">
                <a:moveTo>
                  <a:pt x="923" y="0"/>
                </a:moveTo>
                <a:lnTo>
                  <a:pt x="0" y="366"/>
                </a:lnTo>
              </a:path>
            </a:pathLst>
          </a:custGeom>
          <a:noFill/>
          <a:ln w="28575">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176128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D61D2C-A613-4A14-B1D7-561091F9DBFC}" type="slidenum">
              <a:rPr lang="zh-CN" altLang="en-US" smtClean="0"/>
              <a:pPr eaLnBrk="1" hangingPunct="1"/>
              <a:t>54</a:t>
            </a:fld>
            <a:endParaRPr lang="en-US" altLang="zh-CN" smtClean="0"/>
          </a:p>
        </p:txBody>
      </p:sp>
      <p:sp>
        <p:nvSpPr>
          <p:cNvPr id="176128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3329" name="Rectangle 2"/>
          <p:cNvSpPr>
            <a:spLocks noGrp="1" noChangeArrowheads="1"/>
          </p:cNvSpPr>
          <p:nvPr>
            <p:ph type="title"/>
          </p:nvPr>
        </p:nvSpPr>
        <p:spPr/>
        <p:txBody>
          <a:bodyPr/>
          <a:lstStyle/>
          <a:p>
            <a:pPr algn="ctr"/>
            <a:r>
              <a:rPr lang="en-US" altLang="zh-CN" smtClean="0">
                <a:ea typeface="黑体" panose="02010609060101010101" pitchFamily="49" charset="-122"/>
              </a:rPr>
              <a:t>HTML </a:t>
            </a:r>
            <a:r>
              <a:rPr lang="zh-CN" altLang="zh-CN" smtClean="0">
                <a:ea typeface="黑体" panose="02010609060101010101" pitchFamily="49" charset="-122"/>
              </a:rPr>
              <a:t>文档中标签的用法 </a:t>
            </a:r>
          </a:p>
        </p:txBody>
      </p:sp>
      <p:sp>
        <p:nvSpPr>
          <p:cNvPr id="1763330" name="Text Box 3"/>
          <p:cNvSpPr txBox="1">
            <a:spLocks noChangeArrowheads="1"/>
          </p:cNvSpPr>
          <p:nvPr/>
        </p:nvSpPr>
        <p:spPr bwMode="auto">
          <a:xfrm>
            <a:off x="328613" y="1020763"/>
            <a:ext cx="9148762" cy="526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en-US" altLang="zh-CN" sz="2800" b="1">
                <a:solidFill>
                  <a:srgbClr val="333399"/>
                </a:solidFill>
                <a:ea typeface="黑体" panose="02010609060101010101" pitchFamily="49" charset="-122"/>
              </a:rPr>
              <a:t>&lt;HTML&gt;                                          </a:t>
            </a:r>
          </a:p>
          <a:p>
            <a:pPr>
              <a:lnSpc>
                <a:spcPct val="110000"/>
              </a:lnSpc>
            </a:pPr>
            <a:r>
              <a:rPr lang="en-US" altLang="zh-CN" sz="2800" b="1">
                <a:solidFill>
                  <a:srgbClr val="333399"/>
                </a:solidFill>
                <a:ea typeface="黑体" panose="02010609060101010101" pitchFamily="49" charset="-122"/>
              </a:rPr>
              <a:t>&lt;HEAD&gt;                                         </a:t>
            </a:r>
            <a:br>
              <a:rPr lang="en-US" altLang="zh-CN" sz="2800" b="1">
                <a:solidFill>
                  <a:srgbClr val="333399"/>
                </a:solidFill>
                <a:ea typeface="黑体" panose="02010609060101010101" pitchFamily="49" charset="-122"/>
              </a:rPr>
            </a:br>
            <a:r>
              <a:rPr lang="en-US" altLang="zh-CN" sz="2800" b="1">
                <a:solidFill>
                  <a:srgbClr val="333399"/>
                </a:solidFill>
                <a:ea typeface="黑体" panose="02010609060101010101" pitchFamily="49" charset="-122"/>
              </a:rPr>
              <a:t>      &lt;TITLE&gt;</a:t>
            </a:r>
            <a:r>
              <a:rPr lang="zh-CN" altLang="en-US" sz="2800" b="1">
                <a:solidFill>
                  <a:srgbClr val="333399"/>
                </a:solidFill>
                <a:ea typeface="黑体" panose="02010609060101010101" pitchFamily="49" charset="-122"/>
              </a:rPr>
              <a:t>一个 </a:t>
            </a:r>
            <a:r>
              <a:rPr lang="en-US" altLang="zh-CN" sz="2800" b="1">
                <a:solidFill>
                  <a:srgbClr val="333399"/>
                </a:solidFill>
                <a:ea typeface="黑体" panose="02010609060101010101" pitchFamily="49" charset="-122"/>
              </a:rPr>
              <a:t>HTML </a:t>
            </a:r>
            <a:r>
              <a:rPr lang="zh-CN" altLang="en-US" sz="2800" b="1">
                <a:solidFill>
                  <a:srgbClr val="333399"/>
                </a:solidFill>
                <a:ea typeface="黑体" panose="02010609060101010101" pitchFamily="49" charset="-122"/>
              </a:rPr>
              <a:t>的例子</a:t>
            </a:r>
            <a:r>
              <a:rPr lang="en-US" altLang="zh-CN" sz="2800" b="1">
                <a:solidFill>
                  <a:srgbClr val="333399"/>
                </a:solidFill>
                <a:ea typeface="黑体" panose="02010609060101010101" pitchFamily="49" charset="-122"/>
              </a:rPr>
              <a:t>&lt;/TITLE&gt;</a:t>
            </a:r>
          </a:p>
          <a:p>
            <a:pPr>
              <a:lnSpc>
                <a:spcPct val="110000"/>
              </a:lnSpc>
            </a:pPr>
            <a:r>
              <a:rPr lang="en-US" altLang="zh-CN" sz="2800" b="1">
                <a:solidFill>
                  <a:srgbClr val="333399"/>
                </a:solidFill>
                <a:ea typeface="黑体" panose="02010609060101010101" pitchFamily="49" charset="-122"/>
              </a:rPr>
              <a:t>&lt;/HEAD&gt;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      &lt;H1&gt;HTML </a:t>
            </a:r>
            <a:r>
              <a:rPr lang="zh-CN" altLang="en-US" sz="2800" b="1">
                <a:solidFill>
                  <a:srgbClr val="333399"/>
                </a:solidFill>
                <a:ea typeface="黑体" panose="02010609060101010101" pitchFamily="49" charset="-122"/>
              </a:rPr>
              <a:t>很容易掌握</a:t>
            </a:r>
            <a:r>
              <a:rPr lang="en-US" altLang="zh-CN" sz="2800" b="1">
                <a:solidFill>
                  <a:srgbClr val="333399"/>
                </a:solidFill>
                <a:ea typeface="黑体" panose="02010609060101010101" pitchFamily="49" charset="-122"/>
              </a:rPr>
              <a:t>&lt;/H1&gt;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这是第一个段落。虽然很</a:t>
            </a:r>
          </a:p>
          <a:p>
            <a:pPr>
              <a:lnSpc>
                <a:spcPct val="110000"/>
              </a:lnSpc>
            </a:pPr>
            <a:r>
              <a:rPr lang="zh-CN" altLang="en-US" sz="2800" b="1">
                <a:solidFill>
                  <a:srgbClr val="333399"/>
                </a:solidFill>
                <a:ea typeface="黑体" panose="02010609060101010101" pitchFamily="49" charset="-122"/>
              </a:rPr>
              <a:t>       短，但它仍是一个段落。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这是第二个段落。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&lt;/HTML&gt;</a:t>
            </a:r>
          </a:p>
        </p:txBody>
      </p:sp>
      <p:sp>
        <p:nvSpPr>
          <p:cNvPr id="1763331" name="Text Box 5"/>
          <p:cNvSpPr txBox="1">
            <a:spLocks noChangeArrowheads="1"/>
          </p:cNvSpPr>
          <p:nvPr/>
        </p:nvSpPr>
        <p:spPr bwMode="auto">
          <a:xfrm>
            <a:off x="7021513" y="2422525"/>
            <a:ext cx="1620837" cy="523875"/>
          </a:xfrm>
          <a:prstGeom prst="rect">
            <a:avLst/>
          </a:prstGeom>
          <a:solidFill>
            <a:srgbClr val="FFFF99"/>
          </a:solidFill>
          <a:ln w="28575">
            <a:solidFill>
              <a:schemeClr val="hlink"/>
            </a:solidFill>
            <a:miter lim="800000"/>
            <a:headEnd/>
            <a:tailEnd/>
          </a:ln>
        </p:spPr>
        <p:txBody>
          <a:bodyPr wrap="none">
            <a:spAutoFit/>
          </a:bodyPr>
          <a:lstStyle/>
          <a:p>
            <a:r>
              <a:rPr lang="zh-CN" altLang="en-US" sz="2800" b="1">
                <a:solidFill>
                  <a:srgbClr val="333399"/>
                </a:solidFill>
                <a:latin typeface="Tahoma" panose="020B0604030504040204" pitchFamily="34" charset="0"/>
                <a:ea typeface="黑体" panose="02010609060101010101" pitchFamily="49" charset="-122"/>
              </a:rPr>
              <a:t>首部结束</a:t>
            </a:r>
            <a:endParaRPr lang="zh-CN" altLang="en-US" sz="2800" b="1">
              <a:solidFill>
                <a:srgbClr val="333399"/>
              </a:solidFill>
              <a:latin typeface="Tahoma" panose="020B0604030504040204" pitchFamily="34" charset="0"/>
              <a:ea typeface="宋体" panose="02010600030101010101" pitchFamily="2" charset="-122"/>
            </a:endParaRPr>
          </a:p>
        </p:txBody>
      </p:sp>
      <p:sp>
        <p:nvSpPr>
          <p:cNvPr id="1763332" name="Line 6"/>
          <p:cNvSpPr>
            <a:spLocks noChangeShapeType="1"/>
          </p:cNvSpPr>
          <p:nvPr/>
        </p:nvSpPr>
        <p:spPr bwMode="auto">
          <a:xfrm flipH="1">
            <a:off x="2084388" y="2735263"/>
            <a:ext cx="4964112" cy="14287"/>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76333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7500EB-E44B-46B4-B361-4E6D8018872D}" type="slidenum">
              <a:rPr lang="zh-CN" altLang="en-US" smtClean="0"/>
              <a:pPr eaLnBrk="1" hangingPunct="1"/>
              <a:t>55</a:t>
            </a:fld>
            <a:endParaRPr lang="en-US" altLang="zh-CN" smtClean="0"/>
          </a:p>
        </p:txBody>
      </p:sp>
      <p:sp>
        <p:nvSpPr>
          <p:cNvPr id="176333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5377" name="Rectangle 2"/>
          <p:cNvSpPr>
            <a:spLocks noGrp="1" noChangeArrowheads="1"/>
          </p:cNvSpPr>
          <p:nvPr>
            <p:ph type="title"/>
          </p:nvPr>
        </p:nvSpPr>
        <p:spPr/>
        <p:txBody>
          <a:bodyPr/>
          <a:lstStyle/>
          <a:p>
            <a:pPr algn="ctr"/>
            <a:r>
              <a:rPr lang="en-US" altLang="zh-CN" smtClean="0">
                <a:ea typeface="黑体" panose="02010609060101010101" pitchFamily="49" charset="-122"/>
              </a:rPr>
              <a:t>HTML </a:t>
            </a:r>
            <a:r>
              <a:rPr lang="zh-CN" altLang="zh-CN" smtClean="0">
                <a:ea typeface="黑体" panose="02010609060101010101" pitchFamily="49" charset="-122"/>
              </a:rPr>
              <a:t>文档中标签的用法 </a:t>
            </a:r>
          </a:p>
        </p:txBody>
      </p:sp>
      <p:sp>
        <p:nvSpPr>
          <p:cNvPr id="1765378" name="Text Box 3"/>
          <p:cNvSpPr txBox="1">
            <a:spLocks noChangeArrowheads="1"/>
          </p:cNvSpPr>
          <p:nvPr/>
        </p:nvSpPr>
        <p:spPr bwMode="auto">
          <a:xfrm>
            <a:off x="328613" y="1020763"/>
            <a:ext cx="9148762" cy="526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en-US" altLang="zh-CN" sz="2800" b="1">
                <a:solidFill>
                  <a:srgbClr val="333399"/>
                </a:solidFill>
                <a:ea typeface="黑体" panose="02010609060101010101" pitchFamily="49" charset="-122"/>
              </a:rPr>
              <a:t>&lt;HTML&gt;                                          </a:t>
            </a:r>
          </a:p>
          <a:p>
            <a:pPr>
              <a:lnSpc>
                <a:spcPct val="110000"/>
              </a:lnSpc>
            </a:pPr>
            <a:r>
              <a:rPr lang="en-US" altLang="zh-CN" sz="2800" b="1">
                <a:solidFill>
                  <a:srgbClr val="333399"/>
                </a:solidFill>
                <a:ea typeface="黑体" panose="02010609060101010101" pitchFamily="49" charset="-122"/>
              </a:rPr>
              <a:t>&lt;HEAD&gt;                                         </a:t>
            </a:r>
            <a:br>
              <a:rPr lang="en-US" altLang="zh-CN" sz="2800" b="1">
                <a:solidFill>
                  <a:srgbClr val="333399"/>
                </a:solidFill>
                <a:ea typeface="黑体" panose="02010609060101010101" pitchFamily="49" charset="-122"/>
              </a:rPr>
            </a:br>
            <a:r>
              <a:rPr lang="en-US" altLang="zh-CN" sz="2800" b="1">
                <a:solidFill>
                  <a:srgbClr val="333399"/>
                </a:solidFill>
                <a:ea typeface="黑体" panose="02010609060101010101" pitchFamily="49" charset="-122"/>
              </a:rPr>
              <a:t>      &lt;TITLE&gt;</a:t>
            </a:r>
            <a:r>
              <a:rPr lang="zh-CN" altLang="en-US" sz="2800" b="1">
                <a:solidFill>
                  <a:srgbClr val="333399"/>
                </a:solidFill>
                <a:ea typeface="黑体" panose="02010609060101010101" pitchFamily="49" charset="-122"/>
              </a:rPr>
              <a:t>一个 </a:t>
            </a:r>
            <a:r>
              <a:rPr lang="en-US" altLang="zh-CN" sz="2800" b="1">
                <a:solidFill>
                  <a:srgbClr val="333399"/>
                </a:solidFill>
                <a:ea typeface="黑体" panose="02010609060101010101" pitchFamily="49" charset="-122"/>
              </a:rPr>
              <a:t>HTML </a:t>
            </a:r>
            <a:r>
              <a:rPr lang="zh-CN" altLang="en-US" sz="2800" b="1">
                <a:solidFill>
                  <a:srgbClr val="333399"/>
                </a:solidFill>
                <a:ea typeface="黑体" panose="02010609060101010101" pitchFamily="49" charset="-122"/>
              </a:rPr>
              <a:t>的例子</a:t>
            </a:r>
            <a:r>
              <a:rPr lang="en-US" altLang="zh-CN" sz="2800" b="1">
                <a:solidFill>
                  <a:srgbClr val="333399"/>
                </a:solidFill>
                <a:ea typeface="黑体" panose="02010609060101010101" pitchFamily="49" charset="-122"/>
              </a:rPr>
              <a:t>&lt;/TITLE&gt;</a:t>
            </a:r>
          </a:p>
          <a:p>
            <a:pPr>
              <a:lnSpc>
                <a:spcPct val="110000"/>
              </a:lnSpc>
            </a:pPr>
            <a:r>
              <a:rPr lang="en-US" altLang="zh-CN" sz="2800" b="1">
                <a:solidFill>
                  <a:srgbClr val="333399"/>
                </a:solidFill>
                <a:ea typeface="黑体" panose="02010609060101010101" pitchFamily="49" charset="-122"/>
              </a:rPr>
              <a:t>&lt;/HEAD&gt;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      &lt;H1&gt;HTML </a:t>
            </a:r>
            <a:r>
              <a:rPr lang="zh-CN" altLang="en-US" sz="2800" b="1">
                <a:solidFill>
                  <a:srgbClr val="333399"/>
                </a:solidFill>
                <a:ea typeface="黑体" panose="02010609060101010101" pitchFamily="49" charset="-122"/>
              </a:rPr>
              <a:t>很容易掌握</a:t>
            </a:r>
            <a:r>
              <a:rPr lang="en-US" altLang="zh-CN" sz="2800" b="1">
                <a:solidFill>
                  <a:srgbClr val="333399"/>
                </a:solidFill>
                <a:ea typeface="黑体" panose="02010609060101010101" pitchFamily="49" charset="-122"/>
              </a:rPr>
              <a:t>&lt;/H1&gt;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这是第一个段落。虽然很</a:t>
            </a:r>
          </a:p>
          <a:p>
            <a:pPr>
              <a:lnSpc>
                <a:spcPct val="110000"/>
              </a:lnSpc>
            </a:pPr>
            <a:r>
              <a:rPr lang="zh-CN" altLang="en-US" sz="2800" b="1">
                <a:solidFill>
                  <a:srgbClr val="333399"/>
                </a:solidFill>
                <a:ea typeface="黑体" panose="02010609060101010101" pitchFamily="49" charset="-122"/>
              </a:rPr>
              <a:t>       短，但它仍是一个段落。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这是第二个段落。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&lt;/HTML&gt;</a:t>
            </a:r>
          </a:p>
        </p:txBody>
      </p:sp>
      <p:sp>
        <p:nvSpPr>
          <p:cNvPr id="1765379" name="Text Box 5"/>
          <p:cNvSpPr txBox="1">
            <a:spLocks noChangeArrowheads="1"/>
          </p:cNvSpPr>
          <p:nvPr/>
        </p:nvSpPr>
        <p:spPr bwMode="auto">
          <a:xfrm>
            <a:off x="6945313" y="2868613"/>
            <a:ext cx="1620837" cy="523875"/>
          </a:xfrm>
          <a:prstGeom prst="rect">
            <a:avLst/>
          </a:prstGeom>
          <a:solidFill>
            <a:srgbClr val="FFFF99"/>
          </a:solidFill>
          <a:ln w="28575">
            <a:solidFill>
              <a:schemeClr val="hlink"/>
            </a:solidFill>
            <a:miter lim="800000"/>
            <a:headEnd/>
            <a:tailEnd/>
          </a:ln>
        </p:spPr>
        <p:txBody>
          <a:bodyPr wrap="none">
            <a:spAutoFit/>
          </a:bodyPr>
          <a:lstStyle/>
          <a:p>
            <a:r>
              <a:rPr lang="zh-CN" altLang="en-US" sz="2800" b="1">
                <a:solidFill>
                  <a:srgbClr val="333399"/>
                </a:solidFill>
                <a:latin typeface="Tahoma" panose="020B0604030504040204" pitchFamily="34" charset="0"/>
                <a:ea typeface="黑体" panose="02010609060101010101" pitchFamily="49" charset="-122"/>
              </a:rPr>
              <a:t>主体开始</a:t>
            </a:r>
            <a:endParaRPr lang="zh-CN" altLang="en-US" sz="2800" b="1">
              <a:solidFill>
                <a:srgbClr val="333399"/>
              </a:solidFill>
              <a:latin typeface="Tahoma" panose="020B0604030504040204" pitchFamily="34" charset="0"/>
              <a:ea typeface="宋体" panose="02010600030101010101" pitchFamily="2" charset="-122"/>
            </a:endParaRPr>
          </a:p>
        </p:txBody>
      </p:sp>
      <p:sp>
        <p:nvSpPr>
          <p:cNvPr id="1765380" name="Line 6"/>
          <p:cNvSpPr>
            <a:spLocks noChangeShapeType="1"/>
          </p:cNvSpPr>
          <p:nvPr/>
        </p:nvSpPr>
        <p:spPr bwMode="auto">
          <a:xfrm flipH="1">
            <a:off x="2084388" y="3184525"/>
            <a:ext cx="4868862" cy="25400"/>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76538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18F90C6-1A83-445C-8BD6-CD58F6813D2D}" type="slidenum">
              <a:rPr lang="zh-CN" altLang="en-US" smtClean="0"/>
              <a:pPr eaLnBrk="1" hangingPunct="1"/>
              <a:t>56</a:t>
            </a:fld>
            <a:endParaRPr lang="en-US" altLang="zh-CN" smtClean="0"/>
          </a:p>
        </p:txBody>
      </p:sp>
      <p:sp>
        <p:nvSpPr>
          <p:cNvPr id="176538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7425" name="Rectangle 7"/>
          <p:cNvSpPr>
            <a:spLocks noChangeArrowheads="1"/>
          </p:cNvSpPr>
          <p:nvPr/>
        </p:nvSpPr>
        <p:spPr bwMode="auto">
          <a:xfrm>
            <a:off x="1935163" y="3381375"/>
            <a:ext cx="3222625" cy="552450"/>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767426" name="Rectangle 2"/>
          <p:cNvSpPr>
            <a:spLocks noGrp="1" noChangeArrowheads="1"/>
          </p:cNvSpPr>
          <p:nvPr>
            <p:ph type="title"/>
          </p:nvPr>
        </p:nvSpPr>
        <p:spPr/>
        <p:txBody>
          <a:bodyPr/>
          <a:lstStyle/>
          <a:p>
            <a:pPr algn="ctr"/>
            <a:r>
              <a:rPr lang="en-US" altLang="zh-CN" smtClean="0">
                <a:ea typeface="黑体" panose="02010609060101010101" pitchFamily="49" charset="-122"/>
              </a:rPr>
              <a:t>HTML </a:t>
            </a:r>
            <a:r>
              <a:rPr lang="zh-CN" altLang="zh-CN" smtClean="0">
                <a:ea typeface="黑体" panose="02010609060101010101" pitchFamily="49" charset="-122"/>
              </a:rPr>
              <a:t>文档中标签的用法 </a:t>
            </a:r>
          </a:p>
        </p:txBody>
      </p:sp>
      <p:sp>
        <p:nvSpPr>
          <p:cNvPr id="1767427" name="Text Box 3"/>
          <p:cNvSpPr txBox="1">
            <a:spLocks noChangeArrowheads="1"/>
          </p:cNvSpPr>
          <p:nvPr/>
        </p:nvSpPr>
        <p:spPr bwMode="auto">
          <a:xfrm>
            <a:off x="328613" y="1020763"/>
            <a:ext cx="9148762" cy="526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en-US" altLang="zh-CN" sz="2800" b="1">
                <a:solidFill>
                  <a:srgbClr val="333399"/>
                </a:solidFill>
                <a:ea typeface="黑体" panose="02010609060101010101" pitchFamily="49" charset="-122"/>
              </a:rPr>
              <a:t>&lt;HTML&gt;                                          </a:t>
            </a:r>
          </a:p>
          <a:p>
            <a:pPr>
              <a:lnSpc>
                <a:spcPct val="110000"/>
              </a:lnSpc>
            </a:pPr>
            <a:r>
              <a:rPr lang="en-US" altLang="zh-CN" sz="2800" b="1">
                <a:solidFill>
                  <a:srgbClr val="333399"/>
                </a:solidFill>
                <a:ea typeface="黑体" panose="02010609060101010101" pitchFamily="49" charset="-122"/>
              </a:rPr>
              <a:t>&lt;HEAD&gt;                                         </a:t>
            </a:r>
            <a:br>
              <a:rPr lang="en-US" altLang="zh-CN" sz="2800" b="1">
                <a:solidFill>
                  <a:srgbClr val="333399"/>
                </a:solidFill>
                <a:ea typeface="黑体" panose="02010609060101010101" pitchFamily="49" charset="-122"/>
              </a:rPr>
            </a:br>
            <a:r>
              <a:rPr lang="en-US" altLang="zh-CN" sz="2800" b="1">
                <a:solidFill>
                  <a:srgbClr val="333399"/>
                </a:solidFill>
                <a:ea typeface="黑体" panose="02010609060101010101" pitchFamily="49" charset="-122"/>
              </a:rPr>
              <a:t>      &lt;TITLE&gt;</a:t>
            </a:r>
            <a:r>
              <a:rPr lang="zh-CN" altLang="en-US" sz="2800" b="1">
                <a:solidFill>
                  <a:srgbClr val="333399"/>
                </a:solidFill>
                <a:ea typeface="黑体" panose="02010609060101010101" pitchFamily="49" charset="-122"/>
              </a:rPr>
              <a:t>一个 </a:t>
            </a:r>
            <a:r>
              <a:rPr lang="en-US" altLang="zh-CN" sz="2800" b="1">
                <a:solidFill>
                  <a:srgbClr val="333399"/>
                </a:solidFill>
                <a:ea typeface="黑体" panose="02010609060101010101" pitchFamily="49" charset="-122"/>
              </a:rPr>
              <a:t>HTML </a:t>
            </a:r>
            <a:r>
              <a:rPr lang="zh-CN" altLang="en-US" sz="2800" b="1">
                <a:solidFill>
                  <a:srgbClr val="333399"/>
                </a:solidFill>
                <a:ea typeface="黑体" panose="02010609060101010101" pitchFamily="49" charset="-122"/>
              </a:rPr>
              <a:t>的例子</a:t>
            </a:r>
            <a:r>
              <a:rPr lang="en-US" altLang="zh-CN" sz="2800" b="1">
                <a:solidFill>
                  <a:srgbClr val="333399"/>
                </a:solidFill>
                <a:ea typeface="黑体" panose="02010609060101010101" pitchFamily="49" charset="-122"/>
              </a:rPr>
              <a:t>&lt;/TITLE&gt;</a:t>
            </a:r>
          </a:p>
          <a:p>
            <a:pPr>
              <a:lnSpc>
                <a:spcPct val="110000"/>
              </a:lnSpc>
            </a:pPr>
            <a:r>
              <a:rPr lang="en-US" altLang="zh-CN" sz="2800" b="1">
                <a:solidFill>
                  <a:srgbClr val="333399"/>
                </a:solidFill>
                <a:ea typeface="黑体" panose="02010609060101010101" pitchFamily="49" charset="-122"/>
              </a:rPr>
              <a:t>&lt;/HEAD&gt;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      &lt;H1&gt;HTML </a:t>
            </a:r>
            <a:r>
              <a:rPr lang="zh-CN" altLang="en-US" sz="2800" b="1">
                <a:solidFill>
                  <a:srgbClr val="333399"/>
                </a:solidFill>
                <a:ea typeface="黑体" panose="02010609060101010101" pitchFamily="49" charset="-122"/>
              </a:rPr>
              <a:t>很容易掌握</a:t>
            </a:r>
            <a:r>
              <a:rPr lang="en-US" altLang="zh-CN" sz="2800" b="1">
                <a:solidFill>
                  <a:srgbClr val="333399"/>
                </a:solidFill>
                <a:ea typeface="黑体" panose="02010609060101010101" pitchFamily="49" charset="-122"/>
              </a:rPr>
              <a:t>&lt;/H1&gt;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这是第一个段落。虽然很</a:t>
            </a:r>
          </a:p>
          <a:p>
            <a:pPr>
              <a:lnSpc>
                <a:spcPct val="110000"/>
              </a:lnSpc>
            </a:pPr>
            <a:r>
              <a:rPr lang="zh-CN" altLang="en-US" sz="2800" b="1">
                <a:solidFill>
                  <a:srgbClr val="333399"/>
                </a:solidFill>
                <a:ea typeface="黑体" panose="02010609060101010101" pitchFamily="49" charset="-122"/>
              </a:rPr>
              <a:t>       短，但它仍是一个段落。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这是第二个段落。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&lt;/HTML&gt;</a:t>
            </a:r>
          </a:p>
        </p:txBody>
      </p:sp>
      <p:sp>
        <p:nvSpPr>
          <p:cNvPr id="1767428" name="Text Box 4"/>
          <p:cNvSpPr txBox="1">
            <a:spLocks noChangeArrowheads="1"/>
          </p:cNvSpPr>
          <p:nvPr/>
        </p:nvSpPr>
        <p:spPr bwMode="auto">
          <a:xfrm>
            <a:off x="6804025" y="2787650"/>
            <a:ext cx="1504950" cy="523875"/>
          </a:xfrm>
          <a:prstGeom prst="rect">
            <a:avLst/>
          </a:prstGeom>
          <a:solidFill>
            <a:srgbClr val="FFFF99"/>
          </a:solidFill>
          <a:ln w="28575">
            <a:solidFill>
              <a:schemeClr val="hlink"/>
            </a:solidFill>
            <a:miter lim="800000"/>
            <a:headEnd/>
            <a:tailEnd/>
          </a:ln>
        </p:spPr>
        <p:txBody>
          <a:bodyPr wrap="none">
            <a:spAutoFit/>
          </a:bodyPr>
          <a:lstStyle/>
          <a:p>
            <a:r>
              <a:rPr lang="en-US" altLang="zh-CN" sz="2800" b="1">
                <a:solidFill>
                  <a:srgbClr val="333399"/>
                </a:solidFill>
                <a:ea typeface="黑体" panose="02010609060101010101" pitchFamily="49" charset="-122"/>
              </a:rPr>
              <a:t>1</a:t>
            </a:r>
            <a:r>
              <a:rPr lang="en-US" altLang="zh-CN" sz="1200" b="1">
                <a:solidFill>
                  <a:srgbClr val="333399"/>
                </a:solidFill>
                <a:ea typeface="黑体" panose="02010609060101010101" pitchFamily="49" charset="-122"/>
              </a:rPr>
              <a:t> </a:t>
            </a:r>
            <a:r>
              <a:rPr lang="zh-CN" altLang="en-US" sz="2800" b="1">
                <a:solidFill>
                  <a:srgbClr val="333399"/>
                </a:solidFill>
                <a:latin typeface="Tahoma" panose="020B0604030504040204" pitchFamily="34" charset="0"/>
                <a:ea typeface="黑体" panose="02010609060101010101" pitchFamily="49" charset="-122"/>
              </a:rPr>
              <a:t>级标题</a:t>
            </a:r>
            <a:endParaRPr lang="zh-CN" altLang="en-US" sz="2800" b="1">
              <a:solidFill>
                <a:srgbClr val="333399"/>
              </a:solidFill>
              <a:latin typeface="Tahoma" panose="020B0604030504040204" pitchFamily="34" charset="0"/>
              <a:ea typeface="宋体" panose="02010600030101010101" pitchFamily="2" charset="-122"/>
            </a:endParaRPr>
          </a:p>
        </p:txBody>
      </p:sp>
      <p:sp>
        <p:nvSpPr>
          <p:cNvPr id="1767429" name="Freeform 5"/>
          <p:cNvSpPr>
            <a:spLocks noChangeArrowheads="1"/>
          </p:cNvSpPr>
          <p:nvPr/>
        </p:nvSpPr>
        <p:spPr bwMode="auto">
          <a:xfrm>
            <a:off x="5157788" y="3062288"/>
            <a:ext cx="1635125" cy="450850"/>
          </a:xfrm>
          <a:custGeom>
            <a:avLst/>
            <a:gdLst>
              <a:gd name="T0" fmla="*/ 951 w 951"/>
              <a:gd name="T1" fmla="*/ 0 h 284"/>
              <a:gd name="T2" fmla="*/ 0 w 951"/>
              <a:gd name="T3" fmla="*/ 284 h 284"/>
            </a:gdLst>
            <a:ahLst/>
            <a:cxnLst>
              <a:cxn ang="0">
                <a:pos x="T0" y="T1"/>
              </a:cxn>
              <a:cxn ang="0">
                <a:pos x="T2" y="T3"/>
              </a:cxn>
            </a:cxnLst>
            <a:rect l="0" t="0" r="r" b="b"/>
            <a:pathLst>
              <a:path w="951" h="284">
                <a:moveTo>
                  <a:pt x="951" y="0"/>
                </a:moveTo>
                <a:lnTo>
                  <a:pt x="0" y="284"/>
                </a:lnTo>
              </a:path>
            </a:pathLst>
          </a:custGeom>
          <a:noFill/>
          <a:ln w="28575">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176743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7B2AC65-71EA-43B6-9C34-94F7F8E65D76}" type="slidenum">
              <a:rPr lang="zh-CN" altLang="en-US" smtClean="0"/>
              <a:pPr eaLnBrk="1" hangingPunct="1"/>
              <a:t>57</a:t>
            </a:fld>
            <a:endParaRPr lang="en-US" altLang="zh-CN" smtClean="0"/>
          </a:p>
        </p:txBody>
      </p:sp>
      <p:sp>
        <p:nvSpPr>
          <p:cNvPr id="176743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9473" name="Text Box 4"/>
          <p:cNvSpPr txBox="1">
            <a:spLocks noChangeArrowheads="1"/>
          </p:cNvSpPr>
          <p:nvPr/>
        </p:nvSpPr>
        <p:spPr bwMode="auto">
          <a:xfrm>
            <a:off x="328613" y="1020763"/>
            <a:ext cx="9148762" cy="526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en-US" altLang="zh-CN" sz="2800" b="1">
                <a:solidFill>
                  <a:srgbClr val="333399"/>
                </a:solidFill>
                <a:ea typeface="黑体" panose="02010609060101010101" pitchFamily="49" charset="-122"/>
              </a:rPr>
              <a:t>&lt;HTML&gt;                                          </a:t>
            </a:r>
          </a:p>
          <a:p>
            <a:pPr>
              <a:lnSpc>
                <a:spcPct val="110000"/>
              </a:lnSpc>
            </a:pPr>
            <a:r>
              <a:rPr lang="en-US" altLang="zh-CN" sz="2800" b="1">
                <a:solidFill>
                  <a:srgbClr val="333399"/>
                </a:solidFill>
                <a:ea typeface="黑体" panose="02010609060101010101" pitchFamily="49" charset="-122"/>
              </a:rPr>
              <a:t>&lt;HEAD&gt;                                         </a:t>
            </a:r>
            <a:br>
              <a:rPr lang="en-US" altLang="zh-CN" sz="2800" b="1">
                <a:solidFill>
                  <a:srgbClr val="333399"/>
                </a:solidFill>
                <a:ea typeface="黑体" panose="02010609060101010101" pitchFamily="49" charset="-122"/>
              </a:rPr>
            </a:br>
            <a:r>
              <a:rPr lang="en-US" altLang="zh-CN" sz="2800" b="1">
                <a:solidFill>
                  <a:srgbClr val="333399"/>
                </a:solidFill>
                <a:ea typeface="黑体" panose="02010609060101010101" pitchFamily="49" charset="-122"/>
              </a:rPr>
              <a:t>      &lt;TITLE&gt;</a:t>
            </a:r>
            <a:r>
              <a:rPr lang="zh-CN" altLang="en-US" sz="2800" b="1">
                <a:solidFill>
                  <a:srgbClr val="333399"/>
                </a:solidFill>
                <a:ea typeface="黑体" panose="02010609060101010101" pitchFamily="49" charset="-122"/>
              </a:rPr>
              <a:t>一个 </a:t>
            </a:r>
            <a:r>
              <a:rPr lang="en-US" altLang="zh-CN" sz="2800" b="1">
                <a:solidFill>
                  <a:srgbClr val="333399"/>
                </a:solidFill>
                <a:ea typeface="黑体" panose="02010609060101010101" pitchFamily="49" charset="-122"/>
              </a:rPr>
              <a:t>HTML </a:t>
            </a:r>
            <a:r>
              <a:rPr lang="zh-CN" altLang="en-US" sz="2800" b="1">
                <a:solidFill>
                  <a:srgbClr val="333399"/>
                </a:solidFill>
                <a:ea typeface="黑体" panose="02010609060101010101" pitchFamily="49" charset="-122"/>
              </a:rPr>
              <a:t>的例子</a:t>
            </a:r>
            <a:r>
              <a:rPr lang="en-US" altLang="zh-CN" sz="2800" b="1">
                <a:solidFill>
                  <a:srgbClr val="333399"/>
                </a:solidFill>
                <a:ea typeface="黑体" panose="02010609060101010101" pitchFamily="49" charset="-122"/>
              </a:rPr>
              <a:t>&lt;/TITLE&gt;</a:t>
            </a:r>
          </a:p>
          <a:p>
            <a:pPr>
              <a:lnSpc>
                <a:spcPct val="110000"/>
              </a:lnSpc>
            </a:pPr>
            <a:r>
              <a:rPr lang="en-US" altLang="zh-CN" sz="2800" b="1">
                <a:solidFill>
                  <a:srgbClr val="333399"/>
                </a:solidFill>
                <a:ea typeface="黑体" panose="02010609060101010101" pitchFamily="49" charset="-122"/>
              </a:rPr>
              <a:t>&lt;/HEAD&gt;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      &lt;H1&gt;HTML </a:t>
            </a:r>
            <a:r>
              <a:rPr lang="zh-CN" altLang="en-US" sz="2800" b="1">
                <a:solidFill>
                  <a:srgbClr val="333399"/>
                </a:solidFill>
                <a:ea typeface="黑体" panose="02010609060101010101" pitchFamily="49" charset="-122"/>
              </a:rPr>
              <a:t>很容易掌握</a:t>
            </a:r>
            <a:r>
              <a:rPr lang="en-US" altLang="zh-CN" sz="2800" b="1">
                <a:solidFill>
                  <a:srgbClr val="333399"/>
                </a:solidFill>
                <a:ea typeface="黑体" panose="02010609060101010101" pitchFamily="49" charset="-122"/>
              </a:rPr>
              <a:t>&lt;/H1&gt;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这是第一个段落。虽然很</a:t>
            </a:r>
          </a:p>
          <a:p>
            <a:pPr>
              <a:lnSpc>
                <a:spcPct val="110000"/>
              </a:lnSpc>
            </a:pPr>
            <a:r>
              <a:rPr lang="zh-CN" altLang="en-US" sz="2800" b="1">
                <a:solidFill>
                  <a:srgbClr val="333399"/>
                </a:solidFill>
                <a:ea typeface="黑体" panose="02010609060101010101" pitchFamily="49" charset="-122"/>
              </a:rPr>
              <a:t>       短，但它仍是一个段落。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这是第二个段落。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&lt;/HTML&gt;</a:t>
            </a:r>
          </a:p>
        </p:txBody>
      </p:sp>
      <p:sp>
        <p:nvSpPr>
          <p:cNvPr id="1769474" name="Freeform 7"/>
          <p:cNvSpPr>
            <a:spLocks noChangeArrowheads="1"/>
          </p:cNvSpPr>
          <p:nvPr/>
        </p:nvSpPr>
        <p:spPr bwMode="auto">
          <a:xfrm>
            <a:off x="974725" y="3860800"/>
            <a:ext cx="5148263" cy="1008063"/>
          </a:xfrm>
          <a:custGeom>
            <a:avLst/>
            <a:gdLst>
              <a:gd name="T0" fmla="*/ 0 w 2993"/>
              <a:gd name="T1" fmla="*/ 635 h 635"/>
              <a:gd name="T2" fmla="*/ 0 w 2993"/>
              <a:gd name="T3" fmla="*/ 318 h 635"/>
              <a:gd name="T4" fmla="*/ 453 w 2993"/>
              <a:gd name="T5" fmla="*/ 318 h 635"/>
              <a:gd name="T6" fmla="*/ 457 w 2993"/>
              <a:gd name="T7" fmla="*/ 0 h 635"/>
              <a:gd name="T8" fmla="*/ 2990 w 2993"/>
              <a:gd name="T9" fmla="*/ 9 h 635"/>
              <a:gd name="T10" fmla="*/ 2993 w 2993"/>
              <a:gd name="T11" fmla="*/ 363 h 635"/>
              <a:gd name="T12" fmla="*/ 2540 w 2993"/>
              <a:gd name="T13" fmla="*/ 363 h 635"/>
              <a:gd name="T14" fmla="*/ 2540 w 2993"/>
              <a:gd name="T15" fmla="*/ 635 h 635"/>
              <a:gd name="T16" fmla="*/ 0 w 2993"/>
              <a:gd name="T17" fmla="*/ 635 h 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93" h="635">
                <a:moveTo>
                  <a:pt x="0" y="635"/>
                </a:moveTo>
                <a:lnTo>
                  <a:pt x="0" y="318"/>
                </a:lnTo>
                <a:lnTo>
                  <a:pt x="453" y="318"/>
                </a:lnTo>
                <a:lnTo>
                  <a:pt x="457" y="0"/>
                </a:lnTo>
                <a:lnTo>
                  <a:pt x="2990" y="9"/>
                </a:lnTo>
                <a:lnTo>
                  <a:pt x="2993" y="363"/>
                </a:lnTo>
                <a:lnTo>
                  <a:pt x="2540" y="363"/>
                </a:lnTo>
                <a:lnTo>
                  <a:pt x="2540" y="635"/>
                </a:lnTo>
                <a:lnTo>
                  <a:pt x="0" y="635"/>
                </a:lnTo>
                <a:close/>
              </a:path>
            </a:pathLst>
          </a:cu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1769475" name="Rectangle 3"/>
          <p:cNvSpPr>
            <a:spLocks noGrp="1" noChangeArrowheads="1"/>
          </p:cNvSpPr>
          <p:nvPr>
            <p:ph type="title"/>
          </p:nvPr>
        </p:nvSpPr>
        <p:spPr/>
        <p:txBody>
          <a:bodyPr/>
          <a:lstStyle/>
          <a:p>
            <a:pPr algn="ctr"/>
            <a:r>
              <a:rPr lang="en-US" altLang="zh-CN" smtClean="0">
                <a:ea typeface="黑体" panose="02010609060101010101" pitchFamily="49" charset="-122"/>
              </a:rPr>
              <a:t>HTML </a:t>
            </a:r>
            <a:r>
              <a:rPr lang="zh-CN" altLang="zh-CN" smtClean="0">
                <a:ea typeface="黑体" panose="02010609060101010101" pitchFamily="49" charset="-122"/>
              </a:rPr>
              <a:t>文档中标签的用法 </a:t>
            </a:r>
          </a:p>
        </p:txBody>
      </p:sp>
      <p:sp>
        <p:nvSpPr>
          <p:cNvPr id="1769476" name="Text Box 5"/>
          <p:cNvSpPr txBox="1">
            <a:spLocks noChangeArrowheads="1"/>
          </p:cNvSpPr>
          <p:nvPr/>
        </p:nvSpPr>
        <p:spPr bwMode="auto">
          <a:xfrm>
            <a:off x="6804025" y="2767013"/>
            <a:ext cx="1979613" cy="523875"/>
          </a:xfrm>
          <a:prstGeom prst="rect">
            <a:avLst/>
          </a:prstGeom>
          <a:solidFill>
            <a:srgbClr val="FFFF99"/>
          </a:solidFill>
          <a:ln w="28575">
            <a:solidFill>
              <a:schemeClr val="hlink"/>
            </a:solidFill>
            <a:miter lim="800000"/>
            <a:headEnd/>
            <a:tailEnd/>
          </a:ln>
        </p:spPr>
        <p:txBody>
          <a:bodyPr wrap="none">
            <a:spAutoFit/>
          </a:bodyPr>
          <a:lstStyle/>
          <a:p>
            <a:r>
              <a:rPr lang="zh-CN" altLang="en-US" sz="2800" b="1">
                <a:solidFill>
                  <a:srgbClr val="333399"/>
                </a:solidFill>
                <a:latin typeface="Tahoma" panose="020B0604030504040204" pitchFamily="34" charset="0"/>
                <a:ea typeface="黑体" panose="02010609060101010101" pitchFamily="49" charset="-122"/>
              </a:rPr>
              <a:t>第一个段落</a:t>
            </a:r>
            <a:endParaRPr lang="zh-CN" altLang="en-US" sz="2800" b="1">
              <a:solidFill>
                <a:srgbClr val="333399"/>
              </a:solidFill>
              <a:latin typeface="Tahoma" panose="020B0604030504040204" pitchFamily="34" charset="0"/>
              <a:ea typeface="宋体" panose="02010600030101010101" pitchFamily="2" charset="-122"/>
            </a:endParaRPr>
          </a:p>
        </p:txBody>
      </p:sp>
      <p:sp>
        <p:nvSpPr>
          <p:cNvPr id="1769477" name="Freeform 6"/>
          <p:cNvSpPr>
            <a:spLocks noChangeArrowheads="1"/>
          </p:cNvSpPr>
          <p:nvPr/>
        </p:nvSpPr>
        <p:spPr bwMode="auto">
          <a:xfrm>
            <a:off x="6122988" y="3284538"/>
            <a:ext cx="1795462" cy="865187"/>
          </a:xfrm>
          <a:custGeom>
            <a:avLst/>
            <a:gdLst>
              <a:gd name="T0" fmla="*/ 951 w 951"/>
              <a:gd name="T1" fmla="*/ 0 h 284"/>
              <a:gd name="T2" fmla="*/ 0 w 951"/>
              <a:gd name="T3" fmla="*/ 284 h 284"/>
            </a:gdLst>
            <a:ahLst/>
            <a:cxnLst>
              <a:cxn ang="0">
                <a:pos x="T0" y="T1"/>
              </a:cxn>
              <a:cxn ang="0">
                <a:pos x="T2" y="T3"/>
              </a:cxn>
            </a:cxnLst>
            <a:rect l="0" t="0" r="r" b="b"/>
            <a:pathLst>
              <a:path w="951" h="284">
                <a:moveTo>
                  <a:pt x="951" y="0"/>
                </a:moveTo>
                <a:lnTo>
                  <a:pt x="0" y="284"/>
                </a:lnTo>
              </a:path>
            </a:pathLst>
          </a:custGeom>
          <a:noFill/>
          <a:ln w="28575">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176947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F166738-14CD-42E6-A5F5-260ECE52A2C7}" type="slidenum">
              <a:rPr lang="zh-CN" altLang="en-US" smtClean="0"/>
              <a:pPr eaLnBrk="1" hangingPunct="1"/>
              <a:t>58</a:t>
            </a:fld>
            <a:endParaRPr lang="en-US" altLang="zh-CN" smtClean="0"/>
          </a:p>
        </p:txBody>
      </p:sp>
      <p:sp>
        <p:nvSpPr>
          <p:cNvPr id="176947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21" name="Rectangle 7"/>
          <p:cNvSpPr>
            <a:spLocks noChangeArrowheads="1"/>
          </p:cNvSpPr>
          <p:nvPr/>
        </p:nvSpPr>
        <p:spPr bwMode="auto">
          <a:xfrm>
            <a:off x="1697038" y="4819650"/>
            <a:ext cx="3128962" cy="506413"/>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771522" name="Text Box 2"/>
          <p:cNvSpPr txBox="1">
            <a:spLocks noChangeArrowheads="1"/>
          </p:cNvSpPr>
          <p:nvPr/>
        </p:nvSpPr>
        <p:spPr bwMode="auto">
          <a:xfrm>
            <a:off x="328613" y="1020763"/>
            <a:ext cx="9148762" cy="526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en-US" altLang="zh-CN" sz="2800" b="1">
                <a:solidFill>
                  <a:srgbClr val="333399"/>
                </a:solidFill>
                <a:ea typeface="黑体" panose="02010609060101010101" pitchFamily="49" charset="-122"/>
              </a:rPr>
              <a:t>&lt;HTML&gt;                                          </a:t>
            </a:r>
          </a:p>
          <a:p>
            <a:pPr>
              <a:lnSpc>
                <a:spcPct val="110000"/>
              </a:lnSpc>
            </a:pPr>
            <a:r>
              <a:rPr lang="en-US" altLang="zh-CN" sz="2800" b="1">
                <a:solidFill>
                  <a:srgbClr val="333399"/>
                </a:solidFill>
                <a:ea typeface="黑体" panose="02010609060101010101" pitchFamily="49" charset="-122"/>
              </a:rPr>
              <a:t>&lt;HEAD&gt;                                         </a:t>
            </a:r>
            <a:br>
              <a:rPr lang="en-US" altLang="zh-CN" sz="2800" b="1">
                <a:solidFill>
                  <a:srgbClr val="333399"/>
                </a:solidFill>
                <a:ea typeface="黑体" panose="02010609060101010101" pitchFamily="49" charset="-122"/>
              </a:rPr>
            </a:br>
            <a:r>
              <a:rPr lang="en-US" altLang="zh-CN" sz="2800" b="1">
                <a:solidFill>
                  <a:srgbClr val="333399"/>
                </a:solidFill>
                <a:ea typeface="黑体" panose="02010609060101010101" pitchFamily="49" charset="-122"/>
              </a:rPr>
              <a:t>      &lt;TITLE&gt;</a:t>
            </a:r>
            <a:r>
              <a:rPr lang="zh-CN" altLang="en-US" sz="2800" b="1">
                <a:solidFill>
                  <a:srgbClr val="333399"/>
                </a:solidFill>
                <a:ea typeface="黑体" panose="02010609060101010101" pitchFamily="49" charset="-122"/>
              </a:rPr>
              <a:t>一个 </a:t>
            </a:r>
            <a:r>
              <a:rPr lang="en-US" altLang="zh-CN" sz="2800" b="1">
                <a:solidFill>
                  <a:srgbClr val="333399"/>
                </a:solidFill>
                <a:ea typeface="黑体" panose="02010609060101010101" pitchFamily="49" charset="-122"/>
              </a:rPr>
              <a:t>HTML </a:t>
            </a:r>
            <a:r>
              <a:rPr lang="zh-CN" altLang="en-US" sz="2800" b="1">
                <a:solidFill>
                  <a:srgbClr val="333399"/>
                </a:solidFill>
                <a:ea typeface="黑体" panose="02010609060101010101" pitchFamily="49" charset="-122"/>
              </a:rPr>
              <a:t>的例子</a:t>
            </a:r>
            <a:r>
              <a:rPr lang="en-US" altLang="zh-CN" sz="2800" b="1">
                <a:solidFill>
                  <a:srgbClr val="333399"/>
                </a:solidFill>
                <a:ea typeface="黑体" panose="02010609060101010101" pitchFamily="49" charset="-122"/>
              </a:rPr>
              <a:t>&lt;/TITLE&gt;</a:t>
            </a:r>
          </a:p>
          <a:p>
            <a:pPr>
              <a:lnSpc>
                <a:spcPct val="110000"/>
              </a:lnSpc>
            </a:pPr>
            <a:r>
              <a:rPr lang="en-US" altLang="zh-CN" sz="2800" b="1">
                <a:solidFill>
                  <a:srgbClr val="333399"/>
                </a:solidFill>
                <a:ea typeface="黑体" panose="02010609060101010101" pitchFamily="49" charset="-122"/>
              </a:rPr>
              <a:t>&lt;/HEAD&gt;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      &lt;H1&gt;HTML </a:t>
            </a:r>
            <a:r>
              <a:rPr lang="zh-CN" altLang="en-US" sz="2800" b="1">
                <a:solidFill>
                  <a:srgbClr val="333399"/>
                </a:solidFill>
                <a:ea typeface="黑体" panose="02010609060101010101" pitchFamily="49" charset="-122"/>
              </a:rPr>
              <a:t>很容易掌握</a:t>
            </a:r>
            <a:r>
              <a:rPr lang="en-US" altLang="zh-CN" sz="2800" b="1">
                <a:solidFill>
                  <a:srgbClr val="333399"/>
                </a:solidFill>
                <a:ea typeface="黑体" panose="02010609060101010101" pitchFamily="49" charset="-122"/>
              </a:rPr>
              <a:t>&lt;/H1&gt;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这是第一个段落。虽然很</a:t>
            </a:r>
          </a:p>
          <a:p>
            <a:pPr>
              <a:lnSpc>
                <a:spcPct val="110000"/>
              </a:lnSpc>
            </a:pPr>
            <a:r>
              <a:rPr lang="zh-CN" altLang="en-US" sz="2800" b="1">
                <a:solidFill>
                  <a:srgbClr val="333399"/>
                </a:solidFill>
                <a:ea typeface="黑体" panose="02010609060101010101" pitchFamily="49" charset="-122"/>
              </a:rPr>
              <a:t>       短，但它仍是一个段落。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这是第二个段落。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&lt;/HTML&gt;</a:t>
            </a:r>
          </a:p>
        </p:txBody>
      </p:sp>
      <p:sp>
        <p:nvSpPr>
          <p:cNvPr id="1771523" name="Rectangle 4"/>
          <p:cNvSpPr>
            <a:spLocks noGrp="1" noChangeArrowheads="1"/>
          </p:cNvSpPr>
          <p:nvPr>
            <p:ph type="title"/>
          </p:nvPr>
        </p:nvSpPr>
        <p:spPr/>
        <p:txBody>
          <a:bodyPr/>
          <a:lstStyle/>
          <a:p>
            <a:pPr algn="ctr"/>
            <a:r>
              <a:rPr lang="en-US" altLang="zh-CN" smtClean="0">
                <a:ea typeface="黑体" panose="02010609060101010101" pitchFamily="49" charset="-122"/>
              </a:rPr>
              <a:t>HTML </a:t>
            </a:r>
            <a:r>
              <a:rPr lang="zh-CN" altLang="zh-CN" smtClean="0">
                <a:ea typeface="黑体" panose="02010609060101010101" pitchFamily="49" charset="-122"/>
              </a:rPr>
              <a:t>文档中标签的用法 </a:t>
            </a:r>
          </a:p>
        </p:txBody>
      </p:sp>
      <p:sp>
        <p:nvSpPr>
          <p:cNvPr id="1771524" name="Text Box 5"/>
          <p:cNvSpPr txBox="1">
            <a:spLocks noChangeArrowheads="1"/>
          </p:cNvSpPr>
          <p:nvPr/>
        </p:nvSpPr>
        <p:spPr bwMode="auto">
          <a:xfrm>
            <a:off x="6788150" y="3732213"/>
            <a:ext cx="1979613" cy="523875"/>
          </a:xfrm>
          <a:prstGeom prst="rect">
            <a:avLst/>
          </a:prstGeom>
          <a:solidFill>
            <a:srgbClr val="FFFF99"/>
          </a:solidFill>
          <a:ln w="28575">
            <a:solidFill>
              <a:schemeClr val="hlink"/>
            </a:solidFill>
            <a:miter lim="800000"/>
            <a:headEnd/>
            <a:tailEnd/>
          </a:ln>
        </p:spPr>
        <p:txBody>
          <a:bodyPr wrap="none">
            <a:spAutoFit/>
          </a:bodyPr>
          <a:lstStyle/>
          <a:p>
            <a:r>
              <a:rPr lang="zh-CN" altLang="en-US" sz="2800" b="1">
                <a:solidFill>
                  <a:srgbClr val="333399"/>
                </a:solidFill>
                <a:latin typeface="Tahoma" panose="020B0604030504040204" pitchFamily="34" charset="0"/>
                <a:ea typeface="黑体" panose="02010609060101010101" pitchFamily="49" charset="-122"/>
              </a:rPr>
              <a:t>第二个段落</a:t>
            </a:r>
            <a:endParaRPr lang="zh-CN" altLang="en-US" sz="2800" b="1">
              <a:solidFill>
                <a:srgbClr val="333399"/>
              </a:solidFill>
              <a:latin typeface="Tahoma" panose="020B0604030504040204" pitchFamily="34" charset="0"/>
              <a:ea typeface="宋体" panose="02010600030101010101" pitchFamily="2" charset="-122"/>
            </a:endParaRPr>
          </a:p>
        </p:txBody>
      </p:sp>
      <p:sp>
        <p:nvSpPr>
          <p:cNvPr id="1771525" name="Freeform 6"/>
          <p:cNvSpPr>
            <a:spLocks noChangeArrowheads="1"/>
          </p:cNvSpPr>
          <p:nvPr/>
        </p:nvSpPr>
        <p:spPr bwMode="auto">
          <a:xfrm>
            <a:off x="4795838" y="4076700"/>
            <a:ext cx="1951037" cy="938213"/>
          </a:xfrm>
          <a:custGeom>
            <a:avLst/>
            <a:gdLst>
              <a:gd name="T0" fmla="*/ 951 w 951"/>
              <a:gd name="T1" fmla="*/ 0 h 284"/>
              <a:gd name="T2" fmla="*/ 0 w 951"/>
              <a:gd name="T3" fmla="*/ 284 h 284"/>
            </a:gdLst>
            <a:ahLst/>
            <a:cxnLst>
              <a:cxn ang="0">
                <a:pos x="T0" y="T1"/>
              </a:cxn>
              <a:cxn ang="0">
                <a:pos x="T2" y="T3"/>
              </a:cxn>
            </a:cxnLst>
            <a:rect l="0" t="0" r="r" b="b"/>
            <a:pathLst>
              <a:path w="951" h="284">
                <a:moveTo>
                  <a:pt x="951" y="0"/>
                </a:moveTo>
                <a:lnTo>
                  <a:pt x="0" y="284"/>
                </a:lnTo>
              </a:path>
            </a:pathLst>
          </a:custGeom>
          <a:noFill/>
          <a:ln w="28575">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177152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24A0210-9111-4092-8565-ABD9406058B9}" type="slidenum">
              <a:rPr lang="zh-CN" altLang="en-US" smtClean="0"/>
              <a:pPr eaLnBrk="1" hangingPunct="1"/>
              <a:t>59</a:t>
            </a:fld>
            <a:endParaRPr lang="en-US" altLang="zh-CN" smtClean="0"/>
          </a:p>
        </p:txBody>
      </p:sp>
      <p:sp>
        <p:nvSpPr>
          <p:cNvPr id="177152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3569" name="Rectangle 2"/>
          <p:cNvSpPr>
            <a:spLocks noGrp="1" noChangeArrowheads="1"/>
          </p:cNvSpPr>
          <p:nvPr>
            <p:ph type="title"/>
          </p:nvPr>
        </p:nvSpPr>
        <p:spPr/>
        <p:txBody>
          <a:bodyPr/>
          <a:lstStyle/>
          <a:p>
            <a:pPr algn="ctr"/>
            <a:r>
              <a:rPr lang="en-US" altLang="zh-CN" smtClean="0">
                <a:ea typeface="黑体" panose="02010609060101010101" pitchFamily="49" charset="-122"/>
              </a:rPr>
              <a:t>HTML </a:t>
            </a:r>
            <a:r>
              <a:rPr lang="zh-CN" altLang="zh-CN" smtClean="0">
                <a:ea typeface="黑体" panose="02010609060101010101" pitchFamily="49" charset="-122"/>
              </a:rPr>
              <a:t>文档中标签的用法 </a:t>
            </a:r>
          </a:p>
        </p:txBody>
      </p:sp>
      <p:sp>
        <p:nvSpPr>
          <p:cNvPr id="1773570" name="Text Box 3"/>
          <p:cNvSpPr txBox="1">
            <a:spLocks noChangeArrowheads="1"/>
          </p:cNvSpPr>
          <p:nvPr/>
        </p:nvSpPr>
        <p:spPr bwMode="auto">
          <a:xfrm>
            <a:off x="328613" y="1020763"/>
            <a:ext cx="9148762" cy="526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en-US" altLang="zh-CN" sz="2800" b="1">
                <a:solidFill>
                  <a:srgbClr val="333399"/>
                </a:solidFill>
                <a:ea typeface="黑体" panose="02010609060101010101" pitchFamily="49" charset="-122"/>
              </a:rPr>
              <a:t>&lt;HTML&gt;                                          </a:t>
            </a:r>
          </a:p>
          <a:p>
            <a:pPr>
              <a:lnSpc>
                <a:spcPct val="110000"/>
              </a:lnSpc>
            </a:pPr>
            <a:r>
              <a:rPr lang="en-US" altLang="zh-CN" sz="2800" b="1">
                <a:solidFill>
                  <a:srgbClr val="333399"/>
                </a:solidFill>
                <a:ea typeface="黑体" panose="02010609060101010101" pitchFamily="49" charset="-122"/>
              </a:rPr>
              <a:t>&lt;HEAD&gt;                                         </a:t>
            </a:r>
            <a:br>
              <a:rPr lang="en-US" altLang="zh-CN" sz="2800" b="1">
                <a:solidFill>
                  <a:srgbClr val="333399"/>
                </a:solidFill>
                <a:ea typeface="黑体" panose="02010609060101010101" pitchFamily="49" charset="-122"/>
              </a:rPr>
            </a:br>
            <a:r>
              <a:rPr lang="en-US" altLang="zh-CN" sz="2800" b="1">
                <a:solidFill>
                  <a:srgbClr val="333399"/>
                </a:solidFill>
                <a:ea typeface="黑体" panose="02010609060101010101" pitchFamily="49" charset="-122"/>
              </a:rPr>
              <a:t>      &lt;TITLE&gt;</a:t>
            </a:r>
            <a:r>
              <a:rPr lang="zh-CN" altLang="en-US" sz="2800" b="1">
                <a:solidFill>
                  <a:srgbClr val="333399"/>
                </a:solidFill>
                <a:ea typeface="黑体" panose="02010609060101010101" pitchFamily="49" charset="-122"/>
              </a:rPr>
              <a:t>一个 </a:t>
            </a:r>
            <a:r>
              <a:rPr lang="en-US" altLang="zh-CN" sz="2800" b="1">
                <a:solidFill>
                  <a:srgbClr val="333399"/>
                </a:solidFill>
                <a:ea typeface="黑体" panose="02010609060101010101" pitchFamily="49" charset="-122"/>
              </a:rPr>
              <a:t>HTML </a:t>
            </a:r>
            <a:r>
              <a:rPr lang="zh-CN" altLang="en-US" sz="2800" b="1">
                <a:solidFill>
                  <a:srgbClr val="333399"/>
                </a:solidFill>
                <a:ea typeface="黑体" panose="02010609060101010101" pitchFamily="49" charset="-122"/>
              </a:rPr>
              <a:t>的例子</a:t>
            </a:r>
            <a:r>
              <a:rPr lang="en-US" altLang="zh-CN" sz="2800" b="1">
                <a:solidFill>
                  <a:srgbClr val="333399"/>
                </a:solidFill>
                <a:ea typeface="黑体" panose="02010609060101010101" pitchFamily="49" charset="-122"/>
              </a:rPr>
              <a:t>&lt;/TITLE&gt;</a:t>
            </a:r>
          </a:p>
          <a:p>
            <a:pPr>
              <a:lnSpc>
                <a:spcPct val="110000"/>
              </a:lnSpc>
            </a:pPr>
            <a:r>
              <a:rPr lang="en-US" altLang="zh-CN" sz="2800" b="1">
                <a:solidFill>
                  <a:srgbClr val="333399"/>
                </a:solidFill>
                <a:ea typeface="黑体" panose="02010609060101010101" pitchFamily="49" charset="-122"/>
              </a:rPr>
              <a:t>&lt;/HEAD&gt;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      &lt;H1&gt;HTML </a:t>
            </a:r>
            <a:r>
              <a:rPr lang="zh-CN" altLang="en-US" sz="2800" b="1">
                <a:solidFill>
                  <a:srgbClr val="333399"/>
                </a:solidFill>
                <a:ea typeface="黑体" panose="02010609060101010101" pitchFamily="49" charset="-122"/>
              </a:rPr>
              <a:t>很容易掌握</a:t>
            </a:r>
            <a:r>
              <a:rPr lang="en-US" altLang="zh-CN" sz="2800" b="1">
                <a:solidFill>
                  <a:srgbClr val="333399"/>
                </a:solidFill>
                <a:ea typeface="黑体" panose="02010609060101010101" pitchFamily="49" charset="-122"/>
              </a:rPr>
              <a:t>&lt;/H1&gt;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这是第一个段落。虽然很</a:t>
            </a:r>
          </a:p>
          <a:p>
            <a:pPr>
              <a:lnSpc>
                <a:spcPct val="110000"/>
              </a:lnSpc>
            </a:pPr>
            <a:r>
              <a:rPr lang="zh-CN" altLang="en-US" sz="2800" b="1">
                <a:solidFill>
                  <a:srgbClr val="333399"/>
                </a:solidFill>
                <a:ea typeface="黑体" panose="02010609060101010101" pitchFamily="49" charset="-122"/>
              </a:rPr>
              <a:t>       短，但它仍是一个段落。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这是第二个段落。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&lt;/HTML&gt;</a:t>
            </a:r>
          </a:p>
        </p:txBody>
      </p:sp>
      <p:sp>
        <p:nvSpPr>
          <p:cNvPr id="1773571" name="Text Box 4"/>
          <p:cNvSpPr txBox="1">
            <a:spLocks noChangeArrowheads="1"/>
          </p:cNvSpPr>
          <p:nvPr/>
        </p:nvSpPr>
        <p:spPr bwMode="auto">
          <a:xfrm>
            <a:off x="6945313" y="5216525"/>
            <a:ext cx="1620837" cy="523875"/>
          </a:xfrm>
          <a:prstGeom prst="rect">
            <a:avLst/>
          </a:prstGeom>
          <a:solidFill>
            <a:srgbClr val="FFFF99"/>
          </a:solidFill>
          <a:ln w="28575">
            <a:solidFill>
              <a:schemeClr val="hlink"/>
            </a:solidFill>
            <a:miter lim="800000"/>
            <a:headEnd/>
            <a:tailEnd/>
          </a:ln>
        </p:spPr>
        <p:txBody>
          <a:bodyPr wrap="none">
            <a:spAutoFit/>
          </a:bodyPr>
          <a:lstStyle/>
          <a:p>
            <a:r>
              <a:rPr lang="zh-CN" altLang="en-US" sz="2800" b="1">
                <a:solidFill>
                  <a:srgbClr val="333399"/>
                </a:solidFill>
                <a:latin typeface="Tahoma" panose="020B0604030504040204" pitchFamily="34" charset="0"/>
                <a:ea typeface="黑体" panose="02010609060101010101" pitchFamily="49" charset="-122"/>
              </a:rPr>
              <a:t>主体结束</a:t>
            </a:r>
            <a:endParaRPr lang="zh-CN" altLang="en-US" sz="2800" b="1">
              <a:solidFill>
                <a:srgbClr val="333399"/>
              </a:solidFill>
              <a:latin typeface="Tahoma" panose="020B0604030504040204" pitchFamily="34" charset="0"/>
              <a:ea typeface="宋体" panose="02010600030101010101" pitchFamily="2" charset="-122"/>
            </a:endParaRPr>
          </a:p>
        </p:txBody>
      </p:sp>
      <p:sp>
        <p:nvSpPr>
          <p:cNvPr id="1773572" name="Line 5"/>
          <p:cNvSpPr>
            <a:spLocks noChangeShapeType="1"/>
          </p:cNvSpPr>
          <p:nvPr/>
        </p:nvSpPr>
        <p:spPr bwMode="auto">
          <a:xfrm flipH="1">
            <a:off x="2084388" y="5532438"/>
            <a:ext cx="4868862" cy="25400"/>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77357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BF1A62-E0FE-4BC6-B4C4-4842FA80672B}" type="slidenum">
              <a:rPr lang="zh-CN" altLang="en-US" smtClean="0"/>
              <a:pPr eaLnBrk="1" hangingPunct="1"/>
              <a:t>60</a:t>
            </a:fld>
            <a:endParaRPr lang="en-US" altLang="zh-CN" smtClean="0"/>
          </a:p>
        </p:txBody>
      </p:sp>
      <p:sp>
        <p:nvSpPr>
          <p:cNvPr id="177357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5617" name="Rectangle 2"/>
          <p:cNvSpPr>
            <a:spLocks noGrp="1" noChangeArrowheads="1"/>
          </p:cNvSpPr>
          <p:nvPr>
            <p:ph type="title"/>
          </p:nvPr>
        </p:nvSpPr>
        <p:spPr/>
        <p:txBody>
          <a:bodyPr/>
          <a:lstStyle/>
          <a:p>
            <a:pPr algn="ctr"/>
            <a:r>
              <a:rPr lang="en-US" altLang="zh-CN" smtClean="0">
                <a:ea typeface="黑体" panose="02010609060101010101" pitchFamily="49" charset="-122"/>
              </a:rPr>
              <a:t>HTML </a:t>
            </a:r>
            <a:r>
              <a:rPr lang="zh-CN" altLang="zh-CN" smtClean="0">
                <a:ea typeface="黑体" panose="02010609060101010101" pitchFamily="49" charset="-122"/>
              </a:rPr>
              <a:t>文档中标签的用法 </a:t>
            </a:r>
          </a:p>
        </p:txBody>
      </p:sp>
      <p:sp>
        <p:nvSpPr>
          <p:cNvPr id="1775618" name="Text Box 3"/>
          <p:cNvSpPr txBox="1">
            <a:spLocks noChangeArrowheads="1"/>
          </p:cNvSpPr>
          <p:nvPr/>
        </p:nvSpPr>
        <p:spPr bwMode="auto">
          <a:xfrm>
            <a:off x="328613" y="1020763"/>
            <a:ext cx="9148762" cy="526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en-US" altLang="zh-CN" sz="2800" b="1">
                <a:solidFill>
                  <a:srgbClr val="333399"/>
                </a:solidFill>
                <a:ea typeface="黑体" panose="02010609060101010101" pitchFamily="49" charset="-122"/>
              </a:rPr>
              <a:t>&lt;HTML&gt;                                          </a:t>
            </a:r>
          </a:p>
          <a:p>
            <a:pPr>
              <a:lnSpc>
                <a:spcPct val="110000"/>
              </a:lnSpc>
            </a:pPr>
            <a:r>
              <a:rPr lang="en-US" altLang="zh-CN" sz="2800" b="1">
                <a:solidFill>
                  <a:srgbClr val="333399"/>
                </a:solidFill>
                <a:ea typeface="黑体" panose="02010609060101010101" pitchFamily="49" charset="-122"/>
              </a:rPr>
              <a:t>&lt;HEAD&gt;                                         </a:t>
            </a:r>
            <a:br>
              <a:rPr lang="en-US" altLang="zh-CN" sz="2800" b="1">
                <a:solidFill>
                  <a:srgbClr val="333399"/>
                </a:solidFill>
                <a:ea typeface="黑体" panose="02010609060101010101" pitchFamily="49" charset="-122"/>
              </a:rPr>
            </a:br>
            <a:r>
              <a:rPr lang="en-US" altLang="zh-CN" sz="2800" b="1">
                <a:solidFill>
                  <a:srgbClr val="333399"/>
                </a:solidFill>
                <a:ea typeface="黑体" panose="02010609060101010101" pitchFamily="49" charset="-122"/>
              </a:rPr>
              <a:t>      &lt;TITLE&gt;</a:t>
            </a:r>
            <a:r>
              <a:rPr lang="zh-CN" altLang="en-US" sz="2800" b="1">
                <a:solidFill>
                  <a:srgbClr val="333399"/>
                </a:solidFill>
                <a:ea typeface="黑体" panose="02010609060101010101" pitchFamily="49" charset="-122"/>
              </a:rPr>
              <a:t>一个 </a:t>
            </a:r>
            <a:r>
              <a:rPr lang="en-US" altLang="zh-CN" sz="2800" b="1">
                <a:solidFill>
                  <a:srgbClr val="333399"/>
                </a:solidFill>
                <a:ea typeface="黑体" panose="02010609060101010101" pitchFamily="49" charset="-122"/>
              </a:rPr>
              <a:t>HTML </a:t>
            </a:r>
            <a:r>
              <a:rPr lang="zh-CN" altLang="en-US" sz="2800" b="1">
                <a:solidFill>
                  <a:srgbClr val="333399"/>
                </a:solidFill>
                <a:ea typeface="黑体" panose="02010609060101010101" pitchFamily="49" charset="-122"/>
              </a:rPr>
              <a:t>的例子</a:t>
            </a:r>
            <a:r>
              <a:rPr lang="en-US" altLang="zh-CN" sz="2800" b="1">
                <a:solidFill>
                  <a:srgbClr val="333399"/>
                </a:solidFill>
                <a:ea typeface="黑体" panose="02010609060101010101" pitchFamily="49" charset="-122"/>
              </a:rPr>
              <a:t>&lt;/TITLE&gt;</a:t>
            </a:r>
          </a:p>
          <a:p>
            <a:pPr>
              <a:lnSpc>
                <a:spcPct val="110000"/>
              </a:lnSpc>
            </a:pPr>
            <a:r>
              <a:rPr lang="en-US" altLang="zh-CN" sz="2800" b="1">
                <a:solidFill>
                  <a:srgbClr val="333399"/>
                </a:solidFill>
                <a:ea typeface="黑体" panose="02010609060101010101" pitchFamily="49" charset="-122"/>
              </a:rPr>
              <a:t>&lt;/HEAD&gt;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      &lt;H1&gt;HTML </a:t>
            </a:r>
            <a:r>
              <a:rPr lang="zh-CN" altLang="en-US" sz="2800" b="1">
                <a:solidFill>
                  <a:srgbClr val="333399"/>
                </a:solidFill>
                <a:ea typeface="黑体" panose="02010609060101010101" pitchFamily="49" charset="-122"/>
              </a:rPr>
              <a:t>很容易掌握</a:t>
            </a:r>
            <a:r>
              <a:rPr lang="en-US" altLang="zh-CN" sz="2800" b="1">
                <a:solidFill>
                  <a:srgbClr val="333399"/>
                </a:solidFill>
                <a:ea typeface="黑体" panose="02010609060101010101" pitchFamily="49" charset="-122"/>
              </a:rPr>
              <a:t>&lt;/H1&gt;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这是第一个段落。虽然很</a:t>
            </a:r>
          </a:p>
          <a:p>
            <a:pPr>
              <a:lnSpc>
                <a:spcPct val="110000"/>
              </a:lnSpc>
            </a:pPr>
            <a:r>
              <a:rPr lang="zh-CN" altLang="en-US" sz="2800" b="1">
                <a:solidFill>
                  <a:srgbClr val="333399"/>
                </a:solidFill>
                <a:ea typeface="黑体" panose="02010609060101010101" pitchFamily="49" charset="-122"/>
              </a:rPr>
              <a:t>       短，但它仍是一个段落。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      &lt;P&gt;</a:t>
            </a:r>
            <a:r>
              <a:rPr lang="zh-CN" altLang="en-US" sz="2800" b="1">
                <a:solidFill>
                  <a:srgbClr val="333399"/>
                </a:solidFill>
                <a:ea typeface="黑体" panose="02010609060101010101" pitchFamily="49" charset="-122"/>
              </a:rPr>
              <a:t>这是第二个段落。</a:t>
            </a:r>
            <a:r>
              <a:rPr lang="en-US" altLang="zh-CN" sz="2800" b="1">
                <a:solidFill>
                  <a:srgbClr val="333399"/>
                </a:solidFill>
                <a:ea typeface="黑体" panose="02010609060101010101" pitchFamily="49" charset="-122"/>
              </a:rPr>
              <a:t>&lt;/P&gt;</a:t>
            </a:r>
          </a:p>
          <a:p>
            <a:pPr>
              <a:lnSpc>
                <a:spcPct val="110000"/>
              </a:lnSpc>
            </a:pPr>
            <a:r>
              <a:rPr lang="en-US" altLang="zh-CN" sz="2800" b="1">
                <a:solidFill>
                  <a:srgbClr val="333399"/>
                </a:solidFill>
                <a:ea typeface="黑体" panose="02010609060101010101" pitchFamily="49" charset="-122"/>
              </a:rPr>
              <a:t>&lt;/BODY&gt;</a:t>
            </a:r>
          </a:p>
          <a:p>
            <a:pPr>
              <a:lnSpc>
                <a:spcPct val="110000"/>
              </a:lnSpc>
            </a:pPr>
            <a:r>
              <a:rPr lang="en-US" altLang="zh-CN" sz="2800" b="1">
                <a:solidFill>
                  <a:srgbClr val="333399"/>
                </a:solidFill>
                <a:ea typeface="黑体" panose="02010609060101010101" pitchFamily="49" charset="-122"/>
              </a:rPr>
              <a:t>&lt;/HTML&gt;</a:t>
            </a:r>
          </a:p>
        </p:txBody>
      </p:sp>
      <p:sp>
        <p:nvSpPr>
          <p:cNvPr id="1775619" name="Text Box 4"/>
          <p:cNvSpPr txBox="1">
            <a:spLocks noChangeArrowheads="1"/>
          </p:cNvSpPr>
          <p:nvPr/>
        </p:nvSpPr>
        <p:spPr bwMode="auto">
          <a:xfrm>
            <a:off x="6278563" y="5689600"/>
            <a:ext cx="2752725" cy="523875"/>
          </a:xfrm>
          <a:prstGeom prst="rect">
            <a:avLst/>
          </a:prstGeom>
          <a:solidFill>
            <a:srgbClr val="FFFF99"/>
          </a:solidFill>
          <a:ln w="28575">
            <a:solidFill>
              <a:schemeClr val="hlink"/>
            </a:solidFill>
            <a:miter lim="800000"/>
            <a:headEnd/>
            <a:tailEnd/>
          </a:ln>
        </p:spPr>
        <p:txBody>
          <a:bodyPr wrap="none">
            <a:spAutoFit/>
          </a:bodyPr>
          <a:lstStyle/>
          <a:p>
            <a:r>
              <a:rPr lang="en-US" altLang="zh-CN" sz="2800" b="1">
                <a:solidFill>
                  <a:srgbClr val="333399"/>
                </a:solidFill>
                <a:latin typeface="Tahoma" panose="020B0604030504040204" pitchFamily="34" charset="0"/>
                <a:ea typeface="黑体" panose="02010609060101010101" pitchFamily="49" charset="-122"/>
              </a:rPr>
              <a:t>HTML </a:t>
            </a:r>
            <a:r>
              <a:rPr lang="zh-CN" altLang="en-US" sz="2800" b="1">
                <a:solidFill>
                  <a:srgbClr val="333399"/>
                </a:solidFill>
                <a:latin typeface="Tahoma" panose="020B0604030504040204" pitchFamily="34" charset="0"/>
                <a:ea typeface="黑体" panose="02010609060101010101" pitchFamily="49" charset="-122"/>
              </a:rPr>
              <a:t>文档结束</a:t>
            </a:r>
            <a:endParaRPr lang="zh-CN" altLang="en-US" sz="2800" b="1">
              <a:solidFill>
                <a:srgbClr val="333399"/>
              </a:solidFill>
              <a:latin typeface="Tahoma" panose="020B0604030504040204" pitchFamily="34" charset="0"/>
              <a:ea typeface="宋体" panose="02010600030101010101" pitchFamily="2" charset="-122"/>
            </a:endParaRPr>
          </a:p>
        </p:txBody>
      </p:sp>
      <p:sp>
        <p:nvSpPr>
          <p:cNvPr id="1775620" name="Line 5"/>
          <p:cNvSpPr>
            <a:spLocks noChangeShapeType="1"/>
          </p:cNvSpPr>
          <p:nvPr/>
        </p:nvSpPr>
        <p:spPr bwMode="auto">
          <a:xfrm flipH="1">
            <a:off x="2084388" y="6007100"/>
            <a:ext cx="4192587" cy="11113"/>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77562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362DFD4-B591-4319-81A4-41A6D12A503F}" type="slidenum">
              <a:rPr lang="zh-CN" altLang="en-US" smtClean="0"/>
              <a:pPr eaLnBrk="1" hangingPunct="1"/>
              <a:t>61</a:t>
            </a:fld>
            <a:endParaRPr lang="en-US" altLang="zh-CN" smtClean="0"/>
          </a:p>
        </p:txBody>
      </p:sp>
      <p:sp>
        <p:nvSpPr>
          <p:cNvPr id="177562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7665" name="Rectangle 4"/>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两种不同的链接</a:t>
            </a:r>
          </a:p>
        </p:txBody>
      </p:sp>
      <p:sp>
        <p:nvSpPr>
          <p:cNvPr id="1777666" name="Rectangle 5"/>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HTML</a:t>
            </a:r>
            <a:r>
              <a:rPr lang="zh-CN" altLang="zh-CN" smtClean="0">
                <a:ea typeface="黑体" panose="02010609060101010101" pitchFamily="49" charset="-122"/>
              </a:rPr>
              <a:t>还规定了链接的设置方法。每个链接都有一个起点和终点。</a:t>
            </a:r>
            <a:endParaRPr lang="en-US" altLang="zh-CN" smtClean="0">
              <a:ea typeface="黑体" panose="02010609060101010101" pitchFamily="49" charset="-122"/>
            </a:endParaRPr>
          </a:p>
          <a:p>
            <a:r>
              <a:rPr lang="zh-CN" altLang="en-US" smtClean="0">
                <a:solidFill>
                  <a:srgbClr val="FF0000"/>
                </a:solidFill>
                <a:ea typeface="黑体" panose="02010609060101010101" pitchFamily="49" charset="-122"/>
              </a:rPr>
              <a:t>远程链接：</a:t>
            </a:r>
            <a:r>
              <a:rPr lang="zh-CN" altLang="en-US" smtClean="0">
                <a:ea typeface="黑体" panose="02010609060101010101" pitchFamily="49" charset="-122"/>
              </a:rPr>
              <a:t>超链的终点是其他网点上的页面。</a:t>
            </a:r>
          </a:p>
          <a:p>
            <a:r>
              <a:rPr lang="zh-CN" altLang="en-US" smtClean="0">
                <a:solidFill>
                  <a:srgbClr val="FF0000"/>
                </a:solidFill>
                <a:ea typeface="黑体" panose="02010609060101010101" pitchFamily="49" charset="-122"/>
              </a:rPr>
              <a:t>本地链接：</a:t>
            </a:r>
            <a:r>
              <a:rPr lang="zh-CN" altLang="en-US" smtClean="0">
                <a:ea typeface="黑体" panose="02010609060101010101" pitchFamily="49" charset="-122"/>
              </a:rPr>
              <a:t>超链指向本计算机中的某个文件。</a:t>
            </a:r>
          </a:p>
        </p:txBody>
      </p:sp>
      <p:sp>
        <p:nvSpPr>
          <p:cNvPr id="17776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26F182F-1D3A-482D-8194-2B4A691CECD4}" type="slidenum">
              <a:rPr lang="zh-CN" altLang="en-US" smtClean="0"/>
              <a:pPr eaLnBrk="1" hangingPunct="1"/>
              <a:t>62</a:t>
            </a:fld>
            <a:endParaRPr lang="en-US" altLang="zh-CN" smtClean="0"/>
          </a:p>
        </p:txBody>
      </p:sp>
      <p:sp>
        <p:nvSpPr>
          <p:cNvPr id="17776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9713"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XMLmark</a:t>
            </a:r>
            <a:endParaRPr lang="zh-CN" altLang="en-US" smtClean="0">
              <a:ea typeface="黑体" panose="02010609060101010101" pitchFamily="49" charset="-122"/>
            </a:endParaRPr>
          </a:p>
        </p:txBody>
      </p:sp>
      <p:sp>
        <p:nvSpPr>
          <p:cNvPr id="1779714"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XML (Extensible Markup Language)</a:t>
            </a:r>
            <a:r>
              <a:rPr lang="zh-CN" altLang="zh-CN" smtClean="0">
                <a:ea typeface="黑体" panose="02010609060101010101" pitchFamily="49" charset="-122"/>
              </a:rPr>
              <a:t>是可扩展标记语言，它和</a:t>
            </a:r>
            <a:r>
              <a:rPr lang="en-US" altLang="zh-CN" smtClean="0">
                <a:ea typeface="黑体" panose="02010609060101010101" pitchFamily="49" charset="-122"/>
              </a:rPr>
              <a:t>HTML</a:t>
            </a:r>
            <a:r>
              <a:rPr lang="zh-CN" altLang="zh-CN" smtClean="0">
                <a:ea typeface="黑体" panose="02010609060101010101" pitchFamily="49" charset="-122"/>
              </a:rPr>
              <a:t>很相似。</a:t>
            </a:r>
            <a:endParaRPr lang="en-US" altLang="zh-CN" smtClean="0">
              <a:ea typeface="黑体" panose="02010609060101010101" pitchFamily="49" charset="-122"/>
            </a:endParaRPr>
          </a:p>
          <a:p>
            <a:r>
              <a:rPr lang="zh-CN" altLang="zh-CN" smtClean="0">
                <a:ea typeface="黑体" panose="02010609060101010101" pitchFamily="49" charset="-122"/>
              </a:rPr>
              <a:t>但</a:t>
            </a:r>
            <a:r>
              <a:rPr lang="en-US" altLang="zh-CN" smtClean="0">
                <a:ea typeface="黑体" panose="02010609060101010101" pitchFamily="49" charset="-122"/>
              </a:rPr>
              <a:t>XML</a:t>
            </a:r>
            <a:r>
              <a:rPr lang="zh-CN" altLang="zh-CN" smtClean="0">
                <a:ea typeface="黑体" panose="02010609060101010101" pitchFamily="49" charset="-122"/>
              </a:rPr>
              <a:t>的设计宗旨是</a:t>
            </a:r>
            <a:r>
              <a:rPr lang="zh-CN" altLang="zh-CN" smtClean="0">
                <a:solidFill>
                  <a:srgbClr val="FF0000"/>
                </a:solidFill>
                <a:ea typeface="黑体" panose="02010609060101010101" pitchFamily="49" charset="-122"/>
              </a:rPr>
              <a:t>传输数据，</a:t>
            </a:r>
            <a:r>
              <a:rPr lang="zh-CN" altLang="zh-CN" smtClean="0">
                <a:ea typeface="黑体" panose="02010609060101010101" pitchFamily="49" charset="-122"/>
              </a:rPr>
              <a:t>而不是显示数据（</a:t>
            </a:r>
            <a:r>
              <a:rPr lang="en-US" altLang="zh-CN" smtClean="0">
                <a:ea typeface="黑体" panose="02010609060101010101" pitchFamily="49" charset="-122"/>
              </a:rPr>
              <a:t>HTML</a:t>
            </a:r>
            <a:r>
              <a:rPr lang="zh-CN" altLang="zh-CN" smtClean="0">
                <a:ea typeface="黑体" panose="02010609060101010101" pitchFamily="49" charset="-122"/>
              </a:rPr>
              <a:t>是为了在浏览器上显示数据）。</a:t>
            </a:r>
            <a:endParaRPr lang="en-US" altLang="zh-CN" smtClean="0">
              <a:ea typeface="黑体" panose="02010609060101010101" pitchFamily="49" charset="-122"/>
            </a:endParaRPr>
          </a:p>
          <a:p>
            <a:r>
              <a:rPr lang="en-US" altLang="zh-CN" smtClean="0">
                <a:ea typeface="黑体" panose="02010609060101010101" pitchFamily="49" charset="-122"/>
              </a:rPr>
              <a:t>XML </a:t>
            </a:r>
            <a:r>
              <a:rPr lang="zh-CN" altLang="zh-CN" smtClean="0">
                <a:ea typeface="黑体" panose="02010609060101010101" pitchFamily="49" charset="-122"/>
              </a:rPr>
              <a:t>不是要替换</a:t>
            </a:r>
            <a:r>
              <a:rPr lang="en-US" altLang="zh-CN" smtClean="0">
                <a:ea typeface="黑体" panose="02010609060101010101" pitchFamily="49" charset="-122"/>
              </a:rPr>
              <a:t> HTML</a:t>
            </a:r>
            <a:r>
              <a:rPr lang="zh-CN" altLang="zh-CN" smtClean="0">
                <a:ea typeface="黑体" panose="02010609060101010101" pitchFamily="49" charset="-122"/>
              </a:rPr>
              <a:t>，而是对</a:t>
            </a:r>
            <a:r>
              <a:rPr lang="en-US" altLang="zh-CN" smtClean="0">
                <a:ea typeface="黑体" panose="02010609060101010101" pitchFamily="49" charset="-122"/>
              </a:rPr>
              <a:t> HTML </a:t>
            </a:r>
            <a:r>
              <a:rPr lang="zh-CN" altLang="zh-CN" smtClean="0">
                <a:ea typeface="黑体" panose="02010609060101010101" pitchFamily="49" charset="-122"/>
              </a:rPr>
              <a:t>的补充。</a:t>
            </a:r>
            <a:endParaRPr lang="zh-CN" altLang="en-US" smtClean="0">
              <a:ea typeface="黑体" panose="02010609060101010101" pitchFamily="49" charset="-122"/>
            </a:endParaRPr>
          </a:p>
        </p:txBody>
      </p:sp>
      <p:sp>
        <p:nvSpPr>
          <p:cNvPr id="177971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27B5D25-9ECA-4167-A56A-E600EFF72EA3}" type="slidenum">
              <a:rPr lang="zh-CN" altLang="en-US" smtClean="0"/>
              <a:pPr eaLnBrk="1" hangingPunct="1"/>
              <a:t>63</a:t>
            </a:fld>
            <a:endParaRPr lang="en-US" altLang="zh-CN" smtClean="0"/>
          </a:p>
        </p:txBody>
      </p:sp>
      <p:sp>
        <p:nvSpPr>
          <p:cNvPr id="177971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0737"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XHTML</a:t>
            </a:r>
            <a:endParaRPr lang="zh-CN" altLang="en-US" smtClean="0">
              <a:ea typeface="黑体" panose="02010609060101010101" pitchFamily="49" charset="-122"/>
            </a:endParaRPr>
          </a:p>
        </p:txBody>
      </p:sp>
      <p:sp>
        <p:nvSpPr>
          <p:cNvPr id="1780738" name="内容占位符 2"/>
          <p:cNvSpPr>
            <a:spLocks noGrp="1" noChangeArrowheads="1"/>
          </p:cNvSpPr>
          <p:nvPr>
            <p:ph idx="1"/>
          </p:nvPr>
        </p:nvSpPr>
        <p:spPr>
          <a:xfrm>
            <a:off x="495300" y="1196975"/>
            <a:ext cx="9066213" cy="4933950"/>
          </a:xfrm>
        </p:spPr>
        <p:txBody>
          <a:bodyPr/>
          <a:lstStyle/>
          <a:p>
            <a:r>
              <a:rPr lang="en-US" altLang="zh-CN" u="sng" dirty="0" smtClean="0">
                <a:solidFill>
                  <a:srgbClr val="FF0000"/>
                </a:solidFill>
                <a:ea typeface="黑体" panose="02010609060101010101" pitchFamily="49" charset="-122"/>
              </a:rPr>
              <a:t>XHTML (Extensible HTML)</a:t>
            </a:r>
            <a:r>
              <a:rPr lang="en-US" altLang="zh-CN" dirty="0" smtClean="0">
                <a:ea typeface="黑体" panose="02010609060101010101" pitchFamily="49" charset="-122"/>
              </a:rPr>
              <a:t> </a:t>
            </a:r>
            <a:r>
              <a:rPr lang="zh-CN" altLang="zh-CN" dirty="0" smtClean="0">
                <a:ea typeface="黑体" panose="02010609060101010101" pitchFamily="49" charset="-122"/>
              </a:rPr>
              <a:t>是可扩展</a:t>
            </a:r>
            <a:r>
              <a:rPr lang="zh-CN" altLang="zh-CN" u="sng" dirty="0" smtClean="0">
                <a:ea typeface="黑体" panose="02010609060101010101" pitchFamily="49" charset="-122"/>
              </a:rPr>
              <a:t>超文本标记语言</a:t>
            </a:r>
            <a:r>
              <a:rPr lang="zh-CN" altLang="zh-CN" dirty="0" smtClean="0">
                <a:ea typeface="黑体" panose="02010609060101010101" pitchFamily="49" charset="-122"/>
              </a:rPr>
              <a:t>，它与</a:t>
            </a:r>
            <a:r>
              <a:rPr lang="en-US" altLang="zh-CN" dirty="0" smtClean="0">
                <a:ea typeface="黑体" panose="02010609060101010101" pitchFamily="49" charset="-122"/>
              </a:rPr>
              <a:t> HTML 4.01 </a:t>
            </a:r>
            <a:r>
              <a:rPr lang="zh-CN" altLang="zh-CN" dirty="0" smtClean="0">
                <a:ea typeface="黑体" panose="02010609060101010101" pitchFamily="49" charset="-122"/>
              </a:rPr>
              <a:t>几乎是相同的。</a:t>
            </a:r>
            <a:endParaRPr lang="en-US" altLang="zh-CN" dirty="0" smtClean="0">
              <a:ea typeface="黑体" panose="02010609060101010101" pitchFamily="49" charset="-122"/>
            </a:endParaRPr>
          </a:p>
          <a:p>
            <a:r>
              <a:rPr lang="zh-CN" altLang="zh-CN" dirty="0" smtClean="0">
                <a:ea typeface="黑体" panose="02010609060101010101" pitchFamily="49" charset="-122"/>
              </a:rPr>
              <a:t>但</a:t>
            </a:r>
            <a:r>
              <a:rPr lang="en-US" altLang="zh-CN" dirty="0" smtClean="0">
                <a:ea typeface="黑体" panose="02010609060101010101" pitchFamily="49" charset="-122"/>
              </a:rPr>
              <a:t> XHTML </a:t>
            </a:r>
            <a:r>
              <a:rPr lang="zh-CN" altLang="zh-CN" dirty="0" smtClean="0">
                <a:ea typeface="黑体" panose="02010609060101010101" pitchFamily="49" charset="-122"/>
              </a:rPr>
              <a:t>是</a:t>
            </a:r>
            <a:r>
              <a:rPr lang="zh-CN" altLang="zh-CN" dirty="0" smtClean="0">
                <a:solidFill>
                  <a:srgbClr val="0000FF"/>
                </a:solidFill>
                <a:ea typeface="黑体" panose="02010609060101010101" pitchFamily="49" charset="-122"/>
              </a:rPr>
              <a:t>更严格的</a:t>
            </a:r>
            <a:r>
              <a:rPr lang="en-US" altLang="zh-CN" dirty="0" smtClean="0">
                <a:solidFill>
                  <a:srgbClr val="0000FF"/>
                </a:solidFill>
                <a:ea typeface="黑体" panose="02010609060101010101" pitchFamily="49" charset="-122"/>
              </a:rPr>
              <a:t> HTML </a:t>
            </a:r>
            <a:r>
              <a:rPr lang="zh-CN" altLang="zh-CN" dirty="0" smtClean="0">
                <a:solidFill>
                  <a:srgbClr val="0000FF"/>
                </a:solidFill>
                <a:ea typeface="黑体" panose="02010609060101010101" pitchFamily="49" charset="-122"/>
              </a:rPr>
              <a:t>版本</a:t>
            </a:r>
            <a:r>
              <a:rPr lang="zh-CN" altLang="zh-CN" dirty="0" smtClean="0">
                <a:ea typeface="黑体" panose="02010609060101010101" pitchFamily="49" charset="-122"/>
              </a:rPr>
              <a:t>，也是一个</a:t>
            </a:r>
            <a:r>
              <a:rPr lang="en-US" altLang="zh-CN" dirty="0" smtClean="0">
                <a:ea typeface="黑体" panose="02010609060101010101" pitchFamily="49" charset="-122"/>
              </a:rPr>
              <a:t> W3C </a:t>
            </a:r>
            <a:r>
              <a:rPr lang="zh-CN" altLang="zh-CN" dirty="0" smtClean="0">
                <a:ea typeface="黑体" panose="02010609060101010101" pitchFamily="49" charset="-122"/>
              </a:rPr>
              <a:t>标准（</a:t>
            </a:r>
            <a:r>
              <a:rPr lang="en-US" altLang="zh-CN" dirty="0" smtClean="0">
                <a:ea typeface="黑体" panose="02010609060101010101" pitchFamily="49" charset="-122"/>
              </a:rPr>
              <a:t>2000</a:t>
            </a:r>
            <a:r>
              <a:rPr lang="zh-CN" altLang="zh-CN" dirty="0" smtClean="0">
                <a:ea typeface="黑体" panose="02010609060101010101" pitchFamily="49" charset="-122"/>
              </a:rPr>
              <a:t>年</a:t>
            </a:r>
            <a:r>
              <a:rPr lang="en-US" altLang="zh-CN" dirty="0" smtClean="0">
                <a:ea typeface="黑体" panose="02010609060101010101" pitchFamily="49" charset="-122"/>
              </a:rPr>
              <a:t>1</a:t>
            </a:r>
            <a:r>
              <a:rPr lang="zh-CN" altLang="zh-CN" dirty="0" smtClean="0">
                <a:ea typeface="黑体" panose="02010609060101010101" pitchFamily="49" charset="-122"/>
              </a:rPr>
              <a:t>月），是作为一种</a:t>
            </a:r>
            <a:r>
              <a:rPr lang="en-US" altLang="zh-CN" dirty="0" smtClean="0">
                <a:ea typeface="黑体" panose="02010609060101010101" pitchFamily="49" charset="-122"/>
              </a:rPr>
              <a:t> XML </a:t>
            </a:r>
            <a:r>
              <a:rPr lang="zh-CN" altLang="zh-CN" dirty="0" smtClean="0">
                <a:ea typeface="黑体" panose="02010609060101010101" pitchFamily="49" charset="-122"/>
              </a:rPr>
              <a:t>应用被重新定义的</a:t>
            </a:r>
            <a:r>
              <a:rPr lang="en-US" altLang="zh-CN" dirty="0" smtClean="0">
                <a:ea typeface="黑体" panose="02010609060101010101" pitchFamily="49" charset="-122"/>
              </a:rPr>
              <a:t> HTML</a:t>
            </a:r>
            <a:r>
              <a:rPr lang="zh-CN" altLang="zh-CN" dirty="0" smtClean="0">
                <a:ea typeface="黑体" panose="02010609060101010101" pitchFamily="49" charset="-122"/>
              </a:rPr>
              <a:t>，并将逐渐取代</a:t>
            </a:r>
            <a:r>
              <a:rPr lang="en-US" altLang="zh-CN" dirty="0" smtClean="0">
                <a:ea typeface="黑体" panose="02010609060101010101" pitchFamily="49" charset="-122"/>
              </a:rPr>
              <a:t> HTML</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新的浏览器都支持</a:t>
            </a:r>
            <a:r>
              <a:rPr lang="en-US" altLang="zh-CN" dirty="0" smtClean="0">
                <a:ea typeface="黑体" panose="02010609060101010101" pitchFamily="49" charset="-122"/>
              </a:rPr>
              <a:t> XHTML</a:t>
            </a:r>
            <a:r>
              <a:rPr lang="zh-CN" altLang="zh-CN" dirty="0" smtClean="0">
                <a:ea typeface="黑体" panose="02010609060101010101" pitchFamily="49" charset="-122"/>
              </a:rPr>
              <a:t>。</a:t>
            </a:r>
          </a:p>
          <a:p>
            <a:endParaRPr lang="zh-CN" altLang="en-US" dirty="0" smtClean="0">
              <a:ea typeface="黑体" panose="02010609060101010101" pitchFamily="49" charset="-122"/>
            </a:endParaRPr>
          </a:p>
        </p:txBody>
      </p:sp>
      <p:sp>
        <p:nvSpPr>
          <p:cNvPr id="178073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7E1DEE0-24C3-4AFC-9702-93E8C9AB4934}" type="slidenum">
              <a:rPr lang="zh-CN" altLang="en-US" smtClean="0"/>
              <a:pPr eaLnBrk="1" hangingPunct="1"/>
              <a:t>64</a:t>
            </a:fld>
            <a:endParaRPr lang="en-US" altLang="zh-CN" smtClean="0"/>
          </a:p>
        </p:txBody>
      </p:sp>
      <p:sp>
        <p:nvSpPr>
          <p:cNvPr id="178074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61"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CSS</a:t>
            </a:r>
            <a:endParaRPr lang="zh-CN" altLang="en-US" smtClean="0">
              <a:ea typeface="黑体" panose="02010609060101010101" pitchFamily="49" charset="-122"/>
            </a:endParaRPr>
          </a:p>
        </p:txBody>
      </p:sp>
      <p:sp>
        <p:nvSpPr>
          <p:cNvPr id="1781762" name="内容占位符 2"/>
          <p:cNvSpPr>
            <a:spLocks noGrp="1" noChangeArrowheads="1"/>
          </p:cNvSpPr>
          <p:nvPr>
            <p:ph idx="1"/>
          </p:nvPr>
        </p:nvSpPr>
        <p:spPr>
          <a:xfrm>
            <a:off x="495300" y="1196975"/>
            <a:ext cx="9066213" cy="4933950"/>
          </a:xfrm>
        </p:spPr>
        <p:txBody>
          <a:bodyPr/>
          <a:lstStyle/>
          <a:p>
            <a:r>
              <a:rPr lang="en-US" altLang="zh-CN" u="sng" dirty="0" smtClean="0">
                <a:solidFill>
                  <a:srgbClr val="FF0000"/>
                </a:solidFill>
                <a:ea typeface="黑体" panose="02010609060101010101" pitchFamily="49" charset="-122"/>
              </a:rPr>
              <a:t>CSS (Cascading Style Sheets)</a:t>
            </a:r>
            <a:r>
              <a:rPr lang="en-US" altLang="zh-CN" u="sng" dirty="0" smtClean="0">
                <a:ea typeface="黑体" panose="02010609060101010101" pitchFamily="49" charset="-122"/>
              </a:rPr>
              <a:t> </a:t>
            </a:r>
            <a:r>
              <a:rPr lang="zh-CN" altLang="zh-CN" dirty="0" smtClean="0">
                <a:ea typeface="黑体" panose="02010609060101010101" pitchFamily="49" charset="-122"/>
              </a:rPr>
              <a:t>是</a:t>
            </a:r>
            <a:r>
              <a:rPr lang="zh-CN" altLang="zh-CN" u="sng" dirty="0" smtClean="0">
                <a:solidFill>
                  <a:srgbClr val="FF0000"/>
                </a:solidFill>
                <a:ea typeface="黑体" panose="02010609060101010101" pitchFamily="49" charset="-122"/>
              </a:rPr>
              <a:t>层叠样式表</a:t>
            </a:r>
            <a:r>
              <a:rPr lang="zh-CN" altLang="zh-CN" dirty="0" smtClean="0">
                <a:ea typeface="黑体" panose="02010609060101010101" pitchFamily="49" charset="-122"/>
              </a:rPr>
              <a:t>，它是一种样式表语言，用于为</a:t>
            </a:r>
            <a:r>
              <a:rPr lang="en-US" altLang="zh-CN" dirty="0" smtClean="0">
                <a:ea typeface="黑体" panose="02010609060101010101" pitchFamily="49" charset="-122"/>
              </a:rPr>
              <a:t> HTML </a:t>
            </a:r>
            <a:r>
              <a:rPr lang="zh-CN" altLang="zh-CN" dirty="0" smtClean="0">
                <a:ea typeface="黑体" panose="02010609060101010101" pitchFamily="49" charset="-122"/>
              </a:rPr>
              <a:t>文档定义布局。</a:t>
            </a:r>
            <a:endParaRPr lang="en-US" altLang="zh-CN" dirty="0" smtClean="0">
              <a:ea typeface="黑体" panose="02010609060101010101" pitchFamily="49" charset="-122"/>
            </a:endParaRPr>
          </a:p>
          <a:p>
            <a:r>
              <a:rPr lang="en-US" altLang="zh-CN" dirty="0" smtClean="0">
                <a:ea typeface="黑体" panose="02010609060101010101" pitchFamily="49" charset="-122"/>
              </a:rPr>
              <a:t>CSS </a:t>
            </a:r>
            <a:r>
              <a:rPr lang="zh-CN" altLang="zh-CN" dirty="0" smtClean="0">
                <a:ea typeface="黑体" panose="02010609060101010101" pitchFamily="49" charset="-122"/>
              </a:rPr>
              <a:t>与</a:t>
            </a:r>
            <a:r>
              <a:rPr lang="en-US" altLang="zh-CN" dirty="0" smtClean="0">
                <a:ea typeface="黑体" panose="02010609060101010101" pitchFamily="49" charset="-122"/>
              </a:rPr>
              <a:t> HTML </a:t>
            </a:r>
            <a:r>
              <a:rPr lang="zh-CN" altLang="zh-CN" dirty="0" smtClean="0">
                <a:ea typeface="黑体" panose="02010609060101010101" pitchFamily="49" charset="-122"/>
              </a:rPr>
              <a:t>的区别就是：</a:t>
            </a:r>
            <a:r>
              <a:rPr lang="en-US" altLang="zh-CN" dirty="0" smtClean="0">
                <a:ea typeface="黑体" panose="02010609060101010101" pitchFamily="49" charset="-122"/>
              </a:rPr>
              <a:t>HTML </a:t>
            </a:r>
            <a:r>
              <a:rPr lang="zh-CN" altLang="zh-CN" dirty="0" smtClean="0">
                <a:ea typeface="黑体" panose="02010609060101010101" pitchFamily="49" charset="-122"/>
              </a:rPr>
              <a:t>用于结构化内容，而</a:t>
            </a:r>
            <a:r>
              <a:rPr lang="en-US" altLang="zh-CN" dirty="0" smtClean="0">
                <a:ea typeface="黑体" panose="02010609060101010101" pitchFamily="49" charset="-122"/>
              </a:rPr>
              <a:t> CSS </a:t>
            </a:r>
            <a:r>
              <a:rPr lang="zh-CN" altLang="zh-CN" dirty="0" smtClean="0">
                <a:ea typeface="黑体" panose="02010609060101010101" pitchFamily="49" charset="-122"/>
              </a:rPr>
              <a:t>则用于格式化结构化的内容。</a:t>
            </a:r>
            <a:endParaRPr lang="zh-CN" altLang="en-US" dirty="0" smtClean="0">
              <a:ea typeface="黑体" panose="02010609060101010101" pitchFamily="49" charset="-122"/>
            </a:endParaRPr>
          </a:p>
        </p:txBody>
      </p:sp>
      <p:sp>
        <p:nvSpPr>
          <p:cNvPr id="178176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1AF3B57-3FEE-412F-9C17-507910F8C8C5}" type="slidenum">
              <a:rPr lang="zh-CN" altLang="en-US" smtClean="0"/>
              <a:pPr eaLnBrk="1" hangingPunct="1"/>
              <a:t>65</a:t>
            </a:fld>
            <a:endParaRPr lang="en-US" altLang="zh-CN" smtClean="0"/>
          </a:p>
        </p:txBody>
      </p:sp>
      <p:sp>
        <p:nvSpPr>
          <p:cNvPr id="178176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278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动态万维网文档 </a:t>
            </a:r>
          </a:p>
        </p:txBody>
      </p:sp>
      <p:sp>
        <p:nvSpPr>
          <p:cNvPr id="692227"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静态文档</a:t>
            </a:r>
            <a:r>
              <a:rPr lang="zh-CN" altLang="en-US" smtClean="0">
                <a:ea typeface="黑体" panose="02010609060101010101" pitchFamily="49" charset="-122"/>
              </a:rPr>
              <a:t>是指该文档创作完毕后就存放在万维网服务器中，在被用户浏览的过程中，内容不会改变。 </a:t>
            </a:r>
          </a:p>
          <a:p>
            <a:r>
              <a:rPr lang="zh-CN" altLang="en-US" smtClean="0">
                <a:solidFill>
                  <a:srgbClr val="FF0000"/>
                </a:solidFill>
                <a:ea typeface="黑体" panose="02010609060101010101" pitchFamily="49" charset="-122"/>
              </a:rPr>
              <a:t>动态文档</a:t>
            </a:r>
            <a:r>
              <a:rPr lang="zh-CN" altLang="en-US" smtClean="0">
                <a:ea typeface="黑体" panose="02010609060101010101" pitchFamily="49" charset="-122"/>
              </a:rPr>
              <a:t>是指文档的内容是在浏览器访问万维网服务器时才由应用程序动态创建。</a:t>
            </a:r>
          </a:p>
          <a:p>
            <a:r>
              <a:rPr lang="zh-CN" altLang="en-US" smtClean="0">
                <a:ea typeface="黑体" panose="02010609060101010101" pitchFamily="49" charset="-122"/>
              </a:rPr>
              <a:t>动态文档和静态文档之间的主要差别体现在</a:t>
            </a:r>
            <a:r>
              <a:rPr lang="zh-CN" altLang="en-US" smtClean="0">
                <a:solidFill>
                  <a:srgbClr val="FF0000"/>
                </a:solidFill>
                <a:ea typeface="黑体" panose="02010609060101010101" pitchFamily="49" charset="-122"/>
              </a:rPr>
              <a:t>服务器</a:t>
            </a:r>
            <a:r>
              <a:rPr lang="zh-CN" altLang="en-US" smtClean="0">
                <a:ea typeface="黑体" panose="02010609060101010101" pitchFamily="49" charset="-122"/>
              </a:rPr>
              <a:t>一端。这主要是文档内容的生成方法不同。而从浏览器的角度看，这两种文档并没有区别。  </a:t>
            </a:r>
          </a:p>
        </p:txBody>
      </p:sp>
      <p:sp>
        <p:nvSpPr>
          <p:cNvPr id="17827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2B9F16-9543-430C-BE89-CAA5CDF4707B}" type="slidenum">
              <a:rPr lang="zh-CN" altLang="en-US" smtClean="0"/>
              <a:pPr eaLnBrk="1" hangingPunct="1"/>
              <a:t>66</a:t>
            </a:fld>
            <a:endParaRPr lang="en-US" altLang="zh-CN" smtClean="0"/>
          </a:p>
        </p:txBody>
      </p:sp>
      <p:sp>
        <p:nvSpPr>
          <p:cNvPr id="17827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222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22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483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万维网服务器功能的扩充 </a:t>
            </a:r>
          </a:p>
        </p:txBody>
      </p:sp>
      <p:sp>
        <p:nvSpPr>
          <p:cNvPr id="1784834" name="Rectangle 3"/>
          <p:cNvSpPr>
            <a:spLocks noGrp="1" noChangeArrowheads="1"/>
          </p:cNvSpPr>
          <p:nvPr>
            <p:ph idx="1"/>
          </p:nvPr>
        </p:nvSpPr>
        <p:spPr>
          <a:xfrm>
            <a:off x="495300" y="1196975"/>
            <a:ext cx="9066213" cy="4933950"/>
          </a:xfrm>
        </p:spPr>
        <p:txBody>
          <a:bodyPr/>
          <a:lstStyle/>
          <a:p>
            <a:pPr>
              <a:buFont typeface="Wingdings" panose="05000000000000000000" pitchFamily="2" charset="2"/>
              <a:buNone/>
            </a:pPr>
            <a:r>
              <a:rPr lang="en-US" altLang="zh-CN" dirty="0" smtClean="0">
                <a:ea typeface="黑体" panose="02010609060101010101" pitchFamily="49" charset="-122"/>
              </a:rPr>
              <a:t>(1) </a:t>
            </a:r>
            <a:r>
              <a:rPr lang="zh-CN" altLang="en-US" dirty="0" smtClean="0">
                <a:ea typeface="黑体" panose="02010609060101010101" pitchFamily="49" charset="-122"/>
              </a:rPr>
              <a:t>应</a:t>
            </a:r>
            <a:r>
              <a:rPr lang="zh-CN" altLang="en-US" dirty="0" smtClean="0">
                <a:solidFill>
                  <a:srgbClr val="0000FF"/>
                </a:solidFill>
                <a:ea typeface="黑体" panose="02010609060101010101" pitchFamily="49" charset="-122"/>
              </a:rPr>
              <a:t>增加</a:t>
            </a:r>
            <a:r>
              <a:rPr lang="zh-CN" altLang="en-US" dirty="0" smtClean="0">
                <a:ea typeface="黑体" panose="02010609060101010101" pitchFamily="49" charset="-122"/>
              </a:rPr>
              <a:t>另一个</a:t>
            </a:r>
            <a:r>
              <a:rPr lang="zh-CN" altLang="en-US" dirty="0" smtClean="0">
                <a:solidFill>
                  <a:srgbClr val="0000FF"/>
                </a:solidFill>
                <a:ea typeface="黑体" panose="02010609060101010101" pitchFamily="49" charset="-122"/>
              </a:rPr>
              <a:t>应用程序</a:t>
            </a:r>
            <a:r>
              <a:rPr lang="zh-CN" altLang="en-US" dirty="0" smtClean="0">
                <a:ea typeface="黑体" panose="02010609060101010101" pitchFamily="49" charset="-122"/>
              </a:rPr>
              <a:t>，用来处理浏览器发来的数据，并创建动态文档。</a:t>
            </a:r>
          </a:p>
          <a:p>
            <a:pPr>
              <a:buFont typeface="Wingdings" panose="05000000000000000000" pitchFamily="2" charset="2"/>
              <a:buNone/>
            </a:pPr>
            <a:r>
              <a:rPr lang="en-US" altLang="zh-CN" dirty="0" smtClean="0">
                <a:ea typeface="黑体" panose="02010609060101010101" pitchFamily="49" charset="-122"/>
              </a:rPr>
              <a:t>(2) </a:t>
            </a:r>
            <a:r>
              <a:rPr lang="zh-CN" altLang="en-US" dirty="0" smtClean="0">
                <a:ea typeface="黑体" panose="02010609060101010101" pitchFamily="49" charset="-122"/>
              </a:rPr>
              <a:t>应</a:t>
            </a:r>
            <a:r>
              <a:rPr lang="zh-CN" altLang="en-US" dirty="0" smtClean="0">
                <a:solidFill>
                  <a:srgbClr val="0000FF"/>
                </a:solidFill>
                <a:ea typeface="黑体" panose="02010609060101010101" pitchFamily="49" charset="-122"/>
              </a:rPr>
              <a:t>增加</a:t>
            </a:r>
            <a:r>
              <a:rPr lang="zh-CN" altLang="en-US" dirty="0" smtClean="0">
                <a:ea typeface="黑体" panose="02010609060101010101" pitchFamily="49" charset="-122"/>
              </a:rPr>
              <a:t>一个</a:t>
            </a:r>
            <a:r>
              <a:rPr lang="zh-CN" altLang="en-US" dirty="0" smtClean="0">
                <a:solidFill>
                  <a:srgbClr val="0000FF"/>
                </a:solidFill>
                <a:ea typeface="黑体" panose="02010609060101010101" pitchFamily="49" charset="-122"/>
              </a:rPr>
              <a:t>机制</a:t>
            </a:r>
            <a:r>
              <a:rPr lang="zh-CN" altLang="en-US" dirty="0" smtClean="0">
                <a:ea typeface="黑体" panose="02010609060101010101" pitchFamily="49" charset="-122"/>
              </a:rPr>
              <a:t>，用来使万维网服务器把浏览器发来的数据传送给这个应用程序，然后万维网服务器能够解释这个应用程序的输出，并向浏览器返回 </a:t>
            </a:r>
            <a:r>
              <a:rPr lang="en-US" altLang="zh-CN" dirty="0" smtClean="0">
                <a:ea typeface="黑体" panose="02010609060101010101" pitchFamily="49" charset="-122"/>
              </a:rPr>
              <a:t>HTML </a:t>
            </a:r>
            <a:r>
              <a:rPr lang="zh-CN" altLang="en-US" dirty="0" smtClean="0">
                <a:ea typeface="黑体" panose="02010609060101010101" pitchFamily="49" charset="-122"/>
              </a:rPr>
              <a:t>文档。</a:t>
            </a:r>
          </a:p>
        </p:txBody>
      </p:sp>
      <p:sp>
        <p:nvSpPr>
          <p:cNvPr id="17848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4199BB-4B8C-4F26-81DA-FBF7AB7D719E}" type="slidenum">
              <a:rPr lang="zh-CN" altLang="en-US" smtClean="0"/>
              <a:pPr eaLnBrk="1" hangingPunct="1"/>
              <a:t>67</a:t>
            </a:fld>
            <a:endParaRPr lang="en-US" altLang="zh-CN" smtClean="0"/>
          </a:p>
        </p:txBody>
      </p:sp>
      <p:sp>
        <p:nvSpPr>
          <p:cNvPr id="17848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86881"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9125" y="1930400"/>
            <a:ext cx="1593850" cy="256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94321" name="Group 49"/>
          <p:cNvGrpSpPr>
            <a:grpSpLocks/>
          </p:cNvGrpSpPr>
          <p:nvPr/>
        </p:nvGrpSpPr>
        <p:grpSpPr bwMode="auto">
          <a:xfrm>
            <a:off x="6070600" y="2773363"/>
            <a:ext cx="1978025" cy="1122362"/>
            <a:chOff x="3530" y="1904"/>
            <a:chExt cx="1150" cy="707"/>
          </a:xfrm>
        </p:grpSpPr>
        <p:sp>
          <p:nvSpPr>
            <p:cNvPr id="1786883" name="AutoShape 5"/>
            <p:cNvSpPr>
              <a:spLocks noChangeArrowheads="1"/>
            </p:cNvSpPr>
            <p:nvPr/>
          </p:nvSpPr>
          <p:spPr bwMode="auto">
            <a:xfrm>
              <a:off x="4238" y="1904"/>
              <a:ext cx="442" cy="289"/>
            </a:xfrm>
            <a:prstGeom prst="can">
              <a:avLst>
                <a:gd name="adj" fmla="val 39583"/>
              </a:avLst>
            </a:prstGeom>
            <a:gradFill rotWithShape="1">
              <a:gsLst>
                <a:gs pos="0">
                  <a:srgbClr val="666666"/>
                </a:gs>
                <a:gs pos="50000">
                  <a:srgbClr val="DDDDDD"/>
                </a:gs>
                <a:gs pos="100000">
                  <a:srgbClr val="666666"/>
                </a:gs>
              </a:gsLst>
              <a:lin ang="0" scaled="1"/>
            </a:gradFill>
            <a:ln w="9525">
              <a:solidFill>
                <a:schemeClr val="tx1"/>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786884" name="Line 14"/>
            <p:cNvSpPr>
              <a:spLocks noChangeShapeType="1"/>
            </p:cNvSpPr>
            <p:nvPr/>
          </p:nvSpPr>
          <p:spPr bwMode="auto">
            <a:xfrm flipV="1">
              <a:off x="3985" y="2177"/>
              <a:ext cx="393" cy="232"/>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786885" name="Line 18"/>
            <p:cNvSpPr>
              <a:spLocks noChangeShapeType="1"/>
            </p:cNvSpPr>
            <p:nvPr/>
          </p:nvSpPr>
          <p:spPr bwMode="auto">
            <a:xfrm>
              <a:off x="3530" y="2276"/>
              <a:ext cx="186" cy="181"/>
            </a:xfrm>
            <a:prstGeom prst="line">
              <a:avLst/>
            </a:prstGeom>
            <a:noFill/>
            <a:ln w="254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786886" name="Oval 13"/>
            <p:cNvSpPr>
              <a:spLocks noChangeArrowheads="1"/>
            </p:cNvSpPr>
            <p:nvPr/>
          </p:nvSpPr>
          <p:spPr bwMode="auto">
            <a:xfrm>
              <a:off x="3651" y="2385"/>
              <a:ext cx="450" cy="226"/>
            </a:xfrm>
            <a:prstGeom prst="ellipse">
              <a:avLst/>
            </a:prstGeom>
            <a:solidFill>
              <a:srgbClr val="FFFF99"/>
            </a:solidFill>
            <a:ln w="9525">
              <a:solidFill>
                <a:schemeClr val="tx1"/>
              </a:solidFill>
              <a:round/>
              <a:headEnd/>
              <a:tailEnd/>
            </a:ln>
          </p:spPr>
          <p:txBody>
            <a:bodyPr wrap="none" anchor="ctr"/>
            <a:lstStyle/>
            <a:p>
              <a:pPr algn="ctr"/>
              <a:r>
                <a:rPr lang="en-US" altLang="zh-CN" sz="2000" b="1">
                  <a:solidFill>
                    <a:srgbClr val="000099"/>
                  </a:solidFill>
                  <a:ea typeface="宋体" panose="02010600030101010101" pitchFamily="2" charset="-122"/>
                </a:rPr>
                <a:t>CGI</a:t>
              </a:r>
            </a:p>
          </p:txBody>
        </p:sp>
      </p:grpSp>
      <p:grpSp>
        <p:nvGrpSpPr>
          <p:cNvPr id="694317" name="Group 45"/>
          <p:cNvGrpSpPr>
            <a:grpSpLocks/>
          </p:cNvGrpSpPr>
          <p:nvPr/>
        </p:nvGrpSpPr>
        <p:grpSpPr bwMode="auto">
          <a:xfrm>
            <a:off x="1141413" y="4705350"/>
            <a:ext cx="5840412" cy="1724025"/>
            <a:chOff x="664" y="3124"/>
            <a:chExt cx="3396" cy="1086"/>
          </a:xfrm>
        </p:grpSpPr>
        <p:sp>
          <p:nvSpPr>
            <p:cNvPr id="1786888" name="Line 32"/>
            <p:cNvSpPr>
              <a:spLocks noChangeShapeType="1"/>
            </p:cNvSpPr>
            <p:nvPr/>
          </p:nvSpPr>
          <p:spPr bwMode="auto">
            <a:xfrm flipH="1" flipV="1">
              <a:off x="664" y="3680"/>
              <a:ext cx="2965" cy="11"/>
            </a:xfrm>
            <a:prstGeom prst="line">
              <a:avLst/>
            </a:prstGeom>
            <a:noFill/>
            <a:ln w="28575">
              <a:solidFill>
                <a:srgbClr val="333399"/>
              </a:solidFill>
              <a:prstDash val="dash"/>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86889" name="Text Box 34"/>
            <p:cNvSpPr txBox="1">
              <a:spLocks noChangeArrowheads="1"/>
            </p:cNvSpPr>
            <p:nvPr/>
          </p:nvSpPr>
          <p:spPr bwMode="auto">
            <a:xfrm>
              <a:off x="2336" y="3124"/>
              <a:ext cx="660" cy="1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0600" b="1">
                  <a:solidFill>
                    <a:srgbClr val="000099"/>
                  </a:solidFill>
                  <a:ea typeface="黑体" panose="02010609060101010101" pitchFamily="49" charset="-122"/>
                  <a:sym typeface="Wingdings" panose="05000000000000000000" pitchFamily="2" charset="2"/>
                </a:rPr>
                <a:t></a:t>
              </a:r>
              <a:endParaRPr lang="en-US" altLang="zh-CN" sz="10600" b="1">
                <a:solidFill>
                  <a:srgbClr val="000099"/>
                </a:solidFill>
                <a:ea typeface="黑体" panose="02010609060101010101" pitchFamily="49" charset="-122"/>
              </a:endParaRPr>
            </a:p>
          </p:txBody>
        </p:sp>
        <p:sp>
          <p:nvSpPr>
            <p:cNvPr id="1786890" name="Text Box 36"/>
            <p:cNvSpPr txBox="1">
              <a:spLocks noChangeArrowheads="1"/>
            </p:cNvSpPr>
            <p:nvPr/>
          </p:nvSpPr>
          <p:spPr bwMode="auto">
            <a:xfrm>
              <a:off x="2830" y="3217"/>
              <a:ext cx="123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响应动态文档</a:t>
              </a:r>
            </a:p>
          </p:txBody>
        </p:sp>
        <p:grpSp>
          <p:nvGrpSpPr>
            <p:cNvPr id="1786891" name="Group 37"/>
            <p:cNvGrpSpPr>
              <a:grpSpLocks/>
            </p:cNvGrpSpPr>
            <p:nvPr/>
          </p:nvGrpSpPr>
          <p:grpSpPr bwMode="auto">
            <a:xfrm flipH="1">
              <a:off x="1039" y="3509"/>
              <a:ext cx="1433" cy="321"/>
              <a:chOff x="1152" y="1824"/>
              <a:chExt cx="1296" cy="240"/>
            </a:xfrm>
          </p:grpSpPr>
          <p:sp>
            <p:nvSpPr>
              <p:cNvPr id="1786892" name="AutoShape 38"/>
              <p:cNvSpPr>
                <a:spLocks noChangeArrowheads="1"/>
              </p:cNvSpPr>
              <p:nvPr/>
            </p:nvSpPr>
            <p:spPr bwMode="auto">
              <a:xfrm>
                <a:off x="2160" y="1872"/>
                <a:ext cx="288" cy="144"/>
              </a:xfrm>
              <a:prstGeom prst="rightArrow">
                <a:avLst>
                  <a:gd name="adj1" fmla="val 50000"/>
                  <a:gd name="adj2" fmla="val 50000"/>
                </a:avLst>
              </a:prstGeom>
              <a:solidFill>
                <a:srgbClr val="FFCCFF"/>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786893" name="Rectangle 39"/>
              <p:cNvSpPr>
                <a:spLocks noChangeArrowheads="1"/>
              </p:cNvSpPr>
              <p:nvPr/>
            </p:nvSpPr>
            <p:spPr bwMode="auto">
              <a:xfrm>
                <a:off x="1152" y="1824"/>
                <a:ext cx="1008" cy="240"/>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HTTP </a:t>
                </a:r>
                <a:r>
                  <a:rPr lang="zh-CN" altLang="en-US" sz="2000" b="1">
                    <a:solidFill>
                      <a:srgbClr val="000099"/>
                    </a:solidFill>
                    <a:ea typeface="黑体" panose="02010609060101010101" pitchFamily="49" charset="-122"/>
                  </a:rPr>
                  <a:t>响应报文</a:t>
                </a:r>
              </a:p>
            </p:txBody>
          </p:sp>
        </p:grpSp>
      </p:grpSp>
      <p:sp>
        <p:nvSpPr>
          <p:cNvPr id="1786894" name="Rectangle 2"/>
          <p:cNvSpPr>
            <a:spLocks noGrp="1" noChangeArrowheads="1"/>
          </p:cNvSpPr>
          <p:nvPr>
            <p:ph type="title"/>
          </p:nvPr>
        </p:nvSpPr>
        <p:spPr/>
        <p:txBody>
          <a:bodyPr/>
          <a:lstStyle/>
          <a:p>
            <a:pPr algn="ctr"/>
            <a:r>
              <a:rPr lang="zh-CN" altLang="zh-CN" smtClean="0">
                <a:ea typeface="黑体" panose="02010609060101010101" pitchFamily="49" charset="-122"/>
              </a:rPr>
              <a:t>扩充了功能的万维网服务器 </a:t>
            </a:r>
          </a:p>
        </p:txBody>
      </p:sp>
      <p:sp>
        <p:nvSpPr>
          <p:cNvPr id="1786895" name="Rectangle 6"/>
          <p:cNvSpPr>
            <a:spLocks noChangeArrowheads="1"/>
          </p:cNvSpPr>
          <p:nvPr/>
        </p:nvSpPr>
        <p:spPr bwMode="auto">
          <a:xfrm>
            <a:off x="5616575" y="1628775"/>
            <a:ext cx="1722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r>
              <a:rPr lang="zh-CN" altLang="en-US" sz="2000" b="1">
                <a:solidFill>
                  <a:srgbClr val="000099"/>
                </a:solidFill>
                <a:ea typeface="黑体" panose="02010609060101010101" pitchFamily="49" charset="-122"/>
              </a:rPr>
              <a:t>万维网服务器</a:t>
            </a:r>
          </a:p>
        </p:txBody>
      </p:sp>
      <p:sp>
        <p:nvSpPr>
          <p:cNvPr id="1786896" name="Oval 7"/>
          <p:cNvSpPr>
            <a:spLocks noChangeArrowheads="1"/>
          </p:cNvSpPr>
          <p:nvPr/>
        </p:nvSpPr>
        <p:spPr bwMode="auto">
          <a:xfrm>
            <a:off x="5797550" y="3154363"/>
            <a:ext cx="458788" cy="223837"/>
          </a:xfrm>
          <a:prstGeom prst="ellipse">
            <a:avLst/>
          </a:prstGeom>
          <a:solidFill>
            <a:srgbClr val="66FF66"/>
          </a:solidFill>
          <a:ln w="9525">
            <a:solidFill>
              <a:schemeClr val="tx1"/>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786897" name="Rectangle 8"/>
          <p:cNvSpPr>
            <a:spLocks noChangeArrowheads="1"/>
          </p:cNvSpPr>
          <p:nvPr/>
        </p:nvSpPr>
        <p:spPr bwMode="auto">
          <a:xfrm>
            <a:off x="2152650" y="2319338"/>
            <a:ext cx="9525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lnSpc>
                <a:spcPct val="90000"/>
              </a:lnSpc>
            </a:pPr>
            <a:r>
              <a:rPr lang="zh-CN" altLang="en-US" sz="2000" b="1">
                <a:solidFill>
                  <a:srgbClr val="000099"/>
                </a:solidFill>
                <a:ea typeface="黑体" panose="02010609060101010101" pitchFamily="49" charset="-122"/>
              </a:rPr>
              <a:t>浏览器</a:t>
            </a:r>
          </a:p>
          <a:p>
            <a:pPr eaLnBrk="0" hangingPunct="0">
              <a:lnSpc>
                <a:spcPct val="90000"/>
              </a:lnSpc>
            </a:pPr>
            <a:r>
              <a:rPr lang="zh-CN" altLang="en-US" sz="2000" b="1">
                <a:solidFill>
                  <a:srgbClr val="000099"/>
                </a:solidFill>
                <a:ea typeface="黑体" panose="02010609060101010101" pitchFamily="49" charset="-122"/>
              </a:rPr>
              <a:t> 程序</a:t>
            </a:r>
          </a:p>
        </p:txBody>
      </p:sp>
      <p:sp>
        <p:nvSpPr>
          <p:cNvPr id="1786898" name="Rectangle 9"/>
          <p:cNvSpPr>
            <a:spLocks noChangeArrowheads="1"/>
          </p:cNvSpPr>
          <p:nvPr/>
        </p:nvSpPr>
        <p:spPr bwMode="auto">
          <a:xfrm>
            <a:off x="536575" y="1990725"/>
            <a:ext cx="1465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r>
              <a:rPr lang="zh-CN" altLang="en-US" sz="2000" b="1">
                <a:solidFill>
                  <a:srgbClr val="000099"/>
                </a:solidFill>
                <a:ea typeface="黑体" panose="02010609060101010101" pitchFamily="49" charset="-122"/>
              </a:rPr>
              <a:t>万维网客户</a:t>
            </a:r>
          </a:p>
        </p:txBody>
      </p:sp>
      <p:sp>
        <p:nvSpPr>
          <p:cNvPr id="1786899" name="Line 10"/>
          <p:cNvSpPr>
            <a:spLocks noChangeShapeType="1"/>
          </p:cNvSpPr>
          <p:nvPr/>
        </p:nvSpPr>
        <p:spPr bwMode="auto">
          <a:xfrm>
            <a:off x="5099050" y="2921000"/>
            <a:ext cx="842963" cy="34290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786900" name="Rectangle 11"/>
          <p:cNvSpPr>
            <a:spLocks noChangeArrowheads="1"/>
          </p:cNvSpPr>
          <p:nvPr/>
        </p:nvSpPr>
        <p:spPr bwMode="auto">
          <a:xfrm>
            <a:off x="4254500" y="2540000"/>
            <a:ext cx="9525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lnSpc>
                <a:spcPct val="90000"/>
              </a:lnSpc>
            </a:pPr>
            <a:r>
              <a:rPr lang="zh-CN" altLang="en-US" sz="2000" b="1">
                <a:solidFill>
                  <a:srgbClr val="000099"/>
                </a:solidFill>
                <a:ea typeface="黑体" panose="02010609060101010101" pitchFamily="49" charset="-122"/>
              </a:rPr>
              <a:t>服务器</a:t>
            </a:r>
          </a:p>
          <a:p>
            <a:pPr eaLnBrk="0" hangingPunct="0">
              <a:lnSpc>
                <a:spcPct val="90000"/>
              </a:lnSpc>
            </a:pPr>
            <a:r>
              <a:rPr lang="zh-CN" altLang="en-US" sz="2000" b="1">
                <a:solidFill>
                  <a:srgbClr val="000099"/>
                </a:solidFill>
                <a:ea typeface="黑体" panose="02010609060101010101" pitchFamily="49" charset="-122"/>
              </a:rPr>
              <a:t> 程序</a:t>
            </a:r>
          </a:p>
        </p:txBody>
      </p:sp>
      <p:sp>
        <p:nvSpPr>
          <p:cNvPr id="1786901" name="Rectangle 12"/>
          <p:cNvSpPr>
            <a:spLocks noChangeArrowheads="1"/>
          </p:cNvSpPr>
          <p:nvPr/>
        </p:nvSpPr>
        <p:spPr bwMode="auto">
          <a:xfrm>
            <a:off x="3178175" y="2887663"/>
            <a:ext cx="854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r>
              <a:rPr lang="en-US" altLang="zh-CN" sz="2000" b="1">
                <a:solidFill>
                  <a:srgbClr val="000099"/>
                </a:solidFill>
                <a:ea typeface="黑体" panose="02010609060101010101" pitchFamily="49" charset="-122"/>
              </a:rPr>
              <a:t>HTTP</a:t>
            </a:r>
          </a:p>
        </p:txBody>
      </p:sp>
      <p:sp>
        <p:nvSpPr>
          <p:cNvPr id="1786902" name="Rectangle 16"/>
          <p:cNvSpPr>
            <a:spLocks noChangeArrowheads="1"/>
          </p:cNvSpPr>
          <p:nvPr/>
        </p:nvSpPr>
        <p:spPr bwMode="auto">
          <a:xfrm>
            <a:off x="7243763" y="2382838"/>
            <a:ext cx="952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r>
              <a:rPr lang="zh-CN" altLang="en-US" sz="2000" b="1">
                <a:solidFill>
                  <a:srgbClr val="000099"/>
                </a:solidFill>
                <a:ea typeface="黑体" panose="02010609060101010101" pitchFamily="49" charset="-122"/>
              </a:rPr>
              <a:t>数据库</a:t>
            </a:r>
          </a:p>
        </p:txBody>
      </p:sp>
      <p:pic>
        <p:nvPicPr>
          <p:cNvPr id="1786903" name="Picture 1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275" y="2338388"/>
            <a:ext cx="1116013"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86904" name="Oval 20"/>
          <p:cNvSpPr>
            <a:spLocks noChangeArrowheads="1"/>
          </p:cNvSpPr>
          <p:nvPr/>
        </p:nvSpPr>
        <p:spPr bwMode="auto">
          <a:xfrm>
            <a:off x="1154113" y="3167063"/>
            <a:ext cx="466725" cy="211137"/>
          </a:xfrm>
          <a:prstGeom prst="ellipse">
            <a:avLst/>
          </a:prstGeom>
          <a:solidFill>
            <a:srgbClr val="66FF66"/>
          </a:solidFill>
          <a:ln w="9525">
            <a:solidFill>
              <a:schemeClr val="tx1"/>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786905" name="Line 21"/>
          <p:cNvSpPr>
            <a:spLocks noChangeShapeType="1"/>
          </p:cNvSpPr>
          <p:nvPr/>
        </p:nvSpPr>
        <p:spPr bwMode="auto">
          <a:xfrm flipH="1">
            <a:off x="1420813" y="2835275"/>
            <a:ext cx="931862" cy="422275"/>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786906" name="Freeform 22" descr="横虚线"/>
          <p:cNvSpPr>
            <a:spLocks noChangeArrowheads="1"/>
          </p:cNvSpPr>
          <p:nvPr/>
        </p:nvSpPr>
        <p:spPr bwMode="auto">
          <a:xfrm>
            <a:off x="923925" y="2540000"/>
            <a:ext cx="588963" cy="393700"/>
          </a:xfrm>
          <a:custGeom>
            <a:avLst/>
            <a:gdLst>
              <a:gd name="T0" fmla="*/ 17 w 463"/>
              <a:gd name="T1" fmla="*/ 0 h 322"/>
              <a:gd name="T2" fmla="*/ 462 w 463"/>
              <a:gd name="T3" fmla="*/ 0 h 322"/>
              <a:gd name="T4" fmla="*/ 443 w 463"/>
              <a:gd name="T5" fmla="*/ 321 h 322"/>
              <a:gd name="T6" fmla="*/ 0 w 463"/>
              <a:gd name="T7" fmla="*/ 304 h 322"/>
              <a:gd name="T8" fmla="*/ 17 w 463"/>
              <a:gd name="T9" fmla="*/ 0 h 322"/>
            </a:gdLst>
            <a:ahLst/>
            <a:cxnLst>
              <a:cxn ang="0">
                <a:pos x="T0" y="T1"/>
              </a:cxn>
              <a:cxn ang="0">
                <a:pos x="T2" y="T3"/>
              </a:cxn>
              <a:cxn ang="0">
                <a:pos x="T4" y="T5"/>
              </a:cxn>
              <a:cxn ang="0">
                <a:pos x="T6" y="T7"/>
              </a:cxn>
              <a:cxn ang="0">
                <a:pos x="T8" y="T9"/>
              </a:cxn>
            </a:cxnLst>
            <a:rect l="0" t="0" r="r" b="b"/>
            <a:pathLst>
              <a:path w="463" h="322">
                <a:moveTo>
                  <a:pt x="17" y="0"/>
                </a:moveTo>
                <a:lnTo>
                  <a:pt x="462" y="0"/>
                </a:lnTo>
                <a:lnTo>
                  <a:pt x="443" y="321"/>
                </a:lnTo>
                <a:lnTo>
                  <a:pt x="0" y="304"/>
                </a:lnTo>
                <a:lnTo>
                  <a:pt x="17" y="0"/>
                </a:lnTo>
              </a:path>
            </a:pathLst>
          </a:custGeom>
          <a:pattFill prst="dashHorz">
            <a:fgClr>
              <a:schemeClr val="bg2"/>
            </a:fgClr>
            <a:bgClr>
              <a:schemeClr val="bg1"/>
            </a:bgClr>
          </a:patt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694322" name="Group 50"/>
          <p:cNvGrpSpPr>
            <a:grpSpLocks/>
          </p:cNvGrpSpPr>
          <p:nvPr/>
        </p:nvGrpSpPr>
        <p:grpSpPr bwMode="auto">
          <a:xfrm>
            <a:off x="741363" y="4117975"/>
            <a:ext cx="5514975" cy="1793875"/>
            <a:chOff x="431" y="2754"/>
            <a:chExt cx="3207" cy="1130"/>
          </a:xfrm>
        </p:grpSpPr>
        <p:sp>
          <p:nvSpPr>
            <p:cNvPr id="1786908" name="Line 27"/>
            <p:cNvSpPr>
              <a:spLocks noChangeShapeType="1"/>
            </p:cNvSpPr>
            <p:nvPr/>
          </p:nvSpPr>
          <p:spPr bwMode="auto">
            <a:xfrm>
              <a:off x="664" y="2791"/>
              <a:ext cx="0" cy="1093"/>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86909" name="Line 28"/>
            <p:cNvSpPr>
              <a:spLocks noChangeShapeType="1"/>
            </p:cNvSpPr>
            <p:nvPr/>
          </p:nvSpPr>
          <p:spPr bwMode="auto">
            <a:xfrm>
              <a:off x="3638" y="2855"/>
              <a:ext cx="0" cy="1029"/>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86910" name="Group 44"/>
            <p:cNvGrpSpPr>
              <a:grpSpLocks/>
            </p:cNvGrpSpPr>
            <p:nvPr/>
          </p:nvGrpSpPr>
          <p:grpSpPr bwMode="auto">
            <a:xfrm>
              <a:off x="431" y="2754"/>
              <a:ext cx="3207" cy="487"/>
              <a:chOff x="431" y="2754"/>
              <a:chExt cx="3207" cy="487"/>
            </a:xfrm>
          </p:grpSpPr>
          <p:sp>
            <p:nvSpPr>
              <p:cNvPr id="1786911" name="Line 23"/>
              <p:cNvSpPr>
                <a:spLocks noChangeShapeType="1"/>
              </p:cNvSpPr>
              <p:nvPr/>
            </p:nvSpPr>
            <p:spPr bwMode="auto">
              <a:xfrm flipV="1">
                <a:off x="673" y="3080"/>
                <a:ext cx="2965" cy="11"/>
              </a:xfrm>
              <a:prstGeom prst="line">
                <a:avLst/>
              </a:prstGeom>
              <a:noFill/>
              <a:ln w="28575">
                <a:solidFill>
                  <a:srgbClr val="333399"/>
                </a:solidFill>
                <a:prstDash val="dash"/>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86912" name="Group 24"/>
              <p:cNvGrpSpPr>
                <a:grpSpLocks/>
              </p:cNvGrpSpPr>
              <p:nvPr/>
            </p:nvGrpSpPr>
            <p:grpSpPr bwMode="auto">
              <a:xfrm>
                <a:off x="1419" y="2919"/>
                <a:ext cx="1461" cy="322"/>
                <a:chOff x="1152" y="1824"/>
                <a:chExt cx="1296" cy="240"/>
              </a:xfrm>
            </p:grpSpPr>
            <p:sp>
              <p:nvSpPr>
                <p:cNvPr id="1786913" name="AutoShape 25"/>
                <p:cNvSpPr>
                  <a:spLocks noChangeArrowheads="1"/>
                </p:cNvSpPr>
                <p:nvPr/>
              </p:nvSpPr>
              <p:spPr bwMode="auto">
                <a:xfrm>
                  <a:off x="2160" y="1872"/>
                  <a:ext cx="288" cy="144"/>
                </a:xfrm>
                <a:prstGeom prst="rightArrow">
                  <a:avLst>
                    <a:gd name="adj1" fmla="val 50000"/>
                    <a:gd name="adj2" fmla="val 50000"/>
                  </a:avLst>
                </a:prstGeom>
                <a:solidFill>
                  <a:srgbClr val="CCECFF"/>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786914" name="Rectangle 26"/>
                <p:cNvSpPr>
                  <a:spLocks noChangeArrowheads="1"/>
                </p:cNvSpPr>
                <p:nvPr/>
              </p:nvSpPr>
              <p:spPr bwMode="auto">
                <a:xfrm>
                  <a:off x="1152" y="1824"/>
                  <a:ext cx="1008" cy="24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HTTP </a:t>
                  </a:r>
                  <a:r>
                    <a:rPr lang="zh-CN" altLang="en-US" sz="2000" b="1">
                      <a:solidFill>
                        <a:srgbClr val="000099"/>
                      </a:solidFill>
                      <a:ea typeface="黑体" panose="02010609060101010101" pitchFamily="49" charset="-122"/>
                    </a:rPr>
                    <a:t>请求报文</a:t>
                  </a:r>
                </a:p>
              </p:txBody>
            </p:sp>
          </p:grpSp>
          <p:sp>
            <p:nvSpPr>
              <p:cNvPr id="1786915" name="Text Box 29"/>
              <p:cNvSpPr txBox="1">
                <a:spLocks noChangeArrowheads="1"/>
              </p:cNvSpPr>
              <p:nvPr/>
            </p:nvSpPr>
            <p:spPr bwMode="auto">
              <a:xfrm>
                <a:off x="431" y="2754"/>
                <a:ext cx="931" cy="33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请求文档</a:t>
                </a:r>
              </a:p>
            </p:txBody>
          </p:sp>
        </p:grpSp>
      </p:grpSp>
      <p:grpSp>
        <p:nvGrpSpPr>
          <p:cNvPr id="694314" name="Group 42"/>
          <p:cNvGrpSpPr>
            <a:grpSpLocks/>
          </p:cNvGrpSpPr>
          <p:nvPr/>
        </p:nvGrpSpPr>
        <p:grpSpPr bwMode="auto">
          <a:xfrm>
            <a:off x="6891338" y="3846513"/>
            <a:ext cx="2741612" cy="1936750"/>
            <a:chOff x="3909" y="2533"/>
            <a:chExt cx="1594" cy="1220"/>
          </a:xfrm>
        </p:grpSpPr>
        <p:sp>
          <p:nvSpPr>
            <p:cNvPr id="1786917" name="Line 30"/>
            <p:cNvSpPr>
              <a:spLocks noChangeShapeType="1"/>
            </p:cNvSpPr>
            <p:nvPr/>
          </p:nvSpPr>
          <p:spPr bwMode="auto">
            <a:xfrm>
              <a:off x="3909" y="2533"/>
              <a:ext cx="324" cy="579"/>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86918" name="Text Box 31"/>
            <p:cNvSpPr txBox="1">
              <a:spLocks noChangeArrowheads="1"/>
            </p:cNvSpPr>
            <p:nvPr/>
          </p:nvSpPr>
          <p:spPr bwMode="auto">
            <a:xfrm>
              <a:off x="4266" y="2552"/>
              <a:ext cx="1237"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800" b="1">
                  <a:solidFill>
                    <a:srgbClr val="000099"/>
                  </a:solidFill>
                  <a:ea typeface="黑体" panose="02010609060101010101" pitchFamily="49" charset="-122"/>
                  <a:sym typeface="Wingdings" panose="05000000000000000000" pitchFamily="2" charset="2"/>
                </a:rPr>
                <a:t></a:t>
              </a:r>
              <a:r>
                <a:rPr lang="en-US" altLang="zh-CN" sz="2000" b="1">
                  <a:solidFill>
                    <a:srgbClr val="000099"/>
                  </a:solidFill>
                  <a:ea typeface="黑体" panose="02010609060101010101" pitchFamily="49" charset="-122"/>
                </a:rPr>
                <a:t> CGI </a:t>
              </a:r>
              <a:r>
                <a:rPr lang="zh-CN" altLang="en-US" sz="2000" b="1">
                  <a:solidFill>
                    <a:srgbClr val="000099"/>
                  </a:solidFill>
                  <a:ea typeface="黑体" panose="02010609060101010101" pitchFamily="49" charset="-122"/>
                </a:rPr>
                <a:t>程序创建</a:t>
              </a:r>
            </a:p>
            <a:p>
              <a:pPr algn="ctr"/>
              <a:r>
                <a:rPr lang="zh-CN" altLang="en-US" sz="2000" b="1">
                  <a:solidFill>
                    <a:srgbClr val="000099"/>
                  </a:solidFill>
                  <a:ea typeface="黑体" panose="02010609060101010101" pitchFamily="49" charset="-122"/>
                </a:rPr>
                <a:t>动态文档</a:t>
              </a:r>
            </a:p>
          </p:txBody>
        </p:sp>
        <p:sp>
          <p:nvSpPr>
            <p:cNvPr id="1786919" name="Text Box 35"/>
            <p:cNvSpPr txBox="1">
              <a:spLocks noChangeArrowheads="1"/>
            </p:cNvSpPr>
            <p:nvPr/>
          </p:nvSpPr>
          <p:spPr bwMode="auto">
            <a:xfrm>
              <a:off x="4035" y="2667"/>
              <a:ext cx="660" cy="1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0600" b="1">
                  <a:solidFill>
                    <a:srgbClr val="000099"/>
                  </a:solidFill>
                  <a:ea typeface="黑体" panose="02010609060101010101" pitchFamily="49" charset="-122"/>
                  <a:sym typeface="Wingdings" panose="05000000000000000000" pitchFamily="2" charset="2"/>
                </a:rPr>
                <a:t></a:t>
              </a:r>
              <a:endParaRPr lang="en-US" altLang="zh-CN" sz="10600" b="1">
                <a:solidFill>
                  <a:srgbClr val="000099"/>
                </a:solidFill>
                <a:ea typeface="黑体" panose="02010609060101010101" pitchFamily="49" charset="-122"/>
              </a:endParaRPr>
            </a:p>
          </p:txBody>
        </p:sp>
      </p:grpSp>
      <p:sp>
        <p:nvSpPr>
          <p:cNvPr id="1786920" name="Line 15"/>
          <p:cNvSpPr>
            <a:spLocks noChangeShapeType="1"/>
          </p:cNvSpPr>
          <p:nvPr/>
        </p:nvSpPr>
        <p:spPr bwMode="auto">
          <a:xfrm>
            <a:off x="1512888" y="3257550"/>
            <a:ext cx="4371975" cy="0"/>
          </a:xfrm>
          <a:prstGeom prst="line">
            <a:avLst/>
          </a:prstGeom>
          <a:noFill/>
          <a:ln w="38100">
            <a:solidFill>
              <a:schemeClr val="hlink"/>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78692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2D195D5-12B9-4E7A-B3FF-61A2A05813B9}" type="slidenum">
              <a:rPr lang="zh-CN" altLang="en-US" smtClean="0"/>
              <a:pPr eaLnBrk="1" hangingPunct="1"/>
              <a:t>68</a:t>
            </a:fld>
            <a:endParaRPr lang="en-US" altLang="zh-CN" smtClean="0"/>
          </a:p>
        </p:txBody>
      </p:sp>
      <p:sp>
        <p:nvSpPr>
          <p:cNvPr id="178692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94322"/>
                                        </p:tgtEl>
                                        <p:attrNameLst>
                                          <p:attrName>style.visibility</p:attrName>
                                        </p:attrNameLst>
                                      </p:cBhvr>
                                      <p:to>
                                        <p:strVal val="visible"/>
                                      </p:to>
                                    </p:set>
                                    <p:animEffect transition="in" filter="wipe(left)">
                                      <p:cBhvr>
                                        <p:cTn id="7" dur="1000"/>
                                        <p:tgtEl>
                                          <p:spTgt spid="694322"/>
                                        </p:tgtEl>
                                      </p:cBhvr>
                                    </p:animEffect>
                                  </p:childTnLst>
                                </p:cTn>
                              </p:par>
                            </p:childTnLst>
                          </p:cTn>
                        </p:par>
                        <p:par>
                          <p:cTn id="8" fill="hold" nodeType="afterGroup">
                            <p:stCondLst>
                              <p:cond delay="1000"/>
                            </p:stCondLst>
                            <p:childTnLst>
                              <p:par>
                                <p:cTn id="9" presetID="1" presetClass="entr" presetSubtype="0" fill="hold" nodeType="afterEffect">
                                  <p:stCondLst>
                                    <p:cond delay="500"/>
                                  </p:stCondLst>
                                  <p:childTnLst>
                                    <p:set>
                                      <p:cBhvr>
                                        <p:cTn id="10" dur="1" fill="hold">
                                          <p:stCondLst>
                                            <p:cond delay="0"/>
                                          </p:stCondLst>
                                        </p:cTn>
                                        <p:tgtEl>
                                          <p:spTgt spid="694321"/>
                                        </p:tgtEl>
                                        <p:attrNameLst>
                                          <p:attrName>style.visibility</p:attrName>
                                        </p:attrNameLst>
                                      </p:cBhvr>
                                      <p:to>
                                        <p:strVal val="visible"/>
                                      </p:to>
                                    </p:set>
                                  </p:childTnLst>
                                </p:cTn>
                              </p:par>
                            </p:childTnLst>
                          </p:cTn>
                        </p:par>
                        <p:par>
                          <p:cTn id="11" fill="hold" nodeType="afterGroup">
                            <p:stCondLst>
                              <p:cond delay="1501"/>
                            </p:stCondLst>
                            <p:childTnLst>
                              <p:par>
                                <p:cTn id="12" presetID="22" presetClass="entr" presetSubtype="1" fill="hold" nodeType="afterEffect">
                                  <p:stCondLst>
                                    <p:cond delay="500"/>
                                  </p:stCondLst>
                                  <p:childTnLst>
                                    <p:set>
                                      <p:cBhvr>
                                        <p:cTn id="13" dur="1" fill="hold">
                                          <p:stCondLst>
                                            <p:cond delay="0"/>
                                          </p:stCondLst>
                                        </p:cTn>
                                        <p:tgtEl>
                                          <p:spTgt spid="694314"/>
                                        </p:tgtEl>
                                        <p:attrNameLst>
                                          <p:attrName>style.visibility</p:attrName>
                                        </p:attrNameLst>
                                      </p:cBhvr>
                                      <p:to>
                                        <p:strVal val="visible"/>
                                      </p:to>
                                    </p:set>
                                    <p:animEffect transition="in" filter="wipe(up)">
                                      <p:cBhvr>
                                        <p:cTn id="14" dur="2000"/>
                                        <p:tgtEl>
                                          <p:spTgt spid="694314"/>
                                        </p:tgtEl>
                                      </p:cBhvr>
                                    </p:animEffect>
                                  </p:childTnLst>
                                </p:cTn>
                              </p:par>
                            </p:childTnLst>
                          </p:cTn>
                        </p:par>
                        <p:par>
                          <p:cTn id="15" fill="hold" nodeType="afterGroup">
                            <p:stCondLst>
                              <p:cond delay="4001"/>
                            </p:stCondLst>
                            <p:childTnLst>
                              <p:par>
                                <p:cTn id="16" presetID="22" presetClass="entr" presetSubtype="2" fill="hold" nodeType="afterEffect">
                                  <p:stCondLst>
                                    <p:cond delay="500"/>
                                  </p:stCondLst>
                                  <p:childTnLst>
                                    <p:set>
                                      <p:cBhvr>
                                        <p:cTn id="17" dur="1" fill="hold">
                                          <p:stCondLst>
                                            <p:cond delay="0"/>
                                          </p:stCondLst>
                                        </p:cTn>
                                        <p:tgtEl>
                                          <p:spTgt spid="694317"/>
                                        </p:tgtEl>
                                        <p:attrNameLst>
                                          <p:attrName>style.visibility</p:attrName>
                                        </p:attrNameLst>
                                      </p:cBhvr>
                                      <p:to>
                                        <p:strVal val="visible"/>
                                      </p:to>
                                    </p:set>
                                    <p:animEffect transition="in" filter="wipe(right)">
                                      <p:cBhvr>
                                        <p:cTn id="18" dur="1000"/>
                                        <p:tgtEl>
                                          <p:spTgt spid="694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8929" name="Rectangle 2"/>
          <p:cNvSpPr>
            <a:spLocks noGrp="1" noChangeArrowheads="1"/>
          </p:cNvSpPr>
          <p:nvPr>
            <p:ph type="title"/>
          </p:nvPr>
        </p:nvSpPr>
        <p:spPr>
          <a:xfrm>
            <a:off x="495300" y="188913"/>
            <a:ext cx="9066213" cy="792162"/>
          </a:xfrm>
        </p:spPr>
        <p:txBody>
          <a:bodyPr/>
          <a:lstStyle/>
          <a:p>
            <a:pPr algn="ctr"/>
            <a:r>
              <a:rPr lang="zh-CN" altLang="en-US" dirty="0" smtClean="0">
                <a:solidFill>
                  <a:srgbClr val="FF0000"/>
                </a:solidFill>
                <a:ea typeface="黑体" panose="02010609060101010101" pitchFamily="49" charset="-122"/>
              </a:rPr>
              <a:t>通用网关接口 </a:t>
            </a:r>
            <a:r>
              <a:rPr lang="en-US" altLang="zh-CN" dirty="0" smtClean="0">
                <a:ea typeface="黑体" panose="02010609060101010101" pitchFamily="49" charset="-122"/>
              </a:rPr>
              <a:t>CGI</a:t>
            </a:r>
          </a:p>
        </p:txBody>
      </p:sp>
      <p:sp>
        <p:nvSpPr>
          <p:cNvPr id="696323" name="Rectangle 3"/>
          <p:cNvSpPr>
            <a:spLocks noGrp="1" noChangeArrowheads="1"/>
          </p:cNvSpPr>
          <p:nvPr>
            <p:ph idx="1"/>
          </p:nvPr>
        </p:nvSpPr>
        <p:spPr>
          <a:xfrm>
            <a:off x="495300" y="1196975"/>
            <a:ext cx="9066213" cy="4933950"/>
          </a:xfrm>
        </p:spPr>
        <p:txBody>
          <a:bodyPr/>
          <a:lstStyle/>
          <a:p>
            <a:r>
              <a:rPr lang="en-US" altLang="zh-CN" sz="3000" dirty="0" smtClean="0">
                <a:solidFill>
                  <a:srgbClr val="FF0000"/>
                </a:solidFill>
                <a:ea typeface="黑体" panose="02010609060101010101" pitchFamily="49" charset="-122"/>
              </a:rPr>
              <a:t>CGI (Common Gateway Interface) </a:t>
            </a:r>
            <a:r>
              <a:rPr lang="zh-CN" altLang="en-US" sz="3000" dirty="0" smtClean="0">
                <a:ea typeface="黑体" panose="02010609060101010101" pitchFamily="49" charset="-122"/>
              </a:rPr>
              <a:t>是一种标准，它定义了动态文档应如何创建，输入数据应如何提供给应用程序，以及输出结果应如何使用。</a:t>
            </a:r>
          </a:p>
          <a:p>
            <a:r>
              <a:rPr lang="zh-CN" altLang="en-US" sz="3000" dirty="0" smtClean="0">
                <a:ea typeface="黑体" panose="02010609060101010101" pitchFamily="49" charset="-122"/>
              </a:rPr>
              <a:t>万维网服务器与 </a:t>
            </a:r>
            <a:r>
              <a:rPr lang="en-US" altLang="zh-CN" sz="3000" dirty="0" smtClean="0">
                <a:ea typeface="黑体" panose="02010609060101010101" pitchFamily="49" charset="-122"/>
              </a:rPr>
              <a:t>CGI </a:t>
            </a:r>
            <a:r>
              <a:rPr lang="zh-CN" altLang="en-US" sz="3000" dirty="0" smtClean="0">
                <a:ea typeface="黑体" panose="02010609060101010101" pitchFamily="49" charset="-122"/>
              </a:rPr>
              <a:t>的通信遵循 </a:t>
            </a:r>
            <a:r>
              <a:rPr lang="en-US" altLang="zh-CN" sz="3000" dirty="0" smtClean="0">
                <a:ea typeface="黑体" panose="02010609060101010101" pitchFamily="49" charset="-122"/>
              </a:rPr>
              <a:t>CGI </a:t>
            </a:r>
            <a:r>
              <a:rPr lang="zh-CN" altLang="en-US" sz="3000" dirty="0" smtClean="0">
                <a:ea typeface="黑体" panose="02010609060101010101" pitchFamily="49" charset="-122"/>
              </a:rPr>
              <a:t>标准。</a:t>
            </a:r>
          </a:p>
          <a:p>
            <a:r>
              <a:rPr lang="zh-CN" altLang="en-US" sz="3000" dirty="0" smtClean="0">
                <a:ea typeface="黑体" panose="02010609060101010101" pitchFamily="49" charset="-122"/>
              </a:rPr>
              <a:t>“</a:t>
            </a:r>
            <a:r>
              <a:rPr lang="zh-CN" altLang="en-US" sz="3000" dirty="0" smtClean="0">
                <a:solidFill>
                  <a:srgbClr val="FF0000"/>
                </a:solidFill>
                <a:ea typeface="黑体" panose="02010609060101010101" pitchFamily="49" charset="-122"/>
              </a:rPr>
              <a:t>通用</a:t>
            </a:r>
            <a:r>
              <a:rPr lang="zh-CN" altLang="en-US" sz="3000" dirty="0" smtClean="0">
                <a:ea typeface="黑体" panose="02010609060101010101" pitchFamily="49" charset="-122"/>
              </a:rPr>
              <a:t>”：</a:t>
            </a:r>
            <a:r>
              <a:rPr lang="en-US" altLang="zh-CN" sz="3000" dirty="0" smtClean="0">
                <a:ea typeface="黑体" panose="02010609060101010101" pitchFamily="49" charset="-122"/>
              </a:rPr>
              <a:t>CGI </a:t>
            </a:r>
            <a:r>
              <a:rPr lang="zh-CN" altLang="en-US" sz="3000" dirty="0" smtClean="0">
                <a:ea typeface="黑体" panose="02010609060101010101" pitchFamily="49" charset="-122"/>
              </a:rPr>
              <a:t>标准所定义的规则对其他任何语言都是通用的。</a:t>
            </a:r>
          </a:p>
          <a:p>
            <a:r>
              <a:rPr lang="zh-CN" altLang="en-US" sz="3000" dirty="0" smtClean="0">
                <a:ea typeface="黑体" panose="02010609060101010101" pitchFamily="49" charset="-122"/>
              </a:rPr>
              <a:t>“</a:t>
            </a:r>
            <a:r>
              <a:rPr lang="zh-CN" altLang="en-US" sz="3000" dirty="0" smtClean="0">
                <a:solidFill>
                  <a:srgbClr val="FF0000"/>
                </a:solidFill>
                <a:ea typeface="黑体" panose="02010609060101010101" pitchFamily="49" charset="-122"/>
              </a:rPr>
              <a:t>网关</a:t>
            </a:r>
            <a:r>
              <a:rPr lang="zh-CN" altLang="en-US" sz="3000" dirty="0" smtClean="0">
                <a:ea typeface="黑体" panose="02010609060101010101" pitchFamily="49" charset="-122"/>
              </a:rPr>
              <a:t>”：</a:t>
            </a:r>
            <a:r>
              <a:rPr lang="en-US" altLang="zh-CN" sz="3000" dirty="0" smtClean="0">
                <a:ea typeface="黑体" panose="02010609060101010101" pitchFamily="49" charset="-122"/>
              </a:rPr>
              <a:t>CGI </a:t>
            </a:r>
            <a:r>
              <a:rPr lang="zh-CN" altLang="en-US" sz="3000" dirty="0" smtClean="0">
                <a:ea typeface="黑体" panose="02010609060101010101" pitchFamily="49" charset="-122"/>
              </a:rPr>
              <a:t>程序的作用像网关。</a:t>
            </a:r>
          </a:p>
          <a:p>
            <a:r>
              <a:rPr lang="zh-CN" altLang="en-US" sz="3000" dirty="0" smtClean="0">
                <a:ea typeface="黑体" panose="02010609060101010101" pitchFamily="49" charset="-122"/>
              </a:rPr>
              <a:t>“</a:t>
            </a:r>
            <a:r>
              <a:rPr lang="zh-CN" altLang="en-US" sz="3000" dirty="0" smtClean="0">
                <a:solidFill>
                  <a:srgbClr val="FF0000"/>
                </a:solidFill>
                <a:ea typeface="黑体" panose="02010609060101010101" pitchFamily="49" charset="-122"/>
              </a:rPr>
              <a:t>接口</a:t>
            </a:r>
            <a:r>
              <a:rPr lang="zh-CN" altLang="en-US" sz="3000" dirty="0" smtClean="0">
                <a:ea typeface="黑体" panose="02010609060101010101" pitchFamily="49" charset="-122"/>
              </a:rPr>
              <a:t>”：有一些已定义好的变量和调用等可供其他 </a:t>
            </a:r>
            <a:r>
              <a:rPr lang="en-US" altLang="zh-CN" sz="3000" dirty="0" smtClean="0">
                <a:ea typeface="黑体" panose="02010609060101010101" pitchFamily="49" charset="-122"/>
              </a:rPr>
              <a:t>CGI </a:t>
            </a:r>
            <a:r>
              <a:rPr lang="zh-CN" altLang="en-US" sz="3000" dirty="0" smtClean="0">
                <a:ea typeface="黑体" panose="02010609060101010101" pitchFamily="49" charset="-122"/>
              </a:rPr>
              <a:t>程序使用。  </a:t>
            </a:r>
          </a:p>
        </p:txBody>
      </p:sp>
      <p:sp>
        <p:nvSpPr>
          <p:cNvPr id="17889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8B2B04-69F9-49E6-B5C5-93CCE089001D}" type="slidenum">
              <a:rPr lang="zh-CN" altLang="en-US" smtClean="0"/>
              <a:pPr eaLnBrk="1" hangingPunct="1"/>
              <a:t>69</a:t>
            </a:fld>
            <a:endParaRPr lang="en-US" altLang="zh-CN" smtClean="0"/>
          </a:p>
        </p:txBody>
      </p:sp>
      <p:sp>
        <p:nvSpPr>
          <p:cNvPr id="17889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632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632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963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097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CGI </a:t>
            </a:r>
            <a:r>
              <a:rPr lang="zh-CN" altLang="en-US" smtClean="0">
                <a:ea typeface="黑体" panose="02010609060101010101" pitchFamily="49" charset="-122"/>
              </a:rPr>
              <a:t>程序</a:t>
            </a:r>
          </a:p>
        </p:txBody>
      </p:sp>
      <p:sp>
        <p:nvSpPr>
          <p:cNvPr id="697347"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CGI </a:t>
            </a:r>
            <a:r>
              <a:rPr lang="zh-CN" altLang="en-US" dirty="0" smtClean="0">
                <a:ea typeface="黑体" panose="02010609060101010101" pitchFamily="49" charset="-122"/>
              </a:rPr>
              <a:t>程序的正式名字是 </a:t>
            </a:r>
            <a:r>
              <a:rPr lang="en-US" altLang="zh-CN" dirty="0" smtClean="0">
                <a:ea typeface="黑体" panose="02010609060101010101" pitchFamily="49" charset="-122"/>
              </a:rPr>
              <a:t>CGI</a:t>
            </a:r>
            <a:r>
              <a:rPr lang="en-US" altLang="zh-CN" dirty="0" smtClean="0">
                <a:solidFill>
                  <a:schemeClr val="hlink"/>
                </a:solidFill>
                <a:ea typeface="黑体" panose="02010609060101010101" pitchFamily="49" charset="-122"/>
              </a:rPr>
              <a:t> </a:t>
            </a:r>
            <a:r>
              <a:rPr lang="zh-CN" altLang="en-US" dirty="0" smtClean="0">
                <a:solidFill>
                  <a:srgbClr val="FF0000"/>
                </a:solidFill>
                <a:ea typeface="黑体" panose="02010609060101010101" pitchFamily="49" charset="-122"/>
              </a:rPr>
              <a:t>脚本 </a:t>
            </a:r>
            <a:r>
              <a:rPr lang="en-US" altLang="zh-CN" dirty="0" smtClean="0">
                <a:ea typeface="黑体" panose="02010609060101010101" pitchFamily="49" charset="-122"/>
              </a:rPr>
              <a:t>(script)</a:t>
            </a:r>
            <a:r>
              <a:rPr lang="zh-CN" altLang="en-US" dirty="0" smtClean="0">
                <a:ea typeface="黑体" panose="02010609060101010101" pitchFamily="49" charset="-122"/>
              </a:rPr>
              <a:t>。</a:t>
            </a:r>
          </a:p>
          <a:p>
            <a:r>
              <a:rPr lang="zh-CN" altLang="en-US" dirty="0" smtClean="0">
                <a:ea typeface="黑体" panose="02010609060101010101" pitchFamily="49" charset="-122"/>
              </a:rPr>
              <a:t>“</a:t>
            </a:r>
            <a:r>
              <a:rPr lang="zh-CN" altLang="en-US" dirty="0" smtClean="0">
                <a:solidFill>
                  <a:srgbClr val="FF0000"/>
                </a:solidFill>
                <a:ea typeface="黑体" panose="02010609060101010101" pitchFamily="49" charset="-122"/>
              </a:rPr>
              <a:t>脚本</a:t>
            </a:r>
            <a:r>
              <a:rPr lang="zh-CN" altLang="en-US" dirty="0" smtClean="0">
                <a:ea typeface="黑体" panose="02010609060101010101" pitchFamily="49" charset="-122"/>
              </a:rPr>
              <a:t>”指的是一个程序，它</a:t>
            </a:r>
            <a:r>
              <a:rPr lang="zh-CN" altLang="en-US" dirty="0" smtClean="0">
                <a:solidFill>
                  <a:srgbClr val="FF0000"/>
                </a:solidFill>
                <a:ea typeface="黑体" panose="02010609060101010101" pitchFamily="49" charset="-122"/>
              </a:rPr>
              <a:t>被另一个程序（解释程序）</a:t>
            </a:r>
            <a:r>
              <a:rPr lang="zh-CN" altLang="en-US" dirty="0" smtClean="0">
                <a:ea typeface="黑体" panose="02010609060101010101" pitchFamily="49" charset="-122"/>
              </a:rPr>
              <a:t>而不是计算机的处理机来解释或执行。</a:t>
            </a:r>
          </a:p>
          <a:p>
            <a:r>
              <a:rPr lang="zh-CN" altLang="en-US" dirty="0" smtClean="0">
                <a:ea typeface="黑体" panose="02010609060101010101" pitchFamily="49" charset="-122"/>
              </a:rPr>
              <a:t>脚本运行起来要比一般的编译程序要慢，因为它的每一条指令先要被另一个程序来处理（这就要一些附加的指令），而不是直接被指令处理器来处理。  </a:t>
            </a:r>
          </a:p>
        </p:txBody>
      </p:sp>
      <p:sp>
        <p:nvSpPr>
          <p:cNvPr id="17909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F0BA0F4-48EE-4043-B991-05E2895D0BA6}" type="slidenum">
              <a:rPr lang="zh-CN" altLang="en-US" smtClean="0"/>
              <a:pPr eaLnBrk="1" hangingPunct="1"/>
              <a:t>70</a:t>
            </a:fld>
            <a:endParaRPr lang="en-US" altLang="zh-CN" smtClean="0"/>
          </a:p>
        </p:txBody>
      </p:sp>
      <p:sp>
        <p:nvSpPr>
          <p:cNvPr id="17909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73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73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302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 </a:t>
            </a:r>
            <a:r>
              <a:rPr lang="zh-CN" altLang="en-US" smtClean="0">
                <a:ea typeface="黑体" panose="02010609060101010101" pitchFamily="49" charset="-122"/>
              </a:rPr>
              <a:t>活动万维网文档</a:t>
            </a:r>
          </a:p>
        </p:txBody>
      </p:sp>
      <p:sp>
        <p:nvSpPr>
          <p:cNvPr id="702467" name="Rectangle 3"/>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活动文档 </a:t>
            </a:r>
            <a:r>
              <a:rPr lang="en-US" altLang="zh-CN" dirty="0" smtClean="0">
                <a:ea typeface="黑体" panose="02010609060101010101" pitchFamily="49" charset="-122"/>
              </a:rPr>
              <a:t>(active document) </a:t>
            </a:r>
            <a:r>
              <a:rPr lang="zh-CN" altLang="en-US" dirty="0" smtClean="0">
                <a:ea typeface="黑体" panose="02010609060101010101" pitchFamily="49" charset="-122"/>
              </a:rPr>
              <a:t>技术把所有的工作都</a:t>
            </a:r>
            <a:r>
              <a:rPr lang="zh-CN" altLang="en-US" dirty="0" smtClean="0">
                <a:solidFill>
                  <a:srgbClr val="FF0000"/>
                </a:solidFill>
                <a:ea typeface="黑体" panose="02010609060101010101" pitchFamily="49" charset="-122"/>
              </a:rPr>
              <a:t>转移给浏览器端。</a:t>
            </a:r>
          </a:p>
          <a:p>
            <a:r>
              <a:rPr lang="zh-CN" altLang="en-US" dirty="0" smtClean="0">
                <a:ea typeface="黑体" panose="02010609060101010101" pitchFamily="49" charset="-122"/>
              </a:rPr>
              <a:t>每当浏览器请求一个活动文档时，服务器就返回一段程序副本在浏览器端运行。</a:t>
            </a:r>
          </a:p>
          <a:p>
            <a:r>
              <a:rPr lang="zh-CN" altLang="en-US" dirty="0" smtClean="0">
                <a:ea typeface="黑体" panose="02010609060101010101" pitchFamily="49" charset="-122"/>
              </a:rPr>
              <a:t>活动文档程序可与用户直接交互，并可连续地改变屏幕的显示。</a:t>
            </a:r>
          </a:p>
          <a:p>
            <a:r>
              <a:rPr lang="zh-CN" altLang="en-US" dirty="0" smtClean="0">
                <a:ea typeface="黑体" panose="02010609060101010101" pitchFamily="49" charset="-122"/>
              </a:rPr>
              <a:t>由于活动文档技术不需要服务器的连续更新传送，对网络带宽的要求也不会太高。 </a:t>
            </a:r>
          </a:p>
        </p:txBody>
      </p:sp>
      <p:sp>
        <p:nvSpPr>
          <p:cNvPr id="17930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E564960-7D4C-42C5-B80A-24B638D894D6}" type="slidenum">
              <a:rPr lang="zh-CN" altLang="en-US" smtClean="0"/>
              <a:pPr eaLnBrk="1" hangingPunct="1"/>
              <a:t>71</a:t>
            </a:fld>
            <a:endParaRPr lang="en-US" altLang="zh-CN" smtClean="0"/>
          </a:p>
        </p:txBody>
      </p:sp>
      <p:sp>
        <p:nvSpPr>
          <p:cNvPr id="17930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24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024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024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4586" name="Group 74"/>
          <p:cNvGrpSpPr>
            <a:grpSpLocks/>
          </p:cNvGrpSpPr>
          <p:nvPr/>
        </p:nvGrpSpPr>
        <p:grpSpPr bwMode="auto">
          <a:xfrm>
            <a:off x="2268538" y="4005263"/>
            <a:ext cx="5845175" cy="1724025"/>
            <a:chOff x="1319" y="2704"/>
            <a:chExt cx="3399" cy="1086"/>
          </a:xfrm>
        </p:grpSpPr>
        <p:sp>
          <p:nvSpPr>
            <p:cNvPr id="1795074" name="Line 27"/>
            <p:cNvSpPr>
              <a:spLocks noChangeShapeType="1"/>
            </p:cNvSpPr>
            <p:nvPr/>
          </p:nvSpPr>
          <p:spPr bwMode="auto">
            <a:xfrm flipH="1" flipV="1">
              <a:off x="1319" y="3253"/>
              <a:ext cx="2934" cy="9"/>
            </a:xfrm>
            <a:prstGeom prst="line">
              <a:avLst/>
            </a:prstGeom>
            <a:noFill/>
            <a:ln w="28575">
              <a:solidFill>
                <a:srgbClr val="333399"/>
              </a:solidFill>
              <a:prstDash val="dash"/>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95075" name="Text Box 29"/>
            <p:cNvSpPr txBox="1">
              <a:spLocks noChangeArrowheads="1"/>
            </p:cNvSpPr>
            <p:nvPr/>
          </p:nvSpPr>
          <p:spPr bwMode="auto">
            <a:xfrm>
              <a:off x="3787" y="2881"/>
              <a:ext cx="93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响应程序</a:t>
              </a:r>
            </a:p>
          </p:txBody>
        </p:sp>
        <p:grpSp>
          <p:nvGrpSpPr>
            <p:cNvPr id="1795076" name="Group 56"/>
            <p:cNvGrpSpPr>
              <a:grpSpLocks/>
            </p:cNvGrpSpPr>
            <p:nvPr/>
          </p:nvGrpSpPr>
          <p:grpSpPr bwMode="auto">
            <a:xfrm flipH="1">
              <a:off x="1934" y="3121"/>
              <a:ext cx="1445" cy="270"/>
              <a:chOff x="1152" y="1824"/>
              <a:chExt cx="1296" cy="240"/>
            </a:xfrm>
          </p:grpSpPr>
          <p:sp>
            <p:nvSpPr>
              <p:cNvPr id="1795077" name="AutoShape 57"/>
              <p:cNvSpPr>
                <a:spLocks noChangeArrowheads="1"/>
              </p:cNvSpPr>
              <p:nvPr/>
            </p:nvSpPr>
            <p:spPr bwMode="auto">
              <a:xfrm>
                <a:off x="2160" y="1872"/>
                <a:ext cx="288" cy="144"/>
              </a:xfrm>
              <a:prstGeom prst="rightArrow">
                <a:avLst>
                  <a:gd name="adj1" fmla="val 50000"/>
                  <a:gd name="adj2" fmla="val 50000"/>
                </a:avLst>
              </a:prstGeom>
              <a:solidFill>
                <a:srgbClr val="FFCCFF"/>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795078" name="Rectangle 58"/>
              <p:cNvSpPr>
                <a:spLocks noChangeArrowheads="1"/>
              </p:cNvSpPr>
              <p:nvPr/>
            </p:nvSpPr>
            <p:spPr bwMode="auto">
              <a:xfrm>
                <a:off x="1152" y="1824"/>
                <a:ext cx="1008" cy="240"/>
              </a:xfrm>
              <a:prstGeom prst="rect">
                <a:avLst/>
              </a:prstGeom>
              <a:solidFill>
                <a:srgbClr val="FFC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HTTP </a:t>
                </a:r>
                <a:r>
                  <a:rPr lang="zh-CN" altLang="en-US" sz="2000" b="1">
                    <a:solidFill>
                      <a:srgbClr val="000099"/>
                    </a:solidFill>
                    <a:ea typeface="黑体" panose="02010609060101010101" pitchFamily="49" charset="-122"/>
                  </a:rPr>
                  <a:t>响应报文</a:t>
                </a:r>
              </a:p>
            </p:txBody>
          </p:sp>
        </p:grpSp>
        <p:grpSp>
          <p:nvGrpSpPr>
            <p:cNvPr id="1795079" name="Group 63"/>
            <p:cNvGrpSpPr>
              <a:grpSpLocks/>
            </p:cNvGrpSpPr>
            <p:nvPr/>
          </p:nvGrpSpPr>
          <p:grpSpPr bwMode="auto">
            <a:xfrm>
              <a:off x="3243" y="2704"/>
              <a:ext cx="660" cy="1086"/>
              <a:chOff x="975" y="3203"/>
              <a:chExt cx="660" cy="1086"/>
            </a:xfrm>
          </p:grpSpPr>
          <p:sp>
            <p:nvSpPr>
              <p:cNvPr id="1795080" name="Rectangle 64"/>
              <p:cNvSpPr>
                <a:spLocks noChangeArrowheads="1"/>
              </p:cNvSpPr>
              <p:nvPr/>
            </p:nvSpPr>
            <p:spPr bwMode="auto">
              <a:xfrm>
                <a:off x="1123" y="3806"/>
                <a:ext cx="401" cy="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795081" name="Text Box 65"/>
              <p:cNvSpPr txBox="1">
                <a:spLocks noChangeArrowheads="1"/>
              </p:cNvSpPr>
              <p:nvPr/>
            </p:nvSpPr>
            <p:spPr bwMode="auto">
              <a:xfrm>
                <a:off x="975" y="3203"/>
                <a:ext cx="660" cy="1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0600" b="1">
                    <a:solidFill>
                      <a:srgbClr val="000099"/>
                    </a:solidFill>
                    <a:ea typeface="黑体" panose="02010609060101010101" pitchFamily="49" charset="-122"/>
                    <a:sym typeface="Wingdings" panose="05000000000000000000" pitchFamily="2" charset="2"/>
                  </a:rPr>
                  <a:t></a:t>
                </a:r>
                <a:endParaRPr lang="en-US" altLang="zh-CN" sz="10600" b="1">
                  <a:solidFill>
                    <a:srgbClr val="000099"/>
                  </a:solidFill>
                  <a:ea typeface="黑体" panose="02010609060101010101" pitchFamily="49" charset="-122"/>
                </a:endParaRPr>
              </a:p>
            </p:txBody>
          </p:sp>
          <p:grpSp>
            <p:nvGrpSpPr>
              <p:cNvPr id="1795082" name="Group 66"/>
              <p:cNvGrpSpPr>
                <a:grpSpLocks/>
              </p:cNvGrpSpPr>
              <p:nvPr/>
            </p:nvGrpSpPr>
            <p:grpSpPr bwMode="auto">
              <a:xfrm>
                <a:off x="1111" y="3612"/>
                <a:ext cx="406" cy="252"/>
                <a:chOff x="2154" y="3884"/>
                <a:chExt cx="406" cy="252"/>
              </a:xfrm>
            </p:grpSpPr>
            <p:sp>
              <p:nvSpPr>
                <p:cNvPr id="1795083" name="Rectangle 67"/>
                <p:cNvSpPr>
                  <a:spLocks noChangeArrowheads="1"/>
                </p:cNvSpPr>
                <p:nvPr/>
              </p:nvSpPr>
              <p:spPr bwMode="auto">
                <a:xfrm>
                  <a:off x="2175" y="3927"/>
                  <a:ext cx="375" cy="1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795084" name="Text Box 68"/>
                <p:cNvSpPr txBox="1">
                  <a:spLocks noChangeArrowheads="1"/>
                </p:cNvSpPr>
                <p:nvPr/>
              </p:nvSpPr>
              <p:spPr bwMode="auto">
                <a:xfrm>
                  <a:off x="2154" y="3884"/>
                  <a:ext cx="4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程序</a:t>
                  </a:r>
                </a:p>
              </p:txBody>
            </p:sp>
          </p:grpSp>
        </p:grpSp>
      </p:grpSp>
      <p:sp>
        <p:nvSpPr>
          <p:cNvPr id="1795085" name="Rectangle 2"/>
          <p:cNvSpPr>
            <a:spLocks noGrp="1" noChangeArrowheads="1"/>
          </p:cNvSpPr>
          <p:nvPr>
            <p:ph type="title"/>
          </p:nvPr>
        </p:nvSpPr>
        <p:spPr/>
        <p:txBody>
          <a:bodyPr/>
          <a:lstStyle/>
          <a:p>
            <a:pPr algn="ctr"/>
            <a:r>
              <a:rPr lang="zh-CN" altLang="zh-CN" smtClean="0">
                <a:ea typeface="黑体" panose="02010609060101010101" pitchFamily="49" charset="-122"/>
              </a:rPr>
              <a:t>活动文档在客户端创建 </a:t>
            </a:r>
          </a:p>
        </p:txBody>
      </p:sp>
      <p:pic>
        <p:nvPicPr>
          <p:cNvPr id="1795086"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7038" y="1804988"/>
            <a:ext cx="1577975" cy="215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95087" name="AutoShape 5"/>
          <p:cNvSpPr>
            <a:spLocks noChangeArrowheads="1"/>
          </p:cNvSpPr>
          <p:nvPr/>
        </p:nvSpPr>
        <p:spPr bwMode="auto">
          <a:xfrm>
            <a:off x="8524875" y="3005138"/>
            <a:ext cx="752475" cy="385762"/>
          </a:xfrm>
          <a:prstGeom prst="can">
            <a:avLst>
              <a:gd name="adj" fmla="val 39583"/>
            </a:avLst>
          </a:prstGeom>
          <a:gradFill rotWithShape="1">
            <a:gsLst>
              <a:gs pos="0">
                <a:srgbClr val="666666"/>
              </a:gs>
              <a:gs pos="50000">
                <a:srgbClr val="DDDDDD"/>
              </a:gs>
              <a:gs pos="100000">
                <a:srgbClr val="666666"/>
              </a:gs>
            </a:gsLst>
            <a:lin ang="0" scaled="1"/>
          </a:gradFill>
          <a:ln w="9525">
            <a:solidFill>
              <a:schemeClr val="tx1"/>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795088" name="Rectangle 6"/>
          <p:cNvSpPr>
            <a:spLocks noChangeArrowheads="1"/>
          </p:cNvSpPr>
          <p:nvPr/>
        </p:nvSpPr>
        <p:spPr bwMode="auto">
          <a:xfrm>
            <a:off x="6697663" y="1490663"/>
            <a:ext cx="1720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r>
              <a:rPr lang="zh-CN" altLang="en-US" sz="2000" b="1">
                <a:solidFill>
                  <a:srgbClr val="000099"/>
                </a:solidFill>
                <a:ea typeface="黑体" panose="02010609060101010101" pitchFamily="49" charset="-122"/>
              </a:rPr>
              <a:t>万维网服务器</a:t>
            </a:r>
          </a:p>
        </p:txBody>
      </p:sp>
      <p:sp>
        <p:nvSpPr>
          <p:cNvPr id="1795089" name="Oval 7"/>
          <p:cNvSpPr>
            <a:spLocks noChangeArrowheads="1"/>
          </p:cNvSpPr>
          <p:nvPr/>
        </p:nvSpPr>
        <p:spPr bwMode="auto">
          <a:xfrm>
            <a:off x="6875463" y="2833688"/>
            <a:ext cx="454025" cy="188912"/>
          </a:xfrm>
          <a:prstGeom prst="ellipse">
            <a:avLst/>
          </a:prstGeom>
          <a:solidFill>
            <a:srgbClr val="66FF66"/>
          </a:solidFill>
          <a:ln w="9525">
            <a:solidFill>
              <a:schemeClr val="tx1"/>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795090" name="Rectangle 8"/>
          <p:cNvSpPr>
            <a:spLocks noChangeArrowheads="1"/>
          </p:cNvSpPr>
          <p:nvPr/>
        </p:nvSpPr>
        <p:spPr bwMode="auto">
          <a:xfrm>
            <a:off x="3268663" y="2132013"/>
            <a:ext cx="9525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lnSpc>
                <a:spcPct val="90000"/>
              </a:lnSpc>
            </a:pPr>
            <a:r>
              <a:rPr lang="zh-CN" altLang="en-US" sz="2000" b="1">
                <a:solidFill>
                  <a:srgbClr val="000099"/>
                </a:solidFill>
                <a:ea typeface="黑体" panose="02010609060101010101" pitchFamily="49" charset="-122"/>
              </a:rPr>
              <a:t>浏览器</a:t>
            </a:r>
          </a:p>
          <a:p>
            <a:pPr eaLnBrk="0" hangingPunct="0">
              <a:lnSpc>
                <a:spcPct val="90000"/>
              </a:lnSpc>
            </a:pPr>
            <a:r>
              <a:rPr lang="zh-CN" altLang="en-US" sz="2000" b="1">
                <a:solidFill>
                  <a:srgbClr val="000099"/>
                </a:solidFill>
                <a:ea typeface="黑体" panose="02010609060101010101" pitchFamily="49" charset="-122"/>
              </a:rPr>
              <a:t> 程序</a:t>
            </a:r>
          </a:p>
        </p:txBody>
      </p:sp>
      <p:sp>
        <p:nvSpPr>
          <p:cNvPr id="1795091" name="Rectangle 9"/>
          <p:cNvSpPr>
            <a:spLocks noChangeArrowheads="1"/>
          </p:cNvSpPr>
          <p:nvPr/>
        </p:nvSpPr>
        <p:spPr bwMode="auto">
          <a:xfrm>
            <a:off x="1600200" y="1762125"/>
            <a:ext cx="1463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r>
              <a:rPr lang="zh-CN" altLang="en-US" sz="2000" b="1">
                <a:solidFill>
                  <a:srgbClr val="000099"/>
                </a:solidFill>
                <a:ea typeface="黑体" panose="02010609060101010101" pitchFamily="49" charset="-122"/>
              </a:rPr>
              <a:t>万维网客户</a:t>
            </a:r>
          </a:p>
        </p:txBody>
      </p:sp>
      <p:sp>
        <p:nvSpPr>
          <p:cNvPr id="1795092" name="Line 10"/>
          <p:cNvSpPr>
            <a:spLocks noChangeShapeType="1"/>
          </p:cNvSpPr>
          <p:nvPr/>
        </p:nvSpPr>
        <p:spPr bwMode="auto">
          <a:xfrm>
            <a:off x="6183313" y="2638425"/>
            <a:ext cx="833437" cy="287338"/>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795093" name="Rectangle 11"/>
          <p:cNvSpPr>
            <a:spLocks noChangeArrowheads="1"/>
          </p:cNvSpPr>
          <p:nvPr/>
        </p:nvSpPr>
        <p:spPr bwMode="auto">
          <a:xfrm>
            <a:off x="5348288" y="2317750"/>
            <a:ext cx="9525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lnSpc>
                <a:spcPct val="90000"/>
              </a:lnSpc>
            </a:pPr>
            <a:r>
              <a:rPr lang="zh-CN" altLang="en-US" sz="2000" b="1">
                <a:solidFill>
                  <a:srgbClr val="000099"/>
                </a:solidFill>
                <a:ea typeface="黑体" panose="02010609060101010101" pitchFamily="49" charset="-122"/>
              </a:rPr>
              <a:t>服务器</a:t>
            </a:r>
          </a:p>
          <a:p>
            <a:pPr eaLnBrk="0" hangingPunct="0">
              <a:lnSpc>
                <a:spcPct val="90000"/>
              </a:lnSpc>
            </a:pPr>
            <a:r>
              <a:rPr lang="zh-CN" altLang="en-US" sz="2000" b="1">
                <a:solidFill>
                  <a:srgbClr val="000099"/>
                </a:solidFill>
                <a:ea typeface="黑体" panose="02010609060101010101" pitchFamily="49" charset="-122"/>
              </a:rPr>
              <a:t> 程序</a:t>
            </a:r>
          </a:p>
        </p:txBody>
      </p:sp>
      <p:sp>
        <p:nvSpPr>
          <p:cNvPr id="1795094" name="Rectangle 12"/>
          <p:cNvSpPr>
            <a:spLocks noChangeArrowheads="1"/>
          </p:cNvSpPr>
          <p:nvPr/>
        </p:nvSpPr>
        <p:spPr bwMode="auto">
          <a:xfrm>
            <a:off x="4392613" y="2566988"/>
            <a:ext cx="854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eaLnBrk="0" hangingPunct="0"/>
            <a:r>
              <a:rPr lang="en-US" altLang="zh-CN" sz="2000" b="1">
                <a:solidFill>
                  <a:srgbClr val="000099"/>
                </a:solidFill>
                <a:ea typeface="黑体" panose="02010609060101010101" pitchFamily="49" charset="-122"/>
              </a:rPr>
              <a:t>HTTP</a:t>
            </a:r>
          </a:p>
        </p:txBody>
      </p:sp>
      <p:sp>
        <p:nvSpPr>
          <p:cNvPr id="1795095" name="Line 13"/>
          <p:cNvSpPr>
            <a:spLocks noChangeShapeType="1"/>
          </p:cNvSpPr>
          <p:nvPr/>
        </p:nvSpPr>
        <p:spPr bwMode="auto">
          <a:xfrm>
            <a:off x="7237413" y="3005138"/>
            <a:ext cx="1381125" cy="25717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pic>
        <p:nvPicPr>
          <p:cNvPr id="1795096" name="Picture 1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9750" y="2147888"/>
            <a:ext cx="1103313"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95097" name="Oval 16"/>
          <p:cNvSpPr>
            <a:spLocks noChangeArrowheads="1"/>
          </p:cNvSpPr>
          <p:nvPr/>
        </p:nvSpPr>
        <p:spPr bwMode="auto">
          <a:xfrm>
            <a:off x="2282825" y="2844800"/>
            <a:ext cx="458788" cy="177800"/>
          </a:xfrm>
          <a:prstGeom prst="ellipse">
            <a:avLst/>
          </a:prstGeom>
          <a:solidFill>
            <a:srgbClr val="66FF66"/>
          </a:solidFill>
          <a:ln w="9525">
            <a:solidFill>
              <a:schemeClr val="tx1"/>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795098" name="Line 17"/>
          <p:cNvSpPr>
            <a:spLocks noChangeShapeType="1"/>
          </p:cNvSpPr>
          <p:nvPr/>
        </p:nvSpPr>
        <p:spPr bwMode="auto">
          <a:xfrm flipH="1">
            <a:off x="2544763" y="2566988"/>
            <a:ext cx="922337" cy="352425"/>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795099" name="Freeform 18" descr="横虚线"/>
          <p:cNvSpPr>
            <a:spLocks noChangeArrowheads="1"/>
          </p:cNvSpPr>
          <p:nvPr/>
        </p:nvSpPr>
        <p:spPr bwMode="auto">
          <a:xfrm>
            <a:off x="2054225" y="2317750"/>
            <a:ext cx="582613" cy="330200"/>
          </a:xfrm>
          <a:custGeom>
            <a:avLst/>
            <a:gdLst>
              <a:gd name="T0" fmla="*/ 17 w 463"/>
              <a:gd name="T1" fmla="*/ 0 h 322"/>
              <a:gd name="T2" fmla="*/ 462 w 463"/>
              <a:gd name="T3" fmla="*/ 0 h 322"/>
              <a:gd name="T4" fmla="*/ 443 w 463"/>
              <a:gd name="T5" fmla="*/ 321 h 322"/>
              <a:gd name="T6" fmla="*/ 0 w 463"/>
              <a:gd name="T7" fmla="*/ 304 h 322"/>
              <a:gd name="T8" fmla="*/ 17 w 463"/>
              <a:gd name="T9" fmla="*/ 0 h 322"/>
            </a:gdLst>
            <a:ahLst/>
            <a:cxnLst>
              <a:cxn ang="0">
                <a:pos x="T0" y="T1"/>
              </a:cxn>
              <a:cxn ang="0">
                <a:pos x="T2" y="T3"/>
              </a:cxn>
              <a:cxn ang="0">
                <a:pos x="T4" y="T5"/>
              </a:cxn>
              <a:cxn ang="0">
                <a:pos x="T6" y="T7"/>
              </a:cxn>
              <a:cxn ang="0">
                <a:pos x="T8" y="T9"/>
              </a:cxn>
            </a:cxnLst>
            <a:rect l="0" t="0" r="r" b="b"/>
            <a:pathLst>
              <a:path w="463" h="322">
                <a:moveTo>
                  <a:pt x="17" y="0"/>
                </a:moveTo>
                <a:lnTo>
                  <a:pt x="462" y="0"/>
                </a:lnTo>
                <a:lnTo>
                  <a:pt x="443" y="321"/>
                </a:lnTo>
                <a:lnTo>
                  <a:pt x="0" y="304"/>
                </a:lnTo>
                <a:lnTo>
                  <a:pt x="17" y="0"/>
                </a:lnTo>
              </a:path>
            </a:pathLst>
          </a:custGeom>
          <a:pattFill prst="dashHorz">
            <a:fgClr>
              <a:schemeClr val="bg2"/>
            </a:fgClr>
            <a:bgClr>
              <a:schemeClr val="bg1"/>
            </a:bgClr>
          </a:patt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704585" name="Group 73"/>
          <p:cNvGrpSpPr>
            <a:grpSpLocks/>
          </p:cNvGrpSpPr>
          <p:nvPr/>
        </p:nvGrpSpPr>
        <p:grpSpPr bwMode="auto">
          <a:xfrm>
            <a:off x="2222500" y="3559175"/>
            <a:ext cx="5106988" cy="1589088"/>
            <a:chOff x="1292" y="2423"/>
            <a:chExt cx="2970" cy="1001"/>
          </a:xfrm>
        </p:grpSpPr>
        <p:sp>
          <p:nvSpPr>
            <p:cNvPr id="1795101" name="Line 19"/>
            <p:cNvSpPr>
              <a:spLocks noChangeShapeType="1"/>
            </p:cNvSpPr>
            <p:nvPr/>
          </p:nvSpPr>
          <p:spPr bwMode="auto">
            <a:xfrm flipV="1">
              <a:off x="1328" y="2749"/>
              <a:ext cx="2934" cy="9"/>
            </a:xfrm>
            <a:prstGeom prst="line">
              <a:avLst/>
            </a:prstGeom>
            <a:noFill/>
            <a:ln w="28575">
              <a:solidFill>
                <a:srgbClr val="333399"/>
              </a:solidFill>
              <a:prstDash val="dash"/>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795102" name="Group 20"/>
            <p:cNvGrpSpPr>
              <a:grpSpLocks/>
            </p:cNvGrpSpPr>
            <p:nvPr/>
          </p:nvGrpSpPr>
          <p:grpSpPr bwMode="auto">
            <a:xfrm>
              <a:off x="2298" y="2614"/>
              <a:ext cx="1444" cy="270"/>
              <a:chOff x="1152" y="1824"/>
              <a:chExt cx="1296" cy="240"/>
            </a:xfrm>
          </p:grpSpPr>
          <p:sp>
            <p:nvSpPr>
              <p:cNvPr id="1795103" name="AutoShape 21"/>
              <p:cNvSpPr>
                <a:spLocks noChangeArrowheads="1"/>
              </p:cNvSpPr>
              <p:nvPr/>
            </p:nvSpPr>
            <p:spPr bwMode="auto">
              <a:xfrm>
                <a:off x="2160" y="1872"/>
                <a:ext cx="288" cy="144"/>
              </a:xfrm>
              <a:prstGeom prst="rightArrow">
                <a:avLst>
                  <a:gd name="adj1" fmla="val 50000"/>
                  <a:gd name="adj2" fmla="val 50000"/>
                </a:avLst>
              </a:prstGeom>
              <a:solidFill>
                <a:srgbClr val="CCECFF"/>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795104" name="Rectangle 22"/>
              <p:cNvSpPr>
                <a:spLocks noChangeArrowheads="1"/>
              </p:cNvSpPr>
              <p:nvPr/>
            </p:nvSpPr>
            <p:spPr bwMode="auto">
              <a:xfrm>
                <a:off x="1152" y="1824"/>
                <a:ext cx="1008" cy="240"/>
              </a:xfrm>
              <a:prstGeom prst="rect">
                <a:avLst/>
              </a:prstGeom>
              <a:solidFill>
                <a:srgbClr val="CCECFF"/>
              </a:solidFill>
              <a:ln w="9525">
                <a:solidFill>
                  <a:schemeClr val="tx1"/>
                </a:solidFill>
                <a:miter lim="800000"/>
                <a:headEnd/>
                <a:tailEnd/>
              </a:ln>
            </p:spPr>
            <p:txBody>
              <a:bodyPr wrap="none" anchor="ctr"/>
              <a:lstStyle/>
              <a:p>
                <a:pPr algn="ctr"/>
                <a:r>
                  <a:rPr lang="en-US" altLang="zh-CN" sz="2000" b="1">
                    <a:solidFill>
                      <a:srgbClr val="000099"/>
                    </a:solidFill>
                    <a:ea typeface="黑体" panose="02010609060101010101" pitchFamily="49" charset="-122"/>
                  </a:rPr>
                  <a:t>HTTP </a:t>
                </a:r>
                <a:r>
                  <a:rPr lang="zh-CN" altLang="en-US" sz="2000" b="1">
                    <a:solidFill>
                      <a:srgbClr val="000099"/>
                    </a:solidFill>
                    <a:ea typeface="黑体" panose="02010609060101010101" pitchFamily="49" charset="-122"/>
                  </a:rPr>
                  <a:t>请求报文</a:t>
                </a:r>
              </a:p>
            </p:txBody>
          </p:sp>
        </p:grpSp>
        <p:sp>
          <p:nvSpPr>
            <p:cNvPr id="1795105" name="Line 23"/>
            <p:cNvSpPr>
              <a:spLocks noChangeShapeType="1"/>
            </p:cNvSpPr>
            <p:nvPr/>
          </p:nvSpPr>
          <p:spPr bwMode="auto">
            <a:xfrm>
              <a:off x="1319" y="2506"/>
              <a:ext cx="0" cy="81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95106" name="Line 24"/>
            <p:cNvSpPr>
              <a:spLocks noChangeShapeType="1"/>
            </p:cNvSpPr>
            <p:nvPr/>
          </p:nvSpPr>
          <p:spPr bwMode="auto">
            <a:xfrm>
              <a:off x="4262" y="2560"/>
              <a:ext cx="0" cy="864"/>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795107" name="Text Box 25"/>
            <p:cNvSpPr txBox="1">
              <a:spLocks noChangeArrowheads="1"/>
            </p:cNvSpPr>
            <p:nvPr/>
          </p:nvSpPr>
          <p:spPr bwMode="auto">
            <a:xfrm>
              <a:off x="1292" y="2423"/>
              <a:ext cx="93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rgbClr val="000099"/>
                  </a:solidFill>
                  <a:ea typeface="黑体" panose="02010609060101010101" pitchFamily="49" charset="-122"/>
                  <a:sym typeface="Wingdings" panose="05000000000000000000" pitchFamily="2" charset="2"/>
                </a:rPr>
                <a:t></a:t>
              </a:r>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请求文档</a:t>
              </a:r>
            </a:p>
          </p:txBody>
        </p:sp>
      </p:grpSp>
      <p:sp>
        <p:nvSpPr>
          <p:cNvPr id="1795108" name="Text Box 26"/>
          <p:cNvSpPr txBox="1">
            <a:spLocks noChangeArrowheads="1"/>
          </p:cNvSpPr>
          <p:nvPr/>
        </p:nvSpPr>
        <p:spPr bwMode="auto">
          <a:xfrm>
            <a:off x="7761288" y="3430588"/>
            <a:ext cx="2184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000" b="1">
                <a:solidFill>
                  <a:srgbClr val="000099"/>
                </a:solidFill>
                <a:ea typeface="黑体" panose="02010609060101010101" pitchFamily="49" charset="-122"/>
              </a:rPr>
              <a:t>程序事先被编译成二进制代码，存放为文件</a:t>
            </a:r>
          </a:p>
        </p:txBody>
      </p:sp>
      <p:sp>
        <p:nvSpPr>
          <p:cNvPr id="1795109" name="Text Box 28"/>
          <p:cNvSpPr txBox="1">
            <a:spLocks noChangeArrowheads="1"/>
          </p:cNvSpPr>
          <p:nvPr/>
        </p:nvSpPr>
        <p:spPr bwMode="auto">
          <a:xfrm>
            <a:off x="8312150" y="1412875"/>
            <a:ext cx="1135063"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0600" b="1">
                <a:solidFill>
                  <a:srgbClr val="000099"/>
                </a:solidFill>
                <a:ea typeface="黑体" panose="02010609060101010101" pitchFamily="49" charset="-122"/>
                <a:sym typeface="Wingdings" panose="05000000000000000000" pitchFamily="2" charset="2"/>
              </a:rPr>
              <a:t></a:t>
            </a:r>
            <a:endParaRPr lang="en-US" altLang="zh-CN" sz="10600" b="1">
              <a:solidFill>
                <a:srgbClr val="000099"/>
              </a:solidFill>
              <a:ea typeface="黑体" panose="02010609060101010101" pitchFamily="49" charset="-122"/>
            </a:endParaRPr>
          </a:p>
        </p:txBody>
      </p:sp>
      <p:grpSp>
        <p:nvGrpSpPr>
          <p:cNvPr id="1795110" name="Group 72"/>
          <p:cNvGrpSpPr>
            <a:grpSpLocks/>
          </p:cNvGrpSpPr>
          <p:nvPr/>
        </p:nvGrpSpPr>
        <p:grpSpPr bwMode="auto">
          <a:xfrm>
            <a:off x="8542338" y="2312988"/>
            <a:ext cx="698500" cy="400050"/>
            <a:chOff x="5029" y="853"/>
            <a:chExt cx="406" cy="252"/>
          </a:xfrm>
        </p:grpSpPr>
        <p:sp>
          <p:nvSpPr>
            <p:cNvPr id="1795111" name="Rectangle 38"/>
            <p:cNvSpPr>
              <a:spLocks noChangeArrowheads="1"/>
            </p:cNvSpPr>
            <p:nvPr/>
          </p:nvSpPr>
          <p:spPr bwMode="auto">
            <a:xfrm>
              <a:off x="5074" y="903"/>
              <a:ext cx="350" cy="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795112" name="Text Box 39"/>
            <p:cNvSpPr txBox="1">
              <a:spLocks noChangeArrowheads="1"/>
            </p:cNvSpPr>
            <p:nvPr/>
          </p:nvSpPr>
          <p:spPr bwMode="auto">
            <a:xfrm>
              <a:off x="5029" y="853"/>
              <a:ext cx="4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程序</a:t>
              </a:r>
            </a:p>
          </p:txBody>
        </p:sp>
      </p:grpSp>
      <p:grpSp>
        <p:nvGrpSpPr>
          <p:cNvPr id="704583" name="Group 71"/>
          <p:cNvGrpSpPr>
            <a:grpSpLocks/>
          </p:cNvGrpSpPr>
          <p:nvPr/>
        </p:nvGrpSpPr>
        <p:grpSpPr bwMode="auto">
          <a:xfrm>
            <a:off x="38100" y="4581525"/>
            <a:ext cx="2773363" cy="1724025"/>
            <a:chOff x="22" y="3203"/>
            <a:chExt cx="1613" cy="1086"/>
          </a:xfrm>
        </p:grpSpPr>
        <p:sp>
          <p:nvSpPr>
            <p:cNvPr id="1795114" name="Text Box 30"/>
            <p:cNvSpPr txBox="1">
              <a:spLocks noChangeArrowheads="1"/>
            </p:cNvSpPr>
            <p:nvPr/>
          </p:nvSpPr>
          <p:spPr bwMode="auto">
            <a:xfrm>
              <a:off x="22" y="3386"/>
              <a:ext cx="1134" cy="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2800" b="1">
                  <a:solidFill>
                    <a:srgbClr val="000099"/>
                  </a:solidFill>
                  <a:ea typeface="黑体" panose="02010609060101010101" pitchFamily="49" charset="-122"/>
                  <a:sym typeface="Wingdings" panose="05000000000000000000" pitchFamily="2" charset="2"/>
                </a:rPr>
                <a:t></a:t>
              </a:r>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此程序在</a:t>
              </a:r>
            </a:p>
            <a:p>
              <a:pPr algn="ctr"/>
              <a:r>
                <a:rPr lang="zh-CN" altLang="en-US" sz="2000" b="1">
                  <a:solidFill>
                    <a:srgbClr val="000099"/>
                  </a:solidFill>
                  <a:ea typeface="黑体" panose="02010609060101010101" pitchFamily="49" charset="-122"/>
                </a:rPr>
                <a:t>客户端创建</a:t>
              </a:r>
            </a:p>
            <a:p>
              <a:pPr algn="ctr"/>
              <a:r>
                <a:rPr lang="zh-CN" altLang="en-US" sz="2000" b="1">
                  <a:solidFill>
                    <a:srgbClr val="000099"/>
                  </a:solidFill>
                  <a:ea typeface="黑体" panose="02010609060101010101" pitchFamily="49" charset="-122"/>
                </a:rPr>
                <a:t>出活动文档</a:t>
              </a:r>
            </a:p>
          </p:txBody>
        </p:sp>
        <p:grpSp>
          <p:nvGrpSpPr>
            <p:cNvPr id="1795115" name="Group 62"/>
            <p:cNvGrpSpPr>
              <a:grpSpLocks/>
            </p:cNvGrpSpPr>
            <p:nvPr/>
          </p:nvGrpSpPr>
          <p:grpSpPr bwMode="auto">
            <a:xfrm>
              <a:off x="975" y="3203"/>
              <a:ext cx="660" cy="1086"/>
              <a:chOff x="975" y="3203"/>
              <a:chExt cx="660" cy="1086"/>
            </a:xfrm>
          </p:grpSpPr>
          <p:sp>
            <p:nvSpPr>
              <p:cNvPr id="1795116" name="Rectangle 41"/>
              <p:cNvSpPr>
                <a:spLocks noChangeArrowheads="1"/>
              </p:cNvSpPr>
              <p:nvPr/>
            </p:nvSpPr>
            <p:spPr bwMode="auto">
              <a:xfrm>
                <a:off x="1123" y="3806"/>
                <a:ext cx="401" cy="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795117" name="Text Box 42"/>
              <p:cNvSpPr txBox="1">
                <a:spLocks noChangeArrowheads="1"/>
              </p:cNvSpPr>
              <p:nvPr/>
            </p:nvSpPr>
            <p:spPr bwMode="auto">
              <a:xfrm>
                <a:off x="975" y="3203"/>
                <a:ext cx="660" cy="1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0600" b="1">
                    <a:solidFill>
                      <a:srgbClr val="000099"/>
                    </a:solidFill>
                    <a:ea typeface="黑体" panose="02010609060101010101" pitchFamily="49" charset="-122"/>
                    <a:sym typeface="Wingdings" panose="05000000000000000000" pitchFamily="2" charset="2"/>
                  </a:rPr>
                  <a:t></a:t>
                </a:r>
                <a:endParaRPr lang="en-US" altLang="zh-CN" sz="10600" b="1">
                  <a:solidFill>
                    <a:srgbClr val="000099"/>
                  </a:solidFill>
                  <a:ea typeface="黑体" panose="02010609060101010101" pitchFamily="49" charset="-122"/>
                </a:endParaRPr>
              </a:p>
            </p:txBody>
          </p:sp>
          <p:grpSp>
            <p:nvGrpSpPr>
              <p:cNvPr id="1795118" name="Group 60"/>
              <p:cNvGrpSpPr>
                <a:grpSpLocks/>
              </p:cNvGrpSpPr>
              <p:nvPr/>
            </p:nvGrpSpPr>
            <p:grpSpPr bwMode="auto">
              <a:xfrm>
                <a:off x="1111" y="3612"/>
                <a:ext cx="406" cy="252"/>
                <a:chOff x="2154" y="3884"/>
                <a:chExt cx="406" cy="252"/>
              </a:xfrm>
            </p:grpSpPr>
            <p:sp>
              <p:nvSpPr>
                <p:cNvPr id="1795119" name="Rectangle 44"/>
                <p:cNvSpPr>
                  <a:spLocks noChangeArrowheads="1"/>
                </p:cNvSpPr>
                <p:nvPr/>
              </p:nvSpPr>
              <p:spPr bwMode="auto">
                <a:xfrm>
                  <a:off x="2175" y="3927"/>
                  <a:ext cx="375" cy="1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795120" name="Text Box 45"/>
                <p:cNvSpPr txBox="1">
                  <a:spLocks noChangeArrowheads="1"/>
                </p:cNvSpPr>
                <p:nvPr/>
              </p:nvSpPr>
              <p:spPr bwMode="auto">
                <a:xfrm>
                  <a:off x="2154" y="3884"/>
                  <a:ext cx="4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文档</a:t>
                  </a:r>
                </a:p>
              </p:txBody>
            </p:sp>
          </p:grpSp>
        </p:grpSp>
      </p:grpSp>
      <p:sp>
        <p:nvSpPr>
          <p:cNvPr id="1795121" name="Line 14"/>
          <p:cNvSpPr>
            <a:spLocks noChangeShapeType="1"/>
          </p:cNvSpPr>
          <p:nvPr/>
        </p:nvSpPr>
        <p:spPr bwMode="auto">
          <a:xfrm>
            <a:off x="2636838" y="2919413"/>
            <a:ext cx="4324350" cy="0"/>
          </a:xfrm>
          <a:prstGeom prst="line">
            <a:avLst/>
          </a:prstGeom>
          <a:noFill/>
          <a:ln w="28575">
            <a:solidFill>
              <a:schemeClr val="hlink"/>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79512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4F21630-8B22-49A5-890C-24D794EFC024}" type="slidenum">
              <a:rPr lang="zh-CN" altLang="en-US" smtClean="0"/>
              <a:pPr eaLnBrk="1" hangingPunct="1"/>
              <a:t>72</a:t>
            </a:fld>
            <a:endParaRPr lang="en-US" altLang="zh-CN" smtClean="0"/>
          </a:p>
        </p:txBody>
      </p:sp>
      <p:sp>
        <p:nvSpPr>
          <p:cNvPr id="179512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04585"/>
                                        </p:tgtEl>
                                        <p:attrNameLst>
                                          <p:attrName>style.visibility</p:attrName>
                                        </p:attrNameLst>
                                      </p:cBhvr>
                                      <p:to>
                                        <p:strVal val="visible"/>
                                      </p:to>
                                    </p:set>
                                    <p:animEffect transition="in" filter="wipe(left)">
                                      <p:cBhvr>
                                        <p:cTn id="7" dur="1000"/>
                                        <p:tgtEl>
                                          <p:spTgt spid="704585"/>
                                        </p:tgtEl>
                                      </p:cBhvr>
                                    </p:animEffect>
                                  </p:childTnLst>
                                </p:cTn>
                              </p:par>
                            </p:childTnLst>
                          </p:cTn>
                        </p:par>
                        <p:par>
                          <p:cTn id="8" fill="hold" nodeType="afterGroup">
                            <p:stCondLst>
                              <p:cond delay="1000"/>
                            </p:stCondLst>
                            <p:childTnLst>
                              <p:par>
                                <p:cTn id="9" presetID="22" presetClass="entr" presetSubtype="2" fill="hold" nodeType="afterEffect">
                                  <p:stCondLst>
                                    <p:cond delay="500"/>
                                  </p:stCondLst>
                                  <p:childTnLst>
                                    <p:set>
                                      <p:cBhvr>
                                        <p:cTn id="10" dur="1" fill="hold">
                                          <p:stCondLst>
                                            <p:cond delay="0"/>
                                          </p:stCondLst>
                                        </p:cTn>
                                        <p:tgtEl>
                                          <p:spTgt spid="704586"/>
                                        </p:tgtEl>
                                        <p:attrNameLst>
                                          <p:attrName>style.visibility</p:attrName>
                                        </p:attrNameLst>
                                      </p:cBhvr>
                                      <p:to>
                                        <p:strVal val="visible"/>
                                      </p:to>
                                    </p:set>
                                    <p:animEffect transition="in" filter="wipe(right)">
                                      <p:cBhvr>
                                        <p:cTn id="11" dur="1000"/>
                                        <p:tgtEl>
                                          <p:spTgt spid="704586"/>
                                        </p:tgtEl>
                                      </p:cBhvr>
                                    </p:animEffect>
                                  </p:childTnLst>
                                </p:cTn>
                              </p:par>
                            </p:childTnLst>
                          </p:cTn>
                        </p:par>
                        <p:par>
                          <p:cTn id="12" fill="hold" nodeType="afterGroup">
                            <p:stCondLst>
                              <p:cond delay="2500"/>
                            </p:stCondLst>
                            <p:childTnLst>
                              <p:par>
                                <p:cTn id="13" presetID="1" presetClass="entr" presetSubtype="0" fill="hold" nodeType="afterEffect">
                                  <p:stCondLst>
                                    <p:cond delay="500"/>
                                  </p:stCondLst>
                                  <p:childTnLst>
                                    <p:set>
                                      <p:cBhvr>
                                        <p:cTn id="14" dur="1" fill="hold">
                                          <p:stCondLst>
                                            <p:cond delay="0"/>
                                          </p:stCondLst>
                                        </p:cTn>
                                        <p:tgtEl>
                                          <p:spTgt spid="7045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712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用 </a:t>
            </a:r>
            <a:r>
              <a:rPr lang="en-US" altLang="zh-CN" smtClean="0">
                <a:ea typeface="黑体" panose="02010609060101010101" pitchFamily="49" charset="-122"/>
              </a:rPr>
              <a:t>Java </a:t>
            </a:r>
            <a:r>
              <a:rPr lang="zh-CN" altLang="en-US" smtClean="0">
                <a:ea typeface="黑体" panose="02010609060101010101" pitchFamily="49" charset="-122"/>
              </a:rPr>
              <a:t>技术创建活动文档 </a:t>
            </a:r>
          </a:p>
        </p:txBody>
      </p:sp>
      <p:sp>
        <p:nvSpPr>
          <p:cNvPr id="1797122"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由美国 </a:t>
            </a:r>
            <a:r>
              <a:rPr lang="en-US" altLang="zh-CN" sz="2800" smtClean="0">
                <a:ea typeface="黑体" panose="02010609060101010101" pitchFamily="49" charset="-122"/>
              </a:rPr>
              <a:t>Sun </a:t>
            </a:r>
            <a:r>
              <a:rPr lang="zh-CN" altLang="en-US" sz="2800" smtClean="0">
                <a:ea typeface="黑体" panose="02010609060101010101" pitchFamily="49" charset="-122"/>
              </a:rPr>
              <a:t>公司开发的 </a:t>
            </a:r>
            <a:r>
              <a:rPr lang="en-US" altLang="zh-CN" sz="2800" smtClean="0">
                <a:solidFill>
                  <a:srgbClr val="FF0000"/>
                </a:solidFill>
                <a:ea typeface="黑体" panose="02010609060101010101" pitchFamily="49" charset="-122"/>
              </a:rPr>
              <a:t>Java</a:t>
            </a:r>
            <a:r>
              <a:rPr lang="en-US" altLang="zh-CN" sz="2800" smtClean="0">
                <a:ea typeface="黑体" panose="02010609060101010101" pitchFamily="49" charset="-122"/>
              </a:rPr>
              <a:t> </a:t>
            </a:r>
            <a:r>
              <a:rPr lang="zh-CN" altLang="en-US" sz="2800" smtClean="0">
                <a:ea typeface="黑体" panose="02010609060101010101" pitchFamily="49" charset="-122"/>
              </a:rPr>
              <a:t>语言是一项用于创建和运行活动文档的技术。</a:t>
            </a:r>
          </a:p>
          <a:p>
            <a:r>
              <a:rPr lang="zh-CN" altLang="en-US" sz="2800" smtClean="0">
                <a:ea typeface="黑体" panose="02010609060101010101" pitchFamily="49" charset="-122"/>
              </a:rPr>
              <a:t>在 </a:t>
            </a:r>
            <a:r>
              <a:rPr lang="en-US" altLang="zh-CN" sz="2800" smtClean="0">
                <a:ea typeface="黑体" panose="02010609060101010101" pitchFamily="49" charset="-122"/>
              </a:rPr>
              <a:t>Java </a:t>
            </a:r>
            <a:r>
              <a:rPr lang="zh-CN" altLang="en-US" sz="2800" smtClean="0">
                <a:ea typeface="黑体" panose="02010609060101010101" pitchFamily="49" charset="-122"/>
              </a:rPr>
              <a:t>技术中使用 “</a:t>
            </a:r>
            <a:r>
              <a:rPr lang="zh-CN" altLang="en-US" sz="2800" smtClean="0">
                <a:solidFill>
                  <a:srgbClr val="FF0000"/>
                </a:solidFill>
                <a:ea typeface="黑体" panose="02010609060101010101" pitchFamily="49" charset="-122"/>
              </a:rPr>
              <a:t>小应用程序</a:t>
            </a:r>
            <a:r>
              <a:rPr lang="zh-CN" altLang="en-US" sz="2800" smtClean="0">
                <a:ea typeface="黑体" panose="02010609060101010101" pitchFamily="49" charset="-122"/>
              </a:rPr>
              <a:t>”</a:t>
            </a:r>
            <a:r>
              <a:rPr lang="en-US" altLang="zh-CN" sz="2800" smtClean="0">
                <a:ea typeface="黑体" panose="02010609060101010101" pitchFamily="49" charset="-122"/>
              </a:rPr>
              <a:t>(applet) </a:t>
            </a:r>
            <a:r>
              <a:rPr lang="zh-CN" altLang="en-US" sz="2800" smtClean="0">
                <a:ea typeface="黑体" panose="02010609060101010101" pitchFamily="49" charset="-122"/>
              </a:rPr>
              <a:t>来描述活动文档程序。</a:t>
            </a:r>
          </a:p>
          <a:p>
            <a:r>
              <a:rPr lang="zh-CN" altLang="en-US" sz="2800" smtClean="0">
                <a:ea typeface="黑体" panose="02010609060101010101" pitchFamily="49" charset="-122"/>
              </a:rPr>
              <a:t>用户从万维网服务器下载嵌入了 </a:t>
            </a:r>
            <a:r>
              <a:rPr lang="en-US" altLang="zh-CN" sz="2800" smtClean="0">
                <a:ea typeface="黑体" panose="02010609060101010101" pitchFamily="49" charset="-122"/>
              </a:rPr>
              <a:t>Java </a:t>
            </a:r>
            <a:r>
              <a:rPr lang="zh-CN" altLang="en-US" sz="2800" smtClean="0">
                <a:ea typeface="黑体" panose="02010609060101010101" pitchFamily="49" charset="-122"/>
              </a:rPr>
              <a:t>小应用程序的 </a:t>
            </a:r>
            <a:r>
              <a:rPr lang="en-US" altLang="zh-CN" sz="2800" smtClean="0">
                <a:ea typeface="黑体" panose="02010609060101010101" pitchFamily="49" charset="-122"/>
              </a:rPr>
              <a:t>HTML </a:t>
            </a:r>
            <a:r>
              <a:rPr lang="zh-CN" altLang="en-US" sz="2800" smtClean="0">
                <a:ea typeface="黑体" panose="02010609060101010101" pitchFamily="49" charset="-122"/>
              </a:rPr>
              <a:t>文档后，可在浏览器的屏幕上点击某个图像，就可看到动画效果，或在下拉式菜单中点击某个项目，就可看到计算结果。</a:t>
            </a:r>
          </a:p>
          <a:p>
            <a:r>
              <a:rPr lang="en-US" altLang="zh-CN" sz="2800" smtClean="0">
                <a:ea typeface="黑体" panose="02010609060101010101" pitchFamily="49" charset="-122"/>
              </a:rPr>
              <a:t>Java </a:t>
            </a:r>
            <a:r>
              <a:rPr lang="zh-CN" altLang="en-US" sz="2800" smtClean="0">
                <a:ea typeface="黑体" panose="02010609060101010101" pitchFamily="49" charset="-122"/>
              </a:rPr>
              <a:t>技术是活动文档技术的一部分。 </a:t>
            </a:r>
          </a:p>
        </p:txBody>
      </p:sp>
      <p:sp>
        <p:nvSpPr>
          <p:cNvPr id="17971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F045236-E318-4FC8-A732-B0D1AEADEB98}" type="slidenum">
              <a:rPr lang="zh-CN" altLang="en-US" smtClean="0"/>
              <a:pPr eaLnBrk="1" hangingPunct="1"/>
              <a:t>73</a:t>
            </a:fld>
            <a:endParaRPr lang="en-US" altLang="zh-CN" smtClean="0"/>
          </a:p>
        </p:txBody>
      </p:sp>
      <p:sp>
        <p:nvSpPr>
          <p:cNvPr id="17971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736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6.4.5  </a:t>
            </a:r>
            <a:r>
              <a:rPr lang="zh-CN" altLang="en-US" smtClean="0">
                <a:ea typeface="黑体" panose="02010609060101010101" pitchFamily="49" charset="-122"/>
              </a:rPr>
              <a:t>万维网的信息检索系统</a:t>
            </a:r>
          </a:p>
        </p:txBody>
      </p:sp>
      <p:sp>
        <p:nvSpPr>
          <p:cNvPr id="227331" name="Rectangle 3"/>
          <p:cNvSpPr>
            <a:spLocks noGrp="1" noChangeArrowheads="1"/>
          </p:cNvSpPr>
          <p:nvPr>
            <p:ph idx="1"/>
          </p:nvPr>
        </p:nvSpPr>
        <p:spPr>
          <a:xfrm>
            <a:off x="495300" y="1196975"/>
            <a:ext cx="9066213" cy="4933950"/>
          </a:xfrm>
        </p:spPr>
        <p:txBody>
          <a:bodyPr/>
          <a:lstStyle/>
          <a:p>
            <a:pPr marL="0" indent="0">
              <a:buFont typeface="Wingdings" panose="05000000000000000000" pitchFamily="2" charset="2"/>
              <a:buNone/>
            </a:pPr>
            <a:r>
              <a:rPr lang="en-US" altLang="zh-CN" sz="4000" smtClean="0">
                <a:solidFill>
                  <a:srgbClr val="333399"/>
                </a:solidFill>
                <a:latin typeface="Times New Roman" panose="02020603050405020304" pitchFamily="18" charset="0"/>
                <a:ea typeface="黑体" panose="02010609060101010101" pitchFamily="49" charset="-122"/>
              </a:rPr>
              <a:t>1.  </a:t>
            </a:r>
            <a:r>
              <a:rPr lang="zh-CN" altLang="en-US" sz="4000" smtClean="0">
                <a:solidFill>
                  <a:srgbClr val="333399"/>
                </a:solidFill>
                <a:latin typeface="Times New Roman" panose="02020603050405020304" pitchFamily="18" charset="0"/>
                <a:ea typeface="黑体" panose="02010609060101010101" pitchFamily="49" charset="-122"/>
              </a:rPr>
              <a:t>全文检索搜索和分类目录搜索</a:t>
            </a:r>
            <a:endParaRPr lang="en-US" altLang="zh-CN" sz="4000" smtClean="0">
              <a:solidFill>
                <a:srgbClr val="333399"/>
              </a:solidFill>
              <a:latin typeface="Times New Roman" panose="02020603050405020304" pitchFamily="18" charset="0"/>
              <a:ea typeface="黑体" panose="02010609060101010101" pitchFamily="49" charset="-122"/>
            </a:endParaRPr>
          </a:p>
          <a:p>
            <a:pPr marL="0" indent="0"/>
            <a:r>
              <a:rPr lang="zh-CN" altLang="en-US" sz="2800" smtClean="0">
                <a:ea typeface="黑体" panose="02010609060101010101" pitchFamily="49" charset="-122"/>
              </a:rPr>
              <a:t>在万维网中用来进行搜索的程序叫做</a:t>
            </a:r>
            <a:r>
              <a:rPr lang="zh-CN" altLang="en-US" sz="2800" smtClean="0">
                <a:solidFill>
                  <a:srgbClr val="FF0000"/>
                </a:solidFill>
                <a:ea typeface="黑体" panose="02010609060101010101" pitchFamily="49" charset="-122"/>
              </a:rPr>
              <a:t>搜索引擎</a:t>
            </a:r>
            <a:r>
              <a:rPr lang="zh-CN" altLang="en-US" sz="2800" smtClean="0">
                <a:ea typeface="黑体" panose="02010609060101010101" pitchFamily="49" charset="-122"/>
              </a:rPr>
              <a:t>。</a:t>
            </a:r>
          </a:p>
          <a:p>
            <a:pPr marL="0" indent="0"/>
            <a:r>
              <a:rPr lang="zh-CN" altLang="en-US" sz="2800" smtClean="0">
                <a:solidFill>
                  <a:srgbClr val="FF0000"/>
                </a:solidFill>
                <a:ea typeface="黑体" panose="02010609060101010101" pitchFamily="49" charset="-122"/>
              </a:rPr>
              <a:t>全文检索搜索引擎</a:t>
            </a:r>
            <a:r>
              <a:rPr lang="zh-CN" altLang="en-US" sz="2800" smtClean="0">
                <a:ea typeface="黑体" panose="02010609060101010101" pitchFamily="49" charset="-122"/>
              </a:rPr>
              <a:t>是一种纯技术型的检索工具。它的工作原理是通过搜索软件到互联网上的各网站收集信息，找到一个网站后可以从这个网站再链接到另一个网站。然后按照一定的规则建立一个很大的在线数据库供用户查询。</a:t>
            </a:r>
          </a:p>
          <a:p>
            <a:pPr marL="0" indent="0"/>
            <a:r>
              <a:rPr lang="zh-CN" altLang="en-US" sz="2800" smtClean="0">
                <a:ea typeface="黑体" panose="02010609060101010101" pitchFamily="49" charset="-122"/>
              </a:rPr>
              <a:t>用户在查询时只要输入关键词，就从已经建立的索引数据库上进行查询（并不是实时地在互联网上检索到的信息）。 </a:t>
            </a:r>
          </a:p>
        </p:txBody>
      </p:sp>
      <p:sp>
        <p:nvSpPr>
          <p:cNvPr id="18073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6C4F54-BCF4-4573-914E-3F5BEFC942B1}" type="slidenum">
              <a:rPr lang="zh-CN" altLang="en-US" smtClean="0"/>
              <a:pPr eaLnBrk="1" hangingPunct="1"/>
              <a:t>74</a:t>
            </a:fld>
            <a:endParaRPr lang="en-US" altLang="zh-CN" smtClean="0"/>
          </a:p>
        </p:txBody>
      </p:sp>
      <p:sp>
        <p:nvSpPr>
          <p:cNvPr id="18073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940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分类目录搜索 </a:t>
            </a:r>
          </a:p>
        </p:txBody>
      </p:sp>
      <p:sp>
        <p:nvSpPr>
          <p:cNvPr id="1809410" name="Rectangle 3"/>
          <p:cNvSpPr>
            <a:spLocks noGrp="1" noChangeArrowheads="1"/>
          </p:cNvSpPr>
          <p:nvPr>
            <p:ph idx="1"/>
          </p:nvPr>
        </p:nvSpPr>
        <p:spPr>
          <a:xfrm>
            <a:off x="495300" y="1196975"/>
            <a:ext cx="9066213" cy="4933950"/>
          </a:xfrm>
        </p:spPr>
        <p:txBody>
          <a:bodyPr/>
          <a:lstStyle/>
          <a:p>
            <a:pPr>
              <a:spcBef>
                <a:spcPts val="1200"/>
              </a:spcBef>
            </a:pPr>
            <a:r>
              <a:rPr lang="zh-CN" altLang="en-US" smtClean="0">
                <a:solidFill>
                  <a:srgbClr val="FF0000"/>
                </a:solidFill>
                <a:ea typeface="黑体" panose="02010609060101010101" pitchFamily="49" charset="-122"/>
              </a:rPr>
              <a:t>分类目录搜索引擎</a:t>
            </a:r>
            <a:r>
              <a:rPr lang="zh-CN" altLang="en-US" smtClean="0">
                <a:ea typeface="黑体" panose="02010609060101010101" pitchFamily="49" charset="-122"/>
              </a:rPr>
              <a:t>并不采集网站的任何信息，而是利用各网站向搜索引擎提交的网站信息时填写的关键词和网站描述等信息，经过人工审核编辑后，如果认为符合网站登录的条件，则输入到分类目录的数据库中，供网上用户查询。</a:t>
            </a:r>
          </a:p>
          <a:p>
            <a:pPr>
              <a:spcBef>
                <a:spcPts val="1200"/>
              </a:spcBef>
            </a:pPr>
            <a:r>
              <a:rPr lang="zh-CN" altLang="en-US" smtClean="0">
                <a:ea typeface="黑体" panose="02010609060101010101" pitchFamily="49" charset="-122"/>
              </a:rPr>
              <a:t>分类目录搜索也叫做</a:t>
            </a:r>
            <a:r>
              <a:rPr lang="zh-CN" altLang="en-US" smtClean="0">
                <a:solidFill>
                  <a:srgbClr val="FF0000"/>
                </a:solidFill>
                <a:ea typeface="黑体" panose="02010609060101010101" pitchFamily="49" charset="-122"/>
              </a:rPr>
              <a:t>分类网站搜索</a:t>
            </a:r>
            <a:r>
              <a:rPr lang="zh-CN" altLang="en-US" smtClean="0">
                <a:ea typeface="黑体" panose="02010609060101010101" pitchFamily="49" charset="-122"/>
              </a:rPr>
              <a:t>。 </a:t>
            </a:r>
          </a:p>
        </p:txBody>
      </p:sp>
      <p:sp>
        <p:nvSpPr>
          <p:cNvPr id="18094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3A4F6E-D92F-40F4-920F-ED7B4EF03065}" type="slidenum">
              <a:rPr lang="zh-CN" altLang="en-US" smtClean="0"/>
              <a:pPr eaLnBrk="1" hangingPunct="1"/>
              <a:t>75</a:t>
            </a:fld>
            <a:endParaRPr lang="en-US" altLang="zh-CN" smtClean="0"/>
          </a:p>
        </p:txBody>
      </p:sp>
      <p:sp>
        <p:nvSpPr>
          <p:cNvPr id="18094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xfrm>
            <a:off x="495300" y="188913"/>
            <a:ext cx="9066213" cy="792162"/>
          </a:xfrm>
        </p:spPr>
        <p:txBody>
          <a:bodyPr/>
          <a:lstStyle/>
          <a:p>
            <a:pPr algn="ctr">
              <a:defRPr/>
            </a:pPr>
            <a:r>
              <a:rPr sz="4060" noProof="1"/>
              <a:t>一些著名的搜索引擎 </a:t>
            </a:r>
          </a:p>
        </p:txBody>
      </p:sp>
      <p:sp>
        <p:nvSpPr>
          <p:cNvPr id="1810434"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最著名的全文检索搜索引擎：</a:t>
            </a:r>
          </a:p>
          <a:p>
            <a:pPr lvl="1"/>
            <a:r>
              <a:rPr lang="en-US" altLang="zh-CN" smtClean="0">
                <a:solidFill>
                  <a:srgbClr val="0000FF"/>
                </a:solidFill>
                <a:ea typeface="黑体" panose="02010609060101010101" pitchFamily="49" charset="-122"/>
              </a:rPr>
              <a:t>Google</a:t>
            </a:r>
            <a:r>
              <a:rPr lang="zh-CN" altLang="en-US" smtClean="0">
                <a:solidFill>
                  <a:srgbClr val="0000FF"/>
                </a:solidFill>
                <a:ea typeface="黑体" panose="02010609060101010101" pitchFamily="49" charset="-122"/>
              </a:rPr>
              <a:t>（谷歌）</a:t>
            </a:r>
            <a:r>
              <a:rPr lang="en-US" altLang="zh-CN" smtClean="0">
                <a:solidFill>
                  <a:srgbClr val="0000FF"/>
                </a:solidFill>
                <a:ea typeface="黑体" panose="02010609060101010101" pitchFamily="49" charset="-122"/>
              </a:rPr>
              <a:t>(www.google.com) </a:t>
            </a:r>
          </a:p>
          <a:p>
            <a:pPr lvl="1"/>
            <a:r>
              <a:rPr lang="zh-CN" altLang="en-US" smtClean="0">
                <a:solidFill>
                  <a:srgbClr val="0000FF"/>
                </a:solidFill>
                <a:ea typeface="黑体" panose="02010609060101010101" pitchFamily="49" charset="-122"/>
              </a:rPr>
              <a:t>百度 </a:t>
            </a:r>
            <a:r>
              <a:rPr lang="en-US" altLang="zh-CN" smtClean="0">
                <a:solidFill>
                  <a:srgbClr val="0000FF"/>
                </a:solidFill>
                <a:ea typeface="黑体" panose="02010609060101010101" pitchFamily="49" charset="-122"/>
              </a:rPr>
              <a:t>(www.baidu.com) </a:t>
            </a:r>
          </a:p>
          <a:p>
            <a:r>
              <a:rPr lang="zh-CN" altLang="en-US" smtClean="0">
                <a:ea typeface="黑体" panose="02010609060101010101" pitchFamily="49" charset="-122"/>
              </a:rPr>
              <a:t>最著名的分类目录搜索引擎：</a:t>
            </a:r>
          </a:p>
          <a:p>
            <a:pPr lvl="1"/>
            <a:r>
              <a:rPr lang="zh-CN" altLang="en-US" smtClean="0">
                <a:solidFill>
                  <a:srgbClr val="0000FF"/>
                </a:solidFill>
                <a:ea typeface="黑体" panose="02010609060101010101" pitchFamily="49" charset="-122"/>
              </a:rPr>
              <a:t>雅虎 </a:t>
            </a:r>
            <a:r>
              <a:rPr lang="en-US" altLang="zh-CN" smtClean="0">
                <a:solidFill>
                  <a:srgbClr val="0000FF"/>
                </a:solidFill>
                <a:ea typeface="黑体" panose="02010609060101010101" pitchFamily="49" charset="-122"/>
              </a:rPr>
              <a:t>(www.yahoo.com)</a:t>
            </a:r>
          </a:p>
          <a:p>
            <a:pPr lvl="1"/>
            <a:r>
              <a:rPr lang="zh-CN" altLang="en-US" smtClean="0">
                <a:solidFill>
                  <a:srgbClr val="0000FF"/>
                </a:solidFill>
                <a:ea typeface="黑体" panose="02010609060101010101" pitchFamily="49" charset="-122"/>
              </a:rPr>
              <a:t>雅虎中国 </a:t>
            </a:r>
            <a:r>
              <a:rPr lang="en-US" altLang="zh-CN" smtClean="0">
                <a:solidFill>
                  <a:srgbClr val="0000FF"/>
                </a:solidFill>
                <a:ea typeface="黑体" panose="02010609060101010101" pitchFamily="49" charset="-122"/>
              </a:rPr>
              <a:t>(cn.yahoo.com)</a:t>
            </a:r>
          </a:p>
          <a:p>
            <a:pPr lvl="1"/>
            <a:r>
              <a:rPr lang="zh-CN" altLang="en-US" smtClean="0">
                <a:solidFill>
                  <a:srgbClr val="0000FF"/>
                </a:solidFill>
                <a:ea typeface="黑体" panose="02010609060101010101" pitchFamily="49" charset="-122"/>
              </a:rPr>
              <a:t>新浪 </a:t>
            </a:r>
            <a:r>
              <a:rPr lang="en-US" altLang="zh-CN" smtClean="0">
                <a:solidFill>
                  <a:srgbClr val="0000FF"/>
                </a:solidFill>
                <a:ea typeface="黑体" panose="02010609060101010101" pitchFamily="49" charset="-122"/>
              </a:rPr>
              <a:t>(www.sina.com)</a:t>
            </a:r>
          </a:p>
          <a:p>
            <a:pPr lvl="1"/>
            <a:r>
              <a:rPr lang="zh-CN" altLang="en-US" smtClean="0">
                <a:solidFill>
                  <a:srgbClr val="0000FF"/>
                </a:solidFill>
                <a:ea typeface="黑体" panose="02010609060101010101" pitchFamily="49" charset="-122"/>
              </a:rPr>
              <a:t>搜狐 </a:t>
            </a:r>
            <a:r>
              <a:rPr lang="en-US" altLang="zh-CN" smtClean="0">
                <a:solidFill>
                  <a:srgbClr val="0000FF"/>
                </a:solidFill>
                <a:ea typeface="黑体" panose="02010609060101010101" pitchFamily="49" charset="-122"/>
              </a:rPr>
              <a:t>(www.sohu.com)</a:t>
            </a:r>
          </a:p>
          <a:p>
            <a:pPr lvl="1"/>
            <a:r>
              <a:rPr lang="zh-CN" altLang="en-US" smtClean="0">
                <a:solidFill>
                  <a:srgbClr val="0000FF"/>
                </a:solidFill>
                <a:ea typeface="黑体" panose="02010609060101010101" pitchFamily="49" charset="-122"/>
              </a:rPr>
              <a:t>网易 </a:t>
            </a:r>
            <a:r>
              <a:rPr lang="en-US" altLang="zh-CN" smtClean="0">
                <a:solidFill>
                  <a:srgbClr val="0000FF"/>
                </a:solidFill>
                <a:ea typeface="黑体" panose="02010609060101010101" pitchFamily="49" charset="-122"/>
              </a:rPr>
              <a:t>(www.163.com) </a:t>
            </a:r>
          </a:p>
          <a:p>
            <a:pPr lvl="1"/>
            <a:endParaRPr lang="en-US" altLang="zh-CN" smtClean="0">
              <a:ea typeface="黑体" panose="02010609060101010101" pitchFamily="49" charset="-122"/>
            </a:endParaRPr>
          </a:p>
        </p:txBody>
      </p:sp>
      <p:sp>
        <p:nvSpPr>
          <p:cNvPr id="18104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D485842-5066-4E18-8E15-410BFBA4FA0A}" type="slidenum">
              <a:rPr lang="zh-CN" altLang="en-US" smtClean="0"/>
              <a:pPr eaLnBrk="1" hangingPunct="1"/>
              <a:t>76</a:t>
            </a:fld>
            <a:endParaRPr lang="en-US" altLang="zh-CN" smtClean="0"/>
          </a:p>
        </p:txBody>
      </p:sp>
      <p:sp>
        <p:nvSpPr>
          <p:cNvPr id="18104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垂直搜索引擎</a:t>
            </a:r>
            <a:endParaRPr lang="en-US" altLang="zh-CN" smtClean="0">
              <a:ea typeface="黑体" panose="02010609060101010101" pitchFamily="49" charset="-122"/>
            </a:endParaRPr>
          </a:p>
        </p:txBody>
      </p:sp>
      <p:sp>
        <p:nvSpPr>
          <p:cNvPr id="1812482"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垂直搜索引擎</a:t>
            </a:r>
            <a:r>
              <a:rPr lang="zh-CN" altLang="en-US" smtClean="0">
                <a:ea typeface="黑体" panose="02010609060101010101" pitchFamily="49" charset="-122"/>
              </a:rPr>
              <a:t> </a:t>
            </a:r>
            <a:r>
              <a:rPr lang="en-US" altLang="zh-CN" smtClean="0">
                <a:ea typeface="黑体" panose="02010609060101010101" pitchFamily="49" charset="-122"/>
              </a:rPr>
              <a:t>(Vertical Search Engine) </a:t>
            </a:r>
            <a:r>
              <a:rPr lang="zh-CN" altLang="en-US" smtClean="0">
                <a:ea typeface="黑体" panose="02010609060101010101" pitchFamily="49" charset="-122"/>
              </a:rPr>
              <a:t>针对某一特定领域、特定人群或某一特定需求提供搜索服务。</a:t>
            </a:r>
            <a:endParaRPr lang="en-US" altLang="zh-CN" smtClean="0">
              <a:ea typeface="黑体" panose="02010609060101010101" pitchFamily="49" charset="-122"/>
            </a:endParaRPr>
          </a:p>
          <a:p>
            <a:r>
              <a:rPr lang="zh-CN" altLang="en-US" smtClean="0">
                <a:ea typeface="黑体" panose="02010609060101010101" pitchFamily="49" charset="-122"/>
              </a:rPr>
              <a:t>垂直搜索也是提供关键字来进行搜索的，但被放到了一个行业知识的上下文中，返回的结果更倾向于信息、消息、条目等。 </a:t>
            </a:r>
          </a:p>
        </p:txBody>
      </p:sp>
      <p:sp>
        <p:nvSpPr>
          <p:cNvPr id="18124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827DE5A-087E-4482-93B2-17E07A6CE6FC}" type="slidenum">
              <a:rPr lang="zh-CN" altLang="en-US" smtClean="0"/>
              <a:pPr eaLnBrk="1" hangingPunct="1"/>
              <a:t>77</a:t>
            </a:fld>
            <a:endParaRPr lang="en-US" altLang="zh-CN" smtClean="0"/>
          </a:p>
        </p:txBody>
      </p:sp>
      <p:sp>
        <p:nvSpPr>
          <p:cNvPr id="18124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350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6.4.6  </a:t>
            </a:r>
            <a:r>
              <a:rPr lang="zh-CN" altLang="en-US" smtClean="0">
                <a:ea typeface="黑体" panose="02010609060101010101" pitchFamily="49" charset="-122"/>
              </a:rPr>
              <a:t>博客和微博</a:t>
            </a:r>
          </a:p>
        </p:txBody>
      </p:sp>
      <p:sp>
        <p:nvSpPr>
          <p:cNvPr id="233475" name="Rectangle 3"/>
          <p:cNvSpPr>
            <a:spLocks noGrp="1" noChangeArrowheads="1"/>
          </p:cNvSpPr>
          <p:nvPr>
            <p:ph idx="1"/>
          </p:nvPr>
        </p:nvSpPr>
        <p:spPr>
          <a:xfrm>
            <a:off x="495300" y="1196975"/>
            <a:ext cx="9066213" cy="4933950"/>
          </a:xfrm>
        </p:spPr>
        <p:txBody>
          <a:bodyPr/>
          <a:lstStyle/>
          <a:p>
            <a:pPr marL="0" indent="0">
              <a:buFont typeface="Wingdings" panose="05000000000000000000" pitchFamily="2" charset="2"/>
              <a:buNone/>
            </a:pPr>
            <a:r>
              <a:rPr lang="en-US" altLang="zh-CN" sz="4000" noProof="1">
                <a:solidFill>
                  <a:srgbClr val="333399"/>
                </a:solidFill>
                <a:latin typeface="+mj-lt"/>
                <a:cs typeface="+mj-cs"/>
              </a:rPr>
              <a:t>1.  </a:t>
            </a:r>
            <a:r>
              <a:rPr lang="zh-CN" altLang="en-US" sz="4000" noProof="1">
                <a:solidFill>
                  <a:srgbClr val="333399"/>
                </a:solidFill>
                <a:latin typeface="+mj-lt"/>
                <a:cs typeface="+mj-cs"/>
              </a:rPr>
              <a:t>博客</a:t>
            </a:r>
            <a:endParaRPr lang="en-US" altLang="zh-CN" sz="4000" noProof="1">
              <a:solidFill>
                <a:srgbClr val="333399"/>
              </a:solidFill>
              <a:latin typeface="+mj-lt"/>
              <a:cs typeface="+mj-cs"/>
            </a:endParaRPr>
          </a:p>
          <a:p>
            <a:r>
              <a:rPr lang="zh-CN" altLang="en-US" sz="2800" noProof="1"/>
              <a:t>博客是</a:t>
            </a:r>
            <a:r>
              <a:rPr lang="zh-CN" altLang="en-US" sz="2800" noProof="1">
                <a:solidFill>
                  <a:srgbClr val="FF0000"/>
                </a:solidFill>
              </a:rPr>
              <a:t>万维网日志</a:t>
            </a:r>
            <a:r>
              <a:rPr lang="zh-CN" altLang="en-US" sz="2800" noProof="1"/>
              <a:t> </a:t>
            </a:r>
            <a:r>
              <a:rPr lang="en-US" altLang="zh-CN" sz="2800" noProof="1"/>
              <a:t>(web log) </a:t>
            </a:r>
            <a:r>
              <a:rPr lang="zh-CN" altLang="en-US" sz="2800" noProof="1"/>
              <a:t>的简称。也有人把 </a:t>
            </a:r>
            <a:r>
              <a:rPr lang="en-US" altLang="zh-CN" sz="2800" noProof="1"/>
              <a:t>blog </a:t>
            </a:r>
            <a:r>
              <a:rPr lang="zh-CN" altLang="en-US" sz="2800" noProof="1"/>
              <a:t>进行音译，译为“部落格”，或“部落阁”。还有人用“博文”来表示“博客文章”。</a:t>
            </a:r>
          </a:p>
          <a:p>
            <a:r>
              <a:rPr lang="en-US" altLang="zh-CN" sz="2800" noProof="1"/>
              <a:t>Weblog </a:t>
            </a:r>
            <a:r>
              <a:rPr lang="zh-CN" altLang="en-US" sz="2800" noProof="1"/>
              <a:t>这个新词是 </a:t>
            </a:r>
            <a:r>
              <a:rPr lang="en-US" altLang="zh-CN" sz="2800" noProof="1"/>
              <a:t>Jorn Barger </a:t>
            </a:r>
            <a:r>
              <a:rPr lang="zh-CN" altLang="en-US" sz="2800" noProof="1"/>
              <a:t>于 </a:t>
            </a:r>
            <a:r>
              <a:rPr lang="en-US" altLang="zh-CN" sz="2800" noProof="1"/>
              <a:t>1997 </a:t>
            </a:r>
            <a:r>
              <a:rPr lang="zh-CN" altLang="en-US" sz="2800" noProof="1"/>
              <a:t>年创造的。</a:t>
            </a:r>
          </a:p>
          <a:p>
            <a:r>
              <a:rPr lang="zh-CN" altLang="en-US" sz="2800" noProof="1"/>
              <a:t>简写的 </a:t>
            </a:r>
            <a:r>
              <a:rPr lang="en-US" altLang="zh-CN" sz="2800" noProof="1"/>
              <a:t>blog</a:t>
            </a:r>
            <a:r>
              <a:rPr lang="zh-CN" altLang="en-US" sz="2800" noProof="1"/>
              <a:t>（这是今天最常用的术语）则是 </a:t>
            </a:r>
            <a:r>
              <a:rPr lang="en-US" altLang="zh-CN" sz="2800" noProof="1"/>
              <a:t>Peter Merholz </a:t>
            </a:r>
            <a:r>
              <a:rPr lang="zh-CN" altLang="en-US" sz="2800" noProof="1"/>
              <a:t>于 </a:t>
            </a:r>
            <a:r>
              <a:rPr lang="en-US" altLang="zh-CN" sz="2800" noProof="1"/>
              <a:t>1999 </a:t>
            </a:r>
            <a:r>
              <a:rPr lang="zh-CN" altLang="en-US" sz="2800" noProof="1"/>
              <a:t>年创造的。</a:t>
            </a:r>
          </a:p>
          <a:p>
            <a:r>
              <a:rPr lang="zh-CN" altLang="en-US" sz="2800" noProof="1"/>
              <a:t>有人把 </a:t>
            </a:r>
            <a:r>
              <a:rPr lang="en-US" altLang="zh-CN" sz="2800" noProof="1"/>
              <a:t>blog </a:t>
            </a:r>
            <a:r>
              <a:rPr lang="zh-CN" altLang="en-US" sz="2800" noProof="1"/>
              <a:t>既当作名词，也当作动词，表示</a:t>
            </a:r>
            <a:r>
              <a:rPr lang="zh-CN" altLang="en-US" sz="2800" noProof="1">
                <a:solidFill>
                  <a:srgbClr val="FF0000"/>
                </a:solidFill>
              </a:rPr>
              <a:t>编辑博客</a:t>
            </a:r>
            <a:r>
              <a:rPr lang="zh-CN" altLang="en-US" sz="2800" noProof="1"/>
              <a:t>或</a:t>
            </a:r>
            <a:r>
              <a:rPr lang="zh-CN" altLang="en-US" sz="2800" noProof="1">
                <a:solidFill>
                  <a:srgbClr val="FF0000"/>
                </a:solidFill>
              </a:rPr>
              <a:t>写博客</a:t>
            </a:r>
            <a:r>
              <a:rPr lang="zh-CN" altLang="en-US" sz="2800" noProof="1"/>
              <a:t>。  </a:t>
            </a:r>
          </a:p>
        </p:txBody>
      </p:sp>
      <p:sp>
        <p:nvSpPr>
          <p:cNvPr id="18135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D40F2AD-F905-4313-A4B4-65673986905A}" type="slidenum">
              <a:rPr lang="zh-CN" altLang="en-US" smtClean="0"/>
              <a:pPr eaLnBrk="1" hangingPunct="1"/>
              <a:t>78</a:t>
            </a:fld>
            <a:endParaRPr lang="en-US" altLang="zh-CN" smtClean="0"/>
          </a:p>
        </p:txBody>
      </p:sp>
      <p:sp>
        <p:nvSpPr>
          <p:cNvPr id="18135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452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a:t>
            </a:r>
            <a:r>
              <a:rPr lang="zh-CN" altLang="en-US" smtClean="0">
                <a:ea typeface="黑体" panose="02010609060101010101" pitchFamily="49" charset="-122"/>
              </a:rPr>
              <a:t>博客（续）</a:t>
            </a:r>
          </a:p>
        </p:txBody>
      </p:sp>
      <p:sp>
        <p:nvSpPr>
          <p:cNvPr id="1814530"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博客已经极大地扩充了互联网的应用和影响 。</a:t>
            </a:r>
          </a:p>
          <a:p>
            <a:r>
              <a:rPr lang="zh-CN" altLang="en-US" smtClean="0">
                <a:ea typeface="黑体" panose="02010609060101010101" pitchFamily="49" charset="-122"/>
              </a:rPr>
              <a:t>在博客出现以前，网民是互联网上内容的消费者。</a:t>
            </a:r>
          </a:p>
          <a:p>
            <a:r>
              <a:rPr lang="zh-CN" altLang="en-US" smtClean="0">
                <a:ea typeface="黑体" panose="02010609060101010101" pitchFamily="49" charset="-122"/>
              </a:rPr>
              <a:t>但博客改变了这种情况，网民不仅是互联网上内容的消费者，而且还是互联网上内容的生产者 。  </a:t>
            </a:r>
          </a:p>
          <a:p>
            <a:endParaRPr lang="en-US" altLang="zh-CN" smtClean="0">
              <a:ea typeface="黑体" panose="02010609060101010101" pitchFamily="49" charset="-122"/>
            </a:endParaRPr>
          </a:p>
        </p:txBody>
      </p:sp>
      <p:sp>
        <p:nvSpPr>
          <p:cNvPr id="18145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5E7F976-E7B6-4E22-BEF6-8F815E4EADF5}" type="slidenum">
              <a:rPr lang="zh-CN" altLang="en-US" smtClean="0"/>
              <a:pPr eaLnBrk="1" hangingPunct="1"/>
              <a:t>79</a:t>
            </a:fld>
            <a:endParaRPr lang="en-US" altLang="zh-CN" smtClean="0"/>
          </a:p>
        </p:txBody>
      </p:sp>
      <p:sp>
        <p:nvSpPr>
          <p:cNvPr id="18145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555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微博</a:t>
            </a:r>
          </a:p>
        </p:txBody>
      </p:sp>
      <p:sp>
        <p:nvSpPr>
          <p:cNvPr id="1815554"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微博就是</a:t>
            </a:r>
            <a:r>
              <a:rPr lang="zh-CN" altLang="en-US" smtClean="0">
                <a:solidFill>
                  <a:srgbClr val="FF0000"/>
                </a:solidFill>
                <a:ea typeface="黑体" panose="02010609060101010101" pitchFamily="49" charset="-122"/>
              </a:rPr>
              <a:t>微型博客 </a:t>
            </a:r>
            <a:r>
              <a:rPr lang="en-US" altLang="zh-CN" smtClean="0">
                <a:ea typeface="黑体" panose="02010609060101010101" pitchFamily="49" charset="-122"/>
              </a:rPr>
              <a:t>(micro blog)</a:t>
            </a:r>
            <a:r>
              <a:rPr lang="zh-CN" altLang="en-US" smtClean="0">
                <a:ea typeface="黑体" panose="02010609060101010101" pitchFamily="49" charset="-122"/>
              </a:rPr>
              <a:t>，又称为微博客 。</a:t>
            </a:r>
          </a:p>
          <a:p>
            <a:r>
              <a:rPr lang="zh-CN" altLang="en-US" smtClean="0">
                <a:ea typeface="黑体" panose="02010609060101010101" pitchFamily="49" charset="-122"/>
              </a:rPr>
              <a:t>微博不同于一般的博客。微博只记录片段、碎语，三言两语，现场记录，发发感慨，晒晒心情，永远只针对一个问题进行回答。 </a:t>
            </a:r>
          </a:p>
          <a:p>
            <a:r>
              <a:rPr lang="zh-CN" altLang="en-US" smtClean="0">
                <a:ea typeface="黑体" panose="02010609060101010101" pitchFamily="49" charset="-122"/>
              </a:rPr>
              <a:t>用户可以通过网页、</a:t>
            </a:r>
            <a:r>
              <a:rPr lang="en-US" altLang="zh-CN" smtClean="0">
                <a:ea typeface="黑体" panose="02010609060101010101" pitchFamily="49" charset="-122"/>
              </a:rPr>
              <a:t>WAP </a:t>
            </a:r>
            <a:r>
              <a:rPr lang="zh-CN" altLang="en-US" smtClean="0">
                <a:ea typeface="黑体" panose="02010609060101010101" pitchFamily="49" charset="-122"/>
              </a:rPr>
              <a:t>网、手机短信彩信、手机客户端等多种方式更新自己的微博。</a:t>
            </a:r>
          </a:p>
          <a:p>
            <a:r>
              <a:rPr lang="zh-CN" altLang="en-US" smtClean="0">
                <a:ea typeface="黑体" panose="02010609060101010101" pitchFamily="49" charset="-122"/>
              </a:rPr>
              <a:t>每条微博字数限制为 </a:t>
            </a:r>
            <a:r>
              <a:rPr lang="en-US" altLang="zh-CN" smtClean="0">
                <a:ea typeface="黑体" panose="02010609060101010101" pitchFamily="49" charset="-122"/>
              </a:rPr>
              <a:t>140 </a:t>
            </a:r>
            <a:r>
              <a:rPr lang="zh-CN" altLang="en-US" smtClean="0">
                <a:ea typeface="黑体" panose="02010609060101010101" pitchFamily="49" charset="-122"/>
              </a:rPr>
              <a:t>字，提供插入单张图片、视频地址、音乐功能。 </a:t>
            </a:r>
          </a:p>
          <a:p>
            <a:endParaRPr lang="en-US" altLang="zh-CN" smtClean="0">
              <a:ea typeface="黑体" panose="02010609060101010101" pitchFamily="49" charset="-122"/>
            </a:endParaRPr>
          </a:p>
        </p:txBody>
      </p:sp>
      <p:sp>
        <p:nvSpPr>
          <p:cNvPr id="18155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BFFC5D-150B-4B63-A596-76B3775C2E91}" type="slidenum">
              <a:rPr lang="zh-CN" altLang="en-US" smtClean="0"/>
              <a:pPr eaLnBrk="1" hangingPunct="1"/>
              <a:t>80</a:t>
            </a:fld>
            <a:endParaRPr lang="en-US" altLang="zh-CN" smtClean="0"/>
          </a:p>
        </p:txBody>
      </p:sp>
      <p:sp>
        <p:nvSpPr>
          <p:cNvPr id="18155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657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 </a:t>
            </a:r>
            <a:r>
              <a:rPr lang="zh-CN" altLang="en-US" smtClean="0">
                <a:ea typeface="黑体" panose="02010609060101010101" pitchFamily="49" charset="-122"/>
              </a:rPr>
              <a:t>轻博</a:t>
            </a:r>
          </a:p>
        </p:txBody>
      </p:sp>
      <p:sp>
        <p:nvSpPr>
          <p:cNvPr id="1816578"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轻博就是</a:t>
            </a:r>
            <a:r>
              <a:rPr lang="zh-CN" altLang="en-US" smtClean="0">
                <a:solidFill>
                  <a:srgbClr val="FF0000"/>
                </a:solidFill>
                <a:ea typeface="黑体" panose="02010609060101010101" pitchFamily="49" charset="-122"/>
              </a:rPr>
              <a:t>轻博客 </a:t>
            </a:r>
            <a:r>
              <a:rPr lang="en-US" altLang="zh-CN" smtClean="0">
                <a:ea typeface="黑体" panose="02010609060101010101" pitchFamily="49" charset="-122"/>
              </a:rPr>
              <a:t>(light blogging) </a:t>
            </a:r>
            <a:r>
              <a:rPr lang="zh-CN" altLang="en-US" smtClean="0">
                <a:ea typeface="黑体" panose="02010609060101010101" pitchFamily="49" charset="-122"/>
              </a:rPr>
              <a:t>。</a:t>
            </a:r>
          </a:p>
          <a:p>
            <a:r>
              <a:rPr lang="zh-CN" altLang="en-US" smtClean="0">
                <a:ea typeface="黑体" panose="02010609060101010101" pitchFamily="49" charset="-122"/>
              </a:rPr>
              <a:t>轻博客是一种介于博客和微博之间的网络服务，同样为用户提供生成内容表达自己的平台。  </a:t>
            </a:r>
          </a:p>
          <a:p>
            <a:r>
              <a:rPr lang="zh-CN" altLang="en-US" smtClean="0">
                <a:ea typeface="黑体" panose="02010609060101010101" pitchFamily="49" charset="-122"/>
              </a:rPr>
              <a:t>轻博可以发送博文，没有字数限制。</a:t>
            </a:r>
          </a:p>
          <a:p>
            <a:r>
              <a:rPr lang="zh-CN" altLang="en-US" smtClean="0">
                <a:ea typeface="黑体" panose="02010609060101010101" pitchFamily="49" charset="-122"/>
              </a:rPr>
              <a:t>轻博发表后，其界面会好看些。</a:t>
            </a:r>
          </a:p>
          <a:p>
            <a:r>
              <a:rPr lang="zh-CN" altLang="en-US" smtClean="0">
                <a:ea typeface="黑体" panose="02010609060101010101" pitchFamily="49" charset="-122"/>
              </a:rPr>
              <a:t>在轻博中，推荐与发现的内容比较丰富。 </a:t>
            </a:r>
          </a:p>
          <a:p>
            <a:endParaRPr lang="en-US" altLang="zh-CN" smtClean="0">
              <a:ea typeface="黑体" panose="02010609060101010101" pitchFamily="49" charset="-122"/>
            </a:endParaRPr>
          </a:p>
        </p:txBody>
      </p:sp>
      <p:sp>
        <p:nvSpPr>
          <p:cNvPr id="18165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EB6BDF8-4CC1-4E35-9583-7F886C8C5DFB}" type="slidenum">
              <a:rPr lang="zh-CN" altLang="en-US" smtClean="0"/>
              <a:pPr eaLnBrk="1" hangingPunct="1"/>
              <a:t>81</a:t>
            </a:fld>
            <a:endParaRPr lang="en-US" altLang="zh-CN" smtClean="0"/>
          </a:p>
        </p:txBody>
      </p:sp>
      <p:sp>
        <p:nvSpPr>
          <p:cNvPr id="18165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760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6.4.7 </a:t>
            </a:r>
            <a:r>
              <a:rPr lang="zh-CN" altLang="en-US" smtClean="0">
                <a:ea typeface="黑体" panose="02010609060101010101" pitchFamily="49" charset="-122"/>
              </a:rPr>
              <a:t>社交网站</a:t>
            </a:r>
          </a:p>
        </p:txBody>
      </p:sp>
      <p:sp>
        <p:nvSpPr>
          <p:cNvPr id="1817602" name="内容占位符 2"/>
          <p:cNvSpPr>
            <a:spLocks noGrp="1" noChangeArrowheads="1"/>
          </p:cNvSpPr>
          <p:nvPr>
            <p:ph idx="1"/>
          </p:nvPr>
        </p:nvSpPr>
        <p:spPr>
          <a:xfrm>
            <a:off x="495300" y="1196975"/>
            <a:ext cx="9066213" cy="4933950"/>
          </a:xfrm>
        </p:spPr>
        <p:txBody>
          <a:bodyPr/>
          <a:lstStyle/>
          <a:p>
            <a:r>
              <a:rPr lang="zh-CN" altLang="zh-CN" smtClean="0">
                <a:solidFill>
                  <a:srgbClr val="FF0000"/>
                </a:solidFill>
                <a:ea typeface="黑体" panose="02010609060101010101" pitchFamily="49" charset="-122"/>
              </a:rPr>
              <a:t>社交网站</a:t>
            </a:r>
            <a:r>
              <a:rPr lang="en-US" altLang="zh-CN" smtClean="0">
                <a:solidFill>
                  <a:srgbClr val="FF0000"/>
                </a:solidFill>
                <a:ea typeface="黑体" panose="02010609060101010101" pitchFamily="49" charset="-122"/>
              </a:rPr>
              <a:t> </a:t>
            </a:r>
            <a:r>
              <a:rPr lang="en-US" altLang="zh-CN" smtClean="0">
                <a:ea typeface="黑体" panose="02010609060101010101" pitchFamily="49" charset="-122"/>
              </a:rPr>
              <a:t>SNS (Social Networking Site) </a:t>
            </a:r>
            <a:r>
              <a:rPr lang="zh-CN" altLang="zh-CN" smtClean="0">
                <a:ea typeface="黑体" panose="02010609060101010101" pitchFamily="49" charset="-122"/>
              </a:rPr>
              <a:t>是近年来发展非常迅速的一种网站，其作用是为一群拥有相同兴趣与活动的人创建在线社区</a:t>
            </a:r>
            <a:r>
              <a:rPr lang="zh-CN" altLang="en-US" smtClean="0">
                <a:ea typeface="黑体" panose="02010609060101010101" pitchFamily="49" charset="-122"/>
              </a:rPr>
              <a:t>。</a:t>
            </a:r>
            <a:endParaRPr lang="en-US" altLang="zh-CN" smtClean="0">
              <a:ea typeface="黑体" panose="02010609060101010101" pitchFamily="49" charset="-122"/>
            </a:endParaRPr>
          </a:p>
          <a:p>
            <a:r>
              <a:rPr lang="en-US" altLang="zh-CN" smtClean="0">
                <a:ea typeface="黑体" panose="02010609060101010101" pitchFamily="49" charset="-122"/>
              </a:rPr>
              <a:t>2004</a:t>
            </a:r>
            <a:r>
              <a:rPr lang="zh-CN" altLang="zh-CN" smtClean="0">
                <a:ea typeface="黑体" panose="02010609060101010101" pitchFamily="49" charset="-122"/>
              </a:rPr>
              <a:t>年社交网站脸书</a:t>
            </a:r>
            <a:r>
              <a:rPr lang="en-US" altLang="zh-CN" smtClean="0">
                <a:ea typeface="黑体" panose="02010609060101010101" pitchFamily="49" charset="-122"/>
              </a:rPr>
              <a:t> (Facebook</a:t>
            </a:r>
            <a:r>
              <a:rPr lang="zh-CN" altLang="zh-CN" smtClean="0">
                <a:ea typeface="黑体" panose="02010609060101010101" pitchFamily="49" charset="-122"/>
              </a:rPr>
              <a:t>，又名面书、脸谱、脸谱网</a:t>
            </a:r>
            <a:r>
              <a:rPr lang="en-US" altLang="zh-CN" smtClean="0">
                <a:ea typeface="黑体" panose="02010609060101010101" pitchFamily="49" charset="-122"/>
              </a:rPr>
              <a:t>) </a:t>
            </a:r>
            <a:r>
              <a:rPr lang="zh-CN" altLang="zh-CN" smtClean="0">
                <a:ea typeface="黑体" panose="02010609060101010101" pitchFamily="49" charset="-122"/>
              </a:rPr>
              <a:t>在美国诞生</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ea typeface="黑体" panose="02010609060101010101" pitchFamily="49" charset="-122"/>
              </a:rPr>
              <a:t>国内以人人网、开心网等为代表的社交网站也如雨后春笋般迅速崛起</a:t>
            </a:r>
            <a:r>
              <a:rPr lang="zh-CN" altLang="en-US" smtClean="0">
                <a:ea typeface="黑体" panose="02010609060101010101" pitchFamily="49" charset="-122"/>
              </a:rPr>
              <a:t>。</a:t>
            </a:r>
            <a:endParaRPr lang="en-US" altLang="zh-CN" smtClean="0">
              <a:ea typeface="黑体" panose="02010609060101010101" pitchFamily="49" charset="-122"/>
            </a:endParaRPr>
          </a:p>
        </p:txBody>
      </p:sp>
      <p:sp>
        <p:nvSpPr>
          <p:cNvPr id="181760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3C266AD-A198-45F8-8812-DF8C09D57D71}" type="slidenum">
              <a:rPr lang="zh-CN" altLang="en-US" smtClean="0"/>
              <a:pPr eaLnBrk="1" hangingPunct="1"/>
              <a:t>82</a:t>
            </a:fld>
            <a:endParaRPr lang="en-US" altLang="zh-CN" smtClean="0"/>
          </a:p>
        </p:txBody>
      </p:sp>
      <p:sp>
        <p:nvSpPr>
          <p:cNvPr id="181760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862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6.4.7 </a:t>
            </a:r>
            <a:r>
              <a:rPr lang="zh-CN" altLang="en-US" smtClean="0">
                <a:ea typeface="黑体" panose="02010609060101010101" pitchFamily="49" charset="-122"/>
              </a:rPr>
              <a:t>社交网站（续）</a:t>
            </a:r>
          </a:p>
        </p:txBody>
      </p:sp>
      <p:sp>
        <p:nvSpPr>
          <p:cNvPr id="1818626"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目前世界上排名第一且分布最广的社交网站是脸书</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ea typeface="黑体" panose="02010609060101010101" pitchFamily="49" charset="-122"/>
              </a:rPr>
              <a:t>排名第二的社交网站是视频分享网站优兔</a:t>
            </a:r>
            <a:r>
              <a:rPr lang="en-US" altLang="zh-CN" smtClean="0">
                <a:ea typeface="黑体" panose="02010609060101010101" pitchFamily="49" charset="-122"/>
              </a:rPr>
              <a:t>YouTube</a:t>
            </a:r>
            <a:r>
              <a:rPr lang="zh-CN" altLang="en-US" smtClean="0">
                <a:ea typeface="黑体" panose="02010609060101010101" pitchFamily="49" charset="-122"/>
              </a:rPr>
              <a:t>（</a:t>
            </a:r>
            <a:r>
              <a:rPr lang="zh-CN" altLang="zh-CN" smtClean="0">
                <a:ea typeface="黑体" panose="02010609060101010101" pitchFamily="49" charset="-122"/>
              </a:rPr>
              <a:t>被谷歌收购</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ea typeface="黑体" panose="02010609060101010101" pitchFamily="49" charset="-122"/>
              </a:rPr>
              <a:t>国内类似的视频分享网站有优酷</a:t>
            </a:r>
            <a:r>
              <a:rPr lang="en-US" altLang="zh-CN" smtClean="0">
                <a:ea typeface="黑体" panose="02010609060101010101" pitchFamily="49" charset="-122"/>
              </a:rPr>
              <a:t> (www.youku.com)</a:t>
            </a:r>
            <a:r>
              <a:rPr lang="zh-CN" altLang="zh-CN" smtClean="0">
                <a:ea typeface="黑体" panose="02010609060101010101" pitchFamily="49" charset="-122"/>
              </a:rPr>
              <a:t>、土豆</a:t>
            </a:r>
            <a:r>
              <a:rPr lang="en-US" altLang="zh-CN" smtClean="0">
                <a:ea typeface="黑体" panose="02010609060101010101" pitchFamily="49" charset="-122"/>
              </a:rPr>
              <a:t> (movie.tudou.com)</a:t>
            </a:r>
            <a:r>
              <a:rPr lang="zh-CN" altLang="zh-CN" smtClean="0">
                <a:ea typeface="黑体" panose="02010609060101010101" pitchFamily="49" charset="-122"/>
              </a:rPr>
              <a:t>、</a:t>
            </a:r>
            <a:r>
              <a:rPr lang="en-US" altLang="zh-CN" smtClean="0">
                <a:ea typeface="黑体" panose="02010609060101010101" pitchFamily="49" charset="-122"/>
              </a:rPr>
              <a:t>56</a:t>
            </a:r>
            <a:r>
              <a:rPr lang="zh-CN" altLang="zh-CN" smtClean="0">
                <a:ea typeface="黑体" panose="02010609060101010101" pitchFamily="49" charset="-122"/>
              </a:rPr>
              <a:t>网</a:t>
            </a:r>
            <a:r>
              <a:rPr lang="en-US" altLang="zh-CN" smtClean="0">
                <a:ea typeface="黑体" panose="02010609060101010101" pitchFamily="49" charset="-122"/>
              </a:rPr>
              <a:t> (56.com) </a:t>
            </a:r>
            <a:r>
              <a:rPr lang="zh-CN" altLang="zh-CN" smtClean="0">
                <a:ea typeface="黑体" panose="02010609060101010101" pitchFamily="49" charset="-122"/>
              </a:rPr>
              <a:t>等</a:t>
            </a:r>
            <a:r>
              <a:rPr lang="zh-CN" altLang="en-US" smtClean="0">
                <a:ea typeface="黑体" panose="02010609060101010101" pitchFamily="49" charset="-122"/>
              </a:rPr>
              <a:t>。</a:t>
            </a:r>
            <a:endParaRPr lang="en-US" altLang="zh-CN" smtClean="0">
              <a:ea typeface="黑体" panose="02010609060101010101" pitchFamily="49" charset="-122"/>
            </a:endParaRPr>
          </a:p>
        </p:txBody>
      </p:sp>
      <p:sp>
        <p:nvSpPr>
          <p:cNvPr id="181862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78DB41-A0CA-4504-B2C6-77847806DCB1}" type="slidenum">
              <a:rPr lang="zh-CN" altLang="en-US" smtClean="0"/>
              <a:pPr eaLnBrk="1" hangingPunct="1"/>
              <a:t>83</a:t>
            </a:fld>
            <a:endParaRPr lang="en-US" altLang="zh-CN" smtClean="0"/>
          </a:p>
        </p:txBody>
      </p:sp>
      <p:sp>
        <p:nvSpPr>
          <p:cNvPr id="181862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9649"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6.4.7 </a:t>
            </a:r>
            <a:r>
              <a:rPr lang="zh-CN" altLang="en-US" smtClean="0">
                <a:ea typeface="黑体" panose="02010609060101010101" pitchFamily="49" charset="-122"/>
              </a:rPr>
              <a:t>社交网站（续）</a:t>
            </a:r>
          </a:p>
        </p:txBody>
      </p:sp>
      <p:sp>
        <p:nvSpPr>
          <p:cNvPr id="1819650"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另一种能够提供微博服务的社交网络现在也很流行。例如推特</a:t>
            </a:r>
            <a:r>
              <a:rPr lang="en-US" altLang="zh-CN" smtClean="0">
                <a:ea typeface="黑体" panose="02010609060101010101" pitchFamily="49" charset="-122"/>
              </a:rPr>
              <a:t> Twitter (twitter.com) </a:t>
            </a:r>
            <a:r>
              <a:rPr lang="zh-CN" altLang="zh-CN" smtClean="0">
                <a:ea typeface="黑体" panose="02010609060101010101" pitchFamily="49" charset="-122"/>
              </a:rPr>
              <a:t>网站可以让用户发表不超过</a:t>
            </a:r>
            <a:r>
              <a:rPr lang="en-US" altLang="zh-CN" smtClean="0">
                <a:ea typeface="黑体" panose="02010609060101010101" pitchFamily="49" charset="-122"/>
              </a:rPr>
              <a:t>140</a:t>
            </a:r>
            <a:r>
              <a:rPr lang="zh-CN" altLang="zh-CN" smtClean="0">
                <a:ea typeface="黑体" panose="02010609060101010101" pitchFamily="49" charset="-122"/>
              </a:rPr>
              <a:t>个字符的消息。这些消息也被称为“推文”</a:t>
            </a:r>
            <a:r>
              <a:rPr lang="en-US" altLang="zh-CN" smtClean="0">
                <a:ea typeface="黑体" panose="02010609060101010101" pitchFamily="49" charset="-122"/>
              </a:rPr>
              <a:t>(Tweet)</a:t>
            </a:r>
            <a:r>
              <a:rPr lang="zh-CN" altLang="zh-CN" smtClean="0">
                <a:ea typeface="黑体" panose="02010609060101010101" pitchFamily="49" charset="-122"/>
              </a:rPr>
              <a:t>。</a:t>
            </a:r>
            <a:endParaRPr lang="en-US" altLang="zh-CN" smtClean="0">
              <a:ea typeface="黑体" panose="02010609060101010101" pitchFamily="49" charset="-122"/>
            </a:endParaRPr>
          </a:p>
          <a:p>
            <a:r>
              <a:rPr lang="zh-CN" altLang="zh-CN" smtClean="0">
                <a:ea typeface="黑体" panose="02010609060101010101" pitchFamily="49" charset="-122"/>
              </a:rPr>
              <a:t>我国的新浪微博</a:t>
            </a:r>
            <a:r>
              <a:rPr lang="en-US" altLang="zh-CN" smtClean="0">
                <a:ea typeface="黑体" panose="02010609060101010101" pitchFamily="49" charset="-122"/>
              </a:rPr>
              <a:t> (www.weibo.com)</a:t>
            </a:r>
            <a:r>
              <a:rPr lang="zh-CN" altLang="zh-CN" smtClean="0">
                <a:ea typeface="黑体" panose="02010609060101010101" pitchFamily="49" charset="-122"/>
              </a:rPr>
              <a:t>、腾讯微博</a:t>
            </a:r>
            <a:r>
              <a:rPr lang="en-US" altLang="zh-CN" smtClean="0">
                <a:ea typeface="黑体" panose="02010609060101010101" pitchFamily="49" charset="-122"/>
              </a:rPr>
              <a:t> (t.qq.com) </a:t>
            </a:r>
            <a:r>
              <a:rPr lang="zh-CN" altLang="zh-CN" smtClean="0">
                <a:ea typeface="黑体" panose="02010609060101010101" pitchFamily="49" charset="-122"/>
              </a:rPr>
              <a:t>等就是这种性质的社交网站。</a:t>
            </a:r>
            <a:endParaRPr lang="en-US" altLang="zh-CN" smtClean="0">
              <a:ea typeface="黑体" panose="02010609060101010101" pitchFamily="49" charset="-122"/>
            </a:endParaRPr>
          </a:p>
          <a:p>
            <a:r>
              <a:rPr lang="zh-CN" altLang="zh-CN" smtClean="0">
                <a:ea typeface="黑体" panose="02010609060101010101" pitchFamily="49" charset="-122"/>
              </a:rPr>
              <a:t>职业性社交网站领英</a:t>
            </a:r>
            <a:r>
              <a:rPr lang="en-US" altLang="zh-CN" smtClean="0">
                <a:ea typeface="黑体" panose="02010609060101010101" pitchFamily="49" charset="-122"/>
              </a:rPr>
              <a:t> LinkedIn </a:t>
            </a:r>
            <a:r>
              <a:rPr lang="zh-CN" altLang="zh-CN" smtClean="0">
                <a:ea typeface="黑体" panose="02010609060101010101" pitchFamily="49" charset="-122"/>
              </a:rPr>
              <a:t>也很受欢迎</a:t>
            </a:r>
            <a:r>
              <a:rPr lang="zh-CN" altLang="en-US" smtClean="0">
                <a:ea typeface="黑体" panose="02010609060101010101" pitchFamily="49" charset="-122"/>
              </a:rPr>
              <a:t>。</a:t>
            </a:r>
          </a:p>
        </p:txBody>
      </p:sp>
      <p:sp>
        <p:nvSpPr>
          <p:cNvPr id="181965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0D041A-71BC-4D37-BA9E-9D565A02B541}" type="slidenum">
              <a:rPr lang="zh-CN" altLang="en-US" smtClean="0"/>
              <a:pPr eaLnBrk="1" hangingPunct="1"/>
              <a:t>84</a:t>
            </a:fld>
            <a:endParaRPr lang="en-US" altLang="zh-CN" smtClean="0"/>
          </a:p>
        </p:txBody>
      </p:sp>
      <p:sp>
        <p:nvSpPr>
          <p:cNvPr id="181965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1134</TotalTime>
  <Words>6122</Words>
  <Application>Microsoft Office PowerPoint</Application>
  <PresentationFormat>A4 纸张(210x297 毫米)</PresentationFormat>
  <Paragraphs>919</Paragraphs>
  <Slides>84</Slides>
  <Notes>64</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84</vt:i4>
      </vt:variant>
    </vt:vector>
  </HeadingPairs>
  <TitlesOfParts>
    <vt:vector size="93" baseType="lpstr">
      <vt:lpstr>黑体</vt:lpstr>
      <vt:lpstr>宋体</vt:lpstr>
      <vt:lpstr>Arial</vt:lpstr>
      <vt:lpstr>Symbol</vt:lpstr>
      <vt:lpstr>Tahoma</vt:lpstr>
      <vt:lpstr>Times New Roman</vt:lpstr>
      <vt:lpstr>Wingdings</vt:lpstr>
      <vt:lpstr>Presentation</vt:lpstr>
      <vt:lpstr>Microsoft Visio 2000/2002 Drawing</vt:lpstr>
      <vt:lpstr>第 6 章 应用层</vt:lpstr>
      <vt:lpstr>6.3  远程终端协议 TELNET</vt:lpstr>
      <vt:lpstr>客户服务器方式</vt:lpstr>
      <vt:lpstr>TELNET 使用网络虚拟终端 NVT（Network Virtual Terminal） 格式 </vt:lpstr>
      <vt:lpstr>网络虚拟终端 NVT 格式 </vt:lpstr>
      <vt:lpstr>6.4  万维网 WWW</vt:lpstr>
      <vt:lpstr> 6.4.1  万维网概述</vt:lpstr>
      <vt:lpstr>万维网提供分布式服务 </vt:lpstr>
      <vt:lpstr>超媒体与超文本</vt:lpstr>
      <vt:lpstr>     万维网的工作方式 </vt:lpstr>
      <vt:lpstr>万维网必须解决的问题 </vt:lpstr>
      <vt:lpstr>万维网必须解决的问题 </vt:lpstr>
      <vt:lpstr>万维网必须解决的问题 </vt:lpstr>
      <vt:lpstr>万维网必须解决的问题 </vt:lpstr>
      <vt:lpstr>6.4.2  统一资源定位符 URL</vt:lpstr>
      <vt:lpstr>URL 的一般形式 </vt:lpstr>
      <vt:lpstr>URL 的一般形式 </vt:lpstr>
      <vt:lpstr>URL 的一般形式（续） </vt:lpstr>
      <vt:lpstr>URL 的一般形式（续） </vt:lpstr>
      <vt:lpstr>URL 的一般形式（续） </vt:lpstr>
      <vt:lpstr>2. 使用 HTTP 的 URL</vt:lpstr>
      <vt:lpstr>2. 使用 HTTP 的 URL</vt:lpstr>
      <vt:lpstr>2. 使用 HTTP 的 URL</vt:lpstr>
      <vt:lpstr>2. 使用 HTTP 的 URL</vt:lpstr>
      <vt:lpstr>2. 使用 HTTP 的 URL</vt:lpstr>
      <vt:lpstr>6.4.3  超文本传送协议 HTTP </vt:lpstr>
      <vt:lpstr>万维网的工作过程 </vt:lpstr>
      <vt:lpstr>用户点击 URL  http://www.tsinghua.edu.cn/chn/yxsz/index.htm 后所发生的事件 </vt:lpstr>
      <vt:lpstr>HTTP 的主要特点 </vt:lpstr>
      <vt:lpstr>请求一个万维网文档所需的时间 </vt:lpstr>
      <vt:lpstr>持续连接</vt:lpstr>
      <vt:lpstr>持续连接有两种工作方式</vt:lpstr>
      <vt:lpstr>2. 代理服务器</vt:lpstr>
      <vt:lpstr>使用高速缓存可减少 访问互联网服务器的时延 </vt:lpstr>
      <vt:lpstr>使用高速缓存的情况</vt:lpstr>
      <vt:lpstr>使用高速缓存的情况</vt:lpstr>
      <vt:lpstr>使用高速缓存的情况</vt:lpstr>
      <vt:lpstr>使用高速缓存的情况</vt:lpstr>
      <vt:lpstr>使用高速缓存的情况</vt:lpstr>
      <vt:lpstr>3. HTTP 的报文结构 </vt:lpstr>
      <vt:lpstr>HTTP 的报文结构（请求报文） </vt:lpstr>
      <vt:lpstr>HTTP 的报文结构（请求报文） </vt:lpstr>
      <vt:lpstr>HTTP 请求报文的一些方法 </vt:lpstr>
      <vt:lpstr>HTTP 的报文结构（请求报文） </vt:lpstr>
      <vt:lpstr>HTTP 的报文结构（请求报文） </vt:lpstr>
      <vt:lpstr>HTTP 的报文结构（响应报文） </vt:lpstr>
      <vt:lpstr>状态码都是三位数字 </vt:lpstr>
      <vt:lpstr>响应报文例</vt:lpstr>
      <vt:lpstr>4. 在服务器上存放用户的信息</vt:lpstr>
      <vt:lpstr>6.4.4  万维网的文档</vt:lpstr>
      <vt:lpstr>HTML 文档 </vt:lpstr>
      <vt:lpstr>HTML 文档中标签的用法 </vt:lpstr>
      <vt:lpstr>HTML 文档中标签的用法 </vt:lpstr>
      <vt:lpstr>HTML 文档中标签的用法 </vt:lpstr>
      <vt:lpstr>HTML 文档中标签的用法 </vt:lpstr>
      <vt:lpstr>HTML 文档中标签的用法 </vt:lpstr>
      <vt:lpstr>HTML 文档中标签的用法 </vt:lpstr>
      <vt:lpstr>HTML 文档中标签的用法 </vt:lpstr>
      <vt:lpstr>HTML 文档中标签的用法 </vt:lpstr>
      <vt:lpstr>HTML 文档中标签的用法 </vt:lpstr>
      <vt:lpstr>HTML 文档中标签的用法 </vt:lpstr>
      <vt:lpstr>两种不同的链接</vt:lpstr>
      <vt:lpstr>XMLmark</vt:lpstr>
      <vt:lpstr>XHTML</vt:lpstr>
      <vt:lpstr>CSS</vt:lpstr>
      <vt:lpstr>2. 动态万维网文档 </vt:lpstr>
      <vt:lpstr>万维网服务器功能的扩充 </vt:lpstr>
      <vt:lpstr>扩充了功能的万维网服务器 </vt:lpstr>
      <vt:lpstr>通用网关接口 CGI</vt:lpstr>
      <vt:lpstr>CGI 程序</vt:lpstr>
      <vt:lpstr>3. 活动万维网文档</vt:lpstr>
      <vt:lpstr>活动文档在客户端创建 </vt:lpstr>
      <vt:lpstr>用 Java 技术创建活动文档 </vt:lpstr>
      <vt:lpstr>6.4.5  万维网的信息检索系统</vt:lpstr>
      <vt:lpstr>分类目录搜索 </vt:lpstr>
      <vt:lpstr>一些著名的搜索引擎 </vt:lpstr>
      <vt:lpstr>垂直搜索引擎</vt:lpstr>
      <vt:lpstr>6.4.6  博客和微博</vt:lpstr>
      <vt:lpstr>1.  博客（续）</vt:lpstr>
      <vt:lpstr>2. 微博</vt:lpstr>
      <vt:lpstr>3. 轻博</vt:lpstr>
      <vt:lpstr>6.4.7 社交网站</vt:lpstr>
      <vt:lpstr>6.4.7 社交网站（续）</vt:lpstr>
      <vt:lpstr>6.4.7 社交网站（续）</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74</cp:revision>
  <cp:lastPrinted>2020-04-22T11:35:12Z</cp:lastPrinted>
  <dcterms:created xsi:type="dcterms:W3CDTF">2016-10-01T05:27:00Z</dcterms:created>
  <dcterms:modified xsi:type="dcterms:W3CDTF">2021-01-26T14:14:24Z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